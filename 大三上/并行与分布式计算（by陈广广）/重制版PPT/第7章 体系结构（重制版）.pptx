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png" ContentType="image/pn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Lst>
  <p:sldSz cx="12192000" cy="6858000" type="screen16x9"/>
  <p:notesSz cx="6858000" cy="9144000"/>
  <p:defaultTextStyle>
    <a:defPPr>
      <a:defRPr lang="zh-CN"/>
    </a:defPPr>
    <a:lvl1pPr marL="0" algn="l" defTabSz="457200" rtl="0" eaLnBrk="1" latinLnBrk="0" hangingPunct="1">
      <a:defRPr sz="1800" kern="1200" lang="zh-CN">
        <a:solidFill>
          <a:schemeClr val="tx1"/>
        </a:solidFill>
        <a:latin typeface="+mn-lt"/>
        <a:ea typeface="+mn-ea"/>
        <a:cs typeface="+mn-cs"/>
      </a:defRPr>
    </a:lvl1pPr>
    <a:lvl2pPr marL="457200" algn="l" defTabSz="457200" rtl="0" eaLnBrk="1" latinLnBrk="0" hangingPunct="1">
      <a:defRPr sz="1800" kern="1200" lang="zh-CN">
        <a:solidFill>
          <a:schemeClr val="tx1"/>
        </a:solidFill>
        <a:latin typeface="+mn-lt"/>
        <a:ea typeface="+mn-ea"/>
        <a:cs typeface="+mn-cs"/>
      </a:defRPr>
    </a:lvl2pPr>
    <a:lvl3pPr marL="914400" algn="l" defTabSz="457200" rtl="0" eaLnBrk="1" latinLnBrk="0" hangingPunct="1">
      <a:defRPr sz="1800" kern="1200" lang="zh-CN">
        <a:solidFill>
          <a:schemeClr val="tx1"/>
        </a:solidFill>
        <a:latin typeface="+mn-lt"/>
        <a:ea typeface="+mn-ea"/>
        <a:cs typeface="+mn-cs"/>
      </a:defRPr>
    </a:lvl3pPr>
    <a:lvl4pPr marL="1371600" algn="l" defTabSz="457200" rtl="0" eaLnBrk="1" latinLnBrk="0" hangingPunct="1">
      <a:defRPr sz="1800" kern="1200" lang="zh-CN">
        <a:solidFill>
          <a:schemeClr val="tx1"/>
        </a:solidFill>
        <a:latin typeface="+mn-lt"/>
        <a:ea typeface="+mn-ea"/>
        <a:cs typeface="+mn-cs"/>
      </a:defRPr>
    </a:lvl4pPr>
    <a:lvl5pPr marL="1828800" algn="l" defTabSz="457200" rtl="0" eaLnBrk="1" latinLnBrk="0" hangingPunct="1">
      <a:defRPr sz="1800" kern="1200" lang="zh-CN">
        <a:solidFill>
          <a:schemeClr val="tx1"/>
        </a:solidFill>
        <a:latin typeface="+mn-lt"/>
        <a:ea typeface="+mn-ea"/>
        <a:cs typeface="+mn-cs"/>
      </a:defRPr>
    </a:lvl5pPr>
    <a:lvl6pPr marL="2286000" algn="l" defTabSz="457200" rtl="0" eaLnBrk="1" latinLnBrk="0" hangingPunct="1">
      <a:defRPr sz="1800" kern="1200" lang="zh-CN">
        <a:solidFill>
          <a:schemeClr val="tx1"/>
        </a:solidFill>
        <a:latin typeface="+mn-lt"/>
        <a:ea typeface="+mn-ea"/>
        <a:cs typeface="+mn-cs"/>
      </a:defRPr>
    </a:lvl6pPr>
    <a:lvl7pPr marL="2743200" algn="l" defTabSz="457200" rtl="0" eaLnBrk="1" latinLnBrk="0" hangingPunct="1">
      <a:defRPr sz="1800" kern="1200" lang="zh-CN">
        <a:solidFill>
          <a:schemeClr val="tx1"/>
        </a:solidFill>
        <a:latin typeface="+mn-lt"/>
        <a:ea typeface="+mn-ea"/>
        <a:cs typeface="+mn-cs"/>
      </a:defRPr>
    </a:lvl7pPr>
    <a:lvl8pPr marL="3200400" algn="l" defTabSz="457200" rtl="0" eaLnBrk="1" latinLnBrk="0" hangingPunct="1">
      <a:defRPr sz="1800" kern="1200" lang="zh-CN">
        <a:solidFill>
          <a:schemeClr val="tx1"/>
        </a:solidFill>
        <a:latin typeface="+mn-lt"/>
        <a:ea typeface="+mn-ea"/>
        <a:cs typeface="+mn-cs"/>
      </a:defRPr>
    </a:lvl8pPr>
    <a:lvl9pPr marL="3657600" algn="l" defTabSz="457200" rtl="0" eaLnBrk="1" latinLnBrk="0" hangingPunct="1">
      <a:defRPr sz="1800" kern="1200" lang="zh-CN">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pdc_ch07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zh-CN" smtClean="0"/>
              <a:t>1/27/13</a:t>
            </a:fld>
            <a:endParaRPr lang="zh-CN"/>
          </a:p>
        </p:txBody>
      </p:sp>
      <p:sp>
        <p:nvSpPr>
          <p:cNvPr id="3" name="Footer Placeholder 2"/>
          <p:cNvSpPr>
            <a:spLocks noGrp="1"/>
          </p:cNvSpPr>
          <p:nvPr>
            <p:ph type="ftr" sz="quarter" idx="11"/>
          </p:nvPr>
        </p:nvSpPr>
        <p:spPr/>
        <p:txBody>
          <a:bodyPr/>
          <a:lstStyle/>
          <a:p>
            <a:endParaRPr lang="zh-CN"/>
          </a:p>
        </p:txBody>
      </p:sp>
      <p:sp>
        <p:nvSpPr>
          <p:cNvPr id="4" name="Slide Number Placeholder 3"/>
          <p:cNvSpPr>
            <a:spLocks noGrp="1"/>
          </p:cNvSpPr>
          <p:nvPr>
            <p:ph type="sldNum" sz="quarter" idx="12"/>
          </p:nvPr>
        </p:nvSpPr>
        <p:spPr/>
        <p:txBody>
          <a:bodyPr/>
          <a:lstStyle/>
          <a:p>
            <a:fld id="{C1FF6DA9-008F-8B48-92A6-B652298478BF}" type="slidenum">
              <a:rPr lang="zh-CN" smtClean="0"/>
              <a:t>‹#›</a:t>
            </a:fld>
            <a:endParaRPr lang="zh-CN"/>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pdc_ch07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lang="zh-CN">
                <a:solidFill>
                  <a:schemeClr val="tx1">
                    <a:tint val="75000"/>
                  </a:schemeClr>
                </a:solidFill>
              </a:defRPr>
            </a:lvl1pPr>
          </a:lstStyle>
          <a:p>
            <a:fld id="{5BCAD085-E8A6-8845-BD4E-CB4CCA059FC4}" type="datetimeFigureOut">
              <a:rPr lang="zh-CN" smtClean="0"/>
              <a:t>1/27/13</a:t>
            </a:fld>
            <a:endParaRPr lang="zh-C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lang="zh-CN">
                <a:solidFill>
                  <a:schemeClr val="tx1">
                    <a:tint val="75000"/>
                  </a:schemeClr>
                </a:solidFill>
              </a:defRPr>
            </a:lvl1pPr>
          </a:lstStyle>
          <a:p>
            <a:endParaRPr lang="zh-C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lang="zh-CN">
                <a:solidFill>
                  <a:schemeClr val="tx1">
                    <a:tint val="75000"/>
                  </a:schemeClr>
                </a:solidFill>
              </a:defRPr>
            </a:lvl1pPr>
          </a:lstStyle>
          <a:p>
            <a:fld id="{C1FF6DA9-008F-8B48-92A6-B652298478BF}" type="slidenum">
              <a:rPr lang="zh-CN" smtClean="0"/>
              <a:t>‹#›</a:t>
            </a:fld>
            <a:endParaRPr lang="zh-CN"/>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4400" kern="1200" lang="zh-CN">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lang="zh-CN">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lang="zh-CN">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lang="zh-CN">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lang="zh-CN">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lang="zh-CN">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lang="zh-CN">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lang="zh-CN">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lang="zh-CN">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lang="zh-CN">
          <a:solidFill>
            <a:schemeClr val="tx1"/>
          </a:solidFill>
          <a:latin typeface="+mn-lt"/>
          <a:ea typeface="+mn-ea"/>
          <a:cs typeface="+mn-cs"/>
        </a:defRPr>
      </a:lvl9pPr>
    </p:bodyStyle>
    <p:otherStyle>
      <a:defPPr>
        <a:defRPr lang="zh-CN"/>
      </a:defPPr>
      <a:lvl1pPr marL="0" algn="l" defTabSz="457200" rtl="0" eaLnBrk="1" latinLnBrk="0" hangingPunct="1">
        <a:defRPr sz="1800" kern="1200" lang="zh-CN">
          <a:solidFill>
            <a:schemeClr val="tx1"/>
          </a:solidFill>
          <a:latin typeface="+mn-lt"/>
          <a:ea typeface="+mn-ea"/>
          <a:cs typeface="+mn-cs"/>
        </a:defRPr>
      </a:lvl1pPr>
      <a:lvl2pPr marL="457200" algn="l" defTabSz="457200" rtl="0" eaLnBrk="1" latinLnBrk="0" hangingPunct="1">
        <a:defRPr sz="1800" kern="1200" lang="zh-CN">
          <a:solidFill>
            <a:schemeClr val="tx1"/>
          </a:solidFill>
          <a:latin typeface="+mn-lt"/>
          <a:ea typeface="+mn-ea"/>
          <a:cs typeface="+mn-cs"/>
        </a:defRPr>
      </a:lvl2pPr>
      <a:lvl3pPr marL="914400" algn="l" defTabSz="457200" rtl="0" eaLnBrk="1" latinLnBrk="0" hangingPunct="1">
        <a:defRPr sz="1800" kern="1200" lang="zh-CN">
          <a:solidFill>
            <a:schemeClr val="tx1"/>
          </a:solidFill>
          <a:latin typeface="+mn-lt"/>
          <a:ea typeface="+mn-ea"/>
          <a:cs typeface="+mn-cs"/>
        </a:defRPr>
      </a:lvl3pPr>
      <a:lvl4pPr marL="1371600" algn="l" defTabSz="457200" rtl="0" eaLnBrk="1" latinLnBrk="0" hangingPunct="1">
        <a:defRPr sz="1800" kern="1200" lang="zh-CN">
          <a:solidFill>
            <a:schemeClr val="tx1"/>
          </a:solidFill>
          <a:latin typeface="+mn-lt"/>
          <a:ea typeface="+mn-ea"/>
          <a:cs typeface="+mn-cs"/>
        </a:defRPr>
      </a:lvl4pPr>
      <a:lvl5pPr marL="1828800" algn="l" defTabSz="457200" rtl="0" eaLnBrk="1" latinLnBrk="0" hangingPunct="1">
        <a:defRPr sz="1800" kern="1200" lang="zh-CN">
          <a:solidFill>
            <a:schemeClr val="tx1"/>
          </a:solidFill>
          <a:latin typeface="+mn-lt"/>
          <a:ea typeface="+mn-ea"/>
          <a:cs typeface="+mn-cs"/>
        </a:defRPr>
      </a:lvl5pPr>
      <a:lvl6pPr marL="2286000" algn="l" defTabSz="457200" rtl="0" eaLnBrk="1" latinLnBrk="0" hangingPunct="1">
        <a:defRPr sz="1800" kern="1200" lang="zh-CN">
          <a:solidFill>
            <a:schemeClr val="tx1"/>
          </a:solidFill>
          <a:latin typeface="+mn-lt"/>
          <a:ea typeface="+mn-ea"/>
          <a:cs typeface="+mn-cs"/>
        </a:defRPr>
      </a:lvl6pPr>
      <a:lvl7pPr marL="2743200" algn="l" defTabSz="457200" rtl="0" eaLnBrk="1" latinLnBrk="0" hangingPunct="1">
        <a:defRPr sz="1800" kern="1200" lang="zh-CN">
          <a:solidFill>
            <a:schemeClr val="tx1"/>
          </a:solidFill>
          <a:latin typeface="+mn-lt"/>
          <a:ea typeface="+mn-ea"/>
          <a:cs typeface="+mn-cs"/>
        </a:defRPr>
      </a:lvl7pPr>
      <a:lvl8pPr marL="3200400" algn="l" defTabSz="457200" rtl="0" eaLnBrk="1" latinLnBrk="0" hangingPunct="1">
        <a:defRPr sz="1800" kern="1200" lang="zh-CN">
          <a:solidFill>
            <a:schemeClr val="tx1"/>
          </a:solidFill>
          <a:latin typeface="+mn-lt"/>
          <a:ea typeface="+mn-ea"/>
          <a:cs typeface="+mn-cs"/>
        </a:defRPr>
      </a:lvl8pPr>
      <a:lvl9pPr marL="3657600" algn="l" defTabSz="457200" rtl="0" eaLnBrk="1" latinLnBrk="0" hangingPunct="1">
        <a:defRPr sz="1800" kern="1200" lang="zh-CN">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221c0e5f3c6b23ae.png"/>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2a849fd033199dde.png"/>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f72a24ac9ca307cb.png"/>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21.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22.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23.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24.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25.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26.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27.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28.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29.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30.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31.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32.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33.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34.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35.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36.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37.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38.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39.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40.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41.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42.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43.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44.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45.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46.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47.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48.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49.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50.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51.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52.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53.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54.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55.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56.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57.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58.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59.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60.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61.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62.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63.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64.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65.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66.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67.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68.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69.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70.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71.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cover-hero"/>
          <p:cNvPicPr>
            <a:picLocks noChangeAspect="1"/>
          </p:cNvPicPr>
          <p:nvPr/>
        </p:nvPicPr>
        <p:blipFill>
          <a:blip r:embed="rId2"/>
          <a:srcRect l="5556" t="0" r="5555" b="0"/>
          <a:stretch>
            <a:fillRect/>
          </a:stretch>
        </p:blipFill>
        <p:spPr>
          <a:xfrm>
            <a:off x="0" y="0"/>
            <a:ext cx="12192000" cy="6858000"/>
          </a:xfrm>
          <a:prstGeom prst="rect">
            <a:avLst/>
          </a:prstGeom>
        </p:spPr>
      </p:pic>
      <p:sp>
        <p:nvSpPr>
          <p:cNvPr id="3" name="cover-scrim"/>
          <p:cNvSpPr/>
          <p:nvPr/>
        </p:nvSpPr>
        <p:spPr>
          <a:xfrm>
            <a:off x="0" y="0"/>
            <a:ext cx="7620000" cy="6858000"/>
          </a:xfrm>
          <a:prstGeom prst="rect">
            <a:avLst/>
          </a:prstGeom>
          <a:gradFill>
            <a:gsLst>
              <a:gs pos="0">
                <a:srgbClr val="FFFFFF">
                  <a:alpha val="97000"/>
                </a:srgbClr>
              </a:gs>
              <a:gs pos="58000">
                <a:srgbClr val="FFFFFF">
                  <a:alpha val="85000"/>
                </a:srgbClr>
              </a:gs>
              <a:gs pos="100000">
                <a:srgbClr val="FFFFFF">
                  <a:alpha val="0"/>
                </a:srgbClr>
              </a:gs>
            </a:gsLst>
            <a:lin ang="0" scaled="1"/>
          </a:gradFill>
          <a:ln>
            <a:noFill/>
          </a:ln>
        </p:spPr>
      </p:sp>
      <p:grpSp>
        <p:nvGrpSpPr>
          <p:cNvPr id="17" name="cover-title"/>
          <p:cNvGrpSpPr/>
          <p:nvPr/>
        </p:nvGrpSpPr>
        <p:grpSpPr>
          <a:xfrm>
            <a:off x="666750" y="1619250"/>
            <a:ext cx="5937778" cy="3437763"/>
            <a:chOff x="666750" y="1619250"/>
            <a:chExt cx="5937778" cy="3437763"/>
          </a:xfrm>
        </p:grpSpPr>
        <p:sp>
          <p:nvSpPr>
            <p:cNvPr id="4" name="Rectangle 4"/>
            <p:cNvSpPr/>
            <p:nvPr/>
          </p:nvSpPr>
          <p:spPr>
            <a:xfrm>
              <a:off x="685800" y="1619250"/>
              <a:ext cx="2139315" cy="342900"/>
            </a:xfrm>
            <a:prstGeom prst="roundRect">
              <a:avLst>
                <a:gd name="adj" fmla="val 50000"/>
              </a:avLst>
            </a:prstGeom>
            <a:solidFill>
              <a:srgbClr val="E7EDF3"/>
            </a:solidFill>
            <a:ln>
              <a:noFill/>
            </a:ln>
          </p:spPr>
        </p:sp>
        <p:sp>
          <p:nvSpPr>
            <p:cNvPr id="5" name="TextBox 5"/>
            <p:cNvSpPr txBox="1"/>
            <p:nvPr/>
          </p:nvSpPr>
          <p:spPr>
            <a:xfrm>
              <a:off x="797463" y="1718310"/>
              <a:ext cx="1915988" cy="234696"/>
            </a:xfrm>
            <a:prstGeom prst="rect">
              <a:avLst/>
            </a:prstGeom>
            <a:noFill/>
            <a:ln>
              <a:noFill/>
            </a:ln>
          </p:spPr>
          <p:txBody>
            <a:bodyPr wrap="none" lIns="0" tIns="0" rIns="0" bIns="0" anchor="t" anchorCtr="0">
              <a:spAutoFit/>
            </a:bodyPr>
            <a:lstStyle/>
            <a:p>
              <a:pPr algn="ctr"/>
              <a:r>
                <a:rPr lang="zh-CN" sz="1200" b="1" dirty="0">
                  <a:solidFill>
                    <a:srgbClr val="334E68"/>
                  </a:solidFill>
                  <a:latin typeface="+mn-lt"/>
                  <a:ea typeface="+mn-ea"/>
                  <a:cs typeface="+mn-cs"/>
                </a:rPr>
                <a:t>并行与分布式计算 · 第7章</a:t>
              </a:r>
            </a:p>
          </p:txBody>
        </p:sp>
        <p:sp>
          <p:nvSpPr>
            <p:cNvPr id="6" name="TextBox 6"/>
            <p:cNvSpPr txBox="1"/>
            <p:nvPr/>
          </p:nvSpPr>
          <p:spPr>
            <a:xfrm>
              <a:off x="666750" y="2407920"/>
              <a:ext cx="2299716" cy="819150"/>
            </a:xfrm>
            <a:prstGeom prst="rect">
              <a:avLst/>
            </a:prstGeom>
            <a:noFill/>
            <a:ln>
              <a:noFill/>
            </a:ln>
          </p:spPr>
          <p:txBody>
            <a:bodyPr wrap="none" lIns="0" tIns="0" rIns="0" bIns="0" anchor="t" anchorCtr="0">
              <a:spAutoFit/>
            </a:bodyPr>
            <a:lstStyle/>
            <a:p>
              <a:pPr algn="l"/>
              <a:r>
                <a:rPr lang="zh-CN" sz="4200" b="1" dirty="0">
                  <a:solidFill>
                    <a:srgbClr val="1F2937"/>
                  </a:solidFill>
                  <a:latin typeface="+mn-lt"/>
                  <a:ea typeface="+mn-ea"/>
                  <a:cs typeface="+mn-cs"/>
                </a:rPr>
                <a:t>体系结构</a:t>
              </a:r>
            </a:p>
          </p:txBody>
        </p:sp>
        <p:sp>
          <p:nvSpPr>
            <p:cNvPr id="7" name="Rectangle 7"/>
            <p:cNvSpPr/>
            <p:nvPr/>
          </p:nvSpPr>
          <p:spPr>
            <a:xfrm>
              <a:off x="685800" y="3147060"/>
              <a:ext cx="990600" cy="57150"/>
            </a:xfrm>
            <a:prstGeom prst="roundRect">
              <a:avLst>
                <a:gd name="adj" fmla="val 50000"/>
              </a:avLst>
            </a:prstGeom>
            <a:gradFill>
              <a:gsLst>
                <a:gs pos="0">
                  <a:srgbClr val="334E68"/>
                </a:gs>
                <a:gs pos="100000">
                  <a:srgbClr val="F26B3A"/>
                </a:gs>
              </a:gsLst>
              <a:lin ang="0" scaled="1"/>
            </a:gradFill>
            <a:ln>
              <a:noFill/>
            </a:ln>
          </p:spPr>
        </p:sp>
        <p:sp>
          <p:nvSpPr>
            <p:cNvPr id="8" name="TextBox 8"/>
            <p:cNvSpPr txBox="1"/>
            <p:nvPr/>
          </p:nvSpPr>
          <p:spPr>
            <a:xfrm>
              <a:off x="676656" y="3467100"/>
              <a:ext cx="5927872" cy="352044"/>
            </a:xfrm>
            <a:prstGeom prst="rect">
              <a:avLst/>
            </a:prstGeom>
            <a:noFill/>
            <a:ln>
              <a:noFill/>
            </a:ln>
          </p:spPr>
          <p:txBody>
            <a:bodyPr wrap="none" lIns="0" tIns="0" rIns="0" bIns="0" anchor="t" anchorCtr="0">
              <a:spAutoFit/>
            </a:bodyPr>
            <a:lstStyle/>
            <a:p>
              <a:pPr algn="l"/>
              <a:r>
                <a:rPr lang="zh-CN" sz="1800" dirty="0">
                  <a:solidFill>
                    <a:srgbClr val="1F2937"/>
                  </a:solidFill>
                  <a:latin typeface="+mn-lt"/>
                  <a:ea typeface="+mn-ea"/>
                  <a:cs typeface="+mn-cs"/>
                </a:rPr>
                <a:t>多处理器怎样组织存储、保持 Cache 一致、互连与评测</a:t>
              </a:r>
            </a:p>
          </p:txBody>
        </p:sp>
        <p:sp>
          <p:nvSpPr>
            <p:cNvPr id="9" name="Ellipse 9"/>
            <p:cNvSpPr/>
            <p:nvPr/>
          </p:nvSpPr>
          <p:spPr>
            <a:xfrm>
              <a:off x="709612" y="3976688"/>
              <a:ext cx="66675" cy="66675"/>
            </a:xfrm>
            <a:prstGeom prst="ellipse">
              <a:avLst/>
            </a:prstGeom>
            <a:solidFill>
              <a:srgbClr val="F26B3A"/>
            </a:solidFill>
            <a:ln>
              <a:noFill/>
            </a:ln>
          </p:spPr>
        </p:sp>
        <p:sp>
          <p:nvSpPr>
            <p:cNvPr id="10" name="TextBox 10"/>
            <p:cNvSpPr txBox="1"/>
            <p:nvPr/>
          </p:nvSpPr>
          <p:spPr>
            <a:xfrm>
              <a:off x="869442" y="3921442"/>
              <a:ext cx="1831086" cy="264033"/>
            </a:xfrm>
            <a:prstGeom prst="rect">
              <a:avLst/>
            </a:prstGeom>
            <a:noFill/>
            <a:ln>
              <a:noFill/>
            </a:ln>
          </p:spPr>
          <p:txBody>
            <a:bodyPr wrap="none" lIns="0" tIns="0" rIns="0" bIns="0" anchor="t" anchorCtr="0">
              <a:spAutoFit/>
            </a:bodyPr>
            <a:lstStyle/>
            <a:p>
              <a:pPr algn="l"/>
              <a:r>
                <a:rPr lang="zh-CN" sz="1350" dirty="0">
                  <a:solidFill>
                    <a:srgbClr val="5B6475"/>
                  </a:solidFill>
                  <a:latin typeface="+mn-lt"/>
                  <a:ea typeface="+mn-ea"/>
                  <a:cs typeface="+mn-cs"/>
                </a:rPr>
                <a:t>共享与非共享存储结构</a:t>
              </a:r>
            </a:p>
          </p:txBody>
        </p:sp>
        <p:sp>
          <p:nvSpPr>
            <p:cNvPr id="11" name="Ellipse 11"/>
            <p:cNvSpPr/>
            <p:nvPr/>
          </p:nvSpPr>
          <p:spPr>
            <a:xfrm>
              <a:off x="709612" y="4267200"/>
              <a:ext cx="66675" cy="66675"/>
            </a:xfrm>
            <a:prstGeom prst="ellipse">
              <a:avLst/>
            </a:prstGeom>
            <a:solidFill>
              <a:srgbClr val="F26B3A"/>
            </a:solidFill>
            <a:ln>
              <a:noFill/>
            </a:ln>
          </p:spPr>
        </p:sp>
        <p:sp>
          <p:nvSpPr>
            <p:cNvPr id="12" name="TextBox 12"/>
            <p:cNvSpPr txBox="1"/>
            <p:nvPr/>
          </p:nvSpPr>
          <p:spPr>
            <a:xfrm>
              <a:off x="869442" y="4211955"/>
              <a:ext cx="2194560" cy="264033"/>
            </a:xfrm>
            <a:prstGeom prst="rect">
              <a:avLst/>
            </a:prstGeom>
            <a:noFill/>
            <a:ln>
              <a:noFill/>
            </a:ln>
          </p:spPr>
          <p:txBody>
            <a:bodyPr wrap="none" lIns="0" tIns="0" rIns="0" bIns="0" anchor="t" anchorCtr="0">
              <a:spAutoFit/>
            </a:bodyPr>
            <a:lstStyle/>
            <a:p>
              <a:pPr algn="l"/>
              <a:r>
                <a:rPr lang="zh-CN" sz="1350" dirty="0">
                  <a:solidFill>
                    <a:srgbClr val="5B6475"/>
                  </a:solidFill>
                  <a:latin typeface="+mn-lt"/>
                  <a:ea typeface="+mn-ea"/>
                  <a:cs typeface="+mn-cs"/>
                </a:rPr>
                <a:t>监听式与目录式一致性协议</a:t>
              </a:r>
            </a:p>
          </p:txBody>
        </p:sp>
        <p:sp>
          <p:nvSpPr>
            <p:cNvPr id="13" name="Ellipse 13"/>
            <p:cNvSpPr/>
            <p:nvPr/>
          </p:nvSpPr>
          <p:spPr>
            <a:xfrm>
              <a:off x="709612" y="4557712"/>
              <a:ext cx="66675" cy="66675"/>
            </a:xfrm>
            <a:prstGeom prst="ellipse">
              <a:avLst/>
            </a:prstGeom>
            <a:solidFill>
              <a:srgbClr val="F26B3A"/>
            </a:solidFill>
            <a:ln>
              <a:noFill/>
            </a:ln>
          </p:spPr>
        </p:sp>
        <p:sp>
          <p:nvSpPr>
            <p:cNvPr id="14" name="TextBox 14"/>
            <p:cNvSpPr txBox="1"/>
            <p:nvPr/>
          </p:nvSpPr>
          <p:spPr>
            <a:xfrm>
              <a:off x="869442" y="4502468"/>
              <a:ext cx="1649349" cy="264033"/>
            </a:xfrm>
            <a:prstGeom prst="rect">
              <a:avLst/>
            </a:prstGeom>
            <a:noFill/>
            <a:ln>
              <a:noFill/>
            </a:ln>
          </p:spPr>
          <p:txBody>
            <a:bodyPr wrap="none" lIns="0" tIns="0" rIns="0" bIns="0" anchor="t" anchorCtr="0">
              <a:spAutoFit/>
            </a:bodyPr>
            <a:lstStyle/>
            <a:p>
              <a:pPr algn="l"/>
              <a:r>
                <a:rPr lang="zh-CN" sz="1350" dirty="0">
                  <a:solidFill>
                    <a:srgbClr val="5B6475"/>
                  </a:solidFill>
                  <a:latin typeface="+mn-lt"/>
                  <a:ea typeface="+mn-ea"/>
                  <a:cs typeface="+mn-cs"/>
                </a:rPr>
                <a:t>静态与动态互连网络</a:t>
              </a:r>
            </a:p>
          </p:txBody>
        </p:sp>
        <p:sp>
          <p:nvSpPr>
            <p:cNvPr id="15" name="Ellipse 15"/>
            <p:cNvSpPr/>
            <p:nvPr/>
          </p:nvSpPr>
          <p:spPr>
            <a:xfrm>
              <a:off x="709612" y="4848225"/>
              <a:ext cx="66675" cy="66675"/>
            </a:xfrm>
            <a:prstGeom prst="ellipse">
              <a:avLst/>
            </a:prstGeom>
            <a:solidFill>
              <a:srgbClr val="F26B3A"/>
            </a:solidFill>
            <a:ln>
              <a:noFill/>
            </a:ln>
          </p:spPr>
        </p:sp>
        <p:sp>
          <p:nvSpPr>
            <p:cNvPr id="16" name="TextBox 16"/>
            <p:cNvSpPr txBox="1"/>
            <p:nvPr/>
          </p:nvSpPr>
          <p:spPr>
            <a:xfrm>
              <a:off x="869442" y="4792980"/>
              <a:ext cx="2194560" cy="264033"/>
            </a:xfrm>
            <a:prstGeom prst="rect">
              <a:avLst/>
            </a:prstGeom>
            <a:noFill/>
            <a:ln>
              <a:noFill/>
            </a:ln>
          </p:spPr>
          <p:txBody>
            <a:bodyPr wrap="none" lIns="0" tIns="0" rIns="0" bIns="0" anchor="t" anchorCtr="0">
              <a:spAutoFit/>
            </a:bodyPr>
            <a:lstStyle/>
            <a:p>
              <a:pPr algn="l"/>
              <a:r>
                <a:rPr lang="zh-CN" sz="1350" dirty="0">
                  <a:solidFill>
                    <a:srgbClr val="5B6475"/>
                  </a:solidFill>
                  <a:latin typeface="+mn-lt"/>
                  <a:ea typeface="+mn-ea"/>
                  <a:cs typeface="+mn-cs"/>
                </a:rPr>
                <a:t>性能指标与三个加速比定律</a:t>
              </a:r>
            </a:p>
          </p:txBody>
        </p:sp>
      </p:grpSp>
      <p:grpSp>
        <p:nvGrpSpPr>
          <p:cNvPr id="19" name="cover-credit"/>
          <p:cNvGrpSpPr/>
          <p:nvPr/>
        </p:nvGrpSpPr>
        <p:grpSpPr>
          <a:xfrm>
            <a:off x="680466" y="6192202"/>
            <a:ext cx="4632846" cy="205359"/>
            <a:chOff x="680466" y="6192202"/>
            <a:chExt cx="4632846" cy="205359"/>
          </a:xfrm>
        </p:grpSpPr>
        <p:sp>
          <p:nvSpPr>
            <p:cNvPr id="18" name="TextBox 18"/>
            <p:cNvSpPr txBox="1"/>
            <p:nvPr/>
          </p:nvSpPr>
          <p:spPr>
            <a:xfrm>
              <a:off x="680466" y="6192202"/>
              <a:ext cx="4632846" cy="205359"/>
            </a:xfrm>
            <a:prstGeom prst="rect">
              <a:avLst/>
            </a:prstGeom>
            <a:noFill/>
            <a:ln>
              <a:noFill/>
            </a:ln>
          </p:spPr>
          <p:txBody>
            <a:bodyPr wrap="none" lIns="0" tIns="0" rIns="0" bIns="0" anchor="t" anchorCtr="0">
              <a:spAutoFit/>
            </a:bodyPr>
            <a:lstStyle/>
            <a:p>
              <a:pPr algn="l"/>
              <a:r>
                <a:rPr lang="zh-CN" sz="1050" dirty="0">
                  <a:solidFill>
                    <a:srgbClr val="5B6475"/>
                  </a:solidFill>
                  <a:latin typeface="+mn-lt"/>
                  <a:ea typeface="+mn-ea"/>
                  <a:cs typeface="+mn-cs"/>
                </a:rPr>
                <a:t>重制讲义 · 自学复习版｜据吉林大学《并行与分布式计算》第7章课件整理</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2085594" cy="909257"/>
            <a:chOff x="520446" y="342900"/>
            <a:chExt cx="2085594" cy="909257"/>
          </a:xfrm>
        </p:grpSpPr>
        <p:sp>
          <p:nvSpPr>
            <p:cNvPr id="2" name="Rectangle 2"/>
            <p:cNvSpPr/>
            <p:nvPr/>
          </p:nvSpPr>
          <p:spPr>
            <a:xfrm>
              <a:off x="533400" y="342900"/>
              <a:ext cx="1246822" cy="266700"/>
            </a:xfrm>
            <a:prstGeom prst="roundRect">
              <a:avLst>
                <a:gd name="adj" fmla="val 50000"/>
              </a:avLst>
            </a:prstGeom>
            <a:solidFill>
              <a:srgbClr val="E7EDF3"/>
            </a:solidFill>
            <a:ln>
              <a:noFill/>
            </a:ln>
          </p:spPr>
        </p:sp>
        <p:sp>
          <p:nvSpPr>
            <p:cNvPr id="3" name="TextBox 3"/>
            <p:cNvSpPr txBox="1"/>
            <p:nvPr/>
          </p:nvSpPr>
          <p:spPr>
            <a:xfrm>
              <a:off x="631966" y="407194"/>
              <a:ext cx="1050643"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第7章 体系结构</a:t>
              </a:r>
            </a:p>
          </p:txBody>
        </p:sp>
        <p:sp>
          <p:nvSpPr>
            <p:cNvPr id="4" name="TextBox 4"/>
            <p:cNvSpPr txBox="1"/>
            <p:nvPr/>
          </p:nvSpPr>
          <p:spPr>
            <a:xfrm>
              <a:off x="520446" y="753428"/>
              <a:ext cx="2085594"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本章学习路线</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30" name="c1-agenda-1"/>
          <p:cNvGrpSpPr/>
          <p:nvPr/>
        </p:nvGrpSpPr>
        <p:grpSpPr>
          <a:xfrm>
            <a:off x="521970" y="1515428"/>
            <a:ext cx="6287453" cy="4461795"/>
            <a:chOff x="521970" y="1515428"/>
            <a:chExt cx="6287453" cy="4461795"/>
          </a:xfrm>
        </p:grpSpPr>
        <p:sp>
          <p:nvSpPr>
            <p:cNvPr id="7" name="TextBox 7"/>
            <p:cNvSpPr txBox="1"/>
            <p:nvPr/>
          </p:nvSpPr>
          <p:spPr>
            <a:xfrm>
              <a:off x="521970" y="1515428"/>
              <a:ext cx="372704" cy="440055"/>
            </a:xfrm>
            <a:prstGeom prst="rect">
              <a:avLst/>
            </a:prstGeom>
            <a:noFill/>
            <a:ln>
              <a:noFill/>
            </a:ln>
          </p:spPr>
          <p:txBody>
            <a:bodyPr wrap="none" lIns="0" tIns="0" rIns="0" bIns="0" anchor="t" anchorCtr="0">
              <a:spAutoFit/>
            </a:bodyPr>
            <a:lstStyle/>
            <a:p>
              <a:pPr algn="l"/>
              <a:r>
                <a:rPr lang="zh-CN" sz="2250" b="1" dirty="0">
                  <a:solidFill>
                    <a:srgbClr val="334E68"/>
                  </a:solidFill>
                  <a:latin typeface="+mn-lt"/>
                  <a:ea typeface="+mn-ea"/>
                  <a:cs typeface="+mn-cs"/>
                </a:rPr>
                <a:t>01</a:t>
              </a:r>
            </a:p>
          </p:txBody>
        </p:sp>
        <p:sp>
          <p:nvSpPr>
            <p:cNvPr id="8" name="TextBox 8"/>
            <p:cNvSpPr txBox="1"/>
            <p:nvPr/>
          </p:nvSpPr>
          <p:spPr>
            <a:xfrm>
              <a:off x="1065086" y="1551622"/>
              <a:ext cx="1349502" cy="322707"/>
            </a:xfrm>
            <a:prstGeom prst="rect">
              <a:avLst/>
            </a:prstGeom>
            <a:noFill/>
            <a:ln>
              <a:noFill/>
            </a:ln>
          </p:spPr>
          <p:txBody>
            <a:bodyPr wrap="none" lIns="0" tIns="0" rIns="0" bIns="0" anchor="t" anchorCtr="0">
              <a:spAutoFit/>
            </a:bodyPr>
            <a:lstStyle/>
            <a:p>
              <a:pPr algn="l"/>
              <a:r>
                <a:rPr lang="zh-CN" sz="1650" b="1" dirty="0">
                  <a:solidFill>
                    <a:srgbClr val="1F2937"/>
                  </a:solidFill>
                  <a:latin typeface="+mn-lt"/>
                  <a:ea typeface="+mn-ea"/>
                  <a:cs typeface="+mn-cs"/>
                </a:rPr>
                <a:t>多处理器结构</a:t>
              </a:r>
            </a:p>
          </p:txBody>
        </p:sp>
        <p:sp>
          <p:nvSpPr>
            <p:cNvPr id="9" name="TextBox 9"/>
            <p:cNvSpPr txBox="1"/>
            <p:nvPr/>
          </p:nvSpPr>
          <p:spPr>
            <a:xfrm>
              <a:off x="1066990" y="1868329"/>
              <a:ext cx="3783046" cy="249364"/>
            </a:xfrm>
            <a:prstGeom prst="rect">
              <a:avLst/>
            </a:prstGeom>
            <a:noFill/>
            <a:ln>
              <a:noFill/>
            </a:ln>
          </p:spPr>
          <p:txBody>
            <a:bodyPr wrap="none" lIns="0" tIns="0" rIns="0" bIns="0" anchor="t" anchorCtr="0">
              <a:spAutoFit/>
            </a:bodyPr>
            <a:lstStyle/>
            <a:p>
              <a:pPr algn="l"/>
              <a:r>
                <a:rPr lang="zh-CN" sz="1280" dirty="0">
                  <a:solidFill>
                    <a:srgbClr val="5B6475"/>
                  </a:solidFill>
                  <a:latin typeface="+mn-lt"/>
                  <a:ea typeface="+mn-ea"/>
                  <a:cs typeface="+mn-cs"/>
                </a:rPr>
                <a:t>共享与非共享存储、COW 与 MPP、UMA 与 NUMA</a:t>
              </a:r>
            </a:p>
          </p:txBody>
        </p:sp>
        <p:sp>
          <p:nvSpPr>
            <p:cNvPr id="10" name="Rectangle 10"/>
            <p:cNvSpPr/>
            <p:nvPr/>
          </p:nvSpPr>
          <p:spPr>
            <a:xfrm>
              <a:off x="1073468" y="2181225"/>
              <a:ext cx="5735955" cy="9525"/>
            </a:xfrm>
            <a:prstGeom prst="rect">
              <a:avLst/>
            </a:prstGeom>
            <a:solidFill>
              <a:srgbClr val="D9DFEA"/>
            </a:solidFill>
            <a:ln>
              <a:noFill/>
            </a:ln>
          </p:spPr>
        </p:sp>
        <p:sp>
          <p:nvSpPr>
            <p:cNvPr id="11" name="TextBox 11"/>
            <p:cNvSpPr txBox="1"/>
            <p:nvPr/>
          </p:nvSpPr>
          <p:spPr>
            <a:xfrm>
              <a:off x="521970" y="2286952"/>
              <a:ext cx="372704" cy="440055"/>
            </a:xfrm>
            <a:prstGeom prst="rect">
              <a:avLst/>
            </a:prstGeom>
            <a:noFill/>
            <a:ln>
              <a:noFill/>
            </a:ln>
          </p:spPr>
          <p:txBody>
            <a:bodyPr wrap="none" lIns="0" tIns="0" rIns="0" bIns="0" anchor="t" anchorCtr="0">
              <a:spAutoFit/>
            </a:bodyPr>
            <a:lstStyle/>
            <a:p>
              <a:pPr algn="l"/>
              <a:r>
                <a:rPr lang="zh-CN" sz="2250" b="1" dirty="0">
                  <a:solidFill>
                    <a:srgbClr val="334E68"/>
                  </a:solidFill>
                  <a:latin typeface="+mn-lt"/>
                  <a:ea typeface="+mn-ea"/>
                  <a:cs typeface="+mn-cs"/>
                </a:rPr>
                <a:t>02</a:t>
              </a:r>
            </a:p>
          </p:txBody>
        </p:sp>
        <p:sp>
          <p:nvSpPr>
            <p:cNvPr id="12" name="TextBox 12"/>
            <p:cNvSpPr txBox="1"/>
            <p:nvPr/>
          </p:nvSpPr>
          <p:spPr>
            <a:xfrm>
              <a:off x="1065086" y="2323148"/>
              <a:ext cx="1793748" cy="322707"/>
            </a:xfrm>
            <a:prstGeom prst="rect">
              <a:avLst/>
            </a:prstGeom>
            <a:noFill/>
            <a:ln>
              <a:noFill/>
            </a:ln>
          </p:spPr>
          <p:txBody>
            <a:bodyPr wrap="none" lIns="0" tIns="0" rIns="0" bIns="0" anchor="t" anchorCtr="0">
              <a:spAutoFit/>
            </a:bodyPr>
            <a:lstStyle/>
            <a:p>
              <a:pPr algn="l"/>
              <a:r>
                <a:rPr lang="zh-CN" sz="1650" b="1" dirty="0">
                  <a:solidFill>
                    <a:srgbClr val="1F2937"/>
                  </a:solidFill>
                  <a:latin typeface="+mn-lt"/>
                  <a:ea typeface="+mn-ea"/>
                  <a:cs typeface="+mn-cs"/>
                </a:rPr>
                <a:t>超算与多核处理器</a:t>
              </a:r>
            </a:p>
          </p:txBody>
        </p:sp>
        <p:sp>
          <p:nvSpPr>
            <p:cNvPr id="13" name="TextBox 13"/>
            <p:cNvSpPr txBox="1"/>
            <p:nvPr/>
          </p:nvSpPr>
          <p:spPr>
            <a:xfrm>
              <a:off x="1066990" y="2639854"/>
              <a:ext cx="3793157" cy="249364"/>
            </a:xfrm>
            <a:prstGeom prst="rect">
              <a:avLst/>
            </a:prstGeom>
            <a:noFill/>
            <a:ln>
              <a:noFill/>
            </a:ln>
          </p:spPr>
          <p:txBody>
            <a:bodyPr wrap="none" lIns="0" tIns="0" rIns="0" bIns="0" anchor="t" anchorCtr="0">
              <a:spAutoFit/>
            </a:bodyPr>
            <a:lstStyle/>
            <a:p>
              <a:pPr algn="l"/>
              <a:r>
                <a:rPr lang="zh-CN" sz="1280" dirty="0">
                  <a:solidFill>
                    <a:srgbClr val="5B6475"/>
                  </a:solidFill>
                  <a:latin typeface="+mn-lt"/>
                  <a:ea typeface="+mn-ea"/>
                  <a:cs typeface="+mn-cs"/>
                </a:rPr>
                <a:t>神威·太湖之光、申威众核、四种多核 Cache 组织</a:t>
              </a:r>
            </a:p>
          </p:txBody>
        </p:sp>
        <p:sp>
          <p:nvSpPr>
            <p:cNvPr id="14" name="Rectangle 14"/>
            <p:cNvSpPr/>
            <p:nvPr/>
          </p:nvSpPr>
          <p:spPr>
            <a:xfrm>
              <a:off x="1073468" y="2953702"/>
              <a:ext cx="5735955" cy="9525"/>
            </a:xfrm>
            <a:prstGeom prst="rect">
              <a:avLst/>
            </a:prstGeom>
            <a:solidFill>
              <a:srgbClr val="D9DFEA"/>
            </a:solidFill>
            <a:ln>
              <a:noFill/>
            </a:ln>
          </p:spPr>
        </p:sp>
        <p:sp>
          <p:nvSpPr>
            <p:cNvPr id="15" name="TextBox 15"/>
            <p:cNvSpPr txBox="1"/>
            <p:nvPr/>
          </p:nvSpPr>
          <p:spPr>
            <a:xfrm>
              <a:off x="521970" y="3058478"/>
              <a:ext cx="372704" cy="440055"/>
            </a:xfrm>
            <a:prstGeom prst="rect">
              <a:avLst/>
            </a:prstGeom>
            <a:noFill/>
            <a:ln>
              <a:noFill/>
            </a:ln>
          </p:spPr>
          <p:txBody>
            <a:bodyPr wrap="none" lIns="0" tIns="0" rIns="0" bIns="0" anchor="t" anchorCtr="0">
              <a:spAutoFit/>
            </a:bodyPr>
            <a:lstStyle/>
            <a:p>
              <a:pPr algn="l"/>
              <a:r>
                <a:rPr lang="zh-CN" sz="2250" b="1" dirty="0">
                  <a:solidFill>
                    <a:srgbClr val="334E68"/>
                  </a:solidFill>
                  <a:latin typeface="+mn-lt"/>
                  <a:ea typeface="+mn-ea"/>
                  <a:cs typeface="+mn-cs"/>
                </a:rPr>
                <a:t>03</a:t>
              </a:r>
            </a:p>
          </p:txBody>
        </p:sp>
        <p:sp>
          <p:nvSpPr>
            <p:cNvPr id="16" name="TextBox 16"/>
            <p:cNvSpPr txBox="1"/>
            <p:nvPr/>
          </p:nvSpPr>
          <p:spPr>
            <a:xfrm>
              <a:off x="1065086" y="3094673"/>
              <a:ext cx="1793748" cy="322707"/>
            </a:xfrm>
            <a:prstGeom prst="rect">
              <a:avLst/>
            </a:prstGeom>
            <a:noFill/>
            <a:ln>
              <a:noFill/>
            </a:ln>
          </p:spPr>
          <p:txBody>
            <a:bodyPr wrap="none" lIns="0" tIns="0" rIns="0" bIns="0" anchor="t" anchorCtr="0">
              <a:spAutoFit/>
            </a:bodyPr>
            <a:lstStyle/>
            <a:p>
              <a:pPr algn="l"/>
              <a:r>
                <a:rPr lang="zh-CN" sz="1650" b="1" dirty="0">
                  <a:solidFill>
                    <a:srgbClr val="1F2937"/>
                  </a:solidFill>
                  <a:latin typeface="+mn-lt"/>
                  <a:ea typeface="+mn-ea"/>
                  <a:cs typeface="+mn-cs"/>
                </a:rPr>
                <a:t>监听式一致性协议</a:t>
              </a:r>
            </a:p>
          </p:txBody>
        </p:sp>
        <p:sp>
          <p:nvSpPr>
            <p:cNvPr id="17" name="TextBox 17"/>
            <p:cNvSpPr txBox="1"/>
            <p:nvPr/>
          </p:nvSpPr>
          <p:spPr>
            <a:xfrm>
              <a:off x="1066990" y="3412331"/>
              <a:ext cx="4494408" cy="249364"/>
            </a:xfrm>
            <a:prstGeom prst="rect">
              <a:avLst/>
            </a:prstGeom>
            <a:noFill/>
            <a:ln>
              <a:noFill/>
            </a:ln>
          </p:spPr>
          <p:txBody>
            <a:bodyPr wrap="none" lIns="0" tIns="0" rIns="0" bIns="0" anchor="t" anchorCtr="0">
              <a:spAutoFit/>
            </a:bodyPr>
            <a:lstStyle/>
            <a:p>
              <a:pPr algn="l"/>
              <a:r>
                <a:rPr lang="zh-CN" sz="1280" dirty="0">
                  <a:solidFill>
                    <a:srgbClr val="5B6475"/>
                  </a:solidFill>
                  <a:latin typeface="+mn-lt"/>
                  <a:ea typeface="+mn-ea"/>
                  <a:cs typeface="+mn-cs"/>
                </a:rPr>
                <a:t>三组协议选择、写作废与写更新、MSI 三状态与两张状态表</a:t>
              </a:r>
            </a:p>
          </p:txBody>
        </p:sp>
        <p:sp>
          <p:nvSpPr>
            <p:cNvPr id="18" name="Rectangle 18"/>
            <p:cNvSpPr/>
            <p:nvPr/>
          </p:nvSpPr>
          <p:spPr>
            <a:xfrm>
              <a:off x="1073468" y="3725228"/>
              <a:ext cx="5735955" cy="9525"/>
            </a:xfrm>
            <a:prstGeom prst="rect">
              <a:avLst/>
            </a:prstGeom>
            <a:solidFill>
              <a:srgbClr val="D9DFEA"/>
            </a:solidFill>
            <a:ln>
              <a:noFill/>
            </a:ln>
          </p:spPr>
        </p:sp>
        <p:sp>
          <p:nvSpPr>
            <p:cNvPr id="19" name="TextBox 19"/>
            <p:cNvSpPr txBox="1"/>
            <p:nvPr/>
          </p:nvSpPr>
          <p:spPr>
            <a:xfrm>
              <a:off x="521970" y="3830955"/>
              <a:ext cx="372704" cy="440055"/>
            </a:xfrm>
            <a:prstGeom prst="rect">
              <a:avLst/>
            </a:prstGeom>
            <a:noFill/>
            <a:ln>
              <a:noFill/>
            </a:ln>
          </p:spPr>
          <p:txBody>
            <a:bodyPr wrap="none" lIns="0" tIns="0" rIns="0" bIns="0" anchor="t" anchorCtr="0">
              <a:spAutoFit/>
            </a:bodyPr>
            <a:lstStyle/>
            <a:p>
              <a:pPr algn="l"/>
              <a:r>
                <a:rPr lang="zh-CN" sz="2250" b="1" dirty="0">
                  <a:solidFill>
                    <a:srgbClr val="334E68"/>
                  </a:solidFill>
                  <a:latin typeface="+mn-lt"/>
                  <a:ea typeface="+mn-ea"/>
                  <a:cs typeface="+mn-cs"/>
                </a:rPr>
                <a:t>04</a:t>
              </a:r>
            </a:p>
          </p:txBody>
        </p:sp>
        <p:sp>
          <p:nvSpPr>
            <p:cNvPr id="20" name="TextBox 20"/>
            <p:cNvSpPr txBox="1"/>
            <p:nvPr/>
          </p:nvSpPr>
          <p:spPr>
            <a:xfrm>
              <a:off x="1065086" y="3867150"/>
              <a:ext cx="1793748" cy="322707"/>
            </a:xfrm>
            <a:prstGeom prst="rect">
              <a:avLst/>
            </a:prstGeom>
            <a:noFill/>
            <a:ln>
              <a:noFill/>
            </a:ln>
          </p:spPr>
          <p:txBody>
            <a:bodyPr wrap="none" lIns="0" tIns="0" rIns="0" bIns="0" anchor="t" anchorCtr="0">
              <a:spAutoFit/>
            </a:bodyPr>
            <a:lstStyle/>
            <a:p>
              <a:pPr algn="l"/>
              <a:r>
                <a:rPr lang="zh-CN" sz="1650" b="1" dirty="0">
                  <a:solidFill>
                    <a:srgbClr val="1F2937"/>
                  </a:solidFill>
                  <a:latin typeface="+mn-lt"/>
                  <a:ea typeface="+mn-ea"/>
                  <a:cs typeface="+mn-cs"/>
                </a:rPr>
                <a:t>目录式一致性协议</a:t>
              </a:r>
            </a:p>
          </p:txBody>
        </p:sp>
        <p:sp>
          <p:nvSpPr>
            <p:cNvPr id="21" name="TextBox 21"/>
            <p:cNvSpPr txBox="1"/>
            <p:nvPr/>
          </p:nvSpPr>
          <p:spPr>
            <a:xfrm>
              <a:off x="1066990" y="4183856"/>
              <a:ext cx="4148480" cy="249364"/>
            </a:xfrm>
            <a:prstGeom prst="rect">
              <a:avLst/>
            </a:prstGeom>
            <a:noFill/>
            <a:ln>
              <a:noFill/>
            </a:ln>
          </p:spPr>
          <p:txBody>
            <a:bodyPr wrap="none" lIns="0" tIns="0" rIns="0" bIns="0" anchor="t" anchorCtr="0">
              <a:spAutoFit/>
            </a:bodyPr>
            <a:lstStyle/>
            <a:p>
              <a:pPr algn="l"/>
              <a:r>
                <a:rPr lang="zh-CN" sz="1280" dirty="0">
                  <a:solidFill>
                    <a:srgbClr val="5B6475"/>
                  </a:solidFill>
                  <a:latin typeface="+mn-lt"/>
                  <a:ea typeface="+mn-ea"/>
                  <a:cs typeface="+mn-cs"/>
                </a:rPr>
                <a:t>请求、目录、远程三类节点，九种消息，三类目录结构</a:t>
              </a:r>
            </a:p>
          </p:txBody>
        </p:sp>
        <p:sp>
          <p:nvSpPr>
            <p:cNvPr id="22" name="Rectangle 22"/>
            <p:cNvSpPr/>
            <p:nvPr/>
          </p:nvSpPr>
          <p:spPr>
            <a:xfrm>
              <a:off x="1073468" y="4497705"/>
              <a:ext cx="5735955" cy="9525"/>
            </a:xfrm>
            <a:prstGeom prst="rect">
              <a:avLst/>
            </a:prstGeom>
            <a:solidFill>
              <a:srgbClr val="D9DFEA"/>
            </a:solidFill>
            <a:ln>
              <a:noFill/>
            </a:ln>
          </p:spPr>
        </p:sp>
        <p:sp>
          <p:nvSpPr>
            <p:cNvPr id="23" name="TextBox 23"/>
            <p:cNvSpPr txBox="1"/>
            <p:nvPr/>
          </p:nvSpPr>
          <p:spPr>
            <a:xfrm>
              <a:off x="521970" y="4602480"/>
              <a:ext cx="372704" cy="440055"/>
            </a:xfrm>
            <a:prstGeom prst="rect">
              <a:avLst/>
            </a:prstGeom>
            <a:noFill/>
            <a:ln>
              <a:noFill/>
            </a:ln>
          </p:spPr>
          <p:txBody>
            <a:bodyPr wrap="none" lIns="0" tIns="0" rIns="0" bIns="0" anchor="t" anchorCtr="0">
              <a:spAutoFit/>
            </a:bodyPr>
            <a:lstStyle/>
            <a:p>
              <a:pPr algn="l"/>
              <a:r>
                <a:rPr lang="zh-CN" sz="2250" b="1" dirty="0">
                  <a:solidFill>
                    <a:srgbClr val="334E68"/>
                  </a:solidFill>
                  <a:latin typeface="+mn-lt"/>
                  <a:ea typeface="+mn-ea"/>
                  <a:cs typeface="+mn-cs"/>
                </a:rPr>
                <a:t>05</a:t>
              </a:r>
            </a:p>
          </p:txBody>
        </p:sp>
        <p:sp>
          <p:nvSpPr>
            <p:cNvPr id="24" name="TextBox 24"/>
            <p:cNvSpPr txBox="1"/>
            <p:nvPr/>
          </p:nvSpPr>
          <p:spPr>
            <a:xfrm>
              <a:off x="1065086" y="4638675"/>
              <a:ext cx="905256" cy="322707"/>
            </a:xfrm>
            <a:prstGeom prst="rect">
              <a:avLst/>
            </a:prstGeom>
            <a:noFill/>
            <a:ln>
              <a:noFill/>
            </a:ln>
          </p:spPr>
          <p:txBody>
            <a:bodyPr wrap="none" lIns="0" tIns="0" rIns="0" bIns="0" anchor="t" anchorCtr="0">
              <a:spAutoFit/>
            </a:bodyPr>
            <a:lstStyle/>
            <a:p>
              <a:pPr algn="l"/>
              <a:r>
                <a:rPr lang="zh-CN" sz="1650" b="1" dirty="0">
                  <a:solidFill>
                    <a:srgbClr val="1F2937"/>
                  </a:solidFill>
                  <a:latin typeface="+mn-lt"/>
                  <a:ea typeface="+mn-ea"/>
                  <a:cs typeface="+mn-cs"/>
                </a:rPr>
                <a:t>互连结构</a:t>
              </a:r>
            </a:p>
          </p:txBody>
        </p:sp>
        <p:sp>
          <p:nvSpPr>
            <p:cNvPr id="25" name="TextBox 25"/>
            <p:cNvSpPr txBox="1"/>
            <p:nvPr/>
          </p:nvSpPr>
          <p:spPr>
            <a:xfrm>
              <a:off x="1066990" y="4955381"/>
              <a:ext cx="4820178" cy="249364"/>
            </a:xfrm>
            <a:prstGeom prst="rect">
              <a:avLst/>
            </a:prstGeom>
            <a:noFill/>
            <a:ln>
              <a:noFill/>
            </a:ln>
          </p:spPr>
          <p:txBody>
            <a:bodyPr wrap="none" lIns="0" tIns="0" rIns="0" bIns="0" anchor="t" anchorCtr="0">
              <a:spAutoFit/>
            </a:bodyPr>
            <a:lstStyle/>
            <a:p>
              <a:pPr algn="l"/>
              <a:r>
                <a:rPr lang="zh-CN" sz="1280" dirty="0">
                  <a:solidFill>
                    <a:srgbClr val="5B6475"/>
                  </a:solidFill>
                  <a:latin typeface="+mn-lt"/>
                  <a:ea typeface="+mn-ea"/>
                  <a:cs typeface="+mn-cs"/>
                </a:rPr>
                <a:t>拓扑参数、静态网络、总线与交叉开关、Ω 网络、常用互连协议</a:t>
              </a:r>
            </a:p>
          </p:txBody>
        </p:sp>
        <p:sp>
          <p:nvSpPr>
            <p:cNvPr id="26" name="Rectangle 26"/>
            <p:cNvSpPr/>
            <p:nvPr/>
          </p:nvSpPr>
          <p:spPr>
            <a:xfrm>
              <a:off x="1073468" y="5269230"/>
              <a:ext cx="5735955" cy="9525"/>
            </a:xfrm>
            <a:prstGeom prst="rect">
              <a:avLst/>
            </a:prstGeom>
            <a:solidFill>
              <a:srgbClr val="D9DFEA"/>
            </a:solidFill>
            <a:ln>
              <a:noFill/>
            </a:ln>
          </p:spPr>
        </p:sp>
        <p:sp>
          <p:nvSpPr>
            <p:cNvPr id="27" name="TextBox 27"/>
            <p:cNvSpPr txBox="1"/>
            <p:nvPr/>
          </p:nvSpPr>
          <p:spPr>
            <a:xfrm>
              <a:off x="521970" y="5374958"/>
              <a:ext cx="372704" cy="440055"/>
            </a:xfrm>
            <a:prstGeom prst="rect">
              <a:avLst/>
            </a:prstGeom>
            <a:noFill/>
            <a:ln>
              <a:noFill/>
            </a:ln>
          </p:spPr>
          <p:txBody>
            <a:bodyPr wrap="none" lIns="0" tIns="0" rIns="0" bIns="0" anchor="t" anchorCtr="0">
              <a:spAutoFit/>
            </a:bodyPr>
            <a:lstStyle/>
            <a:p>
              <a:pPr algn="l"/>
              <a:r>
                <a:rPr lang="zh-CN" sz="2250" b="1" dirty="0">
                  <a:solidFill>
                    <a:srgbClr val="334E68"/>
                  </a:solidFill>
                  <a:latin typeface="+mn-lt"/>
                  <a:ea typeface="+mn-ea"/>
                  <a:cs typeface="+mn-cs"/>
                </a:rPr>
                <a:t>06</a:t>
              </a:r>
            </a:p>
          </p:txBody>
        </p:sp>
        <p:sp>
          <p:nvSpPr>
            <p:cNvPr id="28" name="TextBox 28"/>
            <p:cNvSpPr txBox="1"/>
            <p:nvPr/>
          </p:nvSpPr>
          <p:spPr>
            <a:xfrm>
              <a:off x="1065086" y="5411152"/>
              <a:ext cx="905256" cy="322707"/>
            </a:xfrm>
            <a:prstGeom prst="rect">
              <a:avLst/>
            </a:prstGeom>
            <a:noFill/>
            <a:ln>
              <a:noFill/>
            </a:ln>
          </p:spPr>
          <p:txBody>
            <a:bodyPr wrap="none" lIns="0" tIns="0" rIns="0" bIns="0" anchor="t" anchorCtr="0">
              <a:spAutoFit/>
            </a:bodyPr>
            <a:lstStyle/>
            <a:p>
              <a:pPr algn="l"/>
              <a:r>
                <a:rPr lang="zh-CN" sz="1650" b="1" dirty="0">
                  <a:solidFill>
                    <a:srgbClr val="1F2937"/>
                  </a:solidFill>
                  <a:latin typeface="+mn-lt"/>
                  <a:ea typeface="+mn-ea"/>
                  <a:cs typeface="+mn-cs"/>
                </a:rPr>
                <a:t>性能评测</a:t>
              </a:r>
            </a:p>
          </p:txBody>
        </p:sp>
        <p:sp>
          <p:nvSpPr>
            <p:cNvPr id="29" name="TextBox 29"/>
            <p:cNvSpPr txBox="1"/>
            <p:nvPr/>
          </p:nvSpPr>
          <p:spPr>
            <a:xfrm>
              <a:off x="1066990" y="5727859"/>
              <a:ext cx="4544168" cy="249364"/>
            </a:xfrm>
            <a:prstGeom prst="rect">
              <a:avLst/>
            </a:prstGeom>
            <a:noFill/>
            <a:ln>
              <a:noFill/>
            </a:ln>
          </p:spPr>
          <p:txBody>
            <a:bodyPr wrap="none" lIns="0" tIns="0" rIns="0" bIns="0" anchor="t" anchorCtr="0">
              <a:spAutoFit/>
            </a:bodyPr>
            <a:lstStyle/>
            <a:p>
              <a:pPr algn="l"/>
              <a:r>
                <a:rPr lang="zh-CN" sz="1280" dirty="0">
                  <a:solidFill>
                    <a:srgbClr val="5B6475"/>
                  </a:solidFill>
                  <a:latin typeface="+mn-lt"/>
                  <a:ea typeface="+mn-ea"/>
                  <a:cs typeface="+mn-cs"/>
                </a:rPr>
                <a:t>性能指标、通信开销、Amdahl、Gustafson 与 Sun-Ni 定律</a:t>
              </a:r>
            </a:p>
          </p:txBody>
        </p:sp>
      </p:grpSp>
      <p:grpSp>
        <p:nvGrpSpPr>
          <p:cNvPr id="47" name="c2-card-1"/>
          <p:cNvGrpSpPr/>
          <p:nvPr/>
        </p:nvGrpSpPr>
        <p:grpSpPr>
          <a:xfrm>
            <a:off x="7114222" y="1524000"/>
            <a:ext cx="4544378" cy="4421505"/>
            <a:chOff x="7114222" y="1524000"/>
            <a:chExt cx="4544378" cy="4421505"/>
          </a:xfrm>
        </p:grpSpPr>
        <p:sp>
          <p:nvSpPr>
            <p:cNvPr id="31" name="Rectangle 31"/>
            <p:cNvSpPr/>
            <p:nvPr/>
          </p:nvSpPr>
          <p:spPr>
            <a:xfrm>
              <a:off x="7114222" y="1524000"/>
              <a:ext cx="4544378" cy="4421505"/>
            </a:xfrm>
            <a:prstGeom prst="roundRect">
              <a:avLst>
                <a:gd name="adj" fmla="val 3016"/>
              </a:avLst>
            </a:prstGeom>
            <a:solidFill>
              <a:srgbClr val="FFFFFF"/>
            </a:solidFill>
            <a:ln w="14288">
              <a:solidFill>
                <a:srgbClr val="D9DFEA"/>
              </a:solidFill>
            </a:ln>
          </p:spPr>
        </p:sp>
        <p:sp>
          <p:nvSpPr>
            <p:cNvPr id="32" name="Rectangle 32"/>
            <p:cNvSpPr/>
            <p:nvPr/>
          </p:nvSpPr>
          <p:spPr>
            <a:xfrm>
              <a:off x="7123748" y="1657350"/>
              <a:ext cx="47625" cy="4154805"/>
            </a:xfrm>
            <a:prstGeom prst="roundRect">
              <a:avLst>
                <a:gd name="adj" fmla="val 50000"/>
              </a:avLst>
            </a:prstGeom>
            <a:solidFill>
              <a:srgbClr val="334E68"/>
            </a:solidFill>
            <a:ln>
              <a:noFill/>
            </a:ln>
          </p:spPr>
        </p:sp>
        <p:sp>
          <p:nvSpPr>
            <p:cNvPr id="33" name="Rectangle 33"/>
            <p:cNvSpPr/>
            <p:nvPr/>
          </p:nvSpPr>
          <p:spPr>
            <a:xfrm>
              <a:off x="7361872" y="1733550"/>
              <a:ext cx="778192" cy="257175"/>
            </a:xfrm>
            <a:prstGeom prst="roundRect">
              <a:avLst>
                <a:gd name="adj" fmla="val 50000"/>
              </a:avLst>
            </a:prstGeom>
            <a:solidFill>
              <a:srgbClr val="E7EDF3"/>
            </a:solidFill>
            <a:ln>
              <a:noFill/>
            </a:ln>
          </p:spPr>
        </p:sp>
        <p:sp>
          <p:nvSpPr>
            <p:cNvPr id="34" name="TextBox 34"/>
            <p:cNvSpPr txBox="1"/>
            <p:nvPr/>
          </p:nvSpPr>
          <p:spPr>
            <a:xfrm>
              <a:off x="7443229" y="1769269"/>
              <a:ext cx="614528"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学习目标</a:t>
              </a:r>
            </a:p>
          </p:txBody>
        </p:sp>
        <p:sp>
          <p:nvSpPr>
            <p:cNvPr id="35" name="Ellipse 35"/>
            <p:cNvSpPr/>
            <p:nvPr/>
          </p:nvSpPr>
          <p:spPr>
            <a:xfrm>
              <a:off x="7367588" y="2173605"/>
              <a:ext cx="64770" cy="64770"/>
            </a:xfrm>
            <a:prstGeom prst="ellipse">
              <a:avLst/>
            </a:prstGeom>
            <a:solidFill>
              <a:srgbClr val="334E68"/>
            </a:solidFill>
            <a:ln>
              <a:noFill/>
            </a:ln>
          </p:spPr>
        </p:sp>
        <p:sp>
          <p:nvSpPr>
            <p:cNvPr id="36" name="TextBox 36"/>
            <p:cNvSpPr txBox="1"/>
            <p:nvPr/>
          </p:nvSpPr>
          <p:spPr>
            <a:xfrm>
              <a:off x="7525702" y="2110740"/>
              <a:ext cx="3634740"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区分共享存储与非共享存储多处理器，说出</a:t>
              </a:r>
              <a:br/>
              <a:r>
                <a:rPr lang="zh-CN" sz="1500" dirty="0">
                  <a:solidFill>
                    <a:srgbClr val="1F2937"/>
                  </a:solidFill>
                  <a:latin typeface="+mn-lt"/>
                  <a:ea typeface="+mn-ea"/>
                  <a:cs typeface="+mn-cs"/>
                </a:rPr>
                <a:t>UMA 与 NUMA、COW 与 MPP 的差别</a:t>
              </a:r>
            </a:p>
          </p:txBody>
        </p:sp>
        <p:sp>
          <p:nvSpPr>
            <p:cNvPr id="37" name="Ellipse 37"/>
            <p:cNvSpPr/>
            <p:nvPr/>
          </p:nvSpPr>
          <p:spPr>
            <a:xfrm>
              <a:off x="7367588" y="2794635"/>
              <a:ext cx="64770" cy="64770"/>
            </a:xfrm>
            <a:prstGeom prst="ellipse">
              <a:avLst/>
            </a:prstGeom>
            <a:solidFill>
              <a:srgbClr val="334E68"/>
            </a:solidFill>
            <a:ln>
              <a:noFill/>
            </a:ln>
          </p:spPr>
        </p:sp>
        <p:sp>
          <p:nvSpPr>
            <p:cNvPr id="38" name="TextBox 38"/>
            <p:cNvSpPr txBox="1"/>
            <p:nvPr/>
          </p:nvSpPr>
          <p:spPr>
            <a:xfrm>
              <a:off x="7525702" y="2731770"/>
              <a:ext cx="3701415"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说明 Cache 一致性问题的成因，比较写作废</a:t>
              </a:r>
              <a:br/>
              <a:r>
                <a:rPr lang="zh-CN" sz="1500" dirty="0">
                  <a:solidFill>
                    <a:srgbClr val="1F2937"/>
                  </a:solidFill>
                  <a:latin typeface="+mn-lt"/>
                  <a:ea typeface="+mn-ea"/>
                  <a:cs typeface="+mn-cs"/>
                </a:rPr>
                <a:t>与写更新、监听式与目录式</a:t>
              </a:r>
            </a:p>
          </p:txBody>
        </p:sp>
        <p:sp>
          <p:nvSpPr>
            <p:cNvPr id="39" name="Ellipse 39"/>
            <p:cNvSpPr/>
            <p:nvPr/>
          </p:nvSpPr>
          <p:spPr>
            <a:xfrm>
              <a:off x="7367588" y="3415665"/>
              <a:ext cx="64770" cy="64770"/>
            </a:xfrm>
            <a:prstGeom prst="ellipse">
              <a:avLst/>
            </a:prstGeom>
            <a:solidFill>
              <a:srgbClr val="334E68"/>
            </a:solidFill>
            <a:ln>
              <a:noFill/>
            </a:ln>
          </p:spPr>
        </p:sp>
        <p:sp>
          <p:nvSpPr>
            <p:cNvPr id="40" name="TextBox 40"/>
            <p:cNvSpPr txBox="1"/>
            <p:nvPr/>
          </p:nvSpPr>
          <p:spPr>
            <a:xfrm>
              <a:off x="7525702" y="3352800"/>
              <a:ext cx="3682365"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按 MSI 状态表推演一串读写操作下各 Cache</a:t>
              </a:r>
              <a:br/>
              <a:r>
                <a:rPr lang="zh-CN" sz="1500" dirty="0">
                  <a:solidFill>
                    <a:srgbClr val="1F2937"/>
                  </a:solidFill>
                  <a:latin typeface="+mn-lt"/>
                  <a:ea typeface="+mn-ea"/>
                  <a:cs typeface="+mn-cs"/>
                </a:rPr>
                <a:t>的状态和总线消息</a:t>
              </a:r>
            </a:p>
          </p:txBody>
        </p:sp>
        <p:sp>
          <p:nvSpPr>
            <p:cNvPr id="41" name="Ellipse 41"/>
            <p:cNvSpPr/>
            <p:nvPr/>
          </p:nvSpPr>
          <p:spPr>
            <a:xfrm>
              <a:off x="7367588" y="4036695"/>
              <a:ext cx="64770" cy="64770"/>
            </a:xfrm>
            <a:prstGeom prst="ellipse">
              <a:avLst/>
            </a:prstGeom>
            <a:solidFill>
              <a:srgbClr val="334E68"/>
            </a:solidFill>
            <a:ln>
              <a:noFill/>
            </a:ln>
          </p:spPr>
        </p:sp>
        <p:sp>
          <p:nvSpPr>
            <p:cNvPr id="42" name="TextBox 42"/>
            <p:cNvSpPr txBox="1"/>
            <p:nvPr/>
          </p:nvSpPr>
          <p:spPr>
            <a:xfrm>
              <a:off x="7525702" y="3973830"/>
              <a:ext cx="3682365"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说出目录协议中 A、B、C 三类节点间的消息</a:t>
              </a:r>
              <a:br/>
              <a:r>
                <a:rPr lang="zh-CN" sz="1500" dirty="0">
                  <a:solidFill>
                    <a:srgbClr val="1F2937"/>
                  </a:solidFill>
                  <a:latin typeface="+mn-lt"/>
                  <a:ea typeface="+mn-ea"/>
                  <a:cs typeface="+mn-cs"/>
                </a:rPr>
                <a:t>往来，算出三类目录的存储开销</a:t>
              </a:r>
            </a:p>
          </p:txBody>
        </p:sp>
        <p:sp>
          <p:nvSpPr>
            <p:cNvPr id="43" name="Ellipse 43"/>
            <p:cNvSpPr/>
            <p:nvPr/>
          </p:nvSpPr>
          <p:spPr>
            <a:xfrm>
              <a:off x="7367588" y="4657725"/>
              <a:ext cx="64770" cy="64770"/>
            </a:xfrm>
            <a:prstGeom prst="ellipse">
              <a:avLst/>
            </a:prstGeom>
            <a:solidFill>
              <a:srgbClr val="334E68"/>
            </a:solidFill>
            <a:ln>
              <a:noFill/>
            </a:ln>
          </p:spPr>
        </p:sp>
        <p:sp>
          <p:nvSpPr>
            <p:cNvPr id="44" name="TextBox 44"/>
            <p:cNvSpPr txBox="1"/>
            <p:nvPr/>
          </p:nvSpPr>
          <p:spPr>
            <a:xfrm>
              <a:off x="7525702" y="4594860"/>
              <a:ext cx="3634740"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算出常见静态网络的节点度、直径和对剖宽</a:t>
              </a:r>
              <a:br/>
              <a:r>
                <a:rPr lang="zh-CN" sz="1500" dirty="0">
                  <a:solidFill>
                    <a:srgbClr val="1F2937"/>
                  </a:solidFill>
                  <a:latin typeface="+mn-lt"/>
                  <a:ea typeface="+mn-ea"/>
                  <a:cs typeface="+mn-cs"/>
                </a:rPr>
                <a:t>度，用 Ω 网络做目标地址路由</a:t>
              </a:r>
            </a:p>
          </p:txBody>
        </p:sp>
        <p:sp>
          <p:nvSpPr>
            <p:cNvPr id="45" name="Ellipse 45"/>
            <p:cNvSpPr/>
            <p:nvPr/>
          </p:nvSpPr>
          <p:spPr>
            <a:xfrm>
              <a:off x="7367588" y="5278755"/>
              <a:ext cx="64770" cy="64770"/>
            </a:xfrm>
            <a:prstGeom prst="ellipse">
              <a:avLst/>
            </a:prstGeom>
            <a:solidFill>
              <a:srgbClr val="334E68"/>
            </a:solidFill>
            <a:ln>
              <a:noFill/>
            </a:ln>
          </p:spPr>
        </p:sp>
        <p:sp>
          <p:nvSpPr>
            <p:cNvPr id="46" name="TextBox 46"/>
            <p:cNvSpPr txBox="1"/>
            <p:nvPr/>
          </p:nvSpPr>
          <p:spPr>
            <a:xfrm>
              <a:off x="7525702" y="5215890"/>
              <a:ext cx="3606165"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用 Amdahl、Gustafson、Sun-Ni 定律算加</a:t>
              </a:r>
              <a:br/>
              <a:r>
                <a:rPr lang="zh-CN" sz="1500" dirty="0">
                  <a:solidFill>
                    <a:srgbClr val="1F2937"/>
                  </a:solidFill>
                  <a:latin typeface="+mn-lt"/>
                  <a:ea typeface="+mn-ea"/>
                  <a:cs typeface="+mn-cs"/>
                </a:rPr>
                <a:t>速比与效率，说明各自的适用条件</a:t>
              </a:r>
            </a:p>
          </p:txBody>
        </p:sp>
      </p:grpSp>
      <p:grpSp>
        <p:nvGrpSpPr>
          <p:cNvPr id="50" name="footer"/>
          <p:cNvGrpSpPr/>
          <p:nvPr/>
        </p:nvGrpSpPr>
        <p:grpSpPr>
          <a:xfrm>
            <a:off x="528447" y="6581299"/>
            <a:ext cx="11135106" cy="190690"/>
            <a:chOff x="528447" y="6581299"/>
            <a:chExt cx="11135106" cy="190690"/>
          </a:xfrm>
        </p:grpSpPr>
        <p:sp>
          <p:nvSpPr>
            <p:cNvPr id="48" name="TextBox 48"/>
            <p:cNvSpPr txBox="1"/>
            <p:nvPr/>
          </p:nvSpPr>
          <p:spPr>
            <a:xfrm>
              <a:off x="528447" y="6581299"/>
              <a:ext cx="2120748"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并行与分布式计算 · 第7章 体系结构</a:t>
              </a:r>
            </a:p>
          </p:txBody>
        </p:sp>
        <p:sp>
          <p:nvSpPr>
            <p:cNvPr id="49" name="TextBox 49"/>
            <p:cNvSpPr txBox="1"/>
            <p:nvPr/>
          </p:nvSpPr>
          <p:spPr>
            <a:xfrm>
              <a:off x="11581087" y="6581299"/>
              <a:ext cx="8246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2</a:t>
              </a:r>
            </a:p>
          </p:txBody>
        </p:sp>
      </p:gr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ection-disc"/>
          <p:cNvSpPr/>
          <p:nvPr/>
        </p:nvSpPr>
        <p:spPr>
          <a:xfrm>
            <a:off x="7715250" y="571500"/>
            <a:ext cx="5715000" cy="5715000"/>
          </a:xfrm>
          <a:prstGeom prst="ellipse">
            <a:avLst/>
          </a:prstGeom>
          <a:solidFill>
            <a:srgbClr val="334E68"/>
          </a:solidFill>
          <a:ln>
            <a:noFill/>
          </a:ln>
        </p:spPr>
      </p:sp>
      <p:sp>
        <p:nvSpPr>
          <p:cNvPr id="3" name="section-ring"/>
          <p:cNvSpPr/>
          <p:nvPr/>
        </p:nvSpPr>
        <p:spPr>
          <a:xfrm>
            <a:off x="7334250" y="190500"/>
            <a:ext cx="6477000" cy="6477000"/>
          </a:xfrm>
          <a:prstGeom prst="ellipse">
            <a:avLst/>
          </a:prstGeom>
          <a:noFill/>
          <a:ln w="133350">
            <a:solidFill>
              <a:srgbClr val="E7EDF3"/>
            </a:solidFill>
          </a:ln>
        </p:spPr>
      </p:sp>
      <p:grpSp>
        <p:nvGrpSpPr>
          <p:cNvPr id="5" name="section-num"/>
          <p:cNvGrpSpPr/>
          <p:nvPr/>
        </p:nvGrpSpPr>
        <p:grpSpPr>
          <a:xfrm>
            <a:off x="8954033" y="2705100"/>
            <a:ext cx="1903933" cy="2305050"/>
            <a:chOff x="8954033" y="2705100"/>
            <a:chExt cx="1903933" cy="2305050"/>
          </a:xfrm>
        </p:grpSpPr>
        <p:sp>
          <p:nvSpPr>
            <p:cNvPr id="4" name="TextBox 4"/>
            <p:cNvSpPr txBox="1"/>
            <p:nvPr/>
          </p:nvSpPr>
          <p:spPr>
            <a:xfrm>
              <a:off x="8954033" y="2705100"/>
              <a:ext cx="1903933" cy="2305050"/>
            </a:xfrm>
            <a:prstGeom prst="rect">
              <a:avLst/>
            </a:prstGeom>
            <a:noFill/>
            <a:ln>
              <a:noFill/>
            </a:ln>
          </p:spPr>
          <p:txBody>
            <a:bodyPr wrap="none" lIns="0" tIns="0" rIns="0" bIns="0" anchor="t" anchorCtr="0">
              <a:spAutoFit/>
            </a:bodyPr>
            <a:lstStyle/>
            <a:p>
              <a:pPr algn="ctr"/>
              <a:r>
                <a:rPr lang="zh-CN" sz="12000" b="1" dirty="0">
                  <a:solidFill>
                    <a:srgbClr val="FFFFFF"/>
                  </a:solidFill>
                  <a:latin typeface="+mn-lt"/>
                  <a:ea typeface="+mn-ea"/>
                  <a:cs typeface="+mn-cs"/>
                </a:rPr>
                <a:t>01</a:t>
              </a:r>
            </a:p>
          </p:txBody>
        </p:sp>
      </p:grpSp>
      <p:grpSp>
        <p:nvGrpSpPr>
          <p:cNvPr id="18" name="section-title"/>
          <p:cNvGrpSpPr/>
          <p:nvPr/>
        </p:nvGrpSpPr>
        <p:grpSpPr>
          <a:xfrm>
            <a:off x="667512" y="1835468"/>
            <a:ext cx="5894070" cy="3675697"/>
            <a:chOff x="667512" y="1835468"/>
            <a:chExt cx="5894070" cy="3675697"/>
          </a:xfrm>
        </p:grpSpPr>
        <p:sp>
          <p:nvSpPr>
            <p:cNvPr id="6" name="TextBox 6"/>
            <p:cNvSpPr txBox="1"/>
            <p:nvPr/>
          </p:nvSpPr>
          <p:spPr>
            <a:xfrm>
              <a:off x="678942" y="1835468"/>
              <a:ext cx="740664" cy="264033"/>
            </a:xfrm>
            <a:prstGeom prst="rect">
              <a:avLst/>
            </a:prstGeom>
            <a:noFill/>
            <a:ln>
              <a:noFill/>
            </a:ln>
          </p:spPr>
          <p:txBody>
            <a:bodyPr wrap="none" lIns="0" tIns="0" rIns="0" bIns="0" anchor="t" anchorCtr="0">
              <a:spAutoFit/>
            </a:bodyPr>
            <a:lstStyle/>
            <a:p>
              <a:pPr algn="l"/>
              <a:r>
                <a:rPr lang="zh-CN" sz="1350" b="1" dirty="0">
                  <a:solidFill>
                    <a:srgbClr val="C2410C"/>
                  </a:solidFill>
                  <a:latin typeface="+mn-lt"/>
                  <a:ea typeface="+mn-ea"/>
                  <a:cs typeface="+mn-cs"/>
                </a:rPr>
                <a:t>第一部分</a:t>
              </a:r>
            </a:p>
          </p:txBody>
        </p:sp>
        <p:sp>
          <p:nvSpPr>
            <p:cNvPr id="7" name="TextBox 7"/>
            <p:cNvSpPr txBox="1"/>
            <p:nvPr/>
          </p:nvSpPr>
          <p:spPr>
            <a:xfrm>
              <a:off x="667512" y="2240280"/>
              <a:ext cx="2944368" cy="704088"/>
            </a:xfrm>
            <a:prstGeom prst="rect">
              <a:avLst/>
            </a:prstGeom>
            <a:noFill/>
            <a:ln>
              <a:noFill/>
            </a:ln>
          </p:spPr>
          <p:txBody>
            <a:bodyPr wrap="none" lIns="0" tIns="0" rIns="0" bIns="0" anchor="t" anchorCtr="0">
              <a:spAutoFit/>
            </a:bodyPr>
            <a:lstStyle/>
            <a:p>
              <a:pPr algn="l"/>
              <a:r>
                <a:rPr lang="zh-CN" sz="3600" b="1" dirty="0">
                  <a:solidFill>
                    <a:srgbClr val="1F2937"/>
                  </a:solidFill>
                  <a:latin typeface="+mn-lt"/>
                  <a:ea typeface="+mn-ea"/>
                  <a:cs typeface="+mn-cs"/>
                </a:rPr>
                <a:t>多处理器结构</a:t>
              </a:r>
            </a:p>
          </p:txBody>
        </p:sp>
        <p:sp>
          <p:nvSpPr>
            <p:cNvPr id="8" name="Rectangle 8"/>
            <p:cNvSpPr/>
            <p:nvPr/>
          </p:nvSpPr>
          <p:spPr>
            <a:xfrm>
              <a:off x="685800" y="3041332"/>
              <a:ext cx="762000" cy="47625"/>
            </a:xfrm>
            <a:prstGeom prst="roundRect">
              <a:avLst>
                <a:gd name="adj" fmla="val 50000"/>
              </a:avLst>
            </a:prstGeom>
            <a:solidFill>
              <a:srgbClr val="F26B3A"/>
            </a:solidFill>
            <a:ln>
              <a:noFill/>
            </a:ln>
          </p:spPr>
        </p:sp>
        <p:sp>
          <p:nvSpPr>
            <p:cNvPr id="9" name="TextBox 9"/>
            <p:cNvSpPr txBox="1"/>
            <p:nvPr/>
          </p:nvSpPr>
          <p:spPr>
            <a:xfrm>
              <a:off x="677418" y="3377565"/>
              <a:ext cx="5884164" cy="646557"/>
            </a:xfrm>
            <a:prstGeom prst="rect">
              <a:avLst/>
            </a:prstGeom>
            <a:noFill/>
            <a:ln>
              <a:noFill/>
            </a:ln>
          </p:spPr>
          <p:txBody>
            <a:bodyPr wrap="none" lIns="0" tIns="0" rIns="0" bIns="0" anchor="t" anchorCtr="0">
              <a:spAutoFit/>
            </a:bodyPr>
            <a:lstStyle/>
            <a:p>
              <a:pPr algn="l">
                <a:lnSpc>
                  <a:spcPts val="2550"/>
                </a:lnSpc>
              </a:pPr>
              <a:r>
                <a:rPr lang="zh-CN" sz="1650" dirty="0">
                  <a:solidFill>
                    <a:srgbClr val="5B6475"/>
                  </a:solidFill>
                  <a:latin typeface="+mn-lt"/>
                  <a:ea typeface="+mn-ea"/>
                  <a:cs typeface="+mn-cs"/>
                </a:rPr>
                <a:t>存储是否共享，决定了编程模型、耦合程度，也决定要不要处理</a:t>
              </a:r>
              <a:br/>
              <a:r>
                <a:rPr lang="zh-CN" sz="1650" dirty="0">
                  <a:solidFill>
                    <a:srgbClr val="5B6475"/>
                  </a:solidFill>
                  <a:latin typeface="+mn-lt"/>
                  <a:ea typeface="+mn-ea"/>
                  <a:cs typeface="+mn-cs"/>
                </a:rPr>
                <a:t>Cache 一致性</a:t>
              </a:r>
            </a:p>
          </p:txBody>
        </p:sp>
        <p:sp>
          <p:nvSpPr>
            <p:cNvPr id="10" name="Ellipse 10"/>
            <p:cNvSpPr/>
            <p:nvPr/>
          </p:nvSpPr>
          <p:spPr>
            <a:xfrm>
              <a:off x="723900" y="4211955"/>
              <a:ext cx="76200" cy="76200"/>
            </a:xfrm>
            <a:prstGeom prst="ellipse">
              <a:avLst/>
            </a:prstGeom>
            <a:solidFill>
              <a:srgbClr val="334E68"/>
            </a:solidFill>
            <a:ln>
              <a:noFill/>
            </a:ln>
          </p:spPr>
        </p:sp>
        <p:sp>
          <p:nvSpPr>
            <p:cNvPr id="11" name="TextBox 11"/>
            <p:cNvSpPr txBox="1"/>
            <p:nvPr/>
          </p:nvSpPr>
          <p:spPr>
            <a:xfrm>
              <a:off x="906780" y="4154805"/>
              <a:ext cx="1620584"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7.1 多处理器结构</a:t>
              </a:r>
            </a:p>
          </p:txBody>
        </p:sp>
        <p:sp>
          <p:nvSpPr>
            <p:cNvPr id="12" name="Ellipse 12"/>
            <p:cNvSpPr/>
            <p:nvPr/>
          </p:nvSpPr>
          <p:spPr>
            <a:xfrm>
              <a:off x="723900" y="4566285"/>
              <a:ext cx="76200" cy="76200"/>
            </a:xfrm>
            <a:prstGeom prst="ellipse">
              <a:avLst/>
            </a:prstGeom>
            <a:solidFill>
              <a:srgbClr val="334E68"/>
            </a:solidFill>
            <a:ln>
              <a:noFill/>
            </a:ln>
          </p:spPr>
        </p:sp>
        <p:sp>
          <p:nvSpPr>
            <p:cNvPr id="13" name="TextBox 13"/>
            <p:cNvSpPr txBox="1"/>
            <p:nvPr/>
          </p:nvSpPr>
          <p:spPr>
            <a:xfrm>
              <a:off x="906780" y="4509135"/>
              <a:ext cx="238887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非共享存储：COW 与 MPP</a:t>
              </a:r>
            </a:p>
          </p:txBody>
        </p:sp>
        <p:sp>
          <p:nvSpPr>
            <p:cNvPr id="14" name="Ellipse 14"/>
            <p:cNvSpPr/>
            <p:nvPr/>
          </p:nvSpPr>
          <p:spPr>
            <a:xfrm>
              <a:off x="723900" y="4920615"/>
              <a:ext cx="76200" cy="76200"/>
            </a:xfrm>
            <a:prstGeom prst="ellipse">
              <a:avLst/>
            </a:prstGeom>
            <a:solidFill>
              <a:srgbClr val="334E68"/>
            </a:solidFill>
            <a:ln>
              <a:noFill/>
            </a:ln>
          </p:spPr>
        </p:sp>
        <p:sp>
          <p:nvSpPr>
            <p:cNvPr id="15" name="TextBox 15"/>
            <p:cNvSpPr txBox="1"/>
            <p:nvPr/>
          </p:nvSpPr>
          <p:spPr>
            <a:xfrm>
              <a:off x="906780" y="4863465"/>
              <a:ext cx="3962972"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超算实例：神威·太湖之光与申威众核处理器</a:t>
              </a:r>
            </a:p>
          </p:txBody>
        </p:sp>
        <p:sp>
          <p:nvSpPr>
            <p:cNvPr id="16" name="Ellipse 16"/>
            <p:cNvSpPr/>
            <p:nvPr/>
          </p:nvSpPr>
          <p:spPr>
            <a:xfrm>
              <a:off x="723900" y="5274945"/>
              <a:ext cx="76200" cy="76200"/>
            </a:xfrm>
            <a:prstGeom prst="ellipse">
              <a:avLst/>
            </a:prstGeom>
            <a:solidFill>
              <a:srgbClr val="334E68"/>
            </a:solidFill>
            <a:ln>
              <a:noFill/>
            </a:ln>
          </p:spPr>
        </p:sp>
        <p:sp>
          <p:nvSpPr>
            <p:cNvPr id="17" name="TextBox 17"/>
            <p:cNvSpPr txBox="1"/>
            <p:nvPr/>
          </p:nvSpPr>
          <p:spPr>
            <a:xfrm>
              <a:off x="906780" y="5217795"/>
              <a:ext cx="4093312"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共享存储：UMA、NUMA 与多核的 Cache 组织</a:t>
              </a:r>
            </a:p>
          </p:txBody>
        </p:sp>
      </p:grpSp>
      <p:grpSp>
        <p:nvGrpSpPr>
          <p:cNvPr id="21" name="footer"/>
          <p:cNvGrpSpPr/>
          <p:nvPr/>
        </p:nvGrpSpPr>
        <p:grpSpPr>
          <a:xfrm>
            <a:off x="528447" y="6581299"/>
            <a:ext cx="11135106" cy="190690"/>
            <a:chOff x="528447" y="6581299"/>
            <a:chExt cx="11135106" cy="190690"/>
          </a:xfrm>
        </p:grpSpPr>
        <p:sp>
          <p:nvSpPr>
            <p:cNvPr id="19" name="TextBox 19"/>
            <p:cNvSpPr txBox="1"/>
            <p:nvPr/>
          </p:nvSpPr>
          <p:spPr>
            <a:xfrm>
              <a:off x="528447" y="6581299"/>
              <a:ext cx="2120748"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并行与分布式计算 · 第7章 体系结构</a:t>
              </a:r>
            </a:p>
          </p:txBody>
        </p:sp>
        <p:sp>
          <p:nvSpPr>
            <p:cNvPr id="20" name="TextBox 20"/>
            <p:cNvSpPr txBox="1"/>
            <p:nvPr/>
          </p:nvSpPr>
          <p:spPr>
            <a:xfrm>
              <a:off x="11581087" y="6581299"/>
              <a:ext cx="8246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3</a:t>
              </a:r>
            </a:p>
          </p:txBody>
        </p:sp>
      </p:gr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6204966" cy="909257"/>
            <a:chOff x="520446" y="342900"/>
            <a:chExt cx="6204966" cy="909257"/>
          </a:xfrm>
        </p:grpSpPr>
        <p:sp>
          <p:nvSpPr>
            <p:cNvPr id="2" name="Rectangle 2"/>
            <p:cNvSpPr/>
            <p:nvPr/>
          </p:nvSpPr>
          <p:spPr>
            <a:xfrm>
              <a:off x="533400" y="342900"/>
              <a:ext cx="2272665" cy="266700"/>
            </a:xfrm>
            <a:prstGeom prst="roundRect">
              <a:avLst>
                <a:gd name="adj" fmla="val 50000"/>
              </a:avLst>
            </a:prstGeom>
            <a:solidFill>
              <a:srgbClr val="E7EDF3"/>
            </a:solidFill>
            <a:ln>
              <a:noFill/>
            </a:ln>
          </p:spPr>
        </p:sp>
        <p:sp>
          <p:nvSpPr>
            <p:cNvPr id="3" name="TextBox 3"/>
            <p:cNvSpPr txBox="1"/>
            <p:nvPr/>
          </p:nvSpPr>
          <p:spPr>
            <a:xfrm>
              <a:off x="601058" y="407194"/>
              <a:ext cx="2137349"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第7章 体系结构 · 多处理器结构</a:t>
              </a:r>
            </a:p>
          </p:txBody>
        </p:sp>
        <p:sp>
          <p:nvSpPr>
            <p:cNvPr id="4" name="TextBox 4"/>
            <p:cNvSpPr txBox="1"/>
            <p:nvPr/>
          </p:nvSpPr>
          <p:spPr>
            <a:xfrm>
              <a:off x="520446" y="753428"/>
              <a:ext cx="6204966"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存储是否共享：多处理器的第一道分界线</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44" name="c1-table-1"/>
          <p:cNvGrpSpPr/>
          <p:nvPr/>
        </p:nvGrpSpPr>
        <p:grpSpPr>
          <a:xfrm>
            <a:off x="533400" y="1524000"/>
            <a:ext cx="6276022" cy="3646170"/>
            <a:chOff x="533400" y="1524000"/>
            <a:chExt cx="6276022" cy="3646170"/>
          </a:xfrm>
        </p:grpSpPr>
        <p:sp>
          <p:nvSpPr>
            <p:cNvPr id="7" name="Rectangle 7"/>
            <p:cNvSpPr/>
            <p:nvPr/>
          </p:nvSpPr>
          <p:spPr>
            <a:xfrm>
              <a:off x="533400" y="1524000"/>
              <a:ext cx="6276022" cy="405765"/>
            </a:xfrm>
            <a:prstGeom prst="rect">
              <a:avLst/>
            </a:prstGeom>
            <a:solidFill>
              <a:srgbClr val="334E68"/>
            </a:solidFill>
            <a:ln>
              <a:noFill/>
            </a:ln>
          </p:spPr>
        </p:sp>
        <p:sp>
          <p:nvSpPr>
            <p:cNvPr id="8" name="TextBox 8"/>
            <p:cNvSpPr txBox="1"/>
            <p:nvPr/>
          </p:nvSpPr>
          <p:spPr>
            <a:xfrm>
              <a:off x="866356" y="1648301"/>
              <a:ext cx="463753"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对比项</a:t>
              </a:r>
            </a:p>
          </p:txBody>
        </p:sp>
        <p:sp>
          <p:nvSpPr>
            <p:cNvPr id="9" name="TextBox 9"/>
            <p:cNvSpPr txBox="1"/>
            <p:nvPr/>
          </p:nvSpPr>
          <p:spPr>
            <a:xfrm>
              <a:off x="2265693" y="1648301"/>
              <a:ext cx="1368400"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非共享存储多处理器</a:t>
              </a:r>
            </a:p>
          </p:txBody>
        </p:sp>
        <p:sp>
          <p:nvSpPr>
            <p:cNvPr id="10" name="TextBox 10"/>
            <p:cNvSpPr txBox="1"/>
            <p:nvPr/>
          </p:nvSpPr>
          <p:spPr>
            <a:xfrm>
              <a:off x="4913782" y="1648301"/>
              <a:ext cx="1217625"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共享存储多处理器</a:t>
              </a:r>
            </a:p>
          </p:txBody>
        </p:sp>
        <p:sp>
          <p:nvSpPr>
            <p:cNvPr id="11" name="TextBox 11"/>
            <p:cNvSpPr txBox="1"/>
            <p:nvPr/>
          </p:nvSpPr>
          <p:spPr>
            <a:xfrm>
              <a:off x="633412" y="2054066"/>
              <a:ext cx="312979"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内存</a:t>
              </a:r>
            </a:p>
          </p:txBody>
        </p:sp>
        <p:sp>
          <p:nvSpPr>
            <p:cNvPr id="12" name="TextBox 12"/>
            <p:cNvSpPr txBox="1"/>
            <p:nvPr/>
          </p:nvSpPr>
          <p:spPr>
            <a:xfrm>
              <a:off x="1763078" y="2054066"/>
              <a:ext cx="2273046"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每个处理器私有，逻辑上独立编址</a:t>
              </a:r>
            </a:p>
          </p:txBody>
        </p:sp>
        <p:sp>
          <p:nvSpPr>
            <p:cNvPr id="13" name="TextBox 13"/>
            <p:cNvSpPr txBox="1"/>
            <p:nvPr/>
          </p:nvSpPr>
          <p:spPr>
            <a:xfrm>
              <a:off x="4335780" y="2054066"/>
              <a:ext cx="2273046"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所有处理器共享，逻辑上统一编址</a:t>
              </a:r>
            </a:p>
          </p:txBody>
        </p:sp>
        <p:sp>
          <p:nvSpPr>
            <p:cNvPr id="14" name="Rectangle 14"/>
            <p:cNvSpPr/>
            <p:nvPr/>
          </p:nvSpPr>
          <p:spPr>
            <a:xfrm>
              <a:off x="533400" y="2330768"/>
              <a:ext cx="6276022" cy="9525"/>
            </a:xfrm>
            <a:prstGeom prst="rect">
              <a:avLst/>
            </a:prstGeom>
            <a:solidFill>
              <a:srgbClr val="D9DFEA"/>
            </a:solidFill>
            <a:ln>
              <a:noFill/>
            </a:ln>
          </p:spPr>
        </p:sp>
        <p:sp>
          <p:nvSpPr>
            <p:cNvPr id="15" name="Rectangle 15"/>
            <p:cNvSpPr/>
            <p:nvPr/>
          </p:nvSpPr>
          <p:spPr>
            <a:xfrm>
              <a:off x="533400" y="2335530"/>
              <a:ext cx="6276022" cy="605790"/>
            </a:xfrm>
            <a:prstGeom prst="rect">
              <a:avLst/>
            </a:prstGeom>
            <a:solidFill>
              <a:srgbClr val="F4F6FB"/>
            </a:solidFill>
            <a:ln>
              <a:noFill/>
            </a:ln>
          </p:spPr>
        </p:sp>
        <p:sp>
          <p:nvSpPr>
            <p:cNvPr id="16" name="TextBox 16"/>
            <p:cNvSpPr txBox="1"/>
            <p:nvPr/>
          </p:nvSpPr>
          <p:spPr>
            <a:xfrm>
              <a:off x="633412" y="2459831"/>
              <a:ext cx="751434" cy="420052"/>
            </a:xfrm>
            <a:prstGeom prst="rect">
              <a:avLst/>
            </a:prstGeom>
            <a:noFill/>
            <a:ln>
              <a:noFill/>
            </a:ln>
          </p:spPr>
          <p:txBody>
            <a:bodyPr wrap="none" lIns="0" tIns="0" rIns="0" bIns="0" anchor="t" anchorCtr="0">
              <a:spAutoFit/>
            </a:bodyPr>
            <a:lstStyle/>
            <a:p>
              <a:pPr algn="l">
                <a:lnSpc>
                  <a:spcPts val="1575"/>
                </a:lnSpc>
              </a:pPr>
              <a:r>
                <a:rPr lang="zh-CN" sz="1120" b="1" dirty="0">
                  <a:solidFill>
                    <a:srgbClr val="1F2937"/>
                  </a:solidFill>
                  <a:latin typeface="+mn-lt"/>
                  <a:ea typeface="+mn-ea"/>
                  <a:cs typeface="+mn-cs"/>
                </a:rPr>
                <a:t>Cache 一致</a:t>
              </a:r>
              <a:br/>
              <a:r>
                <a:rPr lang="zh-CN" sz="1120" b="1" dirty="0">
                  <a:solidFill>
                    <a:srgbClr val="1F2937"/>
                  </a:solidFill>
                  <a:latin typeface="+mn-lt"/>
                  <a:ea typeface="+mn-ea"/>
                  <a:cs typeface="+mn-cs"/>
                </a:rPr>
                <a:t>性</a:t>
              </a:r>
            </a:p>
          </p:txBody>
        </p:sp>
        <p:sp>
          <p:nvSpPr>
            <p:cNvPr id="17" name="TextBox 17"/>
            <p:cNvSpPr txBox="1"/>
            <p:nvPr/>
          </p:nvSpPr>
          <p:spPr>
            <a:xfrm>
              <a:off x="1763078" y="2559844"/>
              <a:ext cx="916076"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没有这个问题</a:t>
              </a:r>
            </a:p>
          </p:txBody>
        </p:sp>
        <p:sp>
          <p:nvSpPr>
            <p:cNvPr id="18" name="TextBox 18"/>
            <p:cNvSpPr txBox="1"/>
            <p:nvPr/>
          </p:nvSpPr>
          <p:spPr>
            <a:xfrm>
              <a:off x="4335780" y="2559844"/>
              <a:ext cx="2273046"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有，要靠一致性协议（第二部分）</a:t>
              </a:r>
            </a:p>
          </p:txBody>
        </p:sp>
        <p:sp>
          <p:nvSpPr>
            <p:cNvPr id="19" name="Rectangle 19"/>
            <p:cNvSpPr/>
            <p:nvPr/>
          </p:nvSpPr>
          <p:spPr>
            <a:xfrm>
              <a:off x="533400" y="2936558"/>
              <a:ext cx="6276022" cy="9525"/>
            </a:xfrm>
            <a:prstGeom prst="rect">
              <a:avLst/>
            </a:prstGeom>
            <a:solidFill>
              <a:srgbClr val="D9DFEA"/>
            </a:solidFill>
            <a:ln>
              <a:noFill/>
            </a:ln>
          </p:spPr>
        </p:sp>
        <p:sp>
          <p:nvSpPr>
            <p:cNvPr id="20" name="TextBox 20"/>
            <p:cNvSpPr txBox="1"/>
            <p:nvPr/>
          </p:nvSpPr>
          <p:spPr>
            <a:xfrm>
              <a:off x="633412" y="3065621"/>
              <a:ext cx="614528"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耦合程度</a:t>
              </a:r>
            </a:p>
          </p:txBody>
        </p:sp>
        <p:sp>
          <p:nvSpPr>
            <p:cNvPr id="21" name="TextBox 21"/>
            <p:cNvSpPr txBox="1"/>
            <p:nvPr/>
          </p:nvSpPr>
          <p:spPr>
            <a:xfrm>
              <a:off x="1763078" y="3065621"/>
              <a:ext cx="614528"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松散耦合</a:t>
              </a:r>
            </a:p>
          </p:txBody>
        </p:sp>
        <p:sp>
          <p:nvSpPr>
            <p:cNvPr id="22" name="TextBox 22"/>
            <p:cNvSpPr txBox="1"/>
            <p:nvPr/>
          </p:nvSpPr>
          <p:spPr>
            <a:xfrm>
              <a:off x="4335780" y="3065621"/>
              <a:ext cx="614528"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紧密耦合</a:t>
              </a:r>
            </a:p>
          </p:txBody>
        </p:sp>
        <p:sp>
          <p:nvSpPr>
            <p:cNvPr id="23" name="Rectangle 23"/>
            <p:cNvSpPr/>
            <p:nvPr/>
          </p:nvSpPr>
          <p:spPr>
            <a:xfrm>
              <a:off x="533400" y="3342322"/>
              <a:ext cx="6276022" cy="9525"/>
            </a:xfrm>
            <a:prstGeom prst="rect">
              <a:avLst/>
            </a:prstGeom>
            <a:solidFill>
              <a:srgbClr val="D9DFEA"/>
            </a:solidFill>
            <a:ln>
              <a:noFill/>
            </a:ln>
          </p:spPr>
        </p:sp>
        <p:sp>
          <p:nvSpPr>
            <p:cNvPr id="24" name="Rectangle 24"/>
            <p:cNvSpPr/>
            <p:nvPr/>
          </p:nvSpPr>
          <p:spPr>
            <a:xfrm>
              <a:off x="533400" y="3347085"/>
              <a:ext cx="6276022" cy="405765"/>
            </a:xfrm>
            <a:prstGeom prst="rect">
              <a:avLst/>
            </a:prstGeom>
            <a:solidFill>
              <a:srgbClr val="F4F6FB"/>
            </a:solidFill>
            <a:ln>
              <a:noFill/>
            </a:ln>
          </p:spPr>
        </p:sp>
        <p:sp>
          <p:nvSpPr>
            <p:cNvPr id="25" name="TextBox 25"/>
            <p:cNvSpPr txBox="1"/>
            <p:nvPr/>
          </p:nvSpPr>
          <p:spPr>
            <a:xfrm>
              <a:off x="633412" y="3471386"/>
              <a:ext cx="614528"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编程模型</a:t>
              </a:r>
            </a:p>
          </p:txBody>
        </p:sp>
        <p:sp>
          <p:nvSpPr>
            <p:cNvPr id="26" name="TextBox 26"/>
            <p:cNvSpPr txBox="1"/>
            <p:nvPr/>
          </p:nvSpPr>
          <p:spPr>
            <a:xfrm>
              <a:off x="1763078" y="3471386"/>
              <a:ext cx="1904787"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消息传递，如 MPI（第3章）</a:t>
              </a:r>
            </a:p>
          </p:txBody>
        </p:sp>
        <p:sp>
          <p:nvSpPr>
            <p:cNvPr id="27" name="TextBox 27"/>
            <p:cNvSpPr txBox="1"/>
            <p:nvPr/>
          </p:nvSpPr>
          <p:spPr>
            <a:xfrm>
              <a:off x="4335780" y="3471386"/>
              <a:ext cx="2222266"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共享存储，如 OpenMP（第2章）</a:t>
              </a:r>
            </a:p>
          </p:txBody>
        </p:sp>
        <p:sp>
          <p:nvSpPr>
            <p:cNvPr id="28" name="Rectangle 28"/>
            <p:cNvSpPr/>
            <p:nvPr/>
          </p:nvSpPr>
          <p:spPr>
            <a:xfrm>
              <a:off x="533400" y="3748088"/>
              <a:ext cx="6276022" cy="9525"/>
            </a:xfrm>
            <a:prstGeom prst="rect">
              <a:avLst/>
            </a:prstGeom>
            <a:solidFill>
              <a:srgbClr val="D9DFEA"/>
            </a:solidFill>
            <a:ln>
              <a:noFill/>
            </a:ln>
          </p:spPr>
        </p:sp>
        <p:sp>
          <p:nvSpPr>
            <p:cNvPr id="29" name="TextBox 29"/>
            <p:cNvSpPr txBox="1"/>
            <p:nvPr/>
          </p:nvSpPr>
          <p:spPr>
            <a:xfrm>
              <a:off x="633412" y="3877151"/>
              <a:ext cx="765302"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处理器在哪</a:t>
              </a:r>
            </a:p>
          </p:txBody>
        </p:sp>
        <p:sp>
          <p:nvSpPr>
            <p:cNvPr id="30" name="TextBox 30"/>
            <p:cNvSpPr txBox="1"/>
            <p:nvPr/>
          </p:nvSpPr>
          <p:spPr>
            <a:xfrm>
              <a:off x="1763078" y="3877151"/>
              <a:ext cx="1368400"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分布在多台计算机中</a:t>
              </a:r>
            </a:p>
          </p:txBody>
        </p:sp>
        <p:sp>
          <p:nvSpPr>
            <p:cNvPr id="31" name="TextBox 31"/>
            <p:cNvSpPr txBox="1"/>
            <p:nvPr/>
          </p:nvSpPr>
          <p:spPr>
            <a:xfrm>
              <a:off x="4335780" y="3877151"/>
              <a:ext cx="1217625"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在同一台计算机中</a:t>
              </a:r>
            </a:p>
          </p:txBody>
        </p:sp>
        <p:sp>
          <p:nvSpPr>
            <p:cNvPr id="32" name="Rectangle 32"/>
            <p:cNvSpPr/>
            <p:nvPr/>
          </p:nvSpPr>
          <p:spPr>
            <a:xfrm>
              <a:off x="533400" y="4153852"/>
              <a:ext cx="6276022" cy="9525"/>
            </a:xfrm>
            <a:prstGeom prst="rect">
              <a:avLst/>
            </a:prstGeom>
            <a:solidFill>
              <a:srgbClr val="D9DFEA"/>
            </a:solidFill>
            <a:ln>
              <a:noFill/>
            </a:ln>
          </p:spPr>
        </p:sp>
        <p:sp>
          <p:nvSpPr>
            <p:cNvPr id="33" name="Rectangle 33"/>
            <p:cNvSpPr/>
            <p:nvPr/>
          </p:nvSpPr>
          <p:spPr>
            <a:xfrm>
              <a:off x="533400" y="4158615"/>
              <a:ext cx="6276022" cy="405765"/>
            </a:xfrm>
            <a:prstGeom prst="rect">
              <a:avLst/>
            </a:prstGeom>
            <a:solidFill>
              <a:srgbClr val="F4F6FB"/>
            </a:solidFill>
            <a:ln>
              <a:noFill/>
            </a:ln>
          </p:spPr>
        </p:sp>
        <p:sp>
          <p:nvSpPr>
            <p:cNvPr id="34" name="TextBox 34"/>
            <p:cNvSpPr txBox="1"/>
            <p:nvPr/>
          </p:nvSpPr>
          <p:spPr>
            <a:xfrm>
              <a:off x="633412" y="4282916"/>
              <a:ext cx="312979"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实质</a:t>
              </a:r>
            </a:p>
          </p:txBody>
        </p:sp>
        <p:sp>
          <p:nvSpPr>
            <p:cNvPr id="35" name="TextBox 35"/>
            <p:cNvSpPr txBox="1"/>
            <p:nvPr/>
          </p:nvSpPr>
          <p:spPr>
            <a:xfrm>
              <a:off x="1763078" y="4282916"/>
              <a:ext cx="885922"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多进程 MIMD</a:t>
              </a:r>
            </a:p>
          </p:txBody>
        </p:sp>
        <p:sp>
          <p:nvSpPr>
            <p:cNvPr id="36" name="TextBox 36"/>
            <p:cNvSpPr txBox="1"/>
            <p:nvPr/>
          </p:nvSpPr>
          <p:spPr>
            <a:xfrm>
              <a:off x="4335780" y="4282916"/>
              <a:ext cx="885922"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多线程 MIMD</a:t>
              </a:r>
            </a:p>
          </p:txBody>
        </p:sp>
        <p:sp>
          <p:nvSpPr>
            <p:cNvPr id="37" name="Rectangle 37"/>
            <p:cNvSpPr/>
            <p:nvPr/>
          </p:nvSpPr>
          <p:spPr>
            <a:xfrm>
              <a:off x="533400" y="4559618"/>
              <a:ext cx="6276022" cy="9525"/>
            </a:xfrm>
            <a:prstGeom prst="rect">
              <a:avLst/>
            </a:prstGeom>
            <a:solidFill>
              <a:srgbClr val="D9DFEA"/>
            </a:solidFill>
            <a:ln>
              <a:noFill/>
            </a:ln>
          </p:spPr>
        </p:sp>
        <p:sp>
          <p:nvSpPr>
            <p:cNvPr id="38" name="TextBox 38"/>
            <p:cNvSpPr txBox="1"/>
            <p:nvPr/>
          </p:nvSpPr>
          <p:spPr>
            <a:xfrm>
              <a:off x="633412" y="4788694"/>
              <a:ext cx="614528"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典型系统</a:t>
              </a:r>
            </a:p>
          </p:txBody>
        </p:sp>
        <p:sp>
          <p:nvSpPr>
            <p:cNvPr id="39" name="TextBox 39"/>
            <p:cNvSpPr txBox="1"/>
            <p:nvPr/>
          </p:nvSpPr>
          <p:spPr>
            <a:xfrm>
              <a:off x="1763078" y="4688681"/>
              <a:ext cx="2194814" cy="420052"/>
            </a:xfrm>
            <a:prstGeom prst="rect">
              <a:avLst/>
            </a:prstGeom>
            <a:noFill/>
            <a:ln>
              <a:noFill/>
            </a:ln>
          </p:spPr>
          <p:txBody>
            <a:bodyPr wrap="none" lIns="0" tIns="0" rIns="0" bIns="0" anchor="t" anchorCtr="0">
              <a:spAutoFit/>
            </a:bodyPr>
            <a:lstStyle/>
            <a:p>
              <a:pPr algn="l">
                <a:lnSpc>
                  <a:spcPts val="1575"/>
                </a:lnSpc>
              </a:pPr>
              <a:r>
                <a:rPr lang="zh-CN" sz="1120" dirty="0">
                  <a:solidFill>
                    <a:srgbClr val="1F2937"/>
                  </a:solidFill>
                  <a:latin typeface="+mn-lt"/>
                  <a:ea typeface="+mn-ea"/>
                  <a:cs typeface="+mn-cs"/>
                </a:rPr>
                <a:t>工作站机群 COW、大规模并行处理</a:t>
              </a:r>
              <a:br/>
              <a:r>
                <a:rPr lang="zh-CN" sz="1120" dirty="0">
                  <a:solidFill>
                    <a:srgbClr val="1F2937"/>
                  </a:solidFill>
                  <a:latin typeface="+mn-lt"/>
                  <a:ea typeface="+mn-ea"/>
                  <a:cs typeface="+mn-cs"/>
                </a:rPr>
                <a:t>机 MPP</a:t>
              </a:r>
            </a:p>
          </p:txBody>
        </p:sp>
        <p:sp>
          <p:nvSpPr>
            <p:cNvPr id="40" name="TextBox 40"/>
            <p:cNvSpPr txBox="1"/>
            <p:nvPr/>
          </p:nvSpPr>
          <p:spPr>
            <a:xfrm>
              <a:off x="4335780" y="4788694"/>
              <a:ext cx="839267"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UMA、NUMA</a:t>
              </a:r>
            </a:p>
          </p:txBody>
        </p:sp>
        <p:sp>
          <p:nvSpPr>
            <p:cNvPr id="41" name="Rectangle 41"/>
            <p:cNvSpPr/>
            <p:nvPr/>
          </p:nvSpPr>
          <p:spPr>
            <a:xfrm>
              <a:off x="533400" y="1524000"/>
              <a:ext cx="6276022" cy="3646170"/>
            </a:xfrm>
            <a:prstGeom prst="rect">
              <a:avLst/>
            </a:prstGeom>
            <a:noFill/>
            <a:ln w="14288">
              <a:solidFill>
                <a:srgbClr val="D9DFEA"/>
              </a:solidFill>
            </a:ln>
          </p:spPr>
        </p:sp>
        <p:sp>
          <p:nvSpPr>
            <p:cNvPr id="42" name="Rectangle 42"/>
            <p:cNvSpPr/>
            <p:nvPr/>
          </p:nvSpPr>
          <p:spPr>
            <a:xfrm>
              <a:off x="1658302" y="1524000"/>
              <a:ext cx="9525" cy="3646170"/>
            </a:xfrm>
            <a:prstGeom prst="rect">
              <a:avLst/>
            </a:prstGeom>
            <a:solidFill>
              <a:srgbClr val="D9DFEA"/>
            </a:solidFill>
            <a:ln>
              <a:noFill/>
            </a:ln>
          </p:spPr>
        </p:sp>
        <p:sp>
          <p:nvSpPr>
            <p:cNvPr id="43" name="Rectangle 43"/>
            <p:cNvSpPr/>
            <p:nvPr/>
          </p:nvSpPr>
          <p:spPr>
            <a:xfrm>
              <a:off x="4231005" y="1524000"/>
              <a:ext cx="9525" cy="3646170"/>
            </a:xfrm>
            <a:prstGeom prst="rect">
              <a:avLst/>
            </a:prstGeom>
            <a:solidFill>
              <a:srgbClr val="D9DFEA"/>
            </a:solidFill>
            <a:ln>
              <a:noFill/>
            </a:ln>
          </p:spPr>
        </p:sp>
      </p:grpSp>
      <p:grpSp>
        <p:nvGrpSpPr>
          <p:cNvPr id="46" name="c2-text-1"/>
          <p:cNvGrpSpPr/>
          <p:nvPr/>
        </p:nvGrpSpPr>
        <p:grpSpPr>
          <a:xfrm>
            <a:off x="7108508" y="1542574"/>
            <a:ext cx="3177692" cy="220028"/>
            <a:chOff x="7108508" y="1542574"/>
            <a:chExt cx="3177692" cy="220028"/>
          </a:xfrm>
        </p:grpSpPr>
        <p:sp>
          <p:nvSpPr>
            <p:cNvPr id="45" name="TextBox 45"/>
            <p:cNvSpPr txBox="1"/>
            <p:nvPr/>
          </p:nvSpPr>
          <p:spPr>
            <a:xfrm>
              <a:off x="7108508" y="1542574"/>
              <a:ext cx="3177692" cy="220028"/>
            </a:xfrm>
            <a:prstGeom prst="rect">
              <a:avLst/>
            </a:prstGeom>
            <a:noFill/>
            <a:ln>
              <a:noFill/>
            </a:ln>
          </p:spPr>
          <p:txBody>
            <a:bodyPr wrap="none" lIns="0" tIns="0" rIns="0" bIns="0" anchor="t" anchorCtr="0">
              <a:spAutoFit/>
            </a:bodyPr>
            <a:lstStyle/>
            <a:p>
              <a:pPr algn="l"/>
              <a:r>
                <a:rPr lang="zh-CN" sz="1120" dirty="0">
                  <a:solidFill>
                    <a:srgbClr val="5B6475"/>
                  </a:solidFill>
                  <a:latin typeface="+mn-lt"/>
                  <a:ea typeface="+mn-ea"/>
                  <a:cs typeface="+mn-cs"/>
                </a:rPr>
                <a:t>非共享存储：每台机器只能直接访问自己的内存</a:t>
              </a:r>
            </a:p>
          </p:txBody>
        </p:sp>
      </p:grpSp>
      <p:grpSp>
        <p:nvGrpSpPr>
          <p:cNvPr id="58" name="c2-graph-2"/>
          <p:cNvGrpSpPr/>
          <p:nvPr/>
        </p:nvGrpSpPr>
        <p:grpSpPr>
          <a:xfrm>
            <a:off x="7278052" y="2045018"/>
            <a:ext cx="4216718" cy="1038701"/>
            <a:chOff x="7278052" y="2045018"/>
            <a:chExt cx="4216718" cy="1038701"/>
          </a:xfrm>
        </p:grpSpPr>
        <p:sp>
          <p:nvSpPr>
            <p:cNvPr id="47" name="Freeform 47"/>
            <p:cNvSpPr/>
            <p:nvPr/>
          </p:nvSpPr>
          <p:spPr>
            <a:xfrm>
              <a:off x="7840980" y="2391728"/>
              <a:ext cx="9525" cy="427673"/>
            </a:xfrm>
            <a:custGeom>
              <a:avLst/>
              <a:gdLst/>
              <a:ahLst/>
              <a:cxnLst/>
              <a:rect l="l" t="t" r="r" b="b"/>
              <a:pathLst>
                <a:path w="9525" h="427673">
                  <a:moveTo>
                    <a:pt x="0" y="0"/>
                  </a:moveTo>
                  <a:lnTo>
                    <a:pt x="0" y="427673"/>
                  </a:lnTo>
                </a:path>
              </a:pathLst>
            </a:custGeom>
            <a:noFill/>
            <a:ln w="17145">
              <a:solidFill>
                <a:srgbClr val="1F2937"/>
              </a:solidFill>
            </a:ln>
          </p:spPr>
        </p:sp>
        <p:sp>
          <p:nvSpPr>
            <p:cNvPr id="48" name="Freeform 48"/>
            <p:cNvSpPr/>
            <p:nvPr/>
          </p:nvSpPr>
          <p:spPr>
            <a:xfrm>
              <a:off x="9385935" y="2391728"/>
              <a:ext cx="9525" cy="427673"/>
            </a:xfrm>
            <a:custGeom>
              <a:avLst/>
              <a:gdLst/>
              <a:ahLst/>
              <a:cxnLst/>
              <a:rect l="l" t="t" r="r" b="b"/>
              <a:pathLst>
                <a:path w="9525" h="427673">
                  <a:moveTo>
                    <a:pt x="0" y="0"/>
                  </a:moveTo>
                  <a:lnTo>
                    <a:pt x="0" y="427673"/>
                  </a:lnTo>
                </a:path>
              </a:pathLst>
            </a:custGeom>
            <a:noFill/>
            <a:ln w="17145">
              <a:solidFill>
                <a:srgbClr val="1F2937"/>
              </a:solidFill>
            </a:ln>
          </p:spPr>
        </p:sp>
        <p:sp>
          <p:nvSpPr>
            <p:cNvPr id="49" name="Freeform 49"/>
            <p:cNvSpPr/>
            <p:nvPr/>
          </p:nvSpPr>
          <p:spPr>
            <a:xfrm>
              <a:off x="10931842" y="2391728"/>
              <a:ext cx="9525" cy="427673"/>
            </a:xfrm>
            <a:custGeom>
              <a:avLst/>
              <a:gdLst/>
              <a:ahLst/>
              <a:cxnLst/>
              <a:rect l="l" t="t" r="r" b="b"/>
              <a:pathLst>
                <a:path w="9525" h="427673">
                  <a:moveTo>
                    <a:pt x="0" y="0"/>
                  </a:moveTo>
                  <a:lnTo>
                    <a:pt x="0" y="427673"/>
                  </a:lnTo>
                </a:path>
              </a:pathLst>
            </a:custGeom>
            <a:noFill/>
            <a:ln w="17145">
              <a:solidFill>
                <a:srgbClr val="1F2937"/>
              </a:solidFill>
            </a:ln>
          </p:spPr>
        </p:sp>
        <p:sp>
          <p:nvSpPr>
            <p:cNvPr id="50" name="Rectangle 50"/>
            <p:cNvSpPr/>
            <p:nvPr/>
          </p:nvSpPr>
          <p:spPr>
            <a:xfrm>
              <a:off x="7479030" y="2821305"/>
              <a:ext cx="3813810" cy="225742"/>
            </a:xfrm>
            <a:prstGeom prst="roundRect">
              <a:avLst>
                <a:gd name="adj" fmla="val 42194"/>
              </a:avLst>
            </a:prstGeom>
            <a:solidFill>
              <a:srgbClr val="FDEEE7"/>
            </a:solidFill>
            <a:ln w="17145">
              <a:solidFill>
                <a:srgbClr val="F26B3A"/>
              </a:solidFill>
            </a:ln>
          </p:spPr>
        </p:sp>
        <p:sp>
          <p:nvSpPr>
            <p:cNvPr id="51" name="Rectangle 51"/>
            <p:cNvSpPr/>
            <p:nvPr/>
          </p:nvSpPr>
          <p:spPr>
            <a:xfrm>
              <a:off x="7278052" y="2045018"/>
              <a:ext cx="1126808" cy="346710"/>
            </a:xfrm>
            <a:prstGeom prst="roundRect">
              <a:avLst>
                <a:gd name="adj" fmla="val 27473"/>
              </a:avLst>
            </a:prstGeom>
            <a:solidFill>
              <a:srgbClr val="E7EDF3"/>
            </a:solidFill>
            <a:ln w="17145">
              <a:solidFill>
                <a:srgbClr val="334E68"/>
              </a:solidFill>
            </a:ln>
          </p:spPr>
        </p:sp>
        <p:sp>
          <p:nvSpPr>
            <p:cNvPr id="52" name="Rectangle 52"/>
            <p:cNvSpPr/>
            <p:nvPr/>
          </p:nvSpPr>
          <p:spPr>
            <a:xfrm>
              <a:off x="8823008" y="2045018"/>
              <a:ext cx="1126808" cy="346710"/>
            </a:xfrm>
            <a:prstGeom prst="roundRect">
              <a:avLst>
                <a:gd name="adj" fmla="val 27473"/>
              </a:avLst>
            </a:prstGeom>
            <a:solidFill>
              <a:srgbClr val="E7EDF3"/>
            </a:solidFill>
            <a:ln w="17145">
              <a:solidFill>
                <a:srgbClr val="334E68"/>
              </a:solidFill>
            </a:ln>
          </p:spPr>
        </p:sp>
        <p:sp>
          <p:nvSpPr>
            <p:cNvPr id="53" name="Rectangle 53"/>
            <p:cNvSpPr/>
            <p:nvPr/>
          </p:nvSpPr>
          <p:spPr>
            <a:xfrm>
              <a:off x="10367962" y="2045018"/>
              <a:ext cx="1126808" cy="346710"/>
            </a:xfrm>
            <a:prstGeom prst="roundRect">
              <a:avLst>
                <a:gd name="adj" fmla="val 27473"/>
              </a:avLst>
            </a:prstGeom>
            <a:solidFill>
              <a:srgbClr val="E7EDF3"/>
            </a:solidFill>
            <a:ln w="17145">
              <a:solidFill>
                <a:srgbClr val="334E68"/>
              </a:solidFill>
            </a:ln>
          </p:spPr>
        </p:sp>
        <p:sp>
          <p:nvSpPr>
            <p:cNvPr id="54" name="TextBox 54"/>
            <p:cNvSpPr txBox="1"/>
            <p:nvPr/>
          </p:nvSpPr>
          <p:spPr>
            <a:xfrm>
              <a:off x="8626348" y="2863691"/>
              <a:ext cx="1519174" cy="220028"/>
            </a:xfrm>
            <a:prstGeom prst="rect">
              <a:avLst/>
            </a:prstGeom>
            <a:noFill/>
            <a:ln>
              <a:noFill/>
            </a:ln>
          </p:spPr>
          <p:txBody>
            <a:bodyPr wrap="none" lIns="0" tIns="0" rIns="0" bIns="0" anchor="t" anchorCtr="0">
              <a:spAutoFit/>
            </a:bodyPr>
            <a:lstStyle/>
            <a:p>
              <a:pPr algn="ctr"/>
              <a:r>
                <a:rPr lang="zh-CN" sz="1120" b="1" dirty="0">
                  <a:solidFill>
                    <a:srgbClr val="1F2937"/>
                  </a:solidFill>
                  <a:latin typeface="+mn-lt"/>
                  <a:ea typeface="+mn-ea"/>
                  <a:cs typeface="+mn-cs"/>
                </a:rPr>
                <a:t>互连网络（传递消息）</a:t>
              </a:r>
            </a:p>
          </p:txBody>
        </p:sp>
        <p:sp>
          <p:nvSpPr>
            <p:cNvPr id="55" name="TextBox 55"/>
            <p:cNvSpPr txBox="1"/>
            <p:nvPr/>
          </p:nvSpPr>
          <p:spPr>
            <a:xfrm>
              <a:off x="7345533" y="2148364"/>
              <a:ext cx="990895" cy="220028"/>
            </a:xfrm>
            <a:prstGeom prst="rect">
              <a:avLst/>
            </a:prstGeom>
            <a:noFill/>
            <a:ln>
              <a:noFill/>
            </a:ln>
          </p:spPr>
          <p:txBody>
            <a:bodyPr wrap="none" lIns="0" tIns="0" rIns="0" bIns="0" anchor="t" anchorCtr="0">
              <a:spAutoFit/>
            </a:bodyPr>
            <a:lstStyle/>
            <a:p>
              <a:pPr algn="ctr"/>
              <a:r>
                <a:rPr lang="zh-CN" sz="1120" b="1" dirty="0">
                  <a:solidFill>
                    <a:srgbClr val="243B53"/>
                  </a:solidFill>
                  <a:latin typeface="+mn-lt"/>
                  <a:ea typeface="+mn-ea"/>
                  <a:cs typeface="+mn-cs"/>
                </a:rPr>
                <a:t>P₁ + 私有内存</a:t>
              </a:r>
            </a:p>
          </p:txBody>
        </p:sp>
        <p:sp>
          <p:nvSpPr>
            <p:cNvPr id="56" name="TextBox 56"/>
            <p:cNvSpPr txBox="1"/>
            <p:nvPr/>
          </p:nvSpPr>
          <p:spPr>
            <a:xfrm>
              <a:off x="8890488" y="2148364"/>
              <a:ext cx="990895" cy="220028"/>
            </a:xfrm>
            <a:prstGeom prst="rect">
              <a:avLst/>
            </a:prstGeom>
            <a:noFill/>
            <a:ln>
              <a:noFill/>
            </a:ln>
          </p:spPr>
          <p:txBody>
            <a:bodyPr wrap="none" lIns="0" tIns="0" rIns="0" bIns="0" anchor="t" anchorCtr="0">
              <a:spAutoFit/>
            </a:bodyPr>
            <a:lstStyle/>
            <a:p>
              <a:pPr algn="ctr"/>
              <a:r>
                <a:rPr lang="zh-CN" sz="1120" b="1" dirty="0">
                  <a:solidFill>
                    <a:srgbClr val="243B53"/>
                  </a:solidFill>
                  <a:latin typeface="+mn-lt"/>
                  <a:ea typeface="+mn-ea"/>
                  <a:cs typeface="+mn-cs"/>
                </a:rPr>
                <a:t>P₂ + 私有内存</a:t>
              </a:r>
            </a:p>
          </p:txBody>
        </p:sp>
        <p:sp>
          <p:nvSpPr>
            <p:cNvPr id="57" name="TextBox 57"/>
            <p:cNvSpPr txBox="1"/>
            <p:nvPr/>
          </p:nvSpPr>
          <p:spPr>
            <a:xfrm>
              <a:off x="10436395" y="2148364"/>
              <a:ext cx="990895" cy="220028"/>
            </a:xfrm>
            <a:prstGeom prst="rect">
              <a:avLst/>
            </a:prstGeom>
            <a:noFill/>
            <a:ln>
              <a:noFill/>
            </a:ln>
          </p:spPr>
          <p:txBody>
            <a:bodyPr wrap="none" lIns="0" tIns="0" rIns="0" bIns="0" anchor="t" anchorCtr="0">
              <a:spAutoFit/>
            </a:bodyPr>
            <a:lstStyle/>
            <a:p>
              <a:pPr algn="ctr"/>
              <a:r>
                <a:rPr lang="zh-CN" sz="1120" b="1" dirty="0">
                  <a:solidFill>
                    <a:srgbClr val="243B53"/>
                  </a:solidFill>
                  <a:latin typeface="+mn-lt"/>
                  <a:ea typeface="+mn-ea"/>
                  <a:cs typeface="+mn-cs"/>
                </a:rPr>
                <a:t>P₃ + 私有内存</a:t>
              </a:r>
            </a:p>
          </p:txBody>
        </p:sp>
      </p:grpSp>
      <p:grpSp>
        <p:nvGrpSpPr>
          <p:cNvPr id="60" name="c2-text-3"/>
          <p:cNvGrpSpPr/>
          <p:nvPr/>
        </p:nvGrpSpPr>
        <p:grpSpPr>
          <a:xfrm>
            <a:off x="7108508" y="3387566"/>
            <a:ext cx="2876144" cy="220028"/>
            <a:chOff x="7108508" y="3387566"/>
            <a:chExt cx="2876144" cy="220028"/>
          </a:xfrm>
        </p:grpSpPr>
        <p:sp>
          <p:nvSpPr>
            <p:cNvPr id="59" name="TextBox 59"/>
            <p:cNvSpPr txBox="1"/>
            <p:nvPr/>
          </p:nvSpPr>
          <p:spPr>
            <a:xfrm>
              <a:off x="7108508" y="3387566"/>
              <a:ext cx="2876144" cy="220028"/>
            </a:xfrm>
            <a:prstGeom prst="rect">
              <a:avLst/>
            </a:prstGeom>
            <a:noFill/>
            <a:ln>
              <a:noFill/>
            </a:ln>
          </p:spPr>
          <p:txBody>
            <a:bodyPr wrap="none" lIns="0" tIns="0" rIns="0" bIns="0" anchor="t" anchorCtr="0">
              <a:spAutoFit/>
            </a:bodyPr>
            <a:lstStyle/>
            <a:p>
              <a:pPr algn="l"/>
              <a:r>
                <a:rPr lang="zh-CN" sz="1120" dirty="0">
                  <a:solidFill>
                    <a:srgbClr val="5B6475"/>
                  </a:solidFill>
                  <a:latin typeface="+mn-lt"/>
                  <a:ea typeface="+mn-ea"/>
                  <a:cs typeface="+mn-cs"/>
                </a:rPr>
                <a:t>共享存储：所有处理器访问同一个地址空间</a:t>
              </a:r>
            </a:p>
          </p:txBody>
        </p:sp>
      </p:grpSp>
      <p:grpSp>
        <p:nvGrpSpPr>
          <p:cNvPr id="75" name="c2-graph-4"/>
          <p:cNvGrpSpPr/>
          <p:nvPr/>
        </p:nvGrpSpPr>
        <p:grpSpPr>
          <a:xfrm>
            <a:off x="7479030" y="3793808"/>
            <a:ext cx="3813810" cy="1340644"/>
            <a:chOff x="7479030" y="3793808"/>
            <a:chExt cx="3813810" cy="1340644"/>
          </a:xfrm>
        </p:grpSpPr>
        <p:sp>
          <p:nvSpPr>
            <p:cNvPr id="61" name="Freeform 61"/>
            <p:cNvSpPr/>
            <p:nvPr/>
          </p:nvSpPr>
          <p:spPr>
            <a:xfrm>
              <a:off x="8022908" y="4053840"/>
              <a:ext cx="9525" cy="257175"/>
            </a:xfrm>
            <a:custGeom>
              <a:avLst/>
              <a:gdLst/>
              <a:ahLst/>
              <a:cxnLst/>
              <a:rect l="l" t="t" r="r" b="b"/>
              <a:pathLst>
                <a:path w="9525" h="257175">
                  <a:moveTo>
                    <a:pt x="0" y="0"/>
                  </a:moveTo>
                  <a:lnTo>
                    <a:pt x="0" y="257175"/>
                  </a:lnTo>
                </a:path>
              </a:pathLst>
            </a:custGeom>
            <a:noFill/>
            <a:ln w="17145">
              <a:solidFill>
                <a:srgbClr val="1F2937"/>
              </a:solidFill>
            </a:ln>
          </p:spPr>
        </p:sp>
        <p:sp>
          <p:nvSpPr>
            <p:cNvPr id="62" name="Freeform 62"/>
            <p:cNvSpPr/>
            <p:nvPr/>
          </p:nvSpPr>
          <p:spPr>
            <a:xfrm>
              <a:off x="9385935" y="4053840"/>
              <a:ext cx="9525" cy="257175"/>
            </a:xfrm>
            <a:custGeom>
              <a:avLst/>
              <a:gdLst/>
              <a:ahLst/>
              <a:cxnLst/>
              <a:rect l="l" t="t" r="r" b="b"/>
              <a:pathLst>
                <a:path w="9525" h="257175">
                  <a:moveTo>
                    <a:pt x="0" y="0"/>
                  </a:moveTo>
                  <a:lnTo>
                    <a:pt x="0" y="257175"/>
                  </a:lnTo>
                </a:path>
              </a:pathLst>
            </a:custGeom>
            <a:noFill/>
            <a:ln w="17145">
              <a:solidFill>
                <a:srgbClr val="1F2937"/>
              </a:solidFill>
            </a:ln>
          </p:spPr>
        </p:sp>
        <p:sp>
          <p:nvSpPr>
            <p:cNvPr id="63" name="Freeform 63"/>
            <p:cNvSpPr/>
            <p:nvPr/>
          </p:nvSpPr>
          <p:spPr>
            <a:xfrm>
              <a:off x="10749915" y="4053840"/>
              <a:ext cx="9525" cy="257175"/>
            </a:xfrm>
            <a:custGeom>
              <a:avLst/>
              <a:gdLst/>
              <a:ahLst/>
              <a:cxnLst/>
              <a:rect l="l" t="t" r="r" b="b"/>
              <a:pathLst>
                <a:path w="9525" h="257175">
                  <a:moveTo>
                    <a:pt x="0" y="0"/>
                  </a:moveTo>
                  <a:lnTo>
                    <a:pt x="0" y="257175"/>
                  </a:lnTo>
                </a:path>
              </a:pathLst>
            </a:custGeom>
            <a:noFill/>
            <a:ln w="17145">
              <a:solidFill>
                <a:srgbClr val="1F2937"/>
              </a:solidFill>
            </a:ln>
          </p:spPr>
        </p:sp>
        <p:sp>
          <p:nvSpPr>
            <p:cNvPr id="64" name="Freeform 64"/>
            <p:cNvSpPr/>
            <p:nvPr/>
          </p:nvSpPr>
          <p:spPr>
            <a:xfrm>
              <a:off x="9385935" y="4539615"/>
              <a:ext cx="9525" cy="305752"/>
            </a:xfrm>
            <a:custGeom>
              <a:avLst/>
              <a:gdLst/>
              <a:ahLst/>
              <a:cxnLst/>
              <a:rect l="l" t="t" r="r" b="b"/>
              <a:pathLst>
                <a:path w="9525" h="305752">
                  <a:moveTo>
                    <a:pt x="0" y="0"/>
                  </a:moveTo>
                  <a:lnTo>
                    <a:pt x="0" y="305752"/>
                  </a:lnTo>
                </a:path>
              </a:pathLst>
            </a:custGeom>
            <a:noFill/>
            <a:ln w="17145">
              <a:solidFill>
                <a:srgbClr val="1F2937"/>
              </a:solidFill>
            </a:ln>
          </p:spPr>
        </p:sp>
        <p:sp>
          <p:nvSpPr>
            <p:cNvPr id="65" name="Rectangle 65"/>
            <p:cNvSpPr/>
            <p:nvPr/>
          </p:nvSpPr>
          <p:spPr>
            <a:xfrm>
              <a:off x="7479030" y="4321492"/>
              <a:ext cx="3813810" cy="207645"/>
            </a:xfrm>
            <a:prstGeom prst="roundRect">
              <a:avLst>
                <a:gd name="adj" fmla="val 45872"/>
              </a:avLst>
            </a:prstGeom>
            <a:solidFill>
              <a:srgbClr val="FDEEE7"/>
            </a:solidFill>
            <a:ln w="17145">
              <a:solidFill>
                <a:srgbClr val="F26B3A"/>
              </a:solidFill>
            </a:ln>
          </p:spPr>
        </p:sp>
        <p:sp>
          <p:nvSpPr>
            <p:cNvPr id="66" name="Rectangle 66"/>
            <p:cNvSpPr/>
            <p:nvPr/>
          </p:nvSpPr>
          <p:spPr>
            <a:xfrm>
              <a:off x="8172450" y="4845368"/>
              <a:ext cx="2426970" cy="277178"/>
            </a:xfrm>
            <a:prstGeom prst="roundRect">
              <a:avLst>
                <a:gd name="adj" fmla="val 34364"/>
              </a:avLst>
            </a:prstGeom>
            <a:solidFill>
              <a:srgbClr val="E7EDF3"/>
            </a:solidFill>
            <a:ln w="17145">
              <a:solidFill>
                <a:srgbClr val="334E68"/>
              </a:solidFill>
            </a:ln>
          </p:spPr>
        </p:sp>
        <p:sp>
          <p:nvSpPr>
            <p:cNvPr id="67" name="Rectangle 67"/>
            <p:cNvSpPr/>
            <p:nvPr/>
          </p:nvSpPr>
          <p:spPr>
            <a:xfrm>
              <a:off x="7720012" y="3793808"/>
              <a:ext cx="606742" cy="260032"/>
            </a:xfrm>
            <a:prstGeom prst="roundRect">
              <a:avLst>
                <a:gd name="adj" fmla="val 36630"/>
              </a:avLst>
            </a:prstGeom>
            <a:solidFill>
              <a:srgbClr val="334E68"/>
            </a:solidFill>
            <a:ln w="17145">
              <a:solidFill>
                <a:srgbClr val="334E68"/>
              </a:solidFill>
            </a:ln>
          </p:spPr>
        </p:sp>
        <p:sp>
          <p:nvSpPr>
            <p:cNvPr id="68" name="Rectangle 68"/>
            <p:cNvSpPr/>
            <p:nvPr/>
          </p:nvSpPr>
          <p:spPr>
            <a:xfrm>
              <a:off x="9083040" y="3793808"/>
              <a:ext cx="606742" cy="260032"/>
            </a:xfrm>
            <a:prstGeom prst="roundRect">
              <a:avLst>
                <a:gd name="adj" fmla="val 36630"/>
              </a:avLst>
            </a:prstGeom>
            <a:solidFill>
              <a:srgbClr val="334E68"/>
            </a:solidFill>
            <a:ln w="17145">
              <a:solidFill>
                <a:srgbClr val="334E68"/>
              </a:solidFill>
            </a:ln>
          </p:spPr>
        </p:sp>
        <p:sp>
          <p:nvSpPr>
            <p:cNvPr id="69" name="Rectangle 69"/>
            <p:cNvSpPr/>
            <p:nvPr/>
          </p:nvSpPr>
          <p:spPr>
            <a:xfrm>
              <a:off x="10446068" y="3793808"/>
              <a:ext cx="606742" cy="260032"/>
            </a:xfrm>
            <a:prstGeom prst="roundRect">
              <a:avLst>
                <a:gd name="adj" fmla="val 36630"/>
              </a:avLst>
            </a:prstGeom>
            <a:solidFill>
              <a:srgbClr val="334E68"/>
            </a:solidFill>
            <a:ln w="17145">
              <a:solidFill>
                <a:srgbClr val="334E68"/>
              </a:solidFill>
            </a:ln>
          </p:spPr>
        </p:sp>
        <p:sp>
          <p:nvSpPr>
            <p:cNvPr id="70" name="TextBox 70"/>
            <p:cNvSpPr txBox="1"/>
            <p:nvPr/>
          </p:nvSpPr>
          <p:spPr>
            <a:xfrm>
              <a:off x="8836867" y="4355306"/>
              <a:ext cx="1098136" cy="220028"/>
            </a:xfrm>
            <a:prstGeom prst="rect">
              <a:avLst/>
            </a:prstGeom>
            <a:noFill/>
            <a:ln>
              <a:noFill/>
            </a:ln>
          </p:spPr>
          <p:txBody>
            <a:bodyPr wrap="none" lIns="0" tIns="0" rIns="0" bIns="0" anchor="t" anchorCtr="0">
              <a:spAutoFit/>
            </a:bodyPr>
            <a:lstStyle/>
            <a:p>
              <a:pPr algn="ctr"/>
              <a:r>
                <a:rPr lang="zh-CN" sz="1120" b="1" dirty="0">
                  <a:solidFill>
                    <a:srgbClr val="1F2937"/>
                  </a:solidFill>
                  <a:latin typeface="+mn-lt"/>
                  <a:ea typeface="+mn-ea"/>
                  <a:cs typeface="+mn-cs"/>
                </a:rPr>
                <a:t>总线 / 互连网络</a:t>
              </a:r>
            </a:p>
          </p:txBody>
        </p:sp>
        <p:sp>
          <p:nvSpPr>
            <p:cNvPr id="71" name="TextBox 71"/>
            <p:cNvSpPr txBox="1"/>
            <p:nvPr/>
          </p:nvSpPr>
          <p:spPr>
            <a:xfrm>
              <a:off x="8550961" y="4914424"/>
              <a:ext cx="1669948" cy="220028"/>
            </a:xfrm>
            <a:prstGeom prst="rect">
              <a:avLst/>
            </a:prstGeom>
            <a:noFill/>
            <a:ln>
              <a:noFill/>
            </a:ln>
          </p:spPr>
          <p:txBody>
            <a:bodyPr wrap="none" lIns="0" tIns="0" rIns="0" bIns="0" anchor="t" anchorCtr="0">
              <a:spAutoFit/>
            </a:bodyPr>
            <a:lstStyle/>
            <a:p>
              <a:pPr algn="ctr"/>
              <a:r>
                <a:rPr lang="zh-CN" sz="1120" b="1" dirty="0">
                  <a:solidFill>
                    <a:srgbClr val="243B53"/>
                  </a:solidFill>
                  <a:latin typeface="+mn-lt"/>
                  <a:ea typeface="+mn-ea"/>
                  <a:cs typeface="+mn-cs"/>
                </a:rPr>
                <a:t>共享存储器（统一编址）</a:t>
              </a:r>
            </a:p>
          </p:txBody>
        </p:sp>
        <p:sp>
          <p:nvSpPr>
            <p:cNvPr id="72" name="TextBox 72"/>
            <p:cNvSpPr txBox="1"/>
            <p:nvPr/>
          </p:nvSpPr>
          <p:spPr>
            <a:xfrm>
              <a:off x="7925192" y="3854291"/>
              <a:ext cx="195432" cy="220028"/>
            </a:xfrm>
            <a:prstGeom prst="rect">
              <a:avLst/>
            </a:prstGeom>
            <a:noFill/>
            <a:ln>
              <a:noFill/>
            </a:ln>
          </p:spPr>
          <p:txBody>
            <a:bodyPr wrap="none" lIns="0" tIns="0" rIns="0" bIns="0" anchor="t" anchorCtr="0">
              <a:spAutoFit/>
            </a:bodyPr>
            <a:lstStyle/>
            <a:p>
              <a:pPr algn="ctr"/>
              <a:r>
                <a:rPr lang="en-US" sz="1120" b="1" dirty="0">
                  <a:solidFill>
                    <a:srgbClr val="FFFFFF"/>
                  </a:solidFill>
                  <a:latin typeface="+mn-lt"/>
                  <a:ea typeface="+mn-ea"/>
                  <a:cs typeface="+mn-cs"/>
                </a:rPr>
                <a:t>P₁</a:t>
              </a:r>
            </a:p>
          </p:txBody>
        </p:sp>
        <p:sp>
          <p:nvSpPr>
            <p:cNvPr id="73" name="TextBox 73"/>
            <p:cNvSpPr txBox="1"/>
            <p:nvPr/>
          </p:nvSpPr>
          <p:spPr>
            <a:xfrm>
              <a:off x="9288219" y="3854291"/>
              <a:ext cx="195432" cy="220028"/>
            </a:xfrm>
            <a:prstGeom prst="rect">
              <a:avLst/>
            </a:prstGeom>
            <a:noFill/>
            <a:ln>
              <a:noFill/>
            </a:ln>
          </p:spPr>
          <p:txBody>
            <a:bodyPr wrap="none" lIns="0" tIns="0" rIns="0" bIns="0" anchor="t" anchorCtr="0">
              <a:spAutoFit/>
            </a:bodyPr>
            <a:lstStyle/>
            <a:p>
              <a:pPr algn="ctr"/>
              <a:r>
                <a:rPr lang="en-US" sz="1120" b="1" dirty="0">
                  <a:solidFill>
                    <a:srgbClr val="FFFFFF"/>
                  </a:solidFill>
                  <a:latin typeface="+mn-lt"/>
                  <a:ea typeface="+mn-ea"/>
                  <a:cs typeface="+mn-cs"/>
                </a:rPr>
                <a:t>P₂</a:t>
              </a:r>
            </a:p>
          </p:txBody>
        </p:sp>
        <p:sp>
          <p:nvSpPr>
            <p:cNvPr id="74" name="TextBox 74"/>
            <p:cNvSpPr txBox="1"/>
            <p:nvPr/>
          </p:nvSpPr>
          <p:spPr>
            <a:xfrm>
              <a:off x="10652199" y="3854291"/>
              <a:ext cx="195432" cy="220028"/>
            </a:xfrm>
            <a:prstGeom prst="rect">
              <a:avLst/>
            </a:prstGeom>
            <a:noFill/>
            <a:ln>
              <a:noFill/>
            </a:ln>
          </p:spPr>
          <p:txBody>
            <a:bodyPr wrap="none" lIns="0" tIns="0" rIns="0" bIns="0" anchor="t" anchorCtr="0">
              <a:spAutoFit/>
            </a:bodyPr>
            <a:lstStyle/>
            <a:p>
              <a:pPr algn="ctr"/>
              <a:r>
                <a:rPr lang="en-US" sz="1120" b="1" dirty="0">
                  <a:solidFill>
                    <a:srgbClr val="FFFFFF"/>
                  </a:solidFill>
                  <a:latin typeface="+mn-lt"/>
                  <a:ea typeface="+mn-ea"/>
                  <a:cs typeface="+mn-cs"/>
                </a:rPr>
                <a:t>P₃</a:t>
              </a:r>
            </a:p>
          </p:txBody>
        </p:sp>
      </p:grpSp>
      <p:grpSp>
        <p:nvGrpSpPr>
          <p:cNvPr id="82" name="takeaway"/>
          <p:cNvGrpSpPr/>
          <p:nvPr/>
        </p:nvGrpSpPr>
        <p:grpSpPr>
          <a:xfrm>
            <a:off x="533400" y="5874068"/>
            <a:ext cx="11125200" cy="488632"/>
            <a:chOff x="533400" y="5874068"/>
            <a:chExt cx="11125200" cy="488632"/>
          </a:xfrm>
        </p:grpSpPr>
        <p:sp>
          <p:nvSpPr>
            <p:cNvPr id="76" name="Rectangle 76"/>
            <p:cNvSpPr/>
            <p:nvPr/>
          </p:nvSpPr>
          <p:spPr>
            <a:xfrm>
              <a:off x="533400" y="5874068"/>
              <a:ext cx="11125200" cy="488632"/>
            </a:xfrm>
            <a:prstGeom prst="roundRect">
              <a:avLst>
                <a:gd name="adj" fmla="val 23392"/>
              </a:avLst>
            </a:prstGeom>
            <a:solidFill>
              <a:srgbClr val="FDEEE7"/>
            </a:solidFill>
            <a:ln>
              <a:noFill/>
            </a:ln>
          </p:spPr>
        </p:sp>
        <p:grpSp>
          <p:nvGrpSpPr>
            <p:cNvPr id="80" name="Group 80"/>
            <p:cNvGrpSpPr/>
            <p:nvPr/>
          </p:nvGrpSpPr>
          <p:grpSpPr>
            <a:xfrm>
              <a:off x="738188" y="6017895"/>
              <a:ext cx="200026" cy="200025"/>
              <a:chOff x="738188" y="6017895"/>
              <a:chExt cx="200026" cy="200025"/>
            </a:xfrm>
          </p:grpSpPr>
          <p:sp>
            <p:nvSpPr>
              <p:cNvPr id="77" name="Freeform 77"/>
              <p:cNvSpPr/>
              <p:nvPr/>
            </p:nvSpPr>
            <p:spPr>
              <a:xfrm>
                <a:off x="738188" y="6017895"/>
                <a:ext cx="200026" cy="100013"/>
              </a:xfrm>
              <a:custGeom>
                <a:avLst/>
                <a:gdLst/>
                <a:ahLst/>
                <a:cxnLst/>
                <a:rect l="l" t="t" r="r" b="b"/>
                <a:pathLst>
                  <a:path w="200026" h="100013">
                    <a:moveTo>
                      <a:pt x="0" y="100013"/>
                    </a:moveTo>
                    <a:lnTo>
                      <a:pt x="11113" y="100013"/>
                    </a:lnTo>
                    <a:moveTo>
                      <a:pt x="100013" y="0"/>
                    </a:moveTo>
                    <a:lnTo>
                      <a:pt x="100013" y="11113"/>
                    </a:lnTo>
                    <a:moveTo>
                      <a:pt x="188913" y="100013"/>
                    </a:moveTo>
                    <a:lnTo>
                      <a:pt x="200026" y="100013"/>
                    </a:lnTo>
                    <a:moveTo>
                      <a:pt x="28893" y="28893"/>
                    </a:moveTo>
                    <a:lnTo>
                      <a:pt x="36671" y="36671"/>
                    </a:lnTo>
                    <a:moveTo>
                      <a:pt x="171133" y="28893"/>
                    </a:moveTo>
                    <a:lnTo>
                      <a:pt x="163354" y="36671"/>
                    </a:lnTo>
                  </a:path>
                </a:pathLst>
              </a:custGeom>
              <a:noFill/>
              <a:ln w="22225">
                <a:solidFill>
                  <a:srgbClr val="C2410C"/>
                </a:solidFill>
              </a:ln>
            </p:spPr>
          </p:sp>
          <p:sp>
            <p:nvSpPr>
              <p:cNvPr id="78" name="Freeform 78"/>
              <p:cNvSpPr/>
              <p:nvPr/>
            </p:nvSpPr>
            <p:spPr>
              <a:xfrm>
                <a:off x="777926" y="6062345"/>
                <a:ext cx="120548" cy="155575"/>
              </a:xfrm>
              <a:custGeom>
                <a:avLst/>
                <a:gdLst/>
                <a:ahLst/>
                <a:cxnLst/>
                <a:rect l="l" t="t" r="r" b="b"/>
                <a:pathLst>
                  <a:path w="120548" h="155575">
                    <a:moveTo>
                      <a:pt x="26937" y="100013"/>
                    </a:moveTo>
                    <a:cubicBezTo>
                      <a:pt x="7804" y="85663"/>
                      <a:pt x="0" y="60681"/>
                      <a:pt x="7563" y="37992"/>
                    </a:cubicBezTo>
                    <a:cubicBezTo>
                      <a:pt x="15126" y="15304"/>
                      <a:pt x="36358" y="0"/>
                      <a:pt x="60274" y="0"/>
                    </a:cubicBezTo>
                    <a:cubicBezTo>
                      <a:pt x="84190" y="0"/>
                      <a:pt x="105423" y="15304"/>
                      <a:pt x="112986" y="37992"/>
                    </a:cubicBezTo>
                    <a:cubicBezTo>
                      <a:pt x="120548" y="60681"/>
                      <a:pt x="112745" y="85663"/>
                      <a:pt x="93612" y="100013"/>
                    </a:cubicBezTo>
                    <a:cubicBezTo>
                      <a:pt x="84812" y="108723"/>
                      <a:pt x="80686" y="121103"/>
                      <a:pt x="82499" y="133350"/>
                    </a:cubicBezTo>
                    <a:cubicBezTo>
                      <a:pt x="82499" y="145625"/>
                      <a:pt x="72549" y="155575"/>
                      <a:pt x="60274" y="155575"/>
                    </a:cubicBezTo>
                    <a:cubicBezTo>
                      <a:pt x="48000" y="155575"/>
                      <a:pt x="38049" y="145625"/>
                      <a:pt x="38049" y="133350"/>
                    </a:cubicBezTo>
                    <a:cubicBezTo>
                      <a:pt x="39862" y="121103"/>
                      <a:pt x="35736" y="108723"/>
                      <a:pt x="26937" y="100013"/>
                    </a:cubicBezTo>
                  </a:path>
                </a:pathLst>
              </a:custGeom>
              <a:noFill/>
              <a:ln w="22225">
                <a:solidFill>
                  <a:srgbClr val="C2410C"/>
                </a:solidFill>
              </a:ln>
            </p:spPr>
          </p:sp>
          <p:sp>
            <p:nvSpPr>
              <p:cNvPr id="79" name="Freeform 79"/>
              <p:cNvSpPr/>
              <p:nvPr/>
            </p:nvSpPr>
            <p:spPr>
              <a:xfrm>
                <a:off x="812642" y="6173471"/>
                <a:ext cx="51118" cy="9525"/>
              </a:xfrm>
              <a:custGeom>
                <a:avLst/>
                <a:gdLst/>
                <a:ahLst/>
                <a:cxnLst/>
                <a:rect l="l" t="t" r="r" b="b"/>
                <a:pathLst>
                  <a:path w="51118" h="9525">
                    <a:moveTo>
                      <a:pt x="0" y="0"/>
                    </a:moveTo>
                    <a:lnTo>
                      <a:pt x="51118" y="0"/>
                    </a:lnTo>
                  </a:path>
                </a:pathLst>
              </a:custGeom>
              <a:noFill/>
              <a:ln w="22225">
                <a:solidFill>
                  <a:srgbClr val="C2410C"/>
                </a:solidFill>
              </a:ln>
            </p:spPr>
          </p:sp>
        </p:grpSp>
        <p:sp>
          <p:nvSpPr>
            <p:cNvPr id="81" name="TextBox 81"/>
            <p:cNvSpPr txBox="1"/>
            <p:nvPr/>
          </p:nvSpPr>
          <p:spPr>
            <a:xfrm>
              <a:off x="1040892" y="6023610"/>
              <a:ext cx="10163727" cy="264033"/>
            </a:xfrm>
            <a:prstGeom prst="rect">
              <a:avLst/>
            </a:prstGeom>
            <a:noFill/>
            <a:ln>
              <a:noFill/>
            </a:ln>
          </p:spPr>
          <p:txBody>
            <a:bodyPr wrap="none" lIns="0" tIns="0" rIns="0" bIns="0" anchor="t" anchorCtr="0">
              <a:spAutoFit/>
            </a:bodyPr>
            <a:lstStyle/>
            <a:p>
              <a:pPr algn="l"/>
              <a:r>
                <a:rPr lang="zh-CN" sz="1350" dirty="0">
                  <a:solidFill>
                    <a:srgbClr val="C2410C"/>
                  </a:solidFill>
                  <a:latin typeface="+mn-lt"/>
                  <a:ea typeface="+mn-ea"/>
                  <a:cs typeface="+mn-cs"/>
                </a:rPr>
                <a:t>判断方法：一个处理器能否直接用 load/store 指令读写另一个处理器的内存。能就是共享存储，只能发消息就是非共享存储。</a:t>
              </a:r>
            </a:p>
          </p:txBody>
        </p:sp>
      </p:grpSp>
      <p:grpSp>
        <p:nvGrpSpPr>
          <p:cNvPr id="85" name="footer"/>
          <p:cNvGrpSpPr/>
          <p:nvPr/>
        </p:nvGrpSpPr>
        <p:grpSpPr>
          <a:xfrm>
            <a:off x="528447" y="6581299"/>
            <a:ext cx="11135106" cy="190690"/>
            <a:chOff x="528447" y="6581299"/>
            <a:chExt cx="11135106" cy="190690"/>
          </a:xfrm>
        </p:grpSpPr>
        <p:sp>
          <p:nvSpPr>
            <p:cNvPr id="83" name="TextBox 83"/>
            <p:cNvSpPr txBox="1"/>
            <p:nvPr/>
          </p:nvSpPr>
          <p:spPr>
            <a:xfrm>
              <a:off x="528447" y="6581299"/>
              <a:ext cx="2120748"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并行与分布式计算 · 第7章 体系结构</a:t>
              </a:r>
            </a:p>
          </p:txBody>
        </p:sp>
        <p:sp>
          <p:nvSpPr>
            <p:cNvPr id="84" name="TextBox 84"/>
            <p:cNvSpPr txBox="1"/>
            <p:nvPr/>
          </p:nvSpPr>
          <p:spPr>
            <a:xfrm>
              <a:off x="11581087" y="6581299"/>
              <a:ext cx="8246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4</a:t>
              </a:r>
            </a:p>
          </p:txBody>
        </p:sp>
      </p:gr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7918780" cy="909257"/>
            <a:chOff x="520446" y="342900"/>
            <a:chExt cx="7918780" cy="909257"/>
          </a:xfrm>
        </p:grpSpPr>
        <p:sp>
          <p:nvSpPr>
            <p:cNvPr id="2" name="Rectangle 2"/>
            <p:cNvSpPr/>
            <p:nvPr/>
          </p:nvSpPr>
          <p:spPr>
            <a:xfrm>
              <a:off x="533400" y="342900"/>
              <a:ext cx="2272665" cy="266700"/>
            </a:xfrm>
            <a:prstGeom prst="roundRect">
              <a:avLst>
                <a:gd name="adj" fmla="val 50000"/>
              </a:avLst>
            </a:prstGeom>
            <a:solidFill>
              <a:srgbClr val="E7EDF3"/>
            </a:solidFill>
            <a:ln>
              <a:noFill/>
            </a:ln>
          </p:spPr>
        </p:sp>
        <p:sp>
          <p:nvSpPr>
            <p:cNvPr id="3" name="TextBox 3"/>
            <p:cNvSpPr txBox="1"/>
            <p:nvPr/>
          </p:nvSpPr>
          <p:spPr>
            <a:xfrm>
              <a:off x="601058" y="407194"/>
              <a:ext cx="2137349"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第7章 体系结构 · 多处理器结构</a:t>
              </a:r>
            </a:p>
          </p:txBody>
        </p:sp>
        <p:sp>
          <p:nvSpPr>
            <p:cNvPr id="4" name="TextBox 4"/>
            <p:cNvSpPr txBox="1"/>
            <p:nvPr/>
          </p:nvSpPr>
          <p:spPr>
            <a:xfrm>
              <a:off x="520446" y="753428"/>
              <a:ext cx="7918780"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COW 与 MPP：都靠消息传递，差在网络和系统软件</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40" name="c1-table-1"/>
          <p:cNvGrpSpPr/>
          <p:nvPr/>
        </p:nvGrpSpPr>
        <p:grpSpPr>
          <a:xfrm>
            <a:off x="533400" y="1524000"/>
            <a:ext cx="6059805" cy="3865245"/>
            <a:chOff x="533400" y="1524000"/>
            <a:chExt cx="6059805" cy="3865245"/>
          </a:xfrm>
        </p:grpSpPr>
        <p:sp>
          <p:nvSpPr>
            <p:cNvPr id="7" name="Rectangle 7"/>
            <p:cNvSpPr/>
            <p:nvPr/>
          </p:nvSpPr>
          <p:spPr>
            <a:xfrm>
              <a:off x="533400" y="1524000"/>
              <a:ext cx="6059805" cy="430530"/>
            </a:xfrm>
            <a:prstGeom prst="rect">
              <a:avLst/>
            </a:prstGeom>
            <a:solidFill>
              <a:srgbClr val="334E68"/>
            </a:solidFill>
            <a:ln>
              <a:noFill/>
            </a:ln>
          </p:spPr>
        </p:sp>
        <p:sp>
          <p:nvSpPr>
            <p:cNvPr id="8" name="TextBox 8"/>
            <p:cNvSpPr txBox="1"/>
            <p:nvPr/>
          </p:nvSpPr>
          <p:spPr>
            <a:xfrm>
              <a:off x="800290" y="1655445"/>
              <a:ext cx="496824"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对比项</a:t>
              </a:r>
            </a:p>
          </p:txBody>
        </p:sp>
        <p:sp>
          <p:nvSpPr>
            <p:cNvPr id="9" name="TextBox 9"/>
            <p:cNvSpPr txBox="1"/>
            <p:nvPr/>
          </p:nvSpPr>
          <p:spPr>
            <a:xfrm>
              <a:off x="2215050" y="1655445"/>
              <a:ext cx="1241085"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工作站机群 COW</a:t>
              </a:r>
            </a:p>
          </p:txBody>
        </p:sp>
        <p:sp>
          <p:nvSpPr>
            <p:cNvPr id="10" name="TextBox 10"/>
            <p:cNvSpPr txBox="1"/>
            <p:nvPr/>
          </p:nvSpPr>
          <p:spPr>
            <a:xfrm>
              <a:off x="4505256" y="1655445"/>
              <a:ext cx="1689872"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大规模并行处理机 MPP</a:t>
              </a:r>
            </a:p>
          </p:txBody>
        </p:sp>
        <p:sp>
          <p:nvSpPr>
            <p:cNvPr id="11" name="TextBox 11"/>
            <p:cNvSpPr txBox="1"/>
            <p:nvPr/>
          </p:nvSpPr>
          <p:spPr>
            <a:xfrm>
              <a:off x="638746" y="2191702"/>
              <a:ext cx="335280" cy="234696"/>
            </a:xfrm>
            <a:prstGeom prst="rect">
              <a:avLst/>
            </a:prstGeom>
            <a:noFill/>
            <a:ln>
              <a:noFill/>
            </a:ln>
          </p:spPr>
          <p:txBody>
            <a:bodyPr wrap="none" lIns="0" tIns="0" rIns="0" bIns="0" anchor="t" anchorCtr="0">
              <a:spAutoFit/>
            </a:bodyPr>
            <a:lstStyle/>
            <a:p>
              <a:pPr algn="l"/>
              <a:r>
                <a:rPr lang="zh-CN" sz="1200" b="1" dirty="0">
                  <a:solidFill>
                    <a:srgbClr val="1F2937"/>
                  </a:solidFill>
                  <a:latin typeface="+mn-lt"/>
                  <a:ea typeface="+mn-ea"/>
                  <a:cs typeface="+mn-cs"/>
                </a:rPr>
                <a:t>节点</a:t>
              </a:r>
            </a:p>
          </p:txBody>
        </p:sp>
        <p:sp>
          <p:nvSpPr>
            <p:cNvPr id="12" name="TextBox 12"/>
            <p:cNvSpPr txBox="1"/>
            <p:nvPr/>
          </p:nvSpPr>
          <p:spPr>
            <a:xfrm>
              <a:off x="1668399" y="2085022"/>
              <a:ext cx="1932432" cy="448056"/>
            </a:xfrm>
            <a:prstGeom prst="rect">
              <a:avLst/>
            </a:prstGeom>
            <a:noFill/>
            <a:ln>
              <a:noFill/>
            </a:ln>
          </p:spPr>
          <p:txBody>
            <a:bodyPr wrap="none" lIns="0" tIns="0" rIns="0" bIns="0" anchor="t" anchorCtr="0">
              <a:spAutoFit/>
            </a:bodyPr>
            <a:lstStyle/>
            <a:p>
              <a:pPr algn="l">
                <a:lnSpc>
                  <a:spcPts val="1680"/>
                </a:lnSpc>
              </a:pPr>
              <a:r>
                <a:rPr lang="zh-CN" sz="1200" dirty="0">
                  <a:solidFill>
                    <a:srgbClr val="1F2937"/>
                  </a:solidFill>
                  <a:latin typeface="+mn-lt"/>
                  <a:ea typeface="+mn-ea"/>
                  <a:cs typeface="+mn-cs"/>
                </a:rPr>
                <a:t>完整的计算机（SMP 或工作</a:t>
              </a:r>
              <a:br/>
              <a:r>
                <a:rPr lang="zh-CN" sz="1200" dirty="0">
                  <a:solidFill>
                    <a:srgbClr val="1F2937"/>
                  </a:solidFill>
                  <a:latin typeface="+mn-lt"/>
                  <a:ea typeface="+mn-ea"/>
                  <a:cs typeface="+mn-cs"/>
                </a:rPr>
                <a:t>站），有本地磁盘和完整 OS</a:t>
              </a:r>
            </a:p>
          </p:txBody>
        </p:sp>
        <p:sp>
          <p:nvSpPr>
            <p:cNvPr id="13" name="TextBox 13"/>
            <p:cNvSpPr txBox="1"/>
            <p:nvPr/>
          </p:nvSpPr>
          <p:spPr>
            <a:xfrm>
              <a:off x="4213479" y="2085022"/>
              <a:ext cx="2130552" cy="448056"/>
            </a:xfrm>
            <a:prstGeom prst="rect">
              <a:avLst/>
            </a:prstGeom>
            <a:noFill/>
            <a:ln>
              <a:noFill/>
            </a:ln>
          </p:spPr>
          <p:txBody>
            <a:bodyPr wrap="none" lIns="0" tIns="0" rIns="0" bIns="0" anchor="t" anchorCtr="0">
              <a:spAutoFit/>
            </a:bodyPr>
            <a:lstStyle/>
            <a:p>
              <a:pPr algn="l">
                <a:lnSpc>
                  <a:spcPts val="1680"/>
                </a:lnSpc>
              </a:pPr>
              <a:r>
                <a:rPr lang="zh-CN" sz="1200" dirty="0">
                  <a:solidFill>
                    <a:srgbClr val="1F2937"/>
                  </a:solidFill>
                  <a:latin typeface="+mn-lt"/>
                  <a:ea typeface="+mn-ea"/>
                  <a:cs typeface="+mn-cs"/>
                </a:rPr>
                <a:t>处理器节点，由一个 OS 管理全</a:t>
              </a:r>
              <a:br/>
              <a:r>
                <a:rPr lang="zh-CN" sz="1200" dirty="0">
                  <a:solidFill>
                    <a:srgbClr val="1F2937"/>
                  </a:solidFill>
                  <a:latin typeface="+mn-lt"/>
                  <a:ea typeface="+mn-ea"/>
                  <a:cs typeface="+mn-cs"/>
                </a:rPr>
                <a:t>部硬件</a:t>
              </a:r>
            </a:p>
          </p:txBody>
        </p:sp>
        <p:sp>
          <p:nvSpPr>
            <p:cNvPr id="14" name="Rectangle 14"/>
            <p:cNvSpPr/>
            <p:nvPr/>
          </p:nvSpPr>
          <p:spPr>
            <a:xfrm>
              <a:off x="533400" y="2592705"/>
              <a:ext cx="6059805" cy="9525"/>
            </a:xfrm>
            <a:prstGeom prst="rect">
              <a:avLst/>
            </a:prstGeom>
            <a:solidFill>
              <a:srgbClr val="D9DFEA"/>
            </a:solidFill>
            <a:ln>
              <a:noFill/>
            </a:ln>
          </p:spPr>
        </p:sp>
        <p:sp>
          <p:nvSpPr>
            <p:cNvPr id="15" name="Rectangle 15"/>
            <p:cNvSpPr/>
            <p:nvPr/>
          </p:nvSpPr>
          <p:spPr>
            <a:xfrm>
              <a:off x="533400" y="2597468"/>
              <a:ext cx="6059805" cy="430530"/>
            </a:xfrm>
            <a:prstGeom prst="rect">
              <a:avLst/>
            </a:prstGeom>
            <a:solidFill>
              <a:srgbClr val="F4F6FB"/>
            </a:solidFill>
            <a:ln>
              <a:noFill/>
            </a:ln>
          </p:spPr>
        </p:sp>
        <p:sp>
          <p:nvSpPr>
            <p:cNvPr id="16" name="TextBox 16"/>
            <p:cNvSpPr txBox="1"/>
            <p:nvPr/>
          </p:nvSpPr>
          <p:spPr>
            <a:xfrm>
              <a:off x="638746" y="2728912"/>
              <a:ext cx="335280" cy="234696"/>
            </a:xfrm>
            <a:prstGeom prst="rect">
              <a:avLst/>
            </a:prstGeom>
            <a:noFill/>
            <a:ln>
              <a:noFill/>
            </a:ln>
          </p:spPr>
          <p:txBody>
            <a:bodyPr wrap="none" lIns="0" tIns="0" rIns="0" bIns="0" anchor="t" anchorCtr="0">
              <a:spAutoFit/>
            </a:bodyPr>
            <a:lstStyle/>
            <a:p>
              <a:pPr algn="l"/>
              <a:r>
                <a:rPr lang="zh-CN" sz="1200" b="1" dirty="0">
                  <a:solidFill>
                    <a:srgbClr val="1F2937"/>
                  </a:solidFill>
                  <a:latin typeface="+mn-lt"/>
                  <a:ea typeface="+mn-ea"/>
                  <a:cs typeface="+mn-cs"/>
                </a:rPr>
                <a:t>互连</a:t>
              </a:r>
            </a:p>
          </p:txBody>
        </p:sp>
        <p:sp>
          <p:nvSpPr>
            <p:cNvPr id="17" name="TextBox 17"/>
            <p:cNvSpPr txBox="1"/>
            <p:nvPr/>
          </p:nvSpPr>
          <p:spPr>
            <a:xfrm>
              <a:off x="1668399" y="2728912"/>
              <a:ext cx="1304544"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低成本的商用网络</a:t>
              </a:r>
            </a:p>
          </p:txBody>
        </p:sp>
        <p:sp>
          <p:nvSpPr>
            <p:cNvPr id="18" name="TextBox 18"/>
            <p:cNvSpPr txBox="1"/>
            <p:nvPr/>
          </p:nvSpPr>
          <p:spPr>
            <a:xfrm>
              <a:off x="4213479" y="2728912"/>
              <a:ext cx="1950720"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高带宽、低延迟的专用网络</a:t>
              </a:r>
            </a:p>
          </p:txBody>
        </p:sp>
        <p:sp>
          <p:nvSpPr>
            <p:cNvPr id="19" name="Rectangle 19"/>
            <p:cNvSpPr/>
            <p:nvPr/>
          </p:nvSpPr>
          <p:spPr>
            <a:xfrm>
              <a:off x="533400" y="3023235"/>
              <a:ext cx="6059805" cy="9525"/>
            </a:xfrm>
            <a:prstGeom prst="rect">
              <a:avLst/>
            </a:prstGeom>
            <a:solidFill>
              <a:srgbClr val="D9DFEA"/>
            </a:solidFill>
            <a:ln>
              <a:noFill/>
            </a:ln>
          </p:spPr>
        </p:sp>
        <p:sp>
          <p:nvSpPr>
            <p:cNvPr id="20" name="TextBox 20"/>
            <p:cNvSpPr txBox="1"/>
            <p:nvPr/>
          </p:nvSpPr>
          <p:spPr>
            <a:xfrm>
              <a:off x="638746" y="3266122"/>
              <a:ext cx="335280" cy="234696"/>
            </a:xfrm>
            <a:prstGeom prst="rect">
              <a:avLst/>
            </a:prstGeom>
            <a:noFill/>
            <a:ln>
              <a:noFill/>
            </a:ln>
          </p:spPr>
          <p:txBody>
            <a:bodyPr wrap="none" lIns="0" tIns="0" rIns="0" bIns="0" anchor="t" anchorCtr="0">
              <a:spAutoFit/>
            </a:bodyPr>
            <a:lstStyle/>
            <a:p>
              <a:pPr algn="l"/>
              <a:r>
                <a:rPr lang="zh-CN" sz="1200" b="1" dirty="0">
                  <a:solidFill>
                    <a:srgbClr val="1F2937"/>
                  </a:solidFill>
                  <a:latin typeface="+mn-lt"/>
                  <a:ea typeface="+mn-ea"/>
                  <a:cs typeface="+mn-cs"/>
                </a:rPr>
                <a:t>规模</a:t>
              </a:r>
            </a:p>
          </p:txBody>
        </p:sp>
        <p:sp>
          <p:nvSpPr>
            <p:cNvPr id="21" name="TextBox 21"/>
            <p:cNvSpPr txBox="1"/>
            <p:nvPr/>
          </p:nvSpPr>
          <p:spPr>
            <a:xfrm>
              <a:off x="1668399" y="3266122"/>
              <a:ext cx="1627632"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廉价、大规模、易扩展</a:t>
              </a:r>
            </a:p>
          </p:txBody>
        </p:sp>
        <p:sp>
          <p:nvSpPr>
            <p:cNvPr id="22" name="TextBox 22"/>
            <p:cNvSpPr txBox="1"/>
            <p:nvPr/>
          </p:nvSpPr>
          <p:spPr>
            <a:xfrm>
              <a:off x="4213479" y="3159442"/>
              <a:ext cx="2145792" cy="448056"/>
            </a:xfrm>
            <a:prstGeom prst="rect">
              <a:avLst/>
            </a:prstGeom>
            <a:noFill/>
            <a:ln>
              <a:noFill/>
            </a:ln>
          </p:spPr>
          <p:txBody>
            <a:bodyPr wrap="none" lIns="0" tIns="0" rIns="0" bIns="0" anchor="t" anchorCtr="0">
              <a:spAutoFit/>
            </a:bodyPr>
            <a:lstStyle/>
            <a:p>
              <a:pPr algn="l">
                <a:lnSpc>
                  <a:spcPts val="1680"/>
                </a:lnSpc>
              </a:pPr>
              <a:r>
                <a:rPr lang="zh-CN" sz="1200" dirty="0">
                  <a:solidFill>
                    <a:srgbClr val="1F2937"/>
                  </a:solidFill>
                  <a:latin typeface="+mn-lt"/>
                  <a:ea typeface="+mn-ea"/>
                  <a:cs typeface="+mn-cs"/>
                </a:rPr>
                <a:t>可扩放性好，支持数百到千万级</a:t>
              </a:r>
              <a:br/>
              <a:r>
                <a:rPr lang="zh-CN" sz="1200" dirty="0">
                  <a:solidFill>
                    <a:srgbClr val="1F2937"/>
                  </a:solidFill>
                  <a:latin typeface="+mn-lt"/>
                  <a:ea typeface="+mn-ea"/>
                  <a:cs typeface="+mn-cs"/>
                </a:rPr>
                <a:t>处理器</a:t>
              </a:r>
            </a:p>
          </p:txBody>
        </p:sp>
        <p:sp>
          <p:nvSpPr>
            <p:cNvPr id="23" name="Rectangle 23"/>
            <p:cNvSpPr/>
            <p:nvPr/>
          </p:nvSpPr>
          <p:spPr>
            <a:xfrm>
              <a:off x="533400" y="3666172"/>
              <a:ext cx="6059805" cy="9525"/>
            </a:xfrm>
            <a:prstGeom prst="rect">
              <a:avLst/>
            </a:prstGeom>
            <a:solidFill>
              <a:srgbClr val="D9DFEA"/>
            </a:solidFill>
            <a:ln>
              <a:noFill/>
            </a:ln>
          </p:spPr>
        </p:sp>
        <p:sp>
          <p:nvSpPr>
            <p:cNvPr id="24" name="Rectangle 24"/>
            <p:cNvSpPr/>
            <p:nvPr/>
          </p:nvSpPr>
          <p:spPr>
            <a:xfrm>
              <a:off x="533400" y="3670935"/>
              <a:ext cx="6059805" cy="430530"/>
            </a:xfrm>
            <a:prstGeom prst="rect">
              <a:avLst/>
            </a:prstGeom>
            <a:solidFill>
              <a:srgbClr val="F4F6FB"/>
            </a:solidFill>
            <a:ln>
              <a:noFill/>
            </a:ln>
          </p:spPr>
        </p:sp>
        <p:sp>
          <p:nvSpPr>
            <p:cNvPr id="25" name="TextBox 25"/>
            <p:cNvSpPr txBox="1"/>
            <p:nvPr/>
          </p:nvSpPr>
          <p:spPr>
            <a:xfrm>
              <a:off x="638746" y="3802380"/>
              <a:ext cx="658368" cy="234696"/>
            </a:xfrm>
            <a:prstGeom prst="rect">
              <a:avLst/>
            </a:prstGeom>
            <a:noFill/>
            <a:ln>
              <a:noFill/>
            </a:ln>
          </p:spPr>
          <p:txBody>
            <a:bodyPr wrap="none" lIns="0" tIns="0" rIns="0" bIns="0" anchor="t" anchorCtr="0">
              <a:spAutoFit/>
            </a:bodyPr>
            <a:lstStyle/>
            <a:p>
              <a:pPr algn="l"/>
              <a:r>
                <a:rPr lang="zh-CN" sz="1200" b="1" dirty="0">
                  <a:solidFill>
                    <a:srgbClr val="1F2937"/>
                  </a:solidFill>
                  <a:latin typeface="+mn-lt"/>
                  <a:ea typeface="+mn-ea"/>
                  <a:cs typeface="+mn-cs"/>
                </a:rPr>
                <a:t>作业组成</a:t>
              </a:r>
            </a:p>
          </p:txBody>
        </p:sp>
        <p:sp>
          <p:nvSpPr>
            <p:cNvPr id="26" name="TextBox 26"/>
            <p:cNvSpPr txBox="1"/>
            <p:nvPr/>
          </p:nvSpPr>
          <p:spPr>
            <a:xfrm>
              <a:off x="1668399" y="3802380"/>
              <a:ext cx="2112264"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大量服务，各有私有地址空间</a:t>
              </a:r>
            </a:p>
          </p:txBody>
        </p:sp>
        <p:sp>
          <p:nvSpPr>
            <p:cNvPr id="27" name="TextBox 27"/>
            <p:cNvSpPr txBox="1"/>
            <p:nvPr/>
          </p:nvSpPr>
          <p:spPr>
            <a:xfrm>
              <a:off x="4213479" y="3802380"/>
              <a:ext cx="2112264"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大量进程，各有私有地址空间</a:t>
              </a:r>
            </a:p>
          </p:txBody>
        </p:sp>
        <p:sp>
          <p:nvSpPr>
            <p:cNvPr id="28" name="Rectangle 28"/>
            <p:cNvSpPr/>
            <p:nvPr/>
          </p:nvSpPr>
          <p:spPr>
            <a:xfrm>
              <a:off x="533400" y="4096702"/>
              <a:ext cx="6059805" cy="9525"/>
            </a:xfrm>
            <a:prstGeom prst="rect">
              <a:avLst/>
            </a:prstGeom>
            <a:solidFill>
              <a:srgbClr val="D9DFEA"/>
            </a:solidFill>
            <a:ln>
              <a:noFill/>
            </a:ln>
          </p:spPr>
        </p:sp>
        <p:sp>
          <p:nvSpPr>
            <p:cNvPr id="29" name="TextBox 29"/>
            <p:cNvSpPr txBox="1"/>
            <p:nvPr/>
          </p:nvSpPr>
          <p:spPr>
            <a:xfrm>
              <a:off x="638746" y="4339590"/>
              <a:ext cx="658368" cy="234696"/>
            </a:xfrm>
            <a:prstGeom prst="rect">
              <a:avLst/>
            </a:prstGeom>
            <a:noFill/>
            <a:ln>
              <a:noFill/>
            </a:ln>
          </p:spPr>
          <p:txBody>
            <a:bodyPr wrap="none" lIns="0" tIns="0" rIns="0" bIns="0" anchor="t" anchorCtr="0">
              <a:spAutoFit/>
            </a:bodyPr>
            <a:lstStyle/>
            <a:p>
              <a:pPr algn="l"/>
              <a:r>
                <a:rPr lang="zh-CN" sz="1200" b="1" dirty="0">
                  <a:solidFill>
                    <a:srgbClr val="1F2937"/>
                  </a:solidFill>
                  <a:latin typeface="+mn-lt"/>
                  <a:ea typeface="+mn-ea"/>
                  <a:cs typeface="+mn-cs"/>
                </a:rPr>
                <a:t>协作方式</a:t>
              </a:r>
            </a:p>
          </p:txBody>
        </p:sp>
        <p:sp>
          <p:nvSpPr>
            <p:cNvPr id="30" name="TextBox 30"/>
            <p:cNvSpPr txBox="1"/>
            <p:nvPr/>
          </p:nvSpPr>
          <p:spPr>
            <a:xfrm>
              <a:off x="1668399" y="4232910"/>
              <a:ext cx="2168652" cy="448056"/>
            </a:xfrm>
            <a:prstGeom prst="rect">
              <a:avLst/>
            </a:prstGeom>
            <a:noFill/>
            <a:ln>
              <a:noFill/>
            </a:ln>
          </p:spPr>
          <p:txBody>
            <a:bodyPr wrap="none" lIns="0" tIns="0" rIns="0" bIns="0" anchor="t" anchorCtr="0">
              <a:spAutoFit/>
            </a:bodyPr>
            <a:lstStyle/>
            <a:p>
              <a:pPr algn="l">
                <a:lnSpc>
                  <a:spcPts val="1680"/>
                </a:lnSpc>
              </a:pPr>
              <a:r>
                <a:rPr lang="zh-CN" sz="1200" dirty="0">
                  <a:solidFill>
                    <a:srgbClr val="1F2937"/>
                  </a:solidFill>
                  <a:latin typeface="+mn-lt"/>
                  <a:ea typeface="+mn-ea"/>
                  <a:cs typeface="+mn-cs"/>
                </a:rPr>
                <a:t>服务间用 RPC 或 RESTful API 调</a:t>
              </a:r>
              <a:br/>
              <a:r>
                <a:rPr lang="zh-CN" sz="1200" dirty="0">
                  <a:solidFill>
                    <a:srgbClr val="1F2937"/>
                  </a:solidFill>
                  <a:latin typeface="+mn-lt"/>
                  <a:ea typeface="+mn-ea"/>
                  <a:cs typeface="+mn-cs"/>
                </a:rPr>
                <a:t>用，消息队列协调流程</a:t>
              </a:r>
            </a:p>
          </p:txBody>
        </p:sp>
        <p:sp>
          <p:nvSpPr>
            <p:cNvPr id="31" name="TextBox 31"/>
            <p:cNvSpPr txBox="1"/>
            <p:nvPr/>
          </p:nvSpPr>
          <p:spPr>
            <a:xfrm>
              <a:off x="4213479" y="4232910"/>
              <a:ext cx="2145792" cy="448056"/>
            </a:xfrm>
            <a:prstGeom prst="rect">
              <a:avLst/>
            </a:prstGeom>
            <a:noFill/>
            <a:ln>
              <a:noFill/>
            </a:ln>
          </p:spPr>
          <p:txBody>
            <a:bodyPr wrap="none" lIns="0" tIns="0" rIns="0" bIns="0" anchor="t" anchorCtr="0">
              <a:spAutoFit/>
            </a:bodyPr>
            <a:lstStyle/>
            <a:p>
              <a:pPr algn="l">
                <a:lnSpc>
                  <a:spcPts val="1680"/>
                </a:lnSpc>
              </a:pPr>
              <a:r>
                <a:rPr lang="zh-CN" sz="1200" dirty="0">
                  <a:solidFill>
                    <a:srgbClr val="1F2937"/>
                  </a:solidFill>
                  <a:latin typeface="+mn-lt"/>
                  <a:ea typeface="+mn-ea"/>
                  <a:cs typeface="+mn-cs"/>
                </a:rPr>
                <a:t>进程间消息传递，常用阻塞式报</a:t>
              </a:r>
              <a:br/>
              <a:r>
                <a:rPr lang="zh-CN" sz="1200" dirty="0">
                  <a:solidFill>
                    <a:srgbClr val="1F2937"/>
                  </a:solidFill>
                  <a:latin typeface="+mn-lt"/>
                  <a:ea typeface="+mn-ea"/>
                  <a:cs typeface="+mn-cs"/>
                </a:rPr>
                <a:t>文交互</a:t>
              </a:r>
            </a:p>
          </p:txBody>
        </p:sp>
        <p:sp>
          <p:nvSpPr>
            <p:cNvPr id="32" name="Rectangle 32"/>
            <p:cNvSpPr/>
            <p:nvPr/>
          </p:nvSpPr>
          <p:spPr>
            <a:xfrm>
              <a:off x="533400" y="4740592"/>
              <a:ext cx="6059805" cy="9525"/>
            </a:xfrm>
            <a:prstGeom prst="rect">
              <a:avLst/>
            </a:prstGeom>
            <a:solidFill>
              <a:srgbClr val="D9DFEA"/>
            </a:solidFill>
            <a:ln>
              <a:noFill/>
            </a:ln>
          </p:spPr>
        </p:sp>
        <p:sp>
          <p:nvSpPr>
            <p:cNvPr id="33" name="Rectangle 33"/>
            <p:cNvSpPr/>
            <p:nvPr/>
          </p:nvSpPr>
          <p:spPr>
            <a:xfrm>
              <a:off x="533400" y="4745355"/>
              <a:ext cx="6059805" cy="643890"/>
            </a:xfrm>
            <a:prstGeom prst="rect">
              <a:avLst/>
            </a:prstGeom>
            <a:solidFill>
              <a:srgbClr val="F4F6FB"/>
            </a:solidFill>
            <a:ln>
              <a:noFill/>
            </a:ln>
          </p:spPr>
        </p:sp>
        <p:sp>
          <p:nvSpPr>
            <p:cNvPr id="34" name="TextBox 34"/>
            <p:cNvSpPr txBox="1"/>
            <p:nvPr/>
          </p:nvSpPr>
          <p:spPr>
            <a:xfrm>
              <a:off x="638746" y="4982528"/>
              <a:ext cx="658368" cy="234696"/>
            </a:xfrm>
            <a:prstGeom prst="rect">
              <a:avLst/>
            </a:prstGeom>
            <a:noFill/>
            <a:ln>
              <a:noFill/>
            </a:ln>
          </p:spPr>
          <p:txBody>
            <a:bodyPr wrap="none" lIns="0" tIns="0" rIns="0" bIns="0" anchor="t" anchorCtr="0">
              <a:spAutoFit/>
            </a:bodyPr>
            <a:lstStyle/>
            <a:p>
              <a:pPr algn="l"/>
              <a:r>
                <a:rPr lang="zh-CN" sz="1200" b="1" dirty="0">
                  <a:solidFill>
                    <a:srgbClr val="1F2937"/>
                  </a:solidFill>
                  <a:latin typeface="+mn-lt"/>
                  <a:ea typeface="+mn-ea"/>
                  <a:cs typeface="+mn-cs"/>
                </a:rPr>
                <a:t>典型应用</a:t>
              </a:r>
            </a:p>
          </p:txBody>
        </p:sp>
        <p:sp>
          <p:nvSpPr>
            <p:cNvPr id="35" name="TextBox 35"/>
            <p:cNvSpPr txBox="1"/>
            <p:nvPr/>
          </p:nvSpPr>
          <p:spPr>
            <a:xfrm>
              <a:off x="1668399" y="4875848"/>
              <a:ext cx="1978152" cy="448056"/>
            </a:xfrm>
            <a:prstGeom prst="rect">
              <a:avLst/>
            </a:prstGeom>
            <a:noFill/>
            <a:ln>
              <a:noFill/>
            </a:ln>
          </p:spPr>
          <p:txBody>
            <a:bodyPr wrap="none" lIns="0" tIns="0" rIns="0" bIns="0" anchor="t" anchorCtr="0">
              <a:spAutoFit/>
            </a:bodyPr>
            <a:lstStyle/>
            <a:p>
              <a:pPr algn="l">
                <a:lnSpc>
                  <a:spcPts val="1680"/>
                </a:lnSpc>
              </a:pPr>
              <a:r>
                <a:rPr lang="zh-CN" sz="1200" dirty="0">
                  <a:solidFill>
                    <a:srgbClr val="1F2937"/>
                  </a:solidFill>
                  <a:latin typeface="+mn-lt"/>
                  <a:ea typeface="+mn-ea"/>
                  <a:cs typeface="+mn-cs"/>
                </a:rPr>
                <a:t>企业级应用，如 Hadoop 上的</a:t>
              </a:r>
              <a:br/>
              <a:r>
                <a:rPr lang="zh-CN" sz="1200" dirty="0">
                  <a:solidFill>
                    <a:srgbClr val="1F2937"/>
                  </a:solidFill>
                  <a:latin typeface="+mn-lt"/>
                  <a:ea typeface="+mn-ea"/>
                  <a:cs typeface="+mn-cs"/>
                </a:rPr>
                <a:t>MapReduce（第5章）</a:t>
              </a:r>
            </a:p>
          </p:txBody>
        </p:sp>
        <p:sp>
          <p:nvSpPr>
            <p:cNvPr id="36" name="TextBox 36"/>
            <p:cNvSpPr txBox="1"/>
            <p:nvPr/>
          </p:nvSpPr>
          <p:spPr>
            <a:xfrm>
              <a:off x="4213479" y="4982528"/>
              <a:ext cx="2201113"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超级计算机，如神威·太湖之光</a:t>
              </a:r>
            </a:p>
          </p:txBody>
        </p:sp>
        <p:sp>
          <p:nvSpPr>
            <p:cNvPr id="37" name="Rectangle 37"/>
            <p:cNvSpPr/>
            <p:nvPr/>
          </p:nvSpPr>
          <p:spPr>
            <a:xfrm>
              <a:off x="533400" y="1524000"/>
              <a:ext cx="6059805" cy="3864292"/>
            </a:xfrm>
            <a:prstGeom prst="rect">
              <a:avLst/>
            </a:prstGeom>
            <a:noFill/>
            <a:ln w="14288">
              <a:solidFill>
                <a:srgbClr val="D9DFEA"/>
              </a:solidFill>
            </a:ln>
          </p:spPr>
        </p:sp>
        <p:sp>
          <p:nvSpPr>
            <p:cNvPr id="38" name="Rectangle 38"/>
            <p:cNvSpPr/>
            <p:nvPr/>
          </p:nvSpPr>
          <p:spPr>
            <a:xfrm>
              <a:off x="1558290" y="1524000"/>
              <a:ext cx="9525" cy="3864292"/>
            </a:xfrm>
            <a:prstGeom prst="rect">
              <a:avLst/>
            </a:prstGeom>
            <a:solidFill>
              <a:srgbClr val="D9DFEA"/>
            </a:solidFill>
            <a:ln>
              <a:noFill/>
            </a:ln>
          </p:spPr>
        </p:sp>
        <p:sp>
          <p:nvSpPr>
            <p:cNvPr id="39" name="Rectangle 39"/>
            <p:cNvSpPr/>
            <p:nvPr/>
          </p:nvSpPr>
          <p:spPr>
            <a:xfrm>
              <a:off x="4103370" y="1524000"/>
              <a:ext cx="9525" cy="3864292"/>
            </a:xfrm>
            <a:prstGeom prst="rect">
              <a:avLst/>
            </a:prstGeom>
            <a:solidFill>
              <a:srgbClr val="D9DFEA"/>
            </a:solidFill>
            <a:ln>
              <a:noFill/>
            </a:ln>
          </p:spPr>
        </p:sp>
      </p:grpSp>
      <p:grpSp>
        <p:nvGrpSpPr>
          <p:cNvPr id="61" name="c2-table-1"/>
          <p:cNvGrpSpPr/>
          <p:nvPr/>
        </p:nvGrpSpPr>
        <p:grpSpPr>
          <a:xfrm>
            <a:off x="6892290" y="1524000"/>
            <a:ext cx="4766310" cy="3082767"/>
            <a:chOff x="6892290" y="1524000"/>
            <a:chExt cx="4766310" cy="3082767"/>
          </a:xfrm>
        </p:grpSpPr>
        <p:sp>
          <p:nvSpPr>
            <p:cNvPr id="41" name="Rectangle 41"/>
            <p:cNvSpPr/>
            <p:nvPr/>
          </p:nvSpPr>
          <p:spPr>
            <a:xfrm>
              <a:off x="6898005" y="1524000"/>
              <a:ext cx="4760595" cy="643890"/>
            </a:xfrm>
            <a:prstGeom prst="rect">
              <a:avLst/>
            </a:prstGeom>
            <a:solidFill>
              <a:srgbClr val="334E68"/>
            </a:solidFill>
            <a:ln>
              <a:noFill/>
            </a:ln>
          </p:spPr>
        </p:sp>
        <p:sp>
          <p:nvSpPr>
            <p:cNvPr id="42" name="TextBox 42"/>
            <p:cNvSpPr txBox="1"/>
            <p:nvPr/>
          </p:nvSpPr>
          <p:spPr>
            <a:xfrm>
              <a:off x="7090982" y="1655445"/>
              <a:ext cx="469392" cy="448056"/>
            </a:xfrm>
            <a:prstGeom prst="rect">
              <a:avLst/>
            </a:prstGeom>
            <a:noFill/>
            <a:ln>
              <a:noFill/>
            </a:ln>
          </p:spPr>
          <p:txBody>
            <a:bodyPr wrap="none" lIns="0" tIns="0" rIns="0" bIns="0" anchor="t" anchorCtr="0">
              <a:spAutoFit/>
            </a:bodyPr>
            <a:lstStyle/>
            <a:p>
              <a:pPr algn="ctr">
                <a:lnSpc>
                  <a:spcPts val="1680"/>
                </a:lnSpc>
              </a:pPr>
              <a:r>
                <a:rPr lang="zh-CN" sz="1200" b="1" dirty="0">
                  <a:solidFill>
                    <a:srgbClr val="FFFFFF"/>
                  </a:solidFill>
                  <a:latin typeface="+mn-lt"/>
                  <a:ea typeface="+mn-ea"/>
                  <a:cs typeface="+mn-cs"/>
                </a:rPr>
                <a:t>三高目</a:t>
              </a:r>
              <a:br/>
              <a:r>
                <a:rPr lang="zh-CN" sz="1200" b="1" dirty="0">
                  <a:solidFill>
                    <a:srgbClr val="FFFFFF"/>
                  </a:solidFill>
                  <a:latin typeface="+mn-lt"/>
                  <a:ea typeface="+mn-ea"/>
                  <a:cs typeface="+mn-cs"/>
                </a:rPr>
                <a:t>标</a:t>
              </a:r>
            </a:p>
          </p:txBody>
        </p:sp>
        <p:sp>
          <p:nvSpPr>
            <p:cNvPr id="43" name="TextBox 43"/>
            <p:cNvSpPr txBox="1"/>
            <p:nvPr/>
          </p:nvSpPr>
          <p:spPr>
            <a:xfrm>
              <a:off x="8824912" y="1762125"/>
              <a:ext cx="335280"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手段</a:t>
              </a:r>
            </a:p>
          </p:txBody>
        </p:sp>
        <p:sp>
          <p:nvSpPr>
            <p:cNvPr id="44" name="TextBox 44"/>
            <p:cNvSpPr txBox="1"/>
            <p:nvPr/>
          </p:nvSpPr>
          <p:spPr>
            <a:xfrm>
              <a:off x="10615041" y="1762125"/>
              <a:ext cx="658368"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怎样检验</a:t>
              </a:r>
            </a:p>
          </p:txBody>
        </p:sp>
        <p:sp>
          <p:nvSpPr>
            <p:cNvPr id="45" name="TextBox 45"/>
            <p:cNvSpPr txBox="1"/>
            <p:nvPr/>
          </p:nvSpPr>
          <p:spPr>
            <a:xfrm>
              <a:off x="7003352" y="2511742"/>
              <a:ext cx="496824" cy="234696"/>
            </a:xfrm>
            <a:prstGeom prst="rect">
              <a:avLst/>
            </a:prstGeom>
            <a:noFill/>
            <a:ln>
              <a:noFill/>
            </a:ln>
          </p:spPr>
          <p:txBody>
            <a:bodyPr wrap="none" lIns="0" tIns="0" rIns="0" bIns="0" anchor="t" anchorCtr="0">
              <a:spAutoFit/>
            </a:bodyPr>
            <a:lstStyle/>
            <a:p>
              <a:pPr algn="l"/>
              <a:r>
                <a:rPr lang="zh-CN" sz="1200" b="1" dirty="0">
                  <a:solidFill>
                    <a:srgbClr val="1F2937"/>
                  </a:solidFill>
                  <a:latin typeface="+mn-lt"/>
                  <a:ea typeface="+mn-ea"/>
                  <a:cs typeface="+mn-cs"/>
                </a:rPr>
                <a:t>高可用</a:t>
              </a:r>
            </a:p>
          </p:txBody>
        </p:sp>
        <p:sp>
          <p:nvSpPr>
            <p:cNvPr id="46" name="TextBox 46"/>
            <p:cNvSpPr txBox="1"/>
            <p:nvPr/>
          </p:nvSpPr>
          <p:spPr>
            <a:xfrm>
              <a:off x="7859649" y="2298382"/>
              <a:ext cx="2145792" cy="661416"/>
            </a:xfrm>
            <a:prstGeom prst="rect">
              <a:avLst/>
            </a:prstGeom>
            <a:noFill/>
            <a:ln>
              <a:noFill/>
            </a:ln>
          </p:spPr>
          <p:txBody>
            <a:bodyPr wrap="none" lIns="0" tIns="0" rIns="0" bIns="0" anchor="t" anchorCtr="0">
              <a:spAutoFit/>
            </a:bodyPr>
            <a:lstStyle/>
            <a:p>
              <a:pPr algn="l">
                <a:lnSpc>
                  <a:spcPts val="1680"/>
                </a:lnSpc>
              </a:pPr>
              <a:r>
                <a:rPr lang="zh-CN" sz="1200" dirty="0">
                  <a:solidFill>
                    <a:srgbClr val="1F2937"/>
                  </a:solidFill>
                  <a:latin typeface="+mn-lt"/>
                  <a:ea typeface="+mn-ea"/>
                  <a:cs typeface="+mn-cs"/>
                </a:rPr>
                <a:t>多活实例保证结构鲁棒；热备与</a:t>
              </a:r>
              <a:br/>
              <a:r>
                <a:rPr lang="zh-CN" sz="1200" dirty="0">
                  <a:solidFill>
                    <a:srgbClr val="1F2937"/>
                  </a:solidFill>
                  <a:latin typeface="+mn-lt"/>
                  <a:ea typeface="+mn-ea"/>
                  <a:cs typeface="+mn-cs"/>
                </a:rPr>
                <a:t>副本保证数据可靠；多点协同可</a:t>
              </a:r>
              <a:br/>
              <a:r>
                <a:rPr lang="zh-CN" sz="1200" dirty="0">
                  <a:solidFill>
                    <a:srgbClr val="1F2937"/>
                  </a:solidFill>
                  <a:latin typeface="+mn-lt"/>
                  <a:ea typeface="+mn-ea"/>
                  <a:cs typeface="+mn-cs"/>
                </a:rPr>
                <a:t>重构</a:t>
              </a:r>
            </a:p>
          </p:txBody>
        </p:sp>
        <p:sp>
          <p:nvSpPr>
            <p:cNvPr id="47" name="TextBox 47"/>
            <p:cNvSpPr txBox="1"/>
            <p:nvPr/>
          </p:nvSpPr>
          <p:spPr>
            <a:xfrm>
              <a:off x="10335196" y="2405063"/>
              <a:ext cx="1078992" cy="448056"/>
            </a:xfrm>
            <a:prstGeom prst="rect">
              <a:avLst/>
            </a:prstGeom>
            <a:noFill/>
            <a:ln>
              <a:noFill/>
            </a:ln>
          </p:spPr>
          <p:txBody>
            <a:bodyPr wrap="none" lIns="0" tIns="0" rIns="0" bIns="0" anchor="t" anchorCtr="0">
              <a:spAutoFit/>
            </a:bodyPr>
            <a:lstStyle/>
            <a:p>
              <a:pPr algn="l">
                <a:lnSpc>
                  <a:spcPts val="1680"/>
                </a:lnSpc>
              </a:pPr>
              <a:r>
                <a:rPr lang="zh-CN" sz="1200" dirty="0">
                  <a:solidFill>
                    <a:srgbClr val="1F2937"/>
                  </a:solidFill>
                  <a:latin typeface="+mn-lt"/>
                  <a:ea typeface="+mn-ea"/>
                  <a:cs typeface="+mn-cs"/>
                </a:rPr>
                <a:t>节点宕机与链路</a:t>
              </a:r>
              <a:br/>
              <a:r>
                <a:rPr lang="zh-CN" sz="1200" dirty="0">
                  <a:solidFill>
                    <a:srgbClr val="1F2937"/>
                  </a:solidFill>
                  <a:latin typeface="+mn-lt"/>
                  <a:ea typeface="+mn-ea"/>
                  <a:cs typeface="+mn-cs"/>
                </a:rPr>
                <a:t>断路实验</a:t>
              </a:r>
            </a:p>
          </p:txBody>
        </p:sp>
        <p:sp>
          <p:nvSpPr>
            <p:cNvPr id="48" name="Rectangle 48"/>
            <p:cNvSpPr/>
            <p:nvPr/>
          </p:nvSpPr>
          <p:spPr>
            <a:xfrm>
              <a:off x="6898005" y="3019425"/>
              <a:ext cx="4760595" cy="9525"/>
            </a:xfrm>
            <a:prstGeom prst="rect">
              <a:avLst/>
            </a:prstGeom>
            <a:solidFill>
              <a:srgbClr val="D9DFEA"/>
            </a:solidFill>
            <a:ln>
              <a:noFill/>
            </a:ln>
          </p:spPr>
        </p:sp>
        <p:sp>
          <p:nvSpPr>
            <p:cNvPr id="49" name="Rectangle 49"/>
            <p:cNvSpPr/>
            <p:nvPr/>
          </p:nvSpPr>
          <p:spPr>
            <a:xfrm>
              <a:off x="6898005" y="3024188"/>
              <a:ext cx="4760595" cy="857250"/>
            </a:xfrm>
            <a:prstGeom prst="rect">
              <a:avLst/>
            </a:prstGeom>
            <a:solidFill>
              <a:srgbClr val="F4F6FB"/>
            </a:solidFill>
            <a:ln>
              <a:noFill/>
            </a:ln>
          </p:spPr>
        </p:sp>
        <p:sp>
          <p:nvSpPr>
            <p:cNvPr id="50" name="TextBox 50"/>
            <p:cNvSpPr txBox="1"/>
            <p:nvPr/>
          </p:nvSpPr>
          <p:spPr>
            <a:xfrm>
              <a:off x="7003352" y="3368992"/>
              <a:ext cx="496824" cy="234696"/>
            </a:xfrm>
            <a:prstGeom prst="rect">
              <a:avLst/>
            </a:prstGeom>
            <a:noFill/>
            <a:ln>
              <a:noFill/>
            </a:ln>
          </p:spPr>
          <p:txBody>
            <a:bodyPr wrap="none" lIns="0" tIns="0" rIns="0" bIns="0" anchor="t" anchorCtr="0">
              <a:spAutoFit/>
            </a:bodyPr>
            <a:lstStyle/>
            <a:p>
              <a:pPr algn="l"/>
              <a:r>
                <a:rPr lang="zh-CN" sz="1200" b="1" dirty="0">
                  <a:solidFill>
                    <a:srgbClr val="1F2937"/>
                  </a:solidFill>
                  <a:latin typeface="+mn-lt"/>
                  <a:ea typeface="+mn-ea"/>
                  <a:cs typeface="+mn-cs"/>
                </a:rPr>
                <a:t>高性能</a:t>
              </a:r>
            </a:p>
          </p:txBody>
        </p:sp>
        <p:sp>
          <p:nvSpPr>
            <p:cNvPr id="51" name="TextBox 51"/>
            <p:cNvSpPr txBox="1"/>
            <p:nvPr/>
          </p:nvSpPr>
          <p:spPr>
            <a:xfrm>
              <a:off x="7859649" y="3155632"/>
              <a:ext cx="2145792" cy="661416"/>
            </a:xfrm>
            <a:prstGeom prst="rect">
              <a:avLst/>
            </a:prstGeom>
            <a:noFill/>
            <a:ln>
              <a:noFill/>
            </a:ln>
          </p:spPr>
          <p:txBody>
            <a:bodyPr wrap="none" lIns="0" tIns="0" rIns="0" bIns="0" anchor="t" anchorCtr="0">
              <a:spAutoFit/>
            </a:bodyPr>
            <a:lstStyle/>
            <a:p>
              <a:pPr algn="l">
                <a:lnSpc>
                  <a:spcPts val="1680"/>
                </a:lnSpc>
              </a:pPr>
              <a:r>
                <a:rPr lang="zh-CN" sz="1200" dirty="0">
                  <a:solidFill>
                    <a:srgbClr val="1F2937"/>
                  </a:solidFill>
                  <a:latin typeface="+mn-lt"/>
                  <a:ea typeface="+mn-ea"/>
                  <a:cs typeface="+mn-cs"/>
                </a:rPr>
                <a:t>反向代理做负载均衡；Web 服</a:t>
              </a:r>
              <a:br/>
              <a:r>
                <a:rPr lang="zh-CN" sz="1200" dirty="0">
                  <a:solidFill>
                    <a:srgbClr val="1F2937"/>
                  </a:solidFill>
                  <a:latin typeface="+mn-lt"/>
                  <a:ea typeface="+mn-ea"/>
                  <a:cs typeface="+mn-cs"/>
                </a:rPr>
                <a:t>务弹性计算；消息队列与分布式</a:t>
              </a:r>
              <a:br/>
              <a:r>
                <a:rPr lang="zh-CN" sz="1200" dirty="0">
                  <a:solidFill>
                    <a:srgbClr val="1F2937"/>
                  </a:solidFill>
                  <a:latin typeface="+mn-lt"/>
                  <a:ea typeface="+mn-ea"/>
                  <a:cs typeface="+mn-cs"/>
                </a:rPr>
                <a:t>缓存降低延迟</a:t>
              </a:r>
            </a:p>
          </p:txBody>
        </p:sp>
        <p:sp>
          <p:nvSpPr>
            <p:cNvPr id="52" name="TextBox 52"/>
            <p:cNvSpPr txBox="1"/>
            <p:nvPr/>
          </p:nvSpPr>
          <p:spPr>
            <a:xfrm>
              <a:off x="10335196" y="3262312"/>
              <a:ext cx="1078992" cy="448056"/>
            </a:xfrm>
            <a:prstGeom prst="rect">
              <a:avLst/>
            </a:prstGeom>
            <a:noFill/>
            <a:ln>
              <a:noFill/>
            </a:ln>
          </p:spPr>
          <p:txBody>
            <a:bodyPr wrap="none" lIns="0" tIns="0" rIns="0" bIns="0" anchor="t" anchorCtr="0">
              <a:spAutoFit/>
            </a:bodyPr>
            <a:lstStyle/>
            <a:p>
              <a:pPr algn="l">
                <a:lnSpc>
                  <a:spcPts val="1680"/>
                </a:lnSpc>
              </a:pPr>
              <a:r>
                <a:rPr lang="zh-CN" sz="1200" dirty="0">
                  <a:solidFill>
                    <a:srgbClr val="1F2937"/>
                  </a:solidFill>
                  <a:latin typeface="+mn-lt"/>
                  <a:ea typeface="+mn-ea"/>
                  <a:cs typeface="+mn-cs"/>
                </a:rPr>
                <a:t>峰值性能暴力测</a:t>
              </a:r>
              <a:br/>
              <a:r>
                <a:rPr lang="zh-CN" sz="1200" dirty="0">
                  <a:solidFill>
                    <a:srgbClr val="1F2937"/>
                  </a:solidFill>
                  <a:latin typeface="+mn-lt"/>
                  <a:ea typeface="+mn-ea"/>
                  <a:cs typeface="+mn-cs"/>
                </a:rPr>
                <a:t>试</a:t>
              </a:r>
            </a:p>
          </p:txBody>
        </p:sp>
        <p:sp>
          <p:nvSpPr>
            <p:cNvPr id="53" name="Rectangle 53"/>
            <p:cNvSpPr/>
            <p:nvPr/>
          </p:nvSpPr>
          <p:spPr>
            <a:xfrm>
              <a:off x="6898005" y="3876675"/>
              <a:ext cx="4760595" cy="9525"/>
            </a:xfrm>
            <a:prstGeom prst="rect">
              <a:avLst/>
            </a:prstGeom>
            <a:solidFill>
              <a:srgbClr val="D9DFEA"/>
            </a:solidFill>
            <a:ln>
              <a:noFill/>
            </a:ln>
          </p:spPr>
        </p:sp>
        <p:sp>
          <p:nvSpPr>
            <p:cNvPr id="54" name="TextBox 54"/>
            <p:cNvSpPr txBox="1"/>
            <p:nvPr/>
          </p:nvSpPr>
          <p:spPr>
            <a:xfrm>
              <a:off x="7003352" y="4012882"/>
              <a:ext cx="496824" cy="234696"/>
            </a:xfrm>
            <a:prstGeom prst="rect">
              <a:avLst/>
            </a:prstGeom>
            <a:noFill/>
            <a:ln>
              <a:noFill/>
            </a:ln>
          </p:spPr>
          <p:txBody>
            <a:bodyPr wrap="none" lIns="0" tIns="0" rIns="0" bIns="0" anchor="t" anchorCtr="0">
              <a:spAutoFit/>
            </a:bodyPr>
            <a:lstStyle/>
            <a:p>
              <a:pPr algn="l"/>
              <a:r>
                <a:rPr lang="zh-CN" sz="1200" b="1" dirty="0">
                  <a:solidFill>
                    <a:srgbClr val="1F2937"/>
                  </a:solidFill>
                  <a:latin typeface="+mn-lt"/>
                  <a:ea typeface="+mn-ea"/>
                  <a:cs typeface="+mn-cs"/>
                </a:rPr>
                <a:t>高可信</a:t>
              </a:r>
            </a:p>
          </p:txBody>
        </p:sp>
        <p:sp>
          <p:nvSpPr>
            <p:cNvPr id="55" name="TextBox 55"/>
            <p:cNvSpPr txBox="1"/>
            <p:nvPr/>
          </p:nvSpPr>
          <p:spPr>
            <a:xfrm>
              <a:off x="7859649" y="4012882"/>
              <a:ext cx="2273808"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数据加密、身份认证、权限控制</a:t>
              </a:r>
            </a:p>
          </p:txBody>
        </p:sp>
        <p:sp>
          <p:nvSpPr>
            <p:cNvPr id="56" name="TextBox 56"/>
            <p:cNvSpPr txBox="1"/>
            <p:nvPr/>
          </p:nvSpPr>
          <p:spPr>
            <a:xfrm>
              <a:off x="10335196" y="4012882"/>
              <a:ext cx="101041"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a:t>
              </a:r>
            </a:p>
          </p:txBody>
        </p:sp>
        <p:sp>
          <p:nvSpPr>
            <p:cNvPr id="57" name="Rectangle 57"/>
            <p:cNvSpPr/>
            <p:nvPr/>
          </p:nvSpPr>
          <p:spPr>
            <a:xfrm>
              <a:off x="6898005" y="1524000"/>
              <a:ext cx="4760595" cy="2787015"/>
            </a:xfrm>
            <a:prstGeom prst="rect">
              <a:avLst/>
            </a:prstGeom>
            <a:noFill/>
            <a:ln w="14288">
              <a:solidFill>
                <a:srgbClr val="D9DFEA"/>
              </a:solidFill>
            </a:ln>
          </p:spPr>
        </p:sp>
        <p:sp>
          <p:nvSpPr>
            <p:cNvPr id="58" name="Rectangle 58"/>
            <p:cNvSpPr/>
            <p:nvPr/>
          </p:nvSpPr>
          <p:spPr>
            <a:xfrm>
              <a:off x="7749540" y="1524000"/>
              <a:ext cx="9525" cy="2787015"/>
            </a:xfrm>
            <a:prstGeom prst="rect">
              <a:avLst/>
            </a:prstGeom>
            <a:solidFill>
              <a:srgbClr val="D9DFEA"/>
            </a:solidFill>
            <a:ln>
              <a:noFill/>
            </a:ln>
          </p:spPr>
        </p:sp>
        <p:sp>
          <p:nvSpPr>
            <p:cNvPr id="59" name="Rectangle 59"/>
            <p:cNvSpPr/>
            <p:nvPr/>
          </p:nvSpPr>
          <p:spPr>
            <a:xfrm>
              <a:off x="10225088" y="1524000"/>
              <a:ext cx="9525" cy="2787015"/>
            </a:xfrm>
            <a:prstGeom prst="rect">
              <a:avLst/>
            </a:prstGeom>
            <a:solidFill>
              <a:srgbClr val="D9DFEA"/>
            </a:solidFill>
            <a:ln>
              <a:noFill/>
            </a:ln>
          </p:spPr>
        </p:sp>
        <p:sp>
          <p:nvSpPr>
            <p:cNvPr id="60" name="TextBox 60"/>
            <p:cNvSpPr txBox="1"/>
            <p:nvPr/>
          </p:nvSpPr>
          <p:spPr>
            <a:xfrm>
              <a:off x="6892290" y="4386739"/>
              <a:ext cx="3484220" cy="220028"/>
            </a:xfrm>
            <a:prstGeom prst="rect">
              <a:avLst/>
            </a:prstGeom>
            <a:noFill/>
            <a:ln>
              <a:noFill/>
            </a:ln>
          </p:spPr>
          <p:txBody>
            <a:bodyPr wrap="none" lIns="0" tIns="0" rIns="0" bIns="0" anchor="t" anchorCtr="0">
              <a:spAutoFit/>
            </a:bodyPr>
            <a:lstStyle/>
            <a:p>
              <a:pPr algn="l"/>
              <a:r>
                <a:rPr lang="zh-CN" sz="1120" dirty="0">
                  <a:solidFill>
                    <a:srgbClr val="5B6475"/>
                  </a:solidFill>
                  <a:latin typeface="+mn-lt"/>
                  <a:ea typeface="+mn-ea"/>
                  <a:cs typeface="+mn-cs"/>
                </a:rPr>
                <a:t>原课件第7页：COW 上的企业级系统追求的三高目标</a:t>
              </a:r>
            </a:p>
          </p:txBody>
        </p:sp>
      </p:grpSp>
      <p:grpSp>
        <p:nvGrpSpPr>
          <p:cNvPr id="68" name="c2-callout-2"/>
          <p:cNvGrpSpPr/>
          <p:nvPr/>
        </p:nvGrpSpPr>
        <p:grpSpPr>
          <a:xfrm>
            <a:off x="6898005" y="4748212"/>
            <a:ext cx="4760595" cy="1281112"/>
            <a:chOff x="6898005" y="4748212"/>
            <a:chExt cx="4760595" cy="1281112"/>
          </a:xfrm>
        </p:grpSpPr>
        <p:sp>
          <p:nvSpPr>
            <p:cNvPr id="62" name="Rectangle 62"/>
            <p:cNvSpPr/>
            <p:nvPr/>
          </p:nvSpPr>
          <p:spPr>
            <a:xfrm>
              <a:off x="6898005" y="4748212"/>
              <a:ext cx="4760595" cy="1281112"/>
            </a:xfrm>
            <a:prstGeom prst="roundRect">
              <a:avLst>
                <a:gd name="adj" fmla="val 8922"/>
              </a:avLst>
            </a:prstGeom>
            <a:solidFill>
              <a:srgbClr val="F4F6FB"/>
            </a:solidFill>
            <a:ln>
              <a:noFill/>
            </a:ln>
          </p:spPr>
        </p:sp>
        <p:grpSp>
          <p:nvGrpSpPr>
            <p:cNvPr id="66" name="Group 66"/>
            <p:cNvGrpSpPr/>
            <p:nvPr/>
          </p:nvGrpSpPr>
          <p:grpSpPr>
            <a:xfrm>
              <a:off x="7102793" y="5288280"/>
              <a:ext cx="200026" cy="200026"/>
              <a:chOff x="7102793" y="5288280"/>
              <a:chExt cx="200026" cy="200026"/>
            </a:xfrm>
          </p:grpSpPr>
          <p:sp>
            <p:nvSpPr>
              <p:cNvPr id="63" name="Freeform 63"/>
              <p:cNvSpPr/>
              <p:nvPr/>
            </p:nvSpPr>
            <p:spPr>
              <a:xfrm>
                <a:off x="7102793" y="5288280"/>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1F2937"/>
                </a:solidFill>
              </a:ln>
            </p:spPr>
          </p:sp>
          <p:sp>
            <p:nvSpPr>
              <p:cNvPr id="64" name="Freeform 64"/>
              <p:cNvSpPr/>
              <p:nvPr/>
            </p:nvSpPr>
            <p:spPr>
              <a:xfrm>
                <a:off x="7202805" y="5354955"/>
                <a:ext cx="9525" cy="9525"/>
              </a:xfrm>
              <a:custGeom>
                <a:avLst/>
                <a:gdLst/>
                <a:ahLst/>
                <a:cxnLst/>
                <a:rect l="l" t="t" r="r" b="b"/>
                <a:pathLst>
                  <a:path w="9525" h="9525">
                    <a:moveTo>
                      <a:pt x="0" y="0"/>
                    </a:moveTo>
                    <a:lnTo>
                      <a:pt x="111" y="0"/>
                    </a:lnTo>
                  </a:path>
                </a:pathLst>
              </a:custGeom>
              <a:noFill/>
              <a:ln w="22225">
                <a:solidFill>
                  <a:srgbClr val="1F2937"/>
                </a:solidFill>
              </a:ln>
            </p:spPr>
          </p:sp>
          <p:sp>
            <p:nvSpPr>
              <p:cNvPr id="65" name="Freeform 65"/>
              <p:cNvSpPr/>
              <p:nvPr/>
            </p:nvSpPr>
            <p:spPr>
              <a:xfrm>
                <a:off x="7191693" y="5388293"/>
                <a:ext cx="22225" cy="44450"/>
              </a:xfrm>
              <a:custGeom>
                <a:avLst/>
                <a:gdLst/>
                <a:ahLst/>
                <a:cxnLst/>
                <a:rect l="l" t="t" r="r" b="b"/>
                <a:pathLst>
                  <a:path w="22225" h="44450">
                    <a:moveTo>
                      <a:pt x="0" y="0"/>
                    </a:moveTo>
                    <a:lnTo>
                      <a:pt x="11113" y="0"/>
                    </a:lnTo>
                    <a:lnTo>
                      <a:pt x="11113" y="44450"/>
                    </a:lnTo>
                    <a:lnTo>
                      <a:pt x="22225" y="44450"/>
                    </a:lnTo>
                  </a:path>
                </a:pathLst>
              </a:custGeom>
              <a:noFill/>
              <a:ln w="22225">
                <a:solidFill>
                  <a:srgbClr val="1F2937"/>
                </a:solidFill>
              </a:ln>
            </p:spPr>
          </p:sp>
        </p:grpSp>
        <p:sp>
          <p:nvSpPr>
            <p:cNvPr id="67" name="TextBox 67"/>
            <p:cNvSpPr txBox="1"/>
            <p:nvPr/>
          </p:nvSpPr>
          <p:spPr>
            <a:xfrm>
              <a:off x="7405116" y="4895374"/>
              <a:ext cx="3900805" cy="1067372"/>
            </a:xfrm>
            <a:prstGeom prst="rect">
              <a:avLst/>
            </a:prstGeom>
            <a:noFill/>
            <a:ln>
              <a:noFill/>
            </a:ln>
          </p:spPr>
          <p:txBody>
            <a:bodyPr wrap="none" lIns="0" tIns="0" rIns="0" bIns="0" anchor="t" anchorCtr="0">
              <a:spAutoFit/>
            </a:bodyPr>
            <a:lstStyle/>
            <a:p>
              <a:pPr algn="l">
                <a:lnSpc>
                  <a:spcPts val="2070"/>
                </a:lnSpc>
              </a:pPr>
              <a:r>
                <a:rPr lang="zh-CN" sz="1420" dirty="0">
                  <a:solidFill>
                    <a:srgbClr val="1F2937"/>
                  </a:solidFill>
                  <a:latin typeface="+mn-lt"/>
                  <a:ea typeface="+mn-ea"/>
                  <a:cs typeface="+mn-cs"/>
                </a:rPr>
                <a:t>原课件第6页是一个网格预测系统的部署图：计算</a:t>
              </a:r>
              <a:br/>
              <a:r>
                <a:rPr lang="zh-CN" sz="1420" dirty="0">
                  <a:solidFill>
                    <a:srgbClr val="1F2937"/>
                  </a:solidFill>
                  <a:latin typeface="+mn-lt"/>
                  <a:ea typeface="+mn-ea"/>
                  <a:cs typeface="+mn-cs"/>
                </a:rPr>
                <a:t>资源、预测节点、信息节点各是一台独立计算</a:t>
              </a:r>
              <a:br/>
              <a:r>
                <a:rPr lang="zh-CN" sz="1420" dirty="0">
                  <a:solidFill>
                    <a:srgbClr val="1F2937"/>
                  </a:solidFill>
                  <a:latin typeface="+mn-lt"/>
                  <a:ea typeface="+mn-ea"/>
                  <a:cs typeface="+mn-cs"/>
                </a:rPr>
                <a:t>机，通过网络和服务调用协作，属于 COW 的用</a:t>
              </a:r>
              <a:br/>
              <a:r>
                <a:rPr lang="zh-CN" sz="1420" dirty="0">
                  <a:solidFill>
                    <a:srgbClr val="1F2937"/>
                  </a:solidFill>
                  <a:latin typeface="+mn-lt"/>
                  <a:ea typeface="+mn-ea"/>
                  <a:cs typeface="+mn-cs"/>
                </a:rPr>
                <a:t>法。</a:t>
              </a:r>
            </a:p>
          </p:txBody>
        </p:sp>
      </p:grpSp>
      <p:grpSp>
        <p:nvGrpSpPr>
          <p:cNvPr id="71" name="footer"/>
          <p:cNvGrpSpPr/>
          <p:nvPr/>
        </p:nvGrpSpPr>
        <p:grpSpPr>
          <a:xfrm>
            <a:off x="528447" y="6581299"/>
            <a:ext cx="11135106" cy="190690"/>
            <a:chOff x="528447" y="6581299"/>
            <a:chExt cx="11135106" cy="190690"/>
          </a:xfrm>
        </p:grpSpPr>
        <p:sp>
          <p:nvSpPr>
            <p:cNvPr id="69" name="TextBox 69"/>
            <p:cNvSpPr txBox="1"/>
            <p:nvPr/>
          </p:nvSpPr>
          <p:spPr>
            <a:xfrm>
              <a:off x="528447" y="6581299"/>
              <a:ext cx="2120748"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并行与分布式计算 · 第7章 体系结构</a:t>
              </a:r>
            </a:p>
          </p:txBody>
        </p:sp>
        <p:sp>
          <p:nvSpPr>
            <p:cNvPr id="70" name="TextBox 70"/>
            <p:cNvSpPr txBox="1"/>
            <p:nvPr/>
          </p:nvSpPr>
          <p:spPr>
            <a:xfrm>
              <a:off x="11581087" y="6581299"/>
              <a:ext cx="8246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5</a:t>
              </a:r>
            </a:p>
          </p:txBody>
        </p:sp>
      </p:gr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6059930" cy="909257"/>
            <a:chOff x="520446" y="342900"/>
            <a:chExt cx="6059930" cy="909257"/>
          </a:xfrm>
        </p:grpSpPr>
        <p:sp>
          <p:nvSpPr>
            <p:cNvPr id="2" name="Rectangle 2"/>
            <p:cNvSpPr/>
            <p:nvPr/>
          </p:nvSpPr>
          <p:spPr>
            <a:xfrm>
              <a:off x="533400" y="342900"/>
              <a:ext cx="2272665" cy="266700"/>
            </a:xfrm>
            <a:prstGeom prst="roundRect">
              <a:avLst>
                <a:gd name="adj" fmla="val 50000"/>
              </a:avLst>
            </a:prstGeom>
            <a:solidFill>
              <a:srgbClr val="E7EDF3"/>
            </a:solidFill>
            <a:ln>
              <a:noFill/>
            </a:ln>
          </p:spPr>
        </p:sp>
        <p:sp>
          <p:nvSpPr>
            <p:cNvPr id="3" name="TextBox 3"/>
            <p:cNvSpPr txBox="1"/>
            <p:nvPr/>
          </p:nvSpPr>
          <p:spPr>
            <a:xfrm>
              <a:off x="601058" y="407194"/>
              <a:ext cx="2137349"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第7章 体系结构 · 多处理器结构</a:t>
              </a:r>
            </a:p>
          </p:txBody>
        </p:sp>
        <p:sp>
          <p:nvSpPr>
            <p:cNvPr id="4" name="TextBox 4"/>
            <p:cNvSpPr txBox="1"/>
            <p:nvPr/>
          </p:nvSpPr>
          <p:spPr>
            <a:xfrm>
              <a:off x="520446" y="753428"/>
              <a:ext cx="6059930"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神威·太湖之光：把性能参数逐项算一遍</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35" name="c1-table-1"/>
          <p:cNvGrpSpPr/>
          <p:nvPr/>
        </p:nvGrpSpPr>
        <p:grpSpPr>
          <a:xfrm>
            <a:off x="533400" y="1524000"/>
            <a:ext cx="5193982" cy="3599498"/>
            <a:chOff x="533400" y="1524000"/>
            <a:chExt cx="5193982" cy="3599498"/>
          </a:xfrm>
        </p:grpSpPr>
        <p:sp>
          <p:nvSpPr>
            <p:cNvPr id="7" name="Rectangle 7"/>
            <p:cNvSpPr/>
            <p:nvPr/>
          </p:nvSpPr>
          <p:spPr>
            <a:xfrm>
              <a:off x="533400" y="1524000"/>
              <a:ext cx="5193982" cy="448628"/>
            </a:xfrm>
            <a:prstGeom prst="rect">
              <a:avLst/>
            </a:prstGeom>
            <a:solidFill>
              <a:srgbClr val="334E68"/>
            </a:solidFill>
            <a:ln>
              <a:noFill/>
            </a:ln>
          </p:spPr>
        </p:sp>
        <p:sp>
          <p:nvSpPr>
            <p:cNvPr id="8" name="TextBox 8"/>
            <p:cNvSpPr txBox="1"/>
            <p:nvPr/>
          </p:nvSpPr>
          <p:spPr>
            <a:xfrm>
              <a:off x="1029932" y="1659731"/>
              <a:ext cx="357581"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指标</a:t>
              </a:r>
            </a:p>
          </p:txBody>
        </p:sp>
        <p:sp>
          <p:nvSpPr>
            <p:cNvPr id="9" name="TextBox 9"/>
            <p:cNvSpPr txBox="1"/>
            <p:nvPr/>
          </p:nvSpPr>
          <p:spPr>
            <a:xfrm>
              <a:off x="2484399" y="1659731"/>
              <a:ext cx="357581"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数值</a:t>
              </a:r>
            </a:p>
          </p:txBody>
        </p:sp>
        <p:sp>
          <p:nvSpPr>
            <p:cNvPr id="10" name="TextBox 10"/>
            <p:cNvSpPr txBox="1"/>
            <p:nvPr/>
          </p:nvSpPr>
          <p:spPr>
            <a:xfrm>
              <a:off x="4405592" y="1659731"/>
              <a:ext cx="357581"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说明</a:t>
              </a:r>
            </a:p>
          </p:txBody>
        </p:sp>
        <p:sp>
          <p:nvSpPr>
            <p:cNvPr id="11" name="TextBox 11"/>
            <p:cNvSpPr txBox="1"/>
            <p:nvPr/>
          </p:nvSpPr>
          <p:spPr>
            <a:xfrm>
              <a:off x="641223" y="2108359"/>
              <a:ext cx="663194" cy="476059"/>
            </a:xfrm>
            <a:prstGeom prst="rect">
              <a:avLst/>
            </a:prstGeom>
            <a:noFill/>
            <a:ln>
              <a:noFill/>
            </a:ln>
          </p:spPr>
          <p:txBody>
            <a:bodyPr wrap="none" lIns="0" tIns="0" rIns="0" bIns="0" anchor="t" anchorCtr="0">
              <a:spAutoFit/>
            </a:bodyPr>
            <a:lstStyle/>
            <a:p>
              <a:pPr algn="l">
                <a:lnSpc>
                  <a:spcPts val="1785"/>
                </a:lnSpc>
              </a:pPr>
              <a:r>
                <a:rPr lang="zh-CN" sz="1280" b="1" dirty="0">
                  <a:solidFill>
                    <a:srgbClr val="1F2937"/>
                  </a:solidFill>
                  <a:latin typeface="+mn-lt"/>
                  <a:ea typeface="+mn-ea"/>
                  <a:cs typeface="+mn-cs"/>
                </a:rPr>
                <a:t>峰值性能</a:t>
              </a:r>
              <a:br/>
              <a:r>
                <a:rPr lang="en-US" sz="1280" b="1" dirty="0">
                  <a:solidFill>
                    <a:srgbClr val="1F2937"/>
                  </a:solidFill>
                  <a:latin typeface="+mn-lt"/>
                  <a:ea typeface="+mn-ea"/>
                  <a:cs typeface="+mn-cs"/>
                </a:rPr>
                <a:t>Rₚₑₐₖ</a:t>
              </a:r>
            </a:p>
          </p:txBody>
        </p:sp>
        <p:sp>
          <p:nvSpPr>
            <p:cNvPr id="12" name="TextBox 12"/>
            <p:cNvSpPr txBox="1"/>
            <p:nvPr/>
          </p:nvSpPr>
          <p:spPr>
            <a:xfrm>
              <a:off x="1991868" y="2221706"/>
              <a:ext cx="1277021" cy="249364"/>
            </a:xfrm>
            <a:prstGeom prst="rect">
              <a:avLst/>
            </a:prstGeom>
            <a:noFill/>
            <a:ln>
              <a:noFill/>
            </a:ln>
          </p:spPr>
          <p:txBody>
            <a:bodyPr wrap="none" lIns="0" tIns="0" rIns="0" bIns="0" anchor="t" anchorCtr="0">
              <a:spAutoFit/>
            </a:bodyPr>
            <a:lstStyle/>
            <a:p>
              <a:pPr algn="l"/>
              <a:r>
                <a:rPr lang="en-US" sz="1280" dirty="0">
                  <a:solidFill>
                    <a:srgbClr val="1F2937"/>
                  </a:solidFill>
                  <a:latin typeface="+mn-lt"/>
                  <a:ea typeface="+mn-ea"/>
                  <a:cs typeface="+mn-cs"/>
                </a:rPr>
                <a:t>125.436 PFlops</a:t>
              </a:r>
            </a:p>
          </p:txBody>
        </p:sp>
        <p:sp>
          <p:nvSpPr>
            <p:cNvPr id="13" name="TextBox 13"/>
            <p:cNvSpPr txBox="1"/>
            <p:nvPr/>
          </p:nvSpPr>
          <p:spPr>
            <a:xfrm>
              <a:off x="3550158" y="2108359"/>
              <a:ext cx="1776730" cy="476059"/>
            </a:xfrm>
            <a:prstGeom prst="rect">
              <a:avLst/>
            </a:prstGeom>
            <a:noFill/>
            <a:ln>
              <a:noFill/>
            </a:ln>
          </p:spPr>
          <p:txBody>
            <a:bodyPr wrap="none" lIns="0" tIns="0" rIns="0" bIns="0" anchor="t" anchorCtr="0">
              <a:spAutoFit/>
            </a:bodyPr>
            <a:lstStyle/>
            <a:p>
              <a:pPr algn="l">
                <a:lnSpc>
                  <a:spcPts val="1785"/>
                </a:lnSpc>
              </a:pPr>
              <a:r>
                <a:rPr lang="zh-CN" sz="1280" dirty="0">
                  <a:solidFill>
                    <a:srgbClr val="1F2937"/>
                  </a:solidFill>
                  <a:latin typeface="+mn-lt"/>
                  <a:ea typeface="+mn-ea"/>
                  <a:cs typeface="+mn-cs"/>
                </a:rPr>
                <a:t>理论上每秒 1.25 × 10¹⁷</a:t>
              </a:r>
              <a:br/>
              <a:r>
                <a:rPr lang="zh-CN" sz="1280" dirty="0">
                  <a:solidFill>
                    <a:srgbClr val="1F2937"/>
                  </a:solidFill>
                  <a:latin typeface="+mn-lt"/>
                  <a:ea typeface="+mn-ea"/>
                  <a:cs typeface="+mn-cs"/>
                </a:rPr>
                <a:t>次浮点运算</a:t>
              </a:r>
            </a:p>
          </p:txBody>
        </p:sp>
        <p:sp>
          <p:nvSpPr>
            <p:cNvPr id="14" name="Rectangle 14"/>
            <p:cNvSpPr/>
            <p:nvPr/>
          </p:nvSpPr>
          <p:spPr>
            <a:xfrm>
              <a:off x="533400" y="2643188"/>
              <a:ext cx="5193982" cy="9525"/>
            </a:xfrm>
            <a:prstGeom prst="rect">
              <a:avLst/>
            </a:prstGeom>
            <a:solidFill>
              <a:srgbClr val="D9DFEA"/>
            </a:solidFill>
            <a:ln>
              <a:noFill/>
            </a:ln>
          </p:spPr>
        </p:sp>
        <p:sp>
          <p:nvSpPr>
            <p:cNvPr id="15" name="Rectangle 15"/>
            <p:cNvSpPr/>
            <p:nvPr/>
          </p:nvSpPr>
          <p:spPr>
            <a:xfrm>
              <a:off x="533400" y="2647950"/>
              <a:ext cx="5193982" cy="675322"/>
            </a:xfrm>
            <a:prstGeom prst="rect">
              <a:avLst/>
            </a:prstGeom>
            <a:solidFill>
              <a:srgbClr val="F4F6FB"/>
            </a:solidFill>
            <a:ln>
              <a:noFill/>
            </a:ln>
          </p:spPr>
        </p:sp>
        <p:sp>
          <p:nvSpPr>
            <p:cNvPr id="16" name="TextBox 16"/>
            <p:cNvSpPr txBox="1"/>
            <p:nvPr/>
          </p:nvSpPr>
          <p:spPr>
            <a:xfrm>
              <a:off x="641223" y="2783681"/>
              <a:ext cx="663194" cy="476059"/>
            </a:xfrm>
            <a:prstGeom prst="rect">
              <a:avLst/>
            </a:prstGeom>
            <a:noFill/>
            <a:ln>
              <a:noFill/>
            </a:ln>
          </p:spPr>
          <p:txBody>
            <a:bodyPr wrap="none" lIns="0" tIns="0" rIns="0" bIns="0" anchor="t" anchorCtr="0">
              <a:spAutoFit/>
            </a:bodyPr>
            <a:lstStyle/>
            <a:p>
              <a:pPr algn="l">
                <a:lnSpc>
                  <a:spcPts val="1785"/>
                </a:lnSpc>
              </a:pPr>
              <a:r>
                <a:rPr lang="zh-CN" sz="1280" b="1" dirty="0">
                  <a:solidFill>
                    <a:srgbClr val="1F2937"/>
                  </a:solidFill>
                  <a:latin typeface="+mn-lt"/>
                  <a:ea typeface="+mn-ea"/>
                  <a:cs typeface="+mn-cs"/>
                </a:rPr>
                <a:t>持续性能</a:t>
              </a:r>
              <a:br/>
              <a:r>
                <a:rPr lang="en-US" sz="1280" b="1" dirty="0">
                  <a:solidFill>
                    <a:srgbClr val="1F2937"/>
                  </a:solidFill>
                  <a:latin typeface="+mn-lt"/>
                  <a:ea typeface="+mn-ea"/>
                  <a:cs typeface="+mn-cs"/>
                </a:rPr>
                <a:t>Rₘₐₓ</a:t>
              </a:r>
            </a:p>
          </p:txBody>
        </p:sp>
        <p:sp>
          <p:nvSpPr>
            <p:cNvPr id="17" name="TextBox 17"/>
            <p:cNvSpPr txBox="1"/>
            <p:nvPr/>
          </p:nvSpPr>
          <p:spPr>
            <a:xfrm>
              <a:off x="1991868" y="2897029"/>
              <a:ext cx="1180460" cy="249364"/>
            </a:xfrm>
            <a:prstGeom prst="rect">
              <a:avLst/>
            </a:prstGeom>
            <a:noFill/>
            <a:ln>
              <a:noFill/>
            </a:ln>
          </p:spPr>
          <p:txBody>
            <a:bodyPr wrap="none" lIns="0" tIns="0" rIns="0" bIns="0" anchor="t" anchorCtr="0">
              <a:spAutoFit/>
            </a:bodyPr>
            <a:lstStyle/>
            <a:p>
              <a:pPr algn="l"/>
              <a:r>
                <a:rPr lang="en-US" sz="1280" dirty="0">
                  <a:solidFill>
                    <a:srgbClr val="1F2937"/>
                  </a:solidFill>
                  <a:latin typeface="+mn-lt"/>
                  <a:ea typeface="+mn-ea"/>
                  <a:cs typeface="+mn-cs"/>
                </a:rPr>
                <a:t>93.015 PFlops</a:t>
              </a:r>
            </a:p>
          </p:txBody>
        </p:sp>
        <p:sp>
          <p:nvSpPr>
            <p:cNvPr id="18" name="TextBox 18"/>
            <p:cNvSpPr txBox="1"/>
            <p:nvPr/>
          </p:nvSpPr>
          <p:spPr>
            <a:xfrm>
              <a:off x="3550158" y="2783681"/>
              <a:ext cx="1841754" cy="476059"/>
            </a:xfrm>
            <a:prstGeom prst="rect">
              <a:avLst/>
            </a:prstGeom>
            <a:noFill/>
            <a:ln>
              <a:noFill/>
            </a:ln>
          </p:spPr>
          <p:txBody>
            <a:bodyPr wrap="none" lIns="0" tIns="0" rIns="0" bIns="0" anchor="t" anchorCtr="0">
              <a:spAutoFit/>
            </a:bodyPr>
            <a:lstStyle/>
            <a:p>
              <a:pPr algn="l">
                <a:lnSpc>
                  <a:spcPts val="1785"/>
                </a:lnSpc>
              </a:pPr>
              <a:r>
                <a:rPr lang="zh-CN" sz="1280" dirty="0">
                  <a:solidFill>
                    <a:srgbClr val="1F2937"/>
                  </a:solidFill>
                  <a:latin typeface="+mn-lt"/>
                  <a:ea typeface="+mn-ea"/>
                  <a:cs typeface="+mn-cs"/>
                </a:rPr>
                <a:t>Linpack 实测，2016 年 6</a:t>
              </a:r>
              <a:br/>
              <a:r>
                <a:rPr lang="zh-CN" sz="1280" dirty="0">
                  <a:solidFill>
                    <a:srgbClr val="1F2937"/>
                  </a:solidFill>
                  <a:latin typeface="+mn-lt"/>
                  <a:ea typeface="+mn-ea"/>
                  <a:cs typeface="+mn-cs"/>
                </a:rPr>
                <a:t>月世界第一</a:t>
              </a:r>
            </a:p>
          </p:txBody>
        </p:sp>
        <p:sp>
          <p:nvSpPr>
            <p:cNvPr id="19" name="Rectangle 19"/>
            <p:cNvSpPr/>
            <p:nvPr/>
          </p:nvSpPr>
          <p:spPr>
            <a:xfrm>
              <a:off x="533400" y="3319462"/>
              <a:ext cx="5193982" cy="9525"/>
            </a:xfrm>
            <a:prstGeom prst="rect">
              <a:avLst/>
            </a:prstGeom>
            <a:solidFill>
              <a:srgbClr val="D9DFEA"/>
            </a:solidFill>
            <a:ln>
              <a:noFill/>
            </a:ln>
          </p:spPr>
        </p:sp>
        <p:sp>
          <p:nvSpPr>
            <p:cNvPr id="20" name="TextBox 20"/>
            <p:cNvSpPr txBox="1"/>
            <p:nvPr/>
          </p:nvSpPr>
          <p:spPr>
            <a:xfrm>
              <a:off x="641223" y="3459004"/>
              <a:ext cx="874522"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性能功耗比</a:t>
              </a:r>
            </a:p>
          </p:txBody>
        </p:sp>
        <p:sp>
          <p:nvSpPr>
            <p:cNvPr id="21" name="TextBox 21"/>
            <p:cNvSpPr txBox="1"/>
            <p:nvPr/>
          </p:nvSpPr>
          <p:spPr>
            <a:xfrm>
              <a:off x="1991868" y="3459004"/>
              <a:ext cx="1257235" cy="249364"/>
            </a:xfrm>
            <a:prstGeom prst="rect">
              <a:avLst/>
            </a:prstGeom>
            <a:noFill/>
            <a:ln>
              <a:noFill/>
            </a:ln>
          </p:spPr>
          <p:txBody>
            <a:bodyPr wrap="none" lIns="0" tIns="0" rIns="0" bIns="0" anchor="t" anchorCtr="0">
              <a:spAutoFit/>
            </a:bodyPr>
            <a:lstStyle/>
            <a:p>
              <a:pPr algn="l"/>
              <a:r>
                <a:rPr lang="en-US" sz="1280" dirty="0">
                  <a:solidFill>
                    <a:srgbClr val="1F2937"/>
                  </a:solidFill>
                  <a:latin typeface="+mn-lt"/>
                  <a:ea typeface="+mn-ea"/>
                  <a:cs typeface="+mn-cs"/>
                </a:rPr>
                <a:t>6051 MFlops/W</a:t>
              </a:r>
            </a:p>
          </p:txBody>
        </p:sp>
        <p:sp>
          <p:nvSpPr>
            <p:cNvPr id="22" name="TextBox 22"/>
            <p:cNvSpPr txBox="1"/>
            <p:nvPr/>
          </p:nvSpPr>
          <p:spPr>
            <a:xfrm>
              <a:off x="3550158" y="3459004"/>
              <a:ext cx="1046836"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同期世界第一</a:t>
              </a:r>
            </a:p>
          </p:txBody>
        </p:sp>
        <p:sp>
          <p:nvSpPr>
            <p:cNvPr id="23" name="Rectangle 23"/>
            <p:cNvSpPr/>
            <p:nvPr/>
          </p:nvSpPr>
          <p:spPr>
            <a:xfrm>
              <a:off x="533400" y="3768090"/>
              <a:ext cx="5193982" cy="9525"/>
            </a:xfrm>
            <a:prstGeom prst="rect">
              <a:avLst/>
            </a:prstGeom>
            <a:solidFill>
              <a:srgbClr val="D9DFEA"/>
            </a:solidFill>
            <a:ln>
              <a:noFill/>
            </a:ln>
          </p:spPr>
        </p:sp>
        <p:sp>
          <p:nvSpPr>
            <p:cNvPr id="24" name="Rectangle 24"/>
            <p:cNvSpPr/>
            <p:nvPr/>
          </p:nvSpPr>
          <p:spPr>
            <a:xfrm>
              <a:off x="533400" y="3772852"/>
              <a:ext cx="5193982" cy="675322"/>
            </a:xfrm>
            <a:prstGeom prst="rect">
              <a:avLst/>
            </a:prstGeom>
            <a:solidFill>
              <a:srgbClr val="F4F6FB"/>
            </a:solidFill>
            <a:ln>
              <a:noFill/>
            </a:ln>
          </p:spPr>
        </p:sp>
        <p:sp>
          <p:nvSpPr>
            <p:cNvPr id="25" name="TextBox 25"/>
            <p:cNvSpPr txBox="1"/>
            <p:nvPr/>
          </p:nvSpPr>
          <p:spPr>
            <a:xfrm>
              <a:off x="641223" y="4020979"/>
              <a:ext cx="702208"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指令系统</a:t>
              </a:r>
            </a:p>
          </p:txBody>
        </p:sp>
        <p:sp>
          <p:nvSpPr>
            <p:cNvPr id="26" name="TextBox 26"/>
            <p:cNvSpPr txBox="1"/>
            <p:nvPr/>
          </p:nvSpPr>
          <p:spPr>
            <a:xfrm>
              <a:off x="1991868" y="3907631"/>
              <a:ext cx="1215898" cy="476059"/>
            </a:xfrm>
            <a:prstGeom prst="rect">
              <a:avLst/>
            </a:prstGeom>
            <a:noFill/>
            <a:ln>
              <a:noFill/>
            </a:ln>
          </p:spPr>
          <p:txBody>
            <a:bodyPr wrap="none" lIns="0" tIns="0" rIns="0" bIns="0" anchor="t" anchorCtr="0">
              <a:spAutoFit/>
            </a:bodyPr>
            <a:lstStyle/>
            <a:p>
              <a:pPr algn="l">
                <a:lnSpc>
                  <a:spcPts val="1785"/>
                </a:lnSpc>
              </a:pPr>
              <a:r>
                <a:rPr lang="zh-CN" sz="1280" dirty="0">
                  <a:solidFill>
                    <a:srgbClr val="1F2937"/>
                  </a:solidFill>
                  <a:latin typeface="+mn-lt"/>
                  <a:ea typeface="+mn-ea"/>
                  <a:cs typeface="+mn-cs"/>
                </a:rPr>
                <a:t>64 位自主申威指</a:t>
              </a:r>
              <a:br/>
              <a:r>
                <a:rPr lang="zh-CN" sz="1280" dirty="0">
                  <a:solidFill>
                    <a:srgbClr val="1F2937"/>
                  </a:solidFill>
                  <a:latin typeface="+mn-lt"/>
                  <a:ea typeface="+mn-ea"/>
                  <a:cs typeface="+mn-cs"/>
                </a:rPr>
                <a:t>令系统</a:t>
              </a:r>
            </a:p>
          </p:txBody>
        </p:sp>
        <p:sp>
          <p:nvSpPr>
            <p:cNvPr id="27" name="TextBox 27"/>
            <p:cNvSpPr txBox="1"/>
            <p:nvPr/>
          </p:nvSpPr>
          <p:spPr>
            <a:xfrm>
              <a:off x="3550158" y="3907631"/>
              <a:ext cx="1280922" cy="476059"/>
            </a:xfrm>
            <a:prstGeom prst="rect">
              <a:avLst/>
            </a:prstGeom>
            <a:noFill/>
            <a:ln>
              <a:noFill/>
            </a:ln>
          </p:spPr>
          <p:txBody>
            <a:bodyPr wrap="none" lIns="0" tIns="0" rIns="0" bIns="0" anchor="t" anchorCtr="0">
              <a:spAutoFit/>
            </a:bodyPr>
            <a:lstStyle/>
            <a:p>
              <a:pPr algn="l">
                <a:lnSpc>
                  <a:spcPts val="1785"/>
                </a:lnSpc>
              </a:pPr>
              <a:r>
                <a:rPr lang="zh-CN" sz="1280" dirty="0">
                  <a:solidFill>
                    <a:srgbClr val="1F2937"/>
                  </a:solidFill>
                  <a:latin typeface="+mn-lt"/>
                  <a:ea typeface="+mn-ea"/>
                  <a:cs typeface="+mn-cs"/>
                </a:rPr>
                <a:t>操作系统 Sunway</a:t>
              </a:r>
              <a:br/>
              <a:r>
                <a:rPr lang="en-US" sz="1280" dirty="0">
                  <a:solidFill>
                    <a:srgbClr val="1F2937"/>
                  </a:solidFill>
                  <a:latin typeface="+mn-lt"/>
                  <a:ea typeface="+mn-ea"/>
                  <a:cs typeface="+mn-cs"/>
                </a:rPr>
                <a:t>RaiseOS 2.0.5</a:t>
              </a:r>
            </a:p>
          </p:txBody>
        </p:sp>
        <p:sp>
          <p:nvSpPr>
            <p:cNvPr id="28" name="Rectangle 28"/>
            <p:cNvSpPr/>
            <p:nvPr/>
          </p:nvSpPr>
          <p:spPr>
            <a:xfrm>
              <a:off x="533400" y="4443412"/>
              <a:ext cx="5193982" cy="9525"/>
            </a:xfrm>
            <a:prstGeom prst="rect">
              <a:avLst/>
            </a:prstGeom>
            <a:solidFill>
              <a:srgbClr val="D9DFEA"/>
            </a:solidFill>
            <a:ln>
              <a:noFill/>
            </a:ln>
          </p:spPr>
        </p:sp>
        <p:sp>
          <p:nvSpPr>
            <p:cNvPr id="29" name="TextBox 29"/>
            <p:cNvSpPr txBox="1"/>
            <p:nvPr/>
          </p:nvSpPr>
          <p:spPr>
            <a:xfrm>
              <a:off x="641223" y="4697254"/>
              <a:ext cx="529895"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处理器</a:t>
              </a:r>
            </a:p>
          </p:txBody>
        </p:sp>
        <p:sp>
          <p:nvSpPr>
            <p:cNvPr id="30" name="TextBox 30"/>
            <p:cNvSpPr txBox="1"/>
            <p:nvPr/>
          </p:nvSpPr>
          <p:spPr>
            <a:xfrm>
              <a:off x="1991868" y="4583906"/>
              <a:ext cx="996442" cy="476059"/>
            </a:xfrm>
            <a:prstGeom prst="rect">
              <a:avLst/>
            </a:prstGeom>
            <a:noFill/>
            <a:ln>
              <a:noFill/>
            </a:ln>
          </p:spPr>
          <p:txBody>
            <a:bodyPr wrap="none" lIns="0" tIns="0" rIns="0" bIns="0" anchor="t" anchorCtr="0">
              <a:spAutoFit/>
            </a:bodyPr>
            <a:lstStyle/>
            <a:p>
              <a:pPr algn="l">
                <a:lnSpc>
                  <a:spcPts val="1785"/>
                </a:lnSpc>
              </a:pPr>
              <a:r>
                <a:rPr lang="zh-CN" sz="1280" dirty="0">
                  <a:solidFill>
                    <a:srgbClr val="1F2937"/>
                  </a:solidFill>
                  <a:latin typeface="+mn-lt"/>
                  <a:ea typeface="+mn-ea"/>
                  <a:cs typeface="+mn-cs"/>
                </a:rPr>
                <a:t>40960 个申威</a:t>
              </a:r>
              <a:br/>
              <a:r>
                <a:rPr lang="zh-CN" sz="1280" dirty="0">
                  <a:solidFill>
                    <a:srgbClr val="1F2937"/>
                  </a:solidFill>
                  <a:latin typeface="+mn-lt"/>
                  <a:ea typeface="+mn-ea"/>
                  <a:cs typeface="+mn-cs"/>
                </a:rPr>
                <a:t>26010</a:t>
              </a:r>
            </a:p>
          </p:txBody>
        </p:sp>
        <p:sp>
          <p:nvSpPr>
            <p:cNvPr id="31" name="TextBox 31"/>
            <p:cNvSpPr txBox="1"/>
            <p:nvPr/>
          </p:nvSpPr>
          <p:spPr>
            <a:xfrm>
              <a:off x="3550158" y="4583906"/>
              <a:ext cx="1923034" cy="476059"/>
            </a:xfrm>
            <a:prstGeom prst="rect">
              <a:avLst/>
            </a:prstGeom>
            <a:noFill/>
            <a:ln>
              <a:noFill/>
            </a:ln>
          </p:spPr>
          <p:txBody>
            <a:bodyPr wrap="none" lIns="0" tIns="0" rIns="0" bIns="0" anchor="t" anchorCtr="0">
              <a:spAutoFit/>
            </a:bodyPr>
            <a:lstStyle/>
            <a:p>
              <a:pPr algn="l">
                <a:lnSpc>
                  <a:spcPts val="1785"/>
                </a:lnSpc>
              </a:pPr>
              <a:r>
                <a:rPr lang="zh-CN" sz="1280" dirty="0">
                  <a:solidFill>
                    <a:srgbClr val="1F2937"/>
                  </a:solidFill>
                  <a:latin typeface="+mn-lt"/>
                  <a:ea typeface="+mn-ea"/>
                  <a:cs typeface="+mn-cs"/>
                </a:rPr>
                <a:t>每个 260 核，全机约 1065</a:t>
              </a:r>
              <a:br/>
              <a:r>
                <a:rPr lang="zh-CN" sz="1280" dirty="0">
                  <a:solidFill>
                    <a:srgbClr val="1F2937"/>
                  </a:solidFill>
                  <a:latin typeface="+mn-lt"/>
                  <a:ea typeface="+mn-ea"/>
                  <a:cs typeface="+mn-cs"/>
                </a:rPr>
                <a:t>万核</a:t>
              </a:r>
            </a:p>
          </p:txBody>
        </p:sp>
        <p:sp>
          <p:nvSpPr>
            <p:cNvPr id="32" name="Rectangle 32"/>
            <p:cNvSpPr/>
            <p:nvPr/>
          </p:nvSpPr>
          <p:spPr>
            <a:xfrm>
              <a:off x="533400" y="1524000"/>
              <a:ext cx="5193982" cy="3599498"/>
            </a:xfrm>
            <a:prstGeom prst="rect">
              <a:avLst/>
            </a:prstGeom>
            <a:noFill/>
            <a:ln w="14288">
              <a:solidFill>
                <a:srgbClr val="D9DFEA"/>
              </a:solidFill>
            </a:ln>
          </p:spPr>
        </p:sp>
        <p:sp>
          <p:nvSpPr>
            <p:cNvPr id="33" name="Rectangle 33"/>
            <p:cNvSpPr/>
            <p:nvPr/>
          </p:nvSpPr>
          <p:spPr>
            <a:xfrm>
              <a:off x="1879282" y="1524000"/>
              <a:ext cx="9525" cy="3599498"/>
            </a:xfrm>
            <a:prstGeom prst="rect">
              <a:avLst/>
            </a:prstGeom>
            <a:solidFill>
              <a:srgbClr val="D9DFEA"/>
            </a:solidFill>
            <a:ln>
              <a:noFill/>
            </a:ln>
          </p:spPr>
        </p:sp>
        <p:sp>
          <p:nvSpPr>
            <p:cNvPr id="34" name="Rectangle 34"/>
            <p:cNvSpPr/>
            <p:nvPr/>
          </p:nvSpPr>
          <p:spPr>
            <a:xfrm>
              <a:off x="3437572" y="1524000"/>
              <a:ext cx="9525" cy="3599498"/>
            </a:xfrm>
            <a:prstGeom prst="rect">
              <a:avLst/>
            </a:prstGeom>
            <a:solidFill>
              <a:srgbClr val="D9DFEA"/>
            </a:solidFill>
            <a:ln>
              <a:noFill/>
            </a:ln>
          </p:spPr>
        </p:sp>
      </p:grpSp>
      <p:grpSp>
        <p:nvGrpSpPr>
          <p:cNvPr id="42" name="c1-callout-2"/>
          <p:cNvGrpSpPr/>
          <p:nvPr/>
        </p:nvGrpSpPr>
        <p:grpSpPr>
          <a:xfrm>
            <a:off x="533400" y="5313998"/>
            <a:ext cx="5193982" cy="782955"/>
            <a:chOff x="533400" y="5313998"/>
            <a:chExt cx="5193982" cy="782955"/>
          </a:xfrm>
        </p:grpSpPr>
        <p:sp>
          <p:nvSpPr>
            <p:cNvPr id="36" name="Rectangle 36"/>
            <p:cNvSpPr/>
            <p:nvPr/>
          </p:nvSpPr>
          <p:spPr>
            <a:xfrm>
              <a:off x="533400" y="5313998"/>
              <a:ext cx="5193982" cy="782955"/>
            </a:xfrm>
            <a:prstGeom prst="roundRect">
              <a:avLst>
                <a:gd name="adj" fmla="val 14599"/>
              </a:avLst>
            </a:prstGeom>
            <a:solidFill>
              <a:srgbClr val="F4F6FB"/>
            </a:solidFill>
            <a:ln>
              <a:noFill/>
            </a:ln>
          </p:spPr>
        </p:sp>
        <p:grpSp>
          <p:nvGrpSpPr>
            <p:cNvPr id="40" name="Group 40"/>
            <p:cNvGrpSpPr/>
            <p:nvPr/>
          </p:nvGrpSpPr>
          <p:grpSpPr>
            <a:xfrm>
              <a:off x="738188" y="5605463"/>
              <a:ext cx="200026" cy="200026"/>
              <a:chOff x="738188" y="5605463"/>
              <a:chExt cx="200026" cy="200026"/>
            </a:xfrm>
          </p:grpSpPr>
          <p:sp>
            <p:nvSpPr>
              <p:cNvPr id="37" name="Freeform 37"/>
              <p:cNvSpPr/>
              <p:nvPr/>
            </p:nvSpPr>
            <p:spPr>
              <a:xfrm>
                <a:off x="738188" y="5605463"/>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1F2937"/>
                </a:solidFill>
              </a:ln>
            </p:spPr>
          </p:sp>
          <p:sp>
            <p:nvSpPr>
              <p:cNvPr id="38" name="Freeform 38"/>
              <p:cNvSpPr/>
              <p:nvPr/>
            </p:nvSpPr>
            <p:spPr>
              <a:xfrm>
                <a:off x="838200" y="5672138"/>
                <a:ext cx="9525" cy="9525"/>
              </a:xfrm>
              <a:custGeom>
                <a:avLst/>
                <a:gdLst/>
                <a:ahLst/>
                <a:cxnLst/>
                <a:rect l="l" t="t" r="r" b="b"/>
                <a:pathLst>
                  <a:path w="9525" h="9525">
                    <a:moveTo>
                      <a:pt x="0" y="0"/>
                    </a:moveTo>
                    <a:lnTo>
                      <a:pt x="111" y="0"/>
                    </a:lnTo>
                  </a:path>
                </a:pathLst>
              </a:custGeom>
              <a:noFill/>
              <a:ln w="22225">
                <a:solidFill>
                  <a:srgbClr val="1F2937"/>
                </a:solidFill>
              </a:ln>
            </p:spPr>
          </p:sp>
          <p:sp>
            <p:nvSpPr>
              <p:cNvPr id="39" name="Freeform 39"/>
              <p:cNvSpPr/>
              <p:nvPr/>
            </p:nvSpPr>
            <p:spPr>
              <a:xfrm>
                <a:off x="827088" y="5705475"/>
                <a:ext cx="22225" cy="44450"/>
              </a:xfrm>
              <a:custGeom>
                <a:avLst/>
                <a:gdLst/>
                <a:ahLst/>
                <a:cxnLst/>
                <a:rect l="l" t="t" r="r" b="b"/>
                <a:pathLst>
                  <a:path w="22225" h="44450">
                    <a:moveTo>
                      <a:pt x="0" y="0"/>
                    </a:moveTo>
                    <a:lnTo>
                      <a:pt x="11113" y="0"/>
                    </a:lnTo>
                    <a:lnTo>
                      <a:pt x="11113" y="44450"/>
                    </a:lnTo>
                    <a:lnTo>
                      <a:pt x="22225" y="44450"/>
                    </a:lnTo>
                  </a:path>
                </a:pathLst>
              </a:custGeom>
              <a:noFill/>
              <a:ln w="22225">
                <a:solidFill>
                  <a:srgbClr val="1F2937"/>
                </a:solidFill>
              </a:ln>
            </p:spPr>
          </p:sp>
        </p:grpSp>
        <p:sp>
          <p:nvSpPr>
            <p:cNvPr id="41" name="TextBox 41"/>
            <p:cNvSpPr txBox="1"/>
            <p:nvPr/>
          </p:nvSpPr>
          <p:spPr>
            <a:xfrm>
              <a:off x="1040130" y="5462588"/>
              <a:ext cx="4234815" cy="569595"/>
            </a:xfrm>
            <a:prstGeom prst="rect">
              <a:avLst/>
            </a:prstGeom>
            <a:noFill/>
            <a:ln>
              <a:noFill/>
            </a:ln>
          </p:spPr>
          <p:txBody>
            <a:bodyPr wrap="none" lIns="0" tIns="0" rIns="0" bIns="0" anchor="t" anchorCtr="0">
              <a:spAutoFit/>
            </a:bodyPr>
            <a:lstStyle/>
            <a:p>
              <a:pPr algn="l">
                <a:lnSpc>
                  <a:spcPts val="2175"/>
                </a:lnSpc>
              </a:pPr>
              <a:r>
                <a:rPr lang="zh-CN" sz="1500" dirty="0">
                  <a:solidFill>
                    <a:srgbClr val="1F2937"/>
                  </a:solidFill>
                  <a:latin typeface="+mn-lt"/>
                  <a:ea typeface="+mn-ea"/>
                  <a:cs typeface="+mn-cs"/>
                </a:rPr>
                <a:t>国产化程度：天河系列约 70%，济南超算中心的神</a:t>
              </a:r>
              <a:br/>
              <a:r>
                <a:rPr lang="zh-CN" sz="1500" dirty="0">
                  <a:solidFill>
                    <a:srgbClr val="1F2937"/>
                  </a:solidFill>
                  <a:latin typeface="+mn-lt"/>
                  <a:ea typeface="+mn-ea"/>
                  <a:cs typeface="+mn-cs"/>
                </a:rPr>
                <a:t>威蓝光 85%，神威·太湖之光 100%。</a:t>
              </a:r>
            </a:p>
          </p:txBody>
        </p:sp>
      </p:grpSp>
      <p:grpSp>
        <p:nvGrpSpPr>
          <p:cNvPr id="60" name="c2-steps-1"/>
          <p:cNvGrpSpPr/>
          <p:nvPr/>
        </p:nvGrpSpPr>
        <p:grpSpPr>
          <a:xfrm>
            <a:off x="6032182" y="1533525"/>
            <a:ext cx="5431288" cy="2998756"/>
            <a:chOff x="6032182" y="1533525"/>
            <a:chExt cx="5431288" cy="2998756"/>
          </a:xfrm>
        </p:grpSpPr>
        <p:sp>
          <p:nvSpPr>
            <p:cNvPr id="43" name="Rectangle 43"/>
            <p:cNvSpPr/>
            <p:nvPr/>
          </p:nvSpPr>
          <p:spPr>
            <a:xfrm>
              <a:off x="6165532" y="1676400"/>
              <a:ext cx="19050" cy="2186940"/>
            </a:xfrm>
            <a:prstGeom prst="rect">
              <a:avLst/>
            </a:prstGeom>
            <a:solidFill>
              <a:srgbClr val="D9DFEA"/>
            </a:solidFill>
            <a:ln>
              <a:noFill/>
            </a:ln>
          </p:spPr>
        </p:sp>
        <p:sp>
          <p:nvSpPr>
            <p:cNvPr id="44" name="Ellipse 44"/>
            <p:cNvSpPr/>
            <p:nvPr/>
          </p:nvSpPr>
          <p:spPr>
            <a:xfrm>
              <a:off x="6032182" y="1533525"/>
              <a:ext cx="285750" cy="285750"/>
            </a:xfrm>
            <a:prstGeom prst="ellipse">
              <a:avLst/>
            </a:prstGeom>
            <a:solidFill>
              <a:srgbClr val="334E68"/>
            </a:solidFill>
            <a:ln>
              <a:noFill/>
            </a:ln>
          </p:spPr>
        </p:sp>
        <p:sp>
          <p:nvSpPr>
            <p:cNvPr id="45" name="TextBox 45"/>
            <p:cNvSpPr txBox="1"/>
            <p:nvPr/>
          </p:nvSpPr>
          <p:spPr>
            <a:xfrm>
              <a:off x="6125806" y="1607344"/>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1</a:t>
              </a:r>
            </a:p>
          </p:txBody>
        </p:sp>
        <p:sp>
          <p:nvSpPr>
            <p:cNvPr id="46" name="Ellipse 46"/>
            <p:cNvSpPr/>
            <p:nvPr/>
          </p:nvSpPr>
          <p:spPr>
            <a:xfrm>
              <a:off x="6032182" y="2184082"/>
              <a:ext cx="285750" cy="285750"/>
            </a:xfrm>
            <a:prstGeom prst="ellipse">
              <a:avLst/>
            </a:prstGeom>
            <a:solidFill>
              <a:srgbClr val="334E68"/>
            </a:solidFill>
            <a:ln>
              <a:noFill/>
            </a:ln>
          </p:spPr>
        </p:sp>
        <p:sp>
          <p:nvSpPr>
            <p:cNvPr id="47" name="TextBox 47"/>
            <p:cNvSpPr txBox="1"/>
            <p:nvPr/>
          </p:nvSpPr>
          <p:spPr>
            <a:xfrm>
              <a:off x="6125806" y="2257901"/>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2</a:t>
              </a:r>
            </a:p>
          </p:txBody>
        </p:sp>
        <p:sp>
          <p:nvSpPr>
            <p:cNvPr id="48" name="Ellipse 48"/>
            <p:cNvSpPr/>
            <p:nvPr/>
          </p:nvSpPr>
          <p:spPr>
            <a:xfrm>
              <a:off x="6032182" y="3069908"/>
              <a:ext cx="285750" cy="285750"/>
            </a:xfrm>
            <a:prstGeom prst="ellipse">
              <a:avLst/>
            </a:prstGeom>
            <a:solidFill>
              <a:srgbClr val="334E68"/>
            </a:solidFill>
            <a:ln>
              <a:noFill/>
            </a:ln>
          </p:spPr>
        </p:sp>
        <p:sp>
          <p:nvSpPr>
            <p:cNvPr id="49" name="TextBox 49"/>
            <p:cNvSpPr txBox="1"/>
            <p:nvPr/>
          </p:nvSpPr>
          <p:spPr>
            <a:xfrm>
              <a:off x="6125806" y="3143726"/>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3</a:t>
              </a:r>
            </a:p>
          </p:txBody>
        </p:sp>
        <p:sp>
          <p:nvSpPr>
            <p:cNvPr id="50" name="Ellipse 50"/>
            <p:cNvSpPr/>
            <p:nvPr/>
          </p:nvSpPr>
          <p:spPr>
            <a:xfrm>
              <a:off x="6032182" y="3720465"/>
              <a:ext cx="285750" cy="285750"/>
            </a:xfrm>
            <a:prstGeom prst="ellipse">
              <a:avLst/>
            </a:prstGeom>
            <a:solidFill>
              <a:srgbClr val="334E68"/>
            </a:solidFill>
            <a:ln>
              <a:noFill/>
            </a:ln>
          </p:spPr>
        </p:sp>
        <p:sp>
          <p:nvSpPr>
            <p:cNvPr id="51" name="TextBox 51"/>
            <p:cNvSpPr txBox="1"/>
            <p:nvPr/>
          </p:nvSpPr>
          <p:spPr>
            <a:xfrm>
              <a:off x="6125806" y="3794284"/>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4</a:t>
              </a:r>
            </a:p>
          </p:txBody>
        </p:sp>
        <p:sp>
          <p:nvSpPr>
            <p:cNvPr id="52" name="TextBox 52"/>
            <p:cNvSpPr txBox="1"/>
            <p:nvPr/>
          </p:nvSpPr>
          <p:spPr>
            <a:xfrm>
              <a:off x="6443662" y="1567815"/>
              <a:ext cx="1024890"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处理器个数</a:t>
              </a:r>
            </a:p>
          </p:txBody>
        </p:sp>
        <p:sp>
          <p:nvSpPr>
            <p:cNvPr id="53" name="TextBox 53"/>
            <p:cNvSpPr txBox="1"/>
            <p:nvPr/>
          </p:nvSpPr>
          <p:spPr>
            <a:xfrm>
              <a:off x="6444806" y="1861661"/>
              <a:ext cx="5018664"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2 个/板 × 4 板/插件 × 32 插件/组 × 4 组/机柜 × 40 机柜 = 40960</a:t>
              </a:r>
            </a:p>
          </p:txBody>
        </p:sp>
        <p:sp>
          <p:nvSpPr>
            <p:cNvPr id="54" name="TextBox 54"/>
            <p:cNvSpPr txBox="1"/>
            <p:nvPr/>
          </p:nvSpPr>
          <p:spPr>
            <a:xfrm>
              <a:off x="6443662" y="2218372"/>
              <a:ext cx="1024890"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单芯片峰值</a:t>
              </a:r>
            </a:p>
          </p:txBody>
        </p:sp>
        <p:sp>
          <p:nvSpPr>
            <p:cNvPr id="55" name="TextBox 55"/>
            <p:cNvSpPr txBox="1"/>
            <p:nvPr/>
          </p:nvSpPr>
          <p:spPr>
            <a:xfrm>
              <a:off x="6444806" y="2512219"/>
              <a:ext cx="4954778" cy="483680"/>
            </a:xfrm>
            <a:prstGeom prst="rect">
              <a:avLst/>
            </a:prstGeom>
            <a:noFill/>
            <a:ln>
              <a:noFill/>
            </a:ln>
          </p:spPr>
          <p:txBody>
            <a:bodyPr wrap="none" lIns="0" tIns="0" rIns="0" bIns="0" anchor="t" anchorCtr="0">
              <a:spAutoFit/>
            </a:bodyPr>
            <a:lstStyle/>
            <a:p>
              <a:pPr algn="l">
                <a:lnSpc>
                  <a:spcPts val="1845"/>
                </a:lnSpc>
              </a:pPr>
              <a:r>
                <a:rPr lang="zh-CN" sz="1280" dirty="0">
                  <a:solidFill>
                    <a:srgbClr val="1F2937"/>
                  </a:solidFill>
                  <a:latin typeface="+mn-lt"/>
                  <a:ea typeface="+mn-ea"/>
                  <a:cs typeface="+mn-cs"/>
                </a:rPr>
                <a:t>主频 1.45 GHz；每周期 256 个从核各做 8 次、4 个主核各做 16 次双</a:t>
              </a:r>
              <a:br/>
              <a:r>
                <a:rPr lang="zh-CN" sz="1280" dirty="0">
                  <a:solidFill>
                    <a:srgbClr val="1F2937"/>
                  </a:solidFill>
                  <a:latin typeface="+mn-lt"/>
                  <a:ea typeface="+mn-ea"/>
                  <a:cs typeface="+mn-cs"/>
                </a:rPr>
                <a:t>精度运算，共 2112 次，1.45 GHz × 2112 ≈ 3.0624 TFlops</a:t>
              </a:r>
            </a:p>
          </p:txBody>
        </p:sp>
        <p:sp>
          <p:nvSpPr>
            <p:cNvPr id="56" name="TextBox 56"/>
            <p:cNvSpPr txBox="1"/>
            <p:nvPr/>
          </p:nvSpPr>
          <p:spPr>
            <a:xfrm>
              <a:off x="6443662" y="3104198"/>
              <a:ext cx="822960"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全机峰值</a:t>
              </a:r>
            </a:p>
          </p:txBody>
        </p:sp>
        <p:sp>
          <p:nvSpPr>
            <p:cNvPr id="57" name="TextBox 57"/>
            <p:cNvSpPr txBox="1"/>
            <p:nvPr/>
          </p:nvSpPr>
          <p:spPr>
            <a:xfrm>
              <a:off x="6444806" y="3397091"/>
              <a:ext cx="4709638"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40960 × 3.0624 TFlops ≈ 125.436 PFlops，与官方数字一致</a:t>
              </a:r>
            </a:p>
          </p:txBody>
        </p:sp>
        <p:sp>
          <p:nvSpPr>
            <p:cNvPr id="58" name="TextBox 58"/>
            <p:cNvSpPr txBox="1"/>
            <p:nvPr/>
          </p:nvSpPr>
          <p:spPr>
            <a:xfrm>
              <a:off x="6443662" y="3754755"/>
              <a:ext cx="1226820"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利用率与功耗</a:t>
              </a:r>
            </a:p>
          </p:txBody>
        </p:sp>
        <p:sp>
          <p:nvSpPr>
            <p:cNvPr id="59" name="TextBox 59"/>
            <p:cNvSpPr txBox="1"/>
            <p:nvPr/>
          </p:nvSpPr>
          <p:spPr>
            <a:xfrm>
              <a:off x="6444806" y="4048601"/>
              <a:ext cx="4605274" cy="483680"/>
            </a:xfrm>
            <a:prstGeom prst="rect">
              <a:avLst/>
            </a:prstGeom>
            <a:noFill/>
            <a:ln>
              <a:noFill/>
            </a:ln>
          </p:spPr>
          <p:txBody>
            <a:bodyPr wrap="none" lIns="0" tIns="0" rIns="0" bIns="0" anchor="t" anchorCtr="0">
              <a:spAutoFit/>
            </a:bodyPr>
            <a:lstStyle/>
            <a:p>
              <a:pPr algn="l">
                <a:lnSpc>
                  <a:spcPts val="1845"/>
                </a:lnSpc>
              </a:pPr>
              <a:r>
                <a:rPr lang="zh-CN" sz="1280" dirty="0">
                  <a:solidFill>
                    <a:srgbClr val="1F2937"/>
                  </a:solidFill>
                  <a:latin typeface="+mn-lt"/>
                  <a:ea typeface="+mn-ea"/>
                  <a:cs typeface="+mn-cs"/>
                </a:rPr>
                <a:t>U = 93.015 / 125.436 ≈ 74.2%；功耗 ≈ 93.015 PFlops ÷ 6051</a:t>
              </a:r>
              <a:br/>
              <a:r>
                <a:rPr lang="en-US" sz="1280" dirty="0">
                  <a:solidFill>
                    <a:srgbClr val="1F2937"/>
                  </a:solidFill>
                  <a:latin typeface="+mn-lt"/>
                  <a:ea typeface="+mn-ea"/>
                  <a:cs typeface="+mn-cs"/>
                </a:rPr>
                <a:t>MFlops/W ≈ 15.4 MW</a:t>
              </a:r>
            </a:p>
          </p:txBody>
        </p:sp>
      </p:grpSp>
      <p:grpSp>
        <p:nvGrpSpPr>
          <p:cNvPr id="67" name="c2-callout-2"/>
          <p:cNvGrpSpPr/>
          <p:nvPr/>
        </p:nvGrpSpPr>
        <p:grpSpPr>
          <a:xfrm>
            <a:off x="6032182" y="4711065"/>
            <a:ext cx="5626418" cy="1385888"/>
            <a:chOff x="6032182" y="4711065"/>
            <a:chExt cx="5626418" cy="1385888"/>
          </a:xfrm>
        </p:grpSpPr>
        <p:sp>
          <p:nvSpPr>
            <p:cNvPr id="61" name="Rectangle 61"/>
            <p:cNvSpPr/>
            <p:nvPr/>
          </p:nvSpPr>
          <p:spPr>
            <a:xfrm>
              <a:off x="6032182" y="4711065"/>
              <a:ext cx="5626418" cy="1385888"/>
            </a:xfrm>
            <a:prstGeom prst="roundRect">
              <a:avLst>
                <a:gd name="adj" fmla="val 8247"/>
              </a:avLst>
            </a:prstGeom>
            <a:solidFill>
              <a:srgbClr val="FDEEE7"/>
            </a:solidFill>
            <a:ln>
              <a:noFill/>
            </a:ln>
          </p:spPr>
        </p:sp>
        <p:grpSp>
          <p:nvGrpSpPr>
            <p:cNvPr id="65" name="Group 65"/>
            <p:cNvGrpSpPr/>
            <p:nvPr/>
          </p:nvGrpSpPr>
          <p:grpSpPr>
            <a:xfrm>
              <a:off x="6236970" y="5304473"/>
              <a:ext cx="200026" cy="200025"/>
              <a:chOff x="6236970" y="5304473"/>
              <a:chExt cx="200026" cy="200025"/>
            </a:xfrm>
          </p:grpSpPr>
          <p:sp>
            <p:nvSpPr>
              <p:cNvPr id="62" name="Freeform 62"/>
              <p:cNvSpPr/>
              <p:nvPr/>
            </p:nvSpPr>
            <p:spPr>
              <a:xfrm>
                <a:off x="6236970" y="5304473"/>
                <a:ext cx="200026" cy="100013"/>
              </a:xfrm>
              <a:custGeom>
                <a:avLst/>
                <a:gdLst/>
                <a:ahLst/>
                <a:cxnLst/>
                <a:rect l="l" t="t" r="r" b="b"/>
                <a:pathLst>
                  <a:path w="200026" h="100013">
                    <a:moveTo>
                      <a:pt x="0" y="100013"/>
                    </a:moveTo>
                    <a:lnTo>
                      <a:pt x="11113" y="100013"/>
                    </a:lnTo>
                    <a:moveTo>
                      <a:pt x="100013" y="0"/>
                    </a:moveTo>
                    <a:lnTo>
                      <a:pt x="100013" y="11113"/>
                    </a:lnTo>
                    <a:moveTo>
                      <a:pt x="188913" y="100013"/>
                    </a:moveTo>
                    <a:lnTo>
                      <a:pt x="200026" y="100013"/>
                    </a:lnTo>
                    <a:moveTo>
                      <a:pt x="28893" y="28893"/>
                    </a:moveTo>
                    <a:lnTo>
                      <a:pt x="36671" y="36671"/>
                    </a:lnTo>
                    <a:moveTo>
                      <a:pt x="171133" y="28893"/>
                    </a:moveTo>
                    <a:lnTo>
                      <a:pt x="163354" y="36671"/>
                    </a:lnTo>
                  </a:path>
                </a:pathLst>
              </a:custGeom>
              <a:noFill/>
              <a:ln w="22225">
                <a:solidFill>
                  <a:srgbClr val="C2410C"/>
                </a:solidFill>
              </a:ln>
            </p:spPr>
          </p:sp>
          <p:sp>
            <p:nvSpPr>
              <p:cNvPr id="63" name="Freeform 63"/>
              <p:cNvSpPr/>
              <p:nvPr/>
            </p:nvSpPr>
            <p:spPr>
              <a:xfrm>
                <a:off x="6276709" y="5348923"/>
                <a:ext cx="120548" cy="155575"/>
              </a:xfrm>
              <a:custGeom>
                <a:avLst/>
                <a:gdLst/>
                <a:ahLst/>
                <a:cxnLst/>
                <a:rect l="l" t="t" r="r" b="b"/>
                <a:pathLst>
                  <a:path w="120548" h="155575">
                    <a:moveTo>
                      <a:pt x="26937" y="100013"/>
                    </a:moveTo>
                    <a:cubicBezTo>
                      <a:pt x="7804" y="85663"/>
                      <a:pt x="0" y="60681"/>
                      <a:pt x="7563" y="37992"/>
                    </a:cubicBezTo>
                    <a:cubicBezTo>
                      <a:pt x="15126" y="15304"/>
                      <a:pt x="36358" y="0"/>
                      <a:pt x="60274" y="0"/>
                    </a:cubicBezTo>
                    <a:cubicBezTo>
                      <a:pt x="84190" y="0"/>
                      <a:pt x="105423" y="15304"/>
                      <a:pt x="112986" y="37992"/>
                    </a:cubicBezTo>
                    <a:cubicBezTo>
                      <a:pt x="120548" y="60681"/>
                      <a:pt x="112745" y="85663"/>
                      <a:pt x="93612" y="100013"/>
                    </a:cubicBezTo>
                    <a:cubicBezTo>
                      <a:pt x="84812" y="108723"/>
                      <a:pt x="80686" y="121103"/>
                      <a:pt x="82499" y="133350"/>
                    </a:cubicBezTo>
                    <a:cubicBezTo>
                      <a:pt x="82499" y="145625"/>
                      <a:pt x="72549" y="155575"/>
                      <a:pt x="60274" y="155575"/>
                    </a:cubicBezTo>
                    <a:cubicBezTo>
                      <a:pt x="48000" y="155575"/>
                      <a:pt x="38049" y="145625"/>
                      <a:pt x="38049" y="133350"/>
                    </a:cubicBezTo>
                    <a:cubicBezTo>
                      <a:pt x="39862" y="121103"/>
                      <a:pt x="35736" y="108723"/>
                      <a:pt x="26937" y="100013"/>
                    </a:cubicBezTo>
                  </a:path>
                </a:pathLst>
              </a:custGeom>
              <a:noFill/>
              <a:ln w="22225">
                <a:solidFill>
                  <a:srgbClr val="C2410C"/>
                </a:solidFill>
              </a:ln>
            </p:spPr>
          </p:sp>
          <p:sp>
            <p:nvSpPr>
              <p:cNvPr id="64" name="Freeform 64"/>
              <p:cNvSpPr/>
              <p:nvPr/>
            </p:nvSpPr>
            <p:spPr>
              <a:xfrm>
                <a:off x="6311424" y="5460048"/>
                <a:ext cx="51118" cy="9525"/>
              </a:xfrm>
              <a:custGeom>
                <a:avLst/>
                <a:gdLst/>
                <a:ahLst/>
                <a:cxnLst/>
                <a:rect l="l" t="t" r="r" b="b"/>
                <a:pathLst>
                  <a:path w="51118" h="9525">
                    <a:moveTo>
                      <a:pt x="0" y="0"/>
                    </a:moveTo>
                    <a:lnTo>
                      <a:pt x="51118" y="0"/>
                    </a:lnTo>
                  </a:path>
                </a:pathLst>
              </a:custGeom>
              <a:noFill/>
              <a:ln w="22225">
                <a:solidFill>
                  <a:srgbClr val="C2410C"/>
                </a:solidFill>
              </a:ln>
            </p:spPr>
          </p:sp>
        </p:grpSp>
        <p:sp>
          <p:nvSpPr>
            <p:cNvPr id="66" name="TextBox 66"/>
            <p:cNvSpPr txBox="1"/>
            <p:nvPr/>
          </p:nvSpPr>
          <p:spPr>
            <a:xfrm>
              <a:off x="6538912" y="4885372"/>
              <a:ext cx="4596765" cy="1122045"/>
            </a:xfrm>
            <a:prstGeom prst="rect">
              <a:avLst/>
            </a:prstGeom>
            <a:noFill/>
            <a:ln>
              <a:noFill/>
            </a:ln>
          </p:spPr>
          <p:txBody>
            <a:bodyPr wrap="none" lIns="0" tIns="0" rIns="0" bIns="0" anchor="t" anchorCtr="0">
              <a:spAutoFit/>
            </a:bodyPr>
            <a:lstStyle/>
            <a:p>
              <a:pPr algn="l">
                <a:lnSpc>
                  <a:spcPts val="2175"/>
                </a:lnSpc>
              </a:pPr>
              <a:r>
                <a:rPr lang="zh-CN" sz="1500" dirty="0">
                  <a:solidFill>
                    <a:srgbClr val="C2410C"/>
                  </a:solidFill>
                  <a:latin typeface="+mn-lt"/>
                  <a:ea typeface="+mn-ea"/>
                  <a:cs typeface="+mn-cs"/>
                </a:rPr>
                <a:t>原课件说它比第二名天河二号“快出近两倍”（第13</a:t>
              </a:r>
              <a:br/>
              <a:r>
                <a:rPr lang="zh-CN" sz="1500" dirty="0">
                  <a:solidFill>
                    <a:srgbClr val="C2410C"/>
                  </a:solidFill>
                  <a:latin typeface="+mn-lt"/>
                  <a:ea typeface="+mn-ea"/>
                  <a:cs typeface="+mn-cs"/>
                </a:rPr>
                <a:t>页）、“3 倍于第二名”（第14页），说的是同一件事：</a:t>
              </a:r>
              <a:br/>
              <a:r>
                <a:rPr lang="zh-CN" sz="1500" dirty="0">
                  <a:solidFill>
                    <a:srgbClr val="C2410C"/>
                  </a:solidFill>
                  <a:latin typeface="+mn-lt"/>
                  <a:ea typeface="+mn-ea"/>
                  <a:cs typeface="+mn-cs"/>
                </a:rPr>
                <a:t>93.0 / 33.9 ≈ 2.75 倍。能效约是天河二号的 3.2 倍</a:t>
              </a:r>
              <a:br/>
              <a:r>
                <a:rPr lang="zh-CN" sz="1500" dirty="0">
                  <a:solidFill>
                    <a:srgbClr val="C2410C"/>
                  </a:solidFill>
                  <a:latin typeface="+mn-lt"/>
                  <a:ea typeface="+mn-ea"/>
                  <a:cs typeface="+mn-cs"/>
                </a:rPr>
                <a:t>（6051 / 1902）。</a:t>
              </a:r>
            </a:p>
          </p:txBody>
        </p:sp>
      </p:grpSp>
      <p:grpSp>
        <p:nvGrpSpPr>
          <p:cNvPr id="70" name="footer"/>
          <p:cNvGrpSpPr/>
          <p:nvPr/>
        </p:nvGrpSpPr>
        <p:grpSpPr>
          <a:xfrm>
            <a:off x="528447" y="6581299"/>
            <a:ext cx="11135106" cy="190690"/>
            <a:chOff x="528447" y="6581299"/>
            <a:chExt cx="11135106" cy="190690"/>
          </a:xfrm>
        </p:grpSpPr>
        <p:sp>
          <p:nvSpPr>
            <p:cNvPr id="68" name="TextBox 68"/>
            <p:cNvSpPr txBox="1"/>
            <p:nvPr/>
          </p:nvSpPr>
          <p:spPr>
            <a:xfrm>
              <a:off x="528447" y="6581299"/>
              <a:ext cx="2120748"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并行与分布式计算 · 第7章 体系结构</a:t>
              </a:r>
            </a:p>
          </p:txBody>
        </p:sp>
        <p:sp>
          <p:nvSpPr>
            <p:cNvPr id="69" name="TextBox 69"/>
            <p:cNvSpPr txBox="1"/>
            <p:nvPr/>
          </p:nvSpPr>
          <p:spPr>
            <a:xfrm>
              <a:off x="11581087" y="6581299"/>
              <a:ext cx="8246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6</a:t>
              </a:r>
            </a:p>
          </p:txBody>
        </p:sp>
      </p:gr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7652187" cy="909257"/>
            <a:chOff x="520446" y="342900"/>
            <a:chExt cx="7652187" cy="909257"/>
          </a:xfrm>
        </p:grpSpPr>
        <p:sp>
          <p:nvSpPr>
            <p:cNvPr id="2" name="Rectangle 2"/>
            <p:cNvSpPr/>
            <p:nvPr/>
          </p:nvSpPr>
          <p:spPr>
            <a:xfrm>
              <a:off x="533400" y="342900"/>
              <a:ext cx="2272665" cy="266700"/>
            </a:xfrm>
            <a:prstGeom prst="roundRect">
              <a:avLst>
                <a:gd name="adj" fmla="val 50000"/>
              </a:avLst>
            </a:prstGeom>
            <a:solidFill>
              <a:srgbClr val="E7EDF3"/>
            </a:solidFill>
            <a:ln>
              <a:noFill/>
            </a:ln>
          </p:spPr>
        </p:sp>
        <p:sp>
          <p:nvSpPr>
            <p:cNvPr id="3" name="TextBox 3"/>
            <p:cNvSpPr txBox="1"/>
            <p:nvPr/>
          </p:nvSpPr>
          <p:spPr>
            <a:xfrm>
              <a:off x="601058" y="407194"/>
              <a:ext cx="2137349"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第7章 体系结构 · 多处理器结构</a:t>
              </a:r>
            </a:p>
          </p:txBody>
        </p:sp>
        <p:sp>
          <p:nvSpPr>
            <p:cNvPr id="4" name="TextBox 4"/>
            <p:cNvSpPr txBox="1"/>
            <p:nvPr/>
          </p:nvSpPr>
          <p:spPr>
            <a:xfrm>
              <a:off x="520446" y="753428"/>
              <a:ext cx="7652187"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从被限制出口到登顶 TOP500：中国超算的时间线</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35" name="c1-table-1"/>
          <p:cNvGrpSpPr/>
          <p:nvPr/>
        </p:nvGrpSpPr>
        <p:grpSpPr>
          <a:xfrm>
            <a:off x="533400" y="1524000"/>
            <a:ext cx="6492240" cy="3846195"/>
            <a:chOff x="533400" y="1524000"/>
            <a:chExt cx="6492240" cy="3846195"/>
          </a:xfrm>
        </p:grpSpPr>
        <p:sp>
          <p:nvSpPr>
            <p:cNvPr id="7" name="Rectangle 7"/>
            <p:cNvSpPr/>
            <p:nvPr/>
          </p:nvSpPr>
          <p:spPr>
            <a:xfrm>
              <a:off x="533400" y="1524000"/>
              <a:ext cx="6492240" cy="405765"/>
            </a:xfrm>
            <a:prstGeom prst="rect">
              <a:avLst/>
            </a:prstGeom>
            <a:solidFill>
              <a:srgbClr val="334E68"/>
            </a:solidFill>
            <a:ln>
              <a:noFill/>
            </a:ln>
          </p:spPr>
        </p:sp>
        <p:sp>
          <p:nvSpPr>
            <p:cNvPr id="8" name="TextBox 8"/>
            <p:cNvSpPr txBox="1"/>
            <p:nvPr/>
          </p:nvSpPr>
          <p:spPr>
            <a:xfrm>
              <a:off x="994131" y="1648301"/>
              <a:ext cx="312979"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时间</a:t>
              </a:r>
            </a:p>
          </p:txBody>
        </p:sp>
        <p:sp>
          <p:nvSpPr>
            <p:cNvPr id="9" name="TextBox 9"/>
            <p:cNvSpPr txBox="1"/>
            <p:nvPr/>
          </p:nvSpPr>
          <p:spPr>
            <a:xfrm>
              <a:off x="4240251" y="1648301"/>
              <a:ext cx="312979"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事件</a:t>
              </a:r>
            </a:p>
          </p:txBody>
        </p:sp>
        <p:sp>
          <p:nvSpPr>
            <p:cNvPr id="10" name="TextBox 10"/>
            <p:cNvSpPr txBox="1"/>
            <p:nvPr/>
          </p:nvSpPr>
          <p:spPr>
            <a:xfrm>
              <a:off x="633412" y="2154079"/>
              <a:ext cx="557987"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1989 年</a:t>
              </a:r>
            </a:p>
          </p:txBody>
        </p:sp>
        <p:sp>
          <p:nvSpPr>
            <p:cNvPr id="11" name="TextBox 11"/>
            <p:cNvSpPr txBox="1"/>
            <p:nvPr/>
          </p:nvSpPr>
          <p:spPr>
            <a:xfrm>
              <a:off x="1866900" y="2054066"/>
              <a:ext cx="4847590" cy="420052"/>
            </a:xfrm>
            <a:prstGeom prst="rect">
              <a:avLst/>
            </a:prstGeom>
            <a:noFill/>
            <a:ln>
              <a:noFill/>
            </a:ln>
          </p:spPr>
          <p:txBody>
            <a:bodyPr wrap="none" lIns="0" tIns="0" rIns="0" bIns="0" anchor="t" anchorCtr="0">
              <a:spAutoFit/>
            </a:bodyPr>
            <a:lstStyle/>
            <a:p>
              <a:pPr algn="l">
                <a:lnSpc>
                  <a:spcPts val="1575"/>
                </a:lnSpc>
              </a:pPr>
              <a:r>
                <a:rPr lang="zh-CN" sz="1120" dirty="0">
                  <a:solidFill>
                    <a:srgbClr val="1F2937"/>
                  </a:solidFill>
                  <a:latin typeface="+mn-lt"/>
                  <a:ea typeface="+mn-ea"/>
                  <a:cs typeface="+mn-cs"/>
                </a:rPr>
                <a:t>美国严格限制对华出口高性能计算机，已售机器放在玻璃房里，每次使用都要</a:t>
              </a:r>
              <a:br/>
              <a:r>
                <a:rPr lang="zh-CN" sz="1120" dirty="0">
                  <a:solidFill>
                    <a:srgbClr val="1F2937"/>
                  </a:solidFill>
                  <a:latin typeface="+mn-lt"/>
                  <a:ea typeface="+mn-ea"/>
                  <a:cs typeface="+mn-cs"/>
                </a:rPr>
                <a:t>美方核准</a:t>
              </a:r>
            </a:p>
          </p:txBody>
        </p:sp>
        <p:sp>
          <p:nvSpPr>
            <p:cNvPr id="12" name="Rectangle 12"/>
            <p:cNvSpPr/>
            <p:nvPr/>
          </p:nvSpPr>
          <p:spPr>
            <a:xfrm>
              <a:off x="533400" y="2530792"/>
              <a:ext cx="6492240" cy="9525"/>
            </a:xfrm>
            <a:prstGeom prst="rect">
              <a:avLst/>
            </a:prstGeom>
            <a:solidFill>
              <a:srgbClr val="D9DFEA"/>
            </a:solidFill>
            <a:ln>
              <a:noFill/>
            </a:ln>
          </p:spPr>
        </p:sp>
        <p:sp>
          <p:nvSpPr>
            <p:cNvPr id="13" name="Rectangle 13"/>
            <p:cNvSpPr/>
            <p:nvPr/>
          </p:nvSpPr>
          <p:spPr>
            <a:xfrm>
              <a:off x="533400" y="2535555"/>
              <a:ext cx="6492240" cy="405765"/>
            </a:xfrm>
            <a:prstGeom prst="rect">
              <a:avLst/>
            </a:prstGeom>
            <a:solidFill>
              <a:srgbClr val="F4F6FB"/>
            </a:solidFill>
            <a:ln>
              <a:noFill/>
            </a:ln>
          </p:spPr>
        </p:sp>
        <p:sp>
          <p:nvSpPr>
            <p:cNvPr id="14" name="TextBox 14"/>
            <p:cNvSpPr txBox="1"/>
            <p:nvPr/>
          </p:nvSpPr>
          <p:spPr>
            <a:xfrm>
              <a:off x="633412" y="2659856"/>
              <a:ext cx="557987"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1993 年</a:t>
              </a:r>
            </a:p>
          </p:txBody>
        </p:sp>
        <p:sp>
          <p:nvSpPr>
            <p:cNvPr id="15" name="TextBox 15"/>
            <p:cNvSpPr txBox="1"/>
            <p:nvPr/>
          </p:nvSpPr>
          <p:spPr>
            <a:xfrm>
              <a:off x="1866900" y="2659856"/>
              <a:ext cx="3908948"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曙光一号诞生，3 天后西方解除对华高性能计算机出口限制</a:t>
              </a:r>
            </a:p>
          </p:txBody>
        </p:sp>
        <p:sp>
          <p:nvSpPr>
            <p:cNvPr id="16" name="Rectangle 16"/>
            <p:cNvSpPr/>
            <p:nvPr/>
          </p:nvSpPr>
          <p:spPr>
            <a:xfrm>
              <a:off x="533400" y="2936558"/>
              <a:ext cx="6492240" cy="9525"/>
            </a:xfrm>
            <a:prstGeom prst="rect">
              <a:avLst/>
            </a:prstGeom>
            <a:solidFill>
              <a:srgbClr val="D9DFEA"/>
            </a:solidFill>
            <a:ln>
              <a:noFill/>
            </a:ln>
          </p:spPr>
        </p:sp>
        <p:sp>
          <p:nvSpPr>
            <p:cNvPr id="17" name="TextBox 17"/>
            <p:cNvSpPr txBox="1"/>
            <p:nvPr/>
          </p:nvSpPr>
          <p:spPr>
            <a:xfrm>
              <a:off x="633412" y="3065621"/>
              <a:ext cx="993348"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2013–2015 年</a:t>
              </a:r>
            </a:p>
          </p:txBody>
        </p:sp>
        <p:sp>
          <p:nvSpPr>
            <p:cNvPr id="18" name="TextBox 18"/>
            <p:cNvSpPr txBox="1"/>
            <p:nvPr/>
          </p:nvSpPr>
          <p:spPr>
            <a:xfrm>
              <a:off x="1866900" y="3065621"/>
              <a:ext cx="1870791"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天河二号在 TOP500 六连冠</a:t>
              </a:r>
            </a:p>
          </p:txBody>
        </p:sp>
        <p:sp>
          <p:nvSpPr>
            <p:cNvPr id="19" name="Rectangle 19"/>
            <p:cNvSpPr/>
            <p:nvPr/>
          </p:nvSpPr>
          <p:spPr>
            <a:xfrm>
              <a:off x="533400" y="3342322"/>
              <a:ext cx="6492240" cy="9525"/>
            </a:xfrm>
            <a:prstGeom prst="rect">
              <a:avLst/>
            </a:prstGeom>
            <a:solidFill>
              <a:srgbClr val="D9DFEA"/>
            </a:solidFill>
            <a:ln>
              <a:noFill/>
            </a:ln>
          </p:spPr>
        </p:sp>
        <p:sp>
          <p:nvSpPr>
            <p:cNvPr id="20" name="Rectangle 20"/>
            <p:cNvSpPr/>
            <p:nvPr/>
          </p:nvSpPr>
          <p:spPr>
            <a:xfrm>
              <a:off x="533400" y="3347085"/>
              <a:ext cx="6492240" cy="605790"/>
            </a:xfrm>
            <a:prstGeom prst="rect">
              <a:avLst/>
            </a:prstGeom>
            <a:solidFill>
              <a:srgbClr val="F4F6FB"/>
            </a:solidFill>
            <a:ln>
              <a:noFill/>
            </a:ln>
          </p:spPr>
        </p:sp>
        <p:sp>
          <p:nvSpPr>
            <p:cNvPr id="21" name="TextBox 21"/>
            <p:cNvSpPr txBox="1"/>
            <p:nvPr/>
          </p:nvSpPr>
          <p:spPr>
            <a:xfrm>
              <a:off x="633412" y="3571399"/>
              <a:ext cx="890822"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2015 年 4 月</a:t>
              </a:r>
            </a:p>
          </p:txBody>
        </p:sp>
        <p:sp>
          <p:nvSpPr>
            <p:cNvPr id="22" name="TextBox 22"/>
            <p:cNvSpPr txBox="1"/>
            <p:nvPr/>
          </p:nvSpPr>
          <p:spPr>
            <a:xfrm>
              <a:off x="1866900" y="3471386"/>
              <a:ext cx="4847590" cy="420052"/>
            </a:xfrm>
            <a:prstGeom prst="rect">
              <a:avLst/>
            </a:prstGeom>
            <a:noFill/>
            <a:ln>
              <a:noFill/>
            </a:ln>
          </p:spPr>
          <p:txBody>
            <a:bodyPr wrap="none" lIns="0" tIns="0" rIns="0" bIns="0" anchor="t" anchorCtr="0">
              <a:spAutoFit/>
            </a:bodyPr>
            <a:lstStyle/>
            <a:p>
              <a:pPr algn="l">
                <a:lnSpc>
                  <a:spcPts val="1575"/>
                </a:lnSpc>
              </a:pPr>
              <a:r>
                <a:rPr lang="zh-CN" sz="1120" dirty="0">
                  <a:solidFill>
                    <a:srgbClr val="1F2937"/>
                  </a:solidFill>
                  <a:latin typeface="+mn-lt"/>
                  <a:ea typeface="+mn-ea"/>
                  <a:cs typeface="+mn-cs"/>
                </a:rPr>
                <a:t>美国把国防科大和长沙、广州、天津三个国家超算中心列入实体清单，禁售至</a:t>
              </a:r>
              <a:br/>
              <a:r>
                <a:rPr lang="zh-CN" sz="1120" dirty="0">
                  <a:solidFill>
                    <a:srgbClr val="1F2937"/>
                  </a:solidFill>
                  <a:latin typeface="+mn-lt"/>
                  <a:ea typeface="+mn-ea"/>
                  <a:cs typeface="+mn-cs"/>
                </a:rPr>
                <a:t>强 Phi 计算卡</a:t>
              </a:r>
            </a:p>
          </p:txBody>
        </p:sp>
        <p:sp>
          <p:nvSpPr>
            <p:cNvPr id="23" name="Rectangle 23"/>
            <p:cNvSpPr/>
            <p:nvPr/>
          </p:nvSpPr>
          <p:spPr>
            <a:xfrm>
              <a:off x="533400" y="3948112"/>
              <a:ext cx="6492240" cy="9525"/>
            </a:xfrm>
            <a:prstGeom prst="rect">
              <a:avLst/>
            </a:prstGeom>
            <a:solidFill>
              <a:srgbClr val="D9DFEA"/>
            </a:solidFill>
            <a:ln>
              <a:noFill/>
            </a:ln>
          </p:spPr>
        </p:sp>
        <p:sp>
          <p:nvSpPr>
            <p:cNvPr id="24" name="TextBox 24"/>
            <p:cNvSpPr txBox="1"/>
            <p:nvPr/>
          </p:nvSpPr>
          <p:spPr>
            <a:xfrm>
              <a:off x="633412" y="4077176"/>
              <a:ext cx="890822"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2016 年 6 月</a:t>
              </a:r>
            </a:p>
          </p:txBody>
        </p:sp>
        <p:sp>
          <p:nvSpPr>
            <p:cNvPr id="25" name="TextBox 25"/>
            <p:cNvSpPr txBox="1"/>
            <p:nvPr/>
          </p:nvSpPr>
          <p:spPr>
            <a:xfrm>
              <a:off x="1866900" y="4077176"/>
              <a:ext cx="3112120"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神威·太湖之光登顶 TOP500，处理器全部国产</a:t>
              </a:r>
            </a:p>
          </p:txBody>
        </p:sp>
        <p:sp>
          <p:nvSpPr>
            <p:cNvPr id="26" name="Rectangle 26"/>
            <p:cNvSpPr/>
            <p:nvPr/>
          </p:nvSpPr>
          <p:spPr>
            <a:xfrm>
              <a:off x="533400" y="4353878"/>
              <a:ext cx="6492240" cy="9525"/>
            </a:xfrm>
            <a:prstGeom prst="rect">
              <a:avLst/>
            </a:prstGeom>
            <a:solidFill>
              <a:srgbClr val="D9DFEA"/>
            </a:solidFill>
            <a:ln>
              <a:noFill/>
            </a:ln>
          </p:spPr>
        </p:sp>
        <p:sp>
          <p:nvSpPr>
            <p:cNvPr id="27" name="Rectangle 27"/>
            <p:cNvSpPr/>
            <p:nvPr/>
          </p:nvSpPr>
          <p:spPr>
            <a:xfrm>
              <a:off x="533400" y="4358640"/>
              <a:ext cx="6492240" cy="405765"/>
            </a:xfrm>
            <a:prstGeom prst="rect">
              <a:avLst/>
            </a:prstGeom>
            <a:solidFill>
              <a:srgbClr val="F4F6FB"/>
            </a:solidFill>
            <a:ln>
              <a:noFill/>
            </a:ln>
          </p:spPr>
        </p:sp>
        <p:sp>
          <p:nvSpPr>
            <p:cNvPr id="28" name="TextBox 28"/>
            <p:cNvSpPr txBox="1"/>
            <p:nvPr/>
          </p:nvSpPr>
          <p:spPr>
            <a:xfrm>
              <a:off x="633412" y="4482941"/>
              <a:ext cx="977894"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2016 年 11 月</a:t>
              </a:r>
            </a:p>
          </p:txBody>
        </p:sp>
        <p:sp>
          <p:nvSpPr>
            <p:cNvPr id="29" name="TextBox 29"/>
            <p:cNvSpPr txBox="1"/>
            <p:nvPr/>
          </p:nvSpPr>
          <p:spPr>
            <a:xfrm>
              <a:off x="1866900" y="4482941"/>
              <a:ext cx="5002063"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基于太湖之光的“全球大气非静力云分辨模拟”获戈登贝尔奖，中国首次获奖</a:t>
              </a:r>
            </a:p>
          </p:txBody>
        </p:sp>
        <p:sp>
          <p:nvSpPr>
            <p:cNvPr id="30" name="Rectangle 30"/>
            <p:cNvSpPr/>
            <p:nvPr/>
          </p:nvSpPr>
          <p:spPr>
            <a:xfrm>
              <a:off x="533400" y="4759642"/>
              <a:ext cx="6492240" cy="9525"/>
            </a:xfrm>
            <a:prstGeom prst="rect">
              <a:avLst/>
            </a:prstGeom>
            <a:solidFill>
              <a:srgbClr val="D9DFEA"/>
            </a:solidFill>
            <a:ln>
              <a:noFill/>
            </a:ln>
          </p:spPr>
        </p:sp>
        <p:sp>
          <p:nvSpPr>
            <p:cNvPr id="31" name="TextBox 31"/>
            <p:cNvSpPr txBox="1"/>
            <p:nvPr/>
          </p:nvSpPr>
          <p:spPr>
            <a:xfrm>
              <a:off x="633412" y="4988719"/>
              <a:ext cx="977894"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2017 年 11 月</a:t>
              </a:r>
            </a:p>
          </p:txBody>
        </p:sp>
        <p:sp>
          <p:nvSpPr>
            <p:cNvPr id="32" name="TextBox 32"/>
            <p:cNvSpPr txBox="1"/>
            <p:nvPr/>
          </p:nvSpPr>
          <p:spPr>
            <a:xfrm>
              <a:off x="1866900" y="4888706"/>
              <a:ext cx="4776470" cy="420052"/>
            </a:xfrm>
            <a:prstGeom prst="rect">
              <a:avLst/>
            </a:prstGeom>
            <a:noFill/>
            <a:ln>
              <a:noFill/>
            </a:ln>
          </p:spPr>
          <p:txBody>
            <a:bodyPr wrap="none" lIns="0" tIns="0" rIns="0" bIns="0" anchor="t" anchorCtr="0">
              <a:spAutoFit/>
            </a:bodyPr>
            <a:lstStyle/>
            <a:p>
              <a:pPr algn="l">
                <a:lnSpc>
                  <a:spcPts val="1575"/>
                </a:lnSpc>
              </a:pPr>
              <a:r>
                <a:rPr lang="zh-CN" sz="1120" dirty="0">
                  <a:solidFill>
                    <a:srgbClr val="1F2937"/>
                  </a:solidFill>
                  <a:latin typeface="+mn-lt"/>
                  <a:ea typeface="+mn-ea"/>
                  <a:cs typeface="+mn-cs"/>
                </a:rPr>
                <a:t>太湖之光第四次夺冠（9.3 亿亿次/秒），加上天河二号，中国连续十次居榜</a:t>
              </a:r>
              <a:br/>
              <a:r>
                <a:rPr lang="zh-CN" sz="1120" dirty="0">
                  <a:solidFill>
                    <a:srgbClr val="1F2937"/>
                  </a:solidFill>
                  <a:latin typeface="+mn-lt"/>
                  <a:ea typeface="+mn-ea"/>
                  <a:cs typeface="+mn-cs"/>
                </a:rPr>
                <a:t>首</a:t>
              </a:r>
            </a:p>
          </p:txBody>
        </p:sp>
        <p:sp>
          <p:nvSpPr>
            <p:cNvPr id="33" name="Rectangle 33"/>
            <p:cNvSpPr/>
            <p:nvPr/>
          </p:nvSpPr>
          <p:spPr>
            <a:xfrm>
              <a:off x="533400" y="1524000"/>
              <a:ext cx="6492240" cy="3846195"/>
            </a:xfrm>
            <a:prstGeom prst="rect">
              <a:avLst/>
            </a:prstGeom>
            <a:noFill/>
            <a:ln w="14288">
              <a:solidFill>
                <a:srgbClr val="D9DFEA"/>
              </a:solidFill>
            </a:ln>
          </p:spPr>
        </p:sp>
        <p:sp>
          <p:nvSpPr>
            <p:cNvPr id="34" name="Rectangle 34"/>
            <p:cNvSpPr/>
            <p:nvPr/>
          </p:nvSpPr>
          <p:spPr>
            <a:xfrm>
              <a:off x="1762125" y="1524000"/>
              <a:ext cx="9525" cy="3846195"/>
            </a:xfrm>
            <a:prstGeom prst="rect">
              <a:avLst/>
            </a:prstGeom>
            <a:solidFill>
              <a:srgbClr val="D9DFEA"/>
            </a:solidFill>
            <a:ln>
              <a:noFill/>
            </a:ln>
          </p:spPr>
        </p:sp>
      </p:grpSp>
      <p:grpSp>
        <p:nvGrpSpPr>
          <p:cNvPr id="47" name="c2-card-1"/>
          <p:cNvGrpSpPr/>
          <p:nvPr/>
        </p:nvGrpSpPr>
        <p:grpSpPr>
          <a:xfrm>
            <a:off x="7330440" y="1524000"/>
            <a:ext cx="4328160" cy="2749868"/>
            <a:chOff x="7330440" y="1524000"/>
            <a:chExt cx="4328160" cy="2749868"/>
          </a:xfrm>
        </p:grpSpPr>
        <p:sp>
          <p:nvSpPr>
            <p:cNvPr id="36" name="Rectangle 36"/>
            <p:cNvSpPr/>
            <p:nvPr/>
          </p:nvSpPr>
          <p:spPr>
            <a:xfrm>
              <a:off x="7330440" y="1524000"/>
              <a:ext cx="4328160" cy="2749868"/>
            </a:xfrm>
            <a:prstGeom prst="roundRect">
              <a:avLst>
                <a:gd name="adj" fmla="val 4849"/>
              </a:avLst>
            </a:prstGeom>
            <a:solidFill>
              <a:srgbClr val="FFFFFF"/>
            </a:solidFill>
            <a:ln w="14288">
              <a:solidFill>
                <a:srgbClr val="D9DFEA"/>
              </a:solidFill>
            </a:ln>
          </p:spPr>
        </p:sp>
        <p:sp>
          <p:nvSpPr>
            <p:cNvPr id="37" name="Rectangle 37"/>
            <p:cNvSpPr/>
            <p:nvPr/>
          </p:nvSpPr>
          <p:spPr>
            <a:xfrm>
              <a:off x="7339965" y="1657350"/>
              <a:ext cx="47625" cy="2483168"/>
            </a:xfrm>
            <a:prstGeom prst="roundRect">
              <a:avLst>
                <a:gd name="adj" fmla="val 50000"/>
              </a:avLst>
            </a:prstGeom>
            <a:solidFill>
              <a:srgbClr val="5B6475"/>
            </a:solidFill>
            <a:ln>
              <a:noFill/>
            </a:ln>
          </p:spPr>
        </p:sp>
        <p:sp>
          <p:nvSpPr>
            <p:cNvPr id="38" name="Rectangle 38"/>
            <p:cNvSpPr/>
            <p:nvPr/>
          </p:nvSpPr>
          <p:spPr>
            <a:xfrm>
              <a:off x="7560945" y="1716405"/>
              <a:ext cx="742950" cy="247650"/>
            </a:xfrm>
            <a:prstGeom prst="roundRect">
              <a:avLst>
                <a:gd name="adj" fmla="val 50000"/>
              </a:avLst>
            </a:prstGeom>
            <a:solidFill>
              <a:srgbClr val="F4F6FB"/>
            </a:solidFill>
            <a:ln>
              <a:noFill/>
            </a:ln>
          </p:spPr>
        </p:sp>
        <p:sp>
          <p:nvSpPr>
            <p:cNvPr id="39" name="TextBox 39"/>
            <p:cNvSpPr txBox="1"/>
            <p:nvPr/>
          </p:nvSpPr>
          <p:spPr>
            <a:xfrm>
              <a:off x="7644384" y="1750695"/>
              <a:ext cx="576072" cy="205359"/>
            </a:xfrm>
            <a:prstGeom prst="rect">
              <a:avLst/>
            </a:prstGeom>
            <a:noFill/>
            <a:ln>
              <a:noFill/>
            </a:ln>
          </p:spPr>
          <p:txBody>
            <a:bodyPr wrap="none" lIns="0" tIns="0" rIns="0" bIns="0" anchor="t" anchorCtr="0">
              <a:spAutoFit/>
            </a:bodyPr>
            <a:lstStyle/>
            <a:p>
              <a:pPr algn="ctr"/>
              <a:r>
                <a:rPr lang="zh-CN" sz="1050" b="1" dirty="0">
                  <a:solidFill>
                    <a:srgbClr val="5B6475"/>
                  </a:solidFill>
                  <a:latin typeface="+mn-lt"/>
                  <a:ea typeface="+mn-ea"/>
                  <a:cs typeface="+mn-cs"/>
                </a:rPr>
                <a:t>应用成果</a:t>
              </a:r>
            </a:p>
          </p:txBody>
        </p:sp>
        <p:sp>
          <p:nvSpPr>
            <p:cNvPr id="40" name="Ellipse 40"/>
            <p:cNvSpPr/>
            <p:nvPr/>
          </p:nvSpPr>
          <p:spPr>
            <a:xfrm>
              <a:off x="7569517" y="2128838"/>
              <a:ext cx="59055" cy="59055"/>
            </a:xfrm>
            <a:prstGeom prst="ellipse">
              <a:avLst/>
            </a:prstGeom>
            <a:solidFill>
              <a:srgbClr val="334E68"/>
            </a:solidFill>
            <a:ln>
              <a:noFill/>
            </a:ln>
          </p:spPr>
        </p:sp>
        <p:sp>
          <p:nvSpPr>
            <p:cNvPr id="41" name="TextBox 41"/>
            <p:cNvSpPr txBox="1"/>
            <p:nvPr/>
          </p:nvSpPr>
          <p:spPr>
            <a:xfrm>
              <a:off x="7725537" y="2072640"/>
              <a:ext cx="3562731"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百万核规模的全球 10 公里高分辨率地球系统数</a:t>
              </a:r>
              <a:br/>
              <a:r>
                <a:rPr lang="zh-CN" sz="1350" dirty="0">
                  <a:solidFill>
                    <a:srgbClr val="1F2937"/>
                  </a:solidFill>
                  <a:latin typeface="+mn-lt"/>
                  <a:ea typeface="+mn-ea"/>
                  <a:cs typeface="+mn-cs"/>
                </a:rPr>
                <a:t>值模拟</a:t>
              </a:r>
            </a:p>
          </p:txBody>
        </p:sp>
        <p:sp>
          <p:nvSpPr>
            <p:cNvPr id="42" name="Ellipse 42"/>
            <p:cNvSpPr/>
            <p:nvPr/>
          </p:nvSpPr>
          <p:spPr>
            <a:xfrm>
              <a:off x="7569517" y="2688907"/>
              <a:ext cx="59055" cy="59055"/>
            </a:xfrm>
            <a:prstGeom prst="ellipse">
              <a:avLst/>
            </a:prstGeom>
            <a:solidFill>
              <a:srgbClr val="334E68"/>
            </a:solidFill>
            <a:ln>
              <a:noFill/>
            </a:ln>
          </p:spPr>
        </p:sp>
        <p:sp>
          <p:nvSpPr>
            <p:cNvPr id="43" name="TextBox 43"/>
            <p:cNvSpPr txBox="1"/>
            <p:nvPr/>
          </p:nvSpPr>
          <p:spPr>
            <a:xfrm>
              <a:off x="7725537" y="2632710"/>
              <a:ext cx="2376297"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天宫一号返回路径的数值模拟</a:t>
              </a:r>
            </a:p>
          </p:txBody>
        </p:sp>
        <p:sp>
          <p:nvSpPr>
            <p:cNvPr id="44" name="Ellipse 44"/>
            <p:cNvSpPr/>
            <p:nvPr/>
          </p:nvSpPr>
          <p:spPr>
            <a:xfrm>
              <a:off x="7569517" y="2991802"/>
              <a:ext cx="59055" cy="59055"/>
            </a:xfrm>
            <a:prstGeom prst="ellipse">
              <a:avLst/>
            </a:prstGeom>
            <a:solidFill>
              <a:srgbClr val="334E68"/>
            </a:solidFill>
            <a:ln>
              <a:noFill/>
            </a:ln>
          </p:spPr>
        </p:sp>
        <p:sp>
          <p:nvSpPr>
            <p:cNvPr id="45" name="TextBox 45"/>
            <p:cNvSpPr txBox="1"/>
            <p:nvPr/>
          </p:nvSpPr>
          <p:spPr>
            <a:xfrm>
              <a:off x="7725537" y="2935605"/>
              <a:ext cx="3442716"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白血病、癌症、禽流感等方向的药物筛选与机</a:t>
              </a:r>
              <a:br/>
              <a:r>
                <a:rPr lang="zh-CN" sz="1350" dirty="0">
                  <a:solidFill>
                    <a:srgbClr val="1F2937"/>
                  </a:solidFill>
                  <a:latin typeface="+mn-lt"/>
                  <a:ea typeface="+mn-ea"/>
                  <a:cs typeface="+mn-cs"/>
                </a:rPr>
                <a:t>理研究</a:t>
              </a:r>
            </a:p>
          </p:txBody>
        </p:sp>
        <p:sp>
          <p:nvSpPr>
            <p:cNvPr id="46" name="TextBox 46"/>
            <p:cNvSpPr txBox="1"/>
            <p:nvPr/>
          </p:nvSpPr>
          <p:spPr>
            <a:xfrm>
              <a:off x="7555230" y="3491389"/>
              <a:ext cx="3709670" cy="635317"/>
            </a:xfrm>
            <a:prstGeom prst="rect">
              <a:avLst/>
            </a:prstGeom>
            <a:noFill/>
            <a:ln>
              <a:noFill/>
            </a:ln>
          </p:spPr>
          <p:txBody>
            <a:bodyPr wrap="none" lIns="0" tIns="0" rIns="0" bIns="0" anchor="t" anchorCtr="0">
              <a:spAutoFit/>
            </a:bodyPr>
            <a:lstStyle/>
            <a:p>
              <a:pPr algn="l">
                <a:lnSpc>
                  <a:spcPts val="1635"/>
                </a:lnSpc>
              </a:pPr>
              <a:r>
                <a:rPr lang="zh-CN" sz="1120" dirty="0">
                  <a:solidFill>
                    <a:srgbClr val="5B6475"/>
                  </a:solidFill>
                  <a:latin typeface="+mn-lt"/>
                  <a:ea typeface="+mn-ea"/>
                  <a:cs typeface="+mn-cs"/>
                </a:rPr>
                <a:t>三个课题入围 2016 年戈登贝尔奖：全球大气非静力云分辨</a:t>
              </a:r>
              <a:br/>
              <a:r>
                <a:rPr lang="zh-CN" sz="1120" dirty="0">
                  <a:solidFill>
                    <a:srgbClr val="5B6475"/>
                  </a:solidFill>
                  <a:latin typeface="+mn-lt"/>
                  <a:ea typeface="+mn-ea"/>
                  <a:cs typeface="+mn-cs"/>
                </a:rPr>
                <a:t>模拟、全球高分辨率海浪数值模式、钛合金微结构演化相场</a:t>
              </a:r>
              <a:br/>
              <a:r>
                <a:rPr lang="zh-CN" sz="1120" dirty="0">
                  <a:solidFill>
                    <a:srgbClr val="5B6475"/>
                  </a:solidFill>
                  <a:latin typeface="+mn-lt"/>
                  <a:ea typeface="+mn-ea"/>
                  <a:cs typeface="+mn-cs"/>
                </a:rPr>
                <a:t>模拟。</a:t>
              </a:r>
            </a:p>
          </p:txBody>
        </p:sp>
      </p:grpSp>
      <p:grpSp>
        <p:nvGrpSpPr>
          <p:cNvPr id="52" name="c2-card-2"/>
          <p:cNvGrpSpPr/>
          <p:nvPr/>
        </p:nvGrpSpPr>
        <p:grpSpPr>
          <a:xfrm>
            <a:off x="7330440" y="4449128"/>
            <a:ext cx="4328160" cy="1724025"/>
            <a:chOff x="7330440" y="4449128"/>
            <a:chExt cx="4328160" cy="1724025"/>
          </a:xfrm>
        </p:grpSpPr>
        <p:sp>
          <p:nvSpPr>
            <p:cNvPr id="48" name="Rectangle 48"/>
            <p:cNvSpPr/>
            <p:nvPr/>
          </p:nvSpPr>
          <p:spPr>
            <a:xfrm>
              <a:off x="7330440" y="4449128"/>
              <a:ext cx="4328160" cy="1724025"/>
            </a:xfrm>
            <a:prstGeom prst="roundRect">
              <a:avLst>
                <a:gd name="adj" fmla="val 7735"/>
              </a:avLst>
            </a:prstGeom>
            <a:solidFill>
              <a:srgbClr val="334E68"/>
            </a:solidFill>
            <a:ln>
              <a:noFill/>
            </a:ln>
          </p:spPr>
        </p:sp>
        <p:sp>
          <p:nvSpPr>
            <p:cNvPr id="49" name="Rectangle 49"/>
            <p:cNvSpPr/>
            <p:nvPr/>
          </p:nvSpPr>
          <p:spPr>
            <a:xfrm>
              <a:off x="7522845" y="4641532"/>
              <a:ext cx="1276350" cy="247650"/>
            </a:xfrm>
            <a:prstGeom prst="roundRect">
              <a:avLst>
                <a:gd name="adj" fmla="val 50000"/>
              </a:avLst>
            </a:prstGeom>
            <a:solidFill>
              <a:srgbClr val="243B53"/>
            </a:solidFill>
            <a:ln>
              <a:noFill/>
            </a:ln>
          </p:spPr>
        </p:sp>
        <p:sp>
          <p:nvSpPr>
            <p:cNvPr id="50" name="TextBox 50"/>
            <p:cNvSpPr txBox="1"/>
            <p:nvPr/>
          </p:nvSpPr>
          <p:spPr>
            <a:xfrm>
              <a:off x="7590282" y="4675822"/>
              <a:ext cx="1141476"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核心技术受制于人</a:t>
              </a:r>
            </a:p>
          </p:txBody>
        </p:sp>
        <p:sp>
          <p:nvSpPr>
            <p:cNvPr id="51" name="TextBox 51"/>
            <p:cNvSpPr txBox="1"/>
            <p:nvPr/>
          </p:nvSpPr>
          <p:spPr>
            <a:xfrm>
              <a:off x="7515987" y="4997768"/>
              <a:ext cx="3708463" cy="1035558"/>
            </a:xfrm>
            <a:prstGeom prst="rect">
              <a:avLst/>
            </a:prstGeom>
            <a:noFill/>
            <a:ln>
              <a:noFill/>
            </a:ln>
          </p:spPr>
          <p:txBody>
            <a:bodyPr wrap="none" lIns="0" tIns="0" rIns="0" bIns="0" anchor="t" anchorCtr="0">
              <a:spAutoFit/>
            </a:bodyPr>
            <a:lstStyle/>
            <a:p>
              <a:pPr algn="l">
                <a:lnSpc>
                  <a:spcPts val="2025"/>
                </a:lnSpc>
              </a:pPr>
              <a:r>
                <a:rPr lang="zh-CN" sz="1350" dirty="0">
                  <a:solidFill>
                    <a:srgbClr val="FFFFFF"/>
                  </a:solidFill>
                  <a:latin typeface="+mn-lt"/>
                  <a:ea typeface="+mn-ea"/>
                  <a:cs typeface="+mn-cs"/>
                </a:rPr>
                <a:t>2018 年中兴被禁购美国元器件，最终缴纳 22.92</a:t>
              </a:r>
              <a:br/>
              <a:r>
                <a:rPr lang="zh-CN" sz="1350" dirty="0">
                  <a:solidFill>
                    <a:srgbClr val="FFFFFF"/>
                  </a:solidFill>
                  <a:latin typeface="+mn-lt"/>
                  <a:ea typeface="+mn-ea"/>
                  <a:cs typeface="+mn-cs"/>
                </a:rPr>
                <a:t>亿美元罚款并撤换领导层；2019 年华为被列入实</a:t>
              </a:r>
              <a:br/>
              <a:r>
                <a:rPr lang="zh-CN" sz="1350" dirty="0">
                  <a:solidFill>
                    <a:srgbClr val="FFFFFF"/>
                  </a:solidFill>
                  <a:latin typeface="+mn-lt"/>
                  <a:ea typeface="+mn-ea"/>
                  <a:cs typeface="+mn-cs"/>
                </a:rPr>
                <a:t>体清单，海思的“备胎”芯片转正。两件事的根源</a:t>
              </a:r>
              <a:br/>
              <a:r>
                <a:rPr lang="zh-CN" sz="1350" dirty="0">
                  <a:solidFill>
                    <a:srgbClr val="FFFFFF"/>
                  </a:solidFill>
                  <a:latin typeface="+mn-lt"/>
                  <a:ea typeface="+mn-ea"/>
                  <a:cs typeface="+mn-cs"/>
                </a:rPr>
                <a:t>都是核心芯片依赖进口。</a:t>
              </a:r>
            </a:p>
          </p:txBody>
        </p:sp>
      </p:grpSp>
      <p:grpSp>
        <p:nvGrpSpPr>
          <p:cNvPr id="55" name="footer"/>
          <p:cNvGrpSpPr/>
          <p:nvPr/>
        </p:nvGrpSpPr>
        <p:grpSpPr>
          <a:xfrm>
            <a:off x="528447" y="6581299"/>
            <a:ext cx="11135106" cy="190690"/>
            <a:chOff x="528447" y="6581299"/>
            <a:chExt cx="11135106" cy="190690"/>
          </a:xfrm>
        </p:grpSpPr>
        <p:sp>
          <p:nvSpPr>
            <p:cNvPr id="53" name="TextBox 53"/>
            <p:cNvSpPr txBox="1"/>
            <p:nvPr/>
          </p:nvSpPr>
          <p:spPr>
            <a:xfrm>
              <a:off x="528447" y="6581299"/>
              <a:ext cx="2120748"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并行与分布式计算 · 第7章 体系结构</a:t>
              </a:r>
            </a:p>
          </p:txBody>
        </p:sp>
        <p:sp>
          <p:nvSpPr>
            <p:cNvPr id="54" name="TextBox 54"/>
            <p:cNvSpPr txBox="1"/>
            <p:nvPr/>
          </p:nvSpPr>
          <p:spPr>
            <a:xfrm>
              <a:off x="11581087" y="6581299"/>
              <a:ext cx="8246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7</a:t>
              </a:r>
            </a:p>
          </p:txBody>
        </p:sp>
      </p:gr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6617761" cy="909257"/>
            <a:chOff x="520446" y="342900"/>
            <a:chExt cx="6617761" cy="909257"/>
          </a:xfrm>
        </p:grpSpPr>
        <p:sp>
          <p:nvSpPr>
            <p:cNvPr id="2" name="Rectangle 2"/>
            <p:cNvSpPr/>
            <p:nvPr/>
          </p:nvSpPr>
          <p:spPr>
            <a:xfrm>
              <a:off x="533400" y="342900"/>
              <a:ext cx="2272665" cy="266700"/>
            </a:xfrm>
            <a:prstGeom prst="roundRect">
              <a:avLst>
                <a:gd name="adj" fmla="val 50000"/>
              </a:avLst>
            </a:prstGeom>
            <a:solidFill>
              <a:srgbClr val="E7EDF3"/>
            </a:solidFill>
            <a:ln>
              <a:noFill/>
            </a:ln>
          </p:spPr>
        </p:sp>
        <p:sp>
          <p:nvSpPr>
            <p:cNvPr id="3" name="TextBox 3"/>
            <p:cNvSpPr txBox="1"/>
            <p:nvPr/>
          </p:nvSpPr>
          <p:spPr>
            <a:xfrm>
              <a:off x="601058" y="407194"/>
              <a:ext cx="2137349"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第7章 体系结构 · 多处理器结构</a:t>
              </a:r>
            </a:p>
          </p:txBody>
        </p:sp>
        <p:sp>
          <p:nvSpPr>
            <p:cNvPr id="4" name="TextBox 4"/>
            <p:cNvSpPr txBox="1"/>
            <p:nvPr/>
          </p:nvSpPr>
          <p:spPr>
            <a:xfrm>
              <a:off x="520446" y="753428"/>
              <a:ext cx="6617761"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申威 26010：四个核组挂在片上互连网络上</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50" name="c1-graph-1"/>
          <p:cNvGrpSpPr/>
          <p:nvPr/>
        </p:nvGrpSpPr>
        <p:grpSpPr>
          <a:xfrm>
            <a:off x="1149668" y="1609725"/>
            <a:ext cx="5262943" cy="4342829"/>
            <a:chOff x="1149668" y="1609725"/>
            <a:chExt cx="5262943" cy="4342829"/>
          </a:xfrm>
        </p:grpSpPr>
        <p:sp>
          <p:nvSpPr>
            <p:cNvPr id="7" name="Freeform 7"/>
            <p:cNvSpPr/>
            <p:nvPr/>
          </p:nvSpPr>
          <p:spPr>
            <a:xfrm>
              <a:off x="1843088" y="1886902"/>
              <a:ext cx="9525" cy="554355"/>
            </a:xfrm>
            <a:custGeom>
              <a:avLst/>
              <a:gdLst/>
              <a:ahLst/>
              <a:cxnLst/>
              <a:rect l="l" t="t" r="r" b="b"/>
              <a:pathLst>
                <a:path w="9525" h="554355">
                  <a:moveTo>
                    <a:pt x="0" y="0"/>
                  </a:moveTo>
                  <a:lnTo>
                    <a:pt x="0" y="554355"/>
                  </a:lnTo>
                </a:path>
              </a:pathLst>
            </a:custGeom>
            <a:noFill/>
            <a:ln w="17145">
              <a:solidFill>
                <a:srgbClr val="1F2937"/>
              </a:solidFill>
            </a:ln>
          </p:spPr>
        </p:sp>
        <p:sp>
          <p:nvSpPr>
            <p:cNvPr id="8" name="Freeform 8"/>
            <p:cNvSpPr/>
            <p:nvPr/>
          </p:nvSpPr>
          <p:spPr>
            <a:xfrm>
              <a:off x="4580572" y="1886902"/>
              <a:ext cx="9525" cy="554355"/>
            </a:xfrm>
            <a:custGeom>
              <a:avLst/>
              <a:gdLst/>
              <a:ahLst/>
              <a:cxnLst/>
              <a:rect l="l" t="t" r="r" b="b"/>
              <a:pathLst>
                <a:path w="9525" h="554355">
                  <a:moveTo>
                    <a:pt x="0" y="0"/>
                  </a:moveTo>
                  <a:lnTo>
                    <a:pt x="0" y="554355"/>
                  </a:lnTo>
                </a:path>
              </a:pathLst>
            </a:custGeom>
            <a:noFill/>
            <a:ln w="17145">
              <a:solidFill>
                <a:srgbClr val="1F2937"/>
              </a:solidFill>
            </a:ln>
          </p:spPr>
        </p:sp>
        <p:sp>
          <p:nvSpPr>
            <p:cNvPr id="9" name="Freeform 9"/>
            <p:cNvSpPr/>
            <p:nvPr/>
          </p:nvSpPr>
          <p:spPr>
            <a:xfrm>
              <a:off x="1843088" y="5099685"/>
              <a:ext cx="9525" cy="554355"/>
            </a:xfrm>
            <a:custGeom>
              <a:avLst/>
              <a:gdLst/>
              <a:ahLst/>
              <a:cxnLst/>
              <a:rect l="l" t="t" r="r" b="b"/>
              <a:pathLst>
                <a:path w="9525" h="554355">
                  <a:moveTo>
                    <a:pt x="0" y="0"/>
                  </a:moveTo>
                  <a:lnTo>
                    <a:pt x="0" y="554355"/>
                  </a:lnTo>
                </a:path>
              </a:pathLst>
            </a:custGeom>
            <a:noFill/>
            <a:ln w="17145">
              <a:solidFill>
                <a:srgbClr val="1F2937"/>
              </a:solidFill>
            </a:ln>
          </p:spPr>
        </p:sp>
        <p:sp>
          <p:nvSpPr>
            <p:cNvPr id="10" name="Freeform 10"/>
            <p:cNvSpPr/>
            <p:nvPr/>
          </p:nvSpPr>
          <p:spPr>
            <a:xfrm>
              <a:off x="4580572" y="5099685"/>
              <a:ext cx="9525" cy="554355"/>
            </a:xfrm>
            <a:custGeom>
              <a:avLst/>
              <a:gdLst/>
              <a:ahLst/>
              <a:cxnLst/>
              <a:rect l="l" t="t" r="r" b="b"/>
              <a:pathLst>
                <a:path w="9525" h="554355">
                  <a:moveTo>
                    <a:pt x="0" y="0"/>
                  </a:moveTo>
                  <a:lnTo>
                    <a:pt x="0" y="554355"/>
                  </a:lnTo>
                </a:path>
              </a:pathLst>
            </a:custGeom>
            <a:noFill/>
            <a:ln w="17145">
              <a:solidFill>
                <a:srgbClr val="1F2937"/>
              </a:solidFill>
            </a:ln>
          </p:spPr>
        </p:sp>
        <p:sp>
          <p:nvSpPr>
            <p:cNvPr id="11" name="Freeform 11"/>
            <p:cNvSpPr/>
            <p:nvPr/>
          </p:nvSpPr>
          <p:spPr>
            <a:xfrm>
              <a:off x="1843088" y="3032760"/>
              <a:ext cx="9525" cy="616268"/>
            </a:xfrm>
            <a:custGeom>
              <a:avLst/>
              <a:gdLst/>
              <a:ahLst/>
              <a:cxnLst/>
              <a:rect l="l" t="t" r="r" b="b"/>
              <a:pathLst>
                <a:path w="9525" h="616268">
                  <a:moveTo>
                    <a:pt x="0" y="0"/>
                  </a:moveTo>
                  <a:lnTo>
                    <a:pt x="0" y="616268"/>
                  </a:lnTo>
                </a:path>
              </a:pathLst>
            </a:custGeom>
            <a:noFill/>
            <a:ln w="17145">
              <a:solidFill>
                <a:srgbClr val="1F2937"/>
              </a:solidFill>
            </a:ln>
          </p:spPr>
        </p:sp>
        <p:sp>
          <p:nvSpPr>
            <p:cNvPr id="12" name="Freeform 12"/>
            <p:cNvSpPr/>
            <p:nvPr/>
          </p:nvSpPr>
          <p:spPr>
            <a:xfrm>
              <a:off x="1843088" y="3892868"/>
              <a:ext cx="9525" cy="615315"/>
            </a:xfrm>
            <a:custGeom>
              <a:avLst/>
              <a:gdLst/>
              <a:ahLst/>
              <a:cxnLst/>
              <a:rect l="l" t="t" r="r" b="b"/>
              <a:pathLst>
                <a:path w="9525" h="615315">
                  <a:moveTo>
                    <a:pt x="0" y="615315"/>
                  </a:moveTo>
                  <a:lnTo>
                    <a:pt x="0" y="0"/>
                  </a:lnTo>
                </a:path>
              </a:pathLst>
            </a:custGeom>
            <a:noFill/>
            <a:ln w="17145">
              <a:solidFill>
                <a:srgbClr val="1F2937"/>
              </a:solidFill>
            </a:ln>
          </p:spPr>
        </p:sp>
        <p:sp>
          <p:nvSpPr>
            <p:cNvPr id="13" name="Freeform 13"/>
            <p:cNvSpPr/>
            <p:nvPr/>
          </p:nvSpPr>
          <p:spPr>
            <a:xfrm>
              <a:off x="4580572" y="3032760"/>
              <a:ext cx="9525" cy="616268"/>
            </a:xfrm>
            <a:custGeom>
              <a:avLst/>
              <a:gdLst/>
              <a:ahLst/>
              <a:cxnLst/>
              <a:rect l="l" t="t" r="r" b="b"/>
              <a:pathLst>
                <a:path w="9525" h="616268">
                  <a:moveTo>
                    <a:pt x="0" y="0"/>
                  </a:moveTo>
                  <a:lnTo>
                    <a:pt x="0" y="616268"/>
                  </a:lnTo>
                </a:path>
              </a:pathLst>
            </a:custGeom>
            <a:noFill/>
            <a:ln w="17145">
              <a:solidFill>
                <a:srgbClr val="1F2937"/>
              </a:solidFill>
            </a:ln>
          </p:spPr>
        </p:sp>
        <p:sp>
          <p:nvSpPr>
            <p:cNvPr id="14" name="Freeform 14"/>
            <p:cNvSpPr/>
            <p:nvPr/>
          </p:nvSpPr>
          <p:spPr>
            <a:xfrm>
              <a:off x="4580572" y="3892868"/>
              <a:ext cx="9525" cy="615315"/>
            </a:xfrm>
            <a:custGeom>
              <a:avLst/>
              <a:gdLst/>
              <a:ahLst/>
              <a:cxnLst/>
              <a:rect l="l" t="t" r="r" b="b"/>
              <a:pathLst>
                <a:path w="9525" h="615315">
                  <a:moveTo>
                    <a:pt x="0" y="615315"/>
                  </a:moveTo>
                  <a:lnTo>
                    <a:pt x="0" y="0"/>
                  </a:lnTo>
                </a:path>
              </a:pathLst>
            </a:custGeom>
            <a:noFill/>
            <a:ln w="17145">
              <a:solidFill>
                <a:srgbClr val="1F2937"/>
              </a:solidFill>
            </a:ln>
          </p:spPr>
        </p:sp>
        <p:sp>
          <p:nvSpPr>
            <p:cNvPr id="15" name="Freeform 15"/>
            <p:cNvSpPr/>
            <p:nvPr/>
          </p:nvSpPr>
          <p:spPr>
            <a:xfrm>
              <a:off x="4690110" y="3770948"/>
              <a:ext cx="1022985" cy="9525"/>
            </a:xfrm>
            <a:custGeom>
              <a:avLst/>
              <a:gdLst/>
              <a:ahLst/>
              <a:cxnLst/>
              <a:rect l="l" t="t" r="r" b="b"/>
              <a:pathLst>
                <a:path w="1022985" h="9525">
                  <a:moveTo>
                    <a:pt x="0" y="0"/>
                  </a:moveTo>
                  <a:lnTo>
                    <a:pt x="1022985" y="0"/>
                  </a:lnTo>
                </a:path>
              </a:pathLst>
            </a:custGeom>
            <a:noFill/>
            <a:ln w="17145">
              <a:solidFill>
                <a:srgbClr val="1F2937"/>
              </a:solidFill>
            </a:ln>
          </p:spPr>
        </p:sp>
        <p:sp>
          <p:nvSpPr>
            <p:cNvPr id="16" name="Rectangle 16"/>
            <p:cNvSpPr/>
            <p:nvPr/>
          </p:nvSpPr>
          <p:spPr>
            <a:xfrm>
              <a:off x="1733550" y="3613785"/>
              <a:ext cx="2956560" cy="314325"/>
            </a:xfrm>
            <a:prstGeom prst="roundRect">
              <a:avLst>
                <a:gd name="adj" fmla="val 30303"/>
              </a:avLst>
            </a:prstGeom>
            <a:solidFill>
              <a:srgbClr val="334E68"/>
            </a:solidFill>
            <a:ln w="17145">
              <a:solidFill>
                <a:srgbClr val="334E68"/>
              </a:solidFill>
            </a:ln>
          </p:spPr>
        </p:sp>
        <p:sp>
          <p:nvSpPr>
            <p:cNvPr id="17" name="Rectangle 17"/>
            <p:cNvSpPr/>
            <p:nvPr/>
          </p:nvSpPr>
          <p:spPr>
            <a:xfrm>
              <a:off x="1149668" y="2441258"/>
              <a:ext cx="1385888" cy="591502"/>
            </a:xfrm>
            <a:prstGeom prst="roundRect">
              <a:avLst>
                <a:gd name="adj" fmla="val 16103"/>
              </a:avLst>
            </a:prstGeom>
            <a:solidFill>
              <a:srgbClr val="E7EDF3"/>
            </a:solidFill>
            <a:ln w="17145">
              <a:solidFill>
                <a:srgbClr val="334E68"/>
              </a:solidFill>
            </a:ln>
          </p:spPr>
        </p:sp>
        <p:sp>
          <p:nvSpPr>
            <p:cNvPr id="18" name="Rectangle 18"/>
            <p:cNvSpPr/>
            <p:nvPr/>
          </p:nvSpPr>
          <p:spPr>
            <a:xfrm>
              <a:off x="3887152" y="2441258"/>
              <a:ext cx="1385888" cy="591502"/>
            </a:xfrm>
            <a:prstGeom prst="roundRect">
              <a:avLst>
                <a:gd name="adj" fmla="val 16103"/>
              </a:avLst>
            </a:prstGeom>
            <a:solidFill>
              <a:srgbClr val="E7EDF3"/>
            </a:solidFill>
            <a:ln w="17145">
              <a:solidFill>
                <a:srgbClr val="334E68"/>
              </a:solidFill>
            </a:ln>
          </p:spPr>
        </p:sp>
        <p:sp>
          <p:nvSpPr>
            <p:cNvPr id="19" name="Rectangle 19"/>
            <p:cNvSpPr/>
            <p:nvPr/>
          </p:nvSpPr>
          <p:spPr>
            <a:xfrm>
              <a:off x="1149668" y="4508182"/>
              <a:ext cx="1385888" cy="591502"/>
            </a:xfrm>
            <a:prstGeom prst="roundRect">
              <a:avLst>
                <a:gd name="adj" fmla="val 16103"/>
              </a:avLst>
            </a:prstGeom>
            <a:solidFill>
              <a:srgbClr val="E7EDF3"/>
            </a:solidFill>
            <a:ln w="17145">
              <a:solidFill>
                <a:srgbClr val="334E68"/>
              </a:solidFill>
            </a:ln>
          </p:spPr>
        </p:sp>
        <p:sp>
          <p:nvSpPr>
            <p:cNvPr id="20" name="Rectangle 20"/>
            <p:cNvSpPr/>
            <p:nvPr/>
          </p:nvSpPr>
          <p:spPr>
            <a:xfrm>
              <a:off x="3887152" y="4508182"/>
              <a:ext cx="1385888" cy="591502"/>
            </a:xfrm>
            <a:prstGeom prst="roundRect">
              <a:avLst>
                <a:gd name="adj" fmla="val 16103"/>
              </a:avLst>
            </a:prstGeom>
            <a:solidFill>
              <a:srgbClr val="E7EDF3"/>
            </a:solidFill>
            <a:ln w="17145">
              <a:solidFill>
                <a:srgbClr val="334E68"/>
              </a:solidFill>
            </a:ln>
          </p:spPr>
        </p:sp>
        <p:sp>
          <p:nvSpPr>
            <p:cNvPr id="21" name="Rectangle 21"/>
            <p:cNvSpPr/>
            <p:nvPr/>
          </p:nvSpPr>
          <p:spPr>
            <a:xfrm>
              <a:off x="1242060" y="1609725"/>
              <a:ext cx="1201102" cy="277178"/>
            </a:xfrm>
            <a:prstGeom prst="roundRect">
              <a:avLst>
                <a:gd name="adj" fmla="val 34364"/>
              </a:avLst>
            </a:prstGeom>
            <a:solidFill>
              <a:srgbClr val="FFFFFF"/>
            </a:solidFill>
            <a:ln w="17145">
              <a:solidFill>
                <a:srgbClr val="334E68"/>
              </a:solidFill>
            </a:ln>
          </p:spPr>
        </p:sp>
        <p:sp>
          <p:nvSpPr>
            <p:cNvPr id="22" name="Rectangle 22"/>
            <p:cNvSpPr/>
            <p:nvPr/>
          </p:nvSpPr>
          <p:spPr>
            <a:xfrm>
              <a:off x="3979545" y="1609725"/>
              <a:ext cx="1201102" cy="277178"/>
            </a:xfrm>
            <a:prstGeom prst="roundRect">
              <a:avLst>
                <a:gd name="adj" fmla="val 34364"/>
              </a:avLst>
            </a:prstGeom>
            <a:solidFill>
              <a:srgbClr val="FFFFFF"/>
            </a:solidFill>
            <a:ln w="17145">
              <a:solidFill>
                <a:srgbClr val="334E68"/>
              </a:solidFill>
            </a:ln>
          </p:spPr>
        </p:sp>
        <p:sp>
          <p:nvSpPr>
            <p:cNvPr id="23" name="Rectangle 23"/>
            <p:cNvSpPr/>
            <p:nvPr/>
          </p:nvSpPr>
          <p:spPr>
            <a:xfrm>
              <a:off x="1242060" y="5654040"/>
              <a:ext cx="1201102" cy="277178"/>
            </a:xfrm>
            <a:prstGeom prst="roundRect">
              <a:avLst>
                <a:gd name="adj" fmla="val 34364"/>
              </a:avLst>
            </a:prstGeom>
            <a:solidFill>
              <a:srgbClr val="FFFFFF"/>
            </a:solidFill>
            <a:ln w="17145">
              <a:solidFill>
                <a:srgbClr val="334E68"/>
              </a:solidFill>
            </a:ln>
          </p:spPr>
        </p:sp>
        <p:sp>
          <p:nvSpPr>
            <p:cNvPr id="24" name="Rectangle 24"/>
            <p:cNvSpPr/>
            <p:nvPr/>
          </p:nvSpPr>
          <p:spPr>
            <a:xfrm>
              <a:off x="3979545" y="5654040"/>
              <a:ext cx="1201102" cy="277178"/>
            </a:xfrm>
            <a:prstGeom prst="roundRect">
              <a:avLst>
                <a:gd name="adj" fmla="val 34364"/>
              </a:avLst>
            </a:prstGeom>
            <a:solidFill>
              <a:srgbClr val="FFFFFF"/>
            </a:solidFill>
            <a:ln w="17145">
              <a:solidFill>
                <a:srgbClr val="334E68"/>
              </a:solidFill>
            </a:ln>
          </p:spPr>
        </p:sp>
        <p:sp>
          <p:nvSpPr>
            <p:cNvPr id="25" name="Rectangle 25"/>
            <p:cNvSpPr/>
            <p:nvPr/>
          </p:nvSpPr>
          <p:spPr>
            <a:xfrm>
              <a:off x="5713095" y="3262312"/>
              <a:ext cx="591502" cy="1016318"/>
            </a:xfrm>
            <a:prstGeom prst="roundRect">
              <a:avLst>
                <a:gd name="adj" fmla="val 16103"/>
              </a:avLst>
            </a:prstGeom>
            <a:solidFill>
              <a:srgbClr val="FDEEE7"/>
            </a:solidFill>
            <a:ln w="17145">
              <a:solidFill>
                <a:srgbClr val="F26B3A"/>
              </a:solidFill>
            </a:ln>
          </p:spPr>
        </p:sp>
        <p:sp>
          <p:nvSpPr>
            <p:cNvPr id="26" name="TextBox 26"/>
            <p:cNvSpPr txBox="1"/>
            <p:nvPr/>
          </p:nvSpPr>
          <p:spPr>
            <a:xfrm>
              <a:off x="2721102" y="3695700"/>
              <a:ext cx="981456"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片上互连网络</a:t>
              </a:r>
            </a:p>
          </p:txBody>
        </p:sp>
        <p:sp>
          <p:nvSpPr>
            <p:cNvPr id="27" name="TextBox 27"/>
            <p:cNvSpPr txBox="1"/>
            <p:nvPr/>
          </p:nvSpPr>
          <p:spPr>
            <a:xfrm>
              <a:off x="1603358" y="2566988"/>
              <a:ext cx="479458" cy="234696"/>
            </a:xfrm>
            <a:prstGeom prst="rect">
              <a:avLst/>
            </a:prstGeom>
            <a:noFill/>
            <a:ln>
              <a:noFill/>
            </a:ln>
          </p:spPr>
          <p:txBody>
            <a:bodyPr wrap="none" lIns="0" tIns="0" rIns="0" bIns="0" anchor="t" anchorCtr="0">
              <a:spAutoFit/>
            </a:bodyPr>
            <a:lstStyle/>
            <a:p>
              <a:pPr algn="ctr"/>
              <a:r>
                <a:rPr lang="zh-CN" sz="1200" b="1" dirty="0">
                  <a:solidFill>
                    <a:srgbClr val="243B53"/>
                  </a:solidFill>
                  <a:latin typeface="+mn-lt"/>
                  <a:ea typeface="+mn-ea"/>
                  <a:cs typeface="+mn-cs"/>
                </a:rPr>
                <a:t>核组 0</a:t>
              </a:r>
            </a:p>
          </p:txBody>
        </p:sp>
        <p:sp>
          <p:nvSpPr>
            <p:cNvPr id="28" name="TextBox 28"/>
            <p:cNvSpPr txBox="1"/>
            <p:nvPr/>
          </p:nvSpPr>
          <p:spPr>
            <a:xfrm>
              <a:off x="1250991" y="2757488"/>
              <a:ext cx="1184194" cy="234696"/>
            </a:xfrm>
            <a:prstGeom prst="rect">
              <a:avLst/>
            </a:prstGeom>
            <a:noFill/>
            <a:ln>
              <a:noFill/>
            </a:ln>
          </p:spPr>
          <p:txBody>
            <a:bodyPr wrap="none" lIns="0" tIns="0" rIns="0" bIns="0" anchor="t" anchorCtr="0">
              <a:spAutoFit/>
            </a:bodyPr>
            <a:lstStyle/>
            <a:p>
              <a:pPr algn="ctr"/>
              <a:r>
                <a:rPr lang="zh-CN" sz="1200" b="1" dirty="0">
                  <a:solidFill>
                    <a:srgbClr val="243B53"/>
                  </a:solidFill>
                  <a:latin typeface="+mn-lt"/>
                  <a:ea typeface="+mn-ea"/>
                  <a:cs typeface="+mn-cs"/>
                </a:rPr>
                <a:t>主核 + 8×8 从核</a:t>
              </a:r>
            </a:p>
          </p:txBody>
        </p:sp>
        <p:sp>
          <p:nvSpPr>
            <p:cNvPr id="29" name="TextBox 29"/>
            <p:cNvSpPr txBox="1"/>
            <p:nvPr/>
          </p:nvSpPr>
          <p:spPr>
            <a:xfrm>
              <a:off x="4340843" y="2566988"/>
              <a:ext cx="479458" cy="234696"/>
            </a:xfrm>
            <a:prstGeom prst="rect">
              <a:avLst/>
            </a:prstGeom>
            <a:noFill/>
            <a:ln>
              <a:noFill/>
            </a:ln>
          </p:spPr>
          <p:txBody>
            <a:bodyPr wrap="none" lIns="0" tIns="0" rIns="0" bIns="0" anchor="t" anchorCtr="0">
              <a:spAutoFit/>
            </a:bodyPr>
            <a:lstStyle/>
            <a:p>
              <a:pPr algn="ctr"/>
              <a:r>
                <a:rPr lang="zh-CN" sz="1200" b="1" dirty="0">
                  <a:solidFill>
                    <a:srgbClr val="243B53"/>
                  </a:solidFill>
                  <a:latin typeface="+mn-lt"/>
                  <a:ea typeface="+mn-ea"/>
                  <a:cs typeface="+mn-cs"/>
                </a:rPr>
                <a:t>核组 1</a:t>
              </a:r>
            </a:p>
          </p:txBody>
        </p:sp>
        <p:sp>
          <p:nvSpPr>
            <p:cNvPr id="30" name="TextBox 30"/>
            <p:cNvSpPr txBox="1"/>
            <p:nvPr/>
          </p:nvSpPr>
          <p:spPr>
            <a:xfrm>
              <a:off x="3988476" y="2757488"/>
              <a:ext cx="1184194" cy="234696"/>
            </a:xfrm>
            <a:prstGeom prst="rect">
              <a:avLst/>
            </a:prstGeom>
            <a:noFill/>
            <a:ln>
              <a:noFill/>
            </a:ln>
          </p:spPr>
          <p:txBody>
            <a:bodyPr wrap="none" lIns="0" tIns="0" rIns="0" bIns="0" anchor="t" anchorCtr="0">
              <a:spAutoFit/>
            </a:bodyPr>
            <a:lstStyle/>
            <a:p>
              <a:pPr algn="ctr"/>
              <a:r>
                <a:rPr lang="zh-CN" sz="1200" b="1" dirty="0">
                  <a:solidFill>
                    <a:srgbClr val="243B53"/>
                  </a:solidFill>
                  <a:latin typeface="+mn-lt"/>
                  <a:ea typeface="+mn-ea"/>
                  <a:cs typeface="+mn-cs"/>
                </a:rPr>
                <a:t>主核 + 8×8 从核</a:t>
              </a:r>
            </a:p>
          </p:txBody>
        </p:sp>
        <p:sp>
          <p:nvSpPr>
            <p:cNvPr id="31" name="TextBox 31"/>
            <p:cNvSpPr txBox="1"/>
            <p:nvPr/>
          </p:nvSpPr>
          <p:spPr>
            <a:xfrm>
              <a:off x="1603358" y="4633912"/>
              <a:ext cx="479458" cy="234696"/>
            </a:xfrm>
            <a:prstGeom prst="rect">
              <a:avLst/>
            </a:prstGeom>
            <a:noFill/>
            <a:ln>
              <a:noFill/>
            </a:ln>
          </p:spPr>
          <p:txBody>
            <a:bodyPr wrap="none" lIns="0" tIns="0" rIns="0" bIns="0" anchor="t" anchorCtr="0">
              <a:spAutoFit/>
            </a:bodyPr>
            <a:lstStyle/>
            <a:p>
              <a:pPr algn="ctr"/>
              <a:r>
                <a:rPr lang="zh-CN" sz="1200" b="1" dirty="0">
                  <a:solidFill>
                    <a:srgbClr val="243B53"/>
                  </a:solidFill>
                  <a:latin typeface="+mn-lt"/>
                  <a:ea typeface="+mn-ea"/>
                  <a:cs typeface="+mn-cs"/>
                </a:rPr>
                <a:t>核组 2</a:t>
              </a:r>
            </a:p>
          </p:txBody>
        </p:sp>
        <p:sp>
          <p:nvSpPr>
            <p:cNvPr id="32" name="TextBox 32"/>
            <p:cNvSpPr txBox="1"/>
            <p:nvPr/>
          </p:nvSpPr>
          <p:spPr>
            <a:xfrm>
              <a:off x="1250991" y="4824412"/>
              <a:ext cx="1184194" cy="234696"/>
            </a:xfrm>
            <a:prstGeom prst="rect">
              <a:avLst/>
            </a:prstGeom>
            <a:noFill/>
            <a:ln>
              <a:noFill/>
            </a:ln>
          </p:spPr>
          <p:txBody>
            <a:bodyPr wrap="none" lIns="0" tIns="0" rIns="0" bIns="0" anchor="t" anchorCtr="0">
              <a:spAutoFit/>
            </a:bodyPr>
            <a:lstStyle/>
            <a:p>
              <a:pPr algn="ctr"/>
              <a:r>
                <a:rPr lang="zh-CN" sz="1200" b="1" dirty="0">
                  <a:solidFill>
                    <a:srgbClr val="243B53"/>
                  </a:solidFill>
                  <a:latin typeface="+mn-lt"/>
                  <a:ea typeface="+mn-ea"/>
                  <a:cs typeface="+mn-cs"/>
                </a:rPr>
                <a:t>主核 + 8×8 从核</a:t>
              </a:r>
            </a:p>
          </p:txBody>
        </p:sp>
        <p:sp>
          <p:nvSpPr>
            <p:cNvPr id="33" name="TextBox 33"/>
            <p:cNvSpPr txBox="1"/>
            <p:nvPr/>
          </p:nvSpPr>
          <p:spPr>
            <a:xfrm>
              <a:off x="4340843" y="4633912"/>
              <a:ext cx="479458" cy="234696"/>
            </a:xfrm>
            <a:prstGeom prst="rect">
              <a:avLst/>
            </a:prstGeom>
            <a:noFill/>
            <a:ln>
              <a:noFill/>
            </a:ln>
          </p:spPr>
          <p:txBody>
            <a:bodyPr wrap="none" lIns="0" tIns="0" rIns="0" bIns="0" anchor="t" anchorCtr="0">
              <a:spAutoFit/>
            </a:bodyPr>
            <a:lstStyle/>
            <a:p>
              <a:pPr algn="ctr"/>
              <a:r>
                <a:rPr lang="zh-CN" sz="1200" b="1" dirty="0">
                  <a:solidFill>
                    <a:srgbClr val="243B53"/>
                  </a:solidFill>
                  <a:latin typeface="+mn-lt"/>
                  <a:ea typeface="+mn-ea"/>
                  <a:cs typeface="+mn-cs"/>
                </a:rPr>
                <a:t>核组 3</a:t>
              </a:r>
            </a:p>
          </p:txBody>
        </p:sp>
        <p:sp>
          <p:nvSpPr>
            <p:cNvPr id="34" name="TextBox 34"/>
            <p:cNvSpPr txBox="1"/>
            <p:nvPr/>
          </p:nvSpPr>
          <p:spPr>
            <a:xfrm>
              <a:off x="3988476" y="4824412"/>
              <a:ext cx="1184194" cy="234696"/>
            </a:xfrm>
            <a:prstGeom prst="rect">
              <a:avLst/>
            </a:prstGeom>
            <a:noFill/>
            <a:ln>
              <a:noFill/>
            </a:ln>
          </p:spPr>
          <p:txBody>
            <a:bodyPr wrap="none" lIns="0" tIns="0" rIns="0" bIns="0" anchor="t" anchorCtr="0">
              <a:spAutoFit/>
            </a:bodyPr>
            <a:lstStyle/>
            <a:p>
              <a:pPr algn="ctr"/>
              <a:r>
                <a:rPr lang="zh-CN" sz="1200" b="1" dirty="0">
                  <a:solidFill>
                    <a:srgbClr val="243B53"/>
                  </a:solidFill>
                  <a:latin typeface="+mn-lt"/>
                  <a:ea typeface="+mn-ea"/>
                  <a:cs typeface="+mn-cs"/>
                </a:rPr>
                <a:t>主核 + 8×8 从核</a:t>
              </a:r>
            </a:p>
          </p:txBody>
        </p:sp>
        <p:sp>
          <p:nvSpPr>
            <p:cNvPr id="35" name="TextBox 35"/>
            <p:cNvSpPr txBox="1"/>
            <p:nvPr/>
          </p:nvSpPr>
          <p:spPr>
            <a:xfrm>
              <a:off x="1370648" y="1673543"/>
              <a:ext cx="944880" cy="234696"/>
            </a:xfrm>
            <a:prstGeom prst="rect">
              <a:avLst/>
            </a:prstGeom>
            <a:noFill/>
            <a:ln>
              <a:noFill/>
            </a:ln>
          </p:spPr>
          <p:txBody>
            <a:bodyPr wrap="none" lIns="0" tIns="0" rIns="0" bIns="0" anchor="t" anchorCtr="0">
              <a:spAutoFit/>
            </a:bodyPr>
            <a:lstStyle/>
            <a:p>
              <a:pPr algn="ctr"/>
              <a:r>
                <a:rPr lang="zh-CN" sz="1200" b="1" dirty="0">
                  <a:solidFill>
                    <a:srgbClr val="1F2937"/>
                  </a:solidFill>
                  <a:latin typeface="+mn-lt"/>
                  <a:ea typeface="+mn-ea"/>
                  <a:cs typeface="+mn-cs"/>
                </a:rPr>
                <a:t>DDR3 存储器</a:t>
              </a:r>
            </a:p>
          </p:txBody>
        </p:sp>
        <p:sp>
          <p:nvSpPr>
            <p:cNvPr id="36" name="TextBox 36"/>
            <p:cNvSpPr txBox="1"/>
            <p:nvPr/>
          </p:nvSpPr>
          <p:spPr>
            <a:xfrm>
              <a:off x="4108132" y="1673543"/>
              <a:ext cx="944880" cy="234696"/>
            </a:xfrm>
            <a:prstGeom prst="rect">
              <a:avLst/>
            </a:prstGeom>
            <a:noFill/>
            <a:ln>
              <a:noFill/>
            </a:ln>
          </p:spPr>
          <p:txBody>
            <a:bodyPr wrap="none" lIns="0" tIns="0" rIns="0" bIns="0" anchor="t" anchorCtr="0">
              <a:spAutoFit/>
            </a:bodyPr>
            <a:lstStyle/>
            <a:p>
              <a:pPr algn="ctr"/>
              <a:r>
                <a:rPr lang="zh-CN" sz="1200" b="1" dirty="0">
                  <a:solidFill>
                    <a:srgbClr val="1F2937"/>
                  </a:solidFill>
                  <a:latin typeface="+mn-lt"/>
                  <a:ea typeface="+mn-ea"/>
                  <a:cs typeface="+mn-cs"/>
                </a:rPr>
                <a:t>DDR3 存储器</a:t>
              </a:r>
            </a:p>
          </p:txBody>
        </p:sp>
        <p:sp>
          <p:nvSpPr>
            <p:cNvPr id="37" name="TextBox 37"/>
            <p:cNvSpPr txBox="1"/>
            <p:nvPr/>
          </p:nvSpPr>
          <p:spPr>
            <a:xfrm>
              <a:off x="1370648" y="5717858"/>
              <a:ext cx="944880" cy="234696"/>
            </a:xfrm>
            <a:prstGeom prst="rect">
              <a:avLst/>
            </a:prstGeom>
            <a:noFill/>
            <a:ln>
              <a:noFill/>
            </a:ln>
          </p:spPr>
          <p:txBody>
            <a:bodyPr wrap="none" lIns="0" tIns="0" rIns="0" bIns="0" anchor="t" anchorCtr="0">
              <a:spAutoFit/>
            </a:bodyPr>
            <a:lstStyle/>
            <a:p>
              <a:pPr algn="ctr"/>
              <a:r>
                <a:rPr lang="zh-CN" sz="1200" b="1" dirty="0">
                  <a:solidFill>
                    <a:srgbClr val="1F2937"/>
                  </a:solidFill>
                  <a:latin typeface="+mn-lt"/>
                  <a:ea typeface="+mn-ea"/>
                  <a:cs typeface="+mn-cs"/>
                </a:rPr>
                <a:t>DDR3 存储器</a:t>
              </a:r>
            </a:p>
          </p:txBody>
        </p:sp>
        <p:sp>
          <p:nvSpPr>
            <p:cNvPr id="38" name="TextBox 38"/>
            <p:cNvSpPr txBox="1"/>
            <p:nvPr/>
          </p:nvSpPr>
          <p:spPr>
            <a:xfrm>
              <a:off x="4108132" y="5717858"/>
              <a:ext cx="944880" cy="234696"/>
            </a:xfrm>
            <a:prstGeom prst="rect">
              <a:avLst/>
            </a:prstGeom>
            <a:noFill/>
            <a:ln>
              <a:noFill/>
            </a:ln>
          </p:spPr>
          <p:txBody>
            <a:bodyPr wrap="none" lIns="0" tIns="0" rIns="0" bIns="0" anchor="t" anchorCtr="0">
              <a:spAutoFit/>
            </a:bodyPr>
            <a:lstStyle/>
            <a:p>
              <a:pPr algn="ctr"/>
              <a:r>
                <a:rPr lang="zh-CN" sz="1200" b="1" dirty="0">
                  <a:solidFill>
                    <a:srgbClr val="1F2937"/>
                  </a:solidFill>
                  <a:latin typeface="+mn-lt"/>
                  <a:ea typeface="+mn-ea"/>
                  <a:cs typeface="+mn-cs"/>
                </a:rPr>
                <a:t>DDR3 存储器</a:t>
              </a:r>
            </a:p>
          </p:txBody>
        </p:sp>
        <p:sp>
          <p:nvSpPr>
            <p:cNvPr id="39" name="TextBox 39"/>
            <p:cNvSpPr txBox="1"/>
            <p:nvPr/>
          </p:nvSpPr>
          <p:spPr>
            <a:xfrm>
              <a:off x="5840730" y="3600450"/>
              <a:ext cx="335280" cy="234696"/>
            </a:xfrm>
            <a:prstGeom prst="rect">
              <a:avLst/>
            </a:prstGeom>
            <a:noFill/>
            <a:ln>
              <a:noFill/>
            </a:ln>
          </p:spPr>
          <p:txBody>
            <a:bodyPr wrap="none" lIns="0" tIns="0" rIns="0" bIns="0" anchor="t" anchorCtr="0">
              <a:spAutoFit/>
            </a:bodyPr>
            <a:lstStyle/>
            <a:p>
              <a:pPr algn="ctr"/>
              <a:r>
                <a:rPr lang="zh-CN" sz="1200" b="1" dirty="0">
                  <a:solidFill>
                    <a:srgbClr val="1F2937"/>
                  </a:solidFill>
                  <a:latin typeface="+mn-lt"/>
                  <a:ea typeface="+mn-ea"/>
                  <a:cs typeface="+mn-cs"/>
                </a:rPr>
                <a:t>系统</a:t>
              </a:r>
            </a:p>
          </p:txBody>
        </p:sp>
        <p:sp>
          <p:nvSpPr>
            <p:cNvPr id="40" name="TextBox 40"/>
            <p:cNvSpPr txBox="1"/>
            <p:nvPr/>
          </p:nvSpPr>
          <p:spPr>
            <a:xfrm>
              <a:off x="5840730" y="3790950"/>
              <a:ext cx="335280" cy="234696"/>
            </a:xfrm>
            <a:prstGeom prst="rect">
              <a:avLst/>
            </a:prstGeom>
            <a:noFill/>
            <a:ln>
              <a:noFill/>
            </a:ln>
          </p:spPr>
          <p:txBody>
            <a:bodyPr wrap="none" lIns="0" tIns="0" rIns="0" bIns="0" anchor="t" anchorCtr="0">
              <a:spAutoFit/>
            </a:bodyPr>
            <a:lstStyle/>
            <a:p>
              <a:pPr algn="ctr"/>
              <a:r>
                <a:rPr lang="zh-CN" sz="1200" b="1" dirty="0">
                  <a:solidFill>
                    <a:srgbClr val="1F2937"/>
                  </a:solidFill>
                  <a:latin typeface="+mn-lt"/>
                  <a:ea typeface="+mn-ea"/>
                  <a:cs typeface="+mn-cs"/>
                </a:rPr>
                <a:t>接口</a:t>
              </a:r>
            </a:p>
          </p:txBody>
        </p:sp>
        <p:sp>
          <p:nvSpPr>
            <p:cNvPr id="41" name="Rectangle 41"/>
            <p:cNvSpPr/>
            <p:nvPr/>
          </p:nvSpPr>
          <p:spPr>
            <a:xfrm>
              <a:off x="1704975" y="2071688"/>
              <a:ext cx="275272" cy="173355"/>
            </a:xfrm>
            <a:prstGeom prst="roundRect">
              <a:avLst>
                <a:gd name="adj" fmla="val 21978"/>
              </a:avLst>
            </a:prstGeom>
            <a:solidFill>
              <a:srgbClr val="FFFFFF"/>
            </a:solidFill>
            <a:ln>
              <a:noFill/>
            </a:ln>
          </p:spPr>
        </p:sp>
        <p:sp>
          <p:nvSpPr>
            <p:cNvPr id="42" name="TextBox 42"/>
            <p:cNvSpPr txBox="1"/>
            <p:nvPr/>
          </p:nvSpPr>
          <p:spPr>
            <a:xfrm>
              <a:off x="1728610" y="2106454"/>
              <a:ext cx="228956" cy="190690"/>
            </a:xfrm>
            <a:prstGeom prst="rect">
              <a:avLst/>
            </a:prstGeom>
            <a:noFill/>
            <a:ln>
              <a:noFill/>
            </a:ln>
          </p:spPr>
          <p:txBody>
            <a:bodyPr wrap="none" lIns="0" tIns="0" rIns="0" bIns="0" anchor="t" anchorCtr="0">
              <a:spAutoFit/>
            </a:bodyPr>
            <a:lstStyle/>
            <a:p>
              <a:pPr algn="ctr"/>
              <a:r>
                <a:rPr lang="en-US" sz="980" dirty="0">
                  <a:solidFill>
                    <a:srgbClr val="C2410C"/>
                  </a:solidFill>
                  <a:latin typeface="+mn-lt"/>
                  <a:ea typeface="+mn-ea"/>
                  <a:cs typeface="+mn-cs"/>
                </a:rPr>
                <a:t>iMC</a:t>
              </a:r>
            </a:p>
          </p:txBody>
        </p:sp>
        <p:sp>
          <p:nvSpPr>
            <p:cNvPr id="43" name="Rectangle 43"/>
            <p:cNvSpPr/>
            <p:nvPr/>
          </p:nvSpPr>
          <p:spPr>
            <a:xfrm>
              <a:off x="4442460" y="2071688"/>
              <a:ext cx="275272" cy="173355"/>
            </a:xfrm>
            <a:prstGeom prst="roundRect">
              <a:avLst>
                <a:gd name="adj" fmla="val 21978"/>
              </a:avLst>
            </a:prstGeom>
            <a:solidFill>
              <a:srgbClr val="FFFFFF"/>
            </a:solidFill>
            <a:ln>
              <a:noFill/>
            </a:ln>
          </p:spPr>
        </p:sp>
        <p:sp>
          <p:nvSpPr>
            <p:cNvPr id="44" name="TextBox 44"/>
            <p:cNvSpPr txBox="1"/>
            <p:nvPr/>
          </p:nvSpPr>
          <p:spPr>
            <a:xfrm>
              <a:off x="4466095" y="2106454"/>
              <a:ext cx="228956" cy="190690"/>
            </a:xfrm>
            <a:prstGeom prst="rect">
              <a:avLst/>
            </a:prstGeom>
            <a:noFill/>
            <a:ln>
              <a:noFill/>
            </a:ln>
          </p:spPr>
          <p:txBody>
            <a:bodyPr wrap="none" lIns="0" tIns="0" rIns="0" bIns="0" anchor="t" anchorCtr="0">
              <a:spAutoFit/>
            </a:bodyPr>
            <a:lstStyle/>
            <a:p>
              <a:pPr algn="ctr"/>
              <a:r>
                <a:rPr lang="en-US" sz="980" dirty="0">
                  <a:solidFill>
                    <a:srgbClr val="C2410C"/>
                  </a:solidFill>
                  <a:latin typeface="+mn-lt"/>
                  <a:ea typeface="+mn-ea"/>
                  <a:cs typeface="+mn-cs"/>
                </a:rPr>
                <a:t>iMC</a:t>
              </a:r>
            </a:p>
          </p:txBody>
        </p:sp>
        <p:sp>
          <p:nvSpPr>
            <p:cNvPr id="45" name="Rectangle 45"/>
            <p:cNvSpPr/>
            <p:nvPr/>
          </p:nvSpPr>
          <p:spPr>
            <a:xfrm>
              <a:off x="1704975" y="5283518"/>
              <a:ext cx="275272" cy="173355"/>
            </a:xfrm>
            <a:prstGeom prst="roundRect">
              <a:avLst>
                <a:gd name="adj" fmla="val 21978"/>
              </a:avLst>
            </a:prstGeom>
            <a:solidFill>
              <a:srgbClr val="FFFFFF"/>
            </a:solidFill>
            <a:ln>
              <a:noFill/>
            </a:ln>
          </p:spPr>
        </p:sp>
        <p:sp>
          <p:nvSpPr>
            <p:cNvPr id="46" name="TextBox 46"/>
            <p:cNvSpPr txBox="1"/>
            <p:nvPr/>
          </p:nvSpPr>
          <p:spPr>
            <a:xfrm>
              <a:off x="1728610" y="5318284"/>
              <a:ext cx="228956" cy="190690"/>
            </a:xfrm>
            <a:prstGeom prst="rect">
              <a:avLst/>
            </a:prstGeom>
            <a:noFill/>
            <a:ln>
              <a:noFill/>
            </a:ln>
          </p:spPr>
          <p:txBody>
            <a:bodyPr wrap="none" lIns="0" tIns="0" rIns="0" bIns="0" anchor="t" anchorCtr="0">
              <a:spAutoFit/>
            </a:bodyPr>
            <a:lstStyle/>
            <a:p>
              <a:pPr algn="ctr"/>
              <a:r>
                <a:rPr lang="en-US" sz="980" dirty="0">
                  <a:solidFill>
                    <a:srgbClr val="C2410C"/>
                  </a:solidFill>
                  <a:latin typeface="+mn-lt"/>
                  <a:ea typeface="+mn-ea"/>
                  <a:cs typeface="+mn-cs"/>
                </a:rPr>
                <a:t>iMC</a:t>
              </a:r>
            </a:p>
          </p:txBody>
        </p:sp>
        <p:sp>
          <p:nvSpPr>
            <p:cNvPr id="47" name="Rectangle 47"/>
            <p:cNvSpPr/>
            <p:nvPr/>
          </p:nvSpPr>
          <p:spPr>
            <a:xfrm>
              <a:off x="4442460" y="5283518"/>
              <a:ext cx="275272" cy="173355"/>
            </a:xfrm>
            <a:prstGeom prst="roundRect">
              <a:avLst>
                <a:gd name="adj" fmla="val 21978"/>
              </a:avLst>
            </a:prstGeom>
            <a:solidFill>
              <a:srgbClr val="FFFFFF"/>
            </a:solidFill>
            <a:ln>
              <a:noFill/>
            </a:ln>
          </p:spPr>
        </p:sp>
        <p:sp>
          <p:nvSpPr>
            <p:cNvPr id="48" name="TextBox 48"/>
            <p:cNvSpPr txBox="1"/>
            <p:nvPr/>
          </p:nvSpPr>
          <p:spPr>
            <a:xfrm>
              <a:off x="4466095" y="5318284"/>
              <a:ext cx="228956" cy="190690"/>
            </a:xfrm>
            <a:prstGeom prst="rect">
              <a:avLst/>
            </a:prstGeom>
            <a:noFill/>
            <a:ln>
              <a:noFill/>
            </a:ln>
          </p:spPr>
          <p:txBody>
            <a:bodyPr wrap="none" lIns="0" tIns="0" rIns="0" bIns="0" anchor="t" anchorCtr="0">
              <a:spAutoFit/>
            </a:bodyPr>
            <a:lstStyle/>
            <a:p>
              <a:pPr algn="ctr"/>
              <a:r>
                <a:rPr lang="en-US" sz="980" dirty="0">
                  <a:solidFill>
                    <a:srgbClr val="C2410C"/>
                  </a:solidFill>
                  <a:latin typeface="+mn-lt"/>
                  <a:ea typeface="+mn-ea"/>
                  <a:cs typeface="+mn-cs"/>
                </a:rPr>
                <a:t>iMC</a:t>
              </a:r>
            </a:p>
          </p:txBody>
        </p:sp>
        <p:sp>
          <p:nvSpPr>
            <p:cNvPr id="49" name="TextBox 49"/>
            <p:cNvSpPr txBox="1"/>
            <p:nvPr/>
          </p:nvSpPr>
          <p:spPr>
            <a:xfrm>
              <a:off x="5486019" y="4989195"/>
              <a:ext cx="926592" cy="440436"/>
            </a:xfrm>
            <a:prstGeom prst="rect">
              <a:avLst/>
            </a:prstGeom>
            <a:noFill/>
            <a:ln>
              <a:noFill/>
            </a:ln>
          </p:spPr>
          <p:txBody>
            <a:bodyPr wrap="none" lIns="0" tIns="0" rIns="0" bIns="0" anchor="t" anchorCtr="0">
              <a:spAutoFit/>
            </a:bodyPr>
            <a:lstStyle/>
            <a:p>
              <a:pPr algn="ctr">
                <a:lnSpc>
                  <a:spcPts val="1620"/>
                </a:lnSpc>
              </a:pPr>
              <a:r>
                <a:rPr lang="zh-CN" sz="1200" dirty="0">
                  <a:solidFill>
                    <a:srgbClr val="5B6475"/>
                  </a:solidFill>
                  <a:latin typeface="+mn-lt"/>
                  <a:ea typeface="+mn-ea"/>
                  <a:cs typeface="+mn-cs"/>
                </a:rPr>
                <a:t>PCIe、以太</a:t>
              </a:r>
              <a:br/>
              <a:r>
                <a:rPr lang="zh-CN" sz="1200" dirty="0">
                  <a:solidFill>
                    <a:srgbClr val="5B6475"/>
                  </a:solidFill>
                  <a:latin typeface="+mn-lt"/>
                  <a:ea typeface="+mn-ea"/>
                  <a:cs typeface="+mn-cs"/>
                </a:rPr>
                <a:t>网、维护接口</a:t>
              </a:r>
            </a:p>
          </p:txBody>
        </p:sp>
      </p:grpSp>
      <p:grpSp>
        <p:nvGrpSpPr>
          <p:cNvPr id="64" name="c2-card-1"/>
          <p:cNvGrpSpPr/>
          <p:nvPr/>
        </p:nvGrpSpPr>
        <p:grpSpPr>
          <a:xfrm>
            <a:off x="6789420" y="1524000"/>
            <a:ext cx="4869180" cy="3551872"/>
            <a:chOff x="6789420" y="1524000"/>
            <a:chExt cx="4869180" cy="3551872"/>
          </a:xfrm>
        </p:grpSpPr>
        <p:sp>
          <p:nvSpPr>
            <p:cNvPr id="51" name="Rectangle 51"/>
            <p:cNvSpPr/>
            <p:nvPr/>
          </p:nvSpPr>
          <p:spPr>
            <a:xfrm>
              <a:off x="6789420" y="1524000"/>
              <a:ext cx="4869180" cy="3551872"/>
            </a:xfrm>
            <a:prstGeom prst="roundRect">
              <a:avLst>
                <a:gd name="adj" fmla="val 3754"/>
              </a:avLst>
            </a:prstGeom>
            <a:solidFill>
              <a:srgbClr val="FFFFFF"/>
            </a:solidFill>
            <a:ln w="14288">
              <a:solidFill>
                <a:srgbClr val="D9DFEA"/>
              </a:solidFill>
            </a:ln>
          </p:spPr>
        </p:sp>
        <p:sp>
          <p:nvSpPr>
            <p:cNvPr id="52" name="Rectangle 52"/>
            <p:cNvSpPr/>
            <p:nvPr/>
          </p:nvSpPr>
          <p:spPr>
            <a:xfrm>
              <a:off x="6798945" y="1657350"/>
              <a:ext cx="47625" cy="3285172"/>
            </a:xfrm>
            <a:prstGeom prst="roundRect">
              <a:avLst>
                <a:gd name="adj" fmla="val 50000"/>
              </a:avLst>
            </a:prstGeom>
            <a:solidFill>
              <a:srgbClr val="334E68"/>
            </a:solidFill>
            <a:ln>
              <a:noFill/>
            </a:ln>
          </p:spPr>
        </p:sp>
        <p:sp>
          <p:nvSpPr>
            <p:cNvPr id="53" name="Rectangle 53"/>
            <p:cNvSpPr/>
            <p:nvPr/>
          </p:nvSpPr>
          <p:spPr>
            <a:xfrm>
              <a:off x="7031355" y="1727835"/>
              <a:ext cx="778192" cy="257175"/>
            </a:xfrm>
            <a:prstGeom prst="roundRect">
              <a:avLst>
                <a:gd name="adj" fmla="val 50000"/>
              </a:avLst>
            </a:prstGeom>
            <a:solidFill>
              <a:srgbClr val="E7EDF3"/>
            </a:solidFill>
            <a:ln>
              <a:noFill/>
            </a:ln>
          </p:spPr>
        </p:sp>
        <p:sp>
          <p:nvSpPr>
            <p:cNvPr id="54" name="TextBox 54"/>
            <p:cNvSpPr txBox="1"/>
            <p:nvPr/>
          </p:nvSpPr>
          <p:spPr>
            <a:xfrm>
              <a:off x="7113664" y="1763554"/>
              <a:ext cx="614528"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主从异构</a:t>
              </a:r>
            </a:p>
          </p:txBody>
        </p:sp>
        <p:sp>
          <p:nvSpPr>
            <p:cNvPr id="55" name="Ellipse 55"/>
            <p:cNvSpPr/>
            <p:nvPr/>
          </p:nvSpPr>
          <p:spPr>
            <a:xfrm>
              <a:off x="7038975" y="2161222"/>
              <a:ext cx="60960" cy="60960"/>
            </a:xfrm>
            <a:prstGeom prst="ellipse">
              <a:avLst/>
            </a:prstGeom>
            <a:solidFill>
              <a:srgbClr val="334E68"/>
            </a:solidFill>
            <a:ln>
              <a:noFill/>
            </a:ln>
          </p:spPr>
        </p:sp>
        <p:sp>
          <p:nvSpPr>
            <p:cNvPr id="56" name="TextBox 56"/>
            <p:cNvSpPr txBox="1"/>
            <p:nvPr/>
          </p:nvSpPr>
          <p:spPr>
            <a:xfrm>
              <a:off x="7195566" y="2100739"/>
              <a:ext cx="4141379"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少量通用主核 MPE 负责运行操作系统、分配任务</a:t>
              </a:r>
            </a:p>
          </p:txBody>
        </p:sp>
        <p:sp>
          <p:nvSpPr>
            <p:cNvPr id="57" name="Ellipse 57"/>
            <p:cNvSpPr/>
            <p:nvPr/>
          </p:nvSpPr>
          <p:spPr>
            <a:xfrm>
              <a:off x="7038975" y="2481262"/>
              <a:ext cx="60960" cy="60960"/>
            </a:xfrm>
            <a:prstGeom prst="ellipse">
              <a:avLst/>
            </a:prstGeom>
            <a:solidFill>
              <a:srgbClr val="334E68"/>
            </a:solidFill>
            <a:ln>
              <a:noFill/>
            </a:ln>
          </p:spPr>
        </p:sp>
        <p:sp>
          <p:nvSpPr>
            <p:cNvPr id="58" name="TextBox 58"/>
            <p:cNvSpPr txBox="1"/>
            <p:nvPr/>
          </p:nvSpPr>
          <p:spPr>
            <a:xfrm>
              <a:off x="7195566" y="2420779"/>
              <a:ext cx="3981958" cy="550164"/>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大量精简的从核负责计算，不支持硬件线程切换，</a:t>
              </a:r>
              <a:br/>
              <a:r>
                <a:rPr lang="zh-CN" sz="1420" dirty="0">
                  <a:solidFill>
                    <a:srgbClr val="1F2937"/>
                  </a:solidFill>
                  <a:latin typeface="+mn-lt"/>
                  <a:ea typeface="+mn-ea"/>
                  <a:cs typeface="+mn-cs"/>
                </a:rPr>
                <a:t>不能运行操作系统，由主核分配任务</a:t>
              </a:r>
            </a:p>
          </p:txBody>
        </p:sp>
        <p:sp>
          <p:nvSpPr>
            <p:cNvPr id="59" name="Ellipse 59"/>
            <p:cNvSpPr/>
            <p:nvPr/>
          </p:nvSpPr>
          <p:spPr>
            <a:xfrm>
              <a:off x="7038975" y="3072765"/>
              <a:ext cx="60960" cy="60960"/>
            </a:xfrm>
            <a:prstGeom prst="ellipse">
              <a:avLst/>
            </a:prstGeom>
            <a:solidFill>
              <a:srgbClr val="334E68"/>
            </a:solidFill>
            <a:ln>
              <a:noFill/>
            </a:ln>
          </p:spPr>
        </p:sp>
        <p:sp>
          <p:nvSpPr>
            <p:cNvPr id="60" name="TextBox 60"/>
            <p:cNvSpPr txBox="1"/>
            <p:nvPr/>
          </p:nvSpPr>
          <p:spPr>
            <a:xfrm>
              <a:off x="7195566" y="3012281"/>
              <a:ext cx="4018026" cy="550164"/>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每个核组 = 1 个主核 + 8×8 = 64 个从核，4 个核组</a:t>
              </a:r>
              <a:br/>
              <a:r>
                <a:rPr lang="zh-CN" sz="1420" dirty="0">
                  <a:solidFill>
                    <a:srgbClr val="1F2937"/>
                  </a:solidFill>
                  <a:latin typeface="+mn-lt"/>
                  <a:ea typeface="+mn-ea"/>
                  <a:cs typeface="+mn-cs"/>
                </a:rPr>
                <a:t>共 260 核</a:t>
              </a:r>
            </a:p>
          </p:txBody>
        </p:sp>
        <p:sp>
          <p:nvSpPr>
            <p:cNvPr id="61" name="Ellipse 61"/>
            <p:cNvSpPr/>
            <p:nvPr/>
          </p:nvSpPr>
          <p:spPr>
            <a:xfrm>
              <a:off x="7038975" y="3664268"/>
              <a:ext cx="60960" cy="60960"/>
            </a:xfrm>
            <a:prstGeom prst="ellipse">
              <a:avLst/>
            </a:prstGeom>
            <a:solidFill>
              <a:srgbClr val="334E68"/>
            </a:solidFill>
            <a:ln>
              <a:noFill/>
            </a:ln>
          </p:spPr>
        </p:sp>
        <p:sp>
          <p:nvSpPr>
            <p:cNvPr id="62" name="TextBox 62"/>
            <p:cNvSpPr txBox="1"/>
            <p:nvPr/>
          </p:nvSpPr>
          <p:spPr>
            <a:xfrm>
              <a:off x="7195566" y="3603784"/>
              <a:ext cx="3981958" cy="821626"/>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每个核组有自己的存储控制器 iMC 和协议处理部</a:t>
              </a:r>
              <a:br/>
              <a:r>
                <a:rPr lang="zh-CN" sz="1420" dirty="0">
                  <a:solidFill>
                    <a:srgbClr val="1F2937"/>
                  </a:solidFill>
                  <a:latin typeface="+mn-lt"/>
                  <a:ea typeface="+mn-ea"/>
                  <a:cs typeface="+mn-cs"/>
                </a:rPr>
                <a:t>件，核组之间经片上互连网络相连，系统接口对外</a:t>
              </a:r>
              <a:br/>
              <a:r>
                <a:rPr lang="zh-CN" sz="1420" dirty="0">
                  <a:solidFill>
                    <a:srgbClr val="1F2937"/>
                  </a:solidFill>
                  <a:latin typeface="+mn-lt"/>
                  <a:ea typeface="+mn-ea"/>
                  <a:cs typeface="+mn-cs"/>
                </a:rPr>
                <a:t>提供 PCIe、以太网和维护接口</a:t>
              </a:r>
            </a:p>
          </p:txBody>
        </p:sp>
        <p:sp>
          <p:nvSpPr>
            <p:cNvPr id="63" name="TextBox 63"/>
            <p:cNvSpPr txBox="1"/>
            <p:nvPr/>
          </p:nvSpPr>
          <p:spPr>
            <a:xfrm>
              <a:off x="7025259" y="4463415"/>
              <a:ext cx="3799332" cy="455676"/>
            </a:xfrm>
            <a:prstGeom prst="rect">
              <a:avLst/>
            </a:prstGeom>
            <a:noFill/>
            <a:ln>
              <a:noFill/>
            </a:ln>
          </p:spPr>
          <p:txBody>
            <a:bodyPr wrap="none" lIns="0" tIns="0" rIns="0" bIns="0" anchor="t" anchorCtr="0">
              <a:spAutoFit/>
            </a:bodyPr>
            <a:lstStyle/>
            <a:p>
              <a:pPr algn="l">
                <a:lnSpc>
                  <a:spcPts val="1740"/>
                </a:lnSpc>
              </a:pPr>
              <a:r>
                <a:rPr lang="zh-CN" sz="1200" dirty="0">
                  <a:solidFill>
                    <a:srgbClr val="5B6475"/>
                  </a:solidFill>
                  <a:latin typeface="+mn-lt"/>
                  <a:ea typeface="+mn-ea"/>
                  <a:cs typeface="+mn-cs"/>
                </a:rPr>
                <a:t>从核在原课件第21页写作 SPE（Synergistic Processor</a:t>
              </a:r>
              <a:br/>
              <a:r>
                <a:rPr lang="zh-CN" sz="1200" dirty="0">
                  <a:solidFill>
                    <a:srgbClr val="5B6475"/>
                  </a:solidFill>
                  <a:latin typeface="+mn-lt"/>
                  <a:ea typeface="+mn-ea"/>
                  <a:cs typeface="+mn-cs"/>
                </a:rPr>
                <a:t>Element），第45页写作 CPE，指的是同一类核。</a:t>
              </a:r>
            </a:p>
          </p:txBody>
        </p:sp>
      </p:grpSp>
      <p:grpSp>
        <p:nvGrpSpPr>
          <p:cNvPr id="71" name="c2-callout-2"/>
          <p:cNvGrpSpPr/>
          <p:nvPr/>
        </p:nvGrpSpPr>
        <p:grpSpPr>
          <a:xfrm>
            <a:off x="6789420" y="5260658"/>
            <a:ext cx="4869180" cy="756285"/>
            <a:chOff x="6789420" y="5260658"/>
            <a:chExt cx="4869180" cy="756285"/>
          </a:xfrm>
        </p:grpSpPr>
        <p:sp>
          <p:nvSpPr>
            <p:cNvPr id="65" name="Rectangle 65"/>
            <p:cNvSpPr/>
            <p:nvPr/>
          </p:nvSpPr>
          <p:spPr>
            <a:xfrm>
              <a:off x="6789420" y="5260658"/>
              <a:ext cx="4869180" cy="756285"/>
            </a:xfrm>
            <a:prstGeom prst="roundRect">
              <a:avLst>
                <a:gd name="adj" fmla="val 15113"/>
              </a:avLst>
            </a:prstGeom>
            <a:solidFill>
              <a:srgbClr val="FDEEE7"/>
            </a:solidFill>
            <a:ln>
              <a:noFill/>
            </a:ln>
          </p:spPr>
        </p:sp>
        <p:grpSp>
          <p:nvGrpSpPr>
            <p:cNvPr id="69" name="Group 69"/>
            <p:cNvGrpSpPr/>
            <p:nvPr/>
          </p:nvGrpSpPr>
          <p:grpSpPr>
            <a:xfrm>
              <a:off x="6994208" y="5538788"/>
              <a:ext cx="200026" cy="200025"/>
              <a:chOff x="6994208" y="5538788"/>
              <a:chExt cx="200026" cy="200025"/>
            </a:xfrm>
          </p:grpSpPr>
          <p:sp>
            <p:nvSpPr>
              <p:cNvPr id="66" name="Freeform 66"/>
              <p:cNvSpPr/>
              <p:nvPr/>
            </p:nvSpPr>
            <p:spPr>
              <a:xfrm>
                <a:off x="6994208" y="5538788"/>
                <a:ext cx="200026" cy="100013"/>
              </a:xfrm>
              <a:custGeom>
                <a:avLst/>
                <a:gdLst/>
                <a:ahLst/>
                <a:cxnLst/>
                <a:rect l="l" t="t" r="r" b="b"/>
                <a:pathLst>
                  <a:path w="200026" h="100013">
                    <a:moveTo>
                      <a:pt x="0" y="100013"/>
                    </a:moveTo>
                    <a:lnTo>
                      <a:pt x="11113" y="100013"/>
                    </a:lnTo>
                    <a:moveTo>
                      <a:pt x="100013" y="0"/>
                    </a:moveTo>
                    <a:lnTo>
                      <a:pt x="100013" y="11113"/>
                    </a:lnTo>
                    <a:moveTo>
                      <a:pt x="188913" y="100013"/>
                    </a:moveTo>
                    <a:lnTo>
                      <a:pt x="200026" y="100013"/>
                    </a:lnTo>
                    <a:moveTo>
                      <a:pt x="28893" y="28893"/>
                    </a:moveTo>
                    <a:lnTo>
                      <a:pt x="36671" y="36671"/>
                    </a:lnTo>
                    <a:moveTo>
                      <a:pt x="171133" y="28893"/>
                    </a:moveTo>
                    <a:lnTo>
                      <a:pt x="163354" y="36671"/>
                    </a:lnTo>
                  </a:path>
                </a:pathLst>
              </a:custGeom>
              <a:noFill/>
              <a:ln w="22225">
                <a:solidFill>
                  <a:srgbClr val="C2410C"/>
                </a:solidFill>
              </a:ln>
            </p:spPr>
          </p:sp>
          <p:sp>
            <p:nvSpPr>
              <p:cNvPr id="67" name="Freeform 67"/>
              <p:cNvSpPr/>
              <p:nvPr/>
            </p:nvSpPr>
            <p:spPr>
              <a:xfrm>
                <a:off x="7033946" y="5583238"/>
                <a:ext cx="120548" cy="155575"/>
              </a:xfrm>
              <a:custGeom>
                <a:avLst/>
                <a:gdLst/>
                <a:ahLst/>
                <a:cxnLst/>
                <a:rect l="l" t="t" r="r" b="b"/>
                <a:pathLst>
                  <a:path w="120548" h="155575">
                    <a:moveTo>
                      <a:pt x="26937" y="100013"/>
                    </a:moveTo>
                    <a:cubicBezTo>
                      <a:pt x="7804" y="85663"/>
                      <a:pt x="0" y="60681"/>
                      <a:pt x="7563" y="37992"/>
                    </a:cubicBezTo>
                    <a:cubicBezTo>
                      <a:pt x="15126" y="15304"/>
                      <a:pt x="36358" y="0"/>
                      <a:pt x="60274" y="0"/>
                    </a:cubicBezTo>
                    <a:cubicBezTo>
                      <a:pt x="84190" y="0"/>
                      <a:pt x="105423" y="15304"/>
                      <a:pt x="112986" y="37992"/>
                    </a:cubicBezTo>
                    <a:cubicBezTo>
                      <a:pt x="120548" y="60681"/>
                      <a:pt x="112745" y="85663"/>
                      <a:pt x="93612" y="100013"/>
                    </a:cubicBezTo>
                    <a:cubicBezTo>
                      <a:pt x="84812" y="108723"/>
                      <a:pt x="80686" y="121103"/>
                      <a:pt x="82499" y="133350"/>
                    </a:cubicBezTo>
                    <a:cubicBezTo>
                      <a:pt x="82499" y="145625"/>
                      <a:pt x="72549" y="155575"/>
                      <a:pt x="60274" y="155575"/>
                    </a:cubicBezTo>
                    <a:cubicBezTo>
                      <a:pt x="48000" y="155575"/>
                      <a:pt x="38049" y="145625"/>
                      <a:pt x="38049" y="133350"/>
                    </a:cubicBezTo>
                    <a:cubicBezTo>
                      <a:pt x="39862" y="121103"/>
                      <a:pt x="35736" y="108723"/>
                      <a:pt x="26937" y="100013"/>
                    </a:cubicBezTo>
                  </a:path>
                </a:pathLst>
              </a:custGeom>
              <a:noFill/>
              <a:ln w="22225">
                <a:solidFill>
                  <a:srgbClr val="C2410C"/>
                </a:solidFill>
              </a:ln>
            </p:spPr>
          </p:sp>
          <p:sp>
            <p:nvSpPr>
              <p:cNvPr id="68" name="Freeform 68"/>
              <p:cNvSpPr/>
              <p:nvPr/>
            </p:nvSpPr>
            <p:spPr>
              <a:xfrm>
                <a:off x="7068662" y="5694363"/>
                <a:ext cx="51118" cy="9525"/>
              </a:xfrm>
              <a:custGeom>
                <a:avLst/>
                <a:gdLst/>
                <a:ahLst/>
                <a:cxnLst/>
                <a:rect l="l" t="t" r="r" b="b"/>
                <a:pathLst>
                  <a:path w="51118" h="9525">
                    <a:moveTo>
                      <a:pt x="0" y="0"/>
                    </a:moveTo>
                    <a:lnTo>
                      <a:pt x="51118" y="0"/>
                    </a:lnTo>
                  </a:path>
                </a:pathLst>
              </a:custGeom>
              <a:noFill/>
              <a:ln w="22225">
                <a:solidFill>
                  <a:srgbClr val="C2410C"/>
                </a:solidFill>
              </a:ln>
            </p:spPr>
          </p:sp>
        </p:grpSp>
        <p:sp>
          <p:nvSpPr>
            <p:cNvPr id="70" name="TextBox 70"/>
            <p:cNvSpPr txBox="1"/>
            <p:nvPr/>
          </p:nvSpPr>
          <p:spPr>
            <a:xfrm>
              <a:off x="7296531" y="5407819"/>
              <a:ext cx="3882771" cy="541592"/>
            </a:xfrm>
            <a:prstGeom prst="rect">
              <a:avLst/>
            </a:prstGeom>
            <a:noFill/>
            <a:ln>
              <a:noFill/>
            </a:ln>
          </p:spPr>
          <p:txBody>
            <a:bodyPr wrap="none" lIns="0" tIns="0" rIns="0" bIns="0" anchor="t" anchorCtr="0">
              <a:spAutoFit/>
            </a:bodyPr>
            <a:lstStyle/>
            <a:p>
              <a:pPr algn="l">
                <a:lnSpc>
                  <a:spcPts val="2070"/>
                </a:lnSpc>
              </a:pPr>
              <a:r>
                <a:rPr lang="zh-CN" sz="1420" dirty="0">
                  <a:solidFill>
                    <a:srgbClr val="C2410C"/>
                  </a:solidFill>
                  <a:latin typeface="+mn-lt"/>
                  <a:ea typeface="+mn-ea"/>
                  <a:cs typeface="+mn-cs"/>
                </a:rPr>
                <a:t>“少量控制核 + 大量计算核”的分工和 CPU 配 GPU</a:t>
              </a:r>
              <a:br/>
              <a:r>
                <a:rPr lang="zh-CN" sz="1420" dirty="0">
                  <a:solidFill>
                    <a:srgbClr val="C2410C"/>
                  </a:solidFill>
                  <a:latin typeface="+mn-lt"/>
                  <a:ea typeface="+mn-ea"/>
                  <a:cs typeface="+mn-cs"/>
                </a:rPr>
                <a:t>的思路一样，计算峰值主要来自从核。</a:t>
              </a:r>
            </a:p>
          </p:txBody>
        </p:sp>
      </p:grpSp>
      <p:grpSp>
        <p:nvGrpSpPr>
          <p:cNvPr id="74" name="footer"/>
          <p:cNvGrpSpPr/>
          <p:nvPr/>
        </p:nvGrpSpPr>
        <p:grpSpPr>
          <a:xfrm>
            <a:off x="528447" y="6581299"/>
            <a:ext cx="11135106" cy="190690"/>
            <a:chOff x="528447" y="6581299"/>
            <a:chExt cx="11135106" cy="190690"/>
          </a:xfrm>
        </p:grpSpPr>
        <p:sp>
          <p:nvSpPr>
            <p:cNvPr id="72" name="TextBox 72"/>
            <p:cNvSpPr txBox="1"/>
            <p:nvPr/>
          </p:nvSpPr>
          <p:spPr>
            <a:xfrm>
              <a:off x="528447" y="6581299"/>
              <a:ext cx="2120748"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并行与分布式计算 · 第7章 体系结构</a:t>
              </a:r>
            </a:p>
          </p:txBody>
        </p:sp>
        <p:sp>
          <p:nvSpPr>
            <p:cNvPr id="73" name="TextBox 73"/>
            <p:cNvSpPr txBox="1"/>
            <p:nvPr/>
          </p:nvSpPr>
          <p:spPr>
            <a:xfrm>
              <a:off x="11581087" y="6581299"/>
              <a:ext cx="8246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8</a:t>
              </a:r>
            </a:p>
          </p:txBody>
        </p:sp>
      </p:gr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4831842" cy="909257"/>
            <a:chOff x="520446" y="342900"/>
            <a:chExt cx="4831842" cy="909257"/>
          </a:xfrm>
        </p:grpSpPr>
        <p:sp>
          <p:nvSpPr>
            <p:cNvPr id="2" name="Rectangle 2"/>
            <p:cNvSpPr/>
            <p:nvPr/>
          </p:nvSpPr>
          <p:spPr>
            <a:xfrm>
              <a:off x="533400" y="342900"/>
              <a:ext cx="2272665" cy="266700"/>
            </a:xfrm>
            <a:prstGeom prst="roundRect">
              <a:avLst>
                <a:gd name="adj" fmla="val 50000"/>
              </a:avLst>
            </a:prstGeom>
            <a:solidFill>
              <a:srgbClr val="E7EDF3"/>
            </a:solidFill>
            <a:ln>
              <a:noFill/>
            </a:ln>
          </p:spPr>
        </p:sp>
        <p:sp>
          <p:nvSpPr>
            <p:cNvPr id="3" name="TextBox 3"/>
            <p:cNvSpPr txBox="1"/>
            <p:nvPr/>
          </p:nvSpPr>
          <p:spPr>
            <a:xfrm>
              <a:off x="601058" y="407194"/>
              <a:ext cx="2137349"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第7章 体系结构 · 多处理器结构</a:t>
              </a:r>
            </a:p>
          </p:txBody>
        </p:sp>
        <p:sp>
          <p:nvSpPr>
            <p:cNvPr id="4" name="TextBox 4"/>
            <p:cNvSpPr txBox="1"/>
            <p:nvPr/>
          </p:nvSpPr>
          <p:spPr>
            <a:xfrm>
              <a:off x="520446" y="753428"/>
              <a:ext cx="4831842"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从核内部：计算核心加传输代理</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40" name="c1-table-1"/>
          <p:cNvGrpSpPr/>
          <p:nvPr/>
        </p:nvGrpSpPr>
        <p:grpSpPr>
          <a:xfrm>
            <a:off x="533400" y="1524000"/>
            <a:ext cx="6059805" cy="3225165"/>
            <a:chOff x="533400" y="1524000"/>
            <a:chExt cx="6059805" cy="3225165"/>
          </a:xfrm>
        </p:grpSpPr>
        <p:sp>
          <p:nvSpPr>
            <p:cNvPr id="7" name="Rectangle 7"/>
            <p:cNvSpPr/>
            <p:nvPr/>
          </p:nvSpPr>
          <p:spPr>
            <a:xfrm>
              <a:off x="533400" y="1524000"/>
              <a:ext cx="6059805" cy="430530"/>
            </a:xfrm>
            <a:prstGeom prst="rect">
              <a:avLst/>
            </a:prstGeom>
            <a:solidFill>
              <a:srgbClr val="334E68"/>
            </a:solidFill>
            <a:ln>
              <a:noFill/>
            </a:ln>
          </p:spPr>
        </p:sp>
        <p:sp>
          <p:nvSpPr>
            <p:cNvPr id="8" name="TextBox 8"/>
            <p:cNvSpPr txBox="1"/>
            <p:nvPr/>
          </p:nvSpPr>
          <p:spPr>
            <a:xfrm>
              <a:off x="1274445" y="1655445"/>
              <a:ext cx="335280"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部件</a:t>
              </a:r>
            </a:p>
          </p:txBody>
        </p:sp>
        <p:sp>
          <p:nvSpPr>
            <p:cNvPr id="9" name="TextBox 9"/>
            <p:cNvSpPr txBox="1"/>
            <p:nvPr/>
          </p:nvSpPr>
          <p:spPr>
            <a:xfrm>
              <a:off x="3455670" y="1655445"/>
              <a:ext cx="335280"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职责</a:t>
              </a:r>
            </a:p>
          </p:txBody>
        </p:sp>
        <p:sp>
          <p:nvSpPr>
            <p:cNvPr id="10" name="TextBox 10"/>
            <p:cNvSpPr txBox="1"/>
            <p:nvPr/>
          </p:nvSpPr>
          <p:spPr>
            <a:xfrm>
              <a:off x="5334572" y="1655445"/>
              <a:ext cx="819912"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相关流水段</a:t>
              </a:r>
            </a:p>
          </p:txBody>
        </p:sp>
        <p:sp>
          <p:nvSpPr>
            <p:cNvPr id="11" name="TextBox 11"/>
            <p:cNvSpPr txBox="1"/>
            <p:nvPr/>
          </p:nvSpPr>
          <p:spPr>
            <a:xfrm>
              <a:off x="638746" y="2085022"/>
              <a:ext cx="1097463" cy="234696"/>
            </a:xfrm>
            <a:prstGeom prst="rect">
              <a:avLst/>
            </a:prstGeom>
            <a:noFill/>
            <a:ln>
              <a:noFill/>
            </a:ln>
          </p:spPr>
          <p:txBody>
            <a:bodyPr wrap="none" lIns="0" tIns="0" rIns="0" bIns="0" anchor="t" anchorCtr="0">
              <a:spAutoFit/>
            </a:bodyPr>
            <a:lstStyle/>
            <a:p>
              <a:pPr algn="l"/>
              <a:r>
                <a:rPr lang="zh-CN" sz="1200" b="1" dirty="0">
                  <a:solidFill>
                    <a:srgbClr val="1F2937"/>
                  </a:solidFill>
                  <a:latin typeface="+mn-lt"/>
                  <a:ea typeface="+mn-ea"/>
                  <a:cs typeface="+mn-cs"/>
                </a:rPr>
                <a:t>指令部件 IBOX</a:t>
              </a:r>
            </a:p>
          </p:txBody>
        </p:sp>
        <p:sp>
          <p:nvSpPr>
            <p:cNvPr id="12" name="TextBox 12"/>
            <p:cNvSpPr txBox="1"/>
            <p:nvPr/>
          </p:nvSpPr>
          <p:spPr>
            <a:xfrm>
              <a:off x="2456116" y="2085022"/>
              <a:ext cx="1627632"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取指、译码、指令分派</a:t>
              </a:r>
            </a:p>
          </p:txBody>
        </p:sp>
        <p:sp>
          <p:nvSpPr>
            <p:cNvPr id="13" name="TextBox 13"/>
            <p:cNvSpPr txBox="1"/>
            <p:nvPr/>
          </p:nvSpPr>
          <p:spPr>
            <a:xfrm>
              <a:off x="5001197" y="2085022"/>
              <a:ext cx="1452677"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IF1、IF2、ID1、ID2</a:t>
              </a:r>
            </a:p>
          </p:txBody>
        </p:sp>
        <p:sp>
          <p:nvSpPr>
            <p:cNvPr id="14" name="Rectangle 14"/>
            <p:cNvSpPr/>
            <p:nvPr/>
          </p:nvSpPr>
          <p:spPr>
            <a:xfrm>
              <a:off x="533400" y="2379345"/>
              <a:ext cx="6059805" cy="9525"/>
            </a:xfrm>
            <a:prstGeom prst="rect">
              <a:avLst/>
            </a:prstGeom>
            <a:solidFill>
              <a:srgbClr val="D9DFEA"/>
            </a:solidFill>
            <a:ln>
              <a:noFill/>
            </a:ln>
          </p:spPr>
        </p:sp>
        <p:sp>
          <p:nvSpPr>
            <p:cNvPr id="15" name="Rectangle 15"/>
            <p:cNvSpPr/>
            <p:nvPr/>
          </p:nvSpPr>
          <p:spPr>
            <a:xfrm>
              <a:off x="533400" y="2384108"/>
              <a:ext cx="6059805" cy="430530"/>
            </a:xfrm>
            <a:prstGeom prst="rect">
              <a:avLst/>
            </a:prstGeom>
            <a:solidFill>
              <a:srgbClr val="F4F6FB"/>
            </a:solidFill>
            <a:ln>
              <a:noFill/>
            </a:ln>
          </p:spPr>
        </p:sp>
        <p:sp>
          <p:nvSpPr>
            <p:cNvPr id="16" name="TextBox 16"/>
            <p:cNvSpPr txBox="1"/>
            <p:nvPr/>
          </p:nvSpPr>
          <p:spPr>
            <a:xfrm>
              <a:off x="638746" y="2515552"/>
              <a:ext cx="1142268" cy="234696"/>
            </a:xfrm>
            <a:prstGeom prst="rect">
              <a:avLst/>
            </a:prstGeom>
            <a:noFill/>
            <a:ln>
              <a:noFill/>
            </a:ln>
          </p:spPr>
          <p:txBody>
            <a:bodyPr wrap="none" lIns="0" tIns="0" rIns="0" bIns="0" anchor="t" anchorCtr="0">
              <a:spAutoFit/>
            </a:bodyPr>
            <a:lstStyle/>
            <a:p>
              <a:pPr algn="l"/>
              <a:r>
                <a:rPr lang="zh-CN" sz="1200" b="1" dirty="0">
                  <a:solidFill>
                    <a:srgbClr val="1F2937"/>
                  </a:solidFill>
                  <a:latin typeface="+mn-lt"/>
                  <a:ea typeface="+mn-ea"/>
                  <a:cs typeface="+mn-cs"/>
                </a:rPr>
                <a:t>执行部件 EBOX</a:t>
              </a:r>
            </a:p>
          </p:txBody>
        </p:sp>
        <p:sp>
          <p:nvSpPr>
            <p:cNvPr id="17" name="TextBox 17"/>
            <p:cNvSpPr txBox="1"/>
            <p:nvPr/>
          </p:nvSpPr>
          <p:spPr>
            <a:xfrm>
              <a:off x="2456116" y="2515552"/>
              <a:ext cx="1466088"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取操作数并执行指令</a:t>
              </a:r>
            </a:p>
          </p:txBody>
        </p:sp>
        <p:sp>
          <p:nvSpPr>
            <p:cNvPr id="18" name="TextBox 18"/>
            <p:cNvSpPr txBox="1"/>
            <p:nvPr/>
          </p:nvSpPr>
          <p:spPr>
            <a:xfrm>
              <a:off x="5001197" y="2515552"/>
              <a:ext cx="966826"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RO、EX、WB</a:t>
              </a:r>
            </a:p>
          </p:txBody>
        </p:sp>
        <p:sp>
          <p:nvSpPr>
            <p:cNvPr id="19" name="Rectangle 19"/>
            <p:cNvSpPr/>
            <p:nvPr/>
          </p:nvSpPr>
          <p:spPr>
            <a:xfrm>
              <a:off x="533400" y="2809875"/>
              <a:ext cx="6059805" cy="9525"/>
            </a:xfrm>
            <a:prstGeom prst="rect">
              <a:avLst/>
            </a:prstGeom>
            <a:solidFill>
              <a:srgbClr val="D9DFEA"/>
            </a:solidFill>
            <a:ln>
              <a:noFill/>
            </a:ln>
          </p:spPr>
        </p:sp>
        <p:sp>
          <p:nvSpPr>
            <p:cNvPr id="20" name="TextBox 20"/>
            <p:cNvSpPr txBox="1"/>
            <p:nvPr/>
          </p:nvSpPr>
          <p:spPr>
            <a:xfrm>
              <a:off x="638746" y="2946082"/>
              <a:ext cx="1178113" cy="234696"/>
            </a:xfrm>
            <a:prstGeom prst="rect">
              <a:avLst/>
            </a:prstGeom>
            <a:noFill/>
            <a:ln>
              <a:noFill/>
            </a:ln>
          </p:spPr>
          <p:txBody>
            <a:bodyPr wrap="none" lIns="0" tIns="0" rIns="0" bIns="0" anchor="t" anchorCtr="0">
              <a:spAutoFit/>
            </a:bodyPr>
            <a:lstStyle/>
            <a:p>
              <a:pPr algn="l"/>
              <a:r>
                <a:rPr lang="zh-CN" sz="1200" b="1" dirty="0">
                  <a:solidFill>
                    <a:srgbClr val="1F2937"/>
                  </a:solidFill>
                  <a:latin typeface="+mn-lt"/>
                  <a:ea typeface="+mn-ea"/>
                  <a:cs typeface="+mn-cs"/>
                </a:rPr>
                <a:t>访存部件 MBOX</a:t>
              </a:r>
            </a:p>
          </p:txBody>
        </p:sp>
        <p:sp>
          <p:nvSpPr>
            <p:cNvPr id="21" name="TextBox 21"/>
            <p:cNvSpPr txBox="1"/>
            <p:nvPr/>
          </p:nvSpPr>
          <p:spPr>
            <a:xfrm>
              <a:off x="2456116" y="2946082"/>
              <a:ext cx="2104949"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管理存储访问（LDM、主存）</a:t>
              </a:r>
            </a:p>
          </p:txBody>
        </p:sp>
        <p:sp>
          <p:nvSpPr>
            <p:cNvPr id="22" name="TextBox 22"/>
            <p:cNvSpPr txBox="1"/>
            <p:nvPr/>
          </p:nvSpPr>
          <p:spPr>
            <a:xfrm>
              <a:off x="5001197" y="2946082"/>
              <a:ext cx="335280"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访存</a:t>
              </a:r>
            </a:p>
          </p:txBody>
        </p:sp>
        <p:sp>
          <p:nvSpPr>
            <p:cNvPr id="23" name="Rectangle 23"/>
            <p:cNvSpPr/>
            <p:nvPr/>
          </p:nvSpPr>
          <p:spPr>
            <a:xfrm>
              <a:off x="533400" y="3239452"/>
              <a:ext cx="6059805" cy="9525"/>
            </a:xfrm>
            <a:prstGeom prst="rect">
              <a:avLst/>
            </a:prstGeom>
            <a:solidFill>
              <a:srgbClr val="D9DFEA"/>
            </a:solidFill>
            <a:ln>
              <a:noFill/>
            </a:ln>
          </p:spPr>
        </p:sp>
        <p:sp>
          <p:nvSpPr>
            <p:cNvPr id="24" name="Rectangle 24"/>
            <p:cNvSpPr/>
            <p:nvPr/>
          </p:nvSpPr>
          <p:spPr>
            <a:xfrm>
              <a:off x="533400" y="3244215"/>
              <a:ext cx="6059805" cy="430530"/>
            </a:xfrm>
            <a:prstGeom prst="rect">
              <a:avLst/>
            </a:prstGeom>
            <a:solidFill>
              <a:srgbClr val="F4F6FB"/>
            </a:solidFill>
            <a:ln>
              <a:noFill/>
            </a:ln>
          </p:spPr>
        </p:sp>
        <p:sp>
          <p:nvSpPr>
            <p:cNvPr id="25" name="TextBox 25"/>
            <p:cNvSpPr txBox="1"/>
            <p:nvPr/>
          </p:nvSpPr>
          <p:spPr>
            <a:xfrm>
              <a:off x="638746" y="3375660"/>
              <a:ext cx="1473830" cy="234696"/>
            </a:xfrm>
            <a:prstGeom prst="rect">
              <a:avLst/>
            </a:prstGeom>
            <a:noFill/>
            <a:ln>
              <a:noFill/>
            </a:ln>
          </p:spPr>
          <p:txBody>
            <a:bodyPr wrap="none" lIns="0" tIns="0" rIns="0" bIns="0" anchor="t" anchorCtr="0">
              <a:spAutoFit/>
            </a:bodyPr>
            <a:lstStyle/>
            <a:p>
              <a:pPr algn="l"/>
              <a:r>
                <a:rPr lang="zh-CN" sz="1200" b="1" dirty="0">
                  <a:solidFill>
                    <a:srgbClr val="1F2937"/>
                  </a:solidFill>
                  <a:latin typeface="+mn-lt"/>
                  <a:ea typeface="+mn-ea"/>
                  <a:cs typeface="+mn-cs"/>
                </a:rPr>
                <a:t>IO 管理部件 IOBOX</a:t>
              </a:r>
            </a:p>
          </p:txBody>
        </p:sp>
        <p:sp>
          <p:nvSpPr>
            <p:cNvPr id="26" name="TextBox 26"/>
            <p:cNvSpPr txBox="1"/>
            <p:nvPr/>
          </p:nvSpPr>
          <p:spPr>
            <a:xfrm>
              <a:off x="2456116" y="3375660"/>
              <a:ext cx="2070811"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管理从核内 IO 寄存器的访问</a:t>
              </a:r>
            </a:p>
          </p:txBody>
        </p:sp>
        <p:sp>
          <p:nvSpPr>
            <p:cNvPr id="27" name="TextBox 27"/>
            <p:cNvSpPr txBox="1"/>
            <p:nvPr/>
          </p:nvSpPr>
          <p:spPr>
            <a:xfrm>
              <a:off x="5001197" y="3375660"/>
              <a:ext cx="1433170"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外部访问 PE 的通路</a:t>
              </a:r>
            </a:p>
          </p:txBody>
        </p:sp>
        <p:sp>
          <p:nvSpPr>
            <p:cNvPr id="28" name="Rectangle 28"/>
            <p:cNvSpPr/>
            <p:nvPr/>
          </p:nvSpPr>
          <p:spPr>
            <a:xfrm>
              <a:off x="533400" y="3669982"/>
              <a:ext cx="6059805" cy="9525"/>
            </a:xfrm>
            <a:prstGeom prst="rect">
              <a:avLst/>
            </a:prstGeom>
            <a:solidFill>
              <a:srgbClr val="D9DFEA"/>
            </a:solidFill>
            <a:ln>
              <a:noFill/>
            </a:ln>
          </p:spPr>
        </p:sp>
        <p:sp>
          <p:nvSpPr>
            <p:cNvPr id="29" name="TextBox 29"/>
            <p:cNvSpPr txBox="1"/>
            <p:nvPr/>
          </p:nvSpPr>
          <p:spPr>
            <a:xfrm>
              <a:off x="638746" y="3806190"/>
              <a:ext cx="1438275" cy="448056"/>
            </a:xfrm>
            <a:prstGeom prst="rect">
              <a:avLst/>
            </a:prstGeom>
            <a:noFill/>
            <a:ln>
              <a:noFill/>
            </a:ln>
          </p:spPr>
          <p:txBody>
            <a:bodyPr wrap="none" lIns="0" tIns="0" rIns="0" bIns="0" anchor="t" anchorCtr="0">
              <a:spAutoFit/>
            </a:bodyPr>
            <a:lstStyle/>
            <a:p>
              <a:pPr algn="l">
                <a:lnSpc>
                  <a:spcPts val="1680"/>
                </a:lnSpc>
              </a:pPr>
              <a:r>
                <a:rPr lang="zh-CN" sz="1200" b="1" dirty="0">
                  <a:solidFill>
                    <a:srgbClr val="1F2937"/>
                  </a:solidFill>
                  <a:latin typeface="+mn-lt"/>
                  <a:ea typeface="+mn-ea"/>
                  <a:cs typeface="+mn-cs"/>
                </a:rPr>
                <a:t>一级指令 Cache（L1</a:t>
              </a:r>
              <a:br/>
              <a:r>
                <a:rPr lang="zh-CN" sz="1200" b="1" dirty="0">
                  <a:solidFill>
                    <a:srgbClr val="1F2937"/>
                  </a:solidFill>
                  <a:latin typeface="+mn-lt"/>
                  <a:ea typeface="+mn-ea"/>
                  <a:cs typeface="+mn-cs"/>
                </a:rPr>
                <a:t>ICache）</a:t>
              </a:r>
            </a:p>
          </p:txBody>
        </p:sp>
        <p:sp>
          <p:nvSpPr>
            <p:cNvPr id="30" name="TextBox 30"/>
            <p:cNvSpPr txBox="1"/>
            <p:nvPr/>
          </p:nvSpPr>
          <p:spPr>
            <a:xfrm>
              <a:off x="2456116" y="3912870"/>
              <a:ext cx="1627632"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存放执行中用到的指令</a:t>
              </a:r>
            </a:p>
          </p:txBody>
        </p:sp>
        <p:sp>
          <p:nvSpPr>
            <p:cNvPr id="31" name="TextBox 31"/>
            <p:cNvSpPr txBox="1"/>
            <p:nvPr/>
          </p:nvSpPr>
          <p:spPr>
            <a:xfrm>
              <a:off x="5001197" y="3912870"/>
              <a:ext cx="1143000"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为流水线供指令</a:t>
              </a:r>
            </a:p>
          </p:txBody>
        </p:sp>
        <p:sp>
          <p:nvSpPr>
            <p:cNvPr id="32" name="Rectangle 32"/>
            <p:cNvSpPr/>
            <p:nvPr/>
          </p:nvSpPr>
          <p:spPr>
            <a:xfrm>
              <a:off x="533400" y="4313872"/>
              <a:ext cx="6059805" cy="9525"/>
            </a:xfrm>
            <a:prstGeom prst="rect">
              <a:avLst/>
            </a:prstGeom>
            <a:solidFill>
              <a:srgbClr val="D9DFEA"/>
            </a:solidFill>
            <a:ln>
              <a:noFill/>
            </a:ln>
          </p:spPr>
        </p:sp>
        <p:sp>
          <p:nvSpPr>
            <p:cNvPr id="33" name="Rectangle 33"/>
            <p:cNvSpPr/>
            <p:nvPr/>
          </p:nvSpPr>
          <p:spPr>
            <a:xfrm>
              <a:off x="533400" y="4318635"/>
              <a:ext cx="6059805" cy="430530"/>
            </a:xfrm>
            <a:prstGeom prst="rect">
              <a:avLst/>
            </a:prstGeom>
            <a:solidFill>
              <a:srgbClr val="F4F6FB"/>
            </a:solidFill>
            <a:ln>
              <a:noFill/>
            </a:ln>
          </p:spPr>
        </p:sp>
        <p:sp>
          <p:nvSpPr>
            <p:cNvPr id="34" name="TextBox 34"/>
            <p:cNvSpPr txBox="1"/>
            <p:nvPr/>
          </p:nvSpPr>
          <p:spPr>
            <a:xfrm>
              <a:off x="638746" y="4449128"/>
              <a:ext cx="1366784" cy="234696"/>
            </a:xfrm>
            <a:prstGeom prst="rect">
              <a:avLst/>
            </a:prstGeom>
            <a:noFill/>
            <a:ln>
              <a:noFill/>
            </a:ln>
          </p:spPr>
          <p:txBody>
            <a:bodyPr wrap="none" lIns="0" tIns="0" rIns="0" bIns="0" anchor="t" anchorCtr="0">
              <a:spAutoFit/>
            </a:bodyPr>
            <a:lstStyle/>
            <a:p>
              <a:pPr algn="l"/>
              <a:r>
                <a:rPr lang="zh-CN" sz="1200" b="1" dirty="0">
                  <a:solidFill>
                    <a:srgbClr val="1F2937"/>
                  </a:solidFill>
                  <a:latin typeface="+mn-lt"/>
                  <a:ea typeface="+mn-ea"/>
                  <a:cs typeface="+mn-cs"/>
                </a:rPr>
                <a:t>局部数据存储 LDM</a:t>
              </a:r>
            </a:p>
          </p:txBody>
        </p:sp>
        <p:sp>
          <p:nvSpPr>
            <p:cNvPr id="35" name="TextBox 35"/>
            <p:cNvSpPr txBox="1"/>
            <p:nvPr/>
          </p:nvSpPr>
          <p:spPr>
            <a:xfrm>
              <a:off x="2456116" y="4449128"/>
              <a:ext cx="1627632"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存放执行中用到的数据</a:t>
              </a:r>
            </a:p>
          </p:txBody>
        </p:sp>
        <p:sp>
          <p:nvSpPr>
            <p:cNvPr id="36" name="TextBox 36"/>
            <p:cNvSpPr txBox="1"/>
            <p:nvPr/>
          </p:nvSpPr>
          <p:spPr>
            <a:xfrm>
              <a:off x="5001197" y="4449128"/>
              <a:ext cx="1143000"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为流水线供数据</a:t>
              </a:r>
            </a:p>
          </p:txBody>
        </p:sp>
        <p:sp>
          <p:nvSpPr>
            <p:cNvPr id="37" name="Rectangle 37"/>
            <p:cNvSpPr/>
            <p:nvPr/>
          </p:nvSpPr>
          <p:spPr>
            <a:xfrm>
              <a:off x="533400" y="1524000"/>
              <a:ext cx="6059805" cy="3224212"/>
            </a:xfrm>
            <a:prstGeom prst="rect">
              <a:avLst/>
            </a:prstGeom>
            <a:noFill/>
            <a:ln w="14288">
              <a:solidFill>
                <a:srgbClr val="D9DFEA"/>
              </a:solidFill>
            </a:ln>
          </p:spPr>
        </p:sp>
        <p:sp>
          <p:nvSpPr>
            <p:cNvPr id="38" name="Rectangle 38"/>
            <p:cNvSpPr/>
            <p:nvPr/>
          </p:nvSpPr>
          <p:spPr>
            <a:xfrm>
              <a:off x="2346008" y="1524000"/>
              <a:ext cx="9525" cy="3224212"/>
            </a:xfrm>
            <a:prstGeom prst="rect">
              <a:avLst/>
            </a:prstGeom>
            <a:solidFill>
              <a:srgbClr val="D9DFEA"/>
            </a:solidFill>
            <a:ln>
              <a:noFill/>
            </a:ln>
          </p:spPr>
        </p:sp>
        <p:sp>
          <p:nvSpPr>
            <p:cNvPr id="39" name="Rectangle 39"/>
            <p:cNvSpPr/>
            <p:nvPr/>
          </p:nvSpPr>
          <p:spPr>
            <a:xfrm>
              <a:off x="4891088" y="1524000"/>
              <a:ext cx="9525" cy="3224212"/>
            </a:xfrm>
            <a:prstGeom prst="rect">
              <a:avLst/>
            </a:prstGeom>
            <a:solidFill>
              <a:srgbClr val="D9DFEA"/>
            </a:solidFill>
            <a:ln>
              <a:noFill/>
            </a:ln>
          </p:spPr>
        </p:sp>
      </p:grpSp>
      <p:grpSp>
        <p:nvGrpSpPr>
          <p:cNvPr id="58" name="c1-cells-2"/>
          <p:cNvGrpSpPr/>
          <p:nvPr/>
        </p:nvGrpSpPr>
        <p:grpSpPr>
          <a:xfrm>
            <a:off x="527304" y="4933950"/>
            <a:ext cx="6065901" cy="406718"/>
            <a:chOff x="527304" y="4933950"/>
            <a:chExt cx="6065901" cy="406718"/>
          </a:xfrm>
        </p:grpSpPr>
        <p:sp>
          <p:nvSpPr>
            <p:cNvPr id="41" name="TextBox 41"/>
            <p:cNvSpPr txBox="1"/>
            <p:nvPr/>
          </p:nvSpPr>
          <p:spPr>
            <a:xfrm>
              <a:off x="527304" y="5062538"/>
              <a:ext cx="496824" cy="234696"/>
            </a:xfrm>
            <a:prstGeom prst="rect">
              <a:avLst/>
            </a:prstGeom>
            <a:noFill/>
            <a:ln>
              <a:noFill/>
            </a:ln>
          </p:spPr>
          <p:txBody>
            <a:bodyPr wrap="none" lIns="0" tIns="0" rIns="0" bIns="0" anchor="t" anchorCtr="0">
              <a:spAutoFit/>
            </a:bodyPr>
            <a:lstStyle/>
            <a:p>
              <a:pPr algn="l"/>
              <a:r>
                <a:rPr lang="zh-CN" sz="1200" b="1" dirty="0">
                  <a:solidFill>
                    <a:srgbClr val="334E68"/>
                  </a:solidFill>
                  <a:latin typeface="+mn-lt"/>
                  <a:ea typeface="+mn-ea"/>
                  <a:cs typeface="+mn-cs"/>
                </a:rPr>
                <a:t>流水段</a:t>
              </a:r>
            </a:p>
          </p:txBody>
        </p:sp>
        <p:sp>
          <p:nvSpPr>
            <p:cNvPr id="42" name="Rectangle 42"/>
            <p:cNvSpPr/>
            <p:nvPr/>
          </p:nvSpPr>
          <p:spPr>
            <a:xfrm>
              <a:off x="1123950" y="4933950"/>
              <a:ext cx="683895" cy="406718"/>
            </a:xfrm>
            <a:prstGeom prst="rect">
              <a:avLst/>
            </a:prstGeom>
            <a:solidFill>
              <a:srgbClr val="FFFFFF"/>
            </a:solidFill>
            <a:ln w="15240">
              <a:solidFill>
                <a:srgbClr val="334E68"/>
              </a:solidFill>
            </a:ln>
          </p:spPr>
        </p:sp>
        <p:sp>
          <p:nvSpPr>
            <p:cNvPr id="43" name="TextBox 43"/>
            <p:cNvSpPr txBox="1"/>
            <p:nvPr/>
          </p:nvSpPr>
          <p:spPr>
            <a:xfrm>
              <a:off x="1334346" y="5062538"/>
              <a:ext cx="263103" cy="234696"/>
            </a:xfrm>
            <a:prstGeom prst="rect">
              <a:avLst/>
            </a:prstGeom>
            <a:noFill/>
            <a:ln>
              <a:noFill/>
            </a:ln>
          </p:spPr>
          <p:txBody>
            <a:bodyPr wrap="none" lIns="0" tIns="0" rIns="0" bIns="0" anchor="t" anchorCtr="0">
              <a:spAutoFit/>
            </a:bodyPr>
            <a:lstStyle/>
            <a:p>
              <a:pPr algn="ctr"/>
              <a:r>
                <a:rPr lang="en-US" sz="1200" b="1" dirty="0">
                  <a:solidFill>
                    <a:srgbClr val="1F2937"/>
                  </a:solidFill>
                  <a:latin typeface="+mn-lt"/>
                  <a:ea typeface="+mn-ea"/>
                  <a:cs typeface="+mn-cs"/>
                </a:rPr>
                <a:t>IF1</a:t>
              </a:r>
            </a:p>
          </p:txBody>
        </p:sp>
        <p:sp>
          <p:nvSpPr>
            <p:cNvPr id="44" name="Rectangle 44"/>
            <p:cNvSpPr/>
            <p:nvPr/>
          </p:nvSpPr>
          <p:spPr>
            <a:xfrm>
              <a:off x="1807845" y="4933950"/>
              <a:ext cx="683895" cy="406718"/>
            </a:xfrm>
            <a:prstGeom prst="rect">
              <a:avLst/>
            </a:prstGeom>
            <a:solidFill>
              <a:srgbClr val="FFFFFF"/>
            </a:solidFill>
            <a:ln w="15240">
              <a:solidFill>
                <a:srgbClr val="334E68"/>
              </a:solidFill>
            </a:ln>
          </p:spPr>
        </p:sp>
        <p:sp>
          <p:nvSpPr>
            <p:cNvPr id="45" name="TextBox 45"/>
            <p:cNvSpPr txBox="1"/>
            <p:nvPr/>
          </p:nvSpPr>
          <p:spPr>
            <a:xfrm>
              <a:off x="2018241" y="5062538"/>
              <a:ext cx="263103" cy="234696"/>
            </a:xfrm>
            <a:prstGeom prst="rect">
              <a:avLst/>
            </a:prstGeom>
            <a:noFill/>
            <a:ln>
              <a:noFill/>
            </a:ln>
          </p:spPr>
          <p:txBody>
            <a:bodyPr wrap="none" lIns="0" tIns="0" rIns="0" bIns="0" anchor="t" anchorCtr="0">
              <a:spAutoFit/>
            </a:bodyPr>
            <a:lstStyle/>
            <a:p>
              <a:pPr algn="ctr"/>
              <a:r>
                <a:rPr lang="en-US" sz="1200" b="1" dirty="0">
                  <a:solidFill>
                    <a:srgbClr val="1F2937"/>
                  </a:solidFill>
                  <a:latin typeface="+mn-lt"/>
                  <a:ea typeface="+mn-ea"/>
                  <a:cs typeface="+mn-cs"/>
                </a:rPr>
                <a:t>IF2</a:t>
              </a:r>
            </a:p>
          </p:txBody>
        </p:sp>
        <p:sp>
          <p:nvSpPr>
            <p:cNvPr id="46" name="Rectangle 46"/>
            <p:cNvSpPr/>
            <p:nvPr/>
          </p:nvSpPr>
          <p:spPr>
            <a:xfrm>
              <a:off x="2490788" y="4933950"/>
              <a:ext cx="683895" cy="406718"/>
            </a:xfrm>
            <a:prstGeom prst="rect">
              <a:avLst/>
            </a:prstGeom>
            <a:solidFill>
              <a:srgbClr val="FFFFFF"/>
            </a:solidFill>
            <a:ln w="15240">
              <a:solidFill>
                <a:srgbClr val="334E68"/>
              </a:solidFill>
            </a:ln>
          </p:spPr>
        </p:sp>
        <p:sp>
          <p:nvSpPr>
            <p:cNvPr id="47" name="TextBox 47"/>
            <p:cNvSpPr txBox="1"/>
            <p:nvPr/>
          </p:nvSpPr>
          <p:spPr>
            <a:xfrm>
              <a:off x="2701183" y="5062538"/>
              <a:ext cx="263103" cy="234696"/>
            </a:xfrm>
            <a:prstGeom prst="rect">
              <a:avLst/>
            </a:prstGeom>
            <a:noFill/>
            <a:ln>
              <a:noFill/>
            </a:ln>
          </p:spPr>
          <p:txBody>
            <a:bodyPr wrap="none" lIns="0" tIns="0" rIns="0" bIns="0" anchor="t" anchorCtr="0">
              <a:spAutoFit/>
            </a:bodyPr>
            <a:lstStyle/>
            <a:p>
              <a:pPr algn="ctr"/>
              <a:r>
                <a:rPr lang="en-US" sz="1200" b="1" dirty="0">
                  <a:solidFill>
                    <a:srgbClr val="1F2937"/>
                  </a:solidFill>
                  <a:latin typeface="+mn-lt"/>
                  <a:ea typeface="+mn-ea"/>
                  <a:cs typeface="+mn-cs"/>
                </a:rPr>
                <a:t>IF3</a:t>
              </a:r>
            </a:p>
          </p:txBody>
        </p:sp>
        <p:sp>
          <p:nvSpPr>
            <p:cNvPr id="48" name="Rectangle 48"/>
            <p:cNvSpPr/>
            <p:nvPr/>
          </p:nvSpPr>
          <p:spPr>
            <a:xfrm>
              <a:off x="3174682" y="4933950"/>
              <a:ext cx="683895" cy="406718"/>
            </a:xfrm>
            <a:prstGeom prst="rect">
              <a:avLst/>
            </a:prstGeom>
            <a:solidFill>
              <a:srgbClr val="FFFFFF"/>
            </a:solidFill>
            <a:ln w="15240">
              <a:solidFill>
                <a:srgbClr val="334E68"/>
              </a:solidFill>
            </a:ln>
          </p:spPr>
        </p:sp>
        <p:sp>
          <p:nvSpPr>
            <p:cNvPr id="49" name="TextBox 49"/>
            <p:cNvSpPr txBox="1"/>
            <p:nvPr/>
          </p:nvSpPr>
          <p:spPr>
            <a:xfrm>
              <a:off x="3385078" y="5062538"/>
              <a:ext cx="263103" cy="234696"/>
            </a:xfrm>
            <a:prstGeom prst="rect">
              <a:avLst/>
            </a:prstGeom>
            <a:noFill/>
            <a:ln>
              <a:noFill/>
            </a:ln>
          </p:spPr>
          <p:txBody>
            <a:bodyPr wrap="none" lIns="0" tIns="0" rIns="0" bIns="0" anchor="t" anchorCtr="0">
              <a:spAutoFit/>
            </a:bodyPr>
            <a:lstStyle/>
            <a:p>
              <a:pPr algn="ctr"/>
              <a:r>
                <a:rPr lang="en-US" sz="1200" b="1" dirty="0">
                  <a:solidFill>
                    <a:srgbClr val="1F2937"/>
                  </a:solidFill>
                  <a:latin typeface="+mn-lt"/>
                  <a:ea typeface="+mn-ea"/>
                  <a:cs typeface="+mn-cs"/>
                </a:rPr>
                <a:t>ID1</a:t>
              </a:r>
            </a:p>
          </p:txBody>
        </p:sp>
        <p:sp>
          <p:nvSpPr>
            <p:cNvPr id="50" name="Rectangle 50"/>
            <p:cNvSpPr/>
            <p:nvPr/>
          </p:nvSpPr>
          <p:spPr>
            <a:xfrm>
              <a:off x="3858578" y="4933950"/>
              <a:ext cx="683895" cy="406718"/>
            </a:xfrm>
            <a:prstGeom prst="rect">
              <a:avLst/>
            </a:prstGeom>
            <a:solidFill>
              <a:srgbClr val="FFFFFF"/>
            </a:solidFill>
            <a:ln w="15240">
              <a:solidFill>
                <a:srgbClr val="334E68"/>
              </a:solidFill>
            </a:ln>
          </p:spPr>
        </p:sp>
        <p:sp>
          <p:nvSpPr>
            <p:cNvPr id="51" name="TextBox 51"/>
            <p:cNvSpPr txBox="1"/>
            <p:nvPr/>
          </p:nvSpPr>
          <p:spPr>
            <a:xfrm>
              <a:off x="4068973" y="5062538"/>
              <a:ext cx="263103" cy="234696"/>
            </a:xfrm>
            <a:prstGeom prst="rect">
              <a:avLst/>
            </a:prstGeom>
            <a:noFill/>
            <a:ln>
              <a:noFill/>
            </a:ln>
          </p:spPr>
          <p:txBody>
            <a:bodyPr wrap="none" lIns="0" tIns="0" rIns="0" bIns="0" anchor="t" anchorCtr="0">
              <a:spAutoFit/>
            </a:bodyPr>
            <a:lstStyle/>
            <a:p>
              <a:pPr algn="ctr"/>
              <a:r>
                <a:rPr lang="en-US" sz="1200" b="1" dirty="0">
                  <a:solidFill>
                    <a:srgbClr val="1F2937"/>
                  </a:solidFill>
                  <a:latin typeface="+mn-lt"/>
                  <a:ea typeface="+mn-ea"/>
                  <a:cs typeface="+mn-cs"/>
                </a:rPr>
                <a:t>ID2</a:t>
              </a:r>
            </a:p>
          </p:txBody>
        </p:sp>
        <p:sp>
          <p:nvSpPr>
            <p:cNvPr id="52" name="Rectangle 52"/>
            <p:cNvSpPr/>
            <p:nvPr/>
          </p:nvSpPr>
          <p:spPr>
            <a:xfrm>
              <a:off x="4541520" y="4933950"/>
              <a:ext cx="683895" cy="406718"/>
            </a:xfrm>
            <a:prstGeom prst="rect">
              <a:avLst/>
            </a:prstGeom>
            <a:solidFill>
              <a:srgbClr val="FDEEE7"/>
            </a:solidFill>
            <a:ln w="15240">
              <a:solidFill>
                <a:srgbClr val="F26B3A"/>
              </a:solidFill>
            </a:ln>
          </p:spPr>
        </p:sp>
        <p:sp>
          <p:nvSpPr>
            <p:cNvPr id="53" name="TextBox 53"/>
            <p:cNvSpPr txBox="1"/>
            <p:nvPr/>
          </p:nvSpPr>
          <p:spPr>
            <a:xfrm>
              <a:off x="4760877" y="5062538"/>
              <a:ext cx="245181" cy="234696"/>
            </a:xfrm>
            <a:prstGeom prst="rect">
              <a:avLst/>
            </a:prstGeom>
            <a:noFill/>
            <a:ln>
              <a:noFill/>
            </a:ln>
          </p:spPr>
          <p:txBody>
            <a:bodyPr wrap="none" lIns="0" tIns="0" rIns="0" bIns="0" anchor="t" anchorCtr="0">
              <a:spAutoFit/>
            </a:bodyPr>
            <a:lstStyle/>
            <a:p>
              <a:pPr algn="ctr"/>
              <a:r>
                <a:rPr lang="en-US" sz="1200" b="1" dirty="0">
                  <a:solidFill>
                    <a:srgbClr val="1F2937"/>
                  </a:solidFill>
                  <a:latin typeface="+mn-lt"/>
                  <a:ea typeface="+mn-ea"/>
                  <a:cs typeface="+mn-cs"/>
                </a:rPr>
                <a:t>RO</a:t>
              </a:r>
            </a:p>
          </p:txBody>
        </p:sp>
        <p:sp>
          <p:nvSpPr>
            <p:cNvPr id="54" name="Rectangle 54"/>
            <p:cNvSpPr/>
            <p:nvPr/>
          </p:nvSpPr>
          <p:spPr>
            <a:xfrm>
              <a:off x="5225415" y="4933950"/>
              <a:ext cx="683895" cy="406718"/>
            </a:xfrm>
            <a:prstGeom prst="rect">
              <a:avLst/>
            </a:prstGeom>
            <a:solidFill>
              <a:srgbClr val="FDEEE7"/>
            </a:solidFill>
            <a:ln w="15240">
              <a:solidFill>
                <a:srgbClr val="F26B3A"/>
              </a:solidFill>
            </a:ln>
          </p:spPr>
        </p:sp>
        <p:sp>
          <p:nvSpPr>
            <p:cNvPr id="55" name="TextBox 55"/>
            <p:cNvSpPr txBox="1"/>
            <p:nvPr/>
          </p:nvSpPr>
          <p:spPr>
            <a:xfrm>
              <a:off x="5462694" y="5062538"/>
              <a:ext cx="209337" cy="234696"/>
            </a:xfrm>
            <a:prstGeom prst="rect">
              <a:avLst/>
            </a:prstGeom>
            <a:noFill/>
            <a:ln>
              <a:noFill/>
            </a:ln>
          </p:spPr>
          <p:txBody>
            <a:bodyPr wrap="none" lIns="0" tIns="0" rIns="0" bIns="0" anchor="t" anchorCtr="0">
              <a:spAutoFit/>
            </a:bodyPr>
            <a:lstStyle/>
            <a:p>
              <a:pPr algn="ctr"/>
              <a:r>
                <a:rPr lang="en-US" sz="1200" b="1" dirty="0">
                  <a:solidFill>
                    <a:srgbClr val="1F2937"/>
                  </a:solidFill>
                  <a:latin typeface="+mn-lt"/>
                  <a:ea typeface="+mn-ea"/>
                  <a:cs typeface="+mn-cs"/>
                </a:rPr>
                <a:t>EX</a:t>
              </a:r>
            </a:p>
          </p:txBody>
        </p:sp>
        <p:sp>
          <p:nvSpPr>
            <p:cNvPr id="56" name="Rectangle 56"/>
            <p:cNvSpPr/>
            <p:nvPr/>
          </p:nvSpPr>
          <p:spPr>
            <a:xfrm>
              <a:off x="5909310" y="4933950"/>
              <a:ext cx="683895" cy="406718"/>
            </a:xfrm>
            <a:prstGeom prst="rect">
              <a:avLst/>
            </a:prstGeom>
            <a:solidFill>
              <a:srgbClr val="FFFFFF"/>
            </a:solidFill>
            <a:ln w="15240">
              <a:solidFill>
                <a:srgbClr val="334E68"/>
              </a:solidFill>
            </a:ln>
          </p:spPr>
        </p:sp>
        <p:sp>
          <p:nvSpPr>
            <p:cNvPr id="57" name="TextBox 57"/>
            <p:cNvSpPr txBox="1"/>
            <p:nvPr/>
          </p:nvSpPr>
          <p:spPr>
            <a:xfrm>
              <a:off x="6128667" y="5062538"/>
              <a:ext cx="245181" cy="234696"/>
            </a:xfrm>
            <a:prstGeom prst="rect">
              <a:avLst/>
            </a:prstGeom>
            <a:noFill/>
            <a:ln>
              <a:noFill/>
            </a:ln>
          </p:spPr>
          <p:txBody>
            <a:bodyPr wrap="none" lIns="0" tIns="0" rIns="0" bIns="0" anchor="t" anchorCtr="0">
              <a:spAutoFit/>
            </a:bodyPr>
            <a:lstStyle/>
            <a:p>
              <a:pPr algn="ctr"/>
              <a:r>
                <a:rPr lang="en-US" sz="1200" b="1" dirty="0">
                  <a:solidFill>
                    <a:srgbClr val="1F2937"/>
                  </a:solidFill>
                  <a:latin typeface="+mn-lt"/>
                  <a:ea typeface="+mn-ea"/>
                  <a:cs typeface="+mn-cs"/>
                </a:rPr>
                <a:t>WB</a:t>
              </a:r>
            </a:p>
          </p:txBody>
        </p:sp>
      </p:grpSp>
      <p:grpSp>
        <p:nvGrpSpPr>
          <p:cNvPr id="60" name="c1-text-3"/>
          <p:cNvGrpSpPr/>
          <p:nvPr/>
        </p:nvGrpSpPr>
        <p:grpSpPr>
          <a:xfrm>
            <a:off x="527304" y="5545455"/>
            <a:ext cx="5452872" cy="470916"/>
            <a:chOff x="527304" y="5545455"/>
            <a:chExt cx="5452872" cy="470916"/>
          </a:xfrm>
        </p:grpSpPr>
        <p:sp>
          <p:nvSpPr>
            <p:cNvPr id="59" name="TextBox 59"/>
            <p:cNvSpPr txBox="1"/>
            <p:nvPr/>
          </p:nvSpPr>
          <p:spPr>
            <a:xfrm>
              <a:off x="527304" y="5545455"/>
              <a:ext cx="5452872" cy="470916"/>
            </a:xfrm>
            <a:prstGeom prst="rect">
              <a:avLst/>
            </a:prstGeom>
            <a:noFill/>
            <a:ln>
              <a:noFill/>
            </a:ln>
          </p:spPr>
          <p:txBody>
            <a:bodyPr wrap="none" lIns="0" tIns="0" rIns="0" bIns="0" anchor="t" anchorCtr="0">
              <a:spAutoFit/>
            </a:bodyPr>
            <a:lstStyle/>
            <a:p>
              <a:pPr algn="l">
                <a:lnSpc>
                  <a:spcPts val="1860"/>
                </a:lnSpc>
              </a:pPr>
              <a:r>
                <a:rPr lang="zh-CN" sz="1200" dirty="0">
                  <a:solidFill>
                    <a:srgbClr val="5B6475"/>
                  </a:solidFill>
                  <a:latin typeface="+mn-lt"/>
                  <a:ea typeface="+mn-ea"/>
                  <a:cs typeface="+mn-cs"/>
                </a:rPr>
                <a:t>地址仲裁 → Tag 查询 → 指令读出 → 译码并缓存 → 译码并分派 → 读操作数 → 执行 →</a:t>
              </a:r>
              <a:br/>
              <a:r>
                <a:rPr lang="zh-CN" sz="1200" dirty="0">
                  <a:solidFill>
                    <a:srgbClr val="5B6475"/>
                  </a:solidFill>
                  <a:latin typeface="+mn-lt"/>
                  <a:ea typeface="+mn-ea"/>
                  <a:cs typeface="+mn-cs"/>
                </a:rPr>
                <a:t>写回。执行段有两条流水线：ALU/FPU 一条，ALU/访存一条。</a:t>
              </a:r>
            </a:p>
          </p:txBody>
        </p:sp>
      </p:grpSp>
      <p:grpSp>
        <p:nvGrpSpPr>
          <p:cNvPr id="71" name="c2-card-1"/>
          <p:cNvGrpSpPr/>
          <p:nvPr/>
        </p:nvGrpSpPr>
        <p:grpSpPr>
          <a:xfrm>
            <a:off x="6898005" y="1524000"/>
            <a:ext cx="4760595" cy="2728912"/>
            <a:chOff x="6898005" y="1524000"/>
            <a:chExt cx="4760595" cy="2728912"/>
          </a:xfrm>
        </p:grpSpPr>
        <p:sp>
          <p:nvSpPr>
            <p:cNvPr id="61" name="Rectangle 61"/>
            <p:cNvSpPr/>
            <p:nvPr/>
          </p:nvSpPr>
          <p:spPr>
            <a:xfrm>
              <a:off x="6898005" y="1524000"/>
              <a:ext cx="4760595" cy="2728912"/>
            </a:xfrm>
            <a:prstGeom prst="roundRect">
              <a:avLst>
                <a:gd name="adj" fmla="val 4887"/>
              </a:avLst>
            </a:prstGeom>
            <a:solidFill>
              <a:srgbClr val="FFFFFF"/>
            </a:solidFill>
            <a:ln w="14288">
              <a:solidFill>
                <a:srgbClr val="D9DFEA"/>
              </a:solidFill>
            </a:ln>
          </p:spPr>
        </p:sp>
        <p:sp>
          <p:nvSpPr>
            <p:cNvPr id="62" name="Rectangle 62"/>
            <p:cNvSpPr/>
            <p:nvPr/>
          </p:nvSpPr>
          <p:spPr>
            <a:xfrm>
              <a:off x="6907530" y="1657350"/>
              <a:ext cx="47625" cy="2462212"/>
            </a:xfrm>
            <a:prstGeom prst="roundRect">
              <a:avLst>
                <a:gd name="adj" fmla="val 50000"/>
              </a:avLst>
            </a:prstGeom>
            <a:solidFill>
              <a:srgbClr val="334E68"/>
            </a:solidFill>
            <a:ln>
              <a:noFill/>
            </a:ln>
          </p:spPr>
        </p:sp>
        <p:sp>
          <p:nvSpPr>
            <p:cNvPr id="63" name="Rectangle 63"/>
            <p:cNvSpPr/>
            <p:nvPr/>
          </p:nvSpPr>
          <p:spPr>
            <a:xfrm>
              <a:off x="7139940" y="1727835"/>
              <a:ext cx="1174432" cy="257175"/>
            </a:xfrm>
            <a:prstGeom prst="roundRect">
              <a:avLst>
                <a:gd name="adj" fmla="val 50000"/>
              </a:avLst>
            </a:prstGeom>
            <a:solidFill>
              <a:srgbClr val="E7EDF3"/>
            </a:solidFill>
            <a:ln>
              <a:noFill/>
            </a:ln>
          </p:spPr>
        </p:sp>
        <p:sp>
          <p:nvSpPr>
            <p:cNvPr id="64" name="TextBox 64"/>
            <p:cNvSpPr txBox="1"/>
            <p:nvPr/>
          </p:nvSpPr>
          <p:spPr>
            <a:xfrm>
              <a:off x="7201846" y="1763554"/>
              <a:ext cx="1049668"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从核 PE 的组成</a:t>
              </a:r>
            </a:p>
          </p:txBody>
        </p:sp>
        <p:sp>
          <p:nvSpPr>
            <p:cNvPr id="65" name="Ellipse 65"/>
            <p:cNvSpPr/>
            <p:nvPr/>
          </p:nvSpPr>
          <p:spPr>
            <a:xfrm>
              <a:off x="7147560" y="2161222"/>
              <a:ext cx="60960" cy="60960"/>
            </a:xfrm>
            <a:prstGeom prst="ellipse">
              <a:avLst/>
            </a:prstGeom>
            <a:solidFill>
              <a:srgbClr val="334E68"/>
            </a:solidFill>
            <a:ln>
              <a:noFill/>
            </a:ln>
          </p:spPr>
        </p:sp>
        <p:sp>
          <p:nvSpPr>
            <p:cNvPr id="66" name="TextBox 66"/>
            <p:cNvSpPr txBox="1"/>
            <p:nvPr/>
          </p:nvSpPr>
          <p:spPr>
            <a:xfrm>
              <a:off x="7304151" y="2100739"/>
              <a:ext cx="3981958" cy="550164"/>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8 行 8 列从核组成从核阵列，每个从核分为从核核</a:t>
              </a:r>
              <a:br/>
              <a:r>
                <a:rPr lang="zh-CN" sz="1420" dirty="0">
                  <a:solidFill>
                    <a:srgbClr val="1F2937"/>
                  </a:solidFill>
                  <a:latin typeface="+mn-lt"/>
                  <a:ea typeface="+mn-ea"/>
                  <a:cs typeface="+mn-cs"/>
                </a:rPr>
                <a:t>心和传输代理 TA 两部分</a:t>
              </a:r>
            </a:p>
          </p:txBody>
        </p:sp>
        <p:sp>
          <p:nvSpPr>
            <p:cNvPr id="67" name="Ellipse 67"/>
            <p:cNvSpPr/>
            <p:nvPr/>
          </p:nvSpPr>
          <p:spPr>
            <a:xfrm>
              <a:off x="7147560" y="2752725"/>
              <a:ext cx="60960" cy="60960"/>
            </a:xfrm>
            <a:prstGeom prst="ellipse">
              <a:avLst/>
            </a:prstGeom>
            <a:solidFill>
              <a:srgbClr val="334E68"/>
            </a:solidFill>
            <a:ln>
              <a:noFill/>
            </a:ln>
          </p:spPr>
        </p:sp>
        <p:sp>
          <p:nvSpPr>
            <p:cNvPr id="68" name="TextBox 68"/>
            <p:cNvSpPr txBox="1"/>
            <p:nvPr/>
          </p:nvSpPr>
          <p:spPr>
            <a:xfrm>
              <a:off x="7304151" y="2692241"/>
              <a:ext cx="3981958" cy="821626"/>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从核核心负责处理指令流；碰到异常、错误、取指</a:t>
              </a:r>
              <a:br/>
              <a:r>
                <a:rPr lang="zh-CN" sz="1420" dirty="0">
                  <a:solidFill>
                    <a:srgbClr val="1F2937"/>
                  </a:solidFill>
                  <a:latin typeface="+mn-lt"/>
                  <a:ea typeface="+mn-ea"/>
                  <a:cs typeface="+mn-cs"/>
                </a:rPr>
                <a:t>脱靶、硬件断点、性能计数中断等特殊事件，交给</a:t>
              </a:r>
              <a:br/>
              <a:r>
                <a:rPr lang="zh-CN" sz="1420" dirty="0">
                  <a:solidFill>
                    <a:srgbClr val="1F2937"/>
                  </a:solidFill>
                  <a:latin typeface="+mn-lt"/>
                  <a:ea typeface="+mn-ea"/>
                  <a:cs typeface="+mn-cs"/>
                </a:rPr>
                <a:t>外界处理</a:t>
              </a:r>
            </a:p>
          </p:txBody>
        </p:sp>
        <p:sp>
          <p:nvSpPr>
            <p:cNvPr id="69" name="Ellipse 69"/>
            <p:cNvSpPr/>
            <p:nvPr/>
          </p:nvSpPr>
          <p:spPr>
            <a:xfrm>
              <a:off x="7147560" y="3615690"/>
              <a:ext cx="60960" cy="60960"/>
            </a:xfrm>
            <a:prstGeom prst="ellipse">
              <a:avLst/>
            </a:prstGeom>
            <a:solidFill>
              <a:srgbClr val="334E68"/>
            </a:solidFill>
            <a:ln>
              <a:noFill/>
            </a:ln>
          </p:spPr>
        </p:sp>
        <p:sp>
          <p:nvSpPr>
            <p:cNvPr id="70" name="TextBox 70"/>
            <p:cNvSpPr txBox="1"/>
            <p:nvPr/>
          </p:nvSpPr>
          <p:spPr>
            <a:xfrm>
              <a:off x="7304151" y="3555206"/>
              <a:ext cx="3981958" cy="550164"/>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传输代理是从核核心与外界交互的接口，负责异常</a:t>
              </a:r>
              <a:br/>
              <a:r>
                <a:rPr lang="zh-CN" sz="1420" dirty="0">
                  <a:solidFill>
                    <a:srgbClr val="1F2937"/>
                  </a:solidFill>
                  <a:latin typeface="+mn-lt"/>
                  <a:ea typeface="+mn-ea"/>
                  <a:cs typeface="+mn-cs"/>
                </a:rPr>
                <a:t>处理、指令管理和 IO 访问</a:t>
              </a:r>
            </a:p>
          </p:txBody>
        </p:sp>
      </p:grpSp>
      <p:grpSp>
        <p:nvGrpSpPr>
          <p:cNvPr id="80" name="c2-kv-2"/>
          <p:cNvGrpSpPr/>
          <p:nvPr/>
        </p:nvGrpSpPr>
        <p:grpSpPr>
          <a:xfrm>
            <a:off x="6890766" y="4461986"/>
            <a:ext cx="4767834" cy="1122617"/>
            <a:chOff x="6890766" y="4461986"/>
            <a:chExt cx="4767834" cy="1122617"/>
          </a:xfrm>
        </p:grpSpPr>
        <p:sp>
          <p:nvSpPr>
            <p:cNvPr id="72" name="TextBox 72"/>
            <p:cNvSpPr txBox="1"/>
            <p:nvPr/>
          </p:nvSpPr>
          <p:spPr>
            <a:xfrm>
              <a:off x="6890766" y="4461986"/>
              <a:ext cx="406826" cy="278702"/>
            </a:xfrm>
            <a:prstGeom prst="rect">
              <a:avLst/>
            </a:prstGeom>
            <a:noFill/>
            <a:ln>
              <a:noFill/>
            </a:ln>
          </p:spPr>
          <p:txBody>
            <a:bodyPr wrap="none" lIns="0" tIns="0" rIns="0" bIns="0" anchor="t" anchorCtr="0">
              <a:spAutoFit/>
            </a:bodyPr>
            <a:lstStyle/>
            <a:p>
              <a:pPr algn="l"/>
              <a:r>
                <a:rPr lang="en-US" sz="1420" b="1" dirty="0">
                  <a:solidFill>
                    <a:srgbClr val="334E68"/>
                  </a:solidFill>
                  <a:latin typeface="+mn-lt"/>
                  <a:ea typeface="+mn-ea"/>
                  <a:cs typeface="+mn-cs"/>
                </a:rPr>
                <a:t>CSW</a:t>
              </a:r>
            </a:p>
          </p:txBody>
        </p:sp>
        <p:sp>
          <p:nvSpPr>
            <p:cNvPr id="73" name="TextBox 73"/>
            <p:cNvSpPr txBox="1"/>
            <p:nvPr/>
          </p:nvSpPr>
          <p:spPr>
            <a:xfrm>
              <a:off x="7503224" y="4461986"/>
              <a:ext cx="1161440"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从核通信网络</a:t>
              </a:r>
            </a:p>
          </p:txBody>
        </p:sp>
        <p:sp>
          <p:nvSpPr>
            <p:cNvPr id="74" name="Rectangle 74"/>
            <p:cNvSpPr/>
            <p:nvPr/>
          </p:nvSpPr>
          <p:spPr>
            <a:xfrm>
              <a:off x="6898005" y="4768215"/>
              <a:ext cx="4760595" cy="9525"/>
            </a:xfrm>
            <a:prstGeom prst="rect">
              <a:avLst/>
            </a:prstGeom>
            <a:solidFill>
              <a:srgbClr val="D9DFEA"/>
            </a:solidFill>
            <a:ln>
              <a:noFill/>
            </a:ln>
          </p:spPr>
        </p:sp>
        <p:sp>
          <p:nvSpPr>
            <p:cNvPr id="75" name="TextBox 75"/>
            <p:cNvSpPr txBox="1"/>
            <p:nvPr/>
          </p:nvSpPr>
          <p:spPr>
            <a:xfrm>
              <a:off x="6890766" y="4883944"/>
              <a:ext cx="247766" cy="278702"/>
            </a:xfrm>
            <a:prstGeom prst="rect">
              <a:avLst/>
            </a:prstGeom>
            <a:noFill/>
            <a:ln>
              <a:noFill/>
            </a:ln>
          </p:spPr>
          <p:txBody>
            <a:bodyPr wrap="none" lIns="0" tIns="0" rIns="0" bIns="0" anchor="t" anchorCtr="0">
              <a:spAutoFit/>
            </a:bodyPr>
            <a:lstStyle/>
            <a:p>
              <a:pPr algn="l"/>
              <a:r>
                <a:rPr lang="en-US" sz="1420" b="1" dirty="0">
                  <a:solidFill>
                    <a:srgbClr val="334E68"/>
                  </a:solidFill>
                  <a:latin typeface="+mn-lt"/>
                  <a:ea typeface="+mn-ea"/>
                  <a:cs typeface="+mn-cs"/>
                </a:rPr>
                <a:t>TC</a:t>
              </a:r>
            </a:p>
          </p:txBody>
        </p:sp>
        <p:sp>
          <p:nvSpPr>
            <p:cNvPr id="76" name="TextBox 76"/>
            <p:cNvSpPr txBox="1"/>
            <p:nvPr/>
          </p:nvSpPr>
          <p:spPr>
            <a:xfrm>
              <a:off x="7503224" y="4883944"/>
              <a:ext cx="1161440"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阵列数据网络</a:t>
              </a:r>
            </a:p>
          </p:txBody>
        </p:sp>
        <p:sp>
          <p:nvSpPr>
            <p:cNvPr id="77" name="Rectangle 77"/>
            <p:cNvSpPr/>
            <p:nvPr/>
          </p:nvSpPr>
          <p:spPr>
            <a:xfrm>
              <a:off x="6898005" y="5189220"/>
              <a:ext cx="4760595" cy="9525"/>
            </a:xfrm>
            <a:prstGeom prst="rect">
              <a:avLst/>
            </a:prstGeom>
            <a:solidFill>
              <a:srgbClr val="D9DFEA"/>
            </a:solidFill>
            <a:ln>
              <a:noFill/>
            </a:ln>
          </p:spPr>
        </p:sp>
        <p:sp>
          <p:nvSpPr>
            <p:cNvPr id="78" name="TextBox 78"/>
            <p:cNvSpPr txBox="1"/>
            <p:nvPr/>
          </p:nvSpPr>
          <p:spPr>
            <a:xfrm>
              <a:off x="6890766" y="5305901"/>
              <a:ext cx="247766" cy="278702"/>
            </a:xfrm>
            <a:prstGeom prst="rect">
              <a:avLst/>
            </a:prstGeom>
            <a:noFill/>
            <a:ln>
              <a:noFill/>
            </a:ln>
          </p:spPr>
          <p:txBody>
            <a:bodyPr wrap="none" lIns="0" tIns="0" rIns="0" bIns="0" anchor="t" anchorCtr="0">
              <a:spAutoFit/>
            </a:bodyPr>
            <a:lstStyle/>
            <a:p>
              <a:pPr algn="l"/>
              <a:r>
                <a:rPr lang="en-US" sz="1420" b="1" dirty="0">
                  <a:solidFill>
                    <a:srgbClr val="334E68"/>
                  </a:solidFill>
                  <a:latin typeface="+mn-lt"/>
                  <a:ea typeface="+mn-ea"/>
                  <a:cs typeface="+mn-cs"/>
                </a:rPr>
                <a:t>GC</a:t>
              </a:r>
            </a:p>
          </p:txBody>
        </p:sp>
        <p:sp>
          <p:nvSpPr>
            <p:cNvPr id="79" name="TextBox 79"/>
            <p:cNvSpPr txBox="1"/>
            <p:nvPr/>
          </p:nvSpPr>
          <p:spPr>
            <a:xfrm>
              <a:off x="7503224" y="5305901"/>
              <a:ext cx="1161440"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阵列控制网络</a:t>
              </a:r>
            </a:p>
          </p:txBody>
        </p:sp>
      </p:grpSp>
      <p:grpSp>
        <p:nvGrpSpPr>
          <p:cNvPr id="82" name="c2-text-3"/>
          <p:cNvGrpSpPr/>
          <p:nvPr/>
        </p:nvGrpSpPr>
        <p:grpSpPr>
          <a:xfrm>
            <a:off x="6891909" y="5733098"/>
            <a:ext cx="4066946" cy="234696"/>
            <a:chOff x="6891909" y="5733098"/>
            <a:chExt cx="4066946" cy="234696"/>
          </a:xfrm>
        </p:grpSpPr>
        <p:sp>
          <p:nvSpPr>
            <p:cNvPr id="81" name="TextBox 81"/>
            <p:cNvSpPr txBox="1"/>
            <p:nvPr/>
          </p:nvSpPr>
          <p:spPr>
            <a:xfrm>
              <a:off x="6891909" y="5733098"/>
              <a:ext cx="4066946" cy="234696"/>
            </a:xfrm>
            <a:prstGeom prst="rect">
              <a:avLst/>
            </a:prstGeom>
            <a:noFill/>
            <a:ln>
              <a:noFill/>
            </a:ln>
          </p:spPr>
          <p:txBody>
            <a:bodyPr wrap="none" lIns="0" tIns="0" rIns="0" bIns="0" anchor="t" anchorCtr="0">
              <a:spAutoFit/>
            </a:bodyPr>
            <a:lstStyle/>
            <a:p>
              <a:pPr algn="l"/>
              <a:r>
                <a:rPr lang="zh-CN" sz="1200" dirty="0">
                  <a:solidFill>
                    <a:srgbClr val="5B6475"/>
                  </a:solidFill>
                  <a:latin typeface="+mn-lt"/>
                  <a:ea typeface="+mn-ea"/>
                  <a:cs typeface="+mn-cs"/>
                </a:rPr>
                <a:t>以上是传输代理对外连接的三个网络（原课件第24页）。</a:t>
              </a:r>
            </a:p>
          </p:txBody>
        </p:sp>
      </p:grpSp>
      <p:grpSp>
        <p:nvGrpSpPr>
          <p:cNvPr id="85" name="footer"/>
          <p:cNvGrpSpPr/>
          <p:nvPr/>
        </p:nvGrpSpPr>
        <p:grpSpPr>
          <a:xfrm>
            <a:off x="528447" y="6581299"/>
            <a:ext cx="11135106" cy="190690"/>
            <a:chOff x="528447" y="6581299"/>
            <a:chExt cx="11135106" cy="190690"/>
          </a:xfrm>
        </p:grpSpPr>
        <p:sp>
          <p:nvSpPr>
            <p:cNvPr id="83" name="TextBox 83"/>
            <p:cNvSpPr txBox="1"/>
            <p:nvPr/>
          </p:nvSpPr>
          <p:spPr>
            <a:xfrm>
              <a:off x="528447" y="6581299"/>
              <a:ext cx="2120748"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并行与分布式计算 · 第7章 体系结构</a:t>
              </a:r>
            </a:p>
          </p:txBody>
        </p:sp>
        <p:sp>
          <p:nvSpPr>
            <p:cNvPr id="84" name="TextBox 84"/>
            <p:cNvSpPr txBox="1"/>
            <p:nvPr/>
          </p:nvSpPr>
          <p:spPr>
            <a:xfrm>
              <a:off x="11581087" y="6581299"/>
              <a:ext cx="8246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9</a:t>
              </a:r>
            </a:p>
          </p:txBody>
        </p:sp>
      </p:gr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7039527" cy="909257"/>
            <a:chOff x="520446" y="342900"/>
            <a:chExt cx="7039527" cy="909257"/>
          </a:xfrm>
        </p:grpSpPr>
        <p:sp>
          <p:nvSpPr>
            <p:cNvPr id="2" name="Rectangle 2"/>
            <p:cNvSpPr/>
            <p:nvPr/>
          </p:nvSpPr>
          <p:spPr>
            <a:xfrm>
              <a:off x="533400" y="342900"/>
              <a:ext cx="2272665" cy="266700"/>
            </a:xfrm>
            <a:prstGeom prst="roundRect">
              <a:avLst>
                <a:gd name="adj" fmla="val 50000"/>
              </a:avLst>
            </a:prstGeom>
            <a:solidFill>
              <a:srgbClr val="E7EDF3"/>
            </a:solidFill>
            <a:ln>
              <a:noFill/>
            </a:ln>
          </p:spPr>
        </p:sp>
        <p:sp>
          <p:nvSpPr>
            <p:cNvPr id="3" name="TextBox 3"/>
            <p:cNvSpPr txBox="1"/>
            <p:nvPr/>
          </p:nvSpPr>
          <p:spPr>
            <a:xfrm>
              <a:off x="601058" y="407194"/>
              <a:ext cx="2137349"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第7章 体系结构 · 多处理器结构</a:t>
              </a:r>
            </a:p>
          </p:txBody>
        </p:sp>
        <p:sp>
          <p:nvSpPr>
            <p:cNvPr id="4" name="TextBox 4"/>
            <p:cNvSpPr txBox="1"/>
            <p:nvPr/>
          </p:nvSpPr>
          <p:spPr>
            <a:xfrm>
              <a:off x="520446" y="753428"/>
              <a:ext cx="7039527"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取指脱靶：把指令装进 L1 ICache 的两种模式</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8" name="c1-text-1"/>
          <p:cNvGrpSpPr/>
          <p:nvPr/>
        </p:nvGrpSpPr>
        <p:grpSpPr>
          <a:xfrm>
            <a:off x="526161" y="1547336"/>
            <a:ext cx="3072179" cy="278702"/>
            <a:chOff x="526161" y="1547336"/>
            <a:chExt cx="3072179" cy="278702"/>
          </a:xfrm>
        </p:grpSpPr>
        <p:sp>
          <p:nvSpPr>
            <p:cNvPr id="7" name="TextBox 7"/>
            <p:cNvSpPr txBox="1"/>
            <p:nvPr/>
          </p:nvSpPr>
          <p:spPr>
            <a:xfrm>
              <a:off x="526161" y="1547336"/>
              <a:ext cx="3072179"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SBMD 模式</a:t>
              </a:r>
              <a:r>
                <a:rPr lang="zh-CN" sz="1420" dirty="0">
                  <a:solidFill>
                    <a:srgbClr val="1F2937"/>
                  </a:solidFill>
                  <a:latin typeface="+mn-lt"/>
                  <a:ea typeface="+mn-ea"/>
                  <a:cs typeface="+mn-cs"/>
                </a:rPr>
                <a:t>：由全局控制器集中管理</a:t>
              </a:r>
            </a:p>
          </p:txBody>
        </p:sp>
      </p:grpSp>
      <p:grpSp>
        <p:nvGrpSpPr>
          <p:cNvPr id="30" name="c1-steps-2"/>
          <p:cNvGrpSpPr/>
          <p:nvPr/>
        </p:nvGrpSpPr>
        <p:grpSpPr>
          <a:xfrm>
            <a:off x="533400" y="1965008"/>
            <a:ext cx="5427574" cy="3031236"/>
            <a:chOff x="533400" y="1965008"/>
            <a:chExt cx="5427574" cy="3031236"/>
          </a:xfrm>
        </p:grpSpPr>
        <p:sp>
          <p:nvSpPr>
            <p:cNvPr id="9" name="Rectangle 9"/>
            <p:cNvSpPr/>
            <p:nvPr/>
          </p:nvSpPr>
          <p:spPr>
            <a:xfrm>
              <a:off x="666750" y="2107882"/>
              <a:ext cx="19050" cy="2483168"/>
            </a:xfrm>
            <a:prstGeom prst="rect">
              <a:avLst/>
            </a:prstGeom>
            <a:solidFill>
              <a:srgbClr val="D9DFEA"/>
            </a:solidFill>
            <a:ln>
              <a:noFill/>
            </a:ln>
          </p:spPr>
        </p:sp>
        <p:sp>
          <p:nvSpPr>
            <p:cNvPr id="10" name="Ellipse 10"/>
            <p:cNvSpPr/>
            <p:nvPr/>
          </p:nvSpPr>
          <p:spPr>
            <a:xfrm>
              <a:off x="533400" y="1965008"/>
              <a:ext cx="285750" cy="285750"/>
            </a:xfrm>
            <a:prstGeom prst="ellipse">
              <a:avLst/>
            </a:prstGeom>
            <a:solidFill>
              <a:srgbClr val="334E68"/>
            </a:solidFill>
            <a:ln>
              <a:noFill/>
            </a:ln>
          </p:spPr>
        </p:sp>
        <p:sp>
          <p:nvSpPr>
            <p:cNvPr id="11" name="TextBox 11"/>
            <p:cNvSpPr txBox="1"/>
            <p:nvPr/>
          </p:nvSpPr>
          <p:spPr>
            <a:xfrm>
              <a:off x="627024" y="2038826"/>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1</a:t>
              </a:r>
            </a:p>
          </p:txBody>
        </p:sp>
        <p:sp>
          <p:nvSpPr>
            <p:cNvPr id="12" name="Ellipse 12"/>
            <p:cNvSpPr/>
            <p:nvPr/>
          </p:nvSpPr>
          <p:spPr>
            <a:xfrm>
              <a:off x="533400" y="2586038"/>
              <a:ext cx="285750" cy="285750"/>
            </a:xfrm>
            <a:prstGeom prst="ellipse">
              <a:avLst/>
            </a:prstGeom>
            <a:solidFill>
              <a:srgbClr val="334E68"/>
            </a:solidFill>
            <a:ln>
              <a:noFill/>
            </a:ln>
          </p:spPr>
        </p:sp>
        <p:sp>
          <p:nvSpPr>
            <p:cNvPr id="13" name="TextBox 13"/>
            <p:cNvSpPr txBox="1"/>
            <p:nvPr/>
          </p:nvSpPr>
          <p:spPr>
            <a:xfrm>
              <a:off x="627024" y="2659856"/>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2</a:t>
              </a:r>
            </a:p>
          </p:txBody>
        </p:sp>
        <p:sp>
          <p:nvSpPr>
            <p:cNvPr id="14" name="Ellipse 14"/>
            <p:cNvSpPr/>
            <p:nvPr/>
          </p:nvSpPr>
          <p:spPr>
            <a:xfrm>
              <a:off x="533400" y="3207068"/>
              <a:ext cx="285750" cy="285750"/>
            </a:xfrm>
            <a:prstGeom prst="ellipse">
              <a:avLst/>
            </a:prstGeom>
            <a:solidFill>
              <a:srgbClr val="334E68"/>
            </a:solidFill>
            <a:ln>
              <a:noFill/>
            </a:ln>
          </p:spPr>
        </p:sp>
        <p:sp>
          <p:nvSpPr>
            <p:cNvPr id="15" name="TextBox 15"/>
            <p:cNvSpPr txBox="1"/>
            <p:nvPr/>
          </p:nvSpPr>
          <p:spPr>
            <a:xfrm>
              <a:off x="627024" y="3280886"/>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3</a:t>
              </a:r>
            </a:p>
          </p:txBody>
        </p:sp>
        <p:sp>
          <p:nvSpPr>
            <p:cNvPr id="16" name="Ellipse 16"/>
            <p:cNvSpPr/>
            <p:nvPr/>
          </p:nvSpPr>
          <p:spPr>
            <a:xfrm>
              <a:off x="533400" y="3827145"/>
              <a:ext cx="285750" cy="285750"/>
            </a:xfrm>
            <a:prstGeom prst="ellipse">
              <a:avLst/>
            </a:prstGeom>
            <a:solidFill>
              <a:srgbClr val="334E68"/>
            </a:solidFill>
            <a:ln>
              <a:noFill/>
            </a:ln>
          </p:spPr>
        </p:sp>
        <p:sp>
          <p:nvSpPr>
            <p:cNvPr id="17" name="TextBox 17"/>
            <p:cNvSpPr txBox="1"/>
            <p:nvPr/>
          </p:nvSpPr>
          <p:spPr>
            <a:xfrm>
              <a:off x="627024" y="3900964"/>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4</a:t>
              </a:r>
            </a:p>
          </p:txBody>
        </p:sp>
        <p:sp>
          <p:nvSpPr>
            <p:cNvPr id="18" name="Ellipse 18"/>
            <p:cNvSpPr/>
            <p:nvPr/>
          </p:nvSpPr>
          <p:spPr>
            <a:xfrm>
              <a:off x="533400" y="4448175"/>
              <a:ext cx="285750" cy="285750"/>
            </a:xfrm>
            <a:prstGeom prst="ellipse">
              <a:avLst/>
            </a:prstGeom>
            <a:solidFill>
              <a:srgbClr val="334E68"/>
            </a:solidFill>
            <a:ln>
              <a:noFill/>
            </a:ln>
          </p:spPr>
        </p:sp>
        <p:sp>
          <p:nvSpPr>
            <p:cNvPr id="19" name="TextBox 19"/>
            <p:cNvSpPr txBox="1"/>
            <p:nvPr/>
          </p:nvSpPr>
          <p:spPr>
            <a:xfrm>
              <a:off x="627024" y="4521994"/>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5</a:t>
              </a:r>
            </a:p>
          </p:txBody>
        </p:sp>
        <p:sp>
          <p:nvSpPr>
            <p:cNvPr id="20" name="TextBox 20"/>
            <p:cNvSpPr txBox="1"/>
            <p:nvPr/>
          </p:nvSpPr>
          <p:spPr>
            <a:xfrm>
              <a:off x="945261" y="1997869"/>
              <a:ext cx="949730"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① 冲突查询</a:t>
              </a:r>
            </a:p>
          </p:txBody>
        </p:sp>
        <p:sp>
          <p:nvSpPr>
            <p:cNvPr id="21" name="TextBox 21"/>
            <p:cNvSpPr txBox="1"/>
            <p:nvPr/>
          </p:nvSpPr>
          <p:spPr>
            <a:xfrm>
              <a:off x="946404" y="2278380"/>
              <a:ext cx="5014570"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从核经阵列控制网络向全局控制器 GC 的 SBMD 集中管理部件发起查询</a:t>
              </a:r>
            </a:p>
          </p:txBody>
        </p:sp>
        <p:sp>
          <p:nvSpPr>
            <p:cNvPr id="22" name="TextBox 22"/>
            <p:cNvSpPr txBox="1"/>
            <p:nvPr/>
          </p:nvSpPr>
          <p:spPr>
            <a:xfrm>
              <a:off x="945261" y="2618899"/>
              <a:ext cx="949730"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② 返回结果</a:t>
              </a:r>
            </a:p>
          </p:txBody>
        </p:sp>
        <p:sp>
          <p:nvSpPr>
            <p:cNvPr id="23" name="TextBox 23"/>
            <p:cNvSpPr txBox="1"/>
            <p:nvPr/>
          </p:nvSpPr>
          <p:spPr>
            <a:xfrm>
              <a:off x="946404" y="2899410"/>
              <a:ext cx="1705051"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GC 把查询结果送回从核</a:t>
              </a:r>
            </a:p>
          </p:txBody>
        </p:sp>
        <p:sp>
          <p:nvSpPr>
            <p:cNvPr id="24" name="TextBox 24"/>
            <p:cNvSpPr txBox="1"/>
            <p:nvPr/>
          </p:nvSpPr>
          <p:spPr>
            <a:xfrm>
              <a:off x="945261" y="3239929"/>
              <a:ext cx="1023381"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③ 启动 DMA</a:t>
              </a:r>
            </a:p>
          </p:txBody>
        </p:sp>
        <p:sp>
          <p:nvSpPr>
            <p:cNvPr id="25" name="TextBox 25"/>
            <p:cNvSpPr txBox="1"/>
            <p:nvPr/>
          </p:nvSpPr>
          <p:spPr>
            <a:xfrm>
              <a:off x="946404" y="3520440"/>
              <a:ext cx="2898038"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GC 通知传输控制器 TC 的指令 DMA 引擎</a:t>
              </a:r>
            </a:p>
          </p:txBody>
        </p:sp>
        <p:sp>
          <p:nvSpPr>
            <p:cNvPr id="26" name="TextBox 26"/>
            <p:cNvSpPr txBox="1"/>
            <p:nvPr/>
          </p:nvSpPr>
          <p:spPr>
            <a:xfrm>
              <a:off x="945261" y="3860959"/>
              <a:ext cx="864321"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④ 取入 L2</a:t>
              </a:r>
            </a:p>
          </p:txBody>
        </p:sp>
        <p:sp>
          <p:nvSpPr>
            <p:cNvPr id="27" name="TextBox 27"/>
            <p:cNvSpPr txBox="1"/>
            <p:nvPr/>
          </p:nvSpPr>
          <p:spPr>
            <a:xfrm>
              <a:off x="946404" y="4141470"/>
              <a:ext cx="3295650"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TC 经协议处理部件把指令读进 L2 指令 cache</a:t>
              </a:r>
            </a:p>
          </p:txBody>
        </p:sp>
        <p:sp>
          <p:nvSpPr>
            <p:cNvPr id="28" name="TextBox 28"/>
            <p:cNvSpPr txBox="1"/>
            <p:nvPr/>
          </p:nvSpPr>
          <p:spPr>
            <a:xfrm>
              <a:off x="945261" y="4481036"/>
              <a:ext cx="949730"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⑤ 指令装填</a:t>
              </a:r>
            </a:p>
          </p:txBody>
        </p:sp>
        <p:sp>
          <p:nvSpPr>
            <p:cNvPr id="29" name="TextBox 29"/>
            <p:cNvSpPr txBox="1"/>
            <p:nvPr/>
          </p:nvSpPr>
          <p:spPr>
            <a:xfrm>
              <a:off x="946404" y="4761548"/>
              <a:ext cx="2898213"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经阵列数据网络装填到从核的 L1 ICache</a:t>
              </a:r>
            </a:p>
          </p:txBody>
        </p:sp>
      </p:grpSp>
      <p:grpSp>
        <p:nvGrpSpPr>
          <p:cNvPr id="32" name="c2-text-1"/>
          <p:cNvGrpSpPr/>
          <p:nvPr/>
        </p:nvGrpSpPr>
        <p:grpSpPr>
          <a:xfrm>
            <a:off x="6241161" y="1547336"/>
            <a:ext cx="3073044" cy="278702"/>
            <a:chOff x="6241161" y="1547336"/>
            <a:chExt cx="3073044" cy="278702"/>
          </a:xfrm>
        </p:grpSpPr>
        <p:sp>
          <p:nvSpPr>
            <p:cNvPr id="31" name="TextBox 31"/>
            <p:cNvSpPr txBox="1"/>
            <p:nvPr/>
          </p:nvSpPr>
          <p:spPr>
            <a:xfrm>
              <a:off x="6241161" y="1547336"/>
              <a:ext cx="3073044"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从核自主模式</a:t>
              </a:r>
              <a:r>
                <a:rPr lang="zh-CN" sz="1420" dirty="0">
                  <a:solidFill>
                    <a:srgbClr val="1F2937"/>
                  </a:solidFill>
                  <a:latin typeface="+mn-lt"/>
                  <a:ea typeface="+mn-ea"/>
                  <a:cs typeface="+mn-cs"/>
                </a:rPr>
                <a:t>：从核直接发脱靶请求</a:t>
              </a:r>
            </a:p>
          </p:txBody>
        </p:sp>
      </p:grpSp>
      <p:grpSp>
        <p:nvGrpSpPr>
          <p:cNvPr id="50" name="c2-steps-2"/>
          <p:cNvGrpSpPr/>
          <p:nvPr/>
        </p:nvGrpSpPr>
        <p:grpSpPr>
          <a:xfrm>
            <a:off x="6248400" y="1965008"/>
            <a:ext cx="4814926" cy="2411158"/>
            <a:chOff x="6248400" y="1965008"/>
            <a:chExt cx="4814926" cy="2411158"/>
          </a:xfrm>
        </p:grpSpPr>
        <p:sp>
          <p:nvSpPr>
            <p:cNvPr id="33" name="Rectangle 33"/>
            <p:cNvSpPr/>
            <p:nvPr/>
          </p:nvSpPr>
          <p:spPr>
            <a:xfrm>
              <a:off x="6381750" y="2107882"/>
              <a:ext cx="19050" cy="1862138"/>
            </a:xfrm>
            <a:prstGeom prst="rect">
              <a:avLst/>
            </a:prstGeom>
            <a:solidFill>
              <a:srgbClr val="D9DFEA"/>
            </a:solidFill>
            <a:ln>
              <a:noFill/>
            </a:ln>
          </p:spPr>
        </p:sp>
        <p:sp>
          <p:nvSpPr>
            <p:cNvPr id="34" name="Ellipse 34"/>
            <p:cNvSpPr/>
            <p:nvPr/>
          </p:nvSpPr>
          <p:spPr>
            <a:xfrm>
              <a:off x="6248400" y="1965008"/>
              <a:ext cx="285750" cy="285750"/>
            </a:xfrm>
            <a:prstGeom prst="ellipse">
              <a:avLst/>
            </a:prstGeom>
            <a:solidFill>
              <a:srgbClr val="334E68"/>
            </a:solidFill>
            <a:ln>
              <a:noFill/>
            </a:ln>
          </p:spPr>
        </p:sp>
        <p:sp>
          <p:nvSpPr>
            <p:cNvPr id="35" name="TextBox 35"/>
            <p:cNvSpPr txBox="1"/>
            <p:nvPr/>
          </p:nvSpPr>
          <p:spPr>
            <a:xfrm>
              <a:off x="6342024" y="2038826"/>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1</a:t>
              </a:r>
            </a:p>
          </p:txBody>
        </p:sp>
        <p:sp>
          <p:nvSpPr>
            <p:cNvPr id="36" name="Ellipse 36"/>
            <p:cNvSpPr/>
            <p:nvPr/>
          </p:nvSpPr>
          <p:spPr>
            <a:xfrm>
              <a:off x="6248400" y="2586038"/>
              <a:ext cx="285750" cy="285750"/>
            </a:xfrm>
            <a:prstGeom prst="ellipse">
              <a:avLst/>
            </a:prstGeom>
            <a:solidFill>
              <a:srgbClr val="334E68"/>
            </a:solidFill>
            <a:ln>
              <a:noFill/>
            </a:ln>
          </p:spPr>
        </p:sp>
        <p:sp>
          <p:nvSpPr>
            <p:cNvPr id="37" name="TextBox 37"/>
            <p:cNvSpPr txBox="1"/>
            <p:nvPr/>
          </p:nvSpPr>
          <p:spPr>
            <a:xfrm>
              <a:off x="6342024" y="2659856"/>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2</a:t>
              </a:r>
            </a:p>
          </p:txBody>
        </p:sp>
        <p:sp>
          <p:nvSpPr>
            <p:cNvPr id="38" name="Ellipse 38"/>
            <p:cNvSpPr/>
            <p:nvPr/>
          </p:nvSpPr>
          <p:spPr>
            <a:xfrm>
              <a:off x="6248400" y="3207068"/>
              <a:ext cx="285750" cy="285750"/>
            </a:xfrm>
            <a:prstGeom prst="ellipse">
              <a:avLst/>
            </a:prstGeom>
            <a:solidFill>
              <a:srgbClr val="334E68"/>
            </a:solidFill>
            <a:ln>
              <a:noFill/>
            </a:ln>
          </p:spPr>
        </p:sp>
        <p:sp>
          <p:nvSpPr>
            <p:cNvPr id="39" name="TextBox 39"/>
            <p:cNvSpPr txBox="1"/>
            <p:nvPr/>
          </p:nvSpPr>
          <p:spPr>
            <a:xfrm>
              <a:off x="6342024" y="3280886"/>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3</a:t>
              </a:r>
            </a:p>
          </p:txBody>
        </p:sp>
        <p:sp>
          <p:nvSpPr>
            <p:cNvPr id="40" name="Ellipse 40"/>
            <p:cNvSpPr/>
            <p:nvPr/>
          </p:nvSpPr>
          <p:spPr>
            <a:xfrm>
              <a:off x="6248400" y="3827145"/>
              <a:ext cx="285750" cy="285750"/>
            </a:xfrm>
            <a:prstGeom prst="ellipse">
              <a:avLst/>
            </a:prstGeom>
            <a:solidFill>
              <a:srgbClr val="334E68"/>
            </a:solidFill>
            <a:ln>
              <a:noFill/>
            </a:ln>
          </p:spPr>
        </p:sp>
        <p:sp>
          <p:nvSpPr>
            <p:cNvPr id="41" name="TextBox 41"/>
            <p:cNvSpPr txBox="1"/>
            <p:nvPr/>
          </p:nvSpPr>
          <p:spPr>
            <a:xfrm>
              <a:off x="6342024" y="3900964"/>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4</a:t>
              </a:r>
            </a:p>
          </p:txBody>
        </p:sp>
        <p:sp>
          <p:nvSpPr>
            <p:cNvPr id="42" name="TextBox 42"/>
            <p:cNvSpPr txBox="1"/>
            <p:nvPr/>
          </p:nvSpPr>
          <p:spPr>
            <a:xfrm>
              <a:off x="6660261" y="1997869"/>
              <a:ext cx="949730"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① 脱靶请求</a:t>
              </a:r>
            </a:p>
          </p:txBody>
        </p:sp>
        <p:sp>
          <p:nvSpPr>
            <p:cNvPr id="43" name="TextBox 43"/>
            <p:cNvSpPr txBox="1"/>
            <p:nvPr/>
          </p:nvSpPr>
          <p:spPr>
            <a:xfrm>
              <a:off x="6661404" y="2278380"/>
              <a:ext cx="4401922"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从核经阵列控制网络直接向 GC 发出脱靶请求（附 GPC 高位）</a:t>
              </a:r>
            </a:p>
          </p:txBody>
        </p:sp>
        <p:sp>
          <p:nvSpPr>
            <p:cNvPr id="44" name="TextBox 44"/>
            <p:cNvSpPr txBox="1"/>
            <p:nvPr/>
          </p:nvSpPr>
          <p:spPr>
            <a:xfrm>
              <a:off x="6660261" y="2618899"/>
              <a:ext cx="949730"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② 取指合并</a:t>
              </a:r>
            </a:p>
          </p:txBody>
        </p:sp>
        <p:sp>
          <p:nvSpPr>
            <p:cNvPr id="45" name="TextBox 45"/>
            <p:cNvSpPr txBox="1"/>
            <p:nvPr/>
          </p:nvSpPr>
          <p:spPr>
            <a:xfrm>
              <a:off x="6661404" y="2899410"/>
              <a:ext cx="2318309"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GC 把请求交给 TC 的取指合并器</a:t>
              </a:r>
            </a:p>
          </p:txBody>
        </p:sp>
        <p:sp>
          <p:nvSpPr>
            <p:cNvPr id="46" name="TextBox 46"/>
            <p:cNvSpPr txBox="1"/>
            <p:nvPr/>
          </p:nvSpPr>
          <p:spPr>
            <a:xfrm>
              <a:off x="6660261" y="3239929"/>
              <a:ext cx="864321"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③ 取入 L2</a:t>
              </a:r>
            </a:p>
          </p:txBody>
        </p:sp>
        <p:sp>
          <p:nvSpPr>
            <p:cNvPr id="47" name="TextBox 47"/>
            <p:cNvSpPr txBox="1"/>
            <p:nvPr/>
          </p:nvSpPr>
          <p:spPr>
            <a:xfrm>
              <a:off x="6661404" y="3520440"/>
              <a:ext cx="3295650"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TC 经协议处理部件把指令读进 L2 指令 cache</a:t>
              </a:r>
            </a:p>
          </p:txBody>
        </p:sp>
        <p:sp>
          <p:nvSpPr>
            <p:cNvPr id="48" name="TextBox 48"/>
            <p:cNvSpPr txBox="1"/>
            <p:nvPr/>
          </p:nvSpPr>
          <p:spPr>
            <a:xfrm>
              <a:off x="6660261" y="3860959"/>
              <a:ext cx="949730"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④ 指令装填</a:t>
              </a:r>
            </a:p>
          </p:txBody>
        </p:sp>
        <p:sp>
          <p:nvSpPr>
            <p:cNvPr id="49" name="TextBox 49"/>
            <p:cNvSpPr txBox="1"/>
            <p:nvPr/>
          </p:nvSpPr>
          <p:spPr>
            <a:xfrm>
              <a:off x="6661404" y="4141470"/>
              <a:ext cx="2898213"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经阵列数据网络装填到从核的 L1 ICache</a:t>
              </a:r>
            </a:p>
          </p:txBody>
        </p:sp>
      </p:grpSp>
      <p:grpSp>
        <p:nvGrpSpPr>
          <p:cNvPr id="57" name="c2-callout-3"/>
          <p:cNvGrpSpPr/>
          <p:nvPr/>
        </p:nvGrpSpPr>
        <p:grpSpPr>
          <a:xfrm>
            <a:off x="6248400" y="4551998"/>
            <a:ext cx="5410200" cy="756285"/>
            <a:chOff x="6248400" y="4551998"/>
            <a:chExt cx="5410200" cy="756285"/>
          </a:xfrm>
        </p:grpSpPr>
        <p:sp>
          <p:nvSpPr>
            <p:cNvPr id="51" name="Rectangle 51"/>
            <p:cNvSpPr/>
            <p:nvPr/>
          </p:nvSpPr>
          <p:spPr>
            <a:xfrm>
              <a:off x="6248400" y="4551998"/>
              <a:ext cx="5410200" cy="756285"/>
            </a:xfrm>
            <a:prstGeom prst="roundRect">
              <a:avLst>
                <a:gd name="adj" fmla="val 15113"/>
              </a:avLst>
            </a:prstGeom>
            <a:solidFill>
              <a:srgbClr val="F4F6FB"/>
            </a:solidFill>
            <a:ln>
              <a:noFill/>
            </a:ln>
          </p:spPr>
        </p:sp>
        <p:grpSp>
          <p:nvGrpSpPr>
            <p:cNvPr id="55" name="Group 55"/>
            <p:cNvGrpSpPr/>
            <p:nvPr/>
          </p:nvGrpSpPr>
          <p:grpSpPr>
            <a:xfrm>
              <a:off x="6453188" y="4830128"/>
              <a:ext cx="200026" cy="200026"/>
              <a:chOff x="6453188" y="4830128"/>
              <a:chExt cx="200026" cy="200026"/>
            </a:xfrm>
          </p:grpSpPr>
          <p:sp>
            <p:nvSpPr>
              <p:cNvPr id="52" name="Freeform 52"/>
              <p:cNvSpPr/>
              <p:nvPr/>
            </p:nvSpPr>
            <p:spPr>
              <a:xfrm>
                <a:off x="6453188" y="4830128"/>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1F2937"/>
                </a:solidFill>
              </a:ln>
            </p:spPr>
          </p:sp>
          <p:sp>
            <p:nvSpPr>
              <p:cNvPr id="53" name="Freeform 53"/>
              <p:cNvSpPr/>
              <p:nvPr/>
            </p:nvSpPr>
            <p:spPr>
              <a:xfrm>
                <a:off x="6553200" y="4896803"/>
                <a:ext cx="9525" cy="9525"/>
              </a:xfrm>
              <a:custGeom>
                <a:avLst/>
                <a:gdLst/>
                <a:ahLst/>
                <a:cxnLst/>
                <a:rect l="l" t="t" r="r" b="b"/>
                <a:pathLst>
                  <a:path w="9525" h="9525">
                    <a:moveTo>
                      <a:pt x="0" y="0"/>
                    </a:moveTo>
                    <a:lnTo>
                      <a:pt x="111" y="0"/>
                    </a:lnTo>
                  </a:path>
                </a:pathLst>
              </a:custGeom>
              <a:noFill/>
              <a:ln w="22225">
                <a:solidFill>
                  <a:srgbClr val="1F2937"/>
                </a:solidFill>
              </a:ln>
            </p:spPr>
          </p:sp>
          <p:sp>
            <p:nvSpPr>
              <p:cNvPr id="54" name="Freeform 54"/>
              <p:cNvSpPr/>
              <p:nvPr/>
            </p:nvSpPr>
            <p:spPr>
              <a:xfrm>
                <a:off x="6542088" y="4930140"/>
                <a:ext cx="22225" cy="44450"/>
              </a:xfrm>
              <a:custGeom>
                <a:avLst/>
                <a:gdLst/>
                <a:ahLst/>
                <a:cxnLst/>
                <a:rect l="l" t="t" r="r" b="b"/>
                <a:pathLst>
                  <a:path w="22225" h="44450">
                    <a:moveTo>
                      <a:pt x="0" y="0"/>
                    </a:moveTo>
                    <a:lnTo>
                      <a:pt x="11113" y="0"/>
                    </a:lnTo>
                    <a:lnTo>
                      <a:pt x="11113" y="44450"/>
                    </a:lnTo>
                    <a:lnTo>
                      <a:pt x="22225" y="44450"/>
                    </a:lnTo>
                  </a:path>
                </a:pathLst>
              </a:custGeom>
              <a:noFill/>
              <a:ln w="22225">
                <a:solidFill>
                  <a:srgbClr val="1F2937"/>
                </a:solidFill>
              </a:ln>
            </p:spPr>
          </p:sp>
        </p:grpSp>
        <p:sp>
          <p:nvSpPr>
            <p:cNvPr id="56" name="TextBox 56"/>
            <p:cNvSpPr txBox="1"/>
            <p:nvPr/>
          </p:nvSpPr>
          <p:spPr>
            <a:xfrm>
              <a:off x="6755511" y="4699159"/>
              <a:ext cx="4531995" cy="541592"/>
            </a:xfrm>
            <a:prstGeom prst="rect">
              <a:avLst/>
            </a:prstGeom>
            <a:noFill/>
            <a:ln>
              <a:noFill/>
            </a:ln>
          </p:spPr>
          <p:txBody>
            <a:bodyPr wrap="none" lIns="0" tIns="0" rIns="0" bIns="0" anchor="t" anchorCtr="0">
              <a:spAutoFit/>
            </a:bodyPr>
            <a:lstStyle/>
            <a:p>
              <a:pPr algn="l">
                <a:lnSpc>
                  <a:spcPts val="2070"/>
                </a:lnSpc>
              </a:pPr>
              <a:r>
                <a:rPr lang="zh-CN" sz="1420" dirty="0">
                  <a:solidFill>
                    <a:srgbClr val="1F2937"/>
                  </a:solidFill>
                  <a:latin typeface="+mn-lt"/>
                  <a:ea typeface="+mn-ea"/>
                  <a:cs typeface="+mn-cs"/>
                </a:rPr>
                <a:t>图中 TC 是传输控制器，GC 是全局控制器，GPC 是从核的</a:t>
              </a:r>
              <a:br/>
              <a:r>
                <a:rPr lang="zh-CN" sz="1420" dirty="0">
                  <a:solidFill>
                    <a:srgbClr val="1F2937"/>
                  </a:solidFill>
                  <a:latin typeface="+mn-lt"/>
                  <a:ea typeface="+mn-ea"/>
                  <a:cs typeface="+mn-cs"/>
                </a:rPr>
                <a:t>取指地址。</a:t>
              </a:r>
            </a:p>
          </p:txBody>
        </p:sp>
      </p:grpSp>
      <p:grpSp>
        <p:nvGrpSpPr>
          <p:cNvPr id="64" name="takeaway"/>
          <p:cNvGrpSpPr/>
          <p:nvPr/>
        </p:nvGrpSpPr>
        <p:grpSpPr>
          <a:xfrm>
            <a:off x="533400" y="5606415"/>
            <a:ext cx="11125200" cy="756285"/>
            <a:chOff x="533400" y="5606415"/>
            <a:chExt cx="11125200" cy="756285"/>
          </a:xfrm>
        </p:grpSpPr>
        <p:sp>
          <p:nvSpPr>
            <p:cNvPr id="58" name="Rectangle 58"/>
            <p:cNvSpPr/>
            <p:nvPr/>
          </p:nvSpPr>
          <p:spPr>
            <a:xfrm>
              <a:off x="533400" y="5606415"/>
              <a:ext cx="11125200" cy="756285"/>
            </a:xfrm>
            <a:prstGeom prst="roundRect">
              <a:avLst>
                <a:gd name="adj" fmla="val 15113"/>
              </a:avLst>
            </a:prstGeom>
            <a:solidFill>
              <a:srgbClr val="FDEEE7"/>
            </a:solidFill>
            <a:ln>
              <a:noFill/>
            </a:ln>
          </p:spPr>
        </p:sp>
        <p:grpSp>
          <p:nvGrpSpPr>
            <p:cNvPr id="62" name="Group 62"/>
            <p:cNvGrpSpPr/>
            <p:nvPr/>
          </p:nvGrpSpPr>
          <p:grpSpPr>
            <a:xfrm>
              <a:off x="738188" y="5884545"/>
              <a:ext cx="200026" cy="200025"/>
              <a:chOff x="738188" y="5884545"/>
              <a:chExt cx="200026" cy="200025"/>
            </a:xfrm>
          </p:grpSpPr>
          <p:sp>
            <p:nvSpPr>
              <p:cNvPr id="59" name="Freeform 59"/>
              <p:cNvSpPr/>
              <p:nvPr/>
            </p:nvSpPr>
            <p:spPr>
              <a:xfrm>
                <a:off x="738188" y="5884545"/>
                <a:ext cx="200026" cy="100013"/>
              </a:xfrm>
              <a:custGeom>
                <a:avLst/>
                <a:gdLst/>
                <a:ahLst/>
                <a:cxnLst/>
                <a:rect l="l" t="t" r="r" b="b"/>
                <a:pathLst>
                  <a:path w="200026" h="100013">
                    <a:moveTo>
                      <a:pt x="0" y="100013"/>
                    </a:moveTo>
                    <a:lnTo>
                      <a:pt x="11113" y="100013"/>
                    </a:lnTo>
                    <a:moveTo>
                      <a:pt x="100013" y="0"/>
                    </a:moveTo>
                    <a:lnTo>
                      <a:pt x="100013" y="11113"/>
                    </a:lnTo>
                    <a:moveTo>
                      <a:pt x="188913" y="100013"/>
                    </a:moveTo>
                    <a:lnTo>
                      <a:pt x="200026" y="100013"/>
                    </a:lnTo>
                    <a:moveTo>
                      <a:pt x="28893" y="28893"/>
                    </a:moveTo>
                    <a:lnTo>
                      <a:pt x="36671" y="36671"/>
                    </a:lnTo>
                    <a:moveTo>
                      <a:pt x="171133" y="28893"/>
                    </a:moveTo>
                    <a:lnTo>
                      <a:pt x="163354" y="36671"/>
                    </a:lnTo>
                  </a:path>
                </a:pathLst>
              </a:custGeom>
              <a:noFill/>
              <a:ln w="22225">
                <a:solidFill>
                  <a:srgbClr val="C2410C"/>
                </a:solidFill>
              </a:ln>
            </p:spPr>
          </p:sp>
          <p:sp>
            <p:nvSpPr>
              <p:cNvPr id="60" name="Freeform 60"/>
              <p:cNvSpPr/>
              <p:nvPr/>
            </p:nvSpPr>
            <p:spPr>
              <a:xfrm>
                <a:off x="777926" y="5928995"/>
                <a:ext cx="120548" cy="155575"/>
              </a:xfrm>
              <a:custGeom>
                <a:avLst/>
                <a:gdLst/>
                <a:ahLst/>
                <a:cxnLst/>
                <a:rect l="l" t="t" r="r" b="b"/>
                <a:pathLst>
                  <a:path w="120548" h="155575">
                    <a:moveTo>
                      <a:pt x="26937" y="100013"/>
                    </a:moveTo>
                    <a:cubicBezTo>
                      <a:pt x="7804" y="85663"/>
                      <a:pt x="0" y="60681"/>
                      <a:pt x="7563" y="37992"/>
                    </a:cubicBezTo>
                    <a:cubicBezTo>
                      <a:pt x="15126" y="15304"/>
                      <a:pt x="36358" y="0"/>
                      <a:pt x="60274" y="0"/>
                    </a:cubicBezTo>
                    <a:cubicBezTo>
                      <a:pt x="84190" y="0"/>
                      <a:pt x="105423" y="15304"/>
                      <a:pt x="112986" y="37992"/>
                    </a:cubicBezTo>
                    <a:cubicBezTo>
                      <a:pt x="120548" y="60681"/>
                      <a:pt x="112745" y="85663"/>
                      <a:pt x="93612" y="100013"/>
                    </a:cubicBezTo>
                    <a:cubicBezTo>
                      <a:pt x="84812" y="108723"/>
                      <a:pt x="80686" y="121103"/>
                      <a:pt x="82499" y="133350"/>
                    </a:cubicBezTo>
                    <a:cubicBezTo>
                      <a:pt x="82499" y="145625"/>
                      <a:pt x="72549" y="155575"/>
                      <a:pt x="60274" y="155575"/>
                    </a:cubicBezTo>
                    <a:cubicBezTo>
                      <a:pt x="48000" y="155575"/>
                      <a:pt x="38049" y="145625"/>
                      <a:pt x="38049" y="133350"/>
                    </a:cubicBezTo>
                    <a:cubicBezTo>
                      <a:pt x="39862" y="121103"/>
                      <a:pt x="35736" y="108723"/>
                      <a:pt x="26937" y="100013"/>
                    </a:cubicBezTo>
                  </a:path>
                </a:pathLst>
              </a:custGeom>
              <a:noFill/>
              <a:ln w="22225">
                <a:solidFill>
                  <a:srgbClr val="C2410C"/>
                </a:solidFill>
              </a:ln>
            </p:spPr>
          </p:sp>
          <p:sp>
            <p:nvSpPr>
              <p:cNvPr id="61" name="Freeform 61"/>
              <p:cNvSpPr/>
              <p:nvPr/>
            </p:nvSpPr>
            <p:spPr>
              <a:xfrm>
                <a:off x="812642" y="6040121"/>
                <a:ext cx="51118" cy="9525"/>
              </a:xfrm>
              <a:custGeom>
                <a:avLst/>
                <a:gdLst/>
                <a:ahLst/>
                <a:cxnLst/>
                <a:rect l="l" t="t" r="r" b="b"/>
                <a:pathLst>
                  <a:path w="51118" h="9525">
                    <a:moveTo>
                      <a:pt x="0" y="0"/>
                    </a:moveTo>
                    <a:lnTo>
                      <a:pt x="51118" y="0"/>
                    </a:lnTo>
                  </a:path>
                </a:pathLst>
              </a:custGeom>
              <a:noFill/>
              <a:ln w="22225">
                <a:solidFill>
                  <a:srgbClr val="C2410C"/>
                </a:solidFill>
              </a:ln>
            </p:spPr>
          </p:sp>
        </p:grpSp>
        <p:sp>
          <p:nvSpPr>
            <p:cNvPr id="63" name="TextBox 63"/>
            <p:cNvSpPr txBox="1"/>
            <p:nvPr/>
          </p:nvSpPr>
          <p:spPr>
            <a:xfrm>
              <a:off x="1040511" y="5753576"/>
              <a:ext cx="9951212" cy="541592"/>
            </a:xfrm>
            <a:prstGeom prst="rect">
              <a:avLst/>
            </a:prstGeom>
            <a:noFill/>
            <a:ln>
              <a:noFill/>
            </a:ln>
          </p:spPr>
          <p:txBody>
            <a:bodyPr wrap="none" lIns="0" tIns="0" rIns="0" bIns="0" anchor="t" anchorCtr="0">
              <a:spAutoFit/>
            </a:bodyPr>
            <a:lstStyle/>
            <a:p>
              <a:pPr algn="l">
                <a:lnSpc>
                  <a:spcPts val="2070"/>
                </a:lnSpc>
              </a:pPr>
              <a:r>
                <a:rPr lang="zh-CN" sz="1420" dirty="0">
                  <a:solidFill>
                    <a:srgbClr val="C2410C"/>
                  </a:solidFill>
                  <a:latin typeface="+mn-lt"/>
                  <a:ea typeface="+mn-ea"/>
                  <a:cs typeface="+mn-cs"/>
                </a:rPr>
                <a:t>两种模式的差别在第一步：SBMD 模式先到 GC 做冲突查询、由 GC 统一安排取指；自主模式省去查询，由从核直接请求，后面</a:t>
              </a:r>
              <a:br/>
              <a:r>
                <a:rPr lang="zh-CN" sz="1420" dirty="0">
                  <a:solidFill>
                    <a:srgbClr val="C2410C"/>
                  </a:solidFill>
                  <a:latin typeface="+mn-lt"/>
                  <a:ea typeface="+mn-ea"/>
                  <a:cs typeface="+mn-cs"/>
                </a:rPr>
                <a:t>的取入 L2 与装填步骤相同。</a:t>
              </a:r>
            </a:p>
          </p:txBody>
        </p:sp>
      </p:grpSp>
      <p:grpSp>
        <p:nvGrpSpPr>
          <p:cNvPr id="67" name="footer"/>
          <p:cNvGrpSpPr/>
          <p:nvPr/>
        </p:nvGrpSpPr>
        <p:grpSpPr>
          <a:xfrm>
            <a:off x="528447" y="6581299"/>
            <a:ext cx="11135106" cy="190690"/>
            <a:chOff x="528447" y="6581299"/>
            <a:chExt cx="11135106" cy="190690"/>
          </a:xfrm>
        </p:grpSpPr>
        <p:sp>
          <p:nvSpPr>
            <p:cNvPr id="65" name="TextBox 65"/>
            <p:cNvSpPr txBox="1"/>
            <p:nvPr/>
          </p:nvSpPr>
          <p:spPr>
            <a:xfrm>
              <a:off x="528447" y="6581299"/>
              <a:ext cx="2120748"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并行与分布式计算 · 第7章 体系结构</a:t>
              </a:r>
            </a:p>
          </p:txBody>
        </p:sp>
        <p:sp>
          <p:nvSpPr>
            <p:cNvPr id="66" name="TextBox 66"/>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10</a:t>
              </a:r>
            </a:p>
          </p:txBody>
        </p:sp>
      </p:gr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6039333" cy="909257"/>
            <a:chOff x="520446" y="342900"/>
            <a:chExt cx="6039333" cy="909257"/>
          </a:xfrm>
        </p:grpSpPr>
        <p:sp>
          <p:nvSpPr>
            <p:cNvPr id="2" name="Rectangle 2"/>
            <p:cNvSpPr/>
            <p:nvPr/>
          </p:nvSpPr>
          <p:spPr>
            <a:xfrm>
              <a:off x="533400" y="342900"/>
              <a:ext cx="2272665" cy="266700"/>
            </a:xfrm>
            <a:prstGeom prst="roundRect">
              <a:avLst>
                <a:gd name="adj" fmla="val 50000"/>
              </a:avLst>
            </a:prstGeom>
            <a:solidFill>
              <a:srgbClr val="E7EDF3"/>
            </a:solidFill>
            <a:ln>
              <a:noFill/>
            </a:ln>
          </p:spPr>
        </p:sp>
        <p:sp>
          <p:nvSpPr>
            <p:cNvPr id="3" name="TextBox 3"/>
            <p:cNvSpPr txBox="1"/>
            <p:nvPr/>
          </p:nvSpPr>
          <p:spPr>
            <a:xfrm>
              <a:off x="601058" y="407194"/>
              <a:ext cx="2137349"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第7章 体系结构 · 多处理器结构</a:t>
              </a:r>
            </a:p>
          </p:txBody>
        </p:sp>
        <p:sp>
          <p:nvSpPr>
            <p:cNvPr id="4" name="TextBox 4"/>
            <p:cNvSpPr txBox="1"/>
            <p:nvPr/>
          </p:nvSpPr>
          <p:spPr>
            <a:xfrm>
              <a:off x="520446" y="753428"/>
              <a:ext cx="6039333"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申威 26010 的参数：核数、缓存与内存</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32" name="c1-table-1"/>
          <p:cNvGrpSpPr/>
          <p:nvPr/>
        </p:nvGrpSpPr>
        <p:grpSpPr>
          <a:xfrm>
            <a:off x="533400" y="1524000"/>
            <a:ext cx="6059805" cy="3240405"/>
            <a:chOff x="533400" y="1524000"/>
            <a:chExt cx="6059805" cy="3240405"/>
          </a:xfrm>
        </p:grpSpPr>
        <p:sp>
          <p:nvSpPr>
            <p:cNvPr id="7" name="Rectangle 7"/>
            <p:cNvSpPr/>
            <p:nvPr/>
          </p:nvSpPr>
          <p:spPr>
            <a:xfrm>
              <a:off x="533400" y="1524000"/>
              <a:ext cx="6059805" cy="405765"/>
            </a:xfrm>
            <a:prstGeom prst="rect">
              <a:avLst/>
            </a:prstGeom>
            <a:solidFill>
              <a:srgbClr val="334E68"/>
            </a:solidFill>
            <a:ln>
              <a:noFill/>
            </a:ln>
          </p:spPr>
        </p:sp>
        <p:sp>
          <p:nvSpPr>
            <p:cNvPr id="8" name="TextBox 8"/>
            <p:cNvSpPr txBox="1"/>
            <p:nvPr/>
          </p:nvSpPr>
          <p:spPr>
            <a:xfrm>
              <a:off x="982701" y="1648301"/>
              <a:ext cx="312979"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部件</a:t>
              </a:r>
            </a:p>
          </p:txBody>
        </p:sp>
        <p:sp>
          <p:nvSpPr>
            <p:cNvPr id="9" name="TextBox 9"/>
            <p:cNvSpPr txBox="1"/>
            <p:nvPr/>
          </p:nvSpPr>
          <p:spPr>
            <a:xfrm>
              <a:off x="4012603" y="1648301"/>
              <a:ext cx="312979"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参数</a:t>
              </a:r>
            </a:p>
          </p:txBody>
        </p:sp>
        <p:sp>
          <p:nvSpPr>
            <p:cNvPr id="10" name="TextBox 10"/>
            <p:cNvSpPr txBox="1"/>
            <p:nvPr/>
          </p:nvSpPr>
          <p:spPr>
            <a:xfrm>
              <a:off x="633412" y="2054066"/>
              <a:ext cx="312979"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整体</a:t>
              </a:r>
            </a:p>
          </p:txBody>
        </p:sp>
        <p:sp>
          <p:nvSpPr>
            <p:cNvPr id="11" name="TextBox 11"/>
            <p:cNvSpPr txBox="1"/>
            <p:nvPr/>
          </p:nvSpPr>
          <p:spPr>
            <a:xfrm>
              <a:off x="1844993" y="2054066"/>
              <a:ext cx="3973241"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4 个核组，每组 1 个主核 MPE + 64 个从核 CPE，共 260 核</a:t>
              </a:r>
            </a:p>
          </p:txBody>
        </p:sp>
        <p:sp>
          <p:nvSpPr>
            <p:cNvPr id="12" name="Rectangle 12"/>
            <p:cNvSpPr/>
            <p:nvPr/>
          </p:nvSpPr>
          <p:spPr>
            <a:xfrm>
              <a:off x="533400" y="2330768"/>
              <a:ext cx="6059805" cy="9525"/>
            </a:xfrm>
            <a:prstGeom prst="rect">
              <a:avLst/>
            </a:prstGeom>
            <a:solidFill>
              <a:srgbClr val="D9DFEA"/>
            </a:solidFill>
            <a:ln>
              <a:noFill/>
            </a:ln>
          </p:spPr>
        </p:sp>
        <p:sp>
          <p:nvSpPr>
            <p:cNvPr id="13" name="Rectangle 13"/>
            <p:cNvSpPr/>
            <p:nvPr/>
          </p:nvSpPr>
          <p:spPr>
            <a:xfrm>
              <a:off x="533400" y="2335530"/>
              <a:ext cx="6059805" cy="605790"/>
            </a:xfrm>
            <a:prstGeom prst="rect">
              <a:avLst/>
            </a:prstGeom>
            <a:solidFill>
              <a:srgbClr val="F4F6FB"/>
            </a:solidFill>
            <a:ln>
              <a:noFill/>
            </a:ln>
          </p:spPr>
        </p:sp>
        <p:sp>
          <p:nvSpPr>
            <p:cNvPr id="14" name="TextBox 14"/>
            <p:cNvSpPr txBox="1"/>
            <p:nvPr/>
          </p:nvSpPr>
          <p:spPr>
            <a:xfrm>
              <a:off x="633412" y="2559844"/>
              <a:ext cx="672618"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主核 MPE</a:t>
              </a:r>
            </a:p>
          </p:txBody>
        </p:sp>
        <p:sp>
          <p:nvSpPr>
            <p:cNvPr id="15" name="TextBox 15"/>
            <p:cNvSpPr txBox="1"/>
            <p:nvPr/>
          </p:nvSpPr>
          <p:spPr>
            <a:xfrm>
              <a:off x="1844993" y="2459831"/>
              <a:ext cx="4171950" cy="420052"/>
            </a:xfrm>
            <a:prstGeom prst="rect">
              <a:avLst/>
            </a:prstGeom>
            <a:noFill/>
            <a:ln>
              <a:noFill/>
            </a:ln>
          </p:spPr>
          <p:txBody>
            <a:bodyPr wrap="none" lIns="0" tIns="0" rIns="0" bIns="0" anchor="t" anchorCtr="0">
              <a:spAutoFit/>
            </a:bodyPr>
            <a:lstStyle/>
            <a:p>
              <a:pPr algn="l">
                <a:lnSpc>
                  <a:spcPts val="1575"/>
                </a:lnSpc>
              </a:pPr>
              <a:r>
                <a:rPr lang="zh-CN" sz="1120" dirty="0">
                  <a:solidFill>
                    <a:srgbClr val="1F2937"/>
                  </a:solidFill>
                  <a:latin typeface="+mn-lt"/>
                  <a:ea typeface="+mn-ea"/>
                  <a:cs typeface="+mn-cs"/>
                </a:rPr>
                <a:t>64 位 RISC，256 位向量指令；L1 指令、数据 Cache 各 32 KB，L2</a:t>
              </a:r>
              <a:br/>
              <a:r>
                <a:rPr lang="en-US" sz="1120" dirty="0">
                  <a:solidFill>
                    <a:srgbClr val="1F2937"/>
                  </a:solidFill>
                  <a:latin typeface="+mn-lt"/>
                  <a:ea typeface="+mn-ea"/>
                  <a:cs typeface="+mn-cs"/>
                </a:rPr>
                <a:t>Cache 256 KB</a:t>
              </a:r>
            </a:p>
          </p:txBody>
        </p:sp>
        <p:sp>
          <p:nvSpPr>
            <p:cNvPr id="16" name="Rectangle 16"/>
            <p:cNvSpPr/>
            <p:nvPr/>
          </p:nvSpPr>
          <p:spPr>
            <a:xfrm>
              <a:off x="533400" y="2936558"/>
              <a:ext cx="6059805" cy="9525"/>
            </a:xfrm>
            <a:prstGeom prst="rect">
              <a:avLst/>
            </a:prstGeom>
            <a:solidFill>
              <a:srgbClr val="D9DFEA"/>
            </a:solidFill>
            <a:ln>
              <a:noFill/>
            </a:ln>
          </p:spPr>
        </p:sp>
        <p:sp>
          <p:nvSpPr>
            <p:cNvPr id="17" name="TextBox 17"/>
            <p:cNvSpPr txBox="1"/>
            <p:nvPr/>
          </p:nvSpPr>
          <p:spPr>
            <a:xfrm>
              <a:off x="633412" y="3065621"/>
              <a:ext cx="639164"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从核 CPE</a:t>
              </a:r>
            </a:p>
          </p:txBody>
        </p:sp>
        <p:sp>
          <p:nvSpPr>
            <p:cNvPr id="18" name="TextBox 18"/>
            <p:cNvSpPr txBox="1"/>
            <p:nvPr/>
          </p:nvSpPr>
          <p:spPr>
            <a:xfrm>
              <a:off x="1844993" y="3065621"/>
              <a:ext cx="4693178"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64 位，256 位向量指令；L1 指令 Cache 16 KB，本地存储 LDM 64 KB</a:t>
              </a:r>
            </a:p>
          </p:txBody>
        </p:sp>
        <p:sp>
          <p:nvSpPr>
            <p:cNvPr id="19" name="Rectangle 19"/>
            <p:cNvSpPr/>
            <p:nvPr/>
          </p:nvSpPr>
          <p:spPr>
            <a:xfrm>
              <a:off x="533400" y="3342322"/>
              <a:ext cx="6059805" cy="9525"/>
            </a:xfrm>
            <a:prstGeom prst="rect">
              <a:avLst/>
            </a:prstGeom>
            <a:solidFill>
              <a:srgbClr val="D9DFEA"/>
            </a:solidFill>
            <a:ln>
              <a:noFill/>
            </a:ln>
          </p:spPr>
        </p:sp>
        <p:sp>
          <p:nvSpPr>
            <p:cNvPr id="20" name="Rectangle 20"/>
            <p:cNvSpPr/>
            <p:nvPr/>
          </p:nvSpPr>
          <p:spPr>
            <a:xfrm>
              <a:off x="533400" y="3347085"/>
              <a:ext cx="6059805" cy="405765"/>
            </a:xfrm>
            <a:prstGeom prst="rect">
              <a:avLst/>
            </a:prstGeom>
            <a:solidFill>
              <a:srgbClr val="F4F6FB"/>
            </a:solidFill>
            <a:ln>
              <a:noFill/>
            </a:ln>
          </p:spPr>
        </p:sp>
        <p:sp>
          <p:nvSpPr>
            <p:cNvPr id="21" name="TextBox 21"/>
            <p:cNvSpPr txBox="1"/>
            <p:nvPr/>
          </p:nvSpPr>
          <p:spPr>
            <a:xfrm>
              <a:off x="633412" y="3471386"/>
              <a:ext cx="614528"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片内互连</a:t>
              </a:r>
            </a:p>
          </p:txBody>
        </p:sp>
        <p:sp>
          <p:nvSpPr>
            <p:cNvPr id="22" name="TextBox 22"/>
            <p:cNvSpPr txBox="1"/>
            <p:nvPr/>
          </p:nvSpPr>
          <p:spPr>
            <a:xfrm>
              <a:off x="1844993" y="3471386"/>
              <a:ext cx="1647332"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4 个核组经片上网络互联</a:t>
              </a:r>
            </a:p>
          </p:txBody>
        </p:sp>
        <p:sp>
          <p:nvSpPr>
            <p:cNvPr id="23" name="Rectangle 23"/>
            <p:cNvSpPr/>
            <p:nvPr/>
          </p:nvSpPr>
          <p:spPr>
            <a:xfrm>
              <a:off x="533400" y="3748088"/>
              <a:ext cx="6059805" cy="9525"/>
            </a:xfrm>
            <a:prstGeom prst="rect">
              <a:avLst/>
            </a:prstGeom>
            <a:solidFill>
              <a:srgbClr val="D9DFEA"/>
            </a:solidFill>
            <a:ln>
              <a:noFill/>
            </a:ln>
          </p:spPr>
        </p:sp>
        <p:sp>
          <p:nvSpPr>
            <p:cNvPr id="24" name="TextBox 24"/>
            <p:cNvSpPr txBox="1"/>
            <p:nvPr/>
          </p:nvSpPr>
          <p:spPr>
            <a:xfrm>
              <a:off x="633412" y="3877151"/>
              <a:ext cx="614528"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片外连接</a:t>
              </a:r>
            </a:p>
          </p:txBody>
        </p:sp>
        <p:sp>
          <p:nvSpPr>
            <p:cNvPr id="25" name="TextBox 25"/>
            <p:cNvSpPr txBox="1"/>
            <p:nvPr/>
          </p:nvSpPr>
          <p:spPr>
            <a:xfrm>
              <a:off x="1844993" y="3877151"/>
              <a:ext cx="2466137"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PCIe 3.0；通过虚拟网卡拥有独立 IP</a:t>
              </a:r>
            </a:p>
          </p:txBody>
        </p:sp>
        <p:sp>
          <p:nvSpPr>
            <p:cNvPr id="26" name="Rectangle 26"/>
            <p:cNvSpPr/>
            <p:nvPr/>
          </p:nvSpPr>
          <p:spPr>
            <a:xfrm>
              <a:off x="533400" y="4153852"/>
              <a:ext cx="6059805" cy="9525"/>
            </a:xfrm>
            <a:prstGeom prst="rect">
              <a:avLst/>
            </a:prstGeom>
            <a:solidFill>
              <a:srgbClr val="D9DFEA"/>
            </a:solidFill>
            <a:ln>
              <a:noFill/>
            </a:ln>
          </p:spPr>
        </p:sp>
        <p:sp>
          <p:nvSpPr>
            <p:cNvPr id="27" name="Rectangle 27"/>
            <p:cNvSpPr/>
            <p:nvPr/>
          </p:nvSpPr>
          <p:spPr>
            <a:xfrm>
              <a:off x="533400" y="4158615"/>
              <a:ext cx="6059805" cy="605790"/>
            </a:xfrm>
            <a:prstGeom prst="rect">
              <a:avLst/>
            </a:prstGeom>
            <a:solidFill>
              <a:srgbClr val="F4F6FB"/>
            </a:solidFill>
            <a:ln>
              <a:noFill/>
            </a:ln>
          </p:spPr>
        </p:sp>
        <p:sp>
          <p:nvSpPr>
            <p:cNvPr id="28" name="TextBox 28"/>
            <p:cNvSpPr txBox="1"/>
            <p:nvPr/>
          </p:nvSpPr>
          <p:spPr>
            <a:xfrm>
              <a:off x="633412" y="4382929"/>
              <a:ext cx="312979"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内存</a:t>
              </a:r>
            </a:p>
          </p:txBody>
        </p:sp>
        <p:sp>
          <p:nvSpPr>
            <p:cNvPr id="29" name="TextBox 29"/>
            <p:cNvSpPr txBox="1"/>
            <p:nvPr/>
          </p:nvSpPr>
          <p:spPr>
            <a:xfrm>
              <a:off x="1844993" y="4282916"/>
              <a:ext cx="4392422" cy="420052"/>
            </a:xfrm>
            <a:prstGeom prst="rect">
              <a:avLst/>
            </a:prstGeom>
            <a:noFill/>
            <a:ln>
              <a:noFill/>
            </a:ln>
          </p:spPr>
          <p:txBody>
            <a:bodyPr wrap="none" lIns="0" tIns="0" rIns="0" bIns="0" anchor="t" anchorCtr="0">
              <a:spAutoFit/>
            </a:bodyPr>
            <a:lstStyle/>
            <a:p>
              <a:pPr algn="l">
                <a:lnSpc>
                  <a:spcPts val="1575"/>
                </a:lnSpc>
              </a:pPr>
              <a:r>
                <a:rPr lang="zh-CN" sz="1120" dirty="0">
                  <a:solidFill>
                    <a:srgbClr val="1F2937"/>
                  </a:solidFill>
                  <a:latin typeface="+mn-lt"/>
                  <a:ea typeface="+mn-ea"/>
                  <a:cs typeface="+mn-cs"/>
                </a:rPr>
                <a:t>每核组一个 128 位 DDR3 控制器，接 8 GB DDR3-2133；4 个核组共 32</a:t>
              </a:r>
              <a:br/>
              <a:r>
                <a:rPr lang="en-US" sz="1120" dirty="0">
                  <a:solidFill>
                    <a:srgbClr val="1F2937"/>
                  </a:solidFill>
                  <a:latin typeface="+mn-lt"/>
                  <a:ea typeface="+mn-ea"/>
                  <a:cs typeface="+mn-cs"/>
                </a:rPr>
                <a:t>GB</a:t>
              </a:r>
            </a:p>
          </p:txBody>
        </p:sp>
        <p:sp>
          <p:nvSpPr>
            <p:cNvPr id="30" name="Rectangle 30"/>
            <p:cNvSpPr/>
            <p:nvPr/>
          </p:nvSpPr>
          <p:spPr>
            <a:xfrm>
              <a:off x="533400" y="1524000"/>
              <a:ext cx="6059805" cy="3240405"/>
            </a:xfrm>
            <a:prstGeom prst="rect">
              <a:avLst/>
            </a:prstGeom>
            <a:noFill/>
            <a:ln w="14288">
              <a:solidFill>
                <a:srgbClr val="D9DFEA"/>
              </a:solidFill>
            </a:ln>
          </p:spPr>
        </p:sp>
        <p:sp>
          <p:nvSpPr>
            <p:cNvPr id="31" name="Rectangle 31"/>
            <p:cNvSpPr/>
            <p:nvPr/>
          </p:nvSpPr>
          <p:spPr>
            <a:xfrm>
              <a:off x="1740218" y="1524000"/>
              <a:ext cx="9525" cy="3240405"/>
            </a:xfrm>
            <a:prstGeom prst="rect">
              <a:avLst/>
            </a:prstGeom>
            <a:solidFill>
              <a:srgbClr val="D9DFEA"/>
            </a:solidFill>
            <a:ln>
              <a:noFill/>
            </a:ln>
          </p:spPr>
        </p:sp>
      </p:grpSp>
      <p:grpSp>
        <p:nvGrpSpPr>
          <p:cNvPr id="38" name="c1-card-2"/>
          <p:cNvGrpSpPr/>
          <p:nvPr/>
        </p:nvGrpSpPr>
        <p:grpSpPr>
          <a:xfrm>
            <a:off x="533400" y="4939665"/>
            <a:ext cx="6059805" cy="1209675"/>
            <a:chOff x="533400" y="4939665"/>
            <a:chExt cx="6059805" cy="1209675"/>
          </a:xfrm>
        </p:grpSpPr>
        <p:sp>
          <p:nvSpPr>
            <p:cNvPr id="33" name="Rectangle 33"/>
            <p:cNvSpPr/>
            <p:nvPr/>
          </p:nvSpPr>
          <p:spPr>
            <a:xfrm>
              <a:off x="533400" y="4939665"/>
              <a:ext cx="6059805" cy="1209675"/>
            </a:xfrm>
            <a:prstGeom prst="roundRect">
              <a:avLst>
                <a:gd name="adj" fmla="val 11024"/>
              </a:avLst>
            </a:prstGeom>
            <a:solidFill>
              <a:srgbClr val="FFFFFF"/>
            </a:solidFill>
            <a:ln w="14288">
              <a:solidFill>
                <a:srgbClr val="D9DFEA"/>
              </a:solidFill>
            </a:ln>
          </p:spPr>
        </p:sp>
        <p:sp>
          <p:nvSpPr>
            <p:cNvPr id="34" name="Rectangle 34"/>
            <p:cNvSpPr/>
            <p:nvPr/>
          </p:nvSpPr>
          <p:spPr>
            <a:xfrm>
              <a:off x="542925" y="5073015"/>
              <a:ext cx="47625" cy="942975"/>
            </a:xfrm>
            <a:prstGeom prst="roundRect">
              <a:avLst>
                <a:gd name="adj" fmla="val 50000"/>
              </a:avLst>
            </a:prstGeom>
            <a:solidFill>
              <a:srgbClr val="5B6475"/>
            </a:solidFill>
            <a:ln>
              <a:noFill/>
            </a:ln>
          </p:spPr>
        </p:sp>
        <p:sp>
          <p:nvSpPr>
            <p:cNvPr id="35" name="Rectangle 35"/>
            <p:cNvSpPr/>
            <p:nvPr/>
          </p:nvSpPr>
          <p:spPr>
            <a:xfrm>
              <a:off x="763905" y="5132070"/>
              <a:ext cx="476250" cy="247650"/>
            </a:xfrm>
            <a:prstGeom prst="roundRect">
              <a:avLst>
                <a:gd name="adj" fmla="val 50000"/>
              </a:avLst>
            </a:prstGeom>
            <a:solidFill>
              <a:srgbClr val="F4F6FB"/>
            </a:solidFill>
            <a:ln>
              <a:noFill/>
            </a:ln>
          </p:spPr>
        </p:sp>
        <p:sp>
          <p:nvSpPr>
            <p:cNvPr id="36" name="TextBox 36"/>
            <p:cNvSpPr txBox="1"/>
            <p:nvPr/>
          </p:nvSpPr>
          <p:spPr>
            <a:xfrm>
              <a:off x="855345" y="5166360"/>
              <a:ext cx="293370" cy="205359"/>
            </a:xfrm>
            <a:prstGeom prst="rect">
              <a:avLst/>
            </a:prstGeom>
            <a:noFill/>
            <a:ln>
              <a:noFill/>
            </a:ln>
          </p:spPr>
          <p:txBody>
            <a:bodyPr wrap="none" lIns="0" tIns="0" rIns="0" bIns="0" anchor="t" anchorCtr="0">
              <a:spAutoFit/>
            </a:bodyPr>
            <a:lstStyle/>
            <a:p>
              <a:pPr algn="ctr"/>
              <a:r>
                <a:rPr lang="zh-CN" sz="1050" b="1" dirty="0">
                  <a:solidFill>
                    <a:srgbClr val="5B6475"/>
                  </a:solidFill>
                  <a:latin typeface="+mn-lt"/>
                  <a:ea typeface="+mn-ea"/>
                  <a:cs typeface="+mn-cs"/>
                </a:rPr>
                <a:t>更正</a:t>
              </a:r>
            </a:p>
          </p:txBody>
        </p:sp>
        <p:sp>
          <p:nvSpPr>
            <p:cNvPr id="37" name="TextBox 37"/>
            <p:cNvSpPr txBox="1"/>
            <p:nvPr/>
          </p:nvSpPr>
          <p:spPr>
            <a:xfrm>
              <a:off x="757047" y="5488305"/>
              <a:ext cx="4994338"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原课件第45页写“264 位矢量指令集”“CPE 62 位协处理器”。申威</a:t>
              </a:r>
              <a:br/>
              <a:r>
                <a:rPr lang="zh-CN" sz="1350" dirty="0">
                  <a:solidFill>
                    <a:srgbClr val="1F2937"/>
                  </a:solidFill>
                  <a:latin typeface="+mn-lt"/>
                  <a:ea typeface="+mn-ea"/>
                  <a:cs typeface="+mn-cs"/>
                </a:rPr>
                <a:t>26010 的向量宽度是 256 位，从核是 64 位核，264、62 是笔误。</a:t>
              </a:r>
            </a:p>
          </p:txBody>
        </p:sp>
      </p:grpSp>
      <p:grpSp>
        <p:nvGrpSpPr>
          <p:cNvPr id="51" name="c2-card-1"/>
          <p:cNvGrpSpPr/>
          <p:nvPr/>
        </p:nvGrpSpPr>
        <p:grpSpPr>
          <a:xfrm>
            <a:off x="6898005" y="1524000"/>
            <a:ext cx="4760595" cy="2631758"/>
            <a:chOff x="6898005" y="1524000"/>
            <a:chExt cx="4760595" cy="2631758"/>
          </a:xfrm>
        </p:grpSpPr>
        <p:sp>
          <p:nvSpPr>
            <p:cNvPr id="39" name="Rectangle 39"/>
            <p:cNvSpPr/>
            <p:nvPr/>
          </p:nvSpPr>
          <p:spPr>
            <a:xfrm>
              <a:off x="6898005" y="1524000"/>
              <a:ext cx="4760595" cy="2631758"/>
            </a:xfrm>
            <a:prstGeom prst="roundRect">
              <a:avLst>
                <a:gd name="adj" fmla="val 5067"/>
              </a:avLst>
            </a:prstGeom>
            <a:solidFill>
              <a:srgbClr val="FFFFFF"/>
            </a:solidFill>
            <a:ln w="14288">
              <a:solidFill>
                <a:srgbClr val="D9DFEA"/>
              </a:solidFill>
            </a:ln>
          </p:spPr>
        </p:sp>
        <p:sp>
          <p:nvSpPr>
            <p:cNvPr id="40" name="Rectangle 40"/>
            <p:cNvSpPr/>
            <p:nvPr/>
          </p:nvSpPr>
          <p:spPr>
            <a:xfrm>
              <a:off x="6907530" y="1657350"/>
              <a:ext cx="47625" cy="2365058"/>
            </a:xfrm>
            <a:prstGeom prst="roundRect">
              <a:avLst>
                <a:gd name="adj" fmla="val 50000"/>
              </a:avLst>
            </a:prstGeom>
            <a:solidFill>
              <a:srgbClr val="334E68"/>
            </a:solidFill>
            <a:ln>
              <a:noFill/>
            </a:ln>
          </p:spPr>
        </p:sp>
        <p:sp>
          <p:nvSpPr>
            <p:cNvPr id="41" name="Rectangle 41"/>
            <p:cNvSpPr/>
            <p:nvPr/>
          </p:nvSpPr>
          <p:spPr>
            <a:xfrm>
              <a:off x="7128510" y="1716405"/>
              <a:ext cx="742950" cy="247650"/>
            </a:xfrm>
            <a:prstGeom prst="roundRect">
              <a:avLst>
                <a:gd name="adj" fmla="val 50000"/>
              </a:avLst>
            </a:prstGeom>
            <a:solidFill>
              <a:srgbClr val="E7EDF3"/>
            </a:solidFill>
            <a:ln>
              <a:noFill/>
            </a:ln>
          </p:spPr>
        </p:sp>
        <p:sp>
          <p:nvSpPr>
            <p:cNvPr id="42" name="TextBox 42"/>
            <p:cNvSpPr txBox="1"/>
            <p:nvPr/>
          </p:nvSpPr>
          <p:spPr>
            <a:xfrm>
              <a:off x="7211949" y="1750695"/>
              <a:ext cx="576072" cy="205359"/>
            </a:xfrm>
            <a:prstGeom prst="rect">
              <a:avLst/>
            </a:prstGeom>
            <a:noFill/>
            <a:ln>
              <a:noFill/>
            </a:ln>
          </p:spPr>
          <p:txBody>
            <a:bodyPr wrap="none" lIns="0" tIns="0" rIns="0" bIns="0" anchor="t" anchorCtr="0">
              <a:spAutoFit/>
            </a:bodyPr>
            <a:lstStyle/>
            <a:p>
              <a:pPr algn="ctr"/>
              <a:r>
                <a:rPr lang="zh-CN" sz="1050" b="1" dirty="0">
                  <a:solidFill>
                    <a:srgbClr val="334E68"/>
                  </a:solidFill>
                  <a:latin typeface="+mn-lt"/>
                  <a:ea typeface="+mn-ea"/>
                  <a:cs typeface="+mn-cs"/>
                </a:rPr>
                <a:t>技术来源</a:t>
              </a:r>
            </a:p>
          </p:txBody>
        </p:sp>
        <p:sp>
          <p:nvSpPr>
            <p:cNvPr id="43" name="Ellipse 43"/>
            <p:cNvSpPr/>
            <p:nvPr/>
          </p:nvSpPr>
          <p:spPr>
            <a:xfrm>
              <a:off x="7137082" y="2128838"/>
              <a:ext cx="59055" cy="59055"/>
            </a:xfrm>
            <a:prstGeom prst="ellipse">
              <a:avLst/>
            </a:prstGeom>
            <a:solidFill>
              <a:srgbClr val="334E68"/>
            </a:solidFill>
            <a:ln>
              <a:noFill/>
            </a:ln>
          </p:spPr>
        </p:sp>
        <p:sp>
          <p:nvSpPr>
            <p:cNvPr id="44" name="TextBox 44"/>
            <p:cNvSpPr txBox="1"/>
            <p:nvPr/>
          </p:nvSpPr>
          <p:spPr>
            <a:xfrm>
              <a:off x="7293102" y="2072640"/>
              <a:ext cx="4102798"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由江南计算技术研究所（无锡，1951 年创建）设计</a:t>
              </a:r>
            </a:p>
          </p:txBody>
        </p:sp>
        <p:sp>
          <p:nvSpPr>
            <p:cNvPr id="45" name="Ellipse 45"/>
            <p:cNvSpPr/>
            <p:nvPr/>
          </p:nvSpPr>
          <p:spPr>
            <a:xfrm>
              <a:off x="7137082" y="2431732"/>
              <a:ext cx="59055" cy="59055"/>
            </a:xfrm>
            <a:prstGeom prst="ellipse">
              <a:avLst/>
            </a:prstGeom>
            <a:solidFill>
              <a:srgbClr val="334E68"/>
            </a:solidFill>
            <a:ln>
              <a:noFill/>
            </a:ln>
          </p:spPr>
        </p:sp>
        <p:sp>
          <p:nvSpPr>
            <p:cNvPr id="46" name="TextBox 46"/>
            <p:cNvSpPr txBox="1"/>
            <p:nvPr/>
          </p:nvSpPr>
          <p:spPr>
            <a:xfrm>
              <a:off x="7293102" y="2375535"/>
              <a:ext cx="3802761"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技术源自 DEC 的 Alpha 21164（专利过期、公司转</a:t>
              </a:r>
              <a:br/>
              <a:r>
                <a:rPr lang="zh-CN" sz="1350" dirty="0">
                  <a:solidFill>
                    <a:srgbClr val="1F2937"/>
                  </a:solidFill>
                  <a:latin typeface="+mn-lt"/>
                  <a:ea typeface="+mn-ea"/>
                  <a:cs typeface="+mn-cs"/>
                </a:rPr>
                <a:t>让），是 Alpha 阵营中仅存的一支</a:t>
              </a:r>
            </a:p>
          </p:txBody>
        </p:sp>
        <p:sp>
          <p:nvSpPr>
            <p:cNvPr id="47" name="Ellipse 47"/>
            <p:cNvSpPr/>
            <p:nvPr/>
          </p:nvSpPr>
          <p:spPr>
            <a:xfrm>
              <a:off x="7137082" y="2991802"/>
              <a:ext cx="59055" cy="59055"/>
            </a:xfrm>
            <a:prstGeom prst="ellipse">
              <a:avLst/>
            </a:prstGeom>
            <a:solidFill>
              <a:srgbClr val="334E68"/>
            </a:solidFill>
            <a:ln>
              <a:noFill/>
            </a:ln>
          </p:spPr>
        </p:sp>
        <p:sp>
          <p:nvSpPr>
            <p:cNvPr id="48" name="TextBox 48"/>
            <p:cNvSpPr txBox="1"/>
            <p:nvPr/>
          </p:nvSpPr>
          <p:spPr>
            <a:xfrm>
              <a:off x="7293102" y="2935605"/>
              <a:ext cx="3974211"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在“核高基”重大专项支持下扩展了自主指令集，有发</a:t>
              </a:r>
              <a:br/>
              <a:r>
                <a:rPr lang="zh-CN" sz="1350" dirty="0">
                  <a:solidFill>
                    <a:srgbClr val="1F2937"/>
                  </a:solidFill>
                  <a:latin typeface="+mn-lt"/>
                  <a:ea typeface="+mn-ea"/>
                  <a:cs typeface="+mn-cs"/>
                </a:rPr>
                <a:t>展路线的自主权</a:t>
              </a:r>
            </a:p>
          </p:txBody>
        </p:sp>
        <p:sp>
          <p:nvSpPr>
            <p:cNvPr id="49" name="Ellipse 49"/>
            <p:cNvSpPr/>
            <p:nvPr/>
          </p:nvSpPr>
          <p:spPr>
            <a:xfrm>
              <a:off x="7137082" y="3550920"/>
              <a:ext cx="59055" cy="59055"/>
            </a:xfrm>
            <a:prstGeom prst="ellipse">
              <a:avLst/>
            </a:prstGeom>
            <a:solidFill>
              <a:srgbClr val="334E68"/>
            </a:solidFill>
            <a:ln>
              <a:noFill/>
            </a:ln>
          </p:spPr>
        </p:sp>
        <p:sp>
          <p:nvSpPr>
            <p:cNvPr id="50" name="TextBox 50"/>
            <p:cNvSpPr txBox="1"/>
            <p:nvPr/>
          </p:nvSpPr>
          <p:spPr>
            <a:xfrm>
              <a:off x="7293102" y="3494722"/>
              <a:ext cx="3974211"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配套自研的神威睿智编译器和基于 Linux 的神威睿思</a:t>
              </a:r>
              <a:br/>
              <a:r>
                <a:rPr lang="zh-CN" sz="1350" dirty="0">
                  <a:solidFill>
                    <a:srgbClr val="1F2937"/>
                  </a:solidFill>
                  <a:latin typeface="+mn-lt"/>
                  <a:ea typeface="+mn-ea"/>
                  <a:cs typeface="+mn-cs"/>
                </a:rPr>
                <a:t>操作系统</a:t>
              </a:r>
            </a:p>
          </p:txBody>
        </p:sp>
      </p:grpSp>
      <p:grpSp>
        <p:nvGrpSpPr>
          <p:cNvPr id="57" name="c2-callout-2"/>
          <p:cNvGrpSpPr/>
          <p:nvPr/>
        </p:nvGrpSpPr>
        <p:grpSpPr>
          <a:xfrm>
            <a:off x="6898005" y="4330065"/>
            <a:ext cx="4760595" cy="1818322"/>
            <a:chOff x="6898005" y="4330065"/>
            <a:chExt cx="4760595" cy="1818322"/>
          </a:xfrm>
        </p:grpSpPr>
        <p:sp>
          <p:nvSpPr>
            <p:cNvPr id="52" name="Rectangle 52"/>
            <p:cNvSpPr/>
            <p:nvPr/>
          </p:nvSpPr>
          <p:spPr>
            <a:xfrm>
              <a:off x="6898005" y="4330065"/>
              <a:ext cx="4760595" cy="1818322"/>
            </a:xfrm>
            <a:prstGeom prst="roundRect">
              <a:avLst>
                <a:gd name="adj" fmla="val 6286"/>
              </a:avLst>
            </a:prstGeom>
            <a:solidFill>
              <a:srgbClr val="334E68"/>
            </a:solidFill>
            <a:ln>
              <a:noFill/>
            </a:ln>
          </p:spPr>
        </p:sp>
        <p:grpSp>
          <p:nvGrpSpPr>
            <p:cNvPr id="55" name="Group 55"/>
            <p:cNvGrpSpPr/>
            <p:nvPr/>
          </p:nvGrpSpPr>
          <p:grpSpPr>
            <a:xfrm>
              <a:off x="7102793" y="5139692"/>
              <a:ext cx="200023" cy="200023"/>
              <a:chOff x="7102793" y="5139692"/>
              <a:chExt cx="200023" cy="200023"/>
            </a:xfrm>
          </p:grpSpPr>
          <p:sp>
            <p:nvSpPr>
              <p:cNvPr id="53" name="Freeform 53"/>
              <p:cNvSpPr/>
              <p:nvPr/>
            </p:nvSpPr>
            <p:spPr>
              <a:xfrm>
                <a:off x="7102793" y="5139692"/>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54" name="Freeform 54"/>
              <p:cNvSpPr/>
              <p:nvPr/>
            </p:nvSpPr>
            <p:spPr>
              <a:xfrm>
                <a:off x="7236143" y="5206365"/>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56" name="TextBox 56"/>
            <p:cNvSpPr txBox="1"/>
            <p:nvPr/>
          </p:nvSpPr>
          <p:spPr>
            <a:xfrm>
              <a:off x="7405497" y="4896802"/>
              <a:ext cx="3828478" cy="761238"/>
            </a:xfrm>
            <a:prstGeom prst="rect">
              <a:avLst/>
            </a:prstGeom>
            <a:noFill/>
            <a:ln>
              <a:noFill/>
            </a:ln>
          </p:spPr>
          <p:txBody>
            <a:bodyPr wrap="none" lIns="0" tIns="0" rIns="0" bIns="0" anchor="t" anchorCtr="0">
              <a:spAutoFit/>
            </a:bodyPr>
            <a:lstStyle/>
            <a:p>
              <a:pPr algn="l">
                <a:lnSpc>
                  <a:spcPts val="1958"/>
                </a:lnSpc>
              </a:pPr>
              <a:r>
                <a:rPr lang="zh-CN" sz="1350" dirty="0">
                  <a:solidFill>
                    <a:srgbClr val="FFFFFF"/>
                  </a:solidFill>
                  <a:latin typeface="+mn-lt"/>
                  <a:ea typeface="+mn-ea"/>
                  <a:cs typeface="+mn-cs"/>
                </a:rPr>
                <a:t>每个核组的峰值 = (64 × 8 + 16) × 1.45 GHz ≈</a:t>
              </a:r>
              <a:br/>
              <a:r>
                <a:rPr lang="zh-CN" sz="1350" dirty="0">
                  <a:solidFill>
                    <a:srgbClr val="FFFFFF"/>
                  </a:solidFill>
                  <a:latin typeface="+mn-lt"/>
                  <a:ea typeface="+mn-ea"/>
                  <a:cs typeface="+mn-cs"/>
                </a:rPr>
                <a:t>766 GFlops，4 个核组约 3.06 TFlops，算法见第6</a:t>
              </a:r>
              <a:br/>
              <a:r>
                <a:rPr lang="zh-CN" sz="1350" dirty="0">
                  <a:solidFill>
                    <a:srgbClr val="FFFFFF"/>
                  </a:solidFill>
                  <a:latin typeface="+mn-lt"/>
                  <a:ea typeface="+mn-ea"/>
                  <a:cs typeface="+mn-cs"/>
                </a:rPr>
                <a:t>页。</a:t>
              </a:r>
            </a:p>
          </p:txBody>
        </p:sp>
      </p:grpSp>
      <p:grpSp>
        <p:nvGrpSpPr>
          <p:cNvPr id="60" name="footer"/>
          <p:cNvGrpSpPr/>
          <p:nvPr/>
        </p:nvGrpSpPr>
        <p:grpSpPr>
          <a:xfrm>
            <a:off x="528447" y="6581299"/>
            <a:ext cx="11135106" cy="190690"/>
            <a:chOff x="528447" y="6581299"/>
            <a:chExt cx="11135106" cy="190690"/>
          </a:xfrm>
        </p:grpSpPr>
        <p:sp>
          <p:nvSpPr>
            <p:cNvPr id="58" name="TextBox 58"/>
            <p:cNvSpPr txBox="1"/>
            <p:nvPr/>
          </p:nvSpPr>
          <p:spPr>
            <a:xfrm>
              <a:off x="528447" y="6581299"/>
              <a:ext cx="2120748"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并行与分布式计算 · 第7章 体系结构</a:t>
              </a:r>
            </a:p>
          </p:txBody>
        </p:sp>
        <p:sp>
          <p:nvSpPr>
            <p:cNvPr id="59" name="TextBox 59"/>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11</a:t>
              </a:r>
            </a:p>
          </p:txBody>
        </p:sp>
      </p:gr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6678953" cy="909257"/>
            <a:chOff x="520446" y="342900"/>
            <a:chExt cx="6678953" cy="909257"/>
          </a:xfrm>
        </p:grpSpPr>
        <p:sp>
          <p:nvSpPr>
            <p:cNvPr id="2" name="Rectangle 2"/>
            <p:cNvSpPr/>
            <p:nvPr/>
          </p:nvSpPr>
          <p:spPr>
            <a:xfrm>
              <a:off x="533400" y="342900"/>
              <a:ext cx="2272665" cy="266700"/>
            </a:xfrm>
            <a:prstGeom prst="roundRect">
              <a:avLst>
                <a:gd name="adj" fmla="val 50000"/>
              </a:avLst>
            </a:prstGeom>
            <a:solidFill>
              <a:srgbClr val="E7EDF3"/>
            </a:solidFill>
            <a:ln>
              <a:noFill/>
            </a:ln>
          </p:spPr>
        </p:sp>
        <p:sp>
          <p:nvSpPr>
            <p:cNvPr id="3" name="TextBox 3"/>
            <p:cNvSpPr txBox="1"/>
            <p:nvPr/>
          </p:nvSpPr>
          <p:spPr>
            <a:xfrm>
              <a:off x="601058" y="407194"/>
              <a:ext cx="2137349"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第7章 体系结构 · 多处理器结构</a:t>
              </a:r>
            </a:p>
          </p:txBody>
        </p:sp>
        <p:sp>
          <p:nvSpPr>
            <p:cNvPr id="4" name="TextBox 4"/>
            <p:cNvSpPr txBox="1"/>
            <p:nvPr/>
          </p:nvSpPr>
          <p:spPr>
            <a:xfrm>
              <a:off x="520446" y="753428"/>
              <a:ext cx="6678953"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UMA 与 NUMA：访问存储器的时间是否一样</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45" name="c1-graph-1"/>
          <p:cNvGrpSpPr/>
          <p:nvPr/>
        </p:nvGrpSpPr>
        <p:grpSpPr>
          <a:xfrm>
            <a:off x="994410" y="1592580"/>
            <a:ext cx="4542473" cy="1852231"/>
            <a:chOff x="994410" y="1592580"/>
            <a:chExt cx="4542473" cy="1852231"/>
          </a:xfrm>
        </p:grpSpPr>
        <p:sp>
          <p:nvSpPr>
            <p:cNvPr id="7" name="Freeform 7"/>
            <p:cNvSpPr/>
            <p:nvPr/>
          </p:nvSpPr>
          <p:spPr>
            <a:xfrm>
              <a:off x="1399222" y="1819275"/>
              <a:ext cx="9525" cy="158115"/>
            </a:xfrm>
            <a:custGeom>
              <a:avLst/>
              <a:gdLst/>
              <a:ahLst/>
              <a:cxnLst/>
              <a:rect l="l" t="t" r="r" b="b"/>
              <a:pathLst>
                <a:path w="9525" h="158115">
                  <a:moveTo>
                    <a:pt x="0" y="0"/>
                  </a:moveTo>
                  <a:lnTo>
                    <a:pt x="0" y="158115"/>
                  </a:lnTo>
                </a:path>
              </a:pathLst>
            </a:custGeom>
            <a:noFill/>
            <a:ln w="17145">
              <a:solidFill>
                <a:srgbClr val="1F2937"/>
              </a:solidFill>
            </a:ln>
          </p:spPr>
        </p:sp>
        <p:sp>
          <p:nvSpPr>
            <p:cNvPr id="8" name="Freeform 8"/>
            <p:cNvSpPr/>
            <p:nvPr/>
          </p:nvSpPr>
          <p:spPr>
            <a:xfrm>
              <a:off x="2643188" y="1819275"/>
              <a:ext cx="9525" cy="158115"/>
            </a:xfrm>
            <a:custGeom>
              <a:avLst/>
              <a:gdLst/>
              <a:ahLst/>
              <a:cxnLst/>
              <a:rect l="l" t="t" r="r" b="b"/>
              <a:pathLst>
                <a:path w="9525" h="158115">
                  <a:moveTo>
                    <a:pt x="0" y="0"/>
                  </a:moveTo>
                  <a:lnTo>
                    <a:pt x="0" y="158115"/>
                  </a:lnTo>
                </a:path>
              </a:pathLst>
            </a:custGeom>
            <a:noFill/>
            <a:ln w="17145">
              <a:solidFill>
                <a:srgbClr val="1F2937"/>
              </a:solidFill>
            </a:ln>
          </p:spPr>
        </p:sp>
        <p:sp>
          <p:nvSpPr>
            <p:cNvPr id="9" name="Freeform 9"/>
            <p:cNvSpPr/>
            <p:nvPr/>
          </p:nvSpPr>
          <p:spPr>
            <a:xfrm>
              <a:off x="3888105" y="1819275"/>
              <a:ext cx="9525" cy="158115"/>
            </a:xfrm>
            <a:custGeom>
              <a:avLst/>
              <a:gdLst/>
              <a:ahLst/>
              <a:cxnLst/>
              <a:rect l="l" t="t" r="r" b="b"/>
              <a:pathLst>
                <a:path w="9525" h="158115">
                  <a:moveTo>
                    <a:pt x="0" y="0"/>
                  </a:moveTo>
                  <a:lnTo>
                    <a:pt x="0" y="158115"/>
                  </a:lnTo>
                </a:path>
              </a:pathLst>
            </a:custGeom>
            <a:noFill/>
            <a:ln w="17145">
              <a:solidFill>
                <a:srgbClr val="1F2937"/>
              </a:solidFill>
            </a:ln>
          </p:spPr>
        </p:sp>
        <p:sp>
          <p:nvSpPr>
            <p:cNvPr id="10" name="Freeform 10"/>
            <p:cNvSpPr/>
            <p:nvPr/>
          </p:nvSpPr>
          <p:spPr>
            <a:xfrm>
              <a:off x="5132070" y="1819275"/>
              <a:ext cx="9525" cy="158115"/>
            </a:xfrm>
            <a:custGeom>
              <a:avLst/>
              <a:gdLst/>
              <a:ahLst/>
              <a:cxnLst/>
              <a:rect l="l" t="t" r="r" b="b"/>
              <a:pathLst>
                <a:path w="9525" h="158115">
                  <a:moveTo>
                    <a:pt x="0" y="0"/>
                  </a:moveTo>
                  <a:lnTo>
                    <a:pt x="0" y="158115"/>
                  </a:lnTo>
                </a:path>
              </a:pathLst>
            </a:custGeom>
            <a:noFill/>
            <a:ln w="17145">
              <a:solidFill>
                <a:srgbClr val="1F2937"/>
              </a:solidFill>
            </a:ln>
          </p:spPr>
        </p:sp>
        <p:sp>
          <p:nvSpPr>
            <p:cNvPr id="11" name="Freeform 11"/>
            <p:cNvSpPr/>
            <p:nvPr/>
          </p:nvSpPr>
          <p:spPr>
            <a:xfrm>
              <a:off x="1399222" y="2204085"/>
              <a:ext cx="9525" cy="326707"/>
            </a:xfrm>
            <a:custGeom>
              <a:avLst/>
              <a:gdLst/>
              <a:ahLst/>
              <a:cxnLst/>
              <a:rect l="l" t="t" r="r" b="b"/>
              <a:pathLst>
                <a:path w="9525" h="326707">
                  <a:moveTo>
                    <a:pt x="0" y="0"/>
                  </a:moveTo>
                  <a:lnTo>
                    <a:pt x="0" y="326707"/>
                  </a:lnTo>
                </a:path>
              </a:pathLst>
            </a:custGeom>
            <a:noFill/>
            <a:ln w="17145">
              <a:solidFill>
                <a:srgbClr val="1F2937"/>
              </a:solidFill>
            </a:ln>
          </p:spPr>
        </p:sp>
        <p:sp>
          <p:nvSpPr>
            <p:cNvPr id="12" name="Freeform 12"/>
            <p:cNvSpPr/>
            <p:nvPr/>
          </p:nvSpPr>
          <p:spPr>
            <a:xfrm>
              <a:off x="2643188" y="2204085"/>
              <a:ext cx="9525" cy="326707"/>
            </a:xfrm>
            <a:custGeom>
              <a:avLst/>
              <a:gdLst/>
              <a:ahLst/>
              <a:cxnLst/>
              <a:rect l="l" t="t" r="r" b="b"/>
              <a:pathLst>
                <a:path w="9525" h="326707">
                  <a:moveTo>
                    <a:pt x="0" y="0"/>
                  </a:moveTo>
                  <a:lnTo>
                    <a:pt x="0" y="326707"/>
                  </a:lnTo>
                </a:path>
              </a:pathLst>
            </a:custGeom>
            <a:noFill/>
            <a:ln w="17145">
              <a:solidFill>
                <a:srgbClr val="1F2937"/>
              </a:solidFill>
            </a:ln>
          </p:spPr>
        </p:sp>
        <p:sp>
          <p:nvSpPr>
            <p:cNvPr id="13" name="Freeform 13"/>
            <p:cNvSpPr/>
            <p:nvPr/>
          </p:nvSpPr>
          <p:spPr>
            <a:xfrm>
              <a:off x="3888105" y="2204085"/>
              <a:ext cx="9525" cy="326707"/>
            </a:xfrm>
            <a:custGeom>
              <a:avLst/>
              <a:gdLst/>
              <a:ahLst/>
              <a:cxnLst/>
              <a:rect l="l" t="t" r="r" b="b"/>
              <a:pathLst>
                <a:path w="9525" h="326707">
                  <a:moveTo>
                    <a:pt x="0" y="0"/>
                  </a:moveTo>
                  <a:lnTo>
                    <a:pt x="0" y="326707"/>
                  </a:lnTo>
                </a:path>
              </a:pathLst>
            </a:custGeom>
            <a:noFill/>
            <a:ln w="17145">
              <a:solidFill>
                <a:srgbClr val="1F2937"/>
              </a:solidFill>
            </a:ln>
          </p:spPr>
        </p:sp>
        <p:sp>
          <p:nvSpPr>
            <p:cNvPr id="14" name="Freeform 14"/>
            <p:cNvSpPr/>
            <p:nvPr/>
          </p:nvSpPr>
          <p:spPr>
            <a:xfrm>
              <a:off x="5132070" y="2204085"/>
              <a:ext cx="9525" cy="326707"/>
            </a:xfrm>
            <a:custGeom>
              <a:avLst/>
              <a:gdLst/>
              <a:ahLst/>
              <a:cxnLst/>
              <a:rect l="l" t="t" r="r" b="b"/>
              <a:pathLst>
                <a:path w="9525" h="326707">
                  <a:moveTo>
                    <a:pt x="0" y="0"/>
                  </a:moveTo>
                  <a:lnTo>
                    <a:pt x="0" y="326707"/>
                  </a:lnTo>
                </a:path>
              </a:pathLst>
            </a:custGeom>
            <a:noFill/>
            <a:ln w="17145">
              <a:solidFill>
                <a:srgbClr val="1F2937"/>
              </a:solidFill>
            </a:ln>
          </p:spPr>
        </p:sp>
        <p:sp>
          <p:nvSpPr>
            <p:cNvPr id="15" name="Freeform 15"/>
            <p:cNvSpPr/>
            <p:nvPr/>
          </p:nvSpPr>
          <p:spPr>
            <a:xfrm>
              <a:off x="1399222" y="2744152"/>
              <a:ext cx="9525" cy="439102"/>
            </a:xfrm>
            <a:custGeom>
              <a:avLst/>
              <a:gdLst/>
              <a:ahLst/>
              <a:cxnLst/>
              <a:rect l="l" t="t" r="r" b="b"/>
              <a:pathLst>
                <a:path w="9525" h="439102">
                  <a:moveTo>
                    <a:pt x="0" y="0"/>
                  </a:moveTo>
                  <a:lnTo>
                    <a:pt x="0" y="439102"/>
                  </a:lnTo>
                </a:path>
              </a:pathLst>
            </a:custGeom>
            <a:noFill/>
            <a:ln w="17145">
              <a:solidFill>
                <a:srgbClr val="1F2937"/>
              </a:solidFill>
            </a:ln>
          </p:spPr>
        </p:sp>
        <p:sp>
          <p:nvSpPr>
            <p:cNvPr id="16" name="Freeform 16"/>
            <p:cNvSpPr/>
            <p:nvPr/>
          </p:nvSpPr>
          <p:spPr>
            <a:xfrm>
              <a:off x="2643188" y="2744152"/>
              <a:ext cx="9525" cy="439102"/>
            </a:xfrm>
            <a:custGeom>
              <a:avLst/>
              <a:gdLst/>
              <a:ahLst/>
              <a:cxnLst/>
              <a:rect l="l" t="t" r="r" b="b"/>
              <a:pathLst>
                <a:path w="9525" h="439102">
                  <a:moveTo>
                    <a:pt x="0" y="0"/>
                  </a:moveTo>
                  <a:lnTo>
                    <a:pt x="0" y="439102"/>
                  </a:lnTo>
                </a:path>
              </a:pathLst>
            </a:custGeom>
            <a:noFill/>
            <a:ln w="17145">
              <a:solidFill>
                <a:srgbClr val="1F2937"/>
              </a:solidFill>
            </a:ln>
          </p:spPr>
        </p:sp>
        <p:sp>
          <p:nvSpPr>
            <p:cNvPr id="17" name="Freeform 17"/>
            <p:cNvSpPr/>
            <p:nvPr/>
          </p:nvSpPr>
          <p:spPr>
            <a:xfrm>
              <a:off x="3888105" y="2744152"/>
              <a:ext cx="9525" cy="439102"/>
            </a:xfrm>
            <a:custGeom>
              <a:avLst/>
              <a:gdLst/>
              <a:ahLst/>
              <a:cxnLst/>
              <a:rect l="l" t="t" r="r" b="b"/>
              <a:pathLst>
                <a:path w="9525" h="439102">
                  <a:moveTo>
                    <a:pt x="0" y="0"/>
                  </a:moveTo>
                  <a:lnTo>
                    <a:pt x="0" y="439102"/>
                  </a:lnTo>
                </a:path>
              </a:pathLst>
            </a:custGeom>
            <a:noFill/>
            <a:ln w="17145">
              <a:solidFill>
                <a:srgbClr val="1F2937"/>
              </a:solidFill>
            </a:ln>
          </p:spPr>
        </p:sp>
        <p:sp>
          <p:nvSpPr>
            <p:cNvPr id="18" name="Freeform 18"/>
            <p:cNvSpPr/>
            <p:nvPr/>
          </p:nvSpPr>
          <p:spPr>
            <a:xfrm>
              <a:off x="5132070" y="2744152"/>
              <a:ext cx="9525" cy="439102"/>
            </a:xfrm>
            <a:custGeom>
              <a:avLst/>
              <a:gdLst/>
              <a:ahLst/>
              <a:cxnLst/>
              <a:rect l="l" t="t" r="r" b="b"/>
              <a:pathLst>
                <a:path w="9525" h="439102">
                  <a:moveTo>
                    <a:pt x="0" y="0"/>
                  </a:moveTo>
                  <a:lnTo>
                    <a:pt x="0" y="439102"/>
                  </a:lnTo>
                </a:path>
              </a:pathLst>
            </a:custGeom>
            <a:noFill/>
            <a:ln w="17145">
              <a:solidFill>
                <a:srgbClr val="1F2937"/>
              </a:solidFill>
            </a:ln>
          </p:spPr>
        </p:sp>
        <p:sp>
          <p:nvSpPr>
            <p:cNvPr id="19" name="Rectangle 19"/>
            <p:cNvSpPr/>
            <p:nvPr/>
          </p:nvSpPr>
          <p:spPr>
            <a:xfrm>
              <a:off x="1133475" y="2524125"/>
              <a:ext cx="4210050" cy="226695"/>
            </a:xfrm>
            <a:prstGeom prst="roundRect">
              <a:avLst>
                <a:gd name="adj" fmla="val 42017"/>
              </a:avLst>
            </a:prstGeom>
            <a:solidFill>
              <a:srgbClr val="FDEEE7"/>
            </a:solidFill>
            <a:ln w="17145">
              <a:solidFill>
                <a:srgbClr val="F26B3A"/>
              </a:solidFill>
            </a:ln>
          </p:spPr>
        </p:sp>
        <p:sp>
          <p:nvSpPr>
            <p:cNvPr id="20" name="Rectangle 20"/>
            <p:cNvSpPr/>
            <p:nvPr/>
          </p:nvSpPr>
          <p:spPr>
            <a:xfrm>
              <a:off x="1034415" y="1592580"/>
              <a:ext cx="728662" cy="226695"/>
            </a:xfrm>
            <a:prstGeom prst="roundRect">
              <a:avLst>
                <a:gd name="adj" fmla="val 42017"/>
              </a:avLst>
            </a:prstGeom>
            <a:solidFill>
              <a:srgbClr val="334E68"/>
            </a:solidFill>
            <a:ln w="17145">
              <a:solidFill>
                <a:srgbClr val="334E68"/>
              </a:solidFill>
            </a:ln>
          </p:spPr>
        </p:sp>
        <p:sp>
          <p:nvSpPr>
            <p:cNvPr id="21" name="Rectangle 21"/>
            <p:cNvSpPr/>
            <p:nvPr/>
          </p:nvSpPr>
          <p:spPr>
            <a:xfrm>
              <a:off x="2279332" y="1592580"/>
              <a:ext cx="728662" cy="226695"/>
            </a:xfrm>
            <a:prstGeom prst="roundRect">
              <a:avLst>
                <a:gd name="adj" fmla="val 42017"/>
              </a:avLst>
            </a:prstGeom>
            <a:solidFill>
              <a:srgbClr val="334E68"/>
            </a:solidFill>
            <a:ln w="17145">
              <a:solidFill>
                <a:srgbClr val="334E68"/>
              </a:solidFill>
            </a:ln>
          </p:spPr>
        </p:sp>
        <p:sp>
          <p:nvSpPr>
            <p:cNvPr id="22" name="Rectangle 22"/>
            <p:cNvSpPr/>
            <p:nvPr/>
          </p:nvSpPr>
          <p:spPr>
            <a:xfrm>
              <a:off x="3523298" y="1592580"/>
              <a:ext cx="728662" cy="226695"/>
            </a:xfrm>
            <a:prstGeom prst="roundRect">
              <a:avLst>
                <a:gd name="adj" fmla="val 42017"/>
              </a:avLst>
            </a:prstGeom>
            <a:solidFill>
              <a:srgbClr val="334E68"/>
            </a:solidFill>
            <a:ln w="17145">
              <a:solidFill>
                <a:srgbClr val="334E68"/>
              </a:solidFill>
            </a:ln>
          </p:spPr>
        </p:sp>
        <p:sp>
          <p:nvSpPr>
            <p:cNvPr id="23" name="Rectangle 23"/>
            <p:cNvSpPr/>
            <p:nvPr/>
          </p:nvSpPr>
          <p:spPr>
            <a:xfrm>
              <a:off x="4767262" y="1592580"/>
              <a:ext cx="728662" cy="226695"/>
            </a:xfrm>
            <a:prstGeom prst="roundRect">
              <a:avLst>
                <a:gd name="adj" fmla="val 42017"/>
              </a:avLst>
            </a:prstGeom>
            <a:solidFill>
              <a:srgbClr val="334E68"/>
            </a:solidFill>
            <a:ln w="17145">
              <a:solidFill>
                <a:srgbClr val="334E68"/>
              </a:solidFill>
            </a:ln>
          </p:spPr>
        </p:sp>
        <p:sp>
          <p:nvSpPr>
            <p:cNvPr id="24" name="Rectangle 24"/>
            <p:cNvSpPr/>
            <p:nvPr/>
          </p:nvSpPr>
          <p:spPr>
            <a:xfrm>
              <a:off x="1034415" y="1977390"/>
              <a:ext cx="728662" cy="226695"/>
            </a:xfrm>
            <a:prstGeom prst="roundRect">
              <a:avLst>
                <a:gd name="adj" fmla="val 42017"/>
              </a:avLst>
            </a:prstGeom>
            <a:solidFill>
              <a:srgbClr val="E7EDF3"/>
            </a:solidFill>
            <a:ln w="17145">
              <a:solidFill>
                <a:srgbClr val="334E68"/>
              </a:solidFill>
            </a:ln>
          </p:spPr>
        </p:sp>
        <p:sp>
          <p:nvSpPr>
            <p:cNvPr id="25" name="Rectangle 25"/>
            <p:cNvSpPr/>
            <p:nvPr/>
          </p:nvSpPr>
          <p:spPr>
            <a:xfrm>
              <a:off x="2279332" y="1977390"/>
              <a:ext cx="728662" cy="226695"/>
            </a:xfrm>
            <a:prstGeom prst="roundRect">
              <a:avLst>
                <a:gd name="adj" fmla="val 42017"/>
              </a:avLst>
            </a:prstGeom>
            <a:solidFill>
              <a:srgbClr val="E7EDF3"/>
            </a:solidFill>
            <a:ln w="17145">
              <a:solidFill>
                <a:srgbClr val="334E68"/>
              </a:solidFill>
            </a:ln>
          </p:spPr>
        </p:sp>
        <p:sp>
          <p:nvSpPr>
            <p:cNvPr id="26" name="Rectangle 26"/>
            <p:cNvSpPr/>
            <p:nvPr/>
          </p:nvSpPr>
          <p:spPr>
            <a:xfrm>
              <a:off x="3523298" y="1977390"/>
              <a:ext cx="728662" cy="226695"/>
            </a:xfrm>
            <a:prstGeom prst="roundRect">
              <a:avLst>
                <a:gd name="adj" fmla="val 42017"/>
              </a:avLst>
            </a:prstGeom>
            <a:solidFill>
              <a:srgbClr val="E7EDF3"/>
            </a:solidFill>
            <a:ln w="17145">
              <a:solidFill>
                <a:srgbClr val="334E68"/>
              </a:solidFill>
            </a:ln>
          </p:spPr>
        </p:sp>
        <p:sp>
          <p:nvSpPr>
            <p:cNvPr id="27" name="Rectangle 27"/>
            <p:cNvSpPr/>
            <p:nvPr/>
          </p:nvSpPr>
          <p:spPr>
            <a:xfrm>
              <a:off x="4767262" y="1977390"/>
              <a:ext cx="728662" cy="226695"/>
            </a:xfrm>
            <a:prstGeom prst="roundRect">
              <a:avLst>
                <a:gd name="adj" fmla="val 42017"/>
              </a:avLst>
            </a:prstGeom>
            <a:solidFill>
              <a:srgbClr val="E7EDF3"/>
            </a:solidFill>
            <a:ln w="17145">
              <a:solidFill>
                <a:srgbClr val="334E68"/>
              </a:solidFill>
            </a:ln>
          </p:spPr>
        </p:sp>
        <p:sp>
          <p:nvSpPr>
            <p:cNvPr id="28" name="Rectangle 28"/>
            <p:cNvSpPr/>
            <p:nvPr/>
          </p:nvSpPr>
          <p:spPr>
            <a:xfrm>
              <a:off x="994410" y="3183255"/>
              <a:ext cx="809625" cy="242888"/>
            </a:xfrm>
            <a:prstGeom prst="roundRect">
              <a:avLst>
                <a:gd name="adj" fmla="val 39216"/>
              </a:avLst>
            </a:prstGeom>
            <a:solidFill>
              <a:srgbClr val="FFFFFF"/>
            </a:solidFill>
            <a:ln w="17145">
              <a:solidFill>
                <a:srgbClr val="334E68"/>
              </a:solidFill>
            </a:ln>
          </p:spPr>
        </p:sp>
        <p:sp>
          <p:nvSpPr>
            <p:cNvPr id="29" name="Rectangle 29"/>
            <p:cNvSpPr/>
            <p:nvPr/>
          </p:nvSpPr>
          <p:spPr>
            <a:xfrm>
              <a:off x="2238375" y="3183255"/>
              <a:ext cx="809625" cy="242888"/>
            </a:xfrm>
            <a:prstGeom prst="roundRect">
              <a:avLst>
                <a:gd name="adj" fmla="val 39216"/>
              </a:avLst>
            </a:prstGeom>
            <a:solidFill>
              <a:srgbClr val="FFFFFF"/>
            </a:solidFill>
            <a:ln w="17145">
              <a:solidFill>
                <a:srgbClr val="334E68"/>
              </a:solidFill>
            </a:ln>
          </p:spPr>
        </p:sp>
        <p:sp>
          <p:nvSpPr>
            <p:cNvPr id="30" name="Rectangle 30"/>
            <p:cNvSpPr/>
            <p:nvPr/>
          </p:nvSpPr>
          <p:spPr>
            <a:xfrm>
              <a:off x="3483292" y="3183255"/>
              <a:ext cx="809625" cy="242888"/>
            </a:xfrm>
            <a:prstGeom prst="roundRect">
              <a:avLst>
                <a:gd name="adj" fmla="val 39216"/>
              </a:avLst>
            </a:prstGeom>
            <a:solidFill>
              <a:srgbClr val="FFFFFF"/>
            </a:solidFill>
            <a:ln w="17145">
              <a:solidFill>
                <a:srgbClr val="334E68"/>
              </a:solidFill>
            </a:ln>
          </p:spPr>
        </p:sp>
        <p:sp>
          <p:nvSpPr>
            <p:cNvPr id="31" name="Rectangle 31"/>
            <p:cNvSpPr/>
            <p:nvPr/>
          </p:nvSpPr>
          <p:spPr>
            <a:xfrm>
              <a:off x="4727258" y="3183255"/>
              <a:ext cx="809625" cy="242888"/>
            </a:xfrm>
            <a:prstGeom prst="roundRect">
              <a:avLst>
                <a:gd name="adj" fmla="val 39216"/>
              </a:avLst>
            </a:prstGeom>
            <a:solidFill>
              <a:srgbClr val="FFFFFF"/>
            </a:solidFill>
            <a:ln w="17145">
              <a:solidFill>
                <a:srgbClr val="334E68"/>
              </a:solidFill>
            </a:ln>
          </p:spPr>
        </p:sp>
        <p:sp>
          <p:nvSpPr>
            <p:cNvPr id="32" name="TextBox 32"/>
            <p:cNvSpPr txBox="1"/>
            <p:nvPr/>
          </p:nvSpPr>
          <p:spPr>
            <a:xfrm>
              <a:off x="2950464" y="2571750"/>
              <a:ext cx="576072" cy="205359"/>
            </a:xfrm>
            <a:prstGeom prst="rect">
              <a:avLst/>
            </a:prstGeom>
            <a:noFill/>
            <a:ln>
              <a:noFill/>
            </a:ln>
          </p:spPr>
          <p:txBody>
            <a:bodyPr wrap="none" lIns="0" tIns="0" rIns="0" bIns="0" anchor="t" anchorCtr="0">
              <a:spAutoFit/>
            </a:bodyPr>
            <a:lstStyle/>
            <a:p>
              <a:pPr algn="ctr"/>
              <a:r>
                <a:rPr lang="zh-CN" sz="1050" b="1" dirty="0">
                  <a:solidFill>
                    <a:srgbClr val="1F2937"/>
                  </a:solidFill>
                  <a:latin typeface="+mn-lt"/>
                  <a:ea typeface="+mn-ea"/>
                  <a:cs typeface="+mn-cs"/>
                </a:rPr>
                <a:t>互连结构</a:t>
              </a:r>
            </a:p>
          </p:txBody>
        </p:sp>
        <p:sp>
          <p:nvSpPr>
            <p:cNvPr id="33" name="TextBox 33"/>
            <p:cNvSpPr txBox="1"/>
            <p:nvPr/>
          </p:nvSpPr>
          <p:spPr>
            <a:xfrm>
              <a:off x="1264512" y="1641157"/>
              <a:ext cx="269420" cy="205359"/>
            </a:xfrm>
            <a:prstGeom prst="rect">
              <a:avLst/>
            </a:prstGeom>
            <a:noFill/>
            <a:ln>
              <a:noFill/>
            </a:ln>
          </p:spPr>
          <p:txBody>
            <a:bodyPr wrap="none" lIns="0" tIns="0" rIns="0" bIns="0" anchor="t" anchorCtr="0">
              <a:spAutoFit/>
            </a:bodyPr>
            <a:lstStyle/>
            <a:p>
              <a:pPr algn="ctr"/>
              <a:r>
                <a:rPr lang="en-US" sz="1050" b="1" dirty="0">
                  <a:solidFill>
                    <a:srgbClr val="FFFFFF"/>
                  </a:solidFill>
                  <a:latin typeface="+mn-lt"/>
                  <a:ea typeface="+mn-ea"/>
                  <a:cs typeface="+mn-cs"/>
                </a:rPr>
                <a:t>CPU</a:t>
              </a:r>
            </a:p>
          </p:txBody>
        </p:sp>
        <p:sp>
          <p:nvSpPr>
            <p:cNvPr id="34" name="TextBox 34"/>
            <p:cNvSpPr txBox="1"/>
            <p:nvPr/>
          </p:nvSpPr>
          <p:spPr>
            <a:xfrm>
              <a:off x="2508477" y="1641157"/>
              <a:ext cx="269420" cy="205359"/>
            </a:xfrm>
            <a:prstGeom prst="rect">
              <a:avLst/>
            </a:prstGeom>
            <a:noFill/>
            <a:ln>
              <a:noFill/>
            </a:ln>
          </p:spPr>
          <p:txBody>
            <a:bodyPr wrap="none" lIns="0" tIns="0" rIns="0" bIns="0" anchor="t" anchorCtr="0">
              <a:spAutoFit/>
            </a:bodyPr>
            <a:lstStyle/>
            <a:p>
              <a:pPr algn="ctr"/>
              <a:r>
                <a:rPr lang="en-US" sz="1050" b="1" dirty="0">
                  <a:solidFill>
                    <a:srgbClr val="FFFFFF"/>
                  </a:solidFill>
                  <a:latin typeface="+mn-lt"/>
                  <a:ea typeface="+mn-ea"/>
                  <a:cs typeface="+mn-cs"/>
                </a:rPr>
                <a:t>CPU</a:t>
              </a:r>
            </a:p>
          </p:txBody>
        </p:sp>
        <p:sp>
          <p:nvSpPr>
            <p:cNvPr id="35" name="TextBox 35"/>
            <p:cNvSpPr txBox="1"/>
            <p:nvPr/>
          </p:nvSpPr>
          <p:spPr>
            <a:xfrm>
              <a:off x="3753395" y="1641157"/>
              <a:ext cx="269420" cy="205359"/>
            </a:xfrm>
            <a:prstGeom prst="rect">
              <a:avLst/>
            </a:prstGeom>
            <a:noFill/>
            <a:ln>
              <a:noFill/>
            </a:ln>
          </p:spPr>
          <p:txBody>
            <a:bodyPr wrap="none" lIns="0" tIns="0" rIns="0" bIns="0" anchor="t" anchorCtr="0">
              <a:spAutoFit/>
            </a:bodyPr>
            <a:lstStyle/>
            <a:p>
              <a:pPr algn="ctr"/>
              <a:r>
                <a:rPr lang="en-US" sz="1050" b="1" dirty="0">
                  <a:solidFill>
                    <a:srgbClr val="FFFFFF"/>
                  </a:solidFill>
                  <a:latin typeface="+mn-lt"/>
                  <a:ea typeface="+mn-ea"/>
                  <a:cs typeface="+mn-cs"/>
                </a:rPr>
                <a:t>CPU</a:t>
              </a:r>
            </a:p>
          </p:txBody>
        </p:sp>
        <p:sp>
          <p:nvSpPr>
            <p:cNvPr id="36" name="TextBox 36"/>
            <p:cNvSpPr txBox="1"/>
            <p:nvPr/>
          </p:nvSpPr>
          <p:spPr>
            <a:xfrm>
              <a:off x="4997360" y="1641157"/>
              <a:ext cx="269420" cy="205359"/>
            </a:xfrm>
            <a:prstGeom prst="rect">
              <a:avLst/>
            </a:prstGeom>
            <a:noFill/>
            <a:ln>
              <a:noFill/>
            </a:ln>
          </p:spPr>
          <p:txBody>
            <a:bodyPr wrap="none" lIns="0" tIns="0" rIns="0" bIns="0" anchor="t" anchorCtr="0">
              <a:spAutoFit/>
            </a:bodyPr>
            <a:lstStyle/>
            <a:p>
              <a:pPr algn="ctr"/>
              <a:r>
                <a:rPr lang="en-US" sz="1050" b="1" dirty="0">
                  <a:solidFill>
                    <a:srgbClr val="FFFFFF"/>
                  </a:solidFill>
                  <a:latin typeface="+mn-lt"/>
                  <a:ea typeface="+mn-ea"/>
                  <a:cs typeface="+mn-cs"/>
                </a:rPr>
                <a:t>CPU</a:t>
              </a:r>
            </a:p>
          </p:txBody>
        </p:sp>
        <p:sp>
          <p:nvSpPr>
            <p:cNvPr id="37" name="TextBox 37"/>
            <p:cNvSpPr txBox="1"/>
            <p:nvPr/>
          </p:nvSpPr>
          <p:spPr>
            <a:xfrm>
              <a:off x="1187503" y="2025015"/>
              <a:ext cx="423440" cy="205359"/>
            </a:xfrm>
            <a:prstGeom prst="rect">
              <a:avLst/>
            </a:prstGeom>
            <a:noFill/>
            <a:ln>
              <a:noFill/>
            </a:ln>
          </p:spPr>
          <p:txBody>
            <a:bodyPr wrap="none" lIns="0" tIns="0" rIns="0" bIns="0" anchor="t" anchorCtr="0">
              <a:spAutoFit/>
            </a:bodyPr>
            <a:lstStyle/>
            <a:p>
              <a:pPr algn="ctr"/>
              <a:r>
                <a:rPr lang="en-US" sz="1050" b="1" dirty="0">
                  <a:solidFill>
                    <a:srgbClr val="243B53"/>
                  </a:solidFill>
                  <a:latin typeface="+mn-lt"/>
                  <a:ea typeface="+mn-ea"/>
                  <a:cs typeface="+mn-cs"/>
                </a:rPr>
                <a:t>Cache</a:t>
              </a:r>
            </a:p>
          </p:txBody>
        </p:sp>
        <p:sp>
          <p:nvSpPr>
            <p:cNvPr id="38" name="TextBox 38"/>
            <p:cNvSpPr txBox="1"/>
            <p:nvPr/>
          </p:nvSpPr>
          <p:spPr>
            <a:xfrm>
              <a:off x="2431468" y="2025015"/>
              <a:ext cx="423440" cy="205359"/>
            </a:xfrm>
            <a:prstGeom prst="rect">
              <a:avLst/>
            </a:prstGeom>
            <a:noFill/>
            <a:ln>
              <a:noFill/>
            </a:ln>
          </p:spPr>
          <p:txBody>
            <a:bodyPr wrap="none" lIns="0" tIns="0" rIns="0" bIns="0" anchor="t" anchorCtr="0">
              <a:spAutoFit/>
            </a:bodyPr>
            <a:lstStyle/>
            <a:p>
              <a:pPr algn="ctr"/>
              <a:r>
                <a:rPr lang="en-US" sz="1050" b="1" dirty="0">
                  <a:solidFill>
                    <a:srgbClr val="243B53"/>
                  </a:solidFill>
                  <a:latin typeface="+mn-lt"/>
                  <a:ea typeface="+mn-ea"/>
                  <a:cs typeface="+mn-cs"/>
                </a:rPr>
                <a:t>Cache</a:t>
              </a:r>
            </a:p>
          </p:txBody>
        </p:sp>
        <p:sp>
          <p:nvSpPr>
            <p:cNvPr id="39" name="TextBox 39"/>
            <p:cNvSpPr txBox="1"/>
            <p:nvPr/>
          </p:nvSpPr>
          <p:spPr>
            <a:xfrm>
              <a:off x="3676385" y="2025015"/>
              <a:ext cx="423440" cy="205359"/>
            </a:xfrm>
            <a:prstGeom prst="rect">
              <a:avLst/>
            </a:prstGeom>
            <a:noFill/>
            <a:ln>
              <a:noFill/>
            </a:ln>
          </p:spPr>
          <p:txBody>
            <a:bodyPr wrap="none" lIns="0" tIns="0" rIns="0" bIns="0" anchor="t" anchorCtr="0">
              <a:spAutoFit/>
            </a:bodyPr>
            <a:lstStyle/>
            <a:p>
              <a:pPr algn="ctr"/>
              <a:r>
                <a:rPr lang="en-US" sz="1050" b="1" dirty="0">
                  <a:solidFill>
                    <a:srgbClr val="243B53"/>
                  </a:solidFill>
                  <a:latin typeface="+mn-lt"/>
                  <a:ea typeface="+mn-ea"/>
                  <a:cs typeface="+mn-cs"/>
                </a:rPr>
                <a:t>Cache</a:t>
              </a:r>
            </a:p>
          </p:txBody>
        </p:sp>
        <p:sp>
          <p:nvSpPr>
            <p:cNvPr id="40" name="TextBox 40"/>
            <p:cNvSpPr txBox="1"/>
            <p:nvPr/>
          </p:nvSpPr>
          <p:spPr>
            <a:xfrm>
              <a:off x="4920350" y="2025015"/>
              <a:ext cx="423440" cy="205359"/>
            </a:xfrm>
            <a:prstGeom prst="rect">
              <a:avLst/>
            </a:prstGeom>
            <a:noFill/>
            <a:ln>
              <a:noFill/>
            </a:ln>
          </p:spPr>
          <p:txBody>
            <a:bodyPr wrap="none" lIns="0" tIns="0" rIns="0" bIns="0" anchor="t" anchorCtr="0">
              <a:spAutoFit/>
            </a:bodyPr>
            <a:lstStyle/>
            <a:p>
              <a:pPr algn="ctr"/>
              <a:r>
                <a:rPr lang="en-US" sz="1050" b="1" dirty="0">
                  <a:solidFill>
                    <a:srgbClr val="243B53"/>
                  </a:solidFill>
                  <a:latin typeface="+mn-lt"/>
                  <a:ea typeface="+mn-ea"/>
                  <a:cs typeface="+mn-cs"/>
                </a:rPr>
                <a:t>Cache</a:t>
              </a:r>
            </a:p>
          </p:txBody>
        </p:sp>
        <p:sp>
          <p:nvSpPr>
            <p:cNvPr id="41" name="TextBox 41"/>
            <p:cNvSpPr txBox="1"/>
            <p:nvPr/>
          </p:nvSpPr>
          <p:spPr>
            <a:xfrm>
              <a:off x="1181862" y="3239452"/>
              <a:ext cx="434721" cy="205359"/>
            </a:xfrm>
            <a:prstGeom prst="rect">
              <a:avLst/>
            </a:prstGeom>
            <a:noFill/>
            <a:ln>
              <a:noFill/>
            </a:ln>
          </p:spPr>
          <p:txBody>
            <a:bodyPr wrap="none" lIns="0" tIns="0" rIns="0" bIns="0" anchor="t" anchorCtr="0">
              <a:spAutoFit/>
            </a:bodyPr>
            <a:lstStyle/>
            <a:p>
              <a:pPr algn="ctr"/>
              <a:r>
                <a:rPr lang="zh-CN" sz="1050" b="1" dirty="0">
                  <a:solidFill>
                    <a:srgbClr val="1F2937"/>
                  </a:solidFill>
                  <a:latin typeface="+mn-lt"/>
                  <a:ea typeface="+mn-ea"/>
                  <a:cs typeface="+mn-cs"/>
                </a:rPr>
                <a:t>存储器</a:t>
              </a:r>
            </a:p>
          </p:txBody>
        </p:sp>
        <p:sp>
          <p:nvSpPr>
            <p:cNvPr id="42" name="TextBox 42"/>
            <p:cNvSpPr txBox="1"/>
            <p:nvPr/>
          </p:nvSpPr>
          <p:spPr>
            <a:xfrm>
              <a:off x="2425827" y="3239452"/>
              <a:ext cx="434721" cy="205359"/>
            </a:xfrm>
            <a:prstGeom prst="rect">
              <a:avLst/>
            </a:prstGeom>
            <a:noFill/>
            <a:ln>
              <a:noFill/>
            </a:ln>
          </p:spPr>
          <p:txBody>
            <a:bodyPr wrap="none" lIns="0" tIns="0" rIns="0" bIns="0" anchor="t" anchorCtr="0">
              <a:spAutoFit/>
            </a:bodyPr>
            <a:lstStyle/>
            <a:p>
              <a:pPr algn="ctr"/>
              <a:r>
                <a:rPr lang="zh-CN" sz="1050" b="1" dirty="0">
                  <a:solidFill>
                    <a:srgbClr val="1F2937"/>
                  </a:solidFill>
                  <a:latin typeface="+mn-lt"/>
                  <a:ea typeface="+mn-ea"/>
                  <a:cs typeface="+mn-cs"/>
                </a:rPr>
                <a:t>存储器</a:t>
              </a:r>
            </a:p>
          </p:txBody>
        </p:sp>
        <p:sp>
          <p:nvSpPr>
            <p:cNvPr id="43" name="TextBox 43"/>
            <p:cNvSpPr txBox="1"/>
            <p:nvPr/>
          </p:nvSpPr>
          <p:spPr>
            <a:xfrm>
              <a:off x="3670744" y="3239452"/>
              <a:ext cx="434721" cy="205359"/>
            </a:xfrm>
            <a:prstGeom prst="rect">
              <a:avLst/>
            </a:prstGeom>
            <a:noFill/>
            <a:ln>
              <a:noFill/>
            </a:ln>
          </p:spPr>
          <p:txBody>
            <a:bodyPr wrap="none" lIns="0" tIns="0" rIns="0" bIns="0" anchor="t" anchorCtr="0">
              <a:spAutoFit/>
            </a:bodyPr>
            <a:lstStyle/>
            <a:p>
              <a:pPr algn="ctr"/>
              <a:r>
                <a:rPr lang="zh-CN" sz="1050" b="1" dirty="0">
                  <a:solidFill>
                    <a:srgbClr val="1F2937"/>
                  </a:solidFill>
                  <a:latin typeface="+mn-lt"/>
                  <a:ea typeface="+mn-ea"/>
                  <a:cs typeface="+mn-cs"/>
                </a:rPr>
                <a:t>存储器</a:t>
              </a:r>
            </a:p>
          </p:txBody>
        </p:sp>
        <p:sp>
          <p:nvSpPr>
            <p:cNvPr id="44" name="TextBox 44"/>
            <p:cNvSpPr txBox="1"/>
            <p:nvPr/>
          </p:nvSpPr>
          <p:spPr>
            <a:xfrm>
              <a:off x="4914710" y="3239452"/>
              <a:ext cx="434721" cy="205359"/>
            </a:xfrm>
            <a:prstGeom prst="rect">
              <a:avLst/>
            </a:prstGeom>
            <a:noFill/>
            <a:ln>
              <a:noFill/>
            </a:ln>
          </p:spPr>
          <p:txBody>
            <a:bodyPr wrap="none" lIns="0" tIns="0" rIns="0" bIns="0" anchor="t" anchorCtr="0">
              <a:spAutoFit/>
            </a:bodyPr>
            <a:lstStyle/>
            <a:p>
              <a:pPr algn="ctr"/>
              <a:r>
                <a:rPr lang="zh-CN" sz="1050" b="1" dirty="0">
                  <a:solidFill>
                    <a:srgbClr val="1F2937"/>
                  </a:solidFill>
                  <a:latin typeface="+mn-lt"/>
                  <a:ea typeface="+mn-ea"/>
                  <a:cs typeface="+mn-cs"/>
                </a:rPr>
                <a:t>存储器</a:t>
              </a:r>
            </a:p>
          </p:txBody>
        </p:sp>
      </p:grpSp>
      <p:grpSp>
        <p:nvGrpSpPr>
          <p:cNvPr id="54" name="c1-card-2"/>
          <p:cNvGrpSpPr/>
          <p:nvPr/>
        </p:nvGrpSpPr>
        <p:grpSpPr>
          <a:xfrm>
            <a:off x="533400" y="3712845"/>
            <a:ext cx="5410200" cy="1671638"/>
            <a:chOff x="533400" y="3712845"/>
            <a:chExt cx="5410200" cy="1671638"/>
          </a:xfrm>
        </p:grpSpPr>
        <p:sp>
          <p:nvSpPr>
            <p:cNvPr id="46" name="Rectangle 46"/>
            <p:cNvSpPr/>
            <p:nvPr/>
          </p:nvSpPr>
          <p:spPr>
            <a:xfrm>
              <a:off x="533400" y="3712845"/>
              <a:ext cx="5410200" cy="1671638"/>
            </a:xfrm>
            <a:prstGeom prst="roundRect">
              <a:avLst>
                <a:gd name="adj" fmla="val 7977"/>
              </a:avLst>
            </a:prstGeom>
            <a:solidFill>
              <a:srgbClr val="FFFFFF"/>
            </a:solidFill>
            <a:ln w="14288">
              <a:solidFill>
                <a:srgbClr val="D9DFEA"/>
              </a:solidFill>
            </a:ln>
          </p:spPr>
        </p:sp>
        <p:sp>
          <p:nvSpPr>
            <p:cNvPr id="47" name="Rectangle 47"/>
            <p:cNvSpPr/>
            <p:nvPr/>
          </p:nvSpPr>
          <p:spPr>
            <a:xfrm>
              <a:off x="542925" y="3846195"/>
              <a:ext cx="47625" cy="1404938"/>
            </a:xfrm>
            <a:prstGeom prst="roundRect">
              <a:avLst>
                <a:gd name="adj" fmla="val 50000"/>
              </a:avLst>
            </a:prstGeom>
            <a:solidFill>
              <a:srgbClr val="334E68"/>
            </a:solidFill>
            <a:ln>
              <a:noFill/>
            </a:ln>
          </p:spPr>
        </p:sp>
        <p:sp>
          <p:nvSpPr>
            <p:cNvPr id="48" name="Rectangle 48"/>
            <p:cNvSpPr/>
            <p:nvPr/>
          </p:nvSpPr>
          <p:spPr>
            <a:xfrm>
              <a:off x="752475" y="3893820"/>
              <a:ext cx="1362075" cy="238125"/>
            </a:xfrm>
            <a:prstGeom prst="roundRect">
              <a:avLst>
                <a:gd name="adj" fmla="val 50000"/>
              </a:avLst>
            </a:prstGeom>
            <a:solidFill>
              <a:srgbClr val="E7EDF3"/>
            </a:solidFill>
            <a:ln>
              <a:noFill/>
            </a:ln>
          </p:spPr>
        </p:sp>
        <p:sp>
          <p:nvSpPr>
            <p:cNvPr id="49" name="TextBox 49"/>
            <p:cNvSpPr txBox="1"/>
            <p:nvPr/>
          </p:nvSpPr>
          <p:spPr>
            <a:xfrm>
              <a:off x="809471" y="3926681"/>
              <a:ext cx="1248084" cy="190690"/>
            </a:xfrm>
            <a:prstGeom prst="rect">
              <a:avLst/>
            </a:prstGeom>
            <a:noFill/>
            <a:ln>
              <a:noFill/>
            </a:ln>
          </p:spPr>
          <p:txBody>
            <a:bodyPr wrap="none" lIns="0" tIns="0" rIns="0" bIns="0" anchor="t" anchorCtr="0">
              <a:spAutoFit/>
            </a:bodyPr>
            <a:lstStyle/>
            <a:p>
              <a:pPr algn="ctr"/>
              <a:r>
                <a:rPr lang="zh-CN" sz="980" b="1" dirty="0">
                  <a:solidFill>
                    <a:srgbClr val="334E68"/>
                  </a:solidFill>
                  <a:latin typeface="+mn-lt"/>
                  <a:ea typeface="+mn-ea"/>
                  <a:cs typeface="+mn-cs"/>
                </a:rPr>
                <a:t>UMA 集中式共享存储</a:t>
              </a:r>
            </a:p>
          </p:txBody>
        </p:sp>
        <p:sp>
          <p:nvSpPr>
            <p:cNvPr id="50" name="Ellipse 50"/>
            <p:cNvSpPr/>
            <p:nvPr/>
          </p:nvSpPr>
          <p:spPr>
            <a:xfrm>
              <a:off x="762000" y="4286250"/>
              <a:ext cx="57150" cy="57150"/>
            </a:xfrm>
            <a:prstGeom prst="ellipse">
              <a:avLst/>
            </a:prstGeom>
            <a:solidFill>
              <a:srgbClr val="334E68"/>
            </a:solidFill>
            <a:ln>
              <a:noFill/>
            </a:ln>
          </p:spPr>
        </p:sp>
        <p:sp>
          <p:nvSpPr>
            <p:cNvPr id="51" name="TextBox 51"/>
            <p:cNvSpPr txBox="1"/>
            <p:nvPr/>
          </p:nvSpPr>
          <p:spPr>
            <a:xfrm>
              <a:off x="917448" y="4234339"/>
              <a:ext cx="3808730" cy="492252"/>
            </a:xfrm>
            <a:prstGeom prst="rect">
              <a:avLst/>
            </a:prstGeom>
            <a:noFill/>
            <a:ln>
              <a:noFill/>
            </a:ln>
          </p:spPr>
          <p:txBody>
            <a:bodyPr wrap="none" lIns="0" tIns="0" rIns="0" bIns="0" anchor="t" anchorCtr="0">
              <a:spAutoFit/>
            </a:bodyPr>
            <a:lstStyle/>
            <a:p>
              <a:pPr algn="l">
                <a:lnSpc>
                  <a:spcPts val="1912"/>
                </a:lnSpc>
              </a:pPr>
              <a:r>
                <a:rPr lang="zh-CN" sz="1280" dirty="0">
                  <a:solidFill>
                    <a:srgbClr val="1F2937"/>
                  </a:solidFill>
                  <a:latin typeface="+mn-lt"/>
                  <a:ea typeface="+mn-ea"/>
                  <a:cs typeface="+mn-cs"/>
                </a:rPr>
                <a:t>别名 CSM（Centralized Shared-Memory）、SMP</a:t>
              </a:r>
              <a:br/>
              <a:r>
                <a:rPr lang="zh-CN" sz="1280" dirty="0">
                  <a:solidFill>
                    <a:srgbClr val="1F2937"/>
                  </a:solidFill>
                  <a:latin typeface="+mn-lt"/>
                  <a:ea typeface="+mn-ea"/>
                  <a:cs typeface="+mn-cs"/>
                </a:rPr>
                <a:t>（Symmetric）、UMA（Uniform Memory Access）</a:t>
              </a:r>
            </a:p>
          </p:txBody>
        </p:sp>
        <p:sp>
          <p:nvSpPr>
            <p:cNvPr id="52" name="Ellipse 52"/>
            <p:cNvSpPr/>
            <p:nvPr/>
          </p:nvSpPr>
          <p:spPr>
            <a:xfrm>
              <a:off x="762000" y="4813935"/>
              <a:ext cx="57150" cy="57150"/>
            </a:xfrm>
            <a:prstGeom prst="ellipse">
              <a:avLst/>
            </a:prstGeom>
            <a:solidFill>
              <a:srgbClr val="334E68"/>
            </a:solidFill>
            <a:ln>
              <a:noFill/>
            </a:ln>
          </p:spPr>
        </p:sp>
        <p:sp>
          <p:nvSpPr>
            <p:cNvPr id="53" name="TextBox 53"/>
            <p:cNvSpPr txBox="1"/>
            <p:nvPr/>
          </p:nvSpPr>
          <p:spPr>
            <a:xfrm>
              <a:off x="917448" y="4762024"/>
              <a:ext cx="4402074" cy="492252"/>
            </a:xfrm>
            <a:prstGeom prst="rect">
              <a:avLst/>
            </a:prstGeom>
            <a:noFill/>
            <a:ln>
              <a:noFill/>
            </a:ln>
          </p:spPr>
          <p:txBody>
            <a:bodyPr wrap="none" lIns="0" tIns="0" rIns="0" bIns="0" anchor="t" anchorCtr="0">
              <a:spAutoFit/>
            </a:bodyPr>
            <a:lstStyle/>
            <a:p>
              <a:pPr algn="l">
                <a:lnSpc>
                  <a:spcPts val="1912"/>
                </a:lnSpc>
              </a:pPr>
              <a:r>
                <a:rPr lang="zh-CN" sz="1280" dirty="0">
                  <a:solidFill>
                    <a:srgbClr val="1F2937"/>
                  </a:solidFill>
                  <a:latin typeface="+mn-lt"/>
                  <a:ea typeface="+mn-ea"/>
                  <a:cs typeface="+mn-cs"/>
                </a:rPr>
                <a:t>所有处理器经同一互连结构访问同一组存储器，访问时间相同</a:t>
              </a:r>
              <a:br/>
              <a:r>
                <a:rPr lang="zh-CN" sz="1280" dirty="0">
                  <a:solidFill>
                    <a:srgbClr val="1F2937"/>
                  </a:solidFill>
                  <a:latin typeface="+mn-lt"/>
                  <a:ea typeface="+mn-ea"/>
                  <a:cs typeface="+mn-cs"/>
                </a:rPr>
                <a:t>（均匀）</a:t>
              </a:r>
            </a:p>
          </p:txBody>
        </p:sp>
      </p:grpSp>
      <p:grpSp>
        <p:nvGrpSpPr>
          <p:cNvPr id="93" name="c2-graph-1"/>
          <p:cNvGrpSpPr/>
          <p:nvPr/>
        </p:nvGrpSpPr>
        <p:grpSpPr>
          <a:xfrm>
            <a:off x="6749415" y="1592580"/>
            <a:ext cx="4461509" cy="1852231"/>
            <a:chOff x="6749415" y="1592580"/>
            <a:chExt cx="4461509" cy="1852231"/>
          </a:xfrm>
        </p:grpSpPr>
        <p:sp>
          <p:nvSpPr>
            <p:cNvPr id="55" name="Freeform 55"/>
            <p:cNvSpPr/>
            <p:nvPr/>
          </p:nvSpPr>
          <p:spPr>
            <a:xfrm>
              <a:off x="7114222" y="1819275"/>
              <a:ext cx="9525" cy="178117"/>
            </a:xfrm>
            <a:custGeom>
              <a:avLst/>
              <a:gdLst/>
              <a:ahLst/>
              <a:cxnLst/>
              <a:rect l="l" t="t" r="r" b="b"/>
              <a:pathLst>
                <a:path w="9525" h="178117">
                  <a:moveTo>
                    <a:pt x="0" y="0"/>
                  </a:moveTo>
                  <a:lnTo>
                    <a:pt x="0" y="178117"/>
                  </a:lnTo>
                </a:path>
              </a:pathLst>
            </a:custGeom>
            <a:noFill/>
            <a:ln w="17145">
              <a:solidFill>
                <a:srgbClr val="1F2937"/>
              </a:solidFill>
            </a:ln>
          </p:spPr>
        </p:sp>
        <p:sp>
          <p:nvSpPr>
            <p:cNvPr id="56" name="Freeform 56"/>
            <p:cNvSpPr/>
            <p:nvPr/>
          </p:nvSpPr>
          <p:spPr>
            <a:xfrm>
              <a:off x="8358188" y="1819275"/>
              <a:ext cx="9525" cy="178117"/>
            </a:xfrm>
            <a:custGeom>
              <a:avLst/>
              <a:gdLst/>
              <a:ahLst/>
              <a:cxnLst/>
              <a:rect l="l" t="t" r="r" b="b"/>
              <a:pathLst>
                <a:path w="9525" h="178117">
                  <a:moveTo>
                    <a:pt x="0" y="0"/>
                  </a:moveTo>
                  <a:lnTo>
                    <a:pt x="0" y="178117"/>
                  </a:lnTo>
                </a:path>
              </a:pathLst>
            </a:custGeom>
            <a:noFill/>
            <a:ln w="17145">
              <a:solidFill>
                <a:srgbClr val="1F2937"/>
              </a:solidFill>
            </a:ln>
          </p:spPr>
        </p:sp>
        <p:sp>
          <p:nvSpPr>
            <p:cNvPr id="57" name="Freeform 57"/>
            <p:cNvSpPr/>
            <p:nvPr/>
          </p:nvSpPr>
          <p:spPr>
            <a:xfrm>
              <a:off x="9603105" y="1819275"/>
              <a:ext cx="9525" cy="178117"/>
            </a:xfrm>
            <a:custGeom>
              <a:avLst/>
              <a:gdLst/>
              <a:ahLst/>
              <a:cxnLst/>
              <a:rect l="l" t="t" r="r" b="b"/>
              <a:pathLst>
                <a:path w="9525" h="178117">
                  <a:moveTo>
                    <a:pt x="0" y="0"/>
                  </a:moveTo>
                  <a:lnTo>
                    <a:pt x="0" y="178117"/>
                  </a:lnTo>
                </a:path>
              </a:pathLst>
            </a:custGeom>
            <a:noFill/>
            <a:ln w="17145">
              <a:solidFill>
                <a:srgbClr val="1F2937"/>
              </a:solidFill>
            </a:ln>
          </p:spPr>
        </p:sp>
        <p:sp>
          <p:nvSpPr>
            <p:cNvPr id="58" name="Freeform 58"/>
            <p:cNvSpPr/>
            <p:nvPr/>
          </p:nvSpPr>
          <p:spPr>
            <a:xfrm>
              <a:off x="10847070" y="1819275"/>
              <a:ext cx="9525" cy="178117"/>
            </a:xfrm>
            <a:custGeom>
              <a:avLst/>
              <a:gdLst/>
              <a:ahLst/>
              <a:cxnLst/>
              <a:rect l="l" t="t" r="r" b="b"/>
              <a:pathLst>
                <a:path w="9525" h="178117">
                  <a:moveTo>
                    <a:pt x="0" y="0"/>
                  </a:moveTo>
                  <a:lnTo>
                    <a:pt x="0" y="178117"/>
                  </a:lnTo>
                </a:path>
              </a:pathLst>
            </a:custGeom>
            <a:noFill/>
            <a:ln w="17145">
              <a:solidFill>
                <a:srgbClr val="1F2937"/>
              </a:solidFill>
            </a:ln>
          </p:spPr>
        </p:sp>
        <p:sp>
          <p:nvSpPr>
            <p:cNvPr id="59" name="Freeform 59"/>
            <p:cNvSpPr/>
            <p:nvPr/>
          </p:nvSpPr>
          <p:spPr>
            <a:xfrm>
              <a:off x="7114222" y="2224088"/>
              <a:ext cx="9525" cy="300038"/>
            </a:xfrm>
            <a:custGeom>
              <a:avLst/>
              <a:gdLst/>
              <a:ahLst/>
              <a:cxnLst/>
              <a:rect l="l" t="t" r="r" b="b"/>
              <a:pathLst>
                <a:path w="9525" h="300038">
                  <a:moveTo>
                    <a:pt x="0" y="0"/>
                  </a:moveTo>
                  <a:lnTo>
                    <a:pt x="0" y="300038"/>
                  </a:lnTo>
                </a:path>
              </a:pathLst>
            </a:custGeom>
            <a:noFill/>
            <a:ln w="17145">
              <a:solidFill>
                <a:srgbClr val="1F2937"/>
              </a:solidFill>
            </a:ln>
          </p:spPr>
        </p:sp>
        <p:sp>
          <p:nvSpPr>
            <p:cNvPr id="60" name="Freeform 60"/>
            <p:cNvSpPr/>
            <p:nvPr/>
          </p:nvSpPr>
          <p:spPr>
            <a:xfrm>
              <a:off x="8358188" y="2224088"/>
              <a:ext cx="9525" cy="300038"/>
            </a:xfrm>
            <a:custGeom>
              <a:avLst/>
              <a:gdLst/>
              <a:ahLst/>
              <a:cxnLst/>
              <a:rect l="l" t="t" r="r" b="b"/>
              <a:pathLst>
                <a:path w="9525" h="300038">
                  <a:moveTo>
                    <a:pt x="0" y="0"/>
                  </a:moveTo>
                  <a:lnTo>
                    <a:pt x="0" y="300038"/>
                  </a:lnTo>
                </a:path>
              </a:pathLst>
            </a:custGeom>
            <a:noFill/>
            <a:ln w="17145">
              <a:solidFill>
                <a:srgbClr val="1F2937"/>
              </a:solidFill>
            </a:ln>
          </p:spPr>
        </p:sp>
        <p:sp>
          <p:nvSpPr>
            <p:cNvPr id="61" name="Freeform 61"/>
            <p:cNvSpPr/>
            <p:nvPr/>
          </p:nvSpPr>
          <p:spPr>
            <a:xfrm>
              <a:off x="9603105" y="2224088"/>
              <a:ext cx="9525" cy="300038"/>
            </a:xfrm>
            <a:custGeom>
              <a:avLst/>
              <a:gdLst/>
              <a:ahLst/>
              <a:cxnLst/>
              <a:rect l="l" t="t" r="r" b="b"/>
              <a:pathLst>
                <a:path w="9525" h="300038">
                  <a:moveTo>
                    <a:pt x="0" y="0"/>
                  </a:moveTo>
                  <a:lnTo>
                    <a:pt x="0" y="300038"/>
                  </a:lnTo>
                </a:path>
              </a:pathLst>
            </a:custGeom>
            <a:noFill/>
            <a:ln w="17145">
              <a:solidFill>
                <a:srgbClr val="1F2937"/>
              </a:solidFill>
            </a:ln>
          </p:spPr>
        </p:sp>
        <p:sp>
          <p:nvSpPr>
            <p:cNvPr id="62" name="Freeform 62"/>
            <p:cNvSpPr/>
            <p:nvPr/>
          </p:nvSpPr>
          <p:spPr>
            <a:xfrm>
              <a:off x="10847070" y="2224088"/>
              <a:ext cx="9525" cy="300038"/>
            </a:xfrm>
            <a:custGeom>
              <a:avLst/>
              <a:gdLst/>
              <a:ahLst/>
              <a:cxnLst/>
              <a:rect l="l" t="t" r="r" b="b"/>
              <a:pathLst>
                <a:path w="9525" h="300038">
                  <a:moveTo>
                    <a:pt x="0" y="0"/>
                  </a:moveTo>
                  <a:lnTo>
                    <a:pt x="0" y="300038"/>
                  </a:lnTo>
                </a:path>
              </a:pathLst>
            </a:custGeom>
            <a:noFill/>
            <a:ln w="17145">
              <a:solidFill>
                <a:srgbClr val="1F2937"/>
              </a:solidFill>
            </a:ln>
          </p:spPr>
        </p:sp>
        <p:sp>
          <p:nvSpPr>
            <p:cNvPr id="63" name="Freeform 63"/>
            <p:cNvSpPr/>
            <p:nvPr/>
          </p:nvSpPr>
          <p:spPr>
            <a:xfrm>
              <a:off x="7114222" y="2750820"/>
              <a:ext cx="9525" cy="447675"/>
            </a:xfrm>
            <a:custGeom>
              <a:avLst/>
              <a:gdLst/>
              <a:ahLst/>
              <a:cxnLst/>
              <a:rect l="l" t="t" r="r" b="b"/>
              <a:pathLst>
                <a:path w="9525" h="447675">
                  <a:moveTo>
                    <a:pt x="0" y="0"/>
                  </a:moveTo>
                  <a:lnTo>
                    <a:pt x="0" y="447675"/>
                  </a:lnTo>
                </a:path>
              </a:pathLst>
            </a:custGeom>
            <a:noFill/>
            <a:ln w="17145">
              <a:solidFill>
                <a:srgbClr val="1F2937"/>
              </a:solidFill>
            </a:ln>
          </p:spPr>
        </p:sp>
        <p:sp>
          <p:nvSpPr>
            <p:cNvPr id="64" name="Freeform 64"/>
            <p:cNvSpPr/>
            <p:nvPr/>
          </p:nvSpPr>
          <p:spPr>
            <a:xfrm>
              <a:off x="8358188" y="2750820"/>
              <a:ext cx="9525" cy="447675"/>
            </a:xfrm>
            <a:custGeom>
              <a:avLst/>
              <a:gdLst/>
              <a:ahLst/>
              <a:cxnLst/>
              <a:rect l="l" t="t" r="r" b="b"/>
              <a:pathLst>
                <a:path w="9525" h="447675">
                  <a:moveTo>
                    <a:pt x="0" y="0"/>
                  </a:moveTo>
                  <a:lnTo>
                    <a:pt x="0" y="447675"/>
                  </a:lnTo>
                </a:path>
              </a:pathLst>
            </a:custGeom>
            <a:noFill/>
            <a:ln w="17145">
              <a:solidFill>
                <a:srgbClr val="1F2937"/>
              </a:solidFill>
            </a:ln>
          </p:spPr>
        </p:sp>
        <p:sp>
          <p:nvSpPr>
            <p:cNvPr id="65" name="Freeform 65"/>
            <p:cNvSpPr/>
            <p:nvPr/>
          </p:nvSpPr>
          <p:spPr>
            <a:xfrm>
              <a:off x="9603105" y="2750820"/>
              <a:ext cx="9525" cy="447675"/>
            </a:xfrm>
            <a:custGeom>
              <a:avLst/>
              <a:gdLst/>
              <a:ahLst/>
              <a:cxnLst/>
              <a:rect l="l" t="t" r="r" b="b"/>
              <a:pathLst>
                <a:path w="9525" h="447675">
                  <a:moveTo>
                    <a:pt x="0" y="0"/>
                  </a:moveTo>
                  <a:lnTo>
                    <a:pt x="0" y="447675"/>
                  </a:lnTo>
                </a:path>
              </a:pathLst>
            </a:custGeom>
            <a:noFill/>
            <a:ln w="17145">
              <a:solidFill>
                <a:srgbClr val="1F2937"/>
              </a:solidFill>
            </a:ln>
          </p:spPr>
        </p:sp>
        <p:sp>
          <p:nvSpPr>
            <p:cNvPr id="66" name="Freeform 66"/>
            <p:cNvSpPr/>
            <p:nvPr/>
          </p:nvSpPr>
          <p:spPr>
            <a:xfrm>
              <a:off x="10847070" y="2750820"/>
              <a:ext cx="9525" cy="447675"/>
            </a:xfrm>
            <a:custGeom>
              <a:avLst/>
              <a:gdLst/>
              <a:ahLst/>
              <a:cxnLst/>
              <a:rect l="l" t="t" r="r" b="b"/>
              <a:pathLst>
                <a:path w="9525" h="447675">
                  <a:moveTo>
                    <a:pt x="0" y="0"/>
                  </a:moveTo>
                  <a:lnTo>
                    <a:pt x="0" y="447675"/>
                  </a:lnTo>
                </a:path>
              </a:pathLst>
            </a:custGeom>
            <a:noFill/>
            <a:ln w="17145">
              <a:solidFill>
                <a:srgbClr val="1F2937"/>
              </a:solidFill>
            </a:ln>
          </p:spPr>
        </p:sp>
        <p:sp>
          <p:nvSpPr>
            <p:cNvPr id="67" name="Rectangle 67"/>
            <p:cNvSpPr/>
            <p:nvPr/>
          </p:nvSpPr>
          <p:spPr>
            <a:xfrm>
              <a:off x="6848475" y="3191828"/>
              <a:ext cx="4210050" cy="226695"/>
            </a:xfrm>
            <a:prstGeom prst="roundRect">
              <a:avLst>
                <a:gd name="adj" fmla="val 42017"/>
              </a:avLst>
            </a:prstGeom>
            <a:solidFill>
              <a:srgbClr val="FDEEE7"/>
            </a:solidFill>
            <a:ln w="17145">
              <a:solidFill>
                <a:srgbClr val="F26B3A"/>
              </a:solidFill>
            </a:ln>
          </p:spPr>
        </p:sp>
        <p:sp>
          <p:nvSpPr>
            <p:cNvPr id="68" name="Rectangle 68"/>
            <p:cNvSpPr/>
            <p:nvPr/>
          </p:nvSpPr>
          <p:spPr>
            <a:xfrm>
              <a:off x="6749415" y="1592580"/>
              <a:ext cx="728662" cy="226695"/>
            </a:xfrm>
            <a:prstGeom prst="roundRect">
              <a:avLst>
                <a:gd name="adj" fmla="val 42017"/>
              </a:avLst>
            </a:prstGeom>
            <a:solidFill>
              <a:srgbClr val="334E68"/>
            </a:solidFill>
            <a:ln w="17145">
              <a:solidFill>
                <a:srgbClr val="334E68"/>
              </a:solidFill>
            </a:ln>
          </p:spPr>
        </p:sp>
        <p:sp>
          <p:nvSpPr>
            <p:cNvPr id="69" name="Rectangle 69"/>
            <p:cNvSpPr/>
            <p:nvPr/>
          </p:nvSpPr>
          <p:spPr>
            <a:xfrm>
              <a:off x="7994332" y="1592580"/>
              <a:ext cx="728662" cy="226695"/>
            </a:xfrm>
            <a:prstGeom prst="roundRect">
              <a:avLst>
                <a:gd name="adj" fmla="val 42017"/>
              </a:avLst>
            </a:prstGeom>
            <a:solidFill>
              <a:srgbClr val="334E68"/>
            </a:solidFill>
            <a:ln w="17145">
              <a:solidFill>
                <a:srgbClr val="334E68"/>
              </a:solidFill>
            </a:ln>
          </p:spPr>
        </p:sp>
        <p:sp>
          <p:nvSpPr>
            <p:cNvPr id="70" name="Rectangle 70"/>
            <p:cNvSpPr/>
            <p:nvPr/>
          </p:nvSpPr>
          <p:spPr>
            <a:xfrm>
              <a:off x="9238298" y="1592580"/>
              <a:ext cx="728662" cy="226695"/>
            </a:xfrm>
            <a:prstGeom prst="roundRect">
              <a:avLst>
                <a:gd name="adj" fmla="val 42017"/>
              </a:avLst>
            </a:prstGeom>
            <a:solidFill>
              <a:srgbClr val="334E68"/>
            </a:solidFill>
            <a:ln w="17145">
              <a:solidFill>
                <a:srgbClr val="334E68"/>
              </a:solidFill>
            </a:ln>
          </p:spPr>
        </p:sp>
        <p:sp>
          <p:nvSpPr>
            <p:cNvPr id="71" name="Rectangle 71"/>
            <p:cNvSpPr/>
            <p:nvPr/>
          </p:nvSpPr>
          <p:spPr>
            <a:xfrm>
              <a:off x="10482262" y="1592580"/>
              <a:ext cx="728662" cy="226695"/>
            </a:xfrm>
            <a:prstGeom prst="roundRect">
              <a:avLst>
                <a:gd name="adj" fmla="val 42017"/>
              </a:avLst>
            </a:prstGeom>
            <a:solidFill>
              <a:srgbClr val="334E68"/>
            </a:solidFill>
            <a:ln w="17145">
              <a:solidFill>
                <a:srgbClr val="334E68"/>
              </a:solidFill>
            </a:ln>
          </p:spPr>
        </p:sp>
        <p:sp>
          <p:nvSpPr>
            <p:cNvPr id="72" name="Rectangle 72"/>
            <p:cNvSpPr/>
            <p:nvPr/>
          </p:nvSpPr>
          <p:spPr>
            <a:xfrm>
              <a:off x="6749415" y="1997392"/>
              <a:ext cx="728662" cy="226695"/>
            </a:xfrm>
            <a:prstGeom prst="roundRect">
              <a:avLst>
                <a:gd name="adj" fmla="val 42017"/>
              </a:avLst>
            </a:prstGeom>
            <a:solidFill>
              <a:srgbClr val="E7EDF3"/>
            </a:solidFill>
            <a:ln w="17145">
              <a:solidFill>
                <a:srgbClr val="334E68"/>
              </a:solidFill>
            </a:ln>
          </p:spPr>
        </p:sp>
        <p:sp>
          <p:nvSpPr>
            <p:cNvPr id="73" name="Rectangle 73"/>
            <p:cNvSpPr/>
            <p:nvPr/>
          </p:nvSpPr>
          <p:spPr>
            <a:xfrm>
              <a:off x="7994332" y="1997392"/>
              <a:ext cx="728662" cy="226695"/>
            </a:xfrm>
            <a:prstGeom prst="roundRect">
              <a:avLst>
                <a:gd name="adj" fmla="val 42017"/>
              </a:avLst>
            </a:prstGeom>
            <a:solidFill>
              <a:srgbClr val="E7EDF3"/>
            </a:solidFill>
            <a:ln w="17145">
              <a:solidFill>
                <a:srgbClr val="334E68"/>
              </a:solidFill>
            </a:ln>
          </p:spPr>
        </p:sp>
        <p:sp>
          <p:nvSpPr>
            <p:cNvPr id="74" name="Rectangle 74"/>
            <p:cNvSpPr/>
            <p:nvPr/>
          </p:nvSpPr>
          <p:spPr>
            <a:xfrm>
              <a:off x="9238298" y="1997392"/>
              <a:ext cx="728662" cy="226695"/>
            </a:xfrm>
            <a:prstGeom prst="roundRect">
              <a:avLst>
                <a:gd name="adj" fmla="val 42017"/>
              </a:avLst>
            </a:prstGeom>
            <a:solidFill>
              <a:srgbClr val="E7EDF3"/>
            </a:solidFill>
            <a:ln w="17145">
              <a:solidFill>
                <a:srgbClr val="334E68"/>
              </a:solidFill>
            </a:ln>
          </p:spPr>
        </p:sp>
        <p:sp>
          <p:nvSpPr>
            <p:cNvPr id="75" name="Rectangle 75"/>
            <p:cNvSpPr/>
            <p:nvPr/>
          </p:nvSpPr>
          <p:spPr>
            <a:xfrm>
              <a:off x="10482262" y="1997392"/>
              <a:ext cx="728662" cy="226695"/>
            </a:xfrm>
            <a:prstGeom prst="roundRect">
              <a:avLst>
                <a:gd name="adj" fmla="val 42017"/>
              </a:avLst>
            </a:prstGeom>
            <a:solidFill>
              <a:srgbClr val="E7EDF3"/>
            </a:solidFill>
            <a:ln w="17145">
              <a:solidFill>
                <a:srgbClr val="334E68"/>
              </a:solidFill>
            </a:ln>
          </p:spPr>
        </p:sp>
        <p:sp>
          <p:nvSpPr>
            <p:cNvPr id="76" name="Rectangle 76"/>
            <p:cNvSpPr/>
            <p:nvPr/>
          </p:nvSpPr>
          <p:spPr>
            <a:xfrm>
              <a:off x="6749415" y="2524125"/>
              <a:ext cx="728662" cy="226695"/>
            </a:xfrm>
            <a:prstGeom prst="roundRect">
              <a:avLst>
                <a:gd name="adj" fmla="val 42017"/>
              </a:avLst>
            </a:prstGeom>
            <a:solidFill>
              <a:srgbClr val="FFFFFF"/>
            </a:solidFill>
            <a:ln w="17145">
              <a:solidFill>
                <a:srgbClr val="334E68"/>
              </a:solidFill>
            </a:ln>
          </p:spPr>
        </p:sp>
        <p:sp>
          <p:nvSpPr>
            <p:cNvPr id="77" name="Rectangle 77"/>
            <p:cNvSpPr/>
            <p:nvPr/>
          </p:nvSpPr>
          <p:spPr>
            <a:xfrm>
              <a:off x="7994332" y="2524125"/>
              <a:ext cx="728662" cy="226695"/>
            </a:xfrm>
            <a:prstGeom prst="roundRect">
              <a:avLst>
                <a:gd name="adj" fmla="val 42017"/>
              </a:avLst>
            </a:prstGeom>
            <a:solidFill>
              <a:srgbClr val="FFFFFF"/>
            </a:solidFill>
            <a:ln w="17145">
              <a:solidFill>
                <a:srgbClr val="334E68"/>
              </a:solidFill>
            </a:ln>
          </p:spPr>
        </p:sp>
        <p:sp>
          <p:nvSpPr>
            <p:cNvPr id="78" name="Rectangle 78"/>
            <p:cNvSpPr/>
            <p:nvPr/>
          </p:nvSpPr>
          <p:spPr>
            <a:xfrm>
              <a:off x="9238298" y="2524125"/>
              <a:ext cx="728662" cy="226695"/>
            </a:xfrm>
            <a:prstGeom prst="roundRect">
              <a:avLst>
                <a:gd name="adj" fmla="val 42017"/>
              </a:avLst>
            </a:prstGeom>
            <a:solidFill>
              <a:srgbClr val="FFFFFF"/>
            </a:solidFill>
            <a:ln w="17145">
              <a:solidFill>
                <a:srgbClr val="334E68"/>
              </a:solidFill>
            </a:ln>
          </p:spPr>
        </p:sp>
        <p:sp>
          <p:nvSpPr>
            <p:cNvPr id="79" name="Rectangle 79"/>
            <p:cNvSpPr/>
            <p:nvPr/>
          </p:nvSpPr>
          <p:spPr>
            <a:xfrm>
              <a:off x="10482262" y="2524125"/>
              <a:ext cx="728662" cy="226695"/>
            </a:xfrm>
            <a:prstGeom prst="roundRect">
              <a:avLst>
                <a:gd name="adj" fmla="val 42017"/>
              </a:avLst>
            </a:prstGeom>
            <a:solidFill>
              <a:srgbClr val="FFFFFF"/>
            </a:solidFill>
            <a:ln w="17145">
              <a:solidFill>
                <a:srgbClr val="334E68"/>
              </a:solidFill>
            </a:ln>
          </p:spPr>
        </p:sp>
        <p:sp>
          <p:nvSpPr>
            <p:cNvPr id="80" name="TextBox 80"/>
            <p:cNvSpPr txBox="1"/>
            <p:nvPr/>
          </p:nvSpPr>
          <p:spPr>
            <a:xfrm>
              <a:off x="8665464" y="3239452"/>
              <a:ext cx="576072" cy="205359"/>
            </a:xfrm>
            <a:prstGeom prst="rect">
              <a:avLst/>
            </a:prstGeom>
            <a:noFill/>
            <a:ln>
              <a:noFill/>
            </a:ln>
          </p:spPr>
          <p:txBody>
            <a:bodyPr wrap="none" lIns="0" tIns="0" rIns="0" bIns="0" anchor="t" anchorCtr="0">
              <a:spAutoFit/>
            </a:bodyPr>
            <a:lstStyle/>
            <a:p>
              <a:pPr algn="ctr"/>
              <a:r>
                <a:rPr lang="zh-CN" sz="1050" b="1" dirty="0">
                  <a:solidFill>
                    <a:srgbClr val="1F2937"/>
                  </a:solidFill>
                  <a:latin typeface="+mn-lt"/>
                  <a:ea typeface="+mn-ea"/>
                  <a:cs typeface="+mn-cs"/>
                </a:rPr>
                <a:t>互连结构</a:t>
              </a:r>
            </a:p>
          </p:txBody>
        </p:sp>
        <p:sp>
          <p:nvSpPr>
            <p:cNvPr id="81" name="TextBox 81"/>
            <p:cNvSpPr txBox="1"/>
            <p:nvPr/>
          </p:nvSpPr>
          <p:spPr>
            <a:xfrm>
              <a:off x="6979512" y="1641157"/>
              <a:ext cx="269420" cy="205359"/>
            </a:xfrm>
            <a:prstGeom prst="rect">
              <a:avLst/>
            </a:prstGeom>
            <a:noFill/>
            <a:ln>
              <a:noFill/>
            </a:ln>
          </p:spPr>
          <p:txBody>
            <a:bodyPr wrap="none" lIns="0" tIns="0" rIns="0" bIns="0" anchor="t" anchorCtr="0">
              <a:spAutoFit/>
            </a:bodyPr>
            <a:lstStyle/>
            <a:p>
              <a:pPr algn="ctr"/>
              <a:r>
                <a:rPr lang="en-US" sz="1050" b="1" dirty="0">
                  <a:solidFill>
                    <a:srgbClr val="FFFFFF"/>
                  </a:solidFill>
                  <a:latin typeface="+mn-lt"/>
                  <a:ea typeface="+mn-ea"/>
                  <a:cs typeface="+mn-cs"/>
                </a:rPr>
                <a:t>CPU</a:t>
              </a:r>
            </a:p>
          </p:txBody>
        </p:sp>
        <p:sp>
          <p:nvSpPr>
            <p:cNvPr id="82" name="TextBox 82"/>
            <p:cNvSpPr txBox="1"/>
            <p:nvPr/>
          </p:nvSpPr>
          <p:spPr>
            <a:xfrm>
              <a:off x="8223477" y="1641157"/>
              <a:ext cx="269420" cy="205359"/>
            </a:xfrm>
            <a:prstGeom prst="rect">
              <a:avLst/>
            </a:prstGeom>
            <a:noFill/>
            <a:ln>
              <a:noFill/>
            </a:ln>
          </p:spPr>
          <p:txBody>
            <a:bodyPr wrap="none" lIns="0" tIns="0" rIns="0" bIns="0" anchor="t" anchorCtr="0">
              <a:spAutoFit/>
            </a:bodyPr>
            <a:lstStyle/>
            <a:p>
              <a:pPr algn="ctr"/>
              <a:r>
                <a:rPr lang="en-US" sz="1050" b="1" dirty="0">
                  <a:solidFill>
                    <a:srgbClr val="FFFFFF"/>
                  </a:solidFill>
                  <a:latin typeface="+mn-lt"/>
                  <a:ea typeface="+mn-ea"/>
                  <a:cs typeface="+mn-cs"/>
                </a:rPr>
                <a:t>CPU</a:t>
              </a:r>
            </a:p>
          </p:txBody>
        </p:sp>
        <p:sp>
          <p:nvSpPr>
            <p:cNvPr id="83" name="TextBox 83"/>
            <p:cNvSpPr txBox="1"/>
            <p:nvPr/>
          </p:nvSpPr>
          <p:spPr>
            <a:xfrm>
              <a:off x="9468395" y="1641157"/>
              <a:ext cx="269420" cy="205359"/>
            </a:xfrm>
            <a:prstGeom prst="rect">
              <a:avLst/>
            </a:prstGeom>
            <a:noFill/>
            <a:ln>
              <a:noFill/>
            </a:ln>
          </p:spPr>
          <p:txBody>
            <a:bodyPr wrap="none" lIns="0" tIns="0" rIns="0" bIns="0" anchor="t" anchorCtr="0">
              <a:spAutoFit/>
            </a:bodyPr>
            <a:lstStyle/>
            <a:p>
              <a:pPr algn="ctr"/>
              <a:r>
                <a:rPr lang="en-US" sz="1050" b="1" dirty="0">
                  <a:solidFill>
                    <a:srgbClr val="FFFFFF"/>
                  </a:solidFill>
                  <a:latin typeface="+mn-lt"/>
                  <a:ea typeface="+mn-ea"/>
                  <a:cs typeface="+mn-cs"/>
                </a:rPr>
                <a:t>CPU</a:t>
              </a:r>
            </a:p>
          </p:txBody>
        </p:sp>
        <p:sp>
          <p:nvSpPr>
            <p:cNvPr id="84" name="TextBox 84"/>
            <p:cNvSpPr txBox="1"/>
            <p:nvPr/>
          </p:nvSpPr>
          <p:spPr>
            <a:xfrm>
              <a:off x="10712360" y="1641157"/>
              <a:ext cx="269420" cy="205359"/>
            </a:xfrm>
            <a:prstGeom prst="rect">
              <a:avLst/>
            </a:prstGeom>
            <a:noFill/>
            <a:ln>
              <a:noFill/>
            </a:ln>
          </p:spPr>
          <p:txBody>
            <a:bodyPr wrap="none" lIns="0" tIns="0" rIns="0" bIns="0" anchor="t" anchorCtr="0">
              <a:spAutoFit/>
            </a:bodyPr>
            <a:lstStyle/>
            <a:p>
              <a:pPr algn="ctr"/>
              <a:r>
                <a:rPr lang="en-US" sz="1050" b="1" dirty="0">
                  <a:solidFill>
                    <a:srgbClr val="FFFFFF"/>
                  </a:solidFill>
                  <a:latin typeface="+mn-lt"/>
                  <a:ea typeface="+mn-ea"/>
                  <a:cs typeface="+mn-cs"/>
                </a:rPr>
                <a:t>CPU</a:t>
              </a:r>
            </a:p>
          </p:txBody>
        </p:sp>
        <p:sp>
          <p:nvSpPr>
            <p:cNvPr id="85" name="TextBox 85"/>
            <p:cNvSpPr txBox="1"/>
            <p:nvPr/>
          </p:nvSpPr>
          <p:spPr>
            <a:xfrm>
              <a:off x="6902503" y="2045970"/>
              <a:ext cx="423440" cy="205359"/>
            </a:xfrm>
            <a:prstGeom prst="rect">
              <a:avLst/>
            </a:prstGeom>
            <a:noFill/>
            <a:ln>
              <a:noFill/>
            </a:ln>
          </p:spPr>
          <p:txBody>
            <a:bodyPr wrap="none" lIns="0" tIns="0" rIns="0" bIns="0" anchor="t" anchorCtr="0">
              <a:spAutoFit/>
            </a:bodyPr>
            <a:lstStyle/>
            <a:p>
              <a:pPr algn="ctr"/>
              <a:r>
                <a:rPr lang="en-US" sz="1050" b="1" dirty="0">
                  <a:solidFill>
                    <a:srgbClr val="243B53"/>
                  </a:solidFill>
                  <a:latin typeface="+mn-lt"/>
                  <a:ea typeface="+mn-ea"/>
                  <a:cs typeface="+mn-cs"/>
                </a:rPr>
                <a:t>Cache</a:t>
              </a:r>
            </a:p>
          </p:txBody>
        </p:sp>
        <p:sp>
          <p:nvSpPr>
            <p:cNvPr id="86" name="TextBox 86"/>
            <p:cNvSpPr txBox="1"/>
            <p:nvPr/>
          </p:nvSpPr>
          <p:spPr>
            <a:xfrm>
              <a:off x="8146468" y="2045970"/>
              <a:ext cx="423440" cy="205359"/>
            </a:xfrm>
            <a:prstGeom prst="rect">
              <a:avLst/>
            </a:prstGeom>
            <a:noFill/>
            <a:ln>
              <a:noFill/>
            </a:ln>
          </p:spPr>
          <p:txBody>
            <a:bodyPr wrap="none" lIns="0" tIns="0" rIns="0" bIns="0" anchor="t" anchorCtr="0">
              <a:spAutoFit/>
            </a:bodyPr>
            <a:lstStyle/>
            <a:p>
              <a:pPr algn="ctr"/>
              <a:r>
                <a:rPr lang="en-US" sz="1050" b="1" dirty="0">
                  <a:solidFill>
                    <a:srgbClr val="243B53"/>
                  </a:solidFill>
                  <a:latin typeface="+mn-lt"/>
                  <a:ea typeface="+mn-ea"/>
                  <a:cs typeface="+mn-cs"/>
                </a:rPr>
                <a:t>Cache</a:t>
              </a:r>
            </a:p>
          </p:txBody>
        </p:sp>
        <p:sp>
          <p:nvSpPr>
            <p:cNvPr id="87" name="TextBox 87"/>
            <p:cNvSpPr txBox="1"/>
            <p:nvPr/>
          </p:nvSpPr>
          <p:spPr>
            <a:xfrm>
              <a:off x="9391385" y="2045970"/>
              <a:ext cx="423440" cy="205359"/>
            </a:xfrm>
            <a:prstGeom prst="rect">
              <a:avLst/>
            </a:prstGeom>
            <a:noFill/>
            <a:ln>
              <a:noFill/>
            </a:ln>
          </p:spPr>
          <p:txBody>
            <a:bodyPr wrap="none" lIns="0" tIns="0" rIns="0" bIns="0" anchor="t" anchorCtr="0">
              <a:spAutoFit/>
            </a:bodyPr>
            <a:lstStyle/>
            <a:p>
              <a:pPr algn="ctr"/>
              <a:r>
                <a:rPr lang="en-US" sz="1050" b="1" dirty="0">
                  <a:solidFill>
                    <a:srgbClr val="243B53"/>
                  </a:solidFill>
                  <a:latin typeface="+mn-lt"/>
                  <a:ea typeface="+mn-ea"/>
                  <a:cs typeface="+mn-cs"/>
                </a:rPr>
                <a:t>Cache</a:t>
              </a:r>
            </a:p>
          </p:txBody>
        </p:sp>
        <p:sp>
          <p:nvSpPr>
            <p:cNvPr id="88" name="TextBox 88"/>
            <p:cNvSpPr txBox="1"/>
            <p:nvPr/>
          </p:nvSpPr>
          <p:spPr>
            <a:xfrm>
              <a:off x="10635350" y="2045970"/>
              <a:ext cx="423440" cy="205359"/>
            </a:xfrm>
            <a:prstGeom prst="rect">
              <a:avLst/>
            </a:prstGeom>
            <a:noFill/>
            <a:ln>
              <a:noFill/>
            </a:ln>
          </p:spPr>
          <p:txBody>
            <a:bodyPr wrap="none" lIns="0" tIns="0" rIns="0" bIns="0" anchor="t" anchorCtr="0">
              <a:spAutoFit/>
            </a:bodyPr>
            <a:lstStyle/>
            <a:p>
              <a:pPr algn="ctr"/>
              <a:r>
                <a:rPr lang="en-US" sz="1050" b="1" dirty="0">
                  <a:solidFill>
                    <a:srgbClr val="243B53"/>
                  </a:solidFill>
                  <a:latin typeface="+mn-lt"/>
                  <a:ea typeface="+mn-ea"/>
                  <a:cs typeface="+mn-cs"/>
                </a:rPr>
                <a:t>Cache</a:t>
              </a:r>
            </a:p>
          </p:txBody>
        </p:sp>
        <p:sp>
          <p:nvSpPr>
            <p:cNvPr id="89" name="TextBox 89"/>
            <p:cNvSpPr txBox="1"/>
            <p:nvPr/>
          </p:nvSpPr>
          <p:spPr>
            <a:xfrm>
              <a:off x="6896862" y="2571750"/>
              <a:ext cx="434721" cy="205359"/>
            </a:xfrm>
            <a:prstGeom prst="rect">
              <a:avLst/>
            </a:prstGeom>
            <a:noFill/>
            <a:ln>
              <a:noFill/>
            </a:ln>
          </p:spPr>
          <p:txBody>
            <a:bodyPr wrap="none" lIns="0" tIns="0" rIns="0" bIns="0" anchor="t" anchorCtr="0">
              <a:spAutoFit/>
            </a:bodyPr>
            <a:lstStyle/>
            <a:p>
              <a:pPr algn="ctr"/>
              <a:r>
                <a:rPr lang="zh-CN" sz="1050" b="1" dirty="0">
                  <a:solidFill>
                    <a:srgbClr val="1F2937"/>
                  </a:solidFill>
                  <a:latin typeface="+mn-lt"/>
                  <a:ea typeface="+mn-ea"/>
                  <a:cs typeface="+mn-cs"/>
                </a:rPr>
                <a:t>存储器</a:t>
              </a:r>
            </a:p>
          </p:txBody>
        </p:sp>
        <p:sp>
          <p:nvSpPr>
            <p:cNvPr id="90" name="TextBox 90"/>
            <p:cNvSpPr txBox="1"/>
            <p:nvPr/>
          </p:nvSpPr>
          <p:spPr>
            <a:xfrm>
              <a:off x="8140827" y="2571750"/>
              <a:ext cx="434721" cy="205359"/>
            </a:xfrm>
            <a:prstGeom prst="rect">
              <a:avLst/>
            </a:prstGeom>
            <a:noFill/>
            <a:ln>
              <a:noFill/>
            </a:ln>
          </p:spPr>
          <p:txBody>
            <a:bodyPr wrap="none" lIns="0" tIns="0" rIns="0" bIns="0" anchor="t" anchorCtr="0">
              <a:spAutoFit/>
            </a:bodyPr>
            <a:lstStyle/>
            <a:p>
              <a:pPr algn="ctr"/>
              <a:r>
                <a:rPr lang="zh-CN" sz="1050" b="1" dirty="0">
                  <a:solidFill>
                    <a:srgbClr val="1F2937"/>
                  </a:solidFill>
                  <a:latin typeface="+mn-lt"/>
                  <a:ea typeface="+mn-ea"/>
                  <a:cs typeface="+mn-cs"/>
                </a:rPr>
                <a:t>存储器</a:t>
              </a:r>
            </a:p>
          </p:txBody>
        </p:sp>
        <p:sp>
          <p:nvSpPr>
            <p:cNvPr id="91" name="TextBox 91"/>
            <p:cNvSpPr txBox="1"/>
            <p:nvPr/>
          </p:nvSpPr>
          <p:spPr>
            <a:xfrm>
              <a:off x="9385745" y="2571750"/>
              <a:ext cx="434721" cy="205359"/>
            </a:xfrm>
            <a:prstGeom prst="rect">
              <a:avLst/>
            </a:prstGeom>
            <a:noFill/>
            <a:ln>
              <a:noFill/>
            </a:ln>
          </p:spPr>
          <p:txBody>
            <a:bodyPr wrap="none" lIns="0" tIns="0" rIns="0" bIns="0" anchor="t" anchorCtr="0">
              <a:spAutoFit/>
            </a:bodyPr>
            <a:lstStyle/>
            <a:p>
              <a:pPr algn="ctr"/>
              <a:r>
                <a:rPr lang="zh-CN" sz="1050" b="1" dirty="0">
                  <a:solidFill>
                    <a:srgbClr val="1F2937"/>
                  </a:solidFill>
                  <a:latin typeface="+mn-lt"/>
                  <a:ea typeface="+mn-ea"/>
                  <a:cs typeface="+mn-cs"/>
                </a:rPr>
                <a:t>存储器</a:t>
              </a:r>
            </a:p>
          </p:txBody>
        </p:sp>
        <p:sp>
          <p:nvSpPr>
            <p:cNvPr id="92" name="TextBox 92"/>
            <p:cNvSpPr txBox="1"/>
            <p:nvPr/>
          </p:nvSpPr>
          <p:spPr>
            <a:xfrm>
              <a:off x="10629710" y="2571750"/>
              <a:ext cx="434721" cy="205359"/>
            </a:xfrm>
            <a:prstGeom prst="rect">
              <a:avLst/>
            </a:prstGeom>
            <a:noFill/>
            <a:ln>
              <a:noFill/>
            </a:ln>
          </p:spPr>
          <p:txBody>
            <a:bodyPr wrap="none" lIns="0" tIns="0" rIns="0" bIns="0" anchor="t" anchorCtr="0">
              <a:spAutoFit/>
            </a:bodyPr>
            <a:lstStyle/>
            <a:p>
              <a:pPr algn="ctr"/>
              <a:r>
                <a:rPr lang="zh-CN" sz="1050" b="1" dirty="0">
                  <a:solidFill>
                    <a:srgbClr val="1F2937"/>
                  </a:solidFill>
                  <a:latin typeface="+mn-lt"/>
                  <a:ea typeface="+mn-ea"/>
                  <a:cs typeface="+mn-cs"/>
                </a:rPr>
                <a:t>存储器</a:t>
              </a:r>
            </a:p>
          </p:txBody>
        </p:sp>
      </p:grpSp>
      <p:grpSp>
        <p:nvGrpSpPr>
          <p:cNvPr id="102" name="c2-card-2"/>
          <p:cNvGrpSpPr/>
          <p:nvPr/>
        </p:nvGrpSpPr>
        <p:grpSpPr>
          <a:xfrm>
            <a:off x="6248400" y="3712845"/>
            <a:ext cx="5410200" cy="1671638"/>
            <a:chOff x="6248400" y="3712845"/>
            <a:chExt cx="5410200" cy="1671638"/>
          </a:xfrm>
        </p:grpSpPr>
        <p:sp>
          <p:nvSpPr>
            <p:cNvPr id="94" name="Rectangle 94"/>
            <p:cNvSpPr/>
            <p:nvPr/>
          </p:nvSpPr>
          <p:spPr>
            <a:xfrm>
              <a:off x="6248400" y="3712845"/>
              <a:ext cx="5410200" cy="1671638"/>
            </a:xfrm>
            <a:prstGeom prst="roundRect">
              <a:avLst>
                <a:gd name="adj" fmla="val 7977"/>
              </a:avLst>
            </a:prstGeom>
            <a:solidFill>
              <a:srgbClr val="FFFFFF"/>
            </a:solidFill>
            <a:ln w="14288">
              <a:solidFill>
                <a:srgbClr val="D9DFEA"/>
              </a:solidFill>
            </a:ln>
          </p:spPr>
        </p:sp>
        <p:sp>
          <p:nvSpPr>
            <p:cNvPr id="95" name="Rectangle 95"/>
            <p:cNvSpPr/>
            <p:nvPr/>
          </p:nvSpPr>
          <p:spPr>
            <a:xfrm>
              <a:off x="6257925" y="3846195"/>
              <a:ext cx="47625" cy="1404938"/>
            </a:xfrm>
            <a:prstGeom prst="roundRect">
              <a:avLst>
                <a:gd name="adj" fmla="val 50000"/>
              </a:avLst>
            </a:prstGeom>
            <a:solidFill>
              <a:srgbClr val="334E68"/>
            </a:solidFill>
            <a:ln>
              <a:noFill/>
            </a:ln>
          </p:spPr>
        </p:sp>
        <p:sp>
          <p:nvSpPr>
            <p:cNvPr id="96" name="Rectangle 96"/>
            <p:cNvSpPr/>
            <p:nvPr/>
          </p:nvSpPr>
          <p:spPr>
            <a:xfrm>
              <a:off x="6467475" y="3893820"/>
              <a:ext cx="1433512" cy="238125"/>
            </a:xfrm>
            <a:prstGeom prst="roundRect">
              <a:avLst>
                <a:gd name="adj" fmla="val 50000"/>
              </a:avLst>
            </a:prstGeom>
            <a:solidFill>
              <a:srgbClr val="E7EDF3"/>
            </a:solidFill>
            <a:ln>
              <a:noFill/>
            </a:ln>
          </p:spPr>
        </p:sp>
        <p:sp>
          <p:nvSpPr>
            <p:cNvPr id="97" name="TextBox 97"/>
            <p:cNvSpPr txBox="1"/>
            <p:nvPr/>
          </p:nvSpPr>
          <p:spPr>
            <a:xfrm>
              <a:off x="6520415" y="3926681"/>
              <a:ext cx="1328585" cy="190690"/>
            </a:xfrm>
            <a:prstGeom prst="rect">
              <a:avLst/>
            </a:prstGeom>
            <a:noFill/>
            <a:ln>
              <a:noFill/>
            </a:ln>
          </p:spPr>
          <p:txBody>
            <a:bodyPr wrap="none" lIns="0" tIns="0" rIns="0" bIns="0" anchor="t" anchorCtr="0">
              <a:spAutoFit/>
            </a:bodyPr>
            <a:lstStyle/>
            <a:p>
              <a:pPr algn="ctr"/>
              <a:r>
                <a:rPr lang="zh-CN" sz="980" b="1" dirty="0">
                  <a:solidFill>
                    <a:srgbClr val="334E68"/>
                  </a:solidFill>
                  <a:latin typeface="+mn-lt"/>
                  <a:ea typeface="+mn-ea"/>
                  <a:cs typeface="+mn-cs"/>
                </a:rPr>
                <a:t>NUMA 分布式共享存储</a:t>
              </a:r>
            </a:p>
          </p:txBody>
        </p:sp>
        <p:sp>
          <p:nvSpPr>
            <p:cNvPr id="98" name="Ellipse 98"/>
            <p:cNvSpPr/>
            <p:nvPr/>
          </p:nvSpPr>
          <p:spPr>
            <a:xfrm>
              <a:off x="6477000" y="4286250"/>
              <a:ext cx="57150" cy="57150"/>
            </a:xfrm>
            <a:prstGeom prst="ellipse">
              <a:avLst/>
            </a:prstGeom>
            <a:solidFill>
              <a:srgbClr val="334E68"/>
            </a:solidFill>
            <a:ln>
              <a:noFill/>
            </a:ln>
          </p:spPr>
        </p:sp>
        <p:sp>
          <p:nvSpPr>
            <p:cNvPr id="99" name="TextBox 99"/>
            <p:cNvSpPr txBox="1"/>
            <p:nvPr/>
          </p:nvSpPr>
          <p:spPr>
            <a:xfrm>
              <a:off x="6632448" y="4234339"/>
              <a:ext cx="4036314" cy="492252"/>
            </a:xfrm>
            <a:prstGeom prst="rect">
              <a:avLst/>
            </a:prstGeom>
            <a:noFill/>
            <a:ln>
              <a:noFill/>
            </a:ln>
          </p:spPr>
          <p:txBody>
            <a:bodyPr wrap="none" lIns="0" tIns="0" rIns="0" bIns="0" anchor="t" anchorCtr="0">
              <a:spAutoFit/>
            </a:bodyPr>
            <a:lstStyle/>
            <a:p>
              <a:pPr algn="l">
                <a:lnSpc>
                  <a:spcPts val="1912"/>
                </a:lnSpc>
              </a:pPr>
              <a:r>
                <a:rPr lang="zh-CN" sz="1280" dirty="0">
                  <a:solidFill>
                    <a:srgbClr val="1F2937"/>
                  </a:solidFill>
                  <a:latin typeface="+mn-lt"/>
                  <a:ea typeface="+mn-ea"/>
                  <a:cs typeface="+mn-cs"/>
                </a:rPr>
                <a:t>别名 DSM（Distributed Shared-Memory）、NUMA</a:t>
              </a:r>
              <a:br/>
              <a:r>
                <a:rPr lang="zh-CN" sz="1280" dirty="0">
                  <a:solidFill>
                    <a:srgbClr val="1F2937"/>
                  </a:solidFill>
                  <a:latin typeface="+mn-lt"/>
                  <a:ea typeface="+mn-ea"/>
                  <a:cs typeface="+mn-cs"/>
                </a:rPr>
                <a:t>（Non-Uniform Memory Access），原课件还列了 AMP</a:t>
              </a:r>
            </a:p>
          </p:txBody>
        </p:sp>
        <p:sp>
          <p:nvSpPr>
            <p:cNvPr id="100" name="Ellipse 100"/>
            <p:cNvSpPr/>
            <p:nvPr/>
          </p:nvSpPr>
          <p:spPr>
            <a:xfrm>
              <a:off x="6477000" y="4813935"/>
              <a:ext cx="57150" cy="57150"/>
            </a:xfrm>
            <a:prstGeom prst="ellipse">
              <a:avLst/>
            </a:prstGeom>
            <a:solidFill>
              <a:srgbClr val="334E68"/>
            </a:solidFill>
            <a:ln>
              <a:noFill/>
            </a:ln>
          </p:spPr>
        </p:sp>
        <p:sp>
          <p:nvSpPr>
            <p:cNvPr id="101" name="TextBox 101"/>
            <p:cNvSpPr txBox="1"/>
            <p:nvPr/>
          </p:nvSpPr>
          <p:spPr>
            <a:xfrm>
              <a:off x="6632448" y="4762024"/>
              <a:ext cx="4402074" cy="492252"/>
            </a:xfrm>
            <a:prstGeom prst="rect">
              <a:avLst/>
            </a:prstGeom>
            <a:noFill/>
            <a:ln>
              <a:noFill/>
            </a:ln>
          </p:spPr>
          <p:txBody>
            <a:bodyPr wrap="none" lIns="0" tIns="0" rIns="0" bIns="0" anchor="t" anchorCtr="0">
              <a:spAutoFit/>
            </a:bodyPr>
            <a:lstStyle/>
            <a:p>
              <a:pPr algn="l">
                <a:lnSpc>
                  <a:spcPts val="1912"/>
                </a:lnSpc>
              </a:pPr>
              <a:r>
                <a:rPr lang="zh-CN" sz="1280" dirty="0">
                  <a:solidFill>
                    <a:srgbClr val="1F2937"/>
                  </a:solidFill>
                  <a:latin typeface="+mn-lt"/>
                  <a:ea typeface="+mn-ea"/>
                  <a:cs typeface="+mn-cs"/>
                </a:rPr>
                <a:t>每个处理器旁有本地存储器，全部存储器统一编址；访问本地</a:t>
              </a:r>
              <a:br/>
              <a:r>
                <a:rPr lang="zh-CN" sz="1280" dirty="0">
                  <a:solidFill>
                    <a:srgbClr val="1F2937"/>
                  </a:solidFill>
                  <a:latin typeface="+mn-lt"/>
                  <a:ea typeface="+mn-ea"/>
                  <a:cs typeface="+mn-cs"/>
                </a:rPr>
                <a:t>快，经互连访问远程慢（非均匀）</a:t>
              </a:r>
            </a:p>
          </p:txBody>
        </p:sp>
      </p:grpSp>
      <p:grpSp>
        <p:nvGrpSpPr>
          <p:cNvPr id="109" name="takeaway"/>
          <p:cNvGrpSpPr/>
          <p:nvPr/>
        </p:nvGrpSpPr>
        <p:grpSpPr>
          <a:xfrm>
            <a:off x="533400" y="5895022"/>
            <a:ext cx="11125200" cy="467678"/>
            <a:chOff x="533400" y="5895022"/>
            <a:chExt cx="11125200" cy="467678"/>
          </a:xfrm>
        </p:grpSpPr>
        <p:sp>
          <p:nvSpPr>
            <p:cNvPr id="103" name="Rectangle 103"/>
            <p:cNvSpPr/>
            <p:nvPr/>
          </p:nvSpPr>
          <p:spPr>
            <a:xfrm>
              <a:off x="533400" y="5895022"/>
              <a:ext cx="11125200" cy="467678"/>
            </a:xfrm>
            <a:prstGeom prst="roundRect">
              <a:avLst>
                <a:gd name="adj" fmla="val 24440"/>
              </a:avLst>
            </a:prstGeom>
            <a:solidFill>
              <a:srgbClr val="FDEEE7"/>
            </a:solidFill>
            <a:ln>
              <a:noFill/>
            </a:ln>
          </p:spPr>
        </p:sp>
        <p:grpSp>
          <p:nvGrpSpPr>
            <p:cNvPr id="107" name="Group 107"/>
            <p:cNvGrpSpPr/>
            <p:nvPr/>
          </p:nvGrpSpPr>
          <p:grpSpPr>
            <a:xfrm>
              <a:off x="738188" y="6028373"/>
              <a:ext cx="200026" cy="200025"/>
              <a:chOff x="738188" y="6028373"/>
              <a:chExt cx="200026" cy="200025"/>
            </a:xfrm>
          </p:grpSpPr>
          <p:sp>
            <p:nvSpPr>
              <p:cNvPr id="104" name="Freeform 104"/>
              <p:cNvSpPr/>
              <p:nvPr/>
            </p:nvSpPr>
            <p:spPr>
              <a:xfrm>
                <a:off x="738188" y="6028373"/>
                <a:ext cx="200026" cy="100013"/>
              </a:xfrm>
              <a:custGeom>
                <a:avLst/>
                <a:gdLst/>
                <a:ahLst/>
                <a:cxnLst/>
                <a:rect l="l" t="t" r="r" b="b"/>
                <a:pathLst>
                  <a:path w="200026" h="100013">
                    <a:moveTo>
                      <a:pt x="0" y="100013"/>
                    </a:moveTo>
                    <a:lnTo>
                      <a:pt x="11113" y="100013"/>
                    </a:lnTo>
                    <a:moveTo>
                      <a:pt x="100013" y="0"/>
                    </a:moveTo>
                    <a:lnTo>
                      <a:pt x="100013" y="11113"/>
                    </a:lnTo>
                    <a:moveTo>
                      <a:pt x="188913" y="100013"/>
                    </a:moveTo>
                    <a:lnTo>
                      <a:pt x="200026" y="100013"/>
                    </a:lnTo>
                    <a:moveTo>
                      <a:pt x="28893" y="28893"/>
                    </a:moveTo>
                    <a:lnTo>
                      <a:pt x="36671" y="36671"/>
                    </a:lnTo>
                    <a:moveTo>
                      <a:pt x="171133" y="28893"/>
                    </a:moveTo>
                    <a:lnTo>
                      <a:pt x="163354" y="36671"/>
                    </a:lnTo>
                  </a:path>
                </a:pathLst>
              </a:custGeom>
              <a:noFill/>
              <a:ln w="22225">
                <a:solidFill>
                  <a:srgbClr val="C2410C"/>
                </a:solidFill>
              </a:ln>
            </p:spPr>
          </p:sp>
          <p:sp>
            <p:nvSpPr>
              <p:cNvPr id="105" name="Freeform 105"/>
              <p:cNvSpPr/>
              <p:nvPr/>
            </p:nvSpPr>
            <p:spPr>
              <a:xfrm>
                <a:off x="777926" y="6072823"/>
                <a:ext cx="120548" cy="155575"/>
              </a:xfrm>
              <a:custGeom>
                <a:avLst/>
                <a:gdLst/>
                <a:ahLst/>
                <a:cxnLst/>
                <a:rect l="l" t="t" r="r" b="b"/>
                <a:pathLst>
                  <a:path w="120548" h="155575">
                    <a:moveTo>
                      <a:pt x="26937" y="100013"/>
                    </a:moveTo>
                    <a:cubicBezTo>
                      <a:pt x="7804" y="85663"/>
                      <a:pt x="0" y="60681"/>
                      <a:pt x="7563" y="37992"/>
                    </a:cubicBezTo>
                    <a:cubicBezTo>
                      <a:pt x="15126" y="15304"/>
                      <a:pt x="36358" y="0"/>
                      <a:pt x="60274" y="0"/>
                    </a:cubicBezTo>
                    <a:cubicBezTo>
                      <a:pt x="84190" y="0"/>
                      <a:pt x="105423" y="15304"/>
                      <a:pt x="112986" y="37992"/>
                    </a:cubicBezTo>
                    <a:cubicBezTo>
                      <a:pt x="120548" y="60681"/>
                      <a:pt x="112745" y="85663"/>
                      <a:pt x="93612" y="100013"/>
                    </a:cubicBezTo>
                    <a:cubicBezTo>
                      <a:pt x="84812" y="108723"/>
                      <a:pt x="80686" y="121103"/>
                      <a:pt x="82499" y="133350"/>
                    </a:cubicBezTo>
                    <a:cubicBezTo>
                      <a:pt x="82499" y="145625"/>
                      <a:pt x="72549" y="155575"/>
                      <a:pt x="60274" y="155575"/>
                    </a:cubicBezTo>
                    <a:cubicBezTo>
                      <a:pt x="48000" y="155575"/>
                      <a:pt x="38049" y="145625"/>
                      <a:pt x="38049" y="133350"/>
                    </a:cubicBezTo>
                    <a:cubicBezTo>
                      <a:pt x="39862" y="121103"/>
                      <a:pt x="35736" y="108723"/>
                      <a:pt x="26937" y="100013"/>
                    </a:cubicBezTo>
                  </a:path>
                </a:pathLst>
              </a:custGeom>
              <a:noFill/>
              <a:ln w="22225">
                <a:solidFill>
                  <a:srgbClr val="C2410C"/>
                </a:solidFill>
              </a:ln>
            </p:spPr>
          </p:sp>
          <p:sp>
            <p:nvSpPr>
              <p:cNvPr id="106" name="Freeform 106"/>
              <p:cNvSpPr/>
              <p:nvPr/>
            </p:nvSpPr>
            <p:spPr>
              <a:xfrm>
                <a:off x="812642" y="6183948"/>
                <a:ext cx="51118" cy="9525"/>
              </a:xfrm>
              <a:custGeom>
                <a:avLst/>
                <a:gdLst/>
                <a:ahLst/>
                <a:cxnLst/>
                <a:rect l="l" t="t" r="r" b="b"/>
                <a:pathLst>
                  <a:path w="51118" h="9525">
                    <a:moveTo>
                      <a:pt x="0" y="0"/>
                    </a:moveTo>
                    <a:lnTo>
                      <a:pt x="51118" y="0"/>
                    </a:lnTo>
                  </a:path>
                </a:pathLst>
              </a:custGeom>
              <a:noFill/>
              <a:ln w="22225">
                <a:solidFill>
                  <a:srgbClr val="C2410C"/>
                </a:solidFill>
              </a:ln>
            </p:spPr>
          </p:sp>
        </p:grpSp>
        <p:sp>
          <p:nvSpPr>
            <p:cNvPr id="108" name="TextBox 108"/>
            <p:cNvSpPr txBox="1"/>
            <p:nvPr/>
          </p:nvSpPr>
          <p:spPr>
            <a:xfrm>
              <a:off x="1041273" y="6039326"/>
              <a:ext cx="10507112" cy="249364"/>
            </a:xfrm>
            <a:prstGeom prst="rect">
              <a:avLst/>
            </a:prstGeom>
            <a:noFill/>
            <a:ln>
              <a:noFill/>
            </a:ln>
          </p:spPr>
          <p:txBody>
            <a:bodyPr wrap="none" lIns="0" tIns="0" rIns="0" bIns="0" anchor="t" anchorCtr="0">
              <a:spAutoFit/>
            </a:bodyPr>
            <a:lstStyle/>
            <a:p>
              <a:pPr algn="l"/>
              <a:r>
                <a:rPr lang="zh-CN" sz="1280" dirty="0">
                  <a:solidFill>
                    <a:srgbClr val="C2410C"/>
                  </a:solidFill>
                  <a:latin typeface="+mn-lt"/>
                  <a:ea typeface="+mn-ea"/>
                  <a:cs typeface="+mn-cs"/>
                </a:rPr>
                <a:t>在 NUMA 机器上，数据最好由将来使用它的线程初始化：Linux 默认按“首次写入”（first-touch）把物理页分配到写入线程所在的节点。</a:t>
              </a:r>
            </a:p>
          </p:txBody>
        </p:sp>
      </p:grpSp>
      <p:grpSp>
        <p:nvGrpSpPr>
          <p:cNvPr id="112" name="footer"/>
          <p:cNvGrpSpPr/>
          <p:nvPr/>
        </p:nvGrpSpPr>
        <p:grpSpPr>
          <a:xfrm>
            <a:off x="528447" y="6581299"/>
            <a:ext cx="11135106" cy="190690"/>
            <a:chOff x="528447" y="6581299"/>
            <a:chExt cx="11135106" cy="190690"/>
          </a:xfrm>
        </p:grpSpPr>
        <p:sp>
          <p:nvSpPr>
            <p:cNvPr id="110" name="TextBox 110"/>
            <p:cNvSpPr txBox="1"/>
            <p:nvPr/>
          </p:nvSpPr>
          <p:spPr>
            <a:xfrm>
              <a:off x="528447" y="6581299"/>
              <a:ext cx="2120748"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并行与分布式计算 · 第7章 体系结构</a:t>
              </a:r>
            </a:p>
          </p:txBody>
        </p:sp>
        <p:sp>
          <p:nvSpPr>
            <p:cNvPr id="111" name="TextBox 111"/>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12</a:t>
              </a:r>
            </a:p>
          </p:txBody>
        </p:sp>
      </p:gr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6891528" cy="909257"/>
            <a:chOff x="520446" y="342900"/>
            <a:chExt cx="6891528" cy="909257"/>
          </a:xfrm>
        </p:grpSpPr>
        <p:sp>
          <p:nvSpPr>
            <p:cNvPr id="2" name="Rectangle 2"/>
            <p:cNvSpPr/>
            <p:nvPr/>
          </p:nvSpPr>
          <p:spPr>
            <a:xfrm>
              <a:off x="533400" y="342900"/>
              <a:ext cx="2272665" cy="266700"/>
            </a:xfrm>
            <a:prstGeom prst="roundRect">
              <a:avLst>
                <a:gd name="adj" fmla="val 50000"/>
              </a:avLst>
            </a:prstGeom>
            <a:solidFill>
              <a:srgbClr val="E7EDF3"/>
            </a:solidFill>
            <a:ln>
              <a:noFill/>
            </a:ln>
          </p:spPr>
        </p:sp>
        <p:sp>
          <p:nvSpPr>
            <p:cNvPr id="3" name="TextBox 3"/>
            <p:cNvSpPr txBox="1"/>
            <p:nvPr/>
          </p:nvSpPr>
          <p:spPr>
            <a:xfrm>
              <a:off x="601058" y="407194"/>
              <a:ext cx="2137349"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第7章 体系结构 · 多处理器结构</a:t>
              </a:r>
            </a:p>
          </p:txBody>
        </p:sp>
        <p:sp>
          <p:nvSpPr>
            <p:cNvPr id="4" name="TextBox 4"/>
            <p:cNvSpPr txBox="1"/>
            <p:nvPr/>
          </p:nvSpPr>
          <p:spPr>
            <a:xfrm>
              <a:off x="520446" y="753428"/>
              <a:ext cx="6891528"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单核提速走不通：功耗、制程、复杂度三道坎</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25" name="c1-table-1"/>
          <p:cNvGrpSpPr/>
          <p:nvPr/>
        </p:nvGrpSpPr>
        <p:grpSpPr>
          <a:xfrm>
            <a:off x="533400" y="1524000"/>
            <a:ext cx="5951220" cy="2697480"/>
            <a:chOff x="533400" y="1524000"/>
            <a:chExt cx="5951220" cy="2697480"/>
          </a:xfrm>
        </p:grpSpPr>
        <p:sp>
          <p:nvSpPr>
            <p:cNvPr id="7" name="Rectangle 7"/>
            <p:cNvSpPr/>
            <p:nvPr/>
          </p:nvSpPr>
          <p:spPr>
            <a:xfrm>
              <a:off x="533400" y="1524000"/>
              <a:ext cx="5951220" cy="448628"/>
            </a:xfrm>
            <a:prstGeom prst="rect">
              <a:avLst/>
            </a:prstGeom>
            <a:solidFill>
              <a:srgbClr val="334E68"/>
            </a:solidFill>
            <a:ln>
              <a:noFill/>
            </a:ln>
          </p:spPr>
        </p:sp>
        <p:sp>
          <p:nvSpPr>
            <p:cNvPr id="8" name="TextBox 8"/>
            <p:cNvSpPr txBox="1"/>
            <p:nvPr/>
          </p:nvSpPr>
          <p:spPr>
            <a:xfrm>
              <a:off x="830859" y="1659731"/>
              <a:ext cx="357581"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问题</a:t>
              </a:r>
            </a:p>
          </p:txBody>
        </p:sp>
        <p:sp>
          <p:nvSpPr>
            <p:cNvPr id="9" name="TextBox 9"/>
            <p:cNvSpPr txBox="1"/>
            <p:nvPr/>
          </p:nvSpPr>
          <p:spPr>
            <a:xfrm>
              <a:off x="3806469" y="1659731"/>
              <a:ext cx="357581"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表现</a:t>
              </a:r>
            </a:p>
          </p:txBody>
        </p:sp>
        <p:sp>
          <p:nvSpPr>
            <p:cNvPr id="10" name="TextBox 10"/>
            <p:cNvSpPr txBox="1"/>
            <p:nvPr/>
          </p:nvSpPr>
          <p:spPr>
            <a:xfrm>
              <a:off x="641223" y="2221706"/>
              <a:ext cx="357581"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需求</a:t>
              </a:r>
            </a:p>
          </p:txBody>
        </p:sp>
        <p:sp>
          <p:nvSpPr>
            <p:cNvPr id="11" name="TextBox 11"/>
            <p:cNvSpPr txBox="1"/>
            <p:nvPr/>
          </p:nvSpPr>
          <p:spPr>
            <a:xfrm>
              <a:off x="1593723" y="2108359"/>
              <a:ext cx="4402074" cy="476059"/>
            </a:xfrm>
            <a:prstGeom prst="rect">
              <a:avLst/>
            </a:prstGeom>
            <a:noFill/>
            <a:ln>
              <a:noFill/>
            </a:ln>
          </p:spPr>
          <p:txBody>
            <a:bodyPr wrap="none" lIns="0" tIns="0" rIns="0" bIns="0" anchor="t" anchorCtr="0">
              <a:spAutoFit/>
            </a:bodyPr>
            <a:lstStyle/>
            <a:p>
              <a:pPr algn="l">
                <a:lnSpc>
                  <a:spcPts val="1785"/>
                </a:lnSpc>
              </a:pPr>
              <a:r>
                <a:rPr lang="zh-CN" sz="1280" dirty="0">
                  <a:solidFill>
                    <a:srgbClr val="1F2937"/>
                  </a:solidFill>
                  <a:latin typeface="+mn-lt"/>
                  <a:ea typeface="+mn-ea"/>
                  <a:cs typeface="+mn-cs"/>
                </a:rPr>
                <a:t>每次性能突破都换来更高的需求：大规模多线程、海量事务处</a:t>
              </a:r>
              <a:br/>
              <a:r>
                <a:rPr lang="zh-CN" sz="1280" dirty="0">
                  <a:solidFill>
                    <a:srgbClr val="1F2937"/>
                  </a:solidFill>
                  <a:latin typeface="+mn-lt"/>
                  <a:ea typeface="+mn-ea"/>
                  <a:cs typeface="+mn-cs"/>
                </a:rPr>
                <a:t>理，以及油气勘探、气象预报、虚拟现实、人工智能</a:t>
              </a:r>
            </a:p>
          </p:txBody>
        </p:sp>
        <p:sp>
          <p:nvSpPr>
            <p:cNvPr id="12" name="Rectangle 12"/>
            <p:cNvSpPr/>
            <p:nvPr/>
          </p:nvSpPr>
          <p:spPr>
            <a:xfrm>
              <a:off x="533400" y="2643188"/>
              <a:ext cx="5951220" cy="9525"/>
            </a:xfrm>
            <a:prstGeom prst="rect">
              <a:avLst/>
            </a:prstGeom>
            <a:solidFill>
              <a:srgbClr val="D9DFEA"/>
            </a:solidFill>
            <a:ln>
              <a:noFill/>
            </a:ln>
          </p:spPr>
        </p:sp>
        <p:sp>
          <p:nvSpPr>
            <p:cNvPr id="13" name="Rectangle 13"/>
            <p:cNvSpPr/>
            <p:nvPr/>
          </p:nvSpPr>
          <p:spPr>
            <a:xfrm>
              <a:off x="533400" y="2647950"/>
              <a:ext cx="5951220" cy="448628"/>
            </a:xfrm>
            <a:prstGeom prst="rect">
              <a:avLst/>
            </a:prstGeom>
            <a:solidFill>
              <a:srgbClr val="F4F6FB"/>
            </a:solidFill>
            <a:ln>
              <a:noFill/>
            </a:ln>
          </p:spPr>
        </p:sp>
        <p:sp>
          <p:nvSpPr>
            <p:cNvPr id="14" name="TextBox 14"/>
            <p:cNvSpPr txBox="1"/>
            <p:nvPr/>
          </p:nvSpPr>
          <p:spPr>
            <a:xfrm>
              <a:off x="641223" y="2783681"/>
              <a:ext cx="357581"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功耗</a:t>
              </a:r>
            </a:p>
          </p:txBody>
        </p:sp>
        <p:sp>
          <p:nvSpPr>
            <p:cNvPr id="15" name="TextBox 15"/>
            <p:cNvSpPr txBox="1"/>
            <p:nvPr/>
          </p:nvSpPr>
          <p:spPr>
            <a:xfrm>
              <a:off x="1593723" y="2783681"/>
              <a:ext cx="4148480"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芯片密度和时钟频率不断提高，系统功耗呈指数性增长</a:t>
              </a:r>
            </a:p>
          </p:txBody>
        </p:sp>
        <p:sp>
          <p:nvSpPr>
            <p:cNvPr id="16" name="Rectangle 16"/>
            <p:cNvSpPr/>
            <p:nvPr/>
          </p:nvSpPr>
          <p:spPr>
            <a:xfrm>
              <a:off x="533400" y="3092768"/>
              <a:ext cx="5951220" cy="9525"/>
            </a:xfrm>
            <a:prstGeom prst="rect">
              <a:avLst/>
            </a:prstGeom>
            <a:solidFill>
              <a:srgbClr val="D9DFEA"/>
            </a:solidFill>
            <a:ln>
              <a:noFill/>
            </a:ln>
          </p:spPr>
        </p:sp>
        <p:sp>
          <p:nvSpPr>
            <p:cNvPr id="17" name="TextBox 17"/>
            <p:cNvSpPr txBox="1"/>
            <p:nvPr/>
          </p:nvSpPr>
          <p:spPr>
            <a:xfrm>
              <a:off x="641223" y="3232309"/>
              <a:ext cx="357581"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制程</a:t>
              </a:r>
            </a:p>
          </p:txBody>
        </p:sp>
        <p:sp>
          <p:nvSpPr>
            <p:cNvPr id="18" name="TextBox 18"/>
            <p:cNvSpPr txBox="1"/>
            <p:nvPr/>
          </p:nvSpPr>
          <p:spPr>
            <a:xfrm>
              <a:off x="1593723" y="3232309"/>
              <a:ext cx="4848139"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CPU 制程精度逐步逼近制造设备的物理极限，摩尔定律难以为继</a:t>
              </a:r>
            </a:p>
          </p:txBody>
        </p:sp>
        <p:sp>
          <p:nvSpPr>
            <p:cNvPr id="19" name="Rectangle 19"/>
            <p:cNvSpPr/>
            <p:nvPr/>
          </p:nvSpPr>
          <p:spPr>
            <a:xfrm>
              <a:off x="533400" y="3541395"/>
              <a:ext cx="5951220" cy="9525"/>
            </a:xfrm>
            <a:prstGeom prst="rect">
              <a:avLst/>
            </a:prstGeom>
            <a:solidFill>
              <a:srgbClr val="D9DFEA"/>
            </a:solidFill>
            <a:ln>
              <a:noFill/>
            </a:ln>
          </p:spPr>
        </p:sp>
        <p:sp>
          <p:nvSpPr>
            <p:cNvPr id="20" name="Rectangle 20"/>
            <p:cNvSpPr/>
            <p:nvPr/>
          </p:nvSpPr>
          <p:spPr>
            <a:xfrm>
              <a:off x="533400" y="3546158"/>
              <a:ext cx="5951220" cy="675322"/>
            </a:xfrm>
            <a:prstGeom prst="rect">
              <a:avLst/>
            </a:prstGeom>
            <a:solidFill>
              <a:srgbClr val="F4F6FB"/>
            </a:solidFill>
            <a:ln>
              <a:noFill/>
            </a:ln>
          </p:spPr>
        </p:sp>
        <p:sp>
          <p:nvSpPr>
            <p:cNvPr id="21" name="TextBox 21"/>
            <p:cNvSpPr txBox="1"/>
            <p:nvPr/>
          </p:nvSpPr>
          <p:spPr>
            <a:xfrm>
              <a:off x="641223" y="3794284"/>
              <a:ext cx="529895"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复杂度</a:t>
              </a:r>
            </a:p>
          </p:txBody>
        </p:sp>
        <p:sp>
          <p:nvSpPr>
            <p:cNvPr id="22" name="TextBox 22"/>
            <p:cNvSpPr txBox="1"/>
            <p:nvPr/>
          </p:nvSpPr>
          <p:spPr>
            <a:xfrm>
              <a:off x="1593723" y="3680936"/>
              <a:ext cx="4564634" cy="476059"/>
            </a:xfrm>
            <a:prstGeom prst="rect">
              <a:avLst/>
            </a:prstGeom>
            <a:noFill/>
            <a:ln>
              <a:noFill/>
            </a:ln>
          </p:spPr>
          <p:txBody>
            <a:bodyPr wrap="none" lIns="0" tIns="0" rIns="0" bIns="0" anchor="t" anchorCtr="0">
              <a:spAutoFit/>
            </a:bodyPr>
            <a:lstStyle/>
            <a:p>
              <a:pPr algn="l">
                <a:lnSpc>
                  <a:spcPts val="1785"/>
                </a:lnSpc>
              </a:pPr>
              <a:r>
                <a:rPr lang="zh-CN" sz="1280" dirty="0">
                  <a:solidFill>
                    <a:srgbClr val="1F2937"/>
                  </a:solidFill>
                  <a:latin typeface="+mn-lt"/>
                  <a:ea typeface="+mn-ea"/>
                  <a:cs typeface="+mn-cs"/>
                </a:rPr>
                <a:t>超长流水线、超标量、同时多线程等 ILP 技术让逻辑电路复杂度</a:t>
              </a:r>
              <a:br/>
              <a:r>
                <a:rPr lang="zh-CN" sz="1280" dirty="0">
                  <a:solidFill>
                    <a:srgbClr val="1F2937"/>
                  </a:solidFill>
                  <a:latin typeface="+mn-lt"/>
                  <a:ea typeface="+mn-ea"/>
                  <a:cs typeface="+mn-cs"/>
                </a:rPr>
                <a:t>指数级增加，流水线深度和宽度的扩展遇到瓶颈</a:t>
              </a:r>
            </a:p>
          </p:txBody>
        </p:sp>
        <p:sp>
          <p:nvSpPr>
            <p:cNvPr id="23" name="Rectangle 23"/>
            <p:cNvSpPr/>
            <p:nvPr/>
          </p:nvSpPr>
          <p:spPr>
            <a:xfrm>
              <a:off x="533400" y="1524000"/>
              <a:ext cx="5951220" cy="2697480"/>
            </a:xfrm>
            <a:prstGeom prst="rect">
              <a:avLst/>
            </a:prstGeom>
            <a:noFill/>
            <a:ln w="14288">
              <a:solidFill>
                <a:srgbClr val="D9DFEA"/>
              </a:solidFill>
            </a:ln>
          </p:spPr>
        </p:sp>
        <p:sp>
          <p:nvSpPr>
            <p:cNvPr id="24" name="Rectangle 24"/>
            <p:cNvSpPr/>
            <p:nvPr/>
          </p:nvSpPr>
          <p:spPr>
            <a:xfrm>
              <a:off x="1481138" y="1524000"/>
              <a:ext cx="9525" cy="2697480"/>
            </a:xfrm>
            <a:prstGeom prst="rect">
              <a:avLst/>
            </a:prstGeom>
            <a:solidFill>
              <a:srgbClr val="D9DFEA"/>
            </a:solidFill>
            <a:ln>
              <a:noFill/>
            </a:ln>
          </p:spPr>
        </p:sp>
      </p:grpSp>
      <p:grpSp>
        <p:nvGrpSpPr>
          <p:cNvPr id="31" name="c1-card-2"/>
          <p:cNvGrpSpPr/>
          <p:nvPr/>
        </p:nvGrpSpPr>
        <p:grpSpPr>
          <a:xfrm>
            <a:off x="533400" y="4411980"/>
            <a:ext cx="5951220" cy="1602105"/>
            <a:chOff x="533400" y="4411980"/>
            <a:chExt cx="5951220" cy="1602105"/>
          </a:xfrm>
        </p:grpSpPr>
        <p:sp>
          <p:nvSpPr>
            <p:cNvPr id="26" name="Rectangle 26"/>
            <p:cNvSpPr/>
            <p:nvPr/>
          </p:nvSpPr>
          <p:spPr>
            <a:xfrm>
              <a:off x="533400" y="4411980"/>
              <a:ext cx="5951220" cy="1602105"/>
            </a:xfrm>
            <a:prstGeom prst="roundRect">
              <a:avLst>
                <a:gd name="adj" fmla="val 8323"/>
              </a:avLst>
            </a:prstGeom>
            <a:solidFill>
              <a:srgbClr val="FFFFFF"/>
            </a:solidFill>
            <a:ln w="14288">
              <a:solidFill>
                <a:srgbClr val="D9DFEA"/>
              </a:solidFill>
            </a:ln>
          </p:spPr>
        </p:sp>
        <p:sp>
          <p:nvSpPr>
            <p:cNvPr id="27" name="Rectangle 27"/>
            <p:cNvSpPr/>
            <p:nvPr/>
          </p:nvSpPr>
          <p:spPr>
            <a:xfrm>
              <a:off x="542925" y="4545330"/>
              <a:ext cx="47625" cy="1335405"/>
            </a:xfrm>
            <a:prstGeom prst="roundRect">
              <a:avLst>
                <a:gd name="adj" fmla="val 50000"/>
              </a:avLst>
            </a:prstGeom>
            <a:solidFill>
              <a:srgbClr val="5B6475"/>
            </a:solidFill>
            <a:ln>
              <a:noFill/>
            </a:ln>
          </p:spPr>
        </p:sp>
        <p:sp>
          <p:nvSpPr>
            <p:cNvPr id="28" name="Rectangle 28"/>
            <p:cNvSpPr/>
            <p:nvPr/>
          </p:nvSpPr>
          <p:spPr>
            <a:xfrm>
              <a:off x="781050" y="4621530"/>
              <a:ext cx="494348" cy="257175"/>
            </a:xfrm>
            <a:prstGeom prst="roundRect">
              <a:avLst>
                <a:gd name="adj" fmla="val 50000"/>
              </a:avLst>
            </a:prstGeom>
            <a:solidFill>
              <a:srgbClr val="F4F6FB"/>
            </a:solidFill>
            <a:ln>
              <a:noFill/>
            </a:ln>
          </p:spPr>
        </p:sp>
        <p:sp>
          <p:nvSpPr>
            <p:cNvPr id="29" name="TextBox 29"/>
            <p:cNvSpPr txBox="1"/>
            <p:nvPr/>
          </p:nvSpPr>
          <p:spPr>
            <a:xfrm>
              <a:off x="871258" y="4657249"/>
              <a:ext cx="312979" cy="220028"/>
            </a:xfrm>
            <a:prstGeom prst="rect">
              <a:avLst/>
            </a:prstGeom>
            <a:noFill/>
            <a:ln>
              <a:noFill/>
            </a:ln>
          </p:spPr>
          <p:txBody>
            <a:bodyPr wrap="none" lIns="0" tIns="0" rIns="0" bIns="0" anchor="t" anchorCtr="0">
              <a:spAutoFit/>
            </a:bodyPr>
            <a:lstStyle/>
            <a:p>
              <a:pPr algn="ctr"/>
              <a:r>
                <a:rPr lang="zh-CN" sz="1120" b="1" dirty="0">
                  <a:solidFill>
                    <a:srgbClr val="5B6475"/>
                  </a:solidFill>
                  <a:latin typeface="+mn-lt"/>
                  <a:ea typeface="+mn-ea"/>
                  <a:cs typeface="+mn-cs"/>
                </a:rPr>
                <a:t>更正</a:t>
              </a:r>
            </a:p>
          </p:txBody>
        </p:sp>
        <p:sp>
          <p:nvSpPr>
            <p:cNvPr id="30" name="TextBox 30"/>
            <p:cNvSpPr txBox="1"/>
            <p:nvPr/>
          </p:nvSpPr>
          <p:spPr>
            <a:xfrm>
              <a:off x="773430" y="4998720"/>
              <a:ext cx="5263515" cy="86487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原课件写“芯片发热量 = k&amp;芯片密度*时钟频率”，其中的“&amp;”应</a:t>
              </a:r>
              <a:br/>
              <a:r>
                <a:rPr lang="zh-CN" sz="1500" dirty="0">
                  <a:solidFill>
                    <a:srgbClr val="1F2937"/>
                  </a:solidFill>
                  <a:latin typeface="+mn-lt"/>
                  <a:ea typeface="+mn-ea"/>
                  <a:cs typeface="+mn-cs"/>
                </a:rPr>
                <a:t>为乘号：发热量 ≈ k × 芯片密度 × 时钟频率。更精确的动态</a:t>
              </a:r>
              <a:br/>
              <a:r>
                <a:rPr lang="zh-CN" sz="1500" dirty="0">
                  <a:solidFill>
                    <a:srgbClr val="1F2937"/>
                  </a:solidFill>
                  <a:latin typeface="+mn-lt"/>
                  <a:ea typeface="+mn-ea"/>
                  <a:cs typeface="+mn-cs"/>
                </a:rPr>
                <a:t>功耗公式是 P = αCV²f，见第1章功耗墙一页。</a:t>
              </a:r>
            </a:p>
          </p:txBody>
        </p:sp>
      </p:grpSp>
      <p:grpSp>
        <p:nvGrpSpPr>
          <p:cNvPr id="42" name="c2-card-1"/>
          <p:cNvGrpSpPr/>
          <p:nvPr/>
        </p:nvGrpSpPr>
        <p:grpSpPr>
          <a:xfrm>
            <a:off x="6789420" y="1524000"/>
            <a:ext cx="4869180" cy="2272665"/>
            <a:chOff x="6789420" y="1524000"/>
            <a:chExt cx="4869180" cy="2272665"/>
          </a:xfrm>
        </p:grpSpPr>
        <p:sp>
          <p:nvSpPr>
            <p:cNvPr id="32" name="Rectangle 32"/>
            <p:cNvSpPr/>
            <p:nvPr/>
          </p:nvSpPr>
          <p:spPr>
            <a:xfrm>
              <a:off x="6789420" y="1524000"/>
              <a:ext cx="4869180" cy="2272665"/>
            </a:xfrm>
            <a:prstGeom prst="roundRect">
              <a:avLst>
                <a:gd name="adj" fmla="val 5868"/>
              </a:avLst>
            </a:prstGeom>
            <a:solidFill>
              <a:srgbClr val="FFFFFF"/>
            </a:solidFill>
            <a:ln w="14288">
              <a:solidFill>
                <a:srgbClr val="D9DFEA"/>
              </a:solidFill>
            </a:ln>
          </p:spPr>
        </p:sp>
        <p:sp>
          <p:nvSpPr>
            <p:cNvPr id="33" name="Rectangle 33"/>
            <p:cNvSpPr/>
            <p:nvPr/>
          </p:nvSpPr>
          <p:spPr>
            <a:xfrm>
              <a:off x="6798945" y="1657350"/>
              <a:ext cx="47625" cy="2005965"/>
            </a:xfrm>
            <a:prstGeom prst="roundRect">
              <a:avLst>
                <a:gd name="adj" fmla="val 50000"/>
              </a:avLst>
            </a:prstGeom>
            <a:solidFill>
              <a:srgbClr val="334E68"/>
            </a:solidFill>
            <a:ln>
              <a:noFill/>
            </a:ln>
          </p:spPr>
        </p:sp>
        <p:sp>
          <p:nvSpPr>
            <p:cNvPr id="34" name="Rectangle 34"/>
            <p:cNvSpPr/>
            <p:nvPr/>
          </p:nvSpPr>
          <p:spPr>
            <a:xfrm>
              <a:off x="7037070" y="1733550"/>
              <a:ext cx="778192" cy="257175"/>
            </a:xfrm>
            <a:prstGeom prst="roundRect">
              <a:avLst>
                <a:gd name="adj" fmla="val 50000"/>
              </a:avLst>
            </a:prstGeom>
            <a:solidFill>
              <a:srgbClr val="E7EDF3"/>
            </a:solidFill>
            <a:ln>
              <a:noFill/>
            </a:ln>
          </p:spPr>
        </p:sp>
        <p:sp>
          <p:nvSpPr>
            <p:cNvPr id="35" name="TextBox 35"/>
            <p:cNvSpPr txBox="1"/>
            <p:nvPr/>
          </p:nvSpPr>
          <p:spPr>
            <a:xfrm>
              <a:off x="7119379" y="1769269"/>
              <a:ext cx="614528"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多核技术</a:t>
              </a:r>
            </a:p>
          </p:txBody>
        </p:sp>
        <p:sp>
          <p:nvSpPr>
            <p:cNvPr id="36" name="Ellipse 36"/>
            <p:cNvSpPr/>
            <p:nvPr/>
          </p:nvSpPr>
          <p:spPr>
            <a:xfrm>
              <a:off x="7042785" y="2173605"/>
              <a:ext cx="64770" cy="64770"/>
            </a:xfrm>
            <a:prstGeom prst="ellipse">
              <a:avLst/>
            </a:prstGeom>
            <a:solidFill>
              <a:srgbClr val="334E68"/>
            </a:solidFill>
            <a:ln>
              <a:noFill/>
            </a:ln>
          </p:spPr>
        </p:sp>
        <p:sp>
          <p:nvSpPr>
            <p:cNvPr id="37" name="TextBox 37"/>
            <p:cNvSpPr txBox="1"/>
            <p:nvPr/>
          </p:nvSpPr>
          <p:spPr>
            <a:xfrm>
              <a:off x="7200900" y="2110740"/>
              <a:ext cx="425577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在一枚处理器中集成两个或多个完整的计算内核</a:t>
              </a:r>
            </a:p>
          </p:txBody>
        </p:sp>
        <p:sp>
          <p:nvSpPr>
            <p:cNvPr id="38" name="Ellipse 38"/>
            <p:cNvSpPr/>
            <p:nvPr/>
          </p:nvSpPr>
          <p:spPr>
            <a:xfrm>
              <a:off x="7042785" y="2508885"/>
              <a:ext cx="64770" cy="64770"/>
            </a:xfrm>
            <a:prstGeom prst="ellipse">
              <a:avLst/>
            </a:prstGeom>
            <a:solidFill>
              <a:srgbClr val="334E68"/>
            </a:solidFill>
            <a:ln>
              <a:noFill/>
            </a:ln>
          </p:spPr>
        </p:sp>
        <p:sp>
          <p:nvSpPr>
            <p:cNvPr id="39" name="TextBox 39"/>
            <p:cNvSpPr txBox="1"/>
            <p:nvPr/>
          </p:nvSpPr>
          <p:spPr>
            <a:xfrm>
              <a:off x="7200900" y="2446020"/>
              <a:ext cx="4063365"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沿用原来单 CPU 的硬件体系结构，不必变更硬件</a:t>
              </a:r>
              <a:br/>
              <a:r>
                <a:rPr lang="zh-CN" sz="1500" dirty="0">
                  <a:solidFill>
                    <a:srgbClr val="1F2937"/>
                  </a:solidFill>
                  <a:latin typeface="+mn-lt"/>
                  <a:ea typeface="+mn-ea"/>
                  <a:cs typeface="+mn-cs"/>
                </a:rPr>
                <a:t>技术就能提升计算能力</a:t>
              </a:r>
            </a:p>
          </p:txBody>
        </p:sp>
        <p:sp>
          <p:nvSpPr>
            <p:cNvPr id="40" name="Ellipse 40"/>
            <p:cNvSpPr/>
            <p:nvPr/>
          </p:nvSpPr>
          <p:spPr>
            <a:xfrm>
              <a:off x="7042785" y="3129915"/>
              <a:ext cx="64770" cy="64770"/>
            </a:xfrm>
            <a:prstGeom prst="ellipse">
              <a:avLst/>
            </a:prstGeom>
            <a:solidFill>
              <a:srgbClr val="334E68"/>
            </a:solidFill>
            <a:ln>
              <a:noFill/>
            </a:ln>
          </p:spPr>
        </p:sp>
        <p:sp>
          <p:nvSpPr>
            <p:cNvPr id="41" name="TextBox 41"/>
            <p:cNvSpPr txBox="1"/>
            <p:nvPr/>
          </p:nvSpPr>
          <p:spPr>
            <a:xfrm>
              <a:off x="7200900" y="3067050"/>
              <a:ext cx="4053840"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2006 年起在 Intel、AMD 推动下普及，个人计算</a:t>
              </a:r>
              <a:br/>
              <a:r>
                <a:rPr lang="zh-CN" sz="1500" dirty="0">
                  <a:solidFill>
                    <a:srgbClr val="1F2937"/>
                  </a:solidFill>
                  <a:latin typeface="+mn-lt"/>
                  <a:ea typeface="+mn-ea"/>
                  <a:cs typeface="+mn-cs"/>
                </a:rPr>
                <a:t>机处理器 90% 以上是多核</a:t>
              </a:r>
            </a:p>
          </p:txBody>
        </p:sp>
      </p:grpSp>
      <p:grpSp>
        <p:nvGrpSpPr>
          <p:cNvPr id="56" name="c2-bullets-2"/>
          <p:cNvGrpSpPr/>
          <p:nvPr/>
        </p:nvGrpSpPr>
        <p:grpSpPr>
          <a:xfrm>
            <a:off x="6781800" y="4011930"/>
            <a:ext cx="3834994" cy="1682115"/>
            <a:chOff x="6781800" y="4011930"/>
            <a:chExt cx="3834994" cy="1682115"/>
          </a:xfrm>
        </p:grpSpPr>
        <p:sp>
          <p:nvSpPr>
            <p:cNvPr id="43" name="TextBox 43"/>
            <p:cNvSpPr txBox="1"/>
            <p:nvPr/>
          </p:nvSpPr>
          <p:spPr>
            <a:xfrm>
              <a:off x="6781800" y="4011930"/>
              <a:ext cx="1630680" cy="293370"/>
            </a:xfrm>
            <a:prstGeom prst="rect">
              <a:avLst/>
            </a:prstGeom>
            <a:noFill/>
            <a:ln>
              <a:noFill/>
            </a:ln>
          </p:spPr>
          <p:txBody>
            <a:bodyPr wrap="none" lIns="0" tIns="0" rIns="0" bIns="0" anchor="t" anchorCtr="0">
              <a:spAutoFit/>
            </a:bodyPr>
            <a:lstStyle/>
            <a:p>
              <a:pPr algn="l"/>
              <a:r>
                <a:rPr lang="zh-CN" sz="1500" b="1" dirty="0">
                  <a:solidFill>
                    <a:srgbClr val="334E68"/>
                  </a:solidFill>
                  <a:latin typeface="+mn-lt"/>
                  <a:ea typeface="+mn-ea"/>
                  <a:cs typeface="+mn-cs"/>
                </a:rPr>
                <a:t>多核架构研究什么</a:t>
              </a:r>
            </a:p>
          </p:txBody>
        </p:sp>
        <p:sp>
          <p:nvSpPr>
            <p:cNvPr id="44" name="Ellipse 44"/>
            <p:cNvSpPr/>
            <p:nvPr/>
          </p:nvSpPr>
          <p:spPr>
            <a:xfrm>
              <a:off x="6789420" y="4352925"/>
              <a:ext cx="213360" cy="213360"/>
            </a:xfrm>
            <a:prstGeom prst="ellipse">
              <a:avLst/>
            </a:prstGeom>
            <a:solidFill>
              <a:srgbClr val="334E68"/>
            </a:solidFill>
            <a:ln>
              <a:noFill/>
            </a:ln>
          </p:spPr>
        </p:sp>
        <p:sp>
          <p:nvSpPr>
            <p:cNvPr id="45" name="TextBox 45"/>
            <p:cNvSpPr txBox="1"/>
            <p:nvPr/>
          </p:nvSpPr>
          <p:spPr>
            <a:xfrm>
              <a:off x="6851269" y="4395216"/>
              <a:ext cx="89661" cy="199492"/>
            </a:xfrm>
            <a:prstGeom prst="rect">
              <a:avLst/>
            </a:prstGeom>
            <a:noFill/>
            <a:ln>
              <a:noFill/>
            </a:ln>
          </p:spPr>
          <p:txBody>
            <a:bodyPr wrap="none" lIns="0" tIns="0" rIns="0" bIns="0" anchor="t" anchorCtr="0">
              <a:spAutoFit/>
            </a:bodyPr>
            <a:lstStyle/>
            <a:p>
              <a:pPr algn="ctr"/>
              <a:r>
                <a:rPr lang="zh-CN" sz="1020" b="1" dirty="0">
                  <a:solidFill>
                    <a:srgbClr val="FFFFFF"/>
                  </a:solidFill>
                  <a:latin typeface="+mn-lt"/>
                  <a:ea typeface="+mn-ea"/>
                  <a:cs typeface="+mn-cs"/>
                </a:rPr>
                <a:t>1</a:t>
              </a:r>
            </a:p>
          </p:txBody>
        </p:sp>
        <p:sp>
          <p:nvSpPr>
            <p:cNvPr id="46" name="TextBox 46"/>
            <p:cNvSpPr txBox="1"/>
            <p:nvPr/>
          </p:nvSpPr>
          <p:spPr>
            <a:xfrm>
              <a:off x="7090410" y="4366260"/>
              <a:ext cx="183261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片内处理核心的个数</a:t>
              </a:r>
            </a:p>
          </p:txBody>
        </p:sp>
        <p:sp>
          <p:nvSpPr>
            <p:cNvPr id="47" name="Ellipse 47"/>
            <p:cNvSpPr/>
            <p:nvPr/>
          </p:nvSpPr>
          <p:spPr>
            <a:xfrm>
              <a:off x="6789420" y="4697730"/>
              <a:ext cx="213360" cy="213360"/>
            </a:xfrm>
            <a:prstGeom prst="ellipse">
              <a:avLst/>
            </a:prstGeom>
            <a:solidFill>
              <a:srgbClr val="334E68"/>
            </a:solidFill>
            <a:ln>
              <a:noFill/>
            </a:ln>
          </p:spPr>
        </p:sp>
        <p:sp>
          <p:nvSpPr>
            <p:cNvPr id="48" name="TextBox 48"/>
            <p:cNvSpPr txBox="1"/>
            <p:nvPr/>
          </p:nvSpPr>
          <p:spPr>
            <a:xfrm>
              <a:off x="6851269" y="4740021"/>
              <a:ext cx="89661" cy="199492"/>
            </a:xfrm>
            <a:prstGeom prst="rect">
              <a:avLst/>
            </a:prstGeom>
            <a:noFill/>
            <a:ln>
              <a:noFill/>
            </a:ln>
          </p:spPr>
          <p:txBody>
            <a:bodyPr wrap="none" lIns="0" tIns="0" rIns="0" bIns="0" anchor="t" anchorCtr="0">
              <a:spAutoFit/>
            </a:bodyPr>
            <a:lstStyle/>
            <a:p>
              <a:pPr algn="ctr"/>
              <a:r>
                <a:rPr lang="zh-CN" sz="1020" b="1" dirty="0">
                  <a:solidFill>
                    <a:srgbClr val="FFFFFF"/>
                  </a:solidFill>
                  <a:latin typeface="+mn-lt"/>
                  <a:ea typeface="+mn-ea"/>
                  <a:cs typeface="+mn-cs"/>
                </a:rPr>
                <a:t>2</a:t>
              </a:r>
            </a:p>
          </p:txBody>
        </p:sp>
        <p:sp>
          <p:nvSpPr>
            <p:cNvPr id="49" name="TextBox 49"/>
            <p:cNvSpPr txBox="1"/>
            <p:nvPr/>
          </p:nvSpPr>
          <p:spPr>
            <a:xfrm>
              <a:off x="7090410" y="4711065"/>
              <a:ext cx="2253539"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Cache 的层次和容量分布</a:t>
              </a:r>
            </a:p>
          </p:txBody>
        </p:sp>
        <p:sp>
          <p:nvSpPr>
            <p:cNvPr id="50" name="Ellipse 50"/>
            <p:cNvSpPr/>
            <p:nvPr/>
          </p:nvSpPr>
          <p:spPr>
            <a:xfrm>
              <a:off x="6789420" y="5042535"/>
              <a:ext cx="213360" cy="213360"/>
            </a:xfrm>
            <a:prstGeom prst="ellipse">
              <a:avLst/>
            </a:prstGeom>
            <a:solidFill>
              <a:srgbClr val="334E68"/>
            </a:solidFill>
            <a:ln>
              <a:noFill/>
            </a:ln>
          </p:spPr>
        </p:sp>
        <p:sp>
          <p:nvSpPr>
            <p:cNvPr id="51" name="TextBox 51"/>
            <p:cNvSpPr txBox="1"/>
            <p:nvPr/>
          </p:nvSpPr>
          <p:spPr>
            <a:xfrm>
              <a:off x="6851269" y="5084826"/>
              <a:ext cx="89661" cy="199492"/>
            </a:xfrm>
            <a:prstGeom prst="rect">
              <a:avLst/>
            </a:prstGeom>
            <a:noFill/>
            <a:ln>
              <a:noFill/>
            </a:ln>
          </p:spPr>
          <p:txBody>
            <a:bodyPr wrap="none" lIns="0" tIns="0" rIns="0" bIns="0" anchor="t" anchorCtr="0">
              <a:spAutoFit/>
            </a:bodyPr>
            <a:lstStyle/>
            <a:p>
              <a:pPr algn="ctr"/>
              <a:r>
                <a:rPr lang="zh-CN" sz="1020" b="1" dirty="0">
                  <a:solidFill>
                    <a:srgbClr val="FFFFFF"/>
                  </a:solidFill>
                  <a:latin typeface="+mn-lt"/>
                  <a:ea typeface="+mn-ea"/>
                  <a:cs typeface="+mn-cs"/>
                </a:rPr>
                <a:t>3</a:t>
              </a:r>
            </a:p>
          </p:txBody>
        </p:sp>
        <p:sp>
          <p:nvSpPr>
            <p:cNvPr id="52" name="TextBox 52"/>
            <p:cNvSpPr txBox="1"/>
            <p:nvPr/>
          </p:nvSpPr>
          <p:spPr>
            <a:xfrm>
              <a:off x="7090410" y="5055870"/>
              <a:ext cx="203454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核与核之间的互连结构</a:t>
              </a:r>
            </a:p>
          </p:txBody>
        </p:sp>
        <p:sp>
          <p:nvSpPr>
            <p:cNvPr id="53" name="Ellipse 53"/>
            <p:cNvSpPr/>
            <p:nvPr/>
          </p:nvSpPr>
          <p:spPr>
            <a:xfrm>
              <a:off x="6789420" y="5387340"/>
              <a:ext cx="213360" cy="213360"/>
            </a:xfrm>
            <a:prstGeom prst="ellipse">
              <a:avLst/>
            </a:prstGeom>
            <a:solidFill>
              <a:srgbClr val="334E68"/>
            </a:solidFill>
            <a:ln>
              <a:noFill/>
            </a:ln>
          </p:spPr>
        </p:sp>
        <p:sp>
          <p:nvSpPr>
            <p:cNvPr id="54" name="TextBox 54"/>
            <p:cNvSpPr txBox="1"/>
            <p:nvPr/>
          </p:nvSpPr>
          <p:spPr>
            <a:xfrm>
              <a:off x="6851269" y="5429631"/>
              <a:ext cx="89661" cy="199492"/>
            </a:xfrm>
            <a:prstGeom prst="rect">
              <a:avLst/>
            </a:prstGeom>
            <a:noFill/>
            <a:ln>
              <a:noFill/>
            </a:ln>
          </p:spPr>
          <p:txBody>
            <a:bodyPr wrap="none" lIns="0" tIns="0" rIns="0" bIns="0" anchor="t" anchorCtr="0">
              <a:spAutoFit/>
            </a:bodyPr>
            <a:lstStyle/>
            <a:p>
              <a:pPr algn="ctr"/>
              <a:r>
                <a:rPr lang="zh-CN" sz="1020" b="1" dirty="0">
                  <a:solidFill>
                    <a:srgbClr val="FFFFFF"/>
                  </a:solidFill>
                  <a:latin typeface="+mn-lt"/>
                  <a:ea typeface="+mn-ea"/>
                  <a:cs typeface="+mn-cs"/>
                </a:rPr>
                <a:t>4</a:t>
              </a:r>
            </a:p>
          </p:txBody>
        </p:sp>
        <p:sp>
          <p:nvSpPr>
            <p:cNvPr id="55" name="TextBox 55"/>
            <p:cNvSpPr txBox="1"/>
            <p:nvPr/>
          </p:nvSpPr>
          <p:spPr>
            <a:xfrm>
              <a:off x="7090410" y="5400675"/>
              <a:ext cx="3526384"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晶体管在核与 Cache 之间分配的平衡度</a:t>
              </a:r>
            </a:p>
          </p:txBody>
        </p:sp>
      </p:grpSp>
      <p:grpSp>
        <p:nvGrpSpPr>
          <p:cNvPr id="59" name="footer"/>
          <p:cNvGrpSpPr/>
          <p:nvPr/>
        </p:nvGrpSpPr>
        <p:grpSpPr>
          <a:xfrm>
            <a:off x="528447" y="6581299"/>
            <a:ext cx="11135106" cy="190690"/>
            <a:chOff x="528447" y="6581299"/>
            <a:chExt cx="11135106" cy="190690"/>
          </a:xfrm>
        </p:grpSpPr>
        <p:sp>
          <p:nvSpPr>
            <p:cNvPr id="57" name="TextBox 57"/>
            <p:cNvSpPr txBox="1"/>
            <p:nvPr/>
          </p:nvSpPr>
          <p:spPr>
            <a:xfrm>
              <a:off x="528447" y="6581299"/>
              <a:ext cx="2120748"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并行与分布式计算 · 第7章 体系结构</a:t>
              </a:r>
            </a:p>
          </p:txBody>
        </p:sp>
        <p:sp>
          <p:nvSpPr>
            <p:cNvPr id="58" name="TextBox 58"/>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13</a:t>
              </a:r>
            </a:p>
          </p:txBody>
        </p:sp>
      </p:gr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6739565" cy="909257"/>
            <a:chOff x="520446" y="342900"/>
            <a:chExt cx="6739565" cy="909257"/>
          </a:xfrm>
        </p:grpSpPr>
        <p:sp>
          <p:nvSpPr>
            <p:cNvPr id="2" name="Rectangle 2"/>
            <p:cNvSpPr/>
            <p:nvPr/>
          </p:nvSpPr>
          <p:spPr>
            <a:xfrm>
              <a:off x="533400" y="342900"/>
              <a:ext cx="2272665" cy="266700"/>
            </a:xfrm>
            <a:prstGeom prst="roundRect">
              <a:avLst>
                <a:gd name="adj" fmla="val 50000"/>
              </a:avLst>
            </a:prstGeom>
            <a:solidFill>
              <a:srgbClr val="E7EDF3"/>
            </a:solidFill>
            <a:ln>
              <a:noFill/>
            </a:ln>
          </p:spPr>
        </p:sp>
        <p:sp>
          <p:nvSpPr>
            <p:cNvPr id="3" name="TextBox 3"/>
            <p:cNvSpPr txBox="1"/>
            <p:nvPr/>
          </p:nvSpPr>
          <p:spPr>
            <a:xfrm>
              <a:off x="601058" y="407194"/>
              <a:ext cx="2137349"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第7章 体系结构 · 多处理器结构</a:t>
              </a:r>
            </a:p>
          </p:txBody>
        </p:sp>
        <p:sp>
          <p:nvSpPr>
            <p:cNvPr id="4" name="TextBox 4"/>
            <p:cNvSpPr txBox="1"/>
            <p:nvPr/>
          </p:nvSpPr>
          <p:spPr>
            <a:xfrm>
              <a:off x="520446" y="753428"/>
              <a:ext cx="6739565"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多核的四种 Cache 组织：共享从哪一级开始</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29" name="c1-graph-1"/>
          <p:cNvGrpSpPr/>
          <p:nvPr/>
        </p:nvGrpSpPr>
        <p:grpSpPr>
          <a:xfrm>
            <a:off x="841058" y="1584960"/>
            <a:ext cx="1937384" cy="2060734"/>
            <a:chOff x="841058" y="1584960"/>
            <a:chExt cx="1937384" cy="2060734"/>
          </a:xfrm>
        </p:grpSpPr>
        <p:sp>
          <p:nvSpPr>
            <p:cNvPr id="7" name="Freeform 7"/>
            <p:cNvSpPr/>
            <p:nvPr/>
          </p:nvSpPr>
          <p:spPr>
            <a:xfrm>
              <a:off x="1223010" y="1809750"/>
              <a:ext cx="9525" cy="186690"/>
            </a:xfrm>
            <a:custGeom>
              <a:avLst/>
              <a:gdLst/>
              <a:ahLst/>
              <a:cxnLst/>
              <a:rect l="l" t="t" r="r" b="b"/>
              <a:pathLst>
                <a:path w="9525" h="186690">
                  <a:moveTo>
                    <a:pt x="0" y="0"/>
                  </a:moveTo>
                  <a:lnTo>
                    <a:pt x="0" y="186690"/>
                  </a:lnTo>
                </a:path>
              </a:pathLst>
            </a:custGeom>
            <a:noFill/>
            <a:ln w="17145">
              <a:solidFill>
                <a:srgbClr val="1F2937"/>
              </a:solidFill>
            </a:ln>
          </p:spPr>
        </p:sp>
        <p:sp>
          <p:nvSpPr>
            <p:cNvPr id="8" name="Freeform 8"/>
            <p:cNvSpPr/>
            <p:nvPr/>
          </p:nvSpPr>
          <p:spPr>
            <a:xfrm>
              <a:off x="2396490" y="1809750"/>
              <a:ext cx="9525" cy="186690"/>
            </a:xfrm>
            <a:custGeom>
              <a:avLst/>
              <a:gdLst/>
              <a:ahLst/>
              <a:cxnLst/>
              <a:rect l="l" t="t" r="r" b="b"/>
              <a:pathLst>
                <a:path w="9525" h="186690">
                  <a:moveTo>
                    <a:pt x="0" y="0"/>
                  </a:moveTo>
                  <a:lnTo>
                    <a:pt x="0" y="186690"/>
                  </a:lnTo>
                </a:path>
              </a:pathLst>
            </a:custGeom>
            <a:noFill/>
            <a:ln w="17145">
              <a:solidFill>
                <a:srgbClr val="1F2937"/>
              </a:solidFill>
            </a:ln>
          </p:spPr>
        </p:sp>
        <p:sp>
          <p:nvSpPr>
            <p:cNvPr id="9" name="Freeform 9"/>
            <p:cNvSpPr/>
            <p:nvPr/>
          </p:nvSpPr>
          <p:spPr>
            <a:xfrm>
              <a:off x="1223010" y="2222182"/>
              <a:ext cx="9525" cy="183832"/>
            </a:xfrm>
            <a:custGeom>
              <a:avLst/>
              <a:gdLst/>
              <a:ahLst/>
              <a:cxnLst/>
              <a:rect l="l" t="t" r="r" b="b"/>
              <a:pathLst>
                <a:path w="9525" h="183832">
                  <a:moveTo>
                    <a:pt x="0" y="0"/>
                  </a:moveTo>
                  <a:lnTo>
                    <a:pt x="0" y="183832"/>
                  </a:lnTo>
                </a:path>
              </a:pathLst>
            </a:custGeom>
            <a:noFill/>
            <a:ln w="17145">
              <a:solidFill>
                <a:srgbClr val="1F2937"/>
              </a:solidFill>
            </a:ln>
          </p:spPr>
        </p:sp>
        <p:sp>
          <p:nvSpPr>
            <p:cNvPr id="10" name="Freeform 10"/>
            <p:cNvSpPr/>
            <p:nvPr/>
          </p:nvSpPr>
          <p:spPr>
            <a:xfrm>
              <a:off x="2396490" y="2222182"/>
              <a:ext cx="9525" cy="183832"/>
            </a:xfrm>
            <a:custGeom>
              <a:avLst/>
              <a:gdLst/>
              <a:ahLst/>
              <a:cxnLst/>
              <a:rect l="l" t="t" r="r" b="b"/>
              <a:pathLst>
                <a:path w="9525" h="183832">
                  <a:moveTo>
                    <a:pt x="0" y="0"/>
                  </a:moveTo>
                  <a:lnTo>
                    <a:pt x="0" y="183832"/>
                  </a:lnTo>
                </a:path>
              </a:pathLst>
            </a:custGeom>
            <a:noFill/>
            <a:ln w="17145">
              <a:solidFill>
                <a:srgbClr val="1F2937"/>
              </a:solidFill>
            </a:ln>
          </p:spPr>
        </p:sp>
        <p:sp>
          <p:nvSpPr>
            <p:cNvPr id="11" name="Freeform 11"/>
            <p:cNvSpPr/>
            <p:nvPr/>
          </p:nvSpPr>
          <p:spPr>
            <a:xfrm>
              <a:off x="1809750" y="2555558"/>
              <a:ext cx="9525" cy="307658"/>
            </a:xfrm>
            <a:custGeom>
              <a:avLst/>
              <a:gdLst/>
              <a:ahLst/>
              <a:cxnLst/>
              <a:rect l="l" t="t" r="r" b="b"/>
              <a:pathLst>
                <a:path w="9525" h="307658">
                  <a:moveTo>
                    <a:pt x="0" y="0"/>
                  </a:moveTo>
                  <a:lnTo>
                    <a:pt x="0" y="307658"/>
                  </a:lnTo>
                </a:path>
              </a:pathLst>
            </a:custGeom>
            <a:noFill/>
            <a:ln w="17145">
              <a:solidFill>
                <a:srgbClr val="1F2937"/>
              </a:solidFill>
            </a:ln>
          </p:spPr>
        </p:sp>
        <p:sp>
          <p:nvSpPr>
            <p:cNvPr id="12" name="Freeform 12"/>
            <p:cNvSpPr/>
            <p:nvPr/>
          </p:nvSpPr>
          <p:spPr>
            <a:xfrm>
              <a:off x="1349692" y="3088958"/>
              <a:ext cx="332423" cy="294322"/>
            </a:xfrm>
            <a:custGeom>
              <a:avLst/>
              <a:gdLst/>
              <a:ahLst/>
              <a:cxnLst/>
              <a:rect l="l" t="t" r="r" b="b"/>
              <a:pathLst>
                <a:path w="332423" h="294322">
                  <a:moveTo>
                    <a:pt x="332423" y="0"/>
                  </a:moveTo>
                  <a:lnTo>
                    <a:pt x="0" y="294322"/>
                  </a:lnTo>
                </a:path>
              </a:pathLst>
            </a:custGeom>
            <a:noFill/>
            <a:ln w="17145">
              <a:solidFill>
                <a:srgbClr val="1F2937"/>
              </a:solidFill>
            </a:ln>
          </p:spPr>
        </p:sp>
        <p:sp>
          <p:nvSpPr>
            <p:cNvPr id="13" name="Freeform 13"/>
            <p:cNvSpPr/>
            <p:nvPr/>
          </p:nvSpPr>
          <p:spPr>
            <a:xfrm>
              <a:off x="1947862" y="3088958"/>
              <a:ext cx="361950" cy="294322"/>
            </a:xfrm>
            <a:custGeom>
              <a:avLst/>
              <a:gdLst/>
              <a:ahLst/>
              <a:cxnLst/>
              <a:rect l="l" t="t" r="r" b="b"/>
              <a:pathLst>
                <a:path w="361950" h="294322">
                  <a:moveTo>
                    <a:pt x="0" y="0"/>
                  </a:moveTo>
                  <a:lnTo>
                    <a:pt x="361950" y="294322"/>
                  </a:lnTo>
                </a:path>
              </a:pathLst>
            </a:custGeom>
            <a:noFill/>
            <a:ln w="17145">
              <a:solidFill>
                <a:srgbClr val="1F2937"/>
              </a:solidFill>
            </a:ln>
          </p:spPr>
        </p:sp>
        <p:sp>
          <p:nvSpPr>
            <p:cNvPr id="14" name="Rectangle 14"/>
            <p:cNvSpPr/>
            <p:nvPr/>
          </p:nvSpPr>
          <p:spPr>
            <a:xfrm>
              <a:off x="900112" y="2486025"/>
              <a:ext cx="1820228" cy="69532"/>
            </a:xfrm>
            <a:prstGeom prst="roundRect">
              <a:avLst>
                <a:gd name="adj" fmla="val 50000"/>
              </a:avLst>
            </a:prstGeom>
            <a:solidFill>
              <a:srgbClr val="334E68"/>
            </a:solidFill>
            <a:ln w="17145">
              <a:solidFill>
                <a:srgbClr val="334E68"/>
              </a:solidFill>
            </a:ln>
          </p:spPr>
        </p:sp>
        <p:sp>
          <p:nvSpPr>
            <p:cNvPr id="15" name="Rectangle 15"/>
            <p:cNvSpPr/>
            <p:nvPr/>
          </p:nvSpPr>
          <p:spPr>
            <a:xfrm>
              <a:off x="841058" y="1584960"/>
              <a:ext cx="762952" cy="225742"/>
            </a:xfrm>
            <a:prstGeom prst="roundRect">
              <a:avLst>
                <a:gd name="adj" fmla="val 42194"/>
              </a:avLst>
            </a:prstGeom>
            <a:solidFill>
              <a:srgbClr val="334E68"/>
            </a:solidFill>
            <a:ln w="17145">
              <a:solidFill>
                <a:srgbClr val="334E68"/>
              </a:solidFill>
            </a:ln>
          </p:spPr>
        </p:sp>
        <p:sp>
          <p:nvSpPr>
            <p:cNvPr id="16" name="Rectangle 16"/>
            <p:cNvSpPr/>
            <p:nvPr/>
          </p:nvSpPr>
          <p:spPr>
            <a:xfrm>
              <a:off x="2015490" y="1584960"/>
              <a:ext cx="762952" cy="225742"/>
            </a:xfrm>
            <a:prstGeom prst="roundRect">
              <a:avLst>
                <a:gd name="adj" fmla="val 42194"/>
              </a:avLst>
            </a:prstGeom>
            <a:solidFill>
              <a:srgbClr val="334E68"/>
            </a:solidFill>
            <a:ln w="17145">
              <a:solidFill>
                <a:srgbClr val="334E68"/>
              </a:solidFill>
            </a:ln>
          </p:spPr>
        </p:sp>
        <p:sp>
          <p:nvSpPr>
            <p:cNvPr id="17" name="Rectangle 17"/>
            <p:cNvSpPr/>
            <p:nvPr/>
          </p:nvSpPr>
          <p:spPr>
            <a:xfrm>
              <a:off x="841058" y="1996440"/>
              <a:ext cx="762952" cy="225742"/>
            </a:xfrm>
            <a:prstGeom prst="roundRect">
              <a:avLst>
                <a:gd name="adj" fmla="val 42194"/>
              </a:avLst>
            </a:prstGeom>
            <a:solidFill>
              <a:srgbClr val="E7EDF3"/>
            </a:solidFill>
            <a:ln w="17145">
              <a:solidFill>
                <a:srgbClr val="334E68"/>
              </a:solidFill>
            </a:ln>
          </p:spPr>
        </p:sp>
        <p:sp>
          <p:nvSpPr>
            <p:cNvPr id="18" name="Rectangle 18"/>
            <p:cNvSpPr/>
            <p:nvPr/>
          </p:nvSpPr>
          <p:spPr>
            <a:xfrm>
              <a:off x="2015490" y="1996440"/>
              <a:ext cx="762952" cy="225742"/>
            </a:xfrm>
            <a:prstGeom prst="roundRect">
              <a:avLst>
                <a:gd name="adj" fmla="val 42194"/>
              </a:avLst>
            </a:prstGeom>
            <a:solidFill>
              <a:srgbClr val="E7EDF3"/>
            </a:solidFill>
            <a:ln w="17145">
              <a:solidFill>
                <a:srgbClr val="334E68"/>
              </a:solidFill>
            </a:ln>
          </p:spPr>
        </p:sp>
        <p:sp>
          <p:nvSpPr>
            <p:cNvPr id="19" name="Rectangle 19"/>
            <p:cNvSpPr/>
            <p:nvPr/>
          </p:nvSpPr>
          <p:spPr>
            <a:xfrm>
              <a:off x="1245870" y="2863215"/>
              <a:ext cx="1126808" cy="225742"/>
            </a:xfrm>
            <a:prstGeom prst="roundRect">
              <a:avLst>
                <a:gd name="adj" fmla="val 42194"/>
              </a:avLst>
            </a:prstGeom>
            <a:solidFill>
              <a:srgbClr val="FDEEE7"/>
            </a:solidFill>
            <a:ln w="17145">
              <a:solidFill>
                <a:srgbClr val="F26B3A"/>
              </a:solidFill>
            </a:ln>
          </p:spPr>
        </p:sp>
        <p:sp>
          <p:nvSpPr>
            <p:cNvPr id="20" name="Rectangle 20"/>
            <p:cNvSpPr/>
            <p:nvPr/>
          </p:nvSpPr>
          <p:spPr>
            <a:xfrm>
              <a:off x="876300" y="3383280"/>
              <a:ext cx="693420" cy="225742"/>
            </a:xfrm>
            <a:prstGeom prst="roundRect">
              <a:avLst>
                <a:gd name="adj" fmla="val 42194"/>
              </a:avLst>
            </a:prstGeom>
            <a:solidFill>
              <a:srgbClr val="FFFFFF"/>
            </a:solidFill>
            <a:ln w="17145">
              <a:solidFill>
                <a:srgbClr val="334E68"/>
              </a:solidFill>
            </a:ln>
          </p:spPr>
        </p:sp>
        <p:sp>
          <p:nvSpPr>
            <p:cNvPr id="21" name="Rectangle 21"/>
            <p:cNvSpPr/>
            <p:nvPr/>
          </p:nvSpPr>
          <p:spPr>
            <a:xfrm>
              <a:off x="2170748" y="3383280"/>
              <a:ext cx="554355" cy="225742"/>
            </a:xfrm>
            <a:prstGeom prst="roundRect">
              <a:avLst>
                <a:gd name="adj" fmla="val 42194"/>
              </a:avLst>
            </a:prstGeom>
            <a:solidFill>
              <a:srgbClr val="FFFFFF"/>
            </a:solidFill>
            <a:ln w="17145">
              <a:solidFill>
                <a:srgbClr val="334E68"/>
              </a:solidFill>
            </a:ln>
          </p:spPr>
        </p:sp>
        <p:sp>
          <p:nvSpPr>
            <p:cNvPr id="22" name="TextBox 22"/>
            <p:cNvSpPr txBox="1"/>
            <p:nvPr/>
          </p:nvSpPr>
          <p:spPr>
            <a:xfrm>
              <a:off x="1074625" y="1627346"/>
              <a:ext cx="296771"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核 1</a:t>
              </a:r>
            </a:p>
          </p:txBody>
        </p:sp>
        <p:sp>
          <p:nvSpPr>
            <p:cNvPr id="23" name="TextBox 23"/>
            <p:cNvSpPr txBox="1"/>
            <p:nvPr/>
          </p:nvSpPr>
          <p:spPr>
            <a:xfrm>
              <a:off x="2232273" y="1627346"/>
              <a:ext cx="328433"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核 m</a:t>
              </a:r>
            </a:p>
          </p:txBody>
        </p:sp>
        <p:sp>
          <p:nvSpPr>
            <p:cNvPr id="24" name="TextBox 24"/>
            <p:cNvSpPr txBox="1"/>
            <p:nvPr/>
          </p:nvSpPr>
          <p:spPr>
            <a:xfrm>
              <a:off x="983111" y="2038826"/>
              <a:ext cx="479798" cy="220028"/>
            </a:xfrm>
            <a:prstGeom prst="rect">
              <a:avLst/>
            </a:prstGeom>
            <a:noFill/>
            <a:ln>
              <a:noFill/>
            </a:ln>
          </p:spPr>
          <p:txBody>
            <a:bodyPr wrap="none" lIns="0" tIns="0" rIns="0" bIns="0" anchor="t" anchorCtr="0">
              <a:spAutoFit/>
            </a:bodyPr>
            <a:lstStyle/>
            <a:p>
              <a:pPr algn="ctr"/>
              <a:r>
                <a:rPr lang="en-US" sz="1120" b="1" dirty="0">
                  <a:solidFill>
                    <a:srgbClr val="243B53"/>
                  </a:solidFill>
                  <a:latin typeface="+mn-lt"/>
                  <a:ea typeface="+mn-ea"/>
                  <a:cs typeface="+mn-cs"/>
                </a:rPr>
                <a:t>L1 I/D</a:t>
              </a:r>
            </a:p>
          </p:txBody>
        </p:sp>
        <p:sp>
          <p:nvSpPr>
            <p:cNvPr id="25" name="TextBox 25"/>
            <p:cNvSpPr txBox="1"/>
            <p:nvPr/>
          </p:nvSpPr>
          <p:spPr>
            <a:xfrm>
              <a:off x="2156591" y="2038826"/>
              <a:ext cx="479798" cy="220028"/>
            </a:xfrm>
            <a:prstGeom prst="rect">
              <a:avLst/>
            </a:prstGeom>
            <a:noFill/>
            <a:ln>
              <a:noFill/>
            </a:ln>
          </p:spPr>
          <p:txBody>
            <a:bodyPr wrap="none" lIns="0" tIns="0" rIns="0" bIns="0" anchor="t" anchorCtr="0">
              <a:spAutoFit/>
            </a:bodyPr>
            <a:lstStyle/>
            <a:p>
              <a:pPr algn="ctr"/>
              <a:r>
                <a:rPr lang="en-US" sz="1120" b="1" dirty="0">
                  <a:solidFill>
                    <a:srgbClr val="243B53"/>
                  </a:solidFill>
                  <a:latin typeface="+mn-lt"/>
                  <a:ea typeface="+mn-ea"/>
                  <a:cs typeface="+mn-cs"/>
                </a:rPr>
                <a:t>L1 I/D</a:t>
              </a:r>
            </a:p>
          </p:txBody>
        </p:sp>
        <p:sp>
          <p:nvSpPr>
            <p:cNvPr id="26" name="TextBox 26"/>
            <p:cNvSpPr txBox="1"/>
            <p:nvPr/>
          </p:nvSpPr>
          <p:spPr>
            <a:xfrm>
              <a:off x="1469337" y="2905601"/>
              <a:ext cx="680826" cy="220028"/>
            </a:xfrm>
            <a:prstGeom prst="rect">
              <a:avLst/>
            </a:prstGeom>
            <a:noFill/>
            <a:ln>
              <a:noFill/>
            </a:ln>
          </p:spPr>
          <p:txBody>
            <a:bodyPr wrap="none" lIns="0" tIns="0" rIns="0" bIns="0" anchor="t" anchorCtr="0">
              <a:spAutoFit/>
            </a:bodyPr>
            <a:lstStyle/>
            <a:p>
              <a:pPr algn="ctr"/>
              <a:r>
                <a:rPr lang="en-US" sz="1120" b="1" dirty="0">
                  <a:solidFill>
                    <a:srgbClr val="1F2937"/>
                  </a:solidFill>
                  <a:latin typeface="+mn-lt"/>
                  <a:ea typeface="+mn-ea"/>
                  <a:cs typeface="+mn-cs"/>
                </a:rPr>
                <a:t>L2 Cache</a:t>
              </a:r>
            </a:p>
          </p:txBody>
        </p:sp>
        <p:sp>
          <p:nvSpPr>
            <p:cNvPr id="27" name="TextBox 27"/>
            <p:cNvSpPr txBox="1"/>
            <p:nvPr/>
          </p:nvSpPr>
          <p:spPr>
            <a:xfrm>
              <a:off x="1066521" y="3425666"/>
              <a:ext cx="312979" cy="220028"/>
            </a:xfrm>
            <a:prstGeom prst="rect">
              <a:avLst/>
            </a:prstGeom>
            <a:noFill/>
            <a:ln>
              <a:noFill/>
            </a:ln>
          </p:spPr>
          <p:txBody>
            <a:bodyPr wrap="none" lIns="0" tIns="0" rIns="0" bIns="0" anchor="t" anchorCtr="0">
              <a:spAutoFit/>
            </a:bodyPr>
            <a:lstStyle/>
            <a:p>
              <a:pPr algn="ctr"/>
              <a:r>
                <a:rPr lang="zh-CN" sz="1120" b="1" dirty="0">
                  <a:solidFill>
                    <a:srgbClr val="1F2937"/>
                  </a:solidFill>
                  <a:latin typeface="+mn-lt"/>
                  <a:ea typeface="+mn-ea"/>
                  <a:cs typeface="+mn-cs"/>
                </a:rPr>
                <a:t>主存</a:t>
              </a:r>
            </a:p>
          </p:txBody>
        </p:sp>
        <p:sp>
          <p:nvSpPr>
            <p:cNvPr id="28" name="TextBox 28"/>
            <p:cNvSpPr txBox="1"/>
            <p:nvPr/>
          </p:nvSpPr>
          <p:spPr>
            <a:xfrm>
              <a:off x="2308391" y="3425666"/>
              <a:ext cx="279069" cy="220028"/>
            </a:xfrm>
            <a:prstGeom prst="rect">
              <a:avLst/>
            </a:prstGeom>
            <a:noFill/>
            <a:ln>
              <a:noFill/>
            </a:ln>
          </p:spPr>
          <p:txBody>
            <a:bodyPr wrap="none" lIns="0" tIns="0" rIns="0" bIns="0" anchor="t" anchorCtr="0">
              <a:spAutoFit/>
            </a:bodyPr>
            <a:lstStyle/>
            <a:p>
              <a:pPr algn="ctr"/>
              <a:r>
                <a:rPr lang="en-US" sz="1120" b="1" dirty="0">
                  <a:solidFill>
                    <a:srgbClr val="1F2937"/>
                  </a:solidFill>
                  <a:latin typeface="+mn-lt"/>
                  <a:ea typeface="+mn-ea"/>
                  <a:cs typeface="+mn-cs"/>
                </a:rPr>
                <a:t>I/O</a:t>
              </a:r>
            </a:p>
          </p:txBody>
        </p:sp>
      </p:grpSp>
      <p:grpSp>
        <p:nvGrpSpPr>
          <p:cNvPr id="35" name="c1-card-2"/>
          <p:cNvGrpSpPr/>
          <p:nvPr/>
        </p:nvGrpSpPr>
        <p:grpSpPr>
          <a:xfrm>
            <a:off x="533400" y="3866198"/>
            <a:ext cx="2552700" cy="1724025"/>
            <a:chOff x="533400" y="3866198"/>
            <a:chExt cx="2552700" cy="1724025"/>
          </a:xfrm>
        </p:grpSpPr>
        <p:sp>
          <p:nvSpPr>
            <p:cNvPr id="30" name="Rectangle 30"/>
            <p:cNvSpPr/>
            <p:nvPr/>
          </p:nvSpPr>
          <p:spPr>
            <a:xfrm>
              <a:off x="533400" y="3866198"/>
              <a:ext cx="2552700" cy="1724025"/>
            </a:xfrm>
            <a:prstGeom prst="roundRect">
              <a:avLst>
                <a:gd name="adj" fmla="val 7735"/>
              </a:avLst>
            </a:prstGeom>
            <a:solidFill>
              <a:srgbClr val="FFFFFF"/>
            </a:solidFill>
            <a:ln w="14288">
              <a:solidFill>
                <a:srgbClr val="D9DFEA"/>
              </a:solidFill>
            </a:ln>
          </p:spPr>
        </p:sp>
        <p:sp>
          <p:nvSpPr>
            <p:cNvPr id="31" name="Rectangle 31"/>
            <p:cNvSpPr/>
            <p:nvPr/>
          </p:nvSpPr>
          <p:spPr>
            <a:xfrm>
              <a:off x="542925" y="3999548"/>
              <a:ext cx="47625" cy="1457325"/>
            </a:xfrm>
            <a:prstGeom prst="roundRect">
              <a:avLst>
                <a:gd name="adj" fmla="val 50000"/>
              </a:avLst>
            </a:prstGeom>
            <a:solidFill>
              <a:srgbClr val="334E68"/>
            </a:solidFill>
            <a:ln>
              <a:noFill/>
            </a:ln>
          </p:spPr>
        </p:sp>
        <p:sp>
          <p:nvSpPr>
            <p:cNvPr id="32" name="Rectangle 32"/>
            <p:cNvSpPr/>
            <p:nvPr/>
          </p:nvSpPr>
          <p:spPr>
            <a:xfrm>
              <a:off x="763905" y="4058602"/>
              <a:ext cx="944880" cy="247650"/>
            </a:xfrm>
            <a:prstGeom prst="roundRect">
              <a:avLst>
                <a:gd name="adj" fmla="val 50000"/>
              </a:avLst>
            </a:prstGeom>
            <a:solidFill>
              <a:srgbClr val="E7EDF3"/>
            </a:solidFill>
            <a:ln>
              <a:noFill/>
            </a:ln>
          </p:spPr>
        </p:sp>
        <p:sp>
          <p:nvSpPr>
            <p:cNvPr id="33" name="TextBox 33"/>
            <p:cNvSpPr txBox="1"/>
            <p:nvPr/>
          </p:nvSpPr>
          <p:spPr>
            <a:xfrm>
              <a:off x="835178" y="4092893"/>
              <a:ext cx="802334" cy="205359"/>
            </a:xfrm>
            <a:prstGeom prst="rect">
              <a:avLst/>
            </a:prstGeom>
            <a:noFill/>
            <a:ln>
              <a:noFill/>
            </a:ln>
          </p:spPr>
          <p:txBody>
            <a:bodyPr wrap="none" lIns="0" tIns="0" rIns="0" bIns="0" anchor="t" anchorCtr="0">
              <a:spAutoFit/>
            </a:bodyPr>
            <a:lstStyle/>
            <a:p>
              <a:pPr algn="ctr"/>
              <a:r>
                <a:rPr lang="zh-CN" sz="1050" b="1" dirty="0">
                  <a:solidFill>
                    <a:srgbClr val="334E68"/>
                  </a:solidFill>
                  <a:latin typeface="+mn-lt"/>
                  <a:ea typeface="+mn-ea"/>
                  <a:cs typeface="+mn-cs"/>
                </a:rPr>
                <a:t>(a) 专用 L1</a:t>
              </a:r>
            </a:p>
          </p:txBody>
        </p:sp>
        <p:sp>
          <p:nvSpPr>
            <p:cNvPr id="34" name="TextBox 34"/>
            <p:cNvSpPr txBox="1"/>
            <p:nvPr/>
          </p:nvSpPr>
          <p:spPr>
            <a:xfrm>
              <a:off x="757047" y="4414838"/>
              <a:ext cx="1899666" cy="103555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每核只有私有 L1（分指</a:t>
              </a:r>
              <a:br/>
              <a:r>
                <a:rPr lang="zh-CN" sz="1350" dirty="0">
                  <a:solidFill>
                    <a:srgbClr val="1F2937"/>
                  </a:solidFill>
                  <a:latin typeface="+mn-lt"/>
                  <a:ea typeface="+mn-ea"/>
                  <a:cs typeface="+mn-cs"/>
                </a:rPr>
                <a:t>令、数据），片内没有共</a:t>
              </a:r>
              <a:br/>
              <a:r>
                <a:rPr lang="zh-CN" sz="1350" dirty="0">
                  <a:solidFill>
                    <a:srgbClr val="1F2937"/>
                  </a:solidFill>
                  <a:latin typeface="+mn-lt"/>
                  <a:ea typeface="+mn-ea"/>
                  <a:cs typeface="+mn-cs"/>
                </a:rPr>
                <a:t>享 Cache，L2 在片外。</a:t>
              </a:r>
              <a:br/>
              <a:r>
                <a:rPr lang="zh-CN" sz="1350" dirty="0">
                  <a:solidFill>
                    <a:srgbClr val="1F2937"/>
                  </a:solidFill>
                  <a:latin typeface="+mn-lt"/>
                  <a:ea typeface="+mn-ea"/>
                  <a:cs typeface="+mn-cs"/>
                </a:rPr>
                <a:t>例：ARM11 MPCore。</a:t>
              </a:r>
            </a:p>
          </p:txBody>
        </p:sp>
      </p:grpSp>
      <p:grpSp>
        <p:nvGrpSpPr>
          <p:cNvPr id="61" name="c2-graph-1"/>
          <p:cNvGrpSpPr/>
          <p:nvPr/>
        </p:nvGrpSpPr>
        <p:grpSpPr>
          <a:xfrm>
            <a:off x="3698558" y="1563052"/>
            <a:ext cx="1937384" cy="2082642"/>
            <a:chOff x="3698558" y="1563052"/>
            <a:chExt cx="1937384" cy="2082642"/>
          </a:xfrm>
        </p:grpSpPr>
        <p:sp>
          <p:nvSpPr>
            <p:cNvPr id="36" name="Freeform 36"/>
            <p:cNvSpPr/>
            <p:nvPr/>
          </p:nvSpPr>
          <p:spPr>
            <a:xfrm>
              <a:off x="4080510" y="1788795"/>
              <a:ext cx="9525" cy="142875"/>
            </a:xfrm>
            <a:custGeom>
              <a:avLst/>
              <a:gdLst/>
              <a:ahLst/>
              <a:cxnLst/>
              <a:rect l="l" t="t" r="r" b="b"/>
              <a:pathLst>
                <a:path w="9525" h="142875">
                  <a:moveTo>
                    <a:pt x="0" y="0"/>
                  </a:moveTo>
                  <a:lnTo>
                    <a:pt x="0" y="142875"/>
                  </a:lnTo>
                </a:path>
              </a:pathLst>
            </a:custGeom>
            <a:noFill/>
            <a:ln w="17145">
              <a:solidFill>
                <a:srgbClr val="1F2937"/>
              </a:solidFill>
            </a:ln>
          </p:spPr>
        </p:sp>
        <p:sp>
          <p:nvSpPr>
            <p:cNvPr id="37" name="Freeform 37"/>
            <p:cNvSpPr/>
            <p:nvPr/>
          </p:nvSpPr>
          <p:spPr>
            <a:xfrm>
              <a:off x="5253990" y="1788795"/>
              <a:ext cx="9525" cy="142875"/>
            </a:xfrm>
            <a:custGeom>
              <a:avLst/>
              <a:gdLst/>
              <a:ahLst/>
              <a:cxnLst/>
              <a:rect l="l" t="t" r="r" b="b"/>
              <a:pathLst>
                <a:path w="9525" h="142875">
                  <a:moveTo>
                    <a:pt x="0" y="0"/>
                  </a:moveTo>
                  <a:lnTo>
                    <a:pt x="0" y="142875"/>
                  </a:lnTo>
                </a:path>
              </a:pathLst>
            </a:custGeom>
            <a:noFill/>
            <a:ln w="17145">
              <a:solidFill>
                <a:srgbClr val="1F2937"/>
              </a:solidFill>
            </a:ln>
          </p:spPr>
        </p:sp>
        <p:sp>
          <p:nvSpPr>
            <p:cNvPr id="38" name="Freeform 38"/>
            <p:cNvSpPr/>
            <p:nvPr/>
          </p:nvSpPr>
          <p:spPr>
            <a:xfrm>
              <a:off x="4080510" y="2156460"/>
              <a:ext cx="9525" cy="142875"/>
            </a:xfrm>
            <a:custGeom>
              <a:avLst/>
              <a:gdLst/>
              <a:ahLst/>
              <a:cxnLst/>
              <a:rect l="l" t="t" r="r" b="b"/>
              <a:pathLst>
                <a:path w="9525" h="142875">
                  <a:moveTo>
                    <a:pt x="0" y="0"/>
                  </a:moveTo>
                  <a:lnTo>
                    <a:pt x="0" y="142875"/>
                  </a:lnTo>
                </a:path>
              </a:pathLst>
            </a:custGeom>
            <a:noFill/>
            <a:ln w="17145">
              <a:solidFill>
                <a:srgbClr val="1F2937"/>
              </a:solidFill>
            </a:ln>
          </p:spPr>
        </p:sp>
        <p:sp>
          <p:nvSpPr>
            <p:cNvPr id="39" name="Freeform 39"/>
            <p:cNvSpPr/>
            <p:nvPr/>
          </p:nvSpPr>
          <p:spPr>
            <a:xfrm>
              <a:off x="5253990" y="2156460"/>
              <a:ext cx="9525" cy="142875"/>
            </a:xfrm>
            <a:custGeom>
              <a:avLst/>
              <a:gdLst/>
              <a:ahLst/>
              <a:cxnLst/>
              <a:rect l="l" t="t" r="r" b="b"/>
              <a:pathLst>
                <a:path w="9525" h="142875">
                  <a:moveTo>
                    <a:pt x="0" y="0"/>
                  </a:moveTo>
                  <a:lnTo>
                    <a:pt x="0" y="142875"/>
                  </a:lnTo>
                </a:path>
              </a:pathLst>
            </a:custGeom>
            <a:noFill/>
            <a:ln w="17145">
              <a:solidFill>
                <a:srgbClr val="1F2937"/>
              </a:solidFill>
            </a:ln>
          </p:spPr>
        </p:sp>
        <p:sp>
          <p:nvSpPr>
            <p:cNvPr id="40" name="Freeform 40"/>
            <p:cNvSpPr/>
            <p:nvPr/>
          </p:nvSpPr>
          <p:spPr>
            <a:xfrm>
              <a:off x="4080510" y="2525078"/>
              <a:ext cx="9525" cy="184785"/>
            </a:xfrm>
            <a:custGeom>
              <a:avLst/>
              <a:gdLst/>
              <a:ahLst/>
              <a:cxnLst/>
              <a:rect l="l" t="t" r="r" b="b"/>
              <a:pathLst>
                <a:path w="9525" h="184785">
                  <a:moveTo>
                    <a:pt x="0" y="0"/>
                  </a:moveTo>
                  <a:lnTo>
                    <a:pt x="0" y="184785"/>
                  </a:lnTo>
                </a:path>
              </a:pathLst>
            </a:custGeom>
            <a:noFill/>
            <a:ln w="17145">
              <a:solidFill>
                <a:srgbClr val="1F2937"/>
              </a:solidFill>
            </a:ln>
          </p:spPr>
        </p:sp>
        <p:sp>
          <p:nvSpPr>
            <p:cNvPr id="41" name="Freeform 41"/>
            <p:cNvSpPr/>
            <p:nvPr/>
          </p:nvSpPr>
          <p:spPr>
            <a:xfrm>
              <a:off x="5253990" y="2525078"/>
              <a:ext cx="9525" cy="184785"/>
            </a:xfrm>
            <a:custGeom>
              <a:avLst/>
              <a:gdLst/>
              <a:ahLst/>
              <a:cxnLst/>
              <a:rect l="l" t="t" r="r" b="b"/>
              <a:pathLst>
                <a:path w="9525" h="184785">
                  <a:moveTo>
                    <a:pt x="0" y="0"/>
                  </a:moveTo>
                  <a:lnTo>
                    <a:pt x="0" y="184785"/>
                  </a:lnTo>
                </a:path>
              </a:pathLst>
            </a:custGeom>
            <a:noFill/>
            <a:ln w="17145">
              <a:solidFill>
                <a:srgbClr val="1F2937"/>
              </a:solidFill>
            </a:ln>
          </p:spPr>
        </p:sp>
        <p:sp>
          <p:nvSpPr>
            <p:cNvPr id="42" name="Freeform 42"/>
            <p:cNvSpPr/>
            <p:nvPr/>
          </p:nvSpPr>
          <p:spPr>
            <a:xfrm>
              <a:off x="4080510" y="2938462"/>
              <a:ext cx="9525" cy="444817"/>
            </a:xfrm>
            <a:custGeom>
              <a:avLst/>
              <a:gdLst/>
              <a:ahLst/>
              <a:cxnLst/>
              <a:rect l="l" t="t" r="r" b="b"/>
              <a:pathLst>
                <a:path w="9525" h="444817">
                  <a:moveTo>
                    <a:pt x="0" y="0"/>
                  </a:moveTo>
                  <a:lnTo>
                    <a:pt x="0" y="444817"/>
                  </a:lnTo>
                </a:path>
              </a:pathLst>
            </a:custGeom>
            <a:noFill/>
            <a:ln w="17145">
              <a:solidFill>
                <a:srgbClr val="1F2937"/>
              </a:solidFill>
            </a:ln>
          </p:spPr>
        </p:sp>
        <p:sp>
          <p:nvSpPr>
            <p:cNvPr id="43" name="Freeform 43"/>
            <p:cNvSpPr/>
            <p:nvPr/>
          </p:nvSpPr>
          <p:spPr>
            <a:xfrm>
              <a:off x="5253990" y="2938462"/>
              <a:ext cx="9525" cy="444817"/>
            </a:xfrm>
            <a:custGeom>
              <a:avLst/>
              <a:gdLst/>
              <a:ahLst/>
              <a:cxnLst/>
              <a:rect l="l" t="t" r="r" b="b"/>
              <a:pathLst>
                <a:path w="9525" h="444817">
                  <a:moveTo>
                    <a:pt x="0" y="0"/>
                  </a:moveTo>
                  <a:lnTo>
                    <a:pt x="0" y="444817"/>
                  </a:lnTo>
                </a:path>
              </a:pathLst>
            </a:custGeom>
            <a:noFill/>
            <a:ln w="17145">
              <a:solidFill>
                <a:srgbClr val="1F2937"/>
              </a:solidFill>
            </a:ln>
          </p:spPr>
        </p:sp>
        <p:sp>
          <p:nvSpPr>
            <p:cNvPr id="44" name="Rectangle 44"/>
            <p:cNvSpPr/>
            <p:nvPr/>
          </p:nvSpPr>
          <p:spPr>
            <a:xfrm>
              <a:off x="3756660" y="2789872"/>
              <a:ext cx="1820228" cy="69532"/>
            </a:xfrm>
            <a:prstGeom prst="roundRect">
              <a:avLst>
                <a:gd name="adj" fmla="val 50000"/>
              </a:avLst>
            </a:prstGeom>
            <a:solidFill>
              <a:srgbClr val="334E68"/>
            </a:solidFill>
            <a:ln w="17145">
              <a:solidFill>
                <a:srgbClr val="334E68"/>
              </a:solidFill>
            </a:ln>
          </p:spPr>
        </p:sp>
        <p:sp>
          <p:nvSpPr>
            <p:cNvPr id="45" name="Rectangle 45"/>
            <p:cNvSpPr/>
            <p:nvPr/>
          </p:nvSpPr>
          <p:spPr>
            <a:xfrm>
              <a:off x="3698558" y="1563052"/>
              <a:ext cx="762952" cy="225742"/>
            </a:xfrm>
            <a:prstGeom prst="roundRect">
              <a:avLst>
                <a:gd name="adj" fmla="val 42194"/>
              </a:avLst>
            </a:prstGeom>
            <a:solidFill>
              <a:srgbClr val="334E68"/>
            </a:solidFill>
            <a:ln w="17145">
              <a:solidFill>
                <a:srgbClr val="334E68"/>
              </a:solidFill>
            </a:ln>
          </p:spPr>
        </p:sp>
        <p:sp>
          <p:nvSpPr>
            <p:cNvPr id="46" name="Rectangle 46"/>
            <p:cNvSpPr/>
            <p:nvPr/>
          </p:nvSpPr>
          <p:spPr>
            <a:xfrm>
              <a:off x="4872990" y="1563052"/>
              <a:ext cx="762952" cy="225742"/>
            </a:xfrm>
            <a:prstGeom prst="roundRect">
              <a:avLst>
                <a:gd name="adj" fmla="val 42194"/>
              </a:avLst>
            </a:prstGeom>
            <a:solidFill>
              <a:srgbClr val="334E68"/>
            </a:solidFill>
            <a:ln w="17145">
              <a:solidFill>
                <a:srgbClr val="334E68"/>
              </a:solidFill>
            </a:ln>
          </p:spPr>
        </p:sp>
        <p:sp>
          <p:nvSpPr>
            <p:cNvPr id="47" name="Rectangle 47"/>
            <p:cNvSpPr/>
            <p:nvPr/>
          </p:nvSpPr>
          <p:spPr>
            <a:xfrm>
              <a:off x="3698558" y="1931670"/>
              <a:ext cx="762952" cy="225742"/>
            </a:xfrm>
            <a:prstGeom prst="roundRect">
              <a:avLst>
                <a:gd name="adj" fmla="val 42194"/>
              </a:avLst>
            </a:prstGeom>
            <a:solidFill>
              <a:srgbClr val="E7EDF3"/>
            </a:solidFill>
            <a:ln w="17145">
              <a:solidFill>
                <a:srgbClr val="334E68"/>
              </a:solidFill>
            </a:ln>
          </p:spPr>
        </p:sp>
        <p:sp>
          <p:nvSpPr>
            <p:cNvPr id="48" name="Rectangle 48"/>
            <p:cNvSpPr/>
            <p:nvPr/>
          </p:nvSpPr>
          <p:spPr>
            <a:xfrm>
              <a:off x="4872990" y="1931670"/>
              <a:ext cx="762952" cy="225742"/>
            </a:xfrm>
            <a:prstGeom prst="roundRect">
              <a:avLst>
                <a:gd name="adj" fmla="val 42194"/>
              </a:avLst>
            </a:prstGeom>
            <a:solidFill>
              <a:srgbClr val="E7EDF3"/>
            </a:solidFill>
            <a:ln w="17145">
              <a:solidFill>
                <a:srgbClr val="334E68"/>
              </a:solidFill>
            </a:ln>
          </p:spPr>
        </p:sp>
        <p:sp>
          <p:nvSpPr>
            <p:cNvPr id="49" name="Rectangle 49"/>
            <p:cNvSpPr/>
            <p:nvPr/>
          </p:nvSpPr>
          <p:spPr>
            <a:xfrm>
              <a:off x="3698558" y="2299335"/>
              <a:ext cx="762952" cy="225742"/>
            </a:xfrm>
            <a:prstGeom prst="roundRect">
              <a:avLst>
                <a:gd name="adj" fmla="val 42194"/>
              </a:avLst>
            </a:prstGeom>
            <a:solidFill>
              <a:srgbClr val="FDEEE7"/>
            </a:solidFill>
            <a:ln w="17145">
              <a:solidFill>
                <a:srgbClr val="F26B3A"/>
              </a:solidFill>
            </a:ln>
          </p:spPr>
        </p:sp>
        <p:sp>
          <p:nvSpPr>
            <p:cNvPr id="50" name="Rectangle 50"/>
            <p:cNvSpPr/>
            <p:nvPr/>
          </p:nvSpPr>
          <p:spPr>
            <a:xfrm>
              <a:off x="4872990" y="2299335"/>
              <a:ext cx="762952" cy="225742"/>
            </a:xfrm>
            <a:prstGeom prst="roundRect">
              <a:avLst>
                <a:gd name="adj" fmla="val 42194"/>
              </a:avLst>
            </a:prstGeom>
            <a:solidFill>
              <a:srgbClr val="FDEEE7"/>
            </a:solidFill>
            <a:ln w="17145">
              <a:solidFill>
                <a:srgbClr val="F26B3A"/>
              </a:solidFill>
            </a:ln>
          </p:spPr>
        </p:sp>
        <p:sp>
          <p:nvSpPr>
            <p:cNvPr id="51" name="Rectangle 51"/>
            <p:cNvSpPr/>
            <p:nvPr/>
          </p:nvSpPr>
          <p:spPr>
            <a:xfrm>
              <a:off x="3733800" y="3383280"/>
              <a:ext cx="693420" cy="225742"/>
            </a:xfrm>
            <a:prstGeom prst="roundRect">
              <a:avLst>
                <a:gd name="adj" fmla="val 42194"/>
              </a:avLst>
            </a:prstGeom>
            <a:solidFill>
              <a:srgbClr val="FFFFFF"/>
            </a:solidFill>
            <a:ln w="17145">
              <a:solidFill>
                <a:srgbClr val="334E68"/>
              </a:solidFill>
            </a:ln>
          </p:spPr>
        </p:sp>
        <p:sp>
          <p:nvSpPr>
            <p:cNvPr id="52" name="Rectangle 52"/>
            <p:cNvSpPr/>
            <p:nvPr/>
          </p:nvSpPr>
          <p:spPr>
            <a:xfrm>
              <a:off x="4976812" y="3383280"/>
              <a:ext cx="554355" cy="225742"/>
            </a:xfrm>
            <a:prstGeom prst="roundRect">
              <a:avLst>
                <a:gd name="adj" fmla="val 42194"/>
              </a:avLst>
            </a:prstGeom>
            <a:solidFill>
              <a:srgbClr val="FFFFFF"/>
            </a:solidFill>
            <a:ln w="17145">
              <a:solidFill>
                <a:srgbClr val="334E68"/>
              </a:solidFill>
            </a:ln>
          </p:spPr>
        </p:sp>
        <p:sp>
          <p:nvSpPr>
            <p:cNvPr id="53" name="TextBox 53"/>
            <p:cNvSpPr txBox="1"/>
            <p:nvPr/>
          </p:nvSpPr>
          <p:spPr>
            <a:xfrm>
              <a:off x="3932125" y="1605439"/>
              <a:ext cx="296771"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核 1</a:t>
              </a:r>
            </a:p>
          </p:txBody>
        </p:sp>
        <p:sp>
          <p:nvSpPr>
            <p:cNvPr id="54" name="TextBox 54"/>
            <p:cNvSpPr txBox="1"/>
            <p:nvPr/>
          </p:nvSpPr>
          <p:spPr>
            <a:xfrm>
              <a:off x="5089773" y="1605439"/>
              <a:ext cx="328433"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核 m</a:t>
              </a:r>
            </a:p>
          </p:txBody>
        </p:sp>
        <p:sp>
          <p:nvSpPr>
            <p:cNvPr id="55" name="TextBox 55"/>
            <p:cNvSpPr txBox="1"/>
            <p:nvPr/>
          </p:nvSpPr>
          <p:spPr>
            <a:xfrm>
              <a:off x="3840611" y="1974056"/>
              <a:ext cx="479798" cy="220028"/>
            </a:xfrm>
            <a:prstGeom prst="rect">
              <a:avLst/>
            </a:prstGeom>
            <a:noFill/>
            <a:ln>
              <a:noFill/>
            </a:ln>
          </p:spPr>
          <p:txBody>
            <a:bodyPr wrap="none" lIns="0" tIns="0" rIns="0" bIns="0" anchor="t" anchorCtr="0">
              <a:spAutoFit/>
            </a:bodyPr>
            <a:lstStyle/>
            <a:p>
              <a:pPr algn="ctr"/>
              <a:r>
                <a:rPr lang="en-US" sz="1120" b="1" dirty="0">
                  <a:solidFill>
                    <a:srgbClr val="243B53"/>
                  </a:solidFill>
                  <a:latin typeface="+mn-lt"/>
                  <a:ea typeface="+mn-ea"/>
                  <a:cs typeface="+mn-cs"/>
                </a:rPr>
                <a:t>L1 I/D</a:t>
              </a:r>
            </a:p>
          </p:txBody>
        </p:sp>
        <p:sp>
          <p:nvSpPr>
            <p:cNvPr id="56" name="TextBox 56"/>
            <p:cNvSpPr txBox="1"/>
            <p:nvPr/>
          </p:nvSpPr>
          <p:spPr>
            <a:xfrm>
              <a:off x="5014091" y="1974056"/>
              <a:ext cx="479798" cy="220028"/>
            </a:xfrm>
            <a:prstGeom prst="rect">
              <a:avLst/>
            </a:prstGeom>
            <a:noFill/>
            <a:ln>
              <a:noFill/>
            </a:ln>
          </p:spPr>
          <p:txBody>
            <a:bodyPr wrap="none" lIns="0" tIns="0" rIns="0" bIns="0" anchor="t" anchorCtr="0">
              <a:spAutoFit/>
            </a:bodyPr>
            <a:lstStyle/>
            <a:p>
              <a:pPr algn="ctr"/>
              <a:r>
                <a:rPr lang="en-US" sz="1120" b="1" dirty="0">
                  <a:solidFill>
                    <a:srgbClr val="243B53"/>
                  </a:solidFill>
                  <a:latin typeface="+mn-lt"/>
                  <a:ea typeface="+mn-ea"/>
                  <a:cs typeface="+mn-cs"/>
                </a:rPr>
                <a:t>L1 I/D</a:t>
              </a:r>
            </a:p>
          </p:txBody>
        </p:sp>
        <p:sp>
          <p:nvSpPr>
            <p:cNvPr id="57" name="TextBox 57"/>
            <p:cNvSpPr txBox="1"/>
            <p:nvPr/>
          </p:nvSpPr>
          <p:spPr>
            <a:xfrm>
              <a:off x="3982794" y="2342674"/>
              <a:ext cx="195432" cy="220028"/>
            </a:xfrm>
            <a:prstGeom prst="rect">
              <a:avLst/>
            </a:prstGeom>
            <a:noFill/>
            <a:ln>
              <a:noFill/>
            </a:ln>
          </p:spPr>
          <p:txBody>
            <a:bodyPr wrap="none" lIns="0" tIns="0" rIns="0" bIns="0" anchor="t" anchorCtr="0">
              <a:spAutoFit/>
            </a:bodyPr>
            <a:lstStyle/>
            <a:p>
              <a:pPr algn="ctr"/>
              <a:r>
                <a:rPr lang="en-US" sz="1120" b="1" dirty="0">
                  <a:solidFill>
                    <a:srgbClr val="1F2937"/>
                  </a:solidFill>
                  <a:latin typeface="+mn-lt"/>
                  <a:ea typeface="+mn-ea"/>
                  <a:cs typeface="+mn-cs"/>
                </a:rPr>
                <a:t>L2</a:t>
              </a:r>
            </a:p>
          </p:txBody>
        </p:sp>
        <p:sp>
          <p:nvSpPr>
            <p:cNvPr id="58" name="TextBox 58"/>
            <p:cNvSpPr txBox="1"/>
            <p:nvPr/>
          </p:nvSpPr>
          <p:spPr>
            <a:xfrm>
              <a:off x="5156274" y="2342674"/>
              <a:ext cx="195432" cy="220028"/>
            </a:xfrm>
            <a:prstGeom prst="rect">
              <a:avLst/>
            </a:prstGeom>
            <a:noFill/>
            <a:ln>
              <a:noFill/>
            </a:ln>
          </p:spPr>
          <p:txBody>
            <a:bodyPr wrap="none" lIns="0" tIns="0" rIns="0" bIns="0" anchor="t" anchorCtr="0">
              <a:spAutoFit/>
            </a:bodyPr>
            <a:lstStyle/>
            <a:p>
              <a:pPr algn="ctr"/>
              <a:r>
                <a:rPr lang="en-US" sz="1120" b="1" dirty="0">
                  <a:solidFill>
                    <a:srgbClr val="1F2937"/>
                  </a:solidFill>
                  <a:latin typeface="+mn-lt"/>
                  <a:ea typeface="+mn-ea"/>
                  <a:cs typeface="+mn-cs"/>
                </a:rPr>
                <a:t>L2</a:t>
              </a:r>
            </a:p>
          </p:txBody>
        </p:sp>
        <p:sp>
          <p:nvSpPr>
            <p:cNvPr id="59" name="TextBox 59"/>
            <p:cNvSpPr txBox="1"/>
            <p:nvPr/>
          </p:nvSpPr>
          <p:spPr>
            <a:xfrm>
              <a:off x="3924021" y="3425666"/>
              <a:ext cx="312979" cy="220028"/>
            </a:xfrm>
            <a:prstGeom prst="rect">
              <a:avLst/>
            </a:prstGeom>
            <a:noFill/>
            <a:ln>
              <a:noFill/>
            </a:ln>
          </p:spPr>
          <p:txBody>
            <a:bodyPr wrap="none" lIns="0" tIns="0" rIns="0" bIns="0" anchor="t" anchorCtr="0">
              <a:spAutoFit/>
            </a:bodyPr>
            <a:lstStyle/>
            <a:p>
              <a:pPr algn="ctr"/>
              <a:r>
                <a:rPr lang="zh-CN" sz="1120" b="1" dirty="0">
                  <a:solidFill>
                    <a:srgbClr val="1F2937"/>
                  </a:solidFill>
                  <a:latin typeface="+mn-lt"/>
                  <a:ea typeface="+mn-ea"/>
                  <a:cs typeface="+mn-cs"/>
                </a:rPr>
                <a:t>主存</a:t>
              </a:r>
            </a:p>
          </p:txBody>
        </p:sp>
        <p:sp>
          <p:nvSpPr>
            <p:cNvPr id="60" name="TextBox 60"/>
            <p:cNvSpPr txBox="1"/>
            <p:nvPr/>
          </p:nvSpPr>
          <p:spPr>
            <a:xfrm>
              <a:off x="5114456" y="3425666"/>
              <a:ext cx="279069" cy="220028"/>
            </a:xfrm>
            <a:prstGeom prst="rect">
              <a:avLst/>
            </a:prstGeom>
            <a:noFill/>
            <a:ln>
              <a:noFill/>
            </a:ln>
          </p:spPr>
          <p:txBody>
            <a:bodyPr wrap="none" lIns="0" tIns="0" rIns="0" bIns="0" anchor="t" anchorCtr="0">
              <a:spAutoFit/>
            </a:bodyPr>
            <a:lstStyle/>
            <a:p>
              <a:pPr algn="ctr"/>
              <a:r>
                <a:rPr lang="en-US" sz="1120" b="1" dirty="0">
                  <a:solidFill>
                    <a:srgbClr val="1F2937"/>
                  </a:solidFill>
                  <a:latin typeface="+mn-lt"/>
                  <a:ea typeface="+mn-ea"/>
                  <a:cs typeface="+mn-cs"/>
                </a:rPr>
                <a:t>I/O</a:t>
              </a:r>
            </a:p>
          </p:txBody>
        </p:sp>
      </p:grpSp>
      <p:grpSp>
        <p:nvGrpSpPr>
          <p:cNvPr id="67" name="c2-card-2"/>
          <p:cNvGrpSpPr/>
          <p:nvPr/>
        </p:nvGrpSpPr>
        <p:grpSpPr>
          <a:xfrm>
            <a:off x="3390900" y="3866198"/>
            <a:ext cx="2552700" cy="1724025"/>
            <a:chOff x="3390900" y="3866198"/>
            <a:chExt cx="2552700" cy="1724025"/>
          </a:xfrm>
        </p:grpSpPr>
        <p:sp>
          <p:nvSpPr>
            <p:cNvPr id="62" name="Rectangle 62"/>
            <p:cNvSpPr/>
            <p:nvPr/>
          </p:nvSpPr>
          <p:spPr>
            <a:xfrm>
              <a:off x="3390900" y="3866198"/>
              <a:ext cx="2552700" cy="1724025"/>
            </a:xfrm>
            <a:prstGeom prst="roundRect">
              <a:avLst>
                <a:gd name="adj" fmla="val 7735"/>
              </a:avLst>
            </a:prstGeom>
            <a:solidFill>
              <a:srgbClr val="FFFFFF"/>
            </a:solidFill>
            <a:ln w="14288">
              <a:solidFill>
                <a:srgbClr val="D9DFEA"/>
              </a:solidFill>
            </a:ln>
          </p:spPr>
        </p:sp>
        <p:sp>
          <p:nvSpPr>
            <p:cNvPr id="63" name="Rectangle 63"/>
            <p:cNvSpPr/>
            <p:nvPr/>
          </p:nvSpPr>
          <p:spPr>
            <a:xfrm>
              <a:off x="3400425" y="3999548"/>
              <a:ext cx="47625" cy="1457325"/>
            </a:xfrm>
            <a:prstGeom prst="roundRect">
              <a:avLst>
                <a:gd name="adj" fmla="val 50000"/>
              </a:avLst>
            </a:prstGeom>
            <a:solidFill>
              <a:srgbClr val="334E68"/>
            </a:solidFill>
            <a:ln>
              <a:noFill/>
            </a:ln>
          </p:spPr>
        </p:sp>
        <p:sp>
          <p:nvSpPr>
            <p:cNvPr id="64" name="Rectangle 64"/>
            <p:cNvSpPr/>
            <p:nvPr/>
          </p:nvSpPr>
          <p:spPr>
            <a:xfrm>
              <a:off x="3621405" y="4058602"/>
              <a:ext cx="944880" cy="247650"/>
            </a:xfrm>
            <a:prstGeom prst="roundRect">
              <a:avLst>
                <a:gd name="adj" fmla="val 50000"/>
              </a:avLst>
            </a:prstGeom>
            <a:solidFill>
              <a:srgbClr val="E7EDF3"/>
            </a:solidFill>
            <a:ln>
              <a:noFill/>
            </a:ln>
          </p:spPr>
        </p:sp>
        <p:sp>
          <p:nvSpPr>
            <p:cNvPr id="65" name="TextBox 65"/>
            <p:cNvSpPr txBox="1"/>
            <p:nvPr/>
          </p:nvSpPr>
          <p:spPr>
            <a:xfrm>
              <a:off x="3692678" y="4092893"/>
              <a:ext cx="802334" cy="205359"/>
            </a:xfrm>
            <a:prstGeom prst="rect">
              <a:avLst/>
            </a:prstGeom>
            <a:noFill/>
            <a:ln>
              <a:noFill/>
            </a:ln>
          </p:spPr>
          <p:txBody>
            <a:bodyPr wrap="none" lIns="0" tIns="0" rIns="0" bIns="0" anchor="t" anchorCtr="0">
              <a:spAutoFit/>
            </a:bodyPr>
            <a:lstStyle/>
            <a:p>
              <a:pPr algn="ctr"/>
              <a:r>
                <a:rPr lang="zh-CN" sz="1050" b="1" dirty="0">
                  <a:solidFill>
                    <a:srgbClr val="334E68"/>
                  </a:solidFill>
                  <a:latin typeface="+mn-lt"/>
                  <a:ea typeface="+mn-ea"/>
                  <a:cs typeface="+mn-cs"/>
                </a:rPr>
                <a:t>(b) 专用 L2</a:t>
              </a:r>
            </a:p>
          </p:txBody>
        </p:sp>
        <p:sp>
          <p:nvSpPr>
            <p:cNvPr id="66" name="TextBox 66"/>
            <p:cNvSpPr txBox="1"/>
            <p:nvPr/>
          </p:nvSpPr>
          <p:spPr>
            <a:xfrm>
              <a:off x="3614547" y="4414838"/>
              <a:ext cx="1916811" cy="103555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每核有私有 L1 和 L2，片</a:t>
              </a:r>
              <a:br/>
              <a:r>
                <a:rPr lang="zh-CN" sz="1350" dirty="0">
                  <a:solidFill>
                    <a:srgbClr val="1F2937"/>
                  </a:solidFill>
                  <a:latin typeface="+mn-lt"/>
                  <a:ea typeface="+mn-ea"/>
                  <a:cs typeface="+mn-cs"/>
                </a:rPr>
                <a:t>内没有共享 Cache，片内</a:t>
              </a:r>
              <a:br/>
              <a:r>
                <a:rPr lang="zh-CN" sz="1350" dirty="0">
                  <a:solidFill>
                    <a:srgbClr val="1F2937"/>
                  </a:solidFill>
                  <a:latin typeface="+mn-lt"/>
                  <a:ea typeface="+mn-ea"/>
                  <a:cs typeface="+mn-cs"/>
                </a:rPr>
                <a:t>面积够放多个 L2。例：</a:t>
              </a:r>
              <a:br/>
              <a:r>
                <a:rPr lang="zh-CN" sz="1350" dirty="0">
                  <a:solidFill>
                    <a:srgbClr val="1F2937"/>
                  </a:solidFill>
                  <a:latin typeface="+mn-lt"/>
                  <a:ea typeface="+mn-ea"/>
                  <a:cs typeface="+mn-cs"/>
                </a:rPr>
                <a:t>AMD Opteron。</a:t>
              </a:r>
            </a:p>
          </p:txBody>
        </p:sp>
      </p:grpSp>
      <p:grpSp>
        <p:nvGrpSpPr>
          <p:cNvPr id="88" name="c3-graph-1"/>
          <p:cNvGrpSpPr/>
          <p:nvPr/>
        </p:nvGrpSpPr>
        <p:grpSpPr>
          <a:xfrm>
            <a:off x="6556058" y="1584960"/>
            <a:ext cx="1937384" cy="2060734"/>
            <a:chOff x="6556058" y="1584960"/>
            <a:chExt cx="1937384" cy="2060734"/>
          </a:xfrm>
        </p:grpSpPr>
        <p:sp>
          <p:nvSpPr>
            <p:cNvPr id="68" name="Freeform 68"/>
            <p:cNvSpPr/>
            <p:nvPr/>
          </p:nvSpPr>
          <p:spPr>
            <a:xfrm>
              <a:off x="6938010" y="1809750"/>
              <a:ext cx="9525" cy="186690"/>
            </a:xfrm>
            <a:custGeom>
              <a:avLst/>
              <a:gdLst/>
              <a:ahLst/>
              <a:cxnLst/>
              <a:rect l="l" t="t" r="r" b="b"/>
              <a:pathLst>
                <a:path w="9525" h="186690">
                  <a:moveTo>
                    <a:pt x="0" y="0"/>
                  </a:moveTo>
                  <a:lnTo>
                    <a:pt x="0" y="186690"/>
                  </a:lnTo>
                </a:path>
              </a:pathLst>
            </a:custGeom>
            <a:noFill/>
            <a:ln w="17145">
              <a:solidFill>
                <a:srgbClr val="1F2937"/>
              </a:solidFill>
            </a:ln>
          </p:spPr>
        </p:sp>
        <p:sp>
          <p:nvSpPr>
            <p:cNvPr id="69" name="Freeform 69"/>
            <p:cNvSpPr/>
            <p:nvPr/>
          </p:nvSpPr>
          <p:spPr>
            <a:xfrm>
              <a:off x="8111490" y="1809750"/>
              <a:ext cx="9525" cy="186690"/>
            </a:xfrm>
            <a:custGeom>
              <a:avLst/>
              <a:gdLst/>
              <a:ahLst/>
              <a:cxnLst/>
              <a:rect l="l" t="t" r="r" b="b"/>
              <a:pathLst>
                <a:path w="9525" h="186690">
                  <a:moveTo>
                    <a:pt x="0" y="0"/>
                  </a:moveTo>
                  <a:lnTo>
                    <a:pt x="0" y="186690"/>
                  </a:lnTo>
                </a:path>
              </a:pathLst>
            </a:custGeom>
            <a:noFill/>
            <a:ln w="17145">
              <a:solidFill>
                <a:srgbClr val="1F2937"/>
              </a:solidFill>
            </a:ln>
          </p:spPr>
        </p:sp>
        <p:sp>
          <p:nvSpPr>
            <p:cNvPr id="70" name="Freeform 70"/>
            <p:cNvSpPr/>
            <p:nvPr/>
          </p:nvSpPr>
          <p:spPr>
            <a:xfrm>
              <a:off x="6938010" y="2222182"/>
              <a:ext cx="9525" cy="227647"/>
            </a:xfrm>
            <a:custGeom>
              <a:avLst/>
              <a:gdLst/>
              <a:ahLst/>
              <a:cxnLst/>
              <a:rect l="l" t="t" r="r" b="b"/>
              <a:pathLst>
                <a:path w="9525" h="227647">
                  <a:moveTo>
                    <a:pt x="0" y="0"/>
                  </a:moveTo>
                  <a:lnTo>
                    <a:pt x="0" y="227647"/>
                  </a:lnTo>
                </a:path>
              </a:pathLst>
            </a:custGeom>
            <a:noFill/>
            <a:ln w="17145">
              <a:solidFill>
                <a:srgbClr val="1F2937"/>
              </a:solidFill>
            </a:ln>
          </p:spPr>
        </p:sp>
        <p:sp>
          <p:nvSpPr>
            <p:cNvPr id="71" name="Freeform 71"/>
            <p:cNvSpPr/>
            <p:nvPr/>
          </p:nvSpPr>
          <p:spPr>
            <a:xfrm>
              <a:off x="8111490" y="2222182"/>
              <a:ext cx="9525" cy="227647"/>
            </a:xfrm>
            <a:custGeom>
              <a:avLst/>
              <a:gdLst/>
              <a:ahLst/>
              <a:cxnLst/>
              <a:rect l="l" t="t" r="r" b="b"/>
              <a:pathLst>
                <a:path w="9525" h="227647">
                  <a:moveTo>
                    <a:pt x="0" y="0"/>
                  </a:moveTo>
                  <a:lnTo>
                    <a:pt x="0" y="227647"/>
                  </a:lnTo>
                </a:path>
              </a:pathLst>
            </a:custGeom>
            <a:noFill/>
            <a:ln w="17145">
              <a:solidFill>
                <a:srgbClr val="1F2937"/>
              </a:solidFill>
            </a:ln>
          </p:spPr>
        </p:sp>
        <p:sp>
          <p:nvSpPr>
            <p:cNvPr id="72" name="Freeform 72"/>
            <p:cNvSpPr/>
            <p:nvPr/>
          </p:nvSpPr>
          <p:spPr>
            <a:xfrm>
              <a:off x="6938010" y="2678430"/>
              <a:ext cx="9525" cy="704850"/>
            </a:xfrm>
            <a:custGeom>
              <a:avLst/>
              <a:gdLst/>
              <a:ahLst/>
              <a:cxnLst/>
              <a:rect l="l" t="t" r="r" b="b"/>
              <a:pathLst>
                <a:path w="9525" h="704850">
                  <a:moveTo>
                    <a:pt x="0" y="0"/>
                  </a:moveTo>
                  <a:lnTo>
                    <a:pt x="0" y="704850"/>
                  </a:lnTo>
                </a:path>
              </a:pathLst>
            </a:custGeom>
            <a:noFill/>
            <a:ln w="17145">
              <a:solidFill>
                <a:srgbClr val="1F2937"/>
              </a:solidFill>
            </a:ln>
          </p:spPr>
        </p:sp>
        <p:sp>
          <p:nvSpPr>
            <p:cNvPr id="73" name="Freeform 73"/>
            <p:cNvSpPr/>
            <p:nvPr/>
          </p:nvSpPr>
          <p:spPr>
            <a:xfrm>
              <a:off x="8111490" y="2678430"/>
              <a:ext cx="9525" cy="704850"/>
            </a:xfrm>
            <a:custGeom>
              <a:avLst/>
              <a:gdLst/>
              <a:ahLst/>
              <a:cxnLst/>
              <a:rect l="l" t="t" r="r" b="b"/>
              <a:pathLst>
                <a:path w="9525" h="704850">
                  <a:moveTo>
                    <a:pt x="0" y="0"/>
                  </a:moveTo>
                  <a:lnTo>
                    <a:pt x="0" y="704850"/>
                  </a:lnTo>
                </a:path>
              </a:pathLst>
            </a:custGeom>
            <a:noFill/>
            <a:ln w="17145">
              <a:solidFill>
                <a:srgbClr val="1F2937"/>
              </a:solidFill>
            </a:ln>
          </p:spPr>
        </p:sp>
        <p:sp>
          <p:nvSpPr>
            <p:cNvPr id="74" name="Rectangle 74"/>
            <p:cNvSpPr/>
            <p:nvPr/>
          </p:nvSpPr>
          <p:spPr>
            <a:xfrm>
              <a:off x="6571298" y="2443162"/>
              <a:ext cx="1906905" cy="242888"/>
            </a:xfrm>
            <a:prstGeom prst="roundRect">
              <a:avLst>
                <a:gd name="adj" fmla="val 39216"/>
              </a:avLst>
            </a:prstGeom>
            <a:solidFill>
              <a:srgbClr val="FDEEE7"/>
            </a:solidFill>
            <a:ln w="17145">
              <a:solidFill>
                <a:srgbClr val="F26B3A"/>
              </a:solidFill>
            </a:ln>
          </p:spPr>
        </p:sp>
        <p:sp>
          <p:nvSpPr>
            <p:cNvPr id="75" name="Rectangle 75"/>
            <p:cNvSpPr/>
            <p:nvPr/>
          </p:nvSpPr>
          <p:spPr>
            <a:xfrm>
              <a:off x="6556058" y="1584960"/>
              <a:ext cx="762952" cy="225742"/>
            </a:xfrm>
            <a:prstGeom prst="roundRect">
              <a:avLst>
                <a:gd name="adj" fmla="val 42194"/>
              </a:avLst>
            </a:prstGeom>
            <a:solidFill>
              <a:srgbClr val="334E68"/>
            </a:solidFill>
            <a:ln w="17145">
              <a:solidFill>
                <a:srgbClr val="334E68"/>
              </a:solidFill>
            </a:ln>
          </p:spPr>
        </p:sp>
        <p:sp>
          <p:nvSpPr>
            <p:cNvPr id="76" name="Rectangle 76"/>
            <p:cNvSpPr/>
            <p:nvPr/>
          </p:nvSpPr>
          <p:spPr>
            <a:xfrm>
              <a:off x="7730490" y="1584960"/>
              <a:ext cx="762952" cy="225742"/>
            </a:xfrm>
            <a:prstGeom prst="roundRect">
              <a:avLst>
                <a:gd name="adj" fmla="val 42194"/>
              </a:avLst>
            </a:prstGeom>
            <a:solidFill>
              <a:srgbClr val="334E68"/>
            </a:solidFill>
            <a:ln w="17145">
              <a:solidFill>
                <a:srgbClr val="334E68"/>
              </a:solidFill>
            </a:ln>
          </p:spPr>
        </p:sp>
        <p:sp>
          <p:nvSpPr>
            <p:cNvPr id="77" name="Rectangle 77"/>
            <p:cNvSpPr/>
            <p:nvPr/>
          </p:nvSpPr>
          <p:spPr>
            <a:xfrm>
              <a:off x="6556058" y="1996440"/>
              <a:ext cx="762952" cy="225742"/>
            </a:xfrm>
            <a:prstGeom prst="roundRect">
              <a:avLst>
                <a:gd name="adj" fmla="val 42194"/>
              </a:avLst>
            </a:prstGeom>
            <a:solidFill>
              <a:srgbClr val="E7EDF3"/>
            </a:solidFill>
            <a:ln w="17145">
              <a:solidFill>
                <a:srgbClr val="334E68"/>
              </a:solidFill>
            </a:ln>
          </p:spPr>
        </p:sp>
        <p:sp>
          <p:nvSpPr>
            <p:cNvPr id="78" name="Rectangle 78"/>
            <p:cNvSpPr/>
            <p:nvPr/>
          </p:nvSpPr>
          <p:spPr>
            <a:xfrm>
              <a:off x="7730490" y="1996440"/>
              <a:ext cx="762952" cy="225742"/>
            </a:xfrm>
            <a:prstGeom prst="roundRect">
              <a:avLst>
                <a:gd name="adj" fmla="val 42194"/>
              </a:avLst>
            </a:prstGeom>
            <a:solidFill>
              <a:srgbClr val="E7EDF3"/>
            </a:solidFill>
            <a:ln w="17145">
              <a:solidFill>
                <a:srgbClr val="334E68"/>
              </a:solidFill>
            </a:ln>
          </p:spPr>
        </p:sp>
        <p:sp>
          <p:nvSpPr>
            <p:cNvPr id="79" name="Rectangle 79"/>
            <p:cNvSpPr/>
            <p:nvPr/>
          </p:nvSpPr>
          <p:spPr>
            <a:xfrm>
              <a:off x="6591300" y="3383280"/>
              <a:ext cx="693420" cy="225742"/>
            </a:xfrm>
            <a:prstGeom prst="roundRect">
              <a:avLst>
                <a:gd name="adj" fmla="val 42194"/>
              </a:avLst>
            </a:prstGeom>
            <a:solidFill>
              <a:srgbClr val="FFFFFF"/>
            </a:solidFill>
            <a:ln w="17145">
              <a:solidFill>
                <a:srgbClr val="334E68"/>
              </a:solidFill>
            </a:ln>
          </p:spPr>
        </p:sp>
        <p:sp>
          <p:nvSpPr>
            <p:cNvPr id="80" name="Rectangle 80"/>
            <p:cNvSpPr/>
            <p:nvPr/>
          </p:nvSpPr>
          <p:spPr>
            <a:xfrm>
              <a:off x="7834312" y="3383280"/>
              <a:ext cx="554355" cy="225742"/>
            </a:xfrm>
            <a:prstGeom prst="roundRect">
              <a:avLst>
                <a:gd name="adj" fmla="val 42194"/>
              </a:avLst>
            </a:prstGeom>
            <a:solidFill>
              <a:srgbClr val="FFFFFF"/>
            </a:solidFill>
            <a:ln w="17145">
              <a:solidFill>
                <a:srgbClr val="334E68"/>
              </a:solidFill>
            </a:ln>
          </p:spPr>
        </p:sp>
        <p:sp>
          <p:nvSpPr>
            <p:cNvPr id="81" name="TextBox 81"/>
            <p:cNvSpPr txBox="1"/>
            <p:nvPr/>
          </p:nvSpPr>
          <p:spPr>
            <a:xfrm>
              <a:off x="6882788" y="2494121"/>
              <a:ext cx="1283923" cy="220028"/>
            </a:xfrm>
            <a:prstGeom prst="rect">
              <a:avLst/>
            </a:prstGeom>
            <a:noFill/>
            <a:ln>
              <a:noFill/>
            </a:ln>
          </p:spPr>
          <p:txBody>
            <a:bodyPr wrap="none" lIns="0" tIns="0" rIns="0" bIns="0" anchor="t" anchorCtr="0">
              <a:spAutoFit/>
            </a:bodyPr>
            <a:lstStyle/>
            <a:p>
              <a:pPr algn="ctr"/>
              <a:r>
                <a:rPr lang="zh-CN" sz="1120" b="1" dirty="0">
                  <a:solidFill>
                    <a:srgbClr val="1F2937"/>
                  </a:solidFill>
                  <a:latin typeface="+mn-lt"/>
                  <a:ea typeface="+mn-ea"/>
                  <a:cs typeface="+mn-cs"/>
                </a:rPr>
                <a:t>L2 Cache（共享）</a:t>
              </a:r>
            </a:p>
          </p:txBody>
        </p:sp>
        <p:sp>
          <p:nvSpPr>
            <p:cNvPr id="82" name="TextBox 82"/>
            <p:cNvSpPr txBox="1"/>
            <p:nvPr/>
          </p:nvSpPr>
          <p:spPr>
            <a:xfrm>
              <a:off x="6789625" y="1627346"/>
              <a:ext cx="296771"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核 1</a:t>
              </a:r>
            </a:p>
          </p:txBody>
        </p:sp>
        <p:sp>
          <p:nvSpPr>
            <p:cNvPr id="83" name="TextBox 83"/>
            <p:cNvSpPr txBox="1"/>
            <p:nvPr/>
          </p:nvSpPr>
          <p:spPr>
            <a:xfrm>
              <a:off x="7947273" y="1627346"/>
              <a:ext cx="328433"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核 m</a:t>
              </a:r>
            </a:p>
          </p:txBody>
        </p:sp>
        <p:sp>
          <p:nvSpPr>
            <p:cNvPr id="84" name="TextBox 84"/>
            <p:cNvSpPr txBox="1"/>
            <p:nvPr/>
          </p:nvSpPr>
          <p:spPr>
            <a:xfrm>
              <a:off x="6698111" y="2038826"/>
              <a:ext cx="479798" cy="220028"/>
            </a:xfrm>
            <a:prstGeom prst="rect">
              <a:avLst/>
            </a:prstGeom>
            <a:noFill/>
            <a:ln>
              <a:noFill/>
            </a:ln>
          </p:spPr>
          <p:txBody>
            <a:bodyPr wrap="none" lIns="0" tIns="0" rIns="0" bIns="0" anchor="t" anchorCtr="0">
              <a:spAutoFit/>
            </a:bodyPr>
            <a:lstStyle/>
            <a:p>
              <a:pPr algn="ctr"/>
              <a:r>
                <a:rPr lang="en-US" sz="1120" b="1" dirty="0">
                  <a:solidFill>
                    <a:srgbClr val="243B53"/>
                  </a:solidFill>
                  <a:latin typeface="+mn-lt"/>
                  <a:ea typeface="+mn-ea"/>
                  <a:cs typeface="+mn-cs"/>
                </a:rPr>
                <a:t>L1 I/D</a:t>
              </a:r>
            </a:p>
          </p:txBody>
        </p:sp>
        <p:sp>
          <p:nvSpPr>
            <p:cNvPr id="85" name="TextBox 85"/>
            <p:cNvSpPr txBox="1"/>
            <p:nvPr/>
          </p:nvSpPr>
          <p:spPr>
            <a:xfrm>
              <a:off x="7871591" y="2038826"/>
              <a:ext cx="479798" cy="220028"/>
            </a:xfrm>
            <a:prstGeom prst="rect">
              <a:avLst/>
            </a:prstGeom>
            <a:noFill/>
            <a:ln>
              <a:noFill/>
            </a:ln>
          </p:spPr>
          <p:txBody>
            <a:bodyPr wrap="none" lIns="0" tIns="0" rIns="0" bIns="0" anchor="t" anchorCtr="0">
              <a:spAutoFit/>
            </a:bodyPr>
            <a:lstStyle/>
            <a:p>
              <a:pPr algn="ctr"/>
              <a:r>
                <a:rPr lang="en-US" sz="1120" b="1" dirty="0">
                  <a:solidFill>
                    <a:srgbClr val="243B53"/>
                  </a:solidFill>
                  <a:latin typeface="+mn-lt"/>
                  <a:ea typeface="+mn-ea"/>
                  <a:cs typeface="+mn-cs"/>
                </a:rPr>
                <a:t>L1 I/D</a:t>
              </a:r>
            </a:p>
          </p:txBody>
        </p:sp>
        <p:sp>
          <p:nvSpPr>
            <p:cNvPr id="86" name="TextBox 86"/>
            <p:cNvSpPr txBox="1"/>
            <p:nvPr/>
          </p:nvSpPr>
          <p:spPr>
            <a:xfrm>
              <a:off x="6781521" y="3425666"/>
              <a:ext cx="312979" cy="220028"/>
            </a:xfrm>
            <a:prstGeom prst="rect">
              <a:avLst/>
            </a:prstGeom>
            <a:noFill/>
            <a:ln>
              <a:noFill/>
            </a:ln>
          </p:spPr>
          <p:txBody>
            <a:bodyPr wrap="none" lIns="0" tIns="0" rIns="0" bIns="0" anchor="t" anchorCtr="0">
              <a:spAutoFit/>
            </a:bodyPr>
            <a:lstStyle/>
            <a:p>
              <a:pPr algn="ctr"/>
              <a:r>
                <a:rPr lang="zh-CN" sz="1120" b="1" dirty="0">
                  <a:solidFill>
                    <a:srgbClr val="1F2937"/>
                  </a:solidFill>
                  <a:latin typeface="+mn-lt"/>
                  <a:ea typeface="+mn-ea"/>
                  <a:cs typeface="+mn-cs"/>
                </a:rPr>
                <a:t>主存</a:t>
              </a:r>
            </a:p>
          </p:txBody>
        </p:sp>
        <p:sp>
          <p:nvSpPr>
            <p:cNvPr id="87" name="TextBox 87"/>
            <p:cNvSpPr txBox="1"/>
            <p:nvPr/>
          </p:nvSpPr>
          <p:spPr>
            <a:xfrm>
              <a:off x="7971956" y="3425666"/>
              <a:ext cx="279069" cy="220028"/>
            </a:xfrm>
            <a:prstGeom prst="rect">
              <a:avLst/>
            </a:prstGeom>
            <a:noFill/>
            <a:ln>
              <a:noFill/>
            </a:ln>
          </p:spPr>
          <p:txBody>
            <a:bodyPr wrap="none" lIns="0" tIns="0" rIns="0" bIns="0" anchor="t" anchorCtr="0">
              <a:spAutoFit/>
            </a:bodyPr>
            <a:lstStyle/>
            <a:p>
              <a:pPr algn="ctr"/>
              <a:r>
                <a:rPr lang="en-US" sz="1120" b="1" dirty="0">
                  <a:solidFill>
                    <a:srgbClr val="1F2937"/>
                  </a:solidFill>
                  <a:latin typeface="+mn-lt"/>
                  <a:ea typeface="+mn-ea"/>
                  <a:cs typeface="+mn-cs"/>
                </a:rPr>
                <a:t>I/O</a:t>
              </a:r>
            </a:p>
          </p:txBody>
        </p:sp>
      </p:grpSp>
      <p:grpSp>
        <p:nvGrpSpPr>
          <p:cNvPr id="94" name="c3-card-2"/>
          <p:cNvGrpSpPr/>
          <p:nvPr/>
        </p:nvGrpSpPr>
        <p:grpSpPr>
          <a:xfrm>
            <a:off x="6248400" y="3866198"/>
            <a:ext cx="2552700" cy="1724025"/>
            <a:chOff x="6248400" y="3866198"/>
            <a:chExt cx="2552700" cy="1724025"/>
          </a:xfrm>
        </p:grpSpPr>
        <p:sp>
          <p:nvSpPr>
            <p:cNvPr id="89" name="Rectangle 89"/>
            <p:cNvSpPr/>
            <p:nvPr/>
          </p:nvSpPr>
          <p:spPr>
            <a:xfrm>
              <a:off x="6248400" y="3866198"/>
              <a:ext cx="2552700" cy="1724025"/>
            </a:xfrm>
            <a:prstGeom prst="roundRect">
              <a:avLst>
                <a:gd name="adj" fmla="val 7735"/>
              </a:avLst>
            </a:prstGeom>
            <a:solidFill>
              <a:srgbClr val="FFFFFF"/>
            </a:solidFill>
            <a:ln w="14288">
              <a:solidFill>
                <a:srgbClr val="D9DFEA"/>
              </a:solidFill>
            </a:ln>
          </p:spPr>
        </p:sp>
        <p:sp>
          <p:nvSpPr>
            <p:cNvPr id="90" name="Rectangle 90"/>
            <p:cNvSpPr/>
            <p:nvPr/>
          </p:nvSpPr>
          <p:spPr>
            <a:xfrm>
              <a:off x="6257925" y="3999548"/>
              <a:ext cx="47625" cy="1457325"/>
            </a:xfrm>
            <a:prstGeom prst="roundRect">
              <a:avLst>
                <a:gd name="adj" fmla="val 50000"/>
              </a:avLst>
            </a:prstGeom>
            <a:solidFill>
              <a:srgbClr val="334E68"/>
            </a:solidFill>
            <a:ln>
              <a:noFill/>
            </a:ln>
          </p:spPr>
        </p:sp>
        <p:sp>
          <p:nvSpPr>
            <p:cNvPr id="91" name="Rectangle 91"/>
            <p:cNvSpPr/>
            <p:nvPr/>
          </p:nvSpPr>
          <p:spPr>
            <a:xfrm>
              <a:off x="6478905" y="4058602"/>
              <a:ext cx="944880" cy="247650"/>
            </a:xfrm>
            <a:prstGeom prst="roundRect">
              <a:avLst>
                <a:gd name="adj" fmla="val 50000"/>
              </a:avLst>
            </a:prstGeom>
            <a:solidFill>
              <a:srgbClr val="E7EDF3"/>
            </a:solidFill>
            <a:ln>
              <a:noFill/>
            </a:ln>
          </p:spPr>
        </p:sp>
        <p:sp>
          <p:nvSpPr>
            <p:cNvPr id="92" name="TextBox 92"/>
            <p:cNvSpPr txBox="1"/>
            <p:nvPr/>
          </p:nvSpPr>
          <p:spPr>
            <a:xfrm>
              <a:off x="6550178" y="4092893"/>
              <a:ext cx="802334" cy="205359"/>
            </a:xfrm>
            <a:prstGeom prst="rect">
              <a:avLst/>
            </a:prstGeom>
            <a:noFill/>
            <a:ln>
              <a:noFill/>
            </a:ln>
          </p:spPr>
          <p:txBody>
            <a:bodyPr wrap="none" lIns="0" tIns="0" rIns="0" bIns="0" anchor="t" anchorCtr="0">
              <a:spAutoFit/>
            </a:bodyPr>
            <a:lstStyle/>
            <a:p>
              <a:pPr algn="ctr"/>
              <a:r>
                <a:rPr lang="zh-CN" sz="1050" b="1" dirty="0">
                  <a:solidFill>
                    <a:srgbClr val="334E68"/>
                  </a:solidFill>
                  <a:latin typeface="+mn-lt"/>
                  <a:ea typeface="+mn-ea"/>
                  <a:cs typeface="+mn-cs"/>
                </a:rPr>
                <a:t>(c) 共享 L2</a:t>
              </a:r>
            </a:p>
          </p:txBody>
        </p:sp>
        <p:sp>
          <p:nvSpPr>
            <p:cNvPr id="93" name="TextBox 93"/>
            <p:cNvSpPr txBox="1"/>
            <p:nvPr/>
          </p:nvSpPr>
          <p:spPr>
            <a:xfrm>
              <a:off x="6472047" y="4414838"/>
              <a:ext cx="1968246" cy="103555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每核私有 L1，片内共享一</a:t>
              </a:r>
              <a:br/>
              <a:r>
                <a:rPr lang="zh-CN" sz="1350" dirty="0">
                  <a:solidFill>
                    <a:srgbClr val="1F2937"/>
                  </a:solidFill>
                  <a:latin typeface="+mn-lt"/>
                  <a:ea typeface="+mn-ea"/>
                  <a:cs typeface="+mn-cs"/>
                </a:rPr>
                <a:t>个 L2，存储空间分配与专</a:t>
              </a:r>
              <a:br/>
              <a:r>
                <a:rPr lang="zh-CN" sz="1350" dirty="0">
                  <a:solidFill>
                    <a:srgbClr val="1F2937"/>
                  </a:solidFill>
                  <a:latin typeface="+mn-lt"/>
                  <a:ea typeface="+mn-ea"/>
                  <a:cs typeface="+mn-cs"/>
                </a:rPr>
                <a:t>用 L2 结构类似。例：</a:t>
              </a:r>
              <a:br/>
              <a:r>
                <a:rPr lang="zh-CN" sz="1350" dirty="0">
                  <a:solidFill>
                    <a:srgbClr val="1F2937"/>
                  </a:solidFill>
                  <a:latin typeface="+mn-lt"/>
                  <a:ea typeface="+mn-ea"/>
                  <a:cs typeface="+mn-cs"/>
                </a:rPr>
                <a:t>Intel Core Duo。</a:t>
              </a:r>
            </a:p>
          </p:txBody>
        </p:sp>
      </p:grpSp>
      <p:grpSp>
        <p:nvGrpSpPr>
          <p:cNvPr id="121" name="c4-graph-1"/>
          <p:cNvGrpSpPr/>
          <p:nvPr/>
        </p:nvGrpSpPr>
        <p:grpSpPr>
          <a:xfrm>
            <a:off x="9413558" y="1563052"/>
            <a:ext cx="1937384" cy="2082642"/>
            <a:chOff x="9413558" y="1563052"/>
            <a:chExt cx="1937384" cy="2082642"/>
          </a:xfrm>
        </p:grpSpPr>
        <p:sp>
          <p:nvSpPr>
            <p:cNvPr id="95" name="Freeform 95"/>
            <p:cNvSpPr/>
            <p:nvPr/>
          </p:nvSpPr>
          <p:spPr>
            <a:xfrm>
              <a:off x="9795510" y="1788795"/>
              <a:ext cx="9525" cy="120967"/>
            </a:xfrm>
            <a:custGeom>
              <a:avLst/>
              <a:gdLst/>
              <a:ahLst/>
              <a:cxnLst/>
              <a:rect l="l" t="t" r="r" b="b"/>
              <a:pathLst>
                <a:path w="9525" h="120967">
                  <a:moveTo>
                    <a:pt x="0" y="0"/>
                  </a:moveTo>
                  <a:lnTo>
                    <a:pt x="0" y="120967"/>
                  </a:lnTo>
                </a:path>
              </a:pathLst>
            </a:custGeom>
            <a:noFill/>
            <a:ln w="17145">
              <a:solidFill>
                <a:srgbClr val="1F2937"/>
              </a:solidFill>
            </a:ln>
          </p:spPr>
        </p:sp>
        <p:sp>
          <p:nvSpPr>
            <p:cNvPr id="96" name="Freeform 96"/>
            <p:cNvSpPr/>
            <p:nvPr/>
          </p:nvSpPr>
          <p:spPr>
            <a:xfrm>
              <a:off x="10968990" y="1788795"/>
              <a:ext cx="9525" cy="120967"/>
            </a:xfrm>
            <a:custGeom>
              <a:avLst/>
              <a:gdLst/>
              <a:ahLst/>
              <a:cxnLst/>
              <a:rect l="l" t="t" r="r" b="b"/>
              <a:pathLst>
                <a:path w="9525" h="120967">
                  <a:moveTo>
                    <a:pt x="0" y="0"/>
                  </a:moveTo>
                  <a:lnTo>
                    <a:pt x="0" y="120967"/>
                  </a:lnTo>
                </a:path>
              </a:pathLst>
            </a:custGeom>
            <a:noFill/>
            <a:ln w="17145">
              <a:solidFill>
                <a:srgbClr val="1F2937"/>
              </a:solidFill>
            </a:ln>
          </p:spPr>
        </p:sp>
        <p:sp>
          <p:nvSpPr>
            <p:cNvPr id="97" name="Freeform 97"/>
            <p:cNvSpPr/>
            <p:nvPr/>
          </p:nvSpPr>
          <p:spPr>
            <a:xfrm>
              <a:off x="9795510" y="2135505"/>
              <a:ext cx="9525" cy="120968"/>
            </a:xfrm>
            <a:custGeom>
              <a:avLst/>
              <a:gdLst/>
              <a:ahLst/>
              <a:cxnLst/>
              <a:rect l="l" t="t" r="r" b="b"/>
              <a:pathLst>
                <a:path w="9525" h="120968">
                  <a:moveTo>
                    <a:pt x="0" y="0"/>
                  </a:moveTo>
                  <a:lnTo>
                    <a:pt x="0" y="120968"/>
                  </a:lnTo>
                </a:path>
              </a:pathLst>
            </a:custGeom>
            <a:noFill/>
            <a:ln w="17145">
              <a:solidFill>
                <a:srgbClr val="1F2937"/>
              </a:solidFill>
            </a:ln>
          </p:spPr>
        </p:sp>
        <p:sp>
          <p:nvSpPr>
            <p:cNvPr id="98" name="Freeform 98"/>
            <p:cNvSpPr/>
            <p:nvPr/>
          </p:nvSpPr>
          <p:spPr>
            <a:xfrm>
              <a:off x="10968990" y="2135505"/>
              <a:ext cx="9525" cy="120968"/>
            </a:xfrm>
            <a:custGeom>
              <a:avLst/>
              <a:gdLst/>
              <a:ahLst/>
              <a:cxnLst/>
              <a:rect l="l" t="t" r="r" b="b"/>
              <a:pathLst>
                <a:path w="9525" h="120968">
                  <a:moveTo>
                    <a:pt x="0" y="0"/>
                  </a:moveTo>
                  <a:lnTo>
                    <a:pt x="0" y="120968"/>
                  </a:lnTo>
                </a:path>
              </a:pathLst>
            </a:custGeom>
            <a:noFill/>
            <a:ln w="17145">
              <a:solidFill>
                <a:srgbClr val="1F2937"/>
              </a:solidFill>
            </a:ln>
          </p:spPr>
        </p:sp>
        <p:sp>
          <p:nvSpPr>
            <p:cNvPr id="99" name="Freeform 99"/>
            <p:cNvSpPr/>
            <p:nvPr/>
          </p:nvSpPr>
          <p:spPr>
            <a:xfrm>
              <a:off x="9795510" y="2482215"/>
              <a:ext cx="9525" cy="227647"/>
            </a:xfrm>
            <a:custGeom>
              <a:avLst/>
              <a:gdLst/>
              <a:ahLst/>
              <a:cxnLst/>
              <a:rect l="l" t="t" r="r" b="b"/>
              <a:pathLst>
                <a:path w="9525" h="227647">
                  <a:moveTo>
                    <a:pt x="0" y="0"/>
                  </a:moveTo>
                  <a:lnTo>
                    <a:pt x="0" y="227647"/>
                  </a:lnTo>
                </a:path>
              </a:pathLst>
            </a:custGeom>
            <a:noFill/>
            <a:ln w="17145">
              <a:solidFill>
                <a:srgbClr val="1F2937"/>
              </a:solidFill>
            </a:ln>
          </p:spPr>
        </p:sp>
        <p:sp>
          <p:nvSpPr>
            <p:cNvPr id="100" name="Freeform 100"/>
            <p:cNvSpPr/>
            <p:nvPr/>
          </p:nvSpPr>
          <p:spPr>
            <a:xfrm>
              <a:off x="10968990" y="2482215"/>
              <a:ext cx="9525" cy="227647"/>
            </a:xfrm>
            <a:custGeom>
              <a:avLst/>
              <a:gdLst/>
              <a:ahLst/>
              <a:cxnLst/>
              <a:rect l="l" t="t" r="r" b="b"/>
              <a:pathLst>
                <a:path w="9525" h="227647">
                  <a:moveTo>
                    <a:pt x="0" y="0"/>
                  </a:moveTo>
                  <a:lnTo>
                    <a:pt x="0" y="227647"/>
                  </a:lnTo>
                </a:path>
              </a:pathLst>
            </a:custGeom>
            <a:noFill/>
            <a:ln w="17145">
              <a:solidFill>
                <a:srgbClr val="1F2937"/>
              </a:solidFill>
            </a:ln>
          </p:spPr>
        </p:sp>
        <p:sp>
          <p:nvSpPr>
            <p:cNvPr id="101" name="Freeform 101"/>
            <p:cNvSpPr/>
            <p:nvPr/>
          </p:nvSpPr>
          <p:spPr>
            <a:xfrm>
              <a:off x="9795510" y="2938462"/>
              <a:ext cx="9525" cy="444817"/>
            </a:xfrm>
            <a:custGeom>
              <a:avLst/>
              <a:gdLst/>
              <a:ahLst/>
              <a:cxnLst/>
              <a:rect l="l" t="t" r="r" b="b"/>
              <a:pathLst>
                <a:path w="9525" h="444817">
                  <a:moveTo>
                    <a:pt x="0" y="0"/>
                  </a:moveTo>
                  <a:lnTo>
                    <a:pt x="0" y="444817"/>
                  </a:lnTo>
                </a:path>
              </a:pathLst>
            </a:custGeom>
            <a:noFill/>
            <a:ln w="17145">
              <a:solidFill>
                <a:srgbClr val="1F2937"/>
              </a:solidFill>
            </a:ln>
          </p:spPr>
        </p:sp>
        <p:sp>
          <p:nvSpPr>
            <p:cNvPr id="102" name="Freeform 102"/>
            <p:cNvSpPr/>
            <p:nvPr/>
          </p:nvSpPr>
          <p:spPr>
            <a:xfrm>
              <a:off x="10968990" y="2938462"/>
              <a:ext cx="9525" cy="444817"/>
            </a:xfrm>
            <a:custGeom>
              <a:avLst/>
              <a:gdLst/>
              <a:ahLst/>
              <a:cxnLst/>
              <a:rect l="l" t="t" r="r" b="b"/>
              <a:pathLst>
                <a:path w="9525" h="444817">
                  <a:moveTo>
                    <a:pt x="0" y="0"/>
                  </a:moveTo>
                  <a:lnTo>
                    <a:pt x="0" y="444817"/>
                  </a:lnTo>
                </a:path>
              </a:pathLst>
            </a:custGeom>
            <a:noFill/>
            <a:ln w="17145">
              <a:solidFill>
                <a:srgbClr val="1F2937"/>
              </a:solidFill>
            </a:ln>
          </p:spPr>
        </p:sp>
        <p:sp>
          <p:nvSpPr>
            <p:cNvPr id="103" name="Rectangle 103"/>
            <p:cNvSpPr/>
            <p:nvPr/>
          </p:nvSpPr>
          <p:spPr>
            <a:xfrm>
              <a:off x="9428798" y="2703195"/>
              <a:ext cx="1906905" cy="242888"/>
            </a:xfrm>
            <a:prstGeom prst="roundRect">
              <a:avLst>
                <a:gd name="adj" fmla="val 39216"/>
              </a:avLst>
            </a:prstGeom>
            <a:solidFill>
              <a:srgbClr val="FDEEE7"/>
            </a:solidFill>
            <a:ln w="17145">
              <a:solidFill>
                <a:srgbClr val="F26B3A"/>
              </a:solidFill>
            </a:ln>
          </p:spPr>
        </p:sp>
        <p:sp>
          <p:nvSpPr>
            <p:cNvPr id="104" name="Rectangle 104"/>
            <p:cNvSpPr/>
            <p:nvPr/>
          </p:nvSpPr>
          <p:spPr>
            <a:xfrm>
              <a:off x="9413558" y="1563052"/>
              <a:ext cx="762952" cy="225742"/>
            </a:xfrm>
            <a:prstGeom prst="roundRect">
              <a:avLst>
                <a:gd name="adj" fmla="val 42194"/>
              </a:avLst>
            </a:prstGeom>
            <a:solidFill>
              <a:srgbClr val="334E68"/>
            </a:solidFill>
            <a:ln w="17145">
              <a:solidFill>
                <a:srgbClr val="334E68"/>
              </a:solidFill>
            </a:ln>
          </p:spPr>
        </p:sp>
        <p:sp>
          <p:nvSpPr>
            <p:cNvPr id="105" name="Rectangle 105"/>
            <p:cNvSpPr/>
            <p:nvPr/>
          </p:nvSpPr>
          <p:spPr>
            <a:xfrm>
              <a:off x="10587990" y="1563052"/>
              <a:ext cx="762952" cy="225742"/>
            </a:xfrm>
            <a:prstGeom prst="roundRect">
              <a:avLst>
                <a:gd name="adj" fmla="val 42194"/>
              </a:avLst>
            </a:prstGeom>
            <a:solidFill>
              <a:srgbClr val="334E68"/>
            </a:solidFill>
            <a:ln w="17145">
              <a:solidFill>
                <a:srgbClr val="334E68"/>
              </a:solidFill>
            </a:ln>
          </p:spPr>
        </p:sp>
        <p:sp>
          <p:nvSpPr>
            <p:cNvPr id="106" name="Rectangle 106"/>
            <p:cNvSpPr/>
            <p:nvPr/>
          </p:nvSpPr>
          <p:spPr>
            <a:xfrm>
              <a:off x="9413558" y="1909762"/>
              <a:ext cx="762952" cy="225742"/>
            </a:xfrm>
            <a:prstGeom prst="roundRect">
              <a:avLst>
                <a:gd name="adj" fmla="val 42194"/>
              </a:avLst>
            </a:prstGeom>
            <a:solidFill>
              <a:srgbClr val="E7EDF3"/>
            </a:solidFill>
            <a:ln w="17145">
              <a:solidFill>
                <a:srgbClr val="334E68"/>
              </a:solidFill>
            </a:ln>
          </p:spPr>
        </p:sp>
        <p:sp>
          <p:nvSpPr>
            <p:cNvPr id="107" name="Rectangle 107"/>
            <p:cNvSpPr/>
            <p:nvPr/>
          </p:nvSpPr>
          <p:spPr>
            <a:xfrm>
              <a:off x="10587990" y="1909762"/>
              <a:ext cx="762952" cy="225742"/>
            </a:xfrm>
            <a:prstGeom prst="roundRect">
              <a:avLst>
                <a:gd name="adj" fmla="val 42194"/>
              </a:avLst>
            </a:prstGeom>
            <a:solidFill>
              <a:srgbClr val="E7EDF3"/>
            </a:solidFill>
            <a:ln w="17145">
              <a:solidFill>
                <a:srgbClr val="334E68"/>
              </a:solidFill>
            </a:ln>
          </p:spPr>
        </p:sp>
        <p:sp>
          <p:nvSpPr>
            <p:cNvPr id="108" name="Rectangle 108"/>
            <p:cNvSpPr/>
            <p:nvPr/>
          </p:nvSpPr>
          <p:spPr>
            <a:xfrm>
              <a:off x="9413558" y="2256472"/>
              <a:ext cx="762952" cy="225742"/>
            </a:xfrm>
            <a:prstGeom prst="roundRect">
              <a:avLst>
                <a:gd name="adj" fmla="val 42194"/>
              </a:avLst>
            </a:prstGeom>
            <a:solidFill>
              <a:srgbClr val="E7EDF3"/>
            </a:solidFill>
            <a:ln w="17145">
              <a:solidFill>
                <a:srgbClr val="334E68"/>
              </a:solidFill>
            </a:ln>
          </p:spPr>
        </p:sp>
        <p:sp>
          <p:nvSpPr>
            <p:cNvPr id="109" name="Rectangle 109"/>
            <p:cNvSpPr/>
            <p:nvPr/>
          </p:nvSpPr>
          <p:spPr>
            <a:xfrm>
              <a:off x="10587990" y="2256472"/>
              <a:ext cx="762952" cy="225742"/>
            </a:xfrm>
            <a:prstGeom prst="roundRect">
              <a:avLst>
                <a:gd name="adj" fmla="val 42194"/>
              </a:avLst>
            </a:prstGeom>
            <a:solidFill>
              <a:srgbClr val="E7EDF3"/>
            </a:solidFill>
            <a:ln w="17145">
              <a:solidFill>
                <a:srgbClr val="334E68"/>
              </a:solidFill>
            </a:ln>
          </p:spPr>
        </p:sp>
        <p:sp>
          <p:nvSpPr>
            <p:cNvPr id="110" name="Rectangle 110"/>
            <p:cNvSpPr/>
            <p:nvPr/>
          </p:nvSpPr>
          <p:spPr>
            <a:xfrm>
              <a:off x="9448800" y="3383280"/>
              <a:ext cx="693420" cy="225742"/>
            </a:xfrm>
            <a:prstGeom prst="roundRect">
              <a:avLst>
                <a:gd name="adj" fmla="val 42194"/>
              </a:avLst>
            </a:prstGeom>
            <a:solidFill>
              <a:srgbClr val="FFFFFF"/>
            </a:solidFill>
            <a:ln w="17145">
              <a:solidFill>
                <a:srgbClr val="334E68"/>
              </a:solidFill>
            </a:ln>
          </p:spPr>
        </p:sp>
        <p:sp>
          <p:nvSpPr>
            <p:cNvPr id="111" name="Rectangle 111"/>
            <p:cNvSpPr/>
            <p:nvPr/>
          </p:nvSpPr>
          <p:spPr>
            <a:xfrm>
              <a:off x="10691812" y="3383280"/>
              <a:ext cx="554355" cy="225742"/>
            </a:xfrm>
            <a:prstGeom prst="roundRect">
              <a:avLst>
                <a:gd name="adj" fmla="val 42194"/>
              </a:avLst>
            </a:prstGeom>
            <a:solidFill>
              <a:srgbClr val="FFFFFF"/>
            </a:solidFill>
            <a:ln w="17145">
              <a:solidFill>
                <a:srgbClr val="334E68"/>
              </a:solidFill>
            </a:ln>
          </p:spPr>
        </p:sp>
        <p:sp>
          <p:nvSpPr>
            <p:cNvPr id="112" name="TextBox 112"/>
            <p:cNvSpPr txBox="1"/>
            <p:nvPr/>
          </p:nvSpPr>
          <p:spPr>
            <a:xfrm>
              <a:off x="9740288" y="2754154"/>
              <a:ext cx="1283923" cy="220028"/>
            </a:xfrm>
            <a:prstGeom prst="rect">
              <a:avLst/>
            </a:prstGeom>
            <a:noFill/>
            <a:ln>
              <a:noFill/>
            </a:ln>
          </p:spPr>
          <p:txBody>
            <a:bodyPr wrap="none" lIns="0" tIns="0" rIns="0" bIns="0" anchor="t" anchorCtr="0">
              <a:spAutoFit/>
            </a:bodyPr>
            <a:lstStyle/>
            <a:p>
              <a:pPr algn="ctr"/>
              <a:r>
                <a:rPr lang="zh-CN" sz="1120" b="1" dirty="0">
                  <a:solidFill>
                    <a:srgbClr val="1F2937"/>
                  </a:solidFill>
                  <a:latin typeface="+mn-lt"/>
                  <a:ea typeface="+mn-ea"/>
                  <a:cs typeface="+mn-cs"/>
                </a:rPr>
                <a:t>L3 Cache（共享）</a:t>
              </a:r>
            </a:p>
          </p:txBody>
        </p:sp>
        <p:sp>
          <p:nvSpPr>
            <p:cNvPr id="113" name="TextBox 113"/>
            <p:cNvSpPr txBox="1"/>
            <p:nvPr/>
          </p:nvSpPr>
          <p:spPr>
            <a:xfrm>
              <a:off x="9647125" y="1605439"/>
              <a:ext cx="296771"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核 1</a:t>
              </a:r>
            </a:p>
          </p:txBody>
        </p:sp>
        <p:sp>
          <p:nvSpPr>
            <p:cNvPr id="114" name="TextBox 114"/>
            <p:cNvSpPr txBox="1"/>
            <p:nvPr/>
          </p:nvSpPr>
          <p:spPr>
            <a:xfrm>
              <a:off x="10804773" y="1605439"/>
              <a:ext cx="328433"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核 m</a:t>
              </a:r>
            </a:p>
          </p:txBody>
        </p:sp>
        <p:sp>
          <p:nvSpPr>
            <p:cNvPr id="115" name="TextBox 115"/>
            <p:cNvSpPr txBox="1"/>
            <p:nvPr/>
          </p:nvSpPr>
          <p:spPr>
            <a:xfrm>
              <a:off x="9555611" y="1952149"/>
              <a:ext cx="479798" cy="220028"/>
            </a:xfrm>
            <a:prstGeom prst="rect">
              <a:avLst/>
            </a:prstGeom>
            <a:noFill/>
            <a:ln>
              <a:noFill/>
            </a:ln>
          </p:spPr>
          <p:txBody>
            <a:bodyPr wrap="none" lIns="0" tIns="0" rIns="0" bIns="0" anchor="t" anchorCtr="0">
              <a:spAutoFit/>
            </a:bodyPr>
            <a:lstStyle/>
            <a:p>
              <a:pPr algn="ctr"/>
              <a:r>
                <a:rPr lang="en-US" sz="1120" b="1" dirty="0">
                  <a:solidFill>
                    <a:srgbClr val="243B53"/>
                  </a:solidFill>
                  <a:latin typeface="+mn-lt"/>
                  <a:ea typeface="+mn-ea"/>
                  <a:cs typeface="+mn-cs"/>
                </a:rPr>
                <a:t>L1 I/D</a:t>
              </a:r>
            </a:p>
          </p:txBody>
        </p:sp>
        <p:sp>
          <p:nvSpPr>
            <p:cNvPr id="116" name="TextBox 116"/>
            <p:cNvSpPr txBox="1"/>
            <p:nvPr/>
          </p:nvSpPr>
          <p:spPr>
            <a:xfrm>
              <a:off x="10729091" y="1952149"/>
              <a:ext cx="479798" cy="220028"/>
            </a:xfrm>
            <a:prstGeom prst="rect">
              <a:avLst/>
            </a:prstGeom>
            <a:noFill/>
            <a:ln>
              <a:noFill/>
            </a:ln>
          </p:spPr>
          <p:txBody>
            <a:bodyPr wrap="none" lIns="0" tIns="0" rIns="0" bIns="0" anchor="t" anchorCtr="0">
              <a:spAutoFit/>
            </a:bodyPr>
            <a:lstStyle/>
            <a:p>
              <a:pPr algn="ctr"/>
              <a:r>
                <a:rPr lang="en-US" sz="1120" b="1" dirty="0">
                  <a:solidFill>
                    <a:srgbClr val="243B53"/>
                  </a:solidFill>
                  <a:latin typeface="+mn-lt"/>
                  <a:ea typeface="+mn-ea"/>
                  <a:cs typeface="+mn-cs"/>
                </a:rPr>
                <a:t>L1 I/D</a:t>
              </a:r>
            </a:p>
          </p:txBody>
        </p:sp>
        <p:sp>
          <p:nvSpPr>
            <p:cNvPr id="117" name="TextBox 117"/>
            <p:cNvSpPr txBox="1"/>
            <p:nvPr/>
          </p:nvSpPr>
          <p:spPr>
            <a:xfrm>
              <a:off x="9697794" y="2298859"/>
              <a:ext cx="195432" cy="220028"/>
            </a:xfrm>
            <a:prstGeom prst="rect">
              <a:avLst/>
            </a:prstGeom>
            <a:noFill/>
            <a:ln>
              <a:noFill/>
            </a:ln>
          </p:spPr>
          <p:txBody>
            <a:bodyPr wrap="none" lIns="0" tIns="0" rIns="0" bIns="0" anchor="t" anchorCtr="0">
              <a:spAutoFit/>
            </a:bodyPr>
            <a:lstStyle/>
            <a:p>
              <a:pPr algn="ctr"/>
              <a:r>
                <a:rPr lang="en-US" sz="1120" b="1" dirty="0">
                  <a:solidFill>
                    <a:srgbClr val="243B53"/>
                  </a:solidFill>
                  <a:latin typeface="+mn-lt"/>
                  <a:ea typeface="+mn-ea"/>
                  <a:cs typeface="+mn-cs"/>
                </a:rPr>
                <a:t>L2</a:t>
              </a:r>
            </a:p>
          </p:txBody>
        </p:sp>
        <p:sp>
          <p:nvSpPr>
            <p:cNvPr id="118" name="TextBox 118"/>
            <p:cNvSpPr txBox="1"/>
            <p:nvPr/>
          </p:nvSpPr>
          <p:spPr>
            <a:xfrm>
              <a:off x="10871274" y="2298859"/>
              <a:ext cx="195432" cy="220028"/>
            </a:xfrm>
            <a:prstGeom prst="rect">
              <a:avLst/>
            </a:prstGeom>
            <a:noFill/>
            <a:ln>
              <a:noFill/>
            </a:ln>
          </p:spPr>
          <p:txBody>
            <a:bodyPr wrap="none" lIns="0" tIns="0" rIns="0" bIns="0" anchor="t" anchorCtr="0">
              <a:spAutoFit/>
            </a:bodyPr>
            <a:lstStyle/>
            <a:p>
              <a:pPr algn="ctr"/>
              <a:r>
                <a:rPr lang="en-US" sz="1120" b="1" dirty="0">
                  <a:solidFill>
                    <a:srgbClr val="243B53"/>
                  </a:solidFill>
                  <a:latin typeface="+mn-lt"/>
                  <a:ea typeface="+mn-ea"/>
                  <a:cs typeface="+mn-cs"/>
                </a:rPr>
                <a:t>L2</a:t>
              </a:r>
            </a:p>
          </p:txBody>
        </p:sp>
        <p:sp>
          <p:nvSpPr>
            <p:cNvPr id="119" name="TextBox 119"/>
            <p:cNvSpPr txBox="1"/>
            <p:nvPr/>
          </p:nvSpPr>
          <p:spPr>
            <a:xfrm>
              <a:off x="9639021" y="3425666"/>
              <a:ext cx="312979" cy="220028"/>
            </a:xfrm>
            <a:prstGeom prst="rect">
              <a:avLst/>
            </a:prstGeom>
            <a:noFill/>
            <a:ln>
              <a:noFill/>
            </a:ln>
          </p:spPr>
          <p:txBody>
            <a:bodyPr wrap="none" lIns="0" tIns="0" rIns="0" bIns="0" anchor="t" anchorCtr="0">
              <a:spAutoFit/>
            </a:bodyPr>
            <a:lstStyle/>
            <a:p>
              <a:pPr algn="ctr"/>
              <a:r>
                <a:rPr lang="zh-CN" sz="1120" b="1" dirty="0">
                  <a:solidFill>
                    <a:srgbClr val="1F2937"/>
                  </a:solidFill>
                  <a:latin typeface="+mn-lt"/>
                  <a:ea typeface="+mn-ea"/>
                  <a:cs typeface="+mn-cs"/>
                </a:rPr>
                <a:t>主存</a:t>
              </a:r>
            </a:p>
          </p:txBody>
        </p:sp>
        <p:sp>
          <p:nvSpPr>
            <p:cNvPr id="120" name="TextBox 120"/>
            <p:cNvSpPr txBox="1"/>
            <p:nvPr/>
          </p:nvSpPr>
          <p:spPr>
            <a:xfrm>
              <a:off x="10829456" y="3425666"/>
              <a:ext cx="279069" cy="220028"/>
            </a:xfrm>
            <a:prstGeom prst="rect">
              <a:avLst/>
            </a:prstGeom>
            <a:noFill/>
            <a:ln>
              <a:noFill/>
            </a:ln>
          </p:spPr>
          <p:txBody>
            <a:bodyPr wrap="none" lIns="0" tIns="0" rIns="0" bIns="0" anchor="t" anchorCtr="0">
              <a:spAutoFit/>
            </a:bodyPr>
            <a:lstStyle/>
            <a:p>
              <a:pPr algn="ctr"/>
              <a:r>
                <a:rPr lang="en-US" sz="1120" b="1" dirty="0">
                  <a:solidFill>
                    <a:srgbClr val="1F2937"/>
                  </a:solidFill>
                  <a:latin typeface="+mn-lt"/>
                  <a:ea typeface="+mn-ea"/>
                  <a:cs typeface="+mn-cs"/>
                </a:rPr>
                <a:t>I/O</a:t>
              </a:r>
            </a:p>
          </p:txBody>
        </p:sp>
      </p:grpSp>
      <p:grpSp>
        <p:nvGrpSpPr>
          <p:cNvPr id="127" name="c4-card-2"/>
          <p:cNvGrpSpPr/>
          <p:nvPr/>
        </p:nvGrpSpPr>
        <p:grpSpPr>
          <a:xfrm>
            <a:off x="9105900" y="3866198"/>
            <a:ext cx="2552700" cy="1724025"/>
            <a:chOff x="9105900" y="3866198"/>
            <a:chExt cx="2552700" cy="1724025"/>
          </a:xfrm>
        </p:grpSpPr>
        <p:sp>
          <p:nvSpPr>
            <p:cNvPr id="122" name="Rectangle 122"/>
            <p:cNvSpPr/>
            <p:nvPr/>
          </p:nvSpPr>
          <p:spPr>
            <a:xfrm>
              <a:off x="9105900" y="3866198"/>
              <a:ext cx="2552700" cy="1724025"/>
            </a:xfrm>
            <a:prstGeom prst="roundRect">
              <a:avLst>
                <a:gd name="adj" fmla="val 7735"/>
              </a:avLst>
            </a:prstGeom>
            <a:solidFill>
              <a:srgbClr val="FFFFFF"/>
            </a:solidFill>
            <a:ln w="14288">
              <a:solidFill>
                <a:srgbClr val="D9DFEA"/>
              </a:solidFill>
            </a:ln>
          </p:spPr>
        </p:sp>
        <p:sp>
          <p:nvSpPr>
            <p:cNvPr id="123" name="Rectangle 123"/>
            <p:cNvSpPr/>
            <p:nvPr/>
          </p:nvSpPr>
          <p:spPr>
            <a:xfrm>
              <a:off x="9115425" y="3999548"/>
              <a:ext cx="47625" cy="1457325"/>
            </a:xfrm>
            <a:prstGeom prst="roundRect">
              <a:avLst>
                <a:gd name="adj" fmla="val 50000"/>
              </a:avLst>
            </a:prstGeom>
            <a:solidFill>
              <a:srgbClr val="334E68"/>
            </a:solidFill>
            <a:ln>
              <a:noFill/>
            </a:ln>
          </p:spPr>
        </p:sp>
        <p:sp>
          <p:nvSpPr>
            <p:cNvPr id="124" name="Rectangle 124"/>
            <p:cNvSpPr/>
            <p:nvPr/>
          </p:nvSpPr>
          <p:spPr>
            <a:xfrm>
              <a:off x="9336405" y="4058602"/>
              <a:ext cx="944880" cy="247650"/>
            </a:xfrm>
            <a:prstGeom prst="roundRect">
              <a:avLst>
                <a:gd name="adj" fmla="val 50000"/>
              </a:avLst>
            </a:prstGeom>
            <a:solidFill>
              <a:srgbClr val="E7EDF3"/>
            </a:solidFill>
            <a:ln>
              <a:noFill/>
            </a:ln>
          </p:spPr>
        </p:sp>
        <p:sp>
          <p:nvSpPr>
            <p:cNvPr id="125" name="TextBox 125"/>
            <p:cNvSpPr txBox="1"/>
            <p:nvPr/>
          </p:nvSpPr>
          <p:spPr>
            <a:xfrm>
              <a:off x="9407678" y="4092893"/>
              <a:ext cx="802334" cy="205359"/>
            </a:xfrm>
            <a:prstGeom prst="rect">
              <a:avLst/>
            </a:prstGeom>
            <a:noFill/>
            <a:ln>
              <a:noFill/>
            </a:ln>
          </p:spPr>
          <p:txBody>
            <a:bodyPr wrap="none" lIns="0" tIns="0" rIns="0" bIns="0" anchor="t" anchorCtr="0">
              <a:spAutoFit/>
            </a:bodyPr>
            <a:lstStyle/>
            <a:p>
              <a:pPr algn="ctr"/>
              <a:r>
                <a:rPr lang="zh-CN" sz="1050" b="1" dirty="0">
                  <a:solidFill>
                    <a:srgbClr val="334E68"/>
                  </a:solidFill>
                  <a:latin typeface="+mn-lt"/>
                  <a:ea typeface="+mn-ea"/>
                  <a:cs typeface="+mn-cs"/>
                </a:rPr>
                <a:t>(d) 共享 L3</a:t>
              </a:r>
            </a:p>
          </p:txBody>
        </p:sp>
        <p:sp>
          <p:nvSpPr>
            <p:cNvPr id="126" name="TextBox 126"/>
            <p:cNvSpPr txBox="1"/>
            <p:nvPr/>
          </p:nvSpPr>
          <p:spPr>
            <a:xfrm>
              <a:off x="9329547" y="4414838"/>
              <a:ext cx="2002536" cy="103555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出于性能考虑分出独立的</a:t>
              </a:r>
              <a:br/>
              <a:r>
                <a:rPr lang="zh-CN" sz="1350" dirty="0">
                  <a:solidFill>
                    <a:srgbClr val="1F2937"/>
                  </a:solidFill>
                  <a:latin typeface="+mn-lt"/>
                  <a:ea typeface="+mn-ea"/>
                  <a:cs typeface="+mn-cs"/>
                </a:rPr>
                <a:t>三级 Cache：每核有私有</a:t>
              </a:r>
              <a:br/>
              <a:r>
                <a:rPr lang="zh-CN" sz="1350" dirty="0">
                  <a:solidFill>
                    <a:srgbClr val="1F2937"/>
                  </a:solidFill>
                  <a:latin typeface="+mn-lt"/>
                  <a:ea typeface="+mn-ea"/>
                  <a:cs typeface="+mn-cs"/>
                </a:rPr>
                <a:t>L1、L2，再共享 L3。例：</a:t>
              </a:r>
              <a:br/>
              <a:r>
                <a:rPr lang="zh-CN" sz="1350" dirty="0">
                  <a:solidFill>
                    <a:srgbClr val="1F2937"/>
                  </a:solidFill>
                  <a:latin typeface="+mn-lt"/>
                  <a:ea typeface="+mn-ea"/>
                  <a:cs typeface="+mn-cs"/>
                </a:rPr>
                <a:t>Intel Core i7。</a:t>
              </a:r>
            </a:p>
          </p:txBody>
        </p:sp>
      </p:grpSp>
      <p:grpSp>
        <p:nvGrpSpPr>
          <p:cNvPr id="134" name="takeaway"/>
          <p:cNvGrpSpPr/>
          <p:nvPr/>
        </p:nvGrpSpPr>
        <p:grpSpPr>
          <a:xfrm>
            <a:off x="533400" y="5874068"/>
            <a:ext cx="11125200" cy="488632"/>
            <a:chOff x="533400" y="5874068"/>
            <a:chExt cx="11125200" cy="488632"/>
          </a:xfrm>
        </p:grpSpPr>
        <p:sp>
          <p:nvSpPr>
            <p:cNvPr id="128" name="Rectangle 128"/>
            <p:cNvSpPr/>
            <p:nvPr/>
          </p:nvSpPr>
          <p:spPr>
            <a:xfrm>
              <a:off x="533400" y="5874068"/>
              <a:ext cx="11125200" cy="488632"/>
            </a:xfrm>
            <a:prstGeom prst="roundRect">
              <a:avLst>
                <a:gd name="adj" fmla="val 23392"/>
              </a:avLst>
            </a:prstGeom>
            <a:solidFill>
              <a:srgbClr val="FDEEE7"/>
            </a:solidFill>
            <a:ln>
              <a:noFill/>
            </a:ln>
          </p:spPr>
        </p:sp>
        <p:grpSp>
          <p:nvGrpSpPr>
            <p:cNvPr id="132" name="Group 132"/>
            <p:cNvGrpSpPr/>
            <p:nvPr/>
          </p:nvGrpSpPr>
          <p:grpSpPr>
            <a:xfrm>
              <a:off x="738188" y="6017895"/>
              <a:ext cx="200026" cy="200025"/>
              <a:chOff x="738188" y="6017895"/>
              <a:chExt cx="200026" cy="200025"/>
            </a:xfrm>
          </p:grpSpPr>
          <p:sp>
            <p:nvSpPr>
              <p:cNvPr id="129" name="Freeform 129"/>
              <p:cNvSpPr/>
              <p:nvPr/>
            </p:nvSpPr>
            <p:spPr>
              <a:xfrm>
                <a:off x="738188" y="6017895"/>
                <a:ext cx="200026" cy="100013"/>
              </a:xfrm>
              <a:custGeom>
                <a:avLst/>
                <a:gdLst/>
                <a:ahLst/>
                <a:cxnLst/>
                <a:rect l="l" t="t" r="r" b="b"/>
                <a:pathLst>
                  <a:path w="200026" h="100013">
                    <a:moveTo>
                      <a:pt x="0" y="100013"/>
                    </a:moveTo>
                    <a:lnTo>
                      <a:pt x="11113" y="100013"/>
                    </a:lnTo>
                    <a:moveTo>
                      <a:pt x="100013" y="0"/>
                    </a:moveTo>
                    <a:lnTo>
                      <a:pt x="100013" y="11113"/>
                    </a:lnTo>
                    <a:moveTo>
                      <a:pt x="188913" y="100013"/>
                    </a:moveTo>
                    <a:lnTo>
                      <a:pt x="200026" y="100013"/>
                    </a:lnTo>
                    <a:moveTo>
                      <a:pt x="28893" y="28893"/>
                    </a:moveTo>
                    <a:lnTo>
                      <a:pt x="36671" y="36671"/>
                    </a:lnTo>
                    <a:moveTo>
                      <a:pt x="171133" y="28893"/>
                    </a:moveTo>
                    <a:lnTo>
                      <a:pt x="163354" y="36671"/>
                    </a:lnTo>
                  </a:path>
                </a:pathLst>
              </a:custGeom>
              <a:noFill/>
              <a:ln w="22225">
                <a:solidFill>
                  <a:srgbClr val="C2410C"/>
                </a:solidFill>
              </a:ln>
            </p:spPr>
          </p:sp>
          <p:sp>
            <p:nvSpPr>
              <p:cNvPr id="130" name="Freeform 130"/>
              <p:cNvSpPr/>
              <p:nvPr/>
            </p:nvSpPr>
            <p:spPr>
              <a:xfrm>
                <a:off x="777926" y="6062345"/>
                <a:ext cx="120548" cy="155575"/>
              </a:xfrm>
              <a:custGeom>
                <a:avLst/>
                <a:gdLst/>
                <a:ahLst/>
                <a:cxnLst/>
                <a:rect l="l" t="t" r="r" b="b"/>
                <a:pathLst>
                  <a:path w="120548" h="155575">
                    <a:moveTo>
                      <a:pt x="26937" y="100013"/>
                    </a:moveTo>
                    <a:cubicBezTo>
                      <a:pt x="7804" y="85663"/>
                      <a:pt x="0" y="60681"/>
                      <a:pt x="7563" y="37992"/>
                    </a:cubicBezTo>
                    <a:cubicBezTo>
                      <a:pt x="15126" y="15304"/>
                      <a:pt x="36358" y="0"/>
                      <a:pt x="60274" y="0"/>
                    </a:cubicBezTo>
                    <a:cubicBezTo>
                      <a:pt x="84190" y="0"/>
                      <a:pt x="105423" y="15304"/>
                      <a:pt x="112986" y="37992"/>
                    </a:cubicBezTo>
                    <a:cubicBezTo>
                      <a:pt x="120548" y="60681"/>
                      <a:pt x="112745" y="85663"/>
                      <a:pt x="93612" y="100013"/>
                    </a:cubicBezTo>
                    <a:cubicBezTo>
                      <a:pt x="84812" y="108723"/>
                      <a:pt x="80686" y="121103"/>
                      <a:pt x="82499" y="133350"/>
                    </a:cubicBezTo>
                    <a:cubicBezTo>
                      <a:pt x="82499" y="145625"/>
                      <a:pt x="72549" y="155575"/>
                      <a:pt x="60274" y="155575"/>
                    </a:cubicBezTo>
                    <a:cubicBezTo>
                      <a:pt x="48000" y="155575"/>
                      <a:pt x="38049" y="145625"/>
                      <a:pt x="38049" y="133350"/>
                    </a:cubicBezTo>
                    <a:cubicBezTo>
                      <a:pt x="39862" y="121103"/>
                      <a:pt x="35736" y="108723"/>
                      <a:pt x="26937" y="100013"/>
                    </a:cubicBezTo>
                  </a:path>
                </a:pathLst>
              </a:custGeom>
              <a:noFill/>
              <a:ln w="22225">
                <a:solidFill>
                  <a:srgbClr val="C2410C"/>
                </a:solidFill>
              </a:ln>
            </p:spPr>
          </p:sp>
          <p:sp>
            <p:nvSpPr>
              <p:cNvPr id="131" name="Freeform 131"/>
              <p:cNvSpPr/>
              <p:nvPr/>
            </p:nvSpPr>
            <p:spPr>
              <a:xfrm>
                <a:off x="812642" y="6173471"/>
                <a:ext cx="51118" cy="9525"/>
              </a:xfrm>
              <a:custGeom>
                <a:avLst/>
                <a:gdLst/>
                <a:ahLst/>
                <a:cxnLst/>
                <a:rect l="l" t="t" r="r" b="b"/>
                <a:pathLst>
                  <a:path w="51118" h="9525">
                    <a:moveTo>
                      <a:pt x="0" y="0"/>
                    </a:moveTo>
                    <a:lnTo>
                      <a:pt x="51118" y="0"/>
                    </a:lnTo>
                  </a:path>
                </a:pathLst>
              </a:custGeom>
              <a:noFill/>
              <a:ln w="22225">
                <a:solidFill>
                  <a:srgbClr val="C2410C"/>
                </a:solidFill>
              </a:ln>
            </p:spPr>
          </p:sp>
        </p:grpSp>
        <p:sp>
          <p:nvSpPr>
            <p:cNvPr id="133" name="TextBox 133"/>
            <p:cNvSpPr txBox="1"/>
            <p:nvPr/>
          </p:nvSpPr>
          <p:spPr>
            <a:xfrm>
              <a:off x="1040892" y="6023610"/>
              <a:ext cx="9282303" cy="264033"/>
            </a:xfrm>
            <a:prstGeom prst="rect">
              <a:avLst/>
            </a:prstGeom>
            <a:noFill/>
            <a:ln>
              <a:noFill/>
            </a:ln>
          </p:spPr>
          <p:txBody>
            <a:bodyPr wrap="none" lIns="0" tIns="0" rIns="0" bIns="0" anchor="t" anchorCtr="0">
              <a:spAutoFit/>
            </a:bodyPr>
            <a:lstStyle/>
            <a:p>
              <a:pPr algn="l"/>
              <a:r>
                <a:rPr lang="zh-CN" sz="1350" dirty="0">
                  <a:solidFill>
                    <a:srgbClr val="C2410C"/>
                  </a:solidFill>
                  <a:latin typeface="+mn-lt"/>
                  <a:ea typeface="+mn-ea"/>
                  <a:cs typeface="+mn-cs"/>
                </a:rPr>
                <a:t>共享的层次越靠近核，核间交换数据越不用绕到主存；但共享的那一级要被所有核同时争用，容量和带宽都得跟上。</a:t>
              </a:r>
            </a:p>
          </p:txBody>
        </p:sp>
      </p:grpSp>
      <p:grpSp>
        <p:nvGrpSpPr>
          <p:cNvPr id="137" name="footer"/>
          <p:cNvGrpSpPr/>
          <p:nvPr/>
        </p:nvGrpSpPr>
        <p:grpSpPr>
          <a:xfrm>
            <a:off x="528447" y="6581299"/>
            <a:ext cx="11135106" cy="190690"/>
            <a:chOff x="528447" y="6581299"/>
            <a:chExt cx="11135106" cy="190690"/>
          </a:xfrm>
        </p:grpSpPr>
        <p:sp>
          <p:nvSpPr>
            <p:cNvPr id="135" name="TextBox 135"/>
            <p:cNvSpPr txBox="1"/>
            <p:nvPr/>
          </p:nvSpPr>
          <p:spPr>
            <a:xfrm>
              <a:off x="528447" y="6581299"/>
              <a:ext cx="2120748"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并行与分布式计算 · 第7章 体系结构</a:t>
              </a:r>
            </a:p>
          </p:txBody>
        </p:sp>
        <p:sp>
          <p:nvSpPr>
            <p:cNvPr id="136" name="TextBox 136"/>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14</a:t>
              </a:r>
            </a:p>
          </p:txBody>
        </p:sp>
      </p:gr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6053003" cy="909257"/>
            <a:chOff x="520446" y="342900"/>
            <a:chExt cx="6053003" cy="909257"/>
          </a:xfrm>
        </p:grpSpPr>
        <p:sp>
          <p:nvSpPr>
            <p:cNvPr id="2" name="Rectangle 2"/>
            <p:cNvSpPr/>
            <p:nvPr/>
          </p:nvSpPr>
          <p:spPr>
            <a:xfrm>
              <a:off x="533400" y="342900"/>
              <a:ext cx="2272665" cy="266700"/>
            </a:xfrm>
            <a:prstGeom prst="roundRect">
              <a:avLst>
                <a:gd name="adj" fmla="val 50000"/>
              </a:avLst>
            </a:prstGeom>
            <a:solidFill>
              <a:srgbClr val="E7EDF3"/>
            </a:solidFill>
            <a:ln>
              <a:noFill/>
            </a:ln>
          </p:spPr>
        </p:sp>
        <p:sp>
          <p:nvSpPr>
            <p:cNvPr id="3" name="TextBox 3"/>
            <p:cNvSpPr txBox="1"/>
            <p:nvPr/>
          </p:nvSpPr>
          <p:spPr>
            <a:xfrm>
              <a:off x="601058" y="407194"/>
              <a:ext cx="2137349"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第7章 体系结构 · 多处理器结构</a:t>
              </a:r>
            </a:p>
          </p:txBody>
        </p:sp>
        <p:sp>
          <p:nvSpPr>
            <p:cNvPr id="4" name="TextBox 4"/>
            <p:cNvSpPr txBox="1"/>
            <p:nvPr/>
          </p:nvSpPr>
          <p:spPr>
            <a:xfrm>
              <a:off x="520446" y="753428"/>
              <a:ext cx="6053003"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共享 Cache 的好处与三款典型多核产品</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14" name="c1-bullets-1"/>
          <p:cNvGrpSpPr/>
          <p:nvPr/>
        </p:nvGrpSpPr>
        <p:grpSpPr>
          <a:xfrm>
            <a:off x="526542" y="1545907"/>
            <a:ext cx="4303776" cy="2235708"/>
            <a:chOff x="526542" y="1545907"/>
            <a:chExt cx="4303776" cy="2235708"/>
          </a:xfrm>
        </p:grpSpPr>
        <p:sp>
          <p:nvSpPr>
            <p:cNvPr id="7" name="TextBox 7"/>
            <p:cNvSpPr txBox="1"/>
            <p:nvPr/>
          </p:nvSpPr>
          <p:spPr>
            <a:xfrm>
              <a:off x="526542" y="1545907"/>
              <a:ext cx="2295846" cy="264033"/>
            </a:xfrm>
            <a:prstGeom prst="rect">
              <a:avLst/>
            </a:prstGeom>
            <a:noFill/>
            <a:ln>
              <a:noFill/>
            </a:ln>
          </p:spPr>
          <p:txBody>
            <a:bodyPr wrap="none" lIns="0" tIns="0" rIns="0" bIns="0" anchor="t" anchorCtr="0">
              <a:spAutoFit/>
            </a:bodyPr>
            <a:lstStyle/>
            <a:p>
              <a:pPr algn="l"/>
              <a:r>
                <a:rPr lang="zh-CN" sz="1350" b="1" dirty="0">
                  <a:solidFill>
                    <a:srgbClr val="334E68"/>
                  </a:solidFill>
                  <a:latin typeface="+mn-lt"/>
                  <a:ea typeface="+mn-ea"/>
                  <a:cs typeface="+mn-cs"/>
                </a:rPr>
                <a:t>基于共享 Cache 结构的优点</a:t>
              </a:r>
            </a:p>
          </p:txBody>
        </p:sp>
        <p:sp>
          <p:nvSpPr>
            <p:cNvPr id="8" name="Freeform 8"/>
            <p:cNvSpPr/>
            <p:nvPr/>
          </p:nvSpPr>
          <p:spPr>
            <a:xfrm>
              <a:off x="533400" y="1894522"/>
              <a:ext cx="129540" cy="104775"/>
            </a:xfrm>
            <a:custGeom>
              <a:avLst/>
              <a:gdLst/>
              <a:ahLst/>
              <a:cxnLst/>
              <a:rect l="l" t="t" r="r" b="b"/>
              <a:pathLst>
                <a:path w="129540" h="104775">
                  <a:moveTo>
                    <a:pt x="0" y="55245"/>
                  </a:moveTo>
                  <a:lnTo>
                    <a:pt x="49530" y="104775"/>
                  </a:lnTo>
                  <a:lnTo>
                    <a:pt x="129540" y="0"/>
                  </a:lnTo>
                </a:path>
              </a:pathLst>
            </a:custGeom>
            <a:noFill/>
            <a:ln w="24765" cap="rnd">
              <a:solidFill>
                <a:srgbClr val="14A38B"/>
              </a:solidFill>
              <a:round/>
            </a:ln>
          </p:spPr>
        </p:sp>
        <p:sp>
          <p:nvSpPr>
            <p:cNvPr id="9" name="TextBox 9"/>
            <p:cNvSpPr txBox="1"/>
            <p:nvPr/>
          </p:nvSpPr>
          <p:spPr>
            <a:xfrm>
              <a:off x="770382" y="1865947"/>
              <a:ext cx="4017074"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全局数据在共享 Cache 这一级只存一份，不必复制，</a:t>
              </a:r>
              <a:br/>
              <a:r>
                <a:rPr lang="zh-CN" sz="1350" dirty="0">
                  <a:solidFill>
                    <a:srgbClr val="1F2937"/>
                  </a:solidFill>
                  <a:latin typeface="+mn-lt"/>
                  <a:ea typeface="+mn-ea"/>
                  <a:cs typeface="+mn-cs"/>
                </a:rPr>
                <a:t>核间通信开销低</a:t>
              </a:r>
            </a:p>
          </p:txBody>
        </p:sp>
        <p:sp>
          <p:nvSpPr>
            <p:cNvPr id="10" name="Freeform 10"/>
            <p:cNvSpPr/>
            <p:nvPr/>
          </p:nvSpPr>
          <p:spPr>
            <a:xfrm>
              <a:off x="533400" y="2463165"/>
              <a:ext cx="129540" cy="104775"/>
            </a:xfrm>
            <a:custGeom>
              <a:avLst/>
              <a:gdLst/>
              <a:ahLst/>
              <a:cxnLst/>
              <a:rect l="l" t="t" r="r" b="b"/>
              <a:pathLst>
                <a:path w="129540" h="104775">
                  <a:moveTo>
                    <a:pt x="0" y="55245"/>
                  </a:moveTo>
                  <a:lnTo>
                    <a:pt x="49530" y="104775"/>
                  </a:lnTo>
                  <a:lnTo>
                    <a:pt x="129540" y="0"/>
                  </a:lnTo>
                </a:path>
              </a:pathLst>
            </a:custGeom>
            <a:noFill/>
            <a:ln w="24765" cap="rnd">
              <a:solidFill>
                <a:srgbClr val="14A38B"/>
              </a:solidFill>
              <a:round/>
            </a:ln>
          </p:spPr>
        </p:sp>
        <p:sp>
          <p:nvSpPr>
            <p:cNvPr id="11" name="TextBox 11"/>
            <p:cNvSpPr txBox="1"/>
            <p:nvPr/>
          </p:nvSpPr>
          <p:spPr>
            <a:xfrm>
              <a:off x="770382" y="2434590"/>
              <a:ext cx="4017074"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层次化 Cache 降低整个系统的不命中概率，一个线程</a:t>
              </a:r>
              <a:br/>
              <a:r>
                <a:rPr lang="zh-CN" sz="1350" dirty="0">
                  <a:solidFill>
                    <a:srgbClr val="1F2937"/>
                  </a:solidFill>
                  <a:latin typeface="+mn-lt"/>
                  <a:ea typeface="+mn-ea"/>
                  <a:cs typeface="+mn-cs"/>
                </a:rPr>
                <a:t>忙时能用到更多 Cache 空间</a:t>
              </a:r>
            </a:p>
          </p:txBody>
        </p:sp>
        <p:sp>
          <p:nvSpPr>
            <p:cNvPr id="12" name="Freeform 12"/>
            <p:cNvSpPr/>
            <p:nvPr/>
          </p:nvSpPr>
          <p:spPr>
            <a:xfrm>
              <a:off x="533400" y="3030855"/>
              <a:ext cx="129540" cy="105728"/>
            </a:xfrm>
            <a:custGeom>
              <a:avLst/>
              <a:gdLst/>
              <a:ahLst/>
              <a:cxnLst/>
              <a:rect l="l" t="t" r="r" b="b"/>
              <a:pathLst>
                <a:path w="129540" h="105728">
                  <a:moveTo>
                    <a:pt x="0" y="56198"/>
                  </a:moveTo>
                  <a:lnTo>
                    <a:pt x="49530" y="105728"/>
                  </a:lnTo>
                  <a:lnTo>
                    <a:pt x="129540" y="0"/>
                  </a:lnTo>
                </a:path>
              </a:pathLst>
            </a:custGeom>
            <a:noFill/>
            <a:ln w="24765" cap="rnd">
              <a:solidFill>
                <a:srgbClr val="14A38B"/>
              </a:solidFill>
              <a:round/>
            </a:ln>
          </p:spPr>
        </p:sp>
        <p:sp>
          <p:nvSpPr>
            <p:cNvPr id="13" name="TextBox 13"/>
            <p:cNvSpPr txBox="1"/>
            <p:nvPr/>
          </p:nvSpPr>
          <p:spPr>
            <a:xfrm>
              <a:off x="770382" y="3003232"/>
              <a:ext cx="4059936" cy="778383"/>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Cache 在芯片面积中的占比增大（从 Pentium I 到</a:t>
              </a:r>
              <a:br/>
              <a:r>
                <a:rPr lang="zh-CN" sz="1350" dirty="0">
                  <a:solidFill>
                    <a:srgbClr val="1F2937"/>
                  </a:solidFill>
                  <a:latin typeface="+mn-lt"/>
                  <a:ea typeface="+mn-ea"/>
                  <a:cs typeface="+mn-cs"/>
                </a:rPr>
                <a:t>Pentium IV 的芯片照片看得很清楚），而 Cache 阵列</a:t>
              </a:r>
              <a:br/>
              <a:r>
                <a:rPr lang="zh-CN" sz="1350" dirty="0">
                  <a:solidFill>
                    <a:srgbClr val="1F2937"/>
                  </a:solidFill>
                  <a:latin typeface="+mn-lt"/>
                  <a:ea typeface="+mn-ea"/>
                  <a:cs typeface="+mn-cs"/>
                </a:rPr>
                <a:t>的功耗密度低于逻辑电路，整体功耗随之下降</a:t>
              </a:r>
            </a:p>
          </p:txBody>
        </p:sp>
      </p:grpSp>
      <p:grpSp>
        <p:nvGrpSpPr>
          <p:cNvPr id="39" name="c1-table-2"/>
          <p:cNvGrpSpPr/>
          <p:nvPr/>
        </p:nvGrpSpPr>
        <p:grpSpPr>
          <a:xfrm>
            <a:off x="533400" y="3903345"/>
            <a:ext cx="4544378" cy="2228850"/>
            <a:chOff x="533400" y="3903345"/>
            <a:chExt cx="4544378" cy="2228850"/>
          </a:xfrm>
        </p:grpSpPr>
        <p:sp>
          <p:nvSpPr>
            <p:cNvPr id="15" name="Rectangle 15"/>
            <p:cNvSpPr/>
            <p:nvPr/>
          </p:nvSpPr>
          <p:spPr>
            <a:xfrm>
              <a:off x="533400" y="3903345"/>
              <a:ext cx="4544378" cy="405765"/>
            </a:xfrm>
            <a:prstGeom prst="rect">
              <a:avLst/>
            </a:prstGeom>
            <a:solidFill>
              <a:srgbClr val="334E68"/>
            </a:solidFill>
            <a:ln>
              <a:noFill/>
            </a:ln>
          </p:spPr>
        </p:sp>
        <p:sp>
          <p:nvSpPr>
            <p:cNvPr id="16" name="TextBox 16"/>
            <p:cNvSpPr txBox="1"/>
            <p:nvPr/>
          </p:nvSpPr>
          <p:spPr>
            <a:xfrm>
              <a:off x="983513" y="4027646"/>
              <a:ext cx="463753"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对比项</a:t>
              </a:r>
            </a:p>
          </p:txBody>
        </p:sp>
        <p:sp>
          <p:nvSpPr>
            <p:cNvPr id="17" name="TextBox 17"/>
            <p:cNvSpPr txBox="1"/>
            <p:nvPr/>
          </p:nvSpPr>
          <p:spPr>
            <a:xfrm>
              <a:off x="2291115" y="4027646"/>
              <a:ext cx="801300"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私有 Cache</a:t>
              </a:r>
            </a:p>
          </p:txBody>
        </p:sp>
        <p:sp>
          <p:nvSpPr>
            <p:cNvPr id="18" name="TextBox 18"/>
            <p:cNvSpPr txBox="1"/>
            <p:nvPr/>
          </p:nvSpPr>
          <p:spPr>
            <a:xfrm>
              <a:off x="3881790" y="4027646"/>
              <a:ext cx="801300"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共享 Cache</a:t>
              </a:r>
            </a:p>
          </p:txBody>
        </p:sp>
        <p:sp>
          <p:nvSpPr>
            <p:cNvPr id="19" name="TextBox 19"/>
            <p:cNvSpPr txBox="1"/>
            <p:nvPr/>
          </p:nvSpPr>
          <p:spPr>
            <a:xfrm>
              <a:off x="633412" y="4433411"/>
              <a:ext cx="614528"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同一数据</a:t>
              </a:r>
            </a:p>
          </p:txBody>
        </p:sp>
        <p:sp>
          <p:nvSpPr>
            <p:cNvPr id="20" name="TextBox 20"/>
            <p:cNvSpPr txBox="1"/>
            <p:nvPr/>
          </p:nvSpPr>
          <p:spPr>
            <a:xfrm>
              <a:off x="1996440" y="4433411"/>
              <a:ext cx="916076"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每核各存一份</a:t>
              </a:r>
            </a:p>
          </p:txBody>
        </p:sp>
        <p:sp>
          <p:nvSpPr>
            <p:cNvPr id="21" name="TextBox 21"/>
            <p:cNvSpPr txBox="1"/>
            <p:nvPr/>
          </p:nvSpPr>
          <p:spPr>
            <a:xfrm>
              <a:off x="3587115" y="4433411"/>
              <a:ext cx="614528"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只存一份</a:t>
              </a:r>
            </a:p>
          </p:txBody>
        </p:sp>
        <p:sp>
          <p:nvSpPr>
            <p:cNvPr id="22" name="Rectangle 22"/>
            <p:cNvSpPr/>
            <p:nvPr/>
          </p:nvSpPr>
          <p:spPr>
            <a:xfrm>
              <a:off x="533400" y="4710112"/>
              <a:ext cx="4544378" cy="9525"/>
            </a:xfrm>
            <a:prstGeom prst="rect">
              <a:avLst/>
            </a:prstGeom>
            <a:solidFill>
              <a:srgbClr val="D9DFEA"/>
            </a:solidFill>
            <a:ln>
              <a:noFill/>
            </a:ln>
          </p:spPr>
        </p:sp>
        <p:sp>
          <p:nvSpPr>
            <p:cNvPr id="23" name="Rectangle 23"/>
            <p:cNvSpPr/>
            <p:nvPr/>
          </p:nvSpPr>
          <p:spPr>
            <a:xfrm>
              <a:off x="533400" y="4714875"/>
              <a:ext cx="4544378" cy="605790"/>
            </a:xfrm>
            <a:prstGeom prst="rect">
              <a:avLst/>
            </a:prstGeom>
            <a:solidFill>
              <a:srgbClr val="F4F6FB"/>
            </a:solidFill>
            <a:ln>
              <a:noFill/>
            </a:ln>
          </p:spPr>
        </p:sp>
        <p:sp>
          <p:nvSpPr>
            <p:cNvPr id="24" name="TextBox 24"/>
            <p:cNvSpPr txBox="1"/>
            <p:nvPr/>
          </p:nvSpPr>
          <p:spPr>
            <a:xfrm>
              <a:off x="633412" y="4939189"/>
              <a:ext cx="916076"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核间交换数据</a:t>
              </a:r>
            </a:p>
          </p:txBody>
        </p:sp>
        <p:sp>
          <p:nvSpPr>
            <p:cNvPr id="25" name="TextBox 25"/>
            <p:cNvSpPr txBox="1"/>
            <p:nvPr/>
          </p:nvSpPr>
          <p:spPr>
            <a:xfrm>
              <a:off x="1996440" y="4839176"/>
              <a:ext cx="1291590" cy="420052"/>
            </a:xfrm>
            <a:prstGeom prst="rect">
              <a:avLst/>
            </a:prstGeom>
            <a:noFill/>
            <a:ln>
              <a:noFill/>
            </a:ln>
          </p:spPr>
          <p:txBody>
            <a:bodyPr wrap="none" lIns="0" tIns="0" rIns="0" bIns="0" anchor="t" anchorCtr="0">
              <a:spAutoFit/>
            </a:bodyPr>
            <a:lstStyle/>
            <a:p>
              <a:pPr algn="l">
                <a:lnSpc>
                  <a:spcPts val="1575"/>
                </a:lnSpc>
              </a:pPr>
              <a:r>
                <a:rPr lang="zh-CN" sz="1120" dirty="0">
                  <a:solidFill>
                    <a:srgbClr val="1F2937"/>
                  </a:solidFill>
                  <a:latin typeface="+mn-lt"/>
                  <a:ea typeface="+mn-ea"/>
                  <a:cs typeface="+mn-cs"/>
                </a:rPr>
                <a:t>靠一致性协议或下一</a:t>
              </a:r>
              <a:br/>
              <a:r>
                <a:rPr lang="zh-CN" sz="1120" dirty="0">
                  <a:solidFill>
                    <a:srgbClr val="1F2937"/>
                  </a:solidFill>
                  <a:latin typeface="+mn-lt"/>
                  <a:ea typeface="+mn-ea"/>
                  <a:cs typeface="+mn-cs"/>
                </a:rPr>
                <a:t>级存储</a:t>
              </a:r>
            </a:p>
          </p:txBody>
        </p:sp>
        <p:sp>
          <p:nvSpPr>
            <p:cNvPr id="26" name="TextBox 26"/>
            <p:cNvSpPr txBox="1"/>
            <p:nvPr/>
          </p:nvSpPr>
          <p:spPr>
            <a:xfrm>
              <a:off x="3587115" y="4939189"/>
              <a:ext cx="1217625"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在共享级直接完成</a:t>
              </a:r>
            </a:p>
          </p:txBody>
        </p:sp>
        <p:sp>
          <p:nvSpPr>
            <p:cNvPr id="27" name="Rectangle 27"/>
            <p:cNvSpPr/>
            <p:nvPr/>
          </p:nvSpPr>
          <p:spPr>
            <a:xfrm>
              <a:off x="533400" y="5315902"/>
              <a:ext cx="4544378" cy="9525"/>
            </a:xfrm>
            <a:prstGeom prst="rect">
              <a:avLst/>
            </a:prstGeom>
            <a:solidFill>
              <a:srgbClr val="D9DFEA"/>
            </a:solidFill>
            <a:ln>
              <a:noFill/>
            </a:ln>
          </p:spPr>
        </p:sp>
        <p:sp>
          <p:nvSpPr>
            <p:cNvPr id="28" name="TextBox 28"/>
            <p:cNvSpPr txBox="1"/>
            <p:nvPr/>
          </p:nvSpPr>
          <p:spPr>
            <a:xfrm>
              <a:off x="633412" y="5444966"/>
              <a:ext cx="614528"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容量分配</a:t>
              </a:r>
            </a:p>
          </p:txBody>
        </p:sp>
        <p:sp>
          <p:nvSpPr>
            <p:cNvPr id="29" name="TextBox 29"/>
            <p:cNvSpPr txBox="1"/>
            <p:nvPr/>
          </p:nvSpPr>
          <p:spPr>
            <a:xfrm>
              <a:off x="1996440" y="5444966"/>
              <a:ext cx="916076"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各核固定一份</a:t>
              </a:r>
            </a:p>
          </p:txBody>
        </p:sp>
        <p:sp>
          <p:nvSpPr>
            <p:cNvPr id="30" name="TextBox 30"/>
            <p:cNvSpPr txBox="1"/>
            <p:nvPr/>
          </p:nvSpPr>
          <p:spPr>
            <a:xfrm>
              <a:off x="3587115" y="5444966"/>
              <a:ext cx="916076"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按需动态占用</a:t>
              </a:r>
            </a:p>
          </p:txBody>
        </p:sp>
        <p:sp>
          <p:nvSpPr>
            <p:cNvPr id="31" name="Rectangle 31"/>
            <p:cNvSpPr/>
            <p:nvPr/>
          </p:nvSpPr>
          <p:spPr>
            <a:xfrm>
              <a:off x="533400" y="5721668"/>
              <a:ext cx="4544378" cy="9525"/>
            </a:xfrm>
            <a:prstGeom prst="rect">
              <a:avLst/>
            </a:prstGeom>
            <a:solidFill>
              <a:srgbClr val="D9DFEA"/>
            </a:solidFill>
            <a:ln>
              <a:noFill/>
            </a:ln>
          </p:spPr>
        </p:sp>
        <p:sp>
          <p:nvSpPr>
            <p:cNvPr id="32" name="Rectangle 32"/>
            <p:cNvSpPr/>
            <p:nvPr/>
          </p:nvSpPr>
          <p:spPr>
            <a:xfrm>
              <a:off x="533400" y="5726430"/>
              <a:ext cx="4544378" cy="405765"/>
            </a:xfrm>
            <a:prstGeom prst="rect">
              <a:avLst/>
            </a:prstGeom>
            <a:solidFill>
              <a:srgbClr val="F4F6FB"/>
            </a:solidFill>
            <a:ln>
              <a:noFill/>
            </a:ln>
          </p:spPr>
        </p:sp>
        <p:sp>
          <p:nvSpPr>
            <p:cNvPr id="33" name="TextBox 33"/>
            <p:cNvSpPr txBox="1"/>
            <p:nvPr/>
          </p:nvSpPr>
          <p:spPr>
            <a:xfrm>
              <a:off x="633412" y="5850731"/>
              <a:ext cx="765302"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延迟与争用</a:t>
              </a:r>
            </a:p>
          </p:txBody>
        </p:sp>
        <p:sp>
          <p:nvSpPr>
            <p:cNvPr id="34" name="TextBox 34"/>
            <p:cNvSpPr txBox="1"/>
            <p:nvPr/>
          </p:nvSpPr>
          <p:spPr>
            <a:xfrm>
              <a:off x="1996440" y="5850731"/>
              <a:ext cx="1066851"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延迟短，无争用</a:t>
              </a:r>
            </a:p>
          </p:txBody>
        </p:sp>
        <p:sp>
          <p:nvSpPr>
            <p:cNvPr id="35" name="TextBox 35"/>
            <p:cNvSpPr txBox="1"/>
            <p:nvPr/>
          </p:nvSpPr>
          <p:spPr>
            <a:xfrm>
              <a:off x="3587115" y="5850731"/>
              <a:ext cx="1368400"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延迟较长，多核争用</a:t>
              </a:r>
            </a:p>
          </p:txBody>
        </p:sp>
        <p:sp>
          <p:nvSpPr>
            <p:cNvPr id="36" name="Rectangle 36"/>
            <p:cNvSpPr/>
            <p:nvPr/>
          </p:nvSpPr>
          <p:spPr>
            <a:xfrm>
              <a:off x="533400" y="3903345"/>
              <a:ext cx="4544378" cy="2228850"/>
            </a:xfrm>
            <a:prstGeom prst="rect">
              <a:avLst/>
            </a:prstGeom>
            <a:noFill/>
            <a:ln w="14288">
              <a:solidFill>
                <a:srgbClr val="D9DFEA"/>
              </a:solidFill>
            </a:ln>
          </p:spPr>
        </p:sp>
        <p:sp>
          <p:nvSpPr>
            <p:cNvPr id="37" name="Rectangle 37"/>
            <p:cNvSpPr/>
            <p:nvPr/>
          </p:nvSpPr>
          <p:spPr>
            <a:xfrm>
              <a:off x="1891665" y="3903345"/>
              <a:ext cx="9525" cy="2228850"/>
            </a:xfrm>
            <a:prstGeom prst="rect">
              <a:avLst/>
            </a:prstGeom>
            <a:solidFill>
              <a:srgbClr val="D9DFEA"/>
            </a:solidFill>
            <a:ln>
              <a:noFill/>
            </a:ln>
          </p:spPr>
        </p:sp>
        <p:sp>
          <p:nvSpPr>
            <p:cNvPr id="38" name="Rectangle 38"/>
            <p:cNvSpPr/>
            <p:nvPr/>
          </p:nvSpPr>
          <p:spPr>
            <a:xfrm>
              <a:off x="3482340" y="3903345"/>
              <a:ext cx="9525" cy="2228850"/>
            </a:xfrm>
            <a:prstGeom prst="rect">
              <a:avLst/>
            </a:prstGeom>
            <a:solidFill>
              <a:srgbClr val="D9DFEA"/>
            </a:solidFill>
            <a:ln>
              <a:noFill/>
            </a:ln>
          </p:spPr>
        </p:sp>
      </p:grpSp>
      <p:grpSp>
        <p:nvGrpSpPr>
          <p:cNvPr id="59" name="c2-table-1"/>
          <p:cNvGrpSpPr/>
          <p:nvPr/>
        </p:nvGrpSpPr>
        <p:grpSpPr>
          <a:xfrm>
            <a:off x="5382578" y="1524000"/>
            <a:ext cx="6276022" cy="2738438"/>
            <a:chOff x="5382578" y="1524000"/>
            <a:chExt cx="6276022" cy="2738438"/>
          </a:xfrm>
        </p:grpSpPr>
        <p:sp>
          <p:nvSpPr>
            <p:cNvPr id="40" name="Rectangle 40"/>
            <p:cNvSpPr/>
            <p:nvPr/>
          </p:nvSpPr>
          <p:spPr>
            <a:xfrm>
              <a:off x="5382578" y="1524000"/>
              <a:ext cx="6276022" cy="444818"/>
            </a:xfrm>
            <a:prstGeom prst="rect">
              <a:avLst/>
            </a:prstGeom>
            <a:solidFill>
              <a:srgbClr val="334E68"/>
            </a:solidFill>
            <a:ln>
              <a:noFill/>
            </a:ln>
          </p:spPr>
        </p:sp>
        <p:sp>
          <p:nvSpPr>
            <p:cNvPr id="41" name="TextBox 41"/>
            <p:cNvSpPr txBox="1"/>
            <p:nvPr/>
          </p:nvSpPr>
          <p:spPr>
            <a:xfrm>
              <a:off x="6010275" y="1651635"/>
              <a:ext cx="377190"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产品</a:t>
              </a:r>
            </a:p>
          </p:txBody>
        </p:sp>
        <p:sp>
          <p:nvSpPr>
            <p:cNvPr id="42" name="TextBox 42"/>
            <p:cNvSpPr txBox="1"/>
            <p:nvPr/>
          </p:nvSpPr>
          <p:spPr>
            <a:xfrm>
              <a:off x="7327582" y="1651635"/>
              <a:ext cx="377190"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架构</a:t>
              </a:r>
            </a:p>
          </p:txBody>
        </p:sp>
        <p:sp>
          <p:nvSpPr>
            <p:cNvPr id="43" name="TextBox 43"/>
            <p:cNvSpPr txBox="1"/>
            <p:nvPr/>
          </p:nvSpPr>
          <p:spPr>
            <a:xfrm>
              <a:off x="9082871" y="1651635"/>
              <a:ext cx="1511003"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Cache 组织与规模</a:t>
              </a:r>
            </a:p>
          </p:txBody>
        </p:sp>
        <p:sp>
          <p:nvSpPr>
            <p:cNvPr id="44" name="TextBox 44"/>
            <p:cNvSpPr txBox="1"/>
            <p:nvPr/>
          </p:nvSpPr>
          <p:spPr>
            <a:xfrm>
              <a:off x="5481447" y="2096452"/>
              <a:ext cx="1267016" cy="744093"/>
            </a:xfrm>
            <a:prstGeom prst="rect">
              <a:avLst/>
            </a:prstGeom>
            <a:noFill/>
            <a:ln>
              <a:noFill/>
            </a:ln>
          </p:spPr>
          <p:txBody>
            <a:bodyPr wrap="none" lIns="0" tIns="0" rIns="0" bIns="0" anchor="t" anchorCtr="0">
              <a:spAutoFit/>
            </a:bodyPr>
            <a:lstStyle/>
            <a:p>
              <a:pPr algn="l">
                <a:lnSpc>
                  <a:spcPts val="1890"/>
                </a:lnSpc>
              </a:pPr>
              <a:r>
                <a:rPr lang="en-US" sz="1350" b="1" dirty="0">
                  <a:solidFill>
                    <a:srgbClr val="1F2937"/>
                  </a:solidFill>
                  <a:latin typeface="+mn-lt"/>
                  <a:ea typeface="+mn-ea"/>
                  <a:cs typeface="+mn-cs"/>
                </a:rPr>
                <a:t>Intel Core i7</a:t>
              </a:r>
              <a:br/>
              <a:r>
                <a:rPr lang="zh-CN" sz="1350" b="1" dirty="0">
                  <a:solidFill>
                    <a:srgbClr val="1F2937"/>
                  </a:solidFill>
                  <a:latin typeface="+mn-lt"/>
                  <a:ea typeface="+mn-ea"/>
                  <a:cs typeface="+mn-cs"/>
                </a:rPr>
                <a:t>（第一代，2008</a:t>
              </a:r>
              <a:br/>
              <a:r>
                <a:rPr lang="zh-CN" sz="1350" b="1" dirty="0">
                  <a:solidFill>
                    <a:srgbClr val="1F2937"/>
                  </a:solidFill>
                  <a:latin typeface="+mn-lt"/>
                  <a:ea typeface="+mn-ea"/>
                  <a:cs typeface="+mn-cs"/>
                </a:rPr>
                <a:t>年 11 月）</a:t>
              </a:r>
            </a:p>
          </p:txBody>
        </p:sp>
        <p:sp>
          <p:nvSpPr>
            <p:cNvPr id="45" name="TextBox 45"/>
            <p:cNvSpPr txBox="1"/>
            <p:nvPr/>
          </p:nvSpPr>
          <p:spPr>
            <a:xfrm>
              <a:off x="7113080" y="2336482"/>
              <a:ext cx="313582" cy="264033"/>
            </a:xfrm>
            <a:prstGeom prst="rect">
              <a:avLst/>
            </a:prstGeom>
            <a:noFill/>
            <a:ln>
              <a:noFill/>
            </a:ln>
          </p:spPr>
          <p:txBody>
            <a:bodyPr wrap="none" lIns="0" tIns="0" rIns="0" bIns="0" anchor="t" anchorCtr="0">
              <a:spAutoFit/>
            </a:bodyPr>
            <a:lstStyle/>
            <a:p>
              <a:pPr algn="l"/>
              <a:r>
                <a:rPr lang="en-US" sz="1350" dirty="0">
                  <a:solidFill>
                    <a:srgbClr val="1F2937"/>
                  </a:solidFill>
                  <a:latin typeface="+mn-lt"/>
                  <a:ea typeface="+mn-ea"/>
                  <a:cs typeface="+mn-cs"/>
                </a:rPr>
                <a:t>x86</a:t>
              </a:r>
            </a:p>
          </p:txBody>
        </p:sp>
        <p:sp>
          <p:nvSpPr>
            <p:cNvPr id="46" name="TextBox 46"/>
            <p:cNvSpPr txBox="1"/>
            <p:nvPr/>
          </p:nvSpPr>
          <p:spPr>
            <a:xfrm>
              <a:off x="8117014" y="2216468"/>
              <a:ext cx="2996946" cy="504063"/>
            </a:xfrm>
            <a:prstGeom prst="rect">
              <a:avLst/>
            </a:prstGeom>
            <a:noFill/>
            <a:ln>
              <a:noFill/>
            </a:ln>
          </p:spPr>
          <p:txBody>
            <a:bodyPr wrap="none" lIns="0" tIns="0" rIns="0" bIns="0" anchor="t" anchorCtr="0">
              <a:spAutoFit/>
            </a:bodyPr>
            <a:lstStyle/>
            <a:p>
              <a:pPr algn="l">
                <a:lnSpc>
                  <a:spcPts val="1890"/>
                </a:lnSpc>
              </a:pPr>
              <a:r>
                <a:rPr lang="zh-CN" sz="1350" dirty="0">
                  <a:solidFill>
                    <a:srgbClr val="1F2937"/>
                  </a:solidFill>
                  <a:latin typeface="+mn-lt"/>
                  <a:ea typeface="+mn-ea"/>
                  <a:cs typeface="+mn-cs"/>
                </a:rPr>
                <a:t>4 个 SMT 核；每核专用 L2，4 核共享 8</a:t>
              </a:r>
              <a:br/>
              <a:r>
                <a:rPr lang="en-US" sz="1350" dirty="0">
                  <a:solidFill>
                    <a:srgbClr val="1F2937"/>
                  </a:solidFill>
                  <a:latin typeface="+mn-lt"/>
                  <a:ea typeface="+mn-ea"/>
                  <a:cs typeface="+mn-cs"/>
                </a:rPr>
                <a:t>MB L3</a:t>
              </a:r>
            </a:p>
          </p:txBody>
        </p:sp>
        <p:sp>
          <p:nvSpPr>
            <p:cNvPr id="47" name="Rectangle 47"/>
            <p:cNvSpPr/>
            <p:nvPr/>
          </p:nvSpPr>
          <p:spPr>
            <a:xfrm>
              <a:off x="5382578" y="2888932"/>
              <a:ext cx="6276022" cy="9525"/>
            </a:xfrm>
            <a:prstGeom prst="rect">
              <a:avLst/>
            </a:prstGeom>
            <a:solidFill>
              <a:srgbClr val="D9DFEA"/>
            </a:solidFill>
            <a:ln>
              <a:noFill/>
            </a:ln>
          </p:spPr>
        </p:sp>
        <p:sp>
          <p:nvSpPr>
            <p:cNvPr id="48" name="Rectangle 48"/>
            <p:cNvSpPr/>
            <p:nvPr/>
          </p:nvSpPr>
          <p:spPr>
            <a:xfrm>
              <a:off x="5382578" y="2893695"/>
              <a:ext cx="6276022" cy="684848"/>
            </a:xfrm>
            <a:prstGeom prst="rect">
              <a:avLst/>
            </a:prstGeom>
            <a:solidFill>
              <a:srgbClr val="F4F6FB"/>
            </a:solidFill>
            <a:ln>
              <a:noFill/>
            </a:ln>
          </p:spPr>
        </p:sp>
        <p:sp>
          <p:nvSpPr>
            <p:cNvPr id="49" name="TextBox 49"/>
            <p:cNvSpPr txBox="1"/>
            <p:nvPr/>
          </p:nvSpPr>
          <p:spPr>
            <a:xfrm>
              <a:off x="5481447" y="3141345"/>
              <a:ext cx="1350383" cy="264033"/>
            </a:xfrm>
            <a:prstGeom prst="rect">
              <a:avLst/>
            </a:prstGeom>
            <a:noFill/>
            <a:ln>
              <a:noFill/>
            </a:ln>
          </p:spPr>
          <p:txBody>
            <a:bodyPr wrap="none" lIns="0" tIns="0" rIns="0" bIns="0" anchor="t" anchorCtr="0">
              <a:spAutoFit/>
            </a:bodyPr>
            <a:lstStyle/>
            <a:p>
              <a:pPr algn="l"/>
              <a:r>
                <a:rPr lang="en-US" sz="1350" b="1" dirty="0">
                  <a:solidFill>
                    <a:srgbClr val="1F2937"/>
                  </a:solidFill>
                  <a:latin typeface="+mn-lt"/>
                  <a:ea typeface="+mn-ea"/>
                  <a:cs typeface="+mn-cs"/>
                </a:rPr>
                <a:t>ARM11 MPCore</a:t>
              </a:r>
            </a:p>
          </p:txBody>
        </p:sp>
        <p:sp>
          <p:nvSpPr>
            <p:cNvPr id="50" name="TextBox 50"/>
            <p:cNvSpPr txBox="1"/>
            <p:nvPr/>
          </p:nvSpPr>
          <p:spPr>
            <a:xfrm>
              <a:off x="7113080" y="3141345"/>
              <a:ext cx="368960" cy="264033"/>
            </a:xfrm>
            <a:prstGeom prst="rect">
              <a:avLst/>
            </a:prstGeom>
            <a:noFill/>
            <a:ln>
              <a:noFill/>
            </a:ln>
          </p:spPr>
          <p:txBody>
            <a:bodyPr wrap="none" lIns="0" tIns="0" rIns="0" bIns="0" anchor="t" anchorCtr="0">
              <a:spAutoFit/>
            </a:bodyPr>
            <a:lstStyle/>
            <a:p>
              <a:pPr algn="l"/>
              <a:r>
                <a:rPr lang="en-US" sz="1350" dirty="0">
                  <a:solidFill>
                    <a:srgbClr val="1F2937"/>
                  </a:solidFill>
                  <a:latin typeface="+mn-lt"/>
                  <a:ea typeface="+mn-ea"/>
                  <a:cs typeface="+mn-cs"/>
                </a:rPr>
                <a:t>ARM</a:t>
              </a:r>
            </a:p>
          </p:txBody>
        </p:sp>
        <p:sp>
          <p:nvSpPr>
            <p:cNvPr id="51" name="TextBox 51"/>
            <p:cNvSpPr txBox="1"/>
            <p:nvPr/>
          </p:nvSpPr>
          <p:spPr>
            <a:xfrm>
              <a:off x="8117014" y="3021330"/>
              <a:ext cx="3245548" cy="504063"/>
            </a:xfrm>
            <a:prstGeom prst="rect">
              <a:avLst/>
            </a:prstGeom>
            <a:noFill/>
            <a:ln>
              <a:noFill/>
            </a:ln>
          </p:spPr>
          <p:txBody>
            <a:bodyPr wrap="none" lIns="0" tIns="0" rIns="0" bIns="0" anchor="t" anchorCtr="0">
              <a:spAutoFit/>
            </a:bodyPr>
            <a:lstStyle/>
            <a:p>
              <a:pPr algn="l">
                <a:lnSpc>
                  <a:spcPts val="1890"/>
                </a:lnSpc>
              </a:pPr>
              <a:r>
                <a:rPr lang="zh-CN" sz="1350" dirty="0">
                  <a:solidFill>
                    <a:srgbClr val="1F2937"/>
                  </a:solidFill>
                  <a:latin typeface="+mn-lt"/>
                  <a:ea typeface="+mn-ea"/>
                  <a:cs typeface="+mn-cs"/>
                </a:rPr>
                <a:t>最多配置 4 个处理器，每个有私有的 L1 指</a:t>
              </a:r>
              <a:br/>
              <a:r>
                <a:rPr lang="zh-CN" sz="1350" dirty="0">
                  <a:solidFill>
                    <a:srgbClr val="1F2937"/>
                  </a:solidFill>
                  <a:latin typeface="+mn-lt"/>
                  <a:ea typeface="+mn-ea"/>
                  <a:cs typeface="+mn-cs"/>
                </a:rPr>
                <a:t>令 Cache 和 L1 数据 Cache</a:t>
              </a:r>
            </a:p>
          </p:txBody>
        </p:sp>
        <p:sp>
          <p:nvSpPr>
            <p:cNvPr id="52" name="Rectangle 52"/>
            <p:cNvSpPr/>
            <p:nvPr/>
          </p:nvSpPr>
          <p:spPr>
            <a:xfrm>
              <a:off x="5382578" y="3572828"/>
              <a:ext cx="6276022" cy="9525"/>
            </a:xfrm>
            <a:prstGeom prst="rect">
              <a:avLst/>
            </a:prstGeom>
            <a:solidFill>
              <a:srgbClr val="D9DFEA"/>
            </a:solidFill>
            <a:ln>
              <a:noFill/>
            </a:ln>
          </p:spPr>
        </p:sp>
        <p:sp>
          <p:nvSpPr>
            <p:cNvPr id="53" name="TextBox 53"/>
            <p:cNvSpPr txBox="1"/>
            <p:nvPr/>
          </p:nvSpPr>
          <p:spPr>
            <a:xfrm>
              <a:off x="5481447" y="3826192"/>
              <a:ext cx="959203"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申威 26010</a:t>
              </a:r>
            </a:p>
          </p:txBody>
        </p:sp>
        <p:sp>
          <p:nvSpPr>
            <p:cNvPr id="54" name="TextBox 54"/>
            <p:cNvSpPr txBox="1"/>
            <p:nvPr/>
          </p:nvSpPr>
          <p:spPr>
            <a:xfrm>
              <a:off x="7113080" y="3706177"/>
              <a:ext cx="699516" cy="504063"/>
            </a:xfrm>
            <a:prstGeom prst="rect">
              <a:avLst/>
            </a:prstGeom>
            <a:noFill/>
            <a:ln>
              <a:noFill/>
            </a:ln>
          </p:spPr>
          <p:txBody>
            <a:bodyPr wrap="none" lIns="0" tIns="0" rIns="0" bIns="0" anchor="t" anchorCtr="0">
              <a:spAutoFit/>
            </a:bodyPr>
            <a:lstStyle/>
            <a:p>
              <a:pPr algn="l">
                <a:lnSpc>
                  <a:spcPts val="1890"/>
                </a:lnSpc>
              </a:pPr>
              <a:r>
                <a:rPr lang="zh-CN" sz="1350" dirty="0">
                  <a:solidFill>
                    <a:srgbClr val="1F2937"/>
                  </a:solidFill>
                  <a:latin typeface="+mn-lt"/>
                  <a:ea typeface="+mn-ea"/>
                  <a:cs typeface="+mn-cs"/>
                </a:rPr>
                <a:t>申威指令</a:t>
              </a:r>
              <a:br/>
              <a:r>
                <a:rPr lang="zh-CN" sz="1350" dirty="0">
                  <a:solidFill>
                    <a:srgbClr val="1F2937"/>
                  </a:solidFill>
                  <a:latin typeface="+mn-lt"/>
                  <a:ea typeface="+mn-ea"/>
                  <a:cs typeface="+mn-cs"/>
                </a:rPr>
                <a:t>集</a:t>
              </a:r>
            </a:p>
          </p:txBody>
        </p:sp>
        <p:sp>
          <p:nvSpPr>
            <p:cNvPr id="55" name="TextBox 55"/>
            <p:cNvSpPr txBox="1"/>
            <p:nvPr/>
          </p:nvSpPr>
          <p:spPr>
            <a:xfrm>
              <a:off x="8117014" y="3706177"/>
              <a:ext cx="3048381" cy="504063"/>
            </a:xfrm>
            <a:prstGeom prst="rect">
              <a:avLst/>
            </a:prstGeom>
            <a:noFill/>
            <a:ln>
              <a:noFill/>
            </a:ln>
          </p:spPr>
          <p:txBody>
            <a:bodyPr wrap="none" lIns="0" tIns="0" rIns="0" bIns="0" anchor="t" anchorCtr="0">
              <a:spAutoFit/>
            </a:bodyPr>
            <a:lstStyle/>
            <a:p>
              <a:pPr algn="l">
                <a:lnSpc>
                  <a:spcPts val="1890"/>
                </a:lnSpc>
              </a:pPr>
              <a:r>
                <a:rPr lang="zh-CN" sz="1350" dirty="0">
                  <a:solidFill>
                    <a:srgbClr val="1F2937"/>
                  </a:solidFill>
                  <a:latin typeface="+mn-lt"/>
                  <a:ea typeface="+mn-ea"/>
                  <a:cs typeface="+mn-cs"/>
                </a:rPr>
                <a:t>主核有私有 L1、L2；从核只有 16 KB L1</a:t>
              </a:r>
              <a:br/>
              <a:r>
                <a:rPr lang="zh-CN" sz="1350" dirty="0">
                  <a:solidFill>
                    <a:srgbClr val="1F2937"/>
                  </a:solidFill>
                  <a:latin typeface="+mn-lt"/>
                  <a:ea typeface="+mn-ea"/>
                  <a:cs typeface="+mn-cs"/>
                </a:rPr>
                <a:t>ICache 和 64 KB LDM，数据靠软件搬运</a:t>
              </a:r>
            </a:p>
          </p:txBody>
        </p:sp>
        <p:sp>
          <p:nvSpPr>
            <p:cNvPr id="56" name="Rectangle 56"/>
            <p:cNvSpPr/>
            <p:nvPr/>
          </p:nvSpPr>
          <p:spPr>
            <a:xfrm>
              <a:off x="5382578" y="1524000"/>
              <a:ext cx="6276022" cy="2738438"/>
            </a:xfrm>
            <a:prstGeom prst="rect">
              <a:avLst/>
            </a:prstGeom>
            <a:noFill/>
            <a:ln w="14288">
              <a:solidFill>
                <a:srgbClr val="D9DFEA"/>
              </a:solidFill>
            </a:ln>
          </p:spPr>
        </p:sp>
        <p:sp>
          <p:nvSpPr>
            <p:cNvPr id="57" name="Rectangle 57"/>
            <p:cNvSpPr/>
            <p:nvPr/>
          </p:nvSpPr>
          <p:spPr>
            <a:xfrm>
              <a:off x="7009448" y="1524000"/>
              <a:ext cx="9525" cy="2738438"/>
            </a:xfrm>
            <a:prstGeom prst="rect">
              <a:avLst/>
            </a:prstGeom>
            <a:solidFill>
              <a:srgbClr val="D9DFEA"/>
            </a:solidFill>
            <a:ln>
              <a:noFill/>
            </a:ln>
          </p:spPr>
        </p:sp>
        <p:sp>
          <p:nvSpPr>
            <p:cNvPr id="58" name="Rectangle 58"/>
            <p:cNvSpPr/>
            <p:nvPr/>
          </p:nvSpPr>
          <p:spPr>
            <a:xfrm>
              <a:off x="8013382" y="1524000"/>
              <a:ext cx="9525" cy="2738438"/>
            </a:xfrm>
            <a:prstGeom prst="rect">
              <a:avLst/>
            </a:prstGeom>
            <a:solidFill>
              <a:srgbClr val="D9DFEA"/>
            </a:solidFill>
            <a:ln>
              <a:noFill/>
            </a:ln>
          </p:spPr>
        </p:sp>
      </p:grpSp>
      <p:grpSp>
        <p:nvGrpSpPr>
          <p:cNvPr id="66" name="c2-callout-2"/>
          <p:cNvGrpSpPr/>
          <p:nvPr/>
        </p:nvGrpSpPr>
        <p:grpSpPr>
          <a:xfrm>
            <a:off x="5382578" y="4437698"/>
            <a:ext cx="6276022" cy="1694498"/>
            <a:chOff x="5382578" y="4437698"/>
            <a:chExt cx="6276022" cy="1694498"/>
          </a:xfrm>
        </p:grpSpPr>
        <p:sp>
          <p:nvSpPr>
            <p:cNvPr id="60" name="Rectangle 60"/>
            <p:cNvSpPr/>
            <p:nvPr/>
          </p:nvSpPr>
          <p:spPr>
            <a:xfrm>
              <a:off x="5382578" y="4437698"/>
              <a:ext cx="6276022" cy="1694498"/>
            </a:xfrm>
            <a:prstGeom prst="roundRect">
              <a:avLst>
                <a:gd name="adj" fmla="val 6745"/>
              </a:avLst>
            </a:prstGeom>
            <a:solidFill>
              <a:srgbClr val="F4F6FB"/>
            </a:solidFill>
            <a:ln>
              <a:noFill/>
            </a:ln>
          </p:spPr>
        </p:sp>
        <p:grpSp>
          <p:nvGrpSpPr>
            <p:cNvPr id="64" name="Group 64"/>
            <p:cNvGrpSpPr/>
            <p:nvPr/>
          </p:nvGrpSpPr>
          <p:grpSpPr>
            <a:xfrm>
              <a:off x="5587365" y="5184458"/>
              <a:ext cx="200026" cy="200026"/>
              <a:chOff x="5587365" y="5184458"/>
              <a:chExt cx="200026" cy="200026"/>
            </a:xfrm>
          </p:grpSpPr>
          <p:sp>
            <p:nvSpPr>
              <p:cNvPr id="61" name="Freeform 61"/>
              <p:cNvSpPr/>
              <p:nvPr/>
            </p:nvSpPr>
            <p:spPr>
              <a:xfrm>
                <a:off x="5587365" y="5184458"/>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1F2937"/>
                </a:solidFill>
              </a:ln>
            </p:spPr>
          </p:sp>
          <p:sp>
            <p:nvSpPr>
              <p:cNvPr id="62" name="Freeform 62"/>
              <p:cNvSpPr/>
              <p:nvPr/>
            </p:nvSpPr>
            <p:spPr>
              <a:xfrm>
                <a:off x="5687378" y="5251133"/>
                <a:ext cx="9525" cy="9525"/>
              </a:xfrm>
              <a:custGeom>
                <a:avLst/>
                <a:gdLst/>
                <a:ahLst/>
                <a:cxnLst/>
                <a:rect l="l" t="t" r="r" b="b"/>
                <a:pathLst>
                  <a:path w="9525" h="9525">
                    <a:moveTo>
                      <a:pt x="0" y="0"/>
                    </a:moveTo>
                    <a:lnTo>
                      <a:pt x="111" y="0"/>
                    </a:lnTo>
                  </a:path>
                </a:pathLst>
              </a:custGeom>
              <a:noFill/>
              <a:ln w="22225">
                <a:solidFill>
                  <a:srgbClr val="1F2937"/>
                </a:solidFill>
              </a:ln>
            </p:spPr>
          </p:sp>
          <p:sp>
            <p:nvSpPr>
              <p:cNvPr id="63" name="Freeform 63"/>
              <p:cNvSpPr/>
              <p:nvPr/>
            </p:nvSpPr>
            <p:spPr>
              <a:xfrm>
                <a:off x="5676265" y="5284470"/>
                <a:ext cx="22225" cy="44450"/>
              </a:xfrm>
              <a:custGeom>
                <a:avLst/>
                <a:gdLst/>
                <a:ahLst/>
                <a:cxnLst/>
                <a:rect l="l" t="t" r="r" b="b"/>
                <a:pathLst>
                  <a:path w="22225" h="44450">
                    <a:moveTo>
                      <a:pt x="0" y="0"/>
                    </a:moveTo>
                    <a:lnTo>
                      <a:pt x="11113" y="0"/>
                    </a:lnTo>
                    <a:lnTo>
                      <a:pt x="11113" y="44450"/>
                    </a:lnTo>
                    <a:lnTo>
                      <a:pt x="22225" y="44450"/>
                    </a:lnTo>
                  </a:path>
                </a:pathLst>
              </a:custGeom>
              <a:noFill/>
              <a:ln w="22225">
                <a:solidFill>
                  <a:srgbClr val="1F2937"/>
                </a:solidFill>
              </a:ln>
            </p:spPr>
          </p:sp>
        </p:grpSp>
        <p:sp>
          <p:nvSpPr>
            <p:cNvPr id="65" name="TextBox 65"/>
            <p:cNvSpPr txBox="1"/>
            <p:nvPr/>
          </p:nvSpPr>
          <p:spPr>
            <a:xfrm>
              <a:off x="5890070" y="5066348"/>
              <a:ext cx="5302948" cy="512636"/>
            </a:xfrm>
            <a:prstGeom prst="rect">
              <a:avLst/>
            </a:prstGeom>
            <a:noFill/>
            <a:ln>
              <a:noFill/>
            </a:ln>
          </p:spPr>
          <p:txBody>
            <a:bodyPr wrap="none" lIns="0" tIns="0" rIns="0" bIns="0" anchor="t" anchorCtr="0">
              <a:spAutoFit/>
            </a:bodyPr>
            <a:lstStyle/>
            <a:p>
              <a:pPr algn="l">
                <a:lnSpc>
                  <a:spcPts val="1958"/>
                </a:lnSpc>
              </a:pPr>
              <a:r>
                <a:rPr lang="zh-CN" sz="1350" dirty="0">
                  <a:solidFill>
                    <a:srgbClr val="1F2937"/>
                  </a:solidFill>
                  <a:latin typeface="+mn-lt"/>
                  <a:ea typeface="+mn-ea"/>
                  <a:cs typeface="+mn-cs"/>
                </a:rPr>
                <a:t>SMT（同时多线程）让一个物理核同时执行多个硬件线程的指令，操作</a:t>
              </a:r>
              <a:br/>
              <a:r>
                <a:rPr lang="zh-CN" sz="1350" dirty="0">
                  <a:solidFill>
                    <a:srgbClr val="1F2937"/>
                  </a:solidFill>
                  <a:latin typeface="+mn-lt"/>
                  <a:ea typeface="+mn-ea"/>
                  <a:cs typeface="+mn-cs"/>
                </a:rPr>
                <a:t>系统看到的逻辑处理器数是物理核数的整数倍。</a:t>
              </a:r>
            </a:p>
          </p:txBody>
        </p:sp>
      </p:grpSp>
      <p:grpSp>
        <p:nvGrpSpPr>
          <p:cNvPr id="69" name="footer"/>
          <p:cNvGrpSpPr/>
          <p:nvPr/>
        </p:nvGrpSpPr>
        <p:grpSpPr>
          <a:xfrm>
            <a:off x="528447" y="6581299"/>
            <a:ext cx="11135106" cy="190690"/>
            <a:chOff x="528447" y="6581299"/>
            <a:chExt cx="11135106" cy="190690"/>
          </a:xfrm>
        </p:grpSpPr>
        <p:sp>
          <p:nvSpPr>
            <p:cNvPr id="67" name="TextBox 67"/>
            <p:cNvSpPr txBox="1"/>
            <p:nvPr/>
          </p:nvSpPr>
          <p:spPr>
            <a:xfrm>
              <a:off x="528447" y="6581299"/>
              <a:ext cx="2120748"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并行与分布式计算 · 第7章 体系结构</a:t>
              </a:r>
            </a:p>
          </p:txBody>
        </p:sp>
        <p:sp>
          <p:nvSpPr>
            <p:cNvPr id="68" name="TextBox 68"/>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15</a:t>
              </a:r>
            </a:p>
          </p:txBody>
        </p:sp>
      </p:grpSp>
    </p:spTree>
  </p:cSld>
  <p:clrMapOvr>
    <a:masterClrMapping/>
  </p:clrMapOvr>
  <p:transition xmlns:p14="http://schemas.microsoft.com/office/powerpoint/2010/main" p14:dur="400">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ection-disc"/>
          <p:cNvSpPr/>
          <p:nvPr/>
        </p:nvSpPr>
        <p:spPr>
          <a:xfrm>
            <a:off x="7715250" y="571500"/>
            <a:ext cx="5715000" cy="5715000"/>
          </a:xfrm>
          <a:prstGeom prst="ellipse">
            <a:avLst/>
          </a:prstGeom>
          <a:solidFill>
            <a:srgbClr val="334E68"/>
          </a:solidFill>
          <a:ln>
            <a:noFill/>
          </a:ln>
        </p:spPr>
      </p:sp>
      <p:sp>
        <p:nvSpPr>
          <p:cNvPr id="3" name="section-ring"/>
          <p:cNvSpPr/>
          <p:nvPr/>
        </p:nvSpPr>
        <p:spPr>
          <a:xfrm>
            <a:off x="7334250" y="190500"/>
            <a:ext cx="6477000" cy="6477000"/>
          </a:xfrm>
          <a:prstGeom prst="ellipse">
            <a:avLst/>
          </a:prstGeom>
          <a:noFill/>
          <a:ln w="133350">
            <a:solidFill>
              <a:srgbClr val="E7EDF3"/>
            </a:solidFill>
          </a:ln>
        </p:spPr>
      </p:sp>
      <p:grpSp>
        <p:nvGrpSpPr>
          <p:cNvPr id="5" name="section-num"/>
          <p:cNvGrpSpPr/>
          <p:nvPr/>
        </p:nvGrpSpPr>
        <p:grpSpPr>
          <a:xfrm>
            <a:off x="8954033" y="2705100"/>
            <a:ext cx="1903933" cy="2305050"/>
            <a:chOff x="8954033" y="2705100"/>
            <a:chExt cx="1903933" cy="2305050"/>
          </a:xfrm>
        </p:grpSpPr>
        <p:sp>
          <p:nvSpPr>
            <p:cNvPr id="4" name="TextBox 4"/>
            <p:cNvSpPr txBox="1"/>
            <p:nvPr/>
          </p:nvSpPr>
          <p:spPr>
            <a:xfrm>
              <a:off x="8954033" y="2705100"/>
              <a:ext cx="1903933" cy="2305050"/>
            </a:xfrm>
            <a:prstGeom prst="rect">
              <a:avLst/>
            </a:prstGeom>
            <a:noFill/>
            <a:ln>
              <a:noFill/>
            </a:ln>
          </p:spPr>
          <p:txBody>
            <a:bodyPr wrap="none" lIns="0" tIns="0" rIns="0" bIns="0" anchor="t" anchorCtr="0">
              <a:spAutoFit/>
            </a:bodyPr>
            <a:lstStyle/>
            <a:p>
              <a:pPr algn="ctr"/>
              <a:r>
                <a:rPr lang="zh-CN" sz="12000" b="1" dirty="0">
                  <a:solidFill>
                    <a:srgbClr val="FFFFFF"/>
                  </a:solidFill>
                  <a:latin typeface="+mn-lt"/>
                  <a:ea typeface="+mn-ea"/>
                  <a:cs typeface="+mn-cs"/>
                </a:rPr>
                <a:t>02</a:t>
              </a:r>
            </a:p>
          </p:txBody>
        </p:sp>
      </p:grpSp>
      <p:grpSp>
        <p:nvGrpSpPr>
          <p:cNvPr id="20" name="section-title"/>
          <p:cNvGrpSpPr/>
          <p:nvPr/>
        </p:nvGrpSpPr>
        <p:grpSpPr>
          <a:xfrm>
            <a:off x="667512" y="1835468"/>
            <a:ext cx="6776527" cy="3706177"/>
            <a:chOff x="667512" y="1835468"/>
            <a:chExt cx="6776527" cy="3706177"/>
          </a:xfrm>
        </p:grpSpPr>
        <p:sp>
          <p:nvSpPr>
            <p:cNvPr id="6" name="TextBox 6"/>
            <p:cNvSpPr txBox="1"/>
            <p:nvPr/>
          </p:nvSpPr>
          <p:spPr>
            <a:xfrm>
              <a:off x="678942" y="1835468"/>
              <a:ext cx="740664" cy="264033"/>
            </a:xfrm>
            <a:prstGeom prst="rect">
              <a:avLst/>
            </a:prstGeom>
            <a:noFill/>
            <a:ln>
              <a:noFill/>
            </a:ln>
          </p:spPr>
          <p:txBody>
            <a:bodyPr wrap="none" lIns="0" tIns="0" rIns="0" bIns="0" anchor="t" anchorCtr="0">
              <a:spAutoFit/>
            </a:bodyPr>
            <a:lstStyle/>
            <a:p>
              <a:pPr algn="l"/>
              <a:r>
                <a:rPr lang="zh-CN" sz="1350" b="1" dirty="0">
                  <a:solidFill>
                    <a:srgbClr val="C2410C"/>
                  </a:solidFill>
                  <a:latin typeface="+mn-lt"/>
                  <a:ea typeface="+mn-ea"/>
                  <a:cs typeface="+mn-cs"/>
                </a:rPr>
                <a:t>第二部分</a:t>
              </a:r>
            </a:p>
          </p:txBody>
        </p:sp>
        <p:sp>
          <p:nvSpPr>
            <p:cNvPr id="7" name="TextBox 7"/>
            <p:cNvSpPr txBox="1"/>
            <p:nvPr/>
          </p:nvSpPr>
          <p:spPr>
            <a:xfrm>
              <a:off x="667512" y="2240280"/>
              <a:ext cx="4029340" cy="704088"/>
            </a:xfrm>
            <a:prstGeom prst="rect">
              <a:avLst/>
            </a:prstGeom>
            <a:noFill/>
            <a:ln>
              <a:noFill/>
            </a:ln>
          </p:spPr>
          <p:txBody>
            <a:bodyPr wrap="none" lIns="0" tIns="0" rIns="0" bIns="0" anchor="t" anchorCtr="0">
              <a:spAutoFit/>
            </a:bodyPr>
            <a:lstStyle/>
            <a:p>
              <a:pPr algn="l"/>
              <a:r>
                <a:rPr lang="zh-CN" sz="3600" b="1" dirty="0">
                  <a:solidFill>
                    <a:srgbClr val="1F2937"/>
                  </a:solidFill>
                  <a:latin typeface="+mn-lt"/>
                  <a:ea typeface="+mn-ea"/>
                  <a:cs typeface="+mn-cs"/>
                </a:rPr>
                <a:t>Cache 一致性问题</a:t>
              </a:r>
            </a:p>
          </p:txBody>
        </p:sp>
        <p:sp>
          <p:nvSpPr>
            <p:cNvPr id="8" name="Rectangle 8"/>
            <p:cNvSpPr/>
            <p:nvPr/>
          </p:nvSpPr>
          <p:spPr>
            <a:xfrm>
              <a:off x="685800" y="3041332"/>
              <a:ext cx="762000" cy="47625"/>
            </a:xfrm>
            <a:prstGeom prst="roundRect">
              <a:avLst>
                <a:gd name="adj" fmla="val 50000"/>
              </a:avLst>
            </a:prstGeom>
            <a:solidFill>
              <a:srgbClr val="F26B3A"/>
            </a:solidFill>
            <a:ln>
              <a:noFill/>
            </a:ln>
          </p:spPr>
        </p:sp>
        <p:sp>
          <p:nvSpPr>
            <p:cNvPr id="9" name="TextBox 9"/>
            <p:cNvSpPr txBox="1"/>
            <p:nvPr/>
          </p:nvSpPr>
          <p:spPr>
            <a:xfrm>
              <a:off x="677418" y="3377565"/>
              <a:ext cx="6766621" cy="322707"/>
            </a:xfrm>
            <a:prstGeom prst="rect">
              <a:avLst/>
            </a:prstGeom>
            <a:noFill/>
            <a:ln>
              <a:noFill/>
            </a:ln>
          </p:spPr>
          <p:txBody>
            <a:bodyPr wrap="none" lIns="0" tIns="0" rIns="0" bIns="0" anchor="t" anchorCtr="0">
              <a:spAutoFit/>
            </a:bodyPr>
            <a:lstStyle/>
            <a:p>
              <a:pPr algn="l"/>
              <a:r>
                <a:rPr lang="zh-CN" sz="1650" dirty="0">
                  <a:solidFill>
                    <a:srgbClr val="5B6475"/>
                  </a:solidFill>
                  <a:latin typeface="+mn-lt"/>
                  <a:ea typeface="+mn-ea"/>
                  <a:cs typeface="+mn-cs"/>
                </a:rPr>
                <a:t>同一块数据在多个 Cache 里有副本，写操作要让所有处理器看到新值</a:t>
              </a:r>
            </a:p>
          </p:txBody>
        </p:sp>
        <p:sp>
          <p:nvSpPr>
            <p:cNvPr id="10" name="Ellipse 10"/>
            <p:cNvSpPr/>
            <p:nvPr/>
          </p:nvSpPr>
          <p:spPr>
            <a:xfrm>
              <a:off x="723900" y="3888105"/>
              <a:ext cx="76200" cy="76200"/>
            </a:xfrm>
            <a:prstGeom prst="ellipse">
              <a:avLst/>
            </a:prstGeom>
            <a:solidFill>
              <a:srgbClr val="334E68"/>
            </a:solidFill>
            <a:ln>
              <a:noFill/>
            </a:ln>
          </p:spPr>
        </p:sp>
        <p:sp>
          <p:nvSpPr>
            <p:cNvPr id="11" name="TextBox 11"/>
            <p:cNvSpPr txBox="1"/>
            <p:nvPr/>
          </p:nvSpPr>
          <p:spPr>
            <a:xfrm>
              <a:off x="906780" y="3830955"/>
              <a:ext cx="204597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7.2 Cache 一致性问题</a:t>
              </a:r>
            </a:p>
          </p:txBody>
        </p:sp>
        <p:sp>
          <p:nvSpPr>
            <p:cNvPr id="12" name="Ellipse 12"/>
            <p:cNvSpPr/>
            <p:nvPr/>
          </p:nvSpPr>
          <p:spPr>
            <a:xfrm>
              <a:off x="723900" y="4242435"/>
              <a:ext cx="76200" cy="76200"/>
            </a:xfrm>
            <a:prstGeom prst="ellipse">
              <a:avLst/>
            </a:prstGeom>
            <a:solidFill>
              <a:srgbClr val="334E68"/>
            </a:solidFill>
            <a:ln>
              <a:noFill/>
            </a:ln>
          </p:spPr>
        </p:sp>
        <p:sp>
          <p:nvSpPr>
            <p:cNvPr id="13" name="TextBox 13"/>
            <p:cNvSpPr txBox="1"/>
            <p:nvPr/>
          </p:nvSpPr>
          <p:spPr>
            <a:xfrm>
              <a:off x="906780" y="4185285"/>
              <a:ext cx="284226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协议的三组选择与两种实现方式</a:t>
              </a:r>
            </a:p>
          </p:txBody>
        </p:sp>
        <p:sp>
          <p:nvSpPr>
            <p:cNvPr id="14" name="Ellipse 14"/>
            <p:cNvSpPr/>
            <p:nvPr/>
          </p:nvSpPr>
          <p:spPr>
            <a:xfrm>
              <a:off x="723900" y="4596765"/>
              <a:ext cx="76200" cy="76200"/>
            </a:xfrm>
            <a:prstGeom prst="ellipse">
              <a:avLst/>
            </a:prstGeom>
            <a:solidFill>
              <a:srgbClr val="334E68"/>
            </a:solidFill>
            <a:ln>
              <a:noFill/>
            </a:ln>
          </p:spPr>
        </p:sp>
        <p:sp>
          <p:nvSpPr>
            <p:cNvPr id="15" name="TextBox 15"/>
            <p:cNvSpPr txBox="1"/>
            <p:nvPr/>
          </p:nvSpPr>
          <p:spPr>
            <a:xfrm>
              <a:off x="906780" y="4539615"/>
              <a:ext cx="3449574"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监听式协议：MSI 三状态与两张状态表</a:t>
              </a:r>
            </a:p>
          </p:txBody>
        </p:sp>
        <p:sp>
          <p:nvSpPr>
            <p:cNvPr id="16" name="Ellipse 16"/>
            <p:cNvSpPr/>
            <p:nvPr/>
          </p:nvSpPr>
          <p:spPr>
            <a:xfrm>
              <a:off x="723900" y="4951095"/>
              <a:ext cx="76200" cy="76200"/>
            </a:xfrm>
            <a:prstGeom prst="ellipse">
              <a:avLst/>
            </a:prstGeom>
            <a:solidFill>
              <a:srgbClr val="334E68"/>
            </a:solidFill>
            <a:ln>
              <a:noFill/>
            </a:ln>
          </p:spPr>
        </p:sp>
        <p:sp>
          <p:nvSpPr>
            <p:cNvPr id="17" name="TextBox 17"/>
            <p:cNvSpPr txBox="1"/>
            <p:nvPr/>
          </p:nvSpPr>
          <p:spPr>
            <a:xfrm>
              <a:off x="906780" y="4893945"/>
              <a:ext cx="304419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目录式协议：三类节点与九种消息</a:t>
              </a:r>
            </a:p>
          </p:txBody>
        </p:sp>
        <p:sp>
          <p:nvSpPr>
            <p:cNvPr id="18" name="Ellipse 18"/>
            <p:cNvSpPr/>
            <p:nvPr/>
          </p:nvSpPr>
          <p:spPr>
            <a:xfrm>
              <a:off x="723900" y="5305425"/>
              <a:ext cx="76200" cy="76200"/>
            </a:xfrm>
            <a:prstGeom prst="ellipse">
              <a:avLst/>
            </a:prstGeom>
            <a:solidFill>
              <a:srgbClr val="334E68"/>
            </a:solidFill>
            <a:ln>
              <a:noFill/>
            </a:ln>
          </p:spPr>
        </p:sp>
        <p:sp>
          <p:nvSpPr>
            <p:cNvPr id="19" name="TextBox 19"/>
            <p:cNvSpPr txBox="1"/>
            <p:nvPr/>
          </p:nvSpPr>
          <p:spPr>
            <a:xfrm>
              <a:off x="906780" y="5248275"/>
              <a:ext cx="243840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三类目录结构及其存储开销</a:t>
              </a:r>
            </a:p>
          </p:txBody>
        </p:sp>
      </p:grpSp>
      <p:grpSp>
        <p:nvGrpSpPr>
          <p:cNvPr id="23" name="footer"/>
          <p:cNvGrpSpPr/>
          <p:nvPr/>
        </p:nvGrpSpPr>
        <p:grpSpPr>
          <a:xfrm>
            <a:off x="528447" y="6581299"/>
            <a:ext cx="11135106" cy="190690"/>
            <a:chOff x="528447" y="6581299"/>
            <a:chExt cx="11135106" cy="190690"/>
          </a:xfrm>
        </p:grpSpPr>
        <p:sp>
          <p:nvSpPr>
            <p:cNvPr id="21" name="TextBox 21"/>
            <p:cNvSpPr txBox="1"/>
            <p:nvPr/>
          </p:nvSpPr>
          <p:spPr>
            <a:xfrm>
              <a:off x="528447" y="6581299"/>
              <a:ext cx="2120748"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并行与分布式计算 · 第7章 体系结构</a:t>
              </a:r>
            </a:p>
          </p:txBody>
        </p:sp>
        <p:sp>
          <p:nvSpPr>
            <p:cNvPr id="22" name="TextBox 22"/>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16</a:t>
              </a:r>
            </a:p>
          </p:txBody>
        </p:sp>
      </p:grpSp>
    </p:spTree>
  </p:cSld>
  <p:clrMapOvr>
    <a:masterClrMapping/>
  </p:clrMapOvr>
  <p:transition xmlns:p14="http://schemas.microsoft.com/office/powerpoint/2010/main" p14:dur="400">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8689893" cy="909257"/>
            <a:chOff x="520446" y="342900"/>
            <a:chExt cx="8689893" cy="909257"/>
          </a:xfrm>
        </p:grpSpPr>
        <p:sp>
          <p:nvSpPr>
            <p:cNvPr id="2" name="Rectangle 2"/>
            <p:cNvSpPr/>
            <p:nvPr/>
          </p:nvSpPr>
          <p:spPr>
            <a:xfrm>
              <a:off x="533400" y="342900"/>
              <a:ext cx="2586038" cy="266700"/>
            </a:xfrm>
            <a:prstGeom prst="roundRect">
              <a:avLst>
                <a:gd name="adj" fmla="val 50000"/>
              </a:avLst>
            </a:prstGeom>
            <a:solidFill>
              <a:srgbClr val="E7EDF3"/>
            </a:solidFill>
            <a:ln>
              <a:noFill/>
            </a:ln>
          </p:spPr>
        </p:sp>
        <p:sp>
          <p:nvSpPr>
            <p:cNvPr id="3" name="TextBox 3"/>
            <p:cNvSpPr txBox="1"/>
            <p:nvPr/>
          </p:nvSpPr>
          <p:spPr>
            <a:xfrm>
              <a:off x="587464" y="407194"/>
              <a:ext cx="2476957"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第7章 体系结构 · Cache 一致性问题</a:t>
              </a:r>
            </a:p>
          </p:txBody>
        </p:sp>
        <p:sp>
          <p:nvSpPr>
            <p:cNvPr id="4" name="TextBox 4"/>
            <p:cNvSpPr txBox="1"/>
            <p:nvPr/>
          </p:nvSpPr>
          <p:spPr>
            <a:xfrm>
              <a:off x="520446" y="753428"/>
              <a:ext cx="8689893"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共享数据进 Cache：一个处理器写了，别人手里还是旧值</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16" name="c1-card-1"/>
          <p:cNvGrpSpPr/>
          <p:nvPr/>
        </p:nvGrpSpPr>
        <p:grpSpPr>
          <a:xfrm>
            <a:off x="533400" y="1524000"/>
            <a:ext cx="6059805" cy="2558415"/>
            <a:chOff x="533400" y="1524000"/>
            <a:chExt cx="6059805" cy="2558415"/>
          </a:xfrm>
        </p:grpSpPr>
        <p:sp>
          <p:nvSpPr>
            <p:cNvPr id="7" name="Rectangle 7"/>
            <p:cNvSpPr/>
            <p:nvPr/>
          </p:nvSpPr>
          <p:spPr>
            <a:xfrm>
              <a:off x="533400" y="1524000"/>
              <a:ext cx="6059805" cy="2558415"/>
            </a:xfrm>
            <a:prstGeom prst="roundRect">
              <a:avLst>
                <a:gd name="adj" fmla="val 5212"/>
              </a:avLst>
            </a:prstGeom>
            <a:solidFill>
              <a:srgbClr val="FFFFFF"/>
            </a:solidFill>
            <a:ln w="14288">
              <a:solidFill>
                <a:srgbClr val="D9DFEA"/>
              </a:solidFill>
            </a:ln>
          </p:spPr>
        </p:sp>
        <p:sp>
          <p:nvSpPr>
            <p:cNvPr id="8" name="Rectangle 8"/>
            <p:cNvSpPr/>
            <p:nvPr/>
          </p:nvSpPr>
          <p:spPr>
            <a:xfrm>
              <a:off x="542925" y="1657350"/>
              <a:ext cx="47625" cy="2291715"/>
            </a:xfrm>
            <a:prstGeom prst="roundRect">
              <a:avLst>
                <a:gd name="adj" fmla="val 50000"/>
              </a:avLst>
            </a:prstGeom>
            <a:solidFill>
              <a:srgbClr val="334E68"/>
            </a:solidFill>
            <a:ln>
              <a:noFill/>
            </a:ln>
          </p:spPr>
        </p:sp>
        <p:sp>
          <p:nvSpPr>
            <p:cNvPr id="9" name="Rectangle 9"/>
            <p:cNvSpPr/>
            <p:nvPr/>
          </p:nvSpPr>
          <p:spPr>
            <a:xfrm>
              <a:off x="781050" y="1733550"/>
              <a:ext cx="778192" cy="257175"/>
            </a:xfrm>
            <a:prstGeom prst="roundRect">
              <a:avLst>
                <a:gd name="adj" fmla="val 50000"/>
              </a:avLst>
            </a:prstGeom>
            <a:solidFill>
              <a:srgbClr val="E7EDF3"/>
            </a:solidFill>
            <a:ln>
              <a:noFill/>
            </a:ln>
          </p:spPr>
        </p:sp>
        <p:sp>
          <p:nvSpPr>
            <p:cNvPr id="10" name="TextBox 10"/>
            <p:cNvSpPr txBox="1"/>
            <p:nvPr/>
          </p:nvSpPr>
          <p:spPr>
            <a:xfrm>
              <a:off x="863359" y="1769269"/>
              <a:ext cx="614528"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两类数据</a:t>
              </a:r>
            </a:p>
          </p:txBody>
        </p:sp>
        <p:sp>
          <p:nvSpPr>
            <p:cNvPr id="11" name="Ellipse 11"/>
            <p:cNvSpPr/>
            <p:nvPr/>
          </p:nvSpPr>
          <p:spPr>
            <a:xfrm>
              <a:off x="786765" y="2173605"/>
              <a:ext cx="64770" cy="64770"/>
            </a:xfrm>
            <a:prstGeom prst="ellipse">
              <a:avLst/>
            </a:prstGeom>
            <a:solidFill>
              <a:srgbClr val="334E68"/>
            </a:solidFill>
            <a:ln>
              <a:noFill/>
            </a:ln>
          </p:spPr>
        </p:sp>
        <p:sp>
          <p:nvSpPr>
            <p:cNvPr id="12" name="TextBox 12"/>
            <p:cNvSpPr txBox="1"/>
            <p:nvPr/>
          </p:nvSpPr>
          <p:spPr>
            <a:xfrm>
              <a:off x="944880" y="2110740"/>
              <a:ext cx="5545684"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私有数据</a:t>
              </a:r>
              <a:r>
                <a:rPr lang="zh-CN" sz="1500" dirty="0">
                  <a:solidFill>
                    <a:srgbClr val="1F2937"/>
                  </a:solidFill>
                  <a:latin typeface="+mn-lt"/>
                  <a:ea typeface="+mn-ea"/>
                  <a:cs typeface="+mn-cs"/>
                </a:rPr>
                <a:t>：只供一个处理器使用，进入 Cache 不会引入新问题</a:t>
              </a:r>
            </a:p>
          </p:txBody>
        </p:sp>
        <p:sp>
          <p:nvSpPr>
            <p:cNvPr id="13" name="Ellipse 13"/>
            <p:cNvSpPr/>
            <p:nvPr/>
          </p:nvSpPr>
          <p:spPr>
            <a:xfrm>
              <a:off x="786765" y="2508885"/>
              <a:ext cx="64770" cy="64770"/>
            </a:xfrm>
            <a:prstGeom prst="ellipse">
              <a:avLst/>
            </a:prstGeom>
            <a:solidFill>
              <a:srgbClr val="334E68"/>
            </a:solidFill>
            <a:ln>
              <a:noFill/>
            </a:ln>
          </p:spPr>
        </p:sp>
        <p:sp>
          <p:nvSpPr>
            <p:cNvPr id="14" name="TextBox 14"/>
            <p:cNvSpPr txBox="1"/>
            <p:nvPr/>
          </p:nvSpPr>
          <p:spPr>
            <a:xfrm>
              <a:off x="944880" y="2446020"/>
              <a:ext cx="5158740" cy="579120"/>
            </a:xfrm>
            <a:prstGeom prst="rect">
              <a:avLst/>
            </a:prstGeom>
            <a:noFill/>
            <a:ln>
              <a:noFill/>
            </a:ln>
          </p:spPr>
          <p:txBody>
            <a:bodyPr wrap="none" lIns="0" tIns="0" rIns="0" bIns="0" anchor="t" anchorCtr="0">
              <a:spAutoFit/>
            </a:bodyPr>
            <a:lstStyle/>
            <a:p>
              <a:pPr algn="l">
                <a:lnSpc>
                  <a:spcPts val="2250"/>
                </a:lnSpc>
              </a:pPr>
              <a:r>
                <a:rPr lang="zh-CN" sz="1500" b="1" dirty="0">
                  <a:solidFill>
                    <a:srgbClr val="1F2937"/>
                  </a:solidFill>
                  <a:latin typeface="+mn-lt"/>
                  <a:ea typeface="+mn-ea"/>
                  <a:cs typeface="+mn-cs"/>
                </a:rPr>
                <a:t>共享数据</a:t>
              </a:r>
              <a:r>
                <a:rPr lang="zh-CN" sz="1500" dirty="0">
                  <a:solidFill>
                    <a:srgbClr val="1F2937"/>
                  </a:solidFill>
                  <a:latin typeface="+mn-lt"/>
                  <a:ea typeface="+mn-ea"/>
                  <a:cs typeface="+mn-cs"/>
                </a:rPr>
                <a:t>：多个处理器共同使用，处理器之间靠读写共享数据</a:t>
              </a:r>
              <a:br/>
              <a:r>
                <a:rPr lang="zh-CN" sz="1500" dirty="0">
                  <a:solidFill>
                    <a:srgbClr val="1F2937"/>
                  </a:solidFill>
                  <a:latin typeface="+mn-lt"/>
                  <a:ea typeface="+mn-ea"/>
                  <a:cs typeface="+mn-cs"/>
                </a:rPr>
                <a:t>通信</a:t>
              </a:r>
            </a:p>
          </p:txBody>
        </p:sp>
        <p:sp>
          <p:nvSpPr>
            <p:cNvPr id="15" name="TextBox 15"/>
            <p:cNvSpPr txBox="1"/>
            <p:nvPr/>
          </p:nvSpPr>
          <p:spPr>
            <a:xfrm>
              <a:off x="773430" y="3067050"/>
              <a:ext cx="5349240" cy="86487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共享数据进入 Cache 后，同一存储块在多个 Cache 中有副本。</a:t>
              </a:r>
              <a:br/>
              <a:r>
                <a:rPr lang="zh-CN" sz="1500" dirty="0">
                  <a:solidFill>
                    <a:srgbClr val="1F2937"/>
                  </a:solidFill>
                  <a:latin typeface="+mn-lt"/>
                  <a:ea typeface="+mn-ea"/>
                  <a:cs typeface="+mn-cs"/>
                </a:rPr>
                <a:t>某个处理器修改了自己的副本，其他副本就和它不一致，这就是</a:t>
              </a:r>
              <a:br/>
              <a:r>
                <a:rPr lang="zh-CN" sz="1500" dirty="0">
                  <a:solidFill>
                    <a:srgbClr val="1F2937"/>
                  </a:solidFill>
                  <a:latin typeface="+mn-lt"/>
                  <a:ea typeface="+mn-ea"/>
                  <a:cs typeface="+mn-cs"/>
                </a:rPr>
                <a:t>多处理机的 Cache 一致性问题。</a:t>
              </a:r>
            </a:p>
          </p:txBody>
        </p:sp>
      </p:grpSp>
      <p:grpSp>
        <p:nvGrpSpPr>
          <p:cNvPr id="42" name="c1-table-2"/>
          <p:cNvGrpSpPr/>
          <p:nvPr/>
        </p:nvGrpSpPr>
        <p:grpSpPr>
          <a:xfrm>
            <a:off x="527685" y="4272915"/>
            <a:ext cx="6065520" cy="2091214"/>
            <a:chOff x="527685" y="4272915"/>
            <a:chExt cx="6065520" cy="2091214"/>
          </a:xfrm>
        </p:grpSpPr>
        <p:sp>
          <p:nvSpPr>
            <p:cNvPr id="17" name="Rectangle 17"/>
            <p:cNvSpPr/>
            <p:nvPr/>
          </p:nvSpPr>
          <p:spPr>
            <a:xfrm>
              <a:off x="533400" y="4272915"/>
              <a:ext cx="6059805" cy="448628"/>
            </a:xfrm>
            <a:prstGeom prst="rect">
              <a:avLst/>
            </a:prstGeom>
            <a:solidFill>
              <a:srgbClr val="334E68"/>
            </a:solidFill>
            <a:ln>
              <a:noFill/>
            </a:ln>
          </p:spPr>
        </p:sp>
        <p:sp>
          <p:nvSpPr>
            <p:cNvPr id="18" name="TextBox 18"/>
            <p:cNvSpPr txBox="1"/>
            <p:nvPr/>
          </p:nvSpPr>
          <p:spPr>
            <a:xfrm>
              <a:off x="1021359" y="4408646"/>
              <a:ext cx="357581"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位置</a:t>
              </a:r>
            </a:p>
          </p:txBody>
        </p:sp>
        <p:sp>
          <p:nvSpPr>
            <p:cNvPr id="19" name="TextBox 19"/>
            <p:cNvSpPr txBox="1"/>
            <p:nvPr/>
          </p:nvSpPr>
          <p:spPr>
            <a:xfrm>
              <a:off x="2126495" y="4408646"/>
              <a:ext cx="692390"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A 写入前</a:t>
              </a:r>
            </a:p>
          </p:txBody>
        </p:sp>
        <p:sp>
          <p:nvSpPr>
            <p:cNvPr id="20" name="TextBox 20"/>
            <p:cNvSpPr txBox="1"/>
            <p:nvPr/>
          </p:nvSpPr>
          <p:spPr>
            <a:xfrm>
              <a:off x="3275125" y="4408646"/>
              <a:ext cx="1363120"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A 写 p（写直达）</a:t>
              </a:r>
            </a:p>
          </p:txBody>
        </p:sp>
        <p:sp>
          <p:nvSpPr>
            <p:cNvPr id="21" name="TextBox 21"/>
            <p:cNvSpPr txBox="1"/>
            <p:nvPr/>
          </p:nvSpPr>
          <p:spPr>
            <a:xfrm>
              <a:off x="5118644" y="4408646"/>
              <a:ext cx="1190807"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A 写 p（写回）</a:t>
              </a:r>
            </a:p>
          </p:txBody>
        </p:sp>
        <p:sp>
          <p:nvSpPr>
            <p:cNvPr id="22" name="TextBox 22"/>
            <p:cNvSpPr txBox="1"/>
            <p:nvPr/>
          </p:nvSpPr>
          <p:spPr>
            <a:xfrm>
              <a:off x="641223" y="4857274"/>
              <a:ext cx="676589" cy="249364"/>
            </a:xfrm>
            <a:prstGeom prst="rect">
              <a:avLst/>
            </a:prstGeom>
            <a:noFill/>
            <a:ln>
              <a:noFill/>
            </a:ln>
          </p:spPr>
          <p:txBody>
            <a:bodyPr wrap="none" lIns="0" tIns="0" rIns="0" bIns="0" anchor="t" anchorCtr="0">
              <a:spAutoFit/>
            </a:bodyPr>
            <a:lstStyle/>
            <a:p>
              <a:pPr algn="l"/>
              <a:r>
                <a:rPr lang="en-US" sz="1280" b="1" dirty="0">
                  <a:solidFill>
                    <a:srgbClr val="1F2937"/>
                  </a:solidFill>
                  <a:latin typeface="+mn-lt"/>
                  <a:ea typeface="+mn-ea"/>
                  <a:cs typeface="+mn-cs"/>
                </a:rPr>
                <a:t>Cache A</a:t>
              </a:r>
            </a:p>
          </p:txBody>
        </p:sp>
        <p:sp>
          <p:nvSpPr>
            <p:cNvPr id="23" name="TextBox 23"/>
            <p:cNvSpPr txBox="1"/>
            <p:nvPr/>
          </p:nvSpPr>
          <p:spPr>
            <a:xfrm>
              <a:off x="1974723" y="4857274"/>
              <a:ext cx="142189" cy="249364"/>
            </a:xfrm>
            <a:prstGeom prst="rect">
              <a:avLst/>
            </a:prstGeom>
            <a:noFill/>
            <a:ln>
              <a:noFill/>
            </a:ln>
          </p:spPr>
          <p:txBody>
            <a:bodyPr wrap="none" lIns="0" tIns="0" rIns="0" bIns="0" anchor="t" anchorCtr="0">
              <a:spAutoFit/>
            </a:bodyPr>
            <a:lstStyle/>
            <a:p>
              <a:pPr algn="l"/>
              <a:r>
                <a:rPr lang="en-US" sz="1280" dirty="0">
                  <a:solidFill>
                    <a:srgbClr val="1F2937"/>
                  </a:solidFill>
                  <a:latin typeface="+mn-lt"/>
                  <a:ea typeface="+mn-ea"/>
                  <a:cs typeface="+mn-cs"/>
                </a:rPr>
                <a:t>m</a:t>
              </a:r>
            </a:p>
          </p:txBody>
        </p:sp>
        <p:sp>
          <p:nvSpPr>
            <p:cNvPr id="24" name="TextBox 24"/>
            <p:cNvSpPr txBox="1"/>
            <p:nvPr/>
          </p:nvSpPr>
          <p:spPr>
            <a:xfrm>
              <a:off x="3186303" y="4857274"/>
              <a:ext cx="107726" cy="249364"/>
            </a:xfrm>
            <a:prstGeom prst="rect">
              <a:avLst/>
            </a:prstGeom>
            <a:noFill/>
            <a:ln>
              <a:noFill/>
            </a:ln>
          </p:spPr>
          <p:txBody>
            <a:bodyPr wrap="none" lIns="0" tIns="0" rIns="0" bIns="0" anchor="t" anchorCtr="0">
              <a:spAutoFit/>
            </a:bodyPr>
            <a:lstStyle/>
            <a:p>
              <a:pPr algn="l"/>
              <a:r>
                <a:rPr lang="en-US" sz="1280" dirty="0">
                  <a:solidFill>
                    <a:srgbClr val="1F2937"/>
                  </a:solidFill>
                  <a:latin typeface="+mn-lt"/>
                  <a:ea typeface="+mn-ea"/>
                  <a:cs typeface="+mn-cs"/>
                </a:rPr>
                <a:t>p</a:t>
              </a:r>
            </a:p>
          </p:txBody>
        </p:sp>
        <p:sp>
          <p:nvSpPr>
            <p:cNvPr id="25" name="TextBox 25"/>
            <p:cNvSpPr txBox="1"/>
            <p:nvPr/>
          </p:nvSpPr>
          <p:spPr>
            <a:xfrm>
              <a:off x="4943666" y="4857274"/>
              <a:ext cx="107726" cy="249364"/>
            </a:xfrm>
            <a:prstGeom prst="rect">
              <a:avLst/>
            </a:prstGeom>
            <a:noFill/>
            <a:ln>
              <a:noFill/>
            </a:ln>
          </p:spPr>
          <p:txBody>
            <a:bodyPr wrap="none" lIns="0" tIns="0" rIns="0" bIns="0" anchor="t" anchorCtr="0">
              <a:spAutoFit/>
            </a:bodyPr>
            <a:lstStyle/>
            <a:p>
              <a:pPr algn="l"/>
              <a:r>
                <a:rPr lang="en-US" sz="1280" dirty="0">
                  <a:solidFill>
                    <a:srgbClr val="1F2937"/>
                  </a:solidFill>
                  <a:latin typeface="+mn-lt"/>
                  <a:ea typeface="+mn-ea"/>
                  <a:cs typeface="+mn-cs"/>
                </a:rPr>
                <a:t>p</a:t>
              </a:r>
            </a:p>
          </p:txBody>
        </p:sp>
        <p:sp>
          <p:nvSpPr>
            <p:cNvPr id="26" name="Rectangle 26"/>
            <p:cNvSpPr/>
            <p:nvPr/>
          </p:nvSpPr>
          <p:spPr>
            <a:xfrm>
              <a:off x="533400" y="5165408"/>
              <a:ext cx="6059805" cy="9525"/>
            </a:xfrm>
            <a:prstGeom prst="rect">
              <a:avLst/>
            </a:prstGeom>
            <a:solidFill>
              <a:srgbClr val="D9DFEA"/>
            </a:solidFill>
            <a:ln>
              <a:noFill/>
            </a:ln>
          </p:spPr>
        </p:sp>
        <p:sp>
          <p:nvSpPr>
            <p:cNvPr id="27" name="Rectangle 27"/>
            <p:cNvSpPr/>
            <p:nvPr/>
          </p:nvSpPr>
          <p:spPr>
            <a:xfrm>
              <a:off x="533400" y="5170170"/>
              <a:ext cx="6059805" cy="448628"/>
            </a:xfrm>
            <a:prstGeom prst="rect">
              <a:avLst/>
            </a:prstGeom>
            <a:solidFill>
              <a:srgbClr val="F4F6FB"/>
            </a:solidFill>
            <a:ln>
              <a:noFill/>
            </a:ln>
          </p:spPr>
        </p:sp>
        <p:sp>
          <p:nvSpPr>
            <p:cNvPr id="28" name="TextBox 28"/>
            <p:cNvSpPr txBox="1"/>
            <p:nvPr/>
          </p:nvSpPr>
          <p:spPr>
            <a:xfrm>
              <a:off x="641223" y="5305901"/>
              <a:ext cx="676589" cy="249364"/>
            </a:xfrm>
            <a:prstGeom prst="rect">
              <a:avLst/>
            </a:prstGeom>
            <a:noFill/>
            <a:ln>
              <a:noFill/>
            </a:ln>
          </p:spPr>
          <p:txBody>
            <a:bodyPr wrap="none" lIns="0" tIns="0" rIns="0" bIns="0" anchor="t" anchorCtr="0">
              <a:spAutoFit/>
            </a:bodyPr>
            <a:lstStyle/>
            <a:p>
              <a:pPr algn="l"/>
              <a:r>
                <a:rPr lang="en-US" sz="1280" b="1" dirty="0">
                  <a:solidFill>
                    <a:srgbClr val="1F2937"/>
                  </a:solidFill>
                  <a:latin typeface="+mn-lt"/>
                  <a:ea typeface="+mn-ea"/>
                  <a:cs typeface="+mn-cs"/>
                </a:rPr>
                <a:t>Cache B</a:t>
              </a:r>
            </a:p>
          </p:txBody>
        </p:sp>
        <p:sp>
          <p:nvSpPr>
            <p:cNvPr id="29" name="TextBox 29"/>
            <p:cNvSpPr txBox="1"/>
            <p:nvPr/>
          </p:nvSpPr>
          <p:spPr>
            <a:xfrm>
              <a:off x="1974723" y="5305901"/>
              <a:ext cx="142189" cy="249364"/>
            </a:xfrm>
            <a:prstGeom prst="rect">
              <a:avLst/>
            </a:prstGeom>
            <a:noFill/>
            <a:ln>
              <a:noFill/>
            </a:ln>
          </p:spPr>
          <p:txBody>
            <a:bodyPr wrap="none" lIns="0" tIns="0" rIns="0" bIns="0" anchor="t" anchorCtr="0">
              <a:spAutoFit/>
            </a:bodyPr>
            <a:lstStyle/>
            <a:p>
              <a:pPr algn="l"/>
              <a:r>
                <a:rPr lang="en-US" sz="1280" dirty="0">
                  <a:solidFill>
                    <a:srgbClr val="1F2937"/>
                  </a:solidFill>
                  <a:latin typeface="+mn-lt"/>
                  <a:ea typeface="+mn-ea"/>
                  <a:cs typeface="+mn-cs"/>
                </a:rPr>
                <a:t>m</a:t>
              </a:r>
            </a:p>
          </p:txBody>
        </p:sp>
        <p:sp>
          <p:nvSpPr>
            <p:cNvPr id="30" name="TextBox 30"/>
            <p:cNvSpPr txBox="1"/>
            <p:nvPr/>
          </p:nvSpPr>
          <p:spPr>
            <a:xfrm>
              <a:off x="3186303" y="5305901"/>
              <a:ext cx="665592" cy="249364"/>
            </a:xfrm>
            <a:prstGeom prst="rect">
              <a:avLst/>
            </a:prstGeom>
            <a:noFill/>
            <a:ln>
              <a:noFill/>
            </a:ln>
          </p:spPr>
          <p:txBody>
            <a:bodyPr wrap="none" lIns="0" tIns="0" rIns="0" bIns="0" anchor="t" anchorCtr="0">
              <a:spAutoFit/>
            </a:bodyPr>
            <a:lstStyle/>
            <a:p>
              <a:pPr algn="l"/>
              <a:r>
                <a:rPr lang="zh-CN" sz="1280" b="1" dirty="0">
                  <a:solidFill>
                    <a:srgbClr val="B42318"/>
                  </a:solidFill>
                  <a:latin typeface="+mn-lt"/>
                  <a:ea typeface="+mn-ea"/>
                  <a:cs typeface="+mn-cs"/>
                </a:rPr>
                <a:t>m（旧）</a:t>
              </a:r>
            </a:p>
          </p:txBody>
        </p:sp>
        <p:sp>
          <p:nvSpPr>
            <p:cNvPr id="31" name="TextBox 31"/>
            <p:cNvSpPr txBox="1"/>
            <p:nvPr/>
          </p:nvSpPr>
          <p:spPr>
            <a:xfrm>
              <a:off x="4943666" y="5305901"/>
              <a:ext cx="665592" cy="249364"/>
            </a:xfrm>
            <a:prstGeom prst="rect">
              <a:avLst/>
            </a:prstGeom>
            <a:noFill/>
            <a:ln>
              <a:noFill/>
            </a:ln>
          </p:spPr>
          <p:txBody>
            <a:bodyPr wrap="none" lIns="0" tIns="0" rIns="0" bIns="0" anchor="t" anchorCtr="0">
              <a:spAutoFit/>
            </a:bodyPr>
            <a:lstStyle/>
            <a:p>
              <a:pPr algn="l"/>
              <a:r>
                <a:rPr lang="zh-CN" sz="1280" b="1" dirty="0">
                  <a:solidFill>
                    <a:srgbClr val="B42318"/>
                  </a:solidFill>
                  <a:latin typeface="+mn-lt"/>
                  <a:ea typeface="+mn-ea"/>
                  <a:cs typeface="+mn-cs"/>
                </a:rPr>
                <a:t>m（旧）</a:t>
              </a:r>
            </a:p>
          </p:txBody>
        </p:sp>
        <p:sp>
          <p:nvSpPr>
            <p:cNvPr id="32" name="Rectangle 32"/>
            <p:cNvSpPr/>
            <p:nvPr/>
          </p:nvSpPr>
          <p:spPr>
            <a:xfrm>
              <a:off x="533400" y="5614988"/>
              <a:ext cx="6059805" cy="9525"/>
            </a:xfrm>
            <a:prstGeom prst="rect">
              <a:avLst/>
            </a:prstGeom>
            <a:solidFill>
              <a:srgbClr val="D9DFEA"/>
            </a:solidFill>
            <a:ln>
              <a:noFill/>
            </a:ln>
          </p:spPr>
        </p:sp>
        <p:sp>
          <p:nvSpPr>
            <p:cNvPr id="33" name="TextBox 33"/>
            <p:cNvSpPr txBox="1"/>
            <p:nvPr/>
          </p:nvSpPr>
          <p:spPr>
            <a:xfrm>
              <a:off x="641223" y="5754529"/>
              <a:ext cx="692390"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存储器 X</a:t>
              </a:r>
            </a:p>
          </p:txBody>
        </p:sp>
        <p:sp>
          <p:nvSpPr>
            <p:cNvPr id="34" name="TextBox 34"/>
            <p:cNvSpPr txBox="1"/>
            <p:nvPr/>
          </p:nvSpPr>
          <p:spPr>
            <a:xfrm>
              <a:off x="1974723" y="5754529"/>
              <a:ext cx="142189" cy="249364"/>
            </a:xfrm>
            <a:prstGeom prst="rect">
              <a:avLst/>
            </a:prstGeom>
            <a:noFill/>
            <a:ln>
              <a:noFill/>
            </a:ln>
          </p:spPr>
          <p:txBody>
            <a:bodyPr wrap="none" lIns="0" tIns="0" rIns="0" bIns="0" anchor="t" anchorCtr="0">
              <a:spAutoFit/>
            </a:bodyPr>
            <a:lstStyle/>
            <a:p>
              <a:pPr algn="l"/>
              <a:r>
                <a:rPr lang="en-US" sz="1280" dirty="0">
                  <a:solidFill>
                    <a:srgbClr val="1F2937"/>
                  </a:solidFill>
                  <a:latin typeface="+mn-lt"/>
                  <a:ea typeface="+mn-ea"/>
                  <a:cs typeface="+mn-cs"/>
                </a:rPr>
                <a:t>m</a:t>
              </a:r>
            </a:p>
          </p:txBody>
        </p:sp>
        <p:sp>
          <p:nvSpPr>
            <p:cNvPr id="35" name="TextBox 35"/>
            <p:cNvSpPr txBox="1"/>
            <p:nvPr/>
          </p:nvSpPr>
          <p:spPr>
            <a:xfrm>
              <a:off x="3186303" y="5754529"/>
              <a:ext cx="107726" cy="249364"/>
            </a:xfrm>
            <a:prstGeom prst="rect">
              <a:avLst/>
            </a:prstGeom>
            <a:noFill/>
            <a:ln>
              <a:noFill/>
            </a:ln>
          </p:spPr>
          <p:txBody>
            <a:bodyPr wrap="none" lIns="0" tIns="0" rIns="0" bIns="0" anchor="t" anchorCtr="0">
              <a:spAutoFit/>
            </a:bodyPr>
            <a:lstStyle/>
            <a:p>
              <a:pPr algn="l"/>
              <a:r>
                <a:rPr lang="en-US" sz="1280" dirty="0">
                  <a:solidFill>
                    <a:srgbClr val="1F2937"/>
                  </a:solidFill>
                  <a:latin typeface="+mn-lt"/>
                  <a:ea typeface="+mn-ea"/>
                  <a:cs typeface="+mn-cs"/>
                </a:rPr>
                <a:t>p</a:t>
              </a:r>
            </a:p>
          </p:txBody>
        </p:sp>
        <p:sp>
          <p:nvSpPr>
            <p:cNvPr id="36" name="TextBox 36"/>
            <p:cNvSpPr txBox="1"/>
            <p:nvPr/>
          </p:nvSpPr>
          <p:spPr>
            <a:xfrm>
              <a:off x="4943666" y="5754529"/>
              <a:ext cx="665592" cy="249364"/>
            </a:xfrm>
            <a:prstGeom prst="rect">
              <a:avLst/>
            </a:prstGeom>
            <a:noFill/>
            <a:ln>
              <a:noFill/>
            </a:ln>
          </p:spPr>
          <p:txBody>
            <a:bodyPr wrap="none" lIns="0" tIns="0" rIns="0" bIns="0" anchor="t" anchorCtr="0">
              <a:spAutoFit/>
            </a:bodyPr>
            <a:lstStyle/>
            <a:p>
              <a:pPr algn="l"/>
              <a:r>
                <a:rPr lang="zh-CN" sz="1280" b="1" dirty="0">
                  <a:solidFill>
                    <a:srgbClr val="B42318"/>
                  </a:solidFill>
                  <a:latin typeface="+mn-lt"/>
                  <a:ea typeface="+mn-ea"/>
                  <a:cs typeface="+mn-cs"/>
                </a:rPr>
                <a:t>m（旧）</a:t>
              </a:r>
            </a:p>
          </p:txBody>
        </p:sp>
        <p:sp>
          <p:nvSpPr>
            <p:cNvPr id="37" name="Rectangle 37"/>
            <p:cNvSpPr/>
            <p:nvPr/>
          </p:nvSpPr>
          <p:spPr>
            <a:xfrm>
              <a:off x="533400" y="4272915"/>
              <a:ext cx="6059805" cy="1795462"/>
            </a:xfrm>
            <a:prstGeom prst="rect">
              <a:avLst/>
            </a:prstGeom>
            <a:noFill/>
            <a:ln w="14288">
              <a:solidFill>
                <a:srgbClr val="D9DFEA"/>
              </a:solidFill>
            </a:ln>
          </p:spPr>
        </p:sp>
        <p:sp>
          <p:nvSpPr>
            <p:cNvPr id="38" name="Rectangle 38"/>
            <p:cNvSpPr/>
            <p:nvPr/>
          </p:nvSpPr>
          <p:spPr>
            <a:xfrm>
              <a:off x="1862138" y="4272915"/>
              <a:ext cx="9525" cy="1795462"/>
            </a:xfrm>
            <a:prstGeom prst="rect">
              <a:avLst/>
            </a:prstGeom>
            <a:solidFill>
              <a:srgbClr val="D9DFEA"/>
            </a:solidFill>
            <a:ln>
              <a:noFill/>
            </a:ln>
          </p:spPr>
        </p:sp>
        <p:sp>
          <p:nvSpPr>
            <p:cNvPr id="39" name="Rectangle 39"/>
            <p:cNvSpPr/>
            <p:nvPr/>
          </p:nvSpPr>
          <p:spPr>
            <a:xfrm>
              <a:off x="3073718" y="4272915"/>
              <a:ext cx="9525" cy="1795462"/>
            </a:xfrm>
            <a:prstGeom prst="rect">
              <a:avLst/>
            </a:prstGeom>
            <a:solidFill>
              <a:srgbClr val="D9DFEA"/>
            </a:solidFill>
            <a:ln>
              <a:noFill/>
            </a:ln>
          </p:spPr>
        </p:sp>
        <p:sp>
          <p:nvSpPr>
            <p:cNvPr id="40" name="Rectangle 40"/>
            <p:cNvSpPr/>
            <p:nvPr/>
          </p:nvSpPr>
          <p:spPr>
            <a:xfrm>
              <a:off x="4831080" y="4272915"/>
              <a:ext cx="9525" cy="1795462"/>
            </a:xfrm>
            <a:prstGeom prst="rect">
              <a:avLst/>
            </a:prstGeom>
            <a:solidFill>
              <a:srgbClr val="D9DFEA"/>
            </a:solidFill>
            <a:ln>
              <a:noFill/>
            </a:ln>
          </p:spPr>
        </p:sp>
        <p:sp>
          <p:nvSpPr>
            <p:cNvPr id="41" name="TextBox 41"/>
            <p:cNvSpPr txBox="1"/>
            <p:nvPr/>
          </p:nvSpPr>
          <p:spPr>
            <a:xfrm>
              <a:off x="527685" y="6144101"/>
              <a:ext cx="4998080" cy="220028"/>
            </a:xfrm>
            <a:prstGeom prst="rect">
              <a:avLst/>
            </a:prstGeom>
            <a:noFill/>
            <a:ln>
              <a:noFill/>
            </a:ln>
          </p:spPr>
          <p:txBody>
            <a:bodyPr wrap="none" lIns="0" tIns="0" rIns="0" bIns="0" anchor="t" anchorCtr="0">
              <a:spAutoFit/>
            </a:bodyPr>
            <a:lstStyle/>
            <a:p>
              <a:pPr algn="l"/>
              <a:r>
                <a:rPr lang="zh-CN" sz="1120" dirty="0">
                  <a:solidFill>
                    <a:srgbClr val="5B6475"/>
                  </a:solidFill>
                  <a:latin typeface="+mn-lt"/>
                  <a:ea typeface="+mn-ea"/>
                  <a:cs typeface="+mn-cs"/>
                </a:rPr>
                <a:t>原课件第49页的图是写直达那一列：存储器跟着更新了，Cache B 仍是旧值</a:t>
              </a:r>
            </a:p>
          </p:txBody>
        </p:sp>
      </p:grpSp>
      <p:grpSp>
        <p:nvGrpSpPr>
          <p:cNvPr id="45" name="c2-image-1"/>
          <p:cNvGrpSpPr/>
          <p:nvPr/>
        </p:nvGrpSpPr>
        <p:grpSpPr>
          <a:xfrm>
            <a:off x="6898005" y="1524000"/>
            <a:ext cx="4760595" cy="3885724"/>
            <a:chOff x="6898005" y="1524000"/>
            <a:chExt cx="4760595" cy="3885724"/>
          </a:xfrm>
        </p:grpSpPr>
        <p:pic>
          <p:nvPicPr>
            <p:cNvPr id="43" name="Image 43"/>
            <p:cNvPicPr>
              <a:picLocks noChangeAspect="1"/>
            </p:cNvPicPr>
            <p:nvPr/>
          </p:nvPicPr>
          <p:blipFill>
            <a:blip r:embed="rId2"/>
            <a:srcRect l="5562" t="0" r="5561" b="0"/>
            <a:stretch>
              <a:fillRect/>
            </a:stretch>
          </p:blipFill>
          <p:spPr>
            <a:xfrm>
              <a:off x="6898005" y="1524000"/>
              <a:ext cx="4760595" cy="3570922"/>
            </a:xfrm>
            <a:prstGeom prst="roundRect">
              <a:avLst>
                <a:gd name="adj" fmla="val 3734"/>
              </a:avLst>
            </a:prstGeom>
          </p:spPr>
        </p:pic>
        <p:sp>
          <p:nvSpPr>
            <p:cNvPr id="44" name="TextBox 44"/>
            <p:cNvSpPr txBox="1"/>
            <p:nvPr/>
          </p:nvSpPr>
          <p:spPr>
            <a:xfrm>
              <a:off x="7161746" y="5189696"/>
              <a:ext cx="4233113" cy="220028"/>
            </a:xfrm>
            <a:prstGeom prst="rect">
              <a:avLst/>
            </a:prstGeom>
            <a:noFill/>
            <a:ln>
              <a:noFill/>
            </a:ln>
          </p:spPr>
          <p:txBody>
            <a:bodyPr wrap="none" lIns="0" tIns="0" rIns="0" bIns="0" anchor="t" anchorCtr="0">
              <a:spAutoFit/>
            </a:bodyPr>
            <a:lstStyle/>
            <a:p>
              <a:pPr algn="ctr"/>
              <a:r>
                <a:rPr lang="zh-CN" sz="1120" dirty="0">
                  <a:solidFill>
                    <a:srgbClr val="5B6475"/>
                  </a:solidFill>
                  <a:latin typeface="+mn-lt"/>
                  <a:ea typeface="+mn-ea"/>
                  <a:cs typeface="+mn-cs"/>
                </a:rPr>
                <a:t>每人一份复印件，一人改了自己那份，另外两人手里仍是旧价格</a:t>
              </a:r>
            </a:p>
          </p:txBody>
        </p:sp>
      </p:grpSp>
      <p:grpSp>
        <p:nvGrpSpPr>
          <p:cNvPr id="48" name="footer"/>
          <p:cNvGrpSpPr/>
          <p:nvPr/>
        </p:nvGrpSpPr>
        <p:grpSpPr>
          <a:xfrm>
            <a:off x="528447" y="6581299"/>
            <a:ext cx="11135106" cy="190690"/>
            <a:chOff x="528447" y="6581299"/>
            <a:chExt cx="11135106" cy="190690"/>
          </a:xfrm>
        </p:grpSpPr>
        <p:sp>
          <p:nvSpPr>
            <p:cNvPr id="46" name="TextBox 46"/>
            <p:cNvSpPr txBox="1"/>
            <p:nvPr/>
          </p:nvSpPr>
          <p:spPr>
            <a:xfrm>
              <a:off x="528447" y="6581299"/>
              <a:ext cx="2120748"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并行与分布式计算 · 第7章 体系结构</a:t>
              </a:r>
            </a:p>
          </p:txBody>
        </p:sp>
        <p:sp>
          <p:nvSpPr>
            <p:cNvPr id="47" name="TextBox 47"/>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17</a:t>
              </a:r>
            </a:p>
          </p:txBody>
        </p:sp>
      </p:grpSp>
    </p:spTree>
  </p:cSld>
  <p:clrMapOvr>
    <a:masterClrMapping/>
  </p:clrMapOvr>
  <p:transition xmlns:p14="http://schemas.microsoft.com/office/powerpoint/2010/main" p14:dur="400">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3801999" cy="909257"/>
            <a:chOff x="520446" y="342900"/>
            <a:chExt cx="3801999" cy="909257"/>
          </a:xfrm>
        </p:grpSpPr>
        <p:sp>
          <p:nvSpPr>
            <p:cNvPr id="2" name="Rectangle 2"/>
            <p:cNvSpPr/>
            <p:nvPr/>
          </p:nvSpPr>
          <p:spPr>
            <a:xfrm>
              <a:off x="533400" y="342900"/>
              <a:ext cx="2586038" cy="266700"/>
            </a:xfrm>
            <a:prstGeom prst="roundRect">
              <a:avLst>
                <a:gd name="adj" fmla="val 50000"/>
              </a:avLst>
            </a:prstGeom>
            <a:solidFill>
              <a:srgbClr val="E7EDF3"/>
            </a:solidFill>
            <a:ln>
              <a:noFill/>
            </a:ln>
          </p:spPr>
        </p:sp>
        <p:sp>
          <p:nvSpPr>
            <p:cNvPr id="3" name="TextBox 3"/>
            <p:cNvSpPr txBox="1"/>
            <p:nvPr/>
          </p:nvSpPr>
          <p:spPr>
            <a:xfrm>
              <a:off x="587464" y="407194"/>
              <a:ext cx="2476957"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第7章 体系结构 · Cache 一致性问题</a:t>
              </a:r>
            </a:p>
          </p:txBody>
        </p:sp>
        <p:sp>
          <p:nvSpPr>
            <p:cNvPr id="4" name="TextBox 4"/>
            <p:cNvSpPr txBox="1"/>
            <p:nvPr/>
          </p:nvSpPr>
          <p:spPr>
            <a:xfrm>
              <a:off x="520446" y="753428"/>
              <a:ext cx="3801999"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一致性协议要做三组选择</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31" name="c1-table-1"/>
          <p:cNvGrpSpPr/>
          <p:nvPr/>
        </p:nvGrpSpPr>
        <p:grpSpPr>
          <a:xfrm>
            <a:off x="533400" y="1524000"/>
            <a:ext cx="11125200" cy="2383155"/>
            <a:chOff x="533400" y="1524000"/>
            <a:chExt cx="11125200" cy="2383155"/>
          </a:xfrm>
        </p:grpSpPr>
        <p:sp>
          <p:nvSpPr>
            <p:cNvPr id="7" name="Rectangle 7"/>
            <p:cNvSpPr/>
            <p:nvPr/>
          </p:nvSpPr>
          <p:spPr>
            <a:xfrm>
              <a:off x="533400" y="1524000"/>
              <a:ext cx="11125200" cy="468630"/>
            </a:xfrm>
            <a:prstGeom prst="rect">
              <a:avLst/>
            </a:prstGeom>
            <a:solidFill>
              <a:srgbClr val="334E68"/>
            </a:solidFill>
            <a:ln>
              <a:noFill/>
            </a:ln>
          </p:spPr>
        </p:sp>
        <p:sp>
          <p:nvSpPr>
            <p:cNvPr id="8" name="TextBox 8"/>
            <p:cNvSpPr txBox="1"/>
            <p:nvPr/>
          </p:nvSpPr>
          <p:spPr>
            <a:xfrm>
              <a:off x="1392276" y="1658779"/>
              <a:ext cx="396799" cy="278702"/>
            </a:xfrm>
            <a:prstGeom prst="rect">
              <a:avLst/>
            </a:prstGeom>
            <a:noFill/>
            <a:ln>
              <a:noFill/>
            </a:ln>
          </p:spPr>
          <p:txBody>
            <a:bodyPr wrap="none" lIns="0" tIns="0" rIns="0" bIns="0" anchor="t" anchorCtr="0">
              <a:spAutoFit/>
            </a:bodyPr>
            <a:lstStyle/>
            <a:p>
              <a:pPr algn="ctr"/>
              <a:r>
                <a:rPr lang="zh-CN" sz="1420" b="1" dirty="0">
                  <a:solidFill>
                    <a:srgbClr val="FFFFFF"/>
                  </a:solidFill>
                  <a:latin typeface="+mn-lt"/>
                  <a:ea typeface="+mn-ea"/>
                  <a:cs typeface="+mn-cs"/>
                </a:rPr>
                <a:t>选择</a:t>
              </a:r>
            </a:p>
          </p:txBody>
        </p:sp>
        <p:sp>
          <p:nvSpPr>
            <p:cNvPr id="9" name="TextBox 9"/>
            <p:cNvSpPr txBox="1"/>
            <p:nvPr/>
          </p:nvSpPr>
          <p:spPr>
            <a:xfrm>
              <a:off x="2916530" y="1658779"/>
              <a:ext cx="1352601" cy="278702"/>
            </a:xfrm>
            <a:prstGeom prst="rect">
              <a:avLst/>
            </a:prstGeom>
            <a:noFill/>
            <a:ln>
              <a:noFill/>
            </a:ln>
          </p:spPr>
          <p:txBody>
            <a:bodyPr wrap="none" lIns="0" tIns="0" rIns="0" bIns="0" anchor="t" anchorCtr="0">
              <a:spAutoFit/>
            </a:bodyPr>
            <a:lstStyle/>
            <a:p>
              <a:pPr algn="ctr"/>
              <a:r>
                <a:rPr lang="zh-CN" sz="1420" b="1" dirty="0">
                  <a:solidFill>
                    <a:srgbClr val="FFFFFF"/>
                  </a:solidFill>
                  <a:latin typeface="+mn-lt"/>
                  <a:ea typeface="+mn-ea"/>
                  <a:cs typeface="+mn-cs"/>
                </a:rPr>
                <a:t>什么时候起作用</a:t>
              </a:r>
            </a:p>
          </p:txBody>
        </p:sp>
        <p:sp>
          <p:nvSpPr>
            <p:cNvPr id="10" name="TextBox 10"/>
            <p:cNvSpPr txBox="1"/>
            <p:nvPr/>
          </p:nvSpPr>
          <p:spPr>
            <a:xfrm>
              <a:off x="6024905" y="1658779"/>
              <a:ext cx="587959" cy="278702"/>
            </a:xfrm>
            <a:prstGeom prst="rect">
              <a:avLst/>
            </a:prstGeom>
            <a:noFill/>
            <a:ln>
              <a:noFill/>
            </a:ln>
          </p:spPr>
          <p:txBody>
            <a:bodyPr wrap="none" lIns="0" tIns="0" rIns="0" bIns="0" anchor="t" anchorCtr="0">
              <a:spAutoFit/>
            </a:bodyPr>
            <a:lstStyle/>
            <a:p>
              <a:pPr algn="ctr"/>
              <a:r>
                <a:rPr lang="zh-CN" sz="1420" b="1" dirty="0">
                  <a:solidFill>
                    <a:srgbClr val="FFFFFF"/>
                  </a:solidFill>
                  <a:latin typeface="+mn-lt"/>
                  <a:ea typeface="+mn-ea"/>
                  <a:cs typeface="+mn-cs"/>
                </a:rPr>
                <a:t>选项一</a:t>
              </a:r>
            </a:p>
          </p:txBody>
        </p:sp>
        <p:sp>
          <p:nvSpPr>
            <p:cNvPr id="11" name="TextBox 11"/>
            <p:cNvSpPr txBox="1"/>
            <p:nvPr/>
          </p:nvSpPr>
          <p:spPr>
            <a:xfrm>
              <a:off x="9584398" y="1658779"/>
              <a:ext cx="587959" cy="278702"/>
            </a:xfrm>
            <a:prstGeom prst="rect">
              <a:avLst/>
            </a:prstGeom>
            <a:noFill/>
            <a:ln>
              <a:noFill/>
            </a:ln>
          </p:spPr>
          <p:txBody>
            <a:bodyPr wrap="none" lIns="0" tIns="0" rIns="0" bIns="0" anchor="t" anchorCtr="0">
              <a:spAutoFit/>
            </a:bodyPr>
            <a:lstStyle/>
            <a:p>
              <a:pPr algn="ctr"/>
              <a:r>
                <a:rPr lang="zh-CN" sz="1420" b="1" dirty="0">
                  <a:solidFill>
                    <a:srgbClr val="FFFFFF"/>
                  </a:solidFill>
                  <a:latin typeface="+mn-lt"/>
                  <a:ea typeface="+mn-ea"/>
                  <a:cs typeface="+mn-cs"/>
                </a:rPr>
                <a:t>选项二</a:t>
              </a:r>
            </a:p>
          </p:txBody>
        </p:sp>
        <p:sp>
          <p:nvSpPr>
            <p:cNvPr id="12" name="TextBox 12"/>
            <p:cNvSpPr txBox="1"/>
            <p:nvPr/>
          </p:nvSpPr>
          <p:spPr>
            <a:xfrm>
              <a:off x="637604" y="2128361"/>
              <a:ext cx="1502662"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写作废 vs 写更新</a:t>
              </a:r>
            </a:p>
          </p:txBody>
        </p:sp>
        <p:sp>
          <p:nvSpPr>
            <p:cNvPr id="13" name="TextBox 13"/>
            <p:cNvSpPr txBox="1"/>
            <p:nvPr/>
          </p:nvSpPr>
          <p:spPr>
            <a:xfrm>
              <a:off x="2751201" y="2128361"/>
              <a:ext cx="1689260"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写命中（WtHit）时</a:t>
              </a:r>
            </a:p>
          </p:txBody>
        </p:sp>
        <p:sp>
          <p:nvSpPr>
            <p:cNvPr id="14" name="TextBox 14"/>
            <p:cNvSpPr txBox="1"/>
            <p:nvPr/>
          </p:nvSpPr>
          <p:spPr>
            <a:xfrm>
              <a:off x="4642866" y="2128361"/>
              <a:ext cx="2499563"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写作废：把其他所有副本作废</a:t>
              </a:r>
            </a:p>
          </p:txBody>
        </p:sp>
        <p:sp>
          <p:nvSpPr>
            <p:cNvPr id="15" name="TextBox 15"/>
            <p:cNvSpPr txBox="1"/>
            <p:nvPr/>
          </p:nvSpPr>
          <p:spPr>
            <a:xfrm>
              <a:off x="8202358" y="2128361"/>
              <a:ext cx="3264205"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写更新：把新数据同步更新到所有副本</a:t>
              </a:r>
            </a:p>
          </p:txBody>
        </p:sp>
        <p:sp>
          <p:nvSpPr>
            <p:cNvPr id="16" name="Rectangle 16"/>
            <p:cNvSpPr/>
            <p:nvPr/>
          </p:nvSpPr>
          <p:spPr>
            <a:xfrm>
              <a:off x="533400" y="2457450"/>
              <a:ext cx="11125200" cy="9525"/>
            </a:xfrm>
            <a:prstGeom prst="rect">
              <a:avLst/>
            </a:prstGeom>
            <a:solidFill>
              <a:srgbClr val="D9DFEA"/>
            </a:solidFill>
            <a:ln>
              <a:noFill/>
            </a:ln>
          </p:spPr>
        </p:sp>
        <p:sp>
          <p:nvSpPr>
            <p:cNvPr id="17" name="Rectangle 17"/>
            <p:cNvSpPr/>
            <p:nvPr/>
          </p:nvSpPr>
          <p:spPr>
            <a:xfrm>
              <a:off x="533400" y="2462212"/>
              <a:ext cx="11125200" cy="721995"/>
            </a:xfrm>
            <a:prstGeom prst="rect">
              <a:avLst/>
            </a:prstGeom>
            <a:solidFill>
              <a:srgbClr val="F4F6FB"/>
            </a:solidFill>
            <a:ln>
              <a:noFill/>
            </a:ln>
          </p:spPr>
        </p:sp>
        <p:sp>
          <p:nvSpPr>
            <p:cNvPr id="18" name="TextBox 18"/>
            <p:cNvSpPr txBox="1"/>
            <p:nvPr/>
          </p:nvSpPr>
          <p:spPr>
            <a:xfrm>
              <a:off x="637604" y="2723674"/>
              <a:ext cx="1311501"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写直达 vs 写回</a:t>
              </a:r>
            </a:p>
          </p:txBody>
        </p:sp>
        <p:sp>
          <p:nvSpPr>
            <p:cNvPr id="19" name="TextBox 19"/>
            <p:cNvSpPr txBox="1"/>
            <p:nvPr/>
          </p:nvSpPr>
          <p:spPr>
            <a:xfrm>
              <a:off x="2751201" y="2723674"/>
              <a:ext cx="970280"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每次写操作</a:t>
              </a:r>
            </a:p>
          </p:txBody>
        </p:sp>
        <p:sp>
          <p:nvSpPr>
            <p:cNvPr id="20" name="TextBox 20"/>
            <p:cNvSpPr txBox="1"/>
            <p:nvPr/>
          </p:nvSpPr>
          <p:spPr>
            <a:xfrm>
              <a:off x="4642866" y="2596991"/>
              <a:ext cx="3143377" cy="532066"/>
            </a:xfrm>
            <a:prstGeom prst="rect">
              <a:avLst/>
            </a:prstGeom>
            <a:noFill/>
            <a:ln>
              <a:noFill/>
            </a:ln>
          </p:spPr>
          <p:txBody>
            <a:bodyPr wrap="none" lIns="0" tIns="0" rIns="0" bIns="0" anchor="t" anchorCtr="0">
              <a:spAutoFit/>
            </a:bodyPr>
            <a:lstStyle/>
            <a:p>
              <a:pPr algn="l">
                <a:lnSpc>
                  <a:spcPts val="1995"/>
                </a:lnSpc>
              </a:pPr>
              <a:r>
                <a:rPr lang="zh-CN" sz="1420" dirty="0">
                  <a:solidFill>
                    <a:srgbClr val="1F2937"/>
                  </a:solidFill>
                  <a:latin typeface="+mn-lt"/>
                  <a:ea typeface="+mn-ea"/>
                  <a:cs typeface="+mn-cs"/>
                </a:rPr>
                <a:t>写直达：写 Cache 的同时写存储器，存</a:t>
              </a:r>
              <a:br/>
              <a:r>
                <a:rPr lang="zh-CN" sz="1420" dirty="0">
                  <a:solidFill>
                    <a:srgbClr val="1F2937"/>
                  </a:solidFill>
                  <a:latin typeface="+mn-lt"/>
                  <a:ea typeface="+mn-ea"/>
                  <a:cs typeface="+mn-cs"/>
                </a:rPr>
                <a:t>储器总是最新</a:t>
              </a:r>
            </a:p>
          </p:txBody>
        </p:sp>
        <p:sp>
          <p:nvSpPr>
            <p:cNvPr id="21" name="TextBox 21"/>
            <p:cNvSpPr txBox="1"/>
            <p:nvPr/>
          </p:nvSpPr>
          <p:spPr>
            <a:xfrm>
              <a:off x="8202358" y="2596991"/>
              <a:ext cx="2908935" cy="532066"/>
            </a:xfrm>
            <a:prstGeom prst="rect">
              <a:avLst/>
            </a:prstGeom>
            <a:noFill/>
            <a:ln>
              <a:noFill/>
            </a:ln>
          </p:spPr>
          <p:txBody>
            <a:bodyPr wrap="none" lIns="0" tIns="0" rIns="0" bIns="0" anchor="t" anchorCtr="0">
              <a:spAutoFit/>
            </a:bodyPr>
            <a:lstStyle/>
            <a:p>
              <a:pPr algn="l">
                <a:lnSpc>
                  <a:spcPts val="1995"/>
                </a:lnSpc>
              </a:pPr>
              <a:r>
                <a:rPr lang="zh-CN" sz="1420" dirty="0">
                  <a:solidFill>
                    <a:srgbClr val="1F2937"/>
                  </a:solidFill>
                  <a:latin typeface="+mn-lt"/>
                  <a:ea typeface="+mn-ea"/>
                  <a:cs typeface="+mn-cs"/>
                </a:rPr>
                <a:t>写回：只写 Cache，块被替换时才写</a:t>
              </a:r>
              <a:br/>
              <a:r>
                <a:rPr lang="zh-CN" sz="1420" dirty="0">
                  <a:solidFill>
                    <a:srgbClr val="1F2937"/>
                  </a:solidFill>
                  <a:latin typeface="+mn-lt"/>
                  <a:ea typeface="+mn-ea"/>
                  <a:cs typeface="+mn-cs"/>
                </a:rPr>
                <a:t>回，最新值可能只在某个 Cache 里</a:t>
              </a:r>
            </a:p>
          </p:txBody>
        </p:sp>
        <p:sp>
          <p:nvSpPr>
            <p:cNvPr id="22" name="Rectangle 22"/>
            <p:cNvSpPr/>
            <p:nvPr/>
          </p:nvSpPr>
          <p:spPr>
            <a:xfrm>
              <a:off x="533400" y="3179445"/>
              <a:ext cx="11125200" cy="9525"/>
            </a:xfrm>
            <a:prstGeom prst="rect">
              <a:avLst/>
            </a:prstGeom>
            <a:solidFill>
              <a:srgbClr val="D9DFEA"/>
            </a:solidFill>
            <a:ln>
              <a:noFill/>
            </a:ln>
          </p:spPr>
        </p:sp>
        <p:sp>
          <p:nvSpPr>
            <p:cNvPr id="23" name="TextBox 23"/>
            <p:cNvSpPr txBox="1"/>
            <p:nvPr/>
          </p:nvSpPr>
          <p:spPr>
            <a:xfrm>
              <a:off x="637604" y="3318986"/>
              <a:ext cx="1779105" cy="532066"/>
            </a:xfrm>
            <a:prstGeom prst="rect">
              <a:avLst/>
            </a:prstGeom>
            <a:noFill/>
            <a:ln>
              <a:noFill/>
            </a:ln>
          </p:spPr>
          <p:txBody>
            <a:bodyPr wrap="none" lIns="0" tIns="0" rIns="0" bIns="0" anchor="t" anchorCtr="0">
              <a:spAutoFit/>
            </a:bodyPr>
            <a:lstStyle/>
            <a:p>
              <a:pPr algn="l">
                <a:lnSpc>
                  <a:spcPts val="1995"/>
                </a:lnSpc>
              </a:pPr>
              <a:r>
                <a:rPr lang="zh-CN" sz="1420" b="1" dirty="0">
                  <a:solidFill>
                    <a:srgbClr val="1F2937"/>
                  </a:solidFill>
                  <a:latin typeface="+mn-lt"/>
                  <a:ea typeface="+mn-ea"/>
                  <a:cs typeface="+mn-cs"/>
                </a:rPr>
                <a:t>按写分配 vs 不按写分</a:t>
              </a:r>
              <a:br/>
              <a:r>
                <a:rPr lang="zh-CN" sz="1420" b="1" dirty="0">
                  <a:solidFill>
                    <a:srgbClr val="1F2937"/>
                  </a:solidFill>
                  <a:latin typeface="+mn-lt"/>
                  <a:ea typeface="+mn-ea"/>
                  <a:cs typeface="+mn-cs"/>
                </a:rPr>
                <a:t>配</a:t>
              </a:r>
            </a:p>
          </p:txBody>
        </p:sp>
        <p:sp>
          <p:nvSpPr>
            <p:cNvPr id="24" name="TextBox 24"/>
            <p:cNvSpPr txBox="1"/>
            <p:nvPr/>
          </p:nvSpPr>
          <p:spPr>
            <a:xfrm>
              <a:off x="2751201" y="3318986"/>
              <a:ext cx="1538351" cy="532066"/>
            </a:xfrm>
            <a:prstGeom prst="rect">
              <a:avLst/>
            </a:prstGeom>
            <a:noFill/>
            <a:ln>
              <a:noFill/>
            </a:ln>
          </p:spPr>
          <p:txBody>
            <a:bodyPr wrap="none" lIns="0" tIns="0" rIns="0" bIns="0" anchor="t" anchorCtr="0">
              <a:spAutoFit/>
            </a:bodyPr>
            <a:lstStyle/>
            <a:p>
              <a:pPr algn="l">
                <a:lnSpc>
                  <a:spcPts val="1995"/>
                </a:lnSpc>
              </a:pPr>
              <a:r>
                <a:rPr lang="zh-CN" sz="1420" dirty="0">
                  <a:solidFill>
                    <a:srgbClr val="1F2937"/>
                  </a:solidFill>
                  <a:latin typeface="+mn-lt"/>
                  <a:ea typeface="+mn-ea"/>
                  <a:cs typeface="+mn-cs"/>
                </a:rPr>
                <a:t>写缺失（WtMiss）</a:t>
              </a:r>
              <a:br/>
              <a:r>
                <a:rPr lang="zh-CN" sz="1420" dirty="0">
                  <a:solidFill>
                    <a:srgbClr val="1F2937"/>
                  </a:solidFill>
                  <a:latin typeface="+mn-lt"/>
                  <a:ea typeface="+mn-ea"/>
                  <a:cs typeface="+mn-cs"/>
                </a:rPr>
                <a:t>时</a:t>
              </a:r>
            </a:p>
          </p:txBody>
        </p:sp>
        <p:sp>
          <p:nvSpPr>
            <p:cNvPr id="25" name="TextBox 25"/>
            <p:cNvSpPr txBox="1"/>
            <p:nvPr/>
          </p:nvSpPr>
          <p:spPr>
            <a:xfrm>
              <a:off x="4642866" y="3445669"/>
              <a:ext cx="3338361"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按写分配：先把块调入本地 Cache 再写</a:t>
              </a:r>
            </a:p>
          </p:txBody>
        </p:sp>
        <p:sp>
          <p:nvSpPr>
            <p:cNvPr id="26" name="TextBox 26"/>
            <p:cNvSpPr txBox="1"/>
            <p:nvPr/>
          </p:nvSpPr>
          <p:spPr>
            <a:xfrm>
              <a:off x="8202358" y="3318986"/>
              <a:ext cx="3089275" cy="532066"/>
            </a:xfrm>
            <a:prstGeom prst="rect">
              <a:avLst/>
            </a:prstGeom>
            <a:noFill/>
            <a:ln>
              <a:noFill/>
            </a:ln>
          </p:spPr>
          <p:txBody>
            <a:bodyPr wrap="none" lIns="0" tIns="0" rIns="0" bIns="0" anchor="t" anchorCtr="0">
              <a:spAutoFit/>
            </a:bodyPr>
            <a:lstStyle/>
            <a:p>
              <a:pPr algn="l">
                <a:lnSpc>
                  <a:spcPts val="1995"/>
                </a:lnSpc>
              </a:pPr>
              <a:r>
                <a:rPr lang="zh-CN" sz="1420" dirty="0">
                  <a:solidFill>
                    <a:srgbClr val="1F2937"/>
                  </a:solidFill>
                  <a:latin typeface="+mn-lt"/>
                  <a:ea typeface="+mn-ea"/>
                  <a:cs typeface="+mn-cs"/>
                </a:rPr>
                <a:t>不按写分配：绕过 Cache，直接写到数</a:t>
              </a:r>
              <a:br/>
              <a:r>
                <a:rPr lang="zh-CN" sz="1420" dirty="0">
                  <a:solidFill>
                    <a:srgbClr val="1F2937"/>
                  </a:solidFill>
                  <a:latin typeface="+mn-lt"/>
                  <a:ea typeface="+mn-ea"/>
                  <a:cs typeface="+mn-cs"/>
                </a:rPr>
                <a:t>据所在处</a:t>
              </a:r>
            </a:p>
          </p:txBody>
        </p:sp>
        <p:sp>
          <p:nvSpPr>
            <p:cNvPr id="27" name="Rectangle 27"/>
            <p:cNvSpPr/>
            <p:nvPr/>
          </p:nvSpPr>
          <p:spPr>
            <a:xfrm>
              <a:off x="533400" y="1524000"/>
              <a:ext cx="11125200" cy="2383155"/>
            </a:xfrm>
            <a:prstGeom prst="rect">
              <a:avLst/>
            </a:prstGeom>
            <a:noFill/>
            <a:ln w="14288">
              <a:solidFill>
                <a:srgbClr val="D9DFEA"/>
              </a:solidFill>
            </a:ln>
          </p:spPr>
        </p:sp>
        <p:sp>
          <p:nvSpPr>
            <p:cNvPr id="28" name="Rectangle 28"/>
            <p:cNvSpPr/>
            <p:nvPr/>
          </p:nvSpPr>
          <p:spPr>
            <a:xfrm>
              <a:off x="2642235" y="1524000"/>
              <a:ext cx="9525" cy="2383155"/>
            </a:xfrm>
            <a:prstGeom prst="rect">
              <a:avLst/>
            </a:prstGeom>
            <a:solidFill>
              <a:srgbClr val="D9DFEA"/>
            </a:solidFill>
            <a:ln>
              <a:noFill/>
            </a:ln>
          </p:spPr>
        </p:sp>
        <p:sp>
          <p:nvSpPr>
            <p:cNvPr id="29" name="Rectangle 29"/>
            <p:cNvSpPr/>
            <p:nvPr/>
          </p:nvSpPr>
          <p:spPr>
            <a:xfrm>
              <a:off x="4533900" y="1524000"/>
              <a:ext cx="9525" cy="2383155"/>
            </a:xfrm>
            <a:prstGeom prst="rect">
              <a:avLst/>
            </a:prstGeom>
            <a:solidFill>
              <a:srgbClr val="D9DFEA"/>
            </a:solidFill>
            <a:ln>
              <a:noFill/>
            </a:ln>
          </p:spPr>
        </p:sp>
        <p:sp>
          <p:nvSpPr>
            <p:cNvPr id="30" name="Rectangle 30"/>
            <p:cNvSpPr/>
            <p:nvPr/>
          </p:nvSpPr>
          <p:spPr>
            <a:xfrm>
              <a:off x="8093392" y="1524000"/>
              <a:ext cx="9525" cy="2383155"/>
            </a:xfrm>
            <a:prstGeom prst="rect">
              <a:avLst/>
            </a:prstGeom>
            <a:solidFill>
              <a:srgbClr val="D9DFEA"/>
            </a:solidFill>
            <a:ln>
              <a:noFill/>
            </a:ln>
          </p:spPr>
        </p:sp>
      </p:grpSp>
      <p:grpSp>
        <p:nvGrpSpPr>
          <p:cNvPr id="38" name="c1-callout-2"/>
          <p:cNvGrpSpPr/>
          <p:nvPr/>
        </p:nvGrpSpPr>
        <p:grpSpPr>
          <a:xfrm>
            <a:off x="533400" y="4091940"/>
            <a:ext cx="11125200" cy="756285"/>
            <a:chOff x="533400" y="4091940"/>
            <a:chExt cx="11125200" cy="756285"/>
          </a:xfrm>
        </p:grpSpPr>
        <p:sp>
          <p:nvSpPr>
            <p:cNvPr id="32" name="Rectangle 32"/>
            <p:cNvSpPr/>
            <p:nvPr/>
          </p:nvSpPr>
          <p:spPr>
            <a:xfrm>
              <a:off x="533400" y="4091940"/>
              <a:ext cx="11125200" cy="756285"/>
            </a:xfrm>
            <a:prstGeom prst="roundRect">
              <a:avLst>
                <a:gd name="adj" fmla="val 15113"/>
              </a:avLst>
            </a:prstGeom>
            <a:solidFill>
              <a:srgbClr val="F4F6FB"/>
            </a:solidFill>
            <a:ln>
              <a:noFill/>
            </a:ln>
          </p:spPr>
        </p:sp>
        <p:grpSp>
          <p:nvGrpSpPr>
            <p:cNvPr id="36" name="Group 36"/>
            <p:cNvGrpSpPr/>
            <p:nvPr/>
          </p:nvGrpSpPr>
          <p:grpSpPr>
            <a:xfrm>
              <a:off x="738188" y="4370070"/>
              <a:ext cx="200026" cy="200026"/>
              <a:chOff x="738188" y="4370070"/>
              <a:chExt cx="200026" cy="200026"/>
            </a:xfrm>
          </p:grpSpPr>
          <p:sp>
            <p:nvSpPr>
              <p:cNvPr id="33" name="Freeform 33"/>
              <p:cNvSpPr/>
              <p:nvPr/>
            </p:nvSpPr>
            <p:spPr>
              <a:xfrm>
                <a:off x="738188" y="4370070"/>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1F2937"/>
                </a:solidFill>
              </a:ln>
            </p:spPr>
          </p:sp>
          <p:sp>
            <p:nvSpPr>
              <p:cNvPr id="34" name="Freeform 34"/>
              <p:cNvSpPr/>
              <p:nvPr/>
            </p:nvSpPr>
            <p:spPr>
              <a:xfrm>
                <a:off x="838200" y="4436745"/>
                <a:ext cx="9525" cy="9525"/>
              </a:xfrm>
              <a:custGeom>
                <a:avLst/>
                <a:gdLst/>
                <a:ahLst/>
                <a:cxnLst/>
                <a:rect l="l" t="t" r="r" b="b"/>
                <a:pathLst>
                  <a:path w="9525" h="9525">
                    <a:moveTo>
                      <a:pt x="0" y="0"/>
                    </a:moveTo>
                    <a:lnTo>
                      <a:pt x="111" y="0"/>
                    </a:lnTo>
                  </a:path>
                </a:pathLst>
              </a:custGeom>
              <a:noFill/>
              <a:ln w="22225">
                <a:solidFill>
                  <a:srgbClr val="1F2937"/>
                </a:solidFill>
              </a:ln>
            </p:spPr>
          </p:sp>
          <p:sp>
            <p:nvSpPr>
              <p:cNvPr id="35" name="Freeform 35"/>
              <p:cNvSpPr/>
              <p:nvPr/>
            </p:nvSpPr>
            <p:spPr>
              <a:xfrm>
                <a:off x="827088" y="4470083"/>
                <a:ext cx="22225" cy="44450"/>
              </a:xfrm>
              <a:custGeom>
                <a:avLst/>
                <a:gdLst/>
                <a:ahLst/>
                <a:cxnLst/>
                <a:rect l="l" t="t" r="r" b="b"/>
                <a:pathLst>
                  <a:path w="22225" h="44450">
                    <a:moveTo>
                      <a:pt x="0" y="0"/>
                    </a:moveTo>
                    <a:lnTo>
                      <a:pt x="11113" y="0"/>
                    </a:lnTo>
                    <a:lnTo>
                      <a:pt x="11113" y="44450"/>
                    </a:lnTo>
                    <a:lnTo>
                      <a:pt x="22225" y="44450"/>
                    </a:lnTo>
                  </a:path>
                </a:pathLst>
              </a:custGeom>
              <a:noFill/>
              <a:ln w="22225">
                <a:solidFill>
                  <a:srgbClr val="1F2937"/>
                </a:solidFill>
              </a:ln>
            </p:spPr>
          </p:sp>
        </p:grpSp>
        <p:sp>
          <p:nvSpPr>
            <p:cNvPr id="37" name="TextBox 37"/>
            <p:cNvSpPr txBox="1"/>
            <p:nvPr/>
          </p:nvSpPr>
          <p:spPr>
            <a:xfrm>
              <a:off x="1040511" y="4239101"/>
              <a:ext cx="9951212" cy="541592"/>
            </a:xfrm>
            <a:prstGeom prst="rect">
              <a:avLst/>
            </a:prstGeom>
            <a:noFill/>
            <a:ln>
              <a:noFill/>
            </a:ln>
          </p:spPr>
          <p:txBody>
            <a:bodyPr wrap="none" lIns="0" tIns="0" rIns="0" bIns="0" anchor="t" anchorCtr="0">
              <a:spAutoFit/>
            </a:bodyPr>
            <a:lstStyle/>
            <a:p>
              <a:pPr algn="l">
                <a:lnSpc>
                  <a:spcPts val="2070"/>
                </a:lnSpc>
              </a:pPr>
              <a:r>
                <a:rPr lang="zh-CN" sz="1420" dirty="0">
                  <a:solidFill>
                    <a:srgbClr val="1F2937"/>
                  </a:solidFill>
                  <a:latin typeface="+mn-lt"/>
                  <a:ea typeface="+mn-ea"/>
                  <a:cs typeface="+mn-cs"/>
                </a:rPr>
                <a:t>原课件把“写直达 vs 写回”说成“发生 RdMiss/WtMiss 时，去存储器取最新数据，还是从远程 Cache 取”。这是两种写策略带</a:t>
              </a:r>
              <a:br/>
              <a:r>
                <a:rPr lang="zh-CN" sz="1420" dirty="0">
                  <a:solidFill>
                    <a:srgbClr val="1F2937"/>
                  </a:solidFill>
                  <a:latin typeface="+mn-lt"/>
                  <a:ea typeface="+mn-ea"/>
                  <a:cs typeface="+mn-cs"/>
                </a:rPr>
                <a:t>来的结果：写直达下存储器总是最新，缺失时找存储器即可；写回下最新值可能在别的 Cache 里，要从那里取。</a:t>
              </a:r>
            </a:p>
          </p:txBody>
        </p:sp>
      </p:grpSp>
      <p:grpSp>
        <p:nvGrpSpPr>
          <p:cNvPr id="47" name="c1-kv-3"/>
          <p:cNvGrpSpPr/>
          <p:nvPr/>
        </p:nvGrpSpPr>
        <p:grpSpPr>
          <a:xfrm>
            <a:off x="526161" y="5057299"/>
            <a:ext cx="11132439" cy="1121664"/>
            <a:chOff x="526161" y="5057299"/>
            <a:chExt cx="11132439" cy="1121664"/>
          </a:xfrm>
        </p:grpSpPr>
        <p:sp>
          <p:nvSpPr>
            <p:cNvPr id="39" name="TextBox 39"/>
            <p:cNvSpPr txBox="1"/>
            <p:nvPr/>
          </p:nvSpPr>
          <p:spPr>
            <a:xfrm>
              <a:off x="526161" y="5057299"/>
              <a:ext cx="1352601" cy="278702"/>
            </a:xfrm>
            <a:prstGeom prst="rect">
              <a:avLst/>
            </a:prstGeom>
            <a:noFill/>
            <a:ln>
              <a:noFill/>
            </a:ln>
          </p:spPr>
          <p:txBody>
            <a:bodyPr wrap="none" lIns="0" tIns="0" rIns="0" bIns="0" anchor="t" anchorCtr="0">
              <a:spAutoFit/>
            </a:bodyPr>
            <a:lstStyle/>
            <a:p>
              <a:pPr algn="l"/>
              <a:r>
                <a:rPr lang="zh-CN" sz="1420" b="1" dirty="0">
                  <a:solidFill>
                    <a:srgbClr val="334E68"/>
                  </a:solidFill>
                  <a:latin typeface="+mn-lt"/>
                  <a:ea typeface="+mn-ea"/>
                  <a:cs typeface="+mn-cs"/>
                </a:rPr>
                <a:t>本章监听式实例</a:t>
              </a:r>
            </a:p>
          </p:txBody>
        </p:sp>
        <p:sp>
          <p:nvSpPr>
            <p:cNvPr id="40" name="TextBox 40"/>
            <p:cNvSpPr txBox="1"/>
            <p:nvPr/>
          </p:nvSpPr>
          <p:spPr>
            <a:xfrm>
              <a:off x="2089214" y="5057299"/>
              <a:ext cx="4067078"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写作废 + 写回 + 按写分配 + 监听（第23–27页）</a:t>
              </a:r>
            </a:p>
          </p:txBody>
        </p:sp>
        <p:sp>
          <p:nvSpPr>
            <p:cNvPr id="41" name="Rectangle 41"/>
            <p:cNvSpPr/>
            <p:nvPr/>
          </p:nvSpPr>
          <p:spPr>
            <a:xfrm>
              <a:off x="533400" y="5362575"/>
              <a:ext cx="11125200" cy="9525"/>
            </a:xfrm>
            <a:prstGeom prst="rect">
              <a:avLst/>
            </a:prstGeom>
            <a:solidFill>
              <a:srgbClr val="D9DFEA"/>
            </a:solidFill>
            <a:ln>
              <a:noFill/>
            </a:ln>
          </p:spPr>
        </p:sp>
        <p:sp>
          <p:nvSpPr>
            <p:cNvPr id="42" name="TextBox 42"/>
            <p:cNvSpPr txBox="1"/>
            <p:nvPr/>
          </p:nvSpPr>
          <p:spPr>
            <a:xfrm>
              <a:off x="526161" y="5479256"/>
              <a:ext cx="1352601" cy="278702"/>
            </a:xfrm>
            <a:prstGeom prst="rect">
              <a:avLst/>
            </a:prstGeom>
            <a:noFill/>
            <a:ln>
              <a:noFill/>
            </a:ln>
          </p:spPr>
          <p:txBody>
            <a:bodyPr wrap="none" lIns="0" tIns="0" rIns="0" bIns="0" anchor="t" anchorCtr="0">
              <a:spAutoFit/>
            </a:bodyPr>
            <a:lstStyle/>
            <a:p>
              <a:pPr algn="l"/>
              <a:r>
                <a:rPr lang="zh-CN" sz="1420" b="1" dirty="0">
                  <a:solidFill>
                    <a:srgbClr val="334E68"/>
                  </a:solidFill>
                  <a:latin typeface="+mn-lt"/>
                  <a:ea typeface="+mn-ea"/>
                  <a:cs typeface="+mn-cs"/>
                </a:rPr>
                <a:t>本章目录式实例</a:t>
              </a:r>
            </a:p>
          </p:txBody>
        </p:sp>
        <p:sp>
          <p:nvSpPr>
            <p:cNvPr id="43" name="TextBox 43"/>
            <p:cNvSpPr txBox="1"/>
            <p:nvPr/>
          </p:nvSpPr>
          <p:spPr>
            <a:xfrm>
              <a:off x="2089214" y="5479256"/>
              <a:ext cx="4067078"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写作废 + 写回 + 按写分配 + 目录（第29–37页）</a:t>
              </a:r>
            </a:p>
          </p:txBody>
        </p:sp>
        <p:sp>
          <p:nvSpPr>
            <p:cNvPr id="44" name="Rectangle 44"/>
            <p:cNvSpPr/>
            <p:nvPr/>
          </p:nvSpPr>
          <p:spPr>
            <a:xfrm>
              <a:off x="533400" y="5784532"/>
              <a:ext cx="11125200" cy="9525"/>
            </a:xfrm>
            <a:prstGeom prst="rect">
              <a:avLst/>
            </a:prstGeom>
            <a:solidFill>
              <a:srgbClr val="D9DFEA"/>
            </a:solidFill>
            <a:ln>
              <a:noFill/>
            </a:ln>
          </p:spPr>
        </p:sp>
        <p:sp>
          <p:nvSpPr>
            <p:cNvPr id="45" name="TextBox 45"/>
            <p:cNvSpPr txBox="1"/>
            <p:nvPr/>
          </p:nvSpPr>
          <p:spPr>
            <a:xfrm>
              <a:off x="526161" y="5900261"/>
              <a:ext cx="949730" cy="278702"/>
            </a:xfrm>
            <a:prstGeom prst="rect">
              <a:avLst/>
            </a:prstGeom>
            <a:noFill/>
            <a:ln>
              <a:noFill/>
            </a:ln>
          </p:spPr>
          <p:txBody>
            <a:bodyPr wrap="none" lIns="0" tIns="0" rIns="0" bIns="0" anchor="t" anchorCtr="0">
              <a:spAutoFit/>
            </a:bodyPr>
            <a:lstStyle/>
            <a:p>
              <a:pPr algn="l"/>
              <a:r>
                <a:rPr lang="zh-CN" sz="1420" b="1" dirty="0">
                  <a:solidFill>
                    <a:srgbClr val="334E68"/>
                  </a:solidFill>
                  <a:latin typeface="+mn-lt"/>
                  <a:ea typeface="+mn-ea"/>
                  <a:cs typeface="+mn-cs"/>
                </a:rPr>
                <a:t>课后习题 2</a:t>
              </a:r>
            </a:p>
          </p:txBody>
        </p:sp>
        <p:sp>
          <p:nvSpPr>
            <p:cNvPr id="46" name="TextBox 46"/>
            <p:cNvSpPr txBox="1"/>
            <p:nvPr/>
          </p:nvSpPr>
          <p:spPr>
            <a:xfrm>
              <a:off x="2089214" y="5900261"/>
              <a:ext cx="3942824"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写更新 + 写直达 + 按写分配 + 监听（第28页）</a:t>
              </a:r>
            </a:p>
          </p:txBody>
        </p:sp>
      </p:grpSp>
      <p:grpSp>
        <p:nvGrpSpPr>
          <p:cNvPr id="50" name="footer"/>
          <p:cNvGrpSpPr/>
          <p:nvPr/>
        </p:nvGrpSpPr>
        <p:grpSpPr>
          <a:xfrm>
            <a:off x="528447" y="6581299"/>
            <a:ext cx="11135106" cy="190690"/>
            <a:chOff x="528447" y="6581299"/>
            <a:chExt cx="11135106" cy="190690"/>
          </a:xfrm>
        </p:grpSpPr>
        <p:sp>
          <p:nvSpPr>
            <p:cNvPr id="48" name="TextBox 48"/>
            <p:cNvSpPr txBox="1"/>
            <p:nvPr/>
          </p:nvSpPr>
          <p:spPr>
            <a:xfrm>
              <a:off x="528447" y="6581299"/>
              <a:ext cx="2120748"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并行与分布式计算 · 第7章 体系结构</a:t>
              </a:r>
            </a:p>
          </p:txBody>
        </p:sp>
        <p:sp>
          <p:nvSpPr>
            <p:cNvPr id="49" name="TextBox 49"/>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18</a:t>
              </a:r>
            </a:p>
          </p:txBody>
        </p:sp>
      </p:grpSp>
    </p:spTree>
  </p:cSld>
  <p:clrMapOvr>
    <a:masterClrMapping/>
  </p:clrMapOvr>
  <p:transition xmlns:p14="http://schemas.microsoft.com/office/powerpoint/2010/main" p14:dur="400">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8607933" cy="909257"/>
            <a:chOff x="520446" y="342900"/>
            <a:chExt cx="8607933" cy="909257"/>
          </a:xfrm>
        </p:grpSpPr>
        <p:sp>
          <p:nvSpPr>
            <p:cNvPr id="2" name="Rectangle 2"/>
            <p:cNvSpPr/>
            <p:nvPr/>
          </p:nvSpPr>
          <p:spPr>
            <a:xfrm>
              <a:off x="533400" y="342900"/>
              <a:ext cx="2586038" cy="266700"/>
            </a:xfrm>
            <a:prstGeom prst="roundRect">
              <a:avLst>
                <a:gd name="adj" fmla="val 50000"/>
              </a:avLst>
            </a:prstGeom>
            <a:solidFill>
              <a:srgbClr val="E7EDF3"/>
            </a:solidFill>
            <a:ln>
              <a:noFill/>
            </a:ln>
          </p:spPr>
        </p:sp>
        <p:sp>
          <p:nvSpPr>
            <p:cNvPr id="3" name="TextBox 3"/>
            <p:cNvSpPr txBox="1"/>
            <p:nvPr/>
          </p:nvSpPr>
          <p:spPr>
            <a:xfrm>
              <a:off x="587464" y="407194"/>
              <a:ext cx="2476957"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第7章 体系结构 · Cache 一致性问题</a:t>
              </a:r>
            </a:p>
          </p:txBody>
        </p:sp>
        <p:sp>
          <p:nvSpPr>
            <p:cNvPr id="4" name="TextBox 4"/>
            <p:cNvSpPr txBox="1"/>
            <p:nvPr/>
          </p:nvSpPr>
          <p:spPr>
            <a:xfrm>
              <a:off x="520446" y="753428"/>
              <a:ext cx="8607933"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监听式与目录式：广播给所有人，还是只通知有副本的人</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31" name="c1-compare-1"/>
          <p:cNvGrpSpPr/>
          <p:nvPr/>
        </p:nvGrpSpPr>
        <p:grpSpPr>
          <a:xfrm>
            <a:off x="533400" y="1524000"/>
            <a:ext cx="6275070" cy="3467100"/>
            <a:chOff x="533400" y="1524000"/>
            <a:chExt cx="6275070" cy="3467100"/>
          </a:xfrm>
        </p:grpSpPr>
        <p:sp>
          <p:nvSpPr>
            <p:cNvPr id="7" name="Rectangle 7"/>
            <p:cNvSpPr/>
            <p:nvPr/>
          </p:nvSpPr>
          <p:spPr>
            <a:xfrm>
              <a:off x="533400" y="1524000"/>
              <a:ext cx="2927985" cy="3467100"/>
            </a:xfrm>
            <a:prstGeom prst="roundRect">
              <a:avLst>
                <a:gd name="adj" fmla="val 4554"/>
              </a:avLst>
            </a:prstGeom>
            <a:solidFill>
              <a:srgbClr val="FFFFFF"/>
            </a:solidFill>
            <a:ln w="14288">
              <a:solidFill>
                <a:srgbClr val="D9DFEA"/>
              </a:solidFill>
            </a:ln>
          </p:spPr>
        </p:sp>
        <p:sp>
          <p:nvSpPr>
            <p:cNvPr id="8" name="Rectangle 8"/>
            <p:cNvSpPr/>
            <p:nvPr/>
          </p:nvSpPr>
          <p:spPr>
            <a:xfrm>
              <a:off x="542925" y="1657350"/>
              <a:ext cx="47625" cy="3200400"/>
            </a:xfrm>
            <a:prstGeom prst="roundRect">
              <a:avLst>
                <a:gd name="adj" fmla="val 50000"/>
              </a:avLst>
            </a:prstGeom>
            <a:solidFill>
              <a:srgbClr val="334E68"/>
            </a:solidFill>
            <a:ln>
              <a:noFill/>
            </a:ln>
          </p:spPr>
        </p:sp>
        <p:sp>
          <p:nvSpPr>
            <p:cNvPr id="9" name="TextBox 9"/>
            <p:cNvSpPr txBox="1"/>
            <p:nvPr/>
          </p:nvSpPr>
          <p:spPr>
            <a:xfrm>
              <a:off x="773430" y="1758315"/>
              <a:ext cx="1911026"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监听式（Snooping）</a:t>
              </a:r>
            </a:p>
          </p:txBody>
        </p:sp>
        <p:sp>
          <p:nvSpPr>
            <p:cNvPr id="10" name="Ellipse 10"/>
            <p:cNvSpPr/>
            <p:nvPr/>
          </p:nvSpPr>
          <p:spPr>
            <a:xfrm>
              <a:off x="786765" y="2175510"/>
              <a:ext cx="64770" cy="64770"/>
            </a:xfrm>
            <a:prstGeom prst="ellipse">
              <a:avLst/>
            </a:prstGeom>
            <a:solidFill>
              <a:srgbClr val="334E68"/>
            </a:solidFill>
            <a:ln>
              <a:noFill/>
            </a:ln>
          </p:spPr>
        </p:sp>
        <p:sp>
          <p:nvSpPr>
            <p:cNvPr id="11" name="TextBox 11"/>
            <p:cNvSpPr txBox="1"/>
            <p:nvPr/>
          </p:nvSpPr>
          <p:spPr>
            <a:xfrm>
              <a:off x="944880" y="2112645"/>
              <a:ext cx="2110740"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基于总线传递信息，一对</a:t>
              </a:r>
              <a:br/>
              <a:r>
                <a:rPr lang="zh-CN" sz="1500" dirty="0">
                  <a:solidFill>
                    <a:srgbClr val="1F2937"/>
                  </a:solidFill>
                  <a:latin typeface="+mn-lt"/>
                  <a:ea typeface="+mn-ea"/>
                  <a:cs typeface="+mn-cs"/>
                </a:rPr>
                <a:t>多广播（1vN）</a:t>
              </a:r>
            </a:p>
          </p:txBody>
        </p:sp>
        <p:sp>
          <p:nvSpPr>
            <p:cNvPr id="12" name="Ellipse 12"/>
            <p:cNvSpPr/>
            <p:nvPr/>
          </p:nvSpPr>
          <p:spPr>
            <a:xfrm>
              <a:off x="786765" y="2796540"/>
              <a:ext cx="64770" cy="64770"/>
            </a:xfrm>
            <a:prstGeom prst="ellipse">
              <a:avLst/>
            </a:prstGeom>
            <a:solidFill>
              <a:srgbClr val="334E68"/>
            </a:solidFill>
            <a:ln>
              <a:noFill/>
            </a:ln>
          </p:spPr>
        </p:sp>
        <p:sp>
          <p:nvSpPr>
            <p:cNvPr id="13" name="TextBox 13"/>
            <p:cNvSpPr txBox="1"/>
            <p:nvPr/>
          </p:nvSpPr>
          <p:spPr>
            <a:xfrm>
              <a:off x="944880" y="2733675"/>
              <a:ext cx="2110740"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共享状态分散保存在各个</a:t>
              </a:r>
              <a:br/>
              <a:r>
                <a:rPr lang="zh-CN" sz="1500" dirty="0">
                  <a:solidFill>
                    <a:srgbClr val="1F2937"/>
                  </a:solidFill>
                  <a:latin typeface="+mn-lt"/>
                  <a:ea typeface="+mn-ea"/>
                  <a:cs typeface="+mn-cs"/>
                </a:rPr>
                <a:t>Cache 中</a:t>
              </a:r>
            </a:p>
          </p:txBody>
        </p:sp>
        <p:sp>
          <p:nvSpPr>
            <p:cNvPr id="14" name="Ellipse 14"/>
            <p:cNvSpPr/>
            <p:nvPr/>
          </p:nvSpPr>
          <p:spPr>
            <a:xfrm>
              <a:off x="786765" y="3417570"/>
              <a:ext cx="64770" cy="64770"/>
            </a:xfrm>
            <a:prstGeom prst="ellipse">
              <a:avLst/>
            </a:prstGeom>
            <a:solidFill>
              <a:srgbClr val="334E68"/>
            </a:solidFill>
            <a:ln>
              <a:noFill/>
            </a:ln>
          </p:spPr>
        </p:sp>
        <p:sp>
          <p:nvSpPr>
            <p:cNvPr id="15" name="TextBox 15"/>
            <p:cNvSpPr txBox="1"/>
            <p:nvPr/>
          </p:nvSpPr>
          <p:spPr>
            <a:xfrm>
              <a:off x="944880" y="3354705"/>
              <a:ext cx="2120265" cy="86487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利用已有的总线和 Cache</a:t>
              </a:r>
              <a:br/>
              <a:r>
                <a:rPr lang="zh-CN" sz="1500" dirty="0">
                  <a:solidFill>
                    <a:srgbClr val="1F2937"/>
                  </a:solidFill>
                  <a:latin typeface="+mn-lt"/>
                  <a:ea typeface="+mn-ea"/>
                  <a:cs typeface="+mn-cs"/>
                </a:rPr>
                <a:t>状态位，实现容易、成本</a:t>
              </a:r>
              <a:br/>
              <a:r>
                <a:rPr lang="zh-CN" sz="1500" dirty="0">
                  <a:solidFill>
                    <a:srgbClr val="1F2937"/>
                  </a:solidFill>
                  <a:latin typeface="+mn-lt"/>
                  <a:ea typeface="+mn-ea"/>
                  <a:cs typeface="+mn-cs"/>
                </a:rPr>
                <a:t>低</a:t>
              </a:r>
            </a:p>
          </p:txBody>
        </p:sp>
        <p:sp>
          <p:nvSpPr>
            <p:cNvPr id="16" name="Ellipse 16"/>
            <p:cNvSpPr/>
            <p:nvPr/>
          </p:nvSpPr>
          <p:spPr>
            <a:xfrm>
              <a:off x="786765" y="4324350"/>
              <a:ext cx="64770" cy="64770"/>
            </a:xfrm>
            <a:prstGeom prst="ellipse">
              <a:avLst/>
            </a:prstGeom>
            <a:solidFill>
              <a:srgbClr val="334E68"/>
            </a:solidFill>
            <a:ln>
              <a:noFill/>
            </a:ln>
          </p:spPr>
        </p:sp>
        <p:sp>
          <p:nvSpPr>
            <p:cNvPr id="17" name="TextBox 17"/>
            <p:cNvSpPr txBox="1"/>
            <p:nvPr/>
          </p:nvSpPr>
          <p:spPr>
            <a:xfrm>
              <a:off x="944880" y="4261485"/>
              <a:ext cx="1920240"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规模变大后广播成为瓶</a:t>
              </a:r>
              <a:br/>
              <a:r>
                <a:rPr lang="zh-CN" sz="1500" dirty="0">
                  <a:solidFill>
                    <a:srgbClr val="1F2937"/>
                  </a:solidFill>
                  <a:latin typeface="+mn-lt"/>
                  <a:ea typeface="+mn-ea"/>
                  <a:cs typeface="+mn-cs"/>
                </a:rPr>
                <a:t>颈，可扩放性差</a:t>
              </a:r>
            </a:p>
          </p:txBody>
        </p:sp>
        <p:sp>
          <p:nvSpPr>
            <p:cNvPr id="18" name="Rectangle 18"/>
            <p:cNvSpPr/>
            <p:nvPr/>
          </p:nvSpPr>
          <p:spPr>
            <a:xfrm>
              <a:off x="3880485" y="1524000"/>
              <a:ext cx="2927985" cy="3467100"/>
            </a:xfrm>
            <a:prstGeom prst="roundRect">
              <a:avLst>
                <a:gd name="adj" fmla="val 4554"/>
              </a:avLst>
            </a:prstGeom>
            <a:solidFill>
              <a:srgbClr val="FFFFFF"/>
            </a:solidFill>
            <a:ln w="14288">
              <a:solidFill>
                <a:srgbClr val="D9DFEA"/>
              </a:solidFill>
            </a:ln>
          </p:spPr>
        </p:sp>
        <p:sp>
          <p:nvSpPr>
            <p:cNvPr id="19" name="Rectangle 19"/>
            <p:cNvSpPr/>
            <p:nvPr/>
          </p:nvSpPr>
          <p:spPr>
            <a:xfrm>
              <a:off x="3890010" y="1657350"/>
              <a:ext cx="47625" cy="3200400"/>
            </a:xfrm>
            <a:prstGeom prst="roundRect">
              <a:avLst>
                <a:gd name="adj" fmla="val 50000"/>
              </a:avLst>
            </a:prstGeom>
            <a:solidFill>
              <a:srgbClr val="D97706"/>
            </a:solidFill>
            <a:ln>
              <a:noFill/>
            </a:ln>
          </p:spPr>
        </p:sp>
        <p:sp>
          <p:nvSpPr>
            <p:cNvPr id="20" name="TextBox 20"/>
            <p:cNvSpPr txBox="1"/>
            <p:nvPr/>
          </p:nvSpPr>
          <p:spPr>
            <a:xfrm>
              <a:off x="4120515" y="1758315"/>
              <a:ext cx="2027682"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目录式（Directory）</a:t>
              </a:r>
            </a:p>
          </p:txBody>
        </p:sp>
        <p:sp>
          <p:nvSpPr>
            <p:cNvPr id="21" name="Ellipse 21"/>
            <p:cNvSpPr/>
            <p:nvPr/>
          </p:nvSpPr>
          <p:spPr>
            <a:xfrm>
              <a:off x="4133850" y="2175510"/>
              <a:ext cx="64770" cy="64770"/>
            </a:xfrm>
            <a:prstGeom prst="ellipse">
              <a:avLst/>
            </a:prstGeom>
            <a:solidFill>
              <a:srgbClr val="334E68"/>
            </a:solidFill>
            <a:ln>
              <a:noFill/>
            </a:ln>
          </p:spPr>
        </p:sp>
        <p:sp>
          <p:nvSpPr>
            <p:cNvPr id="22" name="TextBox 22"/>
            <p:cNvSpPr txBox="1"/>
            <p:nvPr/>
          </p:nvSpPr>
          <p:spPr>
            <a:xfrm>
              <a:off x="4291965" y="2112645"/>
              <a:ext cx="2110740"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基于互连网络传递信息，</a:t>
              </a:r>
              <a:br/>
              <a:r>
                <a:rPr lang="zh-CN" sz="1500" dirty="0">
                  <a:solidFill>
                    <a:srgbClr val="1F2937"/>
                  </a:solidFill>
                  <a:latin typeface="+mn-lt"/>
                  <a:ea typeface="+mn-ea"/>
                  <a:cs typeface="+mn-cs"/>
                </a:rPr>
                <a:t>点对点（1v1）</a:t>
              </a:r>
            </a:p>
          </p:txBody>
        </p:sp>
        <p:sp>
          <p:nvSpPr>
            <p:cNvPr id="23" name="Ellipse 23"/>
            <p:cNvSpPr/>
            <p:nvPr/>
          </p:nvSpPr>
          <p:spPr>
            <a:xfrm>
              <a:off x="4133850" y="2796540"/>
              <a:ext cx="64770" cy="64770"/>
            </a:xfrm>
            <a:prstGeom prst="ellipse">
              <a:avLst/>
            </a:prstGeom>
            <a:solidFill>
              <a:srgbClr val="334E68"/>
            </a:solidFill>
            <a:ln>
              <a:noFill/>
            </a:ln>
          </p:spPr>
        </p:sp>
        <p:sp>
          <p:nvSpPr>
            <p:cNvPr id="24" name="TextBox 24"/>
            <p:cNvSpPr txBox="1"/>
            <p:nvPr/>
          </p:nvSpPr>
          <p:spPr>
            <a:xfrm>
              <a:off x="4291965" y="2733675"/>
              <a:ext cx="2110740" cy="86487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共享状态集中记在目录</a:t>
              </a:r>
              <a:br/>
              <a:r>
                <a:rPr lang="zh-CN" sz="1500" dirty="0">
                  <a:solidFill>
                    <a:srgbClr val="1F2937"/>
                  </a:solidFill>
                  <a:latin typeface="+mn-lt"/>
                  <a:ea typeface="+mn-ea"/>
                  <a:cs typeface="+mn-cs"/>
                </a:rPr>
                <a:t>中，目录物理上分布在各</a:t>
              </a:r>
              <a:br/>
              <a:r>
                <a:rPr lang="zh-CN" sz="1500" dirty="0">
                  <a:solidFill>
                    <a:srgbClr val="1F2937"/>
                  </a:solidFill>
                  <a:latin typeface="+mn-lt"/>
                  <a:ea typeface="+mn-ea"/>
                  <a:cs typeface="+mn-cs"/>
                </a:rPr>
                <a:t>节点</a:t>
              </a:r>
            </a:p>
          </p:txBody>
        </p:sp>
        <p:sp>
          <p:nvSpPr>
            <p:cNvPr id="25" name="Ellipse 25"/>
            <p:cNvSpPr/>
            <p:nvPr/>
          </p:nvSpPr>
          <p:spPr>
            <a:xfrm>
              <a:off x="4133850" y="3703320"/>
              <a:ext cx="64770" cy="64770"/>
            </a:xfrm>
            <a:prstGeom prst="ellipse">
              <a:avLst/>
            </a:prstGeom>
            <a:solidFill>
              <a:srgbClr val="334E68"/>
            </a:solidFill>
            <a:ln>
              <a:noFill/>
            </a:ln>
          </p:spPr>
        </p:sp>
        <p:sp>
          <p:nvSpPr>
            <p:cNvPr id="26" name="TextBox 26"/>
            <p:cNvSpPr txBox="1"/>
            <p:nvPr/>
          </p:nvSpPr>
          <p:spPr>
            <a:xfrm>
              <a:off x="4291965" y="3640455"/>
              <a:ext cx="203454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要额外的目录存储空间</a:t>
              </a:r>
            </a:p>
          </p:txBody>
        </p:sp>
        <p:sp>
          <p:nvSpPr>
            <p:cNvPr id="27" name="Ellipse 27"/>
            <p:cNvSpPr/>
            <p:nvPr/>
          </p:nvSpPr>
          <p:spPr>
            <a:xfrm>
              <a:off x="4133850" y="4038600"/>
              <a:ext cx="64770" cy="64770"/>
            </a:xfrm>
            <a:prstGeom prst="ellipse">
              <a:avLst/>
            </a:prstGeom>
            <a:solidFill>
              <a:srgbClr val="334E68"/>
            </a:solidFill>
            <a:ln>
              <a:noFill/>
            </a:ln>
          </p:spPr>
        </p:sp>
        <p:sp>
          <p:nvSpPr>
            <p:cNvPr id="28" name="TextBox 28"/>
            <p:cNvSpPr txBox="1"/>
            <p:nvPr/>
          </p:nvSpPr>
          <p:spPr>
            <a:xfrm>
              <a:off x="4291965" y="3975735"/>
              <a:ext cx="2110740"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不依赖广播，适合大规模</a:t>
              </a:r>
              <a:br/>
              <a:r>
                <a:rPr lang="zh-CN" sz="1500" dirty="0">
                  <a:solidFill>
                    <a:srgbClr val="1F2937"/>
                  </a:solidFill>
                  <a:latin typeface="+mn-lt"/>
                  <a:ea typeface="+mn-ea"/>
                  <a:cs typeface="+mn-cs"/>
                </a:rPr>
                <a:t>分布式共享存储</a:t>
              </a:r>
            </a:p>
          </p:txBody>
        </p:sp>
        <p:sp>
          <p:nvSpPr>
            <p:cNvPr id="29" name="Ellipse 29"/>
            <p:cNvSpPr/>
            <p:nvPr/>
          </p:nvSpPr>
          <p:spPr>
            <a:xfrm>
              <a:off x="3509010" y="3095625"/>
              <a:ext cx="323850" cy="323850"/>
            </a:xfrm>
            <a:prstGeom prst="ellipse">
              <a:avLst/>
            </a:prstGeom>
            <a:solidFill>
              <a:srgbClr val="F26B3A"/>
            </a:solidFill>
            <a:ln>
              <a:noFill/>
            </a:ln>
          </p:spPr>
        </p:sp>
        <p:sp>
          <p:nvSpPr>
            <p:cNvPr id="30" name="TextBox 30"/>
            <p:cNvSpPr txBox="1"/>
            <p:nvPr/>
          </p:nvSpPr>
          <p:spPr>
            <a:xfrm>
              <a:off x="3579350" y="3191828"/>
              <a:ext cx="183170" cy="205359"/>
            </a:xfrm>
            <a:prstGeom prst="rect">
              <a:avLst/>
            </a:prstGeom>
            <a:noFill/>
            <a:ln>
              <a:noFill/>
            </a:ln>
          </p:spPr>
          <p:txBody>
            <a:bodyPr wrap="none" lIns="0" tIns="0" rIns="0" bIns="0" anchor="t" anchorCtr="0">
              <a:spAutoFit/>
            </a:bodyPr>
            <a:lstStyle/>
            <a:p>
              <a:pPr algn="ctr"/>
              <a:r>
                <a:rPr lang="en-US" sz="1050" b="1" dirty="0">
                  <a:solidFill>
                    <a:srgbClr val="FFFFFF"/>
                  </a:solidFill>
                  <a:latin typeface="+mn-lt"/>
                  <a:ea typeface="+mn-ea"/>
                  <a:cs typeface="+mn-cs"/>
                </a:rPr>
                <a:t>VS</a:t>
              </a:r>
            </a:p>
          </p:txBody>
        </p:sp>
      </p:grpSp>
      <p:grpSp>
        <p:nvGrpSpPr>
          <p:cNvPr id="38" name="c1-callout-2"/>
          <p:cNvGrpSpPr/>
          <p:nvPr/>
        </p:nvGrpSpPr>
        <p:grpSpPr>
          <a:xfrm>
            <a:off x="533400" y="5181600"/>
            <a:ext cx="6276022" cy="1059180"/>
            <a:chOff x="533400" y="5181600"/>
            <a:chExt cx="6276022" cy="1059180"/>
          </a:xfrm>
        </p:grpSpPr>
        <p:sp>
          <p:nvSpPr>
            <p:cNvPr id="32" name="Rectangle 32"/>
            <p:cNvSpPr/>
            <p:nvPr/>
          </p:nvSpPr>
          <p:spPr>
            <a:xfrm>
              <a:off x="533400" y="5181600"/>
              <a:ext cx="6276022" cy="1059180"/>
            </a:xfrm>
            <a:prstGeom prst="roundRect">
              <a:avLst>
                <a:gd name="adj" fmla="val 10791"/>
              </a:avLst>
            </a:prstGeom>
            <a:solidFill>
              <a:srgbClr val="FDEEE7"/>
            </a:solidFill>
            <a:ln>
              <a:noFill/>
            </a:ln>
          </p:spPr>
        </p:sp>
        <p:grpSp>
          <p:nvGrpSpPr>
            <p:cNvPr id="36" name="Group 36"/>
            <p:cNvGrpSpPr/>
            <p:nvPr/>
          </p:nvGrpSpPr>
          <p:grpSpPr>
            <a:xfrm>
              <a:off x="738188" y="5611178"/>
              <a:ext cx="200026" cy="200025"/>
              <a:chOff x="738188" y="5611178"/>
              <a:chExt cx="200026" cy="200025"/>
            </a:xfrm>
          </p:grpSpPr>
          <p:sp>
            <p:nvSpPr>
              <p:cNvPr id="33" name="Freeform 33"/>
              <p:cNvSpPr/>
              <p:nvPr/>
            </p:nvSpPr>
            <p:spPr>
              <a:xfrm>
                <a:off x="738188" y="5611178"/>
                <a:ext cx="200026" cy="100013"/>
              </a:xfrm>
              <a:custGeom>
                <a:avLst/>
                <a:gdLst/>
                <a:ahLst/>
                <a:cxnLst/>
                <a:rect l="l" t="t" r="r" b="b"/>
                <a:pathLst>
                  <a:path w="200026" h="100013">
                    <a:moveTo>
                      <a:pt x="0" y="100013"/>
                    </a:moveTo>
                    <a:lnTo>
                      <a:pt x="11113" y="100013"/>
                    </a:lnTo>
                    <a:moveTo>
                      <a:pt x="100013" y="0"/>
                    </a:moveTo>
                    <a:lnTo>
                      <a:pt x="100013" y="11113"/>
                    </a:lnTo>
                    <a:moveTo>
                      <a:pt x="188913" y="100013"/>
                    </a:moveTo>
                    <a:lnTo>
                      <a:pt x="200026" y="100013"/>
                    </a:lnTo>
                    <a:moveTo>
                      <a:pt x="28893" y="28893"/>
                    </a:moveTo>
                    <a:lnTo>
                      <a:pt x="36671" y="36671"/>
                    </a:lnTo>
                    <a:moveTo>
                      <a:pt x="171133" y="28893"/>
                    </a:moveTo>
                    <a:lnTo>
                      <a:pt x="163354" y="36671"/>
                    </a:lnTo>
                  </a:path>
                </a:pathLst>
              </a:custGeom>
              <a:noFill/>
              <a:ln w="22225">
                <a:solidFill>
                  <a:srgbClr val="C2410C"/>
                </a:solidFill>
              </a:ln>
            </p:spPr>
          </p:sp>
          <p:sp>
            <p:nvSpPr>
              <p:cNvPr id="34" name="Freeform 34"/>
              <p:cNvSpPr/>
              <p:nvPr/>
            </p:nvSpPr>
            <p:spPr>
              <a:xfrm>
                <a:off x="777926" y="5655628"/>
                <a:ext cx="120548" cy="155575"/>
              </a:xfrm>
              <a:custGeom>
                <a:avLst/>
                <a:gdLst/>
                <a:ahLst/>
                <a:cxnLst/>
                <a:rect l="l" t="t" r="r" b="b"/>
                <a:pathLst>
                  <a:path w="120548" h="155575">
                    <a:moveTo>
                      <a:pt x="26937" y="100013"/>
                    </a:moveTo>
                    <a:cubicBezTo>
                      <a:pt x="7804" y="85663"/>
                      <a:pt x="0" y="60681"/>
                      <a:pt x="7563" y="37992"/>
                    </a:cubicBezTo>
                    <a:cubicBezTo>
                      <a:pt x="15126" y="15304"/>
                      <a:pt x="36358" y="0"/>
                      <a:pt x="60274" y="0"/>
                    </a:cubicBezTo>
                    <a:cubicBezTo>
                      <a:pt x="84190" y="0"/>
                      <a:pt x="105423" y="15304"/>
                      <a:pt x="112986" y="37992"/>
                    </a:cubicBezTo>
                    <a:cubicBezTo>
                      <a:pt x="120548" y="60681"/>
                      <a:pt x="112745" y="85663"/>
                      <a:pt x="93612" y="100013"/>
                    </a:cubicBezTo>
                    <a:cubicBezTo>
                      <a:pt x="84812" y="108723"/>
                      <a:pt x="80686" y="121103"/>
                      <a:pt x="82499" y="133350"/>
                    </a:cubicBezTo>
                    <a:cubicBezTo>
                      <a:pt x="82499" y="145625"/>
                      <a:pt x="72549" y="155575"/>
                      <a:pt x="60274" y="155575"/>
                    </a:cubicBezTo>
                    <a:cubicBezTo>
                      <a:pt x="48000" y="155575"/>
                      <a:pt x="38049" y="145625"/>
                      <a:pt x="38049" y="133350"/>
                    </a:cubicBezTo>
                    <a:cubicBezTo>
                      <a:pt x="39862" y="121103"/>
                      <a:pt x="35736" y="108723"/>
                      <a:pt x="26937" y="100013"/>
                    </a:cubicBezTo>
                  </a:path>
                </a:pathLst>
              </a:custGeom>
              <a:noFill/>
              <a:ln w="22225">
                <a:solidFill>
                  <a:srgbClr val="C2410C"/>
                </a:solidFill>
              </a:ln>
            </p:spPr>
          </p:sp>
          <p:sp>
            <p:nvSpPr>
              <p:cNvPr id="35" name="Freeform 35"/>
              <p:cNvSpPr/>
              <p:nvPr/>
            </p:nvSpPr>
            <p:spPr>
              <a:xfrm>
                <a:off x="812642" y="5766753"/>
                <a:ext cx="51118" cy="9525"/>
              </a:xfrm>
              <a:custGeom>
                <a:avLst/>
                <a:gdLst/>
                <a:ahLst/>
                <a:cxnLst/>
                <a:rect l="l" t="t" r="r" b="b"/>
                <a:pathLst>
                  <a:path w="51118" h="9525">
                    <a:moveTo>
                      <a:pt x="0" y="0"/>
                    </a:moveTo>
                    <a:lnTo>
                      <a:pt x="51118" y="0"/>
                    </a:lnTo>
                  </a:path>
                </a:pathLst>
              </a:custGeom>
              <a:noFill/>
              <a:ln w="22225">
                <a:solidFill>
                  <a:srgbClr val="C2410C"/>
                </a:solidFill>
              </a:ln>
            </p:spPr>
          </p:sp>
        </p:grpSp>
        <p:sp>
          <p:nvSpPr>
            <p:cNvPr id="37" name="TextBox 37"/>
            <p:cNvSpPr txBox="1"/>
            <p:nvPr/>
          </p:nvSpPr>
          <p:spPr>
            <a:xfrm>
              <a:off x="1040130" y="5330190"/>
              <a:ext cx="5349240" cy="845820"/>
            </a:xfrm>
            <a:prstGeom prst="rect">
              <a:avLst/>
            </a:prstGeom>
            <a:noFill/>
            <a:ln>
              <a:noFill/>
            </a:ln>
          </p:spPr>
          <p:txBody>
            <a:bodyPr wrap="none" lIns="0" tIns="0" rIns="0" bIns="0" anchor="t" anchorCtr="0">
              <a:spAutoFit/>
            </a:bodyPr>
            <a:lstStyle/>
            <a:p>
              <a:pPr algn="l">
                <a:lnSpc>
                  <a:spcPts val="2175"/>
                </a:lnSpc>
              </a:pPr>
              <a:r>
                <a:rPr lang="zh-CN" sz="1500" dirty="0">
                  <a:solidFill>
                    <a:srgbClr val="C2410C"/>
                  </a:solidFill>
                  <a:latin typeface="+mn-lt"/>
                  <a:ea typeface="+mn-ea"/>
                  <a:cs typeface="+mn-cs"/>
                </a:rPr>
                <a:t>两种方式只是记录和传递状态的办法不同，要保证的是同一件</a:t>
              </a:r>
              <a:br/>
              <a:r>
                <a:rPr lang="zh-CN" sz="1500" dirty="0">
                  <a:solidFill>
                    <a:srgbClr val="C2410C"/>
                  </a:solidFill>
                  <a:latin typeface="+mn-lt"/>
                  <a:ea typeface="+mn-ea"/>
                  <a:cs typeface="+mn-cs"/>
                </a:rPr>
                <a:t>事：写之前拿到独占权，读的时候拿到最新值。监听式多用于总</a:t>
              </a:r>
              <a:br/>
              <a:r>
                <a:rPr lang="zh-CN" sz="1500" dirty="0">
                  <a:solidFill>
                    <a:srgbClr val="C2410C"/>
                  </a:solidFill>
                  <a:latin typeface="+mn-lt"/>
                  <a:ea typeface="+mn-ea"/>
                  <a:cs typeface="+mn-cs"/>
                </a:rPr>
                <a:t>线型 UMA，目录式多用于 NUMA。</a:t>
              </a:r>
            </a:p>
          </p:txBody>
        </p:sp>
      </p:grpSp>
      <p:grpSp>
        <p:nvGrpSpPr>
          <p:cNvPr id="41" name="c2-image-1"/>
          <p:cNvGrpSpPr/>
          <p:nvPr/>
        </p:nvGrpSpPr>
        <p:grpSpPr>
          <a:xfrm>
            <a:off x="7114222" y="1524000"/>
            <a:ext cx="4544378" cy="3722847"/>
            <a:chOff x="7114222" y="1524000"/>
            <a:chExt cx="4544378" cy="3722847"/>
          </a:xfrm>
        </p:grpSpPr>
        <p:pic>
          <p:nvPicPr>
            <p:cNvPr id="39" name="Image 39"/>
            <p:cNvPicPr>
              <a:picLocks noChangeAspect="1"/>
            </p:cNvPicPr>
            <p:nvPr/>
          </p:nvPicPr>
          <p:blipFill>
            <a:blip r:embed="rId2"/>
            <a:srcRect l="16664" t="0" r="16665" b="0"/>
            <a:stretch>
              <a:fillRect/>
            </a:stretch>
          </p:blipFill>
          <p:spPr>
            <a:xfrm>
              <a:off x="7114222" y="1524000"/>
              <a:ext cx="4544378" cy="3408045"/>
            </a:xfrm>
            <a:prstGeom prst="roundRect">
              <a:avLst>
                <a:gd name="adj" fmla="val 3912"/>
              </a:avLst>
            </a:prstGeom>
          </p:spPr>
        </p:pic>
        <p:sp>
          <p:nvSpPr>
            <p:cNvPr id="40" name="TextBox 40"/>
            <p:cNvSpPr txBox="1"/>
            <p:nvPr/>
          </p:nvSpPr>
          <p:spPr>
            <a:xfrm>
              <a:off x="7118604" y="5026819"/>
              <a:ext cx="4534662" cy="220028"/>
            </a:xfrm>
            <a:prstGeom prst="rect">
              <a:avLst/>
            </a:prstGeom>
            <a:noFill/>
            <a:ln>
              <a:noFill/>
            </a:ln>
          </p:spPr>
          <p:txBody>
            <a:bodyPr wrap="none" lIns="0" tIns="0" rIns="0" bIns="0" anchor="t" anchorCtr="0">
              <a:spAutoFit/>
            </a:bodyPr>
            <a:lstStyle/>
            <a:p>
              <a:pPr algn="ctr"/>
              <a:r>
                <a:rPr lang="zh-CN" sz="1120" dirty="0">
                  <a:solidFill>
                    <a:srgbClr val="5B6475"/>
                  </a:solidFill>
                  <a:latin typeface="+mn-lt"/>
                  <a:ea typeface="+mn-ea"/>
                  <a:cs typeface="+mn-cs"/>
                </a:rPr>
                <a:t>左：拿喇叭喊，每家都得听；右：查登记簿，只给有副本的人打电话</a:t>
              </a:r>
            </a:p>
          </p:txBody>
        </p:sp>
      </p:grpSp>
      <p:grpSp>
        <p:nvGrpSpPr>
          <p:cNvPr id="44" name="footer"/>
          <p:cNvGrpSpPr/>
          <p:nvPr/>
        </p:nvGrpSpPr>
        <p:grpSpPr>
          <a:xfrm>
            <a:off x="528447" y="6581299"/>
            <a:ext cx="11135106" cy="190690"/>
            <a:chOff x="528447" y="6581299"/>
            <a:chExt cx="11135106" cy="190690"/>
          </a:xfrm>
        </p:grpSpPr>
        <p:sp>
          <p:nvSpPr>
            <p:cNvPr id="42" name="TextBox 42"/>
            <p:cNvSpPr txBox="1"/>
            <p:nvPr/>
          </p:nvSpPr>
          <p:spPr>
            <a:xfrm>
              <a:off x="528447" y="6581299"/>
              <a:ext cx="2120748"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并行与分布式计算 · 第7章 体系结构</a:t>
              </a:r>
            </a:p>
          </p:txBody>
        </p:sp>
        <p:sp>
          <p:nvSpPr>
            <p:cNvPr id="43" name="TextBox 43"/>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19</a:t>
              </a:r>
            </a:p>
          </p:txBody>
        </p:sp>
      </p:grpSp>
    </p:spTree>
  </p:cSld>
  <p:clrMapOvr>
    <a:masterClrMapping/>
  </p:clrMapOvr>
  <p:transition xmlns:p14="http://schemas.microsoft.com/office/powerpoint/2010/main" p14:dur="400">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7237303" cy="909257"/>
            <a:chOff x="520446" y="342900"/>
            <a:chExt cx="7237303" cy="909257"/>
          </a:xfrm>
        </p:grpSpPr>
        <p:sp>
          <p:nvSpPr>
            <p:cNvPr id="2" name="Rectangle 2"/>
            <p:cNvSpPr/>
            <p:nvPr/>
          </p:nvSpPr>
          <p:spPr>
            <a:xfrm>
              <a:off x="533400" y="342900"/>
              <a:ext cx="2586038" cy="266700"/>
            </a:xfrm>
            <a:prstGeom prst="roundRect">
              <a:avLst>
                <a:gd name="adj" fmla="val 50000"/>
              </a:avLst>
            </a:prstGeom>
            <a:solidFill>
              <a:srgbClr val="E7EDF3"/>
            </a:solidFill>
            <a:ln>
              <a:noFill/>
            </a:ln>
          </p:spPr>
        </p:sp>
        <p:sp>
          <p:nvSpPr>
            <p:cNvPr id="3" name="TextBox 3"/>
            <p:cNvSpPr txBox="1"/>
            <p:nvPr/>
          </p:nvSpPr>
          <p:spPr>
            <a:xfrm>
              <a:off x="587464" y="407194"/>
              <a:ext cx="2476957"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第7章 体系结构 · Cache 一致性问题</a:t>
              </a:r>
            </a:p>
          </p:txBody>
        </p:sp>
        <p:sp>
          <p:nvSpPr>
            <p:cNvPr id="4" name="TextBox 4"/>
            <p:cNvSpPr txBox="1"/>
            <p:nvPr/>
          </p:nvSpPr>
          <p:spPr>
            <a:xfrm>
              <a:off x="520446" y="753428"/>
              <a:ext cx="7237303"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写作废与写更新：CPU A 把 X 从 m 改成 p 之后</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29" name="c1-graph-1"/>
          <p:cNvGrpSpPr/>
          <p:nvPr/>
        </p:nvGrpSpPr>
        <p:grpSpPr>
          <a:xfrm>
            <a:off x="775335" y="1578292"/>
            <a:ext cx="5143500" cy="1563434"/>
            <a:chOff x="775335" y="1578292"/>
            <a:chExt cx="5143500" cy="1563434"/>
          </a:xfrm>
        </p:grpSpPr>
        <p:sp>
          <p:nvSpPr>
            <p:cNvPr id="7" name="Freeform 7"/>
            <p:cNvSpPr/>
            <p:nvPr/>
          </p:nvSpPr>
          <p:spPr>
            <a:xfrm>
              <a:off x="1658302" y="1825942"/>
              <a:ext cx="9525" cy="189548"/>
            </a:xfrm>
            <a:custGeom>
              <a:avLst/>
              <a:gdLst/>
              <a:ahLst/>
              <a:cxnLst/>
              <a:rect l="l" t="t" r="r" b="b"/>
              <a:pathLst>
                <a:path w="9525" h="189548">
                  <a:moveTo>
                    <a:pt x="0" y="0"/>
                  </a:moveTo>
                  <a:lnTo>
                    <a:pt x="0" y="189548"/>
                  </a:lnTo>
                </a:path>
              </a:pathLst>
            </a:custGeom>
            <a:noFill/>
            <a:ln w="17145">
              <a:solidFill>
                <a:srgbClr val="1F2937"/>
              </a:solidFill>
            </a:ln>
          </p:spPr>
        </p:sp>
        <p:sp>
          <p:nvSpPr>
            <p:cNvPr id="8" name="Freeform 8"/>
            <p:cNvSpPr/>
            <p:nvPr/>
          </p:nvSpPr>
          <p:spPr>
            <a:xfrm>
              <a:off x="3347085" y="1825942"/>
              <a:ext cx="9525" cy="189548"/>
            </a:xfrm>
            <a:custGeom>
              <a:avLst/>
              <a:gdLst/>
              <a:ahLst/>
              <a:cxnLst/>
              <a:rect l="l" t="t" r="r" b="b"/>
              <a:pathLst>
                <a:path w="9525" h="189548">
                  <a:moveTo>
                    <a:pt x="0" y="0"/>
                  </a:moveTo>
                  <a:lnTo>
                    <a:pt x="0" y="189548"/>
                  </a:lnTo>
                </a:path>
              </a:pathLst>
            </a:custGeom>
            <a:noFill/>
            <a:ln w="17145">
              <a:solidFill>
                <a:srgbClr val="1F2937"/>
              </a:solidFill>
            </a:ln>
          </p:spPr>
        </p:sp>
        <p:sp>
          <p:nvSpPr>
            <p:cNvPr id="9" name="Freeform 9"/>
            <p:cNvSpPr/>
            <p:nvPr/>
          </p:nvSpPr>
          <p:spPr>
            <a:xfrm>
              <a:off x="5034915" y="1825942"/>
              <a:ext cx="9525" cy="189548"/>
            </a:xfrm>
            <a:custGeom>
              <a:avLst/>
              <a:gdLst/>
              <a:ahLst/>
              <a:cxnLst/>
              <a:rect l="l" t="t" r="r" b="b"/>
              <a:pathLst>
                <a:path w="9525" h="189548">
                  <a:moveTo>
                    <a:pt x="0" y="0"/>
                  </a:moveTo>
                  <a:lnTo>
                    <a:pt x="0" y="189548"/>
                  </a:lnTo>
                </a:path>
              </a:pathLst>
            </a:custGeom>
            <a:noFill/>
            <a:ln w="17145">
              <a:solidFill>
                <a:srgbClr val="1F2937"/>
              </a:solidFill>
            </a:ln>
          </p:spPr>
        </p:sp>
        <p:sp>
          <p:nvSpPr>
            <p:cNvPr id="10" name="Freeform 10"/>
            <p:cNvSpPr/>
            <p:nvPr/>
          </p:nvSpPr>
          <p:spPr>
            <a:xfrm>
              <a:off x="1658302" y="2263140"/>
              <a:ext cx="9525" cy="175260"/>
            </a:xfrm>
            <a:custGeom>
              <a:avLst/>
              <a:gdLst/>
              <a:ahLst/>
              <a:cxnLst/>
              <a:rect l="l" t="t" r="r" b="b"/>
              <a:pathLst>
                <a:path w="9525" h="175260">
                  <a:moveTo>
                    <a:pt x="0" y="0"/>
                  </a:moveTo>
                  <a:lnTo>
                    <a:pt x="0" y="175260"/>
                  </a:lnTo>
                </a:path>
              </a:pathLst>
            </a:custGeom>
            <a:noFill/>
            <a:ln w="17145">
              <a:solidFill>
                <a:srgbClr val="1F2937"/>
              </a:solidFill>
            </a:ln>
          </p:spPr>
        </p:sp>
        <p:sp>
          <p:nvSpPr>
            <p:cNvPr id="11" name="Freeform 11"/>
            <p:cNvSpPr/>
            <p:nvPr/>
          </p:nvSpPr>
          <p:spPr>
            <a:xfrm>
              <a:off x="3347085" y="2263140"/>
              <a:ext cx="9525" cy="175260"/>
            </a:xfrm>
            <a:custGeom>
              <a:avLst/>
              <a:gdLst/>
              <a:ahLst/>
              <a:cxnLst/>
              <a:rect l="l" t="t" r="r" b="b"/>
              <a:pathLst>
                <a:path w="9525" h="175260">
                  <a:moveTo>
                    <a:pt x="0" y="0"/>
                  </a:moveTo>
                  <a:lnTo>
                    <a:pt x="0" y="175260"/>
                  </a:lnTo>
                </a:path>
              </a:pathLst>
            </a:custGeom>
            <a:noFill/>
            <a:ln w="17145">
              <a:solidFill>
                <a:srgbClr val="1F2937"/>
              </a:solidFill>
            </a:ln>
          </p:spPr>
        </p:sp>
        <p:sp>
          <p:nvSpPr>
            <p:cNvPr id="12" name="Freeform 12"/>
            <p:cNvSpPr/>
            <p:nvPr/>
          </p:nvSpPr>
          <p:spPr>
            <a:xfrm>
              <a:off x="5034915" y="2263140"/>
              <a:ext cx="9525" cy="175260"/>
            </a:xfrm>
            <a:custGeom>
              <a:avLst/>
              <a:gdLst/>
              <a:ahLst/>
              <a:cxnLst/>
              <a:rect l="l" t="t" r="r" b="b"/>
              <a:pathLst>
                <a:path w="9525" h="175260">
                  <a:moveTo>
                    <a:pt x="0" y="0"/>
                  </a:moveTo>
                  <a:lnTo>
                    <a:pt x="0" y="175260"/>
                  </a:lnTo>
                </a:path>
              </a:pathLst>
            </a:custGeom>
            <a:noFill/>
            <a:ln w="17145">
              <a:solidFill>
                <a:srgbClr val="1F2937"/>
              </a:solidFill>
            </a:ln>
          </p:spPr>
        </p:sp>
        <p:sp>
          <p:nvSpPr>
            <p:cNvPr id="13" name="Freeform 13"/>
            <p:cNvSpPr/>
            <p:nvPr/>
          </p:nvSpPr>
          <p:spPr>
            <a:xfrm>
              <a:off x="3347085" y="2682240"/>
              <a:ext cx="9525" cy="175260"/>
            </a:xfrm>
            <a:custGeom>
              <a:avLst/>
              <a:gdLst/>
              <a:ahLst/>
              <a:cxnLst/>
              <a:rect l="l" t="t" r="r" b="b"/>
              <a:pathLst>
                <a:path w="9525" h="175260">
                  <a:moveTo>
                    <a:pt x="0" y="0"/>
                  </a:moveTo>
                  <a:lnTo>
                    <a:pt x="0" y="175260"/>
                  </a:lnTo>
                </a:path>
              </a:pathLst>
            </a:custGeom>
            <a:noFill/>
            <a:ln w="17145">
              <a:solidFill>
                <a:srgbClr val="1F2937"/>
              </a:solidFill>
            </a:ln>
          </p:spPr>
        </p:sp>
        <p:sp>
          <p:nvSpPr>
            <p:cNvPr id="14" name="Rectangle 14"/>
            <p:cNvSpPr/>
            <p:nvPr/>
          </p:nvSpPr>
          <p:spPr>
            <a:xfrm>
              <a:off x="775335" y="2512695"/>
              <a:ext cx="5143500" cy="95250"/>
            </a:xfrm>
            <a:prstGeom prst="roundRect">
              <a:avLst>
                <a:gd name="adj" fmla="val 50000"/>
              </a:avLst>
            </a:prstGeom>
            <a:solidFill>
              <a:srgbClr val="334E68"/>
            </a:solidFill>
            <a:ln w="17145">
              <a:solidFill>
                <a:srgbClr val="334E68"/>
              </a:solidFill>
            </a:ln>
          </p:spPr>
        </p:sp>
        <p:sp>
          <p:nvSpPr>
            <p:cNvPr id="15" name="Rectangle 15"/>
            <p:cNvSpPr/>
            <p:nvPr/>
          </p:nvSpPr>
          <p:spPr>
            <a:xfrm>
              <a:off x="1229678" y="1578292"/>
              <a:ext cx="857250" cy="247650"/>
            </a:xfrm>
            <a:prstGeom prst="roundRect">
              <a:avLst>
                <a:gd name="adj" fmla="val 38462"/>
              </a:avLst>
            </a:prstGeom>
            <a:solidFill>
              <a:srgbClr val="334E68"/>
            </a:solidFill>
            <a:ln w="17145">
              <a:solidFill>
                <a:srgbClr val="334E68"/>
              </a:solidFill>
            </a:ln>
          </p:spPr>
        </p:sp>
        <p:sp>
          <p:nvSpPr>
            <p:cNvPr id="16" name="Rectangle 16"/>
            <p:cNvSpPr/>
            <p:nvPr/>
          </p:nvSpPr>
          <p:spPr>
            <a:xfrm>
              <a:off x="2918460" y="1578292"/>
              <a:ext cx="857250" cy="247650"/>
            </a:xfrm>
            <a:prstGeom prst="roundRect">
              <a:avLst>
                <a:gd name="adj" fmla="val 38462"/>
              </a:avLst>
            </a:prstGeom>
            <a:solidFill>
              <a:srgbClr val="334E68"/>
            </a:solidFill>
            <a:ln w="17145">
              <a:solidFill>
                <a:srgbClr val="334E68"/>
              </a:solidFill>
            </a:ln>
          </p:spPr>
        </p:sp>
        <p:sp>
          <p:nvSpPr>
            <p:cNvPr id="17" name="Rectangle 17"/>
            <p:cNvSpPr/>
            <p:nvPr/>
          </p:nvSpPr>
          <p:spPr>
            <a:xfrm>
              <a:off x="4606290" y="1578292"/>
              <a:ext cx="857250" cy="247650"/>
            </a:xfrm>
            <a:prstGeom prst="roundRect">
              <a:avLst>
                <a:gd name="adj" fmla="val 38462"/>
              </a:avLst>
            </a:prstGeom>
            <a:solidFill>
              <a:srgbClr val="334E68"/>
            </a:solidFill>
            <a:ln w="17145">
              <a:solidFill>
                <a:srgbClr val="334E68"/>
              </a:solidFill>
            </a:ln>
          </p:spPr>
        </p:sp>
        <p:sp>
          <p:nvSpPr>
            <p:cNvPr id="18" name="Rectangle 18"/>
            <p:cNvSpPr/>
            <p:nvPr/>
          </p:nvSpPr>
          <p:spPr>
            <a:xfrm>
              <a:off x="1182052" y="2015490"/>
              <a:ext cx="952500" cy="247650"/>
            </a:xfrm>
            <a:prstGeom prst="roundRect">
              <a:avLst>
                <a:gd name="adj" fmla="val 38462"/>
              </a:avLst>
            </a:prstGeom>
            <a:solidFill>
              <a:srgbClr val="E7EDF3"/>
            </a:solidFill>
            <a:ln w="17145">
              <a:solidFill>
                <a:srgbClr val="334E68"/>
              </a:solidFill>
            </a:ln>
          </p:spPr>
        </p:sp>
        <p:sp>
          <p:nvSpPr>
            <p:cNvPr id="19" name="Rectangle 19"/>
            <p:cNvSpPr/>
            <p:nvPr/>
          </p:nvSpPr>
          <p:spPr>
            <a:xfrm>
              <a:off x="2870835" y="2015490"/>
              <a:ext cx="952500" cy="247650"/>
            </a:xfrm>
            <a:prstGeom prst="roundRect">
              <a:avLst>
                <a:gd name="adj" fmla="val 38462"/>
              </a:avLst>
            </a:prstGeom>
            <a:solidFill>
              <a:srgbClr val="E7EDF3"/>
            </a:solidFill>
            <a:ln w="17145">
              <a:solidFill>
                <a:srgbClr val="334E68"/>
              </a:solidFill>
            </a:ln>
          </p:spPr>
        </p:sp>
        <p:sp>
          <p:nvSpPr>
            <p:cNvPr id="20" name="Rectangle 20"/>
            <p:cNvSpPr/>
            <p:nvPr/>
          </p:nvSpPr>
          <p:spPr>
            <a:xfrm>
              <a:off x="4558665" y="2015490"/>
              <a:ext cx="952500" cy="247650"/>
            </a:xfrm>
            <a:prstGeom prst="roundRect">
              <a:avLst>
                <a:gd name="adj" fmla="val 38462"/>
              </a:avLst>
            </a:prstGeom>
            <a:solidFill>
              <a:srgbClr val="E7EDF3"/>
            </a:solidFill>
            <a:ln w="17145">
              <a:solidFill>
                <a:srgbClr val="334E68"/>
              </a:solidFill>
            </a:ln>
          </p:spPr>
        </p:sp>
        <p:sp>
          <p:nvSpPr>
            <p:cNvPr id="21" name="Rectangle 21"/>
            <p:cNvSpPr/>
            <p:nvPr/>
          </p:nvSpPr>
          <p:spPr>
            <a:xfrm>
              <a:off x="2585085" y="2857500"/>
              <a:ext cx="1524000" cy="247650"/>
            </a:xfrm>
            <a:prstGeom prst="roundRect">
              <a:avLst>
                <a:gd name="adj" fmla="val 38462"/>
              </a:avLst>
            </a:prstGeom>
            <a:solidFill>
              <a:srgbClr val="FFFFFF"/>
            </a:solidFill>
            <a:ln w="17145">
              <a:solidFill>
                <a:srgbClr val="334E68"/>
              </a:solidFill>
            </a:ln>
          </p:spPr>
        </p:sp>
        <p:sp>
          <p:nvSpPr>
            <p:cNvPr id="22" name="TextBox 22"/>
            <p:cNvSpPr txBox="1"/>
            <p:nvPr/>
          </p:nvSpPr>
          <p:spPr>
            <a:xfrm>
              <a:off x="1428178" y="1627822"/>
              <a:ext cx="460248"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mn-lt"/>
                  <a:ea typeface="+mn-ea"/>
                  <a:cs typeface="+mn-cs"/>
                </a:rPr>
                <a:t>CPU A</a:t>
              </a:r>
            </a:p>
          </p:txBody>
        </p:sp>
        <p:sp>
          <p:nvSpPr>
            <p:cNvPr id="23" name="TextBox 23"/>
            <p:cNvSpPr txBox="1"/>
            <p:nvPr/>
          </p:nvSpPr>
          <p:spPr>
            <a:xfrm>
              <a:off x="3116961" y="1627822"/>
              <a:ext cx="460248"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mn-lt"/>
                  <a:ea typeface="+mn-ea"/>
                  <a:cs typeface="+mn-cs"/>
                </a:rPr>
                <a:t>CPU B</a:t>
              </a:r>
            </a:p>
          </p:txBody>
        </p:sp>
        <p:sp>
          <p:nvSpPr>
            <p:cNvPr id="24" name="TextBox 24"/>
            <p:cNvSpPr txBox="1"/>
            <p:nvPr/>
          </p:nvSpPr>
          <p:spPr>
            <a:xfrm>
              <a:off x="4804791" y="1627822"/>
              <a:ext cx="460248"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mn-lt"/>
                  <a:ea typeface="+mn-ea"/>
                  <a:cs typeface="+mn-cs"/>
                </a:rPr>
                <a:t>CPU C</a:t>
              </a:r>
            </a:p>
          </p:txBody>
        </p:sp>
        <p:sp>
          <p:nvSpPr>
            <p:cNvPr id="25" name="TextBox 25"/>
            <p:cNvSpPr txBox="1"/>
            <p:nvPr/>
          </p:nvSpPr>
          <p:spPr>
            <a:xfrm>
              <a:off x="1341128" y="2065020"/>
              <a:ext cx="634350" cy="234696"/>
            </a:xfrm>
            <a:prstGeom prst="rect">
              <a:avLst/>
            </a:prstGeom>
            <a:noFill/>
            <a:ln>
              <a:noFill/>
            </a:ln>
          </p:spPr>
          <p:txBody>
            <a:bodyPr wrap="none" lIns="0" tIns="0" rIns="0" bIns="0" anchor="t" anchorCtr="0">
              <a:spAutoFit/>
            </a:bodyPr>
            <a:lstStyle/>
            <a:p>
              <a:pPr algn="ctr"/>
              <a:r>
                <a:rPr lang="en-US" sz="1200" b="1" dirty="0">
                  <a:solidFill>
                    <a:srgbClr val="243B53"/>
                  </a:solidFill>
                  <a:latin typeface="+mn-lt"/>
                  <a:ea typeface="+mn-ea"/>
                  <a:cs typeface="+mn-cs"/>
                </a:rPr>
                <a:t>Cache A</a:t>
              </a:r>
            </a:p>
          </p:txBody>
        </p:sp>
        <p:sp>
          <p:nvSpPr>
            <p:cNvPr id="26" name="TextBox 26"/>
            <p:cNvSpPr txBox="1"/>
            <p:nvPr/>
          </p:nvSpPr>
          <p:spPr>
            <a:xfrm>
              <a:off x="3029910" y="2065020"/>
              <a:ext cx="634350" cy="234696"/>
            </a:xfrm>
            <a:prstGeom prst="rect">
              <a:avLst/>
            </a:prstGeom>
            <a:noFill/>
            <a:ln>
              <a:noFill/>
            </a:ln>
          </p:spPr>
          <p:txBody>
            <a:bodyPr wrap="none" lIns="0" tIns="0" rIns="0" bIns="0" anchor="t" anchorCtr="0">
              <a:spAutoFit/>
            </a:bodyPr>
            <a:lstStyle/>
            <a:p>
              <a:pPr algn="ctr"/>
              <a:r>
                <a:rPr lang="en-US" sz="1200" b="1" dirty="0">
                  <a:solidFill>
                    <a:srgbClr val="243B53"/>
                  </a:solidFill>
                  <a:latin typeface="+mn-lt"/>
                  <a:ea typeface="+mn-ea"/>
                  <a:cs typeface="+mn-cs"/>
                </a:rPr>
                <a:t>Cache B</a:t>
              </a:r>
            </a:p>
          </p:txBody>
        </p:sp>
        <p:sp>
          <p:nvSpPr>
            <p:cNvPr id="27" name="TextBox 27"/>
            <p:cNvSpPr txBox="1"/>
            <p:nvPr/>
          </p:nvSpPr>
          <p:spPr>
            <a:xfrm>
              <a:off x="4717740" y="2065020"/>
              <a:ext cx="634350" cy="234696"/>
            </a:xfrm>
            <a:prstGeom prst="rect">
              <a:avLst/>
            </a:prstGeom>
            <a:noFill/>
            <a:ln>
              <a:noFill/>
            </a:ln>
          </p:spPr>
          <p:txBody>
            <a:bodyPr wrap="none" lIns="0" tIns="0" rIns="0" bIns="0" anchor="t" anchorCtr="0">
              <a:spAutoFit/>
            </a:bodyPr>
            <a:lstStyle/>
            <a:p>
              <a:pPr algn="ctr"/>
              <a:r>
                <a:rPr lang="en-US" sz="1200" b="1" dirty="0">
                  <a:solidFill>
                    <a:srgbClr val="243B53"/>
                  </a:solidFill>
                  <a:latin typeface="+mn-lt"/>
                  <a:ea typeface="+mn-ea"/>
                  <a:cs typeface="+mn-cs"/>
                </a:rPr>
                <a:t>Cache C</a:t>
              </a:r>
            </a:p>
          </p:txBody>
        </p:sp>
        <p:sp>
          <p:nvSpPr>
            <p:cNvPr id="28" name="TextBox 28"/>
            <p:cNvSpPr txBox="1"/>
            <p:nvPr/>
          </p:nvSpPr>
          <p:spPr>
            <a:xfrm>
              <a:off x="3098673" y="2907030"/>
              <a:ext cx="496824" cy="234696"/>
            </a:xfrm>
            <a:prstGeom prst="rect">
              <a:avLst/>
            </a:prstGeom>
            <a:noFill/>
            <a:ln>
              <a:noFill/>
            </a:ln>
          </p:spPr>
          <p:txBody>
            <a:bodyPr wrap="none" lIns="0" tIns="0" rIns="0" bIns="0" anchor="t" anchorCtr="0">
              <a:spAutoFit/>
            </a:bodyPr>
            <a:lstStyle/>
            <a:p>
              <a:pPr algn="ctr"/>
              <a:r>
                <a:rPr lang="zh-CN" sz="1200" b="1" dirty="0">
                  <a:solidFill>
                    <a:srgbClr val="1F2937"/>
                  </a:solidFill>
                  <a:latin typeface="+mn-lt"/>
                  <a:ea typeface="+mn-ea"/>
                  <a:cs typeface="+mn-cs"/>
                </a:rPr>
                <a:t>存储器</a:t>
              </a:r>
            </a:p>
          </p:txBody>
        </p:sp>
      </p:grpSp>
      <p:grpSp>
        <p:nvGrpSpPr>
          <p:cNvPr id="66" name="c1-table-2"/>
          <p:cNvGrpSpPr/>
          <p:nvPr/>
        </p:nvGrpSpPr>
        <p:grpSpPr>
          <a:xfrm>
            <a:off x="527685" y="3333750"/>
            <a:ext cx="5632133" cy="2988469"/>
            <a:chOff x="527685" y="3333750"/>
            <a:chExt cx="5632133" cy="2988469"/>
          </a:xfrm>
        </p:grpSpPr>
        <p:sp>
          <p:nvSpPr>
            <p:cNvPr id="30" name="Rectangle 30"/>
            <p:cNvSpPr/>
            <p:nvPr/>
          </p:nvSpPr>
          <p:spPr>
            <a:xfrm>
              <a:off x="533400" y="3333750"/>
              <a:ext cx="5626418" cy="448628"/>
            </a:xfrm>
            <a:prstGeom prst="rect">
              <a:avLst/>
            </a:prstGeom>
            <a:solidFill>
              <a:srgbClr val="334E68"/>
            </a:solidFill>
            <a:ln>
              <a:noFill/>
            </a:ln>
          </p:spPr>
        </p:sp>
        <p:sp>
          <p:nvSpPr>
            <p:cNvPr id="31" name="TextBox 31"/>
            <p:cNvSpPr txBox="1"/>
            <p:nvPr/>
          </p:nvSpPr>
          <p:spPr>
            <a:xfrm>
              <a:off x="973734" y="3469481"/>
              <a:ext cx="357581"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位置</a:t>
              </a:r>
            </a:p>
          </p:txBody>
        </p:sp>
        <p:sp>
          <p:nvSpPr>
            <p:cNvPr id="32" name="TextBox 32"/>
            <p:cNvSpPr txBox="1"/>
            <p:nvPr/>
          </p:nvSpPr>
          <p:spPr>
            <a:xfrm>
              <a:off x="1956283" y="3469481"/>
              <a:ext cx="529895"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写入前</a:t>
              </a:r>
            </a:p>
          </p:txBody>
        </p:sp>
        <p:sp>
          <p:nvSpPr>
            <p:cNvPr id="33" name="TextBox 33"/>
            <p:cNvSpPr txBox="1"/>
            <p:nvPr/>
          </p:nvSpPr>
          <p:spPr>
            <a:xfrm>
              <a:off x="2915848" y="3469481"/>
              <a:ext cx="1254904"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写作废 + 写直达</a:t>
              </a:r>
            </a:p>
          </p:txBody>
        </p:sp>
        <p:sp>
          <p:nvSpPr>
            <p:cNvPr id="34" name="TextBox 34"/>
            <p:cNvSpPr txBox="1"/>
            <p:nvPr/>
          </p:nvSpPr>
          <p:spPr>
            <a:xfrm>
              <a:off x="4660828" y="3469481"/>
              <a:ext cx="1254904"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写更新 + 写直达</a:t>
              </a:r>
            </a:p>
          </p:txBody>
        </p:sp>
        <p:sp>
          <p:nvSpPr>
            <p:cNvPr id="35" name="TextBox 35"/>
            <p:cNvSpPr txBox="1"/>
            <p:nvPr/>
          </p:nvSpPr>
          <p:spPr>
            <a:xfrm>
              <a:off x="641223" y="3918109"/>
              <a:ext cx="676589" cy="249364"/>
            </a:xfrm>
            <a:prstGeom prst="rect">
              <a:avLst/>
            </a:prstGeom>
            <a:noFill/>
            <a:ln>
              <a:noFill/>
            </a:ln>
          </p:spPr>
          <p:txBody>
            <a:bodyPr wrap="none" lIns="0" tIns="0" rIns="0" bIns="0" anchor="t" anchorCtr="0">
              <a:spAutoFit/>
            </a:bodyPr>
            <a:lstStyle/>
            <a:p>
              <a:pPr algn="l"/>
              <a:r>
                <a:rPr lang="en-US" sz="1280" b="1" dirty="0">
                  <a:solidFill>
                    <a:srgbClr val="1F2937"/>
                  </a:solidFill>
                  <a:latin typeface="+mn-lt"/>
                  <a:ea typeface="+mn-ea"/>
                  <a:cs typeface="+mn-cs"/>
                </a:rPr>
                <a:t>Cache A</a:t>
              </a:r>
            </a:p>
          </p:txBody>
        </p:sp>
        <p:sp>
          <p:nvSpPr>
            <p:cNvPr id="36" name="TextBox 36"/>
            <p:cNvSpPr txBox="1"/>
            <p:nvPr/>
          </p:nvSpPr>
          <p:spPr>
            <a:xfrm>
              <a:off x="1879473" y="3918109"/>
              <a:ext cx="142189" cy="249364"/>
            </a:xfrm>
            <a:prstGeom prst="rect">
              <a:avLst/>
            </a:prstGeom>
            <a:noFill/>
            <a:ln>
              <a:noFill/>
            </a:ln>
          </p:spPr>
          <p:txBody>
            <a:bodyPr wrap="none" lIns="0" tIns="0" rIns="0" bIns="0" anchor="t" anchorCtr="0">
              <a:spAutoFit/>
            </a:bodyPr>
            <a:lstStyle/>
            <a:p>
              <a:pPr algn="l"/>
              <a:r>
                <a:rPr lang="en-US" sz="1280" dirty="0">
                  <a:solidFill>
                    <a:srgbClr val="1F2937"/>
                  </a:solidFill>
                  <a:latin typeface="+mn-lt"/>
                  <a:ea typeface="+mn-ea"/>
                  <a:cs typeface="+mn-cs"/>
                </a:rPr>
                <a:t>m</a:t>
              </a:r>
            </a:p>
          </p:txBody>
        </p:sp>
        <p:sp>
          <p:nvSpPr>
            <p:cNvPr id="37" name="TextBox 37"/>
            <p:cNvSpPr txBox="1"/>
            <p:nvPr/>
          </p:nvSpPr>
          <p:spPr>
            <a:xfrm>
              <a:off x="2779586" y="3918109"/>
              <a:ext cx="107726" cy="249364"/>
            </a:xfrm>
            <a:prstGeom prst="rect">
              <a:avLst/>
            </a:prstGeom>
            <a:noFill/>
            <a:ln>
              <a:noFill/>
            </a:ln>
          </p:spPr>
          <p:txBody>
            <a:bodyPr wrap="none" lIns="0" tIns="0" rIns="0" bIns="0" anchor="t" anchorCtr="0">
              <a:spAutoFit/>
            </a:bodyPr>
            <a:lstStyle/>
            <a:p>
              <a:pPr algn="l"/>
              <a:r>
                <a:rPr lang="en-US" sz="1280" dirty="0">
                  <a:solidFill>
                    <a:srgbClr val="1F2937"/>
                  </a:solidFill>
                  <a:latin typeface="+mn-lt"/>
                  <a:ea typeface="+mn-ea"/>
                  <a:cs typeface="+mn-cs"/>
                </a:rPr>
                <a:t>p</a:t>
              </a:r>
            </a:p>
          </p:txBody>
        </p:sp>
        <p:sp>
          <p:nvSpPr>
            <p:cNvPr id="38" name="TextBox 38"/>
            <p:cNvSpPr txBox="1"/>
            <p:nvPr/>
          </p:nvSpPr>
          <p:spPr>
            <a:xfrm>
              <a:off x="4523613" y="3918109"/>
              <a:ext cx="107726" cy="249364"/>
            </a:xfrm>
            <a:prstGeom prst="rect">
              <a:avLst/>
            </a:prstGeom>
            <a:noFill/>
            <a:ln>
              <a:noFill/>
            </a:ln>
          </p:spPr>
          <p:txBody>
            <a:bodyPr wrap="none" lIns="0" tIns="0" rIns="0" bIns="0" anchor="t" anchorCtr="0">
              <a:spAutoFit/>
            </a:bodyPr>
            <a:lstStyle/>
            <a:p>
              <a:pPr algn="l"/>
              <a:r>
                <a:rPr lang="en-US" sz="1280" dirty="0">
                  <a:solidFill>
                    <a:srgbClr val="1F2937"/>
                  </a:solidFill>
                  <a:latin typeface="+mn-lt"/>
                  <a:ea typeface="+mn-ea"/>
                  <a:cs typeface="+mn-cs"/>
                </a:rPr>
                <a:t>p</a:t>
              </a:r>
            </a:p>
          </p:txBody>
        </p:sp>
        <p:sp>
          <p:nvSpPr>
            <p:cNvPr id="39" name="Rectangle 39"/>
            <p:cNvSpPr/>
            <p:nvPr/>
          </p:nvSpPr>
          <p:spPr>
            <a:xfrm>
              <a:off x="533400" y="4226242"/>
              <a:ext cx="5626418" cy="9525"/>
            </a:xfrm>
            <a:prstGeom prst="rect">
              <a:avLst/>
            </a:prstGeom>
            <a:solidFill>
              <a:srgbClr val="D9DFEA"/>
            </a:solidFill>
            <a:ln>
              <a:noFill/>
            </a:ln>
          </p:spPr>
        </p:sp>
        <p:sp>
          <p:nvSpPr>
            <p:cNvPr id="40" name="Rectangle 40"/>
            <p:cNvSpPr/>
            <p:nvPr/>
          </p:nvSpPr>
          <p:spPr>
            <a:xfrm>
              <a:off x="533400" y="4231005"/>
              <a:ext cx="5626418" cy="448628"/>
            </a:xfrm>
            <a:prstGeom prst="rect">
              <a:avLst/>
            </a:prstGeom>
            <a:solidFill>
              <a:srgbClr val="F4F6FB"/>
            </a:solidFill>
            <a:ln>
              <a:noFill/>
            </a:ln>
          </p:spPr>
        </p:sp>
        <p:sp>
          <p:nvSpPr>
            <p:cNvPr id="41" name="TextBox 41"/>
            <p:cNvSpPr txBox="1"/>
            <p:nvPr/>
          </p:nvSpPr>
          <p:spPr>
            <a:xfrm>
              <a:off x="641223" y="4366736"/>
              <a:ext cx="676589" cy="249364"/>
            </a:xfrm>
            <a:prstGeom prst="rect">
              <a:avLst/>
            </a:prstGeom>
            <a:noFill/>
            <a:ln>
              <a:noFill/>
            </a:ln>
          </p:spPr>
          <p:txBody>
            <a:bodyPr wrap="none" lIns="0" tIns="0" rIns="0" bIns="0" anchor="t" anchorCtr="0">
              <a:spAutoFit/>
            </a:bodyPr>
            <a:lstStyle/>
            <a:p>
              <a:pPr algn="l"/>
              <a:r>
                <a:rPr lang="en-US" sz="1280" b="1" dirty="0">
                  <a:solidFill>
                    <a:srgbClr val="1F2937"/>
                  </a:solidFill>
                  <a:latin typeface="+mn-lt"/>
                  <a:ea typeface="+mn-ea"/>
                  <a:cs typeface="+mn-cs"/>
                </a:rPr>
                <a:t>Cache B</a:t>
              </a:r>
            </a:p>
          </p:txBody>
        </p:sp>
        <p:sp>
          <p:nvSpPr>
            <p:cNvPr id="42" name="TextBox 42"/>
            <p:cNvSpPr txBox="1"/>
            <p:nvPr/>
          </p:nvSpPr>
          <p:spPr>
            <a:xfrm>
              <a:off x="1879473" y="4366736"/>
              <a:ext cx="142189" cy="249364"/>
            </a:xfrm>
            <a:prstGeom prst="rect">
              <a:avLst/>
            </a:prstGeom>
            <a:noFill/>
            <a:ln>
              <a:noFill/>
            </a:ln>
          </p:spPr>
          <p:txBody>
            <a:bodyPr wrap="none" lIns="0" tIns="0" rIns="0" bIns="0" anchor="t" anchorCtr="0">
              <a:spAutoFit/>
            </a:bodyPr>
            <a:lstStyle/>
            <a:p>
              <a:pPr algn="l"/>
              <a:r>
                <a:rPr lang="en-US" sz="1280" dirty="0">
                  <a:solidFill>
                    <a:srgbClr val="1F2937"/>
                  </a:solidFill>
                  <a:latin typeface="+mn-lt"/>
                  <a:ea typeface="+mn-ea"/>
                  <a:cs typeface="+mn-cs"/>
                </a:rPr>
                <a:t>m</a:t>
              </a:r>
            </a:p>
          </p:txBody>
        </p:sp>
        <p:sp>
          <p:nvSpPr>
            <p:cNvPr id="43" name="TextBox 43"/>
            <p:cNvSpPr txBox="1"/>
            <p:nvPr/>
          </p:nvSpPr>
          <p:spPr>
            <a:xfrm>
              <a:off x="2779586" y="4366736"/>
              <a:ext cx="357581" cy="249364"/>
            </a:xfrm>
            <a:prstGeom prst="rect">
              <a:avLst/>
            </a:prstGeom>
            <a:noFill/>
            <a:ln>
              <a:noFill/>
            </a:ln>
          </p:spPr>
          <p:txBody>
            <a:bodyPr wrap="none" lIns="0" tIns="0" rIns="0" bIns="0" anchor="t" anchorCtr="0">
              <a:spAutoFit/>
            </a:bodyPr>
            <a:lstStyle/>
            <a:p>
              <a:pPr algn="l"/>
              <a:r>
                <a:rPr lang="zh-CN" sz="1280" b="1" dirty="0">
                  <a:solidFill>
                    <a:srgbClr val="B42318"/>
                  </a:solidFill>
                  <a:latin typeface="+mn-lt"/>
                  <a:ea typeface="+mn-ea"/>
                  <a:cs typeface="+mn-cs"/>
                </a:rPr>
                <a:t>作废</a:t>
              </a:r>
            </a:p>
          </p:txBody>
        </p:sp>
        <p:sp>
          <p:nvSpPr>
            <p:cNvPr id="44" name="TextBox 44"/>
            <p:cNvSpPr txBox="1"/>
            <p:nvPr/>
          </p:nvSpPr>
          <p:spPr>
            <a:xfrm>
              <a:off x="4523613" y="4366736"/>
              <a:ext cx="683685" cy="249364"/>
            </a:xfrm>
            <a:prstGeom prst="rect">
              <a:avLst/>
            </a:prstGeom>
            <a:noFill/>
            <a:ln>
              <a:noFill/>
            </a:ln>
          </p:spPr>
          <p:txBody>
            <a:bodyPr wrap="none" lIns="0" tIns="0" rIns="0" bIns="0" anchor="t" anchorCtr="0">
              <a:spAutoFit/>
            </a:bodyPr>
            <a:lstStyle/>
            <a:p>
              <a:pPr algn="l"/>
              <a:r>
                <a:rPr lang="zh-CN" sz="1280" b="1" dirty="0">
                  <a:solidFill>
                    <a:srgbClr val="0F7A68"/>
                  </a:solidFill>
                  <a:latin typeface="+mn-lt"/>
                  <a:ea typeface="+mn-ea"/>
                  <a:cs typeface="+mn-cs"/>
                </a:rPr>
                <a:t>更新为 p</a:t>
              </a:r>
            </a:p>
          </p:txBody>
        </p:sp>
        <p:sp>
          <p:nvSpPr>
            <p:cNvPr id="45" name="Rectangle 45"/>
            <p:cNvSpPr/>
            <p:nvPr/>
          </p:nvSpPr>
          <p:spPr>
            <a:xfrm>
              <a:off x="533400" y="4675822"/>
              <a:ext cx="5626418" cy="9525"/>
            </a:xfrm>
            <a:prstGeom prst="rect">
              <a:avLst/>
            </a:prstGeom>
            <a:solidFill>
              <a:srgbClr val="D9DFEA"/>
            </a:solidFill>
            <a:ln>
              <a:noFill/>
            </a:ln>
          </p:spPr>
        </p:sp>
        <p:sp>
          <p:nvSpPr>
            <p:cNvPr id="46" name="TextBox 46"/>
            <p:cNvSpPr txBox="1"/>
            <p:nvPr/>
          </p:nvSpPr>
          <p:spPr>
            <a:xfrm>
              <a:off x="641223" y="4815364"/>
              <a:ext cx="676589" cy="249364"/>
            </a:xfrm>
            <a:prstGeom prst="rect">
              <a:avLst/>
            </a:prstGeom>
            <a:noFill/>
            <a:ln>
              <a:noFill/>
            </a:ln>
          </p:spPr>
          <p:txBody>
            <a:bodyPr wrap="none" lIns="0" tIns="0" rIns="0" bIns="0" anchor="t" anchorCtr="0">
              <a:spAutoFit/>
            </a:bodyPr>
            <a:lstStyle/>
            <a:p>
              <a:pPr algn="l"/>
              <a:r>
                <a:rPr lang="en-US" sz="1280" b="1" dirty="0">
                  <a:solidFill>
                    <a:srgbClr val="1F2937"/>
                  </a:solidFill>
                  <a:latin typeface="+mn-lt"/>
                  <a:ea typeface="+mn-ea"/>
                  <a:cs typeface="+mn-cs"/>
                </a:rPr>
                <a:t>Cache C</a:t>
              </a:r>
            </a:p>
          </p:txBody>
        </p:sp>
        <p:sp>
          <p:nvSpPr>
            <p:cNvPr id="47" name="TextBox 47"/>
            <p:cNvSpPr txBox="1"/>
            <p:nvPr/>
          </p:nvSpPr>
          <p:spPr>
            <a:xfrm>
              <a:off x="1879473" y="4815364"/>
              <a:ext cx="142189" cy="249364"/>
            </a:xfrm>
            <a:prstGeom prst="rect">
              <a:avLst/>
            </a:prstGeom>
            <a:noFill/>
            <a:ln>
              <a:noFill/>
            </a:ln>
          </p:spPr>
          <p:txBody>
            <a:bodyPr wrap="none" lIns="0" tIns="0" rIns="0" bIns="0" anchor="t" anchorCtr="0">
              <a:spAutoFit/>
            </a:bodyPr>
            <a:lstStyle/>
            <a:p>
              <a:pPr algn="l"/>
              <a:r>
                <a:rPr lang="en-US" sz="1280" dirty="0">
                  <a:solidFill>
                    <a:srgbClr val="1F2937"/>
                  </a:solidFill>
                  <a:latin typeface="+mn-lt"/>
                  <a:ea typeface="+mn-ea"/>
                  <a:cs typeface="+mn-cs"/>
                </a:rPr>
                <a:t>m</a:t>
              </a:r>
            </a:p>
          </p:txBody>
        </p:sp>
        <p:sp>
          <p:nvSpPr>
            <p:cNvPr id="48" name="TextBox 48"/>
            <p:cNvSpPr txBox="1"/>
            <p:nvPr/>
          </p:nvSpPr>
          <p:spPr>
            <a:xfrm>
              <a:off x="2779586" y="4815364"/>
              <a:ext cx="357581" cy="249364"/>
            </a:xfrm>
            <a:prstGeom prst="rect">
              <a:avLst/>
            </a:prstGeom>
            <a:noFill/>
            <a:ln>
              <a:noFill/>
            </a:ln>
          </p:spPr>
          <p:txBody>
            <a:bodyPr wrap="none" lIns="0" tIns="0" rIns="0" bIns="0" anchor="t" anchorCtr="0">
              <a:spAutoFit/>
            </a:bodyPr>
            <a:lstStyle/>
            <a:p>
              <a:pPr algn="l"/>
              <a:r>
                <a:rPr lang="zh-CN" sz="1280" b="1" dirty="0">
                  <a:solidFill>
                    <a:srgbClr val="B42318"/>
                  </a:solidFill>
                  <a:latin typeface="+mn-lt"/>
                  <a:ea typeface="+mn-ea"/>
                  <a:cs typeface="+mn-cs"/>
                </a:rPr>
                <a:t>作废</a:t>
              </a:r>
            </a:p>
          </p:txBody>
        </p:sp>
        <p:sp>
          <p:nvSpPr>
            <p:cNvPr id="49" name="TextBox 49"/>
            <p:cNvSpPr txBox="1"/>
            <p:nvPr/>
          </p:nvSpPr>
          <p:spPr>
            <a:xfrm>
              <a:off x="4523613" y="4815364"/>
              <a:ext cx="683685" cy="249364"/>
            </a:xfrm>
            <a:prstGeom prst="rect">
              <a:avLst/>
            </a:prstGeom>
            <a:noFill/>
            <a:ln>
              <a:noFill/>
            </a:ln>
          </p:spPr>
          <p:txBody>
            <a:bodyPr wrap="none" lIns="0" tIns="0" rIns="0" bIns="0" anchor="t" anchorCtr="0">
              <a:spAutoFit/>
            </a:bodyPr>
            <a:lstStyle/>
            <a:p>
              <a:pPr algn="l"/>
              <a:r>
                <a:rPr lang="zh-CN" sz="1280" b="1" dirty="0">
                  <a:solidFill>
                    <a:srgbClr val="0F7A68"/>
                  </a:solidFill>
                  <a:latin typeface="+mn-lt"/>
                  <a:ea typeface="+mn-ea"/>
                  <a:cs typeface="+mn-cs"/>
                </a:rPr>
                <a:t>更新为 p</a:t>
              </a:r>
            </a:p>
          </p:txBody>
        </p:sp>
        <p:sp>
          <p:nvSpPr>
            <p:cNvPr id="50" name="Rectangle 50"/>
            <p:cNvSpPr/>
            <p:nvPr/>
          </p:nvSpPr>
          <p:spPr>
            <a:xfrm>
              <a:off x="533400" y="5124450"/>
              <a:ext cx="5626418" cy="9525"/>
            </a:xfrm>
            <a:prstGeom prst="rect">
              <a:avLst/>
            </a:prstGeom>
            <a:solidFill>
              <a:srgbClr val="D9DFEA"/>
            </a:solidFill>
            <a:ln>
              <a:noFill/>
            </a:ln>
          </p:spPr>
        </p:sp>
        <p:sp>
          <p:nvSpPr>
            <p:cNvPr id="51" name="Rectangle 51"/>
            <p:cNvSpPr/>
            <p:nvPr/>
          </p:nvSpPr>
          <p:spPr>
            <a:xfrm>
              <a:off x="533400" y="5129212"/>
              <a:ext cx="5626418" cy="448628"/>
            </a:xfrm>
            <a:prstGeom prst="rect">
              <a:avLst/>
            </a:prstGeom>
            <a:solidFill>
              <a:srgbClr val="F4F6FB"/>
            </a:solidFill>
            <a:ln>
              <a:noFill/>
            </a:ln>
          </p:spPr>
        </p:sp>
        <p:sp>
          <p:nvSpPr>
            <p:cNvPr id="52" name="TextBox 52"/>
            <p:cNvSpPr txBox="1"/>
            <p:nvPr/>
          </p:nvSpPr>
          <p:spPr>
            <a:xfrm>
              <a:off x="641223" y="5263991"/>
              <a:ext cx="692390"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存储器 X</a:t>
              </a:r>
            </a:p>
          </p:txBody>
        </p:sp>
        <p:sp>
          <p:nvSpPr>
            <p:cNvPr id="53" name="TextBox 53"/>
            <p:cNvSpPr txBox="1"/>
            <p:nvPr/>
          </p:nvSpPr>
          <p:spPr>
            <a:xfrm>
              <a:off x="1879473" y="5263991"/>
              <a:ext cx="142189" cy="249364"/>
            </a:xfrm>
            <a:prstGeom prst="rect">
              <a:avLst/>
            </a:prstGeom>
            <a:noFill/>
            <a:ln>
              <a:noFill/>
            </a:ln>
          </p:spPr>
          <p:txBody>
            <a:bodyPr wrap="none" lIns="0" tIns="0" rIns="0" bIns="0" anchor="t" anchorCtr="0">
              <a:spAutoFit/>
            </a:bodyPr>
            <a:lstStyle/>
            <a:p>
              <a:pPr algn="l"/>
              <a:r>
                <a:rPr lang="en-US" sz="1280" dirty="0">
                  <a:solidFill>
                    <a:srgbClr val="1F2937"/>
                  </a:solidFill>
                  <a:latin typeface="+mn-lt"/>
                  <a:ea typeface="+mn-ea"/>
                  <a:cs typeface="+mn-cs"/>
                </a:rPr>
                <a:t>m</a:t>
              </a:r>
            </a:p>
          </p:txBody>
        </p:sp>
        <p:sp>
          <p:nvSpPr>
            <p:cNvPr id="54" name="TextBox 54"/>
            <p:cNvSpPr txBox="1"/>
            <p:nvPr/>
          </p:nvSpPr>
          <p:spPr>
            <a:xfrm>
              <a:off x="2779586" y="5263991"/>
              <a:ext cx="107726" cy="249364"/>
            </a:xfrm>
            <a:prstGeom prst="rect">
              <a:avLst/>
            </a:prstGeom>
            <a:noFill/>
            <a:ln>
              <a:noFill/>
            </a:ln>
          </p:spPr>
          <p:txBody>
            <a:bodyPr wrap="none" lIns="0" tIns="0" rIns="0" bIns="0" anchor="t" anchorCtr="0">
              <a:spAutoFit/>
            </a:bodyPr>
            <a:lstStyle/>
            <a:p>
              <a:pPr algn="l"/>
              <a:r>
                <a:rPr lang="en-US" sz="1280" dirty="0">
                  <a:solidFill>
                    <a:srgbClr val="1F2937"/>
                  </a:solidFill>
                  <a:latin typeface="+mn-lt"/>
                  <a:ea typeface="+mn-ea"/>
                  <a:cs typeface="+mn-cs"/>
                </a:rPr>
                <a:t>p</a:t>
              </a:r>
            </a:p>
          </p:txBody>
        </p:sp>
        <p:sp>
          <p:nvSpPr>
            <p:cNvPr id="55" name="TextBox 55"/>
            <p:cNvSpPr txBox="1"/>
            <p:nvPr/>
          </p:nvSpPr>
          <p:spPr>
            <a:xfrm>
              <a:off x="4523613" y="5263991"/>
              <a:ext cx="107726" cy="249364"/>
            </a:xfrm>
            <a:prstGeom prst="rect">
              <a:avLst/>
            </a:prstGeom>
            <a:noFill/>
            <a:ln>
              <a:noFill/>
            </a:ln>
          </p:spPr>
          <p:txBody>
            <a:bodyPr wrap="none" lIns="0" tIns="0" rIns="0" bIns="0" anchor="t" anchorCtr="0">
              <a:spAutoFit/>
            </a:bodyPr>
            <a:lstStyle/>
            <a:p>
              <a:pPr algn="l"/>
              <a:r>
                <a:rPr lang="en-US" sz="1280" dirty="0">
                  <a:solidFill>
                    <a:srgbClr val="1F2937"/>
                  </a:solidFill>
                  <a:latin typeface="+mn-lt"/>
                  <a:ea typeface="+mn-ea"/>
                  <a:cs typeface="+mn-cs"/>
                </a:rPr>
                <a:t>p</a:t>
              </a:r>
            </a:p>
          </p:txBody>
        </p:sp>
        <p:sp>
          <p:nvSpPr>
            <p:cNvPr id="56" name="Rectangle 56"/>
            <p:cNvSpPr/>
            <p:nvPr/>
          </p:nvSpPr>
          <p:spPr>
            <a:xfrm>
              <a:off x="533400" y="5573078"/>
              <a:ext cx="5626418" cy="9525"/>
            </a:xfrm>
            <a:prstGeom prst="rect">
              <a:avLst/>
            </a:prstGeom>
            <a:solidFill>
              <a:srgbClr val="D9DFEA"/>
            </a:solidFill>
            <a:ln>
              <a:noFill/>
            </a:ln>
          </p:spPr>
        </p:sp>
        <p:sp>
          <p:nvSpPr>
            <p:cNvPr id="57" name="TextBox 57"/>
            <p:cNvSpPr txBox="1"/>
            <p:nvPr/>
          </p:nvSpPr>
          <p:spPr>
            <a:xfrm>
              <a:off x="641223" y="5713571"/>
              <a:ext cx="874522"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总线上传的</a:t>
              </a:r>
            </a:p>
          </p:txBody>
        </p:sp>
        <p:sp>
          <p:nvSpPr>
            <p:cNvPr id="58" name="TextBox 58"/>
            <p:cNvSpPr txBox="1"/>
            <p:nvPr/>
          </p:nvSpPr>
          <p:spPr>
            <a:xfrm>
              <a:off x="1879473" y="5713571"/>
              <a:ext cx="107726"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a:t>
              </a:r>
            </a:p>
          </p:txBody>
        </p:sp>
        <p:sp>
          <p:nvSpPr>
            <p:cNvPr id="59" name="TextBox 59"/>
            <p:cNvSpPr txBox="1"/>
            <p:nvPr/>
          </p:nvSpPr>
          <p:spPr>
            <a:xfrm>
              <a:off x="2779586" y="5713571"/>
              <a:ext cx="1244996"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地址 + 作废信号</a:t>
              </a:r>
            </a:p>
          </p:txBody>
        </p:sp>
        <p:sp>
          <p:nvSpPr>
            <p:cNvPr id="60" name="TextBox 60"/>
            <p:cNvSpPr txBox="1"/>
            <p:nvPr/>
          </p:nvSpPr>
          <p:spPr>
            <a:xfrm>
              <a:off x="4523613" y="5713571"/>
              <a:ext cx="1072683"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地址 + 新数据</a:t>
              </a:r>
            </a:p>
          </p:txBody>
        </p:sp>
        <p:sp>
          <p:nvSpPr>
            <p:cNvPr id="61" name="Rectangle 61"/>
            <p:cNvSpPr/>
            <p:nvPr/>
          </p:nvSpPr>
          <p:spPr>
            <a:xfrm>
              <a:off x="533400" y="3333750"/>
              <a:ext cx="5626418" cy="2692718"/>
            </a:xfrm>
            <a:prstGeom prst="rect">
              <a:avLst/>
            </a:prstGeom>
            <a:noFill/>
            <a:ln w="14288">
              <a:solidFill>
                <a:srgbClr val="D9DFEA"/>
              </a:solidFill>
            </a:ln>
          </p:spPr>
        </p:sp>
        <p:sp>
          <p:nvSpPr>
            <p:cNvPr id="62" name="Rectangle 62"/>
            <p:cNvSpPr/>
            <p:nvPr/>
          </p:nvSpPr>
          <p:spPr>
            <a:xfrm>
              <a:off x="1766888" y="3333750"/>
              <a:ext cx="9525" cy="2692718"/>
            </a:xfrm>
            <a:prstGeom prst="rect">
              <a:avLst/>
            </a:prstGeom>
            <a:solidFill>
              <a:srgbClr val="D9DFEA"/>
            </a:solidFill>
            <a:ln>
              <a:noFill/>
            </a:ln>
          </p:spPr>
        </p:sp>
        <p:sp>
          <p:nvSpPr>
            <p:cNvPr id="63" name="Rectangle 63"/>
            <p:cNvSpPr/>
            <p:nvPr/>
          </p:nvSpPr>
          <p:spPr>
            <a:xfrm>
              <a:off x="2667000" y="3333750"/>
              <a:ext cx="9525" cy="2692718"/>
            </a:xfrm>
            <a:prstGeom prst="rect">
              <a:avLst/>
            </a:prstGeom>
            <a:solidFill>
              <a:srgbClr val="D9DFEA"/>
            </a:solidFill>
            <a:ln>
              <a:noFill/>
            </a:ln>
          </p:spPr>
        </p:sp>
        <p:sp>
          <p:nvSpPr>
            <p:cNvPr id="64" name="Rectangle 64"/>
            <p:cNvSpPr/>
            <p:nvPr/>
          </p:nvSpPr>
          <p:spPr>
            <a:xfrm>
              <a:off x="4411028" y="3333750"/>
              <a:ext cx="9525" cy="2692718"/>
            </a:xfrm>
            <a:prstGeom prst="rect">
              <a:avLst/>
            </a:prstGeom>
            <a:solidFill>
              <a:srgbClr val="D9DFEA"/>
            </a:solidFill>
            <a:ln>
              <a:noFill/>
            </a:ln>
          </p:spPr>
        </p:sp>
        <p:sp>
          <p:nvSpPr>
            <p:cNvPr id="65" name="TextBox 65"/>
            <p:cNvSpPr txBox="1"/>
            <p:nvPr/>
          </p:nvSpPr>
          <p:spPr>
            <a:xfrm>
              <a:off x="527685" y="6102191"/>
              <a:ext cx="2152426" cy="220028"/>
            </a:xfrm>
            <a:prstGeom prst="rect">
              <a:avLst/>
            </a:prstGeom>
            <a:noFill/>
            <a:ln>
              <a:noFill/>
            </a:ln>
          </p:spPr>
          <p:txBody>
            <a:bodyPr wrap="none" lIns="0" tIns="0" rIns="0" bIns="0" anchor="t" anchorCtr="0">
              <a:spAutoFit/>
            </a:bodyPr>
            <a:lstStyle/>
            <a:p>
              <a:pPr algn="l"/>
              <a:r>
                <a:rPr lang="zh-CN" sz="1120" dirty="0">
                  <a:solidFill>
                    <a:srgbClr val="5B6475"/>
                  </a:solidFill>
                  <a:latin typeface="+mn-lt"/>
                  <a:ea typeface="+mn-ea"/>
                  <a:cs typeface="+mn-cs"/>
                </a:rPr>
                <a:t>原课件第52、53页两张图的结果</a:t>
              </a:r>
            </a:p>
          </p:txBody>
        </p:sp>
      </p:grpSp>
      <p:grpSp>
        <p:nvGrpSpPr>
          <p:cNvPr id="75" name="c2-card-1"/>
          <p:cNvGrpSpPr/>
          <p:nvPr/>
        </p:nvGrpSpPr>
        <p:grpSpPr>
          <a:xfrm>
            <a:off x="6464618" y="1524000"/>
            <a:ext cx="5193982" cy="1651635"/>
            <a:chOff x="6464618" y="1524000"/>
            <a:chExt cx="5193982" cy="1651635"/>
          </a:xfrm>
        </p:grpSpPr>
        <p:sp>
          <p:nvSpPr>
            <p:cNvPr id="67" name="Rectangle 67"/>
            <p:cNvSpPr/>
            <p:nvPr/>
          </p:nvSpPr>
          <p:spPr>
            <a:xfrm>
              <a:off x="6464618" y="1524000"/>
              <a:ext cx="5193982" cy="1651635"/>
            </a:xfrm>
            <a:prstGeom prst="roundRect">
              <a:avLst>
                <a:gd name="adj" fmla="val 8074"/>
              </a:avLst>
            </a:prstGeom>
            <a:solidFill>
              <a:srgbClr val="FFFFFF"/>
            </a:solidFill>
            <a:ln w="14288">
              <a:solidFill>
                <a:srgbClr val="D9DFEA"/>
              </a:solidFill>
            </a:ln>
          </p:spPr>
        </p:sp>
        <p:sp>
          <p:nvSpPr>
            <p:cNvPr id="68" name="Rectangle 68"/>
            <p:cNvSpPr/>
            <p:nvPr/>
          </p:nvSpPr>
          <p:spPr>
            <a:xfrm>
              <a:off x="6474142" y="1657350"/>
              <a:ext cx="47625" cy="1384935"/>
            </a:xfrm>
            <a:prstGeom prst="roundRect">
              <a:avLst>
                <a:gd name="adj" fmla="val 50000"/>
              </a:avLst>
            </a:prstGeom>
            <a:solidFill>
              <a:srgbClr val="334E68"/>
            </a:solidFill>
            <a:ln>
              <a:noFill/>
            </a:ln>
          </p:spPr>
        </p:sp>
        <p:sp>
          <p:nvSpPr>
            <p:cNvPr id="69" name="Rectangle 69"/>
            <p:cNvSpPr/>
            <p:nvPr/>
          </p:nvSpPr>
          <p:spPr>
            <a:xfrm>
              <a:off x="6712268" y="1733550"/>
              <a:ext cx="636270" cy="257175"/>
            </a:xfrm>
            <a:prstGeom prst="roundRect">
              <a:avLst>
                <a:gd name="adj" fmla="val 50000"/>
              </a:avLst>
            </a:prstGeom>
            <a:solidFill>
              <a:srgbClr val="E7EDF3"/>
            </a:solidFill>
            <a:ln>
              <a:noFill/>
            </a:ln>
          </p:spPr>
        </p:sp>
        <p:sp>
          <p:nvSpPr>
            <p:cNvPr id="70" name="TextBox 70"/>
            <p:cNvSpPr txBox="1"/>
            <p:nvPr/>
          </p:nvSpPr>
          <p:spPr>
            <a:xfrm>
              <a:off x="6798526" y="1769269"/>
              <a:ext cx="463753"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写作废</a:t>
              </a:r>
            </a:p>
          </p:txBody>
        </p:sp>
        <p:sp>
          <p:nvSpPr>
            <p:cNvPr id="71" name="Ellipse 71"/>
            <p:cNvSpPr/>
            <p:nvPr/>
          </p:nvSpPr>
          <p:spPr>
            <a:xfrm>
              <a:off x="6717983" y="2173605"/>
              <a:ext cx="64770" cy="64770"/>
            </a:xfrm>
            <a:prstGeom prst="ellipse">
              <a:avLst/>
            </a:prstGeom>
            <a:solidFill>
              <a:srgbClr val="334E68"/>
            </a:solidFill>
            <a:ln>
              <a:noFill/>
            </a:ln>
          </p:spPr>
        </p:sp>
        <p:sp>
          <p:nvSpPr>
            <p:cNvPr id="72" name="TextBox 72"/>
            <p:cNvSpPr txBox="1"/>
            <p:nvPr/>
          </p:nvSpPr>
          <p:spPr>
            <a:xfrm>
              <a:off x="6876098" y="2110740"/>
              <a:ext cx="4396740"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A 写之前先让别的副本失效，之后 A 独占这一块，再</a:t>
              </a:r>
              <a:br/>
              <a:r>
                <a:rPr lang="zh-CN" sz="1500" dirty="0">
                  <a:solidFill>
                    <a:srgbClr val="1F2937"/>
                  </a:solidFill>
                  <a:latin typeface="+mn-lt"/>
                  <a:ea typeface="+mn-ea"/>
                  <a:cs typeface="+mn-cs"/>
                </a:rPr>
                <a:t>写不必通知任何人</a:t>
              </a:r>
            </a:p>
          </p:txBody>
        </p:sp>
        <p:sp>
          <p:nvSpPr>
            <p:cNvPr id="73" name="Ellipse 73"/>
            <p:cNvSpPr/>
            <p:nvPr/>
          </p:nvSpPr>
          <p:spPr>
            <a:xfrm>
              <a:off x="6717983" y="2794635"/>
              <a:ext cx="64770" cy="64770"/>
            </a:xfrm>
            <a:prstGeom prst="ellipse">
              <a:avLst/>
            </a:prstGeom>
            <a:solidFill>
              <a:srgbClr val="334E68"/>
            </a:solidFill>
            <a:ln>
              <a:noFill/>
            </a:ln>
          </p:spPr>
        </p:sp>
        <p:sp>
          <p:nvSpPr>
            <p:cNvPr id="74" name="TextBox 74"/>
            <p:cNvSpPr txBox="1"/>
            <p:nvPr/>
          </p:nvSpPr>
          <p:spPr>
            <a:xfrm>
              <a:off x="6876098" y="2731770"/>
              <a:ext cx="3356039"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B、C 再读 X 时发生缺失，重新取得 p</a:t>
              </a:r>
            </a:p>
          </p:txBody>
        </p:sp>
      </p:grpSp>
      <p:grpSp>
        <p:nvGrpSpPr>
          <p:cNvPr id="84" name="c2-card-2"/>
          <p:cNvGrpSpPr/>
          <p:nvPr/>
        </p:nvGrpSpPr>
        <p:grpSpPr>
          <a:xfrm>
            <a:off x="6464618" y="3366135"/>
            <a:ext cx="5193982" cy="1651635"/>
            <a:chOff x="6464618" y="3366135"/>
            <a:chExt cx="5193982" cy="1651635"/>
          </a:xfrm>
        </p:grpSpPr>
        <p:sp>
          <p:nvSpPr>
            <p:cNvPr id="76" name="Rectangle 76"/>
            <p:cNvSpPr/>
            <p:nvPr/>
          </p:nvSpPr>
          <p:spPr>
            <a:xfrm>
              <a:off x="6464618" y="3366135"/>
              <a:ext cx="5193982" cy="1651635"/>
            </a:xfrm>
            <a:prstGeom prst="roundRect">
              <a:avLst>
                <a:gd name="adj" fmla="val 8074"/>
              </a:avLst>
            </a:prstGeom>
            <a:solidFill>
              <a:srgbClr val="FFFFFF"/>
            </a:solidFill>
            <a:ln w="14288">
              <a:solidFill>
                <a:srgbClr val="D9DFEA"/>
              </a:solidFill>
            </a:ln>
          </p:spPr>
        </p:sp>
        <p:sp>
          <p:nvSpPr>
            <p:cNvPr id="77" name="Rectangle 77"/>
            <p:cNvSpPr/>
            <p:nvPr/>
          </p:nvSpPr>
          <p:spPr>
            <a:xfrm>
              <a:off x="6474142" y="3499485"/>
              <a:ext cx="47625" cy="1384935"/>
            </a:xfrm>
            <a:prstGeom prst="roundRect">
              <a:avLst>
                <a:gd name="adj" fmla="val 50000"/>
              </a:avLst>
            </a:prstGeom>
            <a:solidFill>
              <a:srgbClr val="334E68"/>
            </a:solidFill>
            <a:ln>
              <a:noFill/>
            </a:ln>
          </p:spPr>
        </p:sp>
        <p:sp>
          <p:nvSpPr>
            <p:cNvPr id="78" name="Rectangle 78"/>
            <p:cNvSpPr/>
            <p:nvPr/>
          </p:nvSpPr>
          <p:spPr>
            <a:xfrm>
              <a:off x="6712268" y="3575685"/>
              <a:ext cx="636270" cy="257175"/>
            </a:xfrm>
            <a:prstGeom prst="roundRect">
              <a:avLst>
                <a:gd name="adj" fmla="val 50000"/>
              </a:avLst>
            </a:prstGeom>
            <a:solidFill>
              <a:srgbClr val="E7EDF3"/>
            </a:solidFill>
            <a:ln>
              <a:noFill/>
            </a:ln>
          </p:spPr>
        </p:sp>
        <p:sp>
          <p:nvSpPr>
            <p:cNvPr id="79" name="TextBox 79"/>
            <p:cNvSpPr txBox="1"/>
            <p:nvPr/>
          </p:nvSpPr>
          <p:spPr>
            <a:xfrm>
              <a:off x="6798526" y="3611404"/>
              <a:ext cx="463753"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写更新</a:t>
              </a:r>
            </a:p>
          </p:txBody>
        </p:sp>
        <p:sp>
          <p:nvSpPr>
            <p:cNvPr id="80" name="Ellipse 80"/>
            <p:cNvSpPr/>
            <p:nvPr/>
          </p:nvSpPr>
          <p:spPr>
            <a:xfrm>
              <a:off x="6717983" y="4015740"/>
              <a:ext cx="64770" cy="64770"/>
            </a:xfrm>
            <a:prstGeom prst="ellipse">
              <a:avLst/>
            </a:prstGeom>
            <a:solidFill>
              <a:srgbClr val="334E68"/>
            </a:solidFill>
            <a:ln>
              <a:noFill/>
            </a:ln>
          </p:spPr>
        </p:sp>
        <p:sp>
          <p:nvSpPr>
            <p:cNvPr id="81" name="TextBox 81"/>
            <p:cNvSpPr txBox="1"/>
            <p:nvPr/>
          </p:nvSpPr>
          <p:spPr>
            <a:xfrm>
              <a:off x="6876098" y="3952875"/>
              <a:ext cx="4253865"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A 每写一次都把新值广播出去，B、C 的副本始终是</a:t>
              </a:r>
              <a:br/>
              <a:r>
                <a:rPr lang="zh-CN" sz="1500" dirty="0">
                  <a:solidFill>
                    <a:srgbClr val="1F2937"/>
                  </a:solidFill>
                  <a:latin typeface="+mn-lt"/>
                  <a:ea typeface="+mn-ea"/>
                  <a:cs typeface="+mn-cs"/>
                </a:rPr>
                <a:t>最新的</a:t>
              </a:r>
            </a:p>
          </p:txBody>
        </p:sp>
        <p:sp>
          <p:nvSpPr>
            <p:cNvPr id="82" name="Ellipse 82"/>
            <p:cNvSpPr/>
            <p:nvPr/>
          </p:nvSpPr>
          <p:spPr>
            <a:xfrm>
              <a:off x="6717983" y="4636770"/>
              <a:ext cx="64770" cy="64770"/>
            </a:xfrm>
            <a:prstGeom prst="ellipse">
              <a:avLst/>
            </a:prstGeom>
            <a:solidFill>
              <a:srgbClr val="334E68"/>
            </a:solidFill>
            <a:ln>
              <a:noFill/>
            </a:ln>
          </p:spPr>
        </p:sp>
        <p:sp>
          <p:nvSpPr>
            <p:cNvPr id="83" name="TextBox 83"/>
            <p:cNvSpPr txBox="1"/>
            <p:nvPr/>
          </p:nvSpPr>
          <p:spPr>
            <a:xfrm>
              <a:off x="6876098" y="4573905"/>
              <a:ext cx="1770888"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B、C 读 X 直接命中</a:t>
              </a:r>
            </a:p>
          </p:txBody>
        </p:sp>
      </p:grpSp>
      <p:grpSp>
        <p:nvGrpSpPr>
          <p:cNvPr id="91" name="c2-callout-3"/>
          <p:cNvGrpSpPr/>
          <p:nvPr/>
        </p:nvGrpSpPr>
        <p:grpSpPr>
          <a:xfrm>
            <a:off x="6464618" y="5208270"/>
            <a:ext cx="5193982" cy="1069658"/>
            <a:chOff x="6464618" y="5208270"/>
            <a:chExt cx="5193982" cy="1069658"/>
          </a:xfrm>
        </p:grpSpPr>
        <p:sp>
          <p:nvSpPr>
            <p:cNvPr id="85" name="Rectangle 85"/>
            <p:cNvSpPr/>
            <p:nvPr/>
          </p:nvSpPr>
          <p:spPr>
            <a:xfrm>
              <a:off x="6464618" y="5208270"/>
              <a:ext cx="5193982" cy="1069658"/>
            </a:xfrm>
            <a:prstGeom prst="roundRect">
              <a:avLst>
                <a:gd name="adj" fmla="val 10686"/>
              </a:avLst>
            </a:prstGeom>
            <a:solidFill>
              <a:srgbClr val="F4F6FB"/>
            </a:solidFill>
            <a:ln>
              <a:noFill/>
            </a:ln>
          </p:spPr>
        </p:sp>
        <p:grpSp>
          <p:nvGrpSpPr>
            <p:cNvPr id="89" name="Group 89"/>
            <p:cNvGrpSpPr/>
            <p:nvPr/>
          </p:nvGrpSpPr>
          <p:grpSpPr>
            <a:xfrm>
              <a:off x="6669405" y="5643563"/>
              <a:ext cx="200026" cy="200026"/>
              <a:chOff x="6669405" y="5643563"/>
              <a:chExt cx="200026" cy="200026"/>
            </a:xfrm>
          </p:grpSpPr>
          <p:sp>
            <p:nvSpPr>
              <p:cNvPr id="86" name="Freeform 86"/>
              <p:cNvSpPr/>
              <p:nvPr/>
            </p:nvSpPr>
            <p:spPr>
              <a:xfrm>
                <a:off x="6669405" y="5643563"/>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1F2937"/>
                </a:solidFill>
              </a:ln>
            </p:spPr>
          </p:sp>
          <p:sp>
            <p:nvSpPr>
              <p:cNvPr id="87" name="Freeform 87"/>
              <p:cNvSpPr/>
              <p:nvPr/>
            </p:nvSpPr>
            <p:spPr>
              <a:xfrm>
                <a:off x="6769418" y="5710238"/>
                <a:ext cx="9525" cy="9525"/>
              </a:xfrm>
              <a:custGeom>
                <a:avLst/>
                <a:gdLst/>
                <a:ahLst/>
                <a:cxnLst/>
                <a:rect l="l" t="t" r="r" b="b"/>
                <a:pathLst>
                  <a:path w="9525" h="9525">
                    <a:moveTo>
                      <a:pt x="0" y="0"/>
                    </a:moveTo>
                    <a:lnTo>
                      <a:pt x="111" y="0"/>
                    </a:lnTo>
                  </a:path>
                </a:pathLst>
              </a:custGeom>
              <a:noFill/>
              <a:ln w="22225">
                <a:solidFill>
                  <a:srgbClr val="1F2937"/>
                </a:solidFill>
              </a:ln>
            </p:spPr>
          </p:sp>
          <p:sp>
            <p:nvSpPr>
              <p:cNvPr id="88" name="Freeform 88"/>
              <p:cNvSpPr/>
              <p:nvPr/>
            </p:nvSpPr>
            <p:spPr>
              <a:xfrm>
                <a:off x="6758305" y="5743575"/>
                <a:ext cx="22225" cy="44450"/>
              </a:xfrm>
              <a:custGeom>
                <a:avLst/>
                <a:gdLst/>
                <a:ahLst/>
                <a:cxnLst/>
                <a:rect l="l" t="t" r="r" b="b"/>
                <a:pathLst>
                  <a:path w="22225" h="44450">
                    <a:moveTo>
                      <a:pt x="0" y="0"/>
                    </a:moveTo>
                    <a:lnTo>
                      <a:pt x="11113" y="0"/>
                    </a:lnTo>
                    <a:lnTo>
                      <a:pt x="11113" y="44450"/>
                    </a:lnTo>
                    <a:lnTo>
                      <a:pt x="22225" y="44450"/>
                    </a:lnTo>
                  </a:path>
                </a:pathLst>
              </a:custGeom>
              <a:noFill/>
              <a:ln w="22225">
                <a:solidFill>
                  <a:srgbClr val="1F2937"/>
                </a:solidFill>
              </a:ln>
            </p:spPr>
          </p:sp>
        </p:grpSp>
        <p:sp>
          <p:nvSpPr>
            <p:cNvPr id="90" name="TextBox 90"/>
            <p:cNvSpPr txBox="1"/>
            <p:nvPr/>
          </p:nvSpPr>
          <p:spPr>
            <a:xfrm>
              <a:off x="6971348" y="5362575"/>
              <a:ext cx="4206240" cy="845820"/>
            </a:xfrm>
            <a:prstGeom prst="rect">
              <a:avLst/>
            </a:prstGeom>
            <a:noFill/>
            <a:ln>
              <a:noFill/>
            </a:ln>
          </p:spPr>
          <p:txBody>
            <a:bodyPr wrap="none" lIns="0" tIns="0" rIns="0" bIns="0" anchor="t" anchorCtr="0">
              <a:spAutoFit/>
            </a:bodyPr>
            <a:lstStyle/>
            <a:p>
              <a:pPr algn="l">
                <a:lnSpc>
                  <a:spcPts val="2175"/>
                </a:lnSpc>
              </a:pPr>
              <a:r>
                <a:rPr lang="zh-CN" sz="1500" dirty="0">
                  <a:solidFill>
                    <a:srgbClr val="1F2937"/>
                  </a:solidFill>
                  <a:latin typeface="+mn-lt"/>
                  <a:ea typeface="+mn-ea"/>
                  <a:cs typeface="+mn-cs"/>
                </a:rPr>
                <a:t>两种协议在写直达下存储器都会更新；换成写回，</a:t>
              </a:r>
              <a:br/>
              <a:r>
                <a:rPr lang="zh-CN" sz="1500" dirty="0">
                  <a:solidFill>
                    <a:srgbClr val="1F2937"/>
                  </a:solidFill>
                  <a:latin typeface="+mn-lt"/>
                  <a:ea typeface="+mn-ea"/>
                  <a:cs typeface="+mn-cs"/>
                </a:rPr>
                <a:t>写作废后存储器仍是旧值，最新值只在 Cache A</a:t>
              </a:r>
              <a:br/>
              <a:r>
                <a:rPr lang="zh-CN" sz="1500" dirty="0">
                  <a:solidFill>
                    <a:srgbClr val="1F2937"/>
                  </a:solidFill>
                  <a:latin typeface="+mn-lt"/>
                  <a:ea typeface="+mn-ea"/>
                  <a:cs typeface="+mn-cs"/>
                </a:rPr>
                <a:t>里。</a:t>
              </a:r>
            </a:p>
          </p:txBody>
        </p:sp>
      </p:grpSp>
      <p:grpSp>
        <p:nvGrpSpPr>
          <p:cNvPr id="94" name="footer"/>
          <p:cNvGrpSpPr/>
          <p:nvPr/>
        </p:nvGrpSpPr>
        <p:grpSpPr>
          <a:xfrm>
            <a:off x="528447" y="6581299"/>
            <a:ext cx="11135106" cy="190690"/>
            <a:chOff x="528447" y="6581299"/>
            <a:chExt cx="11135106" cy="190690"/>
          </a:xfrm>
        </p:grpSpPr>
        <p:sp>
          <p:nvSpPr>
            <p:cNvPr id="92" name="TextBox 92"/>
            <p:cNvSpPr txBox="1"/>
            <p:nvPr/>
          </p:nvSpPr>
          <p:spPr>
            <a:xfrm>
              <a:off x="528447" y="6581299"/>
              <a:ext cx="2120748"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并行与分布式计算 · 第7章 体系结构</a:t>
              </a:r>
            </a:p>
          </p:txBody>
        </p:sp>
        <p:sp>
          <p:nvSpPr>
            <p:cNvPr id="93" name="TextBox 93"/>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20</a:t>
              </a:r>
            </a:p>
          </p:txBody>
        </p:sp>
      </p:grpSp>
    </p:spTree>
  </p:cSld>
  <p:clrMapOvr>
    <a:masterClrMapping/>
  </p:clrMapOvr>
  <p:transition xmlns:p14="http://schemas.microsoft.com/office/powerpoint/2010/main" p14:dur="400">
    <p:fade/>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5175123" cy="909257"/>
            <a:chOff x="520446" y="342900"/>
            <a:chExt cx="5175123" cy="909257"/>
          </a:xfrm>
        </p:grpSpPr>
        <p:sp>
          <p:nvSpPr>
            <p:cNvPr id="2" name="Rectangle 2"/>
            <p:cNvSpPr/>
            <p:nvPr/>
          </p:nvSpPr>
          <p:spPr>
            <a:xfrm>
              <a:off x="533400" y="342900"/>
              <a:ext cx="2586038" cy="266700"/>
            </a:xfrm>
            <a:prstGeom prst="roundRect">
              <a:avLst>
                <a:gd name="adj" fmla="val 50000"/>
              </a:avLst>
            </a:prstGeom>
            <a:solidFill>
              <a:srgbClr val="E7EDF3"/>
            </a:solidFill>
            <a:ln>
              <a:noFill/>
            </a:ln>
          </p:spPr>
        </p:sp>
        <p:sp>
          <p:nvSpPr>
            <p:cNvPr id="3" name="TextBox 3"/>
            <p:cNvSpPr txBox="1"/>
            <p:nvPr/>
          </p:nvSpPr>
          <p:spPr>
            <a:xfrm>
              <a:off x="587464" y="407194"/>
              <a:ext cx="2476957"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第7章 体系结构 · Cache 一致性问题</a:t>
              </a:r>
            </a:p>
          </p:txBody>
        </p:sp>
        <p:sp>
          <p:nvSpPr>
            <p:cNvPr id="4" name="TextBox 4"/>
            <p:cNvSpPr txBox="1"/>
            <p:nvPr/>
          </p:nvSpPr>
          <p:spPr>
            <a:xfrm>
              <a:off x="520446" y="753428"/>
              <a:ext cx="5175123"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作废还是更新：看写和读怎样交替</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17" name="c1-bullets-1"/>
          <p:cNvGrpSpPr/>
          <p:nvPr/>
        </p:nvGrpSpPr>
        <p:grpSpPr>
          <a:xfrm>
            <a:off x="525780" y="1548765"/>
            <a:ext cx="4160520" cy="1337310"/>
            <a:chOff x="525780" y="1548765"/>
            <a:chExt cx="4160520" cy="1337310"/>
          </a:xfrm>
        </p:grpSpPr>
        <p:sp>
          <p:nvSpPr>
            <p:cNvPr id="7" name="TextBox 7"/>
            <p:cNvSpPr txBox="1"/>
            <p:nvPr/>
          </p:nvSpPr>
          <p:spPr>
            <a:xfrm>
              <a:off x="525780" y="1548765"/>
              <a:ext cx="2438400" cy="293370"/>
            </a:xfrm>
            <a:prstGeom prst="rect">
              <a:avLst/>
            </a:prstGeom>
            <a:noFill/>
            <a:ln>
              <a:noFill/>
            </a:ln>
          </p:spPr>
          <p:txBody>
            <a:bodyPr wrap="none" lIns="0" tIns="0" rIns="0" bIns="0" anchor="t" anchorCtr="0">
              <a:spAutoFit/>
            </a:bodyPr>
            <a:lstStyle/>
            <a:p>
              <a:pPr algn="l"/>
              <a:r>
                <a:rPr lang="zh-CN" sz="1500" b="1" dirty="0">
                  <a:solidFill>
                    <a:srgbClr val="334E68"/>
                  </a:solidFill>
                  <a:latin typeface="+mn-lt"/>
                  <a:ea typeface="+mn-ea"/>
                  <a:cs typeface="+mn-cs"/>
                </a:rPr>
                <a:t>原课件给出的三个比较指标</a:t>
              </a:r>
            </a:p>
          </p:txBody>
        </p:sp>
        <p:sp>
          <p:nvSpPr>
            <p:cNvPr id="8" name="Ellipse 8"/>
            <p:cNvSpPr/>
            <p:nvPr/>
          </p:nvSpPr>
          <p:spPr>
            <a:xfrm>
              <a:off x="533400" y="1889760"/>
              <a:ext cx="213360" cy="213360"/>
            </a:xfrm>
            <a:prstGeom prst="ellipse">
              <a:avLst/>
            </a:prstGeom>
            <a:solidFill>
              <a:srgbClr val="334E68"/>
            </a:solidFill>
            <a:ln>
              <a:noFill/>
            </a:ln>
          </p:spPr>
        </p:sp>
        <p:sp>
          <p:nvSpPr>
            <p:cNvPr id="9" name="TextBox 9"/>
            <p:cNvSpPr txBox="1"/>
            <p:nvPr/>
          </p:nvSpPr>
          <p:spPr>
            <a:xfrm>
              <a:off x="595249" y="1932051"/>
              <a:ext cx="89661" cy="199492"/>
            </a:xfrm>
            <a:prstGeom prst="rect">
              <a:avLst/>
            </a:prstGeom>
            <a:noFill/>
            <a:ln>
              <a:noFill/>
            </a:ln>
          </p:spPr>
          <p:txBody>
            <a:bodyPr wrap="none" lIns="0" tIns="0" rIns="0" bIns="0" anchor="t" anchorCtr="0">
              <a:spAutoFit/>
            </a:bodyPr>
            <a:lstStyle/>
            <a:p>
              <a:pPr algn="ctr"/>
              <a:r>
                <a:rPr lang="zh-CN" sz="1020" b="1" dirty="0">
                  <a:solidFill>
                    <a:srgbClr val="FFFFFF"/>
                  </a:solidFill>
                  <a:latin typeface="+mn-lt"/>
                  <a:ea typeface="+mn-ea"/>
                  <a:cs typeface="+mn-cs"/>
                </a:rPr>
                <a:t>1</a:t>
              </a:r>
            </a:p>
          </p:txBody>
        </p:sp>
        <p:sp>
          <p:nvSpPr>
            <p:cNvPr id="10" name="TextBox 10"/>
            <p:cNvSpPr txBox="1"/>
            <p:nvPr/>
          </p:nvSpPr>
          <p:spPr>
            <a:xfrm>
              <a:off x="834390" y="1903095"/>
              <a:ext cx="385191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占用总线传状态信息的次数、内容和数据量</a:t>
              </a:r>
            </a:p>
          </p:txBody>
        </p:sp>
        <p:sp>
          <p:nvSpPr>
            <p:cNvPr id="11" name="Ellipse 11"/>
            <p:cNvSpPr/>
            <p:nvPr/>
          </p:nvSpPr>
          <p:spPr>
            <a:xfrm>
              <a:off x="533400" y="2234565"/>
              <a:ext cx="213360" cy="213360"/>
            </a:xfrm>
            <a:prstGeom prst="ellipse">
              <a:avLst/>
            </a:prstGeom>
            <a:solidFill>
              <a:srgbClr val="334E68"/>
            </a:solidFill>
            <a:ln>
              <a:noFill/>
            </a:ln>
          </p:spPr>
        </p:sp>
        <p:sp>
          <p:nvSpPr>
            <p:cNvPr id="12" name="TextBox 12"/>
            <p:cNvSpPr txBox="1"/>
            <p:nvPr/>
          </p:nvSpPr>
          <p:spPr>
            <a:xfrm>
              <a:off x="595249" y="2276856"/>
              <a:ext cx="89661" cy="199492"/>
            </a:xfrm>
            <a:prstGeom prst="rect">
              <a:avLst/>
            </a:prstGeom>
            <a:noFill/>
            <a:ln>
              <a:noFill/>
            </a:ln>
          </p:spPr>
          <p:txBody>
            <a:bodyPr wrap="none" lIns="0" tIns="0" rIns="0" bIns="0" anchor="t" anchorCtr="0">
              <a:spAutoFit/>
            </a:bodyPr>
            <a:lstStyle/>
            <a:p>
              <a:pPr algn="ctr"/>
              <a:r>
                <a:rPr lang="zh-CN" sz="1020" b="1" dirty="0">
                  <a:solidFill>
                    <a:srgbClr val="FFFFFF"/>
                  </a:solidFill>
                  <a:latin typeface="+mn-lt"/>
                  <a:ea typeface="+mn-ea"/>
                  <a:cs typeface="+mn-cs"/>
                </a:rPr>
                <a:t>2</a:t>
              </a:r>
            </a:p>
          </p:txBody>
        </p:sp>
        <p:sp>
          <p:nvSpPr>
            <p:cNvPr id="13" name="TextBox 13"/>
            <p:cNvSpPr txBox="1"/>
            <p:nvPr/>
          </p:nvSpPr>
          <p:spPr>
            <a:xfrm>
              <a:off x="834390" y="2247900"/>
              <a:ext cx="344805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占用总线传数据的次数、内容和数据量</a:t>
              </a:r>
            </a:p>
          </p:txBody>
        </p:sp>
        <p:sp>
          <p:nvSpPr>
            <p:cNvPr id="14" name="Ellipse 14"/>
            <p:cNvSpPr/>
            <p:nvPr/>
          </p:nvSpPr>
          <p:spPr>
            <a:xfrm>
              <a:off x="533400" y="2579370"/>
              <a:ext cx="213360" cy="213360"/>
            </a:xfrm>
            <a:prstGeom prst="ellipse">
              <a:avLst/>
            </a:prstGeom>
            <a:solidFill>
              <a:srgbClr val="334E68"/>
            </a:solidFill>
            <a:ln>
              <a:noFill/>
            </a:ln>
          </p:spPr>
        </p:sp>
        <p:sp>
          <p:nvSpPr>
            <p:cNvPr id="15" name="TextBox 15"/>
            <p:cNvSpPr txBox="1"/>
            <p:nvPr/>
          </p:nvSpPr>
          <p:spPr>
            <a:xfrm>
              <a:off x="595249" y="2621661"/>
              <a:ext cx="89661" cy="199492"/>
            </a:xfrm>
            <a:prstGeom prst="rect">
              <a:avLst/>
            </a:prstGeom>
            <a:noFill/>
            <a:ln>
              <a:noFill/>
            </a:ln>
          </p:spPr>
          <p:txBody>
            <a:bodyPr wrap="none" lIns="0" tIns="0" rIns="0" bIns="0" anchor="t" anchorCtr="0">
              <a:spAutoFit/>
            </a:bodyPr>
            <a:lstStyle/>
            <a:p>
              <a:pPr algn="ctr"/>
              <a:r>
                <a:rPr lang="zh-CN" sz="1020" b="1" dirty="0">
                  <a:solidFill>
                    <a:srgbClr val="FFFFFF"/>
                  </a:solidFill>
                  <a:latin typeface="+mn-lt"/>
                  <a:ea typeface="+mn-ea"/>
                  <a:cs typeface="+mn-cs"/>
                </a:rPr>
                <a:t>3</a:t>
              </a:r>
            </a:p>
          </p:txBody>
        </p:sp>
        <p:sp>
          <p:nvSpPr>
            <p:cNvPr id="16" name="TextBox 16"/>
            <p:cNvSpPr txBox="1"/>
            <p:nvPr/>
          </p:nvSpPr>
          <p:spPr>
            <a:xfrm>
              <a:off x="834390" y="2592705"/>
              <a:ext cx="304419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同一数据从被写到被读之间的延迟</a:t>
              </a:r>
            </a:p>
          </p:txBody>
        </p:sp>
      </p:grpSp>
      <p:grpSp>
        <p:nvGrpSpPr>
          <p:cNvPr id="42" name="c1-card-2"/>
          <p:cNvGrpSpPr/>
          <p:nvPr/>
        </p:nvGrpSpPr>
        <p:grpSpPr>
          <a:xfrm>
            <a:off x="533400" y="3017520"/>
            <a:ext cx="5626418" cy="3285172"/>
            <a:chOff x="533400" y="3017520"/>
            <a:chExt cx="5626418" cy="3285172"/>
          </a:xfrm>
        </p:grpSpPr>
        <p:sp>
          <p:nvSpPr>
            <p:cNvPr id="18" name="Rectangle 18"/>
            <p:cNvSpPr/>
            <p:nvPr/>
          </p:nvSpPr>
          <p:spPr>
            <a:xfrm>
              <a:off x="533400" y="3017520"/>
              <a:ext cx="5626418" cy="3285172"/>
            </a:xfrm>
            <a:prstGeom prst="roundRect">
              <a:avLst>
                <a:gd name="adj" fmla="val 4059"/>
              </a:avLst>
            </a:prstGeom>
            <a:solidFill>
              <a:srgbClr val="FFFFFF"/>
            </a:solidFill>
            <a:ln w="14288">
              <a:solidFill>
                <a:srgbClr val="D9DFEA"/>
              </a:solidFill>
            </a:ln>
          </p:spPr>
        </p:sp>
        <p:sp>
          <p:nvSpPr>
            <p:cNvPr id="19" name="Rectangle 19"/>
            <p:cNvSpPr/>
            <p:nvPr/>
          </p:nvSpPr>
          <p:spPr>
            <a:xfrm>
              <a:off x="542925" y="3150870"/>
              <a:ext cx="47625" cy="3018472"/>
            </a:xfrm>
            <a:prstGeom prst="roundRect">
              <a:avLst>
                <a:gd name="adj" fmla="val 50000"/>
              </a:avLst>
            </a:prstGeom>
            <a:solidFill>
              <a:srgbClr val="14A38B"/>
            </a:solidFill>
            <a:ln>
              <a:noFill/>
            </a:ln>
          </p:spPr>
        </p:sp>
        <p:sp>
          <p:nvSpPr>
            <p:cNvPr id="20" name="Rectangle 20"/>
            <p:cNvSpPr/>
            <p:nvPr/>
          </p:nvSpPr>
          <p:spPr>
            <a:xfrm>
              <a:off x="781050" y="3227070"/>
              <a:ext cx="494348" cy="257175"/>
            </a:xfrm>
            <a:prstGeom prst="roundRect">
              <a:avLst>
                <a:gd name="adj" fmla="val 50000"/>
              </a:avLst>
            </a:prstGeom>
            <a:solidFill>
              <a:srgbClr val="E3F5F1"/>
            </a:solidFill>
            <a:ln>
              <a:noFill/>
            </a:ln>
          </p:spPr>
        </p:sp>
        <p:sp>
          <p:nvSpPr>
            <p:cNvPr id="21" name="TextBox 21"/>
            <p:cNvSpPr txBox="1"/>
            <p:nvPr/>
          </p:nvSpPr>
          <p:spPr>
            <a:xfrm>
              <a:off x="871258" y="3262789"/>
              <a:ext cx="312979" cy="220028"/>
            </a:xfrm>
            <a:prstGeom prst="rect">
              <a:avLst/>
            </a:prstGeom>
            <a:noFill/>
            <a:ln>
              <a:noFill/>
            </a:ln>
          </p:spPr>
          <p:txBody>
            <a:bodyPr wrap="none" lIns="0" tIns="0" rIns="0" bIns="0" anchor="t" anchorCtr="0">
              <a:spAutoFit/>
            </a:bodyPr>
            <a:lstStyle/>
            <a:p>
              <a:pPr algn="ctr"/>
              <a:r>
                <a:rPr lang="zh-CN" sz="1120" b="1" dirty="0">
                  <a:solidFill>
                    <a:srgbClr val="0F7A68"/>
                  </a:solidFill>
                  <a:latin typeface="+mn-lt"/>
                  <a:ea typeface="+mn-ea"/>
                  <a:cs typeface="+mn-cs"/>
                </a:rPr>
                <a:t>例题</a:t>
              </a:r>
            </a:p>
          </p:txBody>
        </p:sp>
        <p:sp>
          <p:nvSpPr>
            <p:cNvPr id="22" name="TextBox 22"/>
            <p:cNvSpPr txBox="1"/>
            <p:nvPr/>
          </p:nvSpPr>
          <p:spPr>
            <a:xfrm>
              <a:off x="1382078" y="3262312"/>
              <a:ext cx="4532290"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A 连写同一块 4 次，然后 B 读一次（B 原有副本）</a:t>
              </a:r>
            </a:p>
          </p:txBody>
        </p:sp>
        <p:sp>
          <p:nvSpPr>
            <p:cNvPr id="23" name="Rectangle 23"/>
            <p:cNvSpPr/>
            <p:nvPr/>
          </p:nvSpPr>
          <p:spPr>
            <a:xfrm>
              <a:off x="781050" y="3598545"/>
              <a:ext cx="5169218" cy="448628"/>
            </a:xfrm>
            <a:prstGeom prst="rect">
              <a:avLst/>
            </a:prstGeom>
            <a:solidFill>
              <a:srgbClr val="334E68"/>
            </a:solidFill>
            <a:ln>
              <a:noFill/>
            </a:ln>
          </p:spPr>
        </p:sp>
        <p:sp>
          <p:nvSpPr>
            <p:cNvPr id="24" name="TextBox 24"/>
            <p:cNvSpPr txBox="1"/>
            <p:nvPr/>
          </p:nvSpPr>
          <p:spPr>
            <a:xfrm>
              <a:off x="1377594" y="3734276"/>
              <a:ext cx="357581"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指标</a:t>
              </a:r>
            </a:p>
          </p:txBody>
        </p:sp>
        <p:sp>
          <p:nvSpPr>
            <p:cNvPr id="25" name="TextBox 25"/>
            <p:cNvSpPr txBox="1"/>
            <p:nvPr/>
          </p:nvSpPr>
          <p:spPr>
            <a:xfrm>
              <a:off x="2971648" y="3734276"/>
              <a:ext cx="529895"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写作废</a:t>
              </a:r>
            </a:p>
          </p:txBody>
        </p:sp>
        <p:sp>
          <p:nvSpPr>
            <p:cNvPr id="26" name="TextBox 26"/>
            <p:cNvSpPr txBox="1"/>
            <p:nvPr/>
          </p:nvSpPr>
          <p:spPr>
            <a:xfrm>
              <a:off x="4780445" y="3734276"/>
              <a:ext cx="529895"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写更新</a:t>
              </a:r>
            </a:p>
          </p:txBody>
        </p:sp>
        <p:sp>
          <p:nvSpPr>
            <p:cNvPr id="27" name="TextBox 27"/>
            <p:cNvSpPr txBox="1"/>
            <p:nvPr/>
          </p:nvSpPr>
          <p:spPr>
            <a:xfrm>
              <a:off x="888873" y="4296251"/>
              <a:ext cx="1046836"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总线状态消息</a:t>
              </a:r>
            </a:p>
          </p:txBody>
        </p:sp>
        <p:sp>
          <p:nvSpPr>
            <p:cNvPr id="28" name="TextBox 28"/>
            <p:cNvSpPr txBox="1"/>
            <p:nvPr/>
          </p:nvSpPr>
          <p:spPr>
            <a:xfrm>
              <a:off x="2439543" y="4182904"/>
              <a:ext cx="1451610" cy="476059"/>
            </a:xfrm>
            <a:prstGeom prst="rect">
              <a:avLst/>
            </a:prstGeom>
            <a:noFill/>
            <a:ln>
              <a:noFill/>
            </a:ln>
          </p:spPr>
          <p:txBody>
            <a:bodyPr wrap="none" lIns="0" tIns="0" rIns="0" bIns="0" anchor="t" anchorCtr="0">
              <a:spAutoFit/>
            </a:bodyPr>
            <a:lstStyle/>
            <a:p>
              <a:pPr algn="l">
                <a:lnSpc>
                  <a:spcPts val="1785"/>
                </a:lnSpc>
              </a:pPr>
              <a:r>
                <a:rPr lang="zh-CN" sz="1280" dirty="0">
                  <a:solidFill>
                    <a:srgbClr val="1F2937"/>
                  </a:solidFill>
                  <a:latin typeface="+mn-lt"/>
                  <a:ea typeface="+mn-ea"/>
                  <a:cs typeface="+mn-cs"/>
                </a:rPr>
                <a:t>1 次作废（第一次写</a:t>
              </a:r>
              <a:br/>
              <a:r>
                <a:rPr lang="zh-CN" sz="1280" dirty="0">
                  <a:solidFill>
                    <a:srgbClr val="1F2937"/>
                  </a:solidFill>
                  <a:latin typeface="+mn-lt"/>
                  <a:ea typeface="+mn-ea"/>
                  <a:cs typeface="+mn-cs"/>
                </a:rPr>
                <a:t>时）</a:t>
              </a:r>
            </a:p>
          </p:txBody>
        </p:sp>
        <p:sp>
          <p:nvSpPr>
            <p:cNvPr id="29" name="TextBox 29"/>
            <p:cNvSpPr txBox="1"/>
            <p:nvPr/>
          </p:nvSpPr>
          <p:spPr>
            <a:xfrm>
              <a:off x="4249293" y="4296251"/>
              <a:ext cx="185268"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无</a:t>
              </a:r>
            </a:p>
          </p:txBody>
        </p:sp>
        <p:sp>
          <p:nvSpPr>
            <p:cNvPr id="30" name="Rectangle 30"/>
            <p:cNvSpPr/>
            <p:nvPr/>
          </p:nvSpPr>
          <p:spPr>
            <a:xfrm>
              <a:off x="781050" y="4717732"/>
              <a:ext cx="5169218" cy="9525"/>
            </a:xfrm>
            <a:prstGeom prst="rect">
              <a:avLst/>
            </a:prstGeom>
            <a:solidFill>
              <a:srgbClr val="D9DFEA"/>
            </a:solidFill>
            <a:ln>
              <a:noFill/>
            </a:ln>
          </p:spPr>
        </p:sp>
        <p:sp>
          <p:nvSpPr>
            <p:cNvPr id="31" name="Rectangle 31"/>
            <p:cNvSpPr/>
            <p:nvPr/>
          </p:nvSpPr>
          <p:spPr>
            <a:xfrm>
              <a:off x="781050" y="4722495"/>
              <a:ext cx="5169218" cy="675322"/>
            </a:xfrm>
            <a:prstGeom prst="rect">
              <a:avLst/>
            </a:prstGeom>
            <a:solidFill>
              <a:srgbClr val="F4F6FB"/>
            </a:solidFill>
            <a:ln>
              <a:noFill/>
            </a:ln>
          </p:spPr>
        </p:sp>
        <p:sp>
          <p:nvSpPr>
            <p:cNvPr id="32" name="TextBox 32"/>
            <p:cNvSpPr txBox="1"/>
            <p:nvPr/>
          </p:nvSpPr>
          <p:spPr>
            <a:xfrm>
              <a:off x="888873" y="4971574"/>
              <a:ext cx="1046836"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总线数据传送</a:t>
              </a:r>
            </a:p>
          </p:txBody>
        </p:sp>
        <p:sp>
          <p:nvSpPr>
            <p:cNvPr id="33" name="TextBox 33"/>
            <p:cNvSpPr txBox="1"/>
            <p:nvPr/>
          </p:nvSpPr>
          <p:spPr>
            <a:xfrm>
              <a:off x="2439543" y="4858226"/>
              <a:ext cx="1475994" cy="476059"/>
            </a:xfrm>
            <a:prstGeom prst="rect">
              <a:avLst/>
            </a:prstGeom>
            <a:noFill/>
            <a:ln>
              <a:noFill/>
            </a:ln>
          </p:spPr>
          <p:txBody>
            <a:bodyPr wrap="none" lIns="0" tIns="0" rIns="0" bIns="0" anchor="t" anchorCtr="0">
              <a:spAutoFit/>
            </a:bodyPr>
            <a:lstStyle/>
            <a:p>
              <a:pPr algn="l">
                <a:lnSpc>
                  <a:spcPts val="1785"/>
                </a:lnSpc>
              </a:pPr>
              <a:r>
                <a:rPr lang="zh-CN" sz="1280" dirty="0">
                  <a:solidFill>
                    <a:srgbClr val="1F2937"/>
                  </a:solidFill>
                  <a:latin typeface="+mn-lt"/>
                  <a:ea typeface="+mn-ea"/>
                  <a:cs typeface="+mn-cs"/>
                </a:rPr>
                <a:t>B 读缺失时传 1 次整</a:t>
              </a:r>
              <a:br/>
              <a:r>
                <a:rPr lang="zh-CN" sz="1280" dirty="0">
                  <a:solidFill>
                    <a:srgbClr val="1F2937"/>
                  </a:solidFill>
                  <a:latin typeface="+mn-lt"/>
                  <a:ea typeface="+mn-ea"/>
                  <a:cs typeface="+mn-cs"/>
                </a:rPr>
                <a:t>块</a:t>
              </a:r>
            </a:p>
          </p:txBody>
        </p:sp>
        <p:sp>
          <p:nvSpPr>
            <p:cNvPr id="34" name="TextBox 34"/>
            <p:cNvSpPr txBox="1"/>
            <p:nvPr/>
          </p:nvSpPr>
          <p:spPr>
            <a:xfrm>
              <a:off x="4249293" y="4858226"/>
              <a:ext cx="1451610" cy="476059"/>
            </a:xfrm>
            <a:prstGeom prst="rect">
              <a:avLst/>
            </a:prstGeom>
            <a:noFill/>
            <a:ln>
              <a:noFill/>
            </a:ln>
          </p:spPr>
          <p:txBody>
            <a:bodyPr wrap="none" lIns="0" tIns="0" rIns="0" bIns="0" anchor="t" anchorCtr="0">
              <a:spAutoFit/>
            </a:bodyPr>
            <a:lstStyle/>
            <a:p>
              <a:pPr algn="l">
                <a:lnSpc>
                  <a:spcPts val="1785"/>
                </a:lnSpc>
              </a:pPr>
              <a:r>
                <a:rPr lang="zh-CN" sz="1280" dirty="0">
                  <a:solidFill>
                    <a:srgbClr val="1F2937"/>
                  </a:solidFill>
                  <a:latin typeface="+mn-lt"/>
                  <a:ea typeface="+mn-ea"/>
                  <a:cs typeface="+mn-cs"/>
                </a:rPr>
                <a:t>4 次，每次广播一个</a:t>
              </a:r>
              <a:br/>
              <a:r>
                <a:rPr lang="zh-CN" sz="1280" dirty="0">
                  <a:solidFill>
                    <a:srgbClr val="1F2937"/>
                  </a:solidFill>
                  <a:latin typeface="+mn-lt"/>
                  <a:ea typeface="+mn-ea"/>
                  <a:cs typeface="+mn-cs"/>
                </a:rPr>
                <a:t>字</a:t>
              </a:r>
            </a:p>
          </p:txBody>
        </p:sp>
        <p:sp>
          <p:nvSpPr>
            <p:cNvPr id="35" name="Rectangle 35"/>
            <p:cNvSpPr/>
            <p:nvPr/>
          </p:nvSpPr>
          <p:spPr>
            <a:xfrm>
              <a:off x="781050" y="5394008"/>
              <a:ext cx="5169218" cy="9525"/>
            </a:xfrm>
            <a:prstGeom prst="rect">
              <a:avLst/>
            </a:prstGeom>
            <a:solidFill>
              <a:srgbClr val="D9DFEA"/>
            </a:solidFill>
            <a:ln>
              <a:noFill/>
            </a:ln>
          </p:spPr>
        </p:sp>
        <p:sp>
          <p:nvSpPr>
            <p:cNvPr id="36" name="TextBox 36"/>
            <p:cNvSpPr txBox="1"/>
            <p:nvPr/>
          </p:nvSpPr>
          <p:spPr>
            <a:xfrm>
              <a:off x="888873" y="5533549"/>
              <a:ext cx="1133399" cy="476059"/>
            </a:xfrm>
            <a:prstGeom prst="rect">
              <a:avLst/>
            </a:prstGeom>
            <a:noFill/>
            <a:ln>
              <a:noFill/>
            </a:ln>
          </p:spPr>
          <p:txBody>
            <a:bodyPr wrap="none" lIns="0" tIns="0" rIns="0" bIns="0" anchor="t" anchorCtr="0">
              <a:spAutoFit/>
            </a:bodyPr>
            <a:lstStyle/>
            <a:p>
              <a:pPr algn="l">
                <a:lnSpc>
                  <a:spcPts val="1785"/>
                </a:lnSpc>
              </a:pPr>
              <a:r>
                <a:rPr lang="zh-CN" sz="1280" b="1" dirty="0">
                  <a:solidFill>
                    <a:srgbClr val="1F2937"/>
                  </a:solidFill>
                  <a:latin typeface="+mn-lt"/>
                  <a:ea typeface="+mn-ea"/>
                  <a:cs typeface="+mn-cs"/>
                </a:rPr>
                <a:t>B 读到新值的延</a:t>
              </a:r>
              <a:br/>
              <a:r>
                <a:rPr lang="zh-CN" sz="1280" b="1" dirty="0">
                  <a:solidFill>
                    <a:srgbClr val="1F2937"/>
                  </a:solidFill>
                  <a:latin typeface="+mn-lt"/>
                  <a:ea typeface="+mn-ea"/>
                  <a:cs typeface="+mn-cs"/>
                </a:rPr>
                <a:t>迟</a:t>
              </a:r>
            </a:p>
          </p:txBody>
        </p:sp>
        <p:sp>
          <p:nvSpPr>
            <p:cNvPr id="37" name="TextBox 37"/>
            <p:cNvSpPr txBox="1"/>
            <p:nvPr/>
          </p:nvSpPr>
          <p:spPr>
            <a:xfrm>
              <a:off x="2439543" y="5646896"/>
              <a:ext cx="1391463"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要等一次缺失处理</a:t>
              </a:r>
            </a:p>
          </p:txBody>
        </p:sp>
        <p:sp>
          <p:nvSpPr>
            <p:cNvPr id="38" name="TextBox 38"/>
            <p:cNvSpPr txBox="1"/>
            <p:nvPr/>
          </p:nvSpPr>
          <p:spPr>
            <a:xfrm>
              <a:off x="4249293" y="5533549"/>
              <a:ext cx="1475994" cy="476059"/>
            </a:xfrm>
            <a:prstGeom prst="rect">
              <a:avLst/>
            </a:prstGeom>
            <a:noFill/>
            <a:ln>
              <a:noFill/>
            </a:ln>
          </p:spPr>
          <p:txBody>
            <a:bodyPr wrap="none" lIns="0" tIns="0" rIns="0" bIns="0" anchor="t" anchorCtr="0">
              <a:spAutoFit/>
            </a:bodyPr>
            <a:lstStyle/>
            <a:p>
              <a:pPr algn="l">
                <a:lnSpc>
                  <a:spcPts val="1785"/>
                </a:lnSpc>
              </a:pPr>
              <a:r>
                <a:rPr lang="zh-CN" sz="1280" dirty="0">
                  <a:solidFill>
                    <a:srgbClr val="1F2937"/>
                  </a:solidFill>
                  <a:latin typeface="+mn-lt"/>
                  <a:ea typeface="+mn-ea"/>
                  <a:cs typeface="+mn-cs"/>
                </a:rPr>
                <a:t>读命中，几乎没有延</a:t>
              </a:r>
              <a:br/>
              <a:r>
                <a:rPr lang="zh-CN" sz="1280" dirty="0">
                  <a:solidFill>
                    <a:srgbClr val="1F2937"/>
                  </a:solidFill>
                  <a:latin typeface="+mn-lt"/>
                  <a:ea typeface="+mn-ea"/>
                  <a:cs typeface="+mn-cs"/>
                </a:rPr>
                <a:t>迟</a:t>
              </a:r>
            </a:p>
          </p:txBody>
        </p:sp>
        <p:sp>
          <p:nvSpPr>
            <p:cNvPr id="39" name="Rectangle 39"/>
            <p:cNvSpPr/>
            <p:nvPr/>
          </p:nvSpPr>
          <p:spPr>
            <a:xfrm>
              <a:off x="781050" y="3598545"/>
              <a:ext cx="5169218" cy="2475548"/>
            </a:xfrm>
            <a:prstGeom prst="rect">
              <a:avLst/>
            </a:prstGeom>
            <a:noFill/>
            <a:ln w="14288">
              <a:solidFill>
                <a:srgbClr val="D9DFEA"/>
              </a:solidFill>
            </a:ln>
          </p:spPr>
        </p:sp>
        <p:sp>
          <p:nvSpPr>
            <p:cNvPr id="40" name="Rectangle 40"/>
            <p:cNvSpPr/>
            <p:nvPr/>
          </p:nvSpPr>
          <p:spPr>
            <a:xfrm>
              <a:off x="2326958" y="3598545"/>
              <a:ext cx="9525" cy="2475548"/>
            </a:xfrm>
            <a:prstGeom prst="rect">
              <a:avLst/>
            </a:prstGeom>
            <a:solidFill>
              <a:srgbClr val="D9DFEA"/>
            </a:solidFill>
            <a:ln>
              <a:noFill/>
            </a:ln>
          </p:spPr>
        </p:sp>
        <p:sp>
          <p:nvSpPr>
            <p:cNvPr id="41" name="Rectangle 41"/>
            <p:cNvSpPr/>
            <p:nvPr/>
          </p:nvSpPr>
          <p:spPr>
            <a:xfrm>
              <a:off x="4136708" y="3598545"/>
              <a:ext cx="9525" cy="2475548"/>
            </a:xfrm>
            <a:prstGeom prst="rect">
              <a:avLst/>
            </a:prstGeom>
            <a:solidFill>
              <a:srgbClr val="D9DFEA"/>
            </a:solidFill>
            <a:ln>
              <a:noFill/>
            </a:ln>
          </p:spPr>
        </p:sp>
      </p:grpSp>
      <p:grpSp>
        <p:nvGrpSpPr>
          <p:cNvPr id="52" name="c2-card-1"/>
          <p:cNvGrpSpPr/>
          <p:nvPr/>
        </p:nvGrpSpPr>
        <p:grpSpPr>
          <a:xfrm>
            <a:off x="6464618" y="1524000"/>
            <a:ext cx="5193982" cy="2558415"/>
            <a:chOff x="6464618" y="1524000"/>
            <a:chExt cx="5193982" cy="2558415"/>
          </a:xfrm>
        </p:grpSpPr>
        <p:sp>
          <p:nvSpPr>
            <p:cNvPr id="43" name="Rectangle 43"/>
            <p:cNvSpPr/>
            <p:nvPr/>
          </p:nvSpPr>
          <p:spPr>
            <a:xfrm>
              <a:off x="6464618" y="1524000"/>
              <a:ext cx="5193982" cy="2558415"/>
            </a:xfrm>
            <a:prstGeom prst="roundRect">
              <a:avLst>
                <a:gd name="adj" fmla="val 5212"/>
              </a:avLst>
            </a:prstGeom>
            <a:solidFill>
              <a:srgbClr val="334E68"/>
            </a:solidFill>
            <a:ln>
              <a:noFill/>
            </a:ln>
          </p:spPr>
        </p:sp>
        <p:sp>
          <p:nvSpPr>
            <p:cNvPr id="44" name="Rectangle 44"/>
            <p:cNvSpPr/>
            <p:nvPr/>
          </p:nvSpPr>
          <p:spPr>
            <a:xfrm>
              <a:off x="6674168" y="1733550"/>
              <a:ext cx="636270" cy="257175"/>
            </a:xfrm>
            <a:prstGeom prst="roundRect">
              <a:avLst>
                <a:gd name="adj" fmla="val 50000"/>
              </a:avLst>
            </a:prstGeom>
            <a:solidFill>
              <a:srgbClr val="243B53"/>
            </a:solidFill>
            <a:ln>
              <a:noFill/>
            </a:ln>
          </p:spPr>
        </p:sp>
        <p:sp>
          <p:nvSpPr>
            <p:cNvPr id="45" name="TextBox 45"/>
            <p:cNvSpPr txBox="1"/>
            <p:nvPr/>
          </p:nvSpPr>
          <p:spPr>
            <a:xfrm>
              <a:off x="6760426" y="1769269"/>
              <a:ext cx="463753"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怎样选</a:t>
              </a:r>
            </a:p>
          </p:txBody>
        </p:sp>
        <p:sp>
          <p:nvSpPr>
            <p:cNvPr id="46" name="Ellipse 46"/>
            <p:cNvSpPr/>
            <p:nvPr/>
          </p:nvSpPr>
          <p:spPr>
            <a:xfrm>
              <a:off x="6679883" y="2173605"/>
              <a:ext cx="64770" cy="64770"/>
            </a:xfrm>
            <a:prstGeom prst="ellipse">
              <a:avLst/>
            </a:prstGeom>
            <a:solidFill>
              <a:srgbClr val="FFFFFF"/>
            </a:solidFill>
            <a:ln>
              <a:noFill/>
            </a:ln>
          </p:spPr>
        </p:sp>
        <p:sp>
          <p:nvSpPr>
            <p:cNvPr id="47" name="TextBox 47"/>
            <p:cNvSpPr txBox="1"/>
            <p:nvPr/>
          </p:nvSpPr>
          <p:spPr>
            <a:xfrm>
              <a:off x="6837998" y="2110740"/>
              <a:ext cx="4396740"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FFFFFF"/>
                  </a:solidFill>
                  <a:latin typeface="+mn-lt"/>
                  <a:ea typeface="+mn-ea"/>
                  <a:cs typeface="+mn-cs"/>
                </a:rPr>
                <a:t>同一处理器连续多次写、别人很少读：写作废只在第</a:t>
              </a:r>
              <a:br/>
              <a:r>
                <a:rPr lang="zh-CN" sz="1500" dirty="0">
                  <a:solidFill>
                    <a:srgbClr val="FFFFFF"/>
                  </a:solidFill>
                  <a:latin typeface="+mn-lt"/>
                  <a:ea typeface="+mn-ea"/>
                  <a:cs typeface="+mn-cs"/>
                </a:rPr>
                <a:t>一次写时发一次作废，总线负担轻</a:t>
              </a:r>
            </a:p>
          </p:txBody>
        </p:sp>
        <p:sp>
          <p:nvSpPr>
            <p:cNvPr id="48" name="Ellipse 48"/>
            <p:cNvSpPr/>
            <p:nvPr/>
          </p:nvSpPr>
          <p:spPr>
            <a:xfrm>
              <a:off x="6679883" y="2794635"/>
              <a:ext cx="64770" cy="64770"/>
            </a:xfrm>
            <a:prstGeom prst="ellipse">
              <a:avLst/>
            </a:prstGeom>
            <a:solidFill>
              <a:srgbClr val="FFFFFF"/>
            </a:solidFill>
            <a:ln>
              <a:noFill/>
            </a:ln>
          </p:spPr>
        </p:sp>
        <p:sp>
          <p:nvSpPr>
            <p:cNvPr id="49" name="TextBox 49"/>
            <p:cNvSpPr txBox="1"/>
            <p:nvPr/>
          </p:nvSpPr>
          <p:spPr>
            <a:xfrm>
              <a:off x="6837998" y="2731770"/>
              <a:ext cx="4396740"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FFFFFF"/>
                  </a:solidFill>
                  <a:latin typeface="+mn-lt"/>
                  <a:ea typeface="+mn-ea"/>
                  <a:cs typeface="+mn-cs"/>
                </a:rPr>
                <a:t>生产者写一次、消费者马上读：写更新让读者直接命</a:t>
              </a:r>
              <a:br/>
              <a:r>
                <a:rPr lang="zh-CN" sz="1500" dirty="0">
                  <a:solidFill>
                    <a:srgbClr val="FFFFFF"/>
                  </a:solidFill>
                  <a:latin typeface="+mn-lt"/>
                  <a:ea typeface="+mn-ea"/>
                  <a:cs typeface="+mn-cs"/>
                </a:rPr>
                <a:t>中，延迟小，但每次写都占总线</a:t>
              </a:r>
            </a:p>
          </p:txBody>
        </p:sp>
        <p:sp>
          <p:nvSpPr>
            <p:cNvPr id="50" name="Ellipse 50"/>
            <p:cNvSpPr/>
            <p:nvPr/>
          </p:nvSpPr>
          <p:spPr>
            <a:xfrm>
              <a:off x="6679883" y="3415665"/>
              <a:ext cx="64770" cy="64770"/>
            </a:xfrm>
            <a:prstGeom prst="ellipse">
              <a:avLst/>
            </a:prstGeom>
            <a:solidFill>
              <a:srgbClr val="FFFFFF"/>
            </a:solidFill>
            <a:ln>
              <a:noFill/>
            </a:ln>
          </p:spPr>
        </p:sp>
        <p:sp>
          <p:nvSpPr>
            <p:cNvPr id="51" name="TextBox 51"/>
            <p:cNvSpPr txBox="1"/>
            <p:nvPr/>
          </p:nvSpPr>
          <p:spPr>
            <a:xfrm>
              <a:off x="6837998" y="3352800"/>
              <a:ext cx="4396740"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FFFFFF"/>
                  </a:solidFill>
                  <a:latin typeface="+mn-lt"/>
                  <a:ea typeface="+mn-ea"/>
                  <a:cs typeface="+mn-cs"/>
                </a:rPr>
                <a:t>写更新的广播量随写的次数线性增长，总线带宽更紧</a:t>
              </a:r>
              <a:br/>
              <a:r>
                <a:rPr lang="zh-CN" sz="1500" dirty="0">
                  <a:solidFill>
                    <a:srgbClr val="FFFFFF"/>
                  </a:solidFill>
                  <a:latin typeface="+mn-lt"/>
                  <a:ea typeface="+mn-ea"/>
                  <a:cs typeface="+mn-cs"/>
                </a:rPr>
                <a:t>张，所以绝大多数商用多处理器采用写作废</a:t>
              </a:r>
            </a:p>
          </p:txBody>
        </p:sp>
      </p:grpSp>
      <p:grpSp>
        <p:nvGrpSpPr>
          <p:cNvPr id="59" name="c2-callout-2"/>
          <p:cNvGrpSpPr/>
          <p:nvPr/>
        </p:nvGrpSpPr>
        <p:grpSpPr>
          <a:xfrm>
            <a:off x="6464618" y="4272915"/>
            <a:ext cx="5193982" cy="2029778"/>
            <a:chOff x="6464618" y="4272915"/>
            <a:chExt cx="5193982" cy="2029778"/>
          </a:xfrm>
        </p:grpSpPr>
        <p:sp>
          <p:nvSpPr>
            <p:cNvPr id="53" name="Rectangle 53"/>
            <p:cNvSpPr/>
            <p:nvPr/>
          </p:nvSpPr>
          <p:spPr>
            <a:xfrm>
              <a:off x="6464618" y="4272915"/>
              <a:ext cx="5193982" cy="2029778"/>
            </a:xfrm>
            <a:prstGeom prst="roundRect">
              <a:avLst>
                <a:gd name="adj" fmla="val 5631"/>
              </a:avLst>
            </a:prstGeom>
            <a:solidFill>
              <a:srgbClr val="FDEEE7"/>
            </a:solidFill>
            <a:ln>
              <a:noFill/>
            </a:ln>
          </p:spPr>
        </p:sp>
        <p:grpSp>
          <p:nvGrpSpPr>
            <p:cNvPr id="57" name="Group 57"/>
            <p:cNvGrpSpPr/>
            <p:nvPr/>
          </p:nvGrpSpPr>
          <p:grpSpPr>
            <a:xfrm>
              <a:off x="6669405" y="5187315"/>
              <a:ext cx="200026" cy="200025"/>
              <a:chOff x="6669405" y="5187315"/>
              <a:chExt cx="200026" cy="200025"/>
            </a:xfrm>
          </p:grpSpPr>
          <p:sp>
            <p:nvSpPr>
              <p:cNvPr id="54" name="Freeform 54"/>
              <p:cNvSpPr/>
              <p:nvPr/>
            </p:nvSpPr>
            <p:spPr>
              <a:xfrm>
                <a:off x="6669405" y="5187315"/>
                <a:ext cx="200026" cy="100013"/>
              </a:xfrm>
              <a:custGeom>
                <a:avLst/>
                <a:gdLst/>
                <a:ahLst/>
                <a:cxnLst/>
                <a:rect l="l" t="t" r="r" b="b"/>
                <a:pathLst>
                  <a:path w="200026" h="100013">
                    <a:moveTo>
                      <a:pt x="0" y="100013"/>
                    </a:moveTo>
                    <a:lnTo>
                      <a:pt x="11113" y="100013"/>
                    </a:lnTo>
                    <a:moveTo>
                      <a:pt x="100013" y="0"/>
                    </a:moveTo>
                    <a:lnTo>
                      <a:pt x="100013" y="11113"/>
                    </a:lnTo>
                    <a:moveTo>
                      <a:pt x="188913" y="100013"/>
                    </a:moveTo>
                    <a:lnTo>
                      <a:pt x="200026" y="100013"/>
                    </a:lnTo>
                    <a:moveTo>
                      <a:pt x="28893" y="28893"/>
                    </a:moveTo>
                    <a:lnTo>
                      <a:pt x="36671" y="36671"/>
                    </a:lnTo>
                    <a:moveTo>
                      <a:pt x="171133" y="28893"/>
                    </a:moveTo>
                    <a:lnTo>
                      <a:pt x="163354" y="36671"/>
                    </a:lnTo>
                  </a:path>
                </a:pathLst>
              </a:custGeom>
              <a:noFill/>
              <a:ln w="22225">
                <a:solidFill>
                  <a:srgbClr val="C2410C"/>
                </a:solidFill>
              </a:ln>
            </p:spPr>
          </p:sp>
          <p:sp>
            <p:nvSpPr>
              <p:cNvPr id="55" name="Freeform 55"/>
              <p:cNvSpPr/>
              <p:nvPr/>
            </p:nvSpPr>
            <p:spPr>
              <a:xfrm>
                <a:off x="6709144" y="5231765"/>
                <a:ext cx="120548" cy="155575"/>
              </a:xfrm>
              <a:custGeom>
                <a:avLst/>
                <a:gdLst/>
                <a:ahLst/>
                <a:cxnLst/>
                <a:rect l="l" t="t" r="r" b="b"/>
                <a:pathLst>
                  <a:path w="120548" h="155575">
                    <a:moveTo>
                      <a:pt x="26937" y="100013"/>
                    </a:moveTo>
                    <a:cubicBezTo>
                      <a:pt x="7804" y="85663"/>
                      <a:pt x="0" y="60681"/>
                      <a:pt x="7563" y="37992"/>
                    </a:cubicBezTo>
                    <a:cubicBezTo>
                      <a:pt x="15126" y="15304"/>
                      <a:pt x="36358" y="0"/>
                      <a:pt x="60274" y="0"/>
                    </a:cubicBezTo>
                    <a:cubicBezTo>
                      <a:pt x="84190" y="0"/>
                      <a:pt x="105423" y="15304"/>
                      <a:pt x="112986" y="37992"/>
                    </a:cubicBezTo>
                    <a:cubicBezTo>
                      <a:pt x="120548" y="60681"/>
                      <a:pt x="112745" y="85663"/>
                      <a:pt x="93612" y="100013"/>
                    </a:cubicBezTo>
                    <a:cubicBezTo>
                      <a:pt x="84812" y="108723"/>
                      <a:pt x="80686" y="121103"/>
                      <a:pt x="82499" y="133350"/>
                    </a:cubicBezTo>
                    <a:cubicBezTo>
                      <a:pt x="82499" y="145625"/>
                      <a:pt x="72549" y="155575"/>
                      <a:pt x="60274" y="155575"/>
                    </a:cubicBezTo>
                    <a:cubicBezTo>
                      <a:pt x="48000" y="155575"/>
                      <a:pt x="38049" y="145625"/>
                      <a:pt x="38049" y="133350"/>
                    </a:cubicBezTo>
                    <a:cubicBezTo>
                      <a:pt x="39862" y="121103"/>
                      <a:pt x="35736" y="108723"/>
                      <a:pt x="26937" y="100013"/>
                    </a:cubicBezTo>
                  </a:path>
                </a:pathLst>
              </a:custGeom>
              <a:noFill/>
              <a:ln w="22225">
                <a:solidFill>
                  <a:srgbClr val="C2410C"/>
                </a:solidFill>
              </a:ln>
            </p:spPr>
          </p:sp>
          <p:sp>
            <p:nvSpPr>
              <p:cNvPr id="56" name="Freeform 56"/>
              <p:cNvSpPr/>
              <p:nvPr/>
            </p:nvSpPr>
            <p:spPr>
              <a:xfrm>
                <a:off x="6743859" y="5342891"/>
                <a:ext cx="51118" cy="9525"/>
              </a:xfrm>
              <a:custGeom>
                <a:avLst/>
                <a:gdLst/>
                <a:ahLst/>
                <a:cxnLst/>
                <a:rect l="l" t="t" r="r" b="b"/>
                <a:pathLst>
                  <a:path w="51118" h="9525">
                    <a:moveTo>
                      <a:pt x="0" y="0"/>
                    </a:moveTo>
                    <a:lnTo>
                      <a:pt x="51118" y="0"/>
                    </a:lnTo>
                  </a:path>
                </a:pathLst>
              </a:custGeom>
              <a:noFill/>
              <a:ln w="22225">
                <a:solidFill>
                  <a:srgbClr val="C2410C"/>
                </a:solidFill>
              </a:ln>
            </p:spPr>
          </p:sp>
        </p:grpSp>
        <p:sp>
          <p:nvSpPr>
            <p:cNvPr id="58" name="TextBox 58"/>
            <p:cNvSpPr txBox="1"/>
            <p:nvPr/>
          </p:nvSpPr>
          <p:spPr>
            <a:xfrm>
              <a:off x="6971348" y="4906328"/>
              <a:ext cx="4206240" cy="845820"/>
            </a:xfrm>
            <a:prstGeom prst="rect">
              <a:avLst/>
            </a:prstGeom>
            <a:noFill/>
            <a:ln>
              <a:noFill/>
            </a:ln>
          </p:spPr>
          <p:txBody>
            <a:bodyPr wrap="none" lIns="0" tIns="0" rIns="0" bIns="0" anchor="t" anchorCtr="0">
              <a:spAutoFit/>
            </a:bodyPr>
            <a:lstStyle/>
            <a:p>
              <a:pPr algn="l">
                <a:lnSpc>
                  <a:spcPts val="2175"/>
                </a:lnSpc>
              </a:pPr>
              <a:r>
                <a:rPr lang="zh-CN" sz="1500" dirty="0">
                  <a:solidFill>
                    <a:srgbClr val="C2410C"/>
                  </a:solidFill>
                  <a:latin typeface="+mn-lt"/>
                  <a:ea typeface="+mn-ea"/>
                  <a:cs typeface="+mn-cs"/>
                </a:rPr>
                <a:t>估算总线负担时把消息分成两类分别计数：只带地</a:t>
              </a:r>
              <a:br/>
              <a:r>
                <a:rPr lang="zh-CN" sz="1500" dirty="0">
                  <a:solidFill>
                    <a:srgbClr val="C2410C"/>
                  </a:solidFill>
                  <a:latin typeface="+mn-lt"/>
                  <a:ea typeface="+mn-ea"/>
                  <a:cs typeface="+mn-cs"/>
                </a:rPr>
                <a:t>址的状态消息（作废、缺失请求），以及带数据的</a:t>
              </a:r>
              <a:br/>
              <a:r>
                <a:rPr lang="zh-CN" sz="1500" dirty="0">
                  <a:solidFill>
                    <a:srgbClr val="C2410C"/>
                  </a:solidFill>
                  <a:latin typeface="+mn-lt"/>
                  <a:ea typeface="+mn-ea"/>
                  <a:cs typeface="+mn-cs"/>
                </a:rPr>
                <a:t>传送（整块或单字）。</a:t>
              </a:r>
            </a:p>
          </p:txBody>
        </p:sp>
      </p:grpSp>
      <p:grpSp>
        <p:nvGrpSpPr>
          <p:cNvPr id="62" name="footer"/>
          <p:cNvGrpSpPr/>
          <p:nvPr/>
        </p:nvGrpSpPr>
        <p:grpSpPr>
          <a:xfrm>
            <a:off x="528447" y="6581299"/>
            <a:ext cx="11135106" cy="190690"/>
            <a:chOff x="528447" y="6581299"/>
            <a:chExt cx="11135106" cy="190690"/>
          </a:xfrm>
        </p:grpSpPr>
        <p:sp>
          <p:nvSpPr>
            <p:cNvPr id="60" name="TextBox 60"/>
            <p:cNvSpPr txBox="1"/>
            <p:nvPr/>
          </p:nvSpPr>
          <p:spPr>
            <a:xfrm>
              <a:off x="528447" y="6581299"/>
              <a:ext cx="2120748"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并行与分布式计算 · 第7章 体系结构</a:t>
              </a:r>
            </a:p>
          </p:txBody>
        </p:sp>
        <p:sp>
          <p:nvSpPr>
            <p:cNvPr id="61" name="TextBox 61"/>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21</a:t>
              </a:r>
            </a:p>
          </p:txBody>
        </p:sp>
      </p:grpSp>
    </p:spTree>
  </p:cSld>
  <p:clrMapOvr>
    <a:masterClrMapping/>
  </p:clrMapOvr>
  <p:transition xmlns:p14="http://schemas.microsoft.com/office/powerpoint/2010/main" p14:dur="400">
    <p:fade/>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7316769" cy="909257"/>
            <a:chOff x="520446" y="342900"/>
            <a:chExt cx="7316769" cy="909257"/>
          </a:xfrm>
        </p:grpSpPr>
        <p:sp>
          <p:nvSpPr>
            <p:cNvPr id="2" name="Rectangle 2"/>
            <p:cNvSpPr/>
            <p:nvPr/>
          </p:nvSpPr>
          <p:spPr>
            <a:xfrm>
              <a:off x="533400" y="342900"/>
              <a:ext cx="2586038" cy="266700"/>
            </a:xfrm>
            <a:prstGeom prst="roundRect">
              <a:avLst>
                <a:gd name="adj" fmla="val 50000"/>
              </a:avLst>
            </a:prstGeom>
            <a:solidFill>
              <a:srgbClr val="E7EDF3"/>
            </a:solidFill>
            <a:ln>
              <a:noFill/>
            </a:ln>
          </p:spPr>
        </p:sp>
        <p:sp>
          <p:nvSpPr>
            <p:cNvPr id="3" name="TextBox 3"/>
            <p:cNvSpPr txBox="1"/>
            <p:nvPr/>
          </p:nvSpPr>
          <p:spPr>
            <a:xfrm>
              <a:off x="587464" y="407194"/>
              <a:ext cx="2476957"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第7章 体系结构 · Cache 一致性问题</a:t>
              </a:r>
            </a:p>
          </p:txBody>
        </p:sp>
        <p:sp>
          <p:nvSpPr>
            <p:cNvPr id="4" name="TextBox 4"/>
            <p:cNvSpPr txBox="1"/>
            <p:nvPr/>
          </p:nvSpPr>
          <p:spPr>
            <a:xfrm>
              <a:off x="520446" y="753428"/>
              <a:ext cx="7316769"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实现监听协议：Cache 里现成的位几乎都能复用</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8" name="c1-text-1"/>
          <p:cNvGrpSpPr/>
          <p:nvPr/>
        </p:nvGrpSpPr>
        <p:grpSpPr>
          <a:xfrm>
            <a:off x="527304" y="1544002"/>
            <a:ext cx="3418271" cy="234696"/>
            <a:chOff x="527304" y="1544002"/>
            <a:chExt cx="3418271" cy="234696"/>
          </a:xfrm>
        </p:grpSpPr>
        <p:sp>
          <p:nvSpPr>
            <p:cNvPr id="7" name="TextBox 7"/>
            <p:cNvSpPr txBox="1"/>
            <p:nvPr/>
          </p:nvSpPr>
          <p:spPr>
            <a:xfrm>
              <a:off x="527304" y="1544002"/>
              <a:ext cx="3418271" cy="234696"/>
            </a:xfrm>
            <a:prstGeom prst="rect">
              <a:avLst/>
            </a:prstGeom>
            <a:noFill/>
            <a:ln>
              <a:noFill/>
            </a:ln>
          </p:spPr>
          <p:txBody>
            <a:bodyPr wrap="none" lIns="0" tIns="0" rIns="0" bIns="0" anchor="t" anchorCtr="0">
              <a:spAutoFit/>
            </a:bodyPr>
            <a:lstStyle/>
            <a:p>
              <a:pPr algn="l"/>
              <a:r>
                <a:rPr lang="zh-CN" sz="1200" dirty="0">
                  <a:solidFill>
                    <a:srgbClr val="5B6475"/>
                  </a:solidFill>
                  <a:latin typeface="+mn-lt"/>
                  <a:ea typeface="+mn-ea"/>
                  <a:cs typeface="+mn-cs"/>
                </a:rPr>
                <a:t>Cache 由查找表和数据表组成，一项对应一行：</a:t>
              </a:r>
            </a:p>
          </p:txBody>
        </p:sp>
      </p:grpSp>
      <p:grpSp>
        <p:nvGrpSpPr>
          <p:cNvPr id="26" name="c1-cells-2"/>
          <p:cNvGrpSpPr/>
          <p:nvPr/>
        </p:nvGrpSpPr>
        <p:grpSpPr>
          <a:xfrm>
            <a:off x="527304" y="1916430"/>
            <a:ext cx="4766691" cy="1552576"/>
            <a:chOff x="527304" y="1916430"/>
            <a:chExt cx="4766691" cy="1552576"/>
          </a:xfrm>
        </p:grpSpPr>
        <p:sp>
          <p:nvSpPr>
            <p:cNvPr id="9" name="TextBox 9"/>
            <p:cNvSpPr txBox="1"/>
            <p:nvPr/>
          </p:nvSpPr>
          <p:spPr>
            <a:xfrm>
              <a:off x="527304" y="2045018"/>
              <a:ext cx="658368" cy="234696"/>
            </a:xfrm>
            <a:prstGeom prst="rect">
              <a:avLst/>
            </a:prstGeom>
            <a:noFill/>
            <a:ln>
              <a:noFill/>
            </a:ln>
          </p:spPr>
          <p:txBody>
            <a:bodyPr wrap="none" lIns="0" tIns="0" rIns="0" bIns="0" anchor="t" anchorCtr="0">
              <a:spAutoFit/>
            </a:bodyPr>
            <a:lstStyle/>
            <a:p>
              <a:pPr algn="l"/>
              <a:r>
                <a:rPr lang="zh-CN" sz="1200" b="1" dirty="0">
                  <a:solidFill>
                    <a:srgbClr val="334E68"/>
                  </a:solidFill>
                  <a:latin typeface="+mn-lt"/>
                  <a:ea typeface="+mn-ea"/>
                  <a:cs typeface="+mn-cs"/>
                </a:rPr>
                <a:t>查找表项</a:t>
              </a:r>
            </a:p>
          </p:txBody>
        </p:sp>
        <p:sp>
          <p:nvSpPr>
            <p:cNvPr id="10" name="Rectangle 10"/>
            <p:cNvSpPr/>
            <p:nvPr/>
          </p:nvSpPr>
          <p:spPr>
            <a:xfrm>
              <a:off x="1276350" y="1916430"/>
              <a:ext cx="1339215" cy="406718"/>
            </a:xfrm>
            <a:prstGeom prst="rect">
              <a:avLst/>
            </a:prstGeom>
            <a:solidFill>
              <a:srgbClr val="FDEEE7"/>
            </a:solidFill>
            <a:ln w="15240">
              <a:solidFill>
                <a:srgbClr val="F26B3A"/>
              </a:solidFill>
            </a:ln>
          </p:spPr>
        </p:sp>
        <p:sp>
          <p:nvSpPr>
            <p:cNvPr id="11" name="TextBox 11"/>
            <p:cNvSpPr txBox="1"/>
            <p:nvPr/>
          </p:nvSpPr>
          <p:spPr>
            <a:xfrm>
              <a:off x="1841289" y="2045018"/>
              <a:ext cx="209337" cy="234696"/>
            </a:xfrm>
            <a:prstGeom prst="rect">
              <a:avLst/>
            </a:prstGeom>
            <a:noFill/>
            <a:ln>
              <a:noFill/>
            </a:ln>
          </p:spPr>
          <p:txBody>
            <a:bodyPr wrap="none" lIns="0" tIns="0" rIns="0" bIns="0" anchor="t" anchorCtr="0">
              <a:spAutoFit/>
            </a:bodyPr>
            <a:lstStyle/>
            <a:p>
              <a:pPr algn="ctr"/>
              <a:r>
                <a:rPr lang="en-US" sz="1200" b="1" dirty="0">
                  <a:solidFill>
                    <a:srgbClr val="1F2937"/>
                  </a:solidFill>
                  <a:latin typeface="+mn-lt"/>
                  <a:ea typeface="+mn-ea"/>
                  <a:cs typeface="+mn-cs"/>
                </a:rPr>
                <a:t>EF</a:t>
              </a:r>
            </a:p>
          </p:txBody>
        </p:sp>
        <p:sp>
          <p:nvSpPr>
            <p:cNvPr id="12" name="Rectangle 12"/>
            <p:cNvSpPr/>
            <p:nvPr/>
          </p:nvSpPr>
          <p:spPr>
            <a:xfrm>
              <a:off x="2615565" y="1916430"/>
              <a:ext cx="1339215" cy="406718"/>
            </a:xfrm>
            <a:prstGeom prst="rect">
              <a:avLst/>
            </a:prstGeom>
            <a:solidFill>
              <a:srgbClr val="FDEEE7"/>
            </a:solidFill>
            <a:ln w="15240">
              <a:solidFill>
                <a:srgbClr val="F26B3A"/>
              </a:solidFill>
            </a:ln>
          </p:spPr>
        </p:sp>
        <p:sp>
          <p:nvSpPr>
            <p:cNvPr id="13" name="TextBox 13"/>
            <p:cNvSpPr txBox="1"/>
            <p:nvPr/>
          </p:nvSpPr>
          <p:spPr>
            <a:xfrm>
              <a:off x="3180504" y="2045018"/>
              <a:ext cx="209337" cy="234696"/>
            </a:xfrm>
            <a:prstGeom prst="rect">
              <a:avLst/>
            </a:prstGeom>
            <a:noFill/>
            <a:ln>
              <a:noFill/>
            </a:ln>
          </p:spPr>
          <p:txBody>
            <a:bodyPr wrap="none" lIns="0" tIns="0" rIns="0" bIns="0" anchor="t" anchorCtr="0">
              <a:spAutoFit/>
            </a:bodyPr>
            <a:lstStyle/>
            <a:p>
              <a:pPr algn="ctr"/>
              <a:r>
                <a:rPr lang="en-US" sz="1200" b="1" dirty="0">
                  <a:solidFill>
                    <a:srgbClr val="1F2937"/>
                  </a:solidFill>
                  <a:latin typeface="+mn-lt"/>
                  <a:ea typeface="+mn-ea"/>
                  <a:cs typeface="+mn-cs"/>
                </a:rPr>
                <a:t>DF</a:t>
              </a:r>
            </a:p>
          </p:txBody>
        </p:sp>
        <p:sp>
          <p:nvSpPr>
            <p:cNvPr id="14" name="Rectangle 14"/>
            <p:cNvSpPr/>
            <p:nvPr/>
          </p:nvSpPr>
          <p:spPr>
            <a:xfrm>
              <a:off x="3954780" y="1916430"/>
              <a:ext cx="1339215" cy="406718"/>
            </a:xfrm>
            <a:prstGeom prst="rect">
              <a:avLst/>
            </a:prstGeom>
            <a:solidFill>
              <a:srgbClr val="FFFFFF"/>
            </a:solidFill>
            <a:ln w="15240">
              <a:solidFill>
                <a:srgbClr val="334E68"/>
              </a:solidFill>
            </a:ln>
          </p:spPr>
        </p:sp>
        <p:sp>
          <p:nvSpPr>
            <p:cNvPr id="15" name="TextBox 15"/>
            <p:cNvSpPr txBox="1"/>
            <p:nvPr/>
          </p:nvSpPr>
          <p:spPr>
            <a:xfrm>
              <a:off x="4475714" y="2045018"/>
              <a:ext cx="297348" cy="234696"/>
            </a:xfrm>
            <a:prstGeom prst="rect">
              <a:avLst/>
            </a:prstGeom>
            <a:noFill/>
            <a:ln>
              <a:noFill/>
            </a:ln>
          </p:spPr>
          <p:txBody>
            <a:bodyPr wrap="none" lIns="0" tIns="0" rIns="0" bIns="0" anchor="t" anchorCtr="0">
              <a:spAutoFit/>
            </a:bodyPr>
            <a:lstStyle/>
            <a:p>
              <a:pPr algn="ctr"/>
              <a:r>
                <a:rPr lang="en-US" sz="1200" b="1" dirty="0">
                  <a:solidFill>
                    <a:srgbClr val="1F2937"/>
                  </a:solidFill>
                  <a:latin typeface="+mn-lt"/>
                  <a:ea typeface="+mn-ea"/>
                  <a:cs typeface="+mn-cs"/>
                </a:rPr>
                <a:t>Tag</a:t>
              </a:r>
            </a:p>
          </p:txBody>
        </p:sp>
        <p:sp>
          <p:nvSpPr>
            <p:cNvPr id="16" name="TextBox 16"/>
            <p:cNvSpPr txBox="1"/>
            <p:nvPr/>
          </p:nvSpPr>
          <p:spPr>
            <a:xfrm>
              <a:off x="527304" y="2618422"/>
              <a:ext cx="658368" cy="234696"/>
            </a:xfrm>
            <a:prstGeom prst="rect">
              <a:avLst/>
            </a:prstGeom>
            <a:noFill/>
            <a:ln>
              <a:noFill/>
            </a:ln>
          </p:spPr>
          <p:txBody>
            <a:bodyPr wrap="none" lIns="0" tIns="0" rIns="0" bIns="0" anchor="t" anchorCtr="0">
              <a:spAutoFit/>
            </a:bodyPr>
            <a:lstStyle/>
            <a:p>
              <a:pPr algn="l"/>
              <a:r>
                <a:rPr lang="zh-CN" sz="1200" b="1" dirty="0">
                  <a:solidFill>
                    <a:srgbClr val="334E68"/>
                  </a:solidFill>
                  <a:latin typeface="+mn-lt"/>
                  <a:ea typeface="+mn-ea"/>
                  <a:cs typeface="+mn-cs"/>
                </a:rPr>
                <a:t>数据表项</a:t>
              </a:r>
            </a:p>
          </p:txBody>
        </p:sp>
        <p:sp>
          <p:nvSpPr>
            <p:cNvPr id="17" name="Rectangle 17"/>
            <p:cNvSpPr/>
            <p:nvPr/>
          </p:nvSpPr>
          <p:spPr>
            <a:xfrm>
              <a:off x="1276350" y="2489835"/>
              <a:ext cx="1339215" cy="406718"/>
            </a:xfrm>
            <a:prstGeom prst="rect">
              <a:avLst/>
            </a:prstGeom>
            <a:solidFill>
              <a:srgbClr val="FFFFFF"/>
            </a:solidFill>
            <a:ln w="15240">
              <a:solidFill>
                <a:srgbClr val="334E68"/>
              </a:solidFill>
            </a:ln>
          </p:spPr>
        </p:sp>
        <p:sp>
          <p:nvSpPr>
            <p:cNvPr id="18" name="TextBox 18"/>
            <p:cNvSpPr txBox="1"/>
            <p:nvPr/>
          </p:nvSpPr>
          <p:spPr>
            <a:xfrm>
              <a:off x="1750638" y="2618422"/>
              <a:ext cx="390639" cy="234696"/>
            </a:xfrm>
            <a:prstGeom prst="rect">
              <a:avLst/>
            </a:prstGeom>
            <a:noFill/>
            <a:ln>
              <a:noFill/>
            </a:ln>
          </p:spPr>
          <p:txBody>
            <a:bodyPr wrap="none" lIns="0" tIns="0" rIns="0" bIns="0" anchor="t" anchorCtr="0">
              <a:spAutoFit/>
            </a:bodyPr>
            <a:lstStyle/>
            <a:p>
              <a:pPr algn="ctr"/>
              <a:r>
                <a:rPr lang="en-US" sz="1200" b="1" dirty="0">
                  <a:solidFill>
                    <a:srgbClr val="1F2937"/>
                  </a:solidFill>
                  <a:latin typeface="+mn-lt"/>
                  <a:ea typeface="+mn-ea"/>
                  <a:cs typeface="+mn-cs"/>
                </a:rPr>
                <a:t>Data</a:t>
              </a:r>
            </a:p>
          </p:txBody>
        </p:sp>
        <p:sp>
          <p:nvSpPr>
            <p:cNvPr id="19" name="TextBox 19"/>
            <p:cNvSpPr txBox="1"/>
            <p:nvPr/>
          </p:nvSpPr>
          <p:spPr>
            <a:xfrm>
              <a:off x="527304" y="3190875"/>
              <a:ext cx="658368" cy="234696"/>
            </a:xfrm>
            <a:prstGeom prst="rect">
              <a:avLst/>
            </a:prstGeom>
            <a:noFill/>
            <a:ln>
              <a:noFill/>
            </a:ln>
          </p:spPr>
          <p:txBody>
            <a:bodyPr wrap="none" lIns="0" tIns="0" rIns="0" bIns="0" anchor="t" anchorCtr="0">
              <a:spAutoFit/>
            </a:bodyPr>
            <a:lstStyle/>
            <a:p>
              <a:pPr algn="l"/>
              <a:r>
                <a:rPr lang="zh-CN" sz="1200" b="1" dirty="0">
                  <a:solidFill>
                    <a:srgbClr val="334E68"/>
                  </a:solidFill>
                  <a:latin typeface="+mn-lt"/>
                  <a:ea typeface="+mn-ea"/>
                  <a:cs typeface="+mn-cs"/>
                </a:rPr>
                <a:t>主存地址</a:t>
              </a:r>
            </a:p>
          </p:txBody>
        </p:sp>
        <p:sp>
          <p:nvSpPr>
            <p:cNvPr id="20" name="Rectangle 20"/>
            <p:cNvSpPr/>
            <p:nvPr/>
          </p:nvSpPr>
          <p:spPr>
            <a:xfrm>
              <a:off x="1276350" y="3062288"/>
              <a:ext cx="1339215" cy="406718"/>
            </a:xfrm>
            <a:prstGeom prst="rect">
              <a:avLst/>
            </a:prstGeom>
            <a:solidFill>
              <a:srgbClr val="FDEEE7"/>
            </a:solidFill>
            <a:ln w="15240">
              <a:solidFill>
                <a:srgbClr val="F26B3A"/>
              </a:solidFill>
            </a:ln>
          </p:spPr>
        </p:sp>
        <p:sp>
          <p:nvSpPr>
            <p:cNvPr id="21" name="TextBox 21"/>
            <p:cNvSpPr txBox="1"/>
            <p:nvPr/>
          </p:nvSpPr>
          <p:spPr>
            <a:xfrm>
              <a:off x="1797284" y="3190875"/>
              <a:ext cx="297348" cy="234696"/>
            </a:xfrm>
            <a:prstGeom prst="rect">
              <a:avLst/>
            </a:prstGeom>
            <a:noFill/>
            <a:ln>
              <a:noFill/>
            </a:ln>
          </p:spPr>
          <p:txBody>
            <a:bodyPr wrap="none" lIns="0" tIns="0" rIns="0" bIns="0" anchor="t" anchorCtr="0">
              <a:spAutoFit/>
            </a:bodyPr>
            <a:lstStyle/>
            <a:p>
              <a:pPr algn="ctr"/>
              <a:r>
                <a:rPr lang="en-US" sz="1200" b="1" dirty="0">
                  <a:solidFill>
                    <a:srgbClr val="1F2937"/>
                  </a:solidFill>
                  <a:latin typeface="+mn-lt"/>
                  <a:ea typeface="+mn-ea"/>
                  <a:cs typeface="+mn-cs"/>
                </a:rPr>
                <a:t>Tag</a:t>
              </a:r>
            </a:p>
          </p:txBody>
        </p:sp>
        <p:sp>
          <p:nvSpPr>
            <p:cNvPr id="22" name="Rectangle 22"/>
            <p:cNvSpPr/>
            <p:nvPr/>
          </p:nvSpPr>
          <p:spPr>
            <a:xfrm>
              <a:off x="2615565" y="3062288"/>
              <a:ext cx="1339215" cy="406718"/>
            </a:xfrm>
            <a:prstGeom prst="rect">
              <a:avLst/>
            </a:prstGeom>
            <a:solidFill>
              <a:srgbClr val="FFFFFF"/>
            </a:solidFill>
            <a:ln w="15240">
              <a:solidFill>
                <a:srgbClr val="334E68"/>
              </a:solidFill>
            </a:ln>
          </p:spPr>
        </p:sp>
        <p:sp>
          <p:nvSpPr>
            <p:cNvPr id="23" name="TextBox 23"/>
            <p:cNvSpPr txBox="1"/>
            <p:nvPr/>
          </p:nvSpPr>
          <p:spPr>
            <a:xfrm>
              <a:off x="3064650" y="3190875"/>
              <a:ext cx="441046" cy="234696"/>
            </a:xfrm>
            <a:prstGeom prst="rect">
              <a:avLst/>
            </a:prstGeom>
            <a:noFill/>
            <a:ln>
              <a:noFill/>
            </a:ln>
          </p:spPr>
          <p:txBody>
            <a:bodyPr wrap="none" lIns="0" tIns="0" rIns="0" bIns="0" anchor="t" anchorCtr="0">
              <a:spAutoFit/>
            </a:bodyPr>
            <a:lstStyle/>
            <a:p>
              <a:pPr algn="ctr"/>
              <a:r>
                <a:rPr lang="en-US" sz="1200" b="1" dirty="0">
                  <a:solidFill>
                    <a:srgbClr val="1F2937"/>
                  </a:solidFill>
                  <a:latin typeface="+mn-lt"/>
                  <a:ea typeface="+mn-ea"/>
                  <a:cs typeface="+mn-cs"/>
                </a:rPr>
                <a:t>Index</a:t>
              </a:r>
            </a:p>
          </p:txBody>
        </p:sp>
        <p:sp>
          <p:nvSpPr>
            <p:cNvPr id="24" name="Rectangle 24"/>
            <p:cNvSpPr/>
            <p:nvPr/>
          </p:nvSpPr>
          <p:spPr>
            <a:xfrm>
              <a:off x="3954780" y="3062288"/>
              <a:ext cx="1339215" cy="406718"/>
            </a:xfrm>
            <a:prstGeom prst="rect">
              <a:avLst/>
            </a:prstGeom>
            <a:solidFill>
              <a:srgbClr val="FFFFFF"/>
            </a:solidFill>
            <a:ln w="15240">
              <a:solidFill>
                <a:srgbClr val="334E68"/>
              </a:solidFill>
            </a:ln>
          </p:spPr>
        </p:sp>
        <p:sp>
          <p:nvSpPr>
            <p:cNvPr id="25" name="TextBox 25"/>
            <p:cNvSpPr txBox="1"/>
            <p:nvPr/>
          </p:nvSpPr>
          <p:spPr>
            <a:xfrm>
              <a:off x="4318654" y="3190875"/>
              <a:ext cx="611467" cy="234696"/>
            </a:xfrm>
            <a:prstGeom prst="rect">
              <a:avLst/>
            </a:prstGeom>
            <a:noFill/>
            <a:ln>
              <a:noFill/>
            </a:ln>
          </p:spPr>
          <p:txBody>
            <a:bodyPr wrap="none" lIns="0" tIns="0" rIns="0" bIns="0" anchor="t" anchorCtr="0">
              <a:spAutoFit/>
            </a:bodyPr>
            <a:lstStyle/>
            <a:p>
              <a:pPr algn="ctr"/>
              <a:r>
                <a:rPr lang="en-US" sz="1200" b="1" dirty="0">
                  <a:solidFill>
                    <a:srgbClr val="1F2937"/>
                  </a:solidFill>
                  <a:latin typeface="+mn-lt"/>
                  <a:ea typeface="+mn-ea"/>
                  <a:cs typeface="+mn-cs"/>
                </a:rPr>
                <a:t>Offset</a:t>
              </a:r>
            </a:p>
          </p:txBody>
        </p:sp>
      </p:grpSp>
      <p:grpSp>
        <p:nvGrpSpPr>
          <p:cNvPr id="28" name="c1-text-3"/>
          <p:cNvGrpSpPr/>
          <p:nvPr/>
        </p:nvGrpSpPr>
        <p:grpSpPr>
          <a:xfrm>
            <a:off x="527304" y="3673792"/>
            <a:ext cx="4523232" cy="707136"/>
            <a:chOff x="527304" y="3673792"/>
            <a:chExt cx="4523232" cy="707136"/>
          </a:xfrm>
        </p:grpSpPr>
        <p:sp>
          <p:nvSpPr>
            <p:cNvPr id="27" name="TextBox 27"/>
            <p:cNvSpPr txBox="1"/>
            <p:nvPr/>
          </p:nvSpPr>
          <p:spPr>
            <a:xfrm>
              <a:off x="527304" y="3673792"/>
              <a:ext cx="4523232" cy="707136"/>
            </a:xfrm>
            <a:prstGeom prst="rect">
              <a:avLst/>
            </a:prstGeom>
            <a:noFill/>
            <a:ln>
              <a:noFill/>
            </a:ln>
          </p:spPr>
          <p:txBody>
            <a:bodyPr wrap="none" lIns="0" tIns="0" rIns="0" bIns="0" anchor="t" anchorCtr="0">
              <a:spAutoFit/>
            </a:bodyPr>
            <a:lstStyle/>
            <a:p>
              <a:pPr algn="l">
                <a:lnSpc>
                  <a:spcPts val="1860"/>
                </a:lnSpc>
              </a:pPr>
              <a:r>
                <a:rPr lang="zh-CN" sz="1200" dirty="0">
                  <a:solidFill>
                    <a:srgbClr val="1F2937"/>
                  </a:solidFill>
                  <a:latin typeface="+mn-lt"/>
                  <a:ea typeface="+mn-ea"/>
                  <a:cs typeface="+mn-cs"/>
                </a:rPr>
                <a:t>用地址的 Index 找到对应表项，比较表项里的 Tag 与地址的 Tag 是</a:t>
              </a:r>
              <a:br/>
              <a:r>
                <a:rPr lang="zh-CN" sz="1200" dirty="0">
                  <a:solidFill>
                    <a:srgbClr val="1F2937"/>
                  </a:solidFill>
                  <a:latin typeface="+mn-lt"/>
                  <a:ea typeface="+mn-ea"/>
                  <a:cs typeface="+mn-cs"/>
                </a:rPr>
                <a:t>否相等来判断命中（原课件第55页）。EF、DF 是表项的标志位，监</a:t>
              </a:r>
              <a:br/>
              <a:r>
                <a:rPr lang="zh-CN" sz="1200" dirty="0">
                  <a:solidFill>
                    <a:srgbClr val="1F2937"/>
                  </a:solidFill>
                  <a:latin typeface="+mn-lt"/>
                  <a:ea typeface="+mn-ea"/>
                  <a:cs typeface="+mn-cs"/>
                </a:rPr>
                <a:t>听要用的有效位、修改位就在其中。</a:t>
              </a:r>
            </a:p>
          </p:txBody>
        </p:sp>
      </p:grpSp>
      <p:grpSp>
        <p:nvGrpSpPr>
          <p:cNvPr id="35" name="c1-callout-4"/>
          <p:cNvGrpSpPr/>
          <p:nvPr/>
        </p:nvGrpSpPr>
        <p:grpSpPr>
          <a:xfrm>
            <a:off x="533400" y="4519612"/>
            <a:ext cx="4760595" cy="1705928"/>
            <a:chOff x="533400" y="4519612"/>
            <a:chExt cx="4760595" cy="1705928"/>
          </a:xfrm>
        </p:grpSpPr>
        <p:sp>
          <p:nvSpPr>
            <p:cNvPr id="29" name="Rectangle 29"/>
            <p:cNvSpPr/>
            <p:nvPr/>
          </p:nvSpPr>
          <p:spPr>
            <a:xfrm>
              <a:off x="533400" y="4519612"/>
              <a:ext cx="4760595" cy="1705928"/>
            </a:xfrm>
            <a:prstGeom prst="roundRect">
              <a:avLst>
                <a:gd name="adj" fmla="val 6700"/>
              </a:avLst>
            </a:prstGeom>
            <a:solidFill>
              <a:srgbClr val="FDEEE7"/>
            </a:solidFill>
            <a:ln>
              <a:noFill/>
            </a:ln>
          </p:spPr>
        </p:sp>
        <p:grpSp>
          <p:nvGrpSpPr>
            <p:cNvPr id="33" name="Group 33"/>
            <p:cNvGrpSpPr/>
            <p:nvPr/>
          </p:nvGrpSpPr>
          <p:grpSpPr>
            <a:xfrm>
              <a:off x="738188" y="5272088"/>
              <a:ext cx="200026" cy="200025"/>
              <a:chOff x="738188" y="5272088"/>
              <a:chExt cx="200026" cy="200025"/>
            </a:xfrm>
          </p:grpSpPr>
          <p:sp>
            <p:nvSpPr>
              <p:cNvPr id="30" name="Freeform 30"/>
              <p:cNvSpPr/>
              <p:nvPr/>
            </p:nvSpPr>
            <p:spPr>
              <a:xfrm>
                <a:off x="738188" y="5272088"/>
                <a:ext cx="200026" cy="100013"/>
              </a:xfrm>
              <a:custGeom>
                <a:avLst/>
                <a:gdLst/>
                <a:ahLst/>
                <a:cxnLst/>
                <a:rect l="l" t="t" r="r" b="b"/>
                <a:pathLst>
                  <a:path w="200026" h="100013">
                    <a:moveTo>
                      <a:pt x="0" y="100013"/>
                    </a:moveTo>
                    <a:lnTo>
                      <a:pt x="11113" y="100013"/>
                    </a:lnTo>
                    <a:moveTo>
                      <a:pt x="100013" y="0"/>
                    </a:moveTo>
                    <a:lnTo>
                      <a:pt x="100013" y="11113"/>
                    </a:lnTo>
                    <a:moveTo>
                      <a:pt x="188913" y="100013"/>
                    </a:moveTo>
                    <a:lnTo>
                      <a:pt x="200026" y="100013"/>
                    </a:lnTo>
                    <a:moveTo>
                      <a:pt x="28893" y="28893"/>
                    </a:moveTo>
                    <a:lnTo>
                      <a:pt x="36671" y="36671"/>
                    </a:lnTo>
                    <a:moveTo>
                      <a:pt x="171133" y="28893"/>
                    </a:moveTo>
                    <a:lnTo>
                      <a:pt x="163354" y="36671"/>
                    </a:lnTo>
                  </a:path>
                </a:pathLst>
              </a:custGeom>
              <a:noFill/>
              <a:ln w="22225">
                <a:solidFill>
                  <a:srgbClr val="C2410C"/>
                </a:solidFill>
              </a:ln>
            </p:spPr>
          </p:sp>
          <p:sp>
            <p:nvSpPr>
              <p:cNvPr id="31" name="Freeform 31"/>
              <p:cNvSpPr/>
              <p:nvPr/>
            </p:nvSpPr>
            <p:spPr>
              <a:xfrm>
                <a:off x="777926" y="5316538"/>
                <a:ext cx="120548" cy="155575"/>
              </a:xfrm>
              <a:custGeom>
                <a:avLst/>
                <a:gdLst/>
                <a:ahLst/>
                <a:cxnLst/>
                <a:rect l="l" t="t" r="r" b="b"/>
                <a:pathLst>
                  <a:path w="120548" h="155575">
                    <a:moveTo>
                      <a:pt x="26937" y="100013"/>
                    </a:moveTo>
                    <a:cubicBezTo>
                      <a:pt x="7804" y="85663"/>
                      <a:pt x="0" y="60681"/>
                      <a:pt x="7563" y="37992"/>
                    </a:cubicBezTo>
                    <a:cubicBezTo>
                      <a:pt x="15126" y="15304"/>
                      <a:pt x="36358" y="0"/>
                      <a:pt x="60274" y="0"/>
                    </a:cubicBezTo>
                    <a:cubicBezTo>
                      <a:pt x="84190" y="0"/>
                      <a:pt x="105423" y="15304"/>
                      <a:pt x="112986" y="37992"/>
                    </a:cubicBezTo>
                    <a:cubicBezTo>
                      <a:pt x="120548" y="60681"/>
                      <a:pt x="112745" y="85663"/>
                      <a:pt x="93612" y="100013"/>
                    </a:cubicBezTo>
                    <a:cubicBezTo>
                      <a:pt x="84812" y="108723"/>
                      <a:pt x="80686" y="121103"/>
                      <a:pt x="82499" y="133350"/>
                    </a:cubicBezTo>
                    <a:cubicBezTo>
                      <a:pt x="82499" y="145625"/>
                      <a:pt x="72549" y="155575"/>
                      <a:pt x="60274" y="155575"/>
                    </a:cubicBezTo>
                    <a:cubicBezTo>
                      <a:pt x="48000" y="155575"/>
                      <a:pt x="38049" y="145625"/>
                      <a:pt x="38049" y="133350"/>
                    </a:cubicBezTo>
                    <a:cubicBezTo>
                      <a:pt x="39862" y="121103"/>
                      <a:pt x="35736" y="108723"/>
                      <a:pt x="26937" y="100013"/>
                    </a:cubicBezTo>
                  </a:path>
                </a:pathLst>
              </a:custGeom>
              <a:noFill/>
              <a:ln w="22225">
                <a:solidFill>
                  <a:srgbClr val="C2410C"/>
                </a:solidFill>
              </a:ln>
            </p:spPr>
          </p:sp>
          <p:sp>
            <p:nvSpPr>
              <p:cNvPr id="32" name="Freeform 32"/>
              <p:cNvSpPr/>
              <p:nvPr/>
            </p:nvSpPr>
            <p:spPr>
              <a:xfrm>
                <a:off x="812642" y="5427663"/>
                <a:ext cx="51118" cy="9525"/>
              </a:xfrm>
              <a:custGeom>
                <a:avLst/>
                <a:gdLst/>
                <a:ahLst/>
                <a:cxnLst/>
                <a:rect l="l" t="t" r="r" b="b"/>
                <a:pathLst>
                  <a:path w="51118" h="9525">
                    <a:moveTo>
                      <a:pt x="0" y="0"/>
                    </a:moveTo>
                    <a:lnTo>
                      <a:pt x="51118" y="0"/>
                    </a:lnTo>
                  </a:path>
                </a:pathLst>
              </a:custGeom>
              <a:noFill/>
              <a:ln w="22225">
                <a:solidFill>
                  <a:srgbClr val="C2410C"/>
                </a:solidFill>
              </a:ln>
            </p:spPr>
          </p:sp>
        </p:grpSp>
        <p:sp>
          <p:nvSpPr>
            <p:cNvPr id="34" name="TextBox 34"/>
            <p:cNvSpPr txBox="1"/>
            <p:nvPr/>
          </p:nvSpPr>
          <p:spPr>
            <a:xfrm>
              <a:off x="1040511" y="5141119"/>
              <a:ext cx="3621278" cy="541592"/>
            </a:xfrm>
            <a:prstGeom prst="rect">
              <a:avLst/>
            </a:prstGeom>
            <a:noFill/>
            <a:ln>
              <a:noFill/>
            </a:ln>
          </p:spPr>
          <p:txBody>
            <a:bodyPr wrap="none" lIns="0" tIns="0" rIns="0" bIns="0" anchor="t" anchorCtr="0">
              <a:spAutoFit/>
            </a:bodyPr>
            <a:lstStyle/>
            <a:p>
              <a:pPr algn="l">
                <a:lnSpc>
                  <a:spcPts val="2070"/>
                </a:lnSpc>
              </a:pPr>
              <a:r>
                <a:rPr lang="zh-CN" sz="1420" dirty="0">
                  <a:solidFill>
                    <a:srgbClr val="C2410C"/>
                  </a:solidFill>
                  <a:latin typeface="+mn-lt"/>
                  <a:ea typeface="+mn-ea"/>
                  <a:cs typeface="+mn-cs"/>
                </a:rPr>
                <a:t>监听时，控制器拿总线上出现的地址做同样的</a:t>
              </a:r>
              <a:br/>
              <a:r>
                <a:rPr lang="zh-CN" sz="1420" dirty="0">
                  <a:solidFill>
                    <a:srgbClr val="C2410C"/>
                  </a:solidFill>
                  <a:latin typeface="+mn-lt"/>
                  <a:ea typeface="+mn-ea"/>
                  <a:cs typeface="+mn-cs"/>
                </a:rPr>
                <a:t>Tag 比对，就知道别人要的块自己有没有。</a:t>
              </a:r>
            </a:p>
          </p:txBody>
        </p:sp>
      </p:grpSp>
      <p:grpSp>
        <p:nvGrpSpPr>
          <p:cNvPr id="47" name="c2-kv-1"/>
          <p:cNvGrpSpPr/>
          <p:nvPr/>
        </p:nvGrpSpPr>
        <p:grpSpPr>
          <a:xfrm>
            <a:off x="5591556" y="1547336"/>
            <a:ext cx="6067044" cy="2615184"/>
            <a:chOff x="5591556" y="1547336"/>
            <a:chExt cx="6067044" cy="2615184"/>
          </a:xfrm>
        </p:grpSpPr>
        <p:sp>
          <p:nvSpPr>
            <p:cNvPr id="36" name="TextBox 36"/>
            <p:cNvSpPr txBox="1"/>
            <p:nvPr/>
          </p:nvSpPr>
          <p:spPr>
            <a:xfrm>
              <a:off x="5591556" y="1547336"/>
              <a:ext cx="779120" cy="278702"/>
            </a:xfrm>
            <a:prstGeom prst="rect">
              <a:avLst/>
            </a:prstGeom>
            <a:noFill/>
            <a:ln>
              <a:noFill/>
            </a:ln>
          </p:spPr>
          <p:txBody>
            <a:bodyPr wrap="none" lIns="0" tIns="0" rIns="0" bIns="0" anchor="t" anchorCtr="0">
              <a:spAutoFit/>
            </a:bodyPr>
            <a:lstStyle/>
            <a:p>
              <a:pPr algn="l"/>
              <a:r>
                <a:rPr lang="zh-CN" sz="1420" b="1" dirty="0">
                  <a:solidFill>
                    <a:srgbClr val="334E68"/>
                  </a:solidFill>
                  <a:latin typeface="+mn-lt"/>
                  <a:ea typeface="+mn-ea"/>
                  <a:cs typeface="+mn-cs"/>
                </a:rPr>
                <a:t>保存什么</a:t>
              </a:r>
            </a:p>
          </p:txBody>
        </p:sp>
        <p:sp>
          <p:nvSpPr>
            <p:cNvPr id="37" name="TextBox 37"/>
            <p:cNvSpPr txBox="1"/>
            <p:nvPr/>
          </p:nvSpPr>
          <p:spPr>
            <a:xfrm>
              <a:off x="6590729" y="1547336"/>
              <a:ext cx="4748403" cy="814007"/>
            </a:xfrm>
            <a:prstGeom prst="rect">
              <a:avLst/>
            </a:prstGeom>
            <a:noFill/>
            <a:ln>
              <a:noFill/>
            </a:ln>
          </p:spPr>
          <p:txBody>
            <a:bodyPr wrap="none" lIns="0" tIns="0" rIns="0" bIns="0" anchor="t" anchorCtr="0">
              <a:spAutoFit/>
            </a:bodyPr>
            <a:lstStyle/>
            <a:p>
              <a:pPr algn="l">
                <a:lnSpc>
                  <a:spcPts val="2108"/>
                </a:lnSpc>
              </a:pPr>
              <a:r>
                <a:rPr lang="zh-CN" sz="1420" dirty="0">
                  <a:solidFill>
                    <a:srgbClr val="1F2937"/>
                  </a:solidFill>
                  <a:latin typeface="+mn-lt"/>
                  <a:ea typeface="+mn-ea"/>
                  <a:cs typeface="+mn-cs"/>
                </a:rPr>
                <a:t>替换写回法的修改位直接表示“唯一最新副本”；原有的有效</a:t>
              </a:r>
              <a:br/>
              <a:r>
                <a:rPr lang="zh-CN" sz="1420" dirty="0">
                  <a:solidFill>
                    <a:srgbClr val="1F2937"/>
                  </a:solidFill>
                  <a:latin typeface="+mn-lt"/>
                  <a:ea typeface="+mn-ea"/>
                  <a:cs typeface="+mn-cs"/>
                </a:rPr>
                <a:t>位直接实现作废；原有的 Tag 直接用于比对监听到的地址；</a:t>
              </a:r>
              <a:br/>
              <a:r>
                <a:rPr lang="zh-CN" sz="1420" dirty="0">
                  <a:solidFill>
                    <a:srgbClr val="1F2937"/>
                  </a:solidFill>
                  <a:latin typeface="+mn-lt"/>
                  <a:ea typeface="+mn-ea"/>
                  <a:cs typeface="+mn-cs"/>
                </a:rPr>
                <a:t>每块再加一个共享位（独占为 0，共享为 1）</a:t>
              </a:r>
            </a:p>
          </p:txBody>
        </p:sp>
        <p:sp>
          <p:nvSpPr>
            <p:cNvPr id="38" name="Rectangle 38"/>
            <p:cNvSpPr/>
            <p:nvPr/>
          </p:nvSpPr>
          <p:spPr>
            <a:xfrm>
              <a:off x="5598795" y="2388870"/>
              <a:ext cx="6059805" cy="9525"/>
            </a:xfrm>
            <a:prstGeom prst="rect">
              <a:avLst/>
            </a:prstGeom>
            <a:solidFill>
              <a:srgbClr val="D9DFEA"/>
            </a:solidFill>
            <a:ln>
              <a:noFill/>
            </a:ln>
          </p:spPr>
        </p:sp>
        <p:sp>
          <p:nvSpPr>
            <p:cNvPr id="39" name="TextBox 39"/>
            <p:cNvSpPr txBox="1"/>
            <p:nvPr/>
          </p:nvSpPr>
          <p:spPr>
            <a:xfrm>
              <a:off x="5591556" y="2504599"/>
              <a:ext cx="779120" cy="278702"/>
            </a:xfrm>
            <a:prstGeom prst="rect">
              <a:avLst/>
            </a:prstGeom>
            <a:noFill/>
            <a:ln>
              <a:noFill/>
            </a:ln>
          </p:spPr>
          <p:txBody>
            <a:bodyPr wrap="none" lIns="0" tIns="0" rIns="0" bIns="0" anchor="t" anchorCtr="0">
              <a:spAutoFit/>
            </a:bodyPr>
            <a:lstStyle/>
            <a:p>
              <a:pPr algn="l"/>
              <a:r>
                <a:rPr lang="zh-CN" sz="1420" b="1" dirty="0">
                  <a:solidFill>
                    <a:srgbClr val="334E68"/>
                  </a:solidFill>
                  <a:latin typeface="+mn-lt"/>
                  <a:ea typeface="+mn-ea"/>
                  <a:cs typeface="+mn-cs"/>
                </a:rPr>
                <a:t>传递什么</a:t>
              </a:r>
            </a:p>
          </p:txBody>
        </p:sp>
        <p:sp>
          <p:nvSpPr>
            <p:cNvPr id="40" name="TextBox 40"/>
            <p:cNvSpPr txBox="1"/>
            <p:nvPr/>
          </p:nvSpPr>
          <p:spPr>
            <a:xfrm>
              <a:off x="6590729" y="2504599"/>
              <a:ext cx="4526495"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总线上只有三种消息：RdMiss、WtMiss、Invalidate</a:t>
              </a:r>
            </a:p>
          </p:txBody>
        </p:sp>
        <p:sp>
          <p:nvSpPr>
            <p:cNvPr id="41" name="Rectangle 41"/>
            <p:cNvSpPr/>
            <p:nvPr/>
          </p:nvSpPr>
          <p:spPr>
            <a:xfrm>
              <a:off x="5598795" y="2810828"/>
              <a:ext cx="6059805" cy="9525"/>
            </a:xfrm>
            <a:prstGeom prst="rect">
              <a:avLst/>
            </a:prstGeom>
            <a:solidFill>
              <a:srgbClr val="D9DFEA"/>
            </a:solidFill>
            <a:ln>
              <a:noFill/>
            </a:ln>
          </p:spPr>
        </p:sp>
        <p:sp>
          <p:nvSpPr>
            <p:cNvPr id="42" name="TextBox 42"/>
            <p:cNvSpPr txBox="1"/>
            <p:nvPr/>
          </p:nvSpPr>
          <p:spPr>
            <a:xfrm>
              <a:off x="5591556" y="2926556"/>
              <a:ext cx="779120" cy="278702"/>
            </a:xfrm>
            <a:prstGeom prst="rect">
              <a:avLst/>
            </a:prstGeom>
            <a:noFill/>
            <a:ln>
              <a:noFill/>
            </a:ln>
          </p:spPr>
          <p:txBody>
            <a:bodyPr wrap="none" lIns="0" tIns="0" rIns="0" bIns="0" anchor="t" anchorCtr="0">
              <a:spAutoFit/>
            </a:bodyPr>
            <a:lstStyle/>
            <a:p>
              <a:pPr algn="l"/>
              <a:r>
                <a:rPr lang="zh-CN" sz="1420" b="1" dirty="0">
                  <a:solidFill>
                    <a:srgbClr val="334E68"/>
                  </a:solidFill>
                  <a:latin typeface="+mn-lt"/>
                  <a:ea typeface="+mn-ea"/>
                  <a:cs typeface="+mn-cs"/>
                </a:rPr>
                <a:t>怎样动作</a:t>
              </a:r>
            </a:p>
          </p:txBody>
        </p:sp>
        <p:sp>
          <p:nvSpPr>
            <p:cNvPr id="43" name="TextBox 43"/>
            <p:cNvSpPr txBox="1"/>
            <p:nvPr/>
          </p:nvSpPr>
          <p:spPr>
            <a:xfrm>
              <a:off x="6590729" y="2926556"/>
              <a:ext cx="4225417" cy="546354"/>
            </a:xfrm>
            <a:prstGeom prst="rect">
              <a:avLst/>
            </a:prstGeom>
            <a:noFill/>
            <a:ln>
              <a:noFill/>
            </a:ln>
          </p:spPr>
          <p:txBody>
            <a:bodyPr wrap="none" lIns="0" tIns="0" rIns="0" bIns="0" anchor="t" anchorCtr="0">
              <a:spAutoFit/>
            </a:bodyPr>
            <a:lstStyle/>
            <a:p>
              <a:pPr algn="l">
                <a:lnSpc>
                  <a:spcPts val="2108"/>
                </a:lnSpc>
              </a:pPr>
              <a:r>
                <a:rPr lang="zh-CN" sz="1420" dirty="0">
                  <a:solidFill>
                    <a:srgbClr val="1F2937"/>
                  </a:solidFill>
                  <a:latin typeface="+mn-lt"/>
                  <a:ea typeface="+mn-ea"/>
                  <a:cs typeface="+mn-cs"/>
                </a:rPr>
                <a:t>每个 Cache 控制器内嵌一个有限状态机，动作包括改</a:t>
              </a:r>
              <a:br/>
              <a:r>
                <a:rPr lang="zh-CN" sz="1420" dirty="0">
                  <a:solidFill>
                    <a:srgbClr val="1F2937"/>
                  </a:solidFill>
                  <a:latin typeface="+mn-lt"/>
                  <a:ea typeface="+mn-ea"/>
                  <a:cs typeface="+mn-cs"/>
                </a:rPr>
                <a:t>Cache 状态、经总线访问存储器、经总线发作废</a:t>
              </a:r>
            </a:p>
          </p:txBody>
        </p:sp>
        <p:sp>
          <p:nvSpPr>
            <p:cNvPr id="44" name="Rectangle 44"/>
            <p:cNvSpPr/>
            <p:nvPr/>
          </p:nvSpPr>
          <p:spPr>
            <a:xfrm>
              <a:off x="5598795" y="3500438"/>
              <a:ext cx="6059805" cy="9525"/>
            </a:xfrm>
            <a:prstGeom prst="rect">
              <a:avLst/>
            </a:prstGeom>
            <a:solidFill>
              <a:srgbClr val="D9DFEA"/>
            </a:solidFill>
            <a:ln>
              <a:noFill/>
            </a:ln>
          </p:spPr>
        </p:sp>
        <p:sp>
          <p:nvSpPr>
            <p:cNvPr id="45" name="TextBox 45"/>
            <p:cNvSpPr txBox="1"/>
            <p:nvPr/>
          </p:nvSpPr>
          <p:spPr>
            <a:xfrm>
              <a:off x="5591556" y="3616166"/>
              <a:ext cx="779120" cy="278702"/>
            </a:xfrm>
            <a:prstGeom prst="rect">
              <a:avLst/>
            </a:prstGeom>
            <a:noFill/>
            <a:ln>
              <a:noFill/>
            </a:ln>
          </p:spPr>
          <p:txBody>
            <a:bodyPr wrap="none" lIns="0" tIns="0" rIns="0" bIns="0" anchor="t" anchorCtr="0">
              <a:spAutoFit/>
            </a:bodyPr>
            <a:lstStyle/>
            <a:p>
              <a:pPr algn="l"/>
              <a:r>
                <a:rPr lang="zh-CN" sz="1420" b="1" dirty="0">
                  <a:solidFill>
                    <a:srgbClr val="334E68"/>
                  </a:solidFill>
                  <a:latin typeface="+mn-lt"/>
                  <a:ea typeface="+mn-ea"/>
                  <a:cs typeface="+mn-cs"/>
                </a:rPr>
                <a:t>写的先后</a:t>
              </a:r>
            </a:p>
          </p:txBody>
        </p:sp>
        <p:sp>
          <p:nvSpPr>
            <p:cNvPr id="46" name="TextBox 46"/>
            <p:cNvSpPr txBox="1"/>
            <p:nvPr/>
          </p:nvSpPr>
          <p:spPr>
            <a:xfrm>
              <a:off x="6590729" y="3616166"/>
              <a:ext cx="4703318" cy="546354"/>
            </a:xfrm>
            <a:prstGeom prst="rect">
              <a:avLst/>
            </a:prstGeom>
            <a:noFill/>
            <a:ln>
              <a:noFill/>
            </a:ln>
          </p:spPr>
          <p:txBody>
            <a:bodyPr wrap="none" lIns="0" tIns="0" rIns="0" bIns="0" anchor="t" anchorCtr="0">
              <a:spAutoFit/>
            </a:bodyPr>
            <a:lstStyle/>
            <a:p>
              <a:pPr algn="l">
                <a:lnSpc>
                  <a:spcPts val="2108"/>
                </a:lnSpc>
              </a:pPr>
              <a:r>
                <a:rPr lang="zh-CN" sz="1420" dirty="0">
                  <a:solidFill>
                    <a:srgbClr val="1F2937"/>
                  </a:solidFill>
                  <a:latin typeface="+mn-lt"/>
                  <a:ea typeface="+mn-ea"/>
                  <a:cs typeface="+mn-cs"/>
                </a:rPr>
                <a:t>多个处理器同时要写时，靠争夺总线控制权排出先后，写操</a:t>
              </a:r>
              <a:br/>
              <a:r>
                <a:rPr lang="zh-CN" sz="1420" dirty="0">
                  <a:solidFill>
                    <a:srgbClr val="1F2937"/>
                  </a:solidFill>
                  <a:latin typeface="+mn-lt"/>
                  <a:ea typeface="+mn-ea"/>
                  <a:cs typeface="+mn-cs"/>
                </a:rPr>
                <a:t>作因此串行化</a:t>
              </a:r>
            </a:p>
          </p:txBody>
        </p:sp>
      </p:grpSp>
      <p:grpSp>
        <p:nvGrpSpPr>
          <p:cNvPr id="59" name="c2-card-2"/>
          <p:cNvGrpSpPr/>
          <p:nvPr/>
        </p:nvGrpSpPr>
        <p:grpSpPr>
          <a:xfrm>
            <a:off x="5598795" y="4291965"/>
            <a:ext cx="6059805" cy="1933575"/>
            <a:chOff x="5598795" y="4291965"/>
            <a:chExt cx="6059805" cy="1933575"/>
          </a:xfrm>
        </p:grpSpPr>
        <p:sp>
          <p:nvSpPr>
            <p:cNvPr id="48" name="Rectangle 48"/>
            <p:cNvSpPr/>
            <p:nvPr/>
          </p:nvSpPr>
          <p:spPr>
            <a:xfrm>
              <a:off x="5598795" y="4291965"/>
              <a:ext cx="6059805" cy="1933575"/>
            </a:xfrm>
            <a:prstGeom prst="roundRect">
              <a:avLst>
                <a:gd name="adj" fmla="val 6897"/>
              </a:avLst>
            </a:prstGeom>
            <a:solidFill>
              <a:srgbClr val="FFFFFF"/>
            </a:solidFill>
            <a:ln w="14288">
              <a:solidFill>
                <a:srgbClr val="D9DFEA"/>
              </a:solidFill>
            </a:ln>
          </p:spPr>
        </p:sp>
        <p:sp>
          <p:nvSpPr>
            <p:cNvPr id="49" name="Rectangle 49"/>
            <p:cNvSpPr/>
            <p:nvPr/>
          </p:nvSpPr>
          <p:spPr>
            <a:xfrm>
              <a:off x="5608320" y="4425315"/>
              <a:ext cx="47625" cy="1666875"/>
            </a:xfrm>
            <a:prstGeom prst="roundRect">
              <a:avLst>
                <a:gd name="adj" fmla="val 50000"/>
              </a:avLst>
            </a:prstGeom>
            <a:solidFill>
              <a:srgbClr val="14A38B"/>
            </a:solidFill>
            <a:ln>
              <a:noFill/>
            </a:ln>
          </p:spPr>
        </p:sp>
        <p:sp>
          <p:nvSpPr>
            <p:cNvPr id="50" name="Rectangle 50"/>
            <p:cNvSpPr/>
            <p:nvPr/>
          </p:nvSpPr>
          <p:spPr>
            <a:xfrm>
              <a:off x="5840730" y="4495800"/>
              <a:ext cx="494348" cy="257175"/>
            </a:xfrm>
            <a:prstGeom prst="roundRect">
              <a:avLst>
                <a:gd name="adj" fmla="val 50000"/>
              </a:avLst>
            </a:prstGeom>
            <a:solidFill>
              <a:srgbClr val="E3F5F1"/>
            </a:solidFill>
            <a:ln>
              <a:noFill/>
            </a:ln>
          </p:spPr>
        </p:sp>
        <p:sp>
          <p:nvSpPr>
            <p:cNvPr id="51" name="TextBox 51"/>
            <p:cNvSpPr txBox="1"/>
            <p:nvPr/>
          </p:nvSpPr>
          <p:spPr>
            <a:xfrm>
              <a:off x="5931891" y="4531519"/>
              <a:ext cx="312979" cy="220028"/>
            </a:xfrm>
            <a:prstGeom prst="rect">
              <a:avLst/>
            </a:prstGeom>
            <a:noFill/>
            <a:ln>
              <a:noFill/>
            </a:ln>
          </p:spPr>
          <p:txBody>
            <a:bodyPr wrap="none" lIns="0" tIns="0" rIns="0" bIns="0" anchor="t" anchorCtr="0">
              <a:spAutoFit/>
            </a:bodyPr>
            <a:lstStyle/>
            <a:p>
              <a:pPr algn="ctr"/>
              <a:r>
                <a:rPr lang="zh-CN" sz="1120" b="1" dirty="0">
                  <a:solidFill>
                    <a:srgbClr val="0F7A68"/>
                  </a:solidFill>
                  <a:latin typeface="+mn-lt"/>
                  <a:ea typeface="+mn-ea"/>
                  <a:cs typeface="+mn-cs"/>
                </a:rPr>
                <a:t>例题</a:t>
              </a:r>
            </a:p>
          </p:txBody>
        </p:sp>
        <p:sp>
          <p:nvSpPr>
            <p:cNvPr id="52" name="TextBox 52"/>
            <p:cNvSpPr txBox="1"/>
            <p:nvPr/>
          </p:nvSpPr>
          <p:spPr>
            <a:xfrm>
              <a:off x="6442138" y="4535329"/>
              <a:ext cx="4279533"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32 位地址，32 KB 直接映射 Cache，块大小 64 B</a:t>
              </a:r>
            </a:p>
          </p:txBody>
        </p:sp>
        <p:sp>
          <p:nvSpPr>
            <p:cNvPr id="53" name="Ellipse 53"/>
            <p:cNvSpPr/>
            <p:nvPr/>
          </p:nvSpPr>
          <p:spPr>
            <a:xfrm>
              <a:off x="5848350" y="4947285"/>
              <a:ext cx="60960" cy="60960"/>
            </a:xfrm>
            <a:prstGeom prst="ellipse">
              <a:avLst/>
            </a:prstGeom>
            <a:solidFill>
              <a:srgbClr val="334E68"/>
            </a:solidFill>
            <a:ln>
              <a:noFill/>
            </a:ln>
          </p:spPr>
        </p:sp>
        <p:sp>
          <p:nvSpPr>
            <p:cNvPr id="54" name="TextBox 54"/>
            <p:cNvSpPr txBox="1"/>
            <p:nvPr/>
          </p:nvSpPr>
          <p:spPr>
            <a:xfrm>
              <a:off x="6004941" y="4886801"/>
              <a:ext cx="3313979"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Offset：块内 64 B，需 log₂64 = 6 位</a:t>
              </a:r>
            </a:p>
          </p:txBody>
        </p:sp>
        <p:sp>
          <p:nvSpPr>
            <p:cNvPr id="55" name="Ellipse 55"/>
            <p:cNvSpPr/>
            <p:nvPr/>
          </p:nvSpPr>
          <p:spPr>
            <a:xfrm>
              <a:off x="5848350" y="5267325"/>
              <a:ext cx="60960" cy="60960"/>
            </a:xfrm>
            <a:prstGeom prst="ellipse">
              <a:avLst/>
            </a:prstGeom>
            <a:solidFill>
              <a:srgbClr val="334E68"/>
            </a:solidFill>
            <a:ln>
              <a:noFill/>
            </a:ln>
          </p:spPr>
        </p:sp>
        <p:sp>
          <p:nvSpPr>
            <p:cNvPr id="56" name="TextBox 56"/>
            <p:cNvSpPr txBox="1"/>
            <p:nvPr/>
          </p:nvSpPr>
          <p:spPr>
            <a:xfrm>
              <a:off x="6004941" y="5206841"/>
              <a:ext cx="4338671"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Index：32 KB / 64 B = 512 行，需 log₂512 = 9 位</a:t>
              </a:r>
            </a:p>
          </p:txBody>
        </p:sp>
        <p:sp>
          <p:nvSpPr>
            <p:cNvPr id="57" name="Ellipse 57"/>
            <p:cNvSpPr/>
            <p:nvPr/>
          </p:nvSpPr>
          <p:spPr>
            <a:xfrm>
              <a:off x="5848350" y="5587365"/>
              <a:ext cx="60960" cy="60960"/>
            </a:xfrm>
            <a:prstGeom prst="ellipse">
              <a:avLst/>
            </a:prstGeom>
            <a:solidFill>
              <a:srgbClr val="334E68"/>
            </a:solidFill>
            <a:ln>
              <a:noFill/>
            </a:ln>
          </p:spPr>
        </p:sp>
        <p:sp>
          <p:nvSpPr>
            <p:cNvPr id="58" name="TextBox 58"/>
            <p:cNvSpPr txBox="1"/>
            <p:nvPr/>
          </p:nvSpPr>
          <p:spPr>
            <a:xfrm>
              <a:off x="6004941" y="5526881"/>
              <a:ext cx="5190236" cy="550164"/>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Tag：32 − 9 − 6 = 17 位，存在查找表项里，监听时拿它和总线上</a:t>
              </a:r>
              <a:br/>
              <a:r>
                <a:rPr lang="zh-CN" sz="1420" dirty="0">
                  <a:solidFill>
                    <a:srgbClr val="1F2937"/>
                  </a:solidFill>
                  <a:latin typeface="+mn-lt"/>
                  <a:ea typeface="+mn-ea"/>
                  <a:cs typeface="+mn-cs"/>
                </a:rPr>
                <a:t>的地址比对</a:t>
              </a:r>
            </a:p>
          </p:txBody>
        </p:sp>
      </p:grpSp>
      <p:grpSp>
        <p:nvGrpSpPr>
          <p:cNvPr id="62" name="footer"/>
          <p:cNvGrpSpPr/>
          <p:nvPr/>
        </p:nvGrpSpPr>
        <p:grpSpPr>
          <a:xfrm>
            <a:off x="528447" y="6581299"/>
            <a:ext cx="11135106" cy="190690"/>
            <a:chOff x="528447" y="6581299"/>
            <a:chExt cx="11135106" cy="190690"/>
          </a:xfrm>
        </p:grpSpPr>
        <p:sp>
          <p:nvSpPr>
            <p:cNvPr id="60" name="TextBox 60"/>
            <p:cNvSpPr txBox="1"/>
            <p:nvPr/>
          </p:nvSpPr>
          <p:spPr>
            <a:xfrm>
              <a:off x="528447" y="6581299"/>
              <a:ext cx="2120748"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并行与分布式计算 · 第7章 体系结构</a:t>
              </a:r>
            </a:p>
          </p:txBody>
        </p:sp>
        <p:sp>
          <p:nvSpPr>
            <p:cNvPr id="61" name="TextBox 61"/>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22</a:t>
              </a:r>
            </a:p>
          </p:txBody>
        </p:sp>
      </p:grpSp>
    </p:spTree>
  </p:cSld>
  <p:clrMapOvr>
    <a:masterClrMapping/>
  </p:clrMapOvr>
  <p:transition xmlns:p14="http://schemas.microsoft.com/office/powerpoint/2010/main" p14:dur="400">
    <p:fade/>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6761939" cy="909257"/>
            <a:chOff x="520446" y="342900"/>
            <a:chExt cx="6761939" cy="909257"/>
          </a:xfrm>
        </p:grpSpPr>
        <p:sp>
          <p:nvSpPr>
            <p:cNvPr id="2" name="Rectangle 2"/>
            <p:cNvSpPr/>
            <p:nvPr/>
          </p:nvSpPr>
          <p:spPr>
            <a:xfrm>
              <a:off x="533400" y="342900"/>
              <a:ext cx="2586038" cy="266700"/>
            </a:xfrm>
            <a:prstGeom prst="roundRect">
              <a:avLst>
                <a:gd name="adj" fmla="val 50000"/>
              </a:avLst>
            </a:prstGeom>
            <a:solidFill>
              <a:srgbClr val="E7EDF3"/>
            </a:solidFill>
            <a:ln>
              <a:noFill/>
            </a:ln>
          </p:spPr>
        </p:sp>
        <p:sp>
          <p:nvSpPr>
            <p:cNvPr id="3" name="TextBox 3"/>
            <p:cNvSpPr txBox="1"/>
            <p:nvPr/>
          </p:nvSpPr>
          <p:spPr>
            <a:xfrm>
              <a:off x="587464" y="407194"/>
              <a:ext cx="2476957"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第7章 体系结构 · Cache 一致性问题</a:t>
              </a:r>
            </a:p>
          </p:txBody>
        </p:sp>
        <p:sp>
          <p:nvSpPr>
            <p:cNvPr id="4" name="TextBox 4"/>
            <p:cNvSpPr txBox="1"/>
            <p:nvPr/>
          </p:nvSpPr>
          <p:spPr>
            <a:xfrm>
              <a:off x="520446" y="753428"/>
              <a:ext cx="6761939"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实例协议：写作废 + 写回 + 按写分配 + 监听</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32" name="c1-graph-1"/>
          <p:cNvGrpSpPr/>
          <p:nvPr/>
        </p:nvGrpSpPr>
        <p:grpSpPr>
          <a:xfrm>
            <a:off x="857250" y="1622108"/>
            <a:ext cx="4865370" cy="2012060"/>
            <a:chOff x="857250" y="1622108"/>
            <a:chExt cx="4865370" cy="2012060"/>
          </a:xfrm>
        </p:grpSpPr>
        <p:sp>
          <p:nvSpPr>
            <p:cNvPr id="7" name="Freeform 7"/>
            <p:cNvSpPr/>
            <p:nvPr/>
          </p:nvSpPr>
          <p:spPr>
            <a:xfrm>
              <a:off x="1506855" y="2003108"/>
              <a:ext cx="9525" cy="330517"/>
            </a:xfrm>
            <a:custGeom>
              <a:avLst/>
              <a:gdLst/>
              <a:ahLst/>
              <a:cxnLst/>
              <a:rect l="l" t="t" r="r" b="b"/>
              <a:pathLst>
                <a:path w="9525" h="330517">
                  <a:moveTo>
                    <a:pt x="0" y="0"/>
                  </a:moveTo>
                  <a:lnTo>
                    <a:pt x="0" y="330517"/>
                  </a:lnTo>
                </a:path>
              </a:pathLst>
            </a:custGeom>
            <a:noFill/>
            <a:ln w="17145">
              <a:solidFill>
                <a:srgbClr val="1F2937"/>
              </a:solidFill>
            </a:ln>
          </p:spPr>
        </p:sp>
        <p:sp>
          <p:nvSpPr>
            <p:cNvPr id="8" name="Freeform 8"/>
            <p:cNvSpPr/>
            <p:nvPr/>
          </p:nvSpPr>
          <p:spPr>
            <a:xfrm>
              <a:off x="1459230" y="2333625"/>
              <a:ext cx="95250" cy="95250"/>
            </a:xfrm>
            <a:custGeom>
              <a:avLst/>
              <a:gdLst/>
              <a:ahLst/>
              <a:cxnLst/>
              <a:rect l="l" t="t" r="r" b="b"/>
              <a:pathLst>
                <a:path w="95250" h="95250">
                  <a:moveTo>
                    <a:pt x="47625" y="95250"/>
                  </a:moveTo>
                  <a:lnTo>
                    <a:pt x="0" y="0"/>
                  </a:lnTo>
                  <a:lnTo>
                    <a:pt x="95250" y="0"/>
                  </a:lnTo>
                  <a:close/>
                </a:path>
              </a:pathLst>
            </a:custGeom>
            <a:solidFill>
              <a:srgbClr val="1F2937"/>
            </a:solidFill>
            <a:ln>
              <a:noFill/>
            </a:ln>
          </p:spPr>
        </p:sp>
        <p:sp>
          <p:nvSpPr>
            <p:cNvPr id="9" name="Freeform 9"/>
            <p:cNvSpPr/>
            <p:nvPr/>
          </p:nvSpPr>
          <p:spPr>
            <a:xfrm>
              <a:off x="1459230" y="1907858"/>
              <a:ext cx="95250" cy="95250"/>
            </a:xfrm>
            <a:custGeom>
              <a:avLst/>
              <a:gdLst/>
              <a:ahLst/>
              <a:cxnLst/>
              <a:rect l="l" t="t" r="r" b="b"/>
              <a:pathLst>
                <a:path w="95250" h="95250">
                  <a:moveTo>
                    <a:pt x="47625" y="0"/>
                  </a:moveTo>
                  <a:lnTo>
                    <a:pt x="95250" y="95250"/>
                  </a:lnTo>
                  <a:lnTo>
                    <a:pt x="0" y="95250"/>
                  </a:lnTo>
                  <a:close/>
                </a:path>
              </a:pathLst>
            </a:custGeom>
            <a:solidFill>
              <a:srgbClr val="1F2937"/>
            </a:solidFill>
            <a:ln>
              <a:noFill/>
            </a:ln>
          </p:spPr>
        </p:sp>
        <p:sp>
          <p:nvSpPr>
            <p:cNvPr id="10" name="Freeform 10"/>
            <p:cNvSpPr/>
            <p:nvPr/>
          </p:nvSpPr>
          <p:spPr>
            <a:xfrm>
              <a:off x="1506855" y="2905125"/>
              <a:ext cx="9525" cy="351472"/>
            </a:xfrm>
            <a:custGeom>
              <a:avLst/>
              <a:gdLst/>
              <a:ahLst/>
              <a:cxnLst/>
              <a:rect l="l" t="t" r="r" b="b"/>
              <a:pathLst>
                <a:path w="9525" h="351472">
                  <a:moveTo>
                    <a:pt x="0" y="0"/>
                  </a:moveTo>
                  <a:lnTo>
                    <a:pt x="0" y="351472"/>
                  </a:lnTo>
                </a:path>
              </a:pathLst>
            </a:custGeom>
            <a:noFill/>
            <a:ln w="17145">
              <a:solidFill>
                <a:srgbClr val="1F2937"/>
              </a:solidFill>
            </a:ln>
          </p:spPr>
        </p:sp>
        <p:sp>
          <p:nvSpPr>
            <p:cNvPr id="11" name="Freeform 11"/>
            <p:cNvSpPr/>
            <p:nvPr/>
          </p:nvSpPr>
          <p:spPr>
            <a:xfrm>
              <a:off x="1459230" y="3256598"/>
              <a:ext cx="95250" cy="95250"/>
            </a:xfrm>
            <a:custGeom>
              <a:avLst/>
              <a:gdLst/>
              <a:ahLst/>
              <a:cxnLst/>
              <a:rect l="l" t="t" r="r" b="b"/>
              <a:pathLst>
                <a:path w="95250" h="95250">
                  <a:moveTo>
                    <a:pt x="47625" y="95250"/>
                  </a:moveTo>
                  <a:lnTo>
                    <a:pt x="0" y="0"/>
                  </a:lnTo>
                  <a:lnTo>
                    <a:pt x="95250" y="0"/>
                  </a:lnTo>
                  <a:close/>
                </a:path>
              </a:pathLst>
            </a:custGeom>
            <a:solidFill>
              <a:srgbClr val="1F2937"/>
            </a:solidFill>
            <a:ln>
              <a:noFill/>
            </a:ln>
          </p:spPr>
        </p:sp>
        <p:sp>
          <p:nvSpPr>
            <p:cNvPr id="12" name="Freeform 12"/>
            <p:cNvSpPr/>
            <p:nvPr/>
          </p:nvSpPr>
          <p:spPr>
            <a:xfrm>
              <a:off x="1459230" y="2809875"/>
              <a:ext cx="95250" cy="95250"/>
            </a:xfrm>
            <a:custGeom>
              <a:avLst/>
              <a:gdLst/>
              <a:ahLst/>
              <a:cxnLst/>
              <a:rect l="l" t="t" r="r" b="b"/>
              <a:pathLst>
                <a:path w="95250" h="95250">
                  <a:moveTo>
                    <a:pt x="47625" y="0"/>
                  </a:moveTo>
                  <a:lnTo>
                    <a:pt x="95250" y="95250"/>
                  </a:lnTo>
                  <a:lnTo>
                    <a:pt x="0" y="95250"/>
                  </a:lnTo>
                  <a:close/>
                </a:path>
              </a:pathLst>
            </a:custGeom>
            <a:solidFill>
              <a:srgbClr val="1F2937"/>
            </a:solidFill>
            <a:ln>
              <a:noFill/>
            </a:ln>
          </p:spPr>
        </p:sp>
        <p:sp>
          <p:nvSpPr>
            <p:cNvPr id="13" name="Freeform 13"/>
            <p:cNvSpPr/>
            <p:nvPr/>
          </p:nvSpPr>
          <p:spPr>
            <a:xfrm>
              <a:off x="2221230" y="2619375"/>
              <a:ext cx="640080" cy="9525"/>
            </a:xfrm>
            <a:custGeom>
              <a:avLst/>
              <a:gdLst/>
              <a:ahLst/>
              <a:cxnLst/>
              <a:rect l="l" t="t" r="r" b="b"/>
              <a:pathLst>
                <a:path w="640080" h="9525">
                  <a:moveTo>
                    <a:pt x="0" y="0"/>
                  </a:moveTo>
                  <a:lnTo>
                    <a:pt x="640080" y="0"/>
                  </a:lnTo>
                </a:path>
              </a:pathLst>
            </a:custGeom>
            <a:noFill/>
            <a:ln w="17145">
              <a:solidFill>
                <a:srgbClr val="1F2937"/>
              </a:solidFill>
            </a:ln>
          </p:spPr>
        </p:sp>
        <p:sp>
          <p:nvSpPr>
            <p:cNvPr id="14" name="Freeform 14"/>
            <p:cNvSpPr/>
            <p:nvPr/>
          </p:nvSpPr>
          <p:spPr>
            <a:xfrm>
              <a:off x="2861310" y="2571750"/>
              <a:ext cx="95250" cy="95250"/>
            </a:xfrm>
            <a:custGeom>
              <a:avLst/>
              <a:gdLst/>
              <a:ahLst/>
              <a:cxnLst/>
              <a:rect l="l" t="t" r="r" b="b"/>
              <a:pathLst>
                <a:path w="95250" h="95250">
                  <a:moveTo>
                    <a:pt x="95250" y="47625"/>
                  </a:moveTo>
                  <a:lnTo>
                    <a:pt x="0" y="95250"/>
                  </a:lnTo>
                  <a:lnTo>
                    <a:pt x="0" y="0"/>
                  </a:lnTo>
                  <a:close/>
                </a:path>
              </a:pathLst>
            </a:custGeom>
            <a:solidFill>
              <a:srgbClr val="1F2937"/>
            </a:solidFill>
            <a:ln>
              <a:noFill/>
            </a:ln>
          </p:spPr>
        </p:sp>
        <p:sp>
          <p:nvSpPr>
            <p:cNvPr id="15" name="Freeform 15"/>
            <p:cNvSpPr/>
            <p:nvPr/>
          </p:nvSpPr>
          <p:spPr>
            <a:xfrm>
              <a:off x="2125980" y="2571750"/>
              <a:ext cx="95250" cy="95250"/>
            </a:xfrm>
            <a:custGeom>
              <a:avLst/>
              <a:gdLst/>
              <a:ahLst/>
              <a:cxnLst/>
              <a:rect l="l" t="t" r="r" b="b"/>
              <a:pathLst>
                <a:path w="95250" h="95250">
                  <a:moveTo>
                    <a:pt x="0" y="47625"/>
                  </a:moveTo>
                  <a:lnTo>
                    <a:pt x="95250" y="0"/>
                  </a:lnTo>
                  <a:lnTo>
                    <a:pt x="95250" y="95250"/>
                  </a:lnTo>
                  <a:close/>
                </a:path>
              </a:pathLst>
            </a:custGeom>
            <a:solidFill>
              <a:srgbClr val="1F2937"/>
            </a:solidFill>
            <a:ln>
              <a:noFill/>
            </a:ln>
          </p:spPr>
        </p:sp>
        <p:sp>
          <p:nvSpPr>
            <p:cNvPr id="16" name="Freeform 16"/>
            <p:cNvSpPr/>
            <p:nvPr/>
          </p:nvSpPr>
          <p:spPr>
            <a:xfrm>
              <a:off x="5293995" y="2809875"/>
              <a:ext cx="9525" cy="541972"/>
            </a:xfrm>
            <a:custGeom>
              <a:avLst/>
              <a:gdLst/>
              <a:ahLst/>
              <a:cxnLst/>
              <a:rect l="l" t="t" r="r" b="b"/>
              <a:pathLst>
                <a:path w="9525" h="541972">
                  <a:moveTo>
                    <a:pt x="0" y="0"/>
                  </a:moveTo>
                  <a:lnTo>
                    <a:pt x="0" y="541972"/>
                  </a:lnTo>
                </a:path>
              </a:pathLst>
            </a:custGeom>
            <a:noFill/>
            <a:ln w="17145">
              <a:solidFill>
                <a:srgbClr val="1F2937"/>
              </a:solidFill>
            </a:ln>
          </p:spPr>
        </p:sp>
        <p:sp>
          <p:nvSpPr>
            <p:cNvPr id="17" name="Rectangle 17"/>
            <p:cNvSpPr/>
            <p:nvPr/>
          </p:nvSpPr>
          <p:spPr>
            <a:xfrm>
              <a:off x="857250" y="3359468"/>
              <a:ext cx="4762500" cy="228600"/>
            </a:xfrm>
            <a:prstGeom prst="roundRect">
              <a:avLst>
                <a:gd name="adj" fmla="val 41667"/>
              </a:avLst>
            </a:prstGeom>
            <a:solidFill>
              <a:srgbClr val="334E68"/>
            </a:solidFill>
            <a:ln w="17145">
              <a:solidFill>
                <a:srgbClr val="334E68"/>
              </a:solidFill>
            </a:ln>
          </p:spPr>
        </p:sp>
        <p:sp>
          <p:nvSpPr>
            <p:cNvPr id="18" name="Rectangle 18"/>
            <p:cNvSpPr/>
            <p:nvPr/>
          </p:nvSpPr>
          <p:spPr>
            <a:xfrm>
              <a:off x="982980" y="1622108"/>
              <a:ext cx="1047750" cy="285750"/>
            </a:xfrm>
            <a:prstGeom prst="roundRect">
              <a:avLst>
                <a:gd name="adj" fmla="val 33333"/>
              </a:avLst>
            </a:prstGeom>
            <a:solidFill>
              <a:srgbClr val="334E68"/>
            </a:solidFill>
            <a:ln w="17145">
              <a:solidFill>
                <a:srgbClr val="334E68"/>
              </a:solidFill>
            </a:ln>
          </p:spPr>
        </p:sp>
        <p:sp>
          <p:nvSpPr>
            <p:cNvPr id="19" name="Rectangle 19"/>
            <p:cNvSpPr/>
            <p:nvPr/>
          </p:nvSpPr>
          <p:spPr>
            <a:xfrm>
              <a:off x="887730" y="2428875"/>
              <a:ext cx="1238250" cy="381000"/>
            </a:xfrm>
            <a:prstGeom prst="roundRect">
              <a:avLst>
                <a:gd name="adj" fmla="val 25000"/>
              </a:avLst>
            </a:prstGeom>
            <a:solidFill>
              <a:srgbClr val="FDEEE7"/>
            </a:solidFill>
            <a:ln w="17145">
              <a:solidFill>
                <a:srgbClr val="F26B3A"/>
              </a:solidFill>
            </a:ln>
          </p:spPr>
        </p:sp>
        <p:sp>
          <p:nvSpPr>
            <p:cNvPr id="20" name="Rectangle 20"/>
            <p:cNvSpPr/>
            <p:nvPr/>
          </p:nvSpPr>
          <p:spPr>
            <a:xfrm>
              <a:off x="2956560" y="2400300"/>
              <a:ext cx="1428750" cy="438150"/>
            </a:xfrm>
            <a:prstGeom prst="roundRect">
              <a:avLst>
                <a:gd name="adj" fmla="val 21739"/>
              </a:avLst>
            </a:prstGeom>
            <a:solidFill>
              <a:srgbClr val="E7EDF3"/>
            </a:solidFill>
            <a:ln w="17145">
              <a:solidFill>
                <a:srgbClr val="334E68"/>
              </a:solidFill>
            </a:ln>
          </p:spPr>
        </p:sp>
        <p:sp>
          <p:nvSpPr>
            <p:cNvPr id="21" name="Rectangle 21"/>
            <p:cNvSpPr/>
            <p:nvPr/>
          </p:nvSpPr>
          <p:spPr>
            <a:xfrm>
              <a:off x="4865370" y="2428875"/>
              <a:ext cx="857250" cy="381000"/>
            </a:xfrm>
            <a:prstGeom prst="roundRect">
              <a:avLst>
                <a:gd name="adj" fmla="val 25000"/>
              </a:avLst>
            </a:prstGeom>
            <a:solidFill>
              <a:srgbClr val="FFFFFF"/>
            </a:solidFill>
            <a:ln w="17145">
              <a:solidFill>
                <a:srgbClr val="334E68"/>
              </a:solidFill>
            </a:ln>
          </p:spPr>
        </p:sp>
        <p:sp>
          <p:nvSpPr>
            <p:cNvPr id="22" name="TextBox 22"/>
            <p:cNvSpPr txBox="1"/>
            <p:nvPr/>
          </p:nvSpPr>
          <p:spPr>
            <a:xfrm>
              <a:off x="2909316" y="3399472"/>
              <a:ext cx="658368"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共享总线</a:t>
              </a:r>
            </a:p>
          </p:txBody>
        </p:sp>
        <p:sp>
          <p:nvSpPr>
            <p:cNvPr id="23" name="TextBox 23"/>
            <p:cNvSpPr txBox="1"/>
            <p:nvPr/>
          </p:nvSpPr>
          <p:spPr>
            <a:xfrm>
              <a:off x="1164473" y="1690688"/>
              <a:ext cx="684764"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本地 CPU</a:t>
              </a:r>
            </a:p>
          </p:txBody>
        </p:sp>
        <p:sp>
          <p:nvSpPr>
            <p:cNvPr id="24" name="TextBox 24"/>
            <p:cNvSpPr txBox="1"/>
            <p:nvPr/>
          </p:nvSpPr>
          <p:spPr>
            <a:xfrm>
              <a:off x="996842" y="2545080"/>
              <a:ext cx="1020025" cy="234696"/>
            </a:xfrm>
            <a:prstGeom prst="rect">
              <a:avLst/>
            </a:prstGeom>
            <a:noFill/>
            <a:ln>
              <a:noFill/>
            </a:ln>
          </p:spPr>
          <p:txBody>
            <a:bodyPr wrap="none" lIns="0" tIns="0" rIns="0" bIns="0" anchor="t" anchorCtr="0">
              <a:spAutoFit/>
            </a:bodyPr>
            <a:lstStyle/>
            <a:p>
              <a:pPr algn="ctr"/>
              <a:r>
                <a:rPr lang="zh-CN" sz="1200" b="1" dirty="0">
                  <a:solidFill>
                    <a:srgbClr val="1F2937"/>
                  </a:solidFill>
                  <a:latin typeface="+mn-lt"/>
                  <a:ea typeface="+mn-ea"/>
                  <a:cs typeface="+mn-cs"/>
                </a:rPr>
                <a:t>Cache 控制器</a:t>
              </a:r>
            </a:p>
          </p:txBody>
        </p:sp>
        <p:sp>
          <p:nvSpPr>
            <p:cNvPr id="25" name="TextBox 25"/>
            <p:cNvSpPr txBox="1"/>
            <p:nvPr/>
          </p:nvSpPr>
          <p:spPr>
            <a:xfrm>
              <a:off x="3082675" y="2449830"/>
              <a:ext cx="1176520" cy="234696"/>
            </a:xfrm>
            <a:prstGeom prst="rect">
              <a:avLst/>
            </a:prstGeom>
            <a:noFill/>
            <a:ln>
              <a:noFill/>
            </a:ln>
          </p:spPr>
          <p:txBody>
            <a:bodyPr wrap="none" lIns="0" tIns="0" rIns="0" bIns="0" anchor="t" anchorCtr="0">
              <a:spAutoFit/>
            </a:bodyPr>
            <a:lstStyle/>
            <a:p>
              <a:pPr algn="ctr"/>
              <a:r>
                <a:rPr lang="zh-CN" sz="1200" b="1" dirty="0">
                  <a:solidFill>
                    <a:srgbClr val="243B53"/>
                  </a:solidFill>
                  <a:latin typeface="+mn-lt"/>
                  <a:ea typeface="+mn-ea"/>
                  <a:cs typeface="+mn-cs"/>
                </a:rPr>
                <a:t>地址表 · 数据表</a:t>
              </a:r>
            </a:p>
          </p:txBody>
        </p:sp>
        <p:sp>
          <p:nvSpPr>
            <p:cNvPr id="26" name="TextBox 26"/>
            <p:cNvSpPr txBox="1"/>
            <p:nvPr/>
          </p:nvSpPr>
          <p:spPr>
            <a:xfrm>
              <a:off x="3422523" y="2640330"/>
              <a:ext cx="496824" cy="234696"/>
            </a:xfrm>
            <a:prstGeom prst="rect">
              <a:avLst/>
            </a:prstGeom>
            <a:noFill/>
            <a:ln>
              <a:noFill/>
            </a:ln>
          </p:spPr>
          <p:txBody>
            <a:bodyPr wrap="none" lIns="0" tIns="0" rIns="0" bIns="0" anchor="t" anchorCtr="0">
              <a:spAutoFit/>
            </a:bodyPr>
            <a:lstStyle/>
            <a:p>
              <a:pPr algn="ctr"/>
              <a:r>
                <a:rPr lang="zh-CN" sz="1200" b="1" dirty="0">
                  <a:solidFill>
                    <a:srgbClr val="243B53"/>
                  </a:solidFill>
                  <a:latin typeface="+mn-lt"/>
                  <a:ea typeface="+mn-ea"/>
                  <a:cs typeface="+mn-cs"/>
                </a:rPr>
                <a:t>状态表</a:t>
              </a:r>
            </a:p>
          </p:txBody>
        </p:sp>
        <p:sp>
          <p:nvSpPr>
            <p:cNvPr id="27" name="TextBox 27"/>
            <p:cNvSpPr txBox="1"/>
            <p:nvPr/>
          </p:nvSpPr>
          <p:spPr>
            <a:xfrm>
              <a:off x="5045583" y="2545080"/>
              <a:ext cx="496824" cy="234696"/>
            </a:xfrm>
            <a:prstGeom prst="rect">
              <a:avLst/>
            </a:prstGeom>
            <a:noFill/>
            <a:ln>
              <a:noFill/>
            </a:ln>
          </p:spPr>
          <p:txBody>
            <a:bodyPr wrap="none" lIns="0" tIns="0" rIns="0" bIns="0" anchor="t" anchorCtr="0">
              <a:spAutoFit/>
            </a:bodyPr>
            <a:lstStyle/>
            <a:p>
              <a:pPr algn="ctr"/>
              <a:r>
                <a:rPr lang="zh-CN" sz="1200" b="1" dirty="0">
                  <a:solidFill>
                    <a:srgbClr val="1F2937"/>
                  </a:solidFill>
                  <a:latin typeface="+mn-lt"/>
                  <a:ea typeface="+mn-ea"/>
                  <a:cs typeface="+mn-cs"/>
                </a:rPr>
                <a:t>存储器</a:t>
              </a:r>
            </a:p>
          </p:txBody>
        </p:sp>
        <p:sp>
          <p:nvSpPr>
            <p:cNvPr id="28" name="Rectangle 28"/>
            <p:cNvSpPr/>
            <p:nvPr/>
          </p:nvSpPr>
          <p:spPr>
            <a:xfrm>
              <a:off x="1291590" y="2075498"/>
              <a:ext cx="430530" cy="173355"/>
            </a:xfrm>
            <a:prstGeom prst="roundRect">
              <a:avLst>
                <a:gd name="adj" fmla="val 21978"/>
              </a:avLst>
            </a:prstGeom>
            <a:solidFill>
              <a:srgbClr val="FFFFFF"/>
            </a:solidFill>
            <a:ln>
              <a:noFill/>
            </a:ln>
          </p:spPr>
        </p:sp>
        <p:sp>
          <p:nvSpPr>
            <p:cNvPr id="29" name="TextBox 29"/>
            <p:cNvSpPr txBox="1"/>
            <p:nvPr/>
          </p:nvSpPr>
          <p:spPr>
            <a:xfrm>
              <a:off x="1313905" y="2110264"/>
              <a:ext cx="385900" cy="190690"/>
            </a:xfrm>
            <a:prstGeom prst="rect">
              <a:avLst/>
            </a:prstGeom>
            <a:noFill/>
            <a:ln>
              <a:noFill/>
            </a:ln>
          </p:spPr>
          <p:txBody>
            <a:bodyPr wrap="none" lIns="0" tIns="0" rIns="0" bIns="0" anchor="t" anchorCtr="0">
              <a:spAutoFit/>
            </a:bodyPr>
            <a:lstStyle/>
            <a:p>
              <a:pPr algn="ctr"/>
              <a:r>
                <a:rPr lang="zh-CN" sz="980" dirty="0">
                  <a:solidFill>
                    <a:srgbClr val="C2410C"/>
                  </a:solidFill>
                  <a:latin typeface="+mn-lt"/>
                  <a:ea typeface="+mn-ea"/>
                  <a:cs typeface="+mn-cs"/>
                </a:rPr>
                <a:t>探针 1</a:t>
              </a:r>
            </a:p>
          </p:txBody>
        </p:sp>
        <p:sp>
          <p:nvSpPr>
            <p:cNvPr id="30" name="Rectangle 30"/>
            <p:cNvSpPr/>
            <p:nvPr/>
          </p:nvSpPr>
          <p:spPr>
            <a:xfrm>
              <a:off x="1291590" y="2987992"/>
              <a:ext cx="430530" cy="173355"/>
            </a:xfrm>
            <a:prstGeom prst="roundRect">
              <a:avLst>
                <a:gd name="adj" fmla="val 21978"/>
              </a:avLst>
            </a:prstGeom>
            <a:solidFill>
              <a:srgbClr val="FFFFFF"/>
            </a:solidFill>
            <a:ln>
              <a:noFill/>
            </a:ln>
          </p:spPr>
        </p:sp>
        <p:sp>
          <p:nvSpPr>
            <p:cNvPr id="31" name="TextBox 31"/>
            <p:cNvSpPr txBox="1"/>
            <p:nvPr/>
          </p:nvSpPr>
          <p:spPr>
            <a:xfrm>
              <a:off x="1313905" y="3022759"/>
              <a:ext cx="385900" cy="190690"/>
            </a:xfrm>
            <a:prstGeom prst="rect">
              <a:avLst/>
            </a:prstGeom>
            <a:noFill/>
            <a:ln>
              <a:noFill/>
            </a:ln>
          </p:spPr>
          <p:txBody>
            <a:bodyPr wrap="none" lIns="0" tIns="0" rIns="0" bIns="0" anchor="t" anchorCtr="0">
              <a:spAutoFit/>
            </a:bodyPr>
            <a:lstStyle/>
            <a:p>
              <a:pPr algn="ctr"/>
              <a:r>
                <a:rPr lang="zh-CN" sz="980" dirty="0">
                  <a:solidFill>
                    <a:srgbClr val="C2410C"/>
                  </a:solidFill>
                  <a:latin typeface="+mn-lt"/>
                  <a:ea typeface="+mn-ea"/>
                  <a:cs typeface="+mn-cs"/>
                </a:rPr>
                <a:t>探针 2</a:t>
              </a:r>
            </a:p>
          </p:txBody>
        </p:sp>
      </p:grpSp>
      <p:grpSp>
        <p:nvGrpSpPr>
          <p:cNvPr id="39" name="c1-bullets-2"/>
          <p:cNvGrpSpPr/>
          <p:nvPr/>
        </p:nvGrpSpPr>
        <p:grpSpPr>
          <a:xfrm>
            <a:off x="542925" y="3926681"/>
            <a:ext cx="5093970" cy="1346645"/>
            <a:chOff x="542925" y="3926681"/>
            <a:chExt cx="5093970" cy="1346645"/>
          </a:xfrm>
        </p:grpSpPr>
        <p:sp>
          <p:nvSpPr>
            <p:cNvPr id="33" name="Ellipse 33"/>
            <p:cNvSpPr/>
            <p:nvPr/>
          </p:nvSpPr>
          <p:spPr>
            <a:xfrm>
              <a:off x="542925" y="3978592"/>
              <a:ext cx="57150" cy="57150"/>
            </a:xfrm>
            <a:prstGeom prst="ellipse">
              <a:avLst/>
            </a:prstGeom>
            <a:solidFill>
              <a:srgbClr val="334E68"/>
            </a:solidFill>
            <a:ln>
              <a:noFill/>
            </a:ln>
          </p:spPr>
        </p:sp>
        <p:sp>
          <p:nvSpPr>
            <p:cNvPr id="34" name="TextBox 34"/>
            <p:cNvSpPr txBox="1"/>
            <p:nvPr/>
          </p:nvSpPr>
          <p:spPr>
            <a:xfrm>
              <a:off x="698373" y="3926681"/>
              <a:ext cx="4922266" cy="492252"/>
            </a:xfrm>
            <a:prstGeom prst="rect">
              <a:avLst/>
            </a:prstGeom>
            <a:noFill/>
            <a:ln>
              <a:noFill/>
            </a:ln>
          </p:spPr>
          <p:txBody>
            <a:bodyPr wrap="none" lIns="0" tIns="0" rIns="0" bIns="0" anchor="t" anchorCtr="0">
              <a:spAutoFit/>
            </a:bodyPr>
            <a:lstStyle/>
            <a:p>
              <a:pPr algn="l">
                <a:lnSpc>
                  <a:spcPts val="1912"/>
                </a:lnSpc>
              </a:pPr>
              <a:r>
                <a:rPr lang="zh-CN" sz="1280" dirty="0">
                  <a:solidFill>
                    <a:srgbClr val="1F2937"/>
                  </a:solidFill>
                  <a:latin typeface="+mn-lt"/>
                  <a:ea typeface="+mn-ea"/>
                  <a:cs typeface="+mn-cs"/>
                </a:rPr>
                <a:t>每个 Cache 有四个部件：控制器、地址表（lookup table）、数据表</a:t>
              </a:r>
              <a:br/>
              <a:r>
                <a:rPr lang="zh-CN" sz="1280" dirty="0">
                  <a:solidFill>
                    <a:srgbClr val="1F2937"/>
                  </a:solidFill>
                  <a:latin typeface="+mn-lt"/>
                  <a:ea typeface="+mn-ea"/>
                  <a:cs typeface="+mn-cs"/>
                </a:rPr>
                <a:t>（data table）、状态表</a:t>
              </a:r>
            </a:p>
          </p:txBody>
        </p:sp>
        <p:sp>
          <p:nvSpPr>
            <p:cNvPr id="35" name="Ellipse 35"/>
            <p:cNvSpPr/>
            <p:nvPr/>
          </p:nvSpPr>
          <p:spPr>
            <a:xfrm>
              <a:off x="542925" y="4527232"/>
              <a:ext cx="57150" cy="57150"/>
            </a:xfrm>
            <a:prstGeom prst="ellipse">
              <a:avLst/>
            </a:prstGeom>
            <a:solidFill>
              <a:srgbClr val="334E68"/>
            </a:solidFill>
            <a:ln>
              <a:noFill/>
            </a:ln>
          </p:spPr>
        </p:sp>
        <p:sp>
          <p:nvSpPr>
            <p:cNvPr id="36" name="TextBox 36"/>
            <p:cNvSpPr txBox="1"/>
            <p:nvPr/>
          </p:nvSpPr>
          <p:spPr>
            <a:xfrm>
              <a:off x="698373" y="4475321"/>
              <a:ext cx="4503511"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控制器有两个探针：一个监听本地 CPU，一个监听共享总线</a:t>
              </a:r>
            </a:p>
          </p:txBody>
        </p:sp>
        <p:sp>
          <p:nvSpPr>
            <p:cNvPr id="37" name="Ellipse 37"/>
            <p:cNvSpPr/>
            <p:nvPr/>
          </p:nvSpPr>
          <p:spPr>
            <a:xfrm>
              <a:off x="542925" y="4832985"/>
              <a:ext cx="57150" cy="57150"/>
            </a:xfrm>
            <a:prstGeom prst="ellipse">
              <a:avLst/>
            </a:prstGeom>
            <a:solidFill>
              <a:srgbClr val="334E68"/>
            </a:solidFill>
            <a:ln>
              <a:noFill/>
            </a:ln>
          </p:spPr>
        </p:sp>
        <p:sp>
          <p:nvSpPr>
            <p:cNvPr id="38" name="TextBox 38"/>
            <p:cNvSpPr txBox="1"/>
            <p:nvPr/>
          </p:nvSpPr>
          <p:spPr>
            <a:xfrm>
              <a:off x="698373" y="4781074"/>
              <a:ext cx="4938522" cy="492252"/>
            </a:xfrm>
            <a:prstGeom prst="rect">
              <a:avLst/>
            </a:prstGeom>
            <a:noFill/>
            <a:ln>
              <a:noFill/>
            </a:ln>
          </p:spPr>
          <p:txBody>
            <a:bodyPr wrap="none" lIns="0" tIns="0" rIns="0" bIns="0" anchor="t" anchorCtr="0">
              <a:spAutoFit/>
            </a:bodyPr>
            <a:lstStyle/>
            <a:p>
              <a:pPr algn="l">
                <a:lnSpc>
                  <a:spcPts val="1912"/>
                </a:lnSpc>
              </a:pPr>
              <a:r>
                <a:rPr lang="zh-CN" sz="1280" dirty="0">
                  <a:solidFill>
                    <a:srgbClr val="1F2937"/>
                  </a:solidFill>
                  <a:latin typeface="+mn-lt"/>
                  <a:ea typeface="+mn-ea"/>
                  <a:cs typeface="+mn-cs"/>
                </a:rPr>
                <a:t>CPU 只和本地 Cache 控制器交互，不直接连总线，所有远程访问都经</a:t>
              </a:r>
              <a:br/>
              <a:r>
                <a:rPr lang="zh-CN" sz="1280" dirty="0">
                  <a:solidFill>
                    <a:srgbClr val="1F2937"/>
                  </a:solidFill>
                  <a:latin typeface="+mn-lt"/>
                  <a:ea typeface="+mn-ea"/>
                  <a:cs typeface="+mn-cs"/>
                </a:rPr>
                <a:t>本地控制器完成</a:t>
              </a:r>
            </a:p>
          </p:txBody>
        </p:sp>
      </p:grpSp>
      <p:grpSp>
        <p:nvGrpSpPr>
          <p:cNvPr id="65" name="c2-table-1"/>
          <p:cNvGrpSpPr/>
          <p:nvPr/>
        </p:nvGrpSpPr>
        <p:grpSpPr>
          <a:xfrm>
            <a:off x="6248400" y="1524000"/>
            <a:ext cx="5410200" cy="2022158"/>
            <a:chOff x="6248400" y="1524000"/>
            <a:chExt cx="5410200" cy="2022158"/>
          </a:xfrm>
        </p:grpSpPr>
        <p:sp>
          <p:nvSpPr>
            <p:cNvPr id="40" name="Rectangle 40"/>
            <p:cNvSpPr/>
            <p:nvPr/>
          </p:nvSpPr>
          <p:spPr>
            <a:xfrm>
              <a:off x="6248400" y="1524000"/>
              <a:ext cx="5410200" cy="448628"/>
            </a:xfrm>
            <a:prstGeom prst="rect">
              <a:avLst/>
            </a:prstGeom>
            <a:solidFill>
              <a:srgbClr val="334E68"/>
            </a:solidFill>
            <a:ln>
              <a:noFill/>
            </a:ln>
          </p:spPr>
        </p:sp>
        <p:sp>
          <p:nvSpPr>
            <p:cNvPr id="41" name="TextBox 41"/>
            <p:cNvSpPr txBox="1"/>
            <p:nvPr/>
          </p:nvSpPr>
          <p:spPr>
            <a:xfrm>
              <a:off x="6881139" y="1659731"/>
              <a:ext cx="357581"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状态</a:t>
              </a:r>
            </a:p>
          </p:txBody>
        </p:sp>
        <p:sp>
          <p:nvSpPr>
            <p:cNvPr id="42" name="TextBox 42"/>
            <p:cNvSpPr txBox="1"/>
            <p:nvPr/>
          </p:nvSpPr>
          <p:spPr>
            <a:xfrm>
              <a:off x="8169961" y="1659731"/>
              <a:ext cx="702208"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副本情况</a:t>
              </a:r>
            </a:p>
          </p:txBody>
        </p:sp>
        <p:sp>
          <p:nvSpPr>
            <p:cNvPr id="43" name="TextBox 43"/>
            <p:cNvSpPr txBox="1"/>
            <p:nvPr/>
          </p:nvSpPr>
          <p:spPr>
            <a:xfrm>
              <a:off x="9350197" y="1659731"/>
              <a:ext cx="1046836"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存储器中的值</a:t>
              </a:r>
            </a:p>
          </p:txBody>
        </p:sp>
        <p:sp>
          <p:nvSpPr>
            <p:cNvPr id="44" name="TextBox 44"/>
            <p:cNvSpPr txBox="1"/>
            <p:nvPr/>
          </p:nvSpPr>
          <p:spPr>
            <a:xfrm>
              <a:off x="10938789" y="1659731"/>
              <a:ext cx="357581"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权限</a:t>
              </a:r>
            </a:p>
          </p:txBody>
        </p:sp>
        <p:sp>
          <p:nvSpPr>
            <p:cNvPr id="45" name="TextBox 45"/>
            <p:cNvSpPr txBox="1"/>
            <p:nvPr/>
          </p:nvSpPr>
          <p:spPr>
            <a:xfrm>
              <a:off x="6356223" y="2221706"/>
              <a:ext cx="1092417"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I 无效 Invalid</a:t>
              </a:r>
            </a:p>
          </p:txBody>
        </p:sp>
        <p:sp>
          <p:nvSpPr>
            <p:cNvPr id="46" name="TextBox 46"/>
            <p:cNvSpPr txBox="1"/>
            <p:nvPr/>
          </p:nvSpPr>
          <p:spPr>
            <a:xfrm>
              <a:off x="7979283" y="2108359"/>
              <a:ext cx="882650" cy="476059"/>
            </a:xfrm>
            <a:prstGeom prst="rect">
              <a:avLst/>
            </a:prstGeom>
            <a:noFill/>
            <a:ln>
              <a:noFill/>
            </a:ln>
          </p:spPr>
          <p:txBody>
            <a:bodyPr wrap="none" lIns="0" tIns="0" rIns="0" bIns="0" anchor="t" anchorCtr="0">
              <a:spAutoFit/>
            </a:bodyPr>
            <a:lstStyle/>
            <a:p>
              <a:pPr algn="l">
                <a:lnSpc>
                  <a:spcPts val="1785"/>
                </a:lnSpc>
              </a:pPr>
              <a:r>
                <a:rPr lang="zh-CN" sz="1280" dirty="0">
                  <a:solidFill>
                    <a:srgbClr val="1F2937"/>
                  </a:solidFill>
                  <a:latin typeface="+mn-lt"/>
                  <a:ea typeface="+mn-ea"/>
                  <a:cs typeface="+mn-cs"/>
                </a:rPr>
                <a:t>本 Cache 无</a:t>
              </a:r>
              <a:br/>
              <a:r>
                <a:rPr lang="zh-CN" sz="1280" dirty="0">
                  <a:solidFill>
                    <a:srgbClr val="1F2937"/>
                  </a:solidFill>
                  <a:latin typeface="+mn-lt"/>
                  <a:ea typeface="+mn-ea"/>
                  <a:cs typeface="+mn-cs"/>
                </a:rPr>
                <a:t>副本</a:t>
              </a:r>
            </a:p>
          </p:txBody>
        </p:sp>
        <p:sp>
          <p:nvSpPr>
            <p:cNvPr id="47" name="TextBox 47"/>
            <p:cNvSpPr txBox="1"/>
            <p:nvPr/>
          </p:nvSpPr>
          <p:spPr>
            <a:xfrm>
              <a:off x="9277540" y="2221706"/>
              <a:ext cx="107726"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a:t>
              </a:r>
            </a:p>
          </p:txBody>
        </p:sp>
        <p:sp>
          <p:nvSpPr>
            <p:cNvPr id="48" name="TextBox 48"/>
            <p:cNvSpPr txBox="1"/>
            <p:nvPr/>
          </p:nvSpPr>
          <p:spPr>
            <a:xfrm>
              <a:off x="10684383" y="2221706"/>
              <a:ext cx="185268"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无</a:t>
              </a:r>
            </a:p>
          </p:txBody>
        </p:sp>
        <p:sp>
          <p:nvSpPr>
            <p:cNvPr id="49" name="Rectangle 49"/>
            <p:cNvSpPr/>
            <p:nvPr/>
          </p:nvSpPr>
          <p:spPr>
            <a:xfrm>
              <a:off x="6248400" y="2643188"/>
              <a:ext cx="5410200" cy="9525"/>
            </a:xfrm>
            <a:prstGeom prst="rect">
              <a:avLst/>
            </a:prstGeom>
            <a:solidFill>
              <a:srgbClr val="D9DFEA"/>
            </a:solidFill>
            <a:ln>
              <a:noFill/>
            </a:ln>
          </p:spPr>
        </p:sp>
        <p:sp>
          <p:nvSpPr>
            <p:cNvPr id="50" name="Rectangle 50"/>
            <p:cNvSpPr/>
            <p:nvPr/>
          </p:nvSpPr>
          <p:spPr>
            <a:xfrm>
              <a:off x="6248400" y="2647950"/>
              <a:ext cx="5410200" cy="448628"/>
            </a:xfrm>
            <a:prstGeom prst="rect">
              <a:avLst/>
            </a:prstGeom>
            <a:solidFill>
              <a:srgbClr val="F4F6FB"/>
            </a:solidFill>
            <a:ln>
              <a:noFill/>
            </a:ln>
          </p:spPr>
        </p:sp>
        <p:sp>
          <p:nvSpPr>
            <p:cNvPr id="51" name="TextBox 51"/>
            <p:cNvSpPr txBox="1"/>
            <p:nvPr/>
          </p:nvSpPr>
          <p:spPr>
            <a:xfrm>
              <a:off x="6356223" y="2783681"/>
              <a:ext cx="1177566"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S 共享 Shared</a:t>
              </a:r>
            </a:p>
          </p:txBody>
        </p:sp>
        <p:sp>
          <p:nvSpPr>
            <p:cNvPr id="52" name="TextBox 52"/>
            <p:cNvSpPr txBox="1"/>
            <p:nvPr/>
          </p:nvSpPr>
          <p:spPr>
            <a:xfrm>
              <a:off x="7979283" y="2783681"/>
              <a:ext cx="1072683"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至少 1 个副本</a:t>
              </a:r>
            </a:p>
          </p:txBody>
        </p:sp>
        <p:sp>
          <p:nvSpPr>
            <p:cNvPr id="53" name="TextBox 53"/>
            <p:cNvSpPr txBox="1"/>
            <p:nvPr/>
          </p:nvSpPr>
          <p:spPr>
            <a:xfrm>
              <a:off x="9277540" y="2783681"/>
              <a:ext cx="1132992"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最新（clean）</a:t>
              </a:r>
            </a:p>
          </p:txBody>
        </p:sp>
        <p:sp>
          <p:nvSpPr>
            <p:cNvPr id="54" name="TextBox 54"/>
            <p:cNvSpPr txBox="1"/>
            <p:nvPr/>
          </p:nvSpPr>
          <p:spPr>
            <a:xfrm>
              <a:off x="10684383" y="2783681"/>
              <a:ext cx="357581"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只读</a:t>
              </a:r>
            </a:p>
          </p:txBody>
        </p:sp>
        <p:sp>
          <p:nvSpPr>
            <p:cNvPr id="55" name="Rectangle 55"/>
            <p:cNvSpPr/>
            <p:nvPr/>
          </p:nvSpPr>
          <p:spPr>
            <a:xfrm>
              <a:off x="6248400" y="3092768"/>
              <a:ext cx="5410200" cy="9525"/>
            </a:xfrm>
            <a:prstGeom prst="rect">
              <a:avLst/>
            </a:prstGeom>
            <a:solidFill>
              <a:srgbClr val="D9DFEA"/>
            </a:solidFill>
            <a:ln>
              <a:noFill/>
            </a:ln>
          </p:spPr>
        </p:sp>
        <p:sp>
          <p:nvSpPr>
            <p:cNvPr id="56" name="Rectangle 56"/>
            <p:cNvSpPr/>
            <p:nvPr/>
          </p:nvSpPr>
          <p:spPr>
            <a:xfrm>
              <a:off x="6257925" y="3107055"/>
              <a:ext cx="1604010" cy="429578"/>
            </a:xfrm>
            <a:prstGeom prst="rect">
              <a:avLst/>
            </a:prstGeom>
            <a:solidFill>
              <a:srgbClr val="FDEEE7"/>
            </a:solidFill>
            <a:ln>
              <a:noFill/>
            </a:ln>
          </p:spPr>
        </p:sp>
        <p:sp>
          <p:nvSpPr>
            <p:cNvPr id="57" name="TextBox 57"/>
            <p:cNvSpPr txBox="1"/>
            <p:nvPr/>
          </p:nvSpPr>
          <p:spPr>
            <a:xfrm>
              <a:off x="6356223" y="3232309"/>
              <a:ext cx="1360032"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M 修改 Modified</a:t>
              </a:r>
            </a:p>
          </p:txBody>
        </p:sp>
        <p:sp>
          <p:nvSpPr>
            <p:cNvPr id="58" name="TextBox 58"/>
            <p:cNvSpPr txBox="1"/>
            <p:nvPr/>
          </p:nvSpPr>
          <p:spPr>
            <a:xfrm>
              <a:off x="7979283" y="3232309"/>
              <a:ext cx="702208"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唯一副本</a:t>
              </a:r>
            </a:p>
          </p:txBody>
        </p:sp>
        <p:sp>
          <p:nvSpPr>
            <p:cNvPr id="59" name="TextBox 59"/>
            <p:cNvSpPr txBox="1"/>
            <p:nvPr/>
          </p:nvSpPr>
          <p:spPr>
            <a:xfrm>
              <a:off x="9277540" y="3232309"/>
              <a:ext cx="1132992"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旧值（dirty）</a:t>
              </a:r>
            </a:p>
          </p:txBody>
        </p:sp>
        <p:sp>
          <p:nvSpPr>
            <p:cNvPr id="60" name="TextBox 60"/>
            <p:cNvSpPr txBox="1"/>
            <p:nvPr/>
          </p:nvSpPr>
          <p:spPr>
            <a:xfrm>
              <a:off x="10684383" y="3232309"/>
              <a:ext cx="702208"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可读可写</a:t>
              </a:r>
            </a:p>
          </p:txBody>
        </p:sp>
        <p:sp>
          <p:nvSpPr>
            <p:cNvPr id="61" name="Rectangle 61"/>
            <p:cNvSpPr/>
            <p:nvPr/>
          </p:nvSpPr>
          <p:spPr>
            <a:xfrm>
              <a:off x="6248400" y="1524000"/>
              <a:ext cx="5410200" cy="2022158"/>
            </a:xfrm>
            <a:prstGeom prst="rect">
              <a:avLst/>
            </a:prstGeom>
            <a:noFill/>
            <a:ln w="14288">
              <a:solidFill>
                <a:srgbClr val="D9DFEA"/>
              </a:solidFill>
            </a:ln>
          </p:spPr>
        </p:sp>
        <p:sp>
          <p:nvSpPr>
            <p:cNvPr id="62" name="Rectangle 62"/>
            <p:cNvSpPr/>
            <p:nvPr/>
          </p:nvSpPr>
          <p:spPr>
            <a:xfrm>
              <a:off x="7866698" y="1524000"/>
              <a:ext cx="9525" cy="2022158"/>
            </a:xfrm>
            <a:prstGeom prst="rect">
              <a:avLst/>
            </a:prstGeom>
            <a:solidFill>
              <a:srgbClr val="D9DFEA"/>
            </a:solidFill>
            <a:ln>
              <a:noFill/>
            </a:ln>
          </p:spPr>
        </p:sp>
        <p:sp>
          <p:nvSpPr>
            <p:cNvPr id="63" name="Rectangle 63"/>
            <p:cNvSpPr/>
            <p:nvPr/>
          </p:nvSpPr>
          <p:spPr>
            <a:xfrm>
              <a:off x="9164955" y="1524000"/>
              <a:ext cx="9525" cy="2022158"/>
            </a:xfrm>
            <a:prstGeom prst="rect">
              <a:avLst/>
            </a:prstGeom>
            <a:solidFill>
              <a:srgbClr val="D9DFEA"/>
            </a:solidFill>
            <a:ln>
              <a:noFill/>
            </a:ln>
          </p:spPr>
        </p:sp>
        <p:sp>
          <p:nvSpPr>
            <p:cNvPr id="64" name="Rectangle 64"/>
            <p:cNvSpPr/>
            <p:nvPr/>
          </p:nvSpPr>
          <p:spPr>
            <a:xfrm>
              <a:off x="10571798" y="1524000"/>
              <a:ext cx="9525" cy="2022158"/>
            </a:xfrm>
            <a:prstGeom prst="rect">
              <a:avLst/>
            </a:prstGeom>
            <a:solidFill>
              <a:srgbClr val="D9DFEA"/>
            </a:solidFill>
            <a:ln>
              <a:noFill/>
            </a:ln>
          </p:spPr>
        </p:sp>
      </p:grpSp>
      <p:grpSp>
        <p:nvGrpSpPr>
          <p:cNvPr id="74" name="c2-kv-2"/>
          <p:cNvGrpSpPr/>
          <p:nvPr/>
        </p:nvGrpSpPr>
        <p:grpSpPr>
          <a:xfrm>
            <a:off x="6240780" y="3761422"/>
            <a:ext cx="5417820" cy="1455420"/>
            <a:chOff x="6240780" y="3761422"/>
            <a:chExt cx="5417820" cy="1455420"/>
          </a:xfrm>
        </p:grpSpPr>
        <p:sp>
          <p:nvSpPr>
            <p:cNvPr id="66" name="TextBox 66"/>
            <p:cNvSpPr txBox="1"/>
            <p:nvPr/>
          </p:nvSpPr>
          <p:spPr>
            <a:xfrm>
              <a:off x="6240780" y="3761422"/>
              <a:ext cx="1508336" cy="293370"/>
            </a:xfrm>
            <a:prstGeom prst="rect">
              <a:avLst/>
            </a:prstGeom>
            <a:noFill/>
            <a:ln>
              <a:noFill/>
            </a:ln>
          </p:spPr>
          <p:txBody>
            <a:bodyPr wrap="none" lIns="0" tIns="0" rIns="0" bIns="0" anchor="t" anchorCtr="0">
              <a:spAutoFit/>
            </a:bodyPr>
            <a:lstStyle/>
            <a:p>
              <a:pPr algn="l"/>
              <a:r>
                <a:rPr lang="en-US" sz="1500" b="1" dirty="0">
                  <a:solidFill>
                    <a:srgbClr val="334E68"/>
                  </a:solidFill>
                  <a:latin typeface="+mn-lt"/>
                  <a:ea typeface="+mn-ea"/>
                  <a:cs typeface="+mn-cs"/>
                </a:rPr>
                <a:t>RdHit / RdMiss</a:t>
              </a:r>
            </a:p>
          </p:txBody>
        </p:sp>
        <p:sp>
          <p:nvSpPr>
            <p:cNvPr id="67" name="TextBox 67"/>
            <p:cNvSpPr txBox="1"/>
            <p:nvPr/>
          </p:nvSpPr>
          <p:spPr>
            <a:xfrm>
              <a:off x="7863840" y="3761422"/>
              <a:ext cx="145904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读命中 / 读缺失</a:t>
              </a:r>
            </a:p>
          </p:txBody>
        </p:sp>
        <p:sp>
          <p:nvSpPr>
            <p:cNvPr id="68" name="Rectangle 68"/>
            <p:cNvSpPr/>
            <p:nvPr/>
          </p:nvSpPr>
          <p:spPr>
            <a:xfrm>
              <a:off x="6248400" y="4081462"/>
              <a:ext cx="5410200" cy="9525"/>
            </a:xfrm>
            <a:prstGeom prst="rect">
              <a:avLst/>
            </a:prstGeom>
            <a:solidFill>
              <a:srgbClr val="D9DFEA"/>
            </a:solidFill>
            <a:ln>
              <a:noFill/>
            </a:ln>
          </p:spPr>
        </p:sp>
        <p:sp>
          <p:nvSpPr>
            <p:cNvPr id="69" name="TextBox 69"/>
            <p:cNvSpPr txBox="1"/>
            <p:nvPr/>
          </p:nvSpPr>
          <p:spPr>
            <a:xfrm>
              <a:off x="6240780" y="4201478"/>
              <a:ext cx="725329" cy="575310"/>
            </a:xfrm>
            <a:prstGeom prst="rect">
              <a:avLst/>
            </a:prstGeom>
            <a:noFill/>
            <a:ln>
              <a:noFill/>
            </a:ln>
          </p:spPr>
          <p:txBody>
            <a:bodyPr wrap="none" lIns="0" tIns="0" rIns="0" bIns="0" anchor="t" anchorCtr="0">
              <a:spAutoFit/>
            </a:bodyPr>
            <a:lstStyle/>
            <a:p>
              <a:pPr algn="l">
                <a:lnSpc>
                  <a:spcPts val="2220"/>
                </a:lnSpc>
              </a:pPr>
              <a:r>
                <a:rPr lang="en-US" sz="1500" b="1" dirty="0">
                  <a:solidFill>
                    <a:srgbClr val="334E68"/>
                  </a:solidFill>
                  <a:latin typeface="+mn-lt"/>
                  <a:ea typeface="+mn-ea"/>
                  <a:cs typeface="+mn-cs"/>
                </a:rPr>
                <a:t>WtHit /</a:t>
              </a:r>
              <a:br/>
              <a:r>
                <a:rPr lang="en-US" sz="1500" b="1" dirty="0">
                  <a:solidFill>
                    <a:srgbClr val="334E68"/>
                  </a:solidFill>
                  <a:latin typeface="+mn-lt"/>
                  <a:ea typeface="+mn-ea"/>
                  <a:cs typeface="+mn-cs"/>
                </a:rPr>
                <a:t>WtMiss</a:t>
              </a:r>
            </a:p>
          </p:txBody>
        </p:sp>
        <p:sp>
          <p:nvSpPr>
            <p:cNvPr id="70" name="TextBox 70"/>
            <p:cNvSpPr txBox="1"/>
            <p:nvPr/>
          </p:nvSpPr>
          <p:spPr>
            <a:xfrm>
              <a:off x="7863840" y="4201478"/>
              <a:ext cx="145904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写命中 / 写缺失</a:t>
              </a:r>
            </a:p>
          </p:txBody>
        </p:sp>
        <p:sp>
          <p:nvSpPr>
            <p:cNvPr id="71" name="Rectangle 71"/>
            <p:cNvSpPr/>
            <p:nvPr/>
          </p:nvSpPr>
          <p:spPr>
            <a:xfrm>
              <a:off x="6248400" y="4803458"/>
              <a:ext cx="5410200" cy="9525"/>
            </a:xfrm>
            <a:prstGeom prst="rect">
              <a:avLst/>
            </a:prstGeom>
            <a:solidFill>
              <a:srgbClr val="D9DFEA"/>
            </a:solidFill>
            <a:ln>
              <a:noFill/>
            </a:ln>
          </p:spPr>
        </p:sp>
        <p:sp>
          <p:nvSpPr>
            <p:cNvPr id="72" name="TextBox 72"/>
            <p:cNvSpPr txBox="1"/>
            <p:nvPr/>
          </p:nvSpPr>
          <p:spPr>
            <a:xfrm>
              <a:off x="6240780" y="4923472"/>
              <a:ext cx="1028067" cy="293370"/>
            </a:xfrm>
            <a:prstGeom prst="rect">
              <a:avLst/>
            </a:prstGeom>
            <a:noFill/>
            <a:ln>
              <a:noFill/>
            </a:ln>
          </p:spPr>
          <p:txBody>
            <a:bodyPr wrap="none" lIns="0" tIns="0" rIns="0" bIns="0" anchor="t" anchorCtr="0">
              <a:spAutoFit/>
            </a:bodyPr>
            <a:lstStyle/>
            <a:p>
              <a:pPr algn="l"/>
              <a:r>
                <a:rPr lang="en-US" sz="1500" b="1" dirty="0">
                  <a:solidFill>
                    <a:srgbClr val="334E68"/>
                  </a:solidFill>
                  <a:latin typeface="+mn-lt"/>
                  <a:ea typeface="+mn-ea"/>
                  <a:cs typeface="+mn-cs"/>
                </a:rPr>
                <a:t>Invalidate</a:t>
              </a:r>
            </a:p>
          </p:txBody>
        </p:sp>
        <p:sp>
          <p:nvSpPr>
            <p:cNvPr id="73" name="TextBox 73"/>
            <p:cNvSpPr txBox="1"/>
            <p:nvPr/>
          </p:nvSpPr>
          <p:spPr>
            <a:xfrm>
              <a:off x="7863840" y="4923472"/>
              <a:ext cx="284226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作废，总线上只带地址不带数据</a:t>
              </a:r>
            </a:p>
          </p:txBody>
        </p:sp>
      </p:grpSp>
      <p:grpSp>
        <p:nvGrpSpPr>
          <p:cNvPr id="81" name="c2-callout-3"/>
          <p:cNvGrpSpPr/>
          <p:nvPr/>
        </p:nvGrpSpPr>
        <p:grpSpPr>
          <a:xfrm>
            <a:off x="6248400" y="5348288"/>
            <a:ext cx="5410200" cy="782955"/>
            <a:chOff x="6248400" y="5348288"/>
            <a:chExt cx="5410200" cy="782955"/>
          </a:xfrm>
        </p:grpSpPr>
        <p:sp>
          <p:nvSpPr>
            <p:cNvPr id="75" name="Rectangle 75"/>
            <p:cNvSpPr/>
            <p:nvPr/>
          </p:nvSpPr>
          <p:spPr>
            <a:xfrm>
              <a:off x="6248400" y="5348288"/>
              <a:ext cx="5410200" cy="782955"/>
            </a:xfrm>
            <a:prstGeom prst="roundRect">
              <a:avLst>
                <a:gd name="adj" fmla="val 14599"/>
              </a:avLst>
            </a:prstGeom>
            <a:solidFill>
              <a:srgbClr val="FDEEE7"/>
            </a:solidFill>
            <a:ln>
              <a:noFill/>
            </a:ln>
          </p:spPr>
        </p:sp>
        <p:grpSp>
          <p:nvGrpSpPr>
            <p:cNvPr id="79" name="Group 79"/>
            <p:cNvGrpSpPr/>
            <p:nvPr/>
          </p:nvGrpSpPr>
          <p:grpSpPr>
            <a:xfrm>
              <a:off x="6453188" y="5639753"/>
              <a:ext cx="200026" cy="200025"/>
              <a:chOff x="6453188" y="5639753"/>
              <a:chExt cx="200026" cy="200025"/>
            </a:xfrm>
          </p:grpSpPr>
          <p:sp>
            <p:nvSpPr>
              <p:cNvPr id="76" name="Freeform 76"/>
              <p:cNvSpPr/>
              <p:nvPr/>
            </p:nvSpPr>
            <p:spPr>
              <a:xfrm>
                <a:off x="6453188" y="5639753"/>
                <a:ext cx="200026" cy="100013"/>
              </a:xfrm>
              <a:custGeom>
                <a:avLst/>
                <a:gdLst/>
                <a:ahLst/>
                <a:cxnLst/>
                <a:rect l="l" t="t" r="r" b="b"/>
                <a:pathLst>
                  <a:path w="200026" h="100013">
                    <a:moveTo>
                      <a:pt x="0" y="100013"/>
                    </a:moveTo>
                    <a:lnTo>
                      <a:pt x="11113" y="100013"/>
                    </a:lnTo>
                    <a:moveTo>
                      <a:pt x="100013" y="0"/>
                    </a:moveTo>
                    <a:lnTo>
                      <a:pt x="100013" y="11113"/>
                    </a:lnTo>
                    <a:moveTo>
                      <a:pt x="188913" y="100013"/>
                    </a:moveTo>
                    <a:lnTo>
                      <a:pt x="200026" y="100013"/>
                    </a:lnTo>
                    <a:moveTo>
                      <a:pt x="28893" y="28893"/>
                    </a:moveTo>
                    <a:lnTo>
                      <a:pt x="36671" y="36671"/>
                    </a:lnTo>
                    <a:moveTo>
                      <a:pt x="171133" y="28893"/>
                    </a:moveTo>
                    <a:lnTo>
                      <a:pt x="163354" y="36671"/>
                    </a:lnTo>
                  </a:path>
                </a:pathLst>
              </a:custGeom>
              <a:noFill/>
              <a:ln w="22225">
                <a:solidFill>
                  <a:srgbClr val="C2410C"/>
                </a:solidFill>
              </a:ln>
            </p:spPr>
          </p:sp>
          <p:sp>
            <p:nvSpPr>
              <p:cNvPr id="77" name="Freeform 77"/>
              <p:cNvSpPr/>
              <p:nvPr/>
            </p:nvSpPr>
            <p:spPr>
              <a:xfrm>
                <a:off x="6492926" y="5684203"/>
                <a:ext cx="120548" cy="155575"/>
              </a:xfrm>
              <a:custGeom>
                <a:avLst/>
                <a:gdLst/>
                <a:ahLst/>
                <a:cxnLst/>
                <a:rect l="l" t="t" r="r" b="b"/>
                <a:pathLst>
                  <a:path w="120548" h="155575">
                    <a:moveTo>
                      <a:pt x="26937" y="100013"/>
                    </a:moveTo>
                    <a:cubicBezTo>
                      <a:pt x="7804" y="85663"/>
                      <a:pt x="0" y="60681"/>
                      <a:pt x="7563" y="37992"/>
                    </a:cubicBezTo>
                    <a:cubicBezTo>
                      <a:pt x="15126" y="15304"/>
                      <a:pt x="36358" y="0"/>
                      <a:pt x="60274" y="0"/>
                    </a:cubicBezTo>
                    <a:cubicBezTo>
                      <a:pt x="84190" y="0"/>
                      <a:pt x="105423" y="15304"/>
                      <a:pt x="112986" y="37992"/>
                    </a:cubicBezTo>
                    <a:cubicBezTo>
                      <a:pt x="120548" y="60681"/>
                      <a:pt x="112745" y="85663"/>
                      <a:pt x="93612" y="100013"/>
                    </a:cubicBezTo>
                    <a:cubicBezTo>
                      <a:pt x="84812" y="108723"/>
                      <a:pt x="80686" y="121103"/>
                      <a:pt x="82499" y="133350"/>
                    </a:cubicBezTo>
                    <a:cubicBezTo>
                      <a:pt x="82499" y="145625"/>
                      <a:pt x="72549" y="155575"/>
                      <a:pt x="60274" y="155575"/>
                    </a:cubicBezTo>
                    <a:cubicBezTo>
                      <a:pt x="48000" y="155575"/>
                      <a:pt x="38049" y="145625"/>
                      <a:pt x="38049" y="133350"/>
                    </a:cubicBezTo>
                    <a:cubicBezTo>
                      <a:pt x="39862" y="121103"/>
                      <a:pt x="35736" y="108723"/>
                      <a:pt x="26937" y="100013"/>
                    </a:cubicBezTo>
                  </a:path>
                </a:pathLst>
              </a:custGeom>
              <a:noFill/>
              <a:ln w="22225">
                <a:solidFill>
                  <a:srgbClr val="C2410C"/>
                </a:solidFill>
              </a:ln>
            </p:spPr>
          </p:sp>
          <p:sp>
            <p:nvSpPr>
              <p:cNvPr id="78" name="Freeform 78"/>
              <p:cNvSpPr/>
              <p:nvPr/>
            </p:nvSpPr>
            <p:spPr>
              <a:xfrm>
                <a:off x="6527642" y="5795328"/>
                <a:ext cx="51118" cy="9525"/>
              </a:xfrm>
              <a:custGeom>
                <a:avLst/>
                <a:gdLst/>
                <a:ahLst/>
                <a:cxnLst/>
                <a:rect l="l" t="t" r="r" b="b"/>
                <a:pathLst>
                  <a:path w="51118" h="9525">
                    <a:moveTo>
                      <a:pt x="0" y="0"/>
                    </a:moveTo>
                    <a:lnTo>
                      <a:pt x="51118" y="0"/>
                    </a:lnTo>
                  </a:path>
                </a:pathLst>
              </a:custGeom>
              <a:noFill/>
              <a:ln w="22225">
                <a:solidFill>
                  <a:srgbClr val="C2410C"/>
                </a:solidFill>
              </a:ln>
            </p:spPr>
          </p:sp>
        </p:grpSp>
        <p:sp>
          <p:nvSpPr>
            <p:cNvPr id="80" name="TextBox 80"/>
            <p:cNvSpPr txBox="1"/>
            <p:nvPr/>
          </p:nvSpPr>
          <p:spPr>
            <a:xfrm>
              <a:off x="6755130" y="5496878"/>
              <a:ext cx="4444365" cy="569595"/>
            </a:xfrm>
            <a:prstGeom prst="rect">
              <a:avLst/>
            </a:prstGeom>
            <a:noFill/>
            <a:ln>
              <a:noFill/>
            </a:ln>
          </p:spPr>
          <p:txBody>
            <a:bodyPr wrap="none" lIns="0" tIns="0" rIns="0" bIns="0" anchor="t" anchorCtr="0">
              <a:spAutoFit/>
            </a:bodyPr>
            <a:lstStyle/>
            <a:p>
              <a:pPr algn="l">
                <a:lnSpc>
                  <a:spcPts val="2175"/>
                </a:lnSpc>
              </a:pPr>
              <a:r>
                <a:rPr lang="zh-CN" sz="1500" dirty="0">
                  <a:solidFill>
                    <a:srgbClr val="C2410C"/>
                  </a:solidFill>
                  <a:latin typeface="+mn-lt"/>
                  <a:ea typeface="+mn-ea"/>
                  <a:cs typeface="+mn-cs"/>
                </a:rPr>
                <a:t>这三个状态合称 MSI 协议。M 块是系统中唯一的最新</a:t>
              </a:r>
              <a:br/>
              <a:r>
                <a:rPr lang="zh-CN" sz="1500" dirty="0">
                  <a:solidFill>
                    <a:srgbClr val="C2410C"/>
                  </a:solidFill>
                  <a:latin typeface="+mn-lt"/>
                  <a:ea typeface="+mn-ea"/>
                  <a:cs typeface="+mn-cs"/>
                </a:rPr>
                <a:t>副本，被替换或别人来要时必须把它交出去。</a:t>
              </a:r>
            </a:p>
          </p:txBody>
        </p:sp>
      </p:grpSp>
      <p:grpSp>
        <p:nvGrpSpPr>
          <p:cNvPr id="84" name="footer"/>
          <p:cNvGrpSpPr/>
          <p:nvPr/>
        </p:nvGrpSpPr>
        <p:grpSpPr>
          <a:xfrm>
            <a:off x="528447" y="6581299"/>
            <a:ext cx="11135106" cy="190690"/>
            <a:chOff x="528447" y="6581299"/>
            <a:chExt cx="11135106" cy="190690"/>
          </a:xfrm>
        </p:grpSpPr>
        <p:sp>
          <p:nvSpPr>
            <p:cNvPr id="82" name="TextBox 82"/>
            <p:cNvSpPr txBox="1"/>
            <p:nvPr/>
          </p:nvSpPr>
          <p:spPr>
            <a:xfrm>
              <a:off x="528447" y="6581299"/>
              <a:ext cx="2120748"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并行与分布式计算 · 第7章 体系结构</a:t>
              </a:r>
            </a:p>
          </p:txBody>
        </p:sp>
        <p:sp>
          <p:nvSpPr>
            <p:cNvPr id="83" name="TextBox 83"/>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23</a:t>
              </a:r>
            </a:p>
          </p:txBody>
        </p:sp>
      </p:grpSp>
    </p:spTree>
  </p:cSld>
  <p:clrMapOvr>
    <a:masterClrMapping/>
  </p:clrMapOvr>
  <p:transition xmlns:p14="http://schemas.microsoft.com/office/powerpoint/2010/main" p14:dur="400">
    <p:fade/>
  </p:transition>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7117964" cy="909257"/>
            <a:chOff x="520446" y="342900"/>
            <a:chExt cx="7117964" cy="909257"/>
          </a:xfrm>
        </p:grpSpPr>
        <p:sp>
          <p:nvSpPr>
            <p:cNvPr id="2" name="Rectangle 2"/>
            <p:cNvSpPr/>
            <p:nvPr/>
          </p:nvSpPr>
          <p:spPr>
            <a:xfrm>
              <a:off x="533400" y="342900"/>
              <a:ext cx="2586038" cy="266700"/>
            </a:xfrm>
            <a:prstGeom prst="roundRect">
              <a:avLst>
                <a:gd name="adj" fmla="val 50000"/>
              </a:avLst>
            </a:prstGeom>
            <a:solidFill>
              <a:srgbClr val="E7EDF3"/>
            </a:solidFill>
            <a:ln>
              <a:noFill/>
            </a:ln>
          </p:spPr>
        </p:sp>
        <p:sp>
          <p:nvSpPr>
            <p:cNvPr id="3" name="TextBox 3"/>
            <p:cNvSpPr txBox="1"/>
            <p:nvPr/>
          </p:nvSpPr>
          <p:spPr>
            <a:xfrm>
              <a:off x="587464" y="407194"/>
              <a:ext cx="2476957"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第7章 体系结构 · Cache 一致性问题</a:t>
              </a:r>
            </a:p>
          </p:txBody>
        </p:sp>
        <p:sp>
          <p:nvSpPr>
            <p:cNvPr id="4" name="TextBox 4"/>
            <p:cNvSpPr txBox="1"/>
            <p:nvPr/>
          </p:nvSpPr>
          <p:spPr>
            <a:xfrm>
              <a:off x="520446" y="753428"/>
              <a:ext cx="7117964"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CPU 侧状态表：本地 CPU 读写时控制器做什么</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50" name="c1-table-1"/>
          <p:cNvGrpSpPr/>
          <p:nvPr/>
        </p:nvGrpSpPr>
        <p:grpSpPr>
          <a:xfrm>
            <a:off x="527685" y="1524000"/>
            <a:ext cx="5415915" cy="3890487"/>
            <a:chOff x="527685" y="1524000"/>
            <a:chExt cx="5415915" cy="3890487"/>
          </a:xfrm>
        </p:grpSpPr>
        <p:sp>
          <p:nvSpPr>
            <p:cNvPr id="7" name="Rectangle 7"/>
            <p:cNvSpPr/>
            <p:nvPr/>
          </p:nvSpPr>
          <p:spPr>
            <a:xfrm>
              <a:off x="533400" y="1524000"/>
              <a:ext cx="5410200" cy="448628"/>
            </a:xfrm>
            <a:prstGeom prst="rect">
              <a:avLst/>
            </a:prstGeom>
            <a:solidFill>
              <a:srgbClr val="334E68"/>
            </a:solidFill>
            <a:ln>
              <a:noFill/>
            </a:ln>
          </p:spPr>
        </p:sp>
        <p:sp>
          <p:nvSpPr>
            <p:cNvPr id="8" name="TextBox 8"/>
            <p:cNvSpPr txBox="1"/>
            <p:nvPr/>
          </p:nvSpPr>
          <p:spPr>
            <a:xfrm>
              <a:off x="706082" y="1659731"/>
              <a:ext cx="357581"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当前</a:t>
              </a:r>
            </a:p>
          </p:txBody>
        </p:sp>
        <p:sp>
          <p:nvSpPr>
            <p:cNvPr id="9" name="TextBox 9"/>
            <p:cNvSpPr txBox="1"/>
            <p:nvPr/>
          </p:nvSpPr>
          <p:spPr>
            <a:xfrm>
              <a:off x="1490942" y="1659731"/>
              <a:ext cx="357581"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事件</a:t>
              </a:r>
            </a:p>
          </p:txBody>
        </p:sp>
        <p:sp>
          <p:nvSpPr>
            <p:cNvPr id="10" name="TextBox 10"/>
            <p:cNvSpPr txBox="1"/>
            <p:nvPr/>
          </p:nvSpPr>
          <p:spPr>
            <a:xfrm>
              <a:off x="3152711" y="1659731"/>
              <a:ext cx="874522"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控制器操作</a:t>
              </a:r>
            </a:p>
          </p:txBody>
        </p:sp>
        <p:sp>
          <p:nvSpPr>
            <p:cNvPr id="11" name="TextBox 11"/>
            <p:cNvSpPr txBox="1"/>
            <p:nvPr/>
          </p:nvSpPr>
          <p:spPr>
            <a:xfrm>
              <a:off x="5246218" y="1659731"/>
              <a:ext cx="529895"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新状态</a:t>
              </a:r>
            </a:p>
          </p:txBody>
        </p:sp>
        <p:sp>
          <p:nvSpPr>
            <p:cNvPr id="12" name="TextBox 12"/>
            <p:cNvSpPr txBox="1"/>
            <p:nvPr/>
          </p:nvSpPr>
          <p:spPr>
            <a:xfrm>
              <a:off x="641223" y="2108359"/>
              <a:ext cx="70305" cy="249364"/>
            </a:xfrm>
            <a:prstGeom prst="rect">
              <a:avLst/>
            </a:prstGeom>
            <a:noFill/>
            <a:ln>
              <a:noFill/>
            </a:ln>
          </p:spPr>
          <p:txBody>
            <a:bodyPr wrap="none" lIns="0" tIns="0" rIns="0" bIns="0" anchor="t" anchorCtr="0">
              <a:spAutoFit/>
            </a:bodyPr>
            <a:lstStyle/>
            <a:p>
              <a:pPr algn="l"/>
              <a:r>
                <a:rPr lang="en-US" sz="1280" b="1" dirty="0">
                  <a:solidFill>
                    <a:srgbClr val="1F2937"/>
                  </a:solidFill>
                  <a:latin typeface="+mn-lt"/>
                  <a:ea typeface="+mn-ea"/>
                  <a:cs typeface="+mn-cs"/>
                </a:rPr>
                <a:t>I</a:t>
              </a:r>
            </a:p>
          </p:txBody>
        </p:sp>
        <p:sp>
          <p:nvSpPr>
            <p:cNvPr id="13" name="TextBox 13"/>
            <p:cNvSpPr txBox="1"/>
            <p:nvPr/>
          </p:nvSpPr>
          <p:spPr>
            <a:xfrm>
              <a:off x="1344168" y="2108359"/>
              <a:ext cx="529895"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读命中</a:t>
              </a:r>
            </a:p>
          </p:txBody>
        </p:sp>
        <p:sp>
          <p:nvSpPr>
            <p:cNvPr id="14" name="TextBox 14"/>
            <p:cNvSpPr txBox="1"/>
            <p:nvPr/>
          </p:nvSpPr>
          <p:spPr>
            <a:xfrm>
              <a:off x="2209990" y="2108359"/>
              <a:ext cx="529895"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不可能</a:t>
              </a:r>
            </a:p>
          </p:txBody>
        </p:sp>
        <p:sp>
          <p:nvSpPr>
            <p:cNvPr id="15" name="TextBox 15"/>
            <p:cNvSpPr txBox="1"/>
            <p:nvPr/>
          </p:nvSpPr>
          <p:spPr>
            <a:xfrm>
              <a:off x="5185601" y="2108359"/>
              <a:ext cx="107726"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a:t>
              </a:r>
            </a:p>
          </p:txBody>
        </p:sp>
        <p:sp>
          <p:nvSpPr>
            <p:cNvPr id="16" name="Rectangle 16"/>
            <p:cNvSpPr/>
            <p:nvPr/>
          </p:nvSpPr>
          <p:spPr>
            <a:xfrm>
              <a:off x="533400" y="2416492"/>
              <a:ext cx="5410200" cy="9525"/>
            </a:xfrm>
            <a:prstGeom prst="rect">
              <a:avLst/>
            </a:prstGeom>
            <a:solidFill>
              <a:srgbClr val="D9DFEA"/>
            </a:solidFill>
            <a:ln>
              <a:noFill/>
            </a:ln>
          </p:spPr>
        </p:sp>
        <p:sp>
          <p:nvSpPr>
            <p:cNvPr id="17" name="Rectangle 17"/>
            <p:cNvSpPr/>
            <p:nvPr/>
          </p:nvSpPr>
          <p:spPr>
            <a:xfrm>
              <a:off x="533400" y="2421255"/>
              <a:ext cx="5410200" cy="448628"/>
            </a:xfrm>
            <a:prstGeom prst="rect">
              <a:avLst/>
            </a:prstGeom>
            <a:solidFill>
              <a:srgbClr val="F4F6FB"/>
            </a:solidFill>
            <a:ln>
              <a:noFill/>
            </a:ln>
          </p:spPr>
        </p:sp>
        <p:sp>
          <p:nvSpPr>
            <p:cNvPr id="18" name="TextBox 18"/>
            <p:cNvSpPr txBox="1"/>
            <p:nvPr/>
          </p:nvSpPr>
          <p:spPr>
            <a:xfrm>
              <a:off x="641223" y="2556986"/>
              <a:ext cx="118098" cy="249364"/>
            </a:xfrm>
            <a:prstGeom prst="rect">
              <a:avLst/>
            </a:prstGeom>
            <a:noFill/>
            <a:ln>
              <a:noFill/>
            </a:ln>
          </p:spPr>
          <p:txBody>
            <a:bodyPr wrap="none" lIns="0" tIns="0" rIns="0" bIns="0" anchor="t" anchorCtr="0">
              <a:spAutoFit/>
            </a:bodyPr>
            <a:lstStyle/>
            <a:p>
              <a:pPr algn="l"/>
              <a:r>
                <a:rPr lang="en-US" sz="1280" b="1" dirty="0">
                  <a:solidFill>
                    <a:srgbClr val="1F2937"/>
                  </a:solidFill>
                  <a:latin typeface="+mn-lt"/>
                  <a:ea typeface="+mn-ea"/>
                  <a:cs typeface="+mn-cs"/>
                </a:rPr>
                <a:t>S</a:t>
              </a:r>
            </a:p>
          </p:txBody>
        </p:sp>
        <p:sp>
          <p:nvSpPr>
            <p:cNvPr id="19" name="TextBox 19"/>
            <p:cNvSpPr txBox="1"/>
            <p:nvPr/>
          </p:nvSpPr>
          <p:spPr>
            <a:xfrm>
              <a:off x="1344168" y="2556986"/>
              <a:ext cx="529895"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读命中</a:t>
              </a:r>
            </a:p>
          </p:txBody>
        </p:sp>
        <p:sp>
          <p:nvSpPr>
            <p:cNvPr id="20" name="TextBox 20"/>
            <p:cNvSpPr txBox="1"/>
            <p:nvPr/>
          </p:nvSpPr>
          <p:spPr>
            <a:xfrm>
              <a:off x="2209990" y="2556986"/>
              <a:ext cx="529895"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读数据</a:t>
              </a:r>
            </a:p>
          </p:txBody>
        </p:sp>
        <p:sp>
          <p:nvSpPr>
            <p:cNvPr id="21" name="TextBox 21"/>
            <p:cNvSpPr txBox="1"/>
            <p:nvPr/>
          </p:nvSpPr>
          <p:spPr>
            <a:xfrm>
              <a:off x="5185601" y="2556986"/>
              <a:ext cx="113091" cy="249364"/>
            </a:xfrm>
            <a:prstGeom prst="rect">
              <a:avLst/>
            </a:prstGeom>
            <a:noFill/>
            <a:ln>
              <a:noFill/>
            </a:ln>
          </p:spPr>
          <p:txBody>
            <a:bodyPr wrap="none" lIns="0" tIns="0" rIns="0" bIns="0" anchor="t" anchorCtr="0">
              <a:spAutoFit/>
            </a:bodyPr>
            <a:lstStyle/>
            <a:p>
              <a:pPr algn="l"/>
              <a:r>
                <a:rPr lang="en-US" sz="1280" dirty="0">
                  <a:solidFill>
                    <a:srgbClr val="1F2937"/>
                  </a:solidFill>
                  <a:latin typeface="+mn-lt"/>
                  <a:ea typeface="+mn-ea"/>
                  <a:cs typeface="+mn-cs"/>
                </a:rPr>
                <a:t>S</a:t>
              </a:r>
            </a:p>
          </p:txBody>
        </p:sp>
        <p:sp>
          <p:nvSpPr>
            <p:cNvPr id="22" name="Rectangle 22"/>
            <p:cNvSpPr/>
            <p:nvPr/>
          </p:nvSpPr>
          <p:spPr>
            <a:xfrm>
              <a:off x="533400" y="2866072"/>
              <a:ext cx="5410200" cy="9525"/>
            </a:xfrm>
            <a:prstGeom prst="rect">
              <a:avLst/>
            </a:prstGeom>
            <a:solidFill>
              <a:srgbClr val="D9DFEA"/>
            </a:solidFill>
            <a:ln>
              <a:noFill/>
            </a:ln>
          </p:spPr>
        </p:sp>
        <p:sp>
          <p:nvSpPr>
            <p:cNvPr id="23" name="TextBox 23"/>
            <p:cNvSpPr txBox="1"/>
            <p:nvPr/>
          </p:nvSpPr>
          <p:spPr>
            <a:xfrm>
              <a:off x="641223" y="3005614"/>
              <a:ext cx="156332" cy="249364"/>
            </a:xfrm>
            <a:prstGeom prst="rect">
              <a:avLst/>
            </a:prstGeom>
            <a:noFill/>
            <a:ln>
              <a:noFill/>
            </a:ln>
          </p:spPr>
          <p:txBody>
            <a:bodyPr wrap="none" lIns="0" tIns="0" rIns="0" bIns="0" anchor="t" anchorCtr="0">
              <a:spAutoFit/>
            </a:bodyPr>
            <a:lstStyle/>
            <a:p>
              <a:pPr algn="l"/>
              <a:r>
                <a:rPr lang="en-US" sz="1280" b="1" dirty="0">
                  <a:solidFill>
                    <a:srgbClr val="1F2937"/>
                  </a:solidFill>
                  <a:latin typeface="+mn-lt"/>
                  <a:ea typeface="+mn-ea"/>
                  <a:cs typeface="+mn-cs"/>
                </a:rPr>
                <a:t>M</a:t>
              </a:r>
            </a:p>
          </p:txBody>
        </p:sp>
        <p:sp>
          <p:nvSpPr>
            <p:cNvPr id="24" name="TextBox 24"/>
            <p:cNvSpPr txBox="1"/>
            <p:nvPr/>
          </p:nvSpPr>
          <p:spPr>
            <a:xfrm>
              <a:off x="1344168" y="3005614"/>
              <a:ext cx="529895"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读命中</a:t>
              </a:r>
            </a:p>
          </p:txBody>
        </p:sp>
        <p:sp>
          <p:nvSpPr>
            <p:cNvPr id="25" name="TextBox 25"/>
            <p:cNvSpPr txBox="1"/>
            <p:nvPr/>
          </p:nvSpPr>
          <p:spPr>
            <a:xfrm>
              <a:off x="2209990" y="3005614"/>
              <a:ext cx="529895"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读数据</a:t>
              </a:r>
            </a:p>
          </p:txBody>
        </p:sp>
        <p:sp>
          <p:nvSpPr>
            <p:cNvPr id="26" name="TextBox 26"/>
            <p:cNvSpPr txBox="1"/>
            <p:nvPr/>
          </p:nvSpPr>
          <p:spPr>
            <a:xfrm>
              <a:off x="5185601" y="3005614"/>
              <a:ext cx="149504" cy="249364"/>
            </a:xfrm>
            <a:prstGeom prst="rect">
              <a:avLst/>
            </a:prstGeom>
            <a:noFill/>
            <a:ln>
              <a:noFill/>
            </a:ln>
          </p:spPr>
          <p:txBody>
            <a:bodyPr wrap="none" lIns="0" tIns="0" rIns="0" bIns="0" anchor="t" anchorCtr="0">
              <a:spAutoFit/>
            </a:bodyPr>
            <a:lstStyle/>
            <a:p>
              <a:pPr algn="l"/>
              <a:r>
                <a:rPr lang="en-US" sz="1280" dirty="0">
                  <a:solidFill>
                    <a:srgbClr val="1F2937"/>
                  </a:solidFill>
                  <a:latin typeface="+mn-lt"/>
                  <a:ea typeface="+mn-ea"/>
                  <a:cs typeface="+mn-cs"/>
                </a:rPr>
                <a:t>M</a:t>
              </a:r>
            </a:p>
          </p:txBody>
        </p:sp>
        <p:sp>
          <p:nvSpPr>
            <p:cNvPr id="27" name="Rectangle 27"/>
            <p:cNvSpPr/>
            <p:nvPr/>
          </p:nvSpPr>
          <p:spPr>
            <a:xfrm>
              <a:off x="533400" y="3314700"/>
              <a:ext cx="5410200" cy="9525"/>
            </a:xfrm>
            <a:prstGeom prst="rect">
              <a:avLst/>
            </a:prstGeom>
            <a:solidFill>
              <a:srgbClr val="D9DFEA"/>
            </a:solidFill>
            <a:ln>
              <a:noFill/>
            </a:ln>
          </p:spPr>
        </p:sp>
        <p:sp>
          <p:nvSpPr>
            <p:cNvPr id="28" name="Rectangle 28"/>
            <p:cNvSpPr/>
            <p:nvPr/>
          </p:nvSpPr>
          <p:spPr>
            <a:xfrm>
              <a:off x="533400" y="3319462"/>
              <a:ext cx="5410200" cy="448628"/>
            </a:xfrm>
            <a:prstGeom prst="rect">
              <a:avLst/>
            </a:prstGeom>
            <a:solidFill>
              <a:srgbClr val="F4F6FB"/>
            </a:solidFill>
            <a:ln>
              <a:noFill/>
            </a:ln>
          </p:spPr>
        </p:sp>
        <p:sp>
          <p:nvSpPr>
            <p:cNvPr id="29" name="TextBox 29"/>
            <p:cNvSpPr txBox="1"/>
            <p:nvPr/>
          </p:nvSpPr>
          <p:spPr>
            <a:xfrm>
              <a:off x="641223" y="3454241"/>
              <a:ext cx="70305" cy="249364"/>
            </a:xfrm>
            <a:prstGeom prst="rect">
              <a:avLst/>
            </a:prstGeom>
            <a:noFill/>
            <a:ln>
              <a:noFill/>
            </a:ln>
          </p:spPr>
          <p:txBody>
            <a:bodyPr wrap="none" lIns="0" tIns="0" rIns="0" bIns="0" anchor="t" anchorCtr="0">
              <a:spAutoFit/>
            </a:bodyPr>
            <a:lstStyle/>
            <a:p>
              <a:pPr algn="l"/>
              <a:r>
                <a:rPr lang="en-US" sz="1280" b="1" dirty="0">
                  <a:solidFill>
                    <a:srgbClr val="1F2937"/>
                  </a:solidFill>
                  <a:latin typeface="+mn-lt"/>
                  <a:ea typeface="+mn-ea"/>
                  <a:cs typeface="+mn-cs"/>
                </a:rPr>
                <a:t>I</a:t>
              </a:r>
            </a:p>
          </p:txBody>
        </p:sp>
        <p:sp>
          <p:nvSpPr>
            <p:cNvPr id="30" name="TextBox 30"/>
            <p:cNvSpPr txBox="1"/>
            <p:nvPr/>
          </p:nvSpPr>
          <p:spPr>
            <a:xfrm>
              <a:off x="1344168" y="3454241"/>
              <a:ext cx="529895"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读缺失</a:t>
              </a:r>
            </a:p>
          </p:txBody>
        </p:sp>
        <p:sp>
          <p:nvSpPr>
            <p:cNvPr id="31" name="TextBox 31"/>
            <p:cNvSpPr txBox="1"/>
            <p:nvPr/>
          </p:nvSpPr>
          <p:spPr>
            <a:xfrm>
              <a:off x="2209990" y="3454241"/>
              <a:ext cx="2359345"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发 RdMiss，调入新块，读数据</a:t>
              </a:r>
            </a:p>
          </p:txBody>
        </p:sp>
        <p:sp>
          <p:nvSpPr>
            <p:cNvPr id="32" name="TextBox 32"/>
            <p:cNvSpPr txBox="1"/>
            <p:nvPr/>
          </p:nvSpPr>
          <p:spPr>
            <a:xfrm>
              <a:off x="5185601" y="3454241"/>
              <a:ext cx="113091" cy="249364"/>
            </a:xfrm>
            <a:prstGeom prst="rect">
              <a:avLst/>
            </a:prstGeom>
            <a:noFill/>
            <a:ln>
              <a:noFill/>
            </a:ln>
          </p:spPr>
          <p:txBody>
            <a:bodyPr wrap="none" lIns="0" tIns="0" rIns="0" bIns="0" anchor="t" anchorCtr="0">
              <a:spAutoFit/>
            </a:bodyPr>
            <a:lstStyle/>
            <a:p>
              <a:pPr algn="l"/>
              <a:r>
                <a:rPr lang="en-US" sz="1280" dirty="0">
                  <a:solidFill>
                    <a:srgbClr val="1F2937"/>
                  </a:solidFill>
                  <a:latin typeface="+mn-lt"/>
                  <a:ea typeface="+mn-ea"/>
                  <a:cs typeface="+mn-cs"/>
                </a:rPr>
                <a:t>S</a:t>
              </a:r>
            </a:p>
          </p:txBody>
        </p:sp>
        <p:sp>
          <p:nvSpPr>
            <p:cNvPr id="33" name="Rectangle 33"/>
            <p:cNvSpPr/>
            <p:nvPr/>
          </p:nvSpPr>
          <p:spPr>
            <a:xfrm>
              <a:off x="533400" y="3763328"/>
              <a:ext cx="5410200" cy="9525"/>
            </a:xfrm>
            <a:prstGeom prst="rect">
              <a:avLst/>
            </a:prstGeom>
            <a:solidFill>
              <a:srgbClr val="D9DFEA"/>
            </a:solidFill>
            <a:ln>
              <a:noFill/>
            </a:ln>
          </p:spPr>
        </p:sp>
        <p:sp>
          <p:nvSpPr>
            <p:cNvPr id="34" name="TextBox 34"/>
            <p:cNvSpPr txBox="1"/>
            <p:nvPr/>
          </p:nvSpPr>
          <p:spPr>
            <a:xfrm>
              <a:off x="641223" y="4017169"/>
              <a:ext cx="118098" cy="249364"/>
            </a:xfrm>
            <a:prstGeom prst="rect">
              <a:avLst/>
            </a:prstGeom>
            <a:noFill/>
            <a:ln>
              <a:noFill/>
            </a:ln>
          </p:spPr>
          <p:txBody>
            <a:bodyPr wrap="none" lIns="0" tIns="0" rIns="0" bIns="0" anchor="t" anchorCtr="0">
              <a:spAutoFit/>
            </a:bodyPr>
            <a:lstStyle/>
            <a:p>
              <a:pPr algn="l"/>
              <a:r>
                <a:rPr lang="en-US" sz="1280" b="1" dirty="0">
                  <a:solidFill>
                    <a:srgbClr val="1F2937"/>
                  </a:solidFill>
                  <a:latin typeface="+mn-lt"/>
                  <a:ea typeface="+mn-ea"/>
                  <a:cs typeface="+mn-cs"/>
                </a:rPr>
                <a:t>S</a:t>
              </a:r>
            </a:p>
          </p:txBody>
        </p:sp>
        <p:sp>
          <p:nvSpPr>
            <p:cNvPr id="35" name="TextBox 35"/>
            <p:cNvSpPr txBox="1"/>
            <p:nvPr/>
          </p:nvSpPr>
          <p:spPr>
            <a:xfrm>
              <a:off x="1344168" y="4017169"/>
              <a:ext cx="529895"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读缺失</a:t>
              </a:r>
            </a:p>
          </p:txBody>
        </p:sp>
        <p:sp>
          <p:nvSpPr>
            <p:cNvPr id="36" name="TextBox 36"/>
            <p:cNvSpPr txBox="1"/>
            <p:nvPr/>
          </p:nvSpPr>
          <p:spPr>
            <a:xfrm>
              <a:off x="2209990" y="3903821"/>
              <a:ext cx="2565146" cy="476059"/>
            </a:xfrm>
            <a:prstGeom prst="rect">
              <a:avLst/>
            </a:prstGeom>
            <a:noFill/>
            <a:ln>
              <a:noFill/>
            </a:ln>
          </p:spPr>
          <p:txBody>
            <a:bodyPr wrap="none" lIns="0" tIns="0" rIns="0" bIns="0" anchor="t" anchorCtr="0">
              <a:spAutoFit/>
            </a:bodyPr>
            <a:lstStyle/>
            <a:p>
              <a:pPr algn="l">
                <a:lnSpc>
                  <a:spcPts val="1785"/>
                </a:lnSpc>
              </a:pPr>
              <a:r>
                <a:rPr lang="zh-CN" sz="1280" dirty="0">
                  <a:solidFill>
                    <a:srgbClr val="1F2937"/>
                  </a:solidFill>
                  <a:latin typeface="+mn-lt"/>
                  <a:ea typeface="+mn-ea"/>
                  <a:cs typeface="+mn-cs"/>
                </a:rPr>
                <a:t>发 RdMiss，调入新块替换旧 S 块，</a:t>
              </a:r>
              <a:br/>
              <a:r>
                <a:rPr lang="zh-CN" sz="1280" dirty="0">
                  <a:solidFill>
                    <a:srgbClr val="1F2937"/>
                  </a:solidFill>
                  <a:latin typeface="+mn-lt"/>
                  <a:ea typeface="+mn-ea"/>
                  <a:cs typeface="+mn-cs"/>
                </a:rPr>
                <a:t>读数据</a:t>
              </a:r>
            </a:p>
          </p:txBody>
        </p:sp>
        <p:sp>
          <p:nvSpPr>
            <p:cNvPr id="37" name="TextBox 37"/>
            <p:cNvSpPr txBox="1"/>
            <p:nvPr/>
          </p:nvSpPr>
          <p:spPr>
            <a:xfrm>
              <a:off x="5185601" y="4017169"/>
              <a:ext cx="113091" cy="249364"/>
            </a:xfrm>
            <a:prstGeom prst="rect">
              <a:avLst/>
            </a:prstGeom>
            <a:noFill/>
            <a:ln>
              <a:noFill/>
            </a:ln>
          </p:spPr>
          <p:txBody>
            <a:bodyPr wrap="none" lIns="0" tIns="0" rIns="0" bIns="0" anchor="t" anchorCtr="0">
              <a:spAutoFit/>
            </a:bodyPr>
            <a:lstStyle/>
            <a:p>
              <a:pPr algn="l"/>
              <a:r>
                <a:rPr lang="en-US" sz="1280" dirty="0">
                  <a:solidFill>
                    <a:srgbClr val="1F2937"/>
                  </a:solidFill>
                  <a:latin typeface="+mn-lt"/>
                  <a:ea typeface="+mn-ea"/>
                  <a:cs typeface="+mn-cs"/>
                </a:rPr>
                <a:t>S</a:t>
              </a:r>
            </a:p>
          </p:txBody>
        </p:sp>
        <p:sp>
          <p:nvSpPr>
            <p:cNvPr id="38" name="Rectangle 38"/>
            <p:cNvSpPr/>
            <p:nvPr/>
          </p:nvSpPr>
          <p:spPr>
            <a:xfrm>
              <a:off x="533400" y="4438650"/>
              <a:ext cx="5410200" cy="9525"/>
            </a:xfrm>
            <a:prstGeom prst="rect">
              <a:avLst/>
            </a:prstGeom>
            <a:solidFill>
              <a:srgbClr val="D9DFEA"/>
            </a:solidFill>
            <a:ln>
              <a:noFill/>
            </a:ln>
          </p:spPr>
        </p:sp>
        <p:sp>
          <p:nvSpPr>
            <p:cNvPr id="39" name="Rectangle 39"/>
            <p:cNvSpPr/>
            <p:nvPr/>
          </p:nvSpPr>
          <p:spPr>
            <a:xfrm>
              <a:off x="533400" y="4443412"/>
              <a:ext cx="5410200" cy="675322"/>
            </a:xfrm>
            <a:prstGeom prst="rect">
              <a:avLst/>
            </a:prstGeom>
            <a:solidFill>
              <a:srgbClr val="F4F6FB"/>
            </a:solidFill>
            <a:ln>
              <a:noFill/>
            </a:ln>
          </p:spPr>
        </p:sp>
        <p:sp>
          <p:nvSpPr>
            <p:cNvPr id="40" name="TextBox 40"/>
            <p:cNvSpPr txBox="1"/>
            <p:nvPr/>
          </p:nvSpPr>
          <p:spPr>
            <a:xfrm>
              <a:off x="641223" y="4692491"/>
              <a:ext cx="156332" cy="249364"/>
            </a:xfrm>
            <a:prstGeom prst="rect">
              <a:avLst/>
            </a:prstGeom>
            <a:noFill/>
            <a:ln>
              <a:noFill/>
            </a:ln>
          </p:spPr>
          <p:txBody>
            <a:bodyPr wrap="none" lIns="0" tIns="0" rIns="0" bIns="0" anchor="t" anchorCtr="0">
              <a:spAutoFit/>
            </a:bodyPr>
            <a:lstStyle/>
            <a:p>
              <a:pPr algn="l"/>
              <a:r>
                <a:rPr lang="en-US" sz="1280" b="1" dirty="0">
                  <a:solidFill>
                    <a:srgbClr val="1F2937"/>
                  </a:solidFill>
                  <a:latin typeface="+mn-lt"/>
                  <a:ea typeface="+mn-ea"/>
                  <a:cs typeface="+mn-cs"/>
                </a:rPr>
                <a:t>M</a:t>
              </a:r>
            </a:p>
          </p:txBody>
        </p:sp>
        <p:sp>
          <p:nvSpPr>
            <p:cNvPr id="41" name="TextBox 41"/>
            <p:cNvSpPr txBox="1"/>
            <p:nvPr/>
          </p:nvSpPr>
          <p:spPr>
            <a:xfrm>
              <a:off x="1344168" y="4692491"/>
              <a:ext cx="529895"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读缺失</a:t>
              </a:r>
            </a:p>
          </p:txBody>
        </p:sp>
        <p:sp>
          <p:nvSpPr>
            <p:cNvPr id="42" name="Rectangle 42"/>
            <p:cNvSpPr/>
            <p:nvPr/>
          </p:nvSpPr>
          <p:spPr>
            <a:xfrm>
              <a:off x="2111692" y="4452938"/>
              <a:ext cx="2956560" cy="656272"/>
            </a:xfrm>
            <a:prstGeom prst="rect">
              <a:avLst/>
            </a:prstGeom>
            <a:solidFill>
              <a:srgbClr val="FDECEA"/>
            </a:solidFill>
            <a:ln>
              <a:noFill/>
            </a:ln>
          </p:spPr>
        </p:sp>
        <p:sp>
          <p:nvSpPr>
            <p:cNvPr id="43" name="TextBox 43"/>
            <p:cNvSpPr txBox="1"/>
            <p:nvPr/>
          </p:nvSpPr>
          <p:spPr>
            <a:xfrm>
              <a:off x="2209990" y="4579144"/>
              <a:ext cx="2597658" cy="476059"/>
            </a:xfrm>
            <a:prstGeom prst="rect">
              <a:avLst/>
            </a:prstGeom>
            <a:noFill/>
            <a:ln>
              <a:noFill/>
            </a:ln>
          </p:spPr>
          <p:txBody>
            <a:bodyPr wrap="none" lIns="0" tIns="0" rIns="0" bIns="0" anchor="t" anchorCtr="0">
              <a:spAutoFit/>
            </a:bodyPr>
            <a:lstStyle/>
            <a:p>
              <a:pPr algn="l">
                <a:lnSpc>
                  <a:spcPts val="1785"/>
                </a:lnSpc>
              </a:pPr>
              <a:r>
                <a:rPr lang="zh-CN" sz="1280" dirty="0">
                  <a:solidFill>
                    <a:srgbClr val="1F2937"/>
                  </a:solidFill>
                  <a:latin typeface="+mn-lt"/>
                  <a:ea typeface="+mn-ea"/>
                  <a:cs typeface="+mn-cs"/>
                </a:rPr>
                <a:t>旧 M 块写回存储器，发 RdMiss，调</a:t>
              </a:r>
              <a:br/>
              <a:r>
                <a:rPr lang="zh-CN" sz="1280" dirty="0">
                  <a:solidFill>
                    <a:srgbClr val="1F2937"/>
                  </a:solidFill>
                  <a:latin typeface="+mn-lt"/>
                  <a:ea typeface="+mn-ea"/>
                  <a:cs typeface="+mn-cs"/>
                </a:rPr>
                <a:t>入新块，读数据</a:t>
              </a:r>
            </a:p>
          </p:txBody>
        </p:sp>
        <p:sp>
          <p:nvSpPr>
            <p:cNvPr id="44" name="TextBox 44"/>
            <p:cNvSpPr txBox="1"/>
            <p:nvPr/>
          </p:nvSpPr>
          <p:spPr>
            <a:xfrm>
              <a:off x="5185601" y="4692491"/>
              <a:ext cx="113091" cy="249364"/>
            </a:xfrm>
            <a:prstGeom prst="rect">
              <a:avLst/>
            </a:prstGeom>
            <a:noFill/>
            <a:ln>
              <a:noFill/>
            </a:ln>
          </p:spPr>
          <p:txBody>
            <a:bodyPr wrap="none" lIns="0" tIns="0" rIns="0" bIns="0" anchor="t" anchorCtr="0">
              <a:spAutoFit/>
            </a:bodyPr>
            <a:lstStyle/>
            <a:p>
              <a:pPr algn="l"/>
              <a:r>
                <a:rPr lang="en-US" sz="1280" dirty="0">
                  <a:solidFill>
                    <a:srgbClr val="1F2937"/>
                  </a:solidFill>
                  <a:latin typeface="+mn-lt"/>
                  <a:ea typeface="+mn-ea"/>
                  <a:cs typeface="+mn-cs"/>
                </a:rPr>
                <a:t>S</a:t>
              </a:r>
            </a:p>
          </p:txBody>
        </p:sp>
        <p:sp>
          <p:nvSpPr>
            <p:cNvPr id="45" name="Rectangle 45"/>
            <p:cNvSpPr/>
            <p:nvPr/>
          </p:nvSpPr>
          <p:spPr>
            <a:xfrm>
              <a:off x="533400" y="1524000"/>
              <a:ext cx="5410200" cy="3594735"/>
            </a:xfrm>
            <a:prstGeom prst="rect">
              <a:avLst/>
            </a:prstGeom>
            <a:noFill/>
            <a:ln w="14288">
              <a:solidFill>
                <a:srgbClr val="D9DFEA"/>
              </a:solidFill>
            </a:ln>
          </p:spPr>
        </p:sp>
        <p:sp>
          <p:nvSpPr>
            <p:cNvPr id="46" name="Rectangle 46"/>
            <p:cNvSpPr/>
            <p:nvPr/>
          </p:nvSpPr>
          <p:spPr>
            <a:xfrm>
              <a:off x="1231582" y="1524000"/>
              <a:ext cx="9525" cy="3594735"/>
            </a:xfrm>
            <a:prstGeom prst="rect">
              <a:avLst/>
            </a:prstGeom>
            <a:solidFill>
              <a:srgbClr val="D9DFEA"/>
            </a:solidFill>
            <a:ln>
              <a:noFill/>
            </a:ln>
          </p:spPr>
        </p:sp>
        <p:sp>
          <p:nvSpPr>
            <p:cNvPr id="47" name="Rectangle 47"/>
            <p:cNvSpPr/>
            <p:nvPr/>
          </p:nvSpPr>
          <p:spPr>
            <a:xfrm>
              <a:off x="2097405" y="1524000"/>
              <a:ext cx="9525" cy="3594735"/>
            </a:xfrm>
            <a:prstGeom prst="rect">
              <a:avLst/>
            </a:prstGeom>
            <a:solidFill>
              <a:srgbClr val="D9DFEA"/>
            </a:solidFill>
            <a:ln>
              <a:noFill/>
            </a:ln>
          </p:spPr>
        </p:sp>
        <p:sp>
          <p:nvSpPr>
            <p:cNvPr id="48" name="Rectangle 48"/>
            <p:cNvSpPr/>
            <p:nvPr/>
          </p:nvSpPr>
          <p:spPr>
            <a:xfrm>
              <a:off x="5073015" y="1524000"/>
              <a:ext cx="9525" cy="3594735"/>
            </a:xfrm>
            <a:prstGeom prst="rect">
              <a:avLst/>
            </a:prstGeom>
            <a:solidFill>
              <a:srgbClr val="D9DFEA"/>
            </a:solidFill>
            <a:ln>
              <a:noFill/>
            </a:ln>
          </p:spPr>
        </p:sp>
        <p:sp>
          <p:nvSpPr>
            <p:cNvPr id="49" name="TextBox 49"/>
            <p:cNvSpPr txBox="1"/>
            <p:nvPr/>
          </p:nvSpPr>
          <p:spPr>
            <a:xfrm>
              <a:off x="527685" y="5194459"/>
              <a:ext cx="463753" cy="220028"/>
            </a:xfrm>
            <a:prstGeom prst="rect">
              <a:avLst/>
            </a:prstGeom>
            <a:noFill/>
            <a:ln>
              <a:noFill/>
            </a:ln>
          </p:spPr>
          <p:txBody>
            <a:bodyPr wrap="none" lIns="0" tIns="0" rIns="0" bIns="0" anchor="t" anchorCtr="0">
              <a:spAutoFit/>
            </a:bodyPr>
            <a:lstStyle/>
            <a:p>
              <a:pPr algn="l"/>
              <a:r>
                <a:rPr lang="zh-CN" sz="1120" dirty="0">
                  <a:solidFill>
                    <a:srgbClr val="5B6475"/>
                  </a:solidFill>
                  <a:latin typeface="+mn-lt"/>
                  <a:ea typeface="+mn-ea"/>
                  <a:cs typeface="+mn-cs"/>
                </a:rPr>
                <a:t>读操作</a:t>
              </a:r>
            </a:p>
          </p:txBody>
        </p:sp>
      </p:grpSp>
      <p:grpSp>
        <p:nvGrpSpPr>
          <p:cNvPr id="95" name="c2-table-1"/>
          <p:cNvGrpSpPr/>
          <p:nvPr/>
        </p:nvGrpSpPr>
        <p:grpSpPr>
          <a:xfrm>
            <a:off x="6242685" y="1524000"/>
            <a:ext cx="5415915" cy="3890487"/>
            <a:chOff x="6242685" y="1524000"/>
            <a:chExt cx="5415915" cy="3890487"/>
          </a:xfrm>
        </p:grpSpPr>
        <p:sp>
          <p:nvSpPr>
            <p:cNvPr id="51" name="Rectangle 51"/>
            <p:cNvSpPr/>
            <p:nvPr/>
          </p:nvSpPr>
          <p:spPr>
            <a:xfrm>
              <a:off x="6248400" y="1524000"/>
              <a:ext cx="5410200" cy="448628"/>
            </a:xfrm>
            <a:prstGeom prst="rect">
              <a:avLst/>
            </a:prstGeom>
            <a:solidFill>
              <a:srgbClr val="334E68"/>
            </a:solidFill>
            <a:ln>
              <a:noFill/>
            </a:ln>
          </p:spPr>
        </p:sp>
        <p:sp>
          <p:nvSpPr>
            <p:cNvPr id="52" name="TextBox 52"/>
            <p:cNvSpPr txBox="1"/>
            <p:nvPr/>
          </p:nvSpPr>
          <p:spPr>
            <a:xfrm>
              <a:off x="6421082" y="1659731"/>
              <a:ext cx="357581"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当前</a:t>
              </a:r>
            </a:p>
          </p:txBody>
        </p:sp>
        <p:sp>
          <p:nvSpPr>
            <p:cNvPr id="53" name="TextBox 53"/>
            <p:cNvSpPr txBox="1"/>
            <p:nvPr/>
          </p:nvSpPr>
          <p:spPr>
            <a:xfrm>
              <a:off x="7205942" y="1659731"/>
              <a:ext cx="357581"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事件</a:t>
              </a:r>
            </a:p>
          </p:txBody>
        </p:sp>
        <p:sp>
          <p:nvSpPr>
            <p:cNvPr id="54" name="TextBox 54"/>
            <p:cNvSpPr txBox="1"/>
            <p:nvPr/>
          </p:nvSpPr>
          <p:spPr>
            <a:xfrm>
              <a:off x="8867712" y="1659731"/>
              <a:ext cx="874522"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控制器操作</a:t>
              </a:r>
            </a:p>
          </p:txBody>
        </p:sp>
        <p:sp>
          <p:nvSpPr>
            <p:cNvPr id="55" name="TextBox 55"/>
            <p:cNvSpPr txBox="1"/>
            <p:nvPr/>
          </p:nvSpPr>
          <p:spPr>
            <a:xfrm>
              <a:off x="10961218" y="1659731"/>
              <a:ext cx="529895"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新状态</a:t>
              </a:r>
            </a:p>
          </p:txBody>
        </p:sp>
        <p:sp>
          <p:nvSpPr>
            <p:cNvPr id="56" name="TextBox 56"/>
            <p:cNvSpPr txBox="1"/>
            <p:nvPr/>
          </p:nvSpPr>
          <p:spPr>
            <a:xfrm>
              <a:off x="6356223" y="2108359"/>
              <a:ext cx="70305" cy="249364"/>
            </a:xfrm>
            <a:prstGeom prst="rect">
              <a:avLst/>
            </a:prstGeom>
            <a:noFill/>
            <a:ln>
              <a:noFill/>
            </a:ln>
          </p:spPr>
          <p:txBody>
            <a:bodyPr wrap="none" lIns="0" tIns="0" rIns="0" bIns="0" anchor="t" anchorCtr="0">
              <a:spAutoFit/>
            </a:bodyPr>
            <a:lstStyle/>
            <a:p>
              <a:pPr algn="l"/>
              <a:r>
                <a:rPr lang="en-US" sz="1280" b="1" dirty="0">
                  <a:solidFill>
                    <a:srgbClr val="1F2937"/>
                  </a:solidFill>
                  <a:latin typeface="+mn-lt"/>
                  <a:ea typeface="+mn-ea"/>
                  <a:cs typeface="+mn-cs"/>
                </a:rPr>
                <a:t>I</a:t>
              </a:r>
            </a:p>
          </p:txBody>
        </p:sp>
        <p:sp>
          <p:nvSpPr>
            <p:cNvPr id="57" name="TextBox 57"/>
            <p:cNvSpPr txBox="1"/>
            <p:nvPr/>
          </p:nvSpPr>
          <p:spPr>
            <a:xfrm>
              <a:off x="7059168" y="2108359"/>
              <a:ext cx="529895"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写命中</a:t>
              </a:r>
            </a:p>
          </p:txBody>
        </p:sp>
        <p:sp>
          <p:nvSpPr>
            <p:cNvPr id="58" name="TextBox 58"/>
            <p:cNvSpPr txBox="1"/>
            <p:nvPr/>
          </p:nvSpPr>
          <p:spPr>
            <a:xfrm>
              <a:off x="7924991" y="2108359"/>
              <a:ext cx="529895"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不可能</a:t>
              </a:r>
            </a:p>
          </p:txBody>
        </p:sp>
        <p:sp>
          <p:nvSpPr>
            <p:cNvPr id="59" name="TextBox 59"/>
            <p:cNvSpPr txBox="1"/>
            <p:nvPr/>
          </p:nvSpPr>
          <p:spPr>
            <a:xfrm>
              <a:off x="10900600" y="2108359"/>
              <a:ext cx="107726"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a:t>
              </a:r>
            </a:p>
          </p:txBody>
        </p:sp>
        <p:sp>
          <p:nvSpPr>
            <p:cNvPr id="60" name="Rectangle 60"/>
            <p:cNvSpPr/>
            <p:nvPr/>
          </p:nvSpPr>
          <p:spPr>
            <a:xfrm>
              <a:off x="6248400" y="2416492"/>
              <a:ext cx="5410200" cy="9525"/>
            </a:xfrm>
            <a:prstGeom prst="rect">
              <a:avLst/>
            </a:prstGeom>
            <a:solidFill>
              <a:srgbClr val="D9DFEA"/>
            </a:solidFill>
            <a:ln>
              <a:noFill/>
            </a:ln>
          </p:spPr>
        </p:sp>
        <p:sp>
          <p:nvSpPr>
            <p:cNvPr id="61" name="Rectangle 61"/>
            <p:cNvSpPr/>
            <p:nvPr/>
          </p:nvSpPr>
          <p:spPr>
            <a:xfrm>
              <a:off x="6248400" y="2421255"/>
              <a:ext cx="5410200" cy="448628"/>
            </a:xfrm>
            <a:prstGeom prst="rect">
              <a:avLst/>
            </a:prstGeom>
            <a:solidFill>
              <a:srgbClr val="F4F6FB"/>
            </a:solidFill>
            <a:ln>
              <a:noFill/>
            </a:ln>
          </p:spPr>
        </p:sp>
        <p:sp>
          <p:nvSpPr>
            <p:cNvPr id="62" name="TextBox 62"/>
            <p:cNvSpPr txBox="1"/>
            <p:nvPr/>
          </p:nvSpPr>
          <p:spPr>
            <a:xfrm>
              <a:off x="6356223" y="2556986"/>
              <a:ext cx="118098" cy="249364"/>
            </a:xfrm>
            <a:prstGeom prst="rect">
              <a:avLst/>
            </a:prstGeom>
            <a:noFill/>
            <a:ln>
              <a:noFill/>
            </a:ln>
          </p:spPr>
          <p:txBody>
            <a:bodyPr wrap="none" lIns="0" tIns="0" rIns="0" bIns="0" anchor="t" anchorCtr="0">
              <a:spAutoFit/>
            </a:bodyPr>
            <a:lstStyle/>
            <a:p>
              <a:pPr algn="l"/>
              <a:r>
                <a:rPr lang="en-US" sz="1280" b="1" dirty="0">
                  <a:solidFill>
                    <a:srgbClr val="1F2937"/>
                  </a:solidFill>
                  <a:latin typeface="+mn-lt"/>
                  <a:ea typeface="+mn-ea"/>
                  <a:cs typeface="+mn-cs"/>
                </a:rPr>
                <a:t>S</a:t>
              </a:r>
            </a:p>
          </p:txBody>
        </p:sp>
        <p:sp>
          <p:nvSpPr>
            <p:cNvPr id="63" name="TextBox 63"/>
            <p:cNvSpPr txBox="1"/>
            <p:nvPr/>
          </p:nvSpPr>
          <p:spPr>
            <a:xfrm>
              <a:off x="7059168" y="2556986"/>
              <a:ext cx="529895"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写命中</a:t>
              </a:r>
            </a:p>
          </p:txBody>
        </p:sp>
        <p:sp>
          <p:nvSpPr>
            <p:cNvPr id="64" name="Rectangle 64"/>
            <p:cNvSpPr/>
            <p:nvPr/>
          </p:nvSpPr>
          <p:spPr>
            <a:xfrm>
              <a:off x="7826692" y="2430780"/>
              <a:ext cx="2956560" cy="429578"/>
            </a:xfrm>
            <a:prstGeom prst="rect">
              <a:avLst/>
            </a:prstGeom>
            <a:solidFill>
              <a:srgbClr val="FDEEE7"/>
            </a:solidFill>
            <a:ln>
              <a:noFill/>
            </a:ln>
          </p:spPr>
        </p:sp>
        <p:sp>
          <p:nvSpPr>
            <p:cNvPr id="65" name="TextBox 65"/>
            <p:cNvSpPr txBox="1"/>
            <p:nvPr/>
          </p:nvSpPr>
          <p:spPr>
            <a:xfrm>
              <a:off x="7924991" y="2556986"/>
              <a:ext cx="1749631"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发 Invalidate，写数据</a:t>
              </a:r>
            </a:p>
          </p:txBody>
        </p:sp>
        <p:sp>
          <p:nvSpPr>
            <p:cNvPr id="66" name="TextBox 66"/>
            <p:cNvSpPr txBox="1"/>
            <p:nvPr/>
          </p:nvSpPr>
          <p:spPr>
            <a:xfrm>
              <a:off x="10900600" y="2556986"/>
              <a:ext cx="149504" cy="249364"/>
            </a:xfrm>
            <a:prstGeom prst="rect">
              <a:avLst/>
            </a:prstGeom>
            <a:noFill/>
            <a:ln>
              <a:noFill/>
            </a:ln>
          </p:spPr>
          <p:txBody>
            <a:bodyPr wrap="none" lIns="0" tIns="0" rIns="0" bIns="0" anchor="t" anchorCtr="0">
              <a:spAutoFit/>
            </a:bodyPr>
            <a:lstStyle/>
            <a:p>
              <a:pPr algn="l"/>
              <a:r>
                <a:rPr lang="en-US" sz="1280" dirty="0">
                  <a:solidFill>
                    <a:srgbClr val="1F2937"/>
                  </a:solidFill>
                  <a:latin typeface="+mn-lt"/>
                  <a:ea typeface="+mn-ea"/>
                  <a:cs typeface="+mn-cs"/>
                </a:rPr>
                <a:t>M</a:t>
              </a:r>
            </a:p>
          </p:txBody>
        </p:sp>
        <p:sp>
          <p:nvSpPr>
            <p:cNvPr id="67" name="Rectangle 67"/>
            <p:cNvSpPr/>
            <p:nvPr/>
          </p:nvSpPr>
          <p:spPr>
            <a:xfrm>
              <a:off x="6248400" y="2866072"/>
              <a:ext cx="5410200" cy="9525"/>
            </a:xfrm>
            <a:prstGeom prst="rect">
              <a:avLst/>
            </a:prstGeom>
            <a:solidFill>
              <a:srgbClr val="D9DFEA"/>
            </a:solidFill>
            <a:ln>
              <a:noFill/>
            </a:ln>
          </p:spPr>
        </p:sp>
        <p:sp>
          <p:nvSpPr>
            <p:cNvPr id="68" name="TextBox 68"/>
            <p:cNvSpPr txBox="1"/>
            <p:nvPr/>
          </p:nvSpPr>
          <p:spPr>
            <a:xfrm>
              <a:off x="6356223" y="3005614"/>
              <a:ext cx="156332" cy="249364"/>
            </a:xfrm>
            <a:prstGeom prst="rect">
              <a:avLst/>
            </a:prstGeom>
            <a:noFill/>
            <a:ln>
              <a:noFill/>
            </a:ln>
          </p:spPr>
          <p:txBody>
            <a:bodyPr wrap="none" lIns="0" tIns="0" rIns="0" bIns="0" anchor="t" anchorCtr="0">
              <a:spAutoFit/>
            </a:bodyPr>
            <a:lstStyle/>
            <a:p>
              <a:pPr algn="l"/>
              <a:r>
                <a:rPr lang="en-US" sz="1280" b="1" dirty="0">
                  <a:solidFill>
                    <a:srgbClr val="1F2937"/>
                  </a:solidFill>
                  <a:latin typeface="+mn-lt"/>
                  <a:ea typeface="+mn-ea"/>
                  <a:cs typeface="+mn-cs"/>
                </a:rPr>
                <a:t>M</a:t>
              </a:r>
            </a:p>
          </p:txBody>
        </p:sp>
        <p:sp>
          <p:nvSpPr>
            <p:cNvPr id="69" name="TextBox 69"/>
            <p:cNvSpPr txBox="1"/>
            <p:nvPr/>
          </p:nvSpPr>
          <p:spPr>
            <a:xfrm>
              <a:off x="7059168" y="3005614"/>
              <a:ext cx="529895"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写命中</a:t>
              </a:r>
            </a:p>
          </p:txBody>
        </p:sp>
        <p:sp>
          <p:nvSpPr>
            <p:cNvPr id="70" name="TextBox 70"/>
            <p:cNvSpPr txBox="1"/>
            <p:nvPr/>
          </p:nvSpPr>
          <p:spPr>
            <a:xfrm>
              <a:off x="7924991" y="3005614"/>
              <a:ext cx="529895"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写数据</a:t>
              </a:r>
            </a:p>
          </p:txBody>
        </p:sp>
        <p:sp>
          <p:nvSpPr>
            <p:cNvPr id="71" name="TextBox 71"/>
            <p:cNvSpPr txBox="1"/>
            <p:nvPr/>
          </p:nvSpPr>
          <p:spPr>
            <a:xfrm>
              <a:off x="10900600" y="3005614"/>
              <a:ext cx="149504" cy="249364"/>
            </a:xfrm>
            <a:prstGeom prst="rect">
              <a:avLst/>
            </a:prstGeom>
            <a:noFill/>
            <a:ln>
              <a:noFill/>
            </a:ln>
          </p:spPr>
          <p:txBody>
            <a:bodyPr wrap="none" lIns="0" tIns="0" rIns="0" bIns="0" anchor="t" anchorCtr="0">
              <a:spAutoFit/>
            </a:bodyPr>
            <a:lstStyle/>
            <a:p>
              <a:pPr algn="l"/>
              <a:r>
                <a:rPr lang="en-US" sz="1280" dirty="0">
                  <a:solidFill>
                    <a:srgbClr val="1F2937"/>
                  </a:solidFill>
                  <a:latin typeface="+mn-lt"/>
                  <a:ea typeface="+mn-ea"/>
                  <a:cs typeface="+mn-cs"/>
                </a:rPr>
                <a:t>M</a:t>
              </a:r>
            </a:p>
          </p:txBody>
        </p:sp>
        <p:sp>
          <p:nvSpPr>
            <p:cNvPr id="72" name="Rectangle 72"/>
            <p:cNvSpPr/>
            <p:nvPr/>
          </p:nvSpPr>
          <p:spPr>
            <a:xfrm>
              <a:off x="6248400" y="3314700"/>
              <a:ext cx="5410200" cy="9525"/>
            </a:xfrm>
            <a:prstGeom prst="rect">
              <a:avLst/>
            </a:prstGeom>
            <a:solidFill>
              <a:srgbClr val="D9DFEA"/>
            </a:solidFill>
            <a:ln>
              <a:noFill/>
            </a:ln>
          </p:spPr>
        </p:sp>
        <p:sp>
          <p:nvSpPr>
            <p:cNvPr id="73" name="Rectangle 73"/>
            <p:cNvSpPr/>
            <p:nvPr/>
          </p:nvSpPr>
          <p:spPr>
            <a:xfrm>
              <a:off x="6248400" y="3319462"/>
              <a:ext cx="5410200" cy="448628"/>
            </a:xfrm>
            <a:prstGeom prst="rect">
              <a:avLst/>
            </a:prstGeom>
            <a:solidFill>
              <a:srgbClr val="F4F6FB"/>
            </a:solidFill>
            <a:ln>
              <a:noFill/>
            </a:ln>
          </p:spPr>
        </p:sp>
        <p:sp>
          <p:nvSpPr>
            <p:cNvPr id="74" name="TextBox 74"/>
            <p:cNvSpPr txBox="1"/>
            <p:nvPr/>
          </p:nvSpPr>
          <p:spPr>
            <a:xfrm>
              <a:off x="6356223" y="3454241"/>
              <a:ext cx="70305" cy="249364"/>
            </a:xfrm>
            <a:prstGeom prst="rect">
              <a:avLst/>
            </a:prstGeom>
            <a:noFill/>
            <a:ln>
              <a:noFill/>
            </a:ln>
          </p:spPr>
          <p:txBody>
            <a:bodyPr wrap="none" lIns="0" tIns="0" rIns="0" bIns="0" anchor="t" anchorCtr="0">
              <a:spAutoFit/>
            </a:bodyPr>
            <a:lstStyle/>
            <a:p>
              <a:pPr algn="l"/>
              <a:r>
                <a:rPr lang="en-US" sz="1280" b="1" dirty="0">
                  <a:solidFill>
                    <a:srgbClr val="1F2937"/>
                  </a:solidFill>
                  <a:latin typeface="+mn-lt"/>
                  <a:ea typeface="+mn-ea"/>
                  <a:cs typeface="+mn-cs"/>
                </a:rPr>
                <a:t>I</a:t>
              </a:r>
            </a:p>
          </p:txBody>
        </p:sp>
        <p:sp>
          <p:nvSpPr>
            <p:cNvPr id="75" name="TextBox 75"/>
            <p:cNvSpPr txBox="1"/>
            <p:nvPr/>
          </p:nvSpPr>
          <p:spPr>
            <a:xfrm>
              <a:off x="7059168" y="3454241"/>
              <a:ext cx="529895"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写缺失</a:t>
              </a:r>
            </a:p>
          </p:txBody>
        </p:sp>
        <p:sp>
          <p:nvSpPr>
            <p:cNvPr id="76" name="TextBox 76"/>
            <p:cNvSpPr txBox="1"/>
            <p:nvPr/>
          </p:nvSpPr>
          <p:spPr>
            <a:xfrm>
              <a:off x="7924991" y="3454241"/>
              <a:ext cx="2394458"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发 WtMiss，调入新块，写数据</a:t>
              </a:r>
            </a:p>
          </p:txBody>
        </p:sp>
        <p:sp>
          <p:nvSpPr>
            <p:cNvPr id="77" name="TextBox 77"/>
            <p:cNvSpPr txBox="1"/>
            <p:nvPr/>
          </p:nvSpPr>
          <p:spPr>
            <a:xfrm>
              <a:off x="10900600" y="3454241"/>
              <a:ext cx="149504" cy="249364"/>
            </a:xfrm>
            <a:prstGeom prst="rect">
              <a:avLst/>
            </a:prstGeom>
            <a:noFill/>
            <a:ln>
              <a:noFill/>
            </a:ln>
          </p:spPr>
          <p:txBody>
            <a:bodyPr wrap="none" lIns="0" tIns="0" rIns="0" bIns="0" anchor="t" anchorCtr="0">
              <a:spAutoFit/>
            </a:bodyPr>
            <a:lstStyle/>
            <a:p>
              <a:pPr algn="l"/>
              <a:r>
                <a:rPr lang="en-US" sz="1280" dirty="0">
                  <a:solidFill>
                    <a:srgbClr val="1F2937"/>
                  </a:solidFill>
                  <a:latin typeface="+mn-lt"/>
                  <a:ea typeface="+mn-ea"/>
                  <a:cs typeface="+mn-cs"/>
                </a:rPr>
                <a:t>M</a:t>
              </a:r>
            </a:p>
          </p:txBody>
        </p:sp>
        <p:sp>
          <p:nvSpPr>
            <p:cNvPr id="78" name="Rectangle 78"/>
            <p:cNvSpPr/>
            <p:nvPr/>
          </p:nvSpPr>
          <p:spPr>
            <a:xfrm>
              <a:off x="6248400" y="3763328"/>
              <a:ext cx="5410200" cy="9525"/>
            </a:xfrm>
            <a:prstGeom prst="rect">
              <a:avLst/>
            </a:prstGeom>
            <a:solidFill>
              <a:srgbClr val="D9DFEA"/>
            </a:solidFill>
            <a:ln>
              <a:noFill/>
            </a:ln>
          </p:spPr>
        </p:sp>
        <p:sp>
          <p:nvSpPr>
            <p:cNvPr id="79" name="TextBox 79"/>
            <p:cNvSpPr txBox="1"/>
            <p:nvPr/>
          </p:nvSpPr>
          <p:spPr>
            <a:xfrm>
              <a:off x="6356223" y="4017169"/>
              <a:ext cx="118098" cy="249364"/>
            </a:xfrm>
            <a:prstGeom prst="rect">
              <a:avLst/>
            </a:prstGeom>
            <a:noFill/>
            <a:ln>
              <a:noFill/>
            </a:ln>
          </p:spPr>
          <p:txBody>
            <a:bodyPr wrap="none" lIns="0" tIns="0" rIns="0" bIns="0" anchor="t" anchorCtr="0">
              <a:spAutoFit/>
            </a:bodyPr>
            <a:lstStyle/>
            <a:p>
              <a:pPr algn="l"/>
              <a:r>
                <a:rPr lang="en-US" sz="1280" b="1" dirty="0">
                  <a:solidFill>
                    <a:srgbClr val="1F2937"/>
                  </a:solidFill>
                  <a:latin typeface="+mn-lt"/>
                  <a:ea typeface="+mn-ea"/>
                  <a:cs typeface="+mn-cs"/>
                </a:rPr>
                <a:t>S</a:t>
              </a:r>
            </a:p>
          </p:txBody>
        </p:sp>
        <p:sp>
          <p:nvSpPr>
            <p:cNvPr id="80" name="TextBox 80"/>
            <p:cNvSpPr txBox="1"/>
            <p:nvPr/>
          </p:nvSpPr>
          <p:spPr>
            <a:xfrm>
              <a:off x="7059168" y="4017169"/>
              <a:ext cx="529895"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写缺失</a:t>
              </a:r>
            </a:p>
          </p:txBody>
        </p:sp>
        <p:sp>
          <p:nvSpPr>
            <p:cNvPr id="81" name="TextBox 81"/>
            <p:cNvSpPr txBox="1"/>
            <p:nvPr/>
          </p:nvSpPr>
          <p:spPr>
            <a:xfrm>
              <a:off x="7924991" y="3903821"/>
              <a:ext cx="2597658" cy="476059"/>
            </a:xfrm>
            <a:prstGeom prst="rect">
              <a:avLst/>
            </a:prstGeom>
            <a:noFill/>
            <a:ln>
              <a:noFill/>
            </a:ln>
          </p:spPr>
          <p:txBody>
            <a:bodyPr wrap="none" lIns="0" tIns="0" rIns="0" bIns="0" anchor="t" anchorCtr="0">
              <a:spAutoFit/>
            </a:bodyPr>
            <a:lstStyle/>
            <a:p>
              <a:pPr algn="l">
                <a:lnSpc>
                  <a:spcPts val="1785"/>
                </a:lnSpc>
              </a:pPr>
              <a:r>
                <a:rPr lang="zh-CN" sz="1280" dirty="0">
                  <a:solidFill>
                    <a:srgbClr val="1F2937"/>
                  </a:solidFill>
                  <a:latin typeface="+mn-lt"/>
                  <a:ea typeface="+mn-ea"/>
                  <a:cs typeface="+mn-cs"/>
                </a:rPr>
                <a:t>发 WtMiss，调入新块替换旧 S 块，</a:t>
              </a:r>
              <a:br/>
              <a:r>
                <a:rPr lang="zh-CN" sz="1280" dirty="0">
                  <a:solidFill>
                    <a:srgbClr val="1F2937"/>
                  </a:solidFill>
                  <a:latin typeface="+mn-lt"/>
                  <a:ea typeface="+mn-ea"/>
                  <a:cs typeface="+mn-cs"/>
                </a:rPr>
                <a:t>写数据</a:t>
              </a:r>
            </a:p>
          </p:txBody>
        </p:sp>
        <p:sp>
          <p:nvSpPr>
            <p:cNvPr id="82" name="TextBox 82"/>
            <p:cNvSpPr txBox="1"/>
            <p:nvPr/>
          </p:nvSpPr>
          <p:spPr>
            <a:xfrm>
              <a:off x="10900600" y="4017169"/>
              <a:ext cx="149504" cy="249364"/>
            </a:xfrm>
            <a:prstGeom prst="rect">
              <a:avLst/>
            </a:prstGeom>
            <a:noFill/>
            <a:ln>
              <a:noFill/>
            </a:ln>
          </p:spPr>
          <p:txBody>
            <a:bodyPr wrap="none" lIns="0" tIns="0" rIns="0" bIns="0" anchor="t" anchorCtr="0">
              <a:spAutoFit/>
            </a:bodyPr>
            <a:lstStyle/>
            <a:p>
              <a:pPr algn="l"/>
              <a:r>
                <a:rPr lang="en-US" sz="1280" dirty="0">
                  <a:solidFill>
                    <a:srgbClr val="1F2937"/>
                  </a:solidFill>
                  <a:latin typeface="+mn-lt"/>
                  <a:ea typeface="+mn-ea"/>
                  <a:cs typeface="+mn-cs"/>
                </a:rPr>
                <a:t>M</a:t>
              </a:r>
            </a:p>
          </p:txBody>
        </p:sp>
        <p:sp>
          <p:nvSpPr>
            <p:cNvPr id="83" name="Rectangle 83"/>
            <p:cNvSpPr/>
            <p:nvPr/>
          </p:nvSpPr>
          <p:spPr>
            <a:xfrm>
              <a:off x="6248400" y="4438650"/>
              <a:ext cx="5410200" cy="9525"/>
            </a:xfrm>
            <a:prstGeom prst="rect">
              <a:avLst/>
            </a:prstGeom>
            <a:solidFill>
              <a:srgbClr val="D9DFEA"/>
            </a:solidFill>
            <a:ln>
              <a:noFill/>
            </a:ln>
          </p:spPr>
        </p:sp>
        <p:sp>
          <p:nvSpPr>
            <p:cNvPr id="84" name="Rectangle 84"/>
            <p:cNvSpPr/>
            <p:nvPr/>
          </p:nvSpPr>
          <p:spPr>
            <a:xfrm>
              <a:off x="6248400" y="4443412"/>
              <a:ext cx="5410200" cy="675322"/>
            </a:xfrm>
            <a:prstGeom prst="rect">
              <a:avLst/>
            </a:prstGeom>
            <a:solidFill>
              <a:srgbClr val="F4F6FB"/>
            </a:solidFill>
            <a:ln>
              <a:noFill/>
            </a:ln>
          </p:spPr>
        </p:sp>
        <p:sp>
          <p:nvSpPr>
            <p:cNvPr id="85" name="TextBox 85"/>
            <p:cNvSpPr txBox="1"/>
            <p:nvPr/>
          </p:nvSpPr>
          <p:spPr>
            <a:xfrm>
              <a:off x="6356223" y="4692491"/>
              <a:ext cx="156332" cy="249364"/>
            </a:xfrm>
            <a:prstGeom prst="rect">
              <a:avLst/>
            </a:prstGeom>
            <a:noFill/>
            <a:ln>
              <a:noFill/>
            </a:ln>
          </p:spPr>
          <p:txBody>
            <a:bodyPr wrap="none" lIns="0" tIns="0" rIns="0" bIns="0" anchor="t" anchorCtr="0">
              <a:spAutoFit/>
            </a:bodyPr>
            <a:lstStyle/>
            <a:p>
              <a:pPr algn="l"/>
              <a:r>
                <a:rPr lang="en-US" sz="1280" b="1" dirty="0">
                  <a:solidFill>
                    <a:srgbClr val="1F2937"/>
                  </a:solidFill>
                  <a:latin typeface="+mn-lt"/>
                  <a:ea typeface="+mn-ea"/>
                  <a:cs typeface="+mn-cs"/>
                </a:rPr>
                <a:t>M</a:t>
              </a:r>
            </a:p>
          </p:txBody>
        </p:sp>
        <p:sp>
          <p:nvSpPr>
            <p:cNvPr id="86" name="TextBox 86"/>
            <p:cNvSpPr txBox="1"/>
            <p:nvPr/>
          </p:nvSpPr>
          <p:spPr>
            <a:xfrm>
              <a:off x="7059168" y="4692491"/>
              <a:ext cx="529895"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写缺失</a:t>
              </a:r>
            </a:p>
          </p:txBody>
        </p:sp>
        <p:sp>
          <p:nvSpPr>
            <p:cNvPr id="87" name="Rectangle 87"/>
            <p:cNvSpPr/>
            <p:nvPr/>
          </p:nvSpPr>
          <p:spPr>
            <a:xfrm>
              <a:off x="7826692" y="4452938"/>
              <a:ext cx="2956560" cy="656272"/>
            </a:xfrm>
            <a:prstGeom prst="rect">
              <a:avLst/>
            </a:prstGeom>
            <a:solidFill>
              <a:srgbClr val="FDECEA"/>
            </a:solidFill>
            <a:ln>
              <a:noFill/>
            </a:ln>
          </p:spPr>
        </p:sp>
        <p:sp>
          <p:nvSpPr>
            <p:cNvPr id="88" name="TextBox 88"/>
            <p:cNvSpPr txBox="1"/>
            <p:nvPr/>
          </p:nvSpPr>
          <p:spPr>
            <a:xfrm>
              <a:off x="7924991" y="4579144"/>
              <a:ext cx="2630170" cy="476059"/>
            </a:xfrm>
            <a:prstGeom prst="rect">
              <a:avLst/>
            </a:prstGeom>
            <a:noFill/>
            <a:ln>
              <a:noFill/>
            </a:ln>
          </p:spPr>
          <p:txBody>
            <a:bodyPr wrap="none" lIns="0" tIns="0" rIns="0" bIns="0" anchor="t" anchorCtr="0">
              <a:spAutoFit/>
            </a:bodyPr>
            <a:lstStyle/>
            <a:p>
              <a:pPr algn="l">
                <a:lnSpc>
                  <a:spcPts val="1785"/>
                </a:lnSpc>
              </a:pPr>
              <a:r>
                <a:rPr lang="zh-CN" sz="1280" dirty="0">
                  <a:solidFill>
                    <a:srgbClr val="1F2937"/>
                  </a:solidFill>
                  <a:latin typeface="+mn-lt"/>
                  <a:ea typeface="+mn-ea"/>
                  <a:cs typeface="+mn-cs"/>
                </a:rPr>
                <a:t>旧 M 块写回存储器，发 WtMiss，调</a:t>
              </a:r>
              <a:br/>
              <a:r>
                <a:rPr lang="zh-CN" sz="1280" dirty="0">
                  <a:solidFill>
                    <a:srgbClr val="1F2937"/>
                  </a:solidFill>
                  <a:latin typeface="+mn-lt"/>
                  <a:ea typeface="+mn-ea"/>
                  <a:cs typeface="+mn-cs"/>
                </a:rPr>
                <a:t>入新块，写数据</a:t>
              </a:r>
            </a:p>
          </p:txBody>
        </p:sp>
        <p:sp>
          <p:nvSpPr>
            <p:cNvPr id="89" name="TextBox 89"/>
            <p:cNvSpPr txBox="1"/>
            <p:nvPr/>
          </p:nvSpPr>
          <p:spPr>
            <a:xfrm>
              <a:off x="10900600" y="4692491"/>
              <a:ext cx="149504" cy="249364"/>
            </a:xfrm>
            <a:prstGeom prst="rect">
              <a:avLst/>
            </a:prstGeom>
            <a:noFill/>
            <a:ln>
              <a:noFill/>
            </a:ln>
          </p:spPr>
          <p:txBody>
            <a:bodyPr wrap="none" lIns="0" tIns="0" rIns="0" bIns="0" anchor="t" anchorCtr="0">
              <a:spAutoFit/>
            </a:bodyPr>
            <a:lstStyle/>
            <a:p>
              <a:pPr algn="l"/>
              <a:r>
                <a:rPr lang="en-US" sz="1280" dirty="0">
                  <a:solidFill>
                    <a:srgbClr val="1F2937"/>
                  </a:solidFill>
                  <a:latin typeface="+mn-lt"/>
                  <a:ea typeface="+mn-ea"/>
                  <a:cs typeface="+mn-cs"/>
                </a:rPr>
                <a:t>M</a:t>
              </a:r>
            </a:p>
          </p:txBody>
        </p:sp>
        <p:sp>
          <p:nvSpPr>
            <p:cNvPr id="90" name="Rectangle 90"/>
            <p:cNvSpPr/>
            <p:nvPr/>
          </p:nvSpPr>
          <p:spPr>
            <a:xfrm>
              <a:off x="6248400" y="1524000"/>
              <a:ext cx="5410200" cy="3594735"/>
            </a:xfrm>
            <a:prstGeom prst="rect">
              <a:avLst/>
            </a:prstGeom>
            <a:noFill/>
            <a:ln w="14288">
              <a:solidFill>
                <a:srgbClr val="D9DFEA"/>
              </a:solidFill>
            </a:ln>
          </p:spPr>
        </p:sp>
        <p:sp>
          <p:nvSpPr>
            <p:cNvPr id="91" name="Rectangle 91"/>
            <p:cNvSpPr/>
            <p:nvPr/>
          </p:nvSpPr>
          <p:spPr>
            <a:xfrm>
              <a:off x="6946582" y="1524000"/>
              <a:ext cx="9525" cy="3594735"/>
            </a:xfrm>
            <a:prstGeom prst="rect">
              <a:avLst/>
            </a:prstGeom>
            <a:solidFill>
              <a:srgbClr val="D9DFEA"/>
            </a:solidFill>
            <a:ln>
              <a:noFill/>
            </a:ln>
          </p:spPr>
        </p:sp>
        <p:sp>
          <p:nvSpPr>
            <p:cNvPr id="92" name="Rectangle 92"/>
            <p:cNvSpPr/>
            <p:nvPr/>
          </p:nvSpPr>
          <p:spPr>
            <a:xfrm>
              <a:off x="7812405" y="1524000"/>
              <a:ext cx="9525" cy="3594735"/>
            </a:xfrm>
            <a:prstGeom prst="rect">
              <a:avLst/>
            </a:prstGeom>
            <a:solidFill>
              <a:srgbClr val="D9DFEA"/>
            </a:solidFill>
            <a:ln>
              <a:noFill/>
            </a:ln>
          </p:spPr>
        </p:sp>
        <p:sp>
          <p:nvSpPr>
            <p:cNvPr id="93" name="Rectangle 93"/>
            <p:cNvSpPr/>
            <p:nvPr/>
          </p:nvSpPr>
          <p:spPr>
            <a:xfrm>
              <a:off x="10788015" y="1524000"/>
              <a:ext cx="9525" cy="3594735"/>
            </a:xfrm>
            <a:prstGeom prst="rect">
              <a:avLst/>
            </a:prstGeom>
            <a:solidFill>
              <a:srgbClr val="D9DFEA"/>
            </a:solidFill>
            <a:ln>
              <a:noFill/>
            </a:ln>
          </p:spPr>
        </p:sp>
        <p:sp>
          <p:nvSpPr>
            <p:cNvPr id="94" name="TextBox 94"/>
            <p:cNvSpPr txBox="1"/>
            <p:nvPr/>
          </p:nvSpPr>
          <p:spPr>
            <a:xfrm>
              <a:off x="6242685" y="5194459"/>
              <a:ext cx="463753" cy="220028"/>
            </a:xfrm>
            <a:prstGeom prst="rect">
              <a:avLst/>
            </a:prstGeom>
            <a:noFill/>
            <a:ln>
              <a:noFill/>
            </a:ln>
          </p:spPr>
          <p:txBody>
            <a:bodyPr wrap="none" lIns="0" tIns="0" rIns="0" bIns="0" anchor="t" anchorCtr="0">
              <a:spAutoFit/>
            </a:bodyPr>
            <a:lstStyle/>
            <a:p>
              <a:pPr algn="l"/>
              <a:r>
                <a:rPr lang="zh-CN" sz="1120" dirty="0">
                  <a:solidFill>
                    <a:srgbClr val="5B6475"/>
                  </a:solidFill>
                  <a:latin typeface="+mn-lt"/>
                  <a:ea typeface="+mn-ea"/>
                  <a:cs typeface="+mn-cs"/>
                </a:rPr>
                <a:t>写操作</a:t>
              </a:r>
            </a:p>
          </p:txBody>
        </p:sp>
      </p:grpSp>
      <p:grpSp>
        <p:nvGrpSpPr>
          <p:cNvPr id="102" name="takeaway"/>
          <p:cNvGrpSpPr/>
          <p:nvPr/>
        </p:nvGrpSpPr>
        <p:grpSpPr>
          <a:xfrm>
            <a:off x="533400" y="5579745"/>
            <a:ext cx="11125200" cy="782955"/>
            <a:chOff x="533400" y="5579745"/>
            <a:chExt cx="11125200" cy="782955"/>
          </a:xfrm>
        </p:grpSpPr>
        <p:sp>
          <p:nvSpPr>
            <p:cNvPr id="96" name="Rectangle 96"/>
            <p:cNvSpPr/>
            <p:nvPr/>
          </p:nvSpPr>
          <p:spPr>
            <a:xfrm>
              <a:off x="533400" y="5579745"/>
              <a:ext cx="11125200" cy="782955"/>
            </a:xfrm>
            <a:prstGeom prst="roundRect">
              <a:avLst>
                <a:gd name="adj" fmla="val 14599"/>
              </a:avLst>
            </a:prstGeom>
            <a:solidFill>
              <a:srgbClr val="F4F6FB"/>
            </a:solidFill>
            <a:ln>
              <a:noFill/>
            </a:ln>
          </p:spPr>
        </p:sp>
        <p:grpSp>
          <p:nvGrpSpPr>
            <p:cNvPr id="100" name="Group 100"/>
            <p:cNvGrpSpPr/>
            <p:nvPr/>
          </p:nvGrpSpPr>
          <p:grpSpPr>
            <a:xfrm>
              <a:off x="738188" y="5871210"/>
              <a:ext cx="200026" cy="200026"/>
              <a:chOff x="738188" y="5871210"/>
              <a:chExt cx="200026" cy="200026"/>
            </a:xfrm>
          </p:grpSpPr>
          <p:sp>
            <p:nvSpPr>
              <p:cNvPr id="97" name="Freeform 97"/>
              <p:cNvSpPr/>
              <p:nvPr/>
            </p:nvSpPr>
            <p:spPr>
              <a:xfrm>
                <a:off x="738188" y="5871210"/>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1F2937"/>
                </a:solidFill>
              </a:ln>
            </p:spPr>
          </p:sp>
          <p:sp>
            <p:nvSpPr>
              <p:cNvPr id="98" name="Freeform 98"/>
              <p:cNvSpPr/>
              <p:nvPr/>
            </p:nvSpPr>
            <p:spPr>
              <a:xfrm>
                <a:off x="838200" y="5937885"/>
                <a:ext cx="9525" cy="9525"/>
              </a:xfrm>
              <a:custGeom>
                <a:avLst/>
                <a:gdLst/>
                <a:ahLst/>
                <a:cxnLst/>
                <a:rect l="l" t="t" r="r" b="b"/>
                <a:pathLst>
                  <a:path w="9525" h="9525">
                    <a:moveTo>
                      <a:pt x="0" y="0"/>
                    </a:moveTo>
                    <a:lnTo>
                      <a:pt x="111" y="0"/>
                    </a:lnTo>
                  </a:path>
                </a:pathLst>
              </a:custGeom>
              <a:noFill/>
              <a:ln w="22225">
                <a:solidFill>
                  <a:srgbClr val="1F2937"/>
                </a:solidFill>
              </a:ln>
            </p:spPr>
          </p:sp>
          <p:sp>
            <p:nvSpPr>
              <p:cNvPr id="99" name="Freeform 99"/>
              <p:cNvSpPr/>
              <p:nvPr/>
            </p:nvSpPr>
            <p:spPr>
              <a:xfrm>
                <a:off x="827088" y="5971223"/>
                <a:ext cx="22225" cy="44450"/>
              </a:xfrm>
              <a:custGeom>
                <a:avLst/>
                <a:gdLst/>
                <a:ahLst/>
                <a:cxnLst/>
                <a:rect l="l" t="t" r="r" b="b"/>
                <a:pathLst>
                  <a:path w="22225" h="44450">
                    <a:moveTo>
                      <a:pt x="0" y="0"/>
                    </a:moveTo>
                    <a:lnTo>
                      <a:pt x="11113" y="0"/>
                    </a:lnTo>
                    <a:lnTo>
                      <a:pt x="11113" y="44450"/>
                    </a:lnTo>
                    <a:lnTo>
                      <a:pt x="22225" y="44450"/>
                    </a:lnTo>
                  </a:path>
                </a:pathLst>
              </a:custGeom>
              <a:noFill/>
              <a:ln w="22225">
                <a:solidFill>
                  <a:srgbClr val="1F2937"/>
                </a:solidFill>
              </a:ln>
            </p:spPr>
          </p:sp>
        </p:grpSp>
        <p:sp>
          <p:nvSpPr>
            <p:cNvPr id="101" name="TextBox 101"/>
            <p:cNvSpPr txBox="1"/>
            <p:nvPr/>
          </p:nvSpPr>
          <p:spPr>
            <a:xfrm>
              <a:off x="1040130" y="5728335"/>
              <a:ext cx="9978390" cy="569595"/>
            </a:xfrm>
            <a:prstGeom prst="rect">
              <a:avLst/>
            </a:prstGeom>
            <a:noFill/>
            <a:ln>
              <a:noFill/>
            </a:ln>
          </p:spPr>
          <p:txBody>
            <a:bodyPr wrap="none" lIns="0" tIns="0" rIns="0" bIns="0" anchor="t" anchorCtr="0">
              <a:spAutoFit/>
            </a:bodyPr>
            <a:lstStyle/>
            <a:p>
              <a:pPr algn="l">
                <a:lnSpc>
                  <a:spcPts val="2175"/>
                </a:lnSpc>
              </a:pPr>
              <a:r>
                <a:rPr lang="zh-CN" sz="1500" dirty="0">
                  <a:solidFill>
                    <a:srgbClr val="1F2937"/>
                  </a:solidFill>
                  <a:latin typeface="+mn-lt"/>
                  <a:ea typeface="+mn-ea"/>
                  <a:cs typeface="+mn-cs"/>
                </a:rPr>
                <a:t>表中“S 读缺失”指这一行放着另一块（状态 S），要访问的块不在，于是旧块被替换：旧块是 S 直接丢弃，是 M 必须先</a:t>
              </a:r>
              <a:br/>
              <a:r>
                <a:rPr lang="zh-CN" sz="1500" dirty="0">
                  <a:solidFill>
                    <a:srgbClr val="1F2937"/>
                  </a:solidFill>
                  <a:latin typeface="+mn-lt"/>
                  <a:ea typeface="+mn-ea"/>
                  <a:cs typeface="+mn-cs"/>
                </a:rPr>
                <a:t>写回。凡是写，结束后都是 M；凡是读缺失，结束后都是 S。</a:t>
              </a:r>
            </a:p>
          </p:txBody>
        </p:sp>
      </p:grpSp>
      <p:grpSp>
        <p:nvGrpSpPr>
          <p:cNvPr id="105" name="footer"/>
          <p:cNvGrpSpPr/>
          <p:nvPr/>
        </p:nvGrpSpPr>
        <p:grpSpPr>
          <a:xfrm>
            <a:off x="528447" y="6581299"/>
            <a:ext cx="11135106" cy="190690"/>
            <a:chOff x="528447" y="6581299"/>
            <a:chExt cx="11135106" cy="190690"/>
          </a:xfrm>
        </p:grpSpPr>
        <p:sp>
          <p:nvSpPr>
            <p:cNvPr id="103" name="TextBox 103"/>
            <p:cNvSpPr txBox="1"/>
            <p:nvPr/>
          </p:nvSpPr>
          <p:spPr>
            <a:xfrm>
              <a:off x="528447" y="6581299"/>
              <a:ext cx="2120748"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并行与分布式计算 · 第7章 体系结构</a:t>
              </a:r>
            </a:p>
          </p:txBody>
        </p:sp>
        <p:sp>
          <p:nvSpPr>
            <p:cNvPr id="104" name="TextBox 104"/>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24</a:t>
              </a:r>
            </a:p>
          </p:txBody>
        </p:sp>
      </p:grpSp>
    </p:spTree>
  </p:cSld>
  <p:clrMapOvr>
    <a:masterClrMapping/>
  </p:clrMapOvr>
  <p:transition xmlns:p14="http://schemas.microsoft.com/office/powerpoint/2010/main" p14:dur="400">
    <p:fade/>
  </p:transition>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7234809" cy="909257"/>
            <a:chOff x="520446" y="342900"/>
            <a:chExt cx="7234809" cy="909257"/>
          </a:xfrm>
        </p:grpSpPr>
        <p:sp>
          <p:nvSpPr>
            <p:cNvPr id="2" name="Rectangle 2"/>
            <p:cNvSpPr/>
            <p:nvPr/>
          </p:nvSpPr>
          <p:spPr>
            <a:xfrm>
              <a:off x="533400" y="342900"/>
              <a:ext cx="2586038" cy="266700"/>
            </a:xfrm>
            <a:prstGeom prst="roundRect">
              <a:avLst>
                <a:gd name="adj" fmla="val 50000"/>
              </a:avLst>
            </a:prstGeom>
            <a:solidFill>
              <a:srgbClr val="E7EDF3"/>
            </a:solidFill>
            <a:ln>
              <a:noFill/>
            </a:ln>
          </p:spPr>
        </p:sp>
        <p:sp>
          <p:nvSpPr>
            <p:cNvPr id="3" name="TextBox 3"/>
            <p:cNvSpPr txBox="1"/>
            <p:nvPr/>
          </p:nvSpPr>
          <p:spPr>
            <a:xfrm>
              <a:off x="587464" y="407194"/>
              <a:ext cx="2476957"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第7章 体系结构 · Cache 一致性问题</a:t>
              </a:r>
            </a:p>
          </p:txBody>
        </p:sp>
        <p:sp>
          <p:nvSpPr>
            <p:cNvPr id="4" name="TextBox 4"/>
            <p:cNvSpPr txBox="1"/>
            <p:nvPr/>
          </p:nvSpPr>
          <p:spPr>
            <a:xfrm>
              <a:off x="520446" y="753428"/>
              <a:ext cx="7234809"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总线侧状态表：看到别人的请求时控制器做什么</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55" name="c1-table-1"/>
          <p:cNvGrpSpPr/>
          <p:nvPr/>
        </p:nvGrpSpPr>
        <p:grpSpPr>
          <a:xfrm>
            <a:off x="527685" y="1524000"/>
            <a:ext cx="6065520" cy="4793457"/>
            <a:chOff x="527685" y="1524000"/>
            <a:chExt cx="6065520" cy="4793457"/>
          </a:xfrm>
        </p:grpSpPr>
        <p:sp>
          <p:nvSpPr>
            <p:cNvPr id="7" name="Rectangle 7"/>
            <p:cNvSpPr/>
            <p:nvPr/>
          </p:nvSpPr>
          <p:spPr>
            <a:xfrm>
              <a:off x="533400" y="1524000"/>
              <a:ext cx="6059805" cy="448628"/>
            </a:xfrm>
            <a:prstGeom prst="rect">
              <a:avLst/>
            </a:prstGeom>
            <a:solidFill>
              <a:srgbClr val="334E68"/>
            </a:solidFill>
            <a:ln>
              <a:noFill/>
            </a:ln>
          </p:spPr>
        </p:sp>
        <p:sp>
          <p:nvSpPr>
            <p:cNvPr id="8" name="TextBox 8"/>
            <p:cNvSpPr txBox="1"/>
            <p:nvPr/>
          </p:nvSpPr>
          <p:spPr>
            <a:xfrm>
              <a:off x="667118" y="1659731"/>
              <a:ext cx="702208"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本地状态</a:t>
              </a:r>
            </a:p>
          </p:txBody>
        </p:sp>
        <p:sp>
          <p:nvSpPr>
            <p:cNvPr id="9" name="TextBox 9"/>
            <p:cNvSpPr txBox="1"/>
            <p:nvPr/>
          </p:nvSpPr>
          <p:spPr>
            <a:xfrm>
              <a:off x="1767345" y="1659731"/>
              <a:ext cx="1046836"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总线上的请求</a:t>
              </a:r>
            </a:p>
          </p:txBody>
        </p:sp>
        <p:sp>
          <p:nvSpPr>
            <p:cNvPr id="10" name="TextBox 10"/>
            <p:cNvSpPr txBox="1"/>
            <p:nvPr/>
          </p:nvSpPr>
          <p:spPr>
            <a:xfrm>
              <a:off x="3913759" y="1659731"/>
              <a:ext cx="874522"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控制器操作</a:t>
              </a:r>
            </a:p>
          </p:txBody>
        </p:sp>
        <p:sp>
          <p:nvSpPr>
            <p:cNvPr id="11" name="TextBox 11"/>
            <p:cNvSpPr txBox="1"/>
            <p:nvPr/>
          </p:nvSpPr>
          <p:spPr>
            <a:xfrm>
              <a:off x="5843435" y="1659731"/>
              <a:ext cx="529895"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新状态</a:t>
              </a:r>
            </a:p>
          </p:txBody>
        </p:sp>
        <p:sp>
          <p:nvSpPr>
            <p:cNvPr id="12" name="TextBox 12"/>
            <p:cNvSpPr txBox="1"/>
            <p:nvPr/>
          </p:nvSpPr>
          <p:spPr>
            <a:xfrm>
              <a:off x="641223" y="2335054"/>
              <a:ext cx="70305" cy="249364"/>
            </a:xfrm>
            <a:prstGeom prst="rect">
              <a:avLst/>
            </a:prstGeom>
            <a:noFill/>
            <a:ln>
              <a:noFill/>
            </a:ln>
          </p:spPr>
          <p:txBody>
            <a:bodyPr wrap="none" lIns="0" tIns="0" rIns="0" bIns="0" anchor="t" anchorCtr="0">
              <a:spAutoFit/>
            </a:bodyPr>
            <a:lstStyle/>
            <a:p>
              <a:pPr algn="l"/>
              <a:r>
                <a:rPr lang="en-US" sz="1280" b="1" dirty="0">
                  <a:solidFill>
                    <a:srgbClr val="1F2937"/>
                  </a:solidFill>
                  <a:latin typeface="+mn-lt"/>
                  <a:ea typeface="+mn-ea"/>
                  <a:cs typeface="+mn-cs"/>
                </a:rPr>
                <a:t>I</a:t>
              </a:r>
            </a:p>
          </p:txBody>
        </p:sp>
        <p:sp>
          <p:nvSpPr>
            <p:cNvPr id="13" name="TextBox 13"/>
            <p:cNvSpPr txBox="1"/>
            <p:nvPr/>
          </p:nvSpPr>
          <p:spPr>
            <a:xfrm>
              <a:off x="1610868" y="2108359"/>
              <a:ext cx="785114" cy="702754"/>
            </a:xfrm>
            <a:prstGeom prst="rect">
              <a:avLst/>
            </a:prstGeom>
            <a:noFill/>
            <a:ln>
              <a:noFill/>
            </a:ln>
          </p:spPr>
          <p:txBody>
            <a:bodyPr wrap="none" lIns="0" tIns="0" rIns="0" bIns="0" anchor="t" anchorCtr="0">
              <a:spAutoFit/>
            </a:bodyPr>
            <a:lstStyle/>
            <a:p>
              <a:pPr algn="l">
                <a:lnSpc>
                  <a:spcPts val="1785"/>
                </a:lnSpc>
              </a:pPr>
              <a:r>
                <a:rPr lang="en-US" sz="1280" dirty="0">
                  <a:solidFill>
                    <a:srgbClr val="1F2937"/>
                  </a:solidFill>
                  <a:latin typeface="+mn-lt"/>
                  <a:ea typeface="+mn-ea"/>
                  <a:cs typeface="+mn-cs"/>
                </a:rPr>
                <a:t>RdMiss /</a:t>
              </a:r>
              <a:br/>
              <a:r>
                <a:rPr lang="en-US" sz="1280" dirty="0">
                  <a:solidFill>
                    <a:srgbClr val="1F2937"/>
                  </a:solidFill>
                  <a:latin typeface="+mn-lt"/>
                  <a:ea typeface="+mn-ea"/>
                  <a:cs typeface="+mn-cs"/>
                </a:rPr>
                <a:t>WtMiss /</a:t>
              </a:r>
              <a:br/>
              <a:r>
                <a:rPr lang="en-US" sz="1280" dirty="0">
                  <a:solidFill>
                    <a:srgbClr val="1F2937"/>
                  </a:solidFill>
                  <a:latin typeface="+mn-lt"/>
                  <a:ea typeface="+mn-ea"/>
                  <a:cs typeface="+mn-cs"/>
                </a:rPr>
                <a:t>Invalidate</a:t>
              </a:r>
            </a:p>
          </p:txBody>
        </p:sp>
        <p:sp>
          <p:nvSpPr>
            <p:cNvPr id="14" name="TextBox 14"/>
            <p:cNvSpPr txBox="1"/>
            <p:nvPr/>
          </p:nvSpPr>
          <p:spPr>
            <a:xfrm>
              <a:off x="3186303" y="2335054"/>
              <a:ext cx="529895"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不理会</a:t>
              </a:r>
            </a:p>
          </p:txBody>
        </p:sp>
        <p:sp>
          <p:nvSpPr>
            <p:cNvPr id="15" name="TextBox 15"/>
            <p:cNvSpPr txBox="1"/>
            <p:nvPr/>
          </p:nvSpPr>
          <p:spPr>
            <a:xfrm>
              <a:off x="5731383" y="2335054"/>
              <a:ext cx="67574" cy="249364"/>
            </a:xfrm>
            <a:prstGeom prst="rect">
              <a:avLst/>
            </a:prstGeom>
            <a:noFill/>
            <a:ln>
              <a:noFill/>
            </a:ln>
          </p:spPr>
          <p:txBody>
            <a:bodyPr wrap="none" lIns="0" tIns="0" rIns="0" bIns="0" anchor="t" anchorCtr="0">
              <a:spAutoFit/>
            </a:bodyPr>
            <a:lstStyle/>
            <a:p>
              <a:pPr algn="l"/>
              <a:r>
                <a:rPr lang="en-US" sz="1280" dirty="0">
                  <a:solidFill>
                    <a:srgbClr val="1F2937"/>
                  </a:solidFill>
                  <a:latin typeface="+mn-lt"/>
                  <a:ea typeface="+mn-ea"/>
                  <a:cs typeface="+mn-cs"/>
                </a:rPr>
                <a:t>I</a:t>
              </a:r>
            </a:p>
          </p:txBody>
        </p:sp>
        <p:sp>
          <p:nvSpPr>
            <p:cNvPr id="16" name="Rectangle 16"/>
            <p:cNvSpPr/>
            <p:nvPr/>
          </p:nvSpPr>
          <p:spPr>
            <a:xfrm>
              <a:off x="533400" y="2869882"/>
              <a:ext cx="6059805" cy="9525"/>
            </a:xfrm>
            <a:prstGeom prst="rect">
              <a:avLst/>
            </a:prstGeom>
            <a:solidFill>
              <a:srgbClr val="D9DFEA"/>
            </a:solidFill>
            <a:ln>
              <a:noFill/>
            </a:ln>
          </p:spPr>
        </p:sp>
        <p:sp>
          <p:nvSpPr>
            <p:cNvPr id="17" name="Rectangle 17"/>
            <p:cNvSpPr/>
            <p:nvPr/>
          </p:nvSpPr>
          <p:spPr>
            <a:xfrm>
              <a:off x="533400" y="2874645"/>
              <a:ext cx="6059805" cy="675322"/>
            </a:xfrm>
            <a:prstGeom prst="rect">
              <a:avLst/>
            </a:prstGeom>
            <a:solidFill>
              <a:srgbClr val="F4F6FB"/>
            </a:solidFill>
            <a:ln>
              <a:noFill/>
            </a:ln>
          </p:spPr>
        </p:sp>
        <p:sp>
          <p:nvSpPr>
            <p:cNvPr id="18" name="TextBox 18"/>
            <p:cNvSpPr txBox="1"/>
            <p:nvPr/>
          </p:nvSpPr>
          <p:spPr>
            <a:xfrm>
              <a:off x="641223" y="3123724"/>
              <a:ext cx="118098" cy="249364"/>
            </a:xfrm>
            <a:prstGeom prst="rect">
              <a:avLst/>
            </a:prstGeom>
            <a:noFill/>
            <a:ln>
              <a:noFill/>
            </a:ln>
          </p:spPr>
          <p:txBody>
            <a:bodyPr wrap="none" lIns="0" tIns="0" rIns="0" bIns="0" anchor="t" anchorCtr="0">
              <a:spAutoFit/>
            </a:bodyPr>
            <a:lstStyle/>
            <a:p>
              <a:pPr algn="l"/>
              <a:r>
                <a:rPr lang="en-US" sz="1280" b="1" dirty="0">
                  <a:solidFill>
                    <a:srgbClr val="1F2937"/>
                  </a:solidFill>
                  <a:latin typeface="+mn-lt"/>
                  <a:ea typeface="+mn-ea"/>
                  <a:cs typeface="+mn-cs"/>
                </a:rPr>
                <a:t>S</a:t>
              </a:r>
            </a:p>
          </p:txBody>
        </p:sp>
        <p:sp>
          <p:nvSpPr>
            <p:cNvPr id="19" name="TextBox 19"/>
            <p:cNvSpPr txBox="1"/>
            <p:nvPr/>
          </p:nvSpPr>
          <p:spPr>
            <a:xfrm>
              <a:off x="1610868" y="3123724"/>
              <a:ext cx="583540" cy="249364"/>
            </a:xfrm>
            <a:prstGeom prst="rect">
              <a:avLst/>
            </a:prstGeom>
            <a:noFill/>
            <a:ln>
              <a:noFill/>
            </a:ln>
          </p:spPr>
          <p:txBody>
            <a:bodyPr wrap="none" lIns="0" tIns="0" rIns="0" bIns="0" anchor="t" anchorCtr="0">
              <a:spAutoFit/>
            </a:bodyPr>
            <a:lstStyle/>
            <a:p>
              <a:pPr algn="l"/>
              <a:r>
                <a:rPr lang="en-US" sz="1280" dirty="0">
                  <a:solidFill>
                    <a:srgbClr val="1F2937"/>
                  </a:solidFill>
                  <a:latin typeface="+mn-lt"/>
                  <a:ea typeface="+mn-ea"/>
                  <a:cs typeface="+mn-cs"/>
                </a:rPr>
                <a:t>RdMiss</a:t>
              </a:r>
            </a:p>
          </p:txBody>
        </p:sp>
        <p:sp>
          <p:nvSpPr>
            <p:cNvPr id="20" name="TextBox 20"/>
            <p:cNvSpPr txBox="1"/>
            <p:nvPr/>
          </p:nvSpPr>
          <p:spPr>
            <a:xfrm>
              <a:off x="3186303" y="3010376"/>
              <a:ext cx="2183130" cy="476059"/>
            </a:xfrm>
            <a:prstGeom prst="rect">
              <a:avLst/>
            </a:prstGeom>
            <a:noFill/>
            <a:ln>
              <a:noFill/>
            </a:ln>
          </p:spPr>
          <p:txBody>
            <a:bodyPr wrap="none" lIns="0" tIns="0" rIns="0" bIns="0" anchor="t" anchorCtr="0">
              <a:spAutoFit/>
            </a:bodyPr>
            <a:lstStyle/>
            <a:p>
              <a:pPr algn="l">
                <a:lnSpc>
                  <a:spcPts val="1785"/>
                </a:lnSpc>
              </a:pPr>
              <a:r>
                <a:rPr lang="zh-CN" sz="1280" dirty="0">
                  <a:solidFill>
                    <a:srgbClr val="1F2937"/>
                  </a:solidFill>
                  <a:latin typeface="+mn-lt"/>
                  <a:ea typeface="+mn-ea"/>
                  <a:cs typeface="+mn-cs"/>
                </a:rPr>
                <a:t>与其他有副本的 Cache 竞争，</a:t>
              </a:r>
              <a:br/>
              <a:r>
                <a:rPr lang="zh-CN" sz="1280" dirty="0">
                  <a:solidFill>
                    <a:srgbClr val="1F2937"/>
                  </a:solidFill>
                  <a:latin typeface="+mn-lt"/>
                  <a:ea typeface="+mn-ea"/>
                  <a:cs typeface="+mn-cs"/>
                </a:rPr>
                <a:t>把块传给请求者</a:t>
              </a:r>
            </a:p>
          </p:txBody>
        </p:sp>
        <p:sp>
          <p:nvSpPr>
            <p:cNvPr id="21" name="TextBox 21"/>
            <p:cNvSpPr txBox="1"/>
            <p:nvPr/>
          </p:nvSpPr>
          <p:spPr>
            <a:xfrm>
              <a:off x="5731383" y="3123724"/>
              <a:ext cx="113091" cy="249364"/>
            </a:xfrm>
            <a:prstGeom prst="rect">
              <a:avLst/>
            </a:prstGeom>
            <a:noFill/>
            <a:ln>
              <a:noFill/>
            </a:ln>
          </p:spPr>
          <p:txBody>
            <a:bodyPr wrap="none" lIns="0" tIns="0" rIns="0" bIns="0" anchor="t" anchorCtr="0">
              <a:spAutoFit/>
            </a:bodyPr>
            <a:lstStyle/>
            <a:p>
              <a:pPr algn="l"/>
              <a:r>
                <a:rPr lang="en-US" sz="1280" dirty="0">
                  <a:solidFill>
                    <a:srgbClr val="1F2937"/>
                  </a:solidFill>
                  <a:latin typeface="+mn-lt"/>
                  <a:ea typeface="+mn-ea"/>
                  <a:cs typeface="+mn-cs"/>
                </a:rPr>
                <a:t>S</a:t>
              </a:r>
            </a:p>
          </p:txBody>
        </p:sp>
        <p:sp>
          <p:nvSpPr>
            <p:cNvPr id="22" name="Rectangle 22"/>
            <p:cNvSpPr/>
            <p:nvPr/>
          </p:nvSpPr>
          <p:spPr>
            <a:xfrm>
              <a:off x="533400" y="3546158"/>
              <a:ext cx="6059805" cy="9525"/>
            </a:xfrm>
            <a:prstGeom prst="rect">
              <a:avLst/>
            </a:prstGeom>
            <a:solidFill>
              <a:srgbClr val="D9DFEA"/>
            </a:solidFill>
            <a:ln>
              <a:noFill/>
            </a:ln>
          </p:spPr>
        </p:sp>
        <p:sp>
          <p:nvSpPr>
            <p:cNvPr id="23" name="TextBox 23"/>
            <p:cNvSpPr txBox="1"/>
            <p:nvPr/>
          </p:nvSpPr>
          <p:spPr>
            <a:xfrm>
              <a:off x="641223" y="3685699"/>
              <a:ext cx="118098" cy="249364"/>
            </a:xfrm>
            <a:prstGeom prst="rect">
              <a:avLst/>
            </a:prstGeom>
            <a:noFill/>
            <a:ln>
              <a:noFill/>
            </a:ln>
          </p:spPr>
          <p:txBody>
            <a:bodyPr wrap="none" lIns="0" tIns="0" rIns="0" bIns="0" anchor="t" anchorCtr="0">
              <a:spAutoFit/>
            </a:bodyPr>
            <a:lstStyle/>
            <a:p>
              <a:pPr algn="l"/>
              <a:r>
                <a:rPr lang="en-US" sz="1280" b="1" dirty="0">
                  <a:solidFill>
                    <a:srgbClr val="1F2937"/>
                  </a:solidFill>
                  <a:latin typeface="+mn-lt"/>
                  <a:ea typeface="+mn-ea"/>
                  <a:cs typeface="+mn-cs"/>
                </a:rPr>
                <a:t>S</a:t>
              </a:r>
            </a:p>
          </p:txBody>
        </p:sp>
        <p:sp>
          <p:nvSpPr>
            <p:cNvPr id="24" name="TextBox 24"/>
            <p:cNvSpPr txBox="1"/>
            <p:nvPr/>
          </p:nvSpPr>
          <p:spPr>
            <a:xfrm>
              <a:off x="1610868" y="3685699"/>
              <a:ext cx="618653" cy="249364"/>
            </a:xfrm>
            <a:prstGeom prst="rect">
              <a:avLst/>
            </a:prstGeom>
            <a:noFill/>
            <a:ln>
              <a:noFill/>
            </a:ln>
          </p:spPr>
          <p:txBody>
            <a:bodyPr wrap="none" lIns="0" tIns="0" rIns="0" bIns="0" anchor="t" anchorCtr="0">
              <a:spAutoFit/>
            </a:bodyPr>
            <a:lstStyle/>
            <a:p>
              <a:pPr algn="l"/>
              <a:r>
                <a:rPr lang="en-US" sz="1280" dirty="0">
                  <a:solidFill>
                    <a:srgbClr val="1F2937"/>
                  </a:solidFill>
                  <a:latin typeface="+mn-lt"/>
                  <a:ea typeface="+mn-ea"/>
                  <a:cs typeface="+mn-cs"/>
                </a:rPr>
                <a:t>WtMiss</a:t>
              </a:r>
            </a:p>
          </p:txBody>
        </p:sp>
        <p:sp>
          <p:nvSpPr>
            <p:cNvPr id="25" name="TextBox 25"/>
            <p:cNvSpPr txBox="1"/>
            <p:nvPr/>
          </p:nvSpPr>
          <p:spPr>
            <a:xfrm>
              <a:off x="3186303" y="3685699"/>
              <a:ext cx="1563776"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竞争把块传给请求者</a:t>
              </a:r>
            </a:p>
          </p:txBody>
        </p:sp>
        <p:sp>
          <p:nvSpPr>
            <p:cNvPr id="26" name="TextBox 26"/>
            <p:cNvSpPr txBox="1"/>
            <p:nvPr/>
          </p:nvSpPr>
          <p:spPr>
            <a:xfrm>
              <a:off x="5731383" y="3685699"/>
              <a:ext cx="67574" cy="249364"/>
            </a:xfrm>
            <a:prstGeom prst="rect">
              <a:avLst/>
            </a:prstGeom>
            <a:noFill/>
            <a:ln>
              <a:noFill/>
            </a:ln>
          </p:spPr>
          <p:txBody>
            <a:bodyPr wrap="none" lIns="0" tIns="0" rIns="0" bIns="0" anchor="t" anchorCtr="0">
              <a:spAutoFit/>
            </a:bodyPr>
            <a:lstStyle/>
            <a:p>
              <a:pPr algn="l"/>
              <a:r>
                <a:rPr lang="en-US" sz="1280" dirty="0">
                  <a:solidFill>
                    <a:srgbClr val="1F2937"/>
                  </a:solidFill>
                  <a:latin typeface="+mn-lt"/>
                  <a:ea typeface="+mn-ea"/>
                  <a:cs typeface="+mn-cs"/>
                </a:rPr>
                <a:t>I</a:t>
              </a:r>
            </a:p>
          </p:txBody>
        </p:sp>
        <p:sp>
          <p:nvSpPr>
            <p:cNvPr id="27" name="Rectangle 27"/>
            <p:cNvSpPr/>
            <p:nvPr/>
          </p:nvSpPr>
          <p:spPr>
            <a:xfrm>
              <a:off x="533400" y="3994785"/>
              <a:ext cx="6059805" cy="9525"/>
            </a:xfrm>
            <a:prstGeom prst="rect">
              <a:avLst/>
            </a:prstGeom>
            <a:solidFill>
              <a:srgbClr val="D9DFEA"/>
            </a:solidFill>
            <a:ln>
              <a:noFill/>
            </a:ln>
          </p:spPr>
        </p:sp>
        <p:sp>
          <p:nvSpPr>
            <p:cNvPr id="28" name="Rectangle 28"/>
            <p:cNvSpPr/>
            <p:nvPr/>
          </p:nvSpPr>
          <p:spPr>
            <a:xfrm>
              <a:off x="533400" y="3999548"/>
              <a:ext cx="6059805" cy="448628"/>
            </a:xfrm>
            <a:prstGeom prst="rect">
              <a:avLst/>
            </a:prstGeom>
            <a:solidFill>
              <a:srgbClr val="F4F6FB"/>
            </a:solidFill>
            <a:ln>
              <a:noFill/>
            </a:ln>
          </p:spPr>
        </p:sp>
        <p:sp>
          <p:nvSpPr>
            <p:cNvPr id="29" name="TextBox 29"/>
            <p:cNvSpPr txBox="1"/>
            <p:nvPr/>
          </p:nvSpPr>
          <p:spPr>
            <a:xfrm>
              <a:off x="641223" y="4134326"/>
              <a:ext cx="118098" cy="249364"/>
            </a:xfrm>
            <a:prstGeom prst="rect">
              <a:avLst/>
            </a:prstGeom>
            <a:noFill/>
            <a:ln>
              <a:noFill/>
            </a:ln>
          </p:spPr>
          <p:txBody>
            <a:bodyPr wrap="none" lIns="0" tIns="0" rIns="0" bIns="0" anchor="t" anchorCtr="0">
              <a:spAutoFit/>
            </a:bodyPr>
            <a:lstStyle/>
            <a:p>
              <a:pPr algn="l"/>
              <a:r>
                <a:rPr lang="en-US" sz="1280" b="1" dirty="0">
                  <a:solidFill>
                    <a:srgbClr val="1F2937"/>
                  </a:solidFill>
                  <a:latin typeface="+mn-lt"/>
                  <a:ea typeface="+mn-ea"/>
                  <a:cs typeface="+mn-cs"/>
                </a:rPr>
                <a:t>S</a:t>
              </a:r>
            </a:p>
          </p:txBody>
        </p:sp>
        <p:sp>
          <p:nvSpPr>
            <p:cNvPr id="30" name="TextBox 30"/>
            <p:cNvSpPr txBox="1"/>
            <p:nvPr/>
          </p:nvSpPr>
          <p:spPr>
            <a:xfrm>
              <a:off x="1610868" y="4134326"/>
              <a:ext cx="836077" cy="249364"/>
            </a:xfrm>
            <a:prstGeom prst="rect">
              <a:avLst/>
            </a:prstGeom>
            <a:noFill/>
            <a:ln>
              <a:noFill/>
            </a:ln>
          </p:spPr>
          <p:txBody>
            <a:bodyPr wrap="none" lIns="0" tIns="0" rIns="0" bIns="0" anchor="t" anchorCtr="0">
              <a:spAutoFit/>
            </a:bodyPr>
            <a:lstStyle/>
            <a:p>
              <a:pPr algn="l"/>
              <a:r>
                <a:rPr lang="en-US" sz="1280" dirty="0">
                  <a:solidFill>
                    <a:srgbClr val="1F2937"/>
                  </a:solidFill>
                  <a:latin typeface="+mn-lt"/>
                  <a:ea typeface="+mn-ea"/>
                  <a:cs typeface="+mn-cs"/>
                </a:rPr>
                <a:t>Invalidate</a:t>
              </a:r>
            </a:p>
          </p:txBody>
        </p:sp>
        <p:sp>
          <p:nvSpPr>
            <p:cNvPr id="31" name="TextBox 31"/>
            <p:cNvSpPr txBox="1"/>
            <p:nvPr/>
          </p:nvSpPr>
          <p:spPr>
            <a:xfrm>
              <a:off x="3186303" y="4134326"/>
              <a:ext cx="702208"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不传数据</a:t>
              </a:r>
            </a:p>
          </p:txBody>
        </p:sp>
        <p:sp>
          <p:nvSpPr>
            <p:cNvPr id="32" name="TextBox 32"/>
            <p:cNvSpPr txBox="1"/>
            <p:nvPr/>
          </p:nvSpPr>
          <p:spPr>
            <a:xfrm>
              <a:off x="5731383" y="4134326"/>
              <a:ext cx="67574" cy="249364"/>
            </a:xfrm>
            <a:prstGeom prst="rect">
              <a:avLst/>
            </a:prstGeom>
            <a:noFill/>
            <a:ln>
              <a:noFill/>
            </a:ln>
          </p:spPr>
          <p:txBody>
            <a:bodyPr wrap="none" lIns="0" tIns="0" rIns="0" bIns="0" anchor="t" anchorCtr="0">
              <a:spAutoFit/>
            </a:bodyPr>
            <a:lstStyle/>
            <a:p>
              <a:pPr algn="l"/>
              <a:r>
                <a:rPr lang="en-US" sz="1280" dirty="0">
                  <a:solidFill>
                    <a:srgbClr val="1F2937"/>
                  </a:solidFill>
                  <a:latin typeface="+mn-lt"/>
                  <a:ea typeface="+mn-ea"/>
                  <a:cs typeface="+mn-cs"/>
                </a:rPr>
                <a:t>I</a:t>
              </a:r>
            </a:p>
          </p:txBody>
        </p:sp>
        <p:sp>
          <p:nvSpPr>
            <p:cNvPr id="33" name="Rectangle 33"/>
            <p:cNvSpPr/>
            <p:nvPr/>
          </p:nvSpPr>
          <p:spPr>
            <a:xfrm>
              <a:off x="533400" y="4443412"/>
              <a:ext cx="6059805" cy="9525"/>
            </a:xfrm>
            <a:prstGeom prst="rect">
              <a:avLst/>
            </a:prstGeom>
            <a:solidFill>
              <a:srgbClr val="D9DFEA"/>
            </a:solidFill>
            <a:ln>
              <a:noFill/>
            </a:ln>
          </p:spPr>
        </p:sp>
        <p:sp>
          <p:nvSpPr>
            <p:cNvPr id="34" name="TextBox 34"/>
            <p:cNvSpPr txBox="1"/>
            <p:nvPr/>
          </p:nvSpPr>
          <p:spPr>
            <a:xfrm>
              <a:off x="641223" y="4583906"/>
              <a:ext cx="156332" cy="249364"/>
            </a:xfrm>
            <a:prstGeom prst="rect">
              <a:avLst/>
            </a:prstGeom>
            <a:noFill/>
            <a:ln>
              <a:noFill/>
            </a:ln>
          </p:spPr>
          <p:txBody>
            <a:bodyPr wrap="none" lIns="0" tIns="0" rIns="0" bIns="0" anchor="t" anchorCtr="0">
              <a:spAutoFit/>
            </a:bodyPr>
            <a:lstStyle/>
            <a:p>
              <a:pPr algn="l"/>
              <a:r>
                <a:rPr lang="en-US" sz="1280" b="1" dirty="0">
                  <a:solidFill>
                    <a:srgbClr val="1F2937"/>
                  </a:solidFill>
                  <a:latin typeface="+mn-lt"/>
                  <a:ea typeface="+mn-ea"/>
                  <a:cs typeface="+mn-cs"/>
                </a:rPr>
                <a:t>M</a:t>
              </a:r>
            </a:p>
          </p:txBody>
        </p:sp>
        <p:sp>
          <p:nvSpPr>
            <p:cNvPr id="35" name="TextBox 35"/>
            <p:cNvSpPr txBox="1"/>
            <p:nvPr/>
          </p:nvSpPr>
          <p:spPr>
            <a:xfrm>
              <a:off x="1610868" y="4583906"/>
              <a:ext cx="583540" cy="249364"/>
            </a:xfrm>
            <a:prstGeom prst="rect">
              <a:avLst/>
            </a:prstGeom>
            <a:noFill/>
            <a:ln>
              <a:noFill/>
            </a:ln>
          </p:spPr>
          <p:txBody>
            <a:bodyPr wrap="none" lIns="0" tIns="0" rIns="0" bIns="0" anchor="t" anchorCtr="0">
              <a:spAutoFit/>
            </a:bodyPr>
            <a:lstStyle/>
            <a:p>
              <a:pPr algn="l"/>
              <a:r>
                <a:rPr lang="en-US" sz="1280" dirty="0">
                  <a:solidFill>
                    <a:srgbClr val="1F2937"/>
                  </a:solidFill>
                  <a:latin typeface="+mn-lt"/>
                  <a:ea typeface="+mn-ea"/>
                  <a:cs typeface="+mn-cs"/>
                </a:rPr>
                <a:t>RdMiss</a:t>
              </a:r>
            </a:p>
          </p:txBody>
        </p:sp>
        <p:sp>
          <p:nvSpPr>
            <p:cNvPr id="36" name="Rectangle 36"/>
            <p:cNvSpPr/>
            <p:nvPr/>
          </p:nvSpPr>
          <p:spPr>
            <a:xfrm>
              <a:off x="3088005" y="4457700"/>
              <a:ext cx="2526030" cy="429578"/>
            </a:xfrm>
            <a:prstGeom prst="rect">
              <a:avLst/>
            </a:prstGeom>
            <a:solidFill>
              <a:srgbClr val="FDEEE7"/>
            </a:solidFill>
            <a:ln>
              <a:noFill/>
            </a:ln>
          </p:spPr>
        </p:sp>
        <p:sp>
          <p:nvSpPr>
            <p:cNvPr id="37" name="TextBox 37"/>
            <p:cNvSpPr txBox="1"/>
            <p:nvPr/>
          </p:nvSpPr>
          <p:spPr>
            <a:xfrm>
              <a:off x="3186303" y="4583906"/>
              <a:ext cx="2253031"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把块同时传给请求者和存储器</a:t>
              </a:r>
            </a:p>
          </p:txBody>
        </p:sp>
        <p:sp>
          <p:nvSpPr>
            <p:cNvPr id="38" name="TextBox 38"/>
            <p:cNvSpPr txBox="1"/>
            <p:nvPr/>
          </p:nvSpPr>
          <p:spPr>
            <a:xfrm>
              <a:off x="5731383" y="4583906"/>
              <a:ext cx="113091" cy="249364"/>
            </a:xfrm>
            <a:prstGeom prst="rect">
              <a:avLst/>
            </a:prstGeom>
            <a:noFill/>
            <a:ln>
              <a:noFill/>
            </a:ln>
          </p:spPr>
          <p:txBody>
            <a:bodyPr wrap="none" lIns="0" tIns="0" rIns="0" bIns="0" anchor="t" anchorCtr="0">
              <a:spAutoFit/>
            </a:bodyPr>
            <a:lstStyle/>
            <a:p>
              <a:pPr algn="l"/>
              <a:r>
                <a:rPr lang="en-US" sz="1280" dirty="0">
                  <a:solidFill>
                    <a:srgbClr val="1F2937"/>
                  </a:solidFill>
                  <a:latin typeface="+mn-lt"/>
                  <a:ea typeface="+mn-ea"/>
                  <a:cs typeface="+mn-cs"/>
                </a:rPr>
                <a:t>S</a:t>
              </a:r>
            </a:p>
          </p:txBody>
        </p:sp>
        <p:sp>
          <p:nvSpPr>
            <p:cNvPr id="39" name="Rectangle 39"/>
            <p:cNvSpPr/>
            <p:nvPr/>
          </p:nvSpPr>
          <p:spPr>
            <a:xfrm>
              <a:off x="533400" y="4892040"/>
              <a:ext cx="6059805" cy="9525"/>
            </a:xfrm>
            <a:prstGeom prst="rect">
              <a:avLst/>
            </a:prstGeom>
            <a:solidFill>
              <a:srgbClr val="D9DFEA"/>
            </a:solidFill>
            <a:ln>
              <a:noFill/>
            </a:ln>
          </p:spPr>
        </p:sp>
        <p:sp>
          <p:nvSpPr>
            <p:cNvPr id="40" name="Rectangle 40"/>
            <p:cNvSpPr/>
            <p:nvPr/>
          </p:nvSpPr>
          <p:spPr>
            <a:xfrm>
              <a:off x="533400" y="4896802"/>
              <a:ext cx="6059805" cy="448628"/>
            </a:xfrm>
            <a:prstGeom prst="rect">
              <a:avLst/>
            </a:prstGeom>
            <a:solidFill>
              <a:srgbClr val="F4F6FB"/>
            </a:solidFill>
            <a:ln>
              <a:noFill/>
            </a:ln>
          </p:spPr>
        </p:sp>
        <p:sp>
          <p:nvSpPr>
            <p:cNvPr id="41" name="TextBox 41"/>
            <p:cNvSpPr txBox="1"/>
            <p:nvPr/>
          </p:nvSpPr>
          <p:spPr>
            <a:xfrm>
              <a:off x="641223" y="5032534"/>
              <a:ext cx="156332" cy="249364"/>
            </a:xfrm>
            <a:prstGeom prst="rect">
              <a:avLst/>
            </a:prstGeom>
            <a:noFill/>
            <a:ln>
              <a:noFill/>
            </a:ln>
          </p:spPr>
          <p:txBody>
            <a:bodyPr wrap="none" lIns="0" tIns="0" rIns="0" bIns="0" anchor="t" anchorCtr="0">
              <a:spAutoFit/>
            </a:bodyPr>
            <a:lstStyle/>
            <a:p>
              <a:pPr algn="l"/>
              <a:r>
                <a:rPr lang="en-US" sz="1280" b="1" dirty="0">
                  <a:solidFill>
                    <a:srgbClr val="1F2937"/>
                  </a:solidFill>
                  <a:latin typeface="+mn-lt"/>
                  <a:ea typeface="+mn-ea"/>
                  <a:cs typeface="+mn-cs"/>
                </a:rPr>
                <a:t>M</a:t>
              </a:r>
            </a:p>
          </p:txBody>
        </p:sp>
        <p:sp>
          <p:nvSpPr>
            <p:cNvPr id="42" name="TextBox 42"/>
            <p:cNvSpPr txBox="1"/>
            <p:nvPr/>
          </p:nvSpPr>
          <p:spPr>
            <a:xfrm>
              <a:off x="1610868" y="5032534"/>
              <a:ext cx="618653" cy="249364"/>
            </a:xfrm>
            <a:prstGeom prst="rect">
              <a:avLst/>
            </a:prstGeom>
            <a:noFill/>
            <a:ln>
              <a:noFill/>
            </a:ln>
          </p:spPr>
          <p:txBody>
            <a:bodyPr wrap="none" lIns="0" tIns="0" rIns="0" bIns="0" anchor="t" anchorCtr="0">
              <a:spAutoFit/>
            </a:bodyPr>
            <a:lstStyle/>
            <a:p>
              <a:pPr algn="l"/>
              <a:r>
                <a:rPr lang="en-US" sz="1280" dirty="0">
                  <a:solidFill>
                    <a:srgbClr val="1F2937"/>
                  </a:solidFill>
                  <a:latin typeface="+mn-lt"/>
                  <a:ea typeface="+mn-ea"/>
                  <a:cs typeface="+mn-cs"/>
                </a:rPr>
                <a:t>WtMiss</a:t>
              </a:r>
            </a:p>
          </p:txBody>
        </p:sp>
        <p:sp>
          <p:nvSpPr>
            <p:cNvPr id="43" name="TextBox 43"/>
            <p:cNvSpPr txBox="1"/>
            <p:nvPr/>
          </p:nvSpPr>
          <p:spPr>
            <a:xfrm>
              <a:off x="3186303" y="5032534"/>
              <a:ext cx="1219149"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把块传给请求者</a:t>
              </a:r>
            </a:p>
          </p:txBody>
        </p:sp>
        <p:sp>
          <p:nvSpPr>
            <p:cNvPr id="44" name="TextBox 44"/>
            <p:cNvSpPr txBox="1"/>
            <p:nvPr/>
          </p:nvSpPr>
          <p:spPr>
            <a:xfrm>
              <a:off x="5731383" y="5032534"/>
              <a:ext cx="67574" cy="249364"/>
            </a:xfrm>
            <a:prstGeom prst="rect">
              <a:avLst/>
            </a:prstGeom>
            <a:noFill/>
            <a:ln>
              <a:noFill/>
            </a:ln>
          </p:spPr>
          <p:txBody>
            <a:bodyPr wrap="none" lIns="0" tIns="0" rIns="0" bIns="0" anchor="t" anchorCtr="0">
              <a:spAutoFit/>
            </a:bodyPr>
            <a:lstStyle/>
            <a:p>
              <a:pPr algn="l"/>
              <a:r>
                <a:rPr lang="en-US" sz="1280" dirty="0">
                  <a:solidFill>
                    <a:srgbClr val="1F2937"/>
                  </a:solidFill>
                  <a:latin typeface="+mn-lt"/>
                  <a:ea typeface="+mn-ea"/>
                  <a:cs typeface="+mn-cs"/>
                </a:rPr>
                <a:t>I</a:t>
              </a:r>
            </a:p>
          </p:txBody>
        </p:sp>
        <p:sp>
          <p:nvSpPr>
            <p:cNvPr id="45" name="Rectangle 45"/>
            <p:cNvSpPr/>
            <p:nvPr/>
          </p:nvSpPr>
          <p:spPr>
            <a:xfrm>
              <a:off x="533400" y="5340668"/>
              <a:ext cx="6059805" cy="9525"/>
            </a:xfrm>
            <a:prstGeom prst="rect">
              <a:avLst/>
            </a:prstGeom>
            <a:solidFill>
              <a:srgbClr val="D9DFEA"/>
            </a:solidFill>
            <a:ln>
              <a:noFill/>
            </a:ln>
          </p:spPr>
        </p:sp>
        <p:sp>
          <p:nvSpPr>
            <p:cNvPr id="46" name="TextBox 46"/>
            <p:cNvSpPr txBox="1"/>
            <p:nvPr/>
          </p:nvSpPr>
          <p:spPr>
            <a:xfrm>
              <a:off x="641223" y="5594509"/>
              <a:ext cx="156332" cy="249364"/>
            </a:xfrm>
            <a:prstGeom prst="rect">
              <a:avLst/>
            </a:prstGeom>
            <a:noFill/>
            <a:ln>
              <a:noFill/>
            </a:ln>
          </p:spPr>
          <p:txBody>
            <a:bodyPr wrap="none" lIns="0" tIns="0" rIns="0" bIns="0" anchor="t" anchorCtr="0">
              <a:spAutoFit/>
            </a:bodyPr>
            <a:lstStyle/>
            <a:p>
              <a:pPr algn="l"/>
              <a:r>
                <a:rPr lang="en-US" sz="1280" b="1" dirty="0">
                  <a:solidFill>
                    <a:srgbClr val="1F2937"/>
                  </a:solidFill>
                  <a:latin typeface="+mn-lt"/>
                  <a:ea typeface="+mn-ea"/>
                  <a:cs typeface="+mn-cs"/>
                </a:rPr>
                <a:t>M</a:t>
              </a:r>
            </a:p>
          </p:txBody>
        </p:sp>
        <p:sp>
          <p:nvSpPr>
            <p:cNvPr id="47" name="TextBox 47"/>
            <p:cNvSpPr txBox="1"/>
            <p:nvPr/>
          </p:nvSpPr>
          <p:spPr>
            <a:xfrm>
              <a:off x="1610868" y="5594509"/>
              <a:ext cx="836077" cy="249364"/>
            </a:xfrm>
            <a:prstGeom prst="rect">
              <a:avLst/>
            </a:prstGeom>
            <a:noFill/>
            <a:ln>
              <a:noFill/>
            </a:ln>
          </p:spPr>
          <p:txBody>
            <a:bodyPr wrap="none" lIns="0" tIns="0" rIns="0" bIns="0" anchor="t" anchorCtr="0">
              <a:spAutoFit/>
            </a:bodyPr>
            <a:lstStyle/>
            <a:p>
              <a:pPr algn="l"/>
              <a:r>
                <a:rPr lang="en-US" sz="1280" dirty="0">
                  <a:solidFill>
                    <a:srgbClr val="1F2937"/>
                  </a:solidFill>
                  <a:latin typeface="+mn-lt"/>
                  <a:ea typeface="+mn-ea"/>
                  <a:cs typeface="+mn-cs"/>
                </a:rPr>
                <a:t>Invalidate</a:t>
              </a:r>
            </a:p>
          </p:txBody>
        </p:sp>
        <p:sp>
          <p:nvSpPr>
            <p:cNvPr id="48" name="TextBox 48"/>
            <p:cNvSpPr txBox="1"/>
            <p:nvPr/>
          </p:nvSpPr>
          <p:spPr>
            <a:xfrm>
              <a:off x="3186303" y="5481161"/>
              <a:ext cx="2134362" cy="476059"/>
            </a:xfrm>
            <a:prstGeom prst="rect">
              <a:avLst/>
            </a:prstGeom>
            <a:noFill/>
            <a:ln>
              <a:noFill/>
            </a:ln>
          </p:spPr>
          <p:txBody>
            <a:bodyPr wrap="none" lIns="0" tIns="0" rIns="0" bIns="0" anchor="t" anchorCtr="0">
              <a:spAutoFit/>
            </a:bodyPr>
            <a:lstStyle/>
            <a:p>
              <a:pPr algn="l">
                <a:lnSpc>
                  <a:spcPts val="1785"/>
                </a:lnSpc>
              </a:pPr>
              <a:r>
                <a:rPr lang="zh-CN" sz="1280" dirty="0">
                  <a:solidFill>
                    <a:srgbClr val="1F2937"/>
                  </a:solidFill>
                  <a:latin typeface="+mn-lt"/>
                  <a:ea typeface="+mn-ea"/>
                  <a:cs typeface="+mn-cs"/>
                </a:rPr>
                <a:t>不可能：M 是唯一副本，别人</a:t>
              </a:r>
              <a:br/>
              <a:r>
                <a:rPr lang="zh-CN" sz="1280" dirty="0">
                  <a:solidFill>
                    <a:srgbClr val="1F2937"/>
                  </a:solidFill>
                  <a:latin typeface="+mn-lt"/>
                  <a:ea typeface="+mn-ea"/>
                  <a:cs typeface="+mn-cs"/>
                </a:rPr>
                <a:t>没有 S 副本可写</a:t>
              </a:r>
            </a:p>
          </p:txBody>
        </p:sp>
        <p:sp>
          <p:nvSpPr>
            <p:cNvPr id="49" name="TextBox 49"/>
            <p:cNvSpPr txBox="1"/>
            <p:nvPr/>
          </p:nvSpPr>
          <p:spPr>
            <a:xfrm>
              <a:off x="5731383" y="5594509"/>
              <a:ext cx="107726"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a:t>
              </a:r>
            </a:p>
          </p:txBody>
        </p:sp>
        <p:sp>
          <p:nvSpPr>
            <p:cNvPr id="50" name="Rectangle 50"/>
            <p:cNvSpPr/>
            <p:nvPr/>
          </p:nvSpPr>
          <p:spPr>
            <a:xfrm>
              <a:off x="533400" y="1524000"/>
              <a:ext cx="6059805" cy="4497705"/>
            </a:xfrm>
            <a:prstGeom prst="rect">
              <a:avLst/>
            </a:prstGeom>
            <a:noFill/>
            <a:ln w="14288">
              <a:solidFill>
                <a:srgbClr val="D9DFEA"/>
              </a:solidFill>
            </a:ln>
          </p:spPr>
        </p:sp>
        <p:sp>
          <p:nvSpPr>
            <p:cNvPr id="51" name="Rectangle 51"/>
            <p:cNvSpPr/>
            <p:nvPr/>
          </p:nvSpPr>
          <p:spPr>
            <a:xfrm>
              <a:off x="1498282" y="1524000"/>
              <a:ext cx="9525" cy="4497705"/>
            </a:xfrm>
            <a:prstGeom prst="rect">
              <a:avLst/>
            </a:prstGeom>
            <a:solidFill>
              <a:srgbClr val="D9DFEA"/>
            </a:solidFill>
            <a:ln>
              <a:noFill/>
            </a:ln>
          </p:spPr>
        </p:sp>
        <p:sp>
          <p:nvSpPr>
            <p:cNvPr id="52" name="Rectangle 52"/>
            <p:cNvSpPr/>
            <p:nvPr/>
          </p:nvSpPr>
          <p:spPr>
            <a:xfrm>
              <a:off x="3073718" y="1524000"/>
              <a:ext cx="9525" cy="4497705"/>
            </a:xfrm>
            <a:prstGeom prst="rect">
              <a:avLst/>
            </a:prstGeom>
            <a:solidFill>
              <a:srgbClr val="D9DFEA"/>
            </a:solidFill>
            <a:ln>
              <a:noFill/>
            </a:ln>
          </p:spPr>
        </p:sp>
        <p:sp>
          <p:nvSpPr>
            <p:cNvPr id="53" name="Rectangle 53"/>
            <p:cNvSpPr/>
            <p:nvPr/>
          </p:nvSpPr>
          <p:spPr>
            <a:xfrm>
              <a:off x="5618798" y="1524000"/>
              <a:ext cx="9525" cy="4497705"/>
            </a:xfrm>
            <a:prstGeom prst="rect">
              <a:avLst/>
            </a:prstGeom>
            <a:solidFill>
              <a:srgbClr val="D9DFEA"/>
            </a:solidFill>
            <a:ln>
              <a:noFill/>
            </a:ln>
          </p:spPr>
        </p:sp>
        <p:sp>
          <p:nvSpPr>
            <p:cNvPr id="54" name="TextBox 54"/>
            <p:cNvSpPr txBox="1"/>
            <p:nvPr/>
          </p:nvSpPr>
          <p:spPr>
            <a:xfrm>
              <a:off x="527685" y="6097429"/>
              <a:ext cx="3537730" cy="220028"/>
            </a:xfrm>
            <a:prstGeom prst="rect">
              <a:avLst/>
            </a:prstGeom>
            <a:noFill/>
            <a:ln>
              <a:noFill/>
            </a:ln>
          </p:spPr>
          <p:txBody>
            <a:bodyPr wrap="none" lIns="0" tIns="0" rIns="0" bIns="0" anchor="t" anchorCtr="0">
              <a:spAutoFit/>
            </a:bodyPr>
            <a:lstStyle/>
            <a:p>
              <a:pPr algn="l"/>
              <a:r>
                <a:rPr lang="zh-CN" sz="1120" dirty="0">
                  <a:solidFill>
                    <a:srgbClr val="5B6475"/>
                  </a:solidFill>
                  <a:latin typeface="+mn-lt"/>
                  <a:ea typeface="+mn-ea"/>
                  <a:cs typeface="+mn-cs"/>
                </a:rPr>
                <a:t>别的 Cache 的读命中、写命中不上总线，这里看不到</a:t>
              </a:r>
            </a:p>
          </p:txBody>
        </p:sp>
      </p:grpSp>
      <p:grpSp>
        <p:nvGrpSpPr>
          <p:cNvPr id="69" name="c2-card-1"/>
          <p:cNvGrpSpPr/>
          <p:nvPr/>
        </p:nvGrpSpPr>
        <p:grpSpPr>
          <a:xfrm>
            <a:off x="6898005" y="1524000"/>
            <a:ext cx="4760595" cy="4749165"/>
            <a:chOff x="6898005" y="1524000"/>
            <a:chExt cx="4760595" cy="4749165"/>
          </a:xfrm>
        </p:grpSpPr>
        <p:sp>
          <p:nvSpPr>
            <p:cNvPr id="56" name="Rectangle 56"/>
            <p:cNvSpPr/>
            <p:nvPr/>
          </p:nvSpPr>
          <p:spPr>
            <a:xfrm>
              <a:off x="6898005" y="1524000"/>
              <a:ext cx="4760595" cy="4749165"/>
            </a:xfrm>
            <a:prstGeom prst="roundRect">
              <a:avLst>
                <a:gd name="adj" fmla="val 2808"/>
              </a:avLst>
            </a:prstGeom>
            <a:solidFill>
              <a:srgbClr val="334E68"/>
            </a:solidFill>
            <a:ln>
              <a:noFill/>
            </a:ln>
          </p:spPr>
        </p:sp>
        <p:sp>
          <p:nvSpPr>
            <p:cNvPr id="57" name="Rectangle 57"/>
            <p:cNvSpPr/>
            <p:nvPr/>
          </p:nvSpPr>
          <p:spPr>
            <a:xfrm>
              <a:off x="7107555" y="1733550"/>
              <a:ext cx="1204912" cy="257175"/>
            </a:xfrm>
            <a:prstGeom prst="roundRect">
              <a:avLst>
                <a:gd name="adj" fmla="val 50000"/>
              </a:avLst>
            </a:prstGeom>
            <a:solidFill>
              <a:srgbClr val="243B53"/>
            </a:solidFill>
            <a:ln>
              <a:noFill/>
            </a:ln>
          </p:spPr>
        </p:sp>
        <p:sp>
          <p:nvSpPr>
            <p:cNvPr id="58" name="TextBox 58"/>
            <p:cNvSpPr txBox="1"/>
            <p:nvPr/>
          </p:nvSpPr>
          <p:spPr>
            <a:xfrm>
              <a:off x="7176110" y="1769269"/>
              <a:ext cx="1066851"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监听式协议小结</a:t>
              </a:r>
            </a:p>
          </p:txBody>
        </p:sp>
        <p:sp>
          <p:nvSpPr>
            <p:cNvPr id="59" name="Ellipse 59"/>
            <p:cNvSpPr/>
            <p:nvPr/>
          </p:nvSpPr>
          <p:spPr>
            <a:xfrm>
              <a:off x="7113270" y="2173605"/>
              <a:ext cx="64770" cy="64770"/>
            </a:xfrm>
            <a:prstGeom prst="ellipse">
              <a:avLst/>
            </a:prstGeom>
            <a:solidFill>
              <a:srgbClr val="FFFFFF"/>
            </a:solidFill>
            <a:ln>
              <a:noFill/>
            </a:ln>
          </p:spPr>
        </p:sp>
        <p:sp>
          <p:nvSpPr>
            <p:cNvPr id="60" name="TextBox 60"/>
            <p:cNvSpPr txBox="1"/>
            <p:nvPr/>
          </p:nvSpPr>
          <p:spPr>
            <a:xfrm>
              <a:off x="7271385" y="2110740"/>
              <a:ext cx="3844290"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FFFFFF"/>
                  </a:solidFill>
                  <a:latin typeface="+mn-lt"/>
                  <a:ea typeface="+mn-ea"/>
                  <a:cs typeface="+mn-cs"/>
                </a:rPr>
                <a:t>两种情况把块写回存储器：M 块被替换；M 变</a:t>
              </a:r>
              <a:br/>
              <a:r>
                <a:rPr lang="zh-CN" sz="1500" dirty="0">
                  <a:solidFill>
                    <a:srgbClr val="FFFFFF"/>
                  </a:solidFill>
                  <a:latin typeface="+mn-lt"/>
                  <a:ea typeface="+mn-ea"/>
                  <a:cs typeface="+mn-cs"/>
                </a:rPr>
                <a:t>S 之前</a:t>
              </a:r>
            </a:p>
          </p:txBody>
        </p:sp>
        <p:sp>
          <p:nvSpPr>
            <p:cNvPr id="61" name="Ellipse 61"/>
            <p:cNvSpPr/>
            <p:nvPr/>
          </p:nvSpPr>
          <p:spPr>
            <a:xfrm>
              <a:off x="7113270" y="2794635"/>
              <a:ext cx="64770" cy="64770"/>
            </a:xfrm>
            <a:prstGeom prst="ellipse">
              <a:avLst/>
            </a:prstGeom>
            <a:solidFill>
              <a:srgbClr val="FFFFFF"/>
            </a:solidFill>
            <a:ln>
              <a:noFill/>
            </a:ln>
          </p:spPr>
        </p:sp>
        <p:sp>
          <p:nvSpPr>
            <p:cNvPr id="62" name="TextBox 62"/>
            <p:cNvSpPr txBox="1"/>
            <p:nvPr/>
          </p:nvSpPr>
          <p:spPr>
            <a:xfrm>
              <a:off x="7271385" y="2731770"/>
              <a:ext cx="3834765"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FFFFFF"/>
                  </a:solidFill>
                  <a:latin typeface="+mn-lt"/>
                  <a:ea typeface="+mn-ea"/>
                  <a:cs typeface="+mn-cs"/>
                </a:rPr>
                <a:t>两种情况作废本地副本：收到 Invalidate；收</a:t>
              </a:r>
              <a:br/>
              <a:r>
                <a:rPr lang="zh-CN" sz="1500" dirty="0">
                  <a:solidFill>
                    <a:srgbClr val="FFFFFF"/>
                  </a:solidFill>
                  <a:latin typeface="+mn-lt"/>
                  <a:ea typeface="+mn-ea"/>
                  <a:cs typeface="+mn-cs"/>
                </a:rPr>
                <a:t>到 WtMiss</a:t>
              </a:r>
            </a:p>
          </p:txBody>
        </p:sp>
        <p:sp>
          <p:nvSpPr>
            <p:cNvPr id="63" name="Ellipse 63"/>
            <p:cNvSpPr/>
            <p:nvPr/>
          </p:nvSpPr>
          <p:spPr>
            <a:xfrm>
              <a:off x="7113270" y="3415665"/>
              <a:ext cx="64770" cy="64770"/>
            </a:xfrm>
            <a:prstGeom prst="ellipse">
              <a:avLst/>
            </a:prstGeom>
            <a:solidFill>
              <a:srgbClr val="FFFFFF"/>
            </a:solidFill>
            <a:ln>
              <a:noFill/>
            </a:ln>
          </p:spPr>
        </p:sp>
        <p:sp>
          <p:nvSpPr>
            <p:cNvPr id="64" name="TextBox 64"/>
            <p:cNvSpPr txBox="1"/>
            <p:nvPr/>
          </p:nvSpPr>
          <p:spPr>
            <a:xfrm>
              <a:off x="7271385" y="3352800"/>
              <a:ext cx="3891915"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FFFFFF"/>
                  </a:solidFill>
                  <a:latin typeface="+mn-lt"/>
                  <a:ea typeface="+mn-ea"/>
                  <a:cs typeface="+mn-cs"/>
                </a:rPr>
                <a:t>调入新块时优先从远程 Cache 调，没有才从存</a:t>
              </a:r>
              <a:br/>
              <a:r>
                <a:rPr lang="zh-CN" sz="1500" dirty="0">
                  <a:solidFill>
                    <a:srgbClr val="FFFFFF"/>
                  </a:solidFill>
                  <a:latin typeface="+mn-lt"/>
                  <a:ea typeface="+mn-ea"/>
                  <a:cs typeface="+mn-cs"/>
                </a:rPr>
                <a:t>储器调；多个 Cache 都有 S 副本时要竞争</a:t>
              </a:r>
            </a:p>
          </p:txBody>
        </p:sp>
        <p:sp>
          <p:nvSpPr>
            <p:cNvPr id="65" name="Ellipse 65"/>
            <p:cNvSpPr/>
            <p:nvPr/>
          </p:nvSpPr>
          <p:spPr>
            <a:xfrm>
              <a:off x="7113270" y="4036695"/>
              <a:ext cx="64770" cy="64770"/>
            </a:xfrm>
            <a:prstGeom prst="ellipse">
              <a:avLst/>
            </a:prstGeom>
            <a:solidFill>
              <a:srgbClr val="FFFFFF"/>
            </a:solidFill>
            <a:ln>
              <a:noFill/>
            </a:ln>
          </p:spPr>
        </p:sp>
        <p:sp>
          <p:nvSpPr>
            <p:cNvPr id="66" name="TextBox 66"/>
            <p:cNvSpPr txBox="1"/>
            <p:nvPr/>
          </p:nvSpPr>
          <p:spPr>
            <a:xfrm>
              <a:off x="7271385" y="3973830"/>
              <a:ext cx="3891915"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FFFFFF"/>
                  </a:solidFill>
                  <a:latin typeface="+mn-lt"/>
                  <a:ea typeface="+mn-ea"/>
                  <a:cs typeface="+mn-cs"/>
                </a:rPr>
                <a:t>直接利用系统中已有的总线和 Cache 状态位，</a:t>
              </a:r>
              <a:br/>
              <a:r>
                <a:rPr lang="zh-CN" sz="1500" dirty="0">
                  <a:solidFill>
                    <a:srgbClr val="FFFFFF"/>
                  </a:solidFill>
                  <a:latin typeface="+mn-lt"/>
                  <a:ea typeface="+mn-ea"/>
                  <a:cs typeface="+mn-cs"/>
                </a:rPr>
                <a:t>实现容易、成本低</a:t>
              </a:r>
            </a:p>
          </p:txBody>
        </p:sp>
        <p:sp>
          <p:nvSpPr>
            <p:cNvPr id="67" name="Ellipse 67"/>
            <p:cNvSpPr/>
            <p:nvPr/>
          </p:nvSpPr>
          <p:spPr>
            <a:xfrm>
              <a:off x="7113270" y="4657725"/>
              <a:ext cx="64770" cy="64770"/>
            </a:xfrm>
            <a:prstGeom prst="ellipse">
              <a:avLst/>
            </a:prstGeom>
            <a:solidFill>
              <a:srgbClr val="FFFFFF"/>
            </a:solidFill>
            <a:ln>
              <a:noFill/>
            </a:ln>
          </p:spPr>
        </p:sp>
        <p:sp>
          <p:nvSpPr>
            <p:cNvPr id="68" name="TextBox 68"/>
            <p:cNvSpPr txBox="1"/>
            <p:nvPr/>
          </p:nvSpPr>
          <p:spPr>
            <a:xfrm>
              <a:off x="7271385" y="4594860"/>
              <a:ext cx="3958590"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FFFFFF"/>
                  </a:solidFill>
                  <a:latin typeface="+mn-lt"/>
                  <a:ea typeface="+mn-ea"/>
                  <a:cs typeface="+mn-cs"/>
                </a:rPr>
                <a:t>一个 Cache 广播、其他 Cache 监听，规模变大</a:t>
              </a:r>
              <a:br/>
              <a:r>
                <a:rPr lang="zh-CN" sz="1500" dirty="0">
                  <a:solidFill>
                    <a:srgbClr val="FFFFFF"/>
                  </a:solidFill>
                  <a:latin typeface="+mn-lt"/>
                  <a:ea typeface="+mn-ea"/>
                  <a:cs typeface="+mn-cs"/>
                </a:rPr>
                <a:t>后广播成为瓶颈，可扩放性差</a:t>
              </a:r>
            </a:p>
          </p:txBody>
        </p:sp>
      </p:grpSp>
      <p:grpSp>
        <p:nvGrpSpPr>
          <p:cNvPr id="72" name="footer"/>
          <p:cNvGrpSpPr/>
          <p:nvPr/>
        </p:nvGrpSpPr>
        <p:grpSpPr>
          <a:xfrm>
            <a:off x="528447" y="6581299"/>
            <a:ext cx="11135106" cy="190690"/>
            <a:chOff x="528447" y="6581299"/>
            <a:chExt cx="11135106" cy="190690"/>
          </a:xfrm>
        </p:grpSpPr>
        <p:sp>
          <p:nvSpPr>
            <p:cNvPr id="70" name="TextBox 70"/>
            <p:cNvSpPr txBox="1"/>
            <p:nvPr/>
          </p:nvSpPr>
          <p:spPr>
            <a:xfrm>
              <a:off x="528447" y="6581299"/>
              <a:ext cx="2120748"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并行与分布式计算 · 第7章 体系结构</a:t>
              </a:r>
            </a:p>
          </p:txBody>
        </p:sp>
        <p:sp>
          <p:nvSpPr>
            <p:cNvPr id="71" name="TextBox 71"/>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25</a:t>
              </a:r>
            </a:p>
          </p:txBody>
        </p:sp>
      </p:grpSp>
    </p:spTree>
  </p:cSld>
  <p:clrMapOvr>
    <a:masterClrMapping/>
  </p:clrMapOvr>
  <p:transition xmlns:p14="http://schemas.microsoft.com/office/powerpoint/2010/main" p14:dur="400">
    <p:fade/>
  </p:transition>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7327948" cy="909257"/>
            <a:chOff x="520446" y="342900"/>
            <a:chExt cx="7327948" cy="909257"/>
          </a:xfrm>
        </p:grpSpPr>
        <p:sp>
          <p:nvSpPr>
            <p:cNvPr id="2" name="Rectangle 2"/>
            <p:cNvSpPr/>
            <p:nvPr/>
          </p:nvSpPr>
          <p:spPr>
            <a:xfrm>
              <a:off x="533400" y="342900"/>
              <a:ext cx="2586038" cy="266700"/>
            </a:xfrm>
            <a:prstGeom prst="roundRect">
              <a:avLst>
                <a:gd name="adj" fmla="val 50000"/>
              </a:avLst>
            </a:prstGeom>
            <a:solidFill>
              <a:srgbClr val="E7EDF3"/>
            </a:solidFill>
            <a:ln>
              <a:noFill/>
            </a:ln>
          </p:spPr>
        </p:sp>
        <p:sp>
          <p:nvSpPr>
            <p:cNvPr id="3" name="TextBox 3"/>
            <p:cNvSpPr txBox="1"/>
            <p:nvPr/>
          </p:nvSpPr>
          <p:spPr>
            <a:xfrm>
              <a:off x="587464" y="407194"/>
              <a:ext cx="2476957"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第7章 体系结构 · Cache 一致性问题</a:t>
              </a:r>
            </a:p>
          </p:txBody>
        </p:sp>
        <p:sp>
          <p:nvSpPr>
            <p:cNvPr id="4" name="TextBox 4"/>
            <p:cNvSpPr txBox="1"/>
            <p:nvPr/>
          </p:nvSpPr>
          <p:spPr>
            <a:xfrm>
              <a:off x="520446" y="753428"/>
              <a:ext cx="7327948"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MSI 状态转换图：左边响应 CPU，右边响应总线</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38" name="c1-graph-1"/>
          <p:cNvGrpSpPr/>
          <p:nvPr/>
        </p:nvGrpSpPr>
        <p:grpSpPr>
          <a:xfrm>
            <a:off x="1056322" y="1441609"/>
            <a:ext cx="4868567" cy="3568255"/>
            <a:chOff x="1056322" y="1441609"/>
            <a:chExt cx="4868567" cy="3568255"/>
          </a:xfrm>
        </p:grpSpPr>
        <p:sp>
          <p:nvSpPr>
            <p:cNvPr id="7" name="Freeform 7"/>
            <p:cNvSpPr/>
            <p:nvPr/>
          </p:nvSpPr>
          <p:spPr>
            <a:xfrm>
              <a:off x="1751648" y="2356485"/>
              <a:ext cx="2878455" cy="9525"/>
            </a:xfrm>
            <a:custGeom>
              <a:avLst/>
              <a:gdLst/>
              <a:ahLst/>
              <a:cxnLst/>
              <a:rect l="l" t="t" r="r" b="b"/>
              <a:pathLst>
                <a:path w="2878455" h="9525">
                  <a:moveTo>
                    <a:pt x="0" y="0"/>
                  </a:moveTo>
                  <a:lnTo>
                    <a:pt x="2878455" y="0"/>
                  </a:lnTo>
                </a:path>
              </a:pathLst>
            </a:custGeom>
            <a:noFill/>
            <a:ln w="17145">
              <a:solidFill>
                <a:srgbClr val="1F2937"/>
              </a:solidFill>
            </a:ln>
          </p:spPr>
        </p:sp>
        <p:sp>
          <p:nvSpPr>
            <p:cNvPr id="8" name="Freeform 8"/>
            <p:cNvSpPr/>
            <p:nvPr/>
          </p:nvSpPr>
          <p:spPr>
            <a:xfrm>
              <a:off x="4630102" y="2308860"/>
              <a:ext cx="95250" cy="95250"/>
            </a:xfrm>
            <a:custGeom>
              <a:avLst/>
              <a:gdLst/>
              <a:ahLst/>
              <a:cxnLst/>
              <a:rect l="l" t="t" r="r" b="b"/>
              <a:pathLst>
                <a:path w="95250" h="95250">
                  <a:moveTo>
                    <a:pt x="95250" y="47625"/>
                  </a:moveTo>
                  <a:lnTo>
                    <a:pt x="0" y="95250"/>
                  </a:lnTo>
                  <a:lnTo>
                    <a:pt x="0" y="0"/>
                  </a:lnTo>
                  <a:close/>
                </a:path>
              </a:pathLst>
            </a:custGeom>
            <a:solidFill>
              <a:srgbClr val="1F2937"/>
            </a:solidFill>
            <a:ln>
              <a:noFill/>
            </a:ln>
          </p:spPr>
        </p:sp>
        <p:sp>
          <p:nvSpPr>
            <p:cNvPr id="9" name="Freeform 9"/>
            <p:cNvSpPr/>
            <p:nvPr/>
          </p:nvSpPr>
          <p:spPr>
            <a:xfrm>
              <a:off x="1660208" y="2592705"/>
              <a:ext cx="1245870" cy="1126808"/>
            </a:xfrm>
            <a:custGeom>
              <a:avLst/>
              <a:gdLst/>
              <a:ahLst/>
              <a:cxnLst/>
              <a:rect l="l" t="t" r="r" b="b"/>
              <a:pathLst>
                <a:path w="1245870" h="1126808">
                  <a:moveTo>
                    <a:pt x="0" y="0"/>
                  </a:moveTo>
                  <a:lnTo>
                    <a:pt x="1245870" y="1126808"/>
                  </a:lnTo>
                </a:path>
              </a:pathLst>
            </a:custGeom>
            <a:noFill/>
            <a:ln w="17145">
              <a:solidFill>
                <a:srgbClr val="1F2937"/>
              </a:solidFill>
            </a:ln>
          </p:spPr>
        </p:sp>
        <p:sp>
          <p:nvSpPr>
            <p:cNvPr id="10" name="Freeform 10"/>
            <p:cNvSpPr/>
            <p:nvPr/>
          </p:nvSpPr>
          <p:spPr>
            <a:xfrm>
              <a:off x="2874645" y="3684270"/>
              <a:ext cx="102870" cy="100012"/>
            </a:xfrm>
            <a:custGeom>
              <a:avLst/>
              <a:gdLst/>
              <a:ahLst/>
              <a:cxnLst/>
              <a:rect l="l" t="t" r="r" b="b"/>
              <a:pathLst>
                <a:path w="102870" h="100012">
                  <a:moveTo>
                    <a:pt x="102870" y="100012"/>
                  </a:moveTo>
                  <a:lnTo>
                    <a:pt x="0" y="71438"/>
                  </a:lnTo>
                  <a:lnTo>
                    <a:pt x="63817" y="0"/>
                  </a:lnTo>
                  <a:close/>
                </a:path>
              </a:pathLst>
            </a:custGeom>
            <a:solidFill>
              <a:srgbClr val="1F2937"/>
            </a:solidFill>
            <a:ln>
              <a:noFill/>
            </a:ln>
          </p:spPr>
        </p:sp>
        <p:sp>
          <p:nvSpPr>
            <p:cNvPr id="11" name="Freeform 11"/>
            <p:cNvSpPr/>
            <p:nvPr/>
          </p:nvSpPr>
          <p:spPr>
            <a:xfrm>
              <a:off x="3570922" y="2592705"/>
              <a:ext cx="1245870" cy="1126808"/>
            </a:xfrm>
            <a:custGeom>
              <a:avLst/>
              <a:gdLst/>
              <a:ahLst/>
              <a:cxnLst/>
              <a:rect l="l" t="t" r="r" b="b"/>
              <a:pathLst>
                <a:path w="1245870" h="1126808">
                  <a:moveTo>
                    <a:pt x="1245870" y="0"/>
                  </a:moveTo>
                  <a:lnTo>
                    <a:pt x="0" y="1126808"/>
                  </a:lnTo>
                </a:path>
              </a:pathLst>
            </a:custGeom>
            <a:noFill/>
            <a:ln w="17145">
              <a:solidFill>
                <a:srgbClr val="1F2937"/>
              </a:solidFill>
            </a:ln>
          </p:spPr>
        </p:sp>
        <p:sp>
          <p:nvSpPr>
            <p:cNvPr id="12" name="Freeform 12"/>
            <p:cNvSpPr/>
            <p:nvPr/>
          </p:nvSpPr>
          <p:spPr>
            <a:xfrm>
              <a:off x="3499485" y="3684270"/>
              <a:ext cx="102870" cy="100012"/>
            </a:xfrm>
            <a:custGeom>
              <a:avLst/>
              <a:gdLst/>
              <a:ahLst/>
              <a:cxnLst/>
              <a:rect l="l" t="t" r="r" b="b"/>
              <a:pathLst>
                <a:path w="102870" h="100012">
                  <a:moveTo>
                    <a:pt x="0" y="100012"/>
                  </a:moveTo>
                  <a:lnTo>
                    <a:pt x="39053" y="0"/>
                  </a:lnTo>
                  <a:lnTo>
                    <a:pt x="102870" y="71438"/>
                  </a:lnTo>
                  <a:close/>
                </a:path>
              </a:pathLst>
            </a:custGeom>
            <a:solidFill>
              <a:srgbClr val="1F2937"/>
            </a:solidFill>
            <a:ln>
              <a:noFill/>
            </a:ln>
          </p:spPr>
        </p:sp>
        <p:sp>
          <p:nvSpPr>
            <p:cNvPr id="13" name="Freeform 13"/>
            <p:cNvSpPr/>
            <p:nvPr/>
          </p:nvSpPr>
          <p:spPr>
            <a:xfrm>
              <a:off x="3553778" y="2734628"/>
              <a:ext cx="1285875" cy="1128712"/>
            </a:xfrm>
            <a:custGeom>
              <a:avLst/>
              <a:gdLst/>
              <a:ahLst/>
              <a:cxnLst/>
              <a:rect l="l" t="t" r="r" b="b"/>
              <a:pathLst>
                <a:path w="1285875" h="1128712">
                  <a:moveTo>
                    <a:pt x="0" y="1128712"/>
                  </a:moveTo>
                  <a:cubicBezTo>
                    <a:pt x="558165" y="850583"/>
                    <a:pt x="986790" y="474345"/>
                    <a:pt x="1285875" y="0"/>
                  </a:cubicBezTo>
                </a:path>
              </a:pathLst>
            </a:custGeom>
            <a:noFill/>
            <a:ln w="17145">
              <a:solidFill>
                <a:srgbClr val="1F2937"/>
              </a:solidFill>
            </a:ln>
          </p:spPr>
        </p:sp>
        <p:sp>
          <p:nvSpPr>
            <p:cNvPr id="14" name="Freeform 14"/>
            <p:cNvSpPr/>
            <p:nvPr/>
          </p:nvSpPr>
          <p:spPr>
            <a:xfrm>
              <a:off x="4798695" y="2654618"/>
              <a:ext cx="91440" cy="105728"/>
            </a:xfrm>
            <a:custGeom>
              <a:avLst/>
              <a:gdLst/>
              <a:ahLst/>
              <a:cxnLst/>
              <a:rect l="l" t="t" r="r" b="b"/>
              <a:pathLst>
                <a:path w="91440" h="105728">
                  <a:moveTo>
                    <a:pt x="91440" y="0"/>
                  </a:moveTo>
                  <a:lnTo>
                    <a:pt x="80962" y="105728"/>
                  </a:lnTo>
                  <a:lnTo>
                    <a:pt x="0" y="55245"/>
                  </a:lnTo>
                  <a:close/>
                </a:path>
              </a:pathLst>
            </a:custGeom>
            <a:solidFill>
              <a:srgbClr val="1F2937"/>
            </a:solidFill>
            <a:ln>
              <a:noFill/>
            </a:ln>
          </p:spPr>
        </p:sp>
        <p:sp>
          <p:nvSpPr>
            <p:cNvPr id="15" name="Freeform 15"/>
            <p:cNvSpPr/>
            <p:nvPr/>
          </p:nvSpPr>
          <p:spPr>
            <a:xfrm>
              <a:off x="4635818" y="1464945"/>
              <a:ext cx="883920" cy="548640"/>
            </a:xfrm>
            <a:custGeom>
              <a:avLst/>
              <a:gdLst/>
              <a:ahLst/>
              <a:cxnLst/>
              <a:rect l="l" t="t" r="r" b="b"/>
              <a:pathLst>
                <a:path w="883920" h="548640">
                  <a:moveTo>
                    <a:pt x="287655" y="548640"/>
                  </a:moveTo>
                  <a:cubicBezTo>
                    <a:pt x="0" y="0"/>
                    <a:pt x="883920" y="0"/>
                    <a:pt x="596265" y="548640"/>
                  </a:cubicBezTo>
                </a:path>
              </a:pathLst>
            </a:custGeom>
            <a:noFill/>
            <a:ln w="17145">
              <a:solidFill>
                <a:srgbClr val="1F2937"/>
              </a:solidFill>
            </a:ln>
          </p:spPr>
        </p:sp>
        <p:sp>
          <p:nvSpPr>
            <p:cNvPr id="16" name="Freeform 16"/>
            <p:cNvSpPr/>
            <p:nvPr/>
          </p:nvSpPr>
          <p:spPr>
            <a:xfrm>
              <a:off x="5232082" y="1917382"/>
              <a:ext cx="78105" cy="96202"/>
            </a:xfrm>
            <a:custGeom>
              <a:avLst/>
              <a:gdLst/>
              <a:ahLst/>
              <a:cxnLst/>
              <a:rect l="l" t="t" r="r" b="b"/>
              <a:pathLst>
                <a:path w="78105" h="96202">
                  <a:moveTo>
                    <a:pt x="0" y="96202"/>
                  </a:moveTo>
                  <a:lnTo>
                    <a:pt x="1905" y="0"/>
                  </a:lnTo>
                  <a:lnTo>
                    <a:pt x="78105" y="40005"/>
                  </a:lnTo>
                  <a:close/>
                </a:path>
              </a:pathLst>
            </a:custGeom>
            <a:solidFill>
              <a:srgbClr val="1F2937"/>
            </a:solidFill>
            <a:ln>
              <a:noFill/>
            </a:ln>
          </p:spPr>
        </p:sp>
        <p:sp>
          <p:nvSpPr>
            <p:cNvPr id="17" name="Freeform 17"/>
            <p:cNvSpPr/>
            <p:nvPr/>
          </p:nvSpPr>
          <p:spPr>
            <a:xfrm>
              <a:off x="2796540" y="4363402"/>
              <a:ext cx="883920" cy="548640"/>
            </a:xfrm>
            <a:custGeom>
              <a:avLst/>
              <a:gdLst/>
              <a:ahLst/>
              <a:cxnLst/>
              <a:rect l="l" t="t" r="r" b="b"/>
              <a:pathLst>
                <a:path w="883920" h="548640">
                  <a:moveTo>
                    <a:pt x="287655" y="0"/>
                  </a:moveTo>
                  <a:cubicBezTo>
                    <a:pt x="0" y="548640"/>
                    <a:pt x="883920" y="548640"/>
                    <a:pt x="596265" y="0"/>
                  </a:cubicBezTo>
                </a:path>
              </a:pathLst>
            </a:custGeom>
            <a:noFill/>
            <a:ln w="17145">
              <a:solidFill>
                <a:srgbClr val="1F2937"/>
              </a:solidFill>
            </a:ln>
          </p:spPr>
        </p:sp>
        <p:sp>
          <p:nvSpPr>
            <p:cNvPr id="18" name="Freeform 18"/>
            <p:cNvSpPr/>
            <p:nvPr/>
          </p:nvSpPr>
          <p:spPr>
            <a:xfrm>
              <a:off x="3392805" y="4363402"/>
              <a:ext cx="78105" cy="95250"/>
            </a:xfrm>
            <a:custGeom>
              <a:avLst/>
              <a:gdLst/>
              <a:ahLst/>
              <a:cxnLst/>
              <a:rect l="l" t="t" r="r" b="b"/>
              <a:pathLst>
                <a:path w="78105" h="95250">
                  <a:moveTo>
                    <a:pt x="0" y="0"/>
                  </a:moveTo>
                  <a:lnTo>
                    <a:pt x="78105" y="56197"/>
                  </a:lnTo>
                  <a:lnTo>
                    <a:pt x="1905" y="95250"/>
                  </a:lnTo>
                  <a:close/>
                </a:path>
              </a:pathLst>
            </a:custGeom>
            <a:solidFill>
              <a:srgbClr val="1F2937"/>
            </a:solidFill>
            <a:ln>
              <a:noFill/>
            </a:ln>
          </p:spPr>
        </p:sp>
        <p:sp>
          <p:nvSpPr>
            <p:cNvPr id="19" name="Ellipse 19"/>
            <p:cNvSpPr/>
            <p:nvPr/>
          </p:nvSpPr>
          <p:spPr>
            <a:xfrm>
              <a:off x="1056322" y="2013585"/>
              <a:ext cx="685800" cy="685800"/>
            </a:xfrm>
            <a:prstGeom prst="ellipse">
              <a:avLst/>
            </a:prstGeom>
            <a:solidFill>
              <a:srgbClr val="F4F6FB"/>
            </a:solidFill>
            <a:ln w="17145">
              <a:solidFill>
                <a:srgbClr val="D9DFEA"/>
              </a:solidFill>
            </a:ln>
          </p:spPr>
        </p:sp>
        <p:sp>
          <p:nvSpPr>
            <p:cNvPr id="20" name="Ellipse 20"/>
            <p:cNvSpPr/>
            <p:nvPr/>
          </p:nvSpPr>
          <p:spPr>
            <a:xfrm>
              <a:off x="4734878" y="2013585"/>
              <a:ext cx="685800" cy="685800"/>
            </a:xfrm>
            <a:prstGeom prst="ellipse">
              <a:avLst/>
            </a:prstGeom>
            <a:solidFill>
              <a:srgbClr val="334E68"/>
            </a:solidFill>
            <a:ln w="17145">
              <a:solidFill>
                <a:srgbClr val="334E68"/>
              </a:solidFill>
            </a:ln>
          </p:spPr>
        </p:sp>
        <p:sp>
          <p:nvSpPr>
            <p:cNvPr id="21" name="Ellipse 21"/>
            <p:cNvSpPr/>
            <p:nvPr/>
          </p:nvSpPr>
          <p:spPr>
            <a:xfrm>
              <a:off x="2895600" y="3677602"/>
              <a:ext cx="685800" cy="685800"/>
            </a:xfrm>
            <a:prstGeom prst="ellipse">
              <a:avLst/>
            </a:prstGeom>
            <a:solidFill>
              <a:srgbClr val="FDEEE7"/>
            </a:solidFill>
            <a:ln w="17145">
              <a:solidFill>
                <a:srgbClr val="F26B3A"/>
              </a:solidFill>
            </a:ln>
          </p:spPr>
        </p:sp>
        <p:sp>
          <p:nvSpPr>
            <p:cNvPr id="22" name="TextBox 22"/>
            <p:cNvSpPr txBox="1"/>
            <p:nvPr/>
          </p:nvSpPr>
          <p:spPr>
            <a:xfrm>
              <a:off x="1368416" y="2196941"/>
              <a:ext cx="61612" cy="220028"/>
            </a:xfrm>
            <a:prstGeom prst="rect">
              <a:avLst/>
            </a:prstGeom>
            <a:noFill/>
            <a:ln>
              <a:noFill/>
            </a:ln>
          </p:spPr>
          <p:txBody>
            <a:bodyPr wrap="none" lIns="0" tIns="0" rIns="0" bIns="0" anchor="t" anchorCtr="0">
              <a:spAutoFit/>
            </a:bodyPr>
            <a:lstStyle/>
            <a:p>
              <a:pPr algn="ctr"/>
              <a:r>
                <a:rPr lang="en-US" sz="1120" b="1" dirty="0">
                  <a:solidFill>
                    <a:srgbClr val="5B6475"/>
                  </a:solidFill>
                  <a:latin typeface="+mn-lt"/>
                  <a:ea typeface="+mn-ea"/>
                  <a:cs typeface="+mn-cs"/>
                </a:rPr>
                <a:t>I</a:t>
              </a:r>
            </a:p>
          </p:txBody>
        </p:sp>
        <p:sp>
          <p:nvSpPr>
            <p:cNvPr id="23" name="TextBox 23"/>
            <p:cNvSpPr txBox="1"/>
            <p:nvPr/>
          </p:nvSpPr>
          <p:spPr>
            <a:xfrm>
              <a:off x="1242733" y="2375059"/>
              <a:ext cx="312979" cy="220028"/>
            </a:xfrm>
            <a:prstGeom prst="rect">
              <a:avLst/>
            </a:prstGeom>
            <a:noFill/>
            <a:ln>
              <a:noFill/>
            </a:ln>
          </p:spPr>
          <p:txBody>
            <a:bodyPr wrap="none" lIns="0" tIns="0" rIns="0" bIns="0" anchor="t" anchorCtr="0">
              <a:spAutoFit/>
            </a:bodyPr>
            <a:lstStyle/>
            <a:p>
              <a:pPr algn="ctr"/>
              <a:r>
                <a:rPr lang="zh-CN" sz="1120" b="1" dirty="0">
                  <a:solidFill>
                    <a:srgbClr val="5B6475"/>
                  </a:solidFill>
                  <a:latin typeface="+mn-lt"/>
                  <a:ea typeface="+mn-ea"/>
                  <a:cs typeface="+mn-cs"/>
                </a:rPr>
                <a:t>无效</a:t>
              </a:r>
            </a:p>
          </p:txBody>
        </p:sp>
        <p:sp>
          <p:nvSpPr>
            <p:cNvPr id="24" name="TextBox 24"/>
            <p:cNvSpPr txBox="1"/>
            <p:nvPr/>
          </p:nvSpPr>
          <p:spPr>
            <a:xfrm>
              <a:off x="5026062" y="2196941"/>
              <a:ext cx="103431" cy="220028"/>
            </a:xfrm>
            <a:prstGeom prst="rect">
              <a:avLst/>
            </a:prstGeom>
            <a:noFill/>
            <a:ln>
              <a:noFill/>
            </a:ln>
          </p:spPr>
          <p:txBody>
            <a:bodyPr wrap="none" lIns="0" tIns="0" rIns="0" bIns="0" anchor="t" anchorCtr="0">
              <a:spAutoFit/>
            </a:bodyPr>
            <a:lstStyle/>
            <a:p>
              <a:pPr algn="ctr"/>
              <a:r>
                <a:rPr lang="en-US" sz="1120" b="1" dirty="0">
                  <a:solidFill>
                    <a:srgbClr val="FFFFFF"/>
                  </a:solidFill>
                  <a:latin typeface="+mn-lt"/>
                  <a:ea typeface="+mn-ea"/>
                  <a:cs typeface="+mn-cs"/>
                </a:rPr>
                <a:t>S</a:t>
              </a:r>
            </a:p>
          </p:txBody>
        </p:sp>
        <p:sp>
          <p:nvSpPr>
            <p:cNvPr id="25" name="TextBox 25"/>
            <p:cNvSpPr txBox="1"/>
            <p:nvPr/>
          </p:nvSpPr>
          <p:spPr>
            <a:xfrm>
              <a:off x="4921288" y="2375059"/>
              <a:ext cx="312979"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共享</a:t>
              </a:r>
            </a:p>
          </p:txBody>
        </p:sp>
        <p:sp>
          <p:nvSpPr>
            <p:cNvPr id="26" name="TextBox 26"/>
            <p:cNvSpPr txBox="1"/>
            <p:nvPr/>
          </p:nvSpPr>
          <p:spPr>
            <a:xfrm>
              <a:off x="3170057" y="3860959"/>
              <a:ext cx="136886" cy="220028"/>
            </a:xfrm>
            <a:prstGeom prst="rect">
              <a:avLst/>
            </a:prstGeom>
            <a:noFill/>
            <a:ln>
              <a:noFill/>
            </a:ln>
          </p:spPr>
          <p:txBody>
            <a:bodyPr wrap="none" lIns="0" tIns="0" rIns="0" bIns="0" anchor="t" anchorCtr="0">
              <a:spAutoFit/>
            </a:bodyPr>
            <a:lstStyle/>
            <a:p>
              <a:pPr algn="ctr"/>
              <a:r>
                <a:rPr lang="en-US" sz="1120" b="1" dirty="0">
                  <a:solidFill>
                    <a:srgbClr val="1F2937"/>
                  </a:solidFill>
                  <a:latin typeface="+mn-lt"/>
                  <a:ea typeface="+mn-ea"/>
                  <a:cs typeface="+mn-cs"/>
                </a:rPr>
                <a:t>M</a:t>
              </a:r>
            </a:p>
          </p:txBody>
        </p:sp>
        <p:sp>
          <p:nvSpPr>
            <p:cNvPr id="27" name="TextBox 27"/>
            <p:cNvSpPr txBox="1"/>
            <p:nvPr/>
          </p:nvSpPr>
          <p:spPr>
            <a:xfrm>
              <a:off x="3082011" y="4040029"/>
              <a:ext cx="312979" cy="220028"/>
            </a:xfrm>
            <a:prstGeom prst="rect">
              <a:avLst/>
            </a:prstGeom>
            <a:noFill/>
            <a:ln>
              <a:noFill/>
            </a:ln>
          </p:spPr>
          <p:txBody>
            <a:bodyPr wrap="none" lIns="0" tIns="0" rIns="0" bIns="0" anchor="t" anchorCtr="0">
              <a:spAutoFit/>
            </a:bodyPr>
            <a:lstStyle/>
            <a:p>
              <a:pPr algn="ctr"/>
              <a:r>
                <a:rPr lang="zh-CN" sz="1120" b="1" dirty="0">
                  <a:solidFill>
                    <a:srgbClr val="1F2937"/>
                  </a:solidFill>
                  <a:latin typeface="+mn-lt"/>
                  <a:ea typeface="+mn-ea"/>
                  <a:cs typeface="+mn-cs"/>
                </a:rPr>
                <a:t>修改</a:t>
              </a:r>
            </a:p>
          </p:txBody>
        </p:sp>
        <p:sp>
          <p:nvSpPr>
            <p:cNvPr id="28" name="Rectangle 28"/>
            <p:cNvSpPr/>
            <p:nvPr/>
          </p:nvSpPr>
          <p:spPr>
            <a:xfrm>
              <a:off x="2659380" y="2263140"/>
              <a:ext cx="1159192" cy="173355"/>
            </a:xfrm>
            <a:prstGeom prst="roundRect">
              <a:avLst>
                <a:gd name="adj" fmla="val 21978"/>
              </a:avLst>
            </a:prstGeom>
            <a:solidFill>
              <a:srgbClr val="FFFFFF"/>
            </a:solidFill>
            <a:ln>
              <a:noFill/>
            </a:ln>
          </p:spPr>
        </p:sp>
        <p:sp>
          <p:nvSpPr>
            <p:cNvPr id="29" name="TextBox 29"/>
            <p:cNvSpPr txBox="1"/>
            <p:nvPr/>
          </p:nvSpPr>
          <p:spPr>
            <a:xfrm>
              <a:off x="2655244" y="2297906"/>
              <a:ext cx="1166513" cy="190690"/>
            </a:xfrm>
            <a:prstGeom prst="rect">
              <a:avLst/>
            </a:prstGeom>
            <a:noFill/>
            <a:ln>
              <a:noFill/>
            </a:ln>
          </p:spPr>
          <p:txBody>
            <a:bodyPr wrap="none" lIns="0" tIns="0" rIns="0" bIns="0" anchor="t" anchorCtr="0">
              <a:spAutoFit/>
            </a:bodyPr>
            <a:lstStyle/>
            <a:p>
              <a:pPr algn="ctr"/>
              <a:r>
                <a:rPr lang="zh-CN" sz="980" dirty="0">
                  <a:solidFill>
                    <a:srgbClr val="C2410C"/>
                  </a:solidFill>
                  <a:latin typeface="+mn-lt"/>
                  <a:ea typeface="+mn-ea"/>
                  <a:cs typeface="+mn-cs"/>
                </a:rPr>
                <a:t>读缺失 / 发 RdMiss</a:t>
              </a:r>
            </a:p>
          </p:txBody>
        </p:sp>
        <p:sp>
          <p:nvSpPr>
            <p:cNvPr id="30" name="Rectangle 30"/>
            <p:cNvSpPr/>
            <p:nvPr/>
          </p:nvSpPr>
          <p:spPr>
            <a:xfrm>
              <a:off x="1726882" y="3095625"/>
              <a:ext cx="1183958" cy="173355"/>
            </a:xfrm>
            <a:prstGeom prst="roundRect">
              <a:avLst>
                <a:gd name="adj" fmla="val 21978"/>
              </a:avLst>
            </a:prstGeom>
            <a:solidFill>
              <a:srgbClr val="FFFFFF"/>
            </a:solidFill>
            <a:ln>
              <a:noFill/>
            </a:ln>
          </p:spPr>
        </p:sp>
        <p:sp>
          <p:nvSpPr>
            <p:cNvPr id="31" name="TextBox 31"/>
            <p:cNvSpPr txBox="1"/>
            <p:nvPr/>
          </p:nvSpPr>
          <p:spPr>
            <a:xfrm>
              <a:off x="1721687" y="3130391"/>
              <a:ext cx="1193396" cy="190690"/>
            </a:xfrm>
            <a:prstGeom prst="rect">
              <a:avLst/>
            </a:prstGeom>
            <a:noFill/>
            <a:ln>
              <a:noFill/>
            </a:ln>
          </p:spPr>
          <p:txBody>
            <a:bodyPr wrap="none" lIns="0" tIns="0" rIns="0" bIns="0" anchor="t" anchorCtr="0">
              <a:spAutoFit/>
            </a:bodyPr>
            <a:lstStyle/>
            <a:p>
              <a:pPr algn="ctr"/>
              <a:r>
                <a:rPr lang="zh-CN" sz="980" dirty="0">
                  <a:solidFill>
                    <a:srgbClr val="C2410C"/>
                  </a:solidFill>
                  <a:latin typeface="+mn-lt"/>
                  <a:ea typeface="+mn-ea"/>
                  <a:cs typeface="+mn-cs"/>
                </a:rPr>
                <a:t>写缺失 / 发 WtMiss</a:t>
              </a:r>
            </a:p>
          </p:txBody>
        </p:sp>
        <p:sp>
          <p:nvSpPr>
            <p:cNvPr id="32" name="Rectangle 32"/>
            <p:cNvSpPr/>
            <p:nvPr/>
          </p:nvSpPr>
          <p:spPr>
            <a:xfrm>
              <a:off x="3027045" y="2952750"/>
              <a:ext cx="2577465" cy="173355"/>
            </a:xfrm>
            <a:prstGeom prst="roundRect">
              <a:avLst>
                <a:gd name="adj" fmla="val 21978"/>
              </a:avLst>
            </a:prstGeom>
            <a:solidFill>
              <a:srgbClr val="FFFFFF"/>
            </a:solidFill>
            <a:ln>
              <a:noFill/>
            </a:ln>
          </p:spPr>
        </p:sp>
        <p:sp>
          <p:nvSpPr>
            <p:cNvPr id="33" name="TextBox 33"/>
            <p:cNvSpPr txBox="1"/>
            <p:nvPr/>
          </p:nvSpPr>
          <p:spPr>
            <a:xfrm>
              <a:off x="2978399" y="2987516"/>
              <a:ext cx="2674756" cy="190690"/>
            </a:xfrm>
            <a:prstGeom prst="rect">
              <a:avLst/>
            </a:prstGeom>
            <a:noFill/>
            <a:ln>
              <a:noFill/>
            </a:ln>
          </p:spPr>
          <p:txBody>
            <a:bodyPr wrap="none" lIns="0" tIns="0" rIns="0" bIns="0" anchor="t" anchorCtr="0">
              <a:spAutoFit/>
            </a:bodyPr>
            <a:lstStyle/>
            <a:p>
              <a:pPr algn="ctr"/>
              <a:r>
                <a:rPr lang="zh-CN" sz="980" dirty="0">
                  <a:solidFill>
                    <a:srgbClr val="C2410C"/>
                  </a:solidFill>
                  <a:latin typeface="+mn-lt"/>
                  <a:ea typeface="+mn-ea"/>
                  <a:cs typeface="+mn-cs"/>
                </a:rPr>
                <a:t>写命中 / 发 Invalidate；写缺失 / 发 WtMiss</a:t>
              </a:r>
            </a:p>
          </p:txBody>
        </p:sp>
        <p:sp>
          <p:nvSpPr>
            <p:cNvPr id="34" name="Rectangle 34"/>
            <p:cNvSpPr/>
            <p:nvPr/>
          </p:nvSpPr>
          <p:spPr>
            <a:xfrm>
              <a:off x="3530918" y="3259455"/>
              <a:ext cx="1550670" cy="173355"/>
            </a:xfrm>
            <a:prstGeom prst="roundRect">
              <a:avLst>
                <a:gd name="adj" fmla="val 21978"/>
              </a:avLst>
            </a:prstGeom>
            <a:solidFill>
              <a:srgbClr val="FFFFFF"/>
            </a:solidFill>
            <a:ln>
              <a:noFill/>
            </a:ln>
          </p:spPr>
        </p:sp>
        <p:sp>
          <p:nvSpPr>
            <p:cNvPr id="35" name="TextBox 35"/>
            <p:cNvSpPr txBox="1"/>
            <p:nvPr/>
          </p:nvSpPr>
          <p:spPr>
            <a:xfrm>
              <a:off x="3515210" y="3294221"/>
              <a:ext cx="1582085" cy="190690"/>
            </a:xfrm>
            <a:prstGeom prst="rect">
              <a:avLst/>
            </a:prstGeom>
            <a:noFill/>
            <a:ln>
              <a:noFill/>
            </a:ln>
          </p:spPr>
          <p:txBody>
            <a:bodyPr wrap="none" lIns="0" tIns="0" rIns="0" bIns="0" anchor="t" anchorCtr="0">
              <a:spAutoFit/>
            </a:bodyPr>
            <a:lstStyle/>
            <a:p>
              <a:pPr algn="ctr"/>
              <a:r>
                <a:rPr lang="zh-CN" sz="980" dirty="0">
                  <a:solidFill>
                    <a:srgbClr val="C2410C"/>
                  </a:solidFill>
                  <a:latin typeface="+mn-lt"/>
                  <a:ea typeface="+mn-ea"/>
                  <a:cs typeface="+mn-cs"/>
                </a:rPr>
                <a:t>读缺失 / 写回 + 发 RdMiss</a:t>
              </a:r>
            </a:p>
          </p:txBody>
        </p:sp>
        <p:sp>
          <p:nvSpPr>
            <p:cNvPr id="36" name="TextBox 36"/>
            <p:cNvSpPr txBox="1"/>
            <p:nvPr/>
          </p:nvSpPr>
          <p:spPr>
            <a:xfrm>
              <a:off x="4230666" y="1441609"/>
              <a:ext cx="1694223" cy="190690"/>
            </a:xfrm>
            <a:prstGeom prst="rect">
              <a:avLst/>
            </a:prstGeom>
            <a:noFill/>
            <a:ln>
              <a:noFill/>
            </a:ln>
          </p:spPr>
          <p:txBody>
            <a:bodyPr wrap="none" lIns="0" tIns="0" rIns="0" bIns="0" anchor="t" anchorCtr="0">
              <a:spAutoFit/>
            </a:bodyPr>
            <a:lstStyle/>
            <a:p>
              <a:pPr algn="ctr"/>
              <a:r>
                <a:rPr lang="zh-CN" sz="980" dirty="0">
                  <a:solidFill>
                    <a:srgbClr val="C2410C"/>
                  </a:solidFill>
                  <a:latin typeface="+mn-lt"/>
                  <a:ea typeface="+mn-ea"/>
                  <a:cs typeface="+mn-cs"/>
                </a:rPr>
                <a:t>读命中；读缺失 / 发 RdMiss</a:t>
              </a:r>
            </a:p>
          </p:txBody>
        </p:sp>
        <p:sp>
          <p:nvSpPr>
            <p:cNvPr id="37" name="TextBox 37"/>
            <p:cNvSpPr txBox="1"/>
            <p:nvPr/>
          </p:nvSpPr>
          <p:spPr>
            <a:xfrm>
              <a:off x="2104197" y="4819174"/>
              <a:ext cx="2268606" cy="190690"/>
            </a:xfrm>
            <a:prstGeom prst="rect">
              <a:avLst/>
            </a:prstGeom>
            <a:noFill/>
            <a:ln>
              <a:noFill/>
            </a:ln>
          </p:spPr>
          <p:txBody>
            <a:bodyPr wrap="none" lIns="0" tIns="0" rIns="0" bIns="0" anchor="t" anchorCtr="0">
              <a:spAutoFit/>
            </a:bodyPr>
            <a:lstStyle/>
            <a:p>
              <a:pPr algn="ctr"/>
              <a:r>
                <a:rPr lang="zh-CN" sz="980" dirty="0">
                  <a:solidFill>
                    <a:srgbClr val="C2410C"/>
                  </a:solidFill>
                  <a:latin typeface="+mn-lt"/>
                  <a:ea typeface="+mn-ea"/>
                  <a:cs typeface="+mn-cs"/>
                </a:rPr>
                <a:t>读写命中；写缺失 / 写回 + 发 WtMiss</a:t>
              </a:r>
            </a:p>
          </p:txBody>
        </p:sp>
      </p:grpSp>
      <p:grpSp>
        <p:nvGrpSpPr>
          <p:cNvPr id="40" name="c1-text-2"/>
          <p:cNvGrpSpPr/>
          <p:nvPr/>
        </p:nvGrpSpPr>
        <p:grpSpPr>
          <a:xfrm>
            <a:off x="527685" y="5184934"/>
            <a:ext cx="2797343" cy="220028"/>
            <a:chOff x="527685" y="5184934"/>
            <a:chExt cx="2797343" cy="220028"/>
          </a:xfrm>
        </p:grpSpPr>
        <p:sp>
          <p:nvSpPr>
            <p:cNvPr id="39" name="TextBox 39"/>
            <p:cNvSpPr txBox="1"/>
            <p:nvPr/>
          </p:nvSpPr>
          <p:spPr>
            <a:xfrm>
              <a:off x="527685" y="5184934"/>
              <a:ext cx="2797343" cy="220028"/>
            </a:xfrm>
            <a:prstGeom prst="rect">
              <a:avLst/>
            </a:prstGeom>
            <a:noFill/>
            <a:ln>
              <a:noFill/>
            </a:ln>
          </p:spPr>
          <p:txBody>
            <a:bodyPr wrap="none" lIns="0" tIns="0" rIns="0" bIns="0" anchor="t" anchorCtr="0">
              <a:spAutoFit/>
            </a:bodyPr>
            <a:lstStyle/>
            <a:p>
              <a:pPr algn="l"/>
              <a:r>
                <a:rPr lang="zh-CN" sz="1120" dirty="0">
                  <a:solidFill>
                    <a:srgbClr val="5B6475"/>
                  </a:solidFill>
                  <a:latin typeface="+mn-lt"/>
                  <a:ea typeface="+mn-ea"/>
                  <a:cs typeface="+mn-cs"/>
                </a:rPr>
                <a:t>响应本地 CPU 的请求（对应第24页的表）</a:t>
              </a:r>
            </a:p>
          </p:txBody>
        </p:sp>
      </p:grpSp>
      <p:grpSp>
        <p:nvGrpSpPr>
          <p:cNvPr id="65" name="c2-graph-1"/>
          <p:cNvGrpSpPr/>
          <p:nvPr/>
        </p:nvGrpSpPr>
        <p:grpSpPr>
          <a:xfrm>
            <a:off x="6771322" y="1441609"/>
            <a:ext cx="4738071" cy="2921793"/>
            <a:chOff x="6771322" y="1441609"/>
            <a:chExt cx="4738071" cy="2921793"/>
          </a:xfrm>
        </p:grpSpPr>
        <p:sp>
          <p:nvSpPr>
            <p:cNvPr id="41" name="Freeform 41"/>
            <p:cNvSpPr/>
            <p:nvPr/>
          </p:nvSpPr>
          <p:spPr>
            <a:xfrm>
              <a:off x="7561898" y="2356485"/>
              <a:ext cx="2878455" cy="9525"/>
            </a:xfrm>
            <a:custGeom>
              <a:avLst/>
              <a:gdLst/>
              <a:ahLst/>
              <a:cxnLst/>
              <a:rect l="l" t="t" r="r" b="b"/>
              <a:pathLst>
                <a:path w="2878455" h="9525">
                  <a:moveTo>
                    <a:pt x="2878455" y="0"/>
                  </a:moveTo>
                  <a:lnTo>
                    <a:pt x="0" y="0"/>
                  </a:lnTo>
                </a:path>
              </a:pathLst>
            </a:custGeom>
            <a:noFill/>
            <a:ln w="17145">
              <a:solidFill>
                <a:srgbClr val="1F2937"/>
              </a:solidFill>
            </a:ln>
          </p:spPr>
        </p:sp>
        <p:sp>
          <p:nvSpPr>
            <p:cNvPr id="42" name="Freeform 42"/>
            <p:cNvSpPr/>
            <p:nvPr/>
          </p:nvSpPr>
          <p:spPr>
            <a:xfrm>
              <a:off x="7466648" y="2308860"/>
              <a:ext cx="95250" cy="95250"/>
            </a:xfrm>
            <a:custGeom>
              <a:avLst/>
              <a:gdLst/>
              <a:ahLst/>
              <a:cxnLst/>
              <a:rect l="l" t="t" r="r" b="b"/>
              <a:pathLst>
                <a:path w="95250" h="95250">
                  <a:moveTo>
                    <a:pt x="0" y="47625"/>
                  </a:moveTo>
                  <a:lnTo>
                    <a:pt x="95250" y="0"/>
                  </a:lnTo>
                  <a:lnTo>
                    <a:pt x="95250" y="95250"/>
                  </a:lnTo>
                  <a:close/>
                </a:path>
              </a:pathLst>
            </a:custGeom>
            <a:solidFill>
              <a:srgbClr val="1F2937"/>
            </a:solidFill>
            <a:ln>
              <a:noFill/>
            </a:ln>
          </p:spPr>
        </p:sp>
        <p:sp>
          <p:nvSpPr>
            <p:cNvPr id="43" name="Freeform 43"/>
            <p:cNvSpPr/>
            <p:nvPr/>
          </p:nvSpPr>
          <p:spPr>
            <a:xfrm>
              <a:off x="7445692" y="2656522"/>
              <a:ext cx="1246822" cy="1127760"/>
            </a:xfrm>
            <a:custGeom>
              <a:avLst/>
              <a:gdLst/>
              <a:ahLst/>
              <a:cxnLst/>
              <a:rect l="l" t="t" r="r" b="b"/>
              <a:pathLst>
                <a:path w="1246822" h="1127760">
                  <a:moveTo>
                    <a:pt x="1246822" y="1127760"/>
                  </a:moveTo>
                  <a:lnTo>
                    <a:pt x="0" y="0"/>
                  </a:lnTo>
                </a:path>
              </a:pathLst>
            </a:custGeom>
            <a:noFill/>
            <a:ln w="17145">
              <a:solidFill>
                <a:srgbClr val="1F2937"/>
              </a:solidFill>
            </a:ln>
          </p:spPr>
        </p:sp>
        <p:sp>
          <p:nvSpPr>
            <p:cNvPr id="44" name="Freeform 44"/>
            <p:cNvSpPr/>
            <p:nvPr/>
          </p:nvSpPr>
          <p:spPr>
            <a:xfrm>
              <a:off x="7375208" y="2592705"/>
              <a:ext cx="102870" cy="99060"/>
            </a:xfrm>
            <a:custGeom>
              <a:avLst/>
              <a:gdLst/>
              <a:ahLst/>
              <a:cxnLst/>
              <a:rect l="l" t="t" r="r" b="b"/>
              <a:pathLst>
                <a:path w="102870" h="99060">
                  <a:moveTo>
                    <a:pt x="0" y="0"/>
                  </a:moveTo>
                  <a:lnTo>
                    <a:pt x="102870" y="28575"/>
                  </a:lnTo>
                  <a:lnTo>
                    <a:pt x="39053" y="99060"/>
                  </a:lnTo>
                  <a:close/>
                </a:path>
              </a:pathLst>
            </a:custGeom>
            <a:solidFill>
              <a:srgbClr val="1F2937"/>
            </a:solidFill>
            <a:ln>
              <a:noFill/>
            </a:ln>
          </p:spPr>
        </p:sp>
        <p:sp>
          <p:nvSpPr>
            <p:cNvPr id="45" name="Freeform 45"/>
            <p:cNvSpPr/>
            <p:nvPr/>
          </p:nvSpPr>
          <p:spPr>
            <a:xfrm>
              <a:off x="9214485" y="2656522"/>
              <a:ext cx="1246822" cy="1127760"/>
            </a:xfrm>
            <a:custGeom>
              <a:avLst/>
              <a:gdLst/>
              <a:ahLst/>
              <a:cxnLst/>
              <a:rect l="l" t="t" r="r" b="b"/>
              <a:pathLst>
                <a:path w="1246822" h="1127760">
                  <a:moveTo>
                    <a:pt x="0" y="1127760"/>
                  </a:moveTo>
                  <a:lnTo>
                    <a:pt x="1246822" y="0"/>
                  </a:lnTo>
                </a:path>
              </a:pathLst>
            </a:custGeom>
            <a:noFill/>
            <a:ln w="17145">
              <a:solidFill>
                <a:srgbClr val="1F2937"/>
              </a:solidFill>
            </a:ln>
          </p:spPr>
        </p:sp>
        <p:sp>
          <p:nvSpPr>
            <p:cNvPr id="46" name="Freeform 46"/>
            <p:cNvSpPr/>
            <p:nvPr/>
          </p:nvSpPr>
          <p:spPr>
            <a:xfrm>
              <a:off x="10428922" y="2592705"/>
              <a:ext cx="102870" cy="99060"/>
            </a:xfrm>
            <a:custGeom>
              <a:avLst/>
              <a:gdLst/>
              <a:ahLst/>
              <a:cxnLst/>
              <a:rect l="l" t="t" r="r" b="b"/>
              <a:pathLst>
                <a:path w="102870" h="99060">
                  <a:moveTo>
                    <a:pt x="102870" y="0"/>
                  </a:moveTo>
                  <a:lnTo>
                    <a:pt x="63817" y="99060"/>
                  </a:lnTo>
                  <a:lnTo>
                    <a:pt x="0" y="28575"/>
                  </a:lnTo>
                  <a:close/>
                </a:path>
              </a:pathLst>
            </a:custGeom>
            <a:solidFill>
              <a:srgbClr val="1F2937"/>
            </a:solidFill>
            <a:ln>
              <a:noFill/>
            </a:ln>
          </p:spPr>
        </p:sp>
        <p:sp>
          <p:nvSpPr>
            <p:cNvPr id="47" name="Freeform 47"/>
            <p:cNvSpPr/>
            <p:nvPr/>
          </p:nvSpPr>
          <p:spPr>
            <a:xfrm>
              <a:off x="10350818" y="1464945"/>
              <a:ext cx="883920" cy="548640"/>
            </a:xfrm>
            <a:custGeom>
              <a:avLst/>
              <a:gdLst/>
              <a:ahLst/>
              <a:cxnLst/>
              <a:rect l="l" t="t" r="r" b="b"/>
              <a:pathLst>
                <a:path w="883920" h="548640">
                  <a:moveTo>
                    <a:pt x="287655" y="548640"/>
                  </a:moveTo>
                  <a:cubicBezTo>
                    <a:pt x="0" y="0"/>
                    <a:pt x="883920" y="0"/>
                    <a:pt x="596265" y="548640"/>
                  </a:cubicBezTo>
                </a:path>
              </a:pathLst>
            </a:custGeom>
            <a:noFill/>
            <a:ln w="17145">
              <a:solidFill>
                <a:srgbClr val="1F2937"/>
              </a:solidFill>
            </a:ln>
          </p:spPr>
        </p:sp>
        <p:sp>
          <p:nvSpPr>
            <p:cNvPr id="48" name="Freeform 48"/>
            <p:cNvSpPr/>
            <p:nvPr/>
          </p:nvSpPr>
          <p:spPr>
            <a:xfrm>
              <a:off x="10947082" y="1917382"/>
              <a:ext cx="78105" cy="96202"/>
            </a:xfrm>
            <a:custGeom>
              <a:avLst/>
              <a:gdLst/>
              <a:ahLst/>
              <a:cxnLst/>
              <a:rect l="l" t="t" r="r" b="b"/>
              <a:pathLst>
                <a:path w="78105" h="96202">
                  <a:moveTo>
                    <a:pt x="0" y="96202"/>
                  </a:moveTo>
                  <a:lnTo>
                    <a:pt x="1905" y="0"/>
                  </a:lnTo>
                  <a:lnTo>
                    <a:pt x="78105" y="40005"/>
                  </a:lnTo>
                  <a:close/>
                </a:path>
              </a:pathLst>
            </a:custGeom>
            <a:solidFill>
              <a:srgbClr val="1F2937"/>
            </a:solidFill>
            <a:ln>
              <a:noFill/>
            </a:ln>
          </p:spPr>
        </p:sp>
        <p:sp>
          <p:nvSpPr>
            <p:cNvPr id="49" name="Ellipse 49"/>
            <p:cNvSpPr/>
            <p:nvPr/>
          </p:nvSpPr>
          <p:spPr>
            <a:xfrm>
              <a:off x="6771322" y="2013585"/>
              <a:ext cx="685800" cy="685800"/>
            </a:xfrm>
            <a:prstGeom prst="ellipse">
              <a:avLst/>
            </a:prstGeom>
            <a:solidFill>
              <a:srgbClr val="F4F6FB"/>
            </a:solidFill>
            <a:ln w="17145">
              <a:solidFill>
                <a:srgbClr val="D9DFEA"/>
              </a:solidFill>
            </a:ln>
          </p:spPr>
        </p:sp>
        <p:sp>
          <p:nvSpPr>
            <p:cNvPr id="50" name="Ellipse 50"/>
            <p:cNvSpPr/>
            <p:nvPr/>
          </p:nvSpPr>
          <p:spPr>
            <a:xfrm>
              <a:off x="10449878" y="2013585"/>
              <a:ext cx="685800" cy="685800"/>
            </a:xfrm>
            <a:prstGeom prst="ellipse">
              <a:avLst/>
            </a:prstGeom>
            <a:solidFill>
              <a:srgbClr val="334E68"/>
            </a:solidFill>
            <a:ln w="17145">
              <a:solidFill>
                <a:srgbClr val="334E68"/>
              </a:solidFill>
            </a:ln>
          </p:spPr>
        </p:sp>
        <p:sp>
          <p:nvSpPr>
            <p:cNvPr id="51" name="Ellipse 51"/>
            <p:cNvSpPr/>
            <p:nvPr/>
          </p:nvSpPr>
          <p:spPr>
            <a:xfrm>
              <a:off x="8610600" y="3677602"/>
              <a:ext cx="685800" cy="685800"/>
            </a:xfrm>
            <a:prstGeom prst="ellipse">
              <a:avLst/>
            </a:prstGeom>
            <a:solidFill>
              <a:srgbClr val="FDEEE7"/>
            </a:solidFill>
            <a:ln w="17145">
              <a:solidFill>
                <a:srgbClr val="F26B3A"/>
              </a:solidFill>
            </a:ln>
          </p:spPr>
        </p:sp>
        <p:sp>
          <p:nvSpPr>
            <p:cNvPr id="52" name="TextBox 52"/>
            <p:cNvSpPr txBox="1"/>
            <p:nvPr/>
          </p:nvSpPr>
          <p:spPr>
            <a:xfrm>
              <a:off x="7083416" y="2196941"/>
              <a:ext cx="61612" cy="220028"/>
            </a:xfrm>
            <a:prstGeom prst="rect">
              <a:avLst/>
            </a:prstGeom>
            <a:noFill/>
            <a:ln>
              <a:noFill/>
            </a:ln>
          </p:spPr>
          <p:txBody>
            <a:bodyPr wrap="none" lIns="0" tIns="0" rIns="0" bIns="0" anchor="t" anchorCtr="0">
              <a:spAutoFit/>
            </a:bodyPr>
            <a:lstStyle/>
            <a:p>
              <a:pPr algn="ctr"/>
              <a:r>
                <a:rPr lang="en-US" sz="1120" b="1" dirty="0">
                  <a:solidFill>
                    <a:srgbClr val="5B6475"/>
                  </a:solidFill>
                  <a:latin typeface="+mn-lt"/>
                  <a:ea typeface="+mn-ea"/>
                  <a:cs typeface="+mn-cs"/>
                </a:rPr>
                <a:t>I</a:t>
              </a:r>
            </a:p>
          </p:txBody>
        </p:sp>
        <p:sp>
          <p:nvSpPr>
            <p:cNvPr id="53" name="TextBox 53"/>
            <p:cNvSpPr txBox="1"/>
            <p:nvPr/>
          </p:nvSpPr>
          <p:spPr>
            <a:xfrm>
              <a:off x="6957733" y="2375059"/>
              <a:ext cx="312979" cy="220028"/>
            </a:xfrm>
            <a:prstGeom prst="rect">
              <a:avLst/>
            </a:prstGeom>
            <a:noFill/>
            <a:ln>
              <a:noFill/>
            </a:ln>
          </p:spPr>
          <p:txBody>
            <a:bodyPr wrap="none" lIns="0" tIns="0" rIns="0" bIns="0" anchor="t" anchorCtr="0">
              <a:spAutoFit/>
            </a:bodyPr>
            <a:lstStyle/>
            <a:p>
              <a:pPr algn="ctr"/>
              <a:r>
                <a:rPr lang="zh-CN" sz="1120" b="1" dirty="0">
                  <a:solidFill>
                    <a:srgbClr val="5B6475"/>
                  </a:solidFill>
                  <a:latin typeface="+mn-lt"/>
                  <a:ea typeface="+mn-ea"/>
                  <a:cs typeface="+mn-cs"/>
                </a:rPr>
                <a:t>无效</a:t>
              </a:r>
            </a:p>
          </p:txBody>
        </p:sp>
        <p:sp>
          <p:nvSpPr>
            <p:cNvPr id="54" name="TextBox 54"/>
            <p:cNvSpPr txBox="1"/>
            <p:nvPr/>
          </p:nvSpPr>
          <p:spPr>
            <a:xfrm>
              <a:off x="10741062" y="2196941"/>
              <a:ext cx="103431" cy="220028"/>
            </a:xfrm>
            <a:prstGeom prst="rect">
              <a:avLst/>
            </a:prstGeom>
            <a:noFill/>
            <a:ln>
              <a:noFill/>
            </a:ln>
          </p:spPr>
          <p:txBody>
            <a:bodyPr wrap="none" lIns="0" tIns="0" rIns="0" bIns="0" anchor="t" anchorCtr="0">
              <a:spAutoFit/>
            </a:bodyPr>
            <a:lstStyle/>
            <a:p>
              <a:pPr algn="ctr"/>
              <a:r>
                <a:rPr lang="en-US" sz="1120" b="1" dirty="0">
                  <a:solidFill>
                    <a:srgbClr val="FFFFFF"/>
                  </a:solidFill>
                  <a:latin typeface="+mn-lt"/>
                  <a:ea typeface="+mn-ea"/>
                  <a:cs typeface="+mn-cs"/>
                </a:rPr>
                <a:t>S</a:t>
              </a:r>
            </a:p>
          </p:txBody>
        </p:sp>
        <p:sp>
          <p:nvSpPr>
            <p:cNvPr id="55" name="TextBox 55"/>
            <p:cNvSpPr txBox="1"/>
            <p:nvPr/>
          </p:nvSpPr>
          <p:spPr>
            <a:xfrm>
              <a:off x="10636288" y="2375059"/>
              <a:ext cx="312979"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共享</a:t>
              </a:r>
            </a:p>
          </p:txBody>
        </p:sp>
        <p:sp>
          <p:nvSpPr>
            <p:cNvPr id="56" name="TextBox 56"/>
            <p:cNvSpPr txBox="1"/>
            <p:nvPr/>
          </p:nvSpPr>
          <p:spPr>
            <a:xfrm>
              <a:off x="8885057" y="3860959"/>
              <a:ext cx="136886" cy="220028"/>
            </a:xfrm>
            <a:prstGeom prst="rect">
              <a:avLst/>
            </a:prstGeom>
            <a:noFill/>
            <a:ln>
              <a:noFill/>
            </a:ln>
          </p:spPr>
          <p:txBody>
            <a:bodyPr wrap="none" lIns="0" tIns="0" rIns="0" bIns="0" anchor="t" anchorCtr="0">
              <a:spAutoFit/>
            </a:bodyPr>
            <a:lstStyle/>
            <a:p>
              <a:pPr algn="ctr"/>
              <a:r>
                <a:rPr lang="en-US" sz="1120" b="1" dirty="0">
                  <a:solidFill>
                    <a:srgbClr val="1F2937"/>
                  </a:solidFill>
                  <a:latin typeface="+mn-lt"/>
                  <a:ea typeface="+mn-ea"/>
                  <a:cs typeface="+mn-cs"/>
                </a:rPr>
                <a:t>M</a:t>
              </a:r>
            </a:p>
          </p:txBody>
        </p:sp>
        <p:sp>
          <p:nvSpPr>
            <p:cNvPr id="57" name="TextBox 57"/>
            <p:cNvSpPr txBox="1"/>
            <p:nvPr/>
          </p:nvSpPr>
          <p:spPr>
            <a:xfrm>
              <a:off x="8797011" y="4040029"/>
              <a:ext cx="312979" cy="220028"/>
            </a:xfrm>
            <a:prstGeom prst="rect">
              <a:avLst/>
            </a:prstGeom>
            <a:noFill/>
            <a:ln>
              <a:noFill/>
            </a:ln>
          </p:spPr>
          <p:txBody>
            <a:bodyPr wrap="none" lIns="0" tIns="0" rIns="0" bIns="0" anchor="t" anchorCtr="0">
              <a:spAutoFit/>
            </a:bodyPr>
            <a:lstStyle/>
            <a:p>
              <a:pPr algn="ctr"/>
              <a:r>
                <a:rPr lang="zh-CN" sz="1120" b="1" dirty="0">
                  <a:solidFill>
                    <a:srgbClr val="1F2937"/>
                  </a:solidFill>
                  <a:latin typeface="+mn-lt"/>
                  <a:ea typeface="+mn-ea"/>
                  <a:cs typeface="+mn-cs"/>
                </a:rPr>
                <a:t>修改</a:t>
              </a:r>
            </a:p>
          </p:txBody>
        </p:sp>
        <p:sp>
          <p:nvSpPr>
            <p:cNvPr id="58" name="Rectangle 58"/>
            <p:cNvSpPr/>
            <p:nvPr/>
          </p:nvSpPr>
          <p:spPr>
            <a:xfrm>
              <a:off x="8161972" y="2263140"/>
              <a:ext cx="1582102" cy="173355"/>
            </a:xfrm>
            <a:prstGeom prst="roundRect">
              <a:avLst>
                <a:gd name="adj" fmla="val 21978"/>
              </a:avLst>
            </a:prstGeom>
            <a:solidFill>
              <a:srgbClr val="FFFFFF"/>
            </a:solidFill>
            <a:ln>
              <a:noFill/>
            </a:ln>
          </p:spPr>
        </p:sp>
        <p:sp>
          <p:nvSpPr>
            <p:cNvPr id="59" name="TextBox 59"/>
            <p:cNvSpPr txBox="1"/>
            <p:nvPr/>
          </p:nvSpPr>
          <p:spPr>
            <a:xfrm>
              <a:off x="8143459" y="2297906"/>
              <a:ext cx="1620082" cy="190690"/>
            </a:xfrm>
            <a:prstGeom prst="rect">
              <a:avLst/>
            </a:prstGeom>
            <a:noFill/>
            <a:ln>
              <a:noFill/>
            </a:ln>
          </p:spPr>
          <p:txBody>
            <a:bodyPr wrap="none" lIns="0" tIns="0" rIns="0" bIns="0" anchor="t" anchorCtr="0">
              <a:spAutoFit/>
            </a:bodyPr>
            <a:lstStyle/>
            <a:p>
              <a:pPr algn="ctr"/>
              <a:r>
                <a:rPr lang="zh-CN" sz="980" dirty="0">
                  <a:solidFill>
                    <a:srgbClr val="C2410C"/>
                  </a:solidFill>
                  <a:latin typeface="+mn-lt"/>
                  <a:ea typeface="+mn-ea"/>
                  <a:cs typeface="+mn-cs"/>
                </a:rPr>
                <a:t>收到 WtMiss 或 Invalidate</a:t>
              </a:r>
            </a:p>
          </p:txBody>
        </p:sp>
        <p:sp>
          <p:nvSpPr>
            <p:cNvPr id="60" name="Rectangle 60"/>
            <p:cNvSpPr/>
            <p:nvPr/>
          </p:nvSpPr>
          <p:spPr>
            <a:xfrm>
              <a:off x="7441882" y="3095625"/>
              <a:ext cx="1183958" cy="173355"/>
            </a:xfrm>
            <a:prstGeom prst="roundRect">
              <a:avLst>
                <a:gd name="adj" fmla="val 21978"/>
              </a:avLst>
            </a:prstGeom>
            <a:solidFill>
              <a:srgbClr val="FFFFFF"/>
            </a:solidFill>
            <a:ln>
              <a:noFill/>
            </a:ln>
          </p:spPr>
        </p:sp>
        <p:sp>
          <p:nvSpPr>
            <p:cNvPr id="61" name="TextBox 61"/>
            <p:cNvSpPr txBox="1"/>
            <p:nvPr/>
          </p:nvSpPr>
          <p:spPr>
            <a:xfrm>
              <a:off x="7435256" y="3130391"/>
              <a:ext cx="1196259" cy="190690"/>
            </a:xfrm>
            <a:prstGeom prst="rect">
              <a:avLst/>
            </a:prstGeom>
            <a:noFill/>
            <a:ln>
              <a:noFill/>
            </a:ln>
          </p:spPr>
          <p:txBody>
            <a:bodyPr wrap="none" lIns="0" tIns="0" rIns="0" bIns="0" anchor="t" anchorCtr="0">
              <a:spAutoFit/>
            </a:bodyPr>
            <a:lstStyle/>
            <a:p>
              <a:pPr algn="ctr"/>
              <a:r>
                <a:rPr lang="zh-CN" sz="980" dirty="0">
                  <a:solidFill>
                    <a:srgbClr val="C2410C"/>
                  </a:solidFill>
                  <a:latin typeface="+mn-lt"/>
                  <a:ea typeface="+mn-ea"/>
                  <a:cs typeface="+mn-cs"/>
                </a:rPr>
                <a:t>收到 WtMiss / 传块</a:t>
              </a:r>
            </a:p>
          </p:txBody>
        </p:sp>
        <p:sp>
          <p:nvSpPr>
            <p:cNvPr id="62" name="Rectangle 62"/>
            <p:cNvSpPr/>
            <p:nvPr/>
          </p:nvSpPr>
          <p:spPr>
            <a:xfrm>
              <a:off x="9106852" y="3095625"/>
              <a:ext cx="1532572" cy="173355"/>
            </a:xfrm>
            <a:prstGeom prst="roundRect">
              <a:avLst>
                <a:gd name="adj" fmla="val 21978"/>
              </a:avLst>
            </a:prstGeom>
            <a:solidFill>
              <a:srgbClr val="FFFFFF"/>
            </a:solidFill>
            <a:ln>
              <a:noFill/>
            </a:ln>
          </p:spPr>
        </p:sp>
        <p:sp>
          <p:nvSpPr>
            <p:cNvPr id="63" name="TextBox 63"/>
            <p:cNvSpPr txBox="1"/>
            <p:nvPr/>
          </p:nvSpPr>
          <p:spPr>
            <a:xfrm>
              <a:off x="9091036" y="3130391"/>
              <a:ext cx="1565158" cy="190690"/>
            </a:xfrm>
            <a:prstGeom prst="rect">
              <a:avLst/>
            </a:prstGeom>
            <a:noFill/>
            <a:ln>
              <a:noFill/>
            </a:ln>
          </p:spPr>
          <p:txBody>
            <a:bodyPr wrap="none" lIns="0" tIns="0" rIns="0" bIns="0" anchor="t" anchorCtr="0">
              <a:spAutoFit/>
            </a:bodyPr>
            <a:lstStyle/>
            <a:p>
              <a:pPr algn="ctr"/>
              <a:r>
                <a:rPr lang="zh-CN" sz="980" dirty="0">
                  <a:solidFill>
                    <a:srgbClr val="C2410C"/>
                  </a:solidFill>
                  <a:latin typeface="+mn-lt"/>
                  <a:ea typeface="+mn-ea"/>
                  <a:cs typeface="+mn-cs"/>
                </a:rPr>
                <a:t>收到 RdMiss / 传块并写回</a:t>
              </a:r>
            </a:p>
          </p:txBody>
        </p:sp>
        <p:sp>
          <p:nvSpPr>
            <p:cNvPr id="64" name="TextBox 64"/>
            <p:cNvSpPr txBox="1"/>
            <p:nvPr/>
          </p:nvSpPr>
          <p:spPr>
            <a:xfrm>
              <a:off x="10076162" y="1441609"/>
              <a:ext cx="1433231" cy="190690"/>
            </a:xfrm>
            <a:prstGeom prst="rect">
              <a:avLst/>
            </a:prstGeom>
            <a:noFill/>
            <a:ln>
              <a:noFill/>
            </a:ln>
          </p:spPr>
          <p:txBody>
            <a:bodyPr wrap="none" lIns="0" tIns="0" rIns="0" bIns="0" anchor="t" anchorCtr="0">
              <a:spAutoFit/>
            </a:bodyPr>
            <a:lstStyle/>
            <a:p>
              <a:pPr algn="ctr"/>
              <a:r>
                <a:rPr lang="zh-CN" sz="980" dirty="0">
                  <a:solidFill>
                    <a:srgbClr val="C2410C"/>
                  </a:solidFill>
                  <a:latin typeface="+mn-lt"/>
                  <a:ea typeface="+mn-ea"/>
                  <a:cs typeface="+mn-cs"/>
                </a:rPr>
                <a:t>收到 RdMiss / 竞争传块</a:t>
              </a:r>
            </a:p>
          </p:txBody>
        </p:sp>
      </p:grpSp>
      <p:grpSp>
        <p:nvGrpSpPr>
          <p:cNvPr id="67" name="c2-text-2"/>
          <p:cNvGrpSpPr/>
          <p:nvPr/>
        </p:nvGrpSpPr>
        <p:grpSpPr>
          <a:xfrm>
            <a:off x="6242685" y="5184934"/>
            <a:ext cx="5399197" cy="220028"/>
            <a:chOff x="6242685" y="5184934"/>
            <a:chExt cx="5399197" cy="220028"/>
          </a:xfrm>
        </p:grpSpPr>
        <p:sp>
          <p:nvSpPr>
            <p:cNvPr id="66" name="TextBox 66"/>
            <p:cNvSpPr txBox="1"/>
            <p:nvPr/>
          </p:nvSpPr>
          <p:spPr>
            <a:xfrm>
              <a:off x="6242685" y="5184934"/>
              <a:ext cx="5399197" cy="220028"/>
            </a:xfrm>
            <a:prstGeom prst="rect">
              <a:avLst/>
            </a:prstGeom>
            <a:noFill/>
            <a:ln>
              <a:noFill/>
            </a:ln>
          </p:spPr>
          <p:txBody>
            <a:bodyPr wrap="none" lIns="0" tIns="0" rIns="0" bIns="0" anchor="t" anchorCtr="0">
              <a:spAutoFit/>
            </a:bodyPr>
            <a:lstStyle/>
            <a:p>
              <a:pPr algn="l"/>
              <a:r>
                <a:rPr lang="zh-CN" sz="1120" dirty="0">
                  <a:solidFill>
                    <a:srgbClr val="5B6475"/>
                  </a:solidFill>
                  <a:latin typeface="+mn-lt"/>
                  <a:ea typeface="+mn-ea"/>
                  <a:cs typeface="+mn-cs"/>
                </a:rPr>
                <a:t>响应总线上别人的请求（对应第25页的表），I 对任何请求都不理会，省略了自环</a:t>
              </a:r>
            </a:p>
          </p:txBody>
        </p:sp>
      </p:grpSp>
      <p:grpSp>
        <p:nvGrpSpPr>
          <p:cNvPr id="74" name="takeaway"/>
          <p:cNvGrpSpPr/>
          <p:nvPr/>
        </p:nvGrpSpPr>
        <p:grpSpPr>
          <a:xfrm>
            <a:off x="533400" y="5633085"/>
            <a:ext cx="11125200" cy="729615"/>
            <a:chOff x="533400" y="5633085"/>
            <a:chExt cx="11125200" cy="729615"/>
          </a:xfrm>
        </p:grpSpPr>
        <p:sp>
          <p:nvSpPr>
            <p:cNvPr id="68" name="Rectangle 68"/>
            <p:cNvSpPr/>
            <p:nvPr/>
          </p:nvSpPr>
          <p:spPr>
            <a:xfrm>
              <a:off x="533400" y="5633085"/>
              <a:ext cx="11125200" cy="729615"/>
            </a:xfrm>
            <a:prstGeom prst="roundRect">
              <a:avLst>
                <a:gd name="adj" fmla="val 15666"/>
              </a:avLst>
            </a:prstGeom>
            <a:solidFill>
              <a:srgbClr val="F4F6FB"/>
            </a:solidFill>
            <a:ln>
              <a:noFill/>
            </a:ln>
          </p:spPr>
        </p:sp>
        <p:grpSp>
          <p:nvGrpSpPr>
            <p:cNvPr id="72" name="Group 72"/>
            <p:cNvGrpSpPr/>
            <p:nvPr/>
          </p:nvGrpSpPr>
          <p:grpSpPr>
            <a:xfrm>
              <a:off x="738188" y="5897880"/>
              <a:ext cx="200026" cy="200026"/>
              <a:chOff x="738188" y="5897880"/>
              <a:chExt cx="200026" cy="200026"/>
            </a:xfrm>
          </p:grpSpPr>
          <p:sp>
            <p:nvSpPr>
              <p:cNvPr id="69" name="Freeform 69"/>
              <p:cNvSpPr/>
              <p:nvPr/>
            </p:nvSpPr>
            <p:spPr>
              <a:xfrm>
                <a:off x="738188" y="5897880"/>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1F2937"/>
                </a:solidFill>
              </a:ln>
            </p:spPr>
          </p:sp>
          <p:sp>
            <p:nvSpPr>
              <p:cNvPr id="70" name="Freeform 70"/>
              <p:cNvSpPr/>
              <p:nvPr/>
            </p:nvSpPr>
            <p:spPr>
              <a:xfrm>
                <a:off x="838200" y="5964555"/>
                <a:ext cx="9525" cy="9525"/>
              </a:xfrm>
              <a:custGeom>
                <a:avLst/>
                <a:gdLst/>
                <a:ahLst/>
                <a:cxnLst/>
                <a:rect l="l" t="t" r="r" b="b"/>
                <a:pathLst>
                  <a:path w="9525" h="9525">
                    <a:moveTo>
                      <a:pt x="0" y="0"/>
                    </a:moveTo>
                    <a:lnTo>
                      <a:pt x="111" y="0"/>
                    </a:lnTo>
                  </a:path>
                </a:pathLst>
              </a:custGeom>
              <a:noFill/>
              <a:ln w="22225">
                <a:solidFill>
                  <a:srgbClr val="1F2937"/>
                </a:solidFill>
              </a:ln>
            </p:spPr>
          </p:sp>
          <p:sp>
            <p:nvSpPr>
              <p:cNvPr id="71" name="Freeform 71"/>
              <p:cNvSpPr/>
              <p:nvPr/>
            </p:nvSpPr>
            <p:spPr>
              <a:xfrm>
                <a:off x="827088" y="5997893"/>
                <a:ext cx="22225" cy="44450"/>
              </a:xfrm>
              <a:custGeom>
                <a:avLst/>
                <a:gdLst/>
                <a:ahLst/>
                <a:cxnLst/>
                <a:rect l="l" t="t" r="r" b="b"/>
                <a:pathLst>
                  <a:path w="22225" h="44450">
                    <a:moveTo>
                      <a:pt x="0" y="0"/>
                    </a:moveTo>
                    <a:lnTo>
                      <a:pt x="11113" y="0"/>
                    </a:lnTo>
                    <a:lnTo>
                      <a:pt x="11113" y="44450"/>
                    </a:lnTo>
                    <a:lnTo>
                      <a:pt x="22225" y="44450"/>
                    </a:lnTo>
                  </a:path>
                </a:pathLst>
              </a:custGeom>
              <a:noFill/>
              <a:ln w="22225">
                <a:solidFill>
                  <a:srgbClr val="1F2937"/>
                </a:solidFill>
              </a:ln>
            </p:spPr>
          </p:sp>
        </p:grpSp>
        <p:sp>
          <p:nvSpPr>
            <p:cNvPr id="73" name="TextBox 73"/>
            <p:cNvSpPr txBox="1"/>
            <p:nvPr/>
          </p:nvSpPr>
          <p:spPr>
            <a:xfrm>
              <a:off x="1040892" y="5779770"/>
              <a:ext cx="9983534" cy="512636"/>
            </a:xfrm>
            <a:prstGeom prst="rect">
              <a:avLst/>
            </a:prstGeom>
            <a:noFill/>
            <a:ln>
              <a:noFill/>
            </a:ln>
          </p:spPr>
          <p:txBody>
            <a:bodyPr wrap="none" lIns="0" tIns="0" rIns="0" bIns="0" anchor="t" anchorCtr="0">
              <a:spAutoFit/>
            </a:bodyPr>
            <a:lstStyle/>
            <a:p>
              <a:pPr algn="l">
                <a:lnSpc>
                  <a:spcPts val="1958"/>
                </a:lnSpc>
              </a:pPr>
              <a:r>
                <a:rPr lang="zh-CN" sz="1350" dirty="0">
                  <a:solidFill>
                    <a:srgbClr val="1F2937"/>
                  </a:solidFill>
                  <a:latin typeface="+mn-lt"/>
                  <a:ea typeface="+mn-ea"/>
                  <a:cs typeface="+mn-cs"/>
                </a:rPr>
                <a:t>原课件习题 1 要求手绘的就是这两张图。对照原课件第172页的教材图时注意：教材的总线侧在 M 收到写缺失时也把块写回存储器，</a:t>
              </a:r>
              <a:br/>
              <a:r>
                <a:rPr lang="zh-CN" sz="1350" dirty="0">
                  <a:solidFill>
                    <a:srgbClr val="1F2937"/>
                  </a:solidFill>
                  <a:latin typeface="+mn-lt"/>
                  <a:ea typeface="+mn-ea"/>
                  <a:cs typeface="+mn-cs"/>
                </a:rPr>
                <a:t>本讲义按原课件第59页的表只把块传给请求者。</a:t>
              </a:r>
            </a:p>
          </p:txBody>
        </p:sp>
      </p:grpSp>
      <p:grpSp>
        <p:nvGrpSpPr>
          <p:cNvPr id="77" name="footer"/>
          <p:cNvGrpSpPr/>
          <p:nvPr/>
        </p:nvGrpSpPr>
        <p:grpSpPr>
          <a:xfrm>
            <a:off x="528447" y="6581299"/>
            <a:ext cx="11135106" cy="190690"/>
            <a:chOff x="528447" y="6581299"/>
            <a:chExt cx="11135106" cy="190690"/>
          </a:xfrm>
        </p:grpSpPr>
        <p:sp>
          <p:nvSpPr>
            <p:cNvPr id="75" name="TextBox 75"/>
            <p:cNvSpPr txBox="1"/>
            <p:nvPr/>
          </p:nvSpPr>
          <p:spPr>
            <a:xfrm>
              <a:off x="528447" y="6581299"/>
              <a:ext cx="2120748"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并行与分布式计算 · 第7章 体系结构</a:t>
              </a:r>
            </a:p>
          </p:txBody>
        </p:sp>
        <p:sp>
          <p:nvSpPr>
            <p:cNvPr id="76" name="TextBox 76"/>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26</a:t>
              </a:r>
            </a:p>
          </p:txBody>
        </p:sp>
      </p:grpSp>
    </p:spTree>
  </p:cSld>
  <p:clrMapOvr>
    <a:masterClrMapping/>
  </p:clrMapOvr>
  <p:transition xmlns:p14="http://schemas.microsoft.com/office/powerpoint/2010/main" p14:dur="400">
    <p:fade/>
  </p:transition>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7709832" cy="909257"/>
            <a:chOff x="520446" y="342900"/>
            <a:chExt cx="7709832" cy="909257"/>
          </a:xfrm>
        </p:grpSpPr>
        <p:sp>
          <p:nvSpPr>
            <p:cNvPr id="2" name="Rectangle 2"/>
            <p:cNvSpPr/>
            <p:nvPr/>
          </p:nvSpPr>
          <p:spPr>
            <a:xfrm>
              <a:off x="533400" y="342900"/>
              <a:ext cx="2586038" cy="266700"/>
            </a:xfrm>
            <a:prstGeom prst="roundRect">
              <a:avLst>
                <a:gd name="adj" fmla="val 50000"/>
              </a:avLst>
            </a:prstGeom>
            <a:solidFill>
              <a:srgbClr val="E7EDF3"/>
            </a:solidFill>
            <a:ln>
              <a:noFill/>
            </a:ln>
          </p:spPr>
        </p:sp>
        <p:sp>
          <p:nvSpPr>
            <p:cNvPr id="3" name="TextBox 3"/>
            <p:cNvSpPr txBox="1"/>
            <p:nvPr/>
          </p:nvSpPr>
          <p:spPr>
            <a:xfrm>
              <a:off x="587464" y="407194"/>
              <a:ext cx="2476957"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第7章 体系结构 · Cache 一致性问题</a:t>
              </a:r>
            </a:p>
          </p:txBody>
        </p:sp>
        <p:sp>
          <p:nvSpPr>
            <p:cNvPr id="4" name="TextBox 4"/>
            <p:cNvSpPr txBox="1"/>
            <p:nvPr/>
          </p:nvSpPr>
          <p:spPr>
            <a:xfrm>
              <a:off x="520446" y="753428"/>
              <a:ext cx="7709832"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例题：两个处理器轮流读写 X，逐步跟踪 MSI 状态</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8" name="lead"/>
          <p:cNvGrpSpPr/>
          <p:nvPr/>
        </p:nvGrpSpPr>
        <p:grpSpPr>
          <a:xfrm>
            <a:off x="526542" y="1545907"/>
            <a:ext cx="8244585" cy="264033"/>
            <a:chOff x="526542" y="1545907"/>
            <a:chExt cx="8244585" cy="264033"/>
          </a:xfrm>
        </p:grpSpPr>
        <p:sp>
          <p:nvSpPr>
            <p:cNvPr id="7" name="TextBox 7"/>
            <p:cNvSpPr txBox="1"/>
            <p:nvPr/>
          </p:nvSpPr>
          <p:spPr>
            <a:xfrm>
              <a:off x="526542" y="1545907"/>
              <a:ext cx="8244585" cy="264033"/>
            </a:xfrm>
            <a:prstGeom prst="rect">
              <a:avLst/>
            </a:prstGeom>
            <a:noFill/>
            <a:ln>
              <a:noFill/>
            </a:ln>
          </p:spPr>
          <p:txBody>
            <a:bodyPr wrap="none" lIns="0" tIns="0" rIns="0" bIns="0" anchor="t" anchorCtr="0">
              <a:spAutoFit/>
            </a:bodyPr>
            <a:lstStyle/>
            <a:p>
              <a:pPr algn="l"/>
              <a:r>
                <a:rPr lang="zh-CN" sz="1350" dirty="0">
                  <a:solidFill>
                    <a:srgbClr val="5B6475"/>
                  </a:solidFill>
                  <a:latin typeface="+mn-lt"/>
                  <a:ea typeface="+mn-ea"/>
                  <a:cs typeface="+mn-cs"/>
                </a:rPr>
                <a:t>初始时 X 只在存储器中（值 0），P1、P2 的 Cache 都没有 X；P1 的 Cache 中 X 和 Y 映射到同一行。</a:t>
              </a:r>
            </a:p>
          </p:txBody>
        </p:sp>
      </p:grpSp>
      <p:grpSp>
        <p:nvGrpSpPr>
          <p:cNvPr id="85" name="c1-table-1"/>
          <p:cNvGrpSpPr/>
          <p:nvPr/>
        </p:nvGrpSpPr>
        <p:grpSpPr>
          <a:xfrm>
            <a:off x="533400" y="1928812"/>
            <a:ext cx="11125200" cy="3510915"/>
            <a:chOff x="533400" y="1928812"/>
            <a:chExt cx="11125200" cy="3510915"/>
          </a:xfrm>
        </p:grpSpPr>
        <p:sp>
          <p:nvSpPr>
            <p:cNvPr id="9" name="Rectangle 9"/>
            <p:cNvSpPr/>
            <p:nvPr/>
          </p:nvSpPr>
          <p:spPr>
            <a:xfrm>
              <a:off x="533400" y="1928812"/>
              <a:ext cx="11125200" cy="439102"/>
            </a:xfrm>
            <a:prstGeom prst="rect">
              <a:avLst/>
            </a:prstGeom>
            <a:solidFill>
              <a:srgbClr val="334E68"/>
            </a:solidFill>
            <a:ln>
              <a:noFill/>
            </a:ln>
          </p:spPr>
        </p:sp>
        <p:sp>
          <p:nvSpPr>
            <p:cNvPr id="10" name="TextBox 10"/>
            <p:cNvSpPr txBox="1"/>
            <p:nvPr/>
          </p:nvSpPr>
          <p:spPr>
            <a:xfrm>
              <a:off x="769048" y="2053590"/>
              <a:ext cx="195453"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步</a:t>
              </a:r>
            </a:p>
          </p:txBody>
        </p:sp>
        <p:sp>
          <p:nvSpPr>
            <p:cNvPr id="11" name="TextBox 11"/>
            <p:cNvSpPr txBox="1"/>
            <p:nvPr/>
          </p:nvSpPr>
          <p:spPr>
            <a:xfrm>
              <a:off x="1735455" y="2053590"/>
              <a:ext cx="377190"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操作</a:t>
              </a:r>
            </a:p>
          </p:txBody>
        </p:sp>
        <p:sp>
          <p:nvSpPr>
            <p:cNvPr id="12" name="TextBox 12"/>
            <p:cNvSpPr txBox="1"/>
            <p:nvPr/>
          </p:nvSpPr>
          <p:spPr>
            <a:xfrm>
              <a:off x="3389185" y="2053590"/>
              <a:ext cx="740664"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总线消息</a:t>
              </a:r>
            </a:p>
          </p:txBody>
        </p:sp>
        <p:sp>
          <p:nvSpPr>
            <p:cNvPr id="13" name="TextBox 13"/>
            <p:cNvSpPr txBox="1"/>
            <p:nvPr/>
          </p:nvSpPr>
          <p:spPr>
            <a:xfrm>
              <a:off x="5912930" y="2053590"/>
              <a:ext cx="922401"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数据从哪来</a:t>
              </a:r>
            </a:p>
          </p:txBody>
        </p:sp>
        <p:sp>
          <p:nvSpPr>
            <p:cNvPr id="14" name="TextBox 14"/>
            <p:cNvSpPr txBox="1"/>
            <p:nvPr/>
          </p:nvSpPr>
          <p:spPr>
            <a:xfrm>
              <a:off x="8163173" y="2053590"/>
              <a:ext cx="649110"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P1 中 X</a:t>
              </a:r>
            </a:p>
          </p:txBody>
        </p:sp>
        <p:sp>
          <p:nvSpPr>
            <p:cNvPr id="15" name="TextBox 15"/>
            <p:cNvSpPr txBox="1"/>
            <p:nvPr/>
          </p:nvSpPr>
          <p:spPr>
            <a:xfrm>
              <a:off x="9331890" y="2053590"/>
              <a:ext cx="649110"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P2 中 X</a:t>
              </a:r>
            </a:p>
          </p:txBody>
        </p:sp>
        <p:sp>
          <p:nvSpPr>
            <p:cNvPr id="16" name="TextBox 16"/>
            <p:cNvSpPr txBox="1"/>
            <p:nvPr/>
          </p:nvSpPr>
          <p:spPr>
            <a:xfrm>
              <a:off x="10388761" y="2053590"/>
              <a:ext cx="1093782"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存储器中的 X</a:t>
              </a:r>
            </a:p>
          </p:txBody>
        </p:sp>
        <p:sp>
          <p:nvSpPr>
            <p:cNvPr id="17" name="TextBox 17"/>
            <p:cNvSpPr txBox="1"/>
            <p:nvPr/>
          </p:nvSpPr>
          <p:spPr>
            <a:xfrm>
              <a:off x="807440" y="2492692"/>
              <a:ext cx="118669" cy="264033"/>
            </a:xfrm>
            <a:prstGeom prst="rect">
              <a:avLst/>
            </a:prstGeom>
            <a:noFill/>
            <a:ln>
              <a:noFill/>
            </a:ln>
          </p:spPr>
          <p:txBody>
            <a:bodyPr wrap="none" lIns="0" tIns="0" rIns="0" bIns="0" anchor="t" anchorCtr="0">
              <a:spAutoFit/>
            </a:bodyPr>
            <a:lstStyle/>
            <a:p>
              <a:pPr algn="ctr"/>
              <a:r>
                <a:rPr lang="zh-CN" sz="1350" b="1" dirty="0">
                  <a:solidFill>
                    <a:srgbClr val="1F2937"/>
                  </a:solidFill>
                  <a:latin typeface="+mn-lt"/>
                  <a:ea typeface="+mn-ea"/>
                  <a:cs typeface="+mn-cs"/>
                </a:rPr>
                <a:t>1</a:t>
              </a:r>
            </a:p>
          </p:txBody>
        </p:sp>
        <p:sp>
          <p:nvSpPr>
            <p:cNvPr id="18" name="TextBox 18"/>
            <p:cNvSpPr txBox="1"/>
            <p:nvPr/>
          </p:nvSpPr>
          <p:spPr>
            <a:xfrm>
              <a:off x="1297114" y="2492692"/>
              <a:ext cx="627507"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P1 读 X</a:t>
              </a:r>
            </a:p>
          </p:txBody>
        </p:sp>
        <p:sp>
          <p:nvSpPr>
            <p:cNvPr id="19" name="TextBox 19"/>
            <p:cNvSpPr txBox="1"/>
            <p:nvPr/>
          </p:nvSpPr>
          <p:spPr>
            <a:xfrm>
              <a:off x="2743009" y="2492692"/>
              <a:ext cx="615506" cy="264033"/>
            </a:xfrm>
            <a:prstGeom prst="rect">
              <a:avLst/>
            </a:prstGeom>
            <a:noFill/>
            <a:ln>
              <a:noFill/>
            </a:ln>
          </p:spPr>
          <p:txBody>
            <a:bodyPr wrap="none" lIns="0" tIns="0" rIns="0" bIns="0" anchor="t" anchorCtr="0">
              <a:spAutoFit/>
            </a:bodyPr>
            <a:lstStyle/>
            <a:p>
              <a:pPr algn="l"/>
              <a:r>
                <a:rPr lang="en-US" sz="1350" dirty="0">
                  <a:solidFill>
                    <a:srgbClr val="1F2937"/>
                  </a:solidFill>
                  <a:latin typeface="+mn-lt"/>
                  <a:ea typeface="+mn-ea"/>
                  <a:cs typeface="+mn-cs"/>
                </a:rPr>
                <a:t>RdMiss</a:t>
              </a:r>
            </a:p>
          </p:txBody>
        </p:sp>
        <p:sp>
          <p:nvSpPr>
            <p:cNvPr id="20" name="TextBox 20"/>
            <p:cNvSpPr txBox="1"/>
            <p:nvPr/>
          </p:nvSpPr>
          <p:spPr>
            <a:xfrm>
              <a:off x="4968049" y="2492692"/>
              <a:ext cx="2446797"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存储器（没有 Cache 有副本）</a:t>
              </a:r>
            </a:p>
          </p:txBody>
        </p:sp>
        <p:sp>
          <p:nvSpPr>
            <p:cNvPr id="21" name="TextBox 21"/>
            <p:cNvSpPr txBox="1"/>
            <p:nvPr/>
          </p:nvSpPr>
          <p:spPr>
            <a:xfrm>
              <a:off x="8428063" y="2492692"/>
              <a:ext cx="119329" cy="264033"/>
            </a:xfrm>
            <a:prstGeom prst="rect">
              <a:avLst/>
            </a:prstGeom>
            <a:noFill/>
            <a:ln>
              <a:noFill/>
            </a:ln>
          </p:spPr>
          <p:txBody>
            <a:bodyPr wrap="none" lIns="0" tIns="0" rIns="0" bIns="0" anchor="t" anchorCtr="0">
              <a:spAutoFit/>
            </a:bodyPr>
            <a:lstStyle/>
            <a:p>
              <a:pPr algn="ctr"/>
              <a:r>
                <a:rPr lang="en-US" sz="1350" dirty="0">
                  <a:solidFill>
                    <a:srgbClr val="1F2937"/>
                  </a:solidFill>
                  <a:latin typeface="+mn-lt"/>
                  <a:ea typeface="+mn-ea"/>
                  <a:cs typeface="+mn-cs"/>
                </a:rPr>
                <a:t>S</a:t>
              </a:r>
            </a:p>
          </p:txBody>
        </p:sp>
        <p:sp>
          <p:nvSpPr>
            <p:cNvPr id="22" name="TextBox 22"/>
            <p:cNvSpPr txBox="1"/>
            <p:nvPr/>
          </p:nvSpPr>
          <p:spPr>
            <a:xfrm>
              <a:off x="9620783" y="2492692"/>
              <a:ext cx="71323" cy="264033"/>
            </a:xfrm>
            <a:prstGeom prst="rect">
              <a:avLst/>
            </a:prstGeom>
            <a:noFill/>
            <a:ln>
              <a:noFill/>
            </a:ln>
          </p:spPr>
          <p:txBody>
            <a:bodyPr wrap="none" lIns="0" tIns="0" rIns="0" bIns="0" anchor="t" anchorCtr="0">
              <a:spAutoFit/>
            </a:bodyPr>
            <a:lstStyle/>
            <a:p>
              <a:pPr algn="ctr"/>
              <a:r>
                <a:rPr lang="en-US" sz="1350" dirty="0">
                  <a:solidFill>
                    <a:srgbClr val="1F2937"/>
                  </a:solidFill>
                  <a:latin typeface="+mn-lt"/>
                  <a:ea typeface="+mn-ea"/>
                  <a:cs typeface="+mn-cs"/>
                </a:rPr>
                <a:t>I</a:t>
              </a:r>
            </a:p>
          </p:txBody>
        </p:sp>
        <p:sp>
          <p:nvSpPr>
            <p:cNvPr id="23" name="TextBox 23"/>
            <p:cNvSpPr txBox="1"/>
            <p:nvPr/>
          </p:nvSpPr>
          <p:spPr>
            <a:xfrm>
              <a:off x="10308717" y="2492692"/>
              <a:ext cx="840619"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最新（0）</a:t>
              </a:r>
            </a:p>
          </p:txBody>
        </p:sp>
        <p:sp>
          <p:nvSpPr>
            <p:cNvPr id="24" name="Rectangle 24"/>
            <p:cNvSpPr/>
            <p:nvPr/>
          </p:nvSpPr>
          <p:spPr>
            <a:xfrm>
              <a:off x="533400" y="2801302"/>
              <a:ext cx="11125200" cy="9525"/>
            </a:xfrm>
            <a:prstGeom prst="rect">
              <a:avLst/>
            </a:prstGeom>
            <a:solidFill>
              <a:srgbClr val="D9DFEA"/>
            </a:solidFill>
            <a:ln>
              <a:noFill/>
            </a:ln>
          </p:spPr>
        </p:sp>
        <p:sp>
          <p:nvSpPr>
            <p:cNvPr id="25" name="Rectangle 25"/>
            <p:cNvSpPr/>
            <p:nvPr/>
          </p:nvSpPr>
          <p:spPr>
            <a:xfrm>
              <a:off x="533400" y="2806065"/>
              <a:ext cx="11125200" cy="439102"/>
            </a:xfrm>
            <a:prstGeom prst="rect">
              <a:avLst/>
            </a:prstGeom>
            <a:solidFill>
              <a:srgbClr val="F4F6FB"/>
            </a:solidFill>
            <a:ln>
              <a:noFill/>
            </a:ln>
          </p:spPr>
        </p:sp>
        <p:sp>
          <p:nvSpPr>
            <p:cNvPr id="26" name="TextBox 26"/>
            <p:cNvSpPr txBox="1"/>
            <p:nvPr/>
          </p:nvSpPr>
          <p:spPr>
            <a:xfrm>
              <a:off x="807440" y="2931795"/>
              <a:ext cx="118669" cy="264033"/>
            </a:xfrm>
            <a:prstGeom prst="rect">
              <a:avLst/>
            </a:prstGeom>
            <a:noFill/>
            <a:ln>
              <a:noFill/>
            </a:ln>
          </p:spPr>
          <p:txBody>
            <a:bodyPr wrap="none" lIns="0" tIns="0" rIns="0" bIns="0" anchor="t" anchorCtr="0">
              <a:spAutoFit/>
            </a:bodyPr>
            <a:lstStyle/>
            <a:p>
              <a:pPr algn="ctr"/>
              <a:r>
                <a:rPr lang="zh-CN" sz="1350" b="1" dirty="0">
                  <a:solidFill>
                    <a:srgbClr val="1F2937"/>
                  </a:solidFill>
                  <a:latin typeface="+mn-lt"/>
                  <a:ea typeface="+mn-ea"/>
                  <a:cs typeface="+mn-cs"/>
                </a:rPr>
                <a:t>2</a:t>
              </a:r>
            </a:p>
          </p:txBody>
        </p:sp>
        <p:sp>
          <p:nvSpPr>
            <p:cNvPr id="27" name="TextBox 27"/>
            <p:cNvSpPr txBox="1"/>
            <p:nvPr/>
          </p:nvSpPr>
          <p:spPr>
            <a:xfrm>
              <a:off x="1297114" y="2931795"/>
              <a:ext cx="627507"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P2 读 X</a:t>
              </a:r>
            </a:p>
          </p:txBody>
        </p:sp>
        <p:sp>
          <p:nvSpPr>
            <p:cNvPr id="28" name="TextBox 28"/>
            <p:cNvSpPr txBox="1"/>
            <p:nvPr/>
          </p:nvSpPr>
          <p:spPr>
            <a:xfrm>
              <a:off x="2743009" y="2931795"/>
              <a:ext cx="615506" cy="264033"/>
            </a:xfrm>
            <a:prstGeom prst="rect">
              <a:avLst/>
            </a:prstGeom>
            <a:noFill/>
            <a:ln>
              <a:noFill/>
            </a:ln>
          </p:spPr>
          <p:txBody>
            <a:bodyPr wrap="none" lIns="0" tIns="0" rIns="0" bIns="0" anchor="t" anchorCtr="0">
              <a:spAutoFit/>
            </a:bodyPr>
            <a:lstStyle/>
            <a:p>
              <a:pPr algn="l"/>
              <a:r>
                <a:rPr lang="en-US" sz="1350" dirty="0">
                  <a:solidFill>
                    <a:srgbClr val="1F2937"/>
                  </a:solidFill>
                  <a:latin typeface="+mn-lt"/>
                  <a:ea typeface="+mn-ea"/>
                  <a:cs typeface="+mn-cs"/>
                </a:rPr>
                <a:t>RdMiss</a:t>
              </a:r>
            </a:p>
          </p:txBody>
        </p:sp>
        <p:sp>
          <p:nvSpPr>
            <p:cNvPr id="29" name="TextBox 29"/>
            <p:cNvSpPr txBox="1"/>
            <p:nvPr/>
          </p:nvSpPr>
          <p:spPr>
            <a:xfrm>
              <a:off x="4968049" y="2931795"/>
              <a:ext cx="2460239"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P1 的 Cache（S 块竞争传送）</a:t>
              </a:r>
            </a:p>
          </p:txBody>
        </p:sp>
        <p:sp>
          <p:nvSpPr>
            <p:cNvPr id="30" name="TextBox 30"/>
            <p:cNvSpPr txBox="1"/>
            <p:nvPr/>
          </p:nvSpPr>
          <p:spPr>
            <a:xfrm>
              <a:off x="8428063" y="2931795"/>
              <a:ext cx="119329" cy="264033"/>
            </a:xfrm>
            <a:prstGeom prst="rect">
              <a:avLst/>
            </a:prstGeom>
            <a:noFill/>
            <a:ln>
              <a:noFill/>
            </a:ln>
          </p:spPr>
          <p:txBody>
            <a:bodyPr wrap="none" lIns="0" tIns="0" rIns="0" bIns="0" anchor="t" anchorCtr="0">
              <a:spAutoFit/>
            </a:bodyPr>
            <a:lstStyle/>
            <a:p>
              <a:pPr algn="ctr"/>
              <a:r>
                <a:rPr lang="en-US" sz="1350" dirty="0">
                  <a:solidFill>
                    <a:srgbClr val="1F2937"/>
                  </a:solidFill>
                  <a:latin typeface="+mn-lt"/>
                  <a:ea typeface="+mn-ea"/>
                  <a:cs typeface="+mn-cs"/>
                </a:rPr>
                <a:t>S</a:t>
              </a:r>
            </a:p>
          </p:txBody>
        </p:sp>
        <p:sp>
          <p:nvSpPr>
            <p:cNvPr id="31" name="TextBox 31"/>
            <p:cNvSpPr txBox="1"/>
            <p:nvPr/>
          </p:nvSpPr>
          <p:spPr>
            <a:xfrm>
              <a:off x="9596780" y="2931795"/>
              <a:ext cx="119329" cy="264033"/>
            </a:xfrm>
            <a:prstGeom prst="rect">
              <a:avLst/>
            </a:prstGeom>
            <a:noFill/>
            <a:ln>
              <a:noFill/>
            </a:ln>
          </p:spPr>
          <p:txBody>
            <a:bodyPr wrap="none" lIns="0" tIns="0" rIns="0" bIns="0" anchor="t" anchorCtr="0">
              <a:spAutoFit/>
            </a:bodyPr>
            <a:lstStyle/>
            <a:p>
              <a:pPr algn="ctr"/>
              <a:r>
                <a:rPr lang="en-US" sz="1350" dirty="0">
                  <a:solidFill>
                    <a:srgbClr val="1F2937"/>
                  </a:solidFill>
                  <a:latin typeface="+mn-lt"/>
                  <a:ea typeface="+mn-ea"/>
                  <a:cs typeface="+mn-cs"/>
                </a:rPr>
                <a:t>S</a:t>
              </a:r>
            </a:p>
          </p:txBody>
        </p:sp>
        <p:sp>
          <p:nvSpPr>
            <p:cNvPr id="32" name="TextBox 32"/>
            <p:cNvSpPr txBox="1"/>
            <p:nvPr/>
          </p:nvSpPr>
          <p:spPr>
            <a:xfrm>
              <a:off x="10308717" y="2931795"/>
              <a:ext cx="840619"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最新（0）</a:t>
              </a:r>
            </a:p>
          </p:txBody>
        </p:sp>
        <p:sp>
          <p:nvSpPr>
            <p:cNvPr id="33" name="Rectangle 33"/>
            <p:cNvSpPr/>
            <p:nvPr/>
          </p:nvSpPr>
          <p:spPr>
            <a:xfrm>
              <a:off x="533400" y="3240405"/>
              <a:ext cx="11125200" cy="9525"/>
            </a:xfrm>
            <a:prstGeom prst="rect">
              <a:avLst/>
            </a:prstGeom>
            <a:solidFill>
              <a:srgbClr val="D9DFEA"/>
            </a:solidFill>
            <a:ln>
              <a:noFill/>
            </a:ln>
          </p:spPr>
        </p:sp>
        <p:sp>
          <p:nvSpPr>
            <p:cNvPr id="34" name="TextBox 34"/>
            <p:cNvSpPr txBox="1"/>
            <p:nvPr/>
          </p:nvSpPr>
          <p:spPr>
            <a:xfrm>
              <a:off x="807440" y="3370898"/>
              <a:ext cx="118669" cy="264033"/>
            </a:xfrm>
            <a:prstGeom prst="rect">
              <a:avLst/>
            </a:prstGeom>
            <a:noFill/>
            <a:ln>
              <a:noFill/>
            </a:ln>
          </p:spPr>
          <p:txBody>
            <a:bodyPr wrap="none" lIns="0" tIns="0" rIns="0" bIns="0" anchor="t" anchorCtr="0">
              <a:spAutoFit/>
            </a:bodyPr>
            <a:lstStyle/>
            <a:p>
              <a:pPr algn="ctr"/>
              <a:r>
                <a:rPr lang="zh-CN" sz="1350" b="1" dirty="0">
                  <a:solidFill>
                    <a:srgbClr val="1F2937"/>
                  </a:solidFill>
                  <a:latin typeface="+mn-lt"/>
                  <a:ea typeface="+mn-ea"/>
                  <a:cs typeface="+mn-cs"/>
                </a:rPr>
                <a:t>3</a:t>
              </a:r>
            </a:p>
          </p:txBody>
        </p:sp>
        <p:sp>
          <p:nvSpPr>
            <p:cNvPr id="35" name="TextBox 35"/>
            <p:cNvSpPr txBox="1"/>
            <p:nvPr/>
          </p:nvSpPr>
          <p:spPr>
            <a:xfrm>
              <a:off x="1297114" y="3370898"/>
              <a:ext cx="953948"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P1 写 X = 1</a:t>
              </a:r>
            </a:p>
          </p:txBody>
        </p:sp>
        <p:sp>
          <p:nvSpPr>
            <p:cNvPr id="36" name="TextBox 36"/>
            <p:cNvSpPr txBox="1"/>
            <p:nvPr/>
          </p:nvSpPr>
          <p:spPr>
            <a:xfrm>
              <a:off x="2743009" y="3370898"/>
              <a:ext cx="881853" cy="264033"/>
            </a:xfrm>
            <a:prstGeom prst="rect">
              <a:avLst/>
            </a:prstGeom>
            <a:noFill/>
            <a:ln>
              <a:noFill/>
            </a:ln>
          </p:spPr>
          <p:txBody>
            <a:bodyPr wrap="none" lIns="0" tIns="0" rIns="0" bIns="0" anchor="t" anchorCtr="0">
              <a:spAutoFit/>
            </a:bodyPr>
            <a:lstStyle/>
            <a:p>
              <a:pPr algn="l"/>
              <a:r>
                <a:rPr lang="en-US" sz="1350" dirty="0">
                  <a:solidFill>
                    <a:srgbClr val="1F2937"/>
                  </a:solidFill>
                  <a:latin typeface="+mn-lt"/>
                  <a:ea typeface="+mn-ea"/>
                  <a:cs typeface="+mn-cs"/>
                </a:rPr>
                <a:t>Invalidate</a:t>
              </a:r>
            </a:p>
          </p:txBody>
        </p:sp>
        <p:sp>
          <p:nvSpPr>
            <p:cNvPr id="37" name="TextBox 37"/>
            <p:cNvSpPr txBox="1"/>
            <p:nvPr/>
          </p:nvSpPr>
          <p:spPr>
            <a:xfrm>
              <a:off x="4968049" y="3370898"/>
              <a:ext cx="113671"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a:t>
              </a:r>
            </a:p>
          </p:txBody>
        </p:sp>
        <p:sp>
          <p:nvSpPr>
            <p:cNvPr id="38" name="Rectangle 38"/>
            <p:cNvSpPr/>
            <p:nvPr/>
          </p:nvSpPr>
          <p:spPr>
            <a:xfrm>
              <a:off x="7885748" y="3254692"/>
              <a:ext cx="1204912" cy="420052"/>
            </a:xfrm>
            <a:prstGeom prst="rect">
              <a:avLst/>
            </a:prstGeom>
            <a:solidFill>
              <a:srgbClr val="FDEEE7"/>
            </a:solidFill>
            <a:ln>
              <a:noFill/>
            </a:ln>
          </p:spPr>
        </p:sp>
        <p:sp>
          <p:nvSpPr>
            <p:cNvPr id="39" name="TextBox 39"/>
            <p:cNvSpPr txBox="1"/>
            <p:nvPr/>
          </p:nvSpPr>
          <p:spPr>
            <a:xfrm>
              <a:off x="8408860" y="3370898"/>
              <a:ext cx="157734" cy="264033"/>
            </a:xfrm>
            <a:prstGeom prst="rect">
              <a:avLst/>
            </a:prstGeom>
            <a:noFill/>
            <a:ln>
              <a:noFill/>
            </a:ln>
          </p:spPr>
          <p:txBody>
            <a:bodyPr wrap="none" lIns="0" tIns="0" rIns="0" bIns="0" anchor="t" anchorCtr="0">
              <a:spAutoFit/>
            </a:bodyPr>
            <a:lstStyle/>
            <a:p>
              <a:pPr algn="ctr"/>
              <a:r>
                <a:rPr lang="en-US" sz="1350" dirty="0">
                  <a:solidFill>
                    <a:srgbClr val="1F2937"/>
                  </a:solidFill>
                  <a:latin typeface="+mn-lt"/>
                  <a:ea typeface="+mn-ea"/>
                  <a:cs typeface="+mn-cs"/>
                </a:rPr>
                <a:t>M</a:t>
              </a:r>
            </a:p>
          </p:txBody>
        </p:sp>
        <p:sp>
          <p:nvSpPr>
            <p:cNvPr id="40" name="TextBox 40"/>
            <p:cNvSpPr txBox="1"/>
            <p:nvPr/>
          </p:nvSpPr>
          <p:spPr>
            <a:xfrm>
              <a:off x="9620783" y="3370898"/>
              <a:ext cx="71323" cy="264033"/>
            </a:xfrm>
            <a:prstGeom prst="rect">
              <a:avLst/>
            </a:prstGeom>
            <a:noFill/>
            <a:ln>
              <a:noFill/>
            </a:ln>
          </p:spPr>
          <p:txBody>
            <a:bodyPr wrap="none" lIns="0" tIns="0" rIns="0" bIns="0" anchor="t" anchorCtr="0">
              <a:spAutoFit/>
            </a:bodyPr>
            <a:lstStyle/>
            <a:p>
              <a:pPr algn="ctr"/>
              <a:r>
                <a:rPr lang="en-US" sz="1350" dirty="0">
                  <a:solidFill>
                    <a:srgbClr val="1F2937"/>
                  </a:solidFill>
                  <a:latin typeface="+mn-lt"/>
                  <a:ea typeface="+mn-ea"/>
                  <a:cs typeface="+mn-cs"/>
                </a:rPr>
                <a:t>I</a:t>
              </a:r>
            </a:p>
          </p:txBody>
        </p:sp>
        <p:sp>
          <p:nvSpPr>
            <p:cNvPr id="41" name="TextBox 41"/>
            <p:cNvSpPr txBox="1"/>
            <p:nvPr/>
          </p:nvSpPr>
          <p:spPr>
            <a:xfrm>
              <a:off x="10308717" y="3370898"/>
              <a:ext cx="663880" cy="264033"/>
            </a:xfrm>
            <a:prstGeom prst="rect">
              <a:avLst/>
            </a:prstGeom>
            <a:noFill/>
            <a:ln>
              <a:noFill/>
            </a:ln>
          </p:spPr>
          <p:txBody>
            <a:bodyPr wrap="none" lIns="0" tIns="0" rIns="0" bIns="0" anchor="t" anchorCtr="0">
              <a:spAutoFit/>
            </a:bodyPr>
            <a:lstStyle/>
            <a:p>
              <a:pPr algn="l"/>
              <a:r>
                <a:rPr lang="zh-CN" sz="1350" b="1" dirty="0">
                  <a:solidFill>
                    <a:srgbClr val="B42318"/>
                  </a:solidFill>
                  <a:latin typeface="+mn-lt"/>
                  <a:ea typeface="+mn-ea"/>
                  <a:cs typeface="+mn-cs"/>
                </a:rPr>
                <a:t>旧（0）</a:t>
              </a:r>
            </a:p>
          </p:txBody>
        </p:sp>
        <p:sp>
          <p:nvSpPr>
            <p:cNvPr id="42" name="Rectangle 42"/>
            <p:cNvSpPr/>
            <p:nvPr/>
          </p:nvSpPr>
          <p:spPr>
            <a:xfrm>
              <a:off x="533400" y="3679508"/>
              <a:ext cx="11125200" cy="9525"/>
            </a:xfrm>
            <a:prstGeom prst="rect">
              <a:avLst/>
            </a:prstGeom>
            <a:solidFill>
              <a:srgbClr val="D9DFEA"/>
            </a:solidFill>
            <a:ln>
              <a:noFill/>
            </a:ln>
          </p:spPr>
        </p:sp>
        <p:sp>
          <p:nvSpPr>
            <p:cNvPr id="43" name="Rectangle 43"/>
            <p:cNvSpPr/>
            <p:nvPr/>
          </p:nvSpPr>
          <p:spPr>
            <a:xfrm>
              <a:off x="533400" y="3684270"/>
              <a:ext cx="11125200" cy="439102"/>
            </a:xfrm>
            <a:prstGeom prst="rect">
              <a:avLst/>
            </a:prstGeom>
            <a:solidFill>
              <a:srgbClr val="F4F6FB"/>
            </a:solidFill>
            <a:ln>
              <a:noFill/>
            </a:ln>
          </p:spPr>
        </p:sp>
        <p:sp>
          <p:nvSpPr>
            <p:cNvPr id="44" name="TextBox 44"/>
            <p:cNvSpPr txBox="1"/>
            <p:nvPr/>
          </p:nvSpPr>
          <p:spPr>
            <a:xfrm>
              <a:off x="807440" y="3809048"/>
              <a:ext cx="118669" cy="264033"/>
            </a:xfrm>
            <a:prstGeom prst="rect">
              <a:avLst/>
            </a:prstGeom>
            <a:noFill/>
            <a:ln>
              <a:noFill/>
            </a:ln>
          </p:spPr>
          <p:txBody>
            <a:bodyPr wrap="none" lIns="0" tIns="0" rIns="0" bIns="0" anchor="t" anchorCtr="0">
              <a:spAutoFit/>
            </a:bodyPr>
            <a:lstStyle/>
            <a:p>
              <a:pPr algn="ctr"/>
              <a:r>
                <a:rPr lang="zh-CN" sz="1350" b="1" dirty="0">
                  <a:solidFill>
                    <a:srgbClr val="1F2937"/>
                  </a:solidFill>
                  <a:latin typeface="+mn-lt"/>
                  <a:ea typeface="+mn-ea"/>
                  <a:cs typeface="+mn-cs"/>
                </a:rPr>
                <a:t>4</a:t>
              </a:r>
            </a:p>
          </p:txBody>
        </p:sp>
        <p:sp>
          <p:nvSpPr>
            <p:cNvPr id="45" name="TextBox 45"/>
            <p:cNvSpPr txBox="1"/>
            <p:nvPr/>
          </p:nvSpPr>
          <p:spPr>
            <a:xfrm>
              <a:off x="1297114" y="3809048"/>
              <a:ext cx="627507"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P2 读 X</a:t>
              </a:r>
            </a:p>
          </p:txBody>
        </p:sp>
        <p:sp>
          <p:nvSpPr>
            <p:cNvPr id="46" name="TextBox 46"/>
            <p:cNvSpPr txBox="1"/>
            <p:nvPr/>
          </p:nvSpPr>
          <p:spPr>
            <a:xfrm>
              <a:off x="2743009" y="3809048"/>
              <a:ext cx="615506" cy="264033"/>
            </a:xfrm>
            <a:prstGeom prst="rect">
              <a:avLst/>
            </a:prstGeom>
            <a:noFill/>
            <a:ln>
              <a:noFill/>
            </a:ln>
          </p:spPr>
          <p:txBody>
            <a:bodyPr wrap="none" lIns="0" tIns="0" rIns="0" bIns="0" anchor="t" anchorCtr="0">
              <a:spAutoFit/>
            </a:bodyPr>
            <a:lstStyle/>
            <a:p>
              <a:pPr algn="l"/>
              <a:r>
                <a:rPr lang="en-US" sz="1350" dirty="0">
                  <a:solidFill>
                    <a:srgbClr val="1F2937"/>
                  </a:solidFill>
                  <a:latin typeface="+mn-lt"/>
                  <a:ea typeface="+mn-ea"/>
                  <a:cs typeface="+mn-cs"/>
                </a:rPr>
                <a:t>RdMiss</a:t>
              </a:r>
            </a:p>
          </p:txBody>
        </p:sp>
        <p:sp>
          <p:nvSpPr>
            <p:cNvPr id="47" name="TextBox 47"/>
            <p:cNvSpPr txBox="1"/>
            <p:nvPr/>
          </p:nvSpPr>
          <p:spPr>
            <a:xfrm>
              <a:off x="4968049" y="3809048"/>
              <a:ext cx="2368753"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P1 传给 P2，同时写回存储器</a:t>
              </a:r>
            </a:p>
          </p:txBody>
        </p:sp>
        <p:sp>
          <p:nvSpPr>
            <p:cNvPr id="48" name="TextBox 48"/>
            <p:cNvSpPr txBox="1"/>
            <p:nvPr/>
          </p:nvSpPr>
          <p:spPr>
            <a:xfrm>
              <a:off x="8428063" y="3809048"/>
              <a:ext cx="119329" cy="264033"/>
            </a:xfrm>
            <a:prstGeom prst="rect">
              <a:avLst/>
            </a:prstGeom>
            <a:noFill/>
            <a:ln>
              <a:noFill/>
            </a:ln>
          </p:spPr>
          <p:txBody>
            <a:bodyPr wrap="none" lIns="0" tIns="0" rIns="0" bIns="0" anchor="t" anchorCtr="0">
              <a:spAutoFit/>
            </a:bodyPr>
            <a:lstStyle/>
            <a:p>
              <a:pPr algn="ctr"/>
              <a:r>
                <a:rPr lang="en-US" sz="1350" dirty="0">
                  <a:solidFill>
                    <a:srgbClr val="1F2937"/>
                  </a:solidFill>
                  <a:latin typeface="+mn-lt"/>
                  <a:ea typeface="+mn-ea"/>
                  <a:cs typeface="+mn-cs"/>
                </a:rPr>
                <a:t>S</a:t>
              </a:r>
            </a:p>
          </p:txBody>
        </p:sp>
        <p:sp>
          <p:nvSpPr>
            <p:cNvPr id="49" name="TextBox 49"/>
            <p:cNvSpPr txBox="1"/>
            <p:nvPr/>
          </p:nvSpPr>
          <p:spPr>
            <a:xfrm>
              <a:off x="9596780" y="3809048"/>
              <a:ext cx="119329" cy="264033"/>
            </a:xfrm>
            <a:prstGeom prst="rect">
              <a:avLst/>
            </a:prstGeom>
            <a:noFill/>
            <a:ln>
              <a:noFill/>
            </a:ln>
          </p:spPr>
          <p:txBody>
            <a:bodyPr wrap="none" lIns="0" tIns="0" rIns="0" bIns="0" anchor="t" anchorCtr="0">
              <a:spAutoFit/>
            </a:bodyPr>
            <a:lstStyle/>
            <a:p>
              <a:pPr algn="ctr"/>
              <a:r>
                <a:rPr lang="en-US" sz="1350" dirty="0">
                  <a:solidFill>
                    <a:srgbClr val="1F2937"/>
                  </a:solidFill>
                  <a:latin typeface="+mn-lt"/>
                  <a:ea typeface="+mn-ea"/>
                  <a:cs typeface="+mn-cs"/>
                </a:rPr>
                <a:t>S</a:t>
              </a:r>
            </a:p>
          </p:txBody>
        </p:sp>
        <p:sp>
          <p:nvSpPr>
            <p:cNvPr id="50" name="TextBox 50"/>
            <p:cNvSpPr txBox="1"/>
            <p:nvPr/>
          </p:nvSpPr>
          <p:spPr>
            <a:xfrm>
              <a:off x="10308717" y="3809048"/>
              <a:ext cx="840619"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最新（1）</a:t>
              </a:r>
            </a:p>
          </p:txBody>
        </p:sp>
        <p:sp>
          <p:nvSpPr>
            <p:cNvPr id="51" name="Rectangle 51"/>
            <p:cNvSpPr/>
            <p:nvPr/>
          </p:nvSpPr>
          <p:spPr>
            <a:xfrm>
              <a:off x="533400" y="4118610"/>
              <a:ext cx="11125200" cy="9525"/>
            </a:xfrm>
            <a:prstGeom prst="rect">
              <a:avLst/>
            </a:prstGeom>
            <a:solidFill>
              <a:srgbClr val="D9DFEA"/>
            </a:solidFill>
            <a:ln>
              <a:noFill/>
            </a:ln>
          </p:spPr>
        </p:sp>
        <p:sp>
          <p:nvSpPr>
            <p:cNvPr id="52" name="TextBox 52"/>
            <p:cNvSpPr txBox="1"/>
            <p:nvPr/>
          </p:nvSpPr>
          <p:spPr>
            <a:xfrm>
              <a:off x="807440" y="4248150"/>
              <a:ext cx="118669" cy="264033"/>
            </a:xfrm>
            <a:prstGeom prst="rect">
              <a:avLst/>
            </a:prstGeom>
            <a:noFill/>
            <a:ln>
              <a:noFill/>
            </a:ln>
          </p:spPr>
          <p:txBody>
            <a:bodyPr wrap="none" lIns="0" tIns="0" rIns="0" bIns="0" anchor="t" anchorCtr="0">
              <a:spAutoFit/>
            </a:bodyPr>
            <a:lstStyle/>
            <a:p>
              <a:pPr algn="ctr"/>
              <a:r>
                <a:rPr lang="zh-CN" sz="1350" b="1" dirty="0">
                  <a:solidFill>
                    <a:srgbClr val="1F2937"/>
                  </a:solidFill>
                  <a:latin typeface="+mn-lt"/>
                  <a:ea typeface="+mn-ea"/>
                  <a:cs typeface="+mn-cs"/>
                </a:rPr>
                <a:t>5</a:t>
              </a:r>
            </a:p>
          </p:txBody>
        </p:sp>
        <p:sp>
          <p:nvSpPr>
            <p:cNvPr id="53" name="TextBox 53"/>
            <p:cNvSpPr txBox="1"/>
            <p:nvPr/>
          </p:nvSpPr>
          <p:spPr>
            <a:xfrm>
              <a:off x="1297114" y="4248150"/>
              <a:ext cx="953948"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P2 写 X = 2</a:t>
              </a:r>
            </a:p>
          </p:txBody>
        </p:sp>
        <p:sp>
          <p:nvSpPr>
            <p:cNvPr id="54" name="TextBox 54"/>
            <p:cNvSpPr txBox="1"/>
            <p:nvPr/>
          </p:nvSpPr>
          <p:spPr>
            <a:xfrm>
              <a:off x="2743009" y="4248150"/>
              <a:ext cx="881853" cy="264033"/>
            </a:xfrm>
            <a:prstGeom prst="rect">
              <a:avLst/>
            </a:prstGeom>
            <a:noFill/>
            <a:ln>
              <a:noFill/>
            </a:ln>
          </p:spPr>
          <p:txBody>
            <a:bodyPr wrap="none" lIns="0" tIns="0" rIns="0" bIns="0" anchor="t" anchorCtr="0">
              <a:spAutoFit/>
            </a:bodyPr>
            <a:lstStyle/>
            <a:p>
              <a:pPr algn="l"/>
              <a:r>
                <a:rPr lang="en-US" sz="1350" dirty="0">
                  <a:solidFill>
                    <a:srgbClr val="1F2937"/>
                  </a:solidFill>
                  <a:latin typeface="+mn-lt"/>
                  <a:ea typeface="+mn-ea"/>
                  <a:cs typeface="+mn-cs"/>
                </a:rPr>
                <a:t>Invalidate</a:t>
              </a:r>
            </a:p>
          </p:txBody>
        </p:sp>
        <p:sp>
          <p:nvSpPr>
            <p:cNvPr id="55" name="TextBox 55"/>
            <p:cNvSpPr txBox="1"/>
            <p:nvPr/>
          </p:nvSpPr>
          <p:spPr>
            <a:xfrm>
              <a:off x="4968049" y="4248150"/>
              <a:ext cx="113671"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a:t>
              </a:r>
            </a:p>
          </p:txBody>
        </p:sp>
        <p:sp>
          <p:nvSpPr>
            <p:cNvPr id="56" name="TextBox 56"/>
            <p:cNvSpPr txBox="1"/>
            <p:nvPr/>
          </p:nvSpPr>
          <p:spPr>
            <a:xfrm>
              <a:off x="8452066" y="4248150"/>
              <a:ext cx="71323" cy="264033"/>
            </a:xfrm>
            <a:prstGeom prst="rect">
              <a:avLst/>
            </a:prstGeom>
            <a:noFill/>
            <a:ln>
              <a:noFill/>
            </a:ln>
          </p:spPr>
          <p:txBody>
            <a:bodyPr wrap="none" lIns="0" tIns="0" rIns="0" bIns="0" anchor="t" anchorCtr="0">
              <a:spAutoFit/>
            </a:bodyPr>
            <a:lstStyle/>
            <a:p>
              <a:pPr algn="ctr"/>
              <a:r>
                <a:rPr lang="en-US" sz="1350" dirty="0">
                  <a:solidFill>
                    <a:srgbClr val="1F2937"/>
                  </a:solidFill>
                  <a:latin typeface="+mn-lt"/>
                  <a:ea typeface="+mn-ea"/>
                  <a:cs typeface="+mn-cs"/>
                </a:rPr>
                <a:t>I</a:t>
              </a:r>
            </a:p>
          </p:txBody>
        </p:sp>
        <p:sp>
          <p:nvSpPr>
            <p:cNvPr id="57" name="Rectangle 57"/>
            <p:cNvSpPr/>
            <p:nvPr/>
          </p:nvSpPr>
          <p:spPr>
            <a:xfrm>
              <a:off x="9109710" y="4132898"/>
              <a:ext cx="1093470" cy="420052"/>
            </a:xfrm>
            <a:prstGeom prst="rect">
              <a:avLst/>
            </a:prstGeom>
            <a:solidFill>
              <a:srgbClr val="FDEEE7"/>
            </a:solidFill>
            <a:ln>
              <a:noFill/>
            </a:ln>
          </p:spPr>
        </p:sp>
        <p:sp>
          <p:nvSpPr>
            <p:cNvPr id="58" name="TextBox 58"/>
            <p:cNvSpPr txBox="1"/>
            <p:nvPr/>
          </p:nvSpPr>
          <p:spPr>
            <a:xfrm>
              <a:off x="9577578" y="4248150"/>
              <a:ext cx="157734" cy="264033"/>
            </a:xfrm>
            <a:prstGeom prst="rect">
              <a:avLst/>
            </a:prstGeom>
            <a:noFill/>
            <a:ln>
              <a:noFill/>
            </a:ln>
          </p:spPr>
          <p:txBody>
            <a:bodyPr wrap="none" lIns="0" tIns="0" rIns="0" bIns="0" anchor="t" anchorCtr="0">
              <a:spAutoFit/>
            </a:bodyPr>
            <a:lstStyle/>
            <a:p>
              <a:pPr algn="ctr"/>
              <a:r>
                <a:rPr lang="en-US" sz="1350" dirty="0">
                  <a:solidFill>
                    <a:srgbClr val="1F2937"/>
                  </a:solidFill>
                  <a:latin typeface="+mn-lt"/>
                  <a:ea typeface="+mn-ea"/>
                  <a:cs typeface="+mn-cs"/>
                </a:rPr>
                <a:t>M</a:t>
              </a:r>
            </a:p>
          </p:txBody>
        </p:sp>
        <p:sp>
          <p:nvSpPr>
            <p:cNvPr id="59" name="TextBox 59"/>
            <p:cNvSpPr txBox="1"/>
            <p:nvPr/>
          </p:nvSpPr>
          <p:spPr>
            <a:xfrm>
              <a:off x="10308717" y="4248150"/>
              <a:ext cx="663880" cy="264033"/>
            </a:xfrm>
            <a:prstGeom prst="rect">
              <a:avLst/>
            </a:prstGeom>
            <a:noFill/>
            <a:ln>
              <a:noFill/>
            </a:ln>
          </p:spPr>
          <p:txBody>
            <a:bodyPr wrap="none" lIns="0" tIns="0" rIns="0" bIns="0" anchor="t" anchorCtr="0">
              <a:spAutoFit/>
            </a:bodyPr>
            <a:lstStyle/>
            <a:p>
              <a:pPr algn="l"/>
              <a:r>
                <a:rPr lang="zh-CN" sz="1350" b="1" dirty="0">
                  <a:solidFill>
                    <a:srgbClr val="B42318"/>
                  </a:solidFill>
                  <a:latin typeface="+mn-lt"/>
                  <a:ea typeface="+mn-ea"/>
                  <a:cs typeface="+mn-cs"/>
                </a:rPr>
                <a:t>旧（1）</a:t>
              </a:r>
            </a:p>
          </p:txBody>
        </p:sp>
        <p:sp>
          <p:nvSpPr>
            <p:cNvPr id="60" name="Rectangle 60"/>
            <p:cNvSpPr/>
            <p:nvPr/>
          </p:nvSpPr>
          <p:spPr>
            <a:xfrm>
              <a:off x="533400" y="4557712"/>
              <a:ext cx="11125200" cy="9525"/>
            </a:xfrm>
            <a:prstGeom prst="rect">
              <a:avLst/>
            </a:prstGeom>
            <a:solidFill>
              <a:srgbClr val="D9DFEA"/>
            </a:solidFill>
            <a:ln>
              <a:noFill/>
            </a:ln>
          </p:spPr>
        </p:sp>
        <p:sp>
          <p:nvSpPr>
            <p:cNvPr id="61" name="Rectangle 61"/>
            <p:cNvSpPr/>
            <p:nvPr/>
          </p:nvSpPr>
          <p:spPr>
            <a:xfrm>
              <a:off x="533400" y="4562475"/>
              <a:ext cx="11125200" cy="439102"/>
            </a:xfrm>
            <a:prstGeom prst="rect">
              <a:avLst/>
            </a:prstGeom>
            <a:solidFill>
              <a:srgbClr val="F4F6FB"/>
            </a:solidFill>
            <a:ln>
              <a:noFill/>
            </a:ln>
          </p:spPr>
        </p:sp>
        <p:sp>
          <p:nvSpPr>
            <p:cNvPr id="62" name="TextBox 62"/>
            <p:cNvSpPr txBox="1"/>
            <p:nvPr/>
          </p:nvSpPr>
          <p:spPr>
            <a:xfrm>
              <a:off x="807440" y="4687252"/>
              <a:ext cx="118669" cy="264033"/>
            </a:xfrm>
            <a:prstGeom prst="rect">
              <a:avLst/>
            </a:prstGeom>
            <a:noFill/>
            <a:ln>
              <a:noFill/>
            </a:ln>
          </p:spPr>
          <p:txBody>
            <a:bodyPr wrap="none" lIns="0" tIns="0" rIns="0" bIns="0" anchor="t" anchorCtr="0">
              <a:spAutoFit/>
            </a:bodyPr>
            <a:lstStyle/>
            <a:p>
              <a:pPr algn="ctr"/>
              <a:r>
                <a:rPr lang="zh-CN" sz="1350" b="1" dirty="0">
                  <a:solidFill>
                    <a:srgbClr val="1F2937"/>
                  </a:solidFill>
                  <a:latin typeface="+mn-lt"/>
                  <a:ea typeface="+mn-ea"/>
                  <a:cs typeface="+mn-cs"/>
                </a:rPr>
                <a:t>6</a:t>
              </a:r>
            </a:p>
          </p:txBody>
        </p:sp>
        <p:sp>
          <p:nvSpPr>
            <p:cNvPr id="63" name="TextBox 63"/>
            <p:cNvSpPr txBox="1"/>
            <p:nvPr/>
          </p:nvSpPr>
          <p:spPr>
            <a:xfrm>
              <a:off x="1297114" y="4687252"/>
              <a:ext cx="953948"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P1 写 X = 3</a:t>
              </a:r>
            </a:p>
          </p:txBody>
        </p:sp>
        <p:sp>
          <p:nvSpPr>
            <p:cNvPr id="64" name="TextBox 64"/>
            <p:cNvSpPr txBox="1"/>
            <p:nvPr/>
          </p:nvSpPr>
          <p:spPr>
            <a:xfrm>
              <a:off x="2743009" y="4687252"/>
              <a:ext cx="652539" cy="264033"/>
            </a:xfrm>
            <a:prstGeom prst="rect">
              <a:avLst/>
            </a:prstGeom>
            <a:noFill/>
            <a:ln>
              <a:noFill/>
            </a:ln>
          </p:spPr>
          <p:txBody>
            <a:bodyPr wrap="none" lIns="0" tIns="0" rIns="0" bIns="0" anchor="t" anchorCtr="0">
              <a:spAutoFit/>
            </a:bodyPr>
            <a:lstStyle/>
            <a:p>
              <a:pPr algn="l"/>
              <a:r>
                <a:rPr lang="en-US" sz="1350" dirty="0">
                  <a:solidFill>
                    <a:srgbClr val="1F2937"/>
                  </a:solidFill>
                  <a:latin typeface="+mn-lt"/>
                  <a:ea typeface="+mn-ea"/>
                  <a:cs typeface="+mn-cs"/>
                </a:rPr>
                <a:t>WtMiss</a:t>
              </a:r>
            </a:p>
          </p:txBody>
        </p:sp>
        <p:sp>
          <p:nvSpPr>
            <p:cNvPr id="65" name="TextBox 65"/>
            <p:cNvSpPr txBox="1"/>
            <p:nvPr/>
          </p:nvSpPr>
          <p:spPr>
            <a:xfrm>
              <a:off x="4968049" y="4687252"/>
              <a:ext cx="1844116"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P2 传给 P1（P2 变 I）</a:t>
              </a:r>
            </a:p>
          </p:txBody>
        </p:sp>
        <p:sp>
          <p:nvSpPr>
            <p:cNvPr id="66" name="Rectangle 66"/>
            <p:cNvSpPr/>
            <p:nvPr/>
          </p:nvSpPr>
          <p:spPr>
            <a:xfrm>
              <a:off x="7885748" y="4572000"/>
              <a:ext cx="1204912" cy="420052"/>
            </a:xfrm>
            <a:prstGeom prst="rect">
              <a:avLst/>
            </a:prstGeom>
            <a:solidFill>
              <a:srgbClr val="FDEEE7"/>
            </a:solidFill>
            <a:ln>
              <a:noFill/>
            </a:ln>
          </p:spPr>
        </p:sp>
        <p:sp>
          <p:nvSpPr>
            <p:cNvPr id="67" name="TextBox 67"/>
            <p:cNvSpPr txBox="1"/>
            <p:nvPr/>
          </p:nvSpPr>
          <p:spPr>
            <a:xfrm>
              <a:off x="8408860" y="4687252"/>
              <a:ext cx="157734" cy="264033"/>
            </a:xfrm>
            <a:prstGeom prst="rect">
              <a:avLst/>
            </a:prstGeom>
            <a:noFill/>
            <a:ln>
              <a:noFill/>
            </a:ln>
          </p:spPr>
          <p:txBody>
            <a:bodyPr wrap="none" lIns="0" tIns="0" rIns="0" bIns="0" anchor="t" anchorCtr="0">
              <a:spAutoFit/>
            </a:bodyPr>
            <a:lstStyle/>
            <a:p>
              <a:pPr algn="ctr"/>
              <a:r>
                <a:rPr lang="en-US" sz="1350" dirty="0">
                  <a:solidFill>
                    <a:srgbClr val="1F2937"/>
                  </a:solidFill>
                  <a:latin typeface="+mn-lt"/>
                  <a:ea typeface="+mn-ea"/>
                  <a:cs typeface="+mn-cs"/>
                </a:rPr>
                <a:t>M</a:t>
              </a:r>
            </a:p>
          </p:txBody>
        </p:sp>
        <p:sp>
          <p:nvSpPr>
            <p:cNvPr id="68" name="TextBox 68"/>
            <p:cNvSpPr txBox="1"/>
            <p:nvPr/>
          </p:nvSpPr>
          <p:spPr>
            <a:xfrm>
              <a:off x="9620783" y="4687252"/>
              <a:ext cx="71323" cy="264033"/>
            </a:xfrm>
            <a:prstGeom prst="rect">
              <a:avLst/>
            </a:prstGeom>
            <a:noFill/>
            <a:ln>
              <a:noFill/>
            </a:ln>
          </p:spPr>
          <p:txBody>
            <a:bodyPr wrap="none" lIns="0" tIns="0" rIns="0" bIns="0" anchor="t" anchorCtr="0">
              <a:spAutoFit/>
            </a:bodyPr>
            <a:lstStyle/>
            <a:p>
              <a:pPr algn="ctr"/>
              <a:r>
                <a:rPr lang="en-US" sz="1350" dirty="0">
                  <a:solidFill>
                    <a:srgbClr val="1F2937"/>
                  </a:solidFill>
                  <a:latin typeface="+mn-lt"/>
                  <a:ea typeface="+mn-ea"/>
                  <a:cs typeface="+mn-cs"/>
                </a:rPr>
                <a:t>I</a:t>
              </a:r>
            </a:p>
          </p:txBody>
        </p:sp>
        <p:sp>
          <p:nvSpPr>
            <p:cNvPr id="69" name="TextBox 69"/>
            <p:cNvSpPr txBox="1"/>
            <p:nvPr/>
          </p:nvSpPr>
          <p:spPr>
            <a:xfrm>
              <a:off x="10308717" y="4687252"/>
              <a:ext cx="663880" cy="264033"/>
            </a:xfrm>
            <a:prstGeom prst="rect">
              <a:avLst/>
            </a:prstGeom>
            <a:noFill/>
            <a:ln>
              <a:noFill/>
            </a:ln>
          </p:spPr>
          <p:txBody>
            <a:bodyPr wrap="none" lIns="0" tIns="0" rIns="0" bIns="0" anchor="t" anchorCtr="0">
              <a:spAutoFit/>
            </a:bodyPr>
            <a:lstStyle/>
            <a:p>
              <a:pPr algn="l"/>
              <a:r>
                <a:rPr lang="zh-CN" sz="1350" b="1" dirty="0">
                  <a:solidFill>
                    <a:srgbClr val="B42318"/>
                  </a:solidFill>
                  <a:latin typeface="+mn-lt"/>
                  <a:ea typeface="+mn-ea"/>
                  <a:cs typeface="+mn-cs"/>
                </a:rPr>
                <a:t>旧（1）</a:t>
              </a:r>
            </a:p>
          </p:txBody>
        </p:sp>
        <p:sp>
          <p:nvSpPr>
            <p:cNvPr id="70" name="Rectangle 70"/>
            <p:cNvSpPr/>
            <p:nvPr/>
          </p:nvSpPr>
          <p:spPr>
            <a:xfrm>
              <a:off x="533400" y="4995862"/>
              <a:ext cx="11125200" cy="9525"/>
            </a:xfrm>
            <a:prstGeom prst="rect">
              <a:avLst/>
            </a:prstGeom>
            <a:solidFill>
              <a:srgbClr val="D9DFEA"/>
            </a:solidFill>
            <a:ln>
              <a:noFill/>
            </a:ln>
          </p:spPr>
        </p:sp>
        <p:sp>
          <p:nvSpPr>
            <p:cNvPr id="71" name="TextBox 71"/>
            <p:cNvSpPr txBox="1"/>
            <p:nvPr/>
          </p:nvSpPr>
          <p:spPr>
            <a:xfrm>
              <a:off x="807440" y="5126355"/>
              <a:ext cx="118669" cy="264033"/>
            </a:xfrm>
            <a:prstGeom prst="rect">
              <a:avLst/>
            </a:prstGeom>
            <a:noFill/>
            <a:ln>
              <a:noFill/>
            </a:ln>
          </p:spPr>
          <p:txBody>
            <a:bodyPr wrap="none" lIns="0" tIns="0" rIns="0" bIns="0" anchor="t" anchorCtr="0">
              <a:spAutoFit/>
            </a:bodyPr>
            <a:lstStyle/>
            <a:p>
              <a:pPr algn="ctr"/>
              <a:r>
                <a:rPr lang="zh-CN" sz="1350" b="1" dirty="0">
                  <a:solidFill>
                    <a:srgbClr val="1F2937"/>
                  </a:solidFill>
                  <a:latin typeface="+mn-lt"/>
                  <a:ea typeface="+mn-ea"/>
                  <a:cs typeface="+mn-cs"/>
                </a:rPr>
                <a:t>7</a:t>
              </a:r>
            </a:p>
          </p:txBody>
        </p:sp>
        <p:sp>
          <p:nvSpPr>
            <p:cNvPr id="72" name="TextBox 72"/>
            <p:cNvSpPr txBox="1"/>
            <p:nvPr/>
          </p:nvSpPr>
          <p:spPr>
            <a:xfrm>
              <a:off x="1297114" y="5126355"/>
              <a:ext cx="627507"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P1 读 Y</a:t>
              </a:r>
            </a:p>
          </p:txBody>
        </p:sp>
        <p:sp>
          <p:nvSpPr>
            <p:cNvPr id="73" name="TextBox 73"/>
            <p:cNvSpPr txBox="1"/>
            <p:nvPr/>
          </p:nvSpPr>
          <p:spPr>
            <a:xfrm>
              <a:off x="2743009" y="5126355"/>
              <a:ext cx="2053579"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写回 X，再发 RdMiss(Y)</a:t>
              </a:r>
            </a:p>
          </p:txBody>
        </p:sp>
        <p:sp>
          <p:nvSpPr>
            <p:cNvPr id="74" name="TextBox 74"/>
            <p:cNvSpPr txBox="1"/>
            <p:nvPr/>
          </p:nvSpPr>
          <p:spPr>
            <a:xfrm>
              <a:off x="4968049" y="5126355"/>
              <a:ext cx="558927"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存储器</a:t>
              </a:r>
            </a:p>
          </p:txBody>
        </p:sp>
        <p:sp>
          <p:nvSpPr>
            <p:cNvPr id="75" name="TextBox 75"/>
            <p:cNvSpPr txBox="1"/>
            <p:nvPr/>
          </p:nvSpPr>
          <p:spPr>
            <a:xfrm>
              <a:off x="8208264" y="5126355"/>
              <a:ext cx="558927" cy="264033"/>
            </a:xfrm>
            <a:prstGeom prst="rect">
              <a:avLst/>
            </a:prstGeom>
            <a:noFill/>
            <a:ln>
              <a:noFill/>
            </a:ln>
          </p:spPr>
          <p:txBody>
            <a:bodyPr wrap="none" lIns="0" tIns="0" rIns="0" bIns="0" anchor="t" anchorCtr="0">
              <a:spAutoFit/>
            </a:bodyPr>
            <a:lstStyle/>
            <a:p>
              <a:pPr algn="ctr"/>
              <a:r>
                <a:rPr lang="zh-CN" sz="1350" dirty="0">
                  <a:solidFill>
                    <a:srgbClr val="1F2937"/>
                  </a:solidFill>
                  <a:latin typeface="+mn-lt"/>
                  <a:ea typeface="+mn-ea"/>
                  <a:cs typeface="+mn-cs"/>
                </a:rPr>
                <a:t>被替换</a:t>
              </a:r>
            </a:p>
          </p:txBody>
        </p:sp>
        <p:sp>
          <p:nvSpPr>
            <p:cNvPr id="76" name="TextBox 76"/>
            <p:cNvSpPr txBox="1"/>
            <p:nvPr/>
          </p:nvSpPr>
          <p:spPr>
            <a:xfrm>
              <a:off x="9620783" y="5126355"/>
              <a:ext cx="71323" cy="264033"/>
            </a:xfrm>
            <a:prstGeom prst="rect">
              <a:avLst/>
            </a:prstGeom>
            <a:noFill/>
            <a:ln>
              <a:noFill/>
            </a:ln>
          </p:spPr>
          <p:txBody>
            <a:bodyPr wrap="none" lIns="0" tIns="0" rIns="0" bIns="0" anchor="t" anchorCtr="0">
              <a:spAutoFit/>
            </a:bodyPr>
            <a:lstStyle/>
            <a:p>
              <a:pPr algn="ctr"/>
              <a:r>
                <a:rPr lang="en-US" sz="1350" dirty="0">
                  <a:solidFill>
                    <a:srgbClr val="1F2937"/>
                  </a:solidFill>
                  <a:latin typeface="+mn-lt"/>
                  <a:ea typeface="+mn-ea"/>
                  <a:cs typeface="+mn-cs"/>
                </a:rPr>
                <a:t>I</a:t>
              </a:r>
            </a:p>
          </p:txBody>
        </p:sp>
        <p:sp>
          <p:nvSpPr>
            <p:cNvPr id="77" name="TextBox 77"/>
            <p:cNvSpPr txBox="1"/>
            <p:nvPr/>
          </p:nvSpPr>
          <p:spPr>
            <a:xfrm>
              <a:off x="10308717" y="5126355"/>
              <a:ext cx="840619"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最新（3）</a:t>
              </a:r>
            </a:p>
          </p:txBody>
        </p:sp>
        <p:sp>
          <p:nvSpPr>
            <p:cNvPr id="78" name="Rectangle 78"/>
            <p:cNvSpPr/>
            <p:nvPr/>
          </p:nvSpPr>
          <p:spPr>
            <a:xfrm>
              <a:off x="533400" y="1928812"/>
              <a:ext cx="11125200" cy="3510915"/>
            </a:xfrm>
            <a:prstGeom prst="rect">
              <a:avLst/>
            </a:prstGeom>
            <a:noFill/>
            <a:ln w="14288">
              <a:solidFill>
                <a:srgbClr val="D9DFEA"/>
              </a:solidFill>
            </a:ln>
          </p:spPr>
        </p:sp>
        <p:sp>
          <p:nvSpPr>
            <p:cNvPr id="79" name="Rectangle 79"/>
            <p:cNvSpPr/>
            <p:nvPr/>
          </p:nvSpPr>
          <p:spPr>
            <a:xfrm>
              <a:off x="1196340" y="1928812"/>
              <a:ext cx="9525" cy="3510915"/>
            </a:xfrm>
            <a:prstGeom prst="rect">
              <a:avLst/>
            </a:prstGeom>
            <a:solidFill>
              <a:srgbClr val="D9DFEA"/>
            </a:solidFill>
            <a:ln>
              <a:noFill/>
            </a:ln>
          </p:spPr>
        </p:sp>
        <p:sp>
          <p:nvSpPr>
            <p:cNvPr id="80" name="Rectangle 80"/>
            <p:cNvSpPr/>
            <p:nvPr/>
          </p:nvSpPr>
          <p:spPr>
            <a:xfrm>
              <a:off x="2642235" y="1928812"/>
              <a:ext cx="9525" cy="3510915"/>
            </a:xfrm>
            <a:prstGeom prst="rect">
              <a:avLst/>
            </a:prstGeom>
            <a:solidFill>
              <a:srgbClr val="D9DFEA"/>
            </a:solidFill>
            <a:ln>
              <a:noFill/>
            </a:ln>
          </p:spPr>
        </p:sp>
        <p:sp>
          <p:nvSpPr>
            <p:cNvPr id="81" name="Rectangle 81"/>
            <p:cNvSpPr/>
            <p:nvPr/>
          </p:nvSpPr>
          <p:spPr>
            <a:xfrm>
              <a:off x="4867275" y="1928812"/>
              <a:ext cx="9525" cy="3510915"/>
            </a:xfrm>
            <a:prstGeom prst="rect">
              <a:avLst/>
            </a:prstGeom>
            <a:solidFill>
              <a:srgbClr val="D9DFEA"/>
            </a:solidFill>
            <a:ln>
              <a:noFill/>
            </a:ln>
          </p:spPr>
        </p:sp>
        <p:sp>
          <p:nvSpPr>
            <p:cNvPr id="82" name="Rectangle 82"/>
            <p:cNvSpPr/>
            <p:nvPr/>
          </p:nvSpPr>
          <p:spPr>
            <a:xfrm>
              <a:off x="7871460" y="1928812"/>
              <a:ext cx="9525" cy="3510915"/>
            </a:xfrm>
            <a:prstGeom prst="rect">
              <a:avLst/>
            </a:prstGeom>
            <a:solidFill>
              <a:srgbClr val="D9DFEA"/>
            </a:solidFill>
            <a:ln>
              <a:noFill/>
            </a:ln>
          </p:spPr>
        </p:sp>
        <p:sp>
          <p:nvSpPr>
            <p:cNvPr id="83" name="Rectangle 83"/>
            <p:cNvSpPr/>
            <p:nvPr/>
          </p:nvSpPr>
          <p:spPr>
            <a:xfrm>
              <a:off x="9095422" y="1928812"/>
              <a:ext cx="9525" cy="3510915"/>
            </a:xfrm>
            <a:prstGeom prst="rect">
              <a:avLst/>
            </a:prstGeom>
            <a:solidFill>
              <a:srgbClr val="D9DFEA"/>
            </a:solidFill>
            <a:ln>
              <a:noFill/>
            </a:ln>
          </p:spPr>
        </p:sp>
        <p:sp>
          <p:nvSpPr>
            <p:cNvPr id="84" name="Rectangle 84"/>
            <p:cNvSpPr/>
            <p:nvPr/>
          </p:nvSpPr>
          <p:spPr>
            <a:xfrm>
              <a:off x="10207942" y="1928812"/>
              <a:ext cx="9525" cy="3510915"/>
            </a:xfrm>
            <a:prstGeom prst="rect">
              <a:avLst/>
            </a:prstGeom>
            <a:solidFill>
              <a:srgbClr val="D9DFEA"/>
            </a:solidFill>
            <a:ln>
              <a:noFill/>
            </a:ln>
          </p:spPr>
        </p:sp>
      </p:grpSp>
      <p:grpSp>
        <p:nvGrpSpPr>
          <p:cNvPr id="92" name="takeaway"/>
          <p:cNvGrpSpPr/>
          <p:nvPr/>
        </p:nvGrpSpPr>
        <p:grpSpPr>
          <a:xfrm>
            <a:off x="533400" y="5633085"/>
            <a:ext cx="11125200" cy="729615"/>
            <a:chOff x="533400" y="5633085"/>
            <a:chExt cx="11125200" cy="729615"/>
          </a:xfrm>
        </p:grpSpPr>
        <p:sp>
          <p:nvSpPr>
            <p:cNvPr id="86" name="Rectangle 86"/>
            <p:cNvSpPr/>
            <p:nvPr/>
          </p:nvSpPr>
          <p:spPr>
            <a:xfrm>
              <a:off x="533400" y="5633085"/>
              <a:ext cx="11125200" cy="729615"/>
            </a:xfrm>
            <a:prstGeom prst="roundRect">
              <a:avLst>
                <a:gd name="adj" fmla="val 15666"/>
              </a:avLst>
            </a:prstGeom>
            <a:solidFill>
              <a:srgbClr val="FDEEE7"/>
            </a:solidFill>
            <a:ln>
              <a:noFill/>
            </a:ln>
          </p:spPr>
        </p:sp>
        <p:grpSp>
          <p:nvGrpSpPr>
            <p:cNvPr id="90" name="Group 90"/>
            <p:cNvGrpSpPr/>
            <p:nvPr/>
          </p:nvGrpSpPr>
          <p:grpSpPr>
            <a:xfrm>
              <a:off x="738188" y="5897880"/>
              <a:ext cx="200026" cy="200025"/>
              <a:chOff x="738188" y="5897880"/>
              <a:chExt cx="200026" cy="200025"/>
            </a:xfrm>
          </p:grpSpPr>
          <p:sp>
            <p:nvSpPr>
              <p:cNvPr id="87" name="Freeform 87"/>
              <p:cNvSpPr/>
              <p:nvPr/>
            </p:nvSpPr>
            <p:spPr>
              <a:xfrm>
                <a:off x="738188" y="5897880"/>
                <a:ext cx="200026" cy="100013"/>
              </a:xfrm>
              <a:custGeom>
                <a:avLst/>
                <a:gdLst/>
                <a:ahLst/>
                <a:cxnLst/>
                <a:rect l="l" t="t" r="r" b="b"/>
                <a:pathLst>
                  <a:path w="200026" h="100013">
                    <a:moveTo>
                      <a:pt x="0" y="100013"/>
                    </a:moveTo>
                    <a:lnTo>
                      <a:pt x="11113" y="100013"/>
                    </a:lnTo>
                    <a:moveTo>
                      <a:pt x="100013" y="0"/>
                    </a:moveTo>
                    <a:lnTo>
                      <a:pt x="100013" y="11113"/>
                    </a:lnTo>
                    <a:moveTo>
                      <a:pt x="188913" y="100013"/>
                    </a:moveTo>
                    <a:lnTo>
                      <a:pt x="200026" y="100013"/>
                    </a:lnTo>
                    <a:moveTo>
                      <a:pt x="28893" y="28893"/>
                    </a:moveTo>
                    <a:lnTo>
                      <a:pt x="36671" y="36671"/>
                    </a:lnTo>
                    <a:moveTo>
                      <a:pt x="171133" y="28893"/>
                    </a:moveTo>
                    <a:lnTo>
                      <a:pt x="163354" y="36671"/>
                    </a:lnTo>
                  </a:path>
                </a:pathLst>
              </a:custGeom>
              <a:noFill/>
              <a:ln w="22225">
                <a:solidFill>
                  <a:srgbClr val="C2410C"/>
                </a:solidFill>
              </a:ln>
            </p:spPr>
          </p:sp>
          <p:sp>
            <p:nvSpPr>
              <p:cNvPr id="88" name="Freeform 88"/>
              <p:cNvSpPr/>
              <p:nvPr/>
            </p:nvSpPr>
            <p:spPr>
              <a:xfrm>
                <a:off x="777926" y="5942330"/>
                <a:ext cx="120548" cy="155575"/>
              </a:xfrm>
              <a:custGeom>
                <a:avLst/>
                <a:gdLst/>
                <a:ahLst/>
                <a:cxnLst/>
                <a:rect l="l" t="t" r="r" b="b"/>
                <a:pathLst>
                  <a:path w="120548" h="155575">
                    <a:moveTo>
                      <a:pt x="26937" y="100013"/>
                    </a:moveTo>
                    <a:cubicBezTo>
                      <a:pt x="7804" y="85663"/>
                      <a:pt x="0" y="60681"/>
                      <a:pt x="7563" y="37992"/>
                    </a:cubicBezTo>
                    <a:cubicBezTo>
                      <a:pt x="15126" y="15304"/>
                      <a:pt x="36358" y="0"/>
                      <a:pt x="60274" y="0"/>
                    </a:cubicBezTo>
                    <a:cubicBezTo>
                      <a:pt x="84190" y="0"/>
                      <a:pt x="105423" y="15304"/>
                      <a:pt x="112986" y="37992"/>
                    </a:cubicBezTo>
                    <a:cubicBezTo>
                      <a:pt x="120548" y="60681"/>
                      <a:pt x="112745" y="85663"/>
                      <a:pt x="93612" y="100013"/>
                    </a:cubicBezTo>
                    <a:cubicBezTo>
                      <a:pt x="84812" y="108723"/>
                      <a:pt x="80686" y="121103"/>
                      <a:pt x="82499" y="133350"/>
                    </a:cubicBezTo>
                    <a:cubicBezTo>
                      <a:pt x="82499" y="145625"/>
                      <a:pt x="72549" y="155575"/>
                      <a:pt x="60274" y="155575"/>
                    </a:cubicBezTo>
                    <a:cubicBezTo>
                      <a:pt x="48000" y="155575"/>
                      <a:pt x="38049" y="145625"/>
                      <a:pt x="38049" y="133350"/>
                    </a:cubicBezTo>
                    <a:cubicBezTo>
                      <a:pt x="39862" y="121103"/>
                      <a:pt x="35736" y="108723"/>
                      <a:pt x="26937" y="100013"/>
                    </a:cubicBezTo>
                  </a:path>
                </a:pathLst>
              </a:custGeom>
              <a:noFill/>
              <a:ln w="22225">
                <a:solidFill>
                  <a:srgbClr val="C2410C"/>
                </a:solidFill>
              </a:ln>
            </p:spPr>
          </p:sp>
          <p:sp>
            <p:nvSpPr>
              <p:cNvPr id="89" name="Freeform 89"/>
              <p:cNvSpPr/>
              <p:nvPr/>
            </p:nvSpPr>
            <p:spPr>
              <a:xfrm>
                <a:off x="812642" y="6053456"/>
                <a:ext cx="51118" cy="9525"/>
              </a:xfrm>
              <a:custGeom>
                <a:avLst/>
                <a:gdLst/>
                <a:ahLst/>
                <a:cxnLst/>
                <a:rect l="l" t="t" r="r" b="b"/>
                <a:pathLst>
                  <a:path w="51118" h="9525">
                    <a:moveTo>
                      <a:pt x="0" y="0"/>
                    </a:moveTo>
                    <a:lnTo>
                      <a:pt x="51118" y="0"/>
                    </a:lnTo>
                  </a:path>
                </a:pathLst>
              </a:custGeom>
              <a:noFill/>
              <a:ln w="22225">
                <a:solidFill>
                  <a:srgbClr val="C2410C"/>
                </a:solidFill>
              </a:ln>
            </p:spPr>
          </p:sp>
        </p:grpSp>
        <p:sp>
          <p:nvSpPr>
            <p:cNvPr id="91" name="TextBox 91"/>
            <p:cNvSpPr txBox="1"/>
            <p:nvPr/>
          </p:nvSpPr>
          <p:spPr>
            <a:xfrm>
              <a:off x="1040892" y="5779770"/>
              <a:ext cx="9992106" cy="512636"/>
            </a:xfrm>
            <a:prstGeom prst="rect">
              <a:avLst/>
            </a:prstGeom>
            <a:noFill/>
            <a:ln>
              <a:noFill/>
            </a:ln>
          </p:spPr>
          <p:txBody>
            <a:bodyPr wrap="none" lIns="0" tIns="0" rIns="0" bIns="0" anchor="t" anchorCtr="0">
              <a:spAutoFit/>
            </a:bodyPr>
            <a:lstStyle/>
            <a:p>
              <a:pPr algn="l">
                <a:lnSpc>
                  <a:spcPts val="1958"/>
                </a:lnSpc>
              </a:pPr>
              <a:r>
                <a:rPr lang="zh-CN" sz="1350" dirty="0">
                  <a:solidFill>
                    <a:srgbClr val="C2410C"/>
                  </a:solidFill>
                  <a:latin typeface="+mn-lt"/>
                  <a:ea typeface="+mn-ea"/>
                  <a:cs typeface="+mn-cs"/>
                </a:rPr>
                <a:t>存储器只在两个时刻被更新：第 4 步 M 变 S，第 7 步 M 块被替换。其余时间最新值只在某一个 Cache 里，写回法正是靠一致性协议</a:t>
              </a:r>
              <a:br/>
              <a:r>
                <a:rPr lang="zh-CN" sz="1350" dirty="0">
                  <a:solidFill>
                    <a:srgbClr val="C2410C"/>
                  </a:solidFill>
                  <a:latin typeface="+mn-lt"/>
                  <a:ea typeface="+mn-ea"/>
                  <a:cs typeface="+mn-cs"/>
                </a:rPr>
                <a:t>保证别人能取到它。</a:t>
              </a:r>
            </a:p>
          </p:txBody>
        </p:sp>
      </p:grpSp>
      <p:grpSp>
        <p:nvGrpSpPr>
          <p:cNvPr id="95" name="footer"/>
          <p:cNvGrpSpPr/>
          <p:nvPr/>
        </p:nvGrpSpPr>
        <p:grpSpPr>
          <a:xfrm>
            <a:off x="528447" y="6581299"/>
            <a:ext cx="11135106" cy="190690"/>
            <a:chOff x="528447" y="6581299"/>
            <a:chExt cx="11135106" cy="190690"/>
          </a:xfrm>
        </p:grpSpPr>
        <p:sp>
          <p:nvSpPr>
            <p:cNvPr id="93" name="TextBox 93"/>
            <p:cNvSpPr txBox="1"/>
            <p:nvPr/>
          </p:nvSpPr>
          <p:spPr>
            <a:xfrm>
              <a:off x="528447" y="6581299"/>
              <a:ext cx="2120748"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并行与分布式计算 · 第7章 体系结构</a:t>
              </a:r>
            </a:p>
          </p:txBody>
        </p:sp>
        <p:sp>
          <p:nvSpPr>
            <p:cNvPr id="94" name="TextBox 94"/>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27</a:t>
              </a:r>
            </a:p>
          </p:txBody>
        </p:sp>
      </p:grpSp>
    </p:spTree>
  </p:cSld>
  <p:clrMapOvr>
    <a:masterClrMapping/>
  </p:clrMapOvr>
  <p:transition xmlns:p14="http://schemas.microsoft.com/office/powerpoint/2010/main" p14:dur="400">
    <p:fade/>
  </p:transition>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7306040" cy="909257"/>
            <a:chOff x="520446" y="342900"/>
            <a:chExt cx="7306040" cy="909257"/>
          </a:xfrm>
        </p:grpSpPr>
        <p:sp>
          <p:nvSpPr>
            <p:cNvPr id="2" name="Rectangle 2"/>
            <p:cNvSpPr/>
            <p:nvPr/>
          </p:nvSpPr>
          <p:spPr>
            <a:xfrm>
              <a:off x="533400" y="342900"/>
              <a:ext cx="2586038" cy="266700"/>
            </a:xfrm>
            <a:prstGeom prst="roundRect">
              <a:avLst>
                <a:gd name="adj" fmla="val 50000"/>
              </a:avLst>
            </a:prstGeom>
            <a:solidFill>
              <a:srgbClr val="E7EDF3"/>
            </a:solidFill>
            <a:ln>
              <a:noFill/>
            </a:ln>
          </p:spPr>
        </p:sp>
        <p:sp>
          <p:nvSpPr>
            <p:cNvPr id="3" name="TextBox 3"/>
            <p:cNvSpPr txBox="1"/>
            <p:nvPr/>
          </p:nvSpPr>
          <p:spPr>
            <a:xfrm>
              <a:off x="587464" y="407194"/>
              <a:ext cx="2476957"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第7章 体系结构 · Cache 一致性问题</a:t>
              </a:r>
            </a:p>
          </p:txBody>
        </p:sp>
        <p:sp>
          <p:nvSpPr>
            <p:cNvPr id="4" name="TextBox 4"/>
            <p:cNvSpPr txBox="1"/>
            <p:nvPr/>
          </p:nvSpPr>
          <p:spPr>
            <a:xfrm>
              <a:off x="520446" y="753428"/>
              <a:ext cx="7306040"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课后习题：换成写更新 + 写直达，状态只剩两个</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8" name="lead"/>
          <p:cNvGrpSpPr/>
          <p:nvPr/>
        </p:nvGrpSpPr>
        <p:grpSpPr>
          <a:xfrm>
            <a:off x="526542" y="1545907"/>
            <a:ext cx="10881589" cy="264033"/>
            <a:chOff x="526542" y="1545907"/>
            <a:chExt cx="10881589" cy="264033"/>
          </a:xfrm>
        </p:grpSpPr>
        <p:sp>
          <p:nvSpPr>
            <p:cNvPr id="7" name="TextBox 7"/>
            <p:cNvSpPr txBox="1"/>
            <p:nvPr/>
          </p:nvSpPr>
          <p:spPr>
            <a:xfrm>
              <a:off x="526542" y="1545907"/>
              <a:ext cx="10881589" cy="264033"/>
            </a:xfrm>
            <a:prstGeom prst="rect">
              <a:avLst/>
            </a:prstGeom>
            <a:noFill/>
            <a:ln>
              <a:noFill/>
            </a:ln>
          </p:spPr>
          <p:txBody>
            <a:bodyPr wrap="none" lIns="0" tIns="0" rIns="0" bIns="0" anchor="t" anchorCtr="0">
              <a:spAutoFit/>
            </a:bodyPr>
            <a:lstStyle/>
            <a:p>
              <a:pPr algn="l"/>
              <a:r>
                <a:rPr lang="zh-CN" sz="1350" dirty="0">
                  <a:solidFill>
                    <a:srgbClr val="5B6475"/>
                  </a:solidFill>
                  <a:latin typeface="+mn-lt"/>
                  <a:ea typeface="+mn-ea"/>
                  <a:cs typeface="+mn-cs"/>
                </a:rPr>
                <a:t>习题 2（与习题 1 二选一）：把实例改成“写更新 + 写直达 + 按写分配 + 监听”，写出两张状态表。习题 1 的答案就是第26页的两张图。</a:t>
              </a:r>
            </a:p>
          </p:txBody>
        </p:sp>
      </p:grpSp>
      <p:grpSp>
        <p:nvGrpSpPr>
          <p:cNvPr id="40" name="c1-table-1"/>
          <p:cNvGrpSpPr/>
          <p:nvPr/>
        </p:nvGrpSpPr>
        <p:grpSpPr>
          <a:xfrm>
            <a:off x="528447" y="1928812"/>
            <a:ext cx="5415153" cy="2863882"/>
            <a:chOff x="528447" y="1928812"/>
            <a:chExt cx="5415153" cy="2863882"/>
          </a:xfrm>
        </p:grpSpPr>
        <p:sp>
          <p:nvSpPr>
            <p:cNvPr id="9" name="Rectangle 9"/>
            <p:cNvSpPr/>
            <p:nvPr/>
          </p:nvSpPr>
          <p:spPr>
            <a:xfrm>
              <a:off x="533400" y="1928812"/>
              <a:ext cx="5410200" cy="400050"/>
            </a:xfrm>
            <a:prstGeom prst="rect">
              <a:avLst/>
            </a:prstGeom>
            <a:solidFill>
              <a:srgbClr val="334E68"/>
            </a:solidFill>
            <a:ln>
              <a:noFill/>
            </a:ln>
          </p:spPr>
        </p:sp>
        <p:sp>
          <p:nvSpPr>
            <p:cNvPr id="10" name="TextBox 10"/>
            <p:cNvSpPr txBox="1"/>
            <p:nvPr/>
          </p:nvSpPr>
          <p:spPr>
            <a:xfrm>
              <a:off x="728383" y="2050256"/>
              <a:ext cx="312979"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当前</a:t>
              </a:r>
            </a:p>
          </p:txBody>
        </p:sp>
        <p:sp>
          <p:nvSpPr>
            <p:cNvPr id="11" name="TextBox 11"/>
            <p:cNvSpPr txBox="1"/>
            <p:nvPr/>
          </p:nvSpPr>
          <p:spPr>
            <a:xfrm>
              <a:off x="1485621" y="2050256"/>
              <a:ext cx="312979"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事件</a:t>
              </a:r>
            </a:p>
          </p:txBody>
        </p:sp>
        <p:sp>
          <p:nvSpPr>
            <p:cNvPr id="12" name="TextBox 12"/>
            <p:cNvSpPr txBox="1"/>
            <p:nvPr/>
          </p:nvSpPr>
          <p:spPr>
            <a:xfrm>
              <a:off x="3234944" y="2050256"/>
              <a:ext cx="7653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控制器操作</a:t>
              </a:r>
            </a:p>
          </p:txBody>
        </p:sp>
        <p:sp>
          <p:nvSpPr>
            <p:cNvPr id="13" name="TextBox 13"/>
            <p:cNvSpPr txBox="1"/>
            <p:nvPr/>
          </p:nvSpPr>
          <p:spPr>
            <a:xfrm>
              <a:off x="5332628" y="2050256"/>
              <a:ext cx="463753"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新状态</a:t>
              </a:r>
            </a:p>
          </p:txBody>
        </p:sp>
        <p:sp>
          <p:nvSpPr>
            <p:cNvPr id="14" name="TextBox 14"/>
            <p:cNvSpPr txBox="1"/>
            <p:nvPr/>
          </p:nvSpPr>
          <p:spPr>
            <a:xfrm>
              <a:off x="630555" y="2450306"/>
              <a:ext cx="103431" cy="220028"/>
            </a:xfrm>
            <a:prstGeom prst="rect">
              <a:avLst/>
            </a:prstGeom>
            <a:noFill/>
            <a:ln>
              <a:noFill/>
            </a:ln>
          </p:spPr>
          <p:txBody>
            <a:bodyPr wrap="none" lIns="0" tIns="0" rIns="0" bIns="0" anchor="t" anchorCtr="0">
              <a:spAutoFit/>
            </a:bodyPr>
            <a:lstStyle/>
            <a:p>
              <a:pPr algn="l"/>
              <a:r>
                <a:rPr lang="en-US" sz="1120" b="1" dirty="0">
                  <a:solidFill>
                    <a:srgbClr val="1F2937"/>
                  </a:solidFill>
                  <a:latin typeface="+mn-lt"/>
                  <a:ea typeface="+mn-ea"/>
                  <a:cs typeface="+mn-cs"/>
                </a:rPr>
                <a:t>V</a:t>
              </a:r>
            </a:p>
          </p:txBody>
        </p:sp>
        <p:sp>
          <p:nvSpPr>
            <p:cNvPr id="15" name="TextBox 15"/>
            <p:cNvSpPr txBox="1"/>
            <p:nvPr/>
          </p:nvSpPr>
          <p:spPr>
            <a:xfrm>
              <a:off x="1333500" y="2450306"/>
              <a:ext cx="463753"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读命中</a:t>
              </a:r>
            </a:p>
          </p:txBody>
        </p:sp>
        <p:sp>
          <p:nvSpPr>
            <p:cNvPr id="16" name="TextBox 16"/>
            <p:cNvSpPr txBox="1"/>
            <p:nvPr/>
          </p:nvSpPr>
          <p:spPr>
            <a:xfrm>
              <a:off x="2145030" y="2450306"/>
              <a:ext cx="463753"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读数据</a:t>
              </a:r>
            </a:p>
          </p:txBody>
        </p:sp>
        <p:sp>
          <p:nvSpPr>
            <p:cNvPr id="17" name="TextBox 17"/>
            <p:cNvSpPr txBox="1"/>
            <p:nvPr/>
          </p:nvSpPr>
          <p:spPr>
            <a:xfrm>
              <a:off x="5283517" y="2450306"/>
              <a:ext cx="99050" cy="220028"/>
            </a:xfrm>
            <a:prstGeom prst="rect">
              <a:avLst/>
            </a:prstGeom>
            <a:noFill/>
            <a:ln>
              <a:noFill/>
            </a:ln>
          </p:spPr>
          <p:txBody>
            <a:bodyPr wrap="none" lIns="0" tIns="0" rIns="0" bIns="0" anchor="t" anchorCtr="0">
              <a:spAutoFit/>
            </a:bodyPr>
            <a:lstStyle/>
            <a:p>
              <a:pPr algn="l"/>
              <a:r>
                <a:rPr lang="en-US" sz="1120" dirty="0">
                  <a:solidFill>
                    <a:srgbClr val="1F2937"/>
                  </a:solidFill>
                  <a:latin typeface="+mn-lt"/>
                  <a:ea typeface="+mn-ea"/>
                  <a:cs typeface="+mn-cs"/>
                </a:rPr>
                <a:t>V</a:t>
              </a:r>
            </a:p>
          </p:txBody>
        </p:sp>
        <p:sp>
          <p:nvSpPr>
            <p:cNvPr id="18" name="Rectangle 18"/>
            <p:cNvSpPr/>
            <p:nvPr/>
          </p:nvSpPr>
          <p:spPr>
            <a:xfrm>
              <a:off x="533400" y="2724150"/>
              <a:ext cx="5410200" cy="9525"/>
            </a:xfrm>
            <a:prstGeom prst="rect">
              <a:avLst/>
            </a:prstGeom>
            <a:solidFill>
              <a:srgbClr val="D9DFEA"/>
            </a:solidFill>
            <a:ln>
              <a:noFill/>
            </a:ln>
          </p:spPr>
        </p:sp>
        <p:sp>
          <p:nvSpPr>
            <p:cNvPr id="19" name="Rectangle 19"/>
            <p:cNvSpPr/>
            <p:nvPr/>
          </p:nvSpPr>
          <p:spPr>
            <a:xfrm>
              <a:off x="533400" y="2728912"/>
              <a:ext cx="5410200" cy="600075"/>
            </a:xfrm>
            <a:prstGeom prst="rect">
              <a:avLst/>
            </a:prstGeom>
            <a:solidFill>
              <a:srgbClr val="F4F6FB"/>
            </a:solidFill>
            <a:ln>
              <a:noFill/>
            </a:ln>
          </p:spPr>
        </p:sp>
        <p:sp>
          <p:nvSpPr>
            <p:cNvPr id="20" name="TextBox 20"/>
            <p:cNvSpPr txBox="1"/>
            <p:nvPr/>
          </p:nvSpPr>
          <p:spPr>
            <a:xfrm>
              <a:off x="630555" y="2950369"/>
              <a:ext cx="61612" cy="220028"/>
            </a:xfrm>
            <a:prstGeom prst="rect">
              <a:avLst/>
            </a:prstGeom>
            <a:noFill/>
            <a:ln>
              <a:noFill/>
            </a:ln>
          </p:spPr>
          <p:txBody>
            <a:bodyPr wrap="none" lIns="0" tIns="0" rIns="0" bIns="0" anchor="t" anchorCtr="0">
              <a:spAutoFit/>
            </a:bodyPr>
            <a:lstStyle/>
            <a:p>
              <a:pPr algn="l"/>
              <a:r>
                <a:rPr lang="en-US" sz="1120" b="1" dirty="0">
                  <a:solidFill>
                    <a:srgbClr val="1F2937"/>
                  </a:solidFill>
                  <a:latin typeface="+mn-lt"/>
                  <a:ea typeface="+mn-ea"/>
                  <a:cs typeface="+mn-cs"/>
                </a:rPr>
                <a:t>I</a:t>
              </a:r>
            </a:p>
          </p:txBody>
        </p:sp>
        <p:sp>
          <p:nvSpPr>
            <p:cNvPr id="21" name="TextBox 21"/>
            <p:cNvSpPr txBox="1"/>
            <p:nvPr/>
          </p:nvSpPr>
          <p:spPr>
            <a:xfrm>
              <a:off x="1333500" y="2950369"/>
              <a:ext cx="463753"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读缺失</a:t>
              </a:r>
            </a:p>
          </p:txBody>
        </p:sp>
        <p:sp>
          <p:nvSpPr>
            <p:cNvPr id="22" name="TextBox 22"/>
            <p:cNvSpPr txBox="1"/>
            <p:nvPr/>
          </p:nvSpPr>
          <p:spPr>
            <a:xfrm>
              <a:off x="2145030" y="2850356"/>
              <a:ext cx="2792222" cy="420052"/>
            </a:xfrm>
            <a:prstGeom prst="rect">
              <a:avLst/>
            </a:prstGeom>
            <a:noFill/>
            <a:ln>
              <a:noFill/>
            </a:ln>
          </p:spPr>
          <p:txBody>
            <a:bodyPr wrap="none" lIns="0" tIns="0" rIns="0" bIns="0" anchor="t" anchorCtr="0">
              <a:spAutoFit/>
            </a:bodyPr>
            <a:lstStyle/>
            <a:p>
              <a:pPr algn="l">
                <a:lnSpc>
                  <a:spcPts val="1575"/>
                </a:lnSpc>
              </a:pPr>
              <a:r>
                <a:rPr lang="zh-CN" sz="1120" dirty="0">
                  <a:solidFill>
                    <a:srgbClr val="1F2937"/>
                  </a:solidFill>
                  <a:latin typeface="+mn-lt"/>
                  <a:ea typeface="+mn-ea"/>
                  <a:cs typeface="+mn-cs"/>
                </a:rPr>
                <a:t>发 RdMiss，从存储器调入新块（被替换的旧</a:t>
              </a:r>
              <a:br/>
              <a:r>
                <a:rPr lang="zh-CN" sz="1120" dirty="0">
                  <a:solidFill>
                    <a:srgbClr val="1F2937"/>
                  </a:solidFill>
                  <a:latin typeface="+mn-lt"/>
                  <a:ea typeface="+mn-ea"/>
                  <a:cs typeface="+mn-cs"/>
                </a:rPr>
                <a:t>块直接丢弃），读数据</a:t>
              </a:r>
            </a:p>
          </p:txBody>
        </p:sp>
        <p:sp>
          <p:nvSpPr>
            <p:cNvPr id="23" name="TextBox 23"/>
            <p:cNvSpPr txBox="1"/>
            <p:nvPr/>
          </p:nvSpPr>
          <p:spPr>
            <a:xfrm>
              <a:off x="5283517" y="2950369"/>
              <a:ext cx="99050" cy="220028"/>
            </a:xfrm>
            <a:prstGeom prst="rect">
              <a:avLst/>
            </a:prstGeom>
            <a:noFill/>
            <a:ln>
              <a:noFill/>
            </a:ln>
          </p:spPr>
          <p:txBody>
            <a:bodyPr wrap="none" lIns="0" tIns="0" rIns="0" bIns="0" anchor="t" anchorCtr="0">
              <a:spAutoFit/>
            </a:bodyPr>
            <a:lstStyle/>
            <a:p>
              <a:pPr algn="l"/>
              <a:r>
                <a:rPr lang="en-US" sz="1120" dirty="0">
                  <a:solidFill>
                    <a:srgbClr val="1F2937"/>
                  </a:solidFill>
                  <a:latin typeface="+mn-lt"/>
                  <a:ea typeface="+mn-ea"/>
                  <a:cs typeface="+mn-cs"/>
                </a:rPr>
                <a:t>V</a:t>
              </a:r>
            </a:p>
          </p:txBody>
        </p:sp>
        <p:sp>
          <p:nvSpPr>
            <p:cNvPr id="24" name="Rectangle 24"/>
            <p:cNvSpPr/>
            <p:nvPr/>
          </p:nvSpPr>
          <p:spPr>
            <a:xfrm>
              <a:off x="533400" y="3324225"/>
              <a:ext cx="5410200" cy="9525"/>
            </a:xfrm>
            <a:prstGeom prst="rect">
              <a:avLst/>
            </a:prstGeom>
            <a:solidFill>
              <a:srgbClr val="D9DFEA"/>
            </a:solidFill>
            <a:ln>
              <a:noFill/>
            </a:ln>
          </p:spPr>
        </p:sp>
        <p:sp>
          <p:nvSpPr>
            <p:cNvPr id="25" name="TextBox 25"/>
            <p:cNvSpPr txBox="1"/>
            <p:nvPr/>
          </p:nvSpPr>
          <p:spPr>
            <a:xfrm>
              <a:off x="630555" y="3550444"/>
              <a:ext cx="103431" cy="220028"/>
            </a:xfrm>
            <a:prstGeom prst="rect">
              <a:avLst/>
            </a:prstGeom>
            <a:noFill/>
            <a:ln>
              <a:noFill/>
            </a:ln>
          </p:spPr>
          <p:txBody>
            <a:bodyPr wrap="none" lIns="0" tIns="0" rIns="0" bIns="0" anchor="t" anchorCtr="0">
              <a:spAutoFit/>
            </a:bodyPr>
            <a:lstStyle/>
            <a:p>
              <a:pPr algn="l"/>
              <a:r>
                <a:rPr lang="en-US" sz="1120" b="1" dirty="0">
                  <a:solidFill>
                    <a:srgbClr val="1F2937"/>
                  </a:solidFill>
                  <a:latin typeface="+mn-lt"/>
                  <a:ea typeface="+mn-ea"/>
                  <a:cs typeface="+mn-cs"/>
                </a:rPr>
                <a:t>V</a:t>
              </a:r>
            </a:p>
          </p:txBody>
        </p:sp>
        <p:sp>
          <p:nvSpPr>
            <p:cNvPr id="26" name="TextBox 26"/>
            <p:cNvSpPr txBox="1"/>
            <p:nvPr/>
          </p:nvSpPr>
          <p:spPr>
            <a:xfrm>
              <a:off x="1333500" y="3550444"/>
              <a:ext cx="463753"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写命中</a:t>
              </a:r>
            </a:p>
          </p:txBody>
        </p:sp>
        <p:sp>
          <p:nvSpPr>
            <p:cNvPr id="27" name="TextBox 27"/>
            <p:cNvSpPr txBox="1"/>
            <p:nvPr/>
          </p:nvSpPr>
          <p:spPr>
            <a:xfrm>
              <a:off x="2145030" y="3450431"/>
              <a:ext cx="2721102" cy="420052"/>
            </a:xfrm>
            <a:prstGeom prst="rect">
              <a:avLst/>
            </a:prstGeom>
            <a:noFill/>
            <a:ln>
              <a:noFill/>
            </a:ln>
          </p:spPr>
          <p:txBody>
            <a:bodyPr wrap="none" lIns="0" tIns="0" rIns="0" bIns="0" anchor="t" anchorCtr="0">
              <a:spAutoFit/>
            </a:bodyPr>
            <a:lstStyle/>
            <a:p>
              <a:pPr algn="l">
                <a:lnSpc>
                  <a:spcPts val="1575"/>
                </a:lnSpc>
              </a:pPr>
              <a:r>
                <a:rPr lang="zh-CN" sz="1120" dirty="0">
                  <a:solidFill>
                    <a:srgbClr val="1F2937"/>
                  </a:solidFill>
                  <a:latin typeface="+mn-lt"/>
                  <a:ea typeface="+mn-ea"/>
                  <a:cs typeface="+mn-cs"/>
                </a:rPr>
                <a:t>写本地 Cache，同时经总线写存储器并广播</a:t>
              </a:r>
              <a:br/>
              <a:r>
                <a:rPr lang="zh-CN" sz="1120" dirty="0">
                  <a:solidFill>
                    <a:srgbClr val="1F2937"/>
                  </a:solidFill>
                  <a:latin typeface="+mn-lt"/>
                  <a:ea typeface="+mn-ea"/>
                  <a:cs typeface="+mn-cs"/>
                </a:rPr>
                <a:t>新值（Update）</a:t>
              </a:r>
            </a:p>
          </p:txBody>
        </p:sp>
        <p:sp>
          <p:nvSpPr>
            <p:cNvPr id="28" name="TextBox 28"/>
            <p:cNvSpPr txBox="1"/>
            <p:nvPr/>
          </p:nvSpPr>
          <p:spPr>
            <a:xfrm>
              <a:off x="5283517" y="3550444"/>
              <a:ext cx="99050" cy="220028"/>
            </a:xfrm>
            <a:prstGeom prst="rect">
              <a:avLst/>
            </a:prstGeom>
            <a:noFill/>
            <a:ln>
              <a:noFill/>
            </a:ln>
          </p:spPr>
          <p:txBody>
            <a:bodyPr wrap="none" lIns="0" tIns="0" rIns="0" bIns="0" anchor="t" anchorCtr="0">
              <a:spAutoFit/>
            </a:bodyPr>
            <a:lstStyle/>
            <a:p>
              <a:pPr algn="l"/>
              <a:r>
                <a:rPr lang="en-US" sz="1120" dirty="0">
                  <a:solidFill>
                    <a:srgbClr val="1F2937"/>
                  </a:solidFill>
                  <a:latin typeface="+mn-lt"/>
                  <a:ea typeface="+mn-ea"/>
                  <a:cs typeface="+mn-cs"/>
                </a:rPr>
                <a:t>V</a:t>
              </a:r>
            </a:p>
          </p:txBody>
        </p:sp>
        <p:sp>
          <p:nvSpPr>
            <p:cNvPr id="29" name="Rectangle 29"/>
            <p:cNvSpPr/>
            <p:nvPr/>
          </p:nvSpPr>
          <p:spPr>
            <a:xfrm>
              <a:off x="533400" y="3924300"/>
              <a:ext cx="5410200" cy="9525"/>
            </a:xfrm>
            <a:prstGeom prst="rect">
              <a:avLst/>
            </a:prstGeom>
            <a:solidFill>
              <a:srgbClr val="D9DFEA"/>
            </a:solidFill>
            <a:ln>
              <a:noFill/>
            </a:ln>
          </p:spPr>
        </p:sp>
        <p:sp>
          <p:nvSpPr>
            <p:cNvPr id="30" name="Rectangle 30"/>
            <p:cNvSpPr/>
            <p:nvPr/>
          </p:nvSpPr>
          <p:spPr>
            <a:xfrm>
              <a:off x="533400" y="3929062"/>
              <a:ext cx="5410200" cy="600075"/>
            </a:xfrm>
            <a:prstGeom prst="rect">
              <a:avLst/>
            </a:prstGeom>
            <a:solidFill>
              <a:srgbClr val="F4F6FB"/>
            </a:solidFill>
            <a:ln>
              <a:noFill/>
            </a:ln>
          </p:spPr>
        </p:sp>
        <p:sp>
          <p:nvSpPr>
            <p:cNvPr id="31" name="TextBox 31"/>
            <p:cNvSpPr txBox="1"/>
            <p:nvPr/>
          </p:nvSpPr>
          <p:spPr>
            <a:xfrm>
              <a:off x="630555" y="4150519"/>
              <a:ext cx="61612" cy="220028"/>
            </a:xfrm>
            <a:prstGeom prst="rect">
              <a:avLst/>
            </a:prstGeom>
            <a:noFill/>
            <a:ln>
              <a:noFill/>
            </a:ln>
          </p:spPr>
          <p:txBody>
            <a:bodyPr wrap="none" lIns="0" tIns="0" rIns="0" bIns="0" anchor="t" anchorCtr="0">
              <a:spAutoFit/>
            </a:bodyPr>
            <a:lstStyle/>
            <a:p>
              <a:pPr algn="l"/>
              <a:r>
                <a:rPr lang="en-US" sz="1120" b="1" dirty="0">
                  <a:solidFill>
                    <a:srgbClr val="1F2937"/>
                  </a:solidFill>
                  <a:latin typeface="+mn-lt"/>
                  <a:ea typeface="+mn-ea"/>
                  <a:cs typeface="+mn-cs"/>
                </a:rPr>
                <a:t>I</a:t>
              </a:r>
            </a:p>
          </p:txBody>
        </p:sp>
        <p:sp>
          <p:nvSpPr>
            <p:cNvPr id="32" name="TextBox 32"/>
            <p:cNvSpPr txBox="1"/>
            <p:nvPr/>
          </p:nvSpPr>
          <p:spPr>
            <a:xfrm>
              <a:off x="1333500" y="4150519"/>
              <a:ext cx="463753"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写缺失</a:t>
              </a:r>
            </a:p>
          </p:txBody>
        </p:sp>
        <p:sp>
          <p:nvSpPr>
            <p:cNvPr id="33" name="TextBox 33"/>
            <p:cNvSpPr txBox="1"/>
            <p:nvPr/>
          </p:nvSpPr>
          <p:spPr>
            <a:xfrm>
              <a:off x="2145030" y="4050506"/>
              <a:ext cx="2728214" cy="420052"/>
            </a:xfrm>
            <a:prstGeom prst="rect">
              <a:avLst/>
            </a:prstGeom>
            <a:noFill/>
            <a:ln>
              <a:noFill/>
            </a:ln>
          </p:spPr>
          <p:txBody>
            <a:bodyPr wrap="none" lIns="0" tIns="0" rIns="0" bIns="0" anchor="t" anchorCtr="0">
              <a:spAutoFit/>
            </a:bodyPr>
            <a:lstStyle/>
            <a:p>
              <a:pPr algn="l">
                <a:lnSpc>
                  <a:spcPts val="1575"/>
                </a:lnSpc>
              </a:pPr>
              <a:r>
                <a:rPr lang="zh-CN" sz="1120" dirty="0">
                  <a:solidFill>
                    <a:srgbClr val="1F2937"/>
                  </a:solidFill>
                  <a:latin typeface="+mn-lt"/>
                  <a:ea typeface="+mn-ea"/>
                  <a:cs typeface="+mn-cs"/>
                </a:rPr>
                <a:t>发 WtMiss 调入新块，写本地 Cache，再经</a:t>
              </a:r>
              <a:br/>
              <a:r>
                <a:rPr lang="zh-CN" sz="1120" dirty="0">
                  <a:solidFill>
                    <a:srgbClr val="1F2937"/>
                  </a:solidFill>
                  <a:latin typeface="+mn-lt"/>
                  <a:ea typeface="+mn-ea"/>
                  <a:cs typeface="+mn-cs"/>
                </a:rPr>
                <a:t>总线写存储器并广播新值</a:t>
              </a:r>
            </a:p>
          </p:txBody>
        </p:sp>
        <p:sp>
          <p:nvSpPr>
            <p:cNvPr id="34" name="TextBox 34"/>
            <p:cNvSpPr txBox="1"/>
            <p:nvPr/>
          </p:nvSpPr>
          <p:spPr>
            <a:xfrm>
              <a:off x="5283517" y="4150519"/>
              <a:ext cx="99050" cy="220028"/>
            </a:xfrm>
            <a:prstGeom prst="rect">
              <a:avLst/>
            </a:prstGeom>
            <a:noFill/>
            <a:ln>
              <a:noFill/>
            </a:ln>
          </p:spPr>
          <p:txBody>
            <a:bodyPr wrap="none" lIns="0" tIns="0" rIns="0" bIns="0" anchor="t" anchorCtr="0">
              <a:spAutoFit/>
            </a:bodyPr>
            <a:lstStyle/>
            <a:p>
              <a:pPr algn="l"/>
              <a:r>
                <a:rPr lang="en-US" sz="1120" dirty="0">
                  <a:solidFill>
                    <a:srgbClr val="1F2937"/>
                  </a:solidFill>
                  <a:latin typeface="+mn-lt"/>
                  <a:ea typeface="+mn-ea"/>
                  <a:cs typeface="+mn-cs"/>
                </a:rPr>
                <a:t>V</a:t>
              </a:r>
            </a:p>
          </p:txBody>
        </p:sp>
        <p:sp>
          <p:nvSpPr>
            <p:cNvPr id="35" name="Rectangle 35"/>
            <p:cNvSpPr/>
            <p:nvPr/>
          </p:nvSpPr>
          <p:spPr>
            <a:xfrm>
              <a:off x="533400" y="1928812"/>
              <a:ext cx="5410200" cy="2600325"/>
            </a:xfrm>
            <a:prstGeom prst="rect">
              <a:avLst/>
            </a:prstGeom>
            <a:noFill/>
            <a:ln w="14288">
              <a:solidFill>
                <a:srgbClr val="D9DFEA"/>
              </a:solidFill>
            </a:ln>
          </p:spPr>
        </p:sp>
        <p:sp>
          <p:nvSpPr>
            <p:cNvPr id="36" name="Rectangle 36"/>
            <p:cNvSpPr/>
            <p:nvPr/>
          </p:nvSpPr>
          <p:spPr>
            <a:xfrm>
              <a:off x="1231582" y="1928812"/>
              <a:ext cx="9525" cy="2600325"/>
            </a:xfrm>
            <a:prstGeom prst="rect">
              <a:avLst/>
            </a:prstGeom>
            <a:solidFill>
              <a:srgbClr val="D9DFEA"/>
            </a:solidFill>
            <a:ln>
              <a:noFill/>
            </a:ln>
          </p:spPr>
        </p:sp>
        <p:sp>
          <p:nvSpPr>
            <p:cNvPr id="37" name="Rectangle 37"/>
            <p:cNvSpPr/>
            <p:nvPr/>
          </p:nvSpPr>
          <p:spPr>
            <a:xfrm>
              <a:off x="2043112" y="1928812"/>
              <a:ext cx="9525" cy="2600325"/>
            </a:xfrm>
            <a:prstGeom prst="rect">
              <a:avLst/>
            </a:prstGeom>
            <a:solidFill>
              <a:srgbClr val="D9DFEA"/>
            </a:solidFill>
            <a:ln>
              <a:noFill/>
            </a:ln>
          </p:spPr>
        </p:sp>
        <p:sp>
          <p:nvSpPr>
            <p:cNvPr id="38" name="Rectangle 38"/>
            <p:cNvSpPr/>
            <p:nvPr/>
          </p:nvSpPr>
          <p:spPr>
            <a:xfrm>
              <a:off x="5181600" y="1928812"/>
              <a:ext cx="9525" cy="2600325"/>
            </a:xfrm>
            <a:prstGeom prst="rect">
              <a:avLst/>
            </a:prstGeom>
            <a:solidFill>
              <a:srgbClr val="D9DFEA"/>
            </a:solidFill>
            <a:ln>
              <a:noFill/>
            </a:ln>
          </p:spPr>
        </p:sp>
        <p:sp>
          <p:nvSpPr>
            <p:cNvPr id="39" name="TextBox 39"/>
            <p:cNvSpPr txBox="1"/>
            <p:nvPr/>
          </p:nvSpPr>
          <p:spPr>
            <a:xfrm>
              <a:off x="528447" y="4602004"/>
              <a:ext cx="2066981"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CPU 侧参考答案（V 有效，I 无效）</a:t>
              </a:r>
            </a:p>
          </p:txBody>
        </p:sp>
      </p:grpSp>
      <p:grpSp>
        <p:nvGrpSpPr>
          <p:cNvPr id="46" name="c1-card-2"/>
          <p:cNvGrpSpPr/>
          <p:nvPr/>
        </p:nvGrpSpPr>
        <p:grpSpPr>
          <a:xfrm>
            <a:off x="533400" y="4924425"/>
            <a:ext cx="5410200" cy="1185862"/>
            <a:chOff x="533400" y="4924425"/>
            <a:chExt cx="5410200" cy="1185862"/>
          </a:xfrm>
        </p:grpSpPr>
        <p:sp>
          <p:nvSpPr>
            <p:cNvPr id="41" name="Rectangle 41"/>
            <p:cNvSpPr/>
            <p:nvPr/>
          </p:nvSpPr>
          <p:spPr>
            <a:xfrm>
              <a:off x="533400" y="4924425"/>
              <a:ext cx="5410200" cy="1185862"/>
            </a:xfrm>
            <a:prstGeom prst="roundRect">
              <a:avLst>
                <a:gd name="adj" fmla="val 11245"/>
              </a:avLst>
            </a:prstGeom>
            <a:solidFill>
              <a:srgbClr val="FFFFFF"/>
            </a:solidFill>
            <a:ln w="14288">
              <a:solidFill>
                <a:srgbClr val="D9DFEA"/>
              </a:solidFill>
            </a:ln>
          </p:spPr>
        </p:sp>
        <p:sp>
          <p:nvSpPr>
            <p:cNvPr id="42" name="Rectangle 42"/>
            <p:cNvSpPr/>
            <p:nvPr/>
          </p:nvSpPr>
          <p:spPr>
            <a:xfrm>
              <a:off x="542925" y="5057775"/>
              <a:ext cx="47625" cy="919162"/>
            </a:xfrm>
            <a:prstGeom prst="roundRect">
              <a:avLst>
                <a:gd name="adj" fmla="val 50000"/>
              </a:avLst>
            </a:prstGeom>
            <a:solidFill>
              <a:srgbClr val="B42318"/>
            </a:solidFill>
            <a:ln>
              <a:noFill/>
            </a:ln>
          </p:spPr>
        </p:sp>
        <p:sp>
          <p:nvSpPr>
            <p:cNvPr id="43" name="Rectangle 43"/>
            <p:cNvSpPr/>
            <p:nvPr/>
          </p:nvSpPr>
          <p:spPr>
            <a:xfrm>
              <a:off x="758190" y="5111115"/>
              <a:ext cx="458152" cy="238125"/>
            </a:xfrm>
            <a:prstGeom prst="roundRect">
              <a:avLst>
                <a:gd name="adj" fmla="val 50000"/>
              </a:avLst>
            </a:prstGeom>
            <a:solidFill>
              <a:srgbClr val="FDECEA"/>
            </a:solidFill>
            <a:ln>
              <a:noFill/>
            </a:ln>
          </p:spPr>
        </p:sp>
        <p:sp>
          <p:nvSpPr>
            <p:cNvPr id="44" name="TextBox 44"/>
            <p:cNvSpPr txBox="1"/>
            <p:nvPr/>
          </p:nvSpPr>
          <p:spPr>
            <a:xfrm>
              <a:off x="850862" y="5143976"/>
              <a:ext cx="273761" cy="190690"/>
            </a:xfrm>
            <a:prstGeom prst="rect">
              <a:avLst/>
            </a:prstGeom>
            <a:noFill/>
            <a:ln>
              <a:noFill/>
            </a:ln>
          </p:spPr>
          <p:txBody>
            <a:bodyPr wrap="none" lIns="0" tIns="0" rIns="0" bIns="0" anchor="t" anchorCtr="0">
              <a:spAutoFit/>
            </a:bodyPr>
            <a:lstStyle/>
            <a:p>
              <a:pPr algn="ctr"/>
              <a:r>
                <a:rPr lang="zh-CN" sz="980" b="1" dirty="0">
                  <a:solidFill>
                    <a:srgbClr val="B42318"/>
                  </a:solidFill>
                  <a:latin typeface="+mn-lt"/>
                  <a:ea typeface="+mn-ea"/>
                  <a:cs typeface="+mn-cs"/>
                </a:rPr>
                <a:t>代价</a:t>
              </a:r>
            </a:p>
          </p:txBody>
        </p:sp>
        <p:sp>
          <p:nvSpPr>
            <p:cNvPr id="45" name="TextBox 45"/>
            <p:cNvSpPr txBox="1"/>
            <p:nvPr/>
          </p:nvSpPr>
          <p:spPr>
            <a:xfrm>
              <a:off x="751332" y="5454968"/>
              <a:ext cx="4814316"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每次写都占用总线，既写存储器又广播新值，总线流量远大于写</a:t>
              </a:r>
              <a:br/>
              <a:r>
                <a:rPr lang="zh-CN" sz="1350" dirty="0">
                  <a:solidFill>
                    <a:srgbClr val="1F2937"/>
                  </a:solidFill>
                  <a:latin typeface="+mn-lt"/>
                  <a:ea typeface="+mn-ea"/>
                  <a:cs typeface="+mn-cs"/>
                </a:rPr>
                <a:t>作废 + 写回，处理器一多总线就饱和。</a:t>
              </a:r>
            </a:p>
          </p:txBody>
        </p:sp>
      </p:grpSp>
      <p:grpSp>
        <p:nvGrpSpPr>
          <p:cNvPr id="72" name="c2-table-1"/>
          <p:cNvGrpSpPr/>
          <p:nvPr/>
        </p:nvGrpSpPr>
        <p:grpSpPr>
          <a:xfrm>
            <a:off x="6243447" y="1928812"/>
            <a:ext cx="5415153" cy="1863757"/>
            <a:chOff x="6243447" y="1928812"/>
            <a:chExt cx="5415153" cy="1863757"/>
          </a:xfrm>
        </p:grpSpPr>
        <p:sp>
          <p:nvSpPr>
            <p:cNvPr id="47" name="Rectangle 47"/>
            <p:cNvSpPr/>
            <p:nvPr/>
          </p:nvSpPr>
          <p:spPr>
            <a:xfrm>
              <a:off x="6248400" y="1928812"/>
              <a:ext cx="5410200" cy="400050"/>
            </a:xfrm>
            <a:prstGeom prst="rect">
              <a:avLst/>
            </a:prstGeom>
            <a:solidFill>
              <a:srgbClr val="334E68"/>
            </a:solidFill>
            <a:ln>
              <a:noFill/>
            </a:ln>
          </p:spPr>
        </p:sp>
        <p:sp>
          <p:nvSpPr>
            <p:cNvPr id="48" name="TextBox 48"/>
            <p:cNvSpPr txBox="1"/>
            <p:nvPr/>
          </p:nvSpPr>
          <p:spPr>
            <a:xfrm>
              <a:off x="6427864" y="2050256"/>
              <a:ext cx="614528"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本地状态</a:t>
              </a:r>
            </a:p>
          </p:txBody>
        </p:sp>
        <p:sp>
          <p:nvSpPr>
            <p:cNvPr id="49" name="TextBox 49"/>
            <p:cNvSpPr txBox="1"/>
            <p:nvPr/>
          </p:nvSpPr>
          <p:spPr>
            <a:xfrm>
              <a:off x="7467714" y="2050256"/>
              <a:ext cx="916076"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总线上的请求</a:t>
              </a:r>
            </a:p>
          </p:txBody>
        </p:sp>
        <p:sp>
          <p:nvSpPr>
            <p:cNvPr id="50" name="TextBox 50"/>
            <p:cNvSpPr txBox="1"/>
            <p:nvPr/>
          </p:nvSpPr>
          <p:spPr>
            <a:xfrm>
              <a:off x="9382379" y="2050256"/>
              <a:ext cx="7653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控制器操作</a:t>
              </a:r>
            </a:p>
          </p:txBody>
        </p:sp>
        <p:sp>
          <p:nvSpPr>
            <p:cNvPr id="51" name="TextBox 51"/>
            <p:cNvSpPr txBox="1"/>
            <p:nvPr/>
          </p:nvSpPr>
          <p:spPr>
            <a:xfrm>
              <a:off x="11047628" y="2050256"/>
              <a:ext cx="463753"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新状态</a:t>
              </a:r>
            </a:p>
          </p:txBody>
        </p:sp>
        <p:sp>
          <p:nvSpPr>
            <p:cNvPr id="52" name="TextBox 52"/>
            <p:cNvSpPr txBox="1"/>
            <p:nvPr/>
          </p:nvSpPr>
          <p:spPr>
            <a:xfrm>
              <a:off x="6345555" y="2450306"/>
              <a:ext cx="103431" cy="220028"/>
            </a:xfrm>
            <a:prstGeom prst="rect">
              <a:avLst/>
            </a:prstGeom>
            <a:noFill/>
            <a:ln>
              <a:noFill/>
            </a:ln>
          </p:spPr>
          <p:txBody>
            <a:bodyPr wrap="none" lIns="0" tIns="0" rIns="0" bIns="0" anchor="t" anchorCtr="0">
              <a:spAutoFit/>
            </a:bodyPr>
            <a:lstStyle/>
            <a:p>
              <a:pPr algn="l"/>
              <a:r>
                <a:rPr lang="en-US" sz="1120" b="1" dirty="0">
                  <a:solidFill>
                    <a:srgbClr val="1F2937"/>
                  </a:solidFill>
                  <a:latin typeface="+mn-lt"/>
                  <a:ea typeface="+mn-ea"/>
                  <a:cs typeface="+mn-cs"/>
                </a:rPr>
                <a:t>V</a:t>
              </a:r>
            </a:p>
          </p:txBody>
        </p:sp>
        <p:sp>
          <p:nvSpPr>
            <p:cNvPr id="53" name="TextBox 53"/>
            <p:cNvSpPr txBox="1"/>
            <p:nvPr/>
          </p:nvSpPr>
          <p:spPr>
            <a:xfrm>
              <a:off x="7319010" y="2450306"/>
              <a:ext cx="1217341" cy="220028"/>
            </a:xfrm>
            <a:prstGeom prst="rect">
              <a:avLst/>
            </a:prstGeom>
            <a:noFill/>
            <a:ln>
              <a:noFill/>
            </a:ln>
          </p:spPr>
          <p:txBody>
            <a:bodyPr wrap="none" lIns="0" tIns="0" rIns="0" bIns="0" anchor="t" anchorCtr="0">
              <a:spAutoFit/>
            </a:bodyPr>
            <a:lstStyle/>
            <a:p>
              <a:pPr algn="l"/>
              <a:r>
                <a:rPr lang="en-US" sz="1120" dirty="0">
                  <a:solidFill>
                    <a:srgbClr val="1F2937"/>
                  </a:solidFill>
                  <a:latin typeface="+mn-lt"/>
                  <a:ea typeface="+mn-ea"/>
                  <a:cs typeface="+mn-cs"/>
                </a:rPr>
                <a:t>RdMiss / WtMiss</a:t>
              </a:r>
            </a:p>
          </p:txBody>
        </p:sp>
        <p:sp>
          <p:nvSpPr>
            <p:cNvPr id="54" name="TextBox 54"/>
            <p:cNvSpPr txBox="1"/>
            <p:nvPr/>
          </p:nvSpPr>
          <p:spPr>
            <a:xfrm>
              <a:off x="8725852" y="2450306"/>
              <a:ext cx="1519174"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不理会，由存储器供数</a:t>
              </a:r>
            </a:p>
          </p:txBody>
        </p:sp>
        <p:sp>
          <p:nvSpPr>
            <p:cNvPr id="55" name="TextBox 55"/>
            <p:cNvSpPr txBox="1"/>
            <p:nvPr/>
          </p:nvSpPr>
          <p:spPr>
            <a:xfrm>
              <a:off x="10998518" y="2450306"/>
              <a:ext cx="99050" cy="220028"/>
            </a:xfrm>
            <a:prstGeom prst="rect">
              <a:avLst/>
            </a:prstGeom>
            <a:noFill/>
            <a:ln>
              <a:noFill/>
            </a:ln>
          </p:spPr>
          <p:txBody>
            <a:bodyPr wrap="none" lIns="0" tIns="0" rIns="0" bIns="0" anchor="t" anchorCtr="0">
              <a:spAutoFit/>
            </a:bodyPr>
            <a:lstStyle/>
            <a:p>
              <a:pPr algn="l"/>
              <a:r>
                <a:rPr lang="en-US" sz="1120" dirty="0">
                  <a:solidFill>
                    <a:srgbClr val="1F2937"/>
                  </a:solidFill>
                  <a:latin typeface="+mn-lt"/>
                  <a:ea typeface="+mn-ea"/>
                  <a:cs typeface="+mn-cs"/>
                </a:rPr>
                <a:t>V</a:t>
              </a:r>
            </a:p>
          </p:txBody>
        </p:sp>
        <p:sp>
          <p:nvSpPr>
            <p:cNvPr id="56" name="Rectangle 56"/>
            <p:cNvSpPr/>
            <p:nvPr/>
          </p:nvSpPr>
          <p:spPr>
            <a:xfrm>
              <a:off x="6248400" y="2724150"/>
              <a:ext cx="5410200" cy="9525"/>
            </a:xfrm>
            <a:prstGeom prst="rect">
              <a:avLst/>
            </a:prstGeom>
            <a:solidFill>
              <a:srgbClr val="D9DFEA"/>
            </a:solidFill>
            <a:ln>
              <a:noFill/>
            </a:ln>
          </p:spPr>
        </p:sp>
        <p:sp>
          <p:nvSpPr>
            <p:cNvPr id="57" name="Rectangle 57"/>
            <p:cNvSpPr/>
            <p:nvPr/>
          </p:nvSpPr>
          <p:spPr>
            <a:xfrm>
              <a:off x="6248400" y="2728912"/>
              <a:ext cx="5410200" cy="400050"/>
            </a:xfrm>
            <a:prstGeom prst="rect">
              <a:avLst/>
            </a:prstGeom>
            <a:solidFill>
              <a:srgbClr val="F4F6FB"/>
            </a:solidFill>
            <a:ln>
              <a:noFill/>
            </a:ln>
          </p:spPr>
        </p:sp>
        <p:sp>
          <p:nvSpPr>
            <p:cNvPr id="58" name="TextBox 58"/>
            <p:cNvSpPr txBox="1"/>
            <p:nvPr/>
          </p:nvSpPr>
          <p:spPr>
            <a:xfrm>
              <a:off x="6345555" y="2850356"/>
              <a:ext cx="103431" cy="220028"/>
            </a:xfrm>
            <a:prstGeom prst="rect">
              <a:avLst/>
            </a:prstGeom>
            <a:noFill/>
            <a:ln>
              <a:noFill/>
            </a:ln>
          </p:spPr>
          <p:txBody>
            <a:bodyPr wrap="none" lIns="0" tIns="0" rIns="0" bIns="0" anchor="t" anchorCtr="0">
              <a:spAutoFit/>
            </a:bodyPr>
            <a:lstStyle/>
            <a:p>
              <a:pPr algn="l"/>
              <a:r>
                <a:rPr lang="en-US" sz="1120" b="1" dirty="0">
                  <a:solidFill>
                    <a:srgbClr val="1F2937"/>
                  </a:solidFill>
                  <a:latin typeface="+mn-lt"/>
                  <a:ea typeface="+mn-ea"/>
                  <a:cs typeface="+mn-cs"/>
                </a:rPr>
                <a:t>V</a:t>
              </a:r>
            </a:p>
          </p:txBody>
        </p:sp>
        <p:sp>
          <p:nvSpPr>
            <p:cNvPr id="59" name="TextBox 59"/>
            <p:cNvSpPr txBox="1"/>
            <p:nvPr/>
          </p:nvSpPr>
          <p:spPr>
            <a:xfrm>
              <a:off x="7319010" y="2850356"/>
              <a:ext cx="513679" cy="220028"/>
            </a:xfrm>
            <a:prstGeom prst="rect">
              <a:avLst/>
            </a:prstGeom>
            <a:noFill/>
            <a:ln>
              <a:noFill/>
            </a:ln>
          </p:spPr>
          <p:txBody>
            <a:bodyPr wrap="none" lIns="0" tIns="0" rIns="0" bIns="0" anchor="t" anchorCtr="0">
              <a:spAutoFit/>
            </a:bodyPr>
            <a:lstStyle/>
            <a:p>
              <a:pPr algn="l"/>
              <a:r>
                <a:rPr lang="en-US" sz="1120" dirty="0">
                  <a:solidFill>
                    <a:srgbClr val="1F2937"/>
                  </a:solidFill>
                  <a:latin typeface="+mn-lt"/>
                  <a:ea typeface="+mn-ea"/>
                  <a:cs typeface="+mn-cs"/>
                </a:rPr>
                <a:t>Update</a:t>
              </a:r>
            </a:p>
          </p:txBody>
        </p:sp>
        <p:sp>
          <p:nvSpPr>
            <p:cNvPr id="60" name="TextBox 60"/>
            <p:cNvSpPr txBox="1"/>
            <p:nvPr/>
          </p:nvSpPr>
          <p:spPr>
            <a:xfrm>
              <a:off x="8725852" y="2850356"/>
              <a:ext cx="1971497"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用总线上的新值更新本地副本</a:t>
              </a:r>
            </a:p>
          </p:txBody>
        </p:sp>
        <p:sp>
          <p:nvSpPr>
            <p:cNvPr id="61" name="TextBox 61"/>
            <p:cNvSpPr txBox="1"/>
            <p:nvPr/>
          </p:nvSpPr>
          <p:spPr>
            <a:xfrm>
              <a:off x="10998518" y="2850356"/>
              <a:ext cx="99050" cy="220028"/>
            </a:xfrm>
            <a:prstGeom prst="rect">
              <a:avLst/>
            </a:prstGeom>
            <a:noFill/>
            <a:ln>
              <a:noFill/>
            </a:ln>
          </p:spPr>
          <p:txBody>
            <a:bodyPr wrap="none" lIns="0" tIns="0" rIns="0" bIns="0" anchor="t" anchorCtr="0">
              <a:spAutoFit/>
            </a:bodyPr>
            <a:lstStyle/>
            <a:p>
              <a:pPr algn="l"/>
              <a:r>
                <a:rPr lang="en-US" sz="1120" dirty="0">
                  <a:solidFill>
                    <a:srgbClr val="1F2937"/>
                  </a:solidFill>
                  <a:latin typeface="+mn-lt"/>
                  <a:ea typeface="+mn-ea"/>
                  <a:cs typeface="+mn-cs"/>
                </a:rPr>
                <a:t>V</a:t>
              </a:r>
            </a:p>
          </p:txBody>
        </p:sp>
        <p:sp>
          <p:nvSpPr>
            <p:cNvPr id="62" name="Rectangle 62"/>
            <p:cNvSpPr/>
            <p:nvPr/>
          </p:nvSpPr>
          <p:spPr>
            <a:xfrm>
              <a:off x="6248400" y="3124200"/>
              <a:ext cx="5410200" cy="9525"/>
            </a:xfrm>
            <a:prstGeom prst="rect">
              <a:avLst/>
            </a:prstGeom>
            <a:solidFill>
              <a:srgbClr val="D9DFEA"/>
            </a:solidFill>
            <a:ln>
              <a:noFill/>
            </a:ln>
          </p:spPr>
        </p:sp>
        <p:sp>
          <p:nvSpPr>
            <p:cNvPr id="63" name="TextBox 63"/>
            <p:cNvSpPr txBox="1"/>
            <p:nvPr/>
          </p:nvSpPr>
          <p:spPr>
            <a:xfrm>
              <a:off x="6345555" y="3250406"/>
              <a:ext cx="61612" cy="220028"/>
            </a:xfrm>
            <a:prstGeom prst="rect">
              <a:avLst/>
            </a:prstGeom>
            <a:noFill/>
            <a:ln>
              <a:noFill/>
            </a:ln>
          </p:spPr>
          <p:txBody>
            <a:bodyPr wrap="none" lIns="0" tIns="0" rIns="0" bIns="0" anchor="t" anchorCtr="0">
              <a:spAutoFit/>
            </a:bodyPr>
            <a:lstStyle/>
            <a:p>
              <a:pPr algn="l"/>
              <a:r>
                <a:rPr lang="en-US" sz="1120" b="1" dirty="0">
                  <a:solidFill>
                    <a:srgbClr val="1F2937"/>
                  </a:solidFill>
                  <a:latin typeface="+mn-lt"/>
                  <a:ea typeface="+mn-ea"/>
                  <a:cs typeface="+mn-cs"/>
                </a:rPr>
                <a:t>I</a:t>
              </a:r>
            </a:p>
          </p:txBody>
        </p:sp>
        <p:sp>
          <p:nvSpPr>
            <p:cNvPr id="64" name="TextBox 64"/>
            <p:cNvSpPr txBox="1"/>
            <p:nvPr/>
          </p:nvSpPr>
          <p:spPr>
            <a:xfrm>
              <a:off x="7319010" y="3250406"/>
              <a:ext cx="614528"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任何请求</a:t>
              </a:r>
            </a:p>
          </p:txBody>
        </p:sp>
        <p:sp>
          <p:nvSpPr>
            <p:cNvPr id="65" name="TextBox 65"/>
            <p:cNvSpPr txBox="1"/>
            <p:nvPr/>
          </p:nvSpPr>
          <p:spPr>
            <a:xfrm>
              <a:off x="8725852" y="3250406"/>
              <a:ext cx="463753"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不理会</a:t>
              </a:r>
            </a:p>
          </p:txBody>
        </p:sp>
        <p:sp>
          <p:nvSpPr>
            <p:cNvPr id="66" name="TextBox 66"/>
            <p:cNvSpPr txBox="1"/>
            <p:nvPr/>
          </p:nvSpPr>
          <p:spPr>
            <a:xfrm>
              <a:off x="10998518" y="3250406"/>
              <a:ext cx="59223" cy="220028"/>
            </a:xfrm>
            <a:prstGeom prst="rect">
              <a:avLst/>
            </a:prstGeom>
            <a:noFill/>
            <a:ln>
              <a:noFill/>
            </a:ln>
          </p:spPr>
          <p:txBody>
            <a:bodyPr wrap="none" lIns="0" tIns="0" rIns="0" bIns="0" anchor="t" anchorCtr="0">
              <a:spAutoFit/>
            </a:bodyPr>
            <a:lstStyle/>
            <a:p>
              <a:pPr algn="l"/>
              <a:r>
                <a:rPr lang="en-US" sz="1120" dirty="0">
                  <a:solidFill>
                    <a:srgbClr val="1F2937"/>
                  </a:solidFill>
                  <a:latin typeface="+mn-lt"/>
                  <a:ea typeface="+mn-ea"/>
                  <a:cs typeface="+mn-cs"/>
                </a:rPr>
                <a:t>I</a:t>
              </a:r>
            </a:p>
          </p:txBody>
        </p:sp>
        <p:sp>
          <p:nvSpPr>
            <p:cNvPr id="67" name="Rectangle 67"/>
            <p:cNvSpPr/>
            <p:nvPr/>
          </p:nvSpPr>
          <p:spPr>
            <a:xfrm>
              <a:off x="6248400" y="1928812"/>
              <a:ext cx="5410200" cy="1600200"/>
            </a:xfrm>
            <a:prstGeom prst="rect">
              <a:avLst/>
            </a:prstGeom>
            <a:noFill/>
            <a:ln w="14288">
              <a:solidFill>
                <a:srgbClr val="D9DFEA"/>
              </a:solidFill>
            </a:ln>
          </p:spPr>
        </p:sp>
        <p:sp>
          <p:nvSpPr>
            <p:cNvPr id="68" name="Rectangle 68"/>
            <p:cNvSpPr/>
            <p:nvPr/>
          </p:nvSpPr>
          <p:spPr>
            <a:xfrm>
              <a:off x="7217092" y="1928812"/>
              <a:ext cx="9525" cy="1600200"/>
            </a:xfrm>
            <a:prstGeom prst="rect">
              <a:avLst/>
            </a:prstGeom>
            <a:solidFill>
              <a:srgbClr val="D9DFEA"/>
            </a:solidFill>
            <a:ln>
              <a:noFill/>
            </a:ln>
          </p:spPr>
        </p:sp>
        <p:sp>
          <p:nvSpPr>
            <p:cNvPr id="69" name="Rectangle 69"/>
            <p:cNvSpPr/>
            <p:nvPr/>
          </p:nvSpPr>
          <p:spPr>
            <a:xfrm>
              <a:off x="8623935" y="1928812"/>
              <a:ext cx="9525" cy="1600200"/>
            </a:xfrm>
            <a:prstGeom prst="rect">
              <a:avLst/>
            </a:prstGeom>
            <a:solidFill>
              <a:srgbClr val="D9DFEA"/>
            </a:solidFill>
            <a:ln>
              <a:noFill/>
            </a:ln>
          </p:spPr>
        </p:sp>
        <p:sp>
          <p:nvSpPr>
            <p:cNvPr id="70" name="Rectangle 70"/>
            <p:cNvSpPr/>
            <p:nvPr/>
          </p:nvSpPr>
          <p:spPr>
            <a:xfrm>
              <a:off x="10896600" y="1928812"/>
              <a:ext cx="9525" cy="1600200"/>
            </a:xfrm>
            <a:prstGeom prst="rect">
              <a:avLst/>
            </a:prstGeom>
            <a:solidFill>
              <a:srgbClr val="D9DFEA"/>
            </a:solidFill>
            <a:ln>
              <a:noFill/>
            </a:ln>
          </p:spPr>
        </p:sp>
        <p:sp>
          <p:nvSpPr>
            <p:cNvPr id="71" name="TextBox 71"/>
            <p:cNvSpPr txBox="1"/>
            <p:nvPr/>
          </p:nvSpPr>
          <p:spPr>
            <a:xfrm>
              <a:off x="6243447" y="3601879"/>
              <a:ext cx="933399"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总线侧参考答案</a:t>
              </a:r>
            </a:p>
          </p:txBody>
        </p:sp>
      </p:grpSp>
      <p:grpSp>
        <p:nvGrpSpPr>
          <p:cNvPr id="82" name="c2-card-2"/>
          <p:cNvGrpSpPr/>
          <p:nvPr/>
        </p:nvGrpSpPr>
        <p:grpSpPr>
          <a:xfrm>
            <a:off x="6248400" y="3924300"/>
            <a:ext cx="5410200" cy="2185988"/>
            <a:chOff x="6248400" y="3924300"/>
            <a:chExt cx="5410200" cy="2185988"/>
          </a:xfrm>
        </p:grpSpPr>
        <p:sp>
          <p:nvSpPr>
            <p:cNvPr id="73" name="Rectangle 73"/>
            <p:cNvSpPr/>
            <p:nvPr/>
          </p:nvSpPr>
          <p:spPr>
            <a:xfrm>
              <a:off x="6248400" y="3924300"/>
              <a:ext cx="5410200" cy="2185988"/>
            </a:xfrm>
            <a:prstGeom prst="roundRect">
              <a:avLst>
                <a:gd name="adj" fmla="val 6100"/>
              </a:avLst>
            </a:prstGeom>
            <a:solidFill>
              <a:srgbClr val="334E68"/>
            </a:solidFill>
            <a:ln>
              <a:noFill/>
            </a:ln>
          </p:spPr>
        </p:sp>
        <p:sp>
          <p:nvSpPr>
            <p:cNvPr id="74" name="Rectangle 74"/>
            <p:cNvSpPr/>
            <p:nvPr/>
          </p:nvSpPr>
          <p:spPr>
            <a:xfrm>
              <a:off x="6435090" y="4110990"/>
              <a:ext cx="1329690" cy="238125"/>
            </a:xfrm>
            <a:prstGeom prst="roundRect">
              <a:avLst>
                <a:gd name="adj" fmla="val 50000"/>
              </a:avLst>
            </a:prstGeom>
            <a:solidFill>
              <a:srgbClr val="243B53"/>
            </a:solidFill>
            <a:ln>
              <a:noFill/>
            </a:ln>
          </p:spPr>
        </p:sp>
        <p:sp>
          <p:nvSpPr>
            <p:cNvPr id="75" name="TextBox 75"/>
            <p:cNvSpPr txBox="1"/>
            <p:nvPr/>
          </p:nvSpPr>
          <p:spPr>
            <a:xfrm>
              <a:off x="6501308" y="4143851"/>
              <a:ext cx="1197254" cy="190690"/>
            </a:xfrm>
            <a:prstGeom prst="rect">
              <a:avLst/>
            </a:prstGeom>
            <a:noFill/>
            <a:ln>
              <a:noFill/>
            </a:ln>
          </p:spPr>
          <p:txBody>
            <a:bodyPr wrap="none" lIns="0" tIns="0" rIns="0" bIns="0" anchor="t" anchorCtr="0">
              <a:spAutoFit/>
            </a:bodyPr>
            <a:lstStyle/>
            <a:p>
              <a:pPr algn="ctr"/>
              <a:r>
                <a:rPr lang="zh-CN" sz="980" b="1" dirty="0">
                  <a:solidFill>
                    <a:srgbClr val="FFFFFF"/>
                  </a:solidFill>
                  <a:latin typeface="+mn-lt"/>
                  <a:ea typeface="+mn-ea"/>
                  <a:cs typeface="+mn-cs"/>
                </a:rPr>
                <a:t>为什么只剩两个状态</a:t>
              </a:r>
            </a:p>
          </p:txBody>
        </p:sp>
        <p:sp>
          <p:nvSpPr>
            <p:cNvPr id="76" name="Ellipse 76"/>
            <p:cNvSpPr/>
            <p:nvPr/>
          </p:nvSpPr>
          <p:spPr>
            <a:xfrm>
              <a:off x="6443662" y="4511040"/>
              <a:ext cx="59055" cy="59055"/>
            </a:xfrm>
            <a:prstGeom prst="ellipse">
              <a:avLst/>
            </a:prstGeom>
            <a:solidFill>
              <a:srgbClr val="FFFFFF"/>
            </a:solidFill>
            <a:ln>
              <a:noFill/>
            </a:ln>
          </p:spPr>
        </p:sp>
        <p:sp>
          <p:nvSpPr>
            <p:cNvPr id="77" name="TextBox 77"/>
            <p:cNvSpPr txBox="1"/>
            <p:nvPr/>
          </p:nvSpPr>
          <p:spPr>
            <a:xfrm>
              <a:off x="6599682" y="4454842"/>
              <a:ext cx="4668584"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FFFFFF"/>
                  </a:solidFill>
                  <a:latin typeface="+mn-lt"/>
                  <a:ea typeface="+mn-ea"/>
                  <a:cs typeface="+mn-cs"/>
                </a:rPr>
                <a:t>写直达让存储器永远是最新值，不存在“唯一脏副本”，M 状态</a:t>
              </a:r>
              <a:br/>
              <a:r>
                <a:rPr lang="zh-CN" sz="1350" dirty="0">
                  <a:solidFill>
                    <a:srgbClr val="FFFFFF"/>
                  </a:solidFill>
                  <a:latin typeface="+mn-lt"/>
                  <a:ea typeface="+mn-ea"/>
                  <a:cs typeface="+mn-cs"/>
                </a:rPr>
                <a:t>没有意义</a:t>
              </a:r>
            </a:p>
          </p:txBody>
        </p:sp>
        <p:sp>
          <p:nvSpPr>
            <p:cNvPr id="78" name="Ellipse 78"/>
            <p:cNvSpPr/>
            <p:nvPr/>
          </p:nvSpPr>
          <p:spPr>
            <a:xfrm>
              <a:off x="6443662" y="5069205"/>
              <a:ext cx="59055" cy="59055"/>
            </a:xfrm>
            <a:prstGeom prst="ellipse">
              <a:avLst/>
            </a:prstGeom>
            <a:solidFill>
              <a:srgbClr val="FFFFFF"/>
            </a:solidFill>
            <a:ln>
              <a:noFill/>
            </a:ln>
          </p:spPr>
        </p:sp>
        <p:sp>
          <p:nvSpPr>
            <p:cNvPr id="79" name="TextBox 79"/>
            <p:cNvSpPr txBox="1"/>
            <p:nvPr/>
          </p:nvSpPr>
          <p:spPr>
            <a:xfrm>
              <a:off x="6599682" y="5013008"/>
              <a:ext cx="4617148"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FFFFFF"/>
                  </a:solidFill>
                  <a:latin typeface="+mn-lt"/>
                  <a:ea typeface="+mn-ea"/>
                  <a:cs typeface="+mn-cs"/>
                </a:rPr>
                <a:t>写更新不作废别人的副本，不需要区分共享和独占，有效 V、</a:t>
              </a:r>
              <a:br/>
              <a:r>
                <a:rPr lang="zh-CN" sz="1350" dirty="0">
                  <a:solidFill>
                    <a:srgbClr val="FFFFFF"/>
                  </a:solidFill>
                  <a:latin typeface="+mn-lt"/>
                  <a:ea typeface="+mn-ea"/>
                  <a:cs typeface="+mn-cs"/>
                </a:rPr>
                <a:t>无效 I 就够</a:t>
              </a:r>
            </a:p>
          </p:txBody>
        </p:sp>
        <p:sp>
          <p:nvSpPr>
            <p:cNvPr id="80" name="Ellipse 80"/>
            <p:cNvSpPr/>
            <p:nvPr/>
          </p:nvSpPr>
          <p:spPr>
            <a:xfrm>
              <a:off x="6443662" y="5626417"/>
              <a:ext cx="59055" cy="59055"/>
            </a:xfrm>
            <a:prstGeom prst="ellipse">
              <a:avLst/>
            </a:prstGeom>
            <a:solidFill>
              <a:srgbClr val="FFFFFF"/>
            </a:solidFill>
            <a:ln>
              <a:noFill/>
            </a:ln>
          </p:spPr>
        </p:sp>
        <p:sp>
          <p:nvSpPr>
            <p:cNvPr id="81" name="TextBox 81"/>
            <p:cNvSpPr txBox="1"/>
            <p:nvPr/>
          </p:nvSpPr>
          <p:spPr>
            <a:xfrm>
              <a:off x="6599682" y="5570220"/>
              <a:ext cx="2558034" cy="264033"/>
            </a:xfrm>
            <a:prstGeom prst="rect">
              <a:avLst/>
            </a:prstGeom>
            <a:noFill/>
            <a:ln>
              <a:noFill/>
            </a:ln>
          </p:spPr>
          <p:txBody>
            <a:bodyPr wrap="none" lIns="0" tIns="0" rIns="0" bIns="0" anchor="t" anchorCtr="0">
              <a:spAutoFit/>
            </a:bodyPr>
            <a:lstStyle/>
            <a:p>
              <a:pPr algn="l"/>
              <a:r>
                <a:rPr lang="zh-CN" sz="1350" dirty="0">
                  <a:solidFill>
                    <a:srgbClr val="FFFFFF"/>
                  </a:solidFill>
                  <a:latin typeface="+mn-lt"/>
                  <a:ea typeface="+mn-ea"/>
                  <a:cs typeface="+mn-cs"/>
                </a:rPr>
                <a:t>块被替换时不用写回，直接丢弃</a:t>
              </a:r>
            </a:p>
          </p:txBody>
        </p:sp>
      </p:grpSp>
      <p:grpSp>
        <p:nvGrpSpPr>
          <p:cNvPr id="85" name="footer"/>
          <p:cNvGrpSpPr/>
          <p:nvPr/>
        </p:nvGrpSpPr>
        <p:grpSpPr>
          <a:xfrm>
            <a:off x="528447" y="6581299"/>
            <a:ext cx="11135106" cy="190690"/>
            <a:chOff x="528447" y="6581299"/>
            <a:chExt cx="11135106" cy="190690"/>
          </a:xfrm>
        </p:grpSpPr>
        <p:sp>
          <p:nvSpPr>
            <p:cNvPr id="83" name="TextBox 83"/>
            <p:cNvSpPr txBox="1"/>
            <p:nvPr/>
          </p:nvSpPr>
          <p:spPr>
            <a:xfrm>
              <a:off x="528447" y="6581299"/>
              <a:ext cx="2120748"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并行与分布式计算 · 第7章 体系结构</a:t>
              </a:r>
            </a:p>
          </p:txBody>
        </p:sp>
        <p:sp>
          <p:nvSpPr>
            <p:cNvPr id="84" name="TextBox 84"/>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28</a:t>
              </a:r>
            </a:p>
          </p:txBody>
        </p:sp>
      </p:grpSp>
    </p:spTree>
  </p:cSld>
  <p:clrMapOvr>
    <a:masterClrMapping/>
  </p:clrMapOvr>
  <p:transition xmlns:p14="http://schemas.microsoft.com/office/powerpoint/2010/main" p14:dur="400">
    <p:fade/>
  </p:transition>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7578090" cy="909257"/>
            <a:chOff x="520446" y="342900"/>
            <a:chExt cx="7578090" cy="909257"/>
          </a:xfrm>
        </p:grpSpPr>
        <p:sp>
          <p:nvSpPr>
            <p:cNvPr id="2" name="Rectangle 2"/>
            <p:cNvSpPr/>
            <p:nvPr/>
          </p:nvSpPr>
          <p:spPr>
            <a:xfrm>
              <a:off x="533400" y="342900"/>
              <a:ext cx="2586038" cy="266700"/>
            </a:xfrm>
            <a:prstGeom prst="roundRect">
              <a:avLst>
                <a:gd name="adj" fmla="val 50000"/>
              </a:avLst>
            </a:prstGeom>
            <a:solidFill>
              <a:srgbClr val="E7EDF3"/>
            </a:solidFill>
            <a:ln>
              <a:noFill/>
            </a:ln>
          </p:spPr>
        </p:sp>
        <p:sp>
          <p:nvSpPr>
            <p:cNvPr id="3" name="TextBox 3"/>
            <p:cNvSpPr txBox="1"/>
            <p:nvPr/>
          </p:nvSpPr>
          <p:spPr>
            <a:xfrm>
              <a:off x="587464" y="407194"/>
              <a:ext cx="2476957"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第7章 体系结构 · Cache 一致性问题</a:t>
              </a:r>
            </a:p>
          </p:txBody>
        </p:sp>
        <p:sp>
          <p:nvSpPr>
            <p:cNvPr id="4" name="TextBox 4"/>
            <p:cNvSpPr txBox="1"/>
            <p:nvPr/>
          </p:nvSpPr>
          <p:spPr>
            <a:xfrm>
              <a:off x="520446" y="753428"/>
              <a:ext cx="7578090"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目录：给每个存储块记一笔账，谁有副本一查便知</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17" name="c1-card-1"/>
          <p:cNvGrpSpPr/>
          <p:nvPr/>
        </p:nvGrpSpPr>
        <p:grpSpPr>
          <a:xfrm>
            <a:off x="533400" y="1524000"/>
            <a:ext cx="4977765" cy="3129915"/>
            <a:chOff x="533400" y="1524000"/>
            <a:chExt cx="4977765" cy="3129915"/>
          </a:xfrm>
        </p:grpSpPr>
        <p:sp>
          <p:nvSpPr>
            <p:cNvPr id="7" name="Rectangle 7"/>
            <p:cNvSpPr/>
            <p:nvPr/>
          </p:nvSpPr>
          <p:spPr>
            <a:xfrm>
              <a:off x="533400" y="1524000"/>
              <a:ext cx="4977765" cy="3129915"/>
            </a:xfrm>
            <a:prstGeom prst="roundRect">
              <a:avLst>
                <a:gd name="adj" fmla="val 4260"/>
              </a:avLst>
            </a:prstGeom>
            <a:solidFill>
              <a:srgbClr val="FFFFFF"/>
            </a:solidFill>
            <a:ln w="14288">
              <a:solidFill>
                <a:srgbClr val="D9DFEA"/>
              </a:solidFill>
            </a:ln>
          </p:spPr>
        </p:sp>
        <p:sp>
          <p:nvSpPr>
            <p:cNvPr id="8" name="Rectangle 8"/>
            <p:cNvSpPr/>
            <p:nvPr/>
          </p:nvSpPr>
          <p:spPr>
            <a:xfrm>
              <a:off x="542925" y="1657350"/>
              <a:ext cx="47625" cy="2863215"/>
            </a:xfrm>
            <a:prstGeom prst="roundRect">
              <a:avLst>
                <a:gd name="adj" fmla="val 50000"/>
              </a:avLst>
            </a:prstGeom>
            <a:solidFill>
              <a:srgbClr val="334E68"/>
            </a:solidFill>
            <a:ln>
              <a:noFill/>
            </a:ln>
          </p:spPr>
        </p:sp>
        <p:sp>
          <p:nvSpPr>
            <p:cNvPr id="9" name="Rectangle 9"/>
            <p:cNvSpPr/>
            <p:nvPr/>
          </p:nvSpPr>
          <p:spPr>
            <a:xfrm>
              <a:off x="781050" y="1733550"/>
              <a:ext cx="494348" cy="257175"/>
            </a:xfrm>
            <a:prstGeom prst="roundRect">
              <a:avLst>
                <a:gd name="adj" fmla="val 50000"/>
              </a:avLst>
            </a:prstGeom>
            <a:solidFill>
              <a:srgbClr val="E7EDF3"/>
            </a:solidFill>
            <a:ln>
              <a:noFill/>
            </a:ln>
          </p:spPr>
        </p:sp>
        <p:sp>
          <p:nvSpPr>
            <p:cNvPr id="10" name="TextBox 10"/>
            <p:cNvSpPr txBox="1"/>
            <p:nvPr/>
          </p:nvSpPr>
          <p:spPr>
            <a:xfrm>
              <a:off x="871258" y="1769269"/>
              <a:ext cx="312979"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目录</a:t>
              </a:r>
            </a:p>
          </p:txBody>
        </p:sp>
        <p:sp>
          <p:nvSpPr>
            <p:cNvPr id="11" name="Ellipse 11"/>
            <p:cNvSpPr/>
            <p:nvPr/>
          </p:nvSpPr>
          <p:spPr>
            <a:xfrm>
              <a:off x="786765" y="2173605"/>
              <a:ext cx="64770" cy="64770"/>
            </a:xfrm>
            <a:prstGeom prst="ellipse">
              <a:avLst/>
            </a:prstGeom>
            <a:solidFill>
              <a:srgbClr val="334E68"/>
            </a:solidFill>
            <a:ln>
              <a:noFill/>
            </a:ln>
          </p:spPr>
        </p:sp>
        <p:sp>
          <p:nvSpPr>
            <p:cNvPr id="12" name="TextBox 12"/>
            <p:cNvSpPr txBox="1"/>
            <p:nvPr/>
          </p:nvSpPr>
          <p:spPr>
            <a:xfrm>
              <a:off x="944880" y="2110740"/>
              <a:ext cx="4082415" cy="86487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一种逻辑上集中的数据结构：存储器中每个可调</a:t>
              </a:r>
              <a:br/>
              <a:r>
                <a:rPr lang="zh-CN" sz="1500" dirty="0">
                  <a:solidFill>
                    <a:srgbClr val="1F2937"/>
                  </a:solidFill>
                  <a:latin typeface="+mn-lt"/>
                  <a:ea typeface="+mn-ea"/>
                  <a:cs typeface="+mn-cs"/>
                </a:rPr>
                <a:t>入 Cache 的数据块都有一条目录项，记录该块的</a:t>
              </a:r>
              <a:br/>
              <a:r>
                <a:rPr lang="zh-CN" sz="1500" dirty="0">
                  <a:solidFill>
                    <a:srgbClr val="1F2937"/>
                  </a:solidFill>
                  <a:latin typeface="+mn-lt"/>
                  <a:ea typeface="+mn-ea"/>
                  <a:cs typeface="+mn-cs"/>
                </a:rPr>
                <a:t>状态以及哪些 Cache 有副本</a:t>
              </a:r>
            </a:p>
          </p:txBody>
        </p:sp>
        <p:sp>
          <p:nvSpPr>
            <p:cNvPr id="13" name="Ellipse 13"/>
            <p:cNvSpPr/>
            <p:nvPr/>
          </p:nvSpPr>
          <p:spPr>
            <a:xfrm>
              <a:off x="786765" y="3080385"/>
              <a:ext cx="64770" cy="64770"/>
            </a:xfrm>
            <a:prstGeom prst="ellipse">
              <a:avLst/>
            </a:prstGeom>
            <a:solidFill>
              <a:srgbClr val="334E68"/>
            </a:solidFill>
            <a:ln>
              <a:noFill/>
            </a:ln>
          </p:spPr>
        </p:sp>
        <p:sp>
          <p:nvSpPr>
            <p:cNvPr id="14" name="TextBox 14"/>
            <p:cNvSpPr txBox="1"/>
            <p:nvPr/>
          </p:nvSpPr>
          <p:spPr>
            <a:xfrm>
              <a:off x="944880" y="3017520"/>
              <a:ext cx="4015740"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对任何一个数据块，都能在唯一的一个位置快速</a:t>
              </a:r>
              <a:br/>
              <a:r>
                <a:rPr lang="zh-CN" sz="1500" dirty="0">
                  <a:solidFill>
                    <a:srgbClr val="1F2937"/>
                  </a:solidFill>
                  <a:latin typeface="+mn-lt"/>
                  <a:ea typeface="+mn-ea"/>
                  <a:cs typeface="+mn-cs"/>
                </a:rPr>
                <a:t>找到相关信息</a:t>
              </a:r>
            </a:p>
          </p:txBody>
        </p:sp>
        <p:sp>
          <p:nvSpPr>
            <p:cNvPr id="15" name="Ellipse 15"/>
            <p:cNvSpPr/>
            <p:nvPr/>
          </p:nvSpPr>
          <p:spPr>
            <a:xfrm>
              <a:off x="786765" y="3701415"/>
              <a:ext cx="64770" cy="64770"/>
            </a:xfrm>
            <a:prstGeom prst="ellipse">
              <a:avLst/>
            </a:prstGeom>
            <a:solidFill>
              <a:srgbClr val="334E68"/>
            </a:solidFill>
            <a:ln>
              <a:noFill/>
            </a:ln>
          </p:spPr>
        </p:sp>
        <p:sp>
          <p:nvSpPr>
            <p:cNvPr id="16" name="TextBox 16"/>
            <p:cNvSpPr txBox="1"/>
            <p:nvPr/>
          </p:nvSpPr>
          <p:spPr>
            <a:xfrm>
              <a:off x="944880" y="3638550"/>
              <a:ext cx="4015740" cy="86487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物理上分布：目录和存储器一起分布在各节点，</a:t>
              </a:r>
              <a:br/>
              <a:r>
                <a:rPr lang="zh-CN" sz="1500" dirty="0">
                  <a:solidFill>
                    <a:srgbClr val="1F2937"/>
                  </a:solidFill>
                  <a:latin typeface="+mn-lt"/>
                  <a:ea typeface="+mn-ea"/>
                  <a:cs typeface="+mn-cs"/>
                </a:rPr>
                <a:t>每个目录只记本地存储器中的块，对不同目录的</a:t>
              </a:r>
              <a:br/>
              <a:r>
                <a:rPr lang="zh-CN" sz="1500" dirty="0">
                  <a:solidFill>
                    <a:srgbClr val="1F2937"/>
                  </a:solidFill>
                  <a:latin typeface="+mn-lt"/>
                  <a:ea typeface="+mn-ea"/>
                  <a:cs typeface="+mn-cs"/>
                </a:rPr>
                <a:t>访问可以在不同节点上并行</a:t>
              </a:r>
            </a:p>
          </p:txBody>
        </p:sp>
      </p:grpSp>
      <p:grpSp>
        <p:nvGrpSpPr>
          <p:cNvPr id="24" name="c1-callout-2"/>
          <p:cNvGrpSpPr/>
          <p:nvPr/>
        </p:nvGrpSpPr>
        <p:grpSpPr>
          <a:xfrm>
            <a:off x="533400" y="4844415"/>
            <a:ext cx="4977765" cy="1059180"/>
            <a:chOff x="533400" y="4844415"/>
            <a:chExt cx="4977765" cy="1059180"/>
          </a:xfrm>
        </p:grpSpPr>
        <p:sp>
          <p:nvSpPr>
            <p:cNvPr id="18" name="Rectangle 18"/>
            <p:cNvSpPr/>
            <p:nvPr/>
          </p:nvSpPr>
          <p:spPr>
            <a:xfrm>
              <a:off x="533400" y="4844415"/>
              <a:ext cx="4977765" cy="1059180"/>
            </a:xfrm>
            <a:prstGeom prst="roundRect">
              <a:avLst>
                <a:gd name="adj" fmla="val 10791"/>
              </a:avLst>
            </a:prstGeom>
            <a:solidFill>
              <a:srgbClr val="FDEEE7"/>
            </a:solidFill>
            <a:ln>
              <a:noFill/>
            </a:ln>
          </p:spPr>
        </p:sp>
        <p:grpSp>
          <p:nvGrpSpPr>
            <p:cNvPr id="22" name="Group 22"/>
            <p:cNvGrpSpPr/>
            <p:nvPr/>
          </p:nvGrpSpPr>
          <p:grpSpPr>
            <a:xfrm>
              <a:off x="738188" y="5273993"/>
              <a:ext cx="200026" cy="200025"/>
              <a:chOff x="738188" y="5273993"/>
              <a:chExt cx="200026" cy="200025"/>
            </a:xfrm>
          </p:grpSpPr>
          <p:sp>
            <p:nvSpPr>
              <p:cNvPr id="19" name="Freeform 19"/>
              <p:cNvSpPr/>
              <p:nvPr/>
            </p:nvSpPr>
            <p:spPr>
              <a:xfrm>
                <a:off x="738188" y="5273993"/>
                <a:ext cx="200026" cy="100013"/>
              </a:xfrm>
              <a:custGeom>
                <a:avLst/>
                <a:gdLst/>
                <a:ahLst/>
                <a:cxnLst/>
                <a:rect l="l" t="t" r="r" b="b"/>
                <a:pathLst>
                  <a:path w="200026" h="100013">
                    <a:moveTo>
                      <a:pt x="0" y="100013"/>
                    </a:moveTo>
                    <a:lnTo>
                      <a:pt x="11113" y="100013"/>
                    </a:lnTo>
                    <a:moveTo>
                      <a:pt x="100013" y="0"/>
                    </a:moveTo>
                    <a:lnTo>
                      <a:pt x="100013" y="11113"/>
                    </a:lnTo>
                    <a:moveTo>
                      <a:pt x="188913" y="100013"/>
                    </a:moveTo>
                    <a:lnTo>
                      <a:pt x="200026" y="100013"/>
                    </a:lnTo>
                    <a:moveTo>
                      <a:pt x="28893" y="28893"/>
                    </a:moveTo>
                    <a:lnTo>
                      <a:pt x="36671" y="36671"/>
                    </a:lnTo>
                    <a:moveTo>
                      <a:pt x="171133" y="28893"/>
                    </a:moveTo>
                    <a:lnTo>
                      <a:pt x="163354" y="36671"/>
                    </a:lnTo>
                  </a:path>
                </a:pathLst>
              </a:custGeom>
              <a:noFill/>
              <a:ln w="22225">
                <a:solidFill>
                  <a:srgbClr val="C2410C"/>
                </a:solidFill>
              </a:ln>
            </p:spPr>
          </p:sp>
          <p:sp>
            <p:nvSpPr>
              <p:cNvPr id="20" name="Freeform 20"/>
              <p:cNvSpPr/>
              <p:nvPr/>
            </p:nvSpPr>
            <p:spPr>
              <a:xfrm>
                <a:off x="777926" y="5318443"/>
                <a:ext cx="120548" cy="155575"/>
              </a:xfrm>
              <a:custGeom>
                <a:avLst/>
                <a:gdLst/>
                <a:ahLst/>
                <a:cxnLst/>
                <a:rect l="l" t="t" r="r" b="b"/>
                <a:pathLst>
                  <a:path w="120548" h="155575">
                    <a:moveTo>
                      <a:pt x="26937" y="100013"/>
                    </a:moveTo>
                    <a:cubicBezTo>
                      <a:pt x="7804" y="85663"/>
                      <a:pt x="0" y="60681"/>
                      <a:pt x="7563" y="37992"/>
                    </a:cubicBezTo>
                    <a:cubicBezTo>
                      <a:pt x="15126" y="15304"/>
                      <a:pt x="36358" y="0"/>
                      <a:pt x="60274" y="0"/>
                    </a:cubicBezTo>
                    <a:cubicBezTo>
                      <a:pt x="84190" y="0"/>
                      <a:pt x="105423" y="15304"/>
                      <a:pt x="112986" y="37992"/>
                    </a:cubicBezTo>
                    <a:cubicBezTo>
                      <a:pt x="120548" y="60681"/>
                      <a:pt x="112745" y="85663"/>
                      <a:pt x="93612" y="100013"/>
                    </a:cubicBezTo>
                    <a:cubicBezTo>
                      <a:pt x="84812" y="108723"/>
                      <a:pt x="80686" y="121103"/>
                      <a:pt x="82499" y="133350"/>
                    </a:cubicBezTo>
                    <a:cubicBezTo>
                      <a:pt x="82499" y="145625"/>
                      <a:pt x="72549" y="155575"/>
                      <a:pt x="60274" y="155575"/>
                    </a:cubicBezTo>
                    <a:cubicBezTo>
                      <a:pt x="48000" y="155575"/>
                      <a:pt x="38049" y="145625"/>
                      <a:pt x="38049" y="133350"/>
                    </a:cubicBezTo>
                    <a:cubicBezTo>
                      <a:pt x="39862" y="121103"/>
                      <a:pt x="35736" y="108723"/>
                      <a:pt x="26937" y="100013"/>
                    </a:cubicBezTo>
                  </a:path>
                </a:pathLst>
              </a:custGeom>
              <a:noFill/>
              <a:ln w="22225">
                <a:solidFill>
                  <a:srgbClr val="C2410C"/>
                </a:solidFill>
              </a:ln>
            </p:spPr>
          </p:sp>
          <p:sp>
            <p:nvSpPr>
              <p:cNvPr id="21" name="Freeform 21"/>
              <p:cNvSpPr/>
              <p:nvPr/>
            </p:nvSpPr>
            <p:spPr>
              <a:xfrm>
                <a:off x="812642" y="5429568"/>
                <a:ext cx="51118" cy="9525"/>
              </a:xfrm>
              <a:custGeom>
                <a:avLst/>
                <a:gdLst/>
                <a:ahLst/>
                <a:cxnLst/>
                <a:rect l="l" t="t" r="r" b="b"/>
                <a:pathLst>
                  <a:path w="51118" h="9525">
                    <a:moveTo>
                      <a:pt x="0" y="0"/>
                    </a:moveTo>
                    <a:lnTo>
                      <a:pt x="51118" y="0"/>
                    </a:lnTo>
                  </a:path>
                </a:pathLst>
              </a:custGeom>
              <a:noFill/>
              <a:ln w="22225">
                <a:solidFill>
                  <a:srgbClr val="C2410C"/>
                </a:solidFill>
              </a:ln>
            </p:spPr>
          </p:sp>
        </p:grpSp>
        <p:sp>
          <p:nvSpPr>
            <p:cNvPr id="23" name="TextBox 23"/>
            <p:cNvSpPr txBox="1"/>
            <p:nvPr/>
          </p:nvSpPr>
          <p:spPr>
            <a:xfrm>
              <a:off x="1040130" y="4993005"/>
              <a:ext cx="4091940" cy="845820"/>
            </a:xfrm>
            <a:prstGeom prst="rect">
              <a:avLst/>
            </a:prstGeom>
            <a:noFill/>
            <a:ln>
              <a:noFill/>
            </a:ln>
          </p:spPr>
          <p:txBody>
            <a:bodyPr wrap="none" lIns="0" tIns="0" rIns="0" bIns="0" anchor="t" anchorCtr="0">
              <a:spAutoFit/>
            </a:bodyPr>
            <a:lstStyle/>
            <a:p>
              <a:pPr algn="l">
                <a:lnSpc>
                  <a:spcPts val="2175"/>
                </a:lnSpc>
              </a:pPr>
              <a:r>
                <a:rPr lang="zh-CN" sz="1500" dirty="0">
                  <a:solidFill>
                    <a:srgbClr val="C2410C"/>
                  </a:solidFill>
                  <a:latin typeface="+mn-lt"/>
                  <a:ea typeface="+mn-ea"/>
                  <a:cs typeface="+mn-cs"/>
                </a:rPr>
                <a:t>目录协议用于分布式共享存储多处理器</a:t>
              </a:r>
              <a:br/>
              <a:r>
                <a:rPr lang="zh-CN" sz="1500" dirty="0">
                  <a:solidFill>
                    <a:srgbClr val="C2410C"/>
                  </a:solidFill>
                  <a:latin typeface="+mn-lt"/>
                  <a:ea typeface="+mn-ea"/>
                  <a:cs typeface="+mn-cs"/>
                </a:rPr>
                <a:t>（NUMA），这类机器靠互连网络通信，没有能让</a:t>
              </a:r>
              <a:br/>
              <a:r>
                <a:rPr lang="zh-CN" sz="1500" dirty="0">
                  <a:solidFill>
                    <a:srgbClr val="C2410C"/>
                  </a:solidFill>
                  <a:latin typeface="+mn-lt"/>
                  <a:ea typeface="+mn-ea"/>
                  <a:cs typeface="+mn-cs"/>
                </a:rPr>
                <a:t>所有节点同时听到的总线。</a:t>
              </a:r>
            </a:p>
          </p:txBody>
        </p:sp>
      </p:grpSp>
      <p:grpSp>
        <p:nvGrpSpPr>
          <p:cNvPr id="59" name="c2-graph-1"/>
          <p:cNvGrpSpPr/>
          <p:nvPr/>
        </p:nvGrpSpPr>
        <p:grpSpPr>
          <a:xfrm>
            <a:off x="5984558" y="1939290"/>
            <a:ext cx="5505450" cy="3347085"/>
            <a:chOff x="5984558" y="1939290"/>
            <a:chExt cx="5505450" cy="3347085"/>
          </a:xfrm>
        </p:grpSpPr>
        <p:sp>
          <p:nvSpPr>
            <p:cNvPr id="25" name="Freeform 25"/>
            <p:cNvSpPr/>
            <p:nvPr/>
          </p:nvSpPr>
          <p:spPr>
            <a:xfrm>
              <a:off x="6575108" y="2529840"/>
              <a:ext cx="9525" cy="961072"/>
            </a:xfrm>
            <a:custGeom>
              <a:avLst/>
              <a:gdLst/>
              <a:ahLst/>
              <a:cxnLst/>
              <a:rect l="l" t="t" r="r" b="b"/>
              <a:pathLst>
                <a:path w="9525" h="961072">
                  <a:moveTo>
                    <a:pt x="0" y="0"/>
                  </a:moveTo>
                  <a:lnTo>
                    <a:pt x="0" y="961072"/>
                  </a:lnTo>
                </a:path>
              </a:pathLst>
            </a:custGeom>
            <a:noFill/>
            <a:ln w="17145">
              <a:solidFill>
                <a:srgbClr val="1F2937"/>
              </a:solidFill>
            </a:ln>
          </p:spPr>
        </p:sp>
        <p:sp>
          <p:nvSpPr>
            <p:cNvPr id="26" name="Freeform 26"/>
            <p:cNvSpPr/>
            <p:nvPr/>
          </p:nvSpPr>
          <p:spPr>
            <a:xfrm>
              <a:off x="8036242" y="2529840"/>
              <a:ext cx="9525" cy="961072"/>
            </a:xfrm>
            <a:custGeom>
              <a:avLst/>
              <a:gdLst/>
              <a:ahLst/>
              <a:cxnLst/>
              <a:rect l="l" t="t" r="r" b="b"/>
              <a:pathLst>
                <a:path w="9525" h="961072">
                  <a:moveTo>
                    <a:pt x="0" y="0"/>
                  </a:moveTo>
                  <a:lnTo>
                    <a:pt x="0" y="961072"/>
                  </a:lnTo>
                </a:path>
              </a:pathLst>
            </a:custGeom>
            <a:noFill/>
            <a:ln w="17145">
              <a:solidFill>
                <a:srgbClr val="1F2937"/>
              </a:solidFill>
            </a:ln>
          </p:spPr>
        </p:sp>
        <p:sp>
          <p:nvSpPr>
            <p:cNvPr id="27" name="Freeform 27"/>
            <p:cNvSpPr/>
            <p:nvPr/>
          </p:nvSpPr>
          <p:spPr>
            <a:xfrm>
              <a:off x="9438322" y="2529840"/>
              <a:ext cx="9525" cy="961072"/>
            </a:xfrm>
            <a:custGeom>
              <a:avLst/>
              <a:gdLst/>
              <a:ahLst/>
              <a:cxnLst/>
              <a:rect l="l" t="t" r="r" b="b"/>
              <a:pathLst>
                <a:path w="9525" h="961072">
                  <a:moveTo>
                    <a:pt x="0" y="0"/>
                  </a:moveTo>
                  <a:lnTo>
                    <a:pt x="0" y="961072"/>
                  </a:lnTo>
                </a:path>
              </a:pathLst>
            </a:custGeom>
            <a:noFill/>
            <a:ln w="17145">
              <a:solidFill>
                <a:srgbClr val="1F2937"/>
              </a:solidFill>
            </a:ln>
          </p:spPr>
        </p:sp>
        <p:sp>
          <p:nvSpPr>
            <p:cNvPr id="28" name="Freeform 28"/>
            <p:cNvSpPr/>
            <p:nvPr/>
          </p:nvSpPr>
          <p:spPr>
            <a:xfrm>
              <a:off x="10899458" y="2529840"/>
              <a:ext cx="9525" cy="961072"/>
            </a:xfrm>
            <a:custGeom>
              <a:avLst/>
              <a:gdLst/>
              <a:ahLst/>
              <a:cxnLst/>
              <a:rect l="l" t="t" r="r" b="b"/>
              <a:pathLst>
                <a:path w="9525" h="961072">
                  <a:moveTo>
                    <a:pt x="0" y="0"/>
                  </a:moveTo>
                  <a:lnTo>
                    <a:pt x="0" y="961072"/>
                  </a:lnTo>
                </a:path>
              </a:pathLst>
            </a:custGeom>
            <a:noFill/>
            <a:ln w="17145">
              <a:solidFill>
                <a:srgbClr val="1F2937"/>
              </a:solidFill>
            </a:ln>
          </p:spPr>
        </p:sp>
        <p:sp>
          <p:nvSpPr>
            <p:cNvPr id="29" name="Freeform 29"/>
            <p:cNvSpPr/>
            <p:nvPr/>
          </p:nvSpPr>
          <p:spPr>
            <a:xfrm>
              <a:off x="6575108" y="3734752"/>
              <a:ext cx="9525" cy="961072"/>
            </a:xfrm>
            <a:custGeom>
              <a:avLst/>
              <a:gdLst/>
              <a:ahLst/>
              <a:cxnLst/>
              <a:rect l="l" t="t" r="r" b="b"/>
              <a:pathLst>
                <a:path w="9525" h="961072">
                  <a:moveTo>
                    <a:pt x="0" y="0"/>
                  </a:moveTo>
                  <a:lnTo>
                    <a:pt x="0" y="961072"/>
                  </a:lnTo>
                </a:path>
              </a:pathLst>
            </a:custGeom>
            <a:noFill/>
            <a:ln w="17145">
              <a:solidFill>
                <a:srgbClr val="1F2937"/>
              </a:solidFill>
            </a:ln>
          </p:spPr>
        </p:sp>
        <p:sp>
          <p:nvSpPr>
            <p:cNvPr id="30" name="Freeform 30"/>
            <p:cNvSpPr/>
            <p:nvPr/>
          </p:nvSpPr>
          <p:spPr>
            <a:xfrm>
              <a:off x="8036242" y="3734752"/>
              <a:ext cx="9525" cy="961072"/>
            </a:xfrm>
            <a:custGeom>
              <a:avLst/>
              <a:gdLst/>
              <a:ahLst/>
              <a:cxnLst/>
              <a:rect l="l" t="t" r="r" b="b"/>
              <a:pathLst>
                <a:path w="9525" h="961072">
                  <a:moveTo>
                    <a:pt x="0" y="0"/>
                  </a:moveTo>
                  <a:lnTo>
                    <a:pt x="0" y="961072"/>
                  </a:lnTo>
                </a:path>
              </a:pathLst>
            </a:custGeom>
            <a:noFill/>
            <a:ln w="17145">
              <a:solidFill>
                <a:srgbClr val="1F2937"/>
              </a:solidFill>
            </a:ln>
          </p:spPr>
        </p:sp>
        <p:sp>
          <p:nvSpPr>
            <p:cNvPr id="31" name="Freeform 31"/>
            <p:cNvSpPr/>
            <p:nvPr/>
          </p:nvSpPr>
          <p:spPr>
            <a:xfrm>
              <a:off x="9438322" y="3734752"/>
              <a:ext cx="9525" cy="961072"/>
            </a:xfrm>
            <a:custGeom>
              <a:avLst/>
              <a:gdLst/>
              <a:ahLst/>
              <a:cxnLst/>
              <a:rect l="l" t="t" r="r" b="b"/>
              <a:pathLst>
                <a:path w="9525" h="961072">
                  <a:moveTo>
                    <a:pt x="0" y="0"/>
                  </a:moveTo>
                  <a:lnTo>
                    <a:pt x="0" y="961072"/>
                  </a:lnTo>
                </a:path>
              </a:pathLst>
            </a:custGeom>
            <a:noFill/>
            <a:ln w="17145">
              <a:solidFill>
                <a:srgbClr val="1F2937"/>
              </a:solidFill>
            </a:ln>
          </p:spPr>
        </p:sp>
        <p:sp>
          <p:nvSpPr>
            <p:cNvPr id="32" name="Freeform 32"/>
            <p:cNvSpPr/>
            <p:nvPr/>
          </p:nvSpPr>
          <p:spPr>
            <a:xfrm>
              <a:off x="10899458" y="3734752"/>
              <a:ext cx="9525" cy="961072"/>
            </a:xfrm>
            <a:custGeom>
              <a:avLst/>
              <a:gdLst/>
              <a:ahLst/>
              <a:cxnLst/>
              <a:rect l="l" t="t" r="r" b="b"/>
              <a:pathLst>
                <a:path w="9525" h="961072">
                  <a:moveTo>
                    <a:pt x="0" y="0"/>
                  </a:moveTo>
                  <a:lnTo>
                    <a:pt x="0" y="961072"/>
                  </a:lnTo>
                </a:path>
              </a:pathLst>
            </a:custGeom>
            <a:noFill/>
            <a:ln w="17145">
              <a:solidFill>
                <a:srgbClr val="1F2937"/>
              </a:solidFill>
            </a:ln>
          </p:spPr>
        </p:sp>
        <p:sp>
          <p:nvSpPr>
            <p:cNvPr id="33" name="Rectangle 33"/>
            <p:cNvSpPr/>
            <p:nvPr/>
          </p:nvSpPr>
          <p:spPr>
            <a:xfrm>
              <a:off x="6070282" y="3489008"/>
              <a:ext cx="5334000" cy="247650"/>
            </a:xfrm>
            <a:prstGeom prst="roundRect">
              <a:avLst>
                <a:gd name="adj" fmla="val 38462"/>
              </a:avLst>
            </a:prstGeom>
            <a:solidFill>
              <a:srgbClr val="FDEEE7"/>
            </a:solidFill>
            <a:ln w="17145">
              <a:solidFill>
                <a:srgbClr val="F26B3A"/>
              </a:solidFill>
            </a:ln>
          </p:spPr>
        </p:sp>
        <p:sp>
          <p:nvSpPr>
            <p:cNvPr id="34" name="Rectangle 34"/>
            <p:cNvSpPr/>
            <p:nvPr/>
          </p:nvSpPr>
          <p:spPr>
            <a:xfrm>
              <a:off x="5984558" y="1939290"/>
              <a:ext cx="1181100" cy="590550"/>
            </a:xfrm>
            <a:prstGeom prst="roundRect">
              <a:avLst>
                <a:gd name="adj" fmla="val 16129"/>
              </a:avLst>
            </a:prstGeom>
            <a:solidFill>
              <a:srgbClr val="E7EDF3"/>
            </a:solidFill>
            <a:ln w="17145">
              <a:solidFill>
                <a:srgbClr val="334E68"/>
              </a:solidFill>
            </a:ln>
          </p:spPr>
        </p:sp>
        <p:sp>
          <p:nvSpPr>
            <p:cNvPr id="35" name="Rectangle 35"/>
            <p:cNvSpPr/>
            <p:nvPr/>
          </p:nvSpPr>
          <p:spPr>
            <a:xfrm>
              <a:off x="7445692" y="1939290"/>
              <a:ext cx="1181100" cy="590550"/>
            </a:xfrm>
            <a:prstGeom prst="roundRect">
              <a:avLst>
                <a:gd name="adj" fmla="val 16129"/>
              </a:avLst>
            </a:prstGeom>
            <a:solidFill>
              <a:srgbClr val="E7EDF3"/>
            </a:solidFill>
            <a:ln w="17145">
              <a:solidFill>
                <a:srgbClr val="334E68"/>
              </a:solidFill>
            </a:ln>
          </p:spPr>
        </p:sp>
        <p:sp>
          <p:nvSpPr>
            <p:cNvPr id="36" name="Rectangle 36"/>
            <p:cNvSpPr/>
            <p:nvPr/>
          </p:nvSpPr>
          <p:spPr>
            <a:xfrm>
              <a:off x="8847772" y="1939290"/>
              <a:ext cx="1181100" cy="590550"/>
            </a:xfrm>
            <a:prstGeom prst="roundRect">
              <a:avLst>
                <a:gd name="adj" fmla="val 16129"/>
              </a:avLst>
            </a:prstGeom>
            <a:solidFill>
              <a:srgbClr val="E7EDF3"/>
            </a:solidFill>
            <a:ln w="17145">
              <a:solidFill>
                <a:srgbClr val="334E68"/>
              </a:solidFill>
            </a:ln>
          </p:spPr>
        </p:sp>
        <p:sp>
          <p:nvSpPr>
            <p:cNvPr id="37" name="Rectangle 37"/>
            <p:cNvSpPr/>
            <p:nvPr/>
          </p:nvSpPr>
          <p:spPr>
            <a:xfrm>
              <a:off x="10308908" y="1939290"/>
              <a:ext cx="1181100" cy="590550"/>
            </a:xfrm>
            <a:prstGeom prst="roundRect">
              <a:avLst>
                <a:gd name="adj" fmla="val 16129"/>
              </a:avLst>
            </a:prstGeom>
            <a:solidFill>
              <a:srgbClr val="E7EDF3"/>
            </a:solidFill>
            <a:ln w="17145">
              <a:solidFill>
                <a:srgbClr val="334E68"/>
              </a:solidFill>
            </a:ln>
          </p:spPr>
        </p:sp>
        <p:sp>
          <p:nvSpPr>
            <p:cNvPr id="38" name="Rectangle 38"/>
            <p:cNvSpPr/>
            <p:nvPr/>
          </p:nvSpPr>
          <p:spPr>
            <a:xfrm>
              <a:off x="5984558" y="4695825"/>
              <a:ext cx="1181100" cy="590550"/>
            </a:xfrm>
            <a:prstGeom prst="roundRect">
              <a:avLst>
                <a:gd name="adj" fmla="val 16129"/>
              </a:avLst>
            </a:prstGeom>
            <a:solidFill>
              <a:srgbClr val="E7EDF3"/>
            </a:solidFill>
            <a:ln w="17145">
              <a:solidFill>
                <a:srgbClr val="334E68"/>
              </a:solidFill>
            </a:ln>
          </p:spPr>
        </p:sp>
        <p:sp>
          <p:nvSpPr>
            <p:cNvPr id="39" name="Rectangle 39"/>
            <p:cNvSpPr/>
            <p:nvPr/>
          </p:nvSpPr>
          <p:spPr>
            <a:xfrm>
              <a:off x="7445692" y="4695825"/>
              <a:ext cx="1181100" cy="590550"/>
            </a:xfrm>
            <a:prstGeom prst="roundRect">
              <a:avLst>
                <a:gd name="adj" fmla="val 16129"/>
              </a:avLst>
            </a:prstGeom>
            <a:solidFill>
              <a:srgbClr val="E7EDF3"/>
            </a:solidFill>
            <a:ln w="17145">
              <a:solidFill>
                <a:srgbClr val="334E68"/>
              </a:solidFill>
            </a:ln>
          </p:spPr>
        </p:sp>
        <p:sp>
          <p:nvSpPr>
            <p:cNvPr id="40" name="Rectangle 40"/>
            <p:cNvSpPr/>
            <p:nvPr/>
          </p:nvSpPr>
          <p:spPr>
            <a:xfrm>
              <a:off x="8847772" y="4695825"/>
              <a:ext cx="1181100" cy="590550"/>
            </a:xfrm>
            <a:prstGeom prst="roundRect">
              <a:avLst>
                <a:gd name="adj" fmla="val 16129"/>
              </a:avLst>
            </a:prstGeom>
            <a:solidFill>
              <a:srgbClr val="E7EDF3"/>
            </a:solidFill>
            <a:ln w="17145">
              <a:solidFill>
                <a:srgbClr val="334E68"/>
              </a:solidFill>
            </a:ln>
          </p:spPr>
        </p:sp>
        <p:sp>
          <p:nvSpPr>
            <p:cNvPr id="41" name="Rectangle 41"/>
            <p:cNvSpPr/>
            <p:nvPr/>
          </p:nvSpPr>
          <p:spPr>
            <a:xfrm>
              <a:off x="10308908" y="4695825"/>
              <a:ext cx="1181100" cy="590550"/>
            </a:xfrm>
            <a:prstGeom prst="roundRect">
              <a:avLst>
                <a:gd name="adj" fmla="val 16129"/>
              </a:avLst>
            </a:prstGeom>
            <a:solidFill>
              <a:srgbClr val="E7EDF3"/>
            </a:solidFill>
            <a:ln w="17145">
              <a:solidFill>
                <a:srgbClr val="334E68"/>
              </a:solidFill>
            </a:ln>
          </p:spPr>
        </p:sp>
        <p:sp>
          <p:nvSpPr>
            <p:cNvPr id="42" name="TextBox 42"/>
            <p:cNvSpPr txBox="1"/>
            <p:nvPr/>
          </p:nvSpPr>
          <p:spPr>
            <a:xfrm>
              <a:off x="8408098" y="3537585"/>
              <a:ext cx="658368" cy="234696"/>
            </a:xfrm>
            <a:prstGeom prst="rect">
              <a:avLst/>
            </a:prstGeom>
            <a:noFill/>
            <a:ln>
              <a:noFill/>
            </a:ln>
          </p:spPr>
          <p:txBody>
            <a:bodyPr wrap="none" lIns="0" tIns="0" rIns="0" bIns="0" anchor="t" anchorCtr="0">
              <a:spAutoFit/>
            </a:bodyPr>
            <a:lstStyle/>
            <a:p>
              <a:pPr algn="ctr"/>
              <a:r>
                <a:rPr lang="zh-CN" sz="1200" b="1" dirty="0">
                  <a:solidFill>
                    <a:srgbClr val="1F2937"/>
                  </a:solidFill>
                  <a:latin typeface="+mn-lt"/>
                  <a:ea typeface="+mn-ea"/>
                  <a:cs typeface="+mn-cs"/>
                </a:rPr>
                <a:t>互连网络</a:t>
              </a:r>
            </a:p>
          </p:txBody>
        </p:sp>
        <p:sp>
          <p:nvSpPr>
            <p:cNvPr id="43" name="TextBox 43"/>
            <p:cNvSpPr txBox="1"/>
            <p:nvPr/>
          </p:nvSpPr>
          <p:spPr>
            <a:xfrm>
              <a:off x="6084991" y="2064068"/>
              <a:ext cx="980233" cy="234696"/>
            </a:xfrm>
            <a:prstGeom prst="rect">
              <a:avLst/>
            </a:prstGeom>
            <a:noFill/>
            <a:ln>
              <a:noFill/>
            </a:ln>
          </p:spPr>
          <p:txBody>
            <a:bodyPr wrap="none" lIns="0" tIns="0" rIns="0" bIns="0" anchor="t" anchorCtr="0">
              <a:spAutoFit/>
            </a:bodyPr>
            <a:lstStyle/>
            <a:p>
              <a:pPr algn="ctr"/>
              <a:r>
                <a:rPr lang="en-US" sz="1200" b="1" dirty="0">
                  <a:solidFill>
                    <a:srgbClr val="243B53"/>
                  </a:solidFill>
                  <a:latin typeface="+mn-lt"/>
                  <a:ea typeface="+mn-ea"/>
                  <a:cs typeface="+mn-cs"/>
                </a:rPr>
                <a:t>CPU · Cache</a:t>
              </a:r>
            </a:p>
          </p:txBody>
        </p:sp>
        <p:sp>
          <p:nvSpPr>
            <p:cNvPr id="44" name="TextBox 44"/>
            <p:cNvSpPr txBox="1"/>
            <p:nvPr/>
          </p:nvSpPr>
          <p:spPr>
            <a:xfrm>
              <a:off x="6067619" y="2254568"/>
              <a:ext cx="1014976" cy="234696"/>
            </a:xfrm>
            <a:prstGeom prst="rect">
              <a:avLst/>
            </a:prstGeom>
            <a:noFill/>
            <a:ln>
              <a:noFill/>
            </a:ln>
          </p:spPr>
          <p:txBody>
            <a:bodyPr wrap="none" lIns="0" tIns="0" rIns="0" bIns="0" anchor="t" anchorCtr="0">
              <a:spAutoFit/>
            </a:bodyPr>
            <a:lstStyle/>
            <a:p>
              <a:pPr algn="ctr"/>
              <a:r>
                <a:rPr lang="zh-CN" sz="1200" b="1" dirty="0">
                  <a:solidFill>
                    <a:srgbClr val="243B53"/>
                  </a:solidFill>
                  <a:latin typeface="+mn-lt"/>
                  <a:ea typeface="+mn-ea"/>
                  <a:cs typeface="+mn-cs"/>
                </a:rPr>
                <a:t>存储器 · 目录</a:t>
              </a:r>
            </a:p>
          </p:txBody>
        </p:sp>
        <p:sp>
          <p:nvSpPr>
            <p:cNvPr id="45" name="TextBox 45"/>
            <p:cNvSpPr txBox="1"/>
            <p:nvPr/>
          </p:nvSpPr>
          <p:spPr>
            <a:xfrm>
              <a:off x="7546126" y="2064068"/>
              <a:ext cx="980233" cy="234696"/>
            </a:xfrm>
            <a:prstGeom prst="rect">
              <a:avLst/>
            </a:prstGeom>
            <a:noFill/>
            <a:ln>
              <a:noFill/>
            </a:ln>
          </p:spPr>
          <p:txBody>
            <a:bodyPr wrap="none" lIns="0" tIns="0" rIns="0" bIns="0" anchor="t" anchorCtr="0">
              <a:spAutoFit/>
            </a:bodyPr>
            <a:lstStyle/>
            <a:p>
              <a:pPr algn="ctr"/>
              <a:r>
                <a:rPr lang="en-US" sz="1200" b="1" dirty="0">
                  <a:solidFill>
                    <a:srgbClr val="243B53"/>
                  </a:solidFill>
                  <a:latin typeface="+mn-lt"/>
                  <a:ea typeface="+mn-ea"/>
                  <a:cs typeface="+mn-cs"/>
                </a:rPr>
                <a:t>CPU · Cache</a:t>
              </a:r>
            </a:p>
          </p:txBody>
        </p:sp>
        <p:sp>
          <p:nvSpPr>
            <p:cNvPr id="46" name="TextBox 46"/>
            <p:cNvSpPr txBox="1"/>
            <p:nvPr/>
          </p:nvSpPr>
          <p:spPr>
            <a:xfrm>
              <a:off x="7528754" y="2254568"/>
              <a:ext cx="1014976" cy="234696"/>
            </a:xfrm>
            <a:prstGeom prst="rect">
              <a:avLst/>
            </a:prstGeom>
            <a:noFill/>
            <a:ln>
              <a:noFill/>
            </a:ln>
          </p:spPr>
          <p:txBody>
            <a:bodyPr wrap="none" lIns="0" tIns="0" rIns="0" bIns="0" anchor="t" anchorCtr="0">
              <a:spAutoFit/>
            </a:bodyPr>
            <a:lstStyle/>
            <a:p>
              <a:pPr algn="ctr"/>
              <a:r>
                <a:rPr lang="zh-CN" sz="1200" b="1" dirty="0">
                  <a:solidFill>
                    <a:srgbClr val="243B53"/>
                  </a:solidFill>
                  <a:latin typeface="+mn-lt"/>
                  <a:ea typeface="+mn-ea"/>
                  <a:cs typeface="+mn-cs"/>
                </a:rPr>
                <a:t>存储器 · 目录</a:t>
              </a:r>
            </a:p>
          </p:txBody>
        </p:sp>
        <p:sp>
          <p:nvSpPr>
            <p:cNvPr id="47" name="TextBox 47"/>
            <p:cNvSpPr txBox="1"/>
            <p:nvPr/>
          </p:nvSpPr>
          <p:spPr>
            <a:xfrm>
              <a:off x="8948206" y="2064068"/>
              <a:ext cx="980233" cy="234696"/>
            </a:xfrm>
            <a:prstGeom prst="rect">
              <a:avLst/>
            </a:prstGeom>
            <a:noFill/>
            <a:ln>
              <a:noFill/>
            </a:ln>
          </p:spPr>
          <p:txBody>
            <a:bodyPr wrap="none" lIns="0" tIns="0" rIns="0" bIns="0" anchor="t" anchorCtr="0">
              <a:spAutoFit/>
            </a:bodyPr>
            <a:lstStyle/>
            <a:p>
              <a:pPr algn="ctr"/>
              <a:r>
                <a:rPr lang="en-US" sz="1200" b="1" dirty="0">
                  <a:solidFill>
                    <a:srgbClr val="243B53"/>
                  </a:solidFill>
                  <a:latin typeface="+mn-lt"/>
                  <a:ea typeface="+mn-ea"/>
                  <a:cs typeface="+mn-cs"/>
                </a:rPr>
                <a:t>CPU · Cache</a:t>
              </a:r>
            </a:p>
          </p:txBody>
        </p:sp>
        <p:sp>
          <p:nvSpPr>
            <p:cNvPr id="48" name="TextBox 48"/>
            <p:cNvSpPr txBox="1"/>
            <p:nvPr/>
          </p:nvSpPr>
          <p:spPr>
            <a:xfrm>
              <a:off x="8930834" y="2254568"/>
              <a:ext cx="1014976" cy="234696"/>
            </a:xfrm>
            <a:prstGeom prst="rect">
              <a:avLst/>
            </a:prstGeom>
            <a:noFill/>
            <a:ln>
              <a:noFill/>
            </a:ln>
          </p:spPr>
          <p:txBody>
            <a:bodyPr wrap="none" lIns="0" tIns="0" rIns="0" bIns="0" anchor="t" anchorCtr="0">
              <a:spAutoFit/>
            </a:bodyPr>
            <a:lstStyle/>
            <a:p>
              <a:pPr algn="ctr"/>
              <a:r>
                <a:rPr lang="zh-CN" sz="1200" b="1" dirty="0">
                  <a:solidFill>
                    <a:srgbClr val="243B53"/>
                  </a:solidFill>
                  <a:latin typeface="+mn-lt"/>
                  <a:ea typeface="+mn-ea"/>
                  <a:cs typeface="+mn-cs"/>
                </a:rPr>
                <a:t>存储器 · 目录</a:t>
              </a:r>
            </a:p>
          </p:txBody>
        </p:sp>
        <p:sp>
          <p:nvSpPr>
            <p:cNvPr id="49" name="TextBox 49"/>
            <p:cNvSpPr txBox="1"/>
            <p:nvPr/>
          </p:nvSpPr>
          <p:spPr>
            <a:xfrm>
              <a:off x="10409341" y="2064068"/>
              <a:ext cx="980233" cy="234696"/>
            </a:xfrm>
            <a:prstGeom prst="rect">
              <a:avLst/>
            </a:prstGeom>
            <a:noFill/>
            <a:ln>
              <a:noFill/>
            </a:ln>
          </p:spPr>
          <p:txBody>
            <a:bodyPr wrap="none" lIns="0" tIns="0" rIns="0" bIns="0" anchor="t" anchorCtr="0">
              <a:spAutoFit/>
            </a:bodyPr>
            <a:lstStyle/>
            <a:p>
              <a:pPr algn="ctr"/>
              <a:r>
                <a:rPr lang="en-US" sz="1200" b="1" dirty="0">
                  <a:solidFill>
                    <a:srgbClr val="243B53"/>
                  </a:solidFill>
                  <a:latin typeface="+mn-lt"/>
                  <a:ea typeface="+mn-ea"/>
                  <a:cs typeface="+mn-cs"/>
                </a:rPr>
                <a:t>CPU · Cache</a:t>
              </a:r>
            </a:p>
          </p:txBody>
        </p:sp>
        <p:sp>
          <p:nvSpPr>
            <p:cNvPr id="50" name="TextBox 50"/>
            <p:cNvSpPr txBox="1"/>
            <p:nvPr/>
          </p:nvSpPr>
          <p:spPr>
            <a:xfrm>
              <a:off x="10391969" y="2254568"/>
              <a:ext cx="1014976" cy="234696"/>
            </a:xfrm>
            <a:prstGeom prst="rect">
              <a:avLst/>
            </a:prstGeom>
            <a:noFill/>
            <a:ln>
              <a:noFill/>
            </a:ln>
          </p:spPr>
          <p:txBody>
            <a:bodyPr wrap="none" lIns="0" tIns="0" rIns="0" bIns="0" anchor="t" anchorCtr="0">
              <a:spAutoFit/>
            </a:bodyPr>
            <a:lstStyle/>
            <a:p>
              <a:pPr algn="ctr"/>
              <a:r>
                <a:rPr lang="zh-CN" sz="1200" b="1" dirty="0">
                  <a:solidFill>
                    <a:srgbClr val="243B53"/>
                  </a:solidFill>
                  <a:latin typeface="+mn-lt"/>
                  <a:ea typeface="+mn-ea"/>
                  <a:cs typeface="+mn-cs"/>
                </a:rPr>
                <a:t>存储器 · 目录</a:t>
              </a:r>
            </a:p>
          </p:txBody>
        </p:sp>
        <p:sp>
          <p:nvSpPr>
            <p:cNvPr id="51" name="TextBox 51"/>
            <p:cNvSpPr txBox="1"/>
            <p:nvPr/>
          </p:nvSpPr>
          <p:spPr>
            <a:xfrm>
              <a:off x="6084991" y="4820602"/>
              <a:ext cx="980233" cy="234696"/>
            </a:xfrm>
            <a:prstGeom prst="rect">
              <a:avLst/>
            </a:prstGeom>
            <a:noFill/>
            <a:ln>
              <a:noFill/>
            </a:ln>
          </p:spPr>
          <p:txBody>
            <a:bodyPr wrap="none" lIns="0" tIns="0" rIns="0" bIns="0" anchor="t" anchorCtr="0">
              <a:spAutoFit/>
            </a:bodyPr>
            <a:lstStyle/>
            <a:p>
              <a:pPr algn="ctr"/>
              <a:r>
                <a:rPr lang="en-US" sz="1200" b="1" dirty="0">
                  <a:solidFill>
                    <a:srgbClr val="243B53"/>
                  </a:solidFill>
                  <a:latin typeface="+mn-lt"/>
                  <a:ea typeface="+mn-ea"/>
                  <a:cs typeface="+mn-cs"/>
                </a:rPr>
                <a:t>CPU · Cache</a:t>
              </a:r>
            </a:p>
          </p:txBody>
        </p:sp>
        <p:sp>
          <p:nvSpPr>
            <p:cNvPr id="52" name="TextBox 52"/>
            <p:cNvSpPr txBox="1"/>
            <p:nvPr/>
          </p:nvSpPr>
          <p:spPr>
            <a:xfrm>
              <a:off x="6067619" y="5011102"/>
              <a:ext cx="1014976" cy="234696"/>
            </a:xfrm>
            <a:prstGeom prst="rect">
              <a:avLst/>
            </a:prstGeom>
            <a:noFill/>
            <a:ln>
              <a:noFill/>
            </a:ln>
          </p:spPr>
          <p:txBody>
            <a:bodyPr wrap="none" lIns="0" tIns="0" rIns="0" bIns="0" anchor="t" anchorCtr="0">
              <a:spAutoFit/>
            </a:bodyPr>
            <a:lstStyle/>
            <a:p>
              <a:pPr algn="ctr"/>
              <a:r>
                <a:rPr lang="zh-CN" sz="1200" b="1" dirty="0">
                  <a:solidFill>
                    <a:srgbClr val="243B53"/>
                  </a:solidFill>
                  <a:latin typeface="+mn-lt"/>
                  <a:ea typeface="+mn-ea"/>
                  <a:cs typeface="+mn-cs"/>
                </a:rPr>
                <a:t>存储器 · 目录</a:t>
              </a:r>
            </a:p>
          </p:txBody>
        </p:sp>
        <p:sp>
          <p:nvSpPr>
            <p:cNvPr id="53" name="TextBox 53"/>
            <p:cNvSpPr txBox="1"/>
            <p:nvPr/>
          </p:nvSpPr>
          <p:spPr>
            <a:xfrm>
              <a:off x="7546126" y="4820602"/>
              <a:ext cx="980233" cy="234696"/>
            </a:xfrm>
            <a:prstGeom prst="rect">
              <a:avLst/>
            </a:prstGeom>
            <a:noFill/>
            <a:ln>
              <a:noFill/>
            </a:ln>
          </p:spPr>
          <p:txBody>
            <a:bodyPr wrap="none" lIns="0" tIns="0" rIns="0" bIns="0" anchor="t" anchorCtr="0">
              <a:spAutoFit/>
            </a:bodyPr>
            <a:lstStyle/>
            <a:p>
              <a:pPr algn="ctr"/>
              <a:r>
                <a:rPr lang="en-US" sz="1200" b="1" dirty="0">
                  <a:solidFill>
                    <a:srgbClr val="243B53"/>
                  </a:solidFill>
                  <a:latin typeface="+mn-lt"/>
                  <a:ea typeface="+mn-ea"/>
                  <a:cs typeface="+mn-cs"/>
                </a:rPr>
                <a:t>CPU · Cache</a:t>
              </a:r>
            </a:p>
          </p:txBody>
        </p:sp>
        <p:sp>
          <p:nvSpPr>
            <p:cNvPr id="54" name="TextBox 54"/>
            <p:cNvSpPr txBox="1"/>
            <p:nvPr/>
          </p:nvSpPr>
          <p:spPr>
            <a:xfrm>
              <a:off x="7528754" y="5011102"/>
              <a:ext cx="1014976" cy="234696"/>
            </a:xfrm>
            <a:prstGeom prst="rect">
              <a:avLst/>
            </a:prstGeom>
            <a:noFill/>
            <a:ln>
              <a:noFill/>
            </a:ln>
          </p:spPr>
          <p:txBody>
            <a:bodyPr wrap="none" lIns="0" tIns="0" rIns="0" bIns="0" anchor="t" anchorCtr="0">
              <a:spAutoFit/>
            </a:bodyPr>
            <a:lstStyle/>
            <a:p>
              <a:pPr algn="ctr"/>
              <a:r>
                <a:rPr lang="zh-CN" sz="1200" b="1" dirty="0">
                  <a:solidFill>
                    <a:srgbClr val="243B53"/>
                  </a:solidFill>
                  <a:latin typeface="+mn-lt"/>
                  <a:ea typeface="+mn-ea"/>
                  <a:cs typeface="+mn-cs"/>
                </a:rPr>
                <a:t>存储器 · 目录</a:t>
              </a:r>
            </a:p>
          </p:txBody>
        </p:sp>
        <p:sp>
          <p:nvSpPr>
            <p:cNvPr id="55" name="TextBox 55"/>
            <p:cNvSpPr txBox="1"/>
            <p:nvPr/>
          </p:nvSpPr>
          <p:spPr>
            <a:xfrm>
              <a:off x="8948206" y="4820602"/>
              <a:ext cx="980233" cy="234696"/>
            </a:xfrm>
            <a:prstGeom prst="rect">
              <a:avLst/>
            </a:prstGeom>
            <a:noFill/>
            <a:ln>
              <a:noFill/>
            </a:ln>
          </p:spPr>
          <p:txBody>
            <a:bodyPr wrap="none" lIns="0" tIns="0" rIns="0" bIns="0" anchor="t" anchorCtr="0">
              <a:spAutoFit/>
            </a:bodyPr>
            <a:lstStyle/>
            <a:p>
              <a:pPr algn="ctr"/>
              <a:r>
                <a:rPr lang="en-US" sz="1200" b="1" dirty="0">
                  <a:solidFill>
                    <a:srgbClr val="243B53"/>
                  </a:solidFill>
                  <a:latin typeface="+mn-lt"/>
                  <a:ea typeface="+mn-ea"/>
                  <a:cs typeface="+mn-cs"/>
                </a:rPr>
                <a:t>CPU · Cache</a:t>
              </a:r>
            </a:p>
          </p:txBody>
        </p:sp>
        <p:sp>
          <p:nvSpPr>
            <p:cNvPr id="56" name="TextBox 56"/>
            <p:cNvSpPr txBox="1"/>
            <p:nvPr/>
          </p:nvSpPr>
          <p:spPr>
            <a:xfrm>
              <a:off x="8930834" y="5011102"/>
              <a:ext cx="1014976" cy="234696"/>
            </a:xfrm>
            <a:prstGeom prst="rect">
              <a:avLst/>
            </a:prstGeom>
            <a:noFill/>
            <a:ln>
              <a:noFill/>
            </a:ln>
          </p:spPr>
          <p:txBody>
            <a:bodyPr wrap="none" lIns="0" tIns="0" rIns="0" bIns="0" anchor="t" anchorCtr="0">
              <a:spAutoFit/>
            </a:bodyPr>
            <a:lstStyle/>
            <a:p>
              <a:pPr algn="ctr"/>
              <a:r>
                <a:rPr lang="zh-CN" sz="1200" b="1" dirty="0">
                  <a:solidFill>
                    <a:srgbClr val="243B53"/>
                  </a:solidFill>
                  <a:latin typeface="+mn-lt"/>
                  <a:ea typeface="+mn-ea"/>
                  <a:cs typeface="+mn-cs"/>
                </a:rPr>
                <a:t>存储器 · 目录</a:t>
              </a:r>
            </a:p>
          </p:txBody>
        </p:sp>
        <p:sp>
          <p:nvSpPr>
            <p:cNvPr id="57" name="TextBox 57"/>
            <p:cNvSpPr txBox="1"/>
            <p:nvPr/>
          </p:nvSpPr>
          <p:spPr>
            <a:xfrm>
              <a:off x="10409341" y="4820602"/>
              <a:ext cx="980233" cy="234696"/>
            </a:xfrm>
            <a:prstGeom prst="rect">
              <a:avLst/>
            </a:prstGeom>
            <a:noFill/>
            <a:ln>
              <a:noFill/>
            </a:ln>
          </p:spPr>
          <p:txBody>
            <a:bodyPr wrap="none" lIns="0" tIns="0" rIns="0" bIns="0" anchor="t" anchorCtr="0">
              <a:spAutoFit/>
            </a:bodyPr>
            <a:lstStyle/>
            <a:p>
              <a:pPr algn="ctr"/>
              <a:r>
                <a:rPr lang="en-US" sz="1200" b="1" dirty="0">
                  <a:solidFill>
                    <a:srgbClr val="243B53"/>
                  </a:solidFill>
                  <a:latin typeface="+mn-lt"/>
                  <a:ea typeface="+mn-ea"/>
                  <a:cs typeface="+mn-cs"/>
                </a:rPr>
                <a:t>CPU · Cache</a:t>
              </a:r>
            </a:p>
          </p:txBody>
        </p:sp>
        <p:sp>
          <p:nvSpPr>
            <p:cNvPr id="58" name="TextBox 58"/>
            <p:cNvSpPr txBox="1"/>
            <p:nvPr/>
          </p:nvSpPr>
          <p:spPr>
            <a:xfrm>
              <a:off x="10391969" y="5011102"/>
              <a:ext cx="1014976" cy="234696"/>
            </a:xfrm>
            <a:prstGeom prst="rect">
              <a:avLst/>
            </a:prstGeom>
            <a:noFill/>
            <a:ln>
              <a:noFill/>
            </a:ln>
          </p:spPr>
          <p:txBody>
            <a:bodyPr wrap="none" lIns="0" tIns="0" rIns="0" bIns="0" anchor="t" anchorCtr="0">
              <a:spAutoFit/>
            </a:bodyPr>
            <a:lstStyle/>
            <a:p>
              <a:pPr algn="ctr"/>
              <a:r>
                <a:rPr lang="zh-CN" sz="1200" b="1" dirty="0">
                  <a:solidFill>
                    <a:srgbClr val="243B53"/>
                  </a:solidFill>
                  <a:latin typeface="+mn-lt"/>
                  <a:ea typeface="+mn-ea"/>
                  <a:cs typeface="+mn-cs"/>
                </a:rPr>
                <a:t>存储器 · 目录</a:t>
              </a:r>
            </a:p>
          </p:txBody>
        </p:sp>
      </p:grpSp>
      <p:grpSp>
        <p:nvGrpSpPr>
          <p:cNvPr id="61" name="c2-text-2"/>
          <p:cNvGrpSpPr/>
          <p:nvPr/>
        </p:nvGrpSpPr>
        <p:grpSpPr>
          <a:xfrm>
            <a:off x="5809488" y="5912644"/>
            <a:ext cx="5393690" cy="500824"/>
            <a:chOff x="5809488" y="5912644"/>
            <a:chExt cx="5393690" cy="500824"/>
          </a:xfrm>
        </p:grpSpPr>
        <p:sp>
          <p:nvSpPr>
            <p:cNvPr id="60" name="TextBox 60"/>
            <p:cNvSpPr txBox="1"/>
            <p:nvPr/>
          </p:nvSpPr>
          <p:spPr>
            <a:xfrm>
              <a:off x="5809488" y="5912644"/>
              <a:ext cx="5393690" cy="500824"/>
            </a:xfrm>
            <a:prstGeom prst="rect">
              <a:avLst/>
            </a:prstGeom>
            <a:noFill/>
            <a:ln>
              <a:noFill/>
            </a:ln>
          </p:spPr>
          <p:txBody>
            <a:bodyPr wrap="none" lIns="0" tIns="0" rIns="0" bIns="0" anchor="t" anchorCtr="0">
              <a:spAutoFit/>
            </a:bodyPr>
            <a:lstStyle/>
            <a:p>
              <a:pPr algn="l">
                <a:lnSpc>
                  <a:spcPts val="1980"/>
                </a:lnSpc>
              </a:pPr>
              <a:r>
                <a:rPr lang="zh-CN" sz="1280" dirty="0">
                  <a:solidFill>
                    <a:srgbClr val="5B6475"/>
                  </a:solidFill>
                  <a:latin typeface="+mn-lt"/>
                  <a:ea typeface="+mn-ea"/>
                  <a:cs typeface="+mn-cs"/>
                </a:rPr>
                <a:t>原课件第64页：分布式共享存储多处理器，每个节点在存储器旁增加一个目</a:t>
              </a:r>
              <a:br/>
              <a:r>
                <a:rPr lang="zh-CN" sz="1280" dirty="0">
                  <a:solidFill>
                    <a:srgbClr val="5B6475"/>
                  </a:solidFill>
                  <a:latin typeface="+mn-lt"/>
                  <a:ea typeface="+mn-ea"/>
                  <a:cs typeface="+mn-cs"/>
                </a:rPr>
                <a:t>录。</a:t>
              </a:r>
            </a:p>
          </p:txBody>
        </p:sp>
      </p:grpSp>
      <p:grpSp>
        <p:nvGrpSpPr>
          <p:cNvPr id="64" name="footer"/>
          <p:cNvGrpSpPr/>
          <p:nvPr/>
        </p:nvGrpSpPr>
        <p:grpSpPr>
          <a:xfrm>
            <a:off x="528447" y="6581299"/>
            <a:ext cx="11135106" cy="190690"/>
            <a:chOff x="528447" y="6581299"/>
            <a:chExt cx="11135106" cy="190690"/>
          </a:xfrm>
        </p:grpSpPr>
        <p:sp>
          <p:nvSpPr>
            <p:cNvPr id="62" name="TextBox 62"/>
            <p:cNvSpPr txBox="1"/>
            <p:nvPr/>
          </p:nvSpPr>
          <p:spPr>
            <a:xfrm>
              <a:off x="528447" y="6581299"/>
              <a:ext cx="2120748"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并行与分布式计算 · 第7章 体系结构</a:t>
              </a:r>
            </a:p>
          </p:txBody>
        </p:sp>
        <p:sp>
          <p:nvSpPr>
            <p:cNvPr id="63" name="TextBox 63"/>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29</a:t>
              </a:r>
            </a:p>
          </p:txBody>
        </p:sp>
      </p:grpSp>
    </p:spTree>
  </p:cSld>
  <p:clrMapOvr>
    <a:masterClrMapping/>
  </p:clrMapOvr>
  <p:transition xmlns:p14="http://schemas.microsoft.com/office/powerpoint/2010/main" p14:dur="400">
    <p:fade/>
  </p:transition>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7519408" cy="909257"/>
            <a:chOff x="520446" y="342900"/>
            <a:chExt cx="7519408" cy="909257"/>
          </a:xfrm>
        </p:grpSpPr>
        <p:sp>
          <p:nvSpPr>
            <p:cNvPr id="2" name="Rectangle 2"/>
            <p:cNvSpPr/>
            <p:nvPr/>
          </p:nvSpPr>
          <p:spPr>
            <a:xfrm>
              <a:off x="533400" y="342900"/>
              <a:ext cx="2586038" cy="266700"/>
            </a:xfrm>
            <a:prstGeom prst="roundRect">
              <a:avLst>
                <a:gd name="adj" fmla="val 50000"/>
              </a:avLst>
            </a:prstGeom>
            <a:solidFill>
              <a:srgbClr val="E7EDF3"/>
            </a:solidFill>
            <a:ln>
              <a:noFill/>
            </a:ln>
          </p:spPr>
        </p:sp>
        <p:sp>
          <p:nvSpPr>
            <p:cNvPr id="3" name="TextBox 3"/>
            <p:cNvSpPr txBox="1"/>
            <p:nvPr/>
          </p:nvSpPr>
          <p:spPr>
            <a:xfrm>
              <a:off x="587464" y="407194"/>
              <a:ext cx="2476957"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第7章 体系结构 · Cache 一致性问题</a:t>
              </a:r>
            </a:p>
          </p:txBody>
        </p:sp>
        <p:sp>
          <p:nvSpPr>
            <p:cNvPr id="4" name="TextBox 4"/>
            <p:cNvSpPr txBox="1"/>
            <p:nvPr/>
          </p:nvSpPr>
          <p:spPr>
            <a:xfrm>
              <a:off x="520446" y="753428"/>
              <a:ext cx="7519408"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三类节点：请求节点 A、目录节点 B、远程节点 C</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32" name="c1-graph-1"/>
          <p:cNvGrpSpPr/>
          <p:nvPr/>
        </p:nvGrpSpPr>
        <p:grpSpPr>
          <a:xfrm>
            <a:off x="775335" y="1687830"/>
            <a:ext cx="5142547" cy="2252091"/>
            <a:chOff x="775335" y="1687830"/>
            <a:chExt cx="5142547" cy="2252091"/>
          </a:xfrm>
        </p:grpSpPr>
        <p:sp>
          <p:nvSpPr>
            <p:cNvPr id="7" name="Freeform 7"/>
            <p:cNvSpPr/>
            <p:nvPr/>
          </p:nvSpPr>
          <p:spPr>
            <a:xfrm>
              <a:off x="1752600" y="2183130"/>
              <a:ext cx="1262062" cy="1187768"/>
            </a:xfrm>
            <a:custGeom>
              <a:avLst/>
              <a:gdLst/>
              <a:ahLst/>
              <a:cxnLst/>
              <a:rect l="l" t="t" r="r" b="b"/>
              <a:pathLst>
                <a:path w="1262062" h="1187768">
                  <a:moveTo>
                    <a:pt x="0" y="0"/>
                  </a:moveTo>
                  <a:lnTo>
                    <a:pt x="1262062" y="1187768"/>
                  </a:lnTo>
                </a:path>
              </a:pathLst>
            </a:custGeom>
            <a:noFill/>
            <a:ln w="17145">
              <a:solidFill>
                <a:srgbClr val="1F2937"/>
              </a:solidFill>
            </a:ln>
          </p:spPr>
        </p:sp>
        <p:sp>
          <p:nvSpPr>
            <p:cNvPr id="8" name="Freeform 8"/>
            <p:cNvSpPr/>
            <p:nvPr/>
          </p:nvSpPr>
          <p:spPr>
            <a:xfrm>
              <a:off x="2981325" y="3336608"/>
              <a:ext cx="102870" cy="100012"/>
            </a:xfrm>
            <a:custGeom>
              <a:avLst/>
              <a:gdLst/>
              <a:ahLst/>
              <a:cxnLst/>
              <a:rect l="l" t="t" r="r" b="b"/>
              <a:pathLst>
                <a:path w="102870" h="100012">
                  <a:moveTo>
                    <a:pt x="102870" y="100012"/>
                  </a:moveTo>
                  <a:lnTo>
                    <a:pt x="0" y="69533"/>
                  </a:lnTo>
                  <a:lnTo>
                    <a:pt x="65722" y="0"/>
                  </a:lnTo>
                  <a:close/>
                </a:path>
              </a:pathLst>
            </a:custGeom>
            <a:solidFill>
              <a:srgbClr val="1F2937"/>
            </a:solidFill>
            <a:ln>
              <a:noFill/>
            </a:ln>
          </p:spPr>
        </p:sp>
        <p:sp>
          <p:nvSpPr>
            <p:cNvPr id="9" name="Freeform 9"/>
            <p:cNvSpPr/>
            <p:nvPr/>
          </p:nvSpPr>
          <p:spPr>
            <a:xfrm>
              <a:off x="2046922" y="2226945"/>
              <a:ext cx="1150620" cy="1209675"/>
            </a:xfrm>
            <a:custGeom>
              <a:avLst/>
              <a:gdLst/>
              <a:ahLst/>
              <a:cxnLst/>
              <a:rect l="l" t="t" r="r" b="b"/>
              <a:pathLst>
                <a:path w="1150620" h="1209675">
                  <a:moveTo>
                    <a:pt x="1150620" y="1209675"/>
                  </a:moveTo>
                  <a:cubicBezTo>
                    <a:pt x="794385" y="618490"/>
                    <a:pt x="410845" y="215265"/>
                    <a:pt x="0" y="0"/>
                  </a:cubicBezTo>
                </a:path>
              </a:pathLst>
            </a:custGeom>
            <a:noFill/>
            <a:ln w="17145">
              <a:solidFill>
                <a:srgbClr val="1F2937"/>
              </a:solidFill>
            </a:ln>
          </p:spPr>
        </p:sp>
        <p:sp>
          <p:nvSpPr>
            <p:cNvPr id="10" name="Freeform 10"/>
            <p:cNvSpPr/>
            <p:nvPr/>
          </p:nvSpPr>
          <p:spPr>
            <a:xfrm>
              <a:off x="1963102" y="2183130"/>
              <a:ext cx="105727" cy="86678"/>
            </a:xfrm>
            <a:custGeom>
              <a:avLst/>
              <a:gdLst/>
              <a:ahLst/>
              <a:cxnLst/>
              <a:rect l="l" t="t" r="r" b="b"/>
              <a:pathLst>
                <a:path w="105727" h="86678">
                  <a:moveTo>
                    <a:pt x="0" y="0"/>
                  </a:moveTo>
                  <a:lnTo>
                    <a:pt x="105727" y="1905"/>
                  </a:lnTo>
                  <a:lnTo>
                    <a:pt x="61912" y="86678"/>
                  </a:lnTo>
                  <a:close/>
                </a:path>
              </a:pathLst>
            </a:custGeom>
            <a:solidFill>
              <a:srgbClr val="1F2937"/>
            </a:solidFill>
            <a:ln>
              <a:noFill/>
            </a:ln>
          </p:spPr>
        </p:sp>
        <p:sp>
          <p:nvSpPr>
            <p:cNvPr id="11" name="Freeform 11"/>
            <p:cNvSpPr/>
            <p:nvPr/>
          </p:nvSpPr>
          <p:spPr>
            <a:xfrm>
              <a:off x="3609975" y="2248852"/>
              <a:ext cx="1261110" cy="1187768"/>
            </a:xfrm>
            <a:custGeom>
              <a:avLst/>
              <a:gdLst/>
              <a:ahLst/>
              <a:cxnLst/>
              <a:rect l="l" t="t" r="r" b="b"/>
              <a:pathLst>
                <a:path w="1261110" h="1187768">
                  <a:moveTo>
                    <a:pt x="0" y="1187768"/>
                  </a:moveTo>
                  <a:lnTo>
                    <a:pt x="1261110" y="0"/>
                  </a:lnTo>
                </a:path>
              </a:pathLst>
            </a:custGeom>
            <a:noFill/>
            <a:ln w="17145">
              <a:solidFill>
                <a:srgbClr val="1F2937"/>
              </a:solidFill>
            </a:ln>
          </p:spPr>
        </p:sp>
        <p:sp>
          <p:nvSpPr>
            <p:cNvPr id="12" name="Freeform 12"/>
            <p:cNvSpPr/>
            <p:nvPr/>
          </p:nvSpPr>
          <p:spPr>
            <a:xfrm>
              <a:off x="4838700" y="2183130"/>
              <a:ext cx="101918" cy="100012"/>
            </a:xfrm>
            <a:custGeom>
              <a:avLst/>
              <a:gdLst/>
              <a:ahLst/>
              <a:cxnLst/>
              <a:rect l="l" t="t" r="r" b="b"/>
              <a:pathLst>
                <a:path w="101918" h="100012">
                  <a:moveTo>
                    <a:pt x="101918" y="0"/>
                  </a:moveTo>
                  <a:lnTo>
                    <a:pt x="64770" y="100012"/>
                  </a:lnTo>
                  <a:lnTo>
                    <a:pt x="0" y="30480"/>
                  </a:lnTo>
                  <a:close/>
                </a:path>
              </a:pathLst>
            </a:custGeom>
            <a:solidFill>
              <a:srgbClr val="1F2937"/>
            </a:solidFill>
            <a:ln>
              <a:noFill/>
            </a:ln>
          </p:spPr>
        </p:sp>
        <p:sp>
          <p:nvSpPr>
            <p:cNvPr id="13" name="Freeform 13"/>
            <p:cNvSpPr/>
            <p:nvPr/>
          </p:nvSpPr>
          <p:spPr>
            <a:xfrm>
              <a:off x="3545205" y="2183130"/>
              <a:ext cx="1185862" cy="1171575"/>
            </a:xfrm>
            <a:custGeom>
              <a:avLst/>
              <a:gdLst/>
              <a:ahLst/>
              <a:cxnLst/>
              <a:rect l="l" t="t" r="r" b="b"/>
              <a:pathLst>
                <a:path w="1185862" h="1171575">
                  <a:moveTo>
                    <a:pt x="1185862" y="0"/>
                  </a:moveTo>
                  <a:cubicBezTo>
                    <a:pt x="718502" y="244475"/>
                    <a:pt x="323215" y="635000"/>
                    <a:pt x="0" y="1171575"/>
                  </a:cubicBezTo>
                </a:path>
              </a:pathLst>
            </a:custGeom>
            <a:noFill/>
            <a:ln w="17145">
              <a:solidFill>
                <a:srgbClr val="1F2937"/>
              </a:solidFill>
            </a:ln>
          </p:spPr>
        </p:sp>
        <p:sp>
          <p:nvSpPr>
            <p:cNvPr id="14" name="Freeform 14"/>
            <p:cNvSpPr/>
            <p:nvPr/>
          </p:nvSpPr>
          <p:spPr>
            <a:xfrm>
              <a:off x="3495675" y="3330892"/>
              <a:ext cx="90488" cy="105728"/>
            </a:xfrm>
            <a:custGeom>
              <a:avLst/>
              <a:gdLst/>
              <a:ahLst/>
              <a:cxnLst/>
              <a:rect l="l" t="t" r="r" b="b"/>
              <a:pathLst>
                <a:path w="90488" h="105728">
                  <a:moveTo>
                    <a:pt x="0" y="105728"/>
                  </a:moveTo>
                  <a:lnTo>
                    <a:pt x="8572" y="0"/>
                  </a:lnTo>
                  <a:lnTo>
                    <a:pt x="90488" y="48578"/>
                  </a:lnTo>
                  <a:close/>
                </a:path>
              </a:pathLst>
            </a:custGeom>
            <a:solidFill>
              <a:srgbClr val="1F2937"/>
            </a:solidFill>
            <a:ln>
              <a:noFill/>
            </a:ln>
          </p:spPr>
        </p:sp>
        <p:sp>
          <p:nvSpPr>
            <p:cNvPr id="15" name="Rectangle 15"/>
            <p:cNvSpPr/>
            <p:nvPr/>
          </p:nvSpPr>
          <p:spPr>
            <a:xfrm>
              <a:off x="775335" y="1687830"/>
              <a:ext cx="1428750" cy="495300"/>
            </a:xfrm>
            <a:prstGeom prst="roundRect">
              <a:avLst>
                <a:gd name="adj" fmla="val 19231"/>
              </a:avLst>
            </a:prstGeom>
            <a:solidFill>
              <a:srgbClr val="334E68"/>
            </a:solidFill>
            <a:ln w="17145">
              <a:solidFill>
                <a:srgbClr val="334E68"/>
              </a:solidFill>
            </a:ln>
          </p:spPr>
        </p:sp>
        <p:sp>
          <p:nvSpPr>
            <p:cNvPr id="16" name="Rectangle 16"/>
            <p:cNvSpPr/>
            <p:nvPr/>
          </p:nvSpPr>
          <p:spPr>
            <a:xfrm>
              <a:off x="4489132" y="1687830"/>
              <a:ext cx="1428750" cy="495300"/>
            </a:xfrm>
            <a:prstGeom prst="roundRect">
              <a:avLst>
                <a:gd name="adj" fmla="val 19231"/>
              </a:avLst>
            </a:prstGeom>
            <a:solidFill>
              <a:srgbClr val="E7EDF3"/>
            </a:solidFill>
            <a:ln w="17145">
              <a:solidFill>
                <a:srgbClr val="334E68"/>
              </a:solidFill>
            </a:ln>
          </p:spPr>
        </p:sp>
        <p:sp>
          <p:nvSpPr>
            <p:cNvPr id="17" name="Rectangle 17"/>
            <p:cNvSpPr/>
            <p:nvPr/>
          </p:nvSpPr>
          <p:spPr>
            <a:xfrm>
              <a:off x="2585085" y="3436620"/>
              <a:ext cx="1524000" cy="495300"/>
            </a:xfrm>
            <a:prstGeom prst="roundRect">
              <a:avLst>
                <a:gd name="adj" fmla="val 19231"/>
              </a:avLst>
            </a:prstGeom>
            <a:solidFill>
              <a:srgbClr val="FDEEE7"/>
            </a:solidFill>
            <a:ln w="17145">
              <a:solidFill>
                <a:srgbClr val="F26B3A"/>
              </a:solidFill>
            </a:ln>
          </p:spPr>
        </p:sp>
        <p:sp>
          <p:nvSpPr>
            <p:cNvPr id="18" name="TextBox 18"/>
            <p:cNvSpPr txBox="1"/>
            <p:nvPr/>
          </p:nvSpPr>
          <p:spPr>
            <a:xfrm>
              <a:off x="1084356" y="1765935"/>
              <a:ext cx="810707"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请求节点 A</a:t>
              </a:r>
            </a:p>
          </p:txBody>
        </p:sp>
        <p:sp>
          <p:nvSpPr>
            <p:cNvPr id="19" name="TextBox 19"/>
            <p:cNvSpPr txBox="1"/>
            <p:nvPr/>
          </p:nvSpPr>
          <p:spPr>
            <a:xfrm>
              <a:off x="999594" y="1956435"/>
              <a:ext cx="980233"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mn-lt"/>
                  <a:ea typeface="+mn-ea"/>
                  <a:cs typeface="+mn-cs"/>
                </a:rPr>
                <a:t>CPU + Cache</a:t>
              </a:r>
            </a:p>
          </p:txBody>
        </p:sp>
        <p:sp>
          <p:nvSpPr>
            <p:cNvPr id="20" name="TextBox 20"/>
            <p:cNvSpPr txBox="1"/>
            <p:nvPr/>
          </p:nvSpPr>
          <p:spPr>
            <a:xfrm>
              <a:off x="4798154" y="1765935"/>
              <a:ext cx="810707" cy="234696"/>
            </a:xfrm>
            <a:prstGeom prst="rect">
              <a:avLst/>
            </a:prstGeom>
            <a:noFill/>
            <a:ln>
              <a:noFill/>
            </a:ln>
          </p:spPr>
          <p:txBody>
            <a:bodyPr wrap="none" lIns="0" tIns="0" rIns="0" bIns="0" anchor="t" anchorCtr="0">
              <a:spAutoFit/>
            </a:bodyPr>
            <a:lstStyle/>
            <a:p>
              <a:pPr algn="ctr"/>
              <a:r>
                <a:rPr lang="zh-CN" sz="1200" b="1" dirty="0">
                  <a:solidFill>
                    <a:srgbClr val="243B53"/>
                  </a:solidFill>
                  <a:latin typeface="+mn-lt"/>
                  <a:ea typeface="+mn-ea"/>
                  <a:cs typeface="+mn-cs"/>
                </a:rPr>
                <a:t>远程节点 C</a:t>
              </a:r>
            </a:p>
          </p:txBody>
        </p:sp>
        <p:sp>
          <p:nvSpPr>
            <p:cNvPr id="21" name="TextBox 21"/>
            <p:cNvSpPr txBox="1"/>
            <p:nvPr/>
          </p:nvSpPr>
          <p:spPr>
            <a:xfrm>
              <a:off x="4693495" y="1956435"/>
              <a:ext cx="1020025" cy="234696"/>
            </a:xfrm>
            <a:prstGeom prst="rect">
              <a:avLst/>
            </a:prstGeom>
            <a:noFill/>
            <a:ln>
              <a:noFill/>
            </a:ln>
          </p:spPr>
          <p:txBody>
            <a:bodyPr wrap="none" lIns="0" tIns="0" rIns="0" bIns="0" anchor="t" anchorCtr="0">
              <a:spAutoFit/>
            </a:bodyPr>
            <a:lstStyle/>
            <a:p>
              <a:pPr algn="ctr"/>
              <a:r>
                <a:rPr lang="zh-CN" sz="1200" b="1" dirty="0">
                  <a:solidFill>
                    <a:srgbClr val="243B53"/>
                  </a:solidFill>
                  <a:latin typeface="+mn-lt"/>
                  <a:ea typeface="+mn-ea"/>
                  <a:cs typeface="+mn-cs"/>
                </a:rPr>
                <a:t>Cache 有副本</a:t>
              </a:r>
            </a:p>
          </p:txBody>
        </p:sp>
        <p:sp>
          <p:nvSpPr>
            <p:cNvPr id="22" name="TextBox 22"/>
            <p:cNvSpPr txBox="1"/>
            <p:nvPr/>
          </p:nvSpPr>
          <p:spPr>
            <a:xfrm>
              <a:off x="2941731" y="3514725"/>
              <a:ext cx="810707" cy="234696"/>
            </a:xfrm>
            <a:prstGeom prst="rect">
              <a:avLst/>
            </a:prstGeom>
            <a:noFill/>
            <a:ln>
              <a:noFill/>
            </a:ln>
          </p:spPr>
          <p:txBody>
            <a:bodyPr wrap="none" lIns="0" tIns="0" rIns="0" bIns="0" anchor="t" anchorCtr="0">
              <a:spAutoFit/>
            </a:bodyPr>
            <a:lstStyle/>
            <a:p>
              <a:pPr algn="ctr"/>
              <a:r>
                <a:rPr lang="zh-CN" sz="1200" b="1" dirty="0">
                  <a:solidFill>
                    <a:srgbClr val="1F2937"/>
                  </a:solidFill>
                  <a:latin typeface="+mn-lt"/>
                  <a:ea typeface="+mn-ea"/>
                  <a:cs typeface="+mn-cs"/>
                </a:rPr>
                <a:t>目录节点 B</a:t>
              </a:r>
            </a:p>
          </p:txBody>
        </p:sp>
        <p:sp>
          <p:nvSpPr>
            <p:cNvPr id="23" name="TextBox 23"/>
            <p:cNvSpPr txBox="1"/>
            <p:nvPr/>
          </p:nvSpPr>
          <p:spPr>
            <a:xfrm>
              <a:off x="2839597" y="3705225"/>
              <a:ext cx="1014976" cy="234696"/>
            </a:xfrm>
            <a:prstGeom prst="rect">
              <a:avLst/>
            </a:prstGeom>
            <a:noFill/>
            <a:ln>
              <a:noFill/>
            </a:ln>
          </p:spPr>
          <p:txBody>
            <a:bodyPr wrap="none" lIns="0" tIns="0" rIns="0" bIns="0" anchor="t" anchorCtr="0">
              <a:spAutoFit/>
            </a:bodyPr>
            <a:lstStyle/>
            <a:p>
              <a:pPr algn="ctr"/>
              <a:r>
                <a:rPr lang="zh-CN" sz="1200" b="1" dirty="0">
                  <a:solidFill>
                    <a:srgbClr val="1F2937"/>
                  </a:solidFill>
                  <a:latin typeface="+mn-lt"/>
                  <a:ea typeface="+mn-ea"/>
                  <a:cs typeface="+mn-cs"/>
                </a:rPr>
                <a:t>存储器 + 目录</a:t>
              </a:r>
            </a:p>
          </p:txBody>
        </p:sp>
        <p:sp>
          <p:nvSpPr>
            <p:cNvPr id="24" name="Rectangle 24"/>
            <p:cNvSpPr/>
            <p:nvPr/>
          </p:nvSpPr>
          <p:spPr>
            <a:xfrm>
              <a:off x="1524952" y="2716530"/>
              <a:ext cx="1787842" cy="173355"/>
            </a:xfrm>
            <a:prstGeom prst="roundRect">
              <a:avLst>
                <a:gd name="adj" fmla="val 21978"/>
              </a:avLst>
            </a:prstGeom>
            <a:solidFill>
              <a:srgbClr val="FFFFFF"/>
            </a:solidFill>
            <a:ln>
              <a:noFill/>
            </a:ln>
          </p:spPr>
        </p:sp>
        <p:sp>
          <p:nvSpPr>
            <p:cNvPr id="25" name="TextBox 25"/>
            <p:cNvSpPr txBox="1"/>
            <p:nvPr/>
          </p:nvSpPr>
          <p:spPr>
            <a:xfrm>
              <a:off x="1494774" y="2751296"/>
              <a:ext cx="1847247" cy="190690"/>
            </a:xfrm>
            <a:prstGeom prst="rect">
              <a:avLst/>
            </a:prstGeom>
            <a:noFill/>
            <a:ln>
              <a:noFill/>
            </a:ln>
          </p:spPr>
          <p:txBody>
            <a:bodyPr wrap="none" lIns="0" tIns="0" rIns="0" bIns="0" anchor="t" anchorCtr="0">
              <a:spAutoFit/>
            </a:bodyPr>
            <a:lstStyle/>
            <a:p>
              <a:pPr algn="ctr"/>
              <a:r>
                <a:rPr lang="en-US" sz="980" dirty="0">
                  <a:solidFill>
                    <a:srgbClr val="C2410C"/>
                  </a:solidFill>
                  <a:latin typeface="+mn-lt"/>
                  <a:ea typeface="+mn-ea"/>
                  <a:cs typeface="+mn-cs"/>
                </a:rPr>
                <a:t>RdMiss / WtMiss / Invalidate</a:t>
              </a:r>
            </a:p>
          </p:txBody>
        </p:sp>
        <p:sp>
          <p:nvSpPr>
            <p:cNvPr id="26" name="Rectangle 26"/>
            <p:cNvSpPr/>
            <p:nvPr/>
          </p:nvSpPr>
          <p:spPr>
            <a:xfrm>
              <a:off x="2296478" y="2444115"/>
              <a:ext cx="349568" cy="173355"/>
            </a:xfrm>
            <a:prstGeom prst="roundRect">
              <a:avLst>
                <a:gd name="adj" fmla="val 21978"/>
              </a:avLst>
            </a:prstGeom>
            <a:solidFill>
              <a:srgbClr val="FFFFFF"/>
            </a:solidFill>
            <a:ln>
              <a:noFill/>
            </a:ln>
          </p:spPr>
        </p:sp>
        <p:sp>
          <p:nvSpPr>
            <p:cNvPr id="27" name="TextBox 27"/>
            <p:cNvSpPr txBox="1"/>
            <p:nvPr/>
          </p:nvSpPr>
          <p:spPr>
            <a:xfrm>
              <a:off x="2318658" y="2478881"/>
              <a:ext cx="304254" cy="190690"/>
            </a:xfrm>
            <a:prstGeom prst="rect">
              <a:avLst/>
            </a:prstGeom>
            <a:noFill/>
            <a:ln>
              <a:noFill/>
            </a:ln>
          </p:spPr>
          <p:txBody>
            <a:bodyPr wrap="none" lIns="0" tIns="0" rIns="0" bIns="0" anchor="t" anchorCtr="0">
              <a:spAutoFit/>
            </a:bodyPr>
            <a:lstStyle/>
            <a:p>
              <a:pPr algn="ctr"/>
              <a:r>
                <a:rPr lang="en-US" sz="980" dirty="0">
                  <a:solidFill>
                    <a:srgbClr val="C2410C"/>
                  </a:solidFill>
                  <a:latin typeface="+mn-lt"/>
                  <a:ea typeface="+mn-ea"/>
                  <a:cs typeface="+mn-cs"/>
                </a:rPr>
                <a:t>Data</a:t>
              </a:r>
            </a:p>
          </p:txBody>
        </p:sp>
        <p:sp>
          <p:nvSpPr>
            <p:cNvPr id="28" name="Rectangle 28"/>
            <p:cNvSpPr/>
            <p:nvPr/>
          </p:nvSpPr>
          <p:spPr>
            <a:xfrm>
              <a:off x="3403282" y="2716530"/>
              <a:ext cx="1744028" cy="173355"/>
            </a:xfrm>
            <a:prstGeom prst="roundRect">
              <a:avLst>
                <a:gd name="adj" fmla="val 21978"/>
              </a:avLst>
            </a:prstGeom>
            <a:solidFill>
              <a:srgbClr val="FFFFFF"/>
            </a:solidFill>
            <a:ln>
              <a:noFill/>
            </a:ln>
          </p:spPr>
        </p:sp>
        <p:sp>
          <p:nvSpPr>
            <p:cNvPr id="29" name="TextBox 29"/>
            <p:cNvSpPr txBox="1"/>
            <p:nvPr/>
          </p:nvSpPr>
          <p:spPr>
            <a:xfrm>
              <a:off x="3374581" y="2751296"/>
              <a:ext cx="1800478" cy="190690"/>
            </a:xfrm>
            <a:prstGeom prst="rect">
              <a:avLst/>
            </a:prstGeom>
            <a:noFill/>
            <a:ln>
              <a:noFill/>
            </a:ln>
          </p:spPr>
          <p:txBody>
            <a:bodyPr wrap="none" lIns="0" tIns="0" rIns="0" bIns="0" anchor="t" anchorCtr="0">
              <a:spAutoFit/>
            </a:bodyPr>
            <a:lstStyle/>
            <a:p>
              <a:pPr algn="ctr"/>
              <a:r>
                <a:rPr lang="en-US" sz="980" dirty="0">
                  <a:solidFill>
                    <a:srgbClr val="C2410C"/>
                  </a:solidFill>
                  <a:latin typeface="+mn-lt"/>
                  <a:ea typeface="+mn-ea"/>
                  <a:cs typeface="+mn-cs"/>
                </a:rPr>
                <a:t>Invalidate / FetchS / FetchI</a:t>
              </a:r>
            </a:p>
          </p:txBody>
        </p:sp>
        <p:sp>
          <p:nvSpPr>
            <p:cNvPr id="30" name="Rectangle 30"/>
            <p:cNvSpPr/>
            <p:nvPr/>
          </p:nvSpPr>
          <p:spPr>
            <a:xfrm>
              <a:off x="3406140" y="2444115"/>
              <a:ext cx="1631632" cy="173355"/>
            </a:xfrm>
            <a:prstGeom prst="roundRect">
              <a:avLst>
                <a:gd name="adj" fmla="val 21978"/>
              </a:avLst>
            </a:prstGeom>
            <a:solidFill>
              <a:srgbClr val="FFFFFF"/>
            </a:solidFill>
            <a:ln>
              <a:noFill/>
            </a:ln>
          </p:spPr>
        </p:sp>
        <p:sp>
          <p:nvSpPr>
            <p:cNvPr id="31" name="TextBox 31"/>
            <p:cNvSpPr txBox="1"/>
            <p:nvPr/>
          </p:nvSpPr>
          <p:spPr>
            <a:xfrm>
              <a:off x="3385931" y="2478881"/>
              <a:ext cx="1673003" cy="190690"/>
            </a:xfrm>
            <a:prstGeom prst="rect">
              <a:avLst/>
            </a:prstGeom>
            <a:noFill/>
            <a:ln>
              <a:noFill/>
            </a:ln>
          </p:spPr>
          <p:txBody>
            <a:bodyPr wrap="none" lIns="0" tIns="0" rIns="0" bIns="0" anchor="t" anchorCtr="0">
              <a:spAutoFit/>
            </a:bodyPr>
            <a:lstStyle/>
            <a:p>
              <a:pPr algn="ctr"/>
              <a:r>
                <a:rPr lang="en-US" sz="980" dirty="0">
                  <a:solidFill>
                    <a:srgbClr val="C2410C"/>
                  </a:solidFill>
                  <a:latin typeface="+mn-lt"/>
                  <a:ea typeface="+mn-ea"/>
                  <a:cs typeface="+mn-cs"/>
                </a:rPr>
                <a:t>Update / Quit / Invalidate</a:t>
              </a:r>
            </a:p>
          </p:txBody>
        </p:sp>
      </p:grpSp>
      <p:grpSp>
        <p:nvGrpSpPr>
          <p:cNvPr id="41" name="c1-kv-2"/>
          <p:cNvGrpSpPr/>
          <p:nvPr/>
        </p:nvGrpSpPr>
        <p:grpSpPr>
          <a:xfrm>
            <a:off x="525780" y="4311015"/>
            <a:ext cx="5634038" cy="1455420"/>
            <a:chOff x="525780" y="4311015"/>
            <a:chExt cx="5634038" cy="1455420"/>
          </a:xfrm>
        </p:grpSpPr>
        <p:sp>
          <p:nvSpPr>
            <p:cNvPr id="33" name="TextBox 33"/>
            <p:cNvSpPr txBox="1"/>
            <p:nvPr/>
          </p:nvSpPr>
          <p:spPr>
            <a:xfrm>
              <a:off x="525780" y="4311015"/>
              <a:ext cx="138455" cy="293370"/>
            </a:xfrm>
            <a:prstGeom prst="rect">
              <a:avLst/>
            </a:prstGeom>
            <a:noFill/>
            <a:ln>
              <a:noFill/>
            </a:ln>
          </p:spPr>
          <p:txBody>
            <a:bodyPr wrap="none" lIns="0" tIns="0" rIns="0" bIns="0" anchor="t" anchorCtr="0">
              <a:spAutoFit/>
            </a:bodyPr>
            <a:lstStyle/>
            <a:p>
              <a:pPr algn="l"/>
              <a:r>
                <a:rPr lang="en-US" sz="1500" b="1" dirty="0">
                  <a:solidFill>
                    <a:srgbClr val="334E68"/>
                  </a:solidFill>
                  <a:latin typeface="+mn-lt"/>
                  <a:ea typeface="+mn-ea"/>
                  <a:cs typeface="+mn-cs"/>
                </a:rPr>
                <a:t>A</a:t>
              </a:r>
            </a:p>
          </p:txBody>
        </p:sp>
        <p:sp>
          <p:nvSpPr>
            <p:cNvPr id="34" name="TextBox 34"/>
            <p:cNvSpPr txBox="1"/>
            <p:nvPr/>
          </p:nvSpPr>
          <p:spPr>
            <a:xfrm>
              <a:off x="887730" y="4311015"/>
              <a:ext cx="2821686"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发出访问请求（地址 K）的节点</a:t>
              </a:r>
            </a:p>
          </p:txBody>
        </p:sp>
        <p:sp>
          <p:nvSpPr>
            <p:cNvPr id="35" name="Rectangle 35"/>
            <p:cNvSpPr/>
            <p:nvPr/>
          </p:nvSpPr>
          <p:spPr>
            <a:xfrm>
              <a:off x="533400" y="4631055"/>
              <a:ext cx="5626418" cy="9525"/>
            </a:xfrm>
            <a:prstGeom prst="rect">
              <a:avLst/>
            </a:prstGeom>
            <a:solidFill>
              <a:srgbClr val="D9DFEA"/>
            </a:solidFill>
            <a:ln>
              <a:noFill/>
            </a:ln>
          </p:spPr>
        </p:sp>
        <p:sp>
          <p:nvSpPr>
            <p:cNvPr id="36" name="TextBox 36"/>
            <p:cNvSpPr txBox="1"/>
            <p:nvPr/>
          </p:nvSpPr>
          <p:spPr>
            <a:xfrm>
              <a:off x="525780" y="4751070"/>
              <a:ext cx="138455" cy="293370"/>
            </a:xfrm>
            <a:prstGeom prst="rect">
              <a:avLst/>
            </a:prstGeom>
            <a:noFill/>
            <a:ln>
              <a:noFill/>
            </a:ln>
          </p:spPr>
          <p:txBody>
            <a:bodyPr wrap="none" lIns="0" tIns="0" rIns="0" bIns="0" anchor="t" anchorCtr="0">
              <a:spAutoFit/>
            </a:bodyPr>
            <a:lstStyle/>
            <a:p>
              <a:pPr algn="l"/>
              <a:r>
                <a:rPr lang="en-US" sz="1500" b="1" dirty="0">
                  <a:solidFill>
                    <a:srgbClr val="334E68"/>
                  </a:solidFill>
                  <a:latin typeface="+mn-lt"/>
                  <a:ea typeface="+mn-ea"/>
                  <a:cs typeface="+mn-cs"/>
                </a:rPr>
                <a:t>B</a:t>
              </a:r>
            </a:p>
          </p:txBody>
        </p:sp>
        <p:sp>
          <p:nvSpPr>
            <p:cNvPr id="37" name="TextBox 37"/>
            <p:cNvSpPr txBox="1"/>
            <p:nvPr/>
          </p:nvSpPr>
          <p:spPr>
            <a:xfrm>
              <a:off x="887730" y="4751070"/>
              <a:ext cx="4996815" cy="575310"/>
            </a:xfrm>
            <a:prstGeom prst="rect">
              <a:avLst/>
            </a:prstGeom>
            <a:noFill/>
            <a:ln>
              <a:noFill/>
            </a:ln>
          </p:spPr>
          <p:txBody>
            <a:bodyPr wrap="none" lIns="0" tIns="0" rIns="0" bIns="0" anchor="t" anchorCtr="0">
              <a:spAutoFit/>
            </a:bodyPr>
            <a:lstStyle/>
            <a:p>
              <a:pPr algn="l">
                <a:lnSpc>
                  <a:spcPts val="2220"/>
                </a:lnSpc>
              </a:pPr>
              <a:r>
                <a:rPr lang="zh-CN" sz="1500" dirty="0">
                  <a:solidFill>
                    <a:srgbClr val="1F2937"/>
                  </a:solidFill>
                  <a:latin typeface="+mn-lt"/>
                  <a:ea typeface="+mn-ea"/>
                  <a:cs typeface="+mn-cs"/>
                </a:rPr>
                <a:t>维护地址 K 所在存储器目录的节点，唯一确定，不分本地还</a:t>
              </a:r>
              <a:br/>
              <a:r>
                <a:rPr lang="zh-CN" sz="1500" dirty="0">
                  <a:solidFill>
                    <a:srgbClr val="1F2937"/>
                  </a:solidFill>
                  <a:latin typeface="+mn-lt"/>
                  <a:ea typeface="+mn-ea"/>
                  <a:cs typeface="+mn-cs"/>
                </a:rPr>
                <a:t>是远程</a:t>
              </a:r>
            </a:p>
          </p:txBody>
        </p:sp>
        <p:sp>
          <p:nvSpPr>
            <p:cNvPr id="38" name="Rectangle 38"/>
            <p:cNvSpPr/>
            <p:nvPr/>
          </p:nvSpPr>
          <p:spPr>
            <a:xfrm>
              <a:off x="533400" y="5353050"/>
              <a:ext cx="5626418" cy="9525"/>
            </a:xfrm>
            <a:prstGeom prst="rect">
              <a:avLst/>
            </a:prstGeom>
            <a:solidFill>
              <a:srgbClr val="D9DFEA"/>
            </a:solidFill>
            <a:ln>
              <a:noFill/>
            </a:ln>
          </p:spPr>
        </p:sp>
        <p:sp>
          <p:nvSpPr>
            <p:cNvPr id="39" name="TextBox 39"/>
            <p:cNvSpPr txBox="1"/>
            <p:nvPr/>
          </p:nvSpPr>
          <p:spPr>
            <a:xfrm>
              <a:off x="525780" y="5473065"/>
              <a:ext cx="138455" cy="293370"/>
            </a:xfrm>
            <a:prstGeom prst="rect">
              <a:avLst/>
            </a:prstGeom>
            <a:noFill/>
            <a:ln>
              <a:noFill/>
            </a:ln>
          </p:spPr>
          <p:txBody>
            <a:bodyPr wrap="none" lIns="0" tIns="0" rIns="0" bIns="0" anchor="t" anchorCtr="0">
              <a:spAutoFit/>
            </a:bodyPr>
            <a:lstStyle/>
            <a:p>
              <a:pPr algn="l"/>
              <a:r>
                <a:rPr lang="en-US" sz="1500" b="1" dirty="0">
                  <a:solidFill>
                    <a:srgbClr val="334E68"/>
                  </a:solidFill>
                  <a:latin typeface="+mn-lt"/>
                  <a:ea typeface="+mn-ea"/>
                  <a:cs typeface="+mn-cs"/>
                </a:rPr>
                <a:t>C</a:t>
              </a:r>
            </a:p>
          </p:txBody>
        </p:sp>
        <p:sp>
          <p:nvSpPr>
            <p:cNvPr id="40" name="TextBox 40"/>
            <p:cNvSpPr txBox="1"/>
            <p:nvPr/>
          </p:nvSpPr>
          <p:spPr>
            <a:xfrm>
              <a:off x="887730" y="5473065"/>
              <a:ext cx="4518203"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Cache 中有 K 所在块副本的节点（逻辑上的远程）</a:t>
              </a:r>
            </a:p>
          </p:txBody>
        </p:sp>
      </p:grpSp>
      <p:grpSp>
        <p:nvGrpSpPr>
          <p:cNvPr id="53" name="c2-card-1"/>
          <p:cNvGrpSpPr/>
          <p:nvPr/>
        </p:nvGrpSpPr>
        <p:grpSpPr>
          <a:xfrm>
            <a:off x="6464618" y="1524000"/>
            <a:ext cx="5193982" cy="2647950"/>
            <a:chOff x="6464618" y="1524000"/>
            <a:chExt cx="5193982" cy="2647950"/>
          </a:xfrm>
        </p:grpSpPr>
        <p:sp>
          <p:nvSpPr>
            <p:cNvPr id="42" name="Rectangle 42"/>
            <p:cNvSpPr/>
            <p:nvPr/>
          </p:nvSpPr>
          <p:spPr>
            <a:xfrm>
              <a:off x="6464618" y="1524000"/>
              <a:ext cx="5193982" cy="2647950"/>
            </a:xfrm>
            <a:prstGeom prst="roundRect">
              <a:avLst>
                <a:gd name="adj" fmla="val 5036"/>
              </a:avLst>
            </a:prstGeom>
            <a:solidFill>
              <a:srgbClr val="FFFFFF"/>
            </a:solidFill>
            <a:ln w="14288">
              <a:solidFill>
                <a:srgbClr val="D9DFEA"/>
              </a:solidFill>
            </a:ln>
          </p:spPr>
        </p:sp>
        <p:sp>
          <p:nvSpPr>
            <p:cNvPr id="43" name="Rectangle 43"/>
            <p:cNvSpPr/>
            <p:nvPr/>
          </p:nvSpPr>
          <p:spPr>
            <a:xfrm>
              <a:off x="6474142" y="1657350"/>
              <a:ext cx="47625" cy="2381250"/>
            </a:xfrm>
            <a:prstGeom prst="roundRect">
              <a:avLst>
                <a:gd name="adj" fmla="val 50000"/>
              </a:avLst>
            </a:prstGeom>
            <a:solidFill>
              <a:srgbClr val="334E68"/>
            </a:solidFill>
            <a:ln>
              <a:noFill/>
            </a:ln>
          </p:spPr>
        </p:sp>
        <p:sp>
          <p:nvSpPr>
            <p:cNvPr id="44" name="Rectangle 44"/>
            <p:cNvSpPr/>
            <p:nvPr/>
          </p:nvSpPr>
          <p:spPr>
            <a:xfrm>
              <a:off x="6712268" y="1733550"/>
              <a:ext cx="1032510" cy="257175"/>
            </a:xfrm>
            <a:prstGeom prst="roundRect">
              <a:avLst>
                <a:gd name="adj" fmla="val 50000"/>
              </a:avLst>
            </a:prstGeom>
            <a:solidFill>
              <a:srgbClr val="E7EDF3"/>
            </a:solidFill>
            <a:ln>
              <a:noFill/>
            </a:ln>
          </p:spPr>
        </p:sp>
        <p:sp>
          <p:nvSpPr>
            <p:cNvPr id="45" name="TextBox 45"/>
            <p:cNvSpPr txBox="1"/>
            <p:nvPr/>
          </p:nvSpPr>
          <p:spPr>
            <a:xfrm>
              <a:off x="6779076" y="1769269"/>
              <a:ext cx="898894"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A 怎样找到 B</a:t>
              </a:r>
            </a:p>
          </p:txBody>
        </p:sp>
        <p:sp>
          <p:nvSpPr>
            <p:cNvPr id="46" name="TextBox 46"/>
            <p:cNvSpPr txBox="1"/>
            <p:nvPr/>
          </p:nvSpPr>
          <p:spPr>
            <a:xfrm>
              <a:off x="6704648" y="2110740"/>
              <a:ext cx="4558665" cy="86487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所有存储器采用高位交叉编址：地址 K 的高位是存储</a:t>
              </a:r>
              <a:br/>
              <a:r>
                <a:rPr lang="zh-CN" sz="1500" dirty="0">
                  <a:solidFill>
                    <a:srgbClr val="1F2937"/>
                  </a:solidFill>
                  <a:latin typeface="+mn-lt"/>
                  <a:ea typeface="+mn-ea"/>
                  <a:cs typeface="+mn-cs"/>
                </a:rPr>
                <a:t>器节点号，低位是节点内偏移。N 个存储器节点时，同</a:t>
              </a:r>
              <a:br/>
              <a:r>
                <a:rPr lang="zh-CN" sz="1500" dirty="0">
                  <a:solidFill>
                    <a:srgbClr val="1F2937"/>
                  </a:solidFill>
                  <a:latin typeface="+mn-lt"/>
                  <a:ea typeface="+mn-ea"/>
                  <a:cs typeface="+mn-cs"/>
                </a:rPr>
                <a:t>一个存储器中地址的高 log₂N 位都相同。</a:t>
              </a:r>
            </a:p>
          </p:txBody>
        </p:sp>
        <p:sp>
          <p:nvSpPr>
            <p:cNvPr id="47" name="TextBox 47"/>
            <p:cNvSpPr txBox="1"/>
            <p:nvPr/>
          </p:nvSpPr>
          <p:spPr>
            <a:xfrm>
              <a:off x="6705791" y="3122771"/>
              <a:ext cx="520076" cy="249364"/>
            </a:xfrm>
            <a:prstGeom prst="rect">
              <a:avLst/>
            </a:prstGeom>
            <a:noFill/>
            <a:ln>
              <a:noFill/>
            </a:ln>
          </p:spPr>
          <p:txBody>
            <a:bodyPr wrap="none" lIns="0" tIns="0" rIns="0" bIns="0" anchor="t" anchorCtr="0">
              <a:spAutoFit/>
            </a:bodyPr>
            <a:lstStyle/>
            <a:p>
              <a:pPr algn="l"/>
              <a:r>
                <a:rPr lang="zh-CN" sz="1280" b="1" dirty="0">
                  <a:solidFill>
                    <a:srgbClr val="334E68"/>
                  </a:solidFill>
                  <a:latin typeface="+mn-lt"/>
                  <a:ea typeface="+mn-ea"/>
                  <a:cs typeface="+mn-cs"/>
                </a:rPr>
                <a:t>地址 K</a:t>
              </a:r>
            </a:p>
          </p:txBody>
        </p:sp>
        <p:sp>
          <p:nvSpPr>
            <p:cNvPr id="48" name="Rectangle 48"/>
            <p:cNvSpPr/>
            <p:nvPr/>
          </p:nvSpPr>
          <p:spPr>
            <a:xfrm>
              <a:off x="7316152" y="2992755"/>
              <a:ext cx="2066925" cy="419100"/>
            </a:xfrm>
            <a:prstGeom prst="rect">
              <a:avLst/>
            </a:prstGeom>
            <a:solidFill>
              <a:srgbClr val="FDEEE7"/>
            </a:solidFill>
            <a:ln w="15240">
              <a:solidFill>
                <a:srgbClr val="F26B3A"/>
              </a:solidFill>
            </a:ln>
          </p:spPr>
        </p:sp>
        <p:sp>
          <p:nvSpPr>
            <p:cNvPr id="49" name="TextBox 49"/>
            <p:cNvSpPr txBox="1"/>
            <p:nvPr/>
          </p:nvSpPr>
          <p:spPr>
            <a:xfrm>
              <a:off x="7455632" y="3122771"/>
              <a:ext cx="1787967" cy="249364"/>
            </a:xfrm>
            <a:prstGeom prst="rect">
              <a:avLst/>
            </a:prstGeom>
            <a:noFill/>
            <a:ln>
              <a:noFill/>
            </a:ln>
          </p:spPr>
          <p:txBody>
            <a:bodyPr wrap="none" lIns="0" tIns="0" rIns="0" bIns="0" anchor="t" anchorCtr="0">
              <a:spAutoFit/>
            </a:bodyPr>
            <a:lstStyle/>
            <a:p>
              <a:pPr algn="ctr"/>
              <a:r>
                <a:rPr lang="zh-CN" sz="1280" b="1" dirty="0">
                  <a:solidFill>
                    <a:srgbClr val="1F2937"/>
                  </a:solidFill>
                  <a:latin typeface="+mn-lt"/>
                  <a:ea typeface="+mn-ea"/>
                  <a:cs typeface="+mn-cs"/>
                </a:rPr>
                <a:t>节点号（高 log₂N 位）</a:t>
              </a:r>
            </a:p>
          </p:txBody>
        </p:sp>
        <p:sp>
          <p:nvSpPr>
            <p:cNvPr id="50" name="Rectangle 50"/>
            <p:cNvSpPr/>
            <p:nvPr/>
          </p:nvSpPr>
          <p:spPr>
            <a:xfrm>
              <a:off x="9382125" y="2992755"/>
              <a:ext cx="2066925" cy="419100"/>
            </a:xfrm>
            <a:prstGeom prst="rect">
              <a:avLst/>
            </a:prstGeom>
            <a:solidFill>
              <a:srgbClr val="FFFFFF"/>
            </a:solidFill>
            <a:ln w="15240">
              <a:solidFill>
                <a:srgbClr val="334E68"/>
              </a:solidFill>
            </a:ln>
          </p:spPr>
        </p:sp>
        <p:sp>
          <p:nvSpPr>
            <p:cNvPr id="51" name="TextBox 51"/>
            <p:cNvSpPr txBox="1"/>
            <p:nvPr/>
          </p:nvSpPr>
          <p:spPr>
            <a:xfrm>
              <a:off x="9978326" y="3122771"/>
              <a:ext cx="874522" cy="249364"/>
            </a:xfrm>
            <a:prstGeom prst="rect">
              <a:avLst/>
            </a:prstGeom>
            <a:noFill/>
            <a:ln>
              <a:noFill/>
            </a:ln>
          </p:spPr>
          <p:txBody>
            <a:bodyPr wrap="none" lIns="0" tIns="0" rIns="0" bIns="0" anchor="t" anchorCtr="0">
              <a:spAutoFit/>
            </a:bodyPr>
            <a:lstStyle/>
            <a:p>
              <a:pPr algn="ctr"/>
              <a:r>
                <a:rPr lang="zh-CN" sz="1280" b="1" dirty="0">
                  <a:solidFill>
                    <a:srgbClr val="1F2937"/>
                  </a:solidFill>
                  <a:latin typeface="+mn-lt"/>
                  <a:ea typeface="+mn-ea"/>
                  <a:cs typeface="+mn-cs"/>
                </a:rPr>
                <a:t>节点内偏移</a:t>
              </a:r>
            </a:p>
          </p:txBody>
        </p:sp>
        <p:sp>
          <p:nvSpPr>
            <p:cNvPr id="52" name="TextBox 52"/>
            <p:cNvSpPr txBox="1"/>
            <p:nvPr/>
          </p:nvSpPr>
          <p:spPr>
            <a:xfrm>
              <a:off x="6705791" y="3528536"/>
              <a:ext cx="4564634" cy="483680"/>
            </a:xfrm>
            <a:prstGeom prst="rect">
              <a:avLst/>
            </a:prstGeom>
            <a:noFill/>
            <a:ln>
              <a:noFill/>
            </a:ln>
          </p:spPr>
          <p:txBody>
            <a:bodyPr wrap="none" lIns="0" tIns="0" rIns="0" bIns="0" anchor="t" anchorCtr="0">
              <a:spAutoFit/>
            </a:bodyPr>
            <a:lstStyle/>
            <a:p>
              <a:pPr algn="l">
                <a:lnSpc>
                  <a:spcPts val="1845"/>
                </a:lnSpc>
              </a:pPr>
              <a:r>
                <a:rPr lang="zh-CN" sz="1280" dirty="0">
                  <a:solidFill>
                    <a:srgbClr val="5B6475"/>
                  </a:solidFill>
                  <a:latin typeface="+mn-lt"/>
                  <a:ea typeface="+mn-ea"/>
                  <a:cs typeface="+mn-cs"/>
                </a:rPr>
                <a:t>例：4 个节点、32 位地址，K = 0x9ABC0040。最高 2 位是 10，</a:t>
              </a:r>
              <a:br/>
              <a:r>
                <a:rPr lang="zh-CN" sz="1280" dirty="0">
                  <a:solidFill>
                    <a:srgbClr val="5B6475"/>
                  </a:solidFill>
                  <a:latin typeface="+mn-lt"/>
                  <a:ea typeface="+mn-ea"/>
                  <a:cs typeface="+mn-cs"/>
                </a:rPr>
                <a:t>所以 B 是节点 2，节点内偏移为 0x1ABC0040。</a:t>
              </a:r>
            </a:p>
          </p:txBody>
        </p:sp>
      </p:grpSp>
      <p:grpSp>
        <p:nvGrpSpPr>
          <p:cNvPr id="60" name="c2-callout-2"/>
          <p:cNvGrpSpPr/>
          <p:nvPr/>
        </p:nvGrpSpPr>
        <p:grpSpPr>
          <a:xfrm>
            <a:off x="6464618" y="4362450"/>
            <a:ext cx="5193982" cy="1344930"/>
            <a:chOff x="6464618" y="4362450"/>
            <a:chExt cx="5193982" cy="1344930"/>
          </a:xfrm>
        </p:grpSpPr>
        <p:sp>
          <p:nvSpPr>
            <p:cNvPr id="54" name="Rectangle 54"/>
            <p:cNvSpPr/>
            <p:nvPr/>
          </p:nvSpPr>
          <p:spPr>
            <a:xfrm>
              <a:off x="6464618" y="4362450"/>
              <a:ext cx="5193982" cy="1344930"/>
            </a:xfrm>
            <a:prstGeom prst="roundRect">
              <a:avLst>
                <a:gd name="adj" fmla="val 8499"/>
              </a:avLst>
            </a:prstGeom>
            <a:solidFill>
              <a:srgbClr val="F4F6FB"/>
            </a:solidFill>
            <a:ln>
              <a:noFill/>
            </a:ln>
          </p:spPr>
        </p:sp>
        <p:grpSp>
          <p:nvGrpSpPr>
            <p:cNvPr id="58" name="Group 58"/>
            <p:cNvGrpSpPr/>
            <p:nvPr/>
          </p:nvGrpSpPr>
          <p:grpSpPr>
            <a:xfrm>
              <a:off x="6669405" y="4934903"/>
              <a:ext cx="200026" cy="200026"/>
              <a:chOff x="6669405" y="4934903"/>
              <a:chExt cx="200026" cy="200026"/>
            </a:xfrm>
          </p:grpSpPr>
          <p:sp>
            <p:nvSpPr>
              <p:cNvPr id="55" name="Freeform 55"/>
              <p:cNvSpPr/>
              <p:nvPr/>
            </p:nvSpPr>
            <p:spPr>
              <a:xfrm>
                <a:off x="6669405" y="4934903"/>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1F2937"/>
                </a:solidFill>
              </a:ln>
            </p:spPr>
          </p:sp>
          <p:sp>
            <p:nvSpPr>
              <p:cNvPr id="56" name="Freeform 56"/>
              <p:cNvSpPr/>
              <p:nvPr/>
            </p:nvSpPr>
            <p:spPr>
              <a:xfrm>
                <a:off x="6769418" y="5001578"/>
                <a:ext cx="9525" cy="9525"/>
              </a:xfrm>
              <a:custGeom>
                <a:avLst/>
                <a:gdLst/>
                <a:ahLst/>
                <a:cxnLst/>
                <a:rect l="l" t="t" r="r" b="b"/>
                <a:pathLst>
                  <a:path w="9525" h="9525">
                    <a:moveTo>
                      <a:pt x="0" y="0"/>
                    </a:moveTo>
                    <a:lnTo>
                      <a:pt x="111" y="0"/>
                    </a:lnTo>
                  </a:path>
                </a:pathLst>
              </a:custGeom>
              <a:noFill/>
              <a:ln w="22225">
                <a:solidFill>
                  <a:srgbClr val="1F2937"/>
                </a:solidFill>
              </a:ln>
            </p:spPr>
          </p:sp>
          <p:sp>
            <p:nvSpPr>
              <p:cNvPr id="57" name="Freeform 57"/>
              <p:cNvSpPr/>
              <p:nvPr/>
            </p:nvSpPr>
            <p:spPr>
              <a:xfrm>
                <a:off x="6758305" y="5034915"/>
                <a:ext cx="22225" cy="44450"/>
              </a:xfrm>
              <a:custGeom>
                <a:avLst/>
                <a:gdLst/>
                <a:ahLst/>
                <a:cxnLst/>
                <a:rect l="l" t="t" r="r" b="b"/>
                <a:pathLst>
                  <a:path w="22225" h="44450">
                    <a:moveTo>
                      <a:pt x="0" y="0"/>
                    </a:moveTo>
                    <a:lnTo>
                      <a:pt x="11113" y="0"/>
                    </a:lnTo>
                    <a:lnTo>
                      <a:pt x="11113" y="44450"/>
                    </a:lnTo>
                    <a:lnTo>
                      <a:pt x="22225" y="44450"/>
                    </a:lnTo>
                  </a:path>
                </a:pathLst>
              </a:custGeom>
              <a:noFill/>
              <a:ln w="22225">
                <a:solidFill>
                  <a:srgbClr val="1F2937"/>
                </a:solidFill>
              </a:ln>
            </p:spPr>
          </p:sp>
        </p:grpSp>
        <p:sp>
          <p:nvSpPr>
            <p:cNvPr id="59" name="TextBox 59"/>
            <p:cNvSpPr txBox="1"/>
            <p:nvPr/>
          </p:nvSpPr>
          <p:spPr>
            <a:xfrm>
              <a:off x="6971348" y="4653915"/>
              <a:ext cx="4091940" cy="845820"/>
            </a:xfrm>
            <a:prstGeom prst="rect">
              <a:avLst/>
            </a:prstGeom>
            <a:noFill/>
            <a:ln>
              <a:noFill/>
            </a:ln>
          </p:spPr>
          <p:txBody>
            <a:bodyPr wrap="none" lIns="0" tIns="0" rIns="0" bIns="0" anchor="t" anchorCtr="0">
              <a:spAutoFit/>
            </a:bodyPr>
            <a:lstStyle/>
            <a:p>
              <a:pPr algn="l">
                <a:lnSpc>
                  <a:spcPts val="2175"/>
                </a:lnSpc>
              </a:pPr>
              <a:r>
                <a:rPr lang="zh-CN" sz="1500" dirty="0">
                  <a:solidFill>
                    <a:srgbClr val="1F2937"/>
                  </a:solidFill>
                  <a:latin typeface="+mn-lt"/>
                  <a:ea typeface="+mn-ea"/>
                  <a:cs typeface="+mn-cs"/>
                </a:rPr>
                <a:t>B 查目录后，要么直接从自己的存储器取数据给</a:t>
              </a:r>
              <a:br/>
              <a:r>
                <a:rPr lang="zh-CN" sz="1500" dirty="0">
                  <a:solidFill>
                    <a:srgbClr val="1F2937"/>
                  </a:solidFill>
                  <a:latin typeface="+mn-lt"/>
                  <a:ea typeface="+mn-ea"/>
                  <a:cs typeface="+mn-cs"/>
                </a:rPr>
                <a:t>A，要么先从共享集中选一个远程节点 C，取回它</a:t>
              </a:r>
              <a:br/>
              <a:r>
                <a:rPr lang="zh-CN" sz="1500" dirty="0">
                  <a:solidFill>
                    <a:srgbClr val="1F2937"/>
                  </a:solidFill>
                  <a:latin typeface="+mn-lt"/>
                  <a:ea typeface="+mn-ea"/>
                  <a:cs typeface="+mn-cs"/>
                </a:rPr>
                <a:t>Cache 中的副本再交给 A。</a:t>
              </a:r>
            </a:p>
          </p:txBody>
        </p:sp>
      </p:grpSp>
      <p:grpSp>
        <p:nvGrpSpPr>
          <p:cNvPr id="63" name="footer"/>
          <p:cNvGrpSpPr/>
          <p:nvPr/>
        </p:nvGrpSpPr>
        <p:grpSpPr>
          <a:xfrm>
            <a:off x="528447" y="6581299"/>
            <a:ext cx="11135106" cy="190690"/>
            <a:chOff x="528447" y="6581299"/>
            <a:chExt cx="11135106" cy="190690"/>
          </a:xfrm>
        </p:grpSpPr>
        <p:sp>
          <p:nvSpPr>
            <p:cNvPr id="61" name="TextBox 61"/>
            <p:cNvSpPr txBox="1"/>
            <p:nvPr/>
          </p:nvSpPr>
          <p:spPr>
            <a:xfrm>
              <a:off x="528447" y="6581299"/>
              <a:ext cx="2120748"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并行与分布式计算 · 第7章 体系结构</a:t>
              </a:r>
            </a:p>
          </p:txBody>
        </p:sp>
        <p:sp>
          <p:nvSpPr>
            <p:cNvPr id="62" name="TextBox 62"/>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30</a:t>
              </a:r>
            </a:p>
          </p:txBody>
        </p:sp>
      </p:grpSp>
    </p:spTree>
  </p:cSld>
  <p:clrMapOvr>
    <a:masterClrMapping/>
  </p:clrMapOvr>
  <p:transition xmlns:p14="http://schemas.microsoft.com/office/powerpoint/2010/main" p14:dur="400">
    <p:fade/>
  </p:transition>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5600364" cy="909257"/>
            <a:chOff x="520446" y="342900"/>
            <a:chExt cx="5600364" cy="909257"/>
          </a:xfrm>
        </p:grpSpPr>
        <p:sp>
          <p:nvSpPr>
            <p:cNvPr id="2" name="Rectangle 2"/>
            <p:cNvSpPr/>
            <p:nvPr/>
          </p:nvSpPr>
          <p:spPr>
            <a:xfrm>
              <a:off x="533400" y="342900"/>
              <a:ext cx="2586038" cy="266700"/>
            </a:xfrm>
            <a:prstGeom prst="roundRect">
              <a:avLst>
                <a:gd name="adj" fmla="val 50000"/>
              </a:avLst>
            </a:prstGeom>
            <a:solidFill>
              <a:srgbClr val="E7EDF3"/>
            </a:solidFill>
            <a:ln>
              <a:noFill/>
            </a:ln>
          </p:spPr>
        </p:sp>
        <p:sp>
          <p:nvSpPr>
            <p:cNvPr id="3" name="TextBox 3"/>
            <p:cNvSpPr txBox="1"/>
            <p:nvPr/>
          </p:nvSpPr>
          <p:spPr>
            <a:xfrm>
              <a:off x="587464" y="407194"/>
              <a:ext cx="2476957"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第7章 体系结构 · Cache 一致性问题</a:t>
              </a:r>
            </a:p>
          </p:txBody>
        </p:sp>
        <p:sp>
          <p:nvSpPr>
            <p:cNvPr id="4" name="TextBox 4"/>
            <p:cNvSpPr txBox="1"/>
            <p:nvPr/>
          </p:nvSpPr>
          <p:spPr>
            <a:xfrm>
              <a:off x="520446" y="753428"/>
              <a:ext cx="5600364"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目录项三种状态，Cache 块三种状态</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43" name="c1-table-1"/>
          <p:cNvGrpSpPr/>
          <p:nvPr/>
        </p:nvGrpSpPr>
        <p:grpSpPr>
          <a:xfrm>
            <a:off x="527685" y="1524000"/>
            <a:ext cx="5956935" cy="4117182"/>
            <a:chOff x="527685" y="1524000"/>
            <a:chExt cx="5956935" cy="4117182"/>
          </a:xfrm>
        </p:grpSpPr>
        <p:sp>
          <p:nvSpPr>
            <p:cNvPr id="7" name="Rectangle 7"/>
            <p:cNvSpPr/>
            <p:nvPr/>
          </p:nvSpPr>
          <p:spPr>
            <a:xfrm>
              <a:off x="533400" y="1524000"/>
              <a:ext cx="5951220" cy="448628"/>
            </a:xfrm>
            <a:prstGeom prst="rect">
              <a:avLst/>
            </a:prstGeom>
            <a:solidFill>
              <a:srgbClr val="334E68"/>
            </a:solidFill>
            <a:ln>
              <a:noFill/>
            </a:ln>
          </p:spPr>
        </p:sp>
        <p:sp>
          <p:nvSpPr>
            <p:cNvPr id="8" name="TextBox 8"/>
            <p:cNvSpPr txBox="1"/>
            <p:nvPr/>
          </p:nvSpPr>
          <p:spPr>
            <a:xfrm>
              <a:off x="684695" y="1659731"/>
              <a:ext cx="529895"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记录方</a:t>
              </a:r>
            </a:p>
          </p:txBody>
        </p:sp>
        <p:sp>
          <p:nvSpPr>
            <p:cNvPr id="9" name="TextBox 9"/>
            <p:cNvSpPr txBox="1"/>
            <p:nvPr/>
          </p:nvSpPr>
          <p:spPr>
            <a:xfrm>
              <a:off x="2139594" y="1659731"/>
              <a:ext cx="357581"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状态</a:t>
              </a:r>
            </a:p>
          </p:txBody>
        </p:sp>
        <p:sp>
          <p:nvSpPr>
            <p:cNvPr id="10" name="TextBox 10"/>
            <p:cNvSpPr txBox="1"/>
            <p:nvPr/>
          </p:nvSpPr>
          <p:spPr>
            <a:xfrm>
              <a:off x="4698962" y="1659731"/>
              <a:ext cx="357581"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含义</a:t>
              </a:r>
            </a:p>
          </p:txBody>
        </p:sp>
        <p:sp>
          <p:nvSpPr>
            <p:cNvPr id="11" name="TextBox 11"/>
            <p:cNvSpPr txBox="1"/>
            <p:nvPr/>
          </p:nvSpPr>
          <p:spPr>
            <a:xfrm>
              <a:off x="641223" y="2108359"/>
              <a:ext cx="357581"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目录</a:t>
              </a:r>
            </a:p>
          </p:txBody>
        </p:sp>
        <p:sp>
          <p:nvSpPr>
            <p:cNvPr id="12" name="TextBox 12"/>
            <p:cNvSpPr txBox="1"/>
            <p:nvPr/>
          </p:nvSpPr>
          <p:spPr>
            <a:xfrm>
              <a:off x="1474660" y="2108359"/>
              <a:ext cx="1500256"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U 未缓存 Uncached</a:t>
              </a:r>
            </a:p>
          </p:txBody>
        </p:sp>
        <p:sp>
          <p:nvSpPr>
            <p:cNvPr id="13" name="TextBox 13"/>
            <p:cNvSpPr txBox="1"/>
            <p:nvPr/>
          </p:nvSpPr>
          <p:spPr>
            <a:xfrm>
              <a:off x="3378708" y="2108359"/>
              <a:ext cx="1802935"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所有 Cache 都没有副本</a:t>
              </a:r>
            </a:p>
          </p:txBody>
        </p:sp>
        <p:sp>
          <p:nvSpPr>
            <p:cNvPr id="14" name="Rectangle 14"/>
            <p:cNvSpPr/>
            <p:nvPr/>
          </p:nvSpPr>
          <p:spPr>
            <a:xfrm>
              <a:off x="533400" y="2416492"/>
              <a:ext cx="5951220" cy="9525"/>
            </a:xfrm>
            <a:prstGeom prst="rect">
              <a:avLst/>
            </a:prstGeom>
            <a:solidFill>
              <a:srgbClr val="D9DFEA"/>
            </a:solidFill>
            <a:ln>
              <a:noFill/>
            </a:ln>
          </p:spPr>
        </p:sp>
        <p:sp>
          <p:nvSpPr>
            <p:cNvPr id="15" name="Rectangle 15"/>
            <p:cNvSpPr/>
            <p:nvPr/>
          </p:nvSpPr>
          <p:spPr>
            <a:xfrm>
              <a:off x="533400" y="2421255"/>
              <a:ext cx="5951220" cy="675322"/>
            </a:xfrm>
            <a:prstGeom prst="rect">
              <a:avLst/>
            </a:prstGeom>
            <a:solidFill>
              <a:srgbClr val="F4F6FB"/>
            </a:solidFill>
            <a:ln>
              <a:noFill/>
            </a:ln>
          </p:spPr>
        </p:sp>
        <p:sp>
          <p:nvSpPr>
            <p:cNvPr id="16" name="TextBox 16"/>
            <p:cNvSpPr txBox="1"/>
            <p:nvPr/>
          </p:nvSpPr>
          <p:spPr>
            <a:xfrm>
              <a:off x="641223" y="2670334"/>
              <a:ext cx="357581"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目录</a:t>
              </a:r>
            </a:p>
          </p:txBody>
        </p:sp>
        <p:sp>
          <p:nvSpPr>
            <p:cNvPr id="17" name="TextBox 17"/>
            <p:cNvSpPr txBox="1"/>
            <p:nvPr/>
          </p:nvSpPr>
          <p:spPr>
            <a:xfrm>
              <a:off x="1474660" y="2670334"/>
              <a:ext cx="1138519"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S 共享 Shared</a:t>
              </a:r>
            </a:p>
          </p:txBody>
        </p:sp>
        <p:sp>
          <p:nvSpPr>
            <p:cNvPr id="18" name="TextBox 18"/>
            <p:cNvSpPr txBox="1"/>
            <p:nvPr/>
          </p:nvSpPr>
          <p:spPr>
            <a:xfrm>
              <a:off x="3378708" y="2556986"/>
              <a:ext cx="2475738" cy="476059"/>
            </a:xfrm>
            <a:prstGeom prst="rect">
              <a:avLst/>
            </a:prstGeom>
            <a:noFill/>
            <a:ln>
              <a:noFill/>
            </a:ln>
          </p:spPr>
          <p:txBody>
            <a:bodyPr wrap="none" lIns="0" tIns="0" rIns="0" bIns="0" anchor="t" anchorCtr="0">
              <a:spAutoFit/>
            </a:bodyPr>
            <a:lstStyle/>
            <a:p>
              <a:pPr algn="l">
                <a:lnSpc>
                  <a:spcPts val="1785"/>
                </a:lnSpc>
              </a:pPr>
              <a:r>
                <a:rPr lang="zh-CN" sz="1280" dirty="0">
                  <a:solidFill>
                    <a:srgbClr val="1F2937"/>
                  </a:solidFill>
                  <a:latin typeface="+mn-lt"/>
                  <a:ea typeface="+mn-ea"/>
                  <a:cs typeface="+mn-cs"/>
                </a:rPr>
                <a:t>至少 1 个副本，存储器中是最新值</a:t>
              </a:r>
              <a:br/>
              <a:r>
                <a:rPr lang="zh-CN" sz="1280" dirty="0">
                  <a:solidFill>
                    <a:srgbClr val="1F2937"/>
                  </a:solidFill>
                  <a:latin typeface="+mn-lt"/>
                  <a:ea typeface="+mn-ea"/>
                  <a:cs typeface="+mn-cs"/>
                </a:rPr>
                <a:t>（clean，只读）</a:t>
              </a:r>
            </a:p>
          </p:txBody>
        </p:sp>
        <p:sp>
          <p:nvSpPr>
            <p:cNvPr id="19" name="Rectangle 19"/>
            <p:cNvSpPr/>
            <p:nvPr/>
          </p:nvSpPr>
          <p:spPr>
            <a:xfrm>
              <a:off x="533400" y="3092768"/>
              <a:ext cx="5951220" cy="9525"/>
            </a:xfrm>
            <a:prstGeom prst="rect">
              <a:avLst/>
            </a:prstGeom>
            <a:solidFill>
              <a:srgbClr val="D9DFEA"/>
            </a:solidFill>
            <a:ln>
              <a:noFill/>
            </a:ln>
          </p:spPr>
        </p:sp>
        <p:sp>
          <p:nvSpPr>
            <p:cNvPr id="20" name="TextBox 20"/>
            <p:cNvSpPr txBox="1"/>
            <p:nvPr/>
          </p:nvSpPr>
          <p:spPr>
            <a:xfrm>
              <a:off x="641223" y="3345656"/>
              <a:ext cx="357581"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目录</a:t>
              </a:r>
            </a:p>
          </p:txBody>
        </p:sp>
        <p:sp>
          <p:nvSpPr>
            <p:cNvPr id="21" name="Rectangle 21"/>
            <p:cNvSpPr/>
            <p:nvPr/>
          </p:nvSpPr>
          <p:spPr>
            <a:xfrm>
              <a:off x="1376362" y="3107055"/>
              <a:ext cx="1884998" cy="656272"/>
            </a:xfrm>
            <a:prstGeom prst="rect">
              <a:avLst/>
            </a:prstGeom>
            <a:solidFill>
              <a:srgbClr val="FDEEE7"/>
            </a:solidFill>
            <a:ln>
              <a:noFill/>
            </a:ln>
          </p:spPr>
        </p:sp>
        <p:sp>
          <p:nvSpPr>
            <p:cNvPr id="22" name="TextBox 22"/>
            <p:cNvSpPr txBox="1"/>
            <p:nvPr/>
          </p:nvSpPr>
          <p:spPr>
            <a:xfrm>
              <a:off x="1474660" y="3345656"/>
              <a:ext cx="1335976"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E 独占 Exclusive</a:t>
              </a:r>
            </a:p>
          </p:txBody>
        </p:sp>
        <p:sp>
          <p:nvSpPr>
            <p:cNvPr id="23" name="TextBox 23"/>
            <p:cNvSpPr txBox="1"/>
            <p:nvPr/>
          </p:nvSpPr>
          <p:spPr>
            <a:xfrm>
              <a:off x="3378708" y="3232309"/>
              <a:ext cx="2833370" cy="476059"/>
            </a:xfrm>
            <a:prstGeom prst="rect">
              <a:avLst/>
            </a:prstGeom>
            <a:noFill/>
            <a:ln>
              <a:noFill/>
            </a:ln>
          </p:spPr>
          <p:txBody>
            <a:bodyPr wrap="none" lIns="0" tIns="0" rIns="0" bIns="0" anchor="t" anchorCtr="0">
              <a:spAutoFit/>
            </a:bodyPr>
            <a:lstStyle/>
            <a:p>
              <a:pPr algn="l">
                <a:lnSpc>
                  <a:spcPts val="1785"/>
                </a:lnSpc>
              </a:pPr>
              <a:r>
                <a:rPr lang="zh-CN" sz="1280" dirty="0">
                  <a:solidFill>
                    <a:srgbClr val="1F2937"/>
                  </a:solidFill>
                  <a:latin typeface="+mn-lt"/>
                  <a:ea typeface="+mn-ea"/>
                  <a:cs typeface="+mn-cs"/>
                </a:rPr>
                <a:t>拥有者 Cache 有唯一副本，存储器中是</a:t>
              </a:r>
              <a:br/>
              <a:r>
                <a:rPr lang="zh-CN" sz="1280" dirty="0">
                  <a:solidFill>
                    <a:srgbClr val="1F2937"/>
                  </a:solidFill>
                  <a:latin typeface="+mn-lt"/>
                  <a:ea typeface="+mn-ea"/>
                  <a:cs typeface="+mn-cs"/>
                </a:rPr>
                <a:t>旧值（dirty，可读写）</a:t>
              </a:r>
            </a:p>
          </p:txBody>
        </p:sp>
        <p:sp>
          <p:nvSpPr>
            <p:cNvPr id="24" name="Rectangle 24"/>
            <p:cNvSpPr/>
            <p:nvPr/>
          </p:nvSpPr>
          <p:spPr>
            <a:xfrm>
              <a:off x="533400" y="3768090"/>
              <a:ext cx="5951220" cy="9525"/>
            </a:xfrm>
            <a:prstGeom prst="rect">
              <a:avLst/>
            </a:prstGeom>
            <a:solidFill>
              <a:srgbClr val="D9DFEA"/>
            </a:solidFill>
            <a:ln>
              <a:noFill/>
            </a:ln>
          </p:spPr>
        </p:sp>
        <p:sp>
          <p:nvSpPr>
            <p:cNvPr id="25" name="Rectangle 25"/>
            <p:cNvSpPr/>
            <p:nvPr/>
          </p:nvSpPr>
          <p:spPr>
            <a:xfrm>
              <a:off x="533400" y="3772852"/>
              <a:ext cx="5951220" cy="448628"/>
            </a:xfrm>
            <a:prstGeom prst="rect">
              <a:avLst/>
            </a:prstGeom>
            <a:solidFill>
              <a:srgbClr val="F4F6FB"/>
            </a:solidFill>
            <a:ln>
              <a:noFill/>
            </a:ln>
          </p:spPr>
        </p:sp>
        <p:sp>
          <p:nvSpPr>
            <p:cNvPr id="26" name="TextBox 26"/>
            <p:cNvSpPr txBox="1"/>
            <p:nvPr/>
          </p:nvSpPr>
          <p:spPr>
            <a:xfrm>
              <a:off x="641223" y="3907631"/>
              <a:ext cx="516142" cy="249364"/>
            </a:xfrm>
            <a:prstGeom prst="rect">
              <a:avLst/>
            </a:prstGeom>
            <a:noFill/>
            <a:ln>
              <a:noFill/>
            </a:ln>
          </p:spPr>
          <p:txBody>
            <a:bodyPr wrap="none" lIns="0" tIns="0" rIns="0" bIns="0" anchor="t" anchorCtr="0">
              <a:spAutoFit/>
            </a:bodyPr>
            <a:lstStyle/>
            <a:p>
              <a:pPr algn="l"/>
              <a:r>
                <a:rPr lang="en-US" sz="1280" b="1" dirty="0">
                  <a:solidFill>
                    <a:srgbClr val="1F2937"/>
                  </a:solidFill>
                  <a:latin typeface="+mn-lt"/>
                  <a:ea typeface="+mn-ea"/>
                  <a:cs typeface="+mn-cs"/>
                </a:rPr>
                <a:t>Cache</a:t>
              </a:r>
            </a:p>
          </p:txBody>
        </p:sp>
        <p:sp>
          <p:nvSpPr>
            <p:cNvPr id="27" name="TextBox 27"/>
            <p:cNvSpPr txBox="1"/>
            <p:nvPr/>
          </p:nvSpPr>
          <p:spPr>
            <a:xfrm>
              <a:off x="1474660" y="3907631"/>
              <a:ext cx="1057425"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I 无效 Invalid</a:t>
              </a:r>
            </a:p>
          </p:txBody>
        </p:sp>
        <p:sp>
          <p:nvSpPr>
            <p:cNvPr id="28" name="TextBox 28"/>
            <p:cNvSpPr txBox="1"/>
            <p:nvPr/>
          </p:nvSpPr>
          <p:spPr>
            <a:xfrm>
              <a:off x="3378708" y="3907631"/>
              <a:ext cx="1285994"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本 Cache 无副本</a:t>
              </a:r>
            </a:p>
          </p:txBody>
        </p:sp>
        <p:sp>
          <p:nvSpPr>
            <p:cNvPr id="29" name="Rectangle 29"/>
            <p:cNvSpPr/>
            <p:nvPr/>
          </p:nvSpPr>
          <p:spPr>
            <a:xfrm>
              <a:off x="533400" y="4216718"/>
              <a:ext cx="5951220" cy="9525"/>
            </a:xfrm>
            <a:prstGeom prst="rect">
              <a:avLst/>
            </a:prstGeom>
            <a:solidFill>
              <a:srgbClr val="D9DFEA"/>
            </a:solidFill>
            <a:ln>
              <a:noFill/>
            </a:ln>
          </p:spPr>
        </p:sp>
        <p:sp>
          <p:nvSpPr>
            <p:cNvPr id="30" name="TextBox 30"/>
            <p:cNvSpPr txBox="1"/>
            <p:nvPr/>
          </p:nvSpPr>
          <p:spPr>
            <a:xfrm>
              <a:off x="641223" y="4470559"/>
              <a:ext cx="516142" cy="249364"/>
            </a:xfrm>
            <a:prstGeom prst="rect">
              <a:avLst/>
            </a:prstGeom>
            <a:noFill/>
            <a:ln>
              <a:noFill/>
            </a:ln>
          </p:spPr>
          <p:txBody>
            <a:bodyPr wrap="none" lIns="0" tIns="0" rIns="0" bIns="0" anchor="t" anchorCtr="0">
              <a:spAutoFit/>
            </a:bodyPr>
            <a:lstStyle/>
            <a:p>
              <a:pPr algn="l"/>
              <a:r>
                <a:rPr lang="en-US" sz="1280" b="1" dirty="0">
                  <a:solidFill>
                    <a:srgbClr val="1F2937"/>
                  </a:solidFill>
                  <a:latin typeface="+mn-lt"/>
                  <a:ea typeface="+mn-ea"/>
                  <a:cs typeface="+mn-cs"/>
                </a:rPr>
                <a:t>Cache</a:t>
              </a:r>
            </a:p>
          </p:txBody>
        </p:sp>
        <p:sp>
          <p:nvSpPr>
            <p:cNvPr id="31" name="TextBox 31"/>
            <p:cNvSpPr txBox="1"/>
            <p:nvPr/>
          </p:nvSpPr>
          <p:spPr>
            <a:xfrm>
              <a:off x="1474660" y="4470559"/>
              <a:ext cx="1138519"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S 共享 Shared</a:t>
              </a:r>
            </a:p>
          </p:txBody>
        </p:sp>
        <p:sp>
          <p:nvSpPr>
            <p:cNvPr id="32" name="TextBox 32"/>
            <p:cNvSpPr txBox="1"/>
            <p:nvPr/>
          </p:nvSpPr>
          <p:spPr>
            <a:xfrm>
              <a:off x="3378708" y="4357211"/>
              <a:ext cx="2800858" cy="476059"/>
            </a:xfrm>
            <a:prstGeom prst="rect">
              <a:avLst/>
            </a:prstGeom>
            <a:noFill/>
            <a:ln>
              <a:noFill/>
            </a:ln>
          </p:spPr>
          <p:txBody>
            <a:bodyPr wrap="none" lIns="0" tIns="0" rIns="0" bIns="0" anchor="t" anchorCtr="0">
              <a:spAutoFit/>
            </a:bodyPr>
            <a:lstStyle/>
            <a:p>
              <a:pPr algn="l">
                <a:lnSpc>
                  <a:spcPts val="1785"/>
                </a:lnSpc>
              </a:pPr>
              <a:r>
                <a:rPr lang="zh-CN" sz="1280" dirty="0">
                  <a:solidFill>
                    <a:srgbClr val="1F2937"/>
                  </a:solidFill>
                  <a:latin typeface="+mn-lt"/>
                  <a:ea typeface="+mn-ea"/>
                  <a:cs typeface="+mn-cs"/>
                </a:rPr>
                <a:t>至少 1 个副本，存储器中是最新值（只</a:t>
              </a:r>
              <a:br/>
              <a:r>
                <a:rPr lang="zh-CN" sz="1280" dirty="0">
                  <a:solidFill>
                    <a:srgbClr val="1F2937"/>
                  </a:solidFill>
                  <a:latin typeface="+mn-lt"/>
                  <a:ea typeface="+mn-ea"/>
                  <a:cs typeface="+mn-cs"/>
                </a:rPr>
                <a:t>读）</a:t>
              </a:r>
            </a:p>
          </p:txBody>
        </p:sp>
        <p:sp>
          <p:nvSpPr>
            <p:cNvPr id="33" name="Rectangle 33"/>
            <p:cNvSpPr/>
            <p:nvPr/>
          </p:nvSpPr>
          <p:spPr>
            <a:xfrm>
              <a:off x="533400" y="4892040"/>
              <a:ext cx="5951220" cy="9525"/>
            </a:xfrm>
            <a:prstGeom prst="rect">
              <a:avLst/>
            </a:prstGeom>
            <a:solidFill>
              <a:srgbClr val="D9DFEA"/>
            </a:solidFill>
            <a:ln>
              <a:noFill/>
            </a:ln>
          </p:spPr>
        </p:sp>
        <p:sp>
          <p:nvSpPr>
            <p:cNvPr id="34" name="Rectangle 34"/>
            <p:cNvSpPr/>
            <p:nvPr/>
          </p:nvSpPr>
          <p:spPr>
            <a:xfrm>
              <a:off x="533400" y="4896802"/>
              <a:ext cx="5951220" cy="448628"/>
            </a:xfrm>
            <a:prstGeom prst="rect">
              <a:avLst/>
            </a:prstGeom>
            <a:solidFill>
              <a:srgbClr val="F4F6FB"/>
            </a:solidFill>
            <a:ln>
              <a:noFill/>
            </a:ln>
          </p:spPr>
        </p:sp>
        <p:sp>
          <p:nvSpPr>
            <p:cNvPr id="35" name="TextBox 35"/>
            <p:cNvSpPr txBox="1"/>
            <p:nvPr/>
          </p:nvSpPr>
          <p:spPr>
            <a:xfrm>
              <a:off x="641223" y="5032534"/>
              <a:ext cx="516142" cy="249364"/>
            </a:xfrm>
            <a:prstGeom prst="rect">
              <a:avLst/>
            </a:prstGeom>
            <a:noFill/>
            <a:ln>
              <a:noFill/>
            </a:ln>
          </p:spPr>
          <p:txBody>
            <a:bodyPr wrap="none" lIns="0" tIns="0" rIns="0" bIns="0" anchor="t" anchorCtr="0">
              <a:spAutoFit/>
            </a:bodyPr>
            <a:lstStyle/>
            <a:p>
              <a:pPr algn="l"/>
              <a:r>
                <a:rPr lang="en-US" sz="1280" b="1" dirty="0">
                  <a:solidFill>
                    <a:srgbClr val="1F2937"/>
                  </a:solidFill>
                  <a:latin typeface="+mn-lt"/>
                  <a:ea typeface="+mn-ea"/>
                  <a:cs typeface="+mn-cs"/>
                </a:rPr>
                <a:t>Cache</a:t>
              </a:r>
            </a:p>
          </p:txBody>
        </p:sp>
        <p:sp>
          <p:nvSpPr>
            <p:cNvPr id="36" name="Rectangle 36"/>
            <p:cNvSpPr/>
            <p:nvPr/>
          </p:nvSpPr>
          <p:spPr>
            <a:xfrm>
              <a:off x="1376362" y="4906328"/>
              <a:ext cx="1884998" cy="429578"/>
            </a:xfrm>
            <a:prstGeom prst="rect">
              <a:avLst/>
            </a:prstGeom>
            <a:solidFill>
              <a:srgbClr val="FDEEE7"/>
            </a:solidFill>
            <a:ln>
              <a:noFill/>
            </a:ln>
          </p:spPr>
        </p:sp>
        <p:sp>
          <p:nvSpPr>
            <p:cNvPr id="37" name="TextBox 37"/>
            <p:cNvSpPr txBox="1"/>
            <p:nvPr/>
          </p:nvSpPr>
          <p:spPr>
            <a:xfrm>
              <a:off x="1474660" y="5032534"/>
              <a:ext cx="1312296"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M 修改 Modified</a:t>
              </a:r>
            </a:p>
          </p:txBody>
        </p:sp>
        <p:sp>
          <p:nvSpPr>
            <p:cNvPr id="38" name="TextBox 38"/>
            <p:cNvSpPr txBox="1"/>
            <p:nvPr/>
          </p:nvSpPr>
          <p:spPr>
            <a:xfrm>
              <a:off x="3378708" y="5032534"/>
              <a:ext cx="2942285"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唯一副本，存储器中是旧值（可读写）</a:t>
              </a:r>
            </a:p>
          </p:txBody>
        </p:sp>
        <p:sp>
          <p:nvSpPr>
            <p:cNvPr id="39" name="Rectangle 39"/>
            <p:cNvSpPr/>
            <p:nvPr/>
          </p:nvSpPr>
          <p:spPr>
            <a:xfrm>
              <a:off x="533400" y="1524000"/>
              <a:ext cx="5951220" cy="3821430"/>
            </a:xfrm>
            <a:prstGeom prst="rect">
              <a:avLst/>
            </a:prstGeom>
            <a:noFill/>
            <a:ln w="14288">
              <a:solidFill>
                <a:srgbClr val="D9DFEA"/>
              </a:solidFill>
            </a:ln>
          </p:spPr>
        </p:sp>
        <p:sp>
          <p:nvSpPr>
            <p:cNvPr id="40" name="Rectangle 40"/>
            <p:cNvSpPr/>
            <p:nvPr/>
          </p:nvSpPr>
          <p:spPr>
            <a:xfrm>
              <a:off x="1362075" y="1524000"/>
              <a:ext cx="9525" cy="3821430"/>
            </a:xfrm>
            <a:prstGeom prst="rect">
              <a:avLst/>
            </a:prstGeom>
            <a:solidFill>
              <a:srgbClr val="D9DFEA"/>
            </a:solidFill>
            <a:ln>
              <a:noFill/>
            </a:ln>
          </p:spPr>
        </p:sp>
        <p:sp>
          <p:nvSpPr>
            <p:cNvPr id="41" name="Rectangle 41"/>
            <p:cNvSpPr/>
            <p:nvPr/>
          </p:nvSpPr>
          <p:spPr>
            <a:xfrm>
              <a:off x="3266122" y="1524000"/>
              <a:ext cx="9525" cy="3821430"/>
            </a:xfrm>
            <a:prstGeom prst="rect">
              <a:avLst/>
            </a:prstGeom>
            <a:solidFill>
              <a:srgbClr val="D9DFEA"/>
            </a:solidFill>
            <a:ln>
              <a:noFill/>
            </a:ln>
          </p:spPr>
        </p:sp>
        <p:sp>
          <p:nvSpPr>
            <p:cNvPr id="42" name="TextBox 42"/>
            <p:cNvSpPr txBox="1"/>
            <p:nvPr/>
          </p:nvSpPr>
          <p:spPr>
            <a:xfrm>
              <a:off x="527685" y="5421154"/>
              <a:ext cx="4295585" cy="220028"/>
            </a:xfrm>
            <a:prstGeom prst="rect">
              <a:avLst/>
            </a:prstGeom>
            <a:noFill/>
            <a:ln>
              <a:noFill/>
            </a:ln>
          </p:spPr>
          <p:txBody>
            <a:bodyPr wrap="none" lIns="0" tIns="0" rIns="0" bIns="0" anchor="t" anchorCtr="0">
              <a:spAutoFit/>
            </a:bodyPr>
            <a:lstStyle/>
            <a:p>
              <a:pPr algn="l"/>
              <a:r>
                <a:rPr lang="zh-CN" sz="1120" dirty="0">
                  <a:solidFill>
                    <a:srgbClr val="5B6475"/>
                  </a:solidFill>
                  <a:latin typeface="+mn-lt"/>
                  <a:ea typeface="+mn-ea"/>
                  <a:cs typeface="+mn-cs"/>
                </a:rPr>
                <a:t>目录的 U/S/E 与 Cache 的 I/S/M 一一对应，只是站的位置不同</a:t>
              </a:r>
            </a:p>
          </p:txBody>
        </p:sp>
      </p:grpSp>
      <p:grpSp>
        <p:nvGrpSpPr>
          <p:cNvPr id="56" name="c2-card-1"/>
          <p:cNvGrpSpPr/>
          <p:nvPr/>
        </p:nvGrpSpPr>
        <p:grpSpPr>
          <a:xfrm>
            <a:off x="6789420" y="1524000"/>
            <a:ext cx="4869180" cy="4072890"/>
            <a:chOff x="6789420" y="1524000"/>
            <a:chExt cx="4869180" cy="4072890"/>
          </a:xfrm>
        </p:grpSpPr>
        <p:sp>
          <p:nvSpPr>
            <p:cNvPr id="44" name="Rectangle 44"/>
            <p:cNvSpPr/>
            <p:nvPr/>
          </p:nvSpPr>
          <p:spPr>
            <a:xfrm>
              <a:off x="6789420" y="1524000"/>
              <a:ext cx="4869180" cy="4072890"/>
            </a:xfrm>
            <a:prstGeom prst="roundRect">
              <a:avLst>
                <a:gd name="adj" fmla="val 3274"/>
              </a:avLst>
            </a:prstGeom>
            <a:solidFill>
              <a:srgbClr val="FFFFFF"/>
            </a:solidFill>
            <a:ln w="14288">
              <a:solidFill>
                <a:srgbClr val="D9DFEA"/>
              </a:solidFill>
            </a:ln>
          </p:spPr>
        </p:sp>
        <p:sp>
          <p:nvSpPr>
            <p:cNvPr id="45" name="Rectangle 45"/>
            <p:cNvSpPr/>
            <p:nvPr/>
          </p:nvSpPr>
          <p:spPr>
            <a:xfrm>
              <a:off x="6798945" y="1657350"/>
              <a:ext cx="47625" cy="3806190"/>
            </a:xfrm>
            <a:prstGeom prst="roundRect">
              <a:avLst>
                <a:gd name="adj" fmla="val 50000"/>
              </a:avLst>
            </a:prstGeom>
            <a:solidFill>
              <a:srgbClr val="334E68"/>
            </a:solidFill>
            <a:ln>
              <a:noFill/>
            </a:ln>
          </p:spPr>
        </p:sp>
        <p:sp>
          <p:nvSpPr>
            <p:cNvPr id="46" name="Rectangle 46"/>
            <p:cNvSpPr/>
            <p:nvPr/>
          </p:nvSpPr>
          <p:spPr>
            <a:xfrm>
              <a:off x="7037070" y="1733550"/>
              <a:ext cx="1204912" cy="257175"/>
            </a:xfrm>
            <a:prstGeom prst="roundRect">
              <a:avLst>
                <a:gd name="adj" fmla="val 50000"/>
              </a:avLst>
            </a:prstGeom>
            <a:solidFill>
              <a:srgbClr val="E7EDF3"/>
            </a:solidFill>
            <a:ln>
              <a:noFill/>
            </a:ln>
          </p:spPr>
        </p:sp>
        <p:sp>
          <p:nvSpPr>
            <p:cNvPr id="47" name="TextBox 47"/>
            <p:cNvSpPr txBox="1"/>
            <p:nvPr/>
          </p:nvSpPr>
          <p:spPr>
            <a:xfrm>
              <a:off x="7106577" y="1769269"/>
              <a:ext cx="1066851"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共享集与位向量</a:t>
              </a:r>
            </a:p>
          </p:txBody>
        </p:sp>
        <p:sp>
          <p:nvSpPr>
            <p:cNvPr id="48" name="Ellipse 48"/>
            <p:cNvSpPr/>
            <p:nvPr/>
          </p:nvSpPr>
          <p:spPr>
            <a:xfrm>
              <a:off x="7042785" y="2173605"/>
              <a:ext cx="64770" cy="64770"/>
            </a:xfrm>
            <a:prstGeom prst="ellipse">
              <a:avLst/>
            </a:prstGeom>
            <a:solidFill>
              <a:srgbClr val="334E68"/>
            </a:solidFill>
            <a:ln>
              <a:noFill/>
            </a:ln>
          </p:spPr>
        </p:sp>
        <p:sp>
          <p:nvSpPr>
            <p:cNvPr id="49" name="TextBox 49"/>
            <p:cNvSpPr txBox="1"/>
            <p:nvPr/>
          </p:nvSpPr>
          <p:spPr>
            <a:xfrm>
              <a:off x="7200900" y="2110740"/>
              <a:ext cx="4082415" cy="86487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目录状态信息记录哪些 Cache 有副本，最常用的</a:t>
              </a:r>
              <a:br/>
              <a:r>
                <a:rPr lang="zh-CN" sz="1500" dirty="0">
                  <a:solidFill>
                    <a:srgbClr val="1F2937"/>
                  </a:solidFill>
                  <a:latin typeface="+mn-lt"/>
                  <a:ea typeface="+mn-ea"/>
                  <a:cs typeface="+mn-cs"/>
                </a:rPr>
                <a:t>实现是位向量：每个存储块一个位向量，每一位</a:t>
              </a:r>
              <a:br/>
              <a:r>
                <a:rPr lang="zh-CN" sz="1500" dirty="0">
                  <a:solidFill>
                    <a:srgbClr val="1F2937"/>
                  </a:solidFill>
                  <a:latin typeface="+mn-lt"/>
                  <a:ea typeface="+mn-ea"/>
                  <a:cs typeface="+mn-cs"/>
                </a:rPr>
                <a:t>对应一个处理器</a:t>
              </a:r>
            </a:p>
          </p:txBody>
        </p:sp>
        <p:sp>
          <p:nvSpPr>
            <p:cNvPr id="50" name="Ellipse 50"/>
            <p:cNvSpPr/>
            <p:nvPr/>
          </p:nvSpPr>
          <p:spPr>
            <a:xfrm>
              <a:off x="7042785" y="3080385"/>
              <a:ext cx="64770" cy="64770"/>
            </a:xfrm>
            <a:prstGeom prst="ellipse">
              <a:avLst/>
            </a:prstGeom>
            <a:solidFill>
              <a:srgbClr val="334E68"/>
            </a:solidFill>
            <a:ln>
              <a:noFill/>
            </a:ln>
          </p:spPr>
        </p:sp>
        <p:sp>
          <p:nvSpPr>
            <p:cNvPr id="51" name="TextBox 51"/>
            <p:cNvSpPr txBox="1"/>
            <p:nvPr/>
          </p:nvSpPr>
          <p:spPr>
            <a:xfrm>
              <a:off x="7200900" y="3017520"/>
              <a:ext cx="3427476"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位向量指定的处理器集合称为共享集 G</a:t>
              </a:r>
            </a:p>
          </p:txBody>
        </p:sp>
        <p:sp>
          <p:nvSpPr>
            <p:cNvPr id="52" name="Ellipse 52"/>
            <p:cNvSpPr/>
            <p:nvPr/>
          </p:nvSpPr>
          <p:spPr>
            <a:xfrm>
              <a:off x="7042785" y="3415665"/>
              <a:ext cx="64770" cy="64770"/>
            </a:xfrm>
            <a:prstGeom prst="ellipse">
              <a:avLst/>
            </a:prstGeom>
            <a:solidFill>
              <a:srgbClr val="334E68"/>
            </a:solidFill>
            <a:ln>
              <a:noFill/>
            </a:ln>
          </p:spPr>
        </p:sp>
        <p:sp>
          <p:nvSpPr>
            <p:cNvPr id="53" name="TextBox 53"/>
            <p:cNvSpPr txBox="1"/>
            <p:nvPr/>
          </p:nvSpPr>
          <p:spPr>
            <a:xfrm>
              <a:off x="7200900" y="3352800"/>
              <a:ext cx="3968115"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N 个处理器、每节点 m 个存储块：目录共 N ×</a:t>
              </a:r>
              <a:br/>
              <a:r>
                <a:rPr lang="zh-CN" sz="1500" dirty="0">
                  <a:solidFill>
                    <a:srgbClr val="1F2937"/>
                  </a:solidFill>
                  <a:latin typeface="+mn-lt"/>
                  <a:ea typeface="+mn-ea"/>
                  <a:cs typeface="+mn-cs"/>
                </a:rPr>
                <a:t>m 项，每项 N 位，总信息量 m × N²，是 O(N²)</a:t>
              </a:r>
            </a:p>
          </p:txBody>
        </p:sp>
        <p:sp>
          <p:nvSpPr>
            <p:cNvPr id="54" name="Ellipse 54"/>
            <p:cNvSpPr/>
            <p:nvPr/>
          </p:nvSpPr>
          <p:spPr>
            <a:xfrm>
              <a:off x="7042785" y="4036695"/>
              <a:ext cx="64770" cy="64770"/>
            </a:xfrm>
            <a:prstGeom prst="ellipse">
              <a:avLst/>
            </a:prstGeom>
            <a:solidFill>
              <a:srgbClr val="334E68"/>
            </a:solidFill>
            <a:ln>
              <a:noFill/>
            </a:ln>
          </p:spPr>
        </p:sp>
        <p:sp>
          <p:nvSpPr>
            <p:cNvPr id="55" name="TextBox 55"/>
            <p:cNvSpPr txBox="1"/>
            <p:nvPr/>
          </p:nvSpPr>
          <p:spPr>
            <a:xfrm>
              <a:off x="7200900" y="3973830"/>
              <a:ext cx="4082415"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可以只给进入 Cache 的块设目录项（动态法），</a:t>
              </a:r>
              <a:br/>
              <a:r>
                <a:rPr lang="zh-CN" sz="1500" dirty="0">
                  <a:solidFill>
                    <a:srgbClr val="1F2937"/>
                  </a:solidFill>
                  <a:latin typeface="+mn-lt"/>
                  <a:ea typeface="+mn-ea"/>
                  <a:cs typeface="+mn-cs"/>
                </a:rPr>
                <a:t>也可以让目录项的位向量长度固定（静态法）</a:t>
              </a:r>
            </a:p>
          </p:txBody>
        </p:sp>
      </p:grpSp>
      <p:grpSp>
        <p:nvGrpSpPr>
          <p:cNvPr id="59" name="footer"/>
          <p:cNvGrpSpPr/>
          <p:nvPr/>
        </p:nvGrpSpPr>
        <p:grpSpPr>
          <a:xfrm>
            <a:off x="528447" y="6581299"/>
            <a:ext cx="11135106" cy="190690"/>
            <a:chOff x="528447" y="6581299"/>
            <a:chExt cx="11135106" cy="190690"/>
          </a:xfrm>
        </p:grpSpPr>
        <p:sp>
          <p:nvSpPr>
            <p:cNvPr id="57" name="TextBox 57"/>
            <p:cNvSpPr txBox="1"/>
            <p:nvPr/>
          </p:nvSpPr>
          <p:spPr>
            <a:xfrm>
              <a:off x="528447" y="6581299"/>
              <a:ext cx="2120748"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并行与分布式计算 · 第7章 体系结构</a:t>
              </a:r>
            </a:p>
          </p:txBody>
        </p:sp>
        <p:sp>
          <p:nvSpPr>
            <p:cNvPr id="58" name="TextBox 58"/>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31</a:t>
              </a:r>
            </a:p>
          </p:txBody>
        </p:sp>
      </p:grpSp>
    </p:spTree>
  </p:cSld>
  <p:clrMapOvr>
    <a:masterClrMapping/>
  </p:clrMapOvr>
  <p:transition xmlns:p14="http://schemas.microsoft.com/office/powerpoint/2010/main" p14:dur="400">
    <p:fade/>
  </p:transition>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3115437" cy="909257"/>
            <a:chOff x="520446" y="342900"/>
            <a:chExt cx="3115437" cy="909257"/>
          </a:xfrm>
        </p:grpSpPr>
        <p:sp>
          <p:nvSpPr>
            <p:cNvPr id="2" name="Rectangle 2"/>
            <p:cNvSpPr/>
            <p:nvPr/>
          </p:nvSpPr>
          <p:spPr>
            <a:xfrm>
              <a:off x="533400" y="342900"/>
              <a:ext cx="2586038" cy="266700"/>
            </a:xfrm>
            <a:prstGeom prst="roundRect">
              <a:avLst>
                <a:gd name="adj" fmla="val 50000"/>
              </a:avLst>
            </a:prstGeom>
            <a:solidFill>
              <a:srgbClr val="E7EDF3"/>
            </a:solidFill>
            <a:ln>
              <a:noFill/>
            </a:ln>
          </p:spPr>
        </p:sp>
        <p:sp>
          <p:nvSpPr>
            <p:cNvPr id="3" name="TextBox 3"/>
            <p:cNvSpPr txBox="1"/>
            <p:nvPr/>
          </p:nvSpPr>
          <p:spPr>
            <a:xfrm>
              <a:off x="587464" y="407194"/>
              <a:ext cx="2476957"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第7章 体系结构 · Cache 一致性问题</a:t>
              </a:r>
            </a:p>
          </p:txBody>
        </p:sp>
        <p:sp>
          <p:nvSpPr>
            <p:cNvPr id="4" name="TextBox 4"/>
            <p:cNvSpPr txBox="1"/>
            <p:nvPr/>
          </p:nvSpPr>
          <p:spPr>
            <a:xfrm>
              <a:off x="520446" y="753428"/>
              <a:ext cx="3115437"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节点之间的九种消息</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65" name="c1-table-1"/>
          <p:cNvGrpSpPr/>
          <p:nvPr/>
        </p:nvGrpSpPr>
        <p:grpSpPr>
          <a:xfrm>
            <a:off x="528447" y="1524000"/>
            <a:ext cx="11130153" cy="4077366"/>
            <a:chOff x="528447" y="1524000"/>
            <a:chExt cx="11130153" cy="4077366"/>
          </a:xfrm>
        </p:grpSpPr>
        <p:sp>
          <p:nvSpPr>
            <p:cNvPr id="7" name="Rectangle 7"/>
            <p:cNvSpPr/>
            <p:nvPr/>
          </p:nvSpPr>
          <p:spPr>
            <a:xfrm>
              <a:off x="533400" y="1524000"/>
              <a:ext cx="11125200" cy="381000"/>
            </a:xfrm>
            <a:prstGeom prst="rect">
              <a:avLst/>
            </a:prstGeom>
            <a:solidFill>
              <a:srgbClr val="334E68"/>
            </a:solidFill>
            <a:ln>
              <a:noFill/>
            </a:ln>
          </p:spPr>
        </p:sp>
        <p:sp>
          <p:nvSpPr>
            <p:cNvPr id="8" name="TextBox 8"/>
            <p:cNvSpPr txBox="1"/>
            <p:nvPr/>
          </p:nvSpPr>
          <p:spPr>
            <a:xfrm>
              <a:off x="902208" y="1641157"/>
              <a:ext cx="152019"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源</a:t>
              </a:r>
            </a:p>
          </p:txBody>
        </p:sp>
        <p:sp>
          <p:nvSpPr>
            <p:cNvPr id="9" name="TextBox 9"/>
            <p:cNvSpPr txBox="1"/>
            <p:nvPr/>
          </p:nvSpPr>
          <p:spPr>
            <a:xfrm>
              <a:off x="1722120" y="1641157"/>
              <a:ext cx="293370"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目标</a:t>
              </a:r>
            </a:p>
          </p:txBody>
        </p:sp>
        <p:sp>
          <p:nvSpPr>
            <p:cNvPr id="10" name="TextBox 10"/>
            <p:cNvSpPr txBox="1"/>
            <p:nvPr/>
          </p:nvSpPr>
          <p:spPr>
            <a:xfrm>
              <a:off x="3168015" y="1641157"/>
              <a:ext cx="293370"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消息</a:t>
              </a:r>
            </a:p>
          </p:txBody>
        </p:sp>
        <p:sp>
          <p:nvSpPr>
            <p:cNvPr id="11" name="TextBox 11"/>
            <p:cNvSpPr txBox="1"/>
            <p:nvPr/>
          </p:nvSpPr>
          <p:spPr>
            <a:xfrm>
              <a:off x="7840980" y="1641157"/>
              <a:ext cx="293370"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含义</a:t>
              </a:r>
            </a:p>
          </p:txBody>
        </p:sp>
        <p:sp>
          <p:nvSpPr>
            <p:cNvPr id="12" name="TextBox 12"/>
            <p:cNvSpPr txBox="1"/>
            <p:nvPr/>
          </p:nvSpPr>
          <p:spPr>
            <a:xfrm>
              <a:off x="929758" y="2023110"/>
              <a:ext cx="96919" cy="205359"/>
            </a:xfrm>
            <a:prstGeom prst="rect">
              <a:avLst/>
            </a:prstGeom>
            <a:noFill/>
            <a:ln>
              <a:noFill/>
            </a:ln>
          </p:spPr>
          <p:txBody>
            <a:bodyPr wrap="none" lIns="0" tIns="0" rIns="0" bIns="0" anchor="t" anchorCtr="0">
              <a:spAutoFit/>
            </a:bodyPr>
            <a:lstStyle/>
            <a:p>
              <a:pPr algn="ctr"/>
              <a:r>
                <a:rPr lang="en-US" sz="1050" b="1" dirty="0">
                  <a:solidFill>
                    <a:srgbClr val="1F2937"/>
                  </a:solidFill>
                  <a:latin typeface="+mn-lt"/>
                  <a:ea typeface="+mn-ea"/>
                  <a:cs typeface="+mn-cs"/>
                </a:rPr>
                <a:t>A</a:t>
              </a:r>
            </a:p>
          </p:txBody>
        </p:sp>
        <p:sp>
          <p:nvSpPr>
            <p:cNvPr id="13" name="TextBox 13"/>
            <p:cNvSpPr txBox="1"/>
            <p:nvPr/>
          </p:nvSpPr>
          <p:spPr>
            <a:xfrm>
              <a:off x="1822399" y="2023110"/>
              <a:ext cx="92812" cy="205359"/>
            </a:xfrm>
            <a:prstGeom prst="rect">
              <a:avLst/>
            </a:prstGeom>
            <a:noFill/>
            <a:ln>
              <a:noFill/>
            </a:ln>
          </p:spPr>
          <p:txBody>
            <a:bodyPr wrap="none" lIns="0" tIns="0" rIns="0" bIns="0" anchor="t" anchorCtr="0">
              <a:spAutoFit/>
            </a:bodyPr>
            <a:lstStyle/>
            <a:p>
              <a:pPr algn="ctr"/>
              <a:r>
                <a:rPr lang="en-US" sz="1050" dirty="0">
                  <a:solidFill>
                    <a:srgbClr val="1F2937"/>
                  </a:solidFill>
                  <a:latin typeface="+mn-lt"/>
                  <a:ea typeface="+mn-ea"/>
                  <a:cs typeface="+mn-cs"/>
                </a:rPr>
                <a:t>B</a:t>
              </a:r>
            </a:p>
          </p:txBody>
        </p:sp>
        <p:sp>
          <p:nvSpPr>
            <p:cNvPr id="14" name="TextBox 14"/>
            <p:cNvSpPr txBox="1"/>
            <p:nvPr/>
          </p:nvSpPr>
          <p:spPr>
            <a:xfrm>
              <a:off x="2408301" y="2023110"/>
              <a:ext cx="720090" cy="205359"/>
            </a:xfrm>
            <a:prstGeom prst="rect">
              <a:avLst/>
            </a:prstGeom>
            <a:noFill/>
            <a:ln>
              <a:noFill/>
            </a:ln>
          </p:spPr>
          <p:txBody>
            <a:bodyPr wrap="none" lIns="0" tIns="0" rIns="0" bIns="0" anchor="t" anchorCtr="0">
              <a:spAutoFit/>
            </a:bodyPr>
            <a:lstStyle/>
            <a:p>
              <a:pPr algn="l"/>
              <a:r>
                <a:rPr lang="en-US" sz="1050" dirty="0">
                  <a:solidFill>
                    <a:srgbClr val="1F2937"/>
                  </a:solidFill>
                  <a:latin typeface="+mn-lt"/>
                  <a:ea typeface="+mn-ea"/>
                  <a:cs typeface="+mn-cs"/>
                </a:rPr>
                <a:t>RdMiss(K)</a:t>
              </a:r>
            </a:p>
          </p:txBody>
        </p:sp>
        <p:sp>
          <p:nvSpPr>
            <p:cNvPr id="15" name="TextBox 15"/>
            <p:cNvSpPr txBox="1"/>
            <p:nvPr/>
          </p:nvSpPr>
          <p:spPr>
            <a:xfrm>
              <a:off x="4410456" y="2023110"/>
              <a:ext cx="2415235"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请求数据块 K，并申请 A 加入共享集 G</a:t>
              </a:r>
            </a:p>
          </p:txBody>
        </p:sp>
        <p:sp>
          <p:nvSpPr>
            <p:cNvPr id="16" name="Rectangle 16"/>
            <p:cNvSpPr/>
            <p:nvPr/>
          </p:nvSpPr>
          <p:spPr>
            <a:xfrm>
              <a:off x="533400" y="2282190"/>
              <a:ext cx="11125200" cy="9525"/>
            </a:xfrm>
            <a:prstGeom prst="rect">
              <a:avLst/>
            </a:prstGeom>
            <a:solidFill>
              <a:srgbClr val="D9DFEA"/>
            </a:solidFill>
            <a:ln>
              <a:noFill/>
            </a:ln>
          </p:spPr>
        </p:sp>
        <p:sp>
          <p:nvSpPr>
            <p:cNvPr id="17" name="Rectangle 17"/>
            <p:cNvSpPr/>
            <p:nvPr/>
          </p:nvSpPr>
          <p:spPr>
            <a:xfrm>
              <a:off x="533400" y="2286952"/>
              <a:ext cx="11125200" cy="381000"/>
            </a:xfrm>
            <a:prstGeom prst="rect">
              <a:avLst/>
            </a:prstGeom>
            <a:solidFill>
              <a:srgbClr val="F4F6FB"/>
            </a:solidFill>
            <a:ln>
              <a:noFill/>
            </a:ln>
          </p:spPr>
        </p:sp>
        <p:sp>
          <p:nvSpPr>
            <p:cNvPr id="18" name="TextBox 18"/>
            <p:cNvSpPr txBox="1"/>
            <p:nvPr/>
          </p:nvSpPr>
          <p:spPr>
            <a:xfrm>
              <a:off x="929758" y="2404110"/>
              <a:ext cx="96919" cy="205359"/>
            </a:xfrm>
            <a:prstGeom prst="rect">
              <a:avLst/>
            </a:prstGeom>
            <a:noFill/>
            <a:ln>
              <a:noFill/>
            </a:ln>
          </p:spPr>
          <p:txBody>
            <a:bodyPr wrap="none" lIns="0" tIns="0" rIns="0" bIns="0" anchor="t" anchorCtr="0">
              <a:spAutoFit/>
            </a:bodyPr>
            <a:lstStyle/>
            <a:p>
              <a:pPr algn="ctr"/>
              <a:r>
                <a:rPr lang="en-US" sz="1050" b="1" dirty="0">
                  <a:solidFill>
                    <a:srgbClr val="1F2937"/>
                  </a:solidFill>
                  <a:latin typeface="+mn-lt"/>
                  <a:ea typeface="+mn-ea"/>
                  <a:cs typeface="+mn-cs"/>
                </a:rPr>
                <a:t>A</a:t>
              </a:r>
            </a:p>
          </p:txBody>
        </p:sp>
        <p:sp>
          <p:nvSpPr>
            <p:cNvPr id="19" name="TextBox 19"/>
            <p:cNvSpPr txBox="1"/>
            <p:nvPr/>
          </p:nvSpPr>
          <p:spPr>
            <a:xfrm>
              <a:off x="1822399" y="2404110"/>
              <a:ext cx="92812" cy="205359"/>
            </a:xfrm>
            <a:prstGeom prst="rect">
              <a:avLst/>
            </a:prstGeom>
            <a:noFill/>
            <a:ln>
              <a:noFill/>
            </a:ln>
          </p:spPr>
          <p:txBody>
            <a:bodyPr wrap="none" lIns="0" tIns="0" rIns="0" bIns="0" anchor="t" anchorCtr="0">
              <a:spAutoFit/>
            </a:bodyPr>
            <a:lstStyle/>
            <a:p>
              <a:pPr algn="ctr"/>
              <a:r>
                <a:rPr lang="en-US" sz="1050" dirty="0">
                  <a:solidFill>
                    <a:srgbClr val="1F2937"/>
                  </a:solidFill>
                  <a:latin typeface="+mn-lt"/>
                  <a:ea typeface="+mn-ea"/>
                  <a:cs typeface="+mn-cs"/>
                </a:rPr>
                <a:t>B</a:t>
              </a:r>
            </a:p>
          </p:txBody>
        </p:sp>
        <p:sp>
          <p:nvSpPr>
            <p:cNvPr id="20" name="TextBox 20"/>
            <p:cNvSpPr txBox="1"/>
            <p:nvPr/>
          </p:nvSpPr>
          <p:spPr>
            <a:xfrm>
              <a:off x="2408301" y="2404110"/>
              <a:ext cx="749046" cy="205359"/>
            </a:xfrm>
            <a:prstGeom prst="rect">
              <a:avLst/>
            </a:prstGeom>
            <a:noFill/>
            <a:ln>
              <a:noFill/>
            </a:ln>
          </p:spPr>
          <p:txBody>
            <a:bodyPr wrap="none" lIns="0" tIns="0" rIns="0" bIns="0" anchor="t" anchorCtr="0">
              <a:spAutoFit/>
            </a:bodyPr>
            <a:lstStyle/>
            <a:p>
              <a:pPr algn="l"/>
              <a:r>
                <a:rPr lang="en-US" sz="1050" dirty="0">
                  <a:solidFill>
                    <a:srgbClr val="1F2937"/>
                  </a:solidFill>
                  <a:latin typeface="+mn-lt"/>
                  <a:ea typeface="+mn-ea"/>
                  <a:cs typeface="+mn-cs"/>
                </a:rPr>
                <a:t>WtMiss(K)</a:t>
              </a:r>
            </a:p>
          </p:txBody>
        </p:sp>
        <p:sp>
          <p:nvSpPr>
            <p:cNvPr id="21" name="TextBox 21"/>
            <p:cNvSpPr txBox="1"/>
            <p:nvPr/>
          </p:nvSpPr>
          <p:spPr>
            <a:xfrm>
              <a:off x="4410456" y="2404110"/>
              <a:ext cx="2824886"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请求数据块 K，并申请 A 独占（G 中只留 A）</a:t>
              </a:r>
            </a:p>
          </p:txBody>
        </p:sp>
        <p:sp>
          <p:nvSpPr>
            <p:cNvPr id="22" name="Rectangle 22"/>
            <p:cNvSpPr/>
            <p:nvPr/>
          </p:nvSpPr>
          <p:spPr>
            <a:xfrm>
              <a:off x="533400" y="2663190"/>
              <a:ext cx="11125200" cy="9525"/>
            </a:xfrm>
            <a:prstGeom prst="rect">
              <a:avLst/>
            </a:prstGeom>
            <a:solidFill>
              <a:srgbClr val="D9DFEA"/>
            </a:solidFill>
            <a:ln>
              <a:noFill/>
            </a:ln>
          </p:spPr>
        </p:sp>
        <p:sp>
          <p:nvSpPr>
            <p:cNvPr id="23" name="TextBox 23"/>
            <p:cNvSpPr txBox="1"/>
            <p:nvPr/>
          </p:nvSpPr>
          <p:spPr>
            <a:xfrm>
              <a:off x="929758" y="2785110"/>
              <a:ext cx="96919" cy="205359"/>
            </a:xfrm>
            <a:prstGeom prst="rect">
              <a:avLst/>
            </a:prstGeom>
            <a:noFill/>
            <a:ln>
              <a:noFill/>
            </a:ln>
          </p:spPr>
          <p:txBody>
            <a:bodyPr wrap="none" lIns="0" tIns="0" rIns="0" bIns="0" anchor="t" anchorCtr="0">
              <a:spAutoFit/>
            </a:bodyPr>
            <a:lstStyle/>
            <a:p>
              <a:pPr algn="ctr"/>
              <a:r>
                <a:rPr lang="en-US" sz="1050" b="1" dirty="0">
                  <a:solidFill>
                    <a:srgbClr val="1F2937"/>
                  </a:solidFill>
                  <a:latin typeface="+mn-lt"/>
                  <a:ea typeface="+mn-ea"/>
                  <a:cs typeface="+mn-cs"/>
                </a:rPr>
                <a:t>B</a:t>
              </a:r>
            </a:p>
          </p:txBody>
        </p:sp>
        <p:sp>
          <p:nvSpPr>
            <p:cNvPr id="24" name="TextBox 24"/>
            <p:cNvSpPr txBox="1"/>
            <p:nvPr/>
          </p:nvSpPr>
          <p:spPr>
            <a:xfrm>
              <a:off x="1822399" y="2785110"/>
              <a:ext cx="92812" cy="205359"/>
            </a:xfrm>
            <a:prstGeom prst="rect">
              <a:avLst/>
            </a:prstGeom>
            <a:noFill/>
            <a:ln>
              <a:noFill/>
            </a:ln>
          </p:spPr>
          <p:txBody>
            <a:bodyPr wrap="none" lIns="0" tIns="0" rIns="0" bIns="0" anchor="t" anchorCtr="0">
              <a:spAutoFit/>
            </a:bodyPr>
            <a:lstStyle/>
            <a:p>
              <a:pPr algn="ctr"/>
              <a:r>
                <a:rPr lang="en-US" sz="1050" dirty="0">
                  <a:solidFill>
                    <a:srgbClr val="1F2937"/>
                  </a:solidFill>
                  <a:latin typeface="+mn-lt"/>
                  <a:ea typeface="+mn-ea"/>
                  <a:cs typeface="+mn-cs"/>
                </a:rPr>
                <a:t>A</a:t>
              </a:r>
            </a:p>
          </p:txBody>
        </p:sp>
        <p:sp>
          <p:nvSpPr>
            <p:cNvPr id="25" name="TextBox 25"/>
            <p:cNvSpPr txBox="1"/>
            <p:nvPr/>
          </p:nvSpPr>
          <p:spPr>
            <a:xfrm>
              <a:off x="2408301" y="2785110"/>
              <a:ext cx="567191" cy="205359"/>
            </a:xfrm>
            <a:prstGeom prst="rect">
              <a:avLst/>
            </a:prstGeom>
            <a:noFill/>
            <a:ln>
              <a:noFill/>
            </a:ln>
          </p:spPr>
          <p:txBody>
            <a:bodyPr wrap="none" lIns="0" tIns="0" rIns="0" bIns="0" anchor="t" anchorCtr="0">
              <a:spAutoFit/>
            </a:bodyPr>
            <a:lstStyle/>
            <a:p>
              <a:pPr algn="l"/>
              <a:r>
                <a:rPr lang="en-US" sz="1050" dirty="0">
                  <a:solidFill>
                    <a:srgbClr val="1F2937"/>
                  </a:solidFill>
                  <a:latin typeface="+mn-lt"/>
                  <a:ea typeface="+mn-ea"/>
                  <a:cs typeface="+mn-cs"/>
                </a:rPr>
                <a:t>Data(K)</a:t>
              </a:r>
            </a:p>
          </p:txBody>
        </p:sp>
        <p:sp>
          <p:nvSpPr>
            <p:cNvPr id="26" name="TextBox 26"/>
            <p:cNvSpPr txBox="1"/>
            <p:nvPr/>
          </p:nvSpPr>
          <p:spPr>
            <a:xfrm>
              <a:off x="4410456" y="2785110"/>
              <a:ext cx="1141476"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返回所请求的数据</a:t>
              </a:r>
            </a:p>
          </p:txBody>
        </p:sp>
        <p:sp>
          <p:nvSpPr>
            <p:cNvPr id="27" name="Rectangle 27"/>
            <p:cNvSpPr/>
            <p:nvPr/>
          </p:nvSpPr>
          <p:spPr>
            <a:xfrm>
              <a:off x="533400" y="3045142"/>
              <a:ext cx="11125200" cy="9525"/>
            </a:xfrm>
            <a:prstGeom prst="rect">
              <a:avLst/>
            </a:prstGeom>
            <a:solidFill>
              <a:srgbClr val="D9DFEA"/>
            </a:solidFill>
            <a:ln>
              <a:noFill/>
            </a:ln>
          </p:spPr>
        </p:sp>
        <p:sp>
          <p:nvSpPr>
            <p:cNvPr id="28" name="Rectangle 28"/>
            <p:cNvSpPr/>
            <p:nvPr/>
          </p:nvSpPr>
          <p:spPr>
            <a:xfrm>
              <a:off x="533400" y="3049905"/>
              <a:ext cx="11125200" cy="381000"/>
            </a:xfrm>
            <a:prstGeom prst="rect">
              <a:avLst/>
            </a:prstGeom>
            <a:solidFill>
              <a:srgbClr val="F4F6FB"/>
            </a:solidFill>
            <a:ln>
              <a:noFill/>
            </a:ln>
          </p:spPr>
        </p:sp>
        <p:sp>
          <p:nvSpPr>
            <p:cNvPr id="29" name="TextBox 29"/>
            <p:cNvSpPr txBox="1"/>
            <p:nvPr/>
          </p:nvSpPr>
          <p:spPr>
            <a:xfrm>
              <a:off x="929758" y="3167062"/>
              <a:ext cx="96919" cy="205359"/>
            </a:xfrm>
            <a:prstGeom prst="rect">
              <a:avLst/>
            </a:prstGeom>
            <a:noFill/>
            <a:ln>
              <a:noFill/>
            </a:ln>
          </p:spPr>
          <p:txBody>
            <a:bodyPr wrap="none" lIns="0" tIns="0" rIns="0" bIns="0" anchor="t" anchorCtr="0">
              <a:spAutoFit/>
            </a:bodyPr>
            <a:lstStyle/>
            <a:p>
              <a:pPr algn="ctr"/>
              <a:r>
                <a:rPr lang="en-US" sz="1050" b="1" dirty="0">
                  <a:solidFill>
                    <a:srgbClr val="1F2937"/>
                  </a:solidFill>
                  <a:latin typeface="+mn-lt"/>
                  <a:ea typeface="+mn-ea"/>
                  <a:cs typeface="+mn-cs"/>
                </a:rPr>
                <a:t>B</a:t>
              </a:r>
            </a:p>
          </p:txBody>
        </p:sp>
        <p:sp>
          <p:nvSpPr>
            <p:cNvPr id="30" name="TextBox 30"/>
            <p:cNvSpPr txBox="1"/>
            <p:nvPr/>
          </p:nvSpPr>
          <p:spPr>
            <a:xfrm>
              <a:off x="1822399" y="3167062"/>
              <a:ext cx="92812" cy="205359"/>
            </a:xfrm>
            <a:prstGeom prst="rect">
              <a:avLst/>
            </a:prstGeom>
            <a:noFill/>
            <a:ln>
              <a:noFill/>
            </a:ln>
          </p:spPr>
          <p:txBody>
            <a:bodyPr wrap="none" lIns="0" tIns="0" rIns="0" bIns="0" anchor="t" anchorCtr="0">
              <a:spAutoFit/>
            </a:bodyPr>
            <a:lstStyle/>
            <a:p>
              <a:pPr algn="ctr"/>
              <a:r>
                <a:rPr lang="en-US" sz="1050" dirty="0">
                  <a:solidFill>
                    <a:srgbClr val="1F2937"/>
                  </a:solidFill>
                  <a:latin typeface="+mn-lt"/>
                  <a:ea typeface="+mn-ea"/>
                  <a:cs typeface="+mn-cs"/>
                </a:rPr>
                <a:t>C</a:t>
              </a:r>
            </a:p>
          </p:txBody>
        </p:sp>
        <p:sp>
          <p:nvSpPr>
            <p:cNvPr id="31" name="TextBox 31"/>
            <p:cNvSpPr txBox="1"/>
            <p:nvPr/>
          </p:nvSpPr>
          <p:spPr>
            <a:xfrm>
              <a:off x="2408301" y="3167062"/>
              <a:ext cx="924625" cy="205359"/>
            </a:xfrm>
            <a:prstGeom prst="rect">
              <a:avLst/>
            </a:prstGeom>
            <a:noFill/>
            <a:ln>
              <a:noFill/>
            </a:ln>
          </p:spPr>
          <p:txBody>
            <a:bodyPr wrap="none" lIns="0" tIns="0" rIns="0" bIns="0" anchor="t" anchorCtr="0">
              <a:spAutoFit/>
            </a:bodyPr>
            <a:lstStyle/>
            <a:p>
              <a:pPr algn="l"/>
              <a:r>
                <a:rPr lang="en-US" sz="1050" dirty="0">
                  <a:solidFill>
                    <a:srgbClr val="1F2937"/>
                  </a:solidFill>
                  <a:latin typeface="+mn-lt"/>
                  <a:ea typeface="+mn-ea"/>
                  <a:cs typeface="+mn-cs"/>
                </a:rPr>
                <a:t>Invalidate(K)</a:t>
              </a:r>
            </a:p>
          </p:txBody>
        </p:sp>
        <p:sp>
          <p:nvSpPr>
            <p:cNvPr id="32" name="TextBox 32"/>
            <p:cNvSpPr txBox="1"/>
            <p:nvPr/>
          </p:nvSpPr>
          <p:spPr>
            <a:xfrm>
              <a:off x="4410456" y="3167062"/>
              <a:ext cx="1626337"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请 C 作废数据块 K 的副本</a:t>
              </a:r>
            </a:p>
          </p:txBody>
        </p:sp>
        <p:sp>
          <p:nvSpPr>
            <p:cNvPr id="33" name="Rectangle 33"/>
            <p:cNvSpPr/>
            <p:nvPr/>
          </p:nvSpPr>
          <p:spPr>
            <a:xfrm>
              <a:off x="533400" y="3426142"/>
              <a:ext cx="11125200" cy="9525"/>
            </a:xfrm>
            <a:prstGeom prst="rect">
              <a:avLst/>
            </a:prstGeom>
            <a:solidFill>
              <a:srgbClr val="D9DFEA"/>
            </a:solidFill>
            <a:ln>
              <a:noFill/>
            </a:ln>
          </p:spPr>
        </p:sp>
        <p:sp>
          <p:nvSpPr>
            <p:cNvPr id="34" name="TextBox 34"/>
            <p:cNvSpPr txBox="1"/>
            <p:nvPr/>
          </p:nvSpPr>
          <p:spPr>
            <a:xfrm>
              <a:off x="929758" y="3548062"/>
              <a:ext cx="96919" cy="205359"/>
            </a:xfrm>
            <a:prstGeom prst="rect">
              <a:avLst/>
            </a:prstGeom>
            <a:noFill/>
            <a:ln>
              <a:noFill/>
            </a:ln>
          </p:spPr>
          <p:txBody>
            <a:bodyPr wrap="none" lIns="0" tIns="0" rIns="0" bIns="0" anchor="t" anchorCtr="0">
              <a:spAutoFit/>
            </a:bodyPr>
            <a:lstStyle/>
            <a:p>
              <a:pPr algn="ctr"/>
              <a:r>
                <a:rPr lang="en-US" sz="1050" b="1" dirty="0">
                  <a:solidFill>
                    <a:srgbClr val="1F2937"/>
                  </a:solidFill>
                  <a:latin typeface="+mn-lt"/>
                  <a:ea typeface="+mn-ea"/>
                  <a:cs typeface="+mn-cs"/>
                </a:rPr>
                <a:t>B</a:t>
              </a:r>
            </a:p>
          </p:txBody>
        </p:sp>
        <p:sp>
          <p:nvSpPr>
            <p:cNvPr id="35" name="TextBox 35"/>
            <p:cNvSpPr txBox="1"/>
            <p:nvPr/>
          </p:nvSpPr>
          <p:spPr>
            <a:xfrm>
              <a:off x="1822399" y="3548062"/>
              <a:ext cx="92812" cy="205359"/>
            </a:xfrm>
            <a:prstGeom prst="rect">
              <a:avLst/>
            </a:prstGeom>
            <a:noFill/>
            <a:ln>
              <a:noFill/>
            </a:ln>
          </p:spPr>
          <p:txBody>
            <a:bodyPr wrap="none" lIns="0" tIns="0" rIns="0" bIns="0" anchor="t" anchorCtr="0">
              <a:spAutoFit/>
            </a:bodyPr>
            <a:lstStyle/>
            <a:p>
              <a:pPr algn="ctr"/>
              <a:r>
                <a:rPr lang="en-US" sz="1050" dirty="0">
                  <a:solidFill>
                    <a:srgbClr val="1F2937"/>
                  </a:solidFill>
                  <a:latin typeface="+mn-lt"/>
                  <a:ea typeface="+mn-ea"/>
                  <a:cs typeface="+mn-cs"/>
                </a:rPr>
                <a:t>C</a:t>
              </a:r>
            </a:p>
          </p:txBody>
        </p:sp>
        <p:sp>
          <p:nvSpPr>
            <p:cNvPr id="36" name="TextBox 36"/>
            <p:cNvSpPr txBox="1"/>
            <p:nvPr/>
          </p:nvSpPr>
          <p:spPr>
            <a:xfrm>
              <a:off x="2408301" y="3548062"/>
              <a:ext cx="727329" cy="205359"/>
            </a:xfrm>
            <a:prstGeom prst="rect">
              <a:avLst/>
            </a:prstGeom>
            <a:noFill/>
            <a:ln>
              <a:noFill/>
            </a:ln>
          </p:spPr>
          <p:txBody>
            <a:bodyPr wrap="none" lIns="0" tIns="0" rIns="0" bIns="0" anchor="t" anchorCtr="0">
              <a:spAutoFit/>
            </a:bodyPr>
            <a:lstStyle/>
            <a:p>
              <a:pPr algn="l"/>
              <a:r>
                <a:rPr lang="en-US" sz="1050" dirty="0">
                  <a:solidFill>
                    <a:srgbClr val="1F2937"/>
                  </a:solidFill>
                  <a:latin typeface="+mn-lt"/>
                  <a:ea typeface="+mn-ea"/>
                  <a:cs typeface="+mn-cs"/>
                </a:rPr>
                <a:t>FetchS(K)</a:t>
              </a:r>
            </a:p>
          </p:txBody>
        </p:sp>
        <p:sp>
          <p:nvSpPr>
            <p:cNvPr id="37" name="TextBox 37"/>
            <p:cNvSpPr txBox="1"/>
            <p:nvPr/>
          </p:nvSpPr>
          <p:spPr>
            <a:xfrm>
              <a:off x="4410456" y="3548062"/>
              <a:ext cx="2757145"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索取 K 的唯一副本，并让 C 的副本变为共享</a:t>
              </a:r>
            </a:p>
          </p:txBody>
        </p:sp>
        <p:sp>
          <p:nvSpPr>
            <p:cNvPr id="38" name="Rectangle 38"/>
            <p:cNvSpPr/>
            <p:nvPr/>
          </p:nvSpPr>
          <p:spPr>
            <a:xfrm>
              <a:off x="533400" y="3807142"/>
              <a:ext cx="11125200" cy="9525"/>
            </a:xfrm>
            <a:prstGeom prst="rect">
              <a:avLst/>
            </a:prstGeom>
            <a:solidFill>
              <a:srgbClr val="D9DFEA"/>
            </a:solidFill>
            <a:ln>
              <a:noFill/>
            </a:ln>
          </p:spPr>
        </p:sp>
        <p:sp>
          <p:nvSpPr>
            <p:cNvPr id="39" name="Rectangle 39"/>
            <p:cNvSpPr/>
            <p:nvPr/>
          </p:nvSpPr>
          <p:spPr>
            <a:xfrm>
              <a:off x="533400" y="3811905"/>
              <a:ext cx="11125200" cy="381000"/>
            </a:xfrm>
            <a:prstGeom prst="rect">
              <a:avLst/>
            </a:prstGeom>
            <a:solidFill>
              <a:srgbClr val="F4F6FB"/>
            </a:solidFill>
            <a:ln>
              <a:noFill/>
            </a:ln>
          </p:spPr>
        </p:sp>
        <p:sp>
          <p:nvSpPr>
            <p:cNvPr id="40" name="TextBox 40"/>
            <p:cNvSpPr txBox="1"/>
            <p:nvPr/>
          </p:nvSpPr>
          <p:spPr>
            <a:xfrm>
              <a:off x="929758" y="3930015"/>
              <a:ext cx="96919" cy="205359"/>
            </a:xfrm>
            <a:prstGeom prst="rect">
              <a:avLst/>
            </a:prstGeom>
            <a:noFill/>
            <a:ln>
              <a:noFill/>
            </a:ln>
          </p:spPr>
          <p:txBody>
            <a:bodyPr wrap="none" lIns="0" tIns="0" rIns="0" bIns="0" anchor="t" anchorCtr="0">
              <a:spAutoFit/>
            </a:bodyPr>
            <a:lstStyle/>
            <a:p>
              <a:pPr algn="ctr"/>
              <a:r>
                <a:rPr lang="en-US" sz="1050" b="1" dirty="0">
                  <a:solidFill>
                    <a:srgbClr val="1F2937"/>
                  </a:solidFill>
                  <a:latin typeface="+mn-lt"/>
                  <a:ea typeface="+mn-ea"/>
                  <a:cs typeface="+mn-cs"/>
                </a:rPr>
                <a:t>B</a:t>
              </a:r>
            </a:p>
          </p:txBody>
        </p:sp>
        <p:sp>
          <p:nvSpPr>
            <p:cNvPr id="41" name="TextBox 41"/>
            <p:cNvSpPr txBox="1"/>
            <p:nvPr/>
          </p:nvSpPr>
          <p:spPr>
            <a:xfrm>
              <a:off x="1822399" y="3930015"/>
              <a:ext cx="92812" cy="205359"/>
            </a:xfrm>
            <a:prstGeom prst="rect">
              <a:avLst/>
            </a:prstGeom>
            <a:noFill/>
            <a:ln>
              <a:noFill/>
            </a:ln>
          </p:spPr>
          <p:txBody>
            <a:bodyPr wrap="none" lIns="0" tIns="0" rIns="0" bIns="0" anchor="t" anchorCtr="0">
              <a:spAutoFit/>
            </a:bodyPr>
            <a:lstStyle/>
            <a:p>
              <a:pPr algn="ctr"/>
              <a:r>
                <a:rPr lang="en-US" sz="1050" dirty="0">
                  <a:solidFill>
                    <a:srgbClr val="1F2937"/>
                  </a:solidFill>
                  <a:latin typeface="+mn-lt"/>
                  <a:ea typeface="+mn-ea"/>
                  <a:cs typeface="+mn-cs"/>
                </a:rPr>
                <a:t>C</a:t>
              </a:r>
            </a:p>
          </p:txBody>
        </p:sp>
        <p:sp>
          <p:nvSpPr>
            <p:cNvPr id="42" name="TextBox 42"/>
            <p:cNvSpPr txBox="1"/>
            <p:nvPr/>
          </p:nvSpPr>
          <p:spPr>
            <a:xfrm>
              <a:off x="2408301" y="3930015"/>
              <a:ext cx="691134" cy="205359"/>
            </a:xfrm>
            <a:prstGeom prst="rect">
              <a:avLst/>
            </a:prstGeom>
            <a:noFill/>
            <a:ln>
              <a:noFill/>
            </a:ln>
          </p:spPr>
          <p:txBody>
            <a:bodyPr wrap="none" lIns="0" tIns="0" rIns="0" bIns="0" anchor="t" anchorCtr="0">
              <a:spAutoFit/>
            </a:bodyPr>
            <a:lstStyle/>
            <a:p>
              <a:pPr algn="l"/>
              <a:r>
                <a:rPr lang="en-US" sz="1050" dirty="0">
                  <a:solidFill>
                    <a:srgbClr val="1F2937"/>
                  </a:solidFill>
                  <a:latin typeface="+mn-lt"/>
                  <a:ea typeface="+mn-ea"/>
                  <a:cs typeface="+mn-cs"/>
                </a:rPr>
                <a:t>FetchI(K)</a:t>
              </a:r>
            </a:p>
          </p:txBody>
        </p:sp>
        <p:sp>
          <p:nvSpPr>
            <p:cNvPr id="43" name="TextBox 43"/>
            <p:cNvSpPr txBox="1"/>
            <p:nvPr/>
          </p:nvSpPr>
          <p:spPr>
            <a:xfrm>
              <a:off x="4410456" y="3930015"/>
              <a:ext cx="2757145"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索取 K 的唯一副本，并让 C 的副本变为无效</a:t>
              </a:r>
            </a:p>
          </p:txBody>
        </p:sp>
        <p:sp>
          <p:nvSpPr>
            <p:cNvPr id="44" name="Rectangle 44"/>
            <p:cNvSpPr/>
            <p:nvPr/>
          </p:nvSpPr>
          <p:spPr>
            <a:xfrm>
              <a:off x="533400" y="4189095"/>
              <a:ext cx="11125200" cy="9525"/>
            </a:xfrm>
            <a:prstGeom prst="rect">
              <a:avLst/>
            </a:prstGeom>
            <a:solidFill>
              <a:srgbClr val="D9DFEA"/>
            </a:solidFill>
            <a:ln>
              <a:noFill/>
            </a:ln>
          </p:spPr>
        </p:sp>
        <p:sp>
          <p:nvSpPr>
            <p:cNvPr id="45" name="TextBox 45"/>
            <p:cNvSpPr txBox="1"/>
            <p:nvPr/>
          </p:nvSpPr>
          <p:spPr>
            <a:xfrm>
              <a:off x="929758" y="4311015"/>
              <a:ext cx="96919" cy="205359"/>
            </a:xfrm>
            <a:prstGeom prst="rect">
              <a:avLst/>
            </a:prstGeom>
            <a:noFill/>
            <a:ln>
              <a:noFill/>
            </a:ln>
          </p:spPr>
          <p:txBody>
            <a:bodyPr wrap="none" lIns="0" tIns="0" rIns="0" bIns="0" anchor="t" anchorCtr="0">
              <a:spAutoFit/>
            </a:bodyPr>
            <a:lstStyle/>
            <a:p>
              <a:pPr algn="ctr"/>
              <a:r>
                <a:rPr lang="en-US" sz="1050" b="1" dirty="0">
                  <a:solidFill>
                    <a:srgbClr val="1F2937"/>
                  </a:solidFill>
                  <a:latin typeface="+mn-lt"/>
                  <a:ea typeface="+mn-ea"/>
                  <a:cs typeface="+mn-cs"/>
                </a:rPr>
                <a:t>C</a:t>
              </a:r>
            </a:p>
          </p:txBody>
        </p:sp>
        <p:sp>
          <p:nvSpPr>
            <p:cNvPr id="46" name="TextBox 46"/>
            <p:cNvSpPr txBox="1"/>
            <p:nvPr/>
          </p:nvSpPr>
          <p:spPr>
            <a:xfrm>
              <a:off x="1822399" y="4311015"/>
              <a:ext cx="92812" cy="205359"/>
            </a:xfrm>
            <a:prstGeom prst="rect">
              <a:avLst/>
            </a:prstGeom>
            <a:noFill/>
            <a:ln>
              <a:noFill/>
            </a:ln>
          </p:spPr>
          <p:txBody>
            <a:bodyPr wrap="none" lIns="0" tIns="0" rIns="0" bIns="0" anchor="t" anchorCtr="0">
              <a:spAutoFit/>
            </a:bodyPr>
            <a:lstStyle/>
            <a:p>
              <a:pPr algn="ctr"/>
              <a:r>
                <a:rPr lang="en-US" sz="1050" dirty="0">
                  <a:solidFill>
                    <a:srgbClr val="1F2937"/>
                  </a:solidFill>
                  <a:latin typeface="+mn-lt"/>
                  <a:ea typeface="+mn-ea"/>
                  <a:cs typeface="+mn-cs"/>
                </a:rPr>
                <a:t>B</a:t>
              </a:r>
            </a:p>
          </p:txBody>
        </p:sp>
        <p:sp>
          <p:nvSpPr>
            <p:cNvPr id="47" name="TextBox 47"/>
            <p:cNvSpPr txBox="1"/>
            <p:nvPr/>
          </p:nvSpPr>
          <p:spPr>
            <a:xfrm>
              <a:off x="2408301" y="4311015"/>
              <a:ext cx="559963" cy="205359"/>
            </a:xfrm>
            <a:prstGeom prst="rect">
              <a:avLst/>
            </a:prstGeom>
            <a:noFill/>
            <a:ln>
              <a:noFill/>
            </a:ln>
          </p:spPr>
          <p:txBody>
            <a:bodyPr wrap="none" lIns="0" tIns="0" rIns="0" bIns="0" anchor="t" anchorCtr="0">
              <a:spAutoFit/>
            </a:bodyPr>
            <a:lstStyle/>
            <a:p>
              <a:pPr algn="l"/>
              <a:r>
                <a:rPr lang="en-US" sz="1050" dirty="0">
                  <a:solidFill>
                    <a:srgbClr val="1F2937"/>
                  </a:solidFill>
                  <a:latin typeface="+mn-lt"/>
                  <a:ea typeface="+mn-ea"/>
                  <a:cs typeface="+mn-cs"/>
                </a:rPr>
                <a:t>Quit(K)</a:t>
              </a:r>
            </a:p>
          </p:txBody>
        </p:sp>
        <p:sp>
          <p:nvSpPr>
            <p:cNvPr id="48" name="TextBox 48"/>
            <p:cNvSpPr txBox="1"/>
            <p:nvPr/>
          </p:nvSpPr>
          <p:spPr>
            <a:xfrm>
              <a:off x="4410456" y="4311015"/>
              <a:ext cx="2696070"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C 的 clean 副本将被替换，申请退出共享集</a:t>
              </a:r>
            </a:p>
          </p:txBody>
        </p:sp>
        <p:sp>
          <p:nvSpPr>
            <p:cNvPr id="49" name="Rectangle 49"/>
            <p:cNvSpPr/>
            <p:nvPr/>
          </p:nvSpPr>
          <p:spPr>
            <a:xfrm>
              <a:off x="533400" y="4570095"/>
              <a:ext cx="11125200" cy="9525"/>
            </a:xfrm>
            <a:prstGeom prst="rect">
              <a:avLst/>
            </a:prstGeom>
            <a:solidFill>
              <a:srgbClr val="D9DFEA"/>
            </a:solidFill>
            <a:ln>
              <a:noFill/>
            </a:ln>
          </p:spPr>
        </p:sp>
        <p:sp>
          <p:nvSpPr>
            <p:cNvPr id="50" name="Rectangle 50"/>
            <p:cNvSpPr/>
            <p:nvPr/>
          </p:nvSpPr>
          <p:spPr>
            <a:xfrm>
              <a:off x="533400" y="4574858"/>
              <a:ext cx="11125200" cy="381000"/>
            </a:xfrm>
            <a:prstGeom prst="rect">
              <a:avLst/>
            </a:prstGeom>
            <a:solidFill>
              <a:srgbClr val="F4F6FB"/>
            </a:solidFill>
            <a:ln>
              <a:noFill/>
            </a:ln>
          </p:spPr>
        </p:sp>
        <p:sp>
          <p:nvSpPr>
            <p:cNvPr id="51" name="TextBox 51"/>
            <p:cNvSpPr txBox="1"/>
            <p:nvPr/>
          </p:nvSpPr>
          <p:spPr>
            <a:xfrm>
              <a:off x="929758" y="4692015"/>
              <a:ext cx="96919" cy="205359"/>
            </a:xfrm>
            <a:prstGeom prst="rect">
              <a:avLst/>
            </a:prstGeom>
            <a:noFill/>
            <a:ln>
              <a:noFill/>
            </a:ln>
          </p:spPr>
          <p:txBody>
            <a:bodyPr wrap="none" lIns="0" tIns="0" rIns="0" bIns="0" anchor="t" anchorCtr="0">
              <a:spAutoFit/>
            </a:bodyPr>
            <a:lstStyle/>
            <a:p>
              <a:pPr algn="ctr"/>
              <a:r>
                <a:rPr lang="en-US" sz="1050" b="1" dirty="0">
                  <a:solidFill>
                    <a:srgbClr val="1F2937"/>
                  </a:solidFill>
                  <a:latin typeface="+mn-lt"/>
                  <a:ea typeface="+mn-ea"/>
                  <a:cs typeface="+mn-cs"/>
                </a:rPr>
                <a:t>C</a:t>
              </a:r>
            </a:p>
          </p:txBody>
        </p:sp>
        <p:sp>
          <p:nvSpPr>
            <p:cNvPr id="52" name="TextBox 52"/>
            <p:cNvSpPr txBox="1"/>
            <p:nvPr/>
          </p:nvSpPr>
          <p:spPr>
            <a:xfrm>
              <a:off x="1822399" y="4692015"/>
              <a:ext cx="92812" cy="205359"/>
            </a:xfrm>
            <a:prstGeom prst="rect">
              <a:avLst/>
            </a:prstGeom>
            <a:noFill/>
            <a:ln>
              <a:noFill/>
            </a:ln>
          </p:spPr>
          <p:txBody>
            <a:bodyPr wrap="none" lIns="0" tIns="0" rIns="0" bIns="0" anchor="t" anchorCtr="0">
              <a:spAutoFit/>
            </a:bodyPr>
            <a:lstStyle/>
            <a:p>
              <a:pPr algn="ctr"/>
              <a:r>
                <a:rPr lang="en-US" sz="1050" dirty="0">
                  <a:solidFill>
                    <a:srgbClr val="1F2937"/>
                  </a:solidFill>
                  <a:latin typeface="+mn-lt"/>
                  <a:ea typeface="+mn-ea"/>
                  <a:cs typeface="+mn-cs"/>
                </a:rPr>
                <a:t>B</a:t>
              </a:r>
            </a:p>
          </p:txBody>
        </p:sp>
        <p:sp>
          <p:nvSpPr>
            <p:cNvPr id="53" name="TextBox 53"/>
            <p:cNvSpPr txBox="1"/>
            <p:nvPr/>
          </p:nvSpPr>
          <p:spPr>
            <a:xfrm>
              <a:off x="2408301" y="4692015"/>
              <a:ext cx="721671" cy="205359"/>
            </a:xfrm>
            <a:prstGeom prst="rect">
              <a:avLst/>
            </a:prstGeom>
            <a:noFill/>
            <a:ln>
              <a:noFill/>
            </a:ln>
          </p:spPr>
          <p:txBody>
            <a:bodyPr wrap="none" lIns="0" tIns="0" rIns="0" bIns="0" anchor="t" anchorCtr="0">
              <a:spAutoFit/>
            </a:bodyPr>
            <a:lstStyle/>
            <a:p>
              <a:pPr algn="l"/>
              <a:r>
                <a:rPr lang="en-US" sz="1050" dirty="0">
                  <a:solidFill>
                    <a:srgbClr val="1F2937"/>
                  </a:solidFill>
                  <a:latin typeface="+mn-lt"/>
                  <a:ea typeface="+mn-ea"/>
                  <a:cs typeface="+mn-cs"/>
                </a:rPr>
                <a:t>Update(K)</a:t>
              </a:r>
            </a:p>
          </p:txBody>
        </p:sp>
        <p:sp>
          <p:nvSpPr>
            <p:cNvPr id="54" name="TextBox 54"/>
            <p:cNvSpPr txBox="1"/>
            <p:nvPr/>
          </p:nvSpPr>
          <p:spPr>
            <a:xfrm>
              <a:off x="4410456" y="4692015"/>
              <a:ext cx="4434634"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C 的 dirty 副本将被替换，或响应 Fetch，用 C 的唯一副本更新存储器</a:t>
              </a:r>
            </a:p>
          </p:txBody>
        </p:sp>
        <p:sp>
          <p:nvSpPr>
            <p:cNvPr id="55" name="Rectangle 55"/>
            <p:cNvSpPr/>
            <p:nvPr/>
          </p:nvSpPr>
          <p:spPr>
            <a:xfrm>
              <a:off x="533400" y="4952048"/>
              <a:ext cx="11125200" cy="9525"/>
            </a:xfrm>
            <a:prstGeom prst="rect">
              <a:avLst/>
            </a:prstGeom>
            <a:solidFill>
              <a:srgbClr val="D9DFEA"/>
            </a:solidFill>
            <a:ln>
              <a:noFill/>
            </a:ln>
          </p:spPr>
        </p:sp>
        <p:sp>
          <p:nvSpPr>
            <p:cNvPr id="56" name="TextBox 56"/>
            <p:cNvSpPr txBox="1"/>
            <p:nvPr/>
          </p:nvSpPr>
          <p:spPr>
            <a:xfrm>
              <a:off x="929758" y="5073968"/>
              <a:ext cx="96919" cy="205359"/>
            </a:xfrm>
            <a:prstGeom prst="rect">
              <a:avLst/>
            </a:prstGeom>
            <a:noFill/>
            <a:ln>
              <a:noFill/>
            </a:ln>
          </p:spPr>
          <p:txBody>
            <a:bodyPr wrap="none" lIns="0" tIns="0" rIns="0" bIns="0" anchor="t" anchorCtr="0">
              <a:spAutoFit/>
            </a:bodyPr>
            <a:lstStyle/>
            <a:p>
              <a:pPr algn="ctr"/>
              <a:r>
                <a:rPr lang="en-US" sz="1050" b="1" dirty="0">
                  <a:solidFill>
                    <a:srgbClr val="1F2937"/>
                  </a:solidFill>
                  <a:latin typeface="+mn-lt"/>
                  <a:ea typeface="+mn-ea"/>
                  <a:cs typeface="+mn-cs"/>
                </a:rPr>
                <a:t>C</a:t>
              </a:r>
            </a:p>
          </p:txBody>
        </p:sp>
        <p:sp>
          <p:nvSpPr>
            <p:cNvPr id="57" name="TextBox 57"/>
            <p:cNvSpPr txBox="1"/>
            <p:nvPr/>
          </p:nvSpPr>
          <p:spPr>
            <a:xfrm>
              <a:off x="1822399" y="5073968"/>
              <a:ext cx="92812" cy="205359"/>
            </a:xfrm>
            <a:prstGeom prst="rect">
              <a:avLst/>
            </a:prstGeom>
            <a:noFill/>
            <a:ln>
              <a:noFill/>
            </a:ln>
          </p:spPr>
          <p:txBody>
            <a:bodyPr wrap="none" lIns="0" tIns="0" rIns="0" bIns="0" anchor="t" anchorCtr="0">
              <a:spAutoFit/>
            </a:bodyPr>
            <a:lstStyle/>
            <a:p>
              <a:pPr algn="ctr"/>
              <a:r>
                <a:rPr lang="en-US" sz="1050" dirty="0">
                  <a:solidFill>
                    <a:srgbClr val="1F2937"/>
                  </a:solidFill>
                  <a:latin typeface="+mn-lt"/>
                  <a:ea typeface="+mn-ea"/>
                  <a:cs typeface="+mn-cs"/>
                </a:rPr>
                <a:t>B</a:t>
              </a:r>
            </a:p>
          </p:txBody>
        </p:sp>
        <p:sp>
          <p:nvSpPr>
            <p:cNvPr id="58" name="TextBox 58"/>
            <p:cNvSpPr txBox="1"/>
            <p:nvPr/>
          </p:nvSpPr>
          <p:spPr>
            <a:xfrm>
              <a:off x="2408301" y="5073968"/>
              <a:ext cx="924625" cy="205359"/>
            </a:xfrm>
            <a:prstGeom prst="rect">
              <a:avLst/>
            </a:prstGeom>
            <a:noFill/>
            <a:ln>
              <a:noFill/>
            </a:ln>
          </p:spPr>
          <p:txBody>
            <a:bodyPr wrap="none" lIns="0" tIns="0" rIns="0" bIns="0" anchor="t" anchorCtr="0">
              <a:spAutoFit/>
            </a:bodyPr>
            <a:lstStyle/>
            <a:p>
              <a:pPr algn="l"/>
              <a:r>
                <a:rPr lang="en-US" sz="1050" dirty="0">
                  <a:solidFill>
                    <a:srgbClr val="1F2937"/>
                  </a:solidFill>
                  <a:latin typeface="+mn-lt"/>
                  <a:ea typeface="+mn-ea"/>
                  <a:cs typeface="+mn-cs"/>
                </a:rPr>
                <a:t>Invalidate(K)</a:t>
              </a:r>
            </a:p>
          </p:txBody>
        </p:sp>
        <p:sp>
          <p:nvSpPr>
            <p:cNvPr id="59" name="TextBox 59"/>
            <p:cNvSpPr txBox="1"/>
            <p:nvPr/>
          </p:nvSpPr>
          <p:spPr>
            <a:xfrm>
              <a:off x="4410456" y="5073968"/>
              <a:ext cx="2585123"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C 要写自己的 clean 副本，申请由 C 独占</a:t>
              </a:r>
            </a:p>
          </p:txBody>
        </p:sp>
        <p:sp>
          <p:nvSpPr>
            <p:cNvPr id="60" name="Rectangle 60"/>
            <p:cNvSpPr/>
            <p:nvPr/>
          </p:nvSpPr>
          <p:spPr>
            <a:xfrm>
              <a:off x="533400" y="1524000"/>
              <a:ext cx="11125200" cy="3813810"/>
            </a:xfrm>
            <a:prstGeom prst="rect">
              <a:avLst/>
            </a:prstGeom>
            <a:noFill/>
            <a:ln w="14288">
              <a:solidFill>
                <a:srgbClr val="D9DFEA"/>
              </a:solidFill>
            </a:ln>
          </p:spPr>
        </p:sp>
        <p:sp>
          <p:nvSpPr>
            <p:cNvPr id="61" name="Rectangle 61"/>
            <p:cNvSpPr/>
            <p:nvPr/>
          </p:nvSpPr>
          <p:spPr>
            <a:xfrm>
              <a:off x="1418272" y="1524000"/>
              <a:ext cx="9525" cy="3813810"/>
            </a:xfrm>
            <a:prstGeom prst="rect">
              <a:avLst/>
            </a:prstGeom>
            <a:solidFill>
              <a:srgbClr val="D9DFEA"/>
            </a:solidFill>
            <a:ln>
              <a:noFill/>
            </a:ln>
          </p:spPr>
        </p:sp>
        <p:sp>
          <p:nvSpPr>
            <p:cNvPr id="62" name="Rectangle 62"/>
            <p:cNvSpPr/>
            <p:nvPr/>
          </p:nvSpPr>
          <p:spPr>
            <a:xfrm>
              <a:off x="2308860" y="1524000"/>
              <a:ext cx="9525" cy="3813810"/>
            </a:xfrm>
            <a:prstGeom prst="rect">
              <a:avLst/>
            </a:prstGeom>
            <a:solidFill>
              <a:srgbClr val="D9DFEA"/>
            </a:solidFill>
            <a:ln>
              <a:noFill/>
            </a:ln>
          </p:spPr>
        </p:sp>
        <p:sp>
          <p:nvSpPr>
            <p:cNvPr id="63" name="Rectangle 63"/>
            <p:cNvSpPr/>
            <p:nvPr/>
          </p:nvSpPr>
          <p:spPr>
            <a:xfrm>
              <a:off x="4311015" y="1524000"/>
              <a:ext cx="9525" cy="3813810"/>
            </a:xfrm>
            <a:prstGeom prst="rect">
              <a:avLst/>
            </a:prstGeom>
            <a:solidFill>
              <a:srgbClr val="D9DFEA"/>
            </a:solidFill>
            <a:ln>
              <a:noFill/>
            </a:ln>
          </p:spPr>
        </p:sp>
        <p:sp>
          <p:nvSpPr>
            <p:cNvPr id="64" name="TextBox 64"/>
            <p:cNvSpPr txBox="1"/>
            <p:nvPr/>
          </p:nvSpPr>
          <p:spPr>
            <a:xfrm>
              <a:off x="528447" y="5410676"/>
              <a:ext cx="2177501"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数据块 K 指包含地址 K 的那个数据块</a:t>
              </a:r>
            </a:p>
          </p:txBody>
        </p:sp>
      </p:grpSp>
      <p:grpSp>
        <p:nvGrpSpPr>
          <p:cNvPr id="72" name="takeaway"/>
          <p:cNvGrpSpPr/>
          <p:nvPr/>
        </p:nvGrpSpPr>
        <p:grpSpPr>
          <a:xfrm>
            <a:off x="533400" y="5895022"/>
            <a:ext cx="11125200" cy="467678"/>
            <a:chOff x="533400" y="5895022"/>
            <a:chExt cx="11125200" cy="467678"/>
          </a:xfrm>
        </p:grpSpPr>
        <p:sp>
          <p:nvSpPr>
            <p:cNvPr id="66" name="Rectangle 66"/>
            <p:cNvSpPr/>
            <p:nvPr/>
          </p:nvSpPr>
          <p:spPr>
            <a:xfrm>
              <a:off x="533400" y="5895022"/>
              <a:ext cx="11125200" cy="467678"/>
            </a:xfrm>
            <a:prstGeom prst="roundRect">
              <a:avLst>
                <a:gd name="adj" fmla="val 24440"/>
              </a:avLst>
            </a:prstGeom>
            <a:solidFill>
              <a:srgbClr val="FDEEE7"/>
            </a:solidFill>
            <a:ln>
              <a:noFill/>
            </a:ln>
          </p:spPr>
        </p:sp>
        <p:grpSp>
          <p:nvGrpSpPr>
            <p:cNvPr id="70" name="Group 70"/>
            <p:cNvGrpSpPr/>
            <p:nvPr/>
          </p:nvGrpSpPr>
          <p:grpSpPr>
            <a:xfrm>
              <a:off x="738188" y="6028373"/>
              <a:ext cx="200026" cy="200025"/>
              <a:chOff x="738188" y="6028373"/>
              <a:chExt cx="200026" cy="200025"/>
            </a:xfrm>
          </p:grpSpPr>
          <p:sp>
            <p:nvSpPr>
              <p:cNvPr id="67" name="Freeform 67"/>
              <p:cNvSpPr/>
              <p:nvPr/>
            </p:nvSpPr>
            <p:spPr>
              <a:xfrm>
                <a:off x="738188" y="6028373"/>
                <a:ext cx="200026" cy="100013"/>
              </a:xfrm>
              <a:custGeom>
                <a:avLst/>
                <a:gdLst/>
                <a:ahLst/>
                <a:cxnLst/>
                <a:rect l="l" t="t" r="r" b="b"/>
                <a:pathLst>
                  <a:path w="200026" h="100013">
                    <a:moveTo>
                      <a:pt x="0" y="100013"/>
                    </a:moveTo>
                    <a:lnTo>
                      <a:pt x="11113" y="100013"/>
                    </a:lnTo>
                    <a:moveTo>
                      <a:pt x="100013" y="0"/>
                    </a:moveTo>
                    <a:lnTo>
                      <a:pt x="100013" y="11113"/>
                    </a:lnTo>
                    <a:moveTo>
                      <a:pt x="188913" y="100013"/>
                    </a:moveTo>
                    <a:lnTo>
                      <a:pt x="200026" y="100013"/>
                    </a:lnTo>
                    <a:moveTo>
                      <a:pt x="28893" y="28893"/>
                    </a:moveTo>
                    <a:lnTo>
                      <a:pt x="36671" y="36671"/>
                    </a:lnTo>
                    <a:moveTo>
                      <a:pt x="171133" y="28893"/>
                    </a:moveTo>
                    <a:lnTo>
                      <a:pt x="163354" y="36671"/>
                    </a:lnTo>
                  </a:path>
                </a:pathLst>
              </a:custGeom>
              <a:noFill/>
              <a:ln w="22225">
                <a:solidFill>
                  <a:srgbClr val="C2410C"/>
                </a:solidFill>
              </a:ln>
            </p:spPr>
          </p:sp>
          <p:sp>
            <p:nvSpPr>
              <p:cNvPr id="68" name="Freeform 68"/>
              <p:cNvSpPr/>
              <p:nvPr/>
            </p:nvSpPr>
            <p:spPr>
              <a:xfrm>
                <a:off x="777926" y="6072823"/>
                <a:ext cx="120548" cy="155575"/>
              </a:xfrm>
              <a:custGeom>
                <a:avLst/>
                <a:gdLst/>
                <a:ahLst/>
                <a:cxnLst/>
                <a:rect l="l" t="t" r="r" b="b"/>
                <a:pathLst>
                  <a:path w="120548" h="155575">
                    <a:moveTo>
                      <a:pt x="26937" y="100013"/>
                    </a:moveTo>
                    <a:cubicBezTo>
                      <a:pt x="7804" y="85663"/>
                      <a:pt x="0" y="60681"/>
                      <a:pt x="7563" y="37992"/>
                    </a:cubicBezTo>
                    <a:cubicBezTo>
                      <a:pt x="15126" y="15304"/>
                      <a:pt x="36358" y="0"/>
                      <a:pt x="60274" y="0"/>
                    </a:cubicBezTo>
                    <a:cubicBezTo>
                      <a:pt x="84190" y="0"/>
                      <a:pt x="105423" y="15304"/>
                      <a:pt x="112986" y="37992"/>
                    </a:cubicBezTo>
                    <a:cubicBezTo>
                      <a:pt x="120548" y="60681"/>
                      <a:pt x="112745" y="85663"/>
                      <a:pt x="93612" y="100013"/>
                    </a:cubicBezTo>
                    <a:cubicBezTo>
                      <a:pt x="84812" y="108723"/>
                      <a:pt x="80686" y="121103"/>
                      <a:pt x="82499" y="133350"/>
                    </a:cubicBezTo>
                    <a:cubicBezTo>
                      <a:pt x="82499" y="145625"/>
                      <a:pt x="72549" y="155575"/>
                      <a:pt x="60274" y="155575"/>
                    </a:cubicBezTo>
                    <a:cubicBezTo>
                      <a:pt x="48000" y="155575"/>
                      <a:pt x="38049" y="145625"/>
                      <a:pt x="38049" y="133350"/>
                    </a:cubicBezTo>
                    <a:cubicBezTo>
                      <a:pt x="39862" y="121103"/>
                      <a:pt x="35736" y="108723"/>
                      <a:pt x="26937" y="100013"/>
                    </a:cubicBezTo>
                  </a:path>
                </a:pathLst>
              </a:custGeom>
              <a:noFill/>
              <a:ln w="22225">
                <a:solidFill>
                  <a:srgbClr val="C2410C"/>
                </a:solidFill>
              </a:ln>
            </p:spPr>
          </p:sp>
          <p:sp>
            <p:nvSpPr>
              <p:cNvPr id="69" name="Freeform 69"/>
              <p:cNvSpPr/>
              <p:nvPr/>
            </p:nvSpPr>
            <p:spPr>
              <a:xfrm>
                <a:off x="812642" y="6183948"/>
                <a:ext cx="51118" cy="9525"/>
              </a:xfrm>
              <a:custGeom>
                <a:avLst/>
                <a:gdLst/>
                <a:ahLst/>
                <a:cxnLst/>
                <a:rect l="l" t="t" r="r" b="b"/>
                <a:pathLst>
                  <a:path w="51118" h="9525">
                    <a:moveTo>
                      <a:pt x="0" y="0"/>
                    </a:moveTo>
                    <a:lnTo>
                      <a:pt x="51118" y="0"/>
                    </a:lnTo>
                  </a:path>
                </a:pathLst>
              </a:custGeom>
              <a:noFill/>
              <a:ln w="22225">
                <a:solidFill>
                  <a:srgbClr val="C2410C"/>
                </a:solidFill>
              </a:ln>
            </p:spPr>
          </p:sp>
        </p:grpSp>
        <p:sp>
          <p:nvSpPr>
            <p:cNvPr id="71" name="TextBox 71"/>
            <p:cNvSpPr txBox="1"/>
            <p:nvPr/>
          </p:nvSpPr>
          <p:spPr>
            <a:xfrm>
              <a:off x="1041273" y="6039326"/>
              <a:ext cx="8994719" cy="249364"/>
            </a:xfrm>
            <a:prstGeom prst="rect">
              <a:avLst/>
            </a:prstGeom>
            <a:noFill/>
            <a:ln>
              <a:noFill/>
            </a:ln>
          </p:spPr>
          <p:txBody>
            <a:bodyPr wrap="none" lIns="0" tIns="0" rIns="0" bIns="0" anchor="t" anchorCtr="0">
              <a:spAutoFit/>
            </a:bodyPr>
            <a:lstStyle/>
            <a:p>
              <a:pPr algn="l"/>
              <a:r>
                <a:rPr lang="zh-CN" sz="1280" dirty="0">
                  <a:solidFill>
                    <a:srgbClr val="C2410C"/>
                  </a:solidFill>
                  <a:latin typeface="+mn-lt"/>
                  <a:ea typeface="+mn-ea"/>
                  <a:cs typeface="+mn-cs"/>
                </a:rPr>
                <a:t>记法：A 只跟 B 说话，C 也只跟 B 说话，B 夹在中间同时面对两边。监听协议里的广播，在这里全部换成点对点消息。</a:t>
              </a:r>
            </a:p>
          </p:txBody>
        </p:sp>
      </p:grpSp>
      <p:grpSp>
        <p:nvGrpSpPr>
          <p:cNvPr id="75" name="footer"/>
          <p:cNvGrpSpPr/>
          <p:nvPr/>
        </p:nvGrpSpPr>
        <p:grpSpPr>
          <a:xfrm>
            <a:off x="528447" y="6581299"/>
            <a:ext cx="11135106" cy="190690"/>
            <a:chOff x="528447" y="6581299"/>
            <a:chExt cx="11135106" cy="190690"/>
          </a:xfrm>
        </p:grpSpPr>
        <p:sp>
          <p:nvSpPr>
            <p:cNvPr id="73" name="TextBox 73"/>
            <p:cNvSpPr txBox="1"/>
            <p:nvPr/>
          </p:nvSpPr>
          <p:spPr>
            <a:xfrm>
              <a:off x="528447" y="6581299"/>
              <a:ext cx="2120748"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并行与分布式计算 · 第7章 体系结构</a:t>
              </a:r>
            </a:p>
          </p:txBody>
        </p:sp>
        <p:sp>
          <p:nvSpPr>
            <p:cNvPr id="74" name="TextBox 74"/>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32</a:t>
              </a:r>
            </a:p>
          </p:txBody>
        </p:sp>
      </p:grpSp>
    </p:spTree>
  </p:cSld>
  <p:clrMapOvr>
    <a:masterClrMapping/>
  </p:clrMapOvr>
  <p:transition xmlns:p14="http://schemas.microsoft.com/office/powerpoint/2010/main" p14:dur="400">
    <p:fade/>
  </p:transition>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8606754" cy="909257"/>
            <a:chOff x="520446" y="342900"/>
            <a:chExt cx="8606754" cy="909257"/>
          </a:xfrm>
        </p:grpSpPr>
        <p:sp>
          <p:nvSpPr>
            <p:cNvPr id="2" name="Rectangle 2"/>
            <p:cNvSpPr/>
            <p:nvPr/>
          </p:nvSpPr>
          <p:spPr>
            <a:xfrm>
              <a:off x="533400" y="342900"/>
              <a:ext cx="2586038" cy="266700"/>
            </a:xfrm>
            <a:prstGeom prst="roundRect">
              <a:avLst>
                <a:gd name="adj" fmla="val 50000"/>
              </a:avLst>
            </a:prstGeom>
            <a:solidFill>
              <a:srgbClr val="E7EDF3"/>
            </a:solidFill>
            <a:ln>
              <a:noFill/>
            </a:ln>
          </p:spPr>
        </p:sp>
        <p:sp>
          <p:nvSpPr>
            <p:cNvPr id="3" name="TextBox 3"/>
            <p:cNvSpPr txBox="1"/>
            <p:nvPr/>
          </p:nvSpPr>
          <p:spPr>
            <a:xfrm>
              <a:off x="587464" y="407194"/>
              <a:ext cx="2476957"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第7章 体系结构 · Cache 一致性问题</a:t>
              </a:r>
            </a:p>
          </p:txBody>
        </p:sp>
        <p:sp>
          <p:nvSpPr>
            <p:cNvPr id="4" name="TextBox 4"/>
            <p:cNvSpPr txBox="1"/>
            <p:nvPr/>
          </p:nvSpPr>
          <p:spPr>
            <a:xfrm>
              <a:off x="520446" y="753428"/>
              <a:ext cx="8606754"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请求节点 A：本地 CPU 读写时 Cache 控制器发什么消息</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8" name="lead"/>
          <p:cNvGrpSpPr/>
          <p:nvPr/>
        </p:nvGrpSpPr>
        <p:grpSpPr>
          <a:xfrm>
            <a:off x="526161" y="1547336"/>
            <a:ext cx="8895141" cy="278702"/>
            <a:chOff x="526161" y="1547336"/>
            <a:chExt cx="8895141" cy="278702"/>
          </a:xfrm>
        </p:grpSpPr>
        <p:sp>
          <p:nvSpPr>
            <p:cNvPr id="7" name="TextBox 7"/>
            <p:cNvSpPr txBox="1"/>
            <p:nvPr/>
          </p:nvSpPr>
          <p:spPr>
            <a:xfrm>
              <a:off x="526161" y="1547336"/>
              <a:ext cx="8895141" cy="278702"/>
            </a:xfrm>
            <a:prstGeom prst="rect">
              <a:avLst/>
            </a:prstGeom>
            <a:noFill/>
            <a:ln>
              <a:noFill/>
            </a:ln>
          </p:spPr>
          <p:txBody>
            <a:bodyPr wrap="none" lIns="0" tIns="0" rIns="0" bIns="0" anchor="t" anchorCtr="0">
              <a:spAutoFit/>
            </a:bodyPr>
            <a:lstStyle/>
            <a:p>
              <a:pPr algn="l"/>
              <a:r>
                <a:rPr lang="zh-CN" sz="1420" dirty="0">
                  <a:solidFill>
                    <a:srgbClr val="5B6475"/>
                  </a:solidFill>
                  <a:latin typeface="+mn-lt"/>
                  <a:ea typeface="+mn-ea"/>
                  <a:cs typeface="+mn-cs"/>
                </a:rPr>
                <a:t>K1 是被替换的旧块、B1 是它的目录节点；K2 是要访问的新块、B2 是它的目录节点。“→ B”表示发给 B。</a:t>
              </a:r>
            </a:p>
          </p:txBody>
        </p:sp>
      </p:grpSp>
      <p:grpSp>
        <p:nvGrpSpPr>
          <p:cNvPr id="51" name="c1-table-1"/>
          <p:cNvGrpSpPr/>
          <p:nvPr/>
        </p:nvGrpSpPr>
        <p:grpSpPr>
          <a:xfrm>
            <a:off x="528066" y="1941195"/>
            <a:ext cx="5415534" cy="3521012"/>
            <a:chOff x="528066" y="1941195"/>
            <a:chExt cx="5415534" cy="3521012"/>
          </a:xfrm>
        </p:grpSpPr>
        <p:sp>
          <p:nvSpPr>
            <p:cNvPr id="9" name="Rectangle 9"/>
            <p:cNvSpPr/>
            <p:nvPr/>
          </p:nvSpPr>
          <p:spPr>
            <a:xfrm>
              <a:off x="533400" y="1941195"/>
              <a:ext cx="5410200" cy="405765"/>
            </a:xfrm>
            <a:prstGeom prst="rect">
              <a:avLst/>
            </a:prstGeom>
            <a:solidFill>
              <a:srgbClr val="334E68"/>
            </a:solidFill>
            <a:ln>
              <a:noFill/>
            </a:ln>
          </p:spPr>
        </p:sp>
        <p:sp>
          <p:nvSpPr>
            <p:cNvPr id="10" name="TextBox 10"/>
            <p:cNvSpPr txBox="1"/>
            <p:nvPr/>
          </p:nvSpPr>
          <p:spPr>
            <a:xfrm>
              <a:off x="728383" y="2065496"/>
              <a:ext cx="312979"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当前</a:t>
              </a:r>
            </a:p>
          </p:txBody>
        </p:sp>
        <p:sp>
          <p:nvSpPr>
            <p:cNvPr id="11" name="TextBox 11"/>
            <p:cNvSpPr txBox="1"/>
            <p:nvPr/>
          </p:nvSpPr>
          <p:spPr>
            <a:xfrm>
              <a:off x="1485621" y="2065496"/>
              <a:ext cx="312979"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事件</a:t>
              </a:r>
            </a:p>
          </p:txBody>
        </p:sp>
        <p:sp>
          <p:nvSpPr>
            <p:cNvPr id="12" name="TextBox 12"/>
            <p:cNvSpPr txBox="1"/>
            <p:nvPr/>
          </p:nvSpPr>
          <p:spPr>
            <a:xfrm>
              <a:off x="2963161" y="2065496"/>
              <a:ext cx="1253623"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Cache 控制器操作</a:t>
              </a:r>
            </a:p>
          </p:txBody>
        </p:sp>
        <p:sp>
          <p:nvSpPr>
            <p:cNvPr id="13" name="TextBox 13"/>
            <p:cNvSpPr txBox="1"/>
            <p:nvPr/>
          </p:nvSpPr>
          <p:spPr>
            <a:xfrm>
              <a:off x="5305958" y="2065496"/>
              <a:ext cx="463753"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新状态</a:t>
              </a:r>
            </a:p>
          </p:txBody>
        </p:sp>
        <p:sp>
          <p:nvSpPr>
            <p:cNvPr id="14" name="TextBox 14"/>
            <p:cNvSpPr txBox="1"/>
            <p:nvPr/>
          </p:nvSpPr>
          <p:spPr>
            <a:xfrm>
              <a:off x="633412" y="2471261"/>
              <a:ext cx="61612" cy="220028"/>
            </a:xfrm>
            <a:prstGeom prst="rect">
              <a:avLst/>
            </a:prstGeom>
            <a:noFill/>
            <a:ln>
              <a:noFill/>
            </a:ln>
          </p:spPr>
          <p:txBody>
            <a:bodyPr wrap="none" lIns="0" tIns="0" rIns="0" bIns="0" anchor="t" anchorCtr="0">
              <a:spAutoFit/>
            </a:bodyPr>
            <a:lstStyle/>
            <a:p>
              <a:pPr algn="l"/>
              <a:r>
                <a:rPr lang="en-US" sz="1120" b="1" dirty="0">
                  <a:solidFill>
                    <a:srgbClr val="1F2937"/>
                  </a:solidFill>
                  <a:latin typeface="+mn-lt"/>
                  <a:ea typeface="+mn-ea"/>
                  <a:cs typeface="+mn-cs"/>
                </a:rPr>
                <a:t>I</a:t>
              </a:r>
            </a:p>
          </p:txBody>
        </p:sp>
        <p:sp>
          <p:nvSpPr>
            <p:cNvPr id="15" name="TextBox 15"/>
            <p:cNvSpPr txBox="1"/>
            <p:nvPr/>
          </p:nvSpPr>
          <p:spPr>
            <a:xfrm>
              <a:off x="1336358" y="2471261"/>
              <a:ext cx="463753"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读命中</a:t>
              </a:r>
            </a:p>
          </p:txBody>
        </p:sp>
        <p:sp>
          <p:nvSpPr>
            <p:cNvPr id="16" name="TextBox 16"/>
            <p:cNvSpPr txBox="1"/>
            <p:nvPr/>
          </p:nvSpPr>
          <p:spPr>
            <a:xfrm>
              <a:off x="2147888" y="2471261"/>
              <a:ext cx="463753"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不可能</a:t>
              </a:r>
            </a:p>
          </p:txBody>
        </p:sp>
        <p:sp>
          <p:nvSpPr>
            <p:cNvPr id="17" name="TextBox 17"/>
            <p:cNvSpPr txBox="1"/>
            <p:nvPr/>
          </p:nvSpPr>
          <p:spPr>
            <a:xfrm>
              <a:off x="5232082" y="2471261"/>
              <a:ext cx="94356"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a:t>
              </a:r>
            </a:p>
          </p:txBody>
        </p:sp>
        <p:sp>
          <p:nvSpPr>
            <p:cNvPr id="18" name="Rectangle 18"/>
            <p:cNvSpPr/>
            <p:nvPr/>
          </p:nvSpPr>
          <p:spPr>
            <a:xfrm>
              <a:off x="533400" y="2747962"/>
              <a:ext cx="5410200" cy="9525"/>
            </a:xfrm>
            <a:prstGeom prst="rect">
              <a:avLst/>
            </a:prstGeom>
            <a:solidFill>
              <a:srgbClr val="D9DFEA"/>
            </a:solidFill>
            <a:ln>
              <a:noFill/>
            </a:ln>
          </p:spPr>
        </p:sp>
        <p:sp>
          <p:nvSpPr>
            <p:cNvPr id="19" name="Rectangle 19"/>
            <p:cNvSpPr/>
            <p:nvPr/>
          </p:nvSpPr>
          <p:spPr>
            <a:xfrm>
              <a:off x="533400" y="2752725"/>
              <a:ext cx="5410200" cy="405765"/>
            </a:xfrm>
            <a:prstGeom prst="rect">
              <a:avLst/>
            </a:prstGeom>
            <a:solidFill>
              <a:srgbClr val="F4F6FB"/>
            </a:solidFill>
            <a:ln>
              <a:noFill/>
            </a:ln>
          </p:spPr>
        </p:sp>
        <p:sp>
          <p:nvSpPr>
            <p:cNvPr id="20" name="TextBox 20"/>
            <p:cNvSpPr txBox="1"/>
            <p:nvPr/>
          </p:nvSpPr>
          <p:spPr>
            <a:xfrm>
              <a:off x="633412" y="2877026"/>
              <a:ext cx="103431" cy="220028"/>
            </a:xfrm>
            <a:prstGeom prst="rect">
              <a:avLst/>
            </a:prstGeom>
            <a:noFill/>
            <a:ln>
              <a:noFill/>
            </a:ln>
          </p:spPr>
          <p:txBody>
            <a:bodyPr wrap="none" lIns="0" tIns="0" rIns="0" bIns="0" anchor="t" anchorCtr="0">
              <a:spAutoFit/>
            </a:bodyPr>
            <a:lstStyle/>
            <a:p>
              <a:pPr algn="l"/>
              <a:r>
                <a:rPr lang="en-US" sz="1120" b="1" dirty="0">
                  <a:solidFill>
                    <a:srgbClr val="1F2937"/>
                  </a:solidFill>
                  <a:latin typeface="+mn-lt"/>
                  <a:ea typeface="+mn-ea"/>
                  <a:cs typeface="+mn-cs"/>
                </a:rPr>
                <a:t>S</a:t>
              </a:r>
            </a:p>
          </p:txBody>
        </p:sp>
        <p:sp>
          <p:nvSpPr>
            <p:cNvPr id="21" name="TextBox 21"/>
            <p:cNvSpPr txBox="1"/>
            <p:nvPr/>
          </p:nvSpPr>
          <p:spPr>
            <a:xfrm>
              <a:off x="1336358" y="2877026"/>
              <a:ext cx="463753"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读命中</a:t>
              </a:r>
            </a:p>
          </p:txBody>
        </p:sp>
        <p:sp>
          <p:nvSpPr>
            <p:cNvPr id="22" name="TextBox 22"/>
            <p:cNvSpPr txBox="1"/>
            <p:nvPr/>
          </p:nvSpPr>
          <p:spPr>
            <a:xfrm>
              <a:off x="2147888" y="2877026"/>
              <a:ext cx="463753"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读数据</a:t>
              </a:r>
            </a:p>
          </p:txBody>
        </p:sp>
        <p:sp>
          <p:nvSpPr>
            <p:cNvPr id="23" name="TextBox 23"/>
            <p:cNvSpPr txBox="1"/>
            <p:nvPr/>
          </p:nvSpPr>
          <p:spPr>
            <a:xfrm>
              <a:off x="5232082" y="2877026"/>
              <a:ext cx="99050" cy="220028"/>
            </a:xfrm>
            <a:prstGeom prst="rect">
              <a:avLst/>
            </a:prstGeom>
            <a:noFill/>
            <a:ln>
              <a:noFill/>
            </a:ln>
          </p:spPr>
          <p:txBody>
            <a:bodyPr wrap="none" lIns="0" tIns="0" rIns="0" bIns="0" anchor="t" anchorCtr="0">
              <a:spAutoFit/>
            </a:bodyPr>
            <a:lstStyle/>
            <a:p>
              <a:pPr algn="l"/>
              <a:r>
                <a:rPr lang="en-US" sz="1120" dirty="0">
                  <a:solidFill>
                    <a:srgbClr val="1F2937"/>
                  </a:solidFill>
                  <a:latin typeface="+mn-lt"/>
                  <a:ea typeface="+mn-ea"/>
                  <a:cs typeface="+mn-cs"/>
                </a:rPr>
                <a:t>S</a:t>
              </a:r>
            </a:p>
          </p:txBody>
        </p:sp>
        <p:sp>
          <p:nvSpPr>
            <p:cNvPr id="24" name="Rectangle 24"/>
            <p:cNvSpPr/>
            <p:nvPr/>
          </p:nvSpPr>
          <p:spPr>
            <a:xfrm>
              <a:off x="533400" y="3153728"/>
              <a:ext cx="5410200" cy="9525"/>
            </a:xfrm>
            <a:prstGeom prst="rect">
              <a:avLst/>
            </a:prstGeom>
            <a:solidFill>
              <a:srgbClr val="D9DFEA"/>
            </a:solidFill>
            <a:ln>
              <a:noFill/>
            </a:ln>
          </p:spPr>
        </p:sp>
        <p:sp>
          <p:nvSpPr>
            <p:cNvPr id="25" name="TextBox 25"/>
            <p:cNvSpPr txBox="1"/>
            <p:nvPr/>
          </p:nvSpPr>
          <p:spPr>
            <a:xfrm>
              <a:off x="633412" y="3282791"/>
              <a:ext cx="136886" cy="220028"/>
            </a:xfrm>
            <a:prstGeom prst="rect">
              <a:avLst/>
            </a:prstGeom>
            <a:noFill/>
            <a:ln>
              <a:noFill/>
            </a:ln>
          </p:spPr>
          <p:txBody>
            <a:bodyPr wrap="none" lIns="0" tIns="0" rIns="0" bIns="0" anchor="t" anchorCtr="0">
              <a:spAutoFit/>
            </a:bodyPr>
            <a:lstStyle/>
            <a:p>
              <a:pPr algn="l"/>
              <a:r>
                <a:rPr lang="en-US" sz="1120" b="1" dirty="0">
                  <a:solidFill>
                    <a:srgbClr val="1F2937"/>
                  </a:solidFill>
                  <a:latin typeface="+mn-lt"/>
                  <a:ea typeface="+mn-ea"/>
                  <a:cs typeface="+mn-cs"/>
                </a:rPr>
                <a:t>M</a:t>
              </a:r>
            </a:p>
          </p:txBody>
        </p:sp>
        <p:sp>
          <p:nvSpPr>
            <p:cNvPr id="26" name="TextBox 26"/>
            <p:cNvSpPr txBox="1"/>
            <p:nvPr/>
          </p:nvSpPr>
          <p:spPr>
            <a:xfrm>
              <a:off x="1336358" y="3282791"/>
              <a:ext cx="463753"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读命中</a:t>
              </a:r>
            </a:p>
          </p:txBody>
        </p:sp>
        <p:sp>
          <p:nvSpPr>
            <p:cNvPr id="27" name="TextBox 27"/>
            <p:cNvSpPr txBox="1"/>
            <p:nvPr/>
          </p:nvSpPr>
          <p:spPr>
            <a:xfrm>
              <a:off x="2147888" y="3282791"/>
              <a:ext cx="463753"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读数据</a:t>
              </a:r>
            </a:p>
          </p:txBody>
        </p:sp>
        <p:sp>
          <p:nvSpPr>
            <p:cNvPr id="28" name="TextBox 28"/>
            <p:cNvSpPr txBox="1"/>
            <p:nvPr/>
          </p:nvSpPr>
          <p:spPr>
            <a:xfrm>
              <a:off x="5232082" y="3282791"/>
              <a:ext cx="130912" cy="220028"/>
            </a:xfrm>
            <a:prstGeom prst="rect">
              <a:avLst/>
            </a:prstGeom>
            <a:noFill/>
            <a:ln>
              <a:noFill/>
            </a:ln>
          </p:spPr>
          <p:txBody>
            <a:bodyPr wrap="none" lIns="0" tIns="0" rIns="0" bIns="0" anchor="t" anchorCtr="0">
              <a:spAutoFit/>
            </a:bodyPr>
            <a:lstStyle/>
            <a:p>
              <a:pPr algn="l"/>
              <a:r>
                <a:rPr lang="en-US" sz="1120" dirty="0">
                  <a:solidFill>
                    <a:srgbClr val="1F2937"/>
                  </a:solidFill>
                  <a:latin typeface="+mn-lt"/>
                  <a:ea typeface="+mn-ea"/>
                  <a:cs typeface="+mn-cs"/>
                </a:rPr>
                <a:t>M</a:t>
              </a:r>
            </a:p>
          </p:txBody>
        </p:sp>
        <p:sp>
          <p:nvSpPr>
            <p:cNvPr id="29" name="Rectangle 29"/>
            <p:cNvSpPr/>
            <p:nvPr/>
          </p:nvSpPr>
          <p:spPr>
            <a:xfrm>
              <a:off x="533400" y="3559492"/>
              <a:ext cx="5410200" cy="9525"/>
            </a:xfrm>
            <a:prstGeom prst="rect">
              <a:avLst/>
            </a:prstGeom>
            <a:solidFill>
              <a:srgbClr val="D9DFEA"/>
            </a:solidFill>
            <a:ln>
              <a:noFill/>
            </a:ln>
          </p:spPr>
        </p:sp>
        <p:sp>
          <p:nvSpPr>
            <p:cNvPr id="30" name="Rectangle 30"/>
            <p:cNvSpPr/>
            <p:nvPr/>
          </p:nvSpPr>
          <p:spPr>
            <a:xfrm>
              <a:off x="533400" y="3564255"/>
              <a:ext cx="5410200" cy="405765"/>
            </a:xfrm>
            <a:prstGeom prst="rect">
              <a:avLst/>
            </a:prstGeom>
            <a:solidFill>
              <a:srgbClr val="F4F6FB"/>
            </a:solidFill>
            <a:ln>
              <a:noFill/>
            </a:ln>
          </p:spPr>
        </p:sp>
        <p:sp>
          <p:nvSpPr>
            <p:cNvPr id="31" name="TextBox 31"/>
            <p:cNvSpPr txBox="1"/>
            <p:nvPr/>
          </p:nvSpPr>
          <p:spPr>
            <a:xfrm>
              <a:off x="633412" y="3688556"/>
              <a:ext cx="61612" cy="220028"/>
            </a:xfrm>
            <a:prstGeom prst="rect">
              <a:avLst/>
            </a:prstGeom>
            <a:noFill/>
            <a:ln>
              <a:noFill/>
            </a:ln>
          </p:spPr>
          <p:txBody>
            <a:bodyPr wrap="none" lIns="0" tIns="0" rIns="0" bIns="0" anchor="t" anchorCtr="0">
              <a:spAutoFit/>
            </a:bodyPr>
            <a:lstStyle/>
            <a:p>
              <a:pPr algn="l"/>
              <a:r>
                <a:rPr lang="en-US" sz="1120" b="1" dirty="0">
                  <a:solidFill>
                    <a:srgbClr val="1F2937"/>
                  </a:solidFill>
                  <a:latin typeface="+mn-lt"/>
                  <a:ea typeface="+mn-ea"/>
                  <a:cs typeface="+mn-cs"/>
                </a:rPr>
                <a:t>I</a:t>
              </a:r>
            </a:p>
          </p:txBody>
        </p:sp>
        <p:sp>
          <p:nvSpPr>
            <p:cNvPr id="32" name="TextBox 32"/>
            <p:cNvSpPr txBox="1"/>
            <p:nvPr/>
          </p:nvSpPr>
          <p:spPr>
            <a:xfrm>
              <a:off x="1336358" y="3688556"/>
              <a:ext cx="463753"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读缺失</a:t>
              </a:r>
            </a:p>
          </p:txBody>
        </p:sp>
        <p:sp>
          <p:nvSpPr>
            <p:cNvPr id="33" name="TextBox 33"/>
            <p:cNvSpPr txBox="1"/>
            <p:nvPr/>
          </p:nvSpPr>
          <p:spPr>
            <a:xfrm>
              <a:off x="2147888" y="3688556"/>
              <a:ext cx="2474714"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RdMiss(K) → B；收到 Data(K) 后读</a:t>
              </a:r>
            </a:p>
          </p:txBody>
        </p:sp>
        <p:sp>
          <p:nvSpPr>
            <p:cNvPr id="34" name="TextBox 34"/>
            <p:cNvSpPr txBox="1"/>
            <p:nvPr/>
          </p:nvSpPr>
          <p:spPr>
            <a:xfrm>
              <a:off x="5232082" y="3688556"/>
              <a:ext cx="99050" cy="220028"/>
            </a:xfrm>
            <a:prstGeom prst="rect">
              <a:avLst/>
            </a:prstGeom>
            <a:noFill/>
            <a:ln>
              <a:noFill/>
            </a:ln>
          </p:spPr>
          <p:txBody>
            <a:bodyPr wrap="none" lIns="0" tIns="0" rIns="0" bIns="0" anchor="t" anchorCtr="0">
              <a:spAutoFit/>
            </a:bodyPr>
            <a:lstStyle/>
            <a:p>
              <a:pPr algn="l"/>
              <a:r>
                <a:rPr lang="en-US" sz="1120" dirty="0">
                  <a:solidFill>
                    <a:srgbClr val="1F2937"/>
                  </a:solidFill>
                  <a:latin typeface="+mn-lt"/>
                  <a:ea typeface="+mn-ea"/>
                  <a:cs typeface="+mn-cs"/>
                </a:rPr>
                <a:t>S</a:t>
              </a:r>
            </a:p>
          </p:txBody>
        </p:sp>
        <p:sp>
          <p:nvSpPr>
            <p:cNvPr id="35" name="Rectangle 35"/>
            <p:cNvSpPr/>
            <p:nvPr/>
          </p:nvSpPr>
          <p:spPr>
            <a:xfrm>
              <a:off x="533400" y="3965258"/>
              <a:ext cx="5410200" cy="9525"/>
            </a:xfrm>
            <a:prstGeom prst="rect">
              <a:avLst/>
            </a:prstGeom>
            <a:solidFill>
              <a:srgbClr val="D9DFEA"/>
            </a:solidFill>
            <a:ln>
              <a:noFill/>
            </a:ln>
          </p:spPr>
        </p:sp>
        <p:sp>
          <p:nvSpPr>
            <p:cNvPr id="36" name="TextBox 36"/>
            <p:cNvSpPr txBox="1"/>
            <p:nvPr/>
          </p:nvSpPr>
          <p:spPr>
            <a:xfrm>
              <a:off x="633412" y="4194334"/>
              <a:ext cx="103431" cy="220028"/>
            </a:xfrm>
            <a:prstGeom prst="rect">
              <a:avLst/>
            </a:prstGeom>
            <a:noFill/>
            <a:ln>
              <a:noFill/>
            </a:ln>
          </p:spPr>
          <p:txBody>
            <a:bodyPr wrap="none" lIns="0" tIns="0" rIns="0" bIns="0" anchor="t" anchorCtr="0">
              <a:spAutoFit/>
            </a:bodyPr>
            <a:lstStyle/>
            <a:p>
              <a:pPr algn="l"/>
              <a:r>
                <a:rPr lang="en-US" sz="1120" b="1" dirty="0">
                  <a:solidFill>
                    <a:srgbClr val="1F2937"/>
                  </a:solidFill>
                  <a:latin typeface="+mn-lt"/>
                  <a:ea typeface="+mn-ea"/>
                  <a:cs typeface="+mn-cs"/>
                </a:rPr>
                <a:t>S</a:t>
              </a:r>
            </a:p>
          </p:txBody>
        </p:sp>
        <p:sp>
          <p:nvSpPr>
            <p:cNvPr id="37" name="TextBox 37"/>
            <p:cNvSpPr txBox="1"/>
            <p:nvPr/>
          </p:nvSpPr>
          <p:spPr>
            <a:xfrm>
              <a:off x="1336358" y="4194334"/>
              <a:ext cx="463753"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读缺失</a:t>
              </a:r>
            </a:p>
          </p:txBody>
        </p:sp>
        <p:sp>
          <p:nvSpPr>
            <p:cNvPr id="38" name="TextBox 38"/>
            <p:cNvSpPr txBox="1"/>
            <p:nvPr/>
          </p:nvSpPr>
          <p:spPr>
            <a:xfrm>
              <a:off x="2147888" y="4094321"/>
              <a:ext cx="2614422" cy="420052"/>
            </a:xfrm>
            <a:prstGeom prst="rect">
              <a:avLst/>
            </a:prstGeom>
            <a:noFill/>
            <a:ln>
              <a:noFill/>
            </a:ln>
          </p:spPr>
          <p:txBody>
            <a:bodyPr wrap="none" lIns="0" tIns="0" rIns="0" bIns="0" anchor="t" anchorCtr="0">
              <a:spAutoFit/>
            </a:bodyPr>
            <a:lstStyle/>
            <a:p>
              <a:pPr algn="l">
                <a:lnSpc>
                  <a:spcPts val="1575"/>
                </a:lnSpc>
              </a:pPr>
              <a:r>
                <a:rPr lang="zh-CN" sz="1120" dirty="0">
                  <a:solidFill>
                    <a:srgbClr val="1F2937"/>
                  </a:solidFill>
                  <a:latin typeface="+mn-lt"/>
                  <a:ea typeface="+mn-ea"/>
                  <a:cs typeface="+mn-cs"/>
                </a:rPr>
                <a:t>Quit(K1) → B1；RdMiss(K2) → B2；收到</a:t>
              </a:r>
              <a:br/>
              <a:r>
                <a:rPr lang="zh-CN" sz="1120" dirty="0">
                  <a:solidFill>
                    <a:srgbClr val="1F2937"/>
                  </a:solidFill>
                  <a:latin typeface="+mn-lt"/>
                  <a:ea typeface="+mn-ea"/>
                  <a:cs typeface="+mn-cs"/>
                </a:rPr>
                <a:t>Data(K2) 后读</a:t>
              </a:r>
            </a:p>
          </p:txBody>
        </p:sp>
        <p:sp>
          <p:nvSpPr>
            <p:cNvPr id="39" name="TextBox 39"/>
            <p:cNvSpPr txBox="1"/>
            <p:nvPr/>
          </p:nvSpPr>
          <p:spPr>
            <a:xfrm>
              <a:off x="5232082" y="4194334"/>
              <a:ext cx="99050" cy="220028"/>
            </a:xfrm>
            <a:prstGeom prst="rect">
              <a:avLst/>
            </a:prstGeom>
            <a:noFill/>
            <a:ln>
              <a:noFill/>
            </a:ln>
          </p:spPr>
          <p:txBody>
            <a:bodyPr wrap="none" lIns="0" tIns="0" rIns="0" bIns="0" anchor="t" anchorCtr="0">
              <a:spAutoFit/>
            </a:bodyPr>
            <a:lstStyle/>
            <a:p>
              <a:pPr algn="l"/>
              <a:r>
                <a:rPr lang="en-US" sz="1120" dirty="0">
                  <a:solidFill>
                    <a:srgbClr val="1F2937"/>
                  </a:solidFill>
                  <a:latin typeface="+mn-lt"/>
                  <a:ea typeface="+mn-ea"/>
                  <a:cs typeface="+mn-cs"/>
                </a:rPr>
                <a:t>S</a:t>
              </a:r>
            </a:p>
          </p:txBody>
        </p:sp>
        <p:sp>
          <p:nvSpPr>
            <p:cNvPr id="40" name="Rectangle 40"/>
            <p:cNvSpPr/>
            <p:nvPr/>
          </p:nvSpPr>
          <p:spPr>
            <a:xfrm>
              <a:off x="533400" y="4571048"/>
              <a:ext cx="5410200" cy="9525"/>
            </a:xfrm>
            <a:prstGeom prst="rect">
              <a:avLst/>
            </a:prstGeom>
            <a:solidFill>
              <a:srgbClr val="D9DFEA"/>
            </a:solidFill>
            <a:ln>
              <a:noFill/>
            </a:ln>
          </p:spPr>
        </p:sp>
        <p:sp>
          <p:nvSpPr>
            <p:cNvPr id="41" name="Rectangle 41"/>
            <p:cNvSpPr/>
            <p:nvPr/>
          </p:nvSpPr>
          <p:spPr>
            <a:xfrm>
              <a:off x="533400" y="4575810"/>
              <a:ext cx="5410200" cy="605790"/>
            </a:xfrm>
            <a:prstGeom prst="rect">
              <a:avLst/>
            </a:prstGeom>
            <a:solidFill>
              <a:srgbClr val="F4F6FB"/>
            </a:solidFill>
            <a:ln>
              <a:noFill/>
            </a:ln>
          </p:spPr>
        </p:sp>
        <p:sp>
          <p:nvSpPr>
            <p:cNvPr id="42" name="TextBox 42"/>
            <p:cNvSpPr txBox="1"/>
            <p:nvPr/>
          </p:nvSpPr>
          <p:spPr>
            <a:xfrm>
              <a:off x="633412" y="4800124"/>
              <a:ext cx="136886" cy="220028"/>
            </a:xfrm>
            <a:prstGeom prst="rect">
              <a:avLst/>
            </a:prstGeom>
            <a:noFill/>
            <a:ln>
              <a:noFill/>
            </a:ln>
          </p:spPr>
          <p:txBody>
            <a:bodyPr wrap="none" lIns="0" tIns="0" rIns="0" bIns="0" anchor="t" anchorCtr="0">
              <a:spAutoFit/>
            </a:bodyPr>
            <a:lstStyle/>
            <a:p>
              <a:pPr algn="l"/>
              <a:r>
                <a:rPr lang="en-US" sz="1120" b="1" dirty="0">
                  <a:solidFill>
                    <a:srgbClr val="1F2937"/>
                  </a:solidFill>
                  <a:latin typeface="+mn-lt"/>
                  <a:ea typeface="+mn-ea"/>
                  <a:cs typeface="+mn-cs"/>
                </a:rPr>
                <a:t>M</a:t>
              </a:r>
            </a:p>
          </p:txBody>
        </p:sp>
        <p:sp>
          <p:nvSpPr>
            <p:cNvPr id="43" name="TextBox 43"/>
            <p:cNvSpPr txBox="1"/>
            <p:nvPr/>
          </p:nvSpPr>
          <p:spPr>
            <a:xfrm>
              <a:off x="1336358" y="4800124"/>
              <a:ext cx="463753"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读缺失</a:t>
              </a:r>
            </a:p>
          </p:txBody>
        </p:sp>
        <p:sp>
          <p:nvSpPr>
            <p:cNvPr id="44" name="TextBox 44"/>
            <p:cNvSpPr txBox="1"/>
            <p:nvPr/>
          </p:nvSpPr>
          <p:spPr>
            <a:xfrm>
              <a:off x="2147888" y="4700111"/>
              <a:ext cx="2635758" cy="420052"/>
            </a:xfrm>
            <a:prstGeom prst="rect">
              <a:avLst/>
            </a:prstGeom>
            <a:noFill/>
            <a:ln>
              <a:noFill/>
            </a:ln>
          </p:spPr>
          <p:txBody>
            <a:bodyPr wrap="none" lIns="0" tIns="0" rIns="0" bIns="0" anchor="t" anchorCtr="0">
              <a:spAutoFit/>
            </a:bodyPr>
            <a:lstStyle/>
            <a:p>
              <a:pPr algn="l">
                <a:lnSpc>
                  <a:spcPts val="1575"/>
                </a:lnSpc>
              </a:pPr>
              <a:r>
                <a:rPr lang="zh-CN" sz="1120" dirty="0">
                  <a:solidFill>
                    <a:srgbClr val="1F2937"/>
                  </a:solidFill>
                  <a:latin typeface="+mn-lt"/>
                  <a:ea typeface="+mn-ea"/>
                  <a:cs typeface="+mn-cs"/>
                </a:rPr>
                <a:t>Update(K1) → B1；RdMiss(K2) → B2；收</a:t>
              </a:r>
              <a:br/>
              <a:r>
                <a:rPr lang="zh-CN" sz="1120" dirty="0">
                  <a:solidFill>
                    <a:srgbClr val="1F2937"/>
                  </a:solidFill>
                  <a:latin typeface="+mn-lt"/>
                  <a:ea typeface="+mn-ea"/>
                  <a:cs typeface="+mn-cs"/>
                </a:rPr>
                <a:t>到 Data(K2) 后读</a:t>
              </a:r>
            </a:p>
          </p:txBody>
        </p:sp>
        <p:sp>
          <p:nvSpPr>
            <p:cNvPr id="45" name="TextBox 45"/>
            <p:cNvSpPr txBox="1"/>
            <p:nvPr/>
          </p:nvSpPr>
          <p:spPr>
            <a:xfrm>
              <a:off x="5232082" y="4800124"/>
              <a:ext cx="99050" cy="220028"/>
            </a:xfrm>
            <a:prstGeom prst="rect">
              <a:avLst/>
            </a:prstGeom>
            <a:noFill/>
            <a:ln>
              <a:noFill/>
            </a:ln>
          </p:spPr>
          <p:txBody>
            <a:bodyPr wrap="none" lIns="0" tIns="0" rIns="0" bIns="0" anchor="t" anchorCtr="0">
              <a:spAutoFit/>
            </a:bodyPr>
            <a:lstStyle/>
            <a:p>
              <a:pPr algn="l"/>
              <a:r>
                <a:rPr lang="en-US" sz="1120" dirty="0">
                  <a:solidFill>
                    <a:srgbClr val="1F2937"/>
                  </a:solidFill>
                  <a:latin typeface="+mn-lt"/>
                  <a:ea typeface="+mn-ea"/>
                  <a:cs typeface="+mn-cs"/>
                </a:rPr>
                <a:t>S</a:t>
              </a:r>
            </a:p>
          </p:txBody>
        </p:sp>
        <p:sp>
          <p:nvSpPr>
            <p:cNvPr id="46" name="Rectangle 46"/>
            <p:cNvSpPr/>
            <p:nvPr/>
          </p:nvSpPr>
          <p:spPr>
            <a:xfrm>
              <a:off x="533400" y="1941195"/>
              <a:ext cx="5410200" cy="3240405"/>
            </a:xfrm>
            <a:prstGeom prst="rect">
              <a:avLst/>
            </a:prstGeom>
            <a:noFill/>
            <a:ln w="14288">
              <a:solidFill>
                <a:srgbClr val="D9DFEA"/>
              </a:solidFill>
            </a:ln>
          </p:spPr>
        </p:sp>
        <p:sp>
          <p:nvSpPr>
            <p:cNvPr id="47" name="Rectangle 47"/>
            <p:cNvSpPr/>
            <p:nvPr/>
          </p:nvSpPr>
          <p:spPr>
            <a:xfrm>
              <a:off x="1231582" y="1941195"/>
              <a:ext cx="9525" cy="3240405"/>
            </a:xfrm>
            <a:prstGeom prst="rect">
              <a:avLst/>
            </a:prstGeom>
            <a:solidFill>
              <a:srgbClr val="D9DFEA"/>
            </a:solidFill>
            <a:ln>
              <a:noFill/>
            </a:ln>
          </p:spPr>
        </p:sp>
        <p:sp>
          <p:nvSpPr>
            <p:cNvPr id="48" name="Rectangle 48"/>
            <p:cNvSpPr/>
            <p:nvPr/>
          </p:nvSpPr>
          <p:spPr>
            <a:xfrm>
              <a:off x="2043112" y="1941195"/>
              <a:ext cx="9525" cy="3240405"/>
            </a:xfrm>
            <a:prstGeom prst="rect">
              <a:avLst/>
            </a:prstGeom>
            <a:solidFill>
              <a:srgbClr val="D9DFEA"/>
            </a:solidFill>
            <a:ln>
              <a:noFill/>
            </a:ln>
          </p:spPr>
        </p:sp>
        <p:sp>
          <p:nvSpPr>
            <p:cNvPr id="49" name="Rectangle 49"/>
            <p:cNvSpPr/>
            <p:nvPr/>
          </p:nvSpPr>
          <p:spPr>
            <a:xfrm>
              <a:off x="5127308" y="1941195"/>
              <a:ext cx="9525" cy="3240405"/>
            </a:xfrm>
            <a:prstGeom prst="rect">
              <a:avLst/>
            </a:prstGeom>
            <a:solidFill>
              <a:srgbClr val="D9DFEA"/>
            </a:solidFill>
            <a:ln>
              <a:noFill/>
            </a:ln>
          </p:spPr>
        </p:sp>
        <p:sp>
          <p:nvSpPr>
            <p:cNvPr id="50" name="TextBox 50"/>
            <p:cNvSpPr txBox="1"/>
            <p:nvPr/>
          </p:nvSpPr>
          <p:spPr>
            <a:xfrm>
              <a:off x="528066" y="5256848"/>
              <a:ext cx="434721" cy="205359"/>
            </a:xfrm>
            <a:prstGeom prst="rect">
              <a:avLst/>
            </a:prstGeom>
            <a:noFill/>
            <a:ln>
              <a:noFill/>
            </a:ln>
          </p:spPr>
          <p:txBody>
            <a:bodyPr wrap="none" lIns="0" tIns="0" rIns="0" bIns="0" anchor="t" anchorCtr="0">
              <a:spAutoFit/>
            </a:bodyPr>
            <a:lstStyle/>
            <a:p>
              <a:pPr algn="l"/>
              <a:r>
                <a:rPr lang="zh-CN" sz="1050" dirty="0">
                  <a:solidFill>
                    <a:srgbClr val="5B6475"/>
                  </a:solidFill>
                  <a:latin typeface="+mn-lt"/>
                  <a:ea typeface="+mn-ea"/>
                  <a:cs typeface="+mn-cs"/>
                </a:rPr>
                <a:t>读操作</a:t>
              </a:r>
            </a:p>
          </p:txBody>
        </p:sp>
      </p:grpSp>
      <p:grpSp>
        <p:nvGrpSpPr>
          <p:cNvPr id="94" name="c2-table-1"/>
          <p:cNvGrpSpPr/>
          <p:nvPr/>
        </p:nvGrpSpPr>
        <p:grpSpPr>
          <a:xfrm>
            <a:off x="6243066" y="1941195"/>
            <a:ext cx="5415534" cy="3521012"/>
            <a:chOff x="6243066" y="1941195"/>
            <a:chExt cx="5415534" cy="3521012"/>
          </a:xfrm>
        </p:grpSpPr>
        <p:sp>
          <p:nvSpPr>
            <p:cNvPr id="52" name="Rectangle 52"/>
            <p:cNvSpPr/>
            <p:nvPr/>
          </p:nvSpPr>
          <p:spPr>
            <a:xfrm>
              <a:off x="6248400" y="1941195"/>
              <a:ext cx="5410200" cy="405765"/>
            </a:xfrm>
            <a:prstGeom prst="rect">
              <a:avLst/>
            </a:prstGeom>
            <a:solidFill>
              <a:srgbClr val="334E68"/>
            </a:solidFill>
            <a:ln>
              <a:noFill/>
            </a:ln>
          </p:spPr>
        </p:sp>
        <p:sp>
          <p:nvSpPr>
            <p:cNvPr id="53" name="TextBox 53"/>
            <p:cNvSpPr txBox="1"/>
            <p:nvPr/>
          </p:nvSpPr>
          <p:spPr>
            <a:xfrm>
              <a:off x="6443383" y="2065496"/>
              <a:ext cx="312979"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当前</a:t>
              </a:r>
            </a:p>
          </p:txBody>
        </p:sp>
        <p:sp>
          <p:nvSpPr>
            <p:cNvPr id="54" name="TextBox 54"/>
            <p:cNvSpPr txBox="1"/>
            <p:nvPr/>
          </p:nvSpPr>
          <p:spPr>
            <a:xfrm>
              <a:off x="7200621" y="2065496"/>
              <a:ext cx="312979"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事件</a:t>
              </a:r>
            </a:p>
          </p:txBody>
        </p:sp>
        <p:sp>
          <p:nvSpPr>
            <p:cNvPr id="55" name="TextBox 55"/>
            <p:cNvSpPr txBox="1"/>
            <p:nvPr/>
          </p:nvSpPr>
          <p:spPr>
            <a:xfrm>
              <a:off x="8678161" y="2065496"/>
              <a:ext cx="1253623"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Cache 控制器操作</a:t>
              </a:r>
            </a:p>
          </p:txBody>
        </p:sp>
        <p:sp>
          <p:nvSpPr>
            <p:cNvPr id="56" name="TextBox 56"/>
            <p:cNvSpPr txBox="1"/>
            <p:nvPr/>
          </p:nvSpPr>
          <p:spPr>
            <a:xfrm>
              <a:off x="11020958" y="2065496"/>
              <a:ext cx="463753"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新状态</a:t>
              </a:r>
            </a:p>
          </p:txBody>
        </p:sp>
        <p:sp>
          <p:nvSpPr>
            <p:cNvPr id="57" name="TextBox 57"/>
            <p:cNvSpPr txBox="1"/>
            <p:nvPr/>
          </p:nvSpPr>
          <p:spPr>
            <a:xfrm>
              <a:off x="6348412" y="2471261"/>
              <a:ext cx="61612" cy="220028"/>
            </a:xfrm>
            <a:prstGeom prst="rect">
              <a:avLst/>
            </a:prstGeom>
            <a:noFill/>
            <a:ln>
              <a:noFill/>
            </a:ln>
          </p:spPr>
          <p:txBody>
            <a:bodyPr wrap="none" lIns="0" tIns="0" rIns="0" bIns="0" anchor="t" anchorCtr="0">
              <a:spAutoFit/>
            </a:bodyPr>
            <a:lstStyle/>
            <a:p>
              <a:pPr algn="l"/>
              <a:r>
                <a:rPr lang="en-US" sz="1120" b="1" dirty="0">
                  <a:solidFill>
                    <a:srgbClr val="1F2937"/>
                  </a:solidFill>
                  <a:latin typeface="+mn-lt"/>
                  <a:ea typeface="+mn-ea"/>
                  <a:cs typeface="+mn-cs"/>
                </a:rPr>
                <a:t>I</a:t>
              </a:r>
            </a:p>
          </p:txBody>
        </p:sp>
        <p:sp>
          <p:nvSpPr>
            <p:cNvPr id="58" name="TextBox 58"/>
            <p:cNvSpPr txBox="1"/>
            <p:nvPr/>
          </p:nvSpPr>
          <p:spPr>
            <a:xfrm>
              <a:off x="7051358" y="2471261"/>
              <a:ext cx="463753"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写命中</a:t>
              </a:r>
            </a:p>
          </p:txBody>
        </p:sp>
        <p:sp>
          <p:nvSpPr>
            <p:cNvPr id="59" name="TextBox 59"/>
            <p:cNvSpPr txBox="1"/>
            <p:nvPr/>
          </p:nvSpPr>
          <p:spPr>
            <a:xfrm>
              <a:off x="7862888" y="2471261"/>
              <a:ext cx="463753"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不可能</a:t>
              </a:r>
            </a:p>
          </p:txBody>
        </p:sp>
        <p:sp>
          <p:nvSpPr>
            <p:cNvPr id="60" name="TextBox 60"/>
            <p:cNvSpPr txBox="1"/>
            <p:nvPr/>
          </p:nvSpPr>
          <p:spPr>
            <a:xfrm>
              <a:off x="10947083" y="2471261"/>
              <a:ext cx="94356"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a:t>
              </a:r>
            </a:p>
          </p:txBody>
        </p:sp>
        <p:sp>
          <p:nvSpPr>
            <p:cNvPr id="61" name="Rectangle 61"/>
            <p:cNvSpPr/>
            <p:nvPr/>
          </p:nvSpPr>
          <p:spPr>
            <a:xfrm>
              <a:off x="6248400" y="2747962"/>
              <a:ext cx="5410200" cy="9525"/>
            </a:xfrm>
            <a:prstGeom prst="rect">
              <a:avLst/>
            </a:prstGeom>
            <a:solidFill>
              <a:srgbClr val="D9DFEA"/>
            </a:solidFill>
            <a:ln>
              <a:noFill/>
            </a:ln>
          </p:spPr>
        </p:sp>
        <p:sp>
          <p:nvSpPr>
            <p:cNvPr id="62" name="Rectangle 62"/>
            <p:cNvSpPr/>
            <p:nvPr/>
          </p:nvSpPr>
          <p:spPr>
            <a:xfrm>
              <a:off x="6248400" y="2752725"/>
              <a:ext cx="5410200" cy="405765"/>
            </a:xfrm>
            <a:prstGeom prst="rect">
              <a:avLst/>
            </a:prstGeom>
            <a:solidFill>
              <a:srgbClr val="F4F6FB"/>
            </a:solidFill>
            <a:ln>
              <a:noFill/>
            </a:ln>
          </p:spPr>
        </p:sp>
        <p:sp>
          <p:nvSpPr>
            <p:cNvPr id="63" name="TextBox 63"/>
            <p:cNvSpPr txBox="1"/>
            <p:nvPr/>
          </p:nvSpPr>
          <p:spPr>
            <a:xfrm>
              <a:off x="6348412" y="2877026"/>
              <a:ext cx="103431" cy="220028"/>
            </a:xfrm>
            <a:prstGeom prst="rect">
              <a:avLst/>
            </a:prstGeom>
            <a:noFill/>
            <a:ln>
              <a:noFill/>
            </a:ln>
          </p:spPr>
          <p:txBody>
            <a:bodyPr wrap="none" lIns="0" tIns="0" rIns="0" bIns="0" anchor="t" anchorCtr="0">
              <a:spAutoFit/>
            </a:bodyPr>
            <a:lstStyle/>
            <a:p>
              <a:pPr algn="l"/>
              <a:r>
                <a:rPr lang="en-US" sz="1120" b="1" dirty="0">
                  <a:solidFill>
                    <a:srgbClr val="1F2937"/>
                  </a:solidFill>
                  <a:latin typeface="+mn-lt"/>
                  <a:ea typeface="+mn-ea"/>
                  <a:cs typeface="+mn-cs"/>
                </a:rPr>
                <a:t>S</a:t>
              </a:r>
            </a:p>
          </p:txBody>
        </p:sp>
        <p:sp>
          <p:nvSpPr>
            <p:cNvPr id="64" name="TextBox 64"/>
            <p:cNvSpPr txBox="1"/>
            <p:nvPr/>
          </p:nvSpPr>
          <p:spPr>
            <a:xfrm>
              <a:off x="7051358" y="2877026"/>
              <a:ext cx="463753"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写命中</a:t>
              </a:r>
            </a:p>
          </p:txBody>
        </p:sp>
        <p:sp>
          <p:nvSpPr>
            <p:cNvPr id="65" name="TextBox 65"/>
            <p:cNvSpPr txBox="1"/>
            <p:nvPr/>
          </p:nvSpPr>
          <p:spPr>
            <a:xfrm>
              <a:off x="7862888" y="2877026"/>
              <a:ext cx="1853082"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Invalidate(K) → B；写数据</a:t>
              </a:r>
            </a:p>
          </p:txBody>
        </p:sp>
        <p:sp>
          <p:nvSpPr>
            <p:cNvPr id="66" name="TextBox 66"/>
            <p:cNvSpPr txBox="1"/>
            <p:nvPr/>
          </p:nvSpPr>
          <p:spPr>
            <a:xfrm>
              <a:off x="10947083" y="2877026"/>
              <a:ext cx="130912" cy="220028"/>
            </a:xfrm>
            <a:prstGeom prst="rect">
              <a:avLst/>
            </a:prstGeom>
            <a:noFill/>
            <a:ln>
              <a:noFill/>
            </a:ln>
          </p:spPr>
          <p:txBody>
            <a:bodyPr wrap="none" lIns="0" tIns="0" rIns="0" bIns="0" anchor="t" anchorCtr="0">
              <a:spAutoFit/>
            </a:bodyPr>
            <a:lstStyle/>
            <a:p>
              <a:pPr algn="l"/>
              <a:r>
                <a:rPr lang="en-US" sz="1120" dirty="0">
                  <a:solidFill>
                    <a:srgbClr val="1F2937"/>
                  </a:solidFill>
                  <a:latin typeface="+mn-lt"/>
                  <a:ea typeface="+mn-ea"/>
                  <a:cs typeface="+mn-cs"/>
                </a:rPr>
                <a:t>M</a:t>
              </a:r>
            </a:p>
          </p:txBody>
        </p:sp>
        <p:sp>
          <p:nvSpPr>
            <p:cNvPr id="67" name="Rectangle 67"/>
            <p:cNvSpPr/>
            <p:nvPr/>
          </p:nvSpPr>
          <p:spPr>
            <a:xfrm>
              <a:off x="6248400" y="3153728"/>
              <a:ext cx="5410200" cy="9525"/>
            </a:xfrm>
            <a:prstGeom prst="rect">
              <a:avLst/>
            </a:prstGeom>
            <a:solidFill>
              <a:srgbClr val="D9DFEA"/>
            </a:solidFill>
            <a:ln>
              <a:noFill/>
            </a:ln>
          </p:spPr>
        </p:sp>
        <p:sp>
          <p:nvSpPr>
            <p:cNvPr id="68" name="TextBox 68"/>
            <p:cNvSpPr txBox="1"/>
            <p:nvPr/>
          </p:nvSpPr>
          <p:spPr>
            <a:xfrm>
              <a:off x="6348412" y="3282791"/>
              <a:ext cx="136886" cy="220028"/>
            </a:xfrm>
            <a:prstGeom prst="rect">
              <a:avLst/>
            </a:prstGeom>
            <a:noFill/>
            <a:ln>
              <a:noFill/>
            </a:ln>
          </p:spPr>
          <p:txBody>
            <a:bodyPr wrap="none" lIns="0" tIns="0" rIns="0" bIns="0" anchor="t" anchorCtr="0">
              <a:spAutoFit/>
            </a:bodyPr>
            <a:lstStyle/>
            <a:p>
              <a:pPr algn="l"/>
              <a:r>
                <a:rPr lang="en-US" sz="1120" b="1" dirty="0">
                  <a:solidFill>
                    <a:srgbClr val="1F2937"/>
                  </a:solidFill>
                  <a:latin typeface="+mn-lt"/>
                  <a:ea typeface="+mn-ea"/>
                  <a:cs typeface="+mn-cs"/>
                </a:rPr>
                <a:t>M</a:t>
              </a:r>
            </a:p>
          </p:txBody>
        </p:sp>
        <p:sp>
          <p:nvSpPr>
            <p:cNvPr id="69" name="TextBox 69"/>
            <p:cNvSpPr txBox="1"/>
            <p:nvPr/>
          </p:nvSpPr>
          <p:spPr>
            <a:xfrm>
              <a:off x="7051358" y="3282791"/>
              <a:ext cx="463753"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写命中</a:t>
              </a:r>
            </a:p>
          </p:txBody>
        </p:sp>
        <p:sp>
          <p:nvSpPr>
            <p:cNvPr id="70" name="TextBox 70"/>
            <p:cNvSpPr txBox="1"/>
            <p:nvPr/>
          </p:nvSpPr>
          <p:spPr>
            <a:xfrm>
              <a:off x="7862888" y="3282791"/>
              <a:ext cx="463753"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写数据</a:t>
              </a:r>
            </a:p>
          </p:txBody>
        </p:sp>
        <p:sp>
          <p:nvSpPr>
            <p:cNvPr id="71" name="TextBox 71"/>
            <p:cNvSpPr txBox="1"/>
            <p:nvPr/>
          </p:nvSpPr>
          <p:spPr>
            <a:xfrm>
              <a:off x="10947083" y="3282791"/>
              <a:ext cx="130912" cy="220028"/>
            </a:xfrm>
            <a:prstGeom prst="rect">
              <a:avLst/>
            </a:prstGeom>
            <a:noFill/>
            <a:ln>
              <a:noFill/>
            </a:ln>
          </p:spPr>
          <p:txBody>
            <a:bodyPr wrap="none" lIns="0" tIns="0" rIns="0" bIns="0" anchor="t" anchorCtr="0">
              <a:spAutoFit/>
            </a:bodyPr>
            <a:lstStyle/>
            <a:p>
              <a:pPr algn="l"/>
              <a:r>
                <a:rPr lang="en-US" sz="1120" dirty="0">
                  <a:solidFill>
                    <a:srgbClr val="1F2937"/>
                  </a:solidFill>
                  <a:latin typeface="+mn-lt"/>
                  <a:ea typeface="+mn-ea"/>
                  <a:cs typeface="+mn-cs"/>
                </a:rPr>
                <a:t>M</a:t>
              </a:r>
            </a:p>
          </p:txBody>
        </p:sp>
        <p:sp>
          <p:nvSpPr>
            <p:cNvPr id="72" name="Rectangle 72"/>
            <p:cNvSpPr/>
            <p:nvPr/>
          </p:nvSpPr>
          <p:spPr>
            <a:xfrm>
              <a:off x="6248400" y="3559492"/>
              <a:ext cx="5410200" cy="9525"/>
            </a:xfrm>
            <a:prstGeom prst="rect">
              <a:avLst/>
            </a:prstGeom>
            <a:solidFill>
              <a:srgbClr val="D9DFEA"/>
            </a:solidFill>
            <a:ln>
              <a:noFill/>
            </a:ln>
          </p:spPr>
        </p:sp>
        <p:sp>
          <p:nvSpPr>
            <p:cNvPr id="73" name="Rectangle 73"/>
            <p:cNvSpPr/>
            <p:nvPr/>
          </p:nvSpPr>
          <p:spPr>
            <a:xfrm>
              <a:off x="6248400" y="3564255"/>
              <a:ext cx="5410200" cy="405765"/>
            </a:xfrm>
            <a:prstGeom prst="rect">
              <a:avLst/>
            </a:prstGeom>
            <a:solidFill>
              <a:srgbClr val="F4F6FB"/>
            </a:solidFill>
            <a:ln>
              <a:noFill/>
            </a:ln>
          </p:spPr>
        </p:sp>
        <p:sp>
          <p:nvSpPr>
            <p:cNvPr id="74" name="TextBox 74"/>
            <p:cNvSpPr txBox="1"/>
            <p:nvPr/>
          </p:nvSpPr>
          <p:spPr>
            <a:xfrm>
              <a:off x="6348412" y="3688556"/>
              <a:ext cx="61612" cy="220028"/>
            </a:xfrm>
            <a:prstGeom prst="rect">
              <a:avLst/>
            </a:prstGeom>
            <a:noFill/>
            <a:ln>
              <a:noFill/>
            </a:ln>
          </p:spPr>
          <p:txBody>
            <a:bodyPr wrap="none" lIns="0" tIns="0" rIns="0" bIns="0" anchor="t" anchorCtr="0">
              <a:spAutoFit/>
            </a:bodyPr>
            <a:lstStyle/>
            <a:p>
              <a:pPr algn="l"/>
              <a:r>
                <a:rPr lang="en-US" sz="1120" b="1" dirty="0">
                  <a:solidFill>
                    <a:srgbClr val="1F2937"/>
                  </a:solidFill>
                  <a:latin typeface="+mn-lt"/>
                  <a:ea typeface="+mn-ea"/>
                  <a:cs typeface="+mn-cs"/>
                </a:rPr>
                <a:t>I</a:t>
              </a:r>
            </a:p>
          </p:txBody>
        </p:sp>
        <p:sp>
          <p:nvSpPr>
            <p:cNvPr id="75" name="TextBox 75"/>
            <p:cNvSpPr txBox="1"/>
            <p:nvPr/>
          </p:nvSpPr>
          <p:spPr>
            <a:xfrm>
              <a:off x="7051358" y="3688556"/>
              <a:ext cx="463753"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写缺失</a:t>
              </a:r>
            </a:p>
          </p:txBody>
        </p:sp>
        <p:sp>
          <p:nvSpPr>
            <p:cNvPr id="76" name="TextBox 76"/>
            <p:cNvSpPr txBox="1"/>
            <p:nvPr/>
          </p:nvSpPr>
          <p:spPr>
            <a:xfrm>
              <a:off x="7862888" y="3688556"/>
              <a:ext cx="2505722"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WtMiss(K) → B；收到 Data(K) 后写</a:t>
              </a:r>
            </a:p>
          </p:txBody>
        </p:sp>
        <p:sp>
          <p:nvSpPr>
            <p:cNvPr id="77" name="TextBox 77"/>
            <p:cNvSpPr txBox="1"/>
            <p:nvPr/>
          </p:nvSpPr>
          <p:spPr>
            <a:xfrm>
              <a:off x="10947083" y="3688556"/>
              <a:ext cx="130912" cy="220028"/>
            </a:xfrm>
            <a:prstGeom prst="rect">
              <a:avLst/>
            </a:prstGeom>
            <a:noFill/>
            <a:ln>
              <a:noFill/>
            </a:ln>
          </p:spPr>
          <p:txBody>
            <a:bodyPr wrap="none" lIns="0" tIns="0" rIns="0" bIns="0" anchor="t" anchorCtr="0">
              <a:spAutoFit/>
            </a:bodyPr>
            <a:lstStyle/>
            <a:p>
              <a:pPr algn="l"/>
              <a:r>
                <a:rPr lang="en-US" sz="1120" dirty="0">
                  <a:solidFill>
                    <a:srgbClr val="1F2937"/>
                  </a:solidFill>
                  <a:latin typeface="+mn-lt"/>
                  <a:ea typeface="+mn-ea"/>
                  <a:cs typeface="+mn-cs"/>
                </a:rPr>
                <a:t>M</a:t>
              </a:r>
            </a:p>
          </p:txBody>
        </p:sp>
        <p:sp>
          <p:nvSpPr>
            <p:cNvPr id="78" name="Rectangle 78"/>
            <p:cNvSpPr/>
            <p:nvPr/>
          </p:nvSpPr>
          <p:spPr>
            <a:xfrm>
              <a:off x="6248400" y="3965258"/>
              <a:ext cx="5410200" cy="9525"/>
            </a:xfrm>
            <a:prstGeom prst="rect">
              <a:avLst/>
            </a:prstGeom>
            <a:solidFill>
              <a:srgbClr val="D9DFEA"/>
            </a:solidFill>
            <a:ln>
              <a:noFill/>
            </a:ln>
          </p:spPr>
        </p:sp>
        <p:sp>
          <p:nvSpPr>
            <p:cNvPr id="79" name="TextBox 79"/>
            <p:cNvSpPr txBox="1"/>
            <p:nvPr/>
          </p:nvSpPr>
          <p:spPr>
            <a:xfrm>
              <a:off x="6348412" y="4194334"/>
              <a:ext cx="103431" cy="220028"/>
            </a:xfrm>
            <a:prstGeom prst="rect">
              <a:avLst/>
            </a:prstGeom>
            <a:noFill/>
            <a:ln>
              <a:noFill/>
            </a:ln>
          </p:spPr>
          <p:txBody>
            <a:bodyPr wrap="none" lIns="0" tIns="0" rIns="0" bIns="0" anchor="t" anchorCtr="0">
              <a:spAutoFit/>
            </a:bodyPr>
            <a:lstStyle/>
            <a:p>
              <a:pPr algn="l"/>
              <a:r>
                <a:rPr lang="en-US" sz="1120" b="1" dirty="0">
                  <a:solidFill>
                    <a:srgbClr val="1F2937"/>
                  </a:solidFill>
                  <a:latin typeface="+mn-lt"/>
                  <a:ea typeface="+mn-ea"/>
                  <a:cs typeface="+mn-cs"/>
                </a:rPr>
                <a:t>S</a:t>
              </a:r>
            </a:p>
          </p:txBody>
        </p:sp>
        <p:sp>
          <p:nvSpPr>
            <p:cNvPr id="80" name="TextBox 80"/>
            <p:cNvSpPr txBox="1"/>
            <p:nvPr/>
          </p:nvSpPr>
          <p:spPr>
            <a:xfrm>
              <a:off x="7051358" y="4194334"/>
              <a:ext cx="463753"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写缺失</a:t>
              </a:r>
            </a:p>
          </p:txBody>
        </p:sp>
        <p:sp>
          <p:nvSpPr>
            <p:cNvPr id="81" name="TextBox 81"/>
            <p:cNvSpPr txBox="1"/>
            <p:nvPr/>
          </p:nvSpPr>
          <p:spPr>
            <a:xfrm>
              <a:off x="7862888" y="4094321"/>
              <a:ext cx="2540813" cy="420052"/>
            </a:xfrm>
            <a:prstGeom prst="rect">
              <a:avLst/>
            </a:prstGeom>
            <a:noFill/>
            <a:ln>
              <a:noFill/>
            </a:ln>
          </p:spPr>
          <p:txBody>
            <a:bodyPr wrap="none" lIns="0" tIns="0" rIns="0" bIns="0" anchor="t" anchorCtr="0">
              <a:spAutoFit/>
            </a:bodyPr>
            <a:lstStyle/>
            <a:p>
              <a:pPr algn="l">
                <a:lnSpc>
                  <a:spcPts val="1575"/>
                </a:lnSpc>
              </a:pPr>
              <a:r>
                <a:rPr lang="zh-CN" sz="1120" dirty="0">
                  <a:solidFill>
                    <a:srgbClr val="1F2937"/>
                  </a:solidFill>
                  <a:latin typeface="+mn-lt"/>
                  <a:ea typeface="+mn-ea"/>
                  <a:cs typeface="+mn-cs"/>
                </a:rPr>
                <a:t>Quit(K1) → B1；</a:t>
              </a:r>
              <a:r>
                <a:rPr lang="en-US" sz="1120" b="1" dirty="0">
                  <a:solidFill>
                    <a:srgbClr val="C2410C"/>
                  </a:solidFill>
                  <a:latin typeface="+mn-lt"/>
                  <a:ea typeface="+mn-ea"/>
                  <a:cs typeface="+mn-cs"/>
                </a:rPr>
                <a:t>WtMiss(K2)</a:t>
              </a:r>
              <a:r>
                <a:rPr lang="zh-CN" sz="1120" dirty="0">
                  <a:solidFill>
                    <a:srgbClr val="1F2937"/>
                  </a:solidFill>
                  <a:latin typeface="+mn-lt"/>
                  <a:ea typeface="+mn-ea"/>
                  <a:cs typeface="+mn-cs"/>
                </a:rPr>
                <a:t xml:space="preserve"> → B2；收</a:t>
              </a:r>
              <a:br/>
              <a:r>
                <a:rPr lang="zh-CN" sz="1120" dirty="0">
                  <a:solidFill>
                    <a:srgbClr val="1F2937"/>
                  </a:solidFill>
                  <a:latin typeface="+mn-lt"/>
                  <a:ea typeface="+mn-ea"/>
                  <a:cs typeface="+mn-cs"/>
                </a:rPr>
                <a:t>到 Data(K2) 后写</a:t>
              </a:r>
            </a:p>
          </p:txBody>
        </p:sp>
        <p:sp>
          <p:nvSpPr>
            <p:cNvPr id="82" name="TextBox 82"/>
            <p:cNvSpPr txBox="1"/>
            <p:nvPr/>
          </p:nvSpPr>
          <p:spPr>
            <a:xfrm>
              <a:off x="10947083" y="4194334"/>
              <a:ext cx="130912" cy="220028"/>
            </a:xfrm>
            <a:prstGeom prst="rect">
              <a:avLst/>
            </a:prstGeom>
            <a:noFill/>
            <a:ln>
              <a:noFill/>
            </a:ln>
          </p:spPr>
          <p:txBody>
            <a:bodyPr wrap="none" lIns="0" tIns="0" rIns="0" bIns="0" anchor="t" anchorCtr="0">
              <a:spAutoFit/>
            </a:bodyPr>
            <a:lstStyle/>
            <a:p>
              <a:pPr algn="l"/>
              <a:r>
                <a:rPr lang="en-US" sz="1120" dirty="0">
                  <a:solidFill>
                    <a:srgbClr val="1F2937"/>
                  </a:solidFill>
                  <a:latin typeface="+mn-lt"/>
                  <a:ea typeface="+mn-ea"/>
                  <a:cs typeface="+mn-cs"/>
                </a:rPr>
                <a:t>M</a:t>
              </a:r>
            </a:p>
          </p:txBody>
        </p:sp>
        <p:sp>
          <p:nvSpPr>
            <p:cNvPr id="83" name="Rectangle 83"/>
            <p:cNvSpPr/>
            <p:nvPr/>
          </p:nvSpPr>
          <p:spPr>
            <a:xfrm>
              <a:off x="6248400" y="4571048"/>
              <a:ext cx="5410200" cy="9525"/>
            </a:xfrm>
            <a:prstGeom prst="rect">
              <a:avLst/>
            </a:prstGeom>
            <a:solidFill>
              <a:srgbClr val="D9DFEA"/>
            </a:solidFill>
            <a:ln>
              <a:noFill/>
            </a:ln>
          </p:spPr>
        </p:sp>
        <p:sp>
          <p:nvSpPr>
            <p:cNvPr id="84" name="Rectangle 84"/>
            <p:cNvSpPr/>
            <p:nvPr/>
          </p:nvSpPr>
          <p:spPr>
            <a:xfrm>
              <a:off x="6248400" y="4575810"/>
              <a:ext cx="5410200" cy="605790"/>
            </a:xfrm>
            <a:prstGeom prst="rect">
              <a:avLst/>
            </a:prstGeom>
            <a:solidFill>
              <a:srgbClr val="F4F6FB"/>
            </a:solidFill>
            <a:ln>
              <a:noFill/>
            </a:ln>
          </p:spPr>
        </p:sp>
        <p:sp>
          <p:nvSpPr>
            <p:cNvPr id="85" name="TextBox 85"/>
            <p:cNvSpPr txBox="1"/>
            <p:nvPr/>
          </p:nvSpPr>
          <p:spPr>
            <a:xfrm>
              <a:off x="6348412" y="4800124"/>
              <a:ext cx="136886" cy="220028"/>
            </a:xfrm>
            <a:prstGeom prst="rect">
              <a:avLst/>
            </a:prstGeom>
            <a:noFill/>
            <a:ln>
              <a:noFill/>
            </a:ln>
          </p:spPr>
          <p:txBody>
            <a:bodyPr wrap="none" lIns="0" tIns="0" rIns="0" bIns="0" anchor="t" anchorCtr="0">
              <a:spAutoFit/>
            </a:bodyPr>
            <a:lstStyle/>
            <a:p>
              <a:pPr algn="l"/>
              <a:r>
                <a:rPr lang="en-US" sz="1120" b="1" dirty="0">
                  <a:solidFill>
                    <a:srgbClr val="1F2937"/>
                  </a:solidFill>
                  <a:latin typeface="+mn-lt"/>
                  <a:ea typeface="+mn-ea"/>
                  <a:cs typeface="+mn-cs"/>
                </a:rPr>
                <a:t>M</a:t>
              </a:r>
            </a:p>
          </p:txBody>
        </p:sp>
        <p:sp>
          <p:nvSpPr>
            <p:cNvPr id="86" name="TextBox 86"/>
            <p:cNvSpPr txBox="1"/>
            <p:nvPr/>
          </p:nvSpPr>
          <p:spPr>
            <a:xfrm>
              <a:off x="7051358" y="4800124"/>
              <a:ext cx="463753"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写缺失</a:t>
              </a:r>
            </a:p>
          </p:txBody>
        </p:sp>
        <p:sp>
          <p:nvSpPr>
            <p:cNvPr id="87" name="TextBox 87"/>
            <p:cNvSpPr txBox="1"/>
            <p:nvPr/>
          </p:nvSpPr>
          <p:spPr>
            <a:xfrm>
              <a:off x="7862888" y="4700111"/>
              <a:ext cx="2562149" cy="420052"/>
            </a:xfrm>
            <a:prstGeom prst="rect">
              <a:avLst/>
            </a:prstGeom>
            <a:noFill/>
            <a:ln>
              <a:noFill/>
            </a:ln>
          </p:spPr>
          <p:txBody>
            <a:bodyPr wrap="none" lIns="0" tIns="0" rIns="0" bIns="0" anchor="t" anchorCtr="0">
              <a:spAutoFit/>
            </a:bodyPr>
            <a:lstStyle/>
            <a:p>
              <a:pPr algn="l">
                <a:lnSpc>
                  <a:spcPts val="1575"/>
                </a:lnSpc>
              </a:pPr>
              <a:r>
                <a:rPr lang="zh-CN" sz="1120" dirty="0">
                  <a:solidFill>
                    <a:srgbClr val="1F2937"/>
                  </a:solidFill>
                  <a:latin typeface="+mn-lt"/>
                  <a:ea typeface="+mn-ea"/>
                  <a:cs typeface="+mn-cs"/>
                </a:rPr>
                <a:t>Update(K1) → B1；</a:t>
              </a:r>
              <a:r>
                <a:rPr lang="en-US" sz="1120" b="1" dirty="0">
                  <a:solidFill>
                    <a:srgbClr val="C2410C"/>
                  </a:solidFill>
                  <a:latin typeface="+mn-lt"/>
                  <a:ea typeface="+mn-ea"/>
                  <a:cs typeface="+mn-cs"/>
                </a:rPr>
                <a:t>WtMiss(K2)</a:t>
              </a:r>
              <a:r>
                <a:rPr lang="zh-CN" sz="1120" dirty="0">
                  <a:solidFill>
                    <a:srgbClr val="1F2937"/>
                  </a:solidFill>
                  <a:latin typeface="+mn-lt"/>
                  <a:ea typeface="+mn-ea"/>
                  <a:cs typeface="+mn-cs"/>
                </a:rPr>
                <a:t xml:space="preserve"> → B2；</a:t>
              </a:r>
              <a:br/>
              <a:r>
                <a:rPr lang="zh-CN" sz="1120" dirty="0">
                  <a:solidFill>
                    <a:srgbClr val="1F2937"/>
                  </a:solidFill>
                  <a:latin typeface="+mn-lt"/>
                  <a:ea typeface="+mn-ea"/>
                  <a:cs typeface="+mn-cs"/>
                </a:rPr>
                <a:t>收到 Data(K2) 后写</a:t>
              </a:r>
            </a:p>
          </p:txBody>
        </p:sp>
        <p:sp>
          <p:nvSpPr>
            <p:cNvPr id="88" name="TextBox 88"/>
            <p:cNvSpPr txBox="1"/>
            <p:nvPr/>
          </p:nvSpPr>
          <p:spPr>
            <a:xfrm>
              <a:off x="10947083" y="4800124"/>
              <a:ext cx="130912" cy="220028"/>
            </a:xfrm>
            <a:prstGeom prst="rect">
              <a:avLst/>
            </a:prstGeom>
            <a:noFill/>
            <a:ln>
              <a:noFill/>
            </a:ln>
          </p:spPr>
          <p:txBody>
            <a:bodyPr wrap="none" lIns="0" tIns="0" rIns="0" bIns="0" anchor="t" anchorCtr="0">
              <a:spAutoFit/>
            </a:bodyPr>
            <a:lstStyle/>
            <a:p>
              <a:pPr algn="l"/>
              <a:r>
                <a:rPr lang="en-US" sz="1120" dirty="0">
                  <a:solidFill>
                    <a:srgbClr val="1F2937"/>
                  </a:solidFill>
                  <a:latin typeface="+mn-lt"/>
                  <a:ea typeface="+mn-ea"/>
                  <a:cs typeface="+mn-cs"/>
                </a:rPr>
                <a:t>M</a:t>
              </a:r>
            </a:p>
          </p:txBody>
        </p:sp>
        <p:sp>
          <p:nvSpPr>
            <p:cNvPr id="89" name="Rectangle 89"/>
            <p:cNvSpPr/>
            <p:nvPr/>
          </p:nvSpPr>
          <p:spPr>
            <a:xfrm>
              <a:off x="6248400" y="1941195"/>
              <a:ext cx="5410200" cy="3240405"/>
            </a:xfrm>
            <a:prstGeom prst="rect">
              <a:avLst/>
            </a:prstGeom>
            <a:noFill/>
            <a:ln w="14288">
              <a:solidFill>
                <a:srgbClr val="D9DFEA"/>
              </a:solidFill>
            </a:ln>
          </p:spPr>
        </p:sp>
        <p:sp>
          <p:nvSpPr>
            <p:cNvPr id="90" name="Rectangle 90"/>
            <p:cNvSpPr/>
            <p:nvPr/>
          </p:nvSpPr>
          <p:spPr>
            <a:xfrm>
              <a:off x="6946582" y="1941195"/>
              <a:ext cx="9525" cy="3240405"/>
            </a:xfrm>
            <a:prstGeom prst="rect">
              <a:avLst/>
            </a:prstGeom>
            <a:solidFill>
              <a:srgbClr val="D9DFEA"/>
            </a:solidFill>
            <a:ln>
              <a:noFill/>
            </a:ln>
          </p:spPr>
        </p:sp>
        <p:sp>
          <p:nvSpPr>
            <p:cNvPr id="91" name="Rectangle 91"/>
            <p:cNvSpPr/>
            <p:nvPr/>
          </p:nvSpPr>
          <p:spPr>
            <a:xfrm>
              <a:off x="7758112" y="1941195"/>
              <a:ext cx="9525" cy="3240405"/>
            </a:xfrm>
            <a:prstGeom prst="rect">
              <a:avLst/>
            </a:prstGeom>
            <a:solidFill>
              <a:srgbClr val="D9DFEA"/>
            </a:solidFill>
            <a:ln>
              <a:noFill/>
            </a:ln>
          </p:spPr>
        </p:sp>
        <p:sp>
          <p:nvSpPr>
            <p:cNvPr id="92" name="Rectangle 92"/>
            <p:cNvSpPr/>
            <p:nvPr/>
          </p:nvSpPr>
          <p:spPr>
            <a:xfrm>
              <a:off x="10842308" y="1941195"/>
              <a:ext cx="9525" cy="3240405"/>
            </a:xfrm>
            <a:prstGeom prst="rect">
              <a:avLst/>
            </a:prstGeom>
            <a:solidFill>
              <a:srgbClr val="D9DFEA"/>
            </a:solidFill>
            <a:ln>
              <a:noFill/>
            </a:ln>
          </p:spPr>
        </p:sp>
        <p:sp>
          <p:nvSpPr>
            <p:cNvPr id="93" name="TextBox 93"/>
            <p:cNvSpPr txBox="1"/>
            <p:nvPr/>
          </p:nvSpPr>
          <p:spPr>
            <a:xfrm>
              <a:off x="6243066" y="5256848"/>
              <a:ext cx="434721" cy="205359"/>
            </a:xfrm>
            <a:prstGeom prst="rect">
              <a:avLst/>
            </a:prstGeom>
            <a:noFill/>
            <a:ln>
              <a:noFill/>
            </a:ln>
          </p:spPr>
          <p:txBody>
            <a:bodyPr wrap="none" lIns="0" tIns="0" rIns="0" bIns="0" anchor="t" anchorCtr="0">
              <a:spAutoFit/>
            </a:bodyPr>
            <a:lstStyle/>
            <a:p>
              <a:pPr algn="l"/>
              <a:r>
                <a:rPr lang="zh-CN" sz="1050" dirty="0">
                  <a:solidFill>
                    <a:srgbClr val="5B6475"/>
                  </a:solidFill>
                  <a:latin typeface="+mn-lt"/>
                  <a:ea typeface="+mn-ea"/>
                  <a:cs typeface="+mn-cs"/>
                </a:rPr>
                <a:t>写操作</a:t>
              </a:r>
            </a:p>
          </p:txBody>
        </p:sp>
      </p:grpSp>
      <p:grpSp>
        <p:nvGrpSpPr>
          <p:cNvPr id="101" name="takeaway"/>
          <p:cNvGrpSpPr/>
          <p:nvPr/>
        </p:nvGrpSpPr>
        <p:grpSpPr>
          <a:xfrm>
            <a:off x="533400" y="5633085"/>
            <a:ext cx="11125200" cy="729615"/>
            <a:chOff x="533400" y="5633085"/>
            <a:chExt cx="11125200" cy="729615"/>
          </a:xfrm>
        </p:grpSpPr>
        <p:sp>
          <p:nvSpPr>
            <p:cNvPr id="95" name="Rectangle 95"/>
            <p:cNvSpPr/>
            <p:nvPr/>
          </p:nvSpPr>
          <p:spPr>
            <a:xfrm>
              <a:off x="533400" y="5633085"/>
              <a:ext cx="11125200" cy="729615"/>
            </a:xfrm>
            <a:prstGeom prst="roundRect">
              <a:avLst>
                <a:gd name="adj" fmla="val 15666"/>
              </a:avLst>
            </a:prstGeom>
            <a:solidFill>
              <a:srgbClr val="F4F6FB"/>
            </a:solidFill>
            <a:ln>
              <a:noFill/>
            </a:ln>
          </p:spPr>
        </p:sp>
        <p:grpSp>
          <p:nvGrpSpPr>
            <p:cNvPr id="99" name="Group 99"/>
            <p:cNvGrpSpPr/>
            <p:nvPr/>
          </p:nvGrpSpPr>
          <p:grpSpPr>
            <a:xfrm>
              <a:off x="738188" y="5897880"/>
              <a:ext cx="200026" cy="200026"/>
              <a:chOff x="738188" y="5897880"/>
              <a:chExt cx="200026" cy="200026"/>
            </a:xfrm>
          </p:grpSpPr>
          <p:sp>
            <p:nvSpPr>
              <p:cNvPr id="96" name="Freeform 96"/>
              <p:cNvSpPr/>
              <p:nvPr/>
            </p:nvSpPr>
            <p:spPr>
              <a:xfrm>
                <a:off x="738188" y="5897880"/>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1F2937"/>
                </a:solidFill>
              </a:ln>
            </p:spPr>
          </p:sp>
          <p:sp>
            <p:nvSpPr>
              <p:cNvPr id="97" name="Freeform 97"/>
              <p:cNvSpPr/>
              <p:nvPr/>
            </p:nvSpPr>
            <p:spPr>
              <a:xfrm>
                <a:off x="838200" y="5964555"/>
                <a:ext cx="9525" cy="9525"/>
              </a:xfrm>
              <a:custGeom>
                <a:avLst/>
                <a:gdLst/>
                <a:ahLst/>
                <a:cxnLst/>
                <a:rect l="l" t="t" r="r" b="b"/>
                <a:pathLst>
                  <a:path w="9525" h="9525">
                    <a:moveTo>
                      <a:pt x="0" y="0"/>
                    </a:moveTo>
                    <a:lnTo>
                      <a:pt x="111" y="0"/>
                    </a:lnTo>
                  </a:path>
                </a:pathLst>
              </a:custGeom>
              <a:noFill/>
              <a:ln w="22225">
                <a:solidFill>
                  <a:srgbClr val="1F2937"/>
                </a:solidFill>
              </a:ln>
            </p:spPr>
          </p:sp>
          <p:sp>
            <p:nvSpPr>
              <p:cNvPr id="98" name="Freeform 98"/>
              <p:cNvSpPr/>
              <p:nvPr/>
            </p:nvSpPr>
            <p:spPr>
              <a:xfrm>
                <a:off x="827088" y="5997893"/>
                <a:ext cx="22225" cy="44450"/>
              </a:xfrm>
              <a:custGeom>
                <a:avLst/>
                <a:gdLst/>
                <a:ahLst/>
                <a:cxnLst/>
                <a:rect l="l" t="t" r="r" b="b"/>
                <a:pathLst>
                  <a:path w="22225" h="44450">
                    <a:moveTo>
                      <a:pt x="0" y="0"/>
                    </a:moveTo>
                    <a:lnTo>
                      <a:pt x="11113" y="0"/>
                    </a:lnTo>
                    <a:lnTo>
                      <a:pt x="11113" y="44450"/>
                    </a:lnTo>
                    <a:lnTo>
                      <a:pt x="22225" y="44450"/>
                    </a:lnTo>
                  </a:path>
                </a:pathLst>
              </a:custGeom>
              <a:noFill/>
              <a:ln w="22225">
                <a:solidFill>
                  <a:srgbClr val="1F2937"/>
                </a:solidFill>
              </a:ln>
            </p:spPr>
          </p:sp>
        </p:grpSp>
        <p:sp>
          <p:nvSpPr>
            <p:cNvPr id="100" name="TextBox 100"/>
            <p:cNvSpPr txBox="1"/>
            <p:nvPr/>
          </p:nvSpPr>
          <p:spPr>
            <a:xfrm>
              <a:off x="1040892" y="5779770"/>
              <a:ext cx="9914954" cy="512636"/>
            </a:xfrm>
            <a:prstGeom prst="rect">
              <a:avLst/>
            </a:prstGeom>
            <a:noFill/>
            <a:ln>
              <a:noFill/>
            </a:ln>
          </p:spPr>
          <p:txBody>
            <a:bodyPr wrap="none" lIns="0" tIns="0" rIns="0" bIns="0" anchor="t" anchorCtr="0">
              <a:spAutoFit/>
            </a:bodyPr>
            <a:lstStyle/>
            <a:p>
              <a:pPr algn="l">
                <a:lnSpc>
                  <a:spcPts val="1958"/>
                </a:lnSpc>
              </a:pPr>
              <a:r>
                <a:rPr lang="zh-CN" sz="1350" dirty="0">
                  <a:solidFill>
                    <a:srgbClr val="1F2937"/>
                  </a:solidFill>
                  <a:latin typeface="+mn-lt"/>
                  <a:ea typeface="+mn-ea"/>
                  <a:cs typeface="+mn-cs"/>
                </a:rPr>
                <a:t>更正：原课件第71页写缺失的最后两行写的是 send RdMiss(K2) to B2。写缺失要申请独占，应发 WtMiss(K2)；若发 RdMiss，B2</a:t>
              </a:r>
              <a:br/>
              <a:r>
                <a:rPr lang="zh-CN" sz="1350" dirty="0">
                  <a:solidFill>
                    <a:srgbClr val="1F2937"/>
                  </a:solidFill>
                  <a:latin typeface="+mn-lt"/>
                  <a:ea typeface="+mn-ea"/>
                  <a:cs typeface="+mn-cs"/>
                </a:rPr>
                <a:t>只把 A 加进共享集而不作废其他副本，A 随后写入就破坏了一致性。</a:t>
              </a:r>
            </a:p>
          </p:txBody>
        </p:sp>
      </p:grpSp>
      <p:grpSp>
        <p:nvGrpSpPr>
          <p:cNvPr id="104" name="footer"/>
          <p:cNvGrpSpPr/>
          <p:nvPr/>
        </p:nvGrpSpPr>
        <p:grpSpPr>
          <a:xfrm>
            <a:off x="528447" y="6581299"/>
            <a:ext cx="11135106" cy="190690"/>
            <a:chOff x="528447" y="6581299"/>
            <a:chExt cx="11135106" cy="190690"/>
          </a:xfrm>
        </p:grpSpPr>
        <p:sp>
          <p:nvSpPr>
            <p:cNvPr id="102" name="TextBox 102"/>
            <p:cNvSpPr txBox="1"/>
            <p:nvPr/>
          </p:nvSpPr>
          <p:spPr>
            <a:xfrm>
              <a:off x="528447" y="6581299"/>
              <a:ext cx="2120748"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并行与分布式计算 · 第7章 体系结构</a:t>
              </a:r>
            </a:p>
          </p:txBody>
        </p:sp>
        <p:sp>
          <p:nvSpPr>
            <p:cNvPr id="103" name="TextBox 103"/>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33</a:t>
              </a:r>
            </a:p>
          </p:txBody>
        </p:sp>
      </p:grpSp>
    </p:spTree>
  </p:cSld>
  <p:clrMapOvr>
    <a:masterClrMapping/>
  </p:clrMapOvr>
  <p:transition xmlns:p14="http://schemas.microsoft.com/office/powerpoint/2010/main" p14:dur="400">
    <p:fade/>
  </p:transition>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7309942" cy="909257"/>
            <a:chOff x="520446" y="342900"/>
            <a:chExt cx="7309942" cy="909257"/>
          </a:xfrm>
        </p:grpSpPr>
        <p:sp>
          <p:nvSpPr>
            <p:cNvPr id="2" name="Rectangle 2"/>
            <p:cNvSpPr/>
            <p:nvPr/>
          </p:nvSpPr>
          <p:spPr>
            <a:xfrm>
              <a:off x="533400" y="342900"/>
              <a:ext cx="2586038" cy="266700"/>
            </a:xfrm>
            <a:prstGeom prst="roundRect">
              <a:avLst>
                <a:gd name="adj" fmla="val 50000"/>
              </a:avLst>
            </a:prstGeom>
            <a:solidFill>
              <a:srgbClr val="E7EDF3"/>
            </a:solidFill>
            <a:ln>
              <a:noFill/>
            </a:ln>
          </p:spPr>
        </p:sp>
        <p:sp>
          <p:nvSpPr>
            <p:cNvPr id="3" name="TextBox 3"/>
            <p:cNvSpPr txBox="1"/>
            <p:nvPr/>
          </p:nvSpPr>
          <p:spPr>
            <a:xfrm>
              <a:off x="587464" y="407194"/>
              <a:ext cx="2476957"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第7章 体系结构 · Cache 一致性问题</a:t>
              </a:r>
            </a:p>
          </p:txBody>
        </p:sp>
        <p:sp>
          <p:nvSpPr>
            <p:cNvPr id="4" name="TextBox 4"/>
            <p:cNvSpPr txBox="1"/>
            <p:nvPr/>
          </p:nvSpPr>
          <p:spPr>
            <a:xfrm>
              <a:off x="520446" y="753428"/>
              <a:ext cx="7309942"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远程节点 C 与目录节点 B：收到请求后怎样动作</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8" name="c1-text-1"/>
          <p:cNvGrpSpPr/>
          <p:nvPr/>
        </p:nvGrpSpPr>
        <p:grpSpPr>
          <a:xfrm>
            <a:off x="526161" y="1547336"/>
            <a:ext cx="1394440" cy="278702"/>
            <a:chOff x="526161" y="1547336"/>
            <a:chExt cx="1394440" cy="278702"/>
          </a:xfrm>
        </p:grpSpPr>
        <p:sp>
          <p:nvSpPr>
            <p:cNvPr id="7" name="TextBox 7"/>
            <p:cNvSpPr txBox="1"/>
            <p:nvPr/>
          </p:nvSpPr>
          <p:spPr>
            <a:xfrm>
              <a:off x="526161" y="1547336"/>
              <a:ext cx="1394440"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C 响应 B 的请求</a:t>
              </a:r>
            </a:p>
          </p:txBody>
        </p:sp>
      </p:grpSp>
      <p:grpSp>
        <p:nvGrpSpPr>
          <p:cNvPr id="50" name="c1-table-2"/>
          <p:cNvGrpSpPr/>
          <p:nvPr/>
        </p:nvGrpSpPr>
        <p:grpSpPr>
          <a:xfrm>
            <a:off x="533400" y="1955482"/>
            <a:ext cx="4544378" cy="3651886"/>
            <a:chOff x="533400" y="1955482"/>
            <a:chExt cx="4544378" cy="3651886"/>
          </a:xfrm>
        </p:grpSpPr>
        <p:sp>
          <p:nvSpPr>
            <p:cNvPr id="9" name="Rectangle 9"/>
            <p:cNvSpPr/>
            <p:nvPr/>
          </p:nvSpPr>
          <p:spPr>
            <a:xfrm>
              <a:off x="533400" y="1955482"/>
              <a:ext cx="4544378" cy="430530"/>
            </a:xfrm>
            <a:prstGeom prst="rect">
              <a:avLst/>
            </a:prstGeom>
            <a:solidFill>
              <a:srgbClr val="334E68"/>
            </a:solidFill>
            <a:ln>
              <a:noFill/>
            </a:ln>
          </p:spPr>
        </p:sp>
        <p:sp>
          <p:nvSpPr>
            <p:cNvPr id="10" name="TextBox 10"/>
            <p:cNvSpPr txBox="1"/>
            <p:nvPr/>
          </p:nvSpPr>
          <p:spPr>
            <a:xfrm>
              <a:off x="653445" y="2086928"/>
              <a:ext cx="487619"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C 状态</a:t>
              </a:r>
            </a:p>
          </p:txBody>
        </p:sp>
        <p:sp>
          <p:nvSpPr>
            <p:cNvPr id="11" name="TextBox 11"/>
            <p:cNvSpPr txBox="1"/>
            <p:nvPr/>
          </p:nvSpPr>
          <p:spPr>
            <a:xfrm>
              <a:off x="1527078" y="2086928"/>
              <a:ext cx="649163"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B 的请求</a:t>
              </a:r>
            </a:p>
          </p:txBody>
        </p:sp>
        <p:sp>
          <p:nvSpPr>
            <p:cNvPr id="12" name="TextBox 12"/>
            <p:cNvSpPr txBox="1"/>
            <p:nvPr/>
          </p:nvSpPr>
          <p:spPr>
            <a:xfrm>
              <a:off x="3183255" y="2086928"/>
              <a:ext cx="335280"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操作</a:t>
              </a:r>
            </a:p>
          </p:txBody>
        </p:sp>
        <p:sp>
          <p:nvSpPr>
            <p:cNvPr id="13" name="TextBox 13"/>
            <p:cNvSpPr txBox="1"/>
            <p:nvPr/>
          </p:nvSpPr>
          <p:spPr>
            <a:xfrm>
              <a:off x="4420743" y="2086928"/>
              <a:ext cx="496824"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新状态</a:t>
              </a:r>
            </a:p>
          </p:txBody>
        </p:sp>
        <p:sp>
          <p:nvSpPr>
            <p:cNvPr id="14" name="TextBox 14"/>
            <p:cNvSpPr txBox="1"/>
            <p:nvPr/>
          </p:nvSpPr>
          <p:spPr>
            <a:xfrm>
              <a:off x="638746" y="2623185"/>
              <a:ext cx="65959" cy="234696"/>
            </a:xfrm>
            <a:prstGeom prst="rect">
              <a:avLst/>
            </a:prstGeom>
            <a:noFill/>
            <a:ln>
              <a:noFill/>
            </a:ln>
          </p:spPr>
          <p:txBody>
            <a:bodyPr wrap="none" lIns="0" tIns="0" rIns="0" bIns="0" anchor="t" anchorCtr="0">
              <a:spAutoFit/>
            </a:bodyPr>
            <a:lstStyle/>
            <a:p>
              <a:pPr algn="l"/>
              <a:r>
                <a:rPr lang="en-US" sz="1200" b="1" dirty="0">
                  <a:solidFill>
                    <a:srgbClr val="1F2937"/>
                  </a:solidFill>
                  <a:latin typeface="+mn-lt"/>
                  <a:ea typeface="+mn-ea"/>
                  <a:cs typeface="+mn-cs"/>
                </a:rPr>
                <a:t>I</a:t>
              </a:r>
            </a:p>
          </p:txBody>
        </p:sp>
        <p:sp>
          <p:nvSpPr>
            <p:cNvPr id="15" name="TextBox 15"/>
            <p:cNvSpPr txBox="1"/>
            <p:nvPr/>
          </p:nvSpPr>
          <p:spPr>
            <a:xfrm>
              <a:off x="1365504" y="2623185"/>
              <a:ext cx="658368"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任何请求</a:t>
              </a:r>
            </a:p>
          </p:txBody>
        </p:sp>
        <p:sp>
          <p:nvSpPr>
            <p:cNvPr id="16" name="TextBox 16"/>
            <p:cNvSpPr txBox="1"/>
            <p:nvPr/>
          </p:nvSpPr>
          <p:spPr>
            <a:xfrm>
              <a:off x="2547557" y="2516505"/>
              <a:ext cx="1513332" cy="448056"/>
            </a:xfrm>
            <a:prstGeom prst="rect">
              <a:avLst/>
            </a:prstGeom>
            <a:noFill/>
            <a:ln>
              <a:noFill/>
            </a:ln>
          </p:spPr>
          <p:txBody>
            <a:bodyPr wrap="none" lIns="0" tIns="0" rIns="0" bIns="0" anchor="t" anchorCtr="0">
              <a:spAutoFit/>
            </a:bodyPr>
            <a:lstStyle/>
            <a:p>
              <a:pPr algn="l">
                <a:lnSpc>
                  <a:spcPts val="1680"/>
                </a:lnSpc>
              </a:pPr>
              <a:r>
                <a:rPr lang="zh-CN" sz="1200" dirty="0">
                  <a:solidFill>
                    <a:srgbClr val="1F2937"/>
                  </a:solidFill>
                  <a:latin typeface="+mn-lt"/>
                  <a:ea typeface="+mn-ea"/>
                  <a:cs typeface="+mn-cs"/>
                </a:rPr>
                <a:t>不可能：C 没有副本，</a:t>
              </a:r>
              <a:br/>
              <a:r>
                <a:rPr lang="zh-CN" sz="1200" dirty="0">
                  <a:solidFill>
                    <a:srgbClr val="1F2937"/>
                  </a:solidFill>
                  <a:latin typeface="+mn-lt"/>
                  <a:ea typeface="+mn-ea"/>
                  <a:cs typeface="+mn-cs"/>
                </a:rPr>
                <a:t>B 不会找它</a:t>
              </a:r>
            </a:p>
          </p:txBody>
        </p:sp>
        <p:sp>
          <p:nvSpPr>
            <p:cNvPr id="17" name="TextBox 17"/>
            <p:cNvSpPr txBox="1"/>
            <p:nvPr/>
          </p:nvSpPr>
          <p:spPr>
            <a:xfrm>
              <a:off x="4364926" y="2623185"/>
              <a:ext cx="63398" cy="234696"/>
            </a:xfrm>
            <a:prstGeom prst="rect">
              <a:avLst/>
            </a:prstGeom>
            <a:noFill/>
            <a:ln>
              <a:noFill/>
            </a:ln>
          </p:spPr>
          <p:txBody>
            <a:bodyPr wrap="none" lIns="0" tIns="0" rIns="0" bIns="0" anchor="t" anchorCtr="0">
              <a:spAutoFit/>
            </a:bodyPr>
            <a:lstStyle/>
            <a:p>
              <a:pPr algn="l"/>
              <a:r>
                <a:rPr lang="en-US" sz="1200" dirty="0">
                  <a:solidFill>
                    <a:srgbClr val="1F2937"/>
                  </a:solidFill>
                  <a:latin typeface="+mn-lt"/>
                  <a:ea typeface="+mn-ea"/>
                  <a:cs typeface="+mn-cs"/>
                </a:rPr>
                <a:t>I</a:t>
              </a:r>
            </a:p>
          </p:txBody>
        </p:sp>
        <p:sp>
          <p:nvSpPr>
            <p:cNvPr id="18" name="Rectangle 18"/>
            <p:cNvSpPr/>
            <p:nvPr/>
          </p:nvSpPr>
          <p:spPr>
            <a:xfrm>
              <a:off x="533400" y="3024188"/>
              <a:ext cx="4544378" cy="9525"/>
            </a:xfrm>
            <a:prstGeom prst="rect">
              <a:avLst/>
            </a:prstGeom>
            <a:solidFill>
              <a:srgbClr val="D9DFEA"/>
            </a:solidFill>
            <a:ln>
              <a:noFill/>
            </a:ln>
          </p:spPr>
        </p:sp>
        <p:sp>
          <p:nvSpPr>
            <p:cNvPr id="19" name="Rectangle 19"/>
            <p:cNvSpPr/>
            <p:nvPr/>
          </p:nvSpPr>
          <p:spPr>
            <a:xfrm>
              <a:off x="533400" y="3028950"/>
              <a:ext cx="4544378" cy="430530"/>
            </a:xfrm>
            <a:prstGeom prst="rect">
              <a:avLst/>
            </a:prstGeom>
            <a:solidFill>
              <a:srgbClr val="F4F6FB"/>
            </a:solidFill>
            <a:ln>
              <a:noFill/>
            </a:ln>
          </p:spPr>
        </p:sp>
        <p:sp>
          <p:nvSpPr>
            <p:cNvPr id="20" name="TextBox 20"/>
            <p:cNvSpPr txBox="1"/>
            <p:nvPr/>
          </p:nvSpPr>
          <p:spPr>
            <a:xfrm>
              <a:off x="638746" y="3160395"/>
              <a:ext cx="110764" cy="234696"/>
            </a:xfrm>
            <a:prstGeom prst="rect">
              <a:avLst/>
            </a:prstGeom>
            <a:noFill/>
            <a:ln>
              <a:noFill/>
            </a:ln>
          </p:spPr>
          <p:txBody>
            <a:bodyPr wrap="none" lIns="0" tIns="0" rIns="0" bIns="0" anchor="t" anchorCtr="0">
              <a:spAutoFit/>
            </a:bodyPr>
            <a:lstStyle/>
            <a:p>
              <a:pPr algn="l"/>
              <a:r>
                <a:rPr lang="en-US" sz="1200" b="1" dirty="0">
                  <a:solidFill>
                    <a:srgbClr val="1F2937"/>
                  </a:solidFill>
                  <a:latin typeface="+mn-lt"/>
                  <a:ea typeface="+mn-ea"/>
                  <a:cs typeface="+mn-cs"/>
                </a:rPr>
                <a:t>S</a:t>
              </a:r>
            </a:p>
          </p:txBody>
        </p:sp>
        <p:sp>
          <p:nvSpPr>
            <p:cNvPr id="21" name="TextBox 21"/>
            <p:cNvSpPr txBox="1"/>
            <p:nvPr/>
          </p:nvSpPr>
          <p:spPr>
            <a:xfrm>
              <a:off x="1365504" y="3160395"/>
              <a:ext cx="783869" cy="234696"/>
            </a:xfrm>
            <a:prstGeom prst="rect">
              <a:avLst/>
            </a:prstGeom>
            <a:noFill/>
            <a:ln>
              <a:noFill/>
            </a:ln>
          </p:spPr>
          <p:txBody>
            <a:bodyPr wrap="none" lIns="0" tIns="0" rIns="0" bIns="0" anchor="t" anchorCtr="0">
              <a:spAutoFit/>
            </a:bodyPr>
            <a:lstStyle/>
            <a:p>
              <a:pPr algn="l"/>
              <a:r>
                <a:rPr lang="en-US" sz="1200" dirty="0">
                  <a:solidFill>
                    <a:srgbClr val="1F2937"/>
                  </a:solidFill>
                  <a:latin typeface="+mn-lt"/>
                  <a:ea typeface="+mn-ea"/>
                  <a:cs typeface="+mn-cs"/>
                </a:rPr>
                <a:t>Invalidate</a:t>
              </a:r>
            </a:p>
          </p:txBody>
        </p:sp>
        <p:sp>
          <p:nvSpPr>
            <p:cNvPr id="22" name="TextBox 22"/>
            <p:cNvSpPr txBox="1"/>
            <p:nvPr/>
          </p:nvSpPr>
          <p:spPr>
            <a:xfrm>
              <a:off x="2547557" y="3160395"/>
              <a:ext cx="335280"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作废</a:t>
              </a:r>
            </a:p>
          </p:txBody>
        </p:sp>
        <p:sp>
          <p:nvSpPr>
            <p:cNvPr id="23" name="TextBox 23"/>
            <p:cNvSpPr txBox="1"/>
            <p:nvPr/>
          </p:nvSpPr>
          <p:spPr>
            <a:xfrm>
              <a:off x="4364926" y="3160395"/>
              <a:ext cx="63398" cy="234696"/>
            </a:xfrm>
            <a:prstGeom prst="rect">
              <a:avLst/>
            </a:prstGeom>
            <a:noFill/>
            <a:ln>
              <a:noFill/>
            </a:ln>
          </p:spPr>
          <p:txBody>
            <a:bodyPr wrap="none" lIns="0" tIns="0" rIns="0" bIns="0" anchor="t" anchorCtr="0">
              <a:spAutoFit/>
            </a:bodyPr>
            <a:lstStyle/>
            <a:p>
              <a:pPr algn="l"/>
              <a:r>
                <a:rPr lang="en-US" sz="1200" dirty="0">
                  <a:solidFill>
                    <a:srgbClr val="1F2937"/>
                  </a:solidFill>
                  <a:latin typeface="+mn-lt"/>
                  <a:ea typeface="+mn-ea"/>
                  <a:cs typeface="+mn-cs"/>
                </a:rPr>
                <a:t>I</a:t>
              </a:r>
            </a:p>
          </p:txBody>
        </p:sp>
        <p:sp>
          <p:nvSpPr>
            <p:cNvPr id="24" name="Rectangle 24"/>
            <p:cNvSpPr/>
            <p:nvPr/>
          </p:nvSpPr>
          <p:spPr>
            <a:xfrm>
              <a:off x="533400" y="3454718"/>
              <a:ext cx="4544378" cy="9525"/>
            </a:xfrm>
            <a:prstGeom prst="rect">
              <a:avLst/>
            </a:prstGeom>
            <a:solidFill>
              <a:srgbClr val="D9DFEA"/>
            </a:solidFill>
            <a:ln>
              <a:noFill/>
            </a:ln>
          </p:spPr>
        </p:sp>
        <p:sp>
          <p:nvSpPr>
            <p:cNvPr id="25" name="TextBox 25"/>
            <p:cNvSpPr txBox="1"/>
            <p:nvPr/>
          </p:nvSpPr>
          <p:spPr>
            <a:xfrm>
              <a:off x="638746" y="3697605"/>
              <a:ext cx="110764" cy="234696"/>
            </a:xfrm>
            <a:prstGeom prst="rect">
              <a:avLst/>
            </a:prstGeom>
            <a:noFill/>
            <a:ln>
              <a:noFill/>
            </a:ln>
          </p:spPr>
          <p:txBody>
            <a:bodyPr wrap="none" lIns="0" tIns="0" rIns="0" bIns="0" anchor="t" anchorCtr="0">
              <a:spAutoFit/>
            </a:bodyPr>
            <a:lstStyle/>
            <a:p>
              <a:pPr algn="l"/>
              <a:r>
                <a:rPr lang="en-US" sz="1200" b="1" dirty="0">
                  <a:solidFill>
                    <a:srgbClr val="1F2937"/>
                  </a:solidFill>
                  <a:latin typeface="+mn-lt"/>
                  <a:ea typeface="+mn-ea"/>
                  <a:cs typeface="+mn-cs"/>
                </a:rPr>
                <a:t>S</a:t>
              </a:r>
            </a:p>
          </p:txBody>
        </p:sp>
        <p:sp>
          <p:nvSpPr>
            <p:cNvPr id="26" name="TextBox 26"/>
            <p:cNvSpPr txBox="1"/>
            <p:nvPr/>
          </p:nvSpPr>
          <p:spPr>
            <a:xfrm>
              <a:off x="1365504" y="3590925"/>
              <a:ext cx="644652" cy="448056"/>
            </a:xfrm>
            <a:prstGeom prst="rect">
              <a:avLst/>
            </a:prstGeom>
            <a:noFill/>
            <a:ln>
              <a:noFill/>
            </a:ln>
          </p:spPr>
          <p:txBody>
            <a:bodyPr wrap="none" lIns="0" tIns="0" rIns="0" bIns="0" anchor="t" anchorCtr="0">
              <a:spAutoFit/>
            </a:bodyPr>
            <a:lstStyle/>
            <a:p>
              <a:pPr algn="l">
                <a:lnSpc>
                  <a:spcPts val="1680"/>
                </a:lnSpc>
              </a:pPr>
              <a:r>
                <a:rPr lang="en-US" sz="1200" dirty="0">
                  <a:solidFill>
                    <a:srgbClr val="1F2937"/>
                  </a:solidFill>
                  <a:latin typeface="+mn-lt"/>
                  <a:ea typeface="+mn-ea"/>
                  <a:cs typeface="+mn-cs"/>
                </a:rPr>
                <a:t>FetchS /</a:t>
              </a:r>
              <a:br/>
              <a:r>
                <a:rPr lang="en-US" sz="1200" dirty="0">
                  <a:solidFill>
                    <a:srgbClr val="1F2937"/>
                  </a:solidFill>
                  <a:latin typeface="+mn-lt"/>
                  <a:ea typeface="+mn-ea"/>
                  <a:cs typeface="+mn-cs"/>
                </a:rPr>
                <a:t>FetchI</a:t>
              </a:r>
            </a:p>
          </p:txBody>
        </p:sp>
        <p:sp>
          <p:nvSpPr>
            <p:cNvPr id="27" name="TextBox 27"/>
            <p:cNvSpPr txBox="1"/>
            <p:nvPr/>
          </p:nvSpPr>
          <p:spPr>
            <a:xfrm>
              <a:off x="2547557" y="3590925"/>
              <a:ext cx="1383792" cy="448056"/>
            </a:xfrm>
            <a:prstGeom prst="rect">
              <a:avLst/>
            </a:prstGeom>
            <a:noFill/>
            <a:ln>
              <a:noFill/>
            </a:ln>
          </p:spPr>
          <p:txBody>
            <a:bodyPr wrap="none" lIns="0" tIns="0" rIns="0" bIns="0" anchor="t" anchorCtr="0">
              <a:spAutoFit/>
            </a:bodyPr>
            <a:lstStyle/>
            <a:p>
              <a:pPr algn="l">
                <a:lnSpc>
                  <a:spcPts val="1680"/>
                </a:lnSpc>
              </a:pPr>
              <a:r>
                <a:rPr lang="zh-CN" sz="1200" dirty="0">
                  <a:solidFill>
                    <a:srgbClr val="1F2937"/>
                  </a:solidFill>
                  <a:latin typeface="+mn-lt"/>
                  <a:ea typeface="+mn-ea"/>
                  <a:cs typeface="+mn-cs"/>
                </a:rPr>
                <a:t>不需要：S 时 B 自己</a:t>
              </a:r>
              <a:br/>
              <a:r>
                <a:rPr lang="zh-CN" sz="1200" dirty="0">
                  <a:solidFill>
                    <a:srgbClr val="1F2937"/>
                  </a:solidFill>
                  <a:latin typeface="+mn-lt"/>
                  <a:ea typeface="+mn-ea"/>
                  <a:cs typeface="+mn-cs"/>
                </a:rPr>
                <a:t>有最新数据</a:t>
              </a:r>
            </a:p>
          </p:txBody>
        </p:sp>
        <p:sp>
          <p:nvSpPr>
            <p:cNvPr id="28" name="TextBox 28"/>
            <p:cNvSpPr txBox="1"/>
            <p:nvPr/>
          </p:nvSpPr>
          <p:spPr>
            <a:xfrm>
              <a:off x="4364926" y="3697605"/>
              <a:ext cx="353568" cy="234696"/>
            </a:xfrm>
            <a:prstGeom prst="rect">
              <a:avLst/>
            </a:prstGeom>
            <a:noFill/>
            <a:ln>
              <a:noFill/>
            </a:ln>
          </p:spPr>
          <p:txBody>
            <a:bodyPr wrap="none" lIns="0" tIns="0" rIns="0" bIns="0" anchor="t" anchorCtr="0">
              <a:spAutoFit/>
            </a:bodyPr>
            <a:lstStyle/>
            <a:p>
              <a:pPr algn="l"/>
              <a:r>
                <a:rPr lang="en-US" sz="1200" dirty="0">
                  <a:solidFill>
                    <a:srgbClr val="1F2937"/>
                  </a:solidFill>
                  <a:latin typeface="+mn-lt"/>
                  <a:ea typeface="+mn-ea"/>
                  <a:cs typeface="+mn-cs"/>
                </a:rPr>
                <a:t>S / I</a:t>
              </a:r>
            </a:p>
          </p:txBody>
        </p:sp>
        <p:sp>
          <p:nvSpPr>
            <p:cNvPr id="29" name="Rectangle 29"/>
            <p:cNvSpPr/>
            <p:nvPr/>
          </p:nvSpPr>
          <p:spPr>
            <a:xfrm>
              <a:off x="533400" y="4097655"/>
              <a:ext cx="4544378" cy="9525"/>
            </a:xfrm>
            <a:prstGeom prst="rect">
              <a:avLst/>
            </a:prstGeom>
            <a:solidFill>
              <a:srgbClr val="D9DFEA"/>
            </a:solidFill>
            <a:ln>
              <a:noFill/>
            </a:ln>
          </p:spPr>
        </p:sp>
        <p:sp>
          <p:nvSpPr>
            <p:cNvPr id="30" name="Rectangle 30"/>
            <p:cNvSpPr/>
            <p:nvPr/>
          </p:nvSpPr>
          <p:spPr>
            <a:xfrm>
              <a:off x="533400" y="4102418"/>
              <a:ext cx="4544378" cy="643890"/>
            </a:xfrm>
            <a:prstGeom prst="rect">
              <a:avLst/>
            </a:prstGeom>
            <a:solidFill>
              <a:srgbClr val="F4F6FB"/>
            </a:solidFill>
            <a:ln>
              <a:noFill/>
            </a:ln>
          </p:spPr>
        </p:sp>
        <p:sp>
          <p:nvSpPr>
            <p:cNvPr id="31" name="TextBox 31"/>
            <p:cNvSpPr txBox="1"/>
            <p:nvPr/>
          </p:nvSpPr>
          <p:spPr>
            <a:xfrm>
              <a:off x="638746" y="4340542"/>
              <a:ext cx="146609" cy="234696"/>
            </a:xfrm>
            <a:prstGeom prst="rect">
              <a:avLst/>
            </a:prstGeom>
            <a:noFill/>
            <a:ln>
              <a:noFill/>
            </a:ln>
          </p:spPr>
          <p:txBody>
            <a:bodyPr wrap="none" lIns="0" tIns="0" rIns="0" bIns="0" anchor="t" anchorCtr="0">
              <a:spAutoFit/>
            </a:bodyPr>
            <a:lstStyle/>
            <a:p>
              <a:pPr algn="l"/>
              <a:r>
                <a:rPr lang="en-US" sz="1200" b="1" dirty="0">
                  <a:solidFill>
                    <a:srgbClr val="1F2937"/>
                  </a:solidFill>
                  <a:latin typeface="+mn-lt"/>
                  <a:ea typeface="+mn-ea"/>
                  <a:cs typeface="+mn-cs"/>
                </a:rPr>
                <a:t>M</a:t>
              </a:r>
            </a:p>
          </p:txBody>
        </p:sp>
        <p:sp>
          <p:nvSpPr>
            <p:cNvPr id="32" name="TextBox 32"/>
            <p:cNvSpPr txBox="1"/>
            <p:nvPr/>
          </p:nvSpPr>
          <p:spPr>
            <a:xfrm>
              <a:off x="1365504" y="4340542"/>
              <a:ext cx="783869" cy="234696"/>
            </a:xfrm>
            <a:prstGeom prst="rect">
              <a:avLst/>
            </a:prstGeom>
            <a:noFill/>
            <a:ln>
              <a:noFill/>
            </a:ln>
          </p:spPr>
          <p:txBody>
            <a:bodyPr wrap="none" lIns="0" tIns="0" rIns="0" bIns="0" anchor="t" anchorCtr="0">
              <a:spAutoFit/>
            </a:bodyPr>
            <a:lstStyle/>
            <a:p>
              <a:pPr algn="l"/>
              <a:r>
                <a:rPr lang="en-US" sz="1200" dirty="0">
                  <a:solidFill>
                    <a:srgbClr val="1F2937"/>
                  </a:solidFill>
                  <a:latin typeface="+mn-lt"/>
                  <a:ea typeface="+mn-ea"/>
                  <a:cs typeface="+mn-cs"/>
                </a:rPr>
                <a:t>Invalidate</a:t>
              </a:r>
            </a:p>
          </p:txBody>
        </p:sp>
        <p:sp>
          <p:nvSpPr>
            <p:cNvPr id="33" name="TextBox 33"/>
            <p:cNvSpPr txBox="1"/>
            <p:nvPr/>
          </p:nvSpPr>
          <p:spPr>
            <a:xfrm>
              <a:off x="2547557" y="4233862"/>
              <a:ext cx="1383792" cy="448056"/>
            </a:xfrm>
            <a:prstGeom prst="rect">
              <a:avLst/>
            </a:prstGeom>
            <a:noFill/>
            <a:ln>
              <a:noFill/>
            </a:ln>
          </p:spPr>
          <p:txBody>
            <a:bodyPr wrap="none" lIns="0" tIns="0" rIns="0" bIns="0" anchor="t" anchorCtr="0">
              <a:spAutoFit/>
            </a:bodyPr>
            <a:lstStyle/>
            <a:p>
              <a:pPr algn="l">
                <a:lnSpc>
                  <a:spcPts val="1680"/>
                </a:lnSpc>
              </a:pPr>
              <a:r>
                <a:rPr lang="zh-CN" sz="1200" dirty="0">
                  <a:solidFill>
                    <a:srgbClr val="1F2937"/>
                  </a:solidFill>
                  <a:latin typeface="+mn-lt"/>
                  <a:ea typeface="+mn-ea"/>
                  <a:cs typeface="+mn-cs"/>
                </a:rPr>
                <a:t>不可能：会毁掉唯一</a:t>
              </a:r>
              <a:br/>
              <a:r>
                <a:rPr lang="zh-CN" sz="1200" dirty="0">
                  <a:solidFill>
                    <a:srgbClr val="1F2937"/>
                  </a:solidFill>
                  <a:latin typeface="+mn-lt"/>
                  <a:ea typeface="+mn-ea"/>
                  <a:cs typeface="+mn-cs"/>
                </a:rPr>
                <a:t>副本</a:t>
              </a:r>
            </a:p>
          </p:txBody>
        </p:sp>
        <p:sp>
          <p:nvSpPr>
            <p:cNvPr id="34" name="TextBox 34"/>
            <p:cNvSpPr txBox="1"/>
            <p:nvPr/>
          </p:nvSpPr>
          <p:spPr>
            <a:xfrm>
              <a:off x="4364926" y="4340542"/>
              <a:ext cx="101041"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a:t>
              </a:r>
            </a:p>
          </p:txBody>
        </p:sp>
        <p:sp>
          <p:nvSpPr>
            <p:cNvPr id="35" name="Rectangle 35"/>
            <p:cNvSpPr/>
            <p:nvPr/>
          </p:nvSpPr>
          <p:spPr>
            <a:xfrm>
              <a:off x="533400" y="4741545"/>
              <a:ext cx="4544378" cy="9525"/>
            </a:xfrm>
            <a:prstGeom prst="rect">
              <a:avLst/>
            </a:prstGeom>
            <a:solidFill>
              <a:srgbClr val="D9DFEA"/>
            </a:solidFill>
            <a:ln>
              <a:noFill/>
            </a:ln>
          </p:spPr>
        </p:sp>
        <p:sp>
          <p:nvSpPr>
            <p:cNvPr id="36" name="TextBox 36"/>
            <p:cNvSpPr txBox="1"/>
            <p:nvPr/>
          </p:nvSpPr>
          <p:spPr>
            <a:xfrm>
              <a:off x="638746" y="4877752"/>
              <a:ext cx="146609" cy="234696"/>
            </a:xfrm>
            <a:prstGeom prst="rect">
              <a:avLst/>
            </a:prstGeom>
            <a:noFill/>
            <a:ln>
              <a:noFill/>
            </a:ln>
          </p:spPr>
          <p:txBody>
            <a:bodyPr wrap="none" lIns="0" tIns="0" rIns="0" bIns="0" anchor="t" anchorCtr="0">
              <a:spAutoFit/>
            </a:bodyPr>
            <a:lstStyle/>
            <a:p>
              <a:pPr algn="l"/>
              <a:r>
                <a:rPr lang="en-US" sz="1200" b="1" dirty="0">
                  <a:solidFill>
                    <a:srgbClr val="1F2937"/>
                  </a:solidFill>
                  <a:latin typeface="+mn-lt"/>
                  <a:ea typeface="+mn-ea"/>
                  <a:cs typeface="+mn-cs"/>
                </a:rPr>
                <a:t>M</a:t>
              </a:r>
            </a:p>
          </p:txBody>
        </p:sp>
        <p:sp>
          <p:nvSpPr>
            <p:cNvPr id="37" name="TextBox 37"/>
            <p:cNvSpPr txBox="1"/>
            <p:nvPr/>
          </p:nvSpPr>
          <p:spPr>
            <a:xfrm>
              <a:off x="1365504" y="4877752"/>
              <a:ext cx="555346" cy="234696"/>
            </a:xfrm>
            <a:prstGeom prst="rect">
              <a:avLst/>
            </a:prstGeom>
            <a:noFill/>
            <a:ln>
              <a:noFill/>
            </a:ln>
          </p:spPr>
          <p:txBody>
            <a:bodyPr wrap="none" lIns="0" tIns="0" rIns="0" bIns="0" anchor="t" anchorCtr="0">
              <a:spAutoFit/>
            </a:bodyPr>
            <a:lstStyle/>
            <a:p>
              <a:pPr algn="l"/>
              <a:r>
                <a:rPr lang="en-US" sz="1200" dirty="0">
                  <a:solidFill>
                    <a:srgbClr val="1F2937"/>
                  </a:solidFill>
                  <a:latin typeface="+mn-lt"/>
                  <a:ea typeface="+mn-ea"/>
                  <a:cs typeface="+mn-cs"/>
                </a:rPr>
                <a:t>FetchS</a:t>
              </a:r>
            </a:p>
          </p:txBody>
        </p:sp>
        <p:sp>
          <p:nvSpPr>
            <p:cNvPr id="38" name="TextBox 38"/>
            <p:cNvSpPr txBox="1"/>
            <p:nvPr/>
          </p:nvSpPr>
          <p:spPr>
            <a:xfrm>
              <a:off x="2547557" y="4877752"/>
              <a:ext cx="1391434"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发 Update(K) 给 B</a:t>
              </a:r>
            </a:p>
          </p:txBody>
        </p:sp>
        <p:sp>
          <p:nvSpPr>
            <p:cNvPr id="39" name="TextBox 39"/>
            <p:cNvSpPr txBox="1"/>
            <p:nvPr/>
          </p:nvSpPr>
          <p:spPr>
            <a:xfrm>
              <a:off x="4364926" y="4877752"/>
              <a:ext cx="106070" cy="234696"/>
            </a:xfrm>
            <a:prstGeom prst="rect">
              <a:avLst/>
            </a:prstGeom>
            <a:noFill/>
            <a:ln>
              <a:noFill/>
            </a:ln>
          </p:spPr>
          <p:txBody>
            <a:bodyPr wrap="none" lIns="0" tIns="0" rIns="0" bIns="0" anchor="t" anchorCtr="0">
              <a:spAutoFit/>
            </a:bodyPr>
            <a:lstStyle/>
            <a:p>
              <a:pPr algn="l"/>
              <a:r>
                <a:rPr lang="en-US" sz="1200" dirty="0">
                  <a:solidFill>
                    <a:srgbClr val="1F2937"/>
                  </a:solidFill>
                  <a:latin typeface="+mn-lt"/>
                  <a:ea typeface="+mn-ea"/>
                  <a:cs typeface="+mn-cs"/>
                </a:rPr>
                <a:t>S</a:t>
              </a:r>
            </a:p>
          </p:txBody>
        </p:sp>
        <p:sp>
          <p:nvSpPr>
            <p:cNvPr id="40" name="Rectangle 40"/>
            <p:cNvSpPr/>
            <p:nvPr/>
          </p:nvSpPr>
          <p:spPr>
            <a:xfrm>
              <a:off x="533400" y="5172075"/>
              <a:ext cx="4544378" cy="9525"/>
            </a:xfrm>
            <a:prstGeom prst="rect">
              <a:avLst/>
            </a:prstGeom>
            <a:solidFill>
              <a:srgbClr val="D9DFEA"/>
            </a:solidFill>
            <a:ln>
              <a:noFill/>
            </a:ln>
          </p:spPr>
        </p:sp>
        <p:sp>
          <p:nvSpPr>
            <p:cNvPr id="41" name="Rectangle 41"/>
            <p:cNvSpPr/>
            <p:nvPr/>
          </p:nvSpPr>
          <p:spPr>
            <a:xfrm>
              <a:off x="533400" y="5176838"/>
              <a:ext cx="4544378" cy="430530"/>
            </a:xfrm>
            <a:prstGeom prst="rect">
              <a:avLst/>
            </a:prstGeom>
            <a:solidFill>
              <a:srgbClr val="F4F6FB"/>
            </a:solidFill>
            <a:ln>
              <a:noFill/>
            </a:ln>
          </p:spPr>
        </p:sp>
        <p:sp>
          <p:nvSpPr>
            <p:cNvPr id="42" name="TextBox 42"/>
            <p:cNvSpPr txBox="1"/>
            <p:nvPr/>
          </p:nvSpPr>
          <p:spPr>
            <a:xfrm>
              <a:off x="638746" y="5307330"/>
              <a:ext cx="146609" cy="234696"/>
            </a:xfrm>
            <a:prstGeom prst="rect">
              <a:avLst/>
            </a:prstGeom>
            <a:noFill/>
            <a:ln>
              <a:noFill/>
            </a:ln>
          </p:spPr>
          <p:txBody>
            <a:bodyPr wrap="none" lIns="0" tIns="0" rIns="0" bIns="0" anchor="t" anchorCtr="0">
              <a:spAutoFit/>
            </a:bodyPr>
            <a:lstStyle/>
            <a:p>
              <a:pPr algn="l"/>
              <a:r>
                <a:rPr lang="en-US" sz="1200" b="1" dirty="0">
                  <a:solidFill>
                    <a:srgbClr val="1F2937"/>
                  </a:solidFill>
                  <a:latin typeface="+mn-lt"/>
                  <a:ea typeface="+mn-ea"/>
                  <a:cs typeface="+mn-cs"/>
                </a:rPr>
                <a:t>M</a:t>
              </a:r>
            </a:p>
          </p:txBody>
        </p:sp>
        <p:sp>
          <p:nvSpPr>
            <p:cNvPr id="43" name="TextBox 43"/>
            <p:cNvSpPr txBox="1"/>
            <p:nvPr/>
          </p:nvSpPr>
          <p:spPr>
            <a:xfrm>
              <a:off x="1365504" y="5307330"/>
              <a:ext cx="514198" cy="234696"/>
            </a:xfrm>
            <a:prstGeom prst="rect">
              <a:avLst/>
            </a:prstGeom>
            <a:noFill/>
            <a:ln>
              <a:noFill/>
            </a:ln>
          </p:spPr>
          <p:txBody>
            <a:bodyPr wrap="none" lIns="0" tIns="0" rIns="0" bIns="0" anchor="t" anchorCtr="0">
              <a:spAutoFit/>
            </a:bodyPr>
            <a:lstStyle/>
            <a:p>
              <a:pPr algn="l"/>
              <a:r>
                <a:rPr lang="en-US" sz="1200" dirty="0">
                  <a:solidFill>
                    <a:srgbClr val="1F2937"/>
                  </a:solidFill>
                  <a:latin typeface="+mn-lt"/>
                  <a:ea typeface="+mn-ea"/>
                  <a:cs typeface="+mn-cs"/>
                </a:rPr>
                <a:t>FetchI</a:t>
              </a:r>
            </a:p>
          </p:txBody>
        </p:sp>
        <p:sp>
          <p:nvSpPr>
            <p:cNvPr id="44" name="TextBox 44"/>
            <p:cNvSpPr txBox="1"/>
            <p:nvPr/>
          </p:nvSpPr>
          <p:spPr>
            <a:xfrm>
              <a:off x="2547557" y="5307330"/>
              <a:ext cx="1391434"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发 Update(K) 给 B</a:t>
              </a:r>
            </a:p>
          </p:txBody>
        </p:sp>
        <p:sp>
          <p:nvSpPr>
            <p:cNvPr id="45" name="TextBox 45"/>
            <p:cNvSpPr txBox="1"/>
            <p:nvPr/>
          </p:nvSpPr>
          <p:spPr>
            <a:xfrm>
              <a:off x="4364926" y="5307330"/>
              <a:ext cx="63398" cy="234696"/>
            </a:xfrm>
            <a:prstGeom prst="rect">
              <a:avLst/>
            </a:prstGeom>
            <a:noFill/>
            <a:ln>
              <a:noFill/>
            </a:ln>
          </p:spPr>
          <p:txBody>
            <a:bodyPr wrap="none" lIns="0" tIns="0" rIns="0" bIns="0" anchor="t" anchorCtr="0">
              <a:spAutoFit/>
            </a:bodyPr>
            <a:lstStyle/>
            <a:p>
              <a:pPr algn="l"/>
              <a:r>
                <a:rPr lang="en-US" sz="1200" dirty="0">
                  <a:solidFill>
                    <a:srgbClr val="1F2937"/>
                  </a:solidFill>
                  <a:latin typeface="+mn-lt"/>
                  <a:ea typeface="+mn-ea"/>
                  <a:cs typeface="+mn-cs"/>
                </a:rPr>
                <a:t>I</a:t>
              </a:r>
            </a:p>
          </p:txBody>
        </p:sp>
        <p:sp>
          <p:nvSpPr>
            <p:cNvPr id="46" name="Rectangle 46"/>
            <p:cNvSpPr/>
            <p:nvPr/>
          </p:nvSpPr>
          <p:spPr>
            <a:xfrm>
              <a:off x="533400" y="1955482"/>
              <a:ext cx="4544378" cy="3650932"/>
            </a:xfrm>
            <a:prstGeom prst="rect">
              <a:avLst/>
            </a:prstGeom>
            <a:noFill/>
            <a:ln w="14288">
              <a:solidFill>
                <a:srgbClr val="D9DFEA"/>
              </a:solidFill>
            </a:ln>
          </p:spPr>
        </p:sp>
        <p:sp>
          <p:nvSpPr>
            <p:cNvPr id="47" name="Rectangle 47"/>
            <p:cNvSpPr/>
            <p:nvPr/>
          </p:nvSpPr>
          <p:spPr>
            <a:xfrm>
              <a:off x="1255395" y="1955482"/>
              <a:ext cx="9525" cy="3650932"/>
            </a:xfrm>
            <a:prstGeom prst="rect">
              <a:avLst/>
            </a:prstGeom>
            <a:solidFill>
              <a:srgbClr val="D9DFEA"/>
            </a:solidFill>
            <a:ln>
              <a:noFill/>
            </a:ln>
          </p:spPr>
        </p:sp>
        <p:sp>
          <p:nvSpPr>
            <p:cNvPr id="48" name="Rectangle 48"/>
            <p:cNvSpPr/>
            <p:nvPr/>
          </p:nvSpPr>
          <p:spPr>
            <a:xfrm>
              <a:off x="2437448" y="1955482"/>
              <a:ext cx="9525" cy="3650932"/>
            </a:xfrm>
            <a:prstGeom prst="rect">
              <a:avLst/>
            </a:prstGeom>
            <a:solidFill>
              <a:srgbClr val="D9DFEA"/>
            </a:solidFill>
            <a:ln>
              <a:noFill/>
            </a:ln>
          </p:spPr>
        </p:sp>
        <p:sp>
          <p:nvSpPr>
            <p:cNvPr id="49" name="Rectangle 49"/>
            <p:cNvSpPr/>
            <p:nvPr/>
          </p:nvSpPr>
          <p:spPr>
            <a:xfrm>
              <a:off x="4254818" y="1955482"/>
              <a:ext cx="9525" cy="3650932"/>
            </a:xfrm>
            <a:prstGeom prst="rect">
              <a:avLst/>
            </a:prstGeom>
            <a:solidFill>
              <a:srgbClr val="D9DFEA"/>
            </a:solidFill>
            <a:ln>
              <a:noFill/>
            </a:ln>
          </p:spPr>
        </p:sp>
      </p:grpSp>
      <p:grpSp>
        <p:nvGrpSpPr>
          <p:cNvPr id="52" name="c2-text-1"/>
          <p:cNvGrpSpPr/>
          <p:nvPr/>
        </p:nvGrpSpPr>
        <p:grpSpPr>
          <a:xfrm>
            <a:off x="5375338" y="1547336"/>
            <a:ext cx="1394440" cy="278702"/>
            <a:chOff x="5375338" y="1547336"/>
            <a:chExt cx="1394440" cy="278702"/>
          </a:xfrm>
        </p:grpSpPr>
        <p:sp>
          <p:nvSpPr>
            <p:cNvPr id="51" name="TextBox 51"/>
            <p:cNvSpPr txBox="1"/>
            <p:nvPr/>
          </p:nvSpPr>
          <p:spPr>
            <a:xfrm>
              <a:off x="5375338" y="1547336"/>
              <a:ext cx="1394440"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B 响应 A 的请求</a:t>
              </a:r>
            </a:p>
          </p:txBody>
        </p:sp>
      </p:grpSp>
      <p:grpSp>
        <p:nvGrpSpPr>
          <p:cNvPr id="95" name="c2-table-2"/>
          <p:cNvGrpSpPr/>
          <p:nvPr/>
        </p:nvGrpSpPr>
        <p:grpSpPr>
          <a:xfrm>
            <a:off x="5382578" y="1955482"/>
            <a:ext cx="6276022" cy="3651886"/>
            <a:chOff x="5382578" y="1955482"/>
            <a:chExt cx="6276022" cy="3651886"/>
          </a:xfrm>
        </p:grpSpPr>
        <p:sp>
          <p:nvSpPr>
            <p:cNvPr id="53" name="Rectangle 53"/>
            <p:cNvSpPr/>
            <p:nvPr/>
          </p:nvSpPr>
          <p:spPr>
            <a:xfrm>
              <a:off x="5382578" y="1955482"/>
              <a:ext cx="6276022" cy="430530"/>
            </a:xfrm>
            <a:prstGeom prst="rect">
              <a:avLst/>
            </a:prstGeom>
            <a:solidFill>
              <a:srgbClr val="334E68"/>
            </a:solidFill>
            <a:ln>
              <a:noFill/>
            </a:ln>
          </p:spPr>
        </p:sp>
        <p:sp>
          <p:nvSpPr>
            <p:cNvPr id="54" name="TextBox 54"/>
            <p:cNvSpPr txBox="1"/>
            <p:nvPr/>
          </p:nvSpPr>
          <p:spPr>
            <a:xfrm>
              <a:off x="5592128" y="2086928"/>
              <a:ext cx="335280"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目录</a:t>
              </a:r>
            </a:p>
          </p:txBody>
        </p:sp>
        <p:sp>
          <p:nvSpPr>
            <p:cNvPr id="55" name="TextBox 55"/>
            <p:cNvSpPr txBox="1"/>
            <p:nvPr/>
          </p:nvSpPr>
          <p:spPr>
            <a:xfrm>
              <a:off x="6438900" y="2086928"/>
              <a:ext cx="335280"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收到</a:t>
              </a:r>
            </a:p>
          </p:txBody>
        </p:sp>
        <p:sp>
          <p:nvSpPr>
            <p:cNvPr id="56" name="TextBox 56"/>
            <p:cNvSpPr txBox="1"/>
            <p:nvPr/>
          </p:nvSpPr>
          <p:spPr>
            <a:xfrm>
              <a:off x="8604153" y="2086928"/>
              <a:ext cx="649163"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B 的操作</a:t>
              </a:r>
            </a:p>
          </p:txBody>
        </p:sp>
        <p:sp>
          <p:nvSpPr>
            <p:cNvPr id="57" name="TextBox 57"/>
            <p:cNvSpPr txBox="1"/>
            <p:nvPr/>
          </p:nvSpPr>
          <p:spPr>
            <a:xfrm>
              <a:off x="10971086" y="2086928"/>
              <a:ext cx="496824"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新状态</a:t>
              </a:r>
            </a:p>
          </p:txBody>
        </p:sp>
        <p:sp>
          <p:nvSpPr>
            <p:cNvPr id="58" name="TextBox 58"/>
            <p:cNvSpPr txBox="1"/>
            <p:nvPr/>
          </p:nvSpPr>
          <p:spPr>
            <a:xfrm>
              <a:off x="5487924" y="2516505"/>
              <a:ext cx="110764" cy="234696"/>
            </a:xfrm>
            <a:prstGeom prst="rect">
              <a:avLst/>
            </a:prstGeom>
            <a:noFill/>
            <a:ln>
              <a:noFill/>
            </a:ln>
          </p:spPr>
          <p:txBody>
            <a:bodyPr wrap="none" lIns="0" tIns="0" rIns="0" bIns="0" anchor="t" anchorCtr="0">
              <a:spAutoFit/>
            </a:bodyPr>
            <a:lstStyle/>
            <a:p>
              <a:pPr algn="l"/>
              <a:r>
                <a:rPr lang="en-US" sz="1200" b="1" dirty="0">
                  <a:solidFill>
                    <a:srgbClr val="1F2937"/>
                  </a:solidFill>
                  <a:latin typeface="+mn-lt"/>
                  <a:ea typeface="+mn-ea"/>
                  <a:cs typeface="+mn-cs"/>
                </a:rPr>
                <a:t>U</a:t>
              </a:r>
            </a:p>
          </p:txBody>
        </p:sp>
        <p:sp>
          <p:nvSpPr>
            <p:cNvPr id="59" name="TextBox 59"/>
            <p:cNvSpPr txBox="1"/>
            <p:nvPr/>
          </p:nvSpPr>
          <p:spPr>
            <a:xfrm>
              <a:off x="6241352" y="2516505"/>
              <a:ext cx="547116" cy="234696"/>
            </a:xfrm>
            <a:prstGeom prst="rect">
              <a:avLst/>
            </a:prstGeom>
            <a:noFill/>
            <a:ln>
              <a:noFill/>
            </a:ln>
          </p:spPr>
          <p:txBody>
            <a:bodyPr wrap="none" lIns="0" tIns="0" rIns="0" bIns="0" anchor="t" anchorCtr="0">
              <a:spAutoFit/>
            </a:bodyPr>
            <a:lstStyle/>
            <a:p>
              <a:pPr algn="l"/>
              <a:r>
                <a:rPr lang="en-US" sz="1200" dirty="0">
                  <a:solidFill>
                    <a:srgbClr val="1F2937"/>
                  </a:solidFill>
                  <a:latin typeface="+mn-lt"/>
                  <a:ea typeface="+mn-ea"/>
                  <a:cs typeface="+mn-cs"/>
                </a:rPr>
                <a:t>RdMiss</a:t>
              </a:r>
            </a:p>
          </p:txBody>
        </p:sp>
        <p:sp>
          <p:nvSpPr>
            <p:cNvPr id="60" name="TextBox 60"/>
            <p:cNvSpPr txBox="1"/>
            <p:nvPr/>
          </p:nvSpPr>
          <p:spPr>
            <a:xfrm>
              <a:off x="7182422" y="2516505"/>
              <a:ext cx="1672438"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发 Data 给 A，G = {A}</a:t>
              </a:r>
            </a:p>
          </p:txBody>
        </p:sp>
        <p:sp>
          <p:nvSpPr>
            <p:cNvPr id="61" name="TextBox 61"/>
            <p:cNvSpPr txBox="1"/>
            <p:nvPr/>
          </p:nvSpPr>
          <p:spPr>
            <a:xfrm>
              <a:off x="10885741" y="2516505"/>
              <a:ext cx="106070" cy="234696"/>
            </a:xfrm>
            <a:prstGeom prst="rect">
              <a:avLst/>
            </a:prstGeom>
            <a:noFill/>
            <a:ln>
              <a:noFill/>
            </a:ln>
          </p:spPr>
          <p:txBody>
            <a:bodyPr wrap="none" lIns="0" tIns="0" rIns="0" bIns="0" anchor="t" anchorCtr="0">
              <a:spAutoFit/>
            </a:bodyPr>
            <a:lstStyle/>
            <a:p>
              <a:pPr algn="l"/>
              <a:r>
                <a:rPr lang="en-US" sz="1200" dirty="0">
                  <a:solidFill>
                    <a:srgbClr val="1F2937"/>
                  </a:solidFill>
                  <a:latin typeface="+mn-lt"/>
                  <a:ea typeface="+mn-ea"/>
                  <a:cs typeface="+mn-cs"/>
                </a:rPr>
                <a:t>S</a:t>
              </a:r>
            </a:p>
          </p:txBody>
        </p:sp>
        <p:sp>
          <p:nvSpPr>
            <p:cNvPr id="62" name="Rectangle 62"/>
            <p:cNvSpPr/>
            <p:nvPr/>
          </p:nvSpPr>
          <p:spPr>
            <a:xfrm>
              <a:off x="5382578" y="2810828"/>
              <a:ext cx="6276022" cy="9525"/>
            </a:xfrm>
            <a:prstGeom prst="rect">
              <a:avLst/>
            </a:prstGeom>
            <a:solidFill>
              <a:srgbClr val="D9DFEA"/>
            </a:solidFill>
            <a:ln>
              <a:noFill/>
            </a:ln>
          </p:spPr>
        </p:sp>
        <p:sp>
          <p:nvSpPr>
            <p:cNvPr id="63" name="Rectangle 63"/>
            <p:cNvSpPr/>
            <p:nvPr/>
          </p:nvSpPr>
          <p:spPr>
            <a:xfrm>
              <a:off x="5382578" y="2815590"/>
              <a:ext cx="6276022" cy="430530"/>
            </a:xfrm>
            <a:prstGeom prst="rect">
              <a:avLst/>
            </a:prstGeom>
            <a:solidFill>
              <a:srgbClr val="F4F6FB"/>
            </a:solidFill>
            <a:ln>
              <a:noFill/>
            </a:ln>
          </p:spPr>
        </p:sp>
        <p:sp>
          <p:nvSpPr>
            <p:cNvPr id="64" name="TextBox 64"/>
            <p:cNvSpPr txBox="1"/>
            <p:nvPr/>
          </p:nvSpPr>
          <p:spPr>
            <a:xfrm>
              <a:off x="5487924" y="2947035"/>
              <a:ext cx="110764" cy="234696"/>
            </a:xfrm>
            <a:prstGeom prst="rect">
              <a:avLst/>
            </a:prstGeom>
            <a:noFill/>
            <a:ln>
              <a:noFill/>
            </a:ln>
          </p:spPr>
          <p:txBody>
            <a:bodyPr wrap="none" lIns="0" tIns="0" rIns="0" bIns="0" anchor="t" anchorCtr="0">
              <a:spAutoFit/>
            </a:bodyPr>
            <a:lstStyle/>
            <a:p>
              <a:pPr algn="l"/>
              <a:r>
                <a:rPr lang="en-US" sz="1200" b="1" dirty="0">
                  <a:solidFill>
                    <a:srgbClr val="1F2937"/>
                  </a:solidFill>
                  <a:latin typeface="+mn-lt"/>
                  <a:ea typeface="+mn-ea"/>
                  <a:cs typeface="+mn-cs"/>
                </a:rPr>
                <a:t>U</a:t>
              </a:r>
            </a:p>
          </p:txBody>
        </p:sp>
        <p:sp>
          <p:nvSpPr>
            <p:cNvPr id="65" name="TextBox 65"/>
            <p:cNvSpPr txBox="1"/>
            <p:nvPr/>
          </p:nvSpPr>
          <p:spPr>
            <a:xfrm>
              <a:off x="6241352" y="2947035"/>
              <a:ext cx="580034" cy="234696"/>
            </a:xfrm>
            <a:prstGeom prst="rect">
              <a:avLst/>
            </a:prstGeom>
            <a:noFill/>
            <a:ln>
              <a:noFill/>
            </a:ln>
          </p:spPr>
          <p:txBody>
            <a:bodyPr wrap="none" lIns="0" tIns="0" rIns="0" bIns="0" anchor="t" anchorCtr="0">
              <a:spAutoFit/>
            </a:bodyPr>
            <a:lstStyle/>
            <a:p>
              <a:pPr algn="l"/>
              <a:r>
                <a:rPr lang="en-US" sz="1200" dirty="0">
                  <a:solidFill>
                    <a:srgbClr val="1F2937"/>
                  </a:solidFill>
                  <a:latin typeface="+mn-lt"/>
                  <a:ea typeface="+mn-ea"/>
                  <a:cs typeface="+mn-cs"/>
                </a:rPr>
                <a:t>WtMiss</a:t>
              </a:r>
            </a:p>
          </p:txBody>
        </p:sp>
        <p:sp>
          <p:nvSpPr>
            <p:cNvPr id="66" name="TextBox 66"/>
            <p:cNvSpPr txBox="1"/>
            <p:nvPr/>
          </p:nvSpPr>
          <p:spPr>
            <a:xfrm>
              <a:off x="7182422" y="2947035"/>
              <a:ext cx="1672438"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发 Data 给 A，G = {A}</a:t>
              </a:r>
            </a:p>
          </p:txBody>
        </p:sp>
        <p:sp>
          <p:nvSpPr>
            <p:cNvPr id="67" name="TextBox 67"/>
            <p:cNvSpPr txBox="1"/>
            <p:nvPr/>
          </p:nvSpPr>
          <p:spPr>
            <a:xfrm>
              <a:off x="10885741" y="2947035"/>
              <a:ext cx="106070" cy="234696"/>
            </a:xfrm>
            <a:prstGeom prst="rect">
              <a:avLst/>
            </a:prstGeom>
            <a:noFill/>
            <a:ln>
              <a:noFill/>
            </a:ln>
          </p:spPr>
          <p:txBody>
            <a:bodyPr wrap="none" lIns="0" tIns="0" rIns="0" bIns="0" anchor="t" anchorCtr="0">
              <a:spAutoFit/>
            </a:bodyPr>
            <a:lstStyle/>
            <a:p>
              <a:pPr algn="l"/>
              <a:r>
                <a:rPr lang="en-US" sz="1200" dirty="0">
                  <a:solidFill>
                    <a:srgbClr val="1F2937"/>
                  </a:solidFill>
                  <a:latin typeface="+mn-lt"/>
                  <a:ea typeface="+mn-ea"/>
                  <a:cs typeface="+mn-cs"/>
                </a:rPr>
                <a:t>E</a:t>
              </a:r>
            </a:p>
          </p:txBody>
        </p:sp>
        <p:sp>
          <p:nvSpPr>
            <p:cNvPr id="68" name="Rectangle 68"/>
            <p:cNvSpPr/>
            <p:nvPr/>
          </p:nvSpPr>
          <p:spPr>
            <a:xfrm>
              <a:off x="5382578" y="3241358"/>
              <a:ext cx="6276022" cy="9525"/>
            </a:xfrm>
            <a:prstGeom prst="rect">
              <a:avLst/>
            </a:prstGeom>
            <a:solidFill>
              <a:srgbClr val="D9DFEA"/>
            </a:solidFill>
            <a:ln>
              <a:noFill/>
            </a:ln>
          </p:spPr>
        </p:sp>
        <p:sp>
          <p:nvSpPr>
            <p:cNvPr id="69" name="TextBox 69"/>
            <p:cNvSpPr txBox="1"/>
            <p:nvPr/>
          </p:nvSpPr>
          <p:spPr>
            <a:xfrm>
              <a:off x="5487924" y="3377565"/>
              <a:ext cx="110764" cy="234696"/>
            </a:xfrm>
            <a:prstGeom prst="rect">
              <a:avLst/>
            </a:prstGeom>
            <a:noFill/>
            <a:ln>
              <a:noFill/>
            </a:ln>
          </p:spPr>
          <p:txBody>
            <a:bodyPr wrap="none" lIns="0" tIns="0" rIns="0" bIns="0" anchor="t" anchorCtr="0">
              <a:spAutoFit/>
            </a:bodyPr>
            <a:lstStyle/>
            <a:p>
              <a:pPr algn="l"/>
              <a:r>
                <a:rPr lang="en-US" sz="1200" b="1" dirty="0">
                  <a:solidFill>
                    <a:srgbClr val="1F2937"/>
                  </a:solidFill>
                  <a:latin typeface="+mn-lt"/>
                  <a:ea typeface="+mn-ea"/>
                  <a:cs typeface="+mn-cs"/>
                </a:rPr>
                <a:t>S</a:t>
              </a:r>
            </a:p>
          </p:txBody>
        </p:sp>
        <p:sp>
          <p:nvSpPr>
            <p:cNvPr id="70" name="TextBox 70"/>
            <p:cNvSpPr txBox="1"/>
            <p:nvPr/>
          </p:nvSpPr>
          <p:spPr>
            <a:xfrm>
              <a:off x="6241352" y="3377565"/>
              <a:ext cx="547116" cy="234696"/>
            </a:xfrm>
            <a:prstGeom prst="rect">
              <a:avLst/>
            </a:prstGeom>
            <a:noFill/>
            <a:ln>
              <a:noFill/>
            </a:ln>
          </p:spPr>
          <p:txBody>
            <a:bodyPr wrap="none" lIns="0" tIns="0" rIns="0" bIns="0" anchor="t" anchorCtr="0">
              <a:spAutoFit/>
            </a:bodyPr>
            <a:lstStyle/>
            <a:p>
              <a:pPr algn="l"/>
              <a:r>
                <a:rPr lang="en-US" sz="1200" dirty="0">
                  <a:solidFill>
                    <a:srgbClr val="1F2937"/>
                  </a:solidFill>
                  <a:latin typeface="+mn-lt"/>
                  <a:ea typeface="+mn-ea"/>
                  <a:cs typeface="+mn-cs"/>
                </a:rPr>
                <a:t>RdMiss</a:t>
              </a:r>
            </a:p>
          </p:txBody>
        </p:sp>
        <p:sp>
          <p:nvSpPr>
            <p:cNvPr id="71" name="TextBox 71"/>
            <p:cNvSpPr txBox="1"/>
            <p:nvPr/>
          </p:nvSpPr>
          <p:spPr>
            <a:xfrm>
              <a:off x="7182422" y="3377565"/>
              <a:ext cx="1766316"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发 Data 给 A，G += {A}</a:t>
              </a:r>
            </a:p>
          </p:txBody>
        </p:sp>
        <p:sp>
          <p:nvSpPr>
            <p:cNvPr id="72" name="TextBox 72"/>
            <p:cNvSpPr txBox="1"/>
            <p:nvPr/>
          </p:nvSpPr>
          <p:spPr>
            <a:xfrm>
              <a:off x="10885741" y="3377565"/>
              <a:ext cx="106070" cy="234696"/>
            </a:xfrm>
            <a:prstGeom prst="rect">
              <a:avLst/>
            </a:prstGeom>
            <a:noFill/>
            <a:ln>
              <a:noFill/>
            </a:ln>
          </p:spPr>
          <p:txBody>
            <a:bodyPr wrap="none" lIns="0" tIns="0" rIns="0" bIns="0" anchor="t" anchorCtr="0">
              <a:spAutoFit/>
            </a:bodyPr>
            <a:lstStyle/>
            <a:p>
              <a:pPr algn="l"/>
              <a:r>
                <a:rPr lang="en-US" sz="1200" dirty="0">
                  <a:solidFill>
                    <a:srgbClr val="1F2937"/>
                  </a:solidFill>
                  <a:latin typeface="+mn-lt"/>
                  <a:ea typeface="+mn-ea"/>
                  <a:cs typeface="+mn-cs"/>
                </a:rPr>
                <a:t>S</a:t>
              </a:r>
            </a:p>
          </p:txBody>
        </p:sp>
        <p:sp>
          <p:nvSpPr>
            <p:cNvPr id="73" name="Rectangle 73"/>
            <p:cNvSpPr/>
            <p:nvPr/>
          </p:nvSpPr>
          <p:spPr>
            <a:xfrm>
              <a:off x="5382578" y="3670935"/>
              <a:ext cx="6276022" cy="9525"/>
            </a:xfrm>
            <a:prstGeom prst="rect">
              <a:avLst/>
            </a:prstGeom>
            <a:solidFill>
              <a:srgbClr val="D9DFEA"/>
            </a:solidFill>
            <a:ln>
              <a:noFill/>
            </a:ln>
          </p:spPr>
        </p:sp>
        <p:sp>
          <p:nvSpPr>
            <p:cNvPr id="74" name="Rectangle 74"/>
            <p:cNvSpPr/>
            <p:nvPr/>
          </p:nvSpPr>
          <p:spPr>
            <a:xfrm>
              <a:off x="5382578" y="3675698"/>
              <a:ext cx="6276022" cy="643890"/>
            </a:xfrm>
            <a:prstGeom prst="rect">
              <a:avLst/>
            </a:prstGeom>
            <a:solidFill>
              <a:srgbClr val="F4F6FB"/>
            </a:solidFill>
            <a:ln>
              <a:noFill/>
            </a:ln>
          </p:spPr>
        </p:sp>
        <p:sp>
          <p:nvSpPr>
            <p:cNvPr id="75" name="TextBox 75"/>
            <p:cNvSpPr txBox="1"/>
            <p:nvPr/>
          </p:nvSpPr>
          <p:spPr>
            <a:xfrm>
              <a:off x="5487924" y="3913822"/>
              <a:ext cx="110764" cy="234696"/>
            </a:xfrm>
            <a:prstGeom prst="rect">
              <a:avLst/>
            </a:prstGeom>
            <a:noFill/>
            <a:ln>
              <a:noFill/>
            </a:ln>
          </p:spPr>
          <p:txBody>
            <a:bodyPr wrap="none" lIns="0" tIns="0" rIns="0" bIns="0" anchor="t" anchorCtr="0">
              <a:spAutoFit/>
            </a:bodyPr>
            <a:lstStyle/>
            <a:p>
              <a:pPr algn="l"/>
              <a:r>
                <a:rPr lang="en-US" sz="1200" b="1" dirty="0">
                  <a:solidFill>
                    <a:srgbClr val="1F2937"/>
                  </a:solidFill>
                  <a:latin typeface="+mn-lt"/>
                  <a:ea typeface="+mn-ea"/>
                  <a:cs typeface="+mn-cs"/>
                </a:rPr>
                <a:t>S</a:t>
              </a:r>
            </a:p>
          </p:txBody>
        </p:sp>
        <p:sp>
          <p:nvSpPr>
            <p:cNvPr id="76" name="TextBox 76"/>
            <p:cNvSpPr txBox="1"/>
            <p:nvPr/>
          </p:nvSpPr>
          <p:spPr>
            <a:xfrm>
              <a:off x="6241352" y="3913822"/>
              <a:ext cx="580034" cy="234696"/>
            </a:xfrm>
            <a:prstGeom prst="rect">
              <a:avLst/>
            </a:prstGeom>
            <a:noFill/>
            <a:ln>
              <a:noFill/>
            </a:ln>
          </p:spPr>
          <p:txBody>
            <a:bodyPr wrap="none" lIns="0" tIns="0" rIns="0" bIns="0" anchor="t" anchorCtr="0">
              <a:spAutoFit/>
            </a:bodyPr>
            <a:lstStyle/>
            <a:p>
              <a:pPr algn="l"/>
              <a:r>
                <a:rPr lang="en-US" sz="1200" dirty="0">
                  <a:solidFill>
                    <a:srgbClr val="1F2937"/>
                  </a:solidFill>
                  <a:latin typeface="+mn-lt"/>
                  <a:ea typeface="+mn-ea"/>
                  <a:cs typeface="+mn-cs"/>
                </a:rPr>
                <a:t>WtMiss</a:t>
              </a:r>
            </a:p>
          </p:txBody>
        </p:sp>
        <p:sp>
          <p:nvSpPr>
            <p:cNvPr id="77" name="TextBox 77"/>
            <p:cNvSpPr txBox="1"/>
            <p:nvPr/>
          </p:nvSpPr>
          <p:spPr>
            <a:xfrm>
              <a:off x="7182422" y="3807142"/>
              <a:ext cx="3273552" cy="448056"/>
            </a:xfrm>
            <a:prstGeom prst="rect">
              <a:avLst/>
            </a:prstGeom>
            <a:noFill/>
            <a:ln>
              <a:noFill/>
            </a:ln>
          </p:spPr>
          <p:txBody>
            <a:bodyPr wrap="none" lIns="0" tIns="0" rIns="0" bIns="0" anchor="t" anchorCtr="0">
              <a:spAutoFit/>
            </a:bodyPr>
            <a:lstStyle/>
            <a:p>
              <a:pPr algn="l">
                <a:lnSpc>
                  <a:spcPts val="1680"/>
                </a:lnSpc>
              </a:pPr>
              <a:r>
                <a:rPr lang="zh-CN" sz="1200" dirty="0">
                  <a:solidFill>
                    <a:srgbClr val="1F2937"/>
                  </a:solidFill>
                  <a:latin typeface="+mn-lt"/>
                  <a:ea typeface="+mn-ea"/>
                  <a:cs typeface="+mn-cs"/>
                </a:rPr>
                <a:t>发 Data 给 A，给 G 中所有 C 发 Invalidate，G =</a:t>
              </a:r>
              <a:br/>
              <a:r>
                <a:rPr lang="en-US" sz="1200" dirty="0">
                  <a:solidFill>
                    <a:srgbClr val="1F2937"/>
                  </a:solidFill>
                  <a:latin typeface="+mn-lt"/>
                  <a:ea typeface="+mn-ea"/>
                  <a:cs typeface="+mn-cs"/>
                </a:rPr>
                <a:t>{A}</a:t>
              </a:r>
            </a:p>
          </p:txBody>
        </p:sp>
        <p:sp>
          <p:nvSpPr>
            <p:cNvPr id="78" name="TextBox 78"/>
            <p:cNvSpPr txBox="1"/>
            <p:nvPr/>
          </p:nvSpPr>
          <p:spPr>
            <a:xfrm>
              <a:off x="10885741" y="3913822"/>
              <a:ext cx="106070" cy="234696"/>
            </a:xfrm>
            <a:prstGeom prst="rect">
              <a:avLst/>
            </a:prstGeom>
            <a:noFill/>
            <a:ln>
              <a:noFill/>
            </a:ln>
          </p:spPr>
          <p:txBody>
            <a:bodyPr wrap="none" lIns="0" tIns="0" rIns="0" bIns="0" anchor="t" anchorCtr="0">
              <a:spAutoFit/>
            </a:bodyPr>
            <a:lstStyle/>
            <a:p>
              <a:pPr algn="l"/>
              <a:r>
                <a:rPr lang="en-US" sz="1200" dirty="0">
                  <a:solidFill>
                    <a:srgbClr val="1F2937"/>
                  </a:solidFill>
                  <a:latin typeface="+mn-lt"/>
                  <a:ea typeface="+mn-ea"/>
                  <a:cs typeface="+mn-cs"/>
                </a:rPr>
                <a:t>E</a:t>
              </a:r>
            </a:p>
          </p:txBody>
        </p:sp>
        <p:sp>
          <p:nvSpPr>
            <p:cNvPr id="79" name="Rectangle 79"/>
            <p:cNvSpPr/>
            <p:nvPr/>
          </p:nvSpPr>
          <p:spPr>
            <a:xfrm>
              <a:off x="5382578" y="4314825"/>
              <a:ext cx="6276022" cy="9525"/>
            </a:xfrm>
            <a:prstGeom prst="rect">
              <a:avLst/>
            </a:prstGeom>
            <a:solidFill>
              <a:srgbClr val="D9DFEA"/>
            </a:solidFill>
            <a:ln>
              <a:noFill/>
            </a:ln>
          </p:spPr>
        </p:sp>
        <p:sp>
          <p:nvSpPr>
            <p:cNvPr id="80" name="TextBox 80"/>
            <p:cNvSpPr txBox="1"/>
            <p:nvPr/>
          </p:nvSpPr>
          <p:spPr>
            <a:xfrm>
              <a:off x="5487924" y="4557712"/>
              <a:ext cx="110764" cy="234696"/>
            </a:xfrm>
            <a:prstGeom prst="rect">
              <a:avLst/>
            </a:prstGeom>
            <a:noFill/>
            <a:ln>
              <a:noFill/>
            </a:ln>
          </p:spPr>
          <p:txBody>
            <a:bodyPr wrap="none" lIns="0" tIns="0" rIns="0" bIns="0" anchor="t" anchorCtr="0">
              <a:spAutoFit/>
            </a:bodyPr>
            <a:lstStyle/>
            <a:p>
              <a:pPr algn="l"/>
              <a:r>
                <a:rPr lang="en-US" sz="1200" b="1" dirty="0">
                  <a:solidFill>
                    <a:srgbClr val="1F2937"/>
                  </a:solidFill>
                  <a:latin typeface="+mn-lt"/>
                  <a:ea typeface="+mn-ea"/>
                  <a:cs typeface="+mn-cs"/>
                </a:rPr>
                <a:t>E</a:t>
              </a:r>
            </a:p>
          </p:txBody>
        </p:sp>
        <p:sp>
          <p:nvSpPr>
            <p:cNvPr id="81" name="TextBox 81"/>
            <p:cNvSpPr txBox="1"/>
            <p:nvPr/>
          </p:nvSpPr>
          <p:spPr>
            <a:xfrm>
              <a:off x="6241352" y="4557712"/>
              <a:ext cx="547116" cy="234696"/>
            </a:xfrm>
            <a:prstGeom prst="rect">
              <a:avLst/>
            </a:prstGeom>
            <a:noFill/>
            <a:ln>
              <a:noFill/>
            </a:ln>
          </p:spPr>
          <p:txBody>
            <a:bodyPr wrap="none" lIns="0" tIns="0" rIns="0" bIns="0" anchor="t" anchorCtr="0">
              <a:spAutoFit/>
            </a:bodyPr>
            <a:lstStyle/>
            <a:p>
              <a:pPr algn="l"/>
              <a:r>
                <a:rPr lang="en-US" sz="1200" dirty="0">
                  <a:solidFill>
                    <a:srgbClr val="1F2937"/>
                  </a:solidFill>
                  <a:latin typeface="+mn-lt"/>
                  <a:ea typeface="+mn-ea"/>
                  <a:cs typeface="+mn-cs"/>
                </a:rPr>
                <a:t>RdMiss</a:t>
              </a:r>
            </a:p>
          </p:txBody>
        </p:sp>
        <p:sp>
          <p:nvSpPr>
            <p:cNvPr id="82" name="Rectangle 82"/>
            <p:cNvSpPr/>
            <p:nvPr/>
          </p:nvSpPr>
          <p:spPr>
            <a:xfrm>
              <a:off x="7086600" y="4329112"/>
              <a:ext cx="3683318" cy="624840"/>
            </a:xfrm>
            <a:prstGeom prst="rect">
              <a:avLst/>
            </a:prstGeom>
            <a:solidFill>
              <a:srgbClr val="FDEEE7"/>
            </a:solidFill>
            <a:ln>
              <a:noFill/>
            </a:ln>
          </p:spPr>
        </p:sp>
        <p:sp>
          <p:nvSpPr>
            <p:cNvPr id="83" name="TextBox 83"/>
            <p:cNvSpPr txBox="1"/>
            <p:nvPr/>
          </p:nvSpPr>
          <p:spPr>
            <a:xfrm>
              <a:off x="7182422" y="4451032"/>
              <a:ext cx="3311652" cy="448056"/>
            </a:xfrm>
            <a:prstGeom prst="rect">
              <a:avLst/>
            </a:prstGeom>
            <a:noFill/>
            <a:ln>
              <a:noFill/>
            </a:ln>
          </p:spPr>
          <p:txBody>
            <a:bodyPr wrap="none" lIns="0" tIns="0" rIns="0" bIns="0" anchor="t" anchorCtr="0">
              <a:spAutoFit/>
            </a:bodyPr>
            <a:lstStyle/>
            <a:p>
              <a:pPr algn="l">
                <a:lnSpc>
                  <a:spcPts val="1680"/>
                </a:lnSpc>
              </a:pPr>
              <a:r>
                <a:rPr lang="zh-CN" sz="1200" dirty="0">
                  <a:solidFill>
                    <a:srgbClr val="1F2937"/>
                  </a:solidFill>
                  <a:latin typeface="+mn-lt"/>
                  <a:ea typeface="+mn-ea"/>
                  <a:cs typeface="+mn-cs"/>
                </a:rPr>
                <a:t>向唯一拥有者 C 发 FetchS，收到 Update 后更新</a:t>
              </a:r>
              <a:br/>
              <a:r>
                <a:rPr lang="zh-CN" sz="1200" dirty="0">
                  <a:solidFill>
                    <a:srgbClr val="1F2937"/>
                  </a:solidFill>
                  <a:latin typeface="+mn-lt"/>
                  <a:ea typeface="+mn-ea"/>
                  <a:cs typeface="+mn-cs"/>
                </a:rPr>
                <a:t>存储器，发 Data 给 A，G += {A}</a:t>
              </a:r>
            </a:p>
          </p:txBody>
        </p:sp>
        <p:sp>
          <p:nvSpPr>
            <p:cNvPr id="84" name="TextBox 84"/>
            <p:cNvSpPr txBox="1"/>
            <p:nvPr/>
          </p:nvSpPr>
          <p:spPr>
            <a:xfrm>
              <a:off x="10885741" y="4557712"/>
              <a:ext cx="106070" cy="234696"/>
            </a:xfrm>
            <a:prstGeom prst="rect">
              <a:avLst/>
            </a:prstGeom>
            <a:noFill/>
            <a:ln>
              <a:noFill/>
            </a:ln>
          </p:spPr>
          <p:txBody>
            <a:bodyPr wrap="none" lIns="0" tIns="0" rIns="0" bIns="0" anchor="t" anchorCtr="0">
              <a:spAutoFit/>
            </a:bodyPr>
            <a:lstStyle/>
            <a:p>
              <a:pPr algn="l"/>
              <a:r>
                <a:rPr lang="en-US" sz="1200" dirty="0">
                  <a:solidFill>
                    <a:srgbClr val="1F2937"/>
                  </a:solidFill>
                  <a:latin typeface="+mn-lt"/>
                  <a:ea typeface="+mn-ea"/>
                  <a:cs typeface="+mn-cs"/>
                </a:rPr>
                <a:t>S</a:t>
              </a:r>
            </a:p>
          </p:txBody>
        </p:sp>
        <p:sp>
          <p:nvSpPr>
            <p:cNvPr id="85" name="Rectangle 85"/>
            <p:cNvSpPr/>
            <p:nvPr/>
          </p:nvSpPr>
          <p:spPr>
            <a:xfrm>
              <a:off x="5382578" y="4958715"/>
              <a:ext cx="6276022" cy="9525"/>
            </a:xfrm>
            <a:prstGeom prst="rect">
              <a:avLst/>
            </a:prstGeom>
            <a:solidFill>
              <a:srgbClr val="D9DFEA"/>
            </a:solidFill>
            <a:ln>
              <a:noFill/>
            </a:ln>
          </p:spPr>
        </p:sp>
        <p:sp>
          <p:nvSpPr>
            <p:cNvPr id="86" name="Rectangle 86"/>
            <p:cNvSpPr/>
            <p:nvPr/>
          </p:nvSpPr>
          <p:spPr>
            <a:xfrm>
              <a:off x="5382578" y="4963478"/>
              <a:ext cx="6276022" cy="643890"/>
            </a:xfrm>
            <a:prstGeom prst="rect">
              <a:avLst/>
            </a:prstGeom>
            <a:solidFill>
              <a:srgbClr val="F4F6FB"/>
            </a:solidFill>
            <a:ln>
              <a:noFill/>
            </a:ln>
          </p:spPr>
        </p:sp>
        <p:sp>
          <p:nvSpPr>
            <p:cNvPr id="87" name="TextBox 87"/>
            <p:cNvSpPr txBox="1"/>
            <p:nvPr/>
          </p:nvSpPr>
          <p:spPr>
            <a:xfrm>
              <a:off x="5487924" y="5200650"/>
              <a:ext cx="110764" cy="234696"/>
            </a:xfrm>
            <a:prstGeom prst="rect">
              <a:avLst/>
            </a:prstGeom>
            <a:noFill/>
            <a:ln>
              <a:noFill/>
            </a:ln>
          </p:spPr>
          <p:txBody>
            <a:bodyPr wrap="none" lIns="0" tIns="0" rIns="0" bIns="0" anchor="t" anchorCtr="0">
              <a:spAutoFit/>
            </a:bodyPr>
            <a:lstStyle/>
            <a:p>
              <a:pPr algn="l"/>
              <a:r>
                <a:rPr lang="en-US" sz="1200" b="1" dirty="0">
                  <a:solidFill>
                    <a:srgbClr val="1F2937"/>
                  </a:solidFill>
                  <a:latin typeface="+mn-lt"/>
                  <a:ea typeface="+mn-ea"/>
                  <a:cs typeface="+mn-cs"/>
                </a:rPr>
                <a:t>E</a:t>
              </a:r>
            </a:p>
          </p:txBody>
        </p:sp>
        <p:sp>
          <p:nvSpPr>
            <p:cNvPr id="88" name="TextBox 88"/>
            <p:cNvSpPr txBox="1"/>
            <p:nvPr/>
          </p:nvSpPr>
          <p:spPr>
            <a:xfrm>
              <a:off x="6241352" y="5200650"/>
              <a:ext cx="580034" cy="234696"/>
            </a:xfrm>
            <a:prstGeom prst="rect">
              <a:avLst/>
            </a:prstGeom>
            <a:noFill/>
            <a:ln>
              <a:noFill/>
            </a:ln>
          </p:spPr>
          <p:txBody>
            <a:bodyPr wrap="none" lIns="0" tIns="0" rIns="0" bIns="0" anchor="t" anchorCtr="0">
              <a:spAutoFit/>
            </a:bodyPr>
            <a:lstStyle/>
            <a:p>
              <a:pPr algn="l"/>
              <a:r>
                <a:rPr lang="en-US" sz="1200" dirty="0">
                  <a:solidFill>
                    <a:srgbClr val="1F2937"/>
                  </a:solidFill>
                  <a:latin typeface="+mn-lt"/>
                  <a:ea typeface="+mn-ea"/>
                  <a:cs typeface="+mn-cs"/>
                </a:rPr>
                <a:t>WtMiss</a:t>
              </a:r>
            </a:p>
          </p:txBody>
        </p:sp>
        <p:sp>
          <p:nvSpPr>
            <p:cNvPr id="89" name="TextBox 89"/>
            <p:cNvSpPr txBox="1"/>
            <p:nvPr/>
          </p:nvSpPr>
          <p:spPr>
            <a:xfrm>
              <a:off x="7182422" y="5093970"/>
              <a:ext cx="3304032" cy="448056"/>
            </a:xfrm>
            <a:prstGeom prst="rect">
              <a:avLst/>
            </a:prstGeom>
            <a:noFill/>
            <a:ln>
              <a:noFill/>
            </a:ln>
          </p:spPr>
          <p:txBody>
            <a:bodyPr wrap="none" lIns="0" tIns="0" rIns="0" bIns="0" anchor="t" anchorCtr="0">
              <a:spAutoFit/>
            </a:bodyPr>
            <a:lstStyle/>
            <a:p>
              <a:pPr algn="l">
                <a:lnSpc>
                  <a:spcPts val="1680"/>
                </a:lnSpc>
              </a:pPr>
              <a:r>
                <a:rPr lang="zh-CN" sz="1200" dirty="0">
                  <a:solidFill>
                    <a:srgbClr val="1F2937"/>
                  </a:solidFill>
                  <a:latin typeface="+mn-lt"/>
                  <a:ea typeface="+mn-ea"/>
                  <a:cs typeface="+mn-cs"/>
                </a:rPr>
                <a:t>向 C 发 FetchI，收到 Update 后发 Data 给 A，G</a:t>
              </a:r>
              <a:br/>
              <a:r>
                <a:rPr lang="en-US" sz="1200" dirty="0">
                  <a:solidFill>
                    <a:srgbClr val="1F2937"/>
                  </a:solidFill>
                  <a:latin typeface="+mn-lt"/>
                  <a:ea typeface="+mn-ea"/>
                  <a:cs typeface="+mn-cs"/>
                </a:rPr>
                <a:t>= {A}</a:t>
              </a:r>
            </a:p>
          </p:txBody>
        </p:sp>
        <p:sp>
          <p:nvSpPr>
            <p:cNvPr id="90" name="TextBox 90"/>
            <p:cNvSpPr txBox="1"/>
            <p:nvPr/>
          </p:nvSpPr>
          <p:spPr>
            <a:xfrm>
              <a:off x="10885741" y="5200650"/>
              <a:ext cx="106070" cy="234696"/>
            </a:xfrm>
            <a:prstGeom prst="rect">
              <a:avLst/>
            </a:prstGeom>
            <a:noFill/>
            <a:ln>
              <a:noFill/>
            </a:ln>
          </p:spPr>
          <p:txBody>
            <a:bodyPr wrap="none" lIns="0" tIns="0" rIns="0" bIns="0" anchor="t" anchorCtr="0">
              <a:spAutoFit/>
            </a:bodyPr>
            <a:lstStyle/>
            <a:p>
              <a:pPr algn="l"/>
              <a:r>
                <a:rPr lang="en-US" sz="1200" dirty="0">
                  <a:solidFill>
                    <a:srgbClr val="1F2937"/>
                  </a:solidFill>
                  <a:latin typeface="+mn-lt"/>
                  <a:ea typeface="+mn-ea"/>
                  <a:cs typeface="+mn-cs"/>
                </a:rPr>
                <a:t>E</a:t>
              </a:r>
            </a:p>
          </p:txBody>
        </p:sp>
        <p:sp>
          <p:nvSpPr>
            <p:cNvPr id="91" name="Rectangle 91"/>
            <p:cNvSpPr/>
            <p:nvPr/>
          </p:nvSpPr>
          <p:spPr>
            <a:xfrm>
              <a:off x="5382578" y="1955482"/>
              <a:ext cx="6276022" cy="3650932"/>
            </a:xfrm>
            <a:prstGeom prst="rect">
              <a:avLst/>
            </a:prstGeom>
            <a:noFill/>
            <a:ln w="14288">
              <a:solidFill>
                <a:srgbClr val="D9DFEA"/>
              </a:solidFill>
            </a:ln>
          </p:spPr>
        </p:sp>
        <p:sp>
          <p:nvSpPr>
            <p:cNvPr id="92" name="Rectangle 92"/>
            <p:cNvSpPr/>
            <p:nvPr/>
          </p:nvSpPr>
          <p:spPr>
            <a:xfrm>
              <a:off x="6131242" y="1955482"/>
              <a:ext cx="9525" cy="3650932"/>
            </a:xfrm>
            <a:prstGeom prst="rect">
              <a:avLst/>
            </a:prstGeom>
            <a:solidFill>
              <a:srgbClr val="D9DFEA"/>
            </a:solidFill>
            <a:ln>
              <a:noFill/>
            </a:ln>
          </p:spPr>
        </p:sp>
        <p:sp>
          <p:nvSpPr>
            <p:cNvPr id="93" name="Rectangle 93"/>
            <p:cNvSpPr/>
            <p:nvPr/>
          </p:nvSpPr>
          <p:spPr>
            <a:xfrm>
              <a:off x="7072312" y="1955482"/>
              <a:ext cx="9525" cy="3650932"/>
            </a:xfrm>
            <a:prstGeom prst="rect">
              <a:avLst/>
            </a:prstGeom>
            <a:solidFill>
              <a:srgbClr val="D9DFEA"/>
            </a:solidFill>
            <a:ln>
              <a:noFill/>
            </a:ln>
          </p:spPr>
        </p:sp>
        <p:sp>
          <p:nvSpPr>
            <p:cNvPr id="94" name="Rectangle 94"/>
            <p:cNvSpPr/>
            <p:nvPr/>
          </p:nvSpPr>
          <p:spPr>
            <a:xfrm>
              <a:off x="10775632" y="1955482"/>
              <a:ext cx="9525" cy="3650932"/>
            </a:xfrm>
            <a:prstGeom prst="rect">
              <a:avLst/>
            </a:prstGeom>
            <a:solidFill>
              <a:srgbClr val="D9DFEA"/>
            </a:solidFill>
            <a:ln>
              <a:noFill/>
            </a:ln>
          </p:spPr>
        </p:sp>
      </p:grpSp>
      <p:grpSp>
        <p:nvGrpSpPr>
          <p:cNvPr id="102" name="takeaway"/>
          <p:cNvGrpSpPr/>
          <p:nvPr/>
        </p:nvGrpSpPr>
        <p:grpSpPr>
          <a:xfrm>
            <a:off x="533400" y="5844540"/>
            <a:ext cx="11125200" cy="518160"/>
            <a:chOff x="533400" y="5844540"/>
            <a:chExt cx="11125200" cy="518160"/>
          </a:xfrm>
        </p:grpSpPr>
        <p:sp>
          <p:nvSpPr>
            <p:cNvPr id="96" name="Rectangle 96"/>
            <p:cNvSpPr/>
            <p:nvPr/>
          </p:nvSpPr>
          <p:spPr>
            <a:xfrm>
              <a:off x="533400" y="5844540"/>
              <a:ext cx="11125200" cy="518160"/>
            </a:xfrm>
            <a:prstGeom prst="roundRect">
              <a:avLst>
                <a:gd name="adj" fmla="val 22059"/>
              </a:avLst>
            </a:prstGeom>
            <a:solidFill>
              <a:srgbClr val="FDEEE7"/>
            </a:solidFill>
            <a:ln>
              <a:noFill/>
            </a:ln>
          </p:spPr>
        </p:sp>
        <p:grpSp>
          <p:nvGrpSpPr>
            <p:cNvPr id="100" name="Group 100"/>
            <p:cNvGrpSpPr/>
            <p:nvPr/>
          </p:nvGrpSpPr>
          <p:grpSpPr>
            <a:xfrm>
              <a:off x="738188" y="6003608"/>
              <a:ext cx="200026" cy="200025"/>
              <a:chOff x="738188" y="6003608"/>
              <a:chExt cx="200026" cy="200025"/>
            </a:xfrm>
          </p:grpSpPr>
          <p:sp>
            <p:nvSpPr>
              <p:cNvPr id="97" name="Freeform 97"/>
              <p:cNvSpPr/>
              <p:nvPr/>
            </p:nvSpPr>
            <p:spPr>
              <a:xfrm>
                <a:off x="738188" y="6003608"/>
                <a:ext cx="200026" cy="100013"/>
              </a:xfrm>
              <a:custGeom>
                <a:avLst/>
                <a:gdLst/>
                <a:ahLst/>
                <a:cxnLst/>
                <a:rect l="l" t="t" r="r" b="b"/>
                <a:pathLst>
                  <a:path w="200026" h="100013">
                    <a:moveTo>
                      <a:pt x="0" y="100013"/>
                    </a:moveTo>
                    <a:lnTo>
                      <a:pt x="11113" y="100013"/>
                    </a:lnTo>
                    <a:moveTo>
                      <a:pt x="100013" y="0"/>
                    </a:moveTo>
                    <a:lnTo>
                      <a:pt x="100013" y="11113"/>
                    </a:lnTo>
                    <a:moveTo>
                      <a:pt x="188913" y="100013"/>
                    </a:moveTo>
                    <a:lnTo>
                      <a:pt x="200026" y="100013"/>
                    </a:lnTo>
                    <a:moveTo>
                      <a:pt x="28893" y="28893"/>
                    </a:moveTo>
                    <a:lnTo>
                      <a:pt x="36671" y="36671"/>
                    </a:lnTo>
                    <a:moveTo>
                      <a:pt x="171133" y="28893"/>
                    </a:moveTo>
                    <a:lnTo>
                      <a:pt x="163354" y="36671"/>
                    </a:lnTo>
                  </a:path>
                </a:pathLst>
              </a:custGeom>
              <a:noFill/>
              <a:ln w="22225">
                <a:solidFill>
                  <a:srgbClr val="C2410C"/>
                </a:solidFill>
              </a:ln>
            </p:spPr>
          </p:sp>
          <p:sp>
            <p:nvSpPr>
              <p:cNvPr id="98" name="Freeform 98"/>
              <p:cNvSpPr/>
              <p:nvPr/>
            </p:nvSpPr>
            <p:spPr>
              <a:xfrm>
                <a:off x="777926" y="6048058"/>
                <a:ext cx="120548" cy="155575"/>
              </a:xfrm>
              <a:custGeom>
                <a:avLst/>
                <a:gdLst/>
                <a:ahLst/>
                <a:cxnLst/>
                <a:rect l="l" t="t" r="r" b="b"/>
                <a:pathLst>
                  <a:path w="120548" h="155575">
                    <a:moveTo>
                      <a:pt x="26937" y="100013"/>
                    </a:moveTo>
                    <a:cubicBezTo>
                      <a:pt x="7804" y="85663"/>
                      <a:pt x="0" y="60681"/>
                      <a:pt x="7563" y="37992"/>
                    </a:cubicBezTo>
                    <a:cubicBezTo>
                      <a:pt x="15126" y="15304"/>
                      <a:pt x="36358" y="0"/>
                      <a:pt x="60274" y="0"/>
                    </a:cubicBezTo>
                    <a:cubicBezTo>
                      <a:pt x="84190" y="0"/>
                      <a:pt x="105423" y="15304"/>
                      <a:pt x="112986" y="37992"/>
                    </a:cubicBezTo>
                    <a:cubicBezTo>
                      <a:pt x="120548" y="60681"/>
                      <a:pt x="112745" y="85663"/>
                      <a:pt x="93612" y="100013"/>
                    </a:cubicBezTo>
                    <a:cubicBezTo>
                      <a:pt x="84812" y="108723"/>
                      <a:pt x="80686" y="121103"/>
                      <a:pt x="82499" y="133350"/>
                    </a:cubicBezTo>
                    <a:cubicBezTo>
                      <a:pt x="82499" y="145625"/>
                      <a:pt x="72549" y="155575"/>
                      <a:pt x="60274" y="155575"/>
                    </a:cubicBezTo>
                    <a:cubicBezTo>
                      <a:pt x="48000" y="155575"/>
                      <a:pt x="38049" y="145625"/>
                      <a:pt x="38049" y="133350"/>
                    </a:cubicBezTo>
                    <a:cubicBezTo>
                      <a:pt x="39862" y="121103"/>
                      <a:pt x="35736" y="108723"/>
                      <a:pt x="26937" y="100013"/>
                    </a:cubicBezTo>
                  </a:path>
                </a:pathLst>
              </a:custGeom>
              <a:noFill/>
              <a:ln w="22225">
                <a:solidFill>
                  <a:srgbClr val="C2410C"/>
                </a:solidFill>
              </a:ln>
            </p:spPr>
          </p:sp>
          <p:sp>
            <p:nvSpPr>
              <p:cNvPr id="99" name="Freeform 99"/>
              <p:cNvSpPr/>
              <p:nvPr/>
            </p:nvSpPr>
            <p:spPr>
              <a:xfrm>
                <a:off x="812642" y="6159183"/>
                <a:ext cx="51118" cy="9525"/>
              </a:xfrm>
              <a:custGeom>
                <a:avLst/>
                <a:gdLst/>
                <a:ahLst/>
                <a:cxnLst/>
                <a:rect l="l" t="t" r="r" b="b"/>
                <a:pathLst>
                  <a:path w="51118" h="9525">
                    <a:moveTo>
                      <a:pt x="0" y="0"/>
                    </a:moveTo>
                    <a:lnTo>
                      <a:pt x="51118" y="0"/>
                    </a:lnTo>
                  </a:path>
                </a:pathLst>
              </a:custGeom>
              <a:noFill/>
              <a:ln w="22225">
                <a:solidFill>
                  <a:srgbClr val="C2410C"/>
                </a:solidFill>
              </a:ln>
            </p:spPr>
          </p:sp>
        </p:grpSp>
        <p:sp>
          <p:nvSpPr>
            <p:cNvPr id="101" name="TextBox 101"/>
            <p:cNvSpPr txBox="1"/>
            <p:nvPr/>
          </p:nvSpPr>
          <p:spPr>
            <a:xfrm>
              <a:off x="1040511" y="6004084"/>
              <a:ext cx="10296924" cy="278702"/>
            </a:xfrm>
            <a:prstGeom prst="rect">
              <a:avLst/>
            </a:prstGeom>
            <a:noFill/>
            <a:ln>
              <a:noFill/>
            </a:ln>
          </p:spPr>
          <p:txBody>
            <a:bodyPr wrap="none" lIns="0" tIns="0" rIns="0" bIns="0" anchor="t" anchorCtr="0">
              <a:spAutoFit/>
            </a:bodyPr>
            <a:lstStyle/>
            <a:p>
              <a:pPr algn="l"/>
              <a:r>
                <a:rPr lang="zh-CN" sz="1420" dirty="0">
                  <a:solidFill>
                    <a:srgbClr val="C2410C"/>
                  </a:solidFill>
                  <a:latin typeface="+mn-lt"/>
                  <a:ea typeface="+mn-ea"/>
                  <a:cs typeface="+mn-cs"/>
                </a:rPr>
                <a:t>目录为 E 时 A 读缺失最费事：RdMiss（A→B）、FetchS（B→C）、Update（C→B）、Data（B→A），一次读要 4 条消息。</a:t>
              </a:r>
            </a:p>
          </p:txBody>
        </p:sp>
      </p:grpSp>
      <p:grpSp>
        <p:nvGrpSpPr>
          <p:cNvPr id="105" name="footer"/>
          <p:cNvGrpSpPr/>
          <p:nvPr/>
        </p:nvGrpSpPr>
        <p:grpSpPr>
          <a:xfrm>
            <a:off x="528447" y="6581299"/>
            <a:ext cx="11135106" cy="190690"/>
            <a:chOff x="528447" y="6581299"/>
            <a:chExt cx="11135106" cy="190690"/>
          </a:xfrm>
        </p:grpSpPr>
        <p:sp>
          <p:nvSpPr>
            <p:cNvPr id="103" name="TextBox 103"/>
            <p:cNvSpPr txBox="1"/>
            <p:nvPr/>
          </p:nvSpPr>
          <p:spPr>
            <a:xfrm>
              <a:off x="528447" y="6581299"/>
              <a:ext cx="2120748"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并行与分布式计算 · 第7章 体系结构</a:t>
              </a:r>
            </a:p>
          </p:txBody>
        </p:sp>
        <p:sp>
          <p:nvSpPr>
            <p:cNvPr id="104" name="TextBox 104"/>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34</a:t>
              </a:r>
            </a:p>
          </p:txBody>
        </p:sp>
      </p:grpSp>
    </p:spTree>
  </p:cSld>
  <p:clrMapOvr>
    <a:masterClrMapping/>
  </p:clrMapOvr>
  <p:transition xmlns:p14="http://schemas.microsoft.com/office/powerpoint/2010/main" p14:dur="400">
    <p:fade/>
  </p:transition>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4220413" cy="909257"/>
            <a:chOff x="520446" y="342900"/>
            <a:chExt cx="4220413" cy="909257"/>
          </a:xfrm>
        </p:grpSpPr>
        <p:sp>
          <p:nvSpPr>
            <p:cNvPr id="2" name="Rectangle 2"/>
            <p:cNvSpPr/>
            <p:nvPr/>
          </p:nvSpPr>
          <p:spPr>
            <a:xfrm>
              <a:off x="533400" y="342900"/>
              <a:ext cx="2586038" cy="266700"/>
            </a:xfrm>
            <a:prstGeom prst="roundRect">
              <a:avLst>
                <a:gd name="adj" fmla="val 50000"/>
              </a:avLst>
            </a:prstGeom>
            <a:solidFill>
              <a:srgbClr val="E7EDF3"/>
            </a:solidFill>
            <a:ln>
              <a:noFill/>
            </a:ln>
          </p:spPr>
        </p:sp>
        <p:sp>
          <p:nvSpPr>
            <p:cNvPr id="3" name="TextBox 3"/>
            <p:cNvSpPr txBox="1"/>
            <p:nvPr/>
          </p:nvSpPr>
          <p:spPr>
            <a:xfrm>
              <a:off x="587464" y="407194"/>
              <a:ext cx="2476957"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第7章 体系结构 · Cache 一致性问题</a:t>
              </a:r>
            </a:p>
          </p:txBody>
        </p:sp>
        <p:sp>
          <p:nvSpPr>
            <p:cNvPr id="4" name="TextBox 4"/>
            <p:cNvSpPr txBox="1"/>
            <p:nvPr/>
          </p:nvSpPr>
          <p:spPr>
            <a:xfrm>
              <a:off x="520446" y="753428"/>
              <a:ext cx="4220413"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目录节点 B 响应远程节点 C</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54" name="c1-table-1"/>
          <p:cNvGrpSpPr/>
          <p:nvPr/>
        </p:nvGrpSpPr>
        <p:grpSpPr>
          <a:xfrm>
            <a:off x="533400" y="1524000"/>
            <a:ext cx="6276022" cy="4721542"/>
            <a:chOff x="533400" y="1524000"/>
            <a:chExt cx="6276022" cy="4721542"/>
          </a:xfrm>
        </p:grpSpPr>
        <p:sp>
          <p:nvSpPr>
            <p:cNvPr id="7" name="Rectangle 7"/>
            <p:cNvSpPr/>
            <p:nvPr/>
          </p:nvSpPr>
          <p:spPr>
            <a:xfrm>
              <a:off x="533400" y="1524000"/>
              <a:ext cx="6276022" cy="430530"/>
            </a:xfrm>
            <a:prstGeom prst="rect">
              <a:avLst/>
            </a:prstGeom>
            <a:solidFill>
              <a:srgbClr val="334E68"/>
            </a:solidFill>
            <a:ln>
              <a:noFill/>
            </a:ln>
          </p:spPr>
        </p:sp>
        <p:sp>
          <p:nvSpPr>
            <p:cNvPr id="8" name="TextBox 8"/>
            <p:cNvSpPr txBox="1"/>
            <p:nvPr/>
          </p:nvSpPr>
          <p:spPr>
            <a:xfrm>
              <a:off x="741997" y="1655445"/>
              <a:ext cx="335280"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目录</a:t>
              </a:r>
            </a:p>
          </p:txBody>
        </p:sp>
        <p:sp>
          <p:nvSpPr>
            <p:cNvPr id="9" name="TextBox 9"/>
            <p:cNvSpPr txBox="1"/>
            <p:nvPr/>
          </p:nvSpPr>
          <p:spPr>
            <a:xfrm>
              <a:off x="1808798" y="1655445"/>
              <a:ext cx="335280"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收到</a:t>
              </a:r>
            </a:p>
          </p:txBody>
        </p:sp>
        <p:sp>
          <p:nvSpPr>
            <p:cNvPr id="10" name="TextBox 10"/>
            <p:cNvSpPr txBox="1"/>
            <p:nvPr/>
          </p:nvSpPr>
          <p:spPr>
            <a:xfrm>
              <a:off x="3911186" y="1655445"/>
              <a:ext cx="649163"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B 的操作</a:t>
              </a:r>
            </a:p>
          </p:txBody>
        </p:sp>
        <p:sp>
          <p:nvSpPr>
            <p:cNvPr id="11" name="TextBox 11"/>
            <p:cNvSpPr txBox="1"/>
            <p:nvPr/>
          </p:nvSpPr>
          <p:spPr>
            <a:xfrm>
              <a:off x="6059043" y="1655445"/>
              <a:ext cx="496824"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新状态</a:t>
              </a:r>
            </a:p>
          </p:txBody>
        </p:sp>
        <p:sp>
          <p:nvSpPr>
            <p:cNvPr id="12" name="TextBox 12"/>
            <p:cNvSpPr txBox="1"/>
            <p:nvPr/>
          </p:nvSpPr>
          <p:spPr>
            <a:xfrm>
              <a:off x="638746" y="2191702"/>
              <a:ext cx="110764" cy="234696"/>
            </a:xfrm>
            <a:prstGeom prst="rect">
              <a:avLst/>
            </a:prstGeom>
            <a:noFill/>
            <a:ln>
              <a:noFill/>
            </a:ln>
          </p:spPr>
          <p:txBody>
            <a:bodyPr wrap="none" lIns="0" tIns="0" rIns="0" bIns="0" anchor="t" anchorCtr="0">
              <a:spAutoFit/>
            </a:bodyPr>
            <a:lstStyle/>
            <a:p>
              <a:pPr algn="l"/>
              <a:r>
                <a:rPr lang="en-US" sz="1200" b="1" dirty="0">
                  <a:solidFill>
                    <a:srgbClr val="1F2937"/>
                  </a:solidFill>
                  <a:latin typeface="+mn-lt"/>
                  <a:ea typeface="+mn-ea"/>
                  <a:cs typeface="+mn-cs"/>
                </a:rPr>
                <a:t>U</a:t>
              </a:r>
            </a:p>
          </p:txBody>
        </p:sp>
        <p:sp>
          <p:nvSpPr>
            <p:cNvPr id="13" name="TextBox 13"/>
            <p:cNvSpPr txBox="1"/>
            <p:nvPr/>
          </p:nvSpPr>
          <p:spPr>
            <a:xfrm>
              <a:off x="1392174" y="2085022"/>
              <a:ext cx="1018032" cy="448056"/>
            </a:xfrm>
            <a:prstGeom prst="rect">
              <a:avLst/>
            </a:prstGeom>
            <a:noFill/>
            <a:ln>
              <a:noFill/>
            </a:ln>
          </p:spPr>
          <p:txBody>
            <a:bodyPr wrap="none" lIns="0" tIns="0" rIns="0" bIns="0" anchor="t" anchorCtr="0">
              <a:spAutoFit/>
            </a:bodyPr>
            <a:lstStyle/>
            <a:p>
              <a:pPr algn="l">
                <a:lnSpc>
                  <a:spcPts val="1680"/>
                </a:lnSpc>
              </a:pPr>
              <a:r>
                <a:rPr lang="en-US" sz="1200" dirty="0">
                  <a:solidFill>
                    <a:srgbClr val="1F2937"/>
                  </a:solidFill>
                  <a:latin typeface="+mn-lt"/>
                  <a:ea typeface="+mn-ea"/>
                  <a:cs typeface="+mn-cs"/>
                </a:rPr>
                <a:t>Quit / Update</a:t>
              </a:r>
              <a:br/>
              <a:r>
                <a:rPr lang="en-US" sz="1200" dirty="0">
                  <a:solidFill>
                    <a:srgbClr val="1F2937"/>
                  </a:solidFill>
                  <a:latin typeface="+mn-lt"/>
                  <a:ea typeface="+mn-ea"/>
                  <a:cs typeface="+mn-cs"/>
                </a:rPr>
                <a:t>/ Invalidate</a:t>
              </a:r>
            </a:p>
          </p:txBody>
        </p:sp>
        <p:sp>
          <p:nvSpPr>
            <p:cNvPr id="14" name="TextBox 14"/>
            <p:cNvSpPr txBox="1"/>
            <p:nvPr/>
          </p:nvSpPr>
          <p:spPr>
            <a:xfrm>
              <a:off x="2772346" y="2191702"/>
              <a:ext cx="2174931"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都不可能：没有 Cache 有副本</a:t>
              </a:r>
            </a:p>
          </p:txBody>
        </p:sp>
        <p:sp>
          <p:nvSpPr>
            <p:cNvPr id="15" name="TextBox 15"/>
            <p:cNvSpPr txBox="1"/>
            <p:nvPr/>
          </p:nvSpPr>
          <p:spPr>
            <a:xfrm>
              <a:off x="5910834" y="2191702"/>
              <a:ext cx="106070" cy="234696"/>
            </a:xfrm>
            <a:prstGeom prst="rect">
              <a:avLst/>
            </a:prstGeom>
            <a:noFill/>
            <a:ln>
              <a:noFill/>
            </a:ln>
          </p:spPr>
          <p:txBody>
            <a:bodyPr wrap="none" lIns="0" tIns="0" rIns="0" bIns="0" anchor="t" anchorCtr="0">
              <a:spAutoFit/>
            </a:bodyPr>
            <a:lstStyle/>
            <a:p>
              <a:pPr algn="l"/>
              <a:r>
                <a:rPr lang="en-US" sz="1200" dirty="0">
                  <a:solidFill>
                    <a:srgbClr val="1F2937"/>
                  </a:solidFill>
                  <a:latin typeface="+mn-lt"/>
                  <a:ea typeface="+mn-ea"/>
                  <a:cs typeface="+mn-cs"/>
                </a:rPr>
                <a:t>U</a:t>
              </a:r>
            </a:p>
          </p:txBody>
        </p:sp>
        <p:sp>
          <p:nvSpPr>
            <p:cNvPr id="16" name="Rectangle 16"/>
            <p:cNvSpPr/>
            <p:nvPr/>
          </p:nvSpPr>
          <p:spPr>
            <a:xfrm>
              <a:off x="533400" y="2592705"/>
              <a:ext cx="6276022" cy="9525"/>
            </a:xfrm>
            <a:prstGeom prst="rect">
              <a:avLst/>
            </a:prstGeom>
            <a:solidFill>
              <a:srgbClr val="D9DFEA"/>
            </a:solidFill>
            <a:ln>
              <a:noFill/>
            </a:ln>
          </p:spPr>
        </p:sp>
        <p:sp>
          <p:nvSpPr>
            <p:cNvPr id="17" name="Rectangle 17"/>
            <p:cNvSpPr/>
            <p:nvPr/>
          </p:nvSpPr>
          <p:spPr>
            <a:xfrm>
              <a:off x="533400" y="2597468"/>
              <a:ext cx="6276022" cy="430530"/>
            </a:xfrm>
            <a:prstGeom prst="rect">
              <a:avLst/>
            </a:prstGeom>
            <a:solidFill>
              <a:srgbClr val="F4F6FB"/>
            </a:solidFill>
            <a:ln>
              <a:noFill/>
            </a:ln>
          </p:spPr>
        </p:sp>
        <p:sp>
          <p:nvSpPr>
            <p:cNvPr id="18" name="TextBox 18"/>
            <p:cNvSpPr txBox="1"/>
            <p:nvPr/>
          </p:nvSpPr>
          <p:spPr>
            <a:xfrm>
              <a:off x="638746" y="2728912"/>
              <a:ext cx="110764" cy="234696"/>
            </a:xfrm>
            <a:prstGeom prst="rect">
              <a:avLst/>
            </a:prstGeom>
            <a:noFill/>
            <a:ln>
              <a:noFill/>
            </a:ln>
          </p:spPr>
          <p:txBody>
            <a:bodyPr wrap="none" lIns="0" tIns="0" rIns="0" bIns="0" anchor="t" anchorCtr="0">
              <a:spAutoFit/>
            </a:bodyPr>
            <a:lstStyle/>
            <a:p>
              <a:pPr algn="l"/>
              <a:r>
                <a:rPr lang="en-US" sz="1200" b="1" dirty="0">
                  <a:solidFill>
                    <a:srgbClr val="1F2937"/>
                  </a:solidFill>
                  <a:latin typeface="+mn-lt"/>
                  <a:ea typeface="+mn-ea"/>
                  <a:cs typeface="+mn-cs"/>
                </a:rPr>
                <a:t>S</a:t>
              </a:r>
            </a:p>
          </p:txBody>
        </p:sp>
        <p:sp>
          <p:nvSpPr>
            <p:cNvPr id="19" name="TextBox 19"/>
            <p:cNvSpPr txBox="1"/>
            <p:nvPr/>
          </p:nvSpPr>
          <p:spPr>
            <a:xfrm>
              <a:off x="1392174" y="2728912"/>
              <a:ext cx="364427" cy="234696"/>
            </a:xfrm>
            <a:prstGeom prst="rect">
              <a:avLst/>
            </a:prstGeom>
            <a:noFill/>
            <a:ln>
              <a:noFill/>
            </a:ln>
          </p:spPr>
          <p:txBody>
            <a:bodyPr wrap="none" lIns="0" tIns="0" rIns="0" bIns="0" anchor="t" anchorCtr="0">
              <a:spAutoFit/>
            </a:bodyPr>
            <a:lstStyle/>
            <a:p>
              <a:pPr algn="l"/>
              <a:r>
                <a:rPr lang="en-US" sz="1200" dirty="0">
                  <a:solidFill>
                    <a:srgbClr val="1F2937"/>
                  </a:solidFill>
                  <a:latin typeface="+mn-lt"/>
                  <a:ea typeface="+mn-ea"/>
                  <a:cs typeface="+mn-cs"/>
                </a:rPr>
                <a:t>Quit</a:t>
              </a:r>
            </a:p>
          </p:txBody>
        </p:sp>
        <p:sp>
          <p:nvSpPr>
            <p:cNvPr id="20" name="TextBox 20"/>
            <p:cNvSpPr txBox="1"/>
            <p:nvPr/>
          </p:nvSpPr>
          <p:spPr>
            <a:xfrm>
              <a:off x="2772346" y="2728912"/>
              <a:ext cx="1775765"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G −= {C}；G 变空则转 U</a:t>
              </a:r>
            </a:p>
          </p:txBody>
        </p:sp>
        <p:sp>
          <p:nvSpPr>
            <p:cNvPr id="21" name="TextBox 21"/>
            <p:cNvSpPr txBox="1"/>
            <p:nvPr/>
          </p:nvSpPr>
          <p:spPr>
            <a:xfrm>
              <a:off x="5910834" y="2728912"/>
              <a:ext cx="396240" cy="234696"/>
            </a:xfrm>
            <a:prstGeom prst="rect">
              <a:avLst/>
            </a:prstGeom>
            <a:noFill/>
            <a:ln>
              <a:noFill/>
            </a:ln>
          </p:spPr>
          <p:txBody>
            <a:bodyPr wrap="none" lIns="0" tIns="0" rIns="0" bIns="0" anchor="t" anchorCtr="0">
              <a:spAutoFit/>
            </a:bodyPr>
            <a:lstStyle/>
            <a:p>
              <a:pPr algn="l"/>
              <a:r>
                <a:rPr lang="en-US" sz="1200" dirty="0">
                  <a:solidFill>
                    <a:srgbClr val="1F2937"/>
                  </a:solidFill>
                  <a:latin typeface="+mn-lt"/>
                  <a:ea typeface="+mn-ea"/>
                  <a:cs typeface="+mn-cs"/>
                </a:rPr>
                <a:t>S / U</a:t>
              </a:r>
            </a:p>
          </p:txBody>
        </p:sp>
        <p:sp>
          <p:nvSpPr>
            <p:cNvPr id="22" name="Rectangle 22"/>
            <p:cNvSpPr/>
            <p:nvPr/>
          </p:nvSpPr>
          <p:spPr>
            <a:xfrm>
              <a:off x="533400" y="3023235"/>
              <a:ext cx="6276022" cy="9525"/>
            </a:xfrm>
            <a:prstGeom prst="rect">
              <a:avLst/>
            </a:prstGeom>
            <a:solidFill>
              <a:srgbClr val="D9DFEA"/>
            </a:solidFill>
            <a:ln>
              <a:noFill/>
            </a:ln>
          </p:spPr>
        </p:sp>
        <p:sp>
          <p:nvSpPr>
            <p:cNvPr id="23" name="TextBox 23"/>
            <p:cNvSpPr txBox="1"/>
            <p:nvPr/>
          </p:nvSpPr>
          <p:spPr>
            <a:xfrm>
              <a:off x="638746" y="3266122"/>
              <a:ext cx="110764" cy="234696"/>
            </a:xfrm>
            <a:prstGeom prst="rect">
              <a:avLst/>
            </a:prstGeom>
            <a:noFill/>
            <a:ln>
              <a:noFill/>
            </a:ln>
          </p:spPr>
          <p:txBody>
            <a:bodyPr wrap="none" lIns="0" tIns="0" rIns="0" bIns="0" anchor="t" anchorCtr="0">
              <a:spAutoFit/>
            </a:bodyPr>
            <a:lstStyle/>
            <a:p>
              <a:pPr algn="l"/>
              <a:r>
                <a:rPr lang="en-US" sz="1200" b="1" dirty="0">
                  <a:solidFill>
                    <a:srgbClr val="1F2937"/>
                  </a:solidFill>
                  <a:latin typeface="+mn-lt"/>
                  <a:ea typeface="+mn-ea"/>
                  <a:cs typeface="+mn-cs"/>
                </a:rPr>
                <a:t>S</a:t>
              </a:r>
            </a:p>
          </p:txBody>
        </p:sp>
        <p:sp>
          <p:nvSpPr>
            <p:cNvPr id="24" name="TextBox 24"/>
            <p:cNvSpPr txBox="1"/>
            <p:nvPr/>
          </p:nvSpPr>
          <p:spPr>
            <a:xfrm>
              <a:off x="1392174" y="3266122"/>
              <a:ext cx="550316" cy="234696"/>
            </a:xfrm>
            <a:prstGeom prst="rect">
              <a:avLst/>
            </a:prstGeom>
            <a:noFill/>
            <a:ln>
              <a:noFill/>
            </a:ln>
          </p:spPr>
          <p:txBody>
            <a:bodyPr wrap="none" lIns="0" tIns="0" rIns="0" bIns="0" anchor="t" anchorCtr="0">
              <a:spAutoFit/>
            </a:bodyPr>
            <a:lstStyle/>
            <a:p>
              <a:pPr algn="l"/>
              <a:r>
                <a:rPr lang="en-US" sz="1200" dirty="0">
                  <a:solidFill>
                    <a:srgbClr val="1F2937"/>
                  </a:solidFill>
                  <a:latin typeface="+mn-lt"/>
                  <a:ea typeface="+mn-ea"/>
                  <a:cs typeface="+mn-cs"/>
                </a:rPr>
                <a:t>Update</a:t>
              </a:r>
            </a:p>
          </p:txBody>
        </p:sp>
        <p:sp>
          <p:nvSpPr>
            <p:cNvPr id="25" name="TextBox 25"/>
            <p:cNvSpPr txBox="1"/>
            <p:nvPr/>
          </p:nvSpPr>
          <p:spPr>
            <a:xfrm>
              <a:off x="2772346" y="3159442"/>
              <a:ext cx="2702052" cy="448056"/>
            </a:xfrm>
            <a:prstGeom prst="rect">
              <a:avLst/>
            </a:prstGeom>
            <a:noFill/>
            <a:ln>
              <a:noFill/>
            </a:ln>
          </p:spPr>
          <p:txBody>
            <a:bodyPr wrap="none" lIns="0" tIns="0" rIns="0" bIns="0" anchor="t" anchorCtr="0">
              <a:spAutoFit/>
            </a:bodyPr>
            <a:lstStyle/>
            <a:p>
              <a:pPr algn="l">
                <a:lnSpc>
                  <a:spcPts val="1680"/>
                </a:lnSpc>
              </a:pPr>
              <a:r>
                <a:rPr lang="zh-CN" sz="1200" dirty="0">
                  <a:solidFill>
                    <a:srgbClr val="1F2937"/>
                  </a:solidFill>
                  <a:latin typeface="+mn-lt"/>
                  <a:ea typeface="+mn-ea"/>
                  <a:cs typeface="+mn-cs"/>
                </a:rPr>
                <a:t>不可能：S 时存储器是新值，拥有 dirty</a:t>
              </a:r>
              <a:br/>
              <a:r>
                <a:rPr lang="zh-CN" sz="1200" dirty="0">
                  <a:solidFill>
                    <a:srgbClr val="1F2937"/>
                  </a:solidFill>
                  <a:latin typeface="+mn-lt"/>
                  <a:ea typeface="+mn-ea"/>
                  <a:cs typeface="+mn-cs"/>
                </a:rPr>
                <a:t>副本的情况目录应为 E</a:t>
              </a:r>
            </a:p>
          </p:txBody>
        </p:sp>
        <p:sp>
          <p:nvSpPr>
            <p:cNvPr id="26" name="TextBox 26"/>
            <p:cNvSpPr txBox="1"/>
            <p:nvPr/>
          </p:nvSpPr>
          <p:spPr>
            <a:xfrm>
              <a:off x="5910834" y="3266122"/>
              <a:ext cx="106070" cy="234696"/>
            </a:xfrm>
            <a:prstGeom prst="rect">
              <a:avLst/>
            </a:prstGeom>
            <a:noFill/>
            <a:ln>
              <a:noFill/>
            </a:ln>
          </p:spPr>
          <p:txBody>
            <a:bodyPr wrap="none" lIns="0" tIns="0" rIns="0" bIns="0" anchor="t" anchorCtr="0">
              <a:spAutoFit/>
            </a:bodyPr>
            <a:lstStyle/>
            <a:p>
              <a:pPr algn="l"/>
              <a:r>
                <a:rPr lang="en-US" sz="1200" dirty="0">
                  <a:solidFill>
                    <a:srgbClr val="1F2937"/>
                  </a:solidFill>
                  <a:latin typeface="+mn-lt"/>
                  <a:ea typeface="+mn-ea"/>
                  <a:cs typeface="+mn-cs"/>
                </a:rPr>
                <a:t>S</a:t>
              </a:r>
            </a:p>
          </p:txBody>
        </p:sp>
        <p:sp>
          <p:nvSpPr>
            <p:cNvPr id="27" name="Rectangle 27"/>
            <p:cNvSpPr/>
            <p:nvPr/>
          </p:nvSpPr>
          <p:spPr>
            <a:xfrm>
              <a:off x="533400" y="3666172"/>
              <a:ext cx="6276022" cy="9525"/>
            </a:xfrm>
            <a:prstGeom prst="rect">
              <a:avLst/>
            </a:prstGeom>
            <a:solidFill>
              <a:srgbClr val="D9DFEA"/>
            </a:solidFill>
            <a:ln>
              <a:noFill/>
            </a:ln>
          </p:spPr>
        </p:sp>
        <p:sp>
          <p:nvSpPr>
            <p:cNvPr id="28" name="Rectangle 28"/>
            <p:cNvSpPr/>
            <p:nvPr/>
          </p:nvSpPr>
          <p:spPr>
            <a:xfrm>
              <a:off x="533400" y="3670935"/>
              <a:ext cx="6276022" cy="643890"/>
            </a:xfrm>
            <a:prstGeom prst="rect">
              <a:avLst/>
            </a:prstGeom>
            <a:solidFill>
              <a:srgbClr val="F4F6FB"/>
            </a:solidFill>
            <a:ln>
              <a:noFill/>
            </a:ln>
          </p:spPr>
        </p:sp>
        <p:sp>
          <p:nvSpPr>
            <p:cNvPr id="29" name="TextBox 29"/>
            <p:cNvSpPr txBox="1"/>
            <p:nvPr/>
          </p:nvSpPr>
          <p:spPr>
            <a:xfrm>
              <a:off x="638746" y="3909060"/>
              <a:ext cx="110764" cy="234696"/>
            </a:xfrm>
            <a:prstGeom prst="rect">
              <a:avLst/>
            </a:prstGeom>
            <a:noFill/>
            <a:ln>
              <a:noFill/>
            </a:ln>
          </p:spPr>
          <p:txBody>
            <a:bodyPr wrap="none" lIns="0" tIns="0" rIns="0" bIns="0" anchor="t" anchorCtr="0">
              <a:spAutoFit/>
            </a:bodyPr>
            <a:lstStyle/>
            <a:p>
              <a:pPr algn="l"/>
              <a:r>
                <a:rPr lang="en-US" sz="1200" b="1" dirty="0">
                  <a:solidFill>
                    <a:srgbClr val="1F2937"/>
                  </a:solidFill>
                  <a:latin typeface="+mn-lt"/>
                  <a:ea typeface="+mn-ea"/>
                  <a:cs typeface="+mn-cs"/>
                </a:rPr>
                <a:t>S</a:t>
              </a:r>
            </a:p>
          </p:txBody>
        </p:sp>
        <p:sp>
          <p:nvSpPr>
            <p:cNvPr id="30" name="TextBox 30"/>
            <p:cNvSpPr txBox="1"/>
            <p:nvPr/>
          </p:nvSpPr>
          <p:spPr>
            <a:xfrm>
              <a:off x="1392174" y="3909060"/>
              <a:ext cx="783869" cy="234696"/>
            </a:xfrm>
            <a:prstGeom prst="rect">
              <a:avLst/>
            </a:prstGeom>
            <a:noFill/>
            <a:ln>
              <a:noFill/>
            </a:ln>
          </p:spPr>
          <p:txBody>
            <a:bodyPr wrap="none" lIns="0" tIns="0" rIns="0" bIns="0" anchor="t" anchorCtr="0">
              <a:spAutoFit/>
            </a:bodyPr>
            <a:lstStyle/>
            <a:p>
              <a:pPr algn="l"/>
              <a:r>
                <a:rPr lang="en-US" sz="1200" dirty="0">
                  <a:solidFill>
                    <a:srgbClr val="1F2937"/>
                  </a:solidFill>
                  <a:latin typeface="+mn-lt"/>
                  <a:ea typeface="+mn-ea"/>
                  <a:cs typeface="+mn-cs"/>
                </a:rPr>
                <a:t>Invalidate</a:t>
              </a:r>
            </a:p>
          </p:txBody>
        </p:sp>
        <p:sp>
          <p:nvSpPr>
            <p:cNvPr id="31" name="Rectangle 31"/>
            <p:cNvSpPr/>
            <p:nvPr/>
          </p:nvSpPr>
          <p:spPr>
            <a:xfrm>
              <a:off x="2676525" y="3680460"/>
              <a:ext cx="3118485" cy="624840"/>
            </a:xfrm>
            <a:prstGeom prst="rect">
              <a:avLst/>
            </a:prstGeom>
            <a:solidFill>
              <a:srgbClr val="FDEEE7"/>
            </a:solidFill>
            <a:ln>
              <a:noFill/>
            </a:ln>
          </p:spPr>
        </p:sp>
        <p:sp>
          <p:nvSpPr>
            <p:cNvPr id="32" name="TextBox 32"/>
            <p:cNvSpPr txBox="1"/>
            <p:nvPr/>
          </p:nvSpPr>
          <p:spPr>
            <a:xfrm>
              <a:off x="2772346" y="3802380"/>
              <a:ext cx="1886712" cy="448056"/>
            </a:xfrm>
            <a:prstGeom prst="rect">
              <a:avLst/>
            </a:prstGeom>
            <a:noFill/>
            <a:ln>
              <a:noFill/>
            </a:ln>
          </p:spPr>
          <p:txBody>
            <a:bodyPr wrap="none" lIns="0" tIns="0" rIns="0" bIns="0" anchor="t" anchorCtr="0">
              <a:spAutoFit/>
            </a:bodyPr>
            <a:lstStyle/>
            <a:p>
              <a:pPr algn="l">
                <a:lnSpc>
                  <a:spcPts val="1680"/>
                </a:lnSpc>
              </a:pPr>
              <a:r>
                <a:rPr lang="zh-CN" sz="1200" dirty="0">
                  <a:solidFill>
                    <a:srgbClr val="1F2937"/>
                  </a:solidFill>
                  <a:latin typeface="+mn-lt"/>
                  <a:ea typeface="+mn-ea"/>
                  <a:cs typeface="+mn-cs"/>
                </a:rPr>
                <a:t>先给 G 中除 C 以外的节点发</a:t>
              </a:r>
              <a:br/>
              <a:r>
                <a:rPr lang="zh-CN" sz="1200" dirty="0">
                  <a:solidFill>
                    <a:srgbClr val="1F2937"/>
                  </a:solidFill>
                  <a:latin typeface="+mn-lt"/>
                  <a:ea typeface="+mn-ea"/>
                  <a:cs typeface="+mn-cs"/>
                </a:rPr>
                <a:t>Invalidate，再令 G = {C}</a:t>
              </a:r>
            </a:p>
          </p:txBody>
        </p:sp>
        <p:sp>
          <p:nvSpPr>
            <p:cNvPr id="33" name="TextBox 33"/>
            <p:cNvSpPr txBox="1"/>
            <p:nvPr/>
          </p:nvSpPr>
          <p:spPr>
            <a:xfrm>
              <a:off x="5910834" y="3909060"/>
              <a:ext cx="106070" cy="234696"/>
            </a:xfrm>
            <a:prstGeom prst="rect">
              <a:avLst/>
            </a:prstGeom>
            <a:noFill/>
            <a:ln>
              <a:noFill/>
            </a:ln>
          </p:spPr>
          <p:txBody>
            <a:bodyPr wrap="none" lIns="0" tIns="0" rIns="0" bIns="0" anchor="t" anchorCtr="0">
              <a:spAutoFit/>
            </a:bodyPr>
            <a:lstStyle/>
            <a:p>
              <a:pPr algn="l"/>
              <a:r>
                <a:rPr lang="en-US" sz="1200" dirty="0">
                  <a:solidFill>
                    <a:srgbClr val="1F2937"/>
                  </a:solidFill>
                  <a:latin typeface="+mn-lt"/>
                  <a:ea typeface="+mn-ea"/>
                  <a:cs typeface="+mn-cs"/>
                </a:rPr>
                <a:t>E</a:t>
              </a:r>
            </a:p>
          </p:txBody>
        </p:sp>
        <p:sp>
          <p:nvSpPr>
            <p:cNvPr id="34" name="Rectangle 34"/>
            <p:cNvSpPr/>
            <p:nvPr/>
          </p:nvSpPr>
          <p:spPr>
            <a:xfrm>
              <a:off x="533400" y="4310062"/>
              <a:ext cx="6276022" cy="9525"/>
            </a:xfrm>
            <a:prstGeom prst="rect">
              <a:avLst/>
            </a:prstGeom>
            <a:solidFill>
              <a:srgbClr val="D9DFEA"/>
            </a:solidFill>
            <a:ln>
              <a:noFill/>
            </a:ln>
          </p:spPr>
        </p:sp>
        <p:sp>
          <p:nvSpPr>
            <p:cNvPr id="35" name="TextBox 35"/>
            <p:cNvSpPr txBox="1"/>
            <p:nvPr/>
          </p:nvSpPr>
          <p:spPr>
            <a:xfrm>
              <a:off x="638746" y="4552950"/>
              <a:ext cx="110764" cy="234696"/>
            </a:xfrm>
            <a:prstGeom prst="rect">
              <a:avLst/>
            </a:prstGeom>
            <a:noFill/>
            <a:ln>
              <a:noFill/>
            </a:ln>
          </p:spPr>
          <p:txBody>
            <a:bodyPr wrap="none" lIns="0" tIns="0" rIns="0" bIns="0" anchor="t" anchorCtr="0">
              <a:spAutoFit/>
            </a:bodyPr>
            <a:lstStyle/>
            <a:p>
              <a:pPr algn="l"/>
              <a:r>
                <a:rPr lang="en-US" sz="1200" b="1" dirty="0">
                  <a:solidFill>
                    <a:srgbClr val="1F2937"/>
                  </a:solidFill>
                  <a:latin typeface="+mn-lt"/>
                  <a:ea typeface="+mn-ea"/>
                  <a:cs typeface="+mn-cs"/>
                </a:rPr>
                <a:t>E</a:t>
              </a:r>
            </a:p>
          </p:txBody>
        </p:sp>
        <p:sp>
          <p:nvSpPr>
            <p:cNvPr id="36" name="TextBox 36"/>
            <p:cNvSpPr txBox="1"/>
            <p:nvPr/>
          </p:nvSpPr>
          <p:spPr>
            <a:xfrm>
              <a:off x="1392174" y="4552950"/>
              <a:ext cx="364427" cy="234696"/>
            </a:xfrm>
            <a:prstGeom prst="rect">
              <a:avLst/>
            </a:prstGeom>
            <a:noFill/>
            <a:ln>
              <a:noFill/>
            </a:ln>
          </p:spPr>
          <p:txBody>
            <a:bodyPr wrap="none" lIns="0" tIns="0" rIns="0" bIns="0" anchor="t" anchorCtr="0">
              <a:spAutoFit/>
            </a:bodyPr>
            <a:lstStyle/>
            <a:p>
              <a:pPr algn="l"/>
              <a:r>
                <a:rPr lang="en-US" sz="1200" dirty="0">
                  <a:solidFill>
                    <a:srgbClr val="1F2937"/>
                  </a:solidFill>
                  <a:latin typeface="+mn-lt"/>
                  <a:ea typeface="+mn-ea"/>
                  <a:cs typeface="+mn-cs"/>
                </a:rPr>
                <a:t>Quit</a:t>
              </a:r>
            </a:p>
          </p:txBody>
        </p:sp>
        <p:sp>
          <p:nvSpPr>
            <p:cNvPr id="37" name="TextBox 37"/>
            <p:cNvSpPr txBox="1"/>
            <p:nvPr/>
          </p:nvSpPr>
          <p:spPr>
            <a:xfrm>
              <a:off x="2772346" y="4446270"/>
              <a:ext cx="2770632" cy="448056"/>
            </a:xfrm>
            <a:prstGeom prst="rect">
              <a:avLst/>
            </a:prstGeom>
            <a:noFill/>
            <a:ln>
              <a:noFill/>
            </a:ln>
          </p:spPr>
          <p:txBody>
            <a:bodyPr wrap="none" lIns="0" tIns="0" rIns="0" bIns="0" anchor="t" anchorCtr="0">
              <a:spAutoFit/>
            </a:bodyPr>
            <a:lstStyle/>
            <a:p>
              <a:pPr algn="l">
                <a:lnSpc>
                  <a:spcPts val="1680"/>
                </a:lnSpc>
              </a:pPr>
              <a:r>
                <a:rPr lang="zh-CN" sz="1200" dirty="0">
                  <a:solidFill>
                    <a:srgbClr val="1F2937"/>
                  </a:solidFill>
                  <a:latin typeface="+mn-lt"/>
                  <a:ea typeface="+mn-ea"/>
                  <a:cs typeface="+mn-cs"/>
                </a:rPr>
                <a:t>不可能：拥有者手里是 dirty 副本，替换</a:t>
              </a:r>
              <a:br/>
              <a:r>
                <a:rPr lang="zh-CN" sz="1200" dirty="0">
                  <a:solidFill>
                    <a:srgbClr val="1F2937"/>
                  </a:solidFill>
                  <a:latin typeface="+mn-lt"/>
                  <a:ea typeface="+mn-ea"/>
                  <a:cs typeface="+mn-cs"/>
                </a:rPr>
                <a:t>时发的是 Update</a:t>
              </a:r>
            </a:p>
          </p:txBody>
        </p:sp>
        <p:sp>
          <p:nvSpPr>
            <p:cNvPr id="38" name="TextBox 38"/>
            <p:cNvSpPr txBox="1"/>
            <p:nvPr/>
          </p:nvSpPr>
          <p:spPr>
            <a:xfrm>
              <a:off x="5910834" y="4552950"/>
              <a:ext cx="106070" cy="234696"/>
            </a:xfrm>
            <a:prstGeom prst="rect">
              <a:avLst/>
            </a:prstGeom>
            <a:noFill/>
            <a:ln>
              <a:noFill/>
            </a:ln>
          </p:spPr>
          <p:txBody>
            <a:bodyPr wrap="none" lIns="0" tIns="0" rIns="0" bIns="0" anchor="t" anchorCtr="0">
              <a:spAutoFit/>
            </a:bodyPr>
            <a:lstStyle/>
            <a:p>
              <a:pPr algn="l"/>
              <a:r>
                <a:rPr lang="en-US" sz="1200" dirty="0">
                  <a:solidFill>
                    <a:srgbClr val="1F2937"/>
                  </a:solidFill>
                  <a:latin typeface="+mn-lt"/>
                  <a:ea typeface="+mn-ea"/>
                  <a:cs typeface="+mn-cs"/>
                </a:rPr>
                <a:t>E</a:t>
              </a:r>
            </a:p>
          </p:txBody>
        </p:sp>
        <p:sp>
          <p:nvSpPr>
            <p:cNvPr id="39" name="Rectangle 39"/>
            <p:cNvSpPr/>
            <p:nvPr/>
          </p:nvSpPr>
          <p:spPr>
            <a:xfrm>
              <a:off x="533400" y="4953952"/>
              <a:ext cx="6276022" cy="9525"/>
            </a:xfrm>
            <a:prstGeom prst="rect">
              <a:avLst/>
            </a:prstGeom>
            <a:solidFill>
              <a:srgbClr val="D9DFEA"/>
            </a:solidFill>
            <a:ln>
              <a:noFill/>
            </a:ln>
          </p:spPr>
        </p:sp>
        <p:sp>
          <p:nvSpPr>
            <p:cNvPr id="40" name="Rectangle 40"/>
            <p:cNvSpPr/>
            <p:nvPr/>
          </p:nvSpPr>
          <p:spPr>
            <a:xfrm>
              <a:off x="533400" y="4958715"/>
              <a:ext cx="6276022" cy="857250"/>
            </a:xfrm>
            <a:prstGeom prst="rect">
              <a:avLst/>
            </a:prstGeom>
            <a:solidFill>
              <a:srgbClr val="F4F6FB"/>
            </a:solidFill>
            <a:ln>
              <a:noFill/>
            </a:ln>
          </p:spPr>
        </p:sp>
        <p:sp>
          <p:nvSpPr>
            <p:cNvPr id="41" name="TextBox 41"/>
            <p:cNvSpPr txBox="1"/>
            <p:nvPr/>
          </p:nvSpPr>
          <p:spPr>
            <a:xfrm>
              <a:off x="638746" y="5302567"/>
              <a:ext cx="110764" cy="234696"/>
            </a:xfrm>
            <a:prstGeom prst="rect">
              <a:avLst/>
            </a:prstGeom>
            <a:noFill/>
            <a:ln>
              <a:noFill/>
            </a:ln>
          </p:spPr>
          <p:txBody>
            <a:bodyPr wrap="none" lIns="0" tIns="0" rIns="0" bIns="0" anchor="t" anchorCtr="0">
              <a:spAutoFit/>
            </a:bodyPr>
            <a:lstStyle/>
            <a:p>
              <a:pPr algn="l"/>
              <a:r>
                <a:rPr lang="en-US" sz="1200" b="1" dirty="0">
                  <a:solidFill>
                    <a:srgbClr val="1F2937"/>
                  </a:solidFill>
                  <a:latin typeface="+mn-lt"/>
                  <a:ea typeface="+mn-ea"/>
                  <a:cs typeface="+mn-cs"/>
                </a:rPr>
                <a:t>E</a:t>
              </a:r>
            </a:p>
          </p:txBody>
        </p:sp>
        <p:sp>
          <p:nvSpPr>
            <p:cNvPr id="42" name="TextBox 42"/>
            <p:cNvSpPr txBox="1"/>
            <p:nvPr/>
          </p:nvSpPr>
          <p:spPr>
            <a:xfrm>
              <a:off x="1392174" y="5302567"/>
              <a:ext cx="550316" cy="234696"/>
            </a:xfrm>
            <a:prstGeom prst="rect">
              <a:avLst/>
            </a:prstGeom>
            <a:noFill/>
            <a:ln>
              <a:noFill/>
            </a:ln>
          </p:spPr>
          <p:txBody>
            <a:bodyPr wrap="none" lIns="0" tIns="0" rIns="0" bIns="0" anchor="t" anchorCtr="0">
              <a:spAutoFit/>
            </a:bodyPr>
            <a:lstStyle/>
            <a:p>
              <a:pPr algn="l"/>
              <a:r>
                <a:rPr lang="en-US" sz="1200" dirty="0">
                  <a:solidFill>
                    <a:srgbClr val="1F2937"/>
                  </a:solidFill>
                  <a:latin typeface="+mn-lt"/>
                  <a:ea typeface="+mn-ea"/>
                  <a:cs typeface="+mn-cs"/>
                </a:rPr>
                <a:t>Update</a:t>
              </a:r>
            </a:p>
          </p:txBody>
        </p:sp>
        <p:sp>
          <p:nvSpPr>
            <p:cNvPr id="43" name="TextBox 43"/>
            <p:cNvSpPr txBox="1"/>
            <p:nvPr/>
          </p:nvSpPr>
          <p:spPr>
            <a:xfrm>
              <a:off x="2772346" y="5089208"/>
              <a:ext cx="2747772" cy="661416"/>
            </a:xfrm>
            <a:prstGeom prst="rect">
              <a:avLst/>
            </a:prstGeom>
            <a:noFill/>
            <a:ln>
              <a:noFill/>
            </a:ln>
          </p:spPr>
          <p:txBody>
            <a:bodyPr wrap="none" lIns="0" tIns="0" rIns="0" bIns="0" anchor="t" anchorCtr="0">
              <a:spAutoFit/>
            </a:bodyPr>
            <a:lstStyle/>
            <a:p>
              <a:pPr algn="l">
                <a:lnSpc>
                  <a:spcPts val="1680"/>
                </a:lnSpc>
              </a:pPr>
              <a:r>
                <a:rPr lang="zh-CN" sz="1200" dirty="0">
                  <a:solidFill>
                    <a:srgbClr val="1F2937"/>
                  </a:solidFill>
                  <a:latin typeface="+mn-lt"/>
                  <a:ea typeface="+mn-ea"/>
                  <a:cs typeface="+mn-cs"/>
                </a:rPr>
                <a:t>更新存储器。响应 FetchS：G = {C}，转</a:t>
              </a:r>
              <a:br/>
              <a:r>
                <a:rPr lang="zh-CN" sz="1200" dirty="0">
                  <a:solidFill>
                    <a:srgbClr val="1F2937"/>
                  </a:solidFill>
                  <a:latin typeface="+mn-lt"/>
                  <a:ea typeface="+mn-ea"/>
                  <a:cs typeface="+mn-cs"/>
                </a:rPr>
                <a:t>S；响应 FetchI：G = { }，转 U；C 替换</a:t>
              </a:r>
              <a:br/>
              <a:r>
                <a:rPr lang="zh-CN" sz="1200" dirty="0">
                  <a:solidFill>
                    <a:srgbClr val="1F2937"/>
                  </a:solidFill>
                  <a:latin typeface="+mn-lt"/>
                  <a:ea typeface="+mn-ea"/>
                  <a:cs typeface="+mn-cs"/>
                </a:rPr>
                <a:t>dirty 块：G = { }，转 U</a:t>
              </a:r>
            </a:p>
          </p:txBody>
        </p:sp>
        <p:sp>
          <p:nvSpPr>
            <p:cNvPr id="44" name="TextBox 44"/>
            <p:cNvSpPr txBox="1"/>
            <p:nvPr/>
          </p:nvSpPr>
          <p:spPr>
            <a:xfrm>
              <a:off x="5910834" y="5302567"/>
              <a:ext cx="396240" cy="234696"/>
            </a:xfrm>
            <a:prstGeom prst="rect">
              <a:avLst/>
            </a:prstGeom>
            <a:noFill/>
            <a:ln>
              <a:noFill/>
            </a:ln>
          </p:spPr>
          <p:txBody>
            <a:bodyPr wrap="none" lIns="0" tIns="0" rIns="0" bIns="0" anchor="t" anchorCtr="0">
              <a:spAutoFit/>
            </a:bodyPr>
            <a:lstStyle/>
            <a:p>
              <a:pPr algn="l"/>
              <a:r>
                <a:rPr lang="en-US" sz="1200" dirty="0">
                  <a:solidFill>
                    <a:srgbClr val="1F2937"/>
                  </a:solidFill>
                  <a:latin typeface="+mn-lt"/>
                  <a:ea typeface="+mn-ea"/>
                  <a:cs typeface="+mn-cs"/>
                </a:rPr>
                <a:t>S / U</a:t>
              </a:r>
            </a:p>
          </p:txBody>
        </p:sp>
        <p:sp>
          <p:nvSpPr>
            <p:cNvPr id="45" name="Rectangle 45"/>
            <p:cNvSpPr/>
            <p:nvPr/>
          </p:nvSpPr>
          <p:spPr>
            <a:xfrm>
              <a:off x="533400" y="5810250"/>
              <a:ext cx="6276022" cy="9525"/>
            </a:xfrm>
            <a:prstGeom prst="rect">
              <a:avLst/>
            </a:prstGeom>
            <a:solidFill>
              <a:srgbClr val="D9DFEA"/>
            </a:solidFill>
            <a:ln>
              <a:noFill/>
            </a:ln>
          </p:spPr>
        </p:sp>
        <p:sp>
          <p:nvSpPr>
            <p:cNvPr id="46" name="TextBox 46"/>
            <p:cNvSpPr txBox="1"/>
            <p:nvPr/>
          </p:nvSpPr>
          <p:spPr>
            <a:xfrm>
              <a:off x="638746" y="5946458"/>
              <a:ext cx="110764" cy="234696"/>
            </a:xfrm>
            <a:prstGeom prst="rect">
              <a:avLst/>
            </a:prstGeom>
            <a:noFill/>
            <a:ln>
              <a:noFill/>
            </a:ln>
          </p:spPr>
          <p:txBody>
            <a:bodyPr wrap="none" lIns="0" tIns="0" rIns="0" bIns="0" anchor="t" anchorCtr="0">
              <a:spAutoFit/>
            </a:bodyPr>
            <a:lstStyle/>
            <a:p>
              <a:pPr algn="l"/>
              <a:r>
                <a:rPr lang="en-US" sz="1200" b="1" dirty="0">
                  <a:solidFill>
                    <a:srgbClr val="1F2937"/>
                  </a:solidFill>
                  <a:latin typeface="+mn-lt"/>
                  <a:ea typeface="+mn-ea"/>
                  <a:cs typeface="+mn-cs"/>
                </a:rPr>
                <a:t>E</a:t>
              </a:r>
            </a:p>
          </p:txBody>
        </p:sp>
        <p:sp>
          <p:nvSpPr>
            <p:cNvPr id="47" name="TextBox 47"/>
            <p:cNvSpPr txBox="1"/>
            <p:nvPr/>
          </p:nvSpPr>
          <p:spPr>
            <a:xfrm>
              <a:off x="1392174" y="5946458"/>
              <a:ext cx="783869" cy="234696"/>
            </a:xfrm>
            <a:prstGeom prst="rect">
              <a:avLst/>
            </a:prstGeom>
            <a:noFill/>
            <a:ln>
              <a:noFill/>
            </a:ln>
          </p:spPr>
          <p:txBody>
            <a:bodyPr wrap="none" lIns="0" tIns="0" rIns="0" bIns="0" anchor="t" anchorCtr="0">
              <a:spAutoFit/>
            </a:bodyPr>
            <a:lstStyle/>
            <a:p>
              <a:pPr algn="l"/>
              <a:r>
                <a:rPr lang="en-US" sz="1200" dirty="0">
                  <a:solidFill>
                    <a:srgbClr val="1F2937"/>
                  </a:solidFill>
                  <a:latin typeface="+mn-lt"/>
                  <a:ea typeface="+mn-ea"/>
                  <a:cs typeface="+mn-cs"/>
                </a:rPr>
                <a:t>Invalidate</a:t>
              </a:r>
            </a:p>
          </p:txBody>
        </p:sp>
        <p:sp>
          <p:nvSpPr>
            <p:cNvPr id="48" name="TextBox 48"/>
            <p:cNvSpPr txBox="1"/>
            <p:nvPr/>
          </p:nvSpPr>
          <p:spPr>
            <a:xfrm>
              <a:off x="2772346" y="5946458"/>
              <a:ext cx="496824"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不可能</a:t>
              </a:r>
            </a:p>
          </p:txBody>
        </p:sp>
        <p:sp>
          <p:nvSpPr>
            <p:cNvPr id="49" name="TextBox 49"/>
            <p:cNvSpPr txBox="1"/>
            <p:nvPr/>
          </p:nvSpPr>
          <p:spPr>
            <a:xfrm>
              <a:off x="5910834" y="5946458"/>
              <a:ext cx="106070" cy="234696"/>
            </a:xfrm>
            <a:prstGeom prst="rect">
              <a:avLst/>
            </a:prstGeom>
            <a:noFill/>
            <a:ln>
              <a:noFill/>
            </a:ln>
          </p:spPr>
          <p:txBody>
            <a:bodyPr wrap="none" lIns="0" tIns="0" rIns="0" bIns="0" anchor="t" anchorCtr="0">
              <a:spAutoFit/>
            </a:bodyPr>
            <a:lstStyle/>
            <a:p>
              <a:pPr algn="l"/>
              <a:r>
                <a:rPr lang="en-US" sz="1200" dirty="0">
                  <a:solidFill>
                    <a:srgbClr val="1F2937"/>
                  </a:solidFill>
                  <a:latin typeface="+mn-lt"/>
                  <a:ea typeface="+mn-ea"/>
                  <a:cs typeface="+mn-cs"/>
                </a:rPr>
                <a:t>E</a:t>
              </a:r>
            </a:p>
          </p:txBody>
        </p:sp>
        <p:sp>
          <p:nvSpPr>
            <p:cNvPr id="50" name="Rectangle 50"/>
            <p:cNvSpPr/>
            <p:nvPr/>
          </p:nvSpPr>
          <p:spPr>
            <a:xfrm>
              <a:off x="533400" y="1524000"/>
              <a:ext cx="6276022" cy="4721542"/>
            </a:xfrm>
            <a:prstGeom prst="rect">
              <a:avLst/>
            </a:prstGeom>
            <a:noFill/>
            <a:ln w="14288">
              <a:solidFill>
                <a:srgbClr val="D9DFEA"/>
              </a:solidFill>
            </a:ln>
          </p:spPr>
        </p:sp>
        <p:sp>
          <p:nvSpPr>
            <p:cNvPr id="51" name="Rectangle 51"/>
            <p:cNvSpPr/>
            <p:nvPr/>
          </p:nvSpPr>
          <p:spPr>
            <a:xfrm>
              <a:off x="1282065" y="1524000"/>
              <a:ext cx="9525" cy="4721542"/>
            </a:xfrm>
            <a:prstGeom prst="rect">
              <a:avLst/>
            </a:prstGeom>
            <a:solidFill>
              <a:srgbClr val="D9DFEA"/>
            </a:solidFill>
            <a:ln>
              <a:noFill/>
            </a:ln>
          </p:spPr>
        </p:sp>
        <p:sp>
          <p:nvSpPr>
            <p:cNvPr id="52" name="Rectangle 52"/>
            <p:cNvSpPr/>
            <p:nvPr/>
          </p:nvSpPr>
          <p:spPr>
            <a:xfrm>
              <a:off x="2662238" y="1524000"/>
              <a:ext cx="9525" cy="4721542"/>
            </a:xfrm>
            <a:prstGeom prst="rect">
              <a:avLst/>
            </a:prstGeom>
            <a:solidFill>
              <a:srgbClr val="D9DFEA"/>
            </a:solidFill>
            <a:ln>
              <a:noFill/>
            </a:ln>
          </p:spPr>
        </p:sp>
        <p:sp>
          <p:nvSpPr>
            <p:cNvPr id="53" name="Rectangle 53"/>
            <p:cNvSpPr/>
            <p:nvPr/>
          </p:nvSpPr>
          <p:spPr>
            <a:xfrm>
              <a:off x="5800725" y="1524000"/>
              <a:ext cx="9525" cy="4721542"/>
            </a:xfrm>
            <a:prstGeom prst="rect">
              <a:avLst/>
            </a:prstGeom>
            <a:solidFill>
              <a:srgbClr val="D9DFEA"/>
            </a:solidFill>
            <a:ln>
              <a:noFill/>
            </a:ln>
          </p:spPr>
        </p:sp>
      </p:grpSp>
      <p:grpSp>
        <p:nvGrpSpPr>
          <p:cNvPr id="63" name="c2-card-1"/>
          <p:cNvGrpSpPr/>
          <p:nvPr/>
        </p:nvGrpSpPr>
        <p:grpSpPr>
          <a:xfrm>
            <a:off x="7114222" y="1524000"/>
            <a:ext cx="4544378" cy="2951798"/>
            <a:chOff x="7114222" y="1524000"/>
            <a:chExt cx="4544378" cy="2951798"/>
          </a:xfrm>
        </p:grpSpPr>
        <p:sp>
          <p:nvSpPr>
            <p:cNvPr id="55" name="Rectangle 55"/>
            <p:cNvSpPr/>
            <p:nvPr/>
          </p:nvSpPr>
          <p:spPr>
            <a:xfrm>
              <a:off x="7114222" y="1524000"/>
              <a:ext cx="4544378" cy="2951798"/>
            </a:xfrm>
            <a:prstGeom prst="roundRect">
              <a:avLst>
                <a:gd name="adj" fmla="val 4518"/>
              </a:avLst>
            </a:prstGeom>
            <a:solidFill>
              <a:srgbClr val="FFFFFF"/>
            </a:solidFill>
            <a:ln w="14288">
              <a:solidFill>
                <a:srgbClr val="D9DFEA"/>
              </a:solidFill>
            </a:ln>
          </p:spPr>
        </p:sp>
        <p:sp>
          <p:nvSpPr>
            <p:cNvPr id="56" name="Rectangle 56"/>
            <p:cNvSpPr/>
            <p:nvPr/>
          </p:nvSpPr>
          <p:spPr>
            <a:xfrm>
              <a:off x="7123748" y="1657350"/>
              <a:ext cx="47625" cy="2685098"/>
            </a:xfrm>
            <a:prstGeom prst="roundRect">
              <a:avLst>
                <a:gd name="adj" fmla="val 50000"/>
              </a:avLst>
            </a:prstGeom>
            <a:solidFill>
              <a:srgbClr val="5B6475"/>
            </a:solidFill>
            <a:ln>
              <a:noFill/>
            </a:ln>
          </p:spPr>
        </p:sp>
        <p:sp>
          <p:nvSpPr>
            <p:cNvPr id="57" name="Rectangle 57"/>
            <p:cNvSpPr/>
            <p:nvPr/>
          </p:nvSpPr>
          <p:spPr>
            <a:xfrm>
              <a:off x="7356158" y="1727835"/>
              <a:ext cx="494348" cy="257175"/>
            </a:xfrm>
            <a:prstGeom prst="roundRect">
              <a:avLst>
                <a:gd name="adj" fmla="val 50000"/>
              </a:avLst>
            </a:prstGeom>
            <a:solidFill>
              <a:srgbClr val="F4F6FB"/>
            </a:solidFill>
            <a:ln>
              <a:noFill/>
            </a:ln>
          </p:spPr>
        </p:sp>
        <p:sp>
          <p:nvSpPr>
            <p:cNvPr id="58" name="TextBox 58"/>
            <p:cNvSpPr txBox="1"/>
            <p:nvPr/>
          </p:nvSpPr>
          <p:spPr>
            <a:xfrm>
              <a:off x="7446366" y="1763554"/>
              <a:ext cx="312979" cy="220028"/>
            </a:xfrm>
            <a:prstGeom prst="rect">
              <a:avLst/>
            </a:prstGeom>
            <a:noFill/>
            <a:ln>
              <a:noFill/>
            </a:ln>
          </p:spPr>
          <p:txBody>
            <a:bodyPr wrap="none" lIns="0" tIns="0" rIns="0" bIns="0" anchor="t" anchorCtr="0">
              <a:spAutoFit/>
            </a:bodyPr>
            <a:lstStyle/>
            <a:p>
              <a:pPr algn="ctr"/>
              <a:r>
                <a:rPr lang="zh-CN" sz="1120" b="1" dirty="0">
                  <a:solidFill>
                    <a:srgbClr val="5B6475"/>
                  </a:solidFill>
                  <a:latin typeface="+mn-lt"/>
                  <a:ea typeface="+mn-ea"/>
                  <a:cs typeface="+mn-cs"/>
                </a:rPr>
                <a:t>更正</a:t>
              </a:r>
            </a:p>
          </p:txBody>
        </p:sp>
        <p:sp>
          <p:nvSpPr>
            <p:cNvPr id="59" name="Ellipse 59"/>
            <p:cNvSpPr/>
            <p:nvPr/>
          </p:nvSpPr>
          <p:spPr>
            <a:xfrm>
              <a:off x="7363777" y="2161222"/>
              <a:ext cx="60960" cy="60960"/>
            </a:xfrm>
            <a:prstGeom prst="ellipse">
              <a:avLst/>
            </a:prstGeom>
            <a:solidFill>
              <a:srgbClr val="334E68"/>
            </a:solidFill>
            <a:ln>
              <a:noFill/>
            </a:ln>
          </p:spPr>
        </p:sp>
        <p:sp>
          <p:nvSpPr>
            <p:cNvPr id="60" name="TextBox 60"/>
            <p:cNvSpPr txBox="1"/>
            <p:nvPr/>
          </p:nvSpPr>
          <p:spPr>
            <a:xfrm>
              <a:off x="7520368" y="2100739"/>
              <a:ext cx="3720465" cy="1093089"/>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原课件第74页解释“S 下收不到 Update”时说</a:t>
              </a:r>
              <a:br/>
              <a:r>
                <a:rPr lang="zh-CN" sz="1420" dirty="0">
                  <a:solidFill>
                    <a:srgbClr val="1F2937"/>
                  </a:solidFill>
                  <a:latin typeface="+mn-lt"/>
                  <a:ea typeface="+mn-ea"/>
                  <a:cs typeface="+mn-cs"/>
                </a:rPr>
                <a:t>“此目录项状态应该为 M”。目录项只有 U、S、</a:t>
              </a:r>
              <a:br/>
              <a:r>
                <a:rPr lang="zh-CN" sz="1420" dirty="0">
                  <a:solidFill>
                    <a:srgbClr val="1F2937"/>
                  </a:solidFill>
                  <a:latin typeface="+mn-lt"/>
                  <a:ea typeface="+mn-ea"/>
                  <a:cs typeface="+mn-cs"/>
                </a:rPr>
                <a:t>E 三种状态，M 是 Cache 块的状态，这里应为</a:t>
              </a:r>
              <a:br/>
              <a:r>
                <a:rPr lang="zh-CN" sz="1420" dirty="0">
                  <a:solidFill>
                    <a:srgbClr val="1F2937"/>
                  </a:solidFill>
                  <a:latin typeface="+mn-lt"/>
                  <a:ea typeface="+mn-ea"/>
                  <a:cs typeface="+mn-cs"/>
                </a:rPr>
                <a:t>E。</a:t>
              </a:r>
            </a:p>
          </p:txBody>
        </p:sp>
        <p:sp>
          <p:nvSpPr>
            <p:cNvPr id="61" name="Ellipse 61"/>
            <p:cNvSpPr/>
            <p:nvPr/>
          </p:nvSpPr>
          <p:spPr>
            <a:xfrm>
              <a:off x="7363777" y="3295650"/>
              <a:ext cx="60960" cy="60960"/>
            </a:xfrm>
            <a:prstGeom prst="ellipse">
              <a:avLst/>
            </a:prstGeom>
            <a:solidFill>
              <a:srgbClr val="334E68"/>
            </a:solidFill>
            <a:ln>
              <a:noFill/>
            </a:ln>
          </p:spPr>
        </p:sp>
        <p:sp>
          <p:nvSpPr>
            <p:cNvPr id="62" name="TextBox 62"/>
            <p:cNvSpPr txBox="1"/>
            <p:nvPr/>
          </p:nvSpPr>
          <p:spPr>
            <a:xfrm>
              <a:off x="7520368" y="3235166"/>
              <a:ext cx="3747516" cy="1093089"/>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原课件“S 收到 Invalidate”一行先写 G={C}，</a:t>
              </a:r>
              <a:br/>
              <a:r>
                <a:rPr lang="zh-CN" sz="1420" dirty="0">
                  <a:solidFill>
                    <a:srgbClr val="1F2937"/>
                  </a:solidFill>
                  <a:latin typeface="+mn-lt"/>
                  <a:ea typeface="+mn-ea"/>
                  <a:cs typeface="+mn-cs"/>
                </a:rPr>
                <a:t>再写 send Invalidate(K) to all other Cs in</a:t>
              </a:r>
              <a:br/>
              <a:r>
                <a:rPr lang="zh-CN" sz="1420" dirty="0">
                  <a:solidFill>
                    <a:srgbClr val="1F2937"/>
                  </a:solidFill>
                  <a:latin typeface="+mn-lt"/>
                  <a:ea typeface="+mn-ea"/>
                  <a:cs typeface="+mn-cs"/>
                </a:rPr>
                <a:t>G。先改 G 就找不到其他副本了，应先向其余节</a:t>
              </a:r>
              <a:br/>
              <a:r>
                <a:rPr lang="zh-CN" sz="1420" dirty="0">
                  <a:solidFill>
                    <a:srgbClr val="1F2937"/>
                  </a:solidFill>
                  <a:latin typeface="+mn-lt"/>
                  <a:ea typeface="+mn-ea"/>
                  <a:cs typeface="+mn-cs"/>
                </a:rPr>
                <a:t>点发作废，再令 G = {C}。</a:t>
              </a:r>
            </a:p>
          </p:txBody>
        </p:sp>
      </p:grpSp>
      <p:grpSp>
        <p:nvGrpSpPr>
          <p:cNvPr id="70" name="c2-callout-2"/>
          <p:cNvGrpSpPr/>
          <p:nvPr/>
        </p:nvGrpSpPr>
        <p:grpSpPr>
          <a:xfrm>
            <a:off x="7114222" y="4661535"/>
            <a:ext cx="4544378" cy="1584008"/>
            <a:chOff x="7114222" y="4661535"/>
            <a:chExt cx="4544378" cy="1584008"/>
          </a:xfrm>
        </p:grpSpPr>
        <p:sp>
          <p:nvSpPr>
            <p:cNvPr id="64" name="Rectangle 64"/>
            <p:cNvSpPr/>
            <p:nvPr/>
          </p:nvSpPr>
          <p:spPr>
            <a:xfrm>
              <a:off x="7114222" y="4661535"/>
              <a:ext cx="4544378" cy="1584008"/>
            </a:xfrm>
            <a:prstGeom prst="roundRect">
              <a:avLst>
                <a:gd name="adj" fmla="val 7216"/>
              </a:avLst>
            </a:prstGeom>
            <a:solidFill>
              <a:srgbClr val="FDEEE7"/>
            </a:solidFill>
            <a:ln>
              <a:noFill/>
            </a:ln>
          </p:spPr>
        </p:sp>
        <p:grpSp>
          <p:nvGrpSpPr>
            <p:cNvPr id="68" name="Group 68"/>
            <p:cNvGrpSpPr/>
            <p:nvPr/>
          </p:nvGrpSpPr>
          <p:grpSpPr>
            <a:xfrm>
              <a:off x="7319010" y="5353050"/>
              <a:ext cx="200026" cy="200025"/>
              <a:chOff x="7319010" y="5353050"/>
              <a:chExt cx="200026" cy="200025"/>
            </a:xfrm>
          </p:grpSpPr>
          <p:sp>
            <p:nvSpPr>
              <p:cNvPr id="65" name="Freeform 65"/>
              <p:cNvSpPr/>
              <p:nvPr/>
            </p:nvSpPr>
            <p:spPr>
              <a:xfrm>
                <a:off x="7319010" y="5353050"/>
                <a:ext cx="200026" cy="100013"/>
              </a:xfrm>
              <a:custGeom>
                <a:avLst/>
                <a:gdLst/>
                <a:ahLst/>
                <a:cxnLst/>
                <a:rect l="l" t="t" r="r" b="b"/>
                <a:pathLst>
                  <a:path w="200026" h="100013">
                    <a:moveTo>
                      <a:pt x="0" y="100013"/>
                    </a:moveTo>
                    <a:lnTo>
                      <a:pt x="11113" y="100013"/>
                    </a:lnTo>
                    <a:moveTo>
                      <a:pt x="100013" y="0"/>
                    </a:moveTo>
                    <a:lnTo>
                      <a:pt x="100013" y="11113"/>
                    </a:lnTo>
                    <a:moveTo>
                      <a:pt x="188913" y="100013"/>
                    </a:moveTo>
                    <a:lnTo>
                      <a:pt x="200026" y="100013"/>
                    </a:lnTo>
                    <a:moveTo>
                      <a:pt x="28893" y="28893"/>
                    </a:moveTo>
                    <a:lnTo>
                      <a:pt x="36671" y="36671"/>
                    </a:lnTo>
                    <a:moveTo>
                      <a:pt x="171133" y="28893"/>
                    </a:moveTo>
                    <a:lnTo>
                      <a:pt x="163354" y="36671"/>
                    </a:lnTo>
                  </a:path>
                </a:pathLst>
              </a:custGeom>
              <a:noFill/>
              <a:ln w="22225">
                <a:solidFill>
                  <a:srgbClr val="C2410C"/>
                </a:solidFill>
              </a:ln>
            </p:spPr>
          </p:sp>
          <p:sp>
            <p:nvSpPr>
              <p:cNvPr id="66" name="Freeform 66"/>
              <p:cNvSpPr/>
              <p:nvPr/>
            </p:nvSpPr>
            <p:spPr>
              <a:xfrm>
                <a:off x="7358749" y="5397500"/>
                <a:ext cx="120548" cy="155575"/>
              </a:xfrm>
              <a:custGeom>
                <a:avLst/>
                <a:gdLst/>
                <a:ahLst/>
                <a:cxnLst/>
                <a:rect l="l" t="t" r="r" b="b"/>
                <a:pathLst>
                  <a:path w="120548" h="155575">
                    <a:moveTo>
                      <a:pt x="26937" y="100013"/>
                    </a:moveTo>
                    <a:cubicBezTo>
                      <a:pt x="7804" y="85663"/>
                      <a:pt x="0" y="60681"/>
                      <a:pt x="7563" y="37992"/>
                    </a:cubicBezTo>
                    <a:cubicBezTo>
                      <a:pt x="15126" y="15304"/>
                      <a:pt x="36358" y="0"/>
                      <a:pt x="60274" y="0"/>
                    </a:cubicBezTo>
                    <a:cubicBezTo>
                      <a:pt x="84190" y="0"/>
                      <a:pt x="105423" y="15304"/>
                      <a:pt x="112986" y="37992"/>
                    </a:cubicBezTo>
                    <a:cubicBezTo>
                      <a:pt x="120548" y="60681"/>
                      <a:pt x="112745" y="85663"/>
                      <a:pt x="93612" y="100013"/>
                    </a:cubicBezTo>
                    <a:cubicBezTo>
                      <a:pt x="84812" y="108723"/>
                      <a:pt x="80686" y="121103"/>
                      <a:pt x="82499" y="133350"/>
                    </a:cubicBezTo>
                    <a:cubicBezTo>
                      <a:pt x="82499" y="145625"/>
                      <a:pt x="72549" y="155575"/>
                      <a:pt x="60274" y="155575"/>
                    </a:cubicBezTo>
                    <a:cubicBezTo>
                      <a:pt x="48000" y="155575"/>
                      <a:pt x="38049" y="145625"/>
                      <a:pt x="38049" y="133350"/>
                    </a:cubicBezTo>
                    <a:cubicBezTo>
                      <a:pt x="39862" y="121103"/>
                      <a:pt x="35736" y="108723"/>
                      <a:pt x="26937" y="100013"/>
                    </a:cubicBezTo>
                  </a:path>
                </a:pathLst>
              </a:custGeom>
              <a:noFill/>
              <a:ln w="22225">
                <a:solidFill>
                  <a:srgbClr val="C2410C"/>
                </a:solidFill>
              </a:ln>
            </p:spPr>
          </p:sp>
          <p:sp>
            <p:nvSpPr>
              <p:cNvPr id="67" name="Freeform 67"/>
              <p:cNvSpPr/>
              <p:nvPr/>
            </p:nvSpPr>
            <p:spPr>
              <a:xfrm>
                <a:off x="7393464" y="5508626"/>
                <a:ext cx="51118" cy="9525"/>
              </a:xfrm>
              <a:custGeom>
                <a:avLst/>
                <a:gdLst/>
                <a:ahLst/>
                <a:cxnLst/>
                <a:rect l="l" t="t" r="r" b="b"/>
                <a:pathLst>
                  <a:path w="51118" h="9525">
                    <a:moveTo>
                      <a:pt x="0" y="0"/>
                    </a:moveTo>
                    <a:lnTo>
                      <a:pt x="51118" y="0"/>
                    </a:lnTo>
                  </a:path>
                </a:pathLst>
              </a:custGeom>
              <a:noFill/>
              <a:ln w="22225">
                <a:solidFill>
                  <a:srgbClr val="C2410C"/>
                </a:solidFill>
              </a:ln>
            </p:spPr>
          </p:sp>
        </p:grpSp>
        <p:sp>
          <p:nvSpPr>
            <p:cNvPr id="69" name="TextBox 69"/>
            <p:cNvSpPr txBox="1"/>
            <p:nvPr/>
          </p:nvSpPr>
          <p:spPr>
            <a:xfrm>
              <a:off x="7621334" y="5091589"/>
              <a:ext cx="3603244" cy="804482"/>
            </a:xfrm>
            <a:prstGeom prst="rect">
              <a:avLst/>
            </a:prstGeom>
            <a:noFill/>
            <a:ln>
              <a:noFill/>
            </a:ln>
          </p:spPr>
          <p:txBody>
            <a:bodyPr wrap="none" lIns="0" tIns="0" rIns="0" bIns="0" anchor="t" anchorCtr="0">
              <a:spAutoFit/>
            </a:bodyPr>
            <a:lstStyle/>
            <a:p>
              <a:pPr algn="l">
                <a:lnSpc>
                  <a:spcPts val="2070"/>
                </a:lnSpc>
              </a:pPr>
              <a:r>
                <a:rPr lang="zh-CN" sz="1420" dirty="0">
                  <a:solidFill>
                    <a:srgbClr val="C2410C"/>
                  </a:solidFill>
                  <a:latin typeface="+mn-lt"/>
                  <a:ea typeface="+mn-ea"/>
                  <a:cs typeface="+mn-cs"/>
                </a:rPr>
                <a:t>E 收到 Update 后转 U 只是中间一步：若是响</a:t>
              </a:r>
              <a:br/>
              <a:r>
                <a:rPr lang="zh-CN" sz="1420" dirty="0">
                  <a:solidFill>
                    <a:srgbClr val="C2410C"/>
                  </a:solidFill>
                  <a:latin typeface="+mn-lt"/>
                  <a:ea typeface="+mn-ea"/>
                  <a:cs typeface="+mn-cs"/>
                </a:rPr>
                <a:t>应 A 的请求，紧接着按上一页的表把 A 加进</a:t>
              </a:r>
              <a:br/>
              <a:r>
                <a:rPr lang="zh-CN" sz="1420" dirty="0">
                  <a:solidFill>
                    <a:srgbClr val="C2410C"/>
                  </a:solidFill>
                  <a:latin typeface="+mn-lt"/>
                  <a:ea typeface="+mn-ea"/>
                  <a:cs typeface="+mn-cs"/>
                </a:rPr>
                <a:t>G，最后是 S（FetchS）或 E（FetchI）。</a:t>
              </a:r>
            </a:p>
          </p:txBody>
        </p:sp>
      </p:grpSp>
      <p:grpSp>
        <p:nvGrpSpPr>
          <p:cNvPr id="73" name="footer"/>
          <p:cNvGrpSpPr/>
          <p:nvPr/>
        </p:nvGrpSpPr>
        <p:grpSpPr>
          <a:xfrm>
            <a:off x="528447" y="6581299"/>
            <a:ext cx="11135106" cy="190690"/>
            <a:chOff x="528447" y="6581299"/>
            <a:chExt cx="11135106" cy="190690"/>
          </a:xfrm>
        </p:grpSpPr>
        <p:sp>
          <p:nvSpPr>
            <p:cNvPr id="71" name="TextBox 71"/>
            <p:cNvSpPr txBox="1"/>
            <p:nvPr/>
          </p:nvSpPr>
          <p:spPr>
            <a:xfrm>
              <a:off x="528447" y="6581299"/>
              <a:ext cx="2120748"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并行与分布式计算 · 第7章 体系结构</a:t>
              </a:r>
            </a:p>
          </p:txBody>
        </p:sp>
        <p:sp>
          <p:nvSpPr>
            <p:cNvPr id="72" name="TextBox 72"/>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35</a:t>
              </a:r>
            </a:p>
          </p:txBody>
        </p:sp>
      </p:grpSp>
    </p:spTree>
  </p:cSld>
  <p:clrMapOvr>
    <a:masterClrMapping/>
  </p:clrMapOvr>
  <p:transition xmlns:p14="http://schemas.microsoft.com/office/powerpoint/2010/main" p14:dur="400">
    <p:fade/>
  </p:transition>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6286926" cy="909257"/>
            <a:chOff x="520446" y="342900"/>
            <a:chExt cx="6286926" cy="909257"/>
          </a:xfrm>
        </p:grpSpPr>
        <p:sp>
          <p:nvSpPr>
            <p:cNvPr id="2" name="Rectangle 2"/>
            <p:cNvSpPr/>
            <p:nvPr/>
          </p:nvSpPr>
          <p:spPr>
            <a:xfrm>
              <a:off x="533400" y="342900"/>
              <a:ext cx="2586038" cy="266700"/>
            </a:xfrm>
            <a:prstGeom prst="roundRect">
              <a:avLst>
                <a:gd name="adj" fmla="val 50000"/>
              </a:avLst>
            </a:prstGeom>
            <a:solidFill>
              <a:srgbClr val="E7EDF3"/>
            </a:solidFill>
            <a:ln>
              <a:noFill/>
            </a:ln>
          </p:spPr>
        </p:sp>
        <p:sp>
          <p:nvSpPr>
            <p:cNvPr id="3" name="TextBox 3"/>
            <p:cNvSpPr txBox="1"/>
            <p:nvPr/>
          </p:nvSpPr>
          <p:spPr>
            <a:xfrm>
              <a:off x="587464" y="407194"/>
              <a:ext cx="2476957"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第7章 体系结构 · Cache 一致性问题</a:t>
              </a:r>
            </a:p>
          </p:txBody>
        </p:sp>
        <p:sp>
          <p:nvSpPr>
            <p:cNvPr id="4" name="TextBox 4"/>
            <p:cNvSpPr txBox="1"/>
            <p:nvPr/>
          </p:nvSpPr>
          <p:spPr>
            <a:xfrm>
              <a:off x="520446" y="753428"/>
              <a:ext cx="6286926"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目录协议状态转换图：Cache 端与目录端</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46" name="c1-graph-1"/>
          <p:cNvGrpSpPr/>
          <p:nvPr/>
        </p:nvGrpSpPr>
        <p:grpSpPr>
          <a:xfrm>
            <a:off x="1056322" y="1441609"/>
            <a:ext cx="4463416" cy="3568255"/>
            <a:chOff x="1056322" y="1441609"/>
            <a:chExt cx="4463416" cy="3568255"/>
          </a:xfrm>
        </p:grpSpPr>
        <p:sp>
          <p:nvSpPr>
            <p:cNvPr id="7" name="Freeform 7"/>
            <p:cNvSpPr/>
            <p:nvPr/>
          </p:nvSpPr>
          <p:spPr>
            <a:xfrm>
              <a:off x="1751648" y="2356485"/>
              <a:ext cx="2878455" cy="9525"/>
            </a:xfrm>
            <a:custGeom>
              <a:avLst/>
              <a:gdLst/>
              <a:ahLst/>
              <a:cxnLst/>
              <a:rect l="l" t="t" r="r" b="b"/>
              <a:pathLst>
                <a:path w="2878455" h="9525">
                  <a:moveTo>
                    <a:pt x="0" y="0"/>
                  </a:moveTo>
                  <a:lnTo>
                    <a:pt x="2878455" y="0"/>
                  </a:lnTo>
                </a:path>
              </a:pathLst>
            </a:custGeom>
            <a:noFill/>
            <a:ln w="17145">
              <a:solidFill>
                <a:srgbClr val="1F2937"/>
              </a:solidFill>
            </a:ln>
          </p:spPr>
        </p:sp>
        <p:sp>
          <p:nvSpPr>
            <p:cNvPr id="8" name="Freeform 8"/>
            <p:cNvSpPr/>
            <p:nvPr/>
          </p:nvSpPr>
          <p:spPr>
            <a:xfrm>
              <a:off x="4630102" y="2308860"/>
              <a:ext cx="95250" cy="95250"/>
            </a:xfrm>
            <a:custGeom>
              <a:avLst/>
              <a:gdLst/>
              <a:ahLst/>
              <a:cxnLst/>
              <a:rect l="l" t="t" r="r" b="b"/>
              <a:pathLst>
                <a:path w="95250" h="95250">
                  <a:moveTo>
                    <a:pt x="95250" y="47625"/>
                  </a:moveTo>
                  <a:lnTo>
                    <a:pt x="0" y="95250"/>
                  </a:lnTo>
                  <a:lnTo>
                    <a:pt x="0" y="0"/>
                  </a:lnTo>
                  <a:close/>
                </a:path>
              </a:pathLst>
            </a:custGeom>
            <a:solidFill>
              <a:srgbClr val="1F2937"/>
            </a:solidFill>
            <a:ln>
              <a:noFill/>
            </a:ln>
          </p:spPr>
        </p:sp>
        <p:sp>
          <p:nvSpPr>
            <p:cNvPr id="9" name="Freeform 9"/>
            <p:cNvSpPr/>
            <p:nvPr/>
          </p:nvSpPr>
          <p:spPr>
            <a:xfrm>
              <a:off x="1829752" y="1972628"/>
              <a:ext cx="2908935" cy="288608"/>
            </a:xfrm>
            <a:custGeom>
              <a:avLst/>
              <a:gdLst/>
              <a:ahLst/>
              <a:cxnLst/>
              <a:rect l="l" t="t" r="r" b="b"/>
              <a:pathLst>
                <a:path w="2908935" h="288608">
                  <a:moveTo>
                    <a:pt x="2908935" y="288608"/>
                  </a:moveTo>
                  <a:cubicBezTo>
                    <a:pt x="1908810" y="8573"/>
                    <a:pt x="939165" y="0"/>
                    <a:pt x="0" y="262890"/>
                  </a:cubicBezTo>
                </a:path>
              </a:pathLst>
            </a:custGeom>
            <a:noFill/>
            <a:ln w="17145">
              <a:solidFill>
                <a:srgbClr val="1F2937"/>
              </a:solidFill>
            </a:ln>
          </p:spPr>
        </p:sp>
        <p:sp>
          <p:nvSpPr>
            <p:cNvPr id="10" name="Freeform 10"/>
            <p:cNvSpPr/>
            <p:nvPr/>
          </p:nvSpPr>
          <p:spPr>
            <a:xfrm>
              <a:off x="1738312" y="2189798"/>
              <a:ext cx="104775" cy="91440"/>
            </a:xfrm>
            <a:custGeom>
              <a:avLst/>
              <a:gdLst/>
              <a:ahLst/>
              <a:cxnLst/>
              <a:rect l="l" t="t" r="r" b="b"/>
              <a:pathLst>
                <a:path w="104775" h="91440">
                  <a:moveTo>
                    <a:pt x="0" y="71438"/>
                  </a:moveTo>
                  <a:lnTo>
                    <a:pt x="79058" y="0"/>
                  </a:lnTo>
                  <a:lnTo>
                    <a:pt x="104775" y="91440"/>
                  </a:lnTo>
                  <a:close/>
                </a:path>
              </a:pathLst>
            </a:custGeom>
            <a:solidFill>
              <a:srgbClr val="1F2937"/>
            </a:solidFill>
            <a:ln>
              <a:noFill/>
            </a:ln>
          </p:spPr>
        </p:sp>
        <p:sp>
          <p:nvSpPr>
            <p:cNvPr id="11" name="Freeform 11"/>
            <p:cNvSpPr/>
            <p:nvPr/>
          </p:nvSpPr>
          <p:spPr>
            <a:xfrm>
              <a:off x="1660208" y="2592705"/>
              <a:ext cx="1245870" cy="1126808"/>
            </a:xfrm>
            <a:custGeom>
              <a:avLst/>
              <a:gdLst/>
              <a:ahLst/>
              <a:cxnLst/>
              <a:rect l="l" t="t" r="r" b="b"/>
              <a:pathLst>
                <a:path w="1245870" h="1126808">
                  <a:moveTo>
                    <a:pt x="0" y="0"/>
                  </a:moveTo>
                  <a:lnTo>
                    <a:pt x="1245870" y="1126808"/>
                  </a:lnTo>
                </a:path>
              </a:pathLst>
            </a:custGeom>
            <a:noFill/>
            <a:ln w="17145">
              <a:solidFill>
                <a:srgbClr val="1F2937"/>
              </a:solidFill>
            </a:ln>
          </p:spPr>
        </p:sp>
        <p:sp>
          <p:nvSpPr>
            <p:cNvPr id="12" name="Freeform 12"/>
            <p:cNvSpPr/>
            <p:nvPr/>
          </p:nvSpPr>
          <p:spPr>
            <a:xfrm>
              <a:off x="2874645" y="3684270"/>
              <a:ext cx="102870" cy="100012"/>
            </a:xfrm>
            <a:custGeom>
              <a:avLst/>
              <a:gdLst/>
              <a:ahLst/>
              <a:cxnLst/>
              <a:rect l="l" t="t" r="r" b="b"/>
              <a:pathLst>
                <a:path w="102870" h="100012">
                  <a:moveTo>
                    <a:pt x="102870" y="100012"/>
                  </a:moveTo>
                  <a:lnTo>
                    <a:pt x="0" y="71438"/>
                  </a:lnTo>
                  <a:lnTo>
                    <a:pt x="63817" y="0"/>
                  </a:lnTo>
                  <a:close/>
                </a:path>
              </a:pathLst>
            </a:custGeom>
            <a:solidFill>
              <a:srgbClr val="1F2937"/>
            </a:solidFill>
            <a:ln>
              <a:noFill/>
            </a:ln>
          </p:spPr>
        </p:sp>
        <p:sp>
          <p:nvSpPr>
            <p:cNvPr id="13" name="Freeform 13"/>
            <p:cNvSpPr/>
            <p:nvPr/>
          </p:nvSpPr>
          <p:spPr>
            <a:xfrm>
              <a:off x="1799272" y="2555558"/>
              <a:ext cx="1251585" cy="1166812"/>
            </a:xfrm>
            <a:custGeom>
              <a:avLst/>
              <a:gdLst/>
              <a:ahLst/>
              <a:cxnLst/>
              <a:rect l="l" t="t" r="r" b="b"/>
              <a:pathLst>
                <a:path w="1251585" h="1166812">
                  <a:moveTo>
                    <a:pt x="1251585" y="1166812"/>
                  </a:moveTo>
                  <a:cubicBezTo>
                    <a:pt x="918845" y="639127"/>
                    <a:pt x="501650" y="250190"/>
                    <a:pt x="0" y="0"/>
                  </a:cubicBezTo>
                </a:path>
              </a:pathLst>
            </a:custGeom>
            <a:noFill/>
            <a:ln w="17145">
              <a:solidFill>
                <a:srgbClr val="1F2937"/>
              </a:solidFill>
            </a:ln>
          </p:spPr>
        </p:sp>
        <p:sp>
          <p:nvSpPr>
            <p:cNvPr id="14" name="Freeform 14"/>
            <p:cNvSpPr/>
            <p:nvPr/>
          </p:nvSpPr>
          <p:spPr>
            <a:xfrm>
              <a:off x="1714500" y="2513648"/>
              <a:ext cx="106680" cy="84773"/>
            </a:xfrm>
            <a:custGeom>
              <a:avLst/>
              <a:gdLst/>
              <a:ahLst/>
              <a:cxnLst/>
              <a:rect l="l" t="t" r="r" b="b"/>
              <a:pathLst>
                <a:path w="106680" h="84773">
                  <a:moveTo>
                    <a:pt x="0" y="0"/>
                  </a:moveTo>
                  <a:lnTo>
                    <a:pt x="106680" y="0"/>
                  </a:lnTo>
                  <a:lnTo>
                    <a:pt x="63817" y="84773"/>
                  </a:lnTo>
                  <a:close/>
                </a:path>
              </a:pathLst>
            </a:custGeom>
            <a:solidFill>
              <a:srgbClr val="1F2937"/>
            </a:solidFill>
            <a:ln>
              <a:noFill/>
            </a:ln>
          </p:spPr>
        </p:sp>
        <p:sp>
          <p:nvSpPr>
            <p:cNvPr id="15" name="Freeform 15"/>
            <p:cNvSpPr/>
            <p:nvPr/>
          </p:nvSpPr>
          <p:spPr>
            <a:xfrm>
              <a:off x="3570922" y="2592705"/>
              <a:ext cx="1245870" cy="1126808"/>
            </a:xfrm>
            <a:custGeom>
              <a:avLst/>
              <a:gdLst/>
              <a:ahLst/>
              <a:cxnLst/>
              <a:rect l="l" t="t" r="r" b="b"/>
              <a:pathLst>
                <a:path w="1245870" h="1126808">
                  <a:moveTo>
                    <a:pt x="1245870" y="0"/>
                  </a:moveTo>
                  <a:lnTo>
                    <a:pt x="0" y="1126808"/>
                  </a:lnTo>
                </a:path>
              </a:pathLst>
            </a:custGeom>
            <a:noFill/>
            <a:ln w="17145">
              <a:solidFill>
                <a:srgbClr val="1F2937"/>
              </a:solidFill>
            </a:ln>
          </p:spPr>
        </p:sp>
        <p:sp>
          <p:nvSpPr>
            <p:cNvPr id="16" name="Freeform 16"/>
            <p:cNvSpPr/>
            <p:nvPr/>
          </p:nvSpPr>
          <p:spPr>
            <a:xfrm>
              <a:off x="3499485" y="3684270"/>
              <a:ext cx="102870" cy="100012"/>
            </a:xfrm>
            <a:custGeom>
              <a:avLst/>
              <a:gdLst/>
              <a:ahLst/>
              <a:cxnLst/>
              <a:rect l="l" t="t" r="r" b="b"/>
              <a:pathLst>
                <a:path w="102870" h="100012">
                  <a:moveTo>
                    <a:pt x="0" y="100012"/>
                  </a:moveTo>
                  <a:lnTo>
                    <a:pt x="39053" y="0"/>
                  </a:lnTo>
                  <a:lnTo>
                    <a:pt x="102870" y="71438"/>
                  </a:lnTo>
                  <a:close/>
                </a:path>
              </a:pathLst>
            </a:custGeom>
            <a:solidFill>
              <a:srgbClr val="1F2937"/>
            </a:solidFill>
            <a:ln>
              <a:noFill/>
            </a:ln>
          </p:spPr>
        </p:sp>
        <p:sp>
          <p:nvSpPr>
            <p:cNvPr id="17" name="Freeform 17"/>
            <p:cNvSpPr/>
            <p:nvPr/>
          </p:nvSpPr>
          <p:spPr>
            <a:xfrm>
              <a:off x="3553778" y="2734628"/>
              <a:ext cx="1285875" cy="1128712"/>
            </a:xfrm>
            <a:custGeom>
              <a:avLst/>
              <a:gdLst/>
              <a:ahLst/>
              <a:cxnLst/>
              <a:rect l="l" t="t" r="r" b="b"/>
              <a:pathLst>
                <a:path w="1285875" h="1128712">
                  <a:moveTo>
                    <a:pt x="0" y="1128712"/>
                  </a:moveTo>
                  <a:cubicBezTo>
                    <a:pt x="558165" y="850583"/>
                    <a:pt x="986790" y="474345"/>
                    <a:pt x="1285875" y="0"/>
                  </a:cubicBezTo>
                </a:path>
              </a:pathLst>
            </a:custGeom>
            <a:noFill/>
            <a:ln w="17145">
              <a:solidFill>
                <a:srgbClr val="1F2937"/>
              </a:solidFill>
            </a:ln>
          </p:spPr>
        </p:sp>
        <p:sp>
          <p:nvSpPr>
            <p:cNvPr id="18" name="Freeform 18"/>
            <p:cNvSpPr/>
            <p:nvPr/>
          </p:nvSpPr>
          <p:spPr>
            <a:xfrm>
              <a:off x="4798695" y="2654618"/>
              <a:ext cx="91440" cy="105728"/>
            </a:xfrm>
            <a:custGeom>
              <a:avLst/>
              <a:gdLst/>
              <a:ahLst/>
              <a:cxnLst/>
              <a:rect l="l" t="t" r="r" b="b"/>
              <a:pathLst>
                <a:path w="91440" h="105728">
                  <a:moveTo>
                    <a:pt x="91440" y="0"/>
                  </a:moveTo>
                  <a:lnTo>
                    <a:pt x="80962" y="105728"/>
                  </a:lnTo>
                  <a:lnTo>
                    <a:pt x="0" y="55245"/>
                  </a:lnTo>
                  <a:close/>
                </a:path>
              </a:pathLst>
            </a:custGeom>
            <a:solidFill>
              <a:srgbClr val="1F2937"/>
            </a:solidFill>
            <a:ln>
              <a:noFill/>
            </a:ln>
          </p:spPr>
        </p:sp>
        <p:sp>
          <p:nvSpPr>
            <p:cNvPr id="19" name="Freeform 19"/>
            <p:cNvSpPr/>
            <p:nvPr/>
          </p:nvSpPr>
          <p:spPr>
            <a:xfrm>
              <a:off x="4635818" y="1464945"/>
              <a:ext cx="883920" cy="548640"/>
            </a:xfrm>
            <a:custGeom>
              <a:avLst/>
              <a:gdLst/>
              <a:ahLst/>
              <a:cxnLst/>
              <a:rect l="l" t="t" r="r" b="b"/>
              <a:pathLst>
                <a:path w="883920" h="548640">
                  <a:moveTo>
                    <a:pt x="287655" y="548640"/>
                  </a:moveTo>
                  <a:cubicBezTo>
                    <a:pt x="0" y="0"/>
                    <a:pt x="883920" y="0"/>
                    <a:pt x="596265" y="548640"/>
                  </a:cubicBezTo>
                </a:path>
              </a:pathLst>
            </a:custGeom>
            <a:noFill/>
            <a:ln w="17145">
              <a:solidFill>
                <a:srgbClr val="1F2937"/>
              </a:solidFill>
            </a:ln>
          </p:spPr>
        </p:sp>
        <p:sp>
          <p:nvSpPr>
            <p:cNvPr id="20" name="Freeform 20"/>
            <p:cNvSpPr/>
            <p:nvPr/>
          </p:nvSpPr>
          <p:spPr>
            <a:xfrm>
              <a:off x="5232082" y="1917382"/>
              <a:ext cx="78105" cy="96202"/>
            </a:xfrm>
            <a:custGeom>
              <a:avLst/>
              <a:gdLst/>
              <a:ahLst/>
              <a:cxnLst/>
              <a:rect l="l" t="t" r="r" b="b"/>
              <a:pathLst>
                <a:path w="78105" h="96202">
                  <a:moveTo>
                    <a:pt x="0" y="96202"/>
                  </a:moveTo>
                  <a:lnTo>
                    <a:pt x="1905" y="0"/>
                  </a:lnTo>
                  <a:lnTo>
                    <a:pt x="78105" y="40005"/>
                  </a:lnTo>
                  <a:close/>
                </a:path>
              </a:pathLst>
            </a:custGeom>
            <a:solidFill>
              <a:srgbClr val="1F2937"/>
            </a:solidFill>
            <a:ln>
              <a:noFill/>
            </a:ln>
          </p:spPr>
        </p:sp>
        <p:sp>
          <p:nvSpPr>
            <p:cNvPr id="21" name="Freeform 21"/>
            <p:cNvSpPr/>
            <p:nvPr/>
          </p:nvSpPr>
          <p:spPr>
            <a:xfrm>
              <a:off x="2796540" y="4363402"/>
              <a:ext cx="883920" cy="548640"/>
            </a:xfrm>
            <a:custGeom>
              <a:avLst/>
              <a:gdLst/>
              <a:ahLst/>
              <a:cxnLst/>
              <a:rect l="l" t="t" r="r" b="b"/>
              <a:pathLst>
                <a:path w="883920" h="548640">
                  <a:moveTo>
                    <a:pt x="287655" y="0"/>
                  </a:moveTo>
                  <a:cubicBezTo>
                    <a:pt x="0" y="548640"/>
                    <a:pt x="883920" y="548640"/>
                    <a:pt x="596265" y="0"/>
                  </a:cubicBezTo>
                </a:path>
              </a:pathLst>
            </a:custGeom>
            <a:noFill/>
            <a:ln w="17145">
              <a:solidFill>
                <a:srgbClr val="1F2937"/>
              </a:solidFill>
            </a:ln>
          </p:spPr>
        </p:sp>
        <p:sp>
          <p:nvSpPr>
            <p:cNvPr id="22" name="Freeform 22"/>
            <p:cNvSpPr/>
            <p:nvPr/>
          </p:nvSpPr>
          <p:spPr>
            <a:xfrm>
              <a:off x="3392805" y="4363402"/>
              <a:ext cx="78105" cy="95250"/>
            </a:xfrm>
            <a:custGeom>
              <a:avLst/>
              <a:gdLst/>
              <a:ahLst/>
              <a:cxnLst/>
              <a:rect l="l" t="t" r="r" b="b"/>
              <a:pathLst>
                <a:path w="78105" h="95250">
                  <a:moveTo>
                    <a:pt x="0" y="0"/>
                  </a:moveTo>
                  <a:lnTo>
                    <a:pt x="78105" y="56197"/>
                  </a:lnTo>
                  <a:lnTo>
                    <a:pt x="1905" y="95250"/>
                  </a:lnTo>
                  <a:close/>
                </a:path>
              </a:pathLst>
            </a:custGeom>
            <a:solidFill>
              <a:srgbClr val="1F2937"/>
            </a:solidFill>
            <a:ln>
              <a:noFill/>
            </a:ln>
          </p:spPr>
        </p:sp>
        <p:sp>
          <p:nvSpPr>
            <p:cNvPr id="23" name="Ellipse 23"/>
            <p:cNvSpPr/>
            <p:nvPr/>
          </p:nvSpPr>
          <p:spPr>
            <a:xfrm>
              <a:off x="1056322" y="2013585"/>
              <a:ext cx="685800" cy="685800"/>
            </a:xfrm>
            <a:prstGeom prst="ellipse">
              <a:avLst/>
            </a:prstGeom>
            <a:solidFill>
              <a:srgbClr val="F4F6FB"/>
            </a:solidFill>
            <a:ln w="17145">
              <a:solidFill>
                <a:srgbClr val="D9DFEA"/>
              </a:solidFill>
            </a:ln>
          </p:spPr>
        </p:sp>
        <p:sp>
          <p:nvSpPr>
            <p:cNvPr id="24" name="Ellipse 24"/>
            <p:cNvSpPr/>
            <p:nvPr/>
          </p:nvSpPr>
          <p:spPr>
            <a:xfrm>
              <a:off x="4734878" y="2013585"/>
              <a:ext cx="685800" cy="685800"/>
            </a:xfrm>
            <a:prstGeom prst="ellipse">
              <a:avLst/>
            </a:prstGeom>
            <a:solidFill>
              <a:srgbClr val="334E68"/>
            </a:solidFill>
            <a:ln w="17145">
              <a:solidFill>
                <a:srgbClr val="334E68"/>
              </a:solidFill>
            </a:ln>
          </p:spPr>
        </p:sp>
        <p:sp>
          <p:nvSpPr>
            <p:cNvPr id="25" name="Ellipse 25"/>
            <p:cNvSpPr/>
            <p:nvPr/>
          </p:nvSpPr>
          <p:spPr>
            <a:xfrm>
              <a:off x="2895600" y="3677602"/>
              <a:ext cx="685800" cy="685800"/>
            </a:xfrm>
            <a:prstGeom prst="ellipse">
              <a:avLst/>
            </a:prstGeom>
            <a:solidFill>
              <a:srgbClr val="FDEEE7"/>
            </a:solidFill>
            <a:ln w="17145">
              <a:solidFill>
                <a:srgbClr val="F26B3A"/>
              </a:solidFill>
            </a:ln>
          </p:spPr>
        </p:sp>
        <p:sp>
          <p:nvSpPr>
            <p:cNvPr id="26" name="TextBox 26"/>
            <p:cNvSpPr txBox="1"/>
            <p:nvPr/>
          </p:nvSpPr>
          <p:spPr>
            <a:xfrm>
              <a:off x="1368416" y="2196941"/>
              <a:ext cx="61612" cy="220028"/>
            </a:xfrm>
            <a:prstGeom prst="rect">
              <a:avLst/>
            </a:prstGeom>
            <a:noFill/>
            <a:ln>
              <a:noFill/>
            </a:ln>
          </p:spPr>
          <p:txBody>
            <a:bodyPr wrap="none" lIns="0" tIns="0" rIns="0" bIns="0" anchor="t" anchorCtr="0">
              <a:spAutoFit/>
            </a:bodyPr>
            <a:lstStyle/>
            <a:p>
              <a:pPr algn="ctr"/>
              <a:r>
                <a:rPr lang="en-US" sz="1120" b="1" dirty="0">
                  <a:solidFill>
                    <a:srgbClr val="5B6475"/>
                  </a:solidFill>
                  <a:latin typeface="+mn-lt"/>
                  <a:ea typeface="+mn-ea"/>
                  <a:cs typeface="+mn-cs"/>
                </a:rPr>
                <a:t>I</a:t>
              </a:r>
            </a:p>
          </p:txBody>
        </p:sp>
        <p:sp>
          <p:nvSpPr>
            <p:cNvPr id="27" name="TextBox 27"/>
            <p:cNvSpPr txBox="1"/>
            <p:nvPr/>
          </p:nvSpPr>
          <p:spPr>
            <a:xfrm>
              <a:off x="1242733" y="2375059"/>
              <a:ext cx="312979" cy="220028"/>
            </a:xfrm>
            <a:prstGeom prst="rect">
              <a:avLst/>
            </a:prstGeom>
            <a:noFill/>
            <a:ln>
              <a:noFill/>
            </a:ln>
          </p:spPr>
          <p:txBody>
            <a:bodyPr wrap="none" lIns="0" tIns="0" rIns="0" bIns="0" anchor="t" anchorCtr="0">
              <a:spAutoFit/>
            </a:bodyPr>
            <a:lstStyle/>
            <a:p>
              <a:pPr algn="ctr"/>
              <a:r>
                <a:rPr lang="zh-CN" sz="1120" b="1" dirty="0">
                  <a:solidFill>
                    <a:srgbClr val="5B6475"/>
                  </a:solidFill>
                  <a:latin typeface="+mn-lt"/>
                  <a:ea typeface="+mn-ea"/>
                  <a:cs typeface="+mn-cs"/>
                </a:rPr>
                <a:t>无效</a:t>
              </a:r>
            </a:p>
          </p:txBody>
        </p:sp>
        <p:sp>
          <p:nvSpPr>
            <p:cNvPr id="28" name="TextBox 28"/>
            <p:cNvSpPr txBox="1"/>
            <p:nvPr/>
          </p:nvSpPr>
          <p:spPr>
            <a:xfrm>
              <a:off x="5026062" y="2196941"/>
              <a:ext cx="103431" cy="220028"/>
            </a:xfrm>
            <a:prstGeom prst="rect">
              <a:avLst/>
            </a:prstGeom>
            <a:noFill/>
            <a:ln>
              <a:noFill/>
            </a:ln>
          </p:spPr>
          <p:txBody>
            <a:bodyPr wrap="none" lIns="0" tIns="0" rIns="0" bIns="0" anchor="t" anchorCtr="0">
              <a:spAutoFit/>
            </a:bodyPr>
            <a:lstStyle/>
            <a:p>
              <a:pPr algn="ctr"/>
              <a:r>
                <a:rPr lang="en-US" sz="1120" b="1" dirty="0">
                  <a:solidFill>
                    <a:srgbClr val="FFFFFF"/>
                  </a:solidFill>
                  <a:latin typeface="+mn-lt"/>
                  <a:ea typeface="+mn-ea"/>
                  <a:cs typeface="+mn-cs"/>
                </a:rPr>
                <a:t>S</a:t>
              </a:r>
            </a:p>
          </p:txBody>
        </p:sp>
        <p:sp>
          <p:nvSpPr>
            <p:cNvPr id="29" name="TextBox 29"/>
            <p:cNvSpPr txBox="1"/>
            <p:nvPr/>
          </p:nvSpPr>
          <p:spPr>
            <a:xfrm>
              <a:off x="4921288" y="2375059"/>
              <a:ext cx="312979"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共享</a:t>
              </a:r>
            </a:p>
          </p:txBody>
        </p:sp>
        <p:sp>
          <p:nvSpPr>
            <p:cNvPr id="30" name="TextBox 30"/>
            <p:cNvSpPr txBox="1"/>
            <p:nvPr/>
          </p:nvSpPr>
          <p:spPr>
            <a:xfrm>
              <a:off x="3170057" y="3860959"/>
              <a:ext cx="136886" cy="220028"/>
            </a:xfrm>
            <a:prstGeom prst="rect">
              <a:avLst/>
            </a:prstGeom>
            <a:noFill/>
            <a:ln>
              <a:noFill/>
            </a:ln>
          </p:spPr>
          <p:txBody>
            <a:bodyPr wrap="none" lIns="0" tIns="0" rIns="0" bIns="0" anchor="t" anchorCtr="0">
              <a:spAutoFit/>
            </a:bodyPr>
            <a:lstStyle/>
            <a:p>
              <a:pPr algn="ctr"/>
              <a:r>
                <a:rPr lang="en-US" sz="1120" b="1" dirty="0">
                  <a:solidFill>
                    <a:srgbClr val="1F2937"/>
                  </a:solidFill>
                  <a:latin typeface="+mn-lt"/>
                  <a:ea typeface="+mn-ea"/>
                  <a:cs typeface="+mn-cs"/>
                </a:rPr>
                <a:t>M</a:t>
              </a:r>
            </a:p>
          </p:txBody>
        </p:sp>
        <p:sp>
          <p:nvSpPr>
            <p:cNvPr id="31" name="TextBox 31"/>
            <p:cNvSpPr txBox="1"/>
            <p:nvPr/>
          </p:nvSpPr>
          <p:spPr>
            <a:xfrm>
              <a:off x="3082011" y="4040029"/>
              <a:ext cx="312979" cy="220028"/>
            </a:xfrm>
            <a:prstGeom prst="rect">
              <a:avLst/>
            </a:prstGeom>
            <a:noFill/>
            <a:ln>
              <a:noFill/>
            </a:ln>
          </p:spPr>
          <p:txBody>
            <a:bodyPr wrap="none" lIns="0" tIns="0" rIns="0" bIns="0" anchor="t" anchorCtr="0">
              <a:spAutoFit/>
            </a:bodyPr>
            <a:lstStyle/>
            <a:p>
              <a:pPr algn="ctr"/>
              <a:r>
                <a:rPr lang="zh-CN" sz="1120" b="1" dirty="0">
                  <a:solidFill>
                    <a:srgbClr val="1F2937"/>
                  </a:solidFill>
                  <a:latin typeface="+mn-lt"/>
                  <a:ea typeface="+mn-ea"/>
                  <a:cs typeface="+mn-cs"/>
                </a:rPr>
                <a:t>修改</a:t>
              </a:r>
            </a:p>
          </p:txBody>
        </p:sp>
        <p:sp>
          <p:nvSpPr>
            <p:cNvPr id="32" name="Rectangle 32"/>
            <p:cNvSpPr/>
            <p:nvPr/>
          </p:nvSpPr>
          <p:spPr>
            <a:xfrm>
              <a:off x="2662238" y="2263140"/>
              <a:ext cx="1152525" cy="173355"/>
            </a:xfrm>
            <a:prstGeom prst="roundRect">
              <a:avLst>
                <a:gd name="adj" fmla="val 21978"/>
              </a:avLst>
            </a:prstGeom>
            <a:solidFill>
              <a:srgbClr val="FFFFFF"/>
            </a:solidFill>
            <a:ln>
              <a:noFill/>
            </a:ln>
          </p:spPr>
        </p:sp>
        <p:sp>
          <p:nvSpPr>
            <p:cNvPr id="33" name="TextBox 33"/>
            <p:cNvSpPr txBox="1"/>
            <p:nvPr/>
          </p:nvSpPr>
          <p:spPr>
            <a:xfrm>
              <a:off x="2651261" y="2297906"/>
              <a:ext cx="1174478" cy="190690"/>
            </a:xfrm>
            <a:prstGeom prst="rect">
              <a:avLst/>
            </a:prstGeom>
            <a:noFill/>
            <a:ln>
              <a:noFill/>
            </a:ln>
          </p:spPr>
          <p:txBody>
            <a:bodyPr wrap="none" lIns="0" tIns="0" rIns="0" bIns="0" anchor="t" anchorCtr="0">
              <a:spAutoFit/>
            </a:bodyPr>
            <a:lstStyle/>
            <a:p>
              <a:pPr algn="ctr"/>
              <a:r>
                <a:rPr lang="zh-CN" sz="980" dirty="0">
                  <a:solidFill>
                    <a:srgbClr val="C2410C"/>
                  </a:solidFill>
                  <a:latin typeface="+mn-lt"/>
                  <a:ea typeface="+mn-ea"/>
                  <a:cs typeface="+mn-cs"/>
                </a:rPr>
                <a:t>CPU 读 / 发 RdMiss</a:t>
              </a:r>
            </a:p>
          </p:txBody>
        </p:sp>
        <p:sp>
          <p:nvSpPr>
            <p:cNvPr id="34" name="Rectangle 34"/>
            <p:cNvSpPr/>
            <p:nvPr/>
          </p:nvSpPr>
          <p:spPr>
            <a:xfrm>
              <a:off x="2761298" y="1958340"/>
              <a:ext cx="953452" cy="173355"/>
            </a:xfrm>
            <a:prstGeom prst="roundRect">
              <a:avLst>
                <a:gd name="adj" fmla="val 21978"/>
              </a:avLst>
            </a:prstGeom>
            <a:solidFill>
              <a:srgbClr val="FFFFFF"/>
            </a:solidFill>
            <a:ln>
              <a:noFill/>
            </a:ln>
          </p:spPr>
        </p:sp>
        <p:sp>
          <p:nvSpPr>
            <p:cNvPr id="35" name="TextBox 35"/>
            <p:cNvSpPr txBox="1"/>
            <p:nvPr/>
          </p:nvSpPr>
          <p:spPr>
            <a:xfrm>
              <a:off x="2766617" y="1993106"/>
              <a:ext cx="943767" cy="190690"/>
            </a:xfrm>
            <a:prstGeom prst="rect">
              <a:avLst/>
            </a:prstGeom>
            <a:noFill/>
            <a:ln>
              <a:noFill/>
            </a:ln>
          </p:spPr>
          <p:txBody>
            <a:bodyPr wrap="none" lIns="0" tIns="0" rIns="0" bIns="0" anchor="t" anchorCtr="0">
              <a:spAutoFit/>
            </a:bodyPr>
            <a:lstStyle/>
            <a:p>
              <a:pPr algn="ctr"/>
              <a:r>
                <a:rPr lang="zh-CN" sz="980" dirty="0">
                  <a:solidFill>
                    <a:srgbClr val="C2410C"/>
                  </a:solidFill>
                  <a:latin typeface="+mn-lt"/>
                  <a:ea typeface="+mn-ea"/>
                  <a:cs typeface="+mn-cs"/>
                </a:rPr>
                <a:t>收到 Invalidate</a:t>
              </a:r>
            </a:p>
          </p:txBody>
        </p:sp>
        <p:sp>
          <p:nvSpPr>
            <p:cNvPr id="36" name="Rectangle 36"/>
            <p:cNvSpPr/>
            <p:nvPr/>
          </p:nvSpPr>
          <p:spPr>
            <a:xfrm>
              <a:off x="1729740" y="3095625"/>
              <a:ext cx="1177290" cy="173355"/>
            </a:xfrm>
            <a:prstGeom prst="roundRect">
              <a:avLst>
                <a:gd name="adj" fmla="val 21978"/>
              </a:avLst>
            </a:prstGeom>
            <a:solidFill>
              <a:srgbClr val="FFFFFF"/>
            </a:solidFill>
            <a:ln>
              <a:noFill/>
            </a:ln>
          </p:spPr>
        </p:sp>
        <p:sp>
          <p:nvSpPr>
            <p:cNvPr id="37" name="TextBox 37"/>
            <p:cNvSpPr txBox="1"/>
            <p:nvPr/>
          </p:nvSpPr>
          <p:spPr>
            <a:xfrm>
              <a:off x="1717704" y="3130391"/>
              <a:ext cx="1201362" cy="190690"/>
            </a:xfrm>
            <a:prstGeom prst="rect">
              <a:avLst/>
            </a:prstGeom>
            <a:noFill/>
            <a:ln>
              <a:noFill/>
            </a:ln>
          </p:spPr>
          <p:txBody>
            <a:bodyPr wrap="none" lIns="0" tIns="0" rIns="0" bIns="0" anchor="t" anchorCtr="0">
              <a:spAutoFit/>
            </a:bodyPr>
            <a:lstStyle/>
            <a:p>
              <a:pPr algn="ctr"/>
              <a:r>
                <a:rPr lang="zh-CN" sz="980" dirty="0">
                  <a:solidFill>
                    <a:srgbClr val="C2410C"/>
                  </a:solidFill>
                  <a:latin typeface="+mn-lt"/>
                  <a:ea typeface="+mn-ea"/>
                  <a:cs typeface="+mn-cs"/>
                </a:rPr>
                <a:t>CPU 写 / 发 WtMiss</a:t>
              </a:r>
            </a:p>
          </p:txBody>
        </p:sp>
        <p:sp>
          <p:nvSpPr>
            <p:cNvPr id="38" name="Rectangle 38"/>
            <p:cNvSpPr/>
            <p:nvPr/>
          </p:nvSpPr>
          <p:spPr>
            <a:xfrm>
              <a:off x="1573530" y="2791778"/>
              <a:ext cx="1457325" cy="173355"/>
            </a:xfrm>
            <a:prstGeom prst="roundRect">
              <a:avLst>
                <a:gd name="adj" fmla="val 21978"/>
              </a:avLst>
            </a:prstGeom>
            <a:solidFill>
              <a:srgbClr val="FFFFFF"/>
            </a:solidFill>
            <a:ln>
              <a:noFill/>
            </a:ln>
          </p:spPr>
        </p:sp>
        <p:sp>
          <p:nvSpPr>
            <p:cNvPr id="39" name="TextBox 39"/>
            <p:cNvSpPr txBox="1"/>
            <p:nvPr/>
          </p:nvSpPr>
          <p:spPr>
            <a:xfrm>
              <a:off x="1557200" y="2826544"/>
              <a:ext cx="1489984" cy="190690"/>
            </a:xfrm>
            <a:prstGeom prst="rect">
              <a:avLst/>
            </a:prstGeom>
            <a:noFill/>
            <a:ln>
              <a:noFill/>
            </a:ln>
          </p:spPr>
          <p:txBody>
            <a:bodyPr wrap="none" lIns="0" tIns="0" rIns="0" bIns="0" anchor="t" anchorCtr="0">
              <a:spAutoFit/>
            </a:bodyPr>
            <a:lstStyle/>
            <a:p>
              <a:pPr algn="ctr"/>
              <a:r>
                <a:rPr lang="zh-CN" sz="980" dirty="0">
                  <a:solidFill>
                    <a:srgbClr val="C2410C"/>
                  </a:solidFill>
                  <a:latin typeface="+mn-lt"/>
                  <a:ea typeface="+mn-ea"/>
                  <a:cs typeface="+mn-cs"/>
                </a:rPr>
                <a:t>收到 FetchI / 发 Update</a:t>
              </a:r>
            </a:p>
          </p:txBody>
        </p:sp>
        <p:sp>
          <p:nvSpPr>
            <p:cNvPr id="40" name="Rectangle 40"/>
            <p:cNvSpPr/>
            <p:nvPr/>
          </p:nvSpPr>
          <p:spPr>
            <a:xfrm>
              <a:off x="3485198" y="3095625"/>
              <a:ext cx="1345882" cy="173355"/>
            </a:xfrm>
            <a:prstGeom prst="roundRect">
              <a:avLst>
                <a:gd name="adj" fmla="val 21978"/>
              </a:avLst>
            </a:prstGeom>
            <a:solidFill>
              <a:srgbClr val="FFFFFF"/>
            </a:solidFill>
            <a:ln>
              <a:noFill/>
            </a:ln>
          </p:spPr>
        </p:sp>
        <p:sp>
          <p:nvSpPr>
            <p:cNvPr id="41" name="TextBox 41"/>
            <p:cNvSpPr txBox="1"/>
            <p:nvPr/>
          </p:nvSpPr>
          <p:spPr>
            <a:xfrm>
              <a:off x="3478946" y="3130391"/>
              <a:ext cx="1359339" cy="190690"/>
            </a:xfrm>
            <a:prstGeom prst="rect">
              <a:avLst/>
            </a:prstGeom>
            <a:noFill/>
            <a:ln>
              <a:noFill/>
            </a:ln>
          </p:spPr>
          <p:txBody>
            <a:bodyPr wrap="none" lIns="0" tIns="0" rIns="0" bIns="0" anchor="t" anchorCtr="0">
              <a:spAutoFit/>
            </a:bodyPr>
            <a:lstStyle/>
            <a:p>
              <a:pPr algn="ctr"/>
              <a:r>
                <a:rPr lang="zh-CN" sz="980" dirty="0">
                  <a:solidFill>
                    <a:srgbClr val="C2410C"/>
                  </a:solidFill>
                  <a:latin typeface="+mn-lt"/>
                  <a:ea typeface="+mn-ea"/>
                  <a:cs typeface="+mn-cs"/>
                </a:rPr>
                <a:t>写命中 / 发 Invalidate</a:t>
              </a:r>
            </a:p>
          </p:txBody>
        </p:sp>
        <p:sp>
          <p:nvSpPr>
            <p:cNvPr id="42" name="Rectangle 42"/>
            <p:cNvSpPr/>
            <p:nvPr/>
          </p:nvSpPr>
          <p:spPr>
            <a:xfrm>
              <a:off x="3396615" y="3399472"/>
              <a:ext cx="1488758" cy="173355"/>
            </a:xfrm>
            <a:prstGeom prst="roundRect">
              <a:avLst>
                <a:gd name="adj" fmla="val 21978"/>
              </a:avLst>
            </a:prstGeom>
            <a:solidFill>
              <a:srgbClr val="FFFFFF"/>
            </a:solidFill>
            <a:ln>
              <a:noFill/>
            </a:ln>
          </p:spPr>
        </p:sp>
        <p:sp>
          <p:nvSpPr>
            <p:cNvPr id="43" name="TextBox 43"/>
            <p:cNvSpPr txBox="1"/>
            <p:nvPr/>
          </p:nvSpPr>
          <p:spPr>
            <a:xfrm>
              <a:off x="3379676" y="3433286"/>
              <a:ext cx="1523589" cy="190690"/>
            </a:xfrm>
            <a:prstGeom prst="rect">
              <a:avLst/>
            </a:prstGeom>
            <a:noFill/>
            <a:ln>
              <a:noFill/>
            </a:ln>
          </p:spPr>
          <p:txBody>
            <a:bodyPr wrap="none" lIns="0" tIns="0" rIns="0" bIns="0" anchor="t" anchorCtr="0">
              <a:spAutoFit/>
            </a:bodyPr>
            <a:lstStyle/>
            <a:p>
              <a:pPr algn="ctr"/>
              <a:r>
                <a:rPr lang="zh-CN" sz="980" dirty="0">
                  <a:solidFill>
                    <a:srgbClr val="C2410C"/>
                  </a:solidFill>
                  <a:latin typeface="+mn-lt"/>
                  <a:ea typeface="+mn-ea"/>
                  <a:cs typeface="+mn-cs"/>
                </a:rPr>
                <a:t>收到 FetchS / 发 Update</a:t>
              </a:r>
            </a:p>
          </p:txBody>
        </p:sp>
        <p:sp>
          <p:nvSpPr>
            <p:cNvPr id="44" name="TextBox 44"/>
            <p:cNvSpPr txBox="1"/>
            <p:nvPr/>
          </p:nvSpPr>
          <p:spPr>
            <a:xfrm>
              <a:off x="4874933" y="1441609"/>
              <a:ext cx="405689" cy="190690"/>
            </a:xfrm>
            <a:prstGeom prst="rect">
              <a:avLst/>
            </a:prstGeom>
            <a:noFill/>
            <a:ln>
              <a:noFill/>
            </a:ln>
          </p:spPr>
          <p:txBody>
            <a:bodyPr wrap="none" lIns="0" tIns="0" rIns="0" bIns="0" anchor="t" anchorCtr="0">
              <a:spAutoFit/>
            </a:bodyPr>
            <a:lstStyle/>
            <a:p>
              <a:pPr algn="ctr"/>
              <a:r>
                <a:rPr lang="zh-CN" sz="980" dirty="0">
                  <a:solidFill>
                    <a:srgbClr val="C2410C"/>
                  </a:solidFill>
                  <a:latin typeface="+mn-lt"/>
                  <a:ea typeface="+mn-ea"/>
                  <a:cs typeface="+mn-cs"/>
                </a:rPr>
                <a:t>读命中</a:t>
              </a:r>
            </a:p>
          </p:txBody>
        </p:sp>
        <p:sp>
          <p:nvSpPr>
            <p:cNvPr id="45" name="TextBox 45"/>
            <p:cNvSpPr txBox="1"/>
            <p:nvPr/>
          </p:nvSpPr>
          <p:spPr>
            <a:xfrm>
              <a:off x="2969692" y="4819174"/>
              <a:ext cx="537616" cy="190690"/>
            </a:xfrm>
            <a:prstGeom prst="rect">
              <a:avLst/>
            </a:prstGeom>
            <a:noFill/>
            <a:ln>
              <a:noFill/>
            </a:ln>
          </p:spPr>
          <p:txBody>
            <a:bodyPr wrap="none" lIns="0" tIns="0" rIns="0" bIns="0" anchor="t" anchorCtr="0">
              <a:spAutoFit/>
            </a:bodyPr>
            <a:lstStyle/>
            <a:p>
              <a:pPr algn="ctr"/>
              <a:r>
                <a:rPr lang="zh-CN" sz="980" dirty="0">
                  <a:solidFill>
                    <a:srgbClr val="C2410C"/>
                  </a:solidFill>
                  <a:latin typeface="+mn-lt"/>
                  <a:ea typeface="+mn-ea"/>
                  <a:cs typeface="+mn-cs"/>
                </a:rPr>
                <a:t>读写命中</a:t>
              </a:r>
            </a:p>
          </p:txBody>
        </p:sp>
      </p:grpSp>
      <p:grpSp>
        <p:nvGrpSpPr>
          <p:cNvPr id="48" name="c1-text-2"/>
          <p:cNvGrpSpPr/>
          <p:nvPr/>
        </p:nvGrpSpPr>
        <p:grpSpPr>
          <a:xfrm>
            <a:off x="527685" y="5184934"/>
            <a:ext cx="3930085" cy="220028"/>
            <a:chOff x="527685" y="5184934"/>
            <a:chExt cx="3930085" cy="220028"/>
          </a:xfrm>
        </p:grpSpPr>
        <p:sp>
          <p:nvSpPr>
            <p:cNvPr id="47" name="TextBox 47"/>
            <p:cNvSpPr txBox="1"/>
            <p:nvPr/>
          </p:nvSpPr>
          <p:spPr>
            <a:xfrm>
              <a:off x="527685" y="5184934"/>
              <a:ext cx="3930085" cy="220028"/>
            </a:xfrm>
            <a:prstGeom prst="rect">
              <a:avLst/>
            </a:prstGeom>
            <a:noFill/>
            <a:ln>
              <a:noFill/>
            </a:ln>
          </p:spPr>
          <p:txBody>
            <a:bodyPr wrap="none" lIns="0" tIns="0" rIns="0" bIns="0" anchor="t" anchorCtr="0">
              <a:spAutoFit/>
            </a:bodyPr>
            <a:lstStyle/>
            <a:p>
              <a:pPr algn="l"/>
              <a:r>
                <a:rPr lang="zh-CN" sz="1120" dirty="0">
                  <a:solidFill>
                    <a:srgbClr val="5B6475"/>
                  </a:solidFill>
                  <a:latin typeface="+mn-lt"/>
                  <a:ea typeface="+mn-ea"/>
                  <a:cs typeface="+mn-cs"/>
                </a:rPr>
                <a:t>Cache 端：I、S、M 三个状态，外来消息都来自目录节点 B</a:t>
              </a:r>
            </a:p>
          </p:txBody>
        </p:sp>
      </p:grpSp>
      <p:grpSp>
        <p:nvGrpSpPr>
          <p:cNvPr id="88" name="c2-graph-1"/>
          <p:cNvGrpSpPr/>
          <p:nvPr/>
        </p:nvGrpSpPr>
        <p:grpSpPr>
          <a:xfrm>
            <a:off x="6771322" y="1441609"/>
            <a:ext cx="4589404" cy="3568255"/>
            <a:chOff x="6771322" y="1441609"/>
            <a:chExt cx="4589404" cy="3568255"/>
          </a:xfrm>
        </p:grpSpPr>
        <p:sp>
          <p:nvSpPr>
            <p:cNvPr id="49" name="Freeform 49"/>
            <p:cNvSpPr/>
            <p:nvPr/>
          </p:nvSpPr>
          <p:spPr>
            <a:xfrm>
              <a:off x="7466648" y="2356485"/>
              <a:ext cx="2878455" cy="9525"/>
            </a:xfrm>
            <a:custGeom>
              <a:avLst/>
              <a:gdLst/>
              <a:ahLst/>
              <a:cxnLst/>
              <a:rect l="l" t="t" r="r" b="b"/>
              <a:pathLst>
                <a:path w="2878455" h="9525">
                  <a:moveTo>
                    <a:pt x="0" y="0"/>
                  </a:moveTo>
                  <a:lnTo>
                    <a:pt x="2878455" y="0"/>
                  </a:lnTo>
                </a:path>
              </a:pathLst>
            </a:custGeom>
            <a:noFill/>
            <a:ln w="17145">
              <a:solidFill>
                <a:srgbClr val="1F2937"/>
              </a:solidFill>
            </a:ln>
          </p:spPr>
        </p:sp>
        <p:sp>
          <p:nvSpPr>
            <p:cNvPr id="50" name="Freeform 50"/>
            <p:cNvSpPr/>
            <p:nvPr/>
          </p:nvSpPr>
          <p:spPr>
            <a:xfrm>
              <a:off x="10345102" y="2308860"/>
              <a:ext cx="95250" cy="95250"/>
            </a:xfrm>
            <a:custGeom>
              <a:avLst/>
              <a:gdLst/>
              <a:ahLst/>
              <a:cxnLst/>
              <a:rect l="l" t="t" r="r" b="b"/>
              <a:pathLst>
                <a:path w="95250" h="95250">
                  <a:moveTo>
                    <a:pt x="95250" y="47625"/>
                  </a:moveTo>
                  <a:lnTo>
                    <a:pt x="0" y="95250"/>
                  </a:lnTo>
                  <a:lnTo>
                    <a:pt x="0" y="0"/>
                  </a:lnTo>
                  <a:close/>
                </a:path>
              </a:pathLst>
            </a:custGeom>
            <a:solidFill>
              <a:srgbClr val="1F2937"/>
            </a:solidFill>
            <a:ln>
              <a:noFill/>
            </a:ln>
          </p:spPr>
        </p:sp>
        <p:sp>
          <p:nvSpPr>
            <p:cNvPr id="51" name="Freeform 51"/>
            <p:cNvSpPr/>
            <p:nvPr/>
          </p:nvSpPr>
          <p:spPr>
            <a:xfrm>
              <a:off x="7544752" y="1972628"/>
              <a:ext cx="2908935" cy="288608"/>
            </a:xfrm>
            <a:custGeom>
              <a:avLst/>
              <a:gdLst/>
              <a:ahLst/>
              <a:cxnLst/>
              <a:rect l="l" t="t" r="r" b="b"/>
              <a:pathLst>
                <a:path w="2908935" h="288608">
                  <a:moveTo>
                    <a:pt x="2908935" y="288608"/>
                  </a:moveTo>
                  <a:cubicBezTo>
                    <a:pt x="1908810" y="8573"/>
                    <a:pt x="939165" y="0"/>
                    <a:pt x="0" y="262890"/>
                  </a:cubicBezTo>
                </a:path>
              </a:pathLst>
            </a:custGeom>
            <a:noFill/>
            <a:ln w="17145">
              <a:solidFill>
                <a:srgbClr val="1F2937"/>
              </a:solidFill>
            </a:ln>
          </p:spPr>
        </p:sp>
        <p:sp>
          <p:nvSpPr>
            <p:cNvPr id="52" name="Freeform 52"/>
            <p:cNvSpPr/>
            <p:nvPr/>
          </p:nvSpPr>
          <p:spPr>
            <a:xfrm>
              <a:off x="7453312" y="2189798"/>
              <a:ext cx="104775" cy="91440"/>
            </a:xfrm>
            <a:custGeom>
              <a:avLst/>
              <a:gdLst/>
              <a:ahLst/>
              <a:cxnLst/>
              <a:rect l="l" t="t" r="r" b="b"/>
              <a:pathLst>
                <a:path w="104775" h="91440">
                  <a:moveTo>
                    <a:pt x="0" y="71438"/>
                  </a:moveTo>
                  <a:lnTo>
                    <a:pt x="79057" y="0"/>
                  </a:lnTo>
                  <a:lnTo>
                    <a:pt x="104775" y="91440"/>
                  </a:lnTo>
                  <a:close/>
                </a:path>
              </a:pathLst>
            </a:custGeom>
            <a:solidFill>
              <a:srgbClr val="1F2937"/>
            </a:solidFill>
            <a:ln>
              <a:noFill/>
            </a:ln>
          </p:spPr>
        </p:sp>
        <p:sp>
          <p:nvSpPr>
            <p:cNvPr id="53" name="Freeform 53"/>
            <p:cNvSpPr/>
            <p:nvPr/>
          </p:nvSpPr>
          <p:spPr>
            <a:xfrm>
              <a:off x="7375208" y="2592705"/>
              <a:ext cx="1245870" cy="1126808"/>
            </a:xfrm>
            <a:custGeom>
              <a:avLst/>
              <a:gdLst/>
              <a:ahLst/>
              <a:cxnLst/>
              <a:rect l="l" t="t" r="r" b="b"/>
              <a:pathLst>
                <a:path w="1245870" h="1126808">
                  <a:moveTo>
                    <a:pt x="0" y="0"/>
                  </a:moveTo>
                  <a:lnTo>
                    <a:pt x="1245870" y="1126808"/>
                  </a:lnTo>
                </a:path>
              </a:pathLst>
            </a:custGeom>
            <a:noFill/>
            <a:ln w="17145">
              <a:solidFill>
                <a:srgbClr val="1F2937"/>
              </a:solidFill>
            </a:ln>
          </p:spPr>
        </p:sp>
        <p:sp>
          <p:nvSpPr>
            <p:cNvPr id="54" name="Freeform 54"/>
            <p:cNvSpPr/>
            <p:nvPr/>
          </p:nvSpPr>
          <p:spPr>
            <a:xfrm>
              <a:off x="8589645" y="3684270"/>
              <a:ext cx="102870" cy="100012"/>
            </a:xfrm>
            <a:custGeom>
              <a:avLst/>
              <a:gdLst/>
              <a:ahLst/>
              <a:cxnLst/>
              <a:rect l="l" t="t" r="r" b="b"/>
              <a:pathLst>
                <a:path w="102870" h="100012">
                  <a:moveTo>
                    <a:pt x="102870" y="100012"/>
                  </a:moveTo>
                  <a:lnTo>
                    <a:pt x="0" y="71438"/>
                  </a:lnTo>
                  <a:lnTo>
                    <a:pt x="63818" y="0"/>
                  </a:lnTo>
                  <a:close/>
                </a:path>
              </a:pathLst>
            </a:custGeom>
            <a:solidFill>
              <a:srgbClr val="1F2937"/>
            </a:solidFill>
            <a:ln>
              <a:noFill/>
            </a:ln>
          </p:spPr>
        </p:sp>
        <p:sp>
          <p:nvSpPr>
            <p:cNvPr id="55" name="Freeform 55"/>
            <p:cNvSpPr/>
            <p:nvPr/>
          </p:nvSpPr>
          <p:spPr>
            <a:xfrm>
              <a:off x="7514272" y="2555558"/>
              <a:ext cx="1251585" cy="1166812"/>
            </a:xfrm>
            <a:custGeom>
              <a:avLst/>
              <a:gdLst/>
              <a:ahLst/>
              <a:cxnLst/>
              <a:rect l="l" t="t" r="r" b="b"/>
              <a:pathLst>
                <a:path w="1251585" h="1166812">
                  <a:moveTo>
                    <a:pt x="1251585" y="1166812"/>
                  </a:moveTo>
                  <a:cubicBezTo>
                    <a:pt x="918845" y="639127"/>
                    <a:pt x="501650" y="250190"/>
                    <a:pt x="0" y="0"/>
                  </a:cubicBezTo>
                </a:path>
              </a:pathLst>
            </a:custGeom>
            <a:noFill/>
            <a:ln w="17145">
              <a:solidFill>
                <a:srgbClr val="1F2937"/>
              </a:solidFill>
            </a:ln>
          </p:spPr>
        </p:sp>
        <p:sp>
          <p:nvSpPr>
            <p:cNvPr id="56" name="Freeform 56"/>
            <p:cNvSpPr/>
            <p:nvPr/>
          </p:nvSpPr>
          <p:spPr>
            <a:xfrm>
              <a:off x="7429500" y="2513648"/>
              <a:ext cx="106680" cy="84773"/>
            </a:xfrm>
            <a:custGeom>
              <a:avLst/>
              <a:gdLst/>
              <a:ahLst/>
              <a:cxnLst/>
              <a:rect l="l" t="t" r="r" b="b"/>
              <a:pathLst>
                <a:path w="106680" h="84773">
                  <a:moveTo>
                    <a:pt x="0" y="0"/>
                  </a:moveTo>
                  <a:lnTo>
                    <a:pt x="106680" y="0"/>
                  </a:lnTo>
                  <a:lnTo>
                    <a:pt x="63818" y="84773"/>
                  </a:lnTo>
                  <a:close/>
                </a:path>
              </a:pathLst>
            </a:custGeom>
            <a:solidFill>
              <a:srgbClr val="1F2937"/>
            </a:solidFill>
            <a:ln>
              <a:noFill/>
            </a:ln>
          </p:spPr>
        </p:sp>
        <p:sp>
          <p:nvSpPr>
            <p:cNvPr id="57" name="Freeform 57"/>
            <p:cNvSpPr/>
            <p:nvPr/>
          </p:nvSpPr>
          <p:spPr>
            <a:xfrm>
              <a:off x="9285922" y="2592705"/>
              <a:ext cx="1245870" cy="1126808"/>
            </a:xfrm>
            <a:custGeom>
              <a:avLst/>
              <a:gdLst/>
              <a:ahLst/>
              <a:cxnLst/>
              <a:rect l="l" t="t" r="r" b="b"/>
              <a:pathLst>
                <a:path w="1245870" h="1126808">
                  <a:moveTo>
                    <a:pt x="1245870" y="0"/>
                  </a:moveTo>
                  <a:lnTo>
                    <a:pt x="0" y="1126808"/>
                  </a:lnTo>
                </a:path>
              </a:pathLst>
            </a:custGeom>
            <a:noFill/>
            <a:ln w="17145">
              <a:solidFill>
                <a:srgbClr val="1F2937"/>
              </a:solidFill>
            </a:ln>
          </p:spPr>
        </p:sp>
        <p:sp>
          <p:nvSpPr>
            <p:cNvPr id="58" name="Freeform 58"/>
            <p:cNvSpPr/>
            <p:nvPr/>
          </p:nvSpPr>
          <p:spPr>
            <a:xfrm>
              <a:off x="9214485" y="3684270"/>
              <a:ext cx="102870" cy="100012"/>
            </a:xfrm>
            <a:custGeom>
              <a:avLst/>
              <a:gdLst/>
              <a:ahLst/>
              <a:cxnLst/>
              <a:rect l="l" t="t" r="r" b="b"/>
              <a:pathLst>
                <a:path w="102870" h="100012">
                  <a:moveTo>
                    <a:pt x="0" y="100012"/>
                  </a:moveTo>
                  <a:lnTo>
                    <a:pt x="39053" y="0"/>
                  </a:lnTo>
                  <a:lnTo>
                    <a:pt x="102870" y="71438"/>
                  </a:lnTo>
                  <a:close/>
                </a:path>
              </a:pathLst>
            </a:custGeom>
            <a:solidFill>
              <a:srgbClr val="1F2937"/>
            </a:solidFill>
            <a:ln>
              <a:noFill/>
            </a:ln>
          </p:spPr>
        </p:sp>
        <p:sp>
          <p:nvSpPr>
            <p:cNvPr id="59" name="Freeform 59"/>
            <p:cNvSpPr/>
            <p:nvPr/>
          </p:nvSpPr>
          <p:spPr>
            <a:xfrm>
              <a:off x="9268778" y="2734628"/>
              <a:ext cx="1285875" cy="1128712"/>
            </a:xfrm>
            <a:custGeom>
              <a:avLst/>
              <a:gdLst/>
              <a:ahLst/>
              <a:cxnLst/>
              <a:rect l="l" t="t" r="r" b="b"/>
              <a:pathLst>
                <a:path w="1285875" h="1128712">
                  <a:moveTo>
                    <a:pt x="0" y="1128712"/>
                  </a:moveTo>
                  <a:cubicBezTo>
                    <a:pt x="558165" y="850583"/>
                    <a:pt x="986790" y="474345"/>
                    <a:pt x="1285875" y="0"/>
                  </a:cubicBezTo>
                </a:path>
              </a:pathLst>
            </a:custGeom>
            <a:noFill/>
            <a:ln w="17145">
              <a:solidFill>
                <a:srgbClr val="1F2937"/>
              </a:solidFill>
            </a:ln>
          </p:spPr>
        </p:sp>
        <p:sp>
          <p:nvSpPr>
            <p:cNvPr id="60" name="Freeform 60"/>
            <p:cNvSpPr/>
            <p:nvPr/>
          </p:nvSpPr>
          <p:spPr>
            <a:xfrm>
              <a:off x="10513695" y="2654618"/>
              <a:ext cx="91440" cy="105728"/>
            </a:xfrm>
            <a:custGeom>
              <a:avLst/>
              <a:gdLst/>
              <a:ahLst/>
              <a:cxnLst/>
              <a:rect l="l" t="t" r="r" b="b"/>
              <a:pathLst>
                <a:path w="91440" h="105728">
                  <a:moveTo>
                    <a:pt x="91440" y="0"/>
                  </a:moveTo>
                  <a:lnTo>
                    <a:pt x="80962" y="105728"/>
                  </a:lnTo>
                  <a:lnTo>
                    <a:pt x="0" y="55245"/>
                  </a:lnTo>
                  <a:close/>
                </a:path>
              </a:pathLst>
            </a:custGeom>
            <a:solidFill>
              <a:srgbClr val="1F2937"/>
            </a:solidFill>
            <a:ln>
              <a:noFill/>
            </a:ln>
          </p:spPr>
        </p:sp>
        <p:sp>
          <p:nvSpPr>
            <p:cNvPr id="61" name="Freeform 61"/>
            <p:cNvSpPr/>
            <p:nvPr/>
          </p:nvSpPr>
          <p:spPr>
            <a:xfrm>
              <a:off x="10350818" y="1464945"/>
              <a:ext cx="883920" cy="548640"/>
            </a:xfrm>
            <a:custGeom>
              <a:avLst/>
              <a:gdLst/>
              <a:ahLst/>
              <a:cxnLst/>
              <a:rect l="l" t="t" r="r" b="b"/>
              <a:pathLst>
                <a:path w="883920" h="548640">
                  <a:moveTo>
                    <a:pt x="287655" y="548640"/>
                  </a:moveTo>
                  <a:cubicBezTo>
                    <a:pt x="0" y="0"/>
                    <a:pt x="883920" y="0"/>
                    <a:pt x="596265" y="548640"/>
                  </a:cubicBezTo>
                </a:path>
              </a:pathLst>
            </a:custGeom>
            <a:noFill/>
            <a:ln w="17145">
              <a:solidFill>
                <a:srgbClr val="1F2937"/>
              </a:solidFill>
            </a:ln>
          </p:spPr>
        </p:sp>
        <p:sp>
          <p:nvSpPr>
            <p:cNvPr id="62" name="Freeform 62"/>
            <p:cNvSpPr/>
            <p:nvPr/>
          </p:nvSpPr>
          <p:spPr>
            <a:xfrm>
              <a:off x="10947082" y="1917382"/>
              <a:ext cx="78105" cy="96202"/>
            </a:xfrm>
            <a:custGeom>
              <a:avLst/>
              <a:gdLst/>
              <a:ahLst/>
              <a:cxnLst/>
              <a:rect l="l" t="t" r="r" b="b"/>
              <a:pathLst>
                <a:path w="78105" h="96202">
                  <a:moveTo>
                    <a:pt x="0" y="96202"/>
                  </a:moveTo>
                  <a:lnTo>
                    <a:pt x="1905" y="0"/>
                  </a:lnTo>
                  <a:lnTo>
                    <a:pt x="78105" y="40005"/>
                  </a:lnTo>
                  <a:close/>
                </a:path>
              </a:pathLst>
            </a:custGeom>
            <a:solidFill>
              <a:srgbClr val="1F2937"/>
            </a:solidFill>
            <a:ln>
              <a:noFill/>
            </a:ln>
          </p:spPr>
        </p:sp>
        <p:sp>
          <p:nvSpPr>
            <p:cNvPr id="63" name="Freeform 63"/>
            <p:cNvSpPr/>
            <p:nvPr/>
          </p:nvSpPr>
          <p:spPr>
            <a:xfrm>
              <a:off x="8511540" y="4363402"/>
              <a:ext cx="883920" cy="548640"/>
            </a:xfrm>
            <a:custGeom>
              <a:avLst/>
              <a:gdLst/>
              <a:ahLst/>
              <a:cxnLst/>
              <a:rect l="l" t="t" r="r" b="b"/>
              <a:pathLst>
                <a:path w="883920" h="548640">
                  <a:moveTo>
                    <a:pt x="287655" y="0"/>
                  </a:moveTo>
                  <a:cubicBezTo>
                    <a:pt x="0" y="548640"/>
                    <a:pt x="883920" y="548640"/>
                    <a:pt x="596265" y="0"/>
                  </a:cubicBezTo>
                </a:path>
              </a:pathLst>
            </a:custGeom>
            <a:noFill/>
            <a:ln w="17145">
              <a:solidFill>
                <a:srgbClr val="1F2937"/>
              </a:solidFill>
            </a:ln>
          </p:spPr>
        </p:sp>
        <p:sp>
          <p:nvSpPr>
            <p:cNvPr id="64" name="Freeform 64"/>
            <p:cNvSpPr/>
            <p:nvPr/>
          </p:nvSpPr>
          <p:spPr>
            <a:xfrm>
              <a:off x="9107805" y="4363402"/>
              <a:ext cx="78105" cy="95250"/>
            </a:xfrm>
            <a:custGeom>
              <a:avLst/>
              <a:gdLst/>
              <a:ahLst/>
              <a:cxnLst/>
              <a:rect l="l" t="t" r="r" b="b"/>
              <a:pathLst>
                <a:path w="78105" h="95250">
                  <a:moveTo>
                    <a:pt x="0" y="0"/>
                  </a:moveTo>
                  <a:lnTo>
                    <a:pt x="78105" y="56197"/>
                  </a:lnTo>
                  <a:lnTo>
                    <a:pt x="1905" y="95250"/>
                  </a:lnTo>
                  <a:close/>
                </a:path>
              </a:pathLst>
            </a:custGeom>
            <a:solidFill>
              <a:srgbClr val="1F2937"/>
            </a:solidFill>
            <a:ln>
              <a:noFill/>
            </a:ln>
          </p:spPr>
        </p:sp>
        <p:sp>
          <p:nvSpPr>
            <p:cNvPr id="65" name="Ellipse 65"/>
            <p:cNvSpPr/>
            <p:nvPr/>
          </p:nvSpPr>
          <p:spPr>
            <a:xfrm>
              <a:off x="6771322" y="2013585"/>
              <a:ext cx="685800" cy="685800"/>
            </a:xfrm>
            <a:prstGeom prst="ellipse">
              <a:avLst/>
            </a:prstGeom>
            <a:solidFill>
              <a:srgbClr val="F4F6FB"/>
            </a:solidFill>
            <a:ln w="17145">
              <a:solidFill>
                <a:srgbClr val="D9DFEA"/>
              </a:solidFill>
            </a:ln>
          </p:spPr>
        </p:sp>
        <p:sp>
          <p:nvSpPr>
            <p:cNvPr id="66" name="Ellipse 66"/>
            <p:cNvSpPr/>
            <p:nvPr/>
          </p:nvSpPr>
          <p:spPr>
            <a:xfrm>
              <a:off x="10449878" y="2013585"/>
              <a:ext cx="685800" cy="685800"/>
            </a:xfrm>
            <a:prstGeom prst="ellipse">
              <a:avLst/>
            </a:prstGeom>
            <a:solidFill>
              <a:srgbClr val="334E68"/>
            </a:solidFill>
            <a:ln w="17145">
              <a:solidFill>
                <a:srgbClr val="334E68"/>
              </a:solidFill>
            </a:ln>
          </p:spPr>
        </p:sp>
        <p:sp>
          <p:nvSpPr>
            <p:cNvPr id="67" name="Ellipse 67"/>
            <p:cNvSpPr/>
            <p:nvPr/>
          </p:nvSpPr>
          <p:spPr>
            <a:xfrm>
              <a:off x="8610600" y="3677602"/>
              <a:ext cx="685800" cy="685800"/>
            </a:xfrm>
            <a:prstGeom prst="ellipse">
              <a:avLst/>
            </a:prstGeom>
            <a:solidFill>
              <a:srgbClr val="FDEEE7"/>
            </a:solidFill>
            <a:ln w="17145">
              <a:solidFill>
                <a:srgbClr val="F26B3A"/>
              </a:solidFill>
            </a:ln>
          </p:spPr>
        </p:sp>
        <p:sp>
          <p:nvSpPr>
            <p:cNvPr id="68" name="TextBox 68"/>
            <p:cNvSpPr txBox="1"/>
            <p:nvPr/>
          </p:nvSpPr>
          <p:spPr>
            <a:xfrm>
              <a:off x="7062507" y="2196941"/>
              <a:ext cx="103431" cy="220028"/>
            </a:xfrm>
            <a:prstGeom prst="rect">
              <a:avLst/>
            </a:prstGeom>
            <a:noFill/>
            <a:ln>
              <a:noFill/>
            </a:ln>
          </p:spPr>
          <p:txBody>
            <a:bodyPr wrap="none" lIns="0" tIns="0" rIns="0" bIns="0" anchor="t" anchorCtr="0">
              <a:spAutoFit/>
            </a:bodyPr>
            <a:lstStyle/>
            <a:p>
              <a:pPr algn="ctr"/>
              <a:r>
                <a:rPr lang="en-US" sz="1120" b="1" dirty="0">
                  <a:solidFill>
                    <a:srgbClr val="5B6475"/>
                  </a:solidFill>
                  <a:latin typeface="+mn-lt"/>
                  <a:ea typeface="+mn-ea"/>
                  <a:cs typeface="+mn-cs"/>
                </a:rPr>
                <a:t>U</a:t>
              </a:r>
            </a:p>
          </p:txBody>
        </p:sp>
        <p:sp>
          <p:nvSpPr>
            <p:cNvPr id="69" name="TextBox 69"/>
            <p:cNvSpPr txBox="1"/>
            <p:nvPr/>
          </p:nvSpPr>
          <p:spPr>
            <a:xfrm>
              <a:off x="6882346" y="2375059"/>
              <a:ext cx="463753" cy="220028"/>
            </a:xfrm>
            <a:prstGeom prst="rect">
              <a:avLst/>
            </a:prstGeom>
            <a:noFill/>
            <a:ln>
              <a:noFill/>
            </a:ln>
          </p:spPr>
          <p:txBody>
            <a:bodyPr wrap="none" lIns="0" tIns="0" rIns="0" bIns="0" anchor="t" anchorCtr="0">
              <a:spAutoFit/>
            </a:bodyPr>
            <a:lstStyle/>
            <a:p>
              <a:pPr algn="ctr"/>
              <a:r>
                <a:rPr lang="zh-CN" sz="1120" b="1" dirty="0">
                  <a:solidFill>
                    <a:srgbClr val="5B6475"/>
                  </a:solidFill>
                  <a:latin typeface="+mn-lt"/>
                  <a:ea typeface="+mn-ea"/>
                  <a:cs typeface="+mn-cs"/>
                </a:rPr>
                <a:t>未缓存</a:t>
              </a:r>
            </a:p>
          </p:txBody>
        </p:sp>
        <p:sp>
          <p:nvSpPr>
            <p:cNvPr id="70" name="TextBox 70"/>
            <p:cNvSpPr txBox="1"/>
            <p:nvPr/>
          </p:nvSpPr>
          <p:spPr>
            <a:xfrm>
              <a:off x="10741062" y="2196941"/>
              <a:ext cx="103431" cy="220028"/>
            </a:xfrm>
            <a:prstGeom prst="rect">
              <a:avLst/>
            </a:prstGeom>
            <a:noFill/>
            <a:ln>
              <a:noFill/>
            </a:ln>
          </p:spPr>
          <p:txBody>
            <a:bodyPr wrap="none" lIns="0" tIns="0" rIns="0" bIns="0" anchor="t" anchorCtr="0">
              <a:spAutoFit/>
            </a:bodyPr>
            <a:lstStyle/>
            <a:p>
              <a:pPr algn="ctr"/>
              <a:r>
                <a:rPr lang="en-US" sz="1120" b="1" dirty="0">
                  <a:solidFill>
                    <a:srgbClr val="FFFFFF"/>
                  </a:solidFill>
                  <a:latin typeface="+mn-lt"/>
                  <a:ea typeface="+mn-ea"/>
                  <a:cs typeface="+mn-cs"/>
                </a:rPr>
                <a:t>S</a:t>
              </a:r>
            </a:p>
          </p:txBody>
        </p:sp>
        <p:sp>
          <p:nvSpPr>
            <p:cNvPr id="71" name="TextBox 71"/>
            <p:cNvSpPr txBox="1"/>
            <p:nvPr/>
          </p:nvSpPr>
          <p:spPr>
            <a:xfrm>
              <a:off x="10636288" y="2375059"/>
              <a:ext cx="312979"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共享</a:t>
              </a:r>
            </a:p>
          </p:txBody>
        </p:sp>
        <p:sp>
          <p:nvSpPr>
            <p:cNvPr id="72" name="TextBox 72"/>
            <p:cNvSpPr txBox="1"/>
            <p:nvPr/>
          </p:nvSpPr>
          <p:spPr>
            <a:xfrm>
              <a:off x="8901785" y="3860959"/>
              <a:ext cx="103431" cy="220028"/>
            </a:xfrm>
            <a:prstGeom prst="rect">
              <a:avLst/>
            </a:prstGeom>
            <a:noFill/>
            <a:ln>
              <a:noFill/>
            </a:ln>
          </p:spPr>
          <p:txBody>
            <a:bodyPr wrap="none" lIns="0" tIns="0" rIns="0" bIns="0" anchor="t" anchorCtr="0">
              <a:spAutoFit/>
            </a:bodyPr>
            <a:lstStyle/>
            <a:p>
              <a:pPr algn="ctr"/>
              <a:r>
                <a:rPr lang="en-US" sz="1120" b="1" dirty="0">
                  <a:solidFill>
                    <a:srgbClr val="1F2937"/>
                  </a:solidFill>
                  <a:latin typeface="+mn-lt"/>
                  <a:ea typeface="+mn-ea"/>
                  <a:cs typeface="+mn-cs"/>
                </a:rPr>
                <a:t>E</a:t>
              </a:r>
            </a:p>
          </p:txBody>
        </p:sp>
        <p:sp>
          <p:nvSpPr>
            <p:cNvPr id="73" name="TextBox 73"/>
            <p:cNvSpPr txBox="1"/>
            <p:nvPr/>
          </p:nvSpPr>
          <p:spPr>
            <a:xfrm>
              <a:off x="8797011" y="4040029"/>
              <a:ext cx="312979" cy="220028"/>
            </a:xfrm>
            <a:prstGeom prst="rect">
              <a:avLst/>
            </a:prstGeom>
            <a:noFill/>
            <a:ln>
              <a:noFill/>
            </a:ln>
          </p:spPr>
          <p:txBody>
            <a:bodyPr wrap="none" lIns="0" tIns="0" rIns="0" bIns="0" anchor="t" anchorCtr="0">
              <a:spAutoFit/>
            </a:bodyPr>
            <a:lstStyle/>
            <a:p>
              <a:pPr algn="ctr"/>
              <a:r>
                <a:rPr lang="zh-CN" sz="1120" b="1" dirty="0">
                  <a:solidFill>
                    <a:srgbClr val="1F2937"/>
                  </a:solidFill>
                  <a:latin typeface="+mn-lt"/>
                  <a:ea typeface="+mn-ea"/>
                  <a:cs typeface="+mn-cs"/>
                </a:rPr>
                <a:t>独占</a:t>
              </a:r>
            </a:p>
          </p:txBody>
        </p:sp>
        <p:sp>
          <p:nvSpPr>
            <p:cNvPr id="74" name="Rectangle 74"/>
            <p:cNvSpPr/>
            <p:nvPr/>
          </p:nvSpPr>
          <p:spPr>
            <a:xfrm>
              <a:off x="8433435" y="2263140"/>
              <a:ext cx="1041082" cy="173355"/>
            </a:xfrm>
            <a:prstGeom prst="roundRect">
              <a:avLst>
                <a:gd name="adj" fmla="val 21978"/>
              </a:avLst>
            </a:prstGeom>
            <a:solidFill>
              <a:srgbClr val="FFFFFF"/>
            </a:solidFill>
            <a:ln>
              <a:noFill/>
            </a:ln>
          </p:spPr>
        </p:sp>
        <p:sp>
          <p:nvSpPr>
            <p:cNvPr id="75" name="TextBox 75"/>
            <p:cNvSpPr txBox="1"/>
            <p:nvPr/>
          </p:nvSpPr>
          <p:spPr>
            <a:xfrm>
              <a:off x="8422859" y="2297906"/>
              <a:ext cx="1061282" cy="190690"/>
            </a:xfrm>
            <a:prstGeom prst="rect">
              <a:avLst/>
            </a:prstGeom>
            <a:noFill/>
            <a:ln>
              <a:noFill/>
            </a:ln>
          </p:spPr>
          <p:txBody>
            <a:bodyPr wrap="none" lIns="0" tIns="0" rIns="0" bIns="0" anchor="t" anchorCtr="0">
              <a:spAutoFit/>
            </a:bodyPr>
            <a:lstStyle/>
            <a:p>
              <a:pPr algn="ctr"/>
              <a:r>
                <a:rPr lang="en-US" sz="980" dirty="0">
                  <a:solidFill>
                    <a:srgbClr val="C2410C"/>
                  </a:solidFill>
                  <a:latin typeface="+mn-lt"/>
                  <a:ea typeface="+mn-ea"/>
                  <a:cs typeface="+mn-cs"/>
                </a:rPr>
                <a:t>RdMiss / G = {A}</a:t>
              </a:r>
            </a:p>
          </p:txBody>
        </p:sp>
        <p:sp>
          <p:nvSpPr>
            <p:cNvPr id="76" name="Rectangle 76"/>
            <p:cNvSpPr/>
            <p:nvPr/>
          </p:nvSpPr>
          <p:spPr>
            <a:xfrm>
              <a:off x="8504872" y="1958340"/>
              <a:ext cx="897255" cy="173355"/>
            </a:xfrm>
            <a:prstGeom prst="roundRect">
              <a:avLst>
                <a:gd name="adj" fmla="val 21978"/>
              </a:avLst>
            </a:prstGeom>
            <a:solidFill>
              <a:srgbClr val="FFFFFF"/>
            </a:solidFill>
            <a:ln>
              <a:noFill/>
            </a:ln>
          </p:spPr>
        </p:sp>
        <p:sp>
          <p:nvSpPr>
            <p:cNvPr id="77" name="TextBox 77"/>
            <p:cNvSpPr txBox="1"/>
            <p:nvPr/>
          </p:nvSpPr>
          <p:spPr>
            <a:xfrm>
              <a:off x="8506605" y="1993106"/>
              <a:ext cx="893790" cy="190690"/>
            </a:xfrm>
            <a:prstGeom prst="rect">
              <a:avLst/>
            </a:prstGeom>
            <a:noFill/>
            <a:ln>
              <a:noFill/>
            </a:ln>
          </p:spPr>
          <p:txBody>
            <a:bodyPr wrap="none" lIns="0" tIns="0" rIns="0" bIns="0" anchor="t" anchorCtr="0">
              <a:spAutoFit/>
            </a:bodyPr>
            <a:lstStyle/>
            <a:p>
              <a:pPr algn="ctr"/>
              <a:r>
                <a:rPr lang="zh-CN" sz="980" dirty="0">
                  <a:solidFill>
                    <a:srgbClr val="C2410C"/>
                  </a:solidFill>
                  <a:latin typeface="+mn-lt"/>
                  <a:ea typeface="+mn-ea"/>
                  <a:cs typeface="+mn-cs"/>
                </a:rPr>
                <a:t>Quit 后 G 为空</a:t>
              </a:r>
            </a:p>
          </p:txBody>
        </p:sp>
        <p:sp>
          <p:nvSpPr>
            <p:cNvPr id="78" name="Rectangle 78"/>
            <p:cNvSpPr/>
            <p:nvPr/>
          </p:nvSpPr>
          <p:spPr>
            <a:xfrm>
              <a:off x="7500938" y="3095625"/>
              <a:ext cx="1065848" cy="173355"/>
            </a:xfrm>
            <a:prstGeom prst="roundRect">
              <a:avLst>
                <a:gd name="adj" fmla="val 21978"/>
              </a:avLst>
            </a:prstGeom>
            <a:solidFill>
              <a:srgbClr val="FFFFFF"/>
            </a:solidFill>
            <a:ln>
              <a:noFill/>
            </a:ln>
          </p:spPr>
        </p:sp>
        <p:sp>
          <p:nvSpPr>
            <p:cNvPr id="79" name="TextBox 79"/>
            <p:cNvSpPr txBox="1"/>
            <p:nvPr/>
          </p:nvSpPr>
          <p:spPr>
            <a:xfrm>
              <a:off x="7489178" y="3130391"/>
              <a:ext cx="1088414" cy="190690"/>
            </a:xfrm>
            <a:prstGeom prst="rect">
              <a:avLst/>
            </a:prstGeom>
            <a:noFill/>
            <a:ln>
              <a:noFill/>
            </a:ln>
          </p:spPr>
          <p:txBody>
            <a:bodyPr wrap="none" lIns="0" tIns="0" rIns="0" bIns="0" anchor="t" anchorCtr="0">
              <a:spAutoFit/>
            </a:bodyPr>
            <a:lstStyle/>
            <a:p>
              <a:pPr algn="ctr"/>
              <a:r>
                <a:rPr lang="en-US" sz="980" dirty="0">
                  <a:solidFill>
                    <a:srgbClr val="C2410C"/>
                  </a:solidFill>
                  <a:latin typeface="+mn-lt"/>
                  <a:ea typeface="+mn-ea"/>
                  <a:cs typeface="+mn-cs"/>
                </a:rPr>
                <a:t>WtMiss / G = {A}</a:t>
              </a:r>
            </a:p>
          </p:txBody>
        </p:sp>
        <p:sp>
          <p:nvSpPr>
            <p:cNvPr id="80" name="Rectangle 80"/>
            <p:cNvSpPr/>
            <p:nvPr/>
          </p:nvSpPr>
          <p:spPr>
            <a:xfrm>
              <a:off x="7399972" y="2791778"/>
              <a:ext cx="1233488" cy="173355"/>
            </a:xfrm>
            <a:prstGeom prst="roundRect">
              <a:avLst>
                <a:gd name="adj" fmla="val 21978"/>
              </a:avLst>
            </a:prstGeom>
            <a:solidFill>
              <a:srgbClr val="FFFFFF"/>
            </a:solidFill>
            <a:ln>
              <a:noFill/>
            </a:ln>
          </p:spPr>
        </p:sp>
        <p:sp>
          <p:nvSpPr>
            <p:cNvPr id="81" name="TextBox 81"/>
            <p:cNvSpPr txBox="1"/>
            <p:nvPr/>
          </p:nvSpPr>
          <p:spPr>
            <a:xfrm>
              <a:off x="7396723" y="2826544"/>
              <a:ext cx="1240940" cy="190690"/>
            </a:xfrm>
            <a:prstGeom prst="rect">
              <a:avLst/>
            </a:prstGeom>
            <a:noFill/>
            <a:ln>
              <a:noFill/>
            </a:ln>
          </p:spPr>
          <p:txBody>
            <a:bodyPr wrap="none" lIns="0" tIns="0" rIns="0" bIns="0" anchor="t" anchorCtr="0">
              <a:spAutoFit/>
            </a:bodyPr>
            <a:lstStyle/>
            <a:p>
              <a:pPr algn="ctr"/>
              <a:r>
                <a:rPr lang="zh-CN" sz="980" dirty="0">
                  <a:solidFill>
                    <a:srgbClr val="C2410C"/>
                  </a:solidFill>
                  <a:latin typeface="+mn-lt"/>
                  <a:ea typeface="+mn-ea"/>
                  <a:cs typeface="+mn-cs"/>
                </a:rPr>
                <a:t>Update（替换写回）</a:t>
              </a:r>
            </a:p>
          </p:txBody>
        </p:sp>
        <p:sp>
          <p:nvSpPr>
            <p:cNvPr id="82" name="Rectangle 82"/>
            <p:cNvSpPr/>
            <p:nvPr/>
          </p:nvSpPr>
          <p:spPr>
            <a:xfrm>
              <a:off x="8646795" y="3095625"/>
              <a:ext cx="2453640" cy="173355"/>
            </a:xfrm>
            <a:prstGeom prst="roundRect">
              <a:avLst>
                <a:gd name="adj" fmla="val 21978"/>
              </a:avLst>
            </a:prstGeom>
            <a:solidFill>
              <a:srgbClr val="FFFFFF"/>
            </a:solidFill>
            <a:ln>
              <a:noFill/>
            </a:ln>
          </p:spPr>
        </p:sp>
        <p:sp>
          <p:nvSpPr>
            <p:cNvPr id="83" name="TextBox 83"/>
            <p:cNvSpPr txBox="1"/>
            <p:nvPr/>
          </p:nvSpPr>
          <p:spPr>
            <a:xfrm>
              <a:off x="8597477" y="3130391"/>
              <a:ext cx="2552275" cy="190690"/>
            </a:xfrm>
            <a:prstGeom prst="rect">
              <a:avLst/>
            </a:prstGeom>
            <a:noFill/>
            <a:ln>
              <a:noFill/>
            </a:ln>
          </p:spPr>
          <p:txBody>
            <a:bodyPr wrap="none" lIns="0" tIns="0" rIns="0" bIns="0" anchor="t" anchorCtr="0">
              <a:spAutoFit/>
            </a:bodyPr>
            <a:lstStyle/>
            <a:p>
              <a:pPr algn="ctr"/>
              <a:r>
                <a:rPr lang="zh-CN" sz="980" dirty="0">
                  <a:solidFill>
                    <a:srgbClr val="C2410C"/>
                  </a:solidFill>
                  <a:latin typeface="+mn-lt"/>
                  <a:ea typeface="+mn-ea"/>
                  <a:cs typeface="+mn-cs"/>
                </a:rPr>
                <a:t>WtMiss 或 C 的 Invalidate / 作废其余副本</a:t>
              </a:r>
            </a:p>
          </p:txBody>
        </p:sp>
        <p:sp>
          <p:nvSpPr>
            <p:cNvPr id="84" name="Rectangle 84"/>
            <p:cNvSpPr/>
            <p:nvPr/>
          </p:nvSpPr>
          <p:spPr>
            <a:xfrm>
              <a:off x="8981122" y="3399472"/>
              <a:ext cx="1749742" cy="173355"/>
            </a:xfrm>
            <a:prstGeom prst="roundRect">
              <a:avLst>
                <a:gd name="adj" fmla="val 21978"/>
              </a:avLst>
            </a:prstGeom>
            <a:solidFill>
              <a:srgbClr val="FFFFFF"/>
            </a:solidFill>
            <a:ln>
              <a:noFill/>
            </a:ln>
          </p:spPr>
        </p:sp>
        <p:sp>
          <p:nvSpPr>
            <p:cNvPr id="85" name="TextBox 85"/>
            <p:cNvSpPr txBox="1"/>
            <p:nvPr/>
          </p:nvSpPr>
          <p:spPr>
            <a:xfrm>
              <a:off x="8936985" y="3433286"/>
              <a:ext cx="1838970" cy="190690"/>
            </a:xfrm>
            <a:prstGeom prst="rect">
              <a:avLst/>
            </a:prstGeom>
            <a:noFill/>
            <a:ln>
              <a:noFill/>
            </a:ln>
          </p:spPr>
          <p:txBody>
            <a:bodyPr wrap="none" lIns="0" tIns="0" rIns="0" bIns="0" anchor="t" anchorCtr="0">
              <a:spAutoFit/>
            </a:bodyPr>
            <a:lstStyle/>
            <a:p>
              <a:pPr algn="ctr"/>
              <a:r>
                <a:rPr lang="zh-CN" sz="980" dirty="0">
                  <a:solidFill>
                    <a:srgbClr val="C2410C"/>
                  </a:solidFill>
                  <a:latin typeface="+mn-lt"/>
                  <a:ea typeface="+mn-ea"/>
                  <a:cs typeface="+mn-cs"/>
                </a:rPr>
                <a:t>RdMiss / FetchS，G = {C, A}</a:t>
              </a:r>
            </a:p>
          </p:txBody>
        </p:sp>
        <p:sp>
          <p:nvSpPr>
            <p:cNvPr id="86" name="TextBox 86"/>
            <p:cNvSpPr txBox="1"/>
            <p:nvPr/>
          </p:nvSpPr>
          <p:spPr>
            <a:xfrm>
              <a:off x="10224830" y="1441609"/>
              <a:ext cx="1135896" cy="190690"/>
            </a:xfrm>
            <a:prstGeom prst="rect">
              <a:avLst/>
            </a:prstGeom>
            <a:noFill/>
            <a:ln>
              <a:noFill/>
            </a:ln>
          </p:spPr>
          <p:txBody>
            <a:bodyPr wrap="none" lIns="0" tIns="0" rIns="0" bIns="0" anchor="t" anchorCtr="0">
              <a:spAutoFit/>
            </a:bodyPr>
            <a:lstStyle/>
            <a:p>
              <a:pPr algn="ctr"/>
              <a:r>
                <a:rPr lang="en-US" sz="980" dirty="0">
                  <a:solidFill>
                    <a:srgbClr val="C2410C"/>
                  </a:solidFill>
                  <a:latin typeface="+mn-lt"/>
                  <a:ea typeface="+mn-ea"/>
                  <a:cs typeface="+mn-cs"/>
                </a:rPr>
                <a:t>RdMiss / G += {A}</a:t>
              </a:r>
            </a:p>
          </p:txBody>
        </p:sp>
        <p:sp>
          <p:nvSpPr>
            <p:cNvPr id="87" name="TextBox 87"/>
            <p:cNvSpPr txBox="1"/>
            <p:nvPr/>
          </p:nvSpPr>
          <p:spPr>
            <a:xfrm>
              <a:off x="8134952" y="4819174"/>
              <a:ext cx="1637096" cy="190690"/>
            </a:xfrm>
            <a:prstGeom prst="rect">
              <a:avLst/>
            </a:prstGeom>
            <a:noFill/>
            <a:ln>
              <a:noFill/>
            </a:ln>
          </p:spPr>
          <p:txBody>
            <a:bodyPr wrap="none" lIns="0" tIns="0" rIns="0" bIns="0" anchor="t" anchorCtr="0">
              <a:spAutoFit/>
            </a:bodyPr>
            <a:lstStyle/>
            <a:p>
              <a:pPr algn="ctr"/>
              <a:r>
                <a:rPr lang="zh-CN" sz="980" dirty="0">
                  <a:solidFill>
                    <a:srgbClr val="C2410C"/>
                  </a:solidFill>
                  <a:latin typeface="+mn-lt"/>
                  <a:ea typeface="+mn-ea"/>
                  <a:cs typeface="+mn-cs"/>
                </a:rPr>
                <a:t>WtMiss / FetchI，G = {A}</a:t>
              </a:r>
            </a:p>
          </p:txBody>
        </p:sp>
      </p:grpSp>
      <p:grpSp>
        <p:nvGrpSpPr>
          <p:cNvPr id="90" name="c2-text-2"/>
          <p:cNvGrpSpPr/>
          <p:nvPr/>
        </p:nvGrpSpPr>
        <p:grpSpPr>
          <a:xfrm>
            <a:off x="6242685" y="5184934"/>
            <a:ext cx="4425422" cy="220028"/>
            <a:chOff x="6242685" y="5184934"/>
            <a:chExt cx="4425422" cy="220028"/>
          </a:xfrm>
        </p:grpSpPr>
        <p:sp>
          <p:nvSpPr>
            <p:cNvPr id="89" name="TextBox 89"/>
            <p:cNvSpPr txBox="1"/>
            <p:nvPr/>
          </p:nvSpPr>
          <p:spPr>
            <a:xfrm>
              <a:off x="6242685" y="5184934"/>
              <a:ext cx="4425422" cy="220028"/>
            </a:xfrm>
            <a:prstGeom prst="rect">
              <a:avLst/>
            </a:prstGeom>
            <a:noFill/>
            <a:ln>
              <a:noFill/>
            </a:ln>
          </p:spPr>
          <p:txBody>
            <a:bodyPr wrap="none" lIns="0" tIns="0" rIns="0" bIns="0" anchor="t" anchorCtr="0">
              <a:spAutoFit/>
            </a:bodyPr>
            <a:lstStyle/>
            <a:p>
              <a:pPr algn="l"/>
              <a:r>
                <a:rPr lang="zh-CN" sz="1120" dirty="0">
                  <a:solidFill>
                    <a:srgbClr val="5B6475"/>
                  </a:solidFill>
                  <a:latin typeface="+mn-lt"/>
                  <a:ea typeface="+mn-ea"/>
                  <a:cs typeface="+mn-cs"/>
                </a:rPr>
                <a:t>目录端：U、S、E 三个状态，边上写的是 B 收到的消息和它做的事</a:t>
              </a:r>
            </a:p>
          </p:txBody>
        </p:sp>
      </p:grpSp>
      <p:grpSp>
        <p:nvGrpSpPr>
          <p:cNvPr id="97" name="takeaway"/>
          <p:cNvGrpSpPr/>
          <p:nvPr/>
        </p:nvGrpSpPr>
        <p:grpSpPr>
          <a:xfrm>
            <a:off x="533400" y="5633085"/>
            <a:ext cx="11125200" cy="729615"/>
            <a:chOff x="533400" y="5633085"/>
            <a:chExt cx="11125200" cy="729615"/>
          </a:xfrm>
        </p:grpSpPr>
        <p:sp>
          <p:nvSpPr>
            <p:cNvPr id="91" name="Rectangle 91"/>
            <p:cNvSpPr/>
            <p:nvPr/>
          </p:nvSpPr>
          <p:spPr>
            <a:xfrm>
              <a:off x="533400" y="5633085"/>
              <a:ext cx="11125200" cy="729615"/>
            </a:xfrm>
            <a:prstGeom prst="roundRect">
              <a:avLst>
                <a:gd name="adj" fmla="val 15666"/>
              </a:avLst>
            </a:prstGeom>
            <a:solidFill>
              <a:srgbClr val="F4F6FB"/>
            </a:solidFill>
            <a:ln>
              <a:noFill/>
            </a:ln>
          </p:spPr>
        </p:sp>
        <p:grpSp>
          <p:nvGrpSpPr>
            <p:cNvPr id="95" name="Group 95"/>
            <p:cNvGrpSpPr/>
            <p:nvPr/>
          </p:nvGrpSpPr>
          <p:grpSpPr>
            <a:xfrm>
              <a:off x="738188" y="5897880"/>
              <a:ext cx="200026" cy="200026"/>
              <a:chOff x="738188" y="5897880"/>
              <a:chExt cx="200026" cy="200026"/>
            </a:xfrm>
          </p:grpSpPr>
          <p:sp>
            <p:nvSpPr>
              <p:cNvPr id="92" name="Freeform 92"/>
              <p:cNvSpPr/>
              <p:nvPr/>
            </p:nvSpPr>
            <p:spPr>
              <a:xfrm>
                <a:off x="738188" y="5897880"/>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1F2937"/>
                </a:solidFill>
              </a:ln>
            </p:spPr>
          </p:sp>
          <p:sp>
            <p:nvSpPr>
              <p:cNvPr id="93" name="Freeform 93"/>
              <p:cNvSpPr/>
              <p:nvPr/>
            </p:nvSpPr>
            <p:spPr>
              <a:xfrm>
                <a:off x="838200" y="5964555"/>
                <a:ext cx="9525" cy="9525"/>
              </a:xfrm>
              <a:custGeom>
                <a:avLst/>
                <a:gdLst/>
                <a:ahLst/>
                <a:cxnLst/>
                <a:rect l="l" t="t" r="r" b="b"/>
                <a:pathLst>
                  <a:path w="9525" h="9525">
                    <a:moveTo>
                      <a:pt x="0" y="0"/>
                    </a:moveTo>
                    <a:lnTo>
                      <a:pt x="111" y="0"/>
                    </a:lnTo>
                  </a:path>
                </a:pathLst>
              </a:custGeom>
              <a:noFill/>
              <a:ln w="22225">
                <a:solidFill>
                  <a:srgbClr val="1F2937"/>
                </a:solidFill>
              </a:ln>
            </p:spPr>
          </p:sp>
          <p:sp>
            <p:nvSpPr>
              <p:cNvPr id="94" name="Freeform 94"/>
              <p:cNvSpPr/>
              <p:nvPr/>
            </p:nvSpPr>
            <p:spPr>
              <a:xfrm>
                <a:off x="827088" y="5997893"/>
                <a:ext cx="22225" cy="44450"/>
              </a:xfrm>
              <a:custGeom>
                <a:avLst/>
                <a:gdLst/>
                <a:ahLst/>
                <a:cxnLst/>
                <a:rect l="l" t="t" r="r" b="b"/>
                <a:pathLst>
                  <a:path w="22225" h="44450">
                    <a:moveTo>
                      <a:pt x="0" y="0"/>
                    </a:moveTo>
                    <a:lnTo>
                      <a:pt x="11113" y="0"/>
                    </a:lnTo>
                    <a:lnTo>
                      <a:pt x="11113" y="44450"/>
                    </a:lnTo>
                    <a:lnTo>
                      <a:pt x="22225" y="44450"/>
                    </a:lnTo>
                  </a:path>
                </a:pathLst>
              </a:custGeom>
              <a:noFill/>
              <a:ln w="22225">
                <a:solidFill>
                  <a:srgbClr val="1F2937"/>
                </a:solidFill>
              </a:ln>
            </p:spPr>
          </p:sp>
        </p:grpSp>
        <p:sp>
          <p:nvSpPr>
            <p:cNvPr id="96" name="TextBox 96"/>
            <p:cNvSpPr txBox="1"/>
            <p:nvPr/>
          </p:nvSpPr>
          <p:spPr>
            <a:xfrm>
              <a:off x="1040892" y="5779770"/>
              <a:ext cx="9957816" cy="512636"/>
            </a:xfrm>
            <a:prstGeom prst="rect">
              <a:avLst/>
            </a:prstGeom>
            <a:noFill/>
            <a:ln>
              <a:noFill/>
            </a:ln>
          </p:spPr>
          <p:txBody>
            <a:bodyPr wrap="none" lIns="0" tIns="0" rIns="0" bIns="0" anchor="t" anchorCtr="0">
              <a:spAutoFit/>
            </a:bodyPr>
            <a:lstStyle/>
            <a:p>
              <a:pPr algn="l">
                <a:lnSpc>
                  <a:spcPts val="1958"/>
                </a:lnSpc>
              </a:pPr>
              <a:r>
                <a:rPr lang="zh-CN" sz="1350" dirty="0">
                  <a:solidFill>
                    <a:srgbClr val="1F2937"/>
                  </a:solidFill>
                  <a:latin typeface="+mn-lt"/>
                  <a:ea typeface="+mn-ea"/>
                  <a:cs typeface="+mn-cs"/>
                </a:rPr>
                <a:t>为了图面清楚，Cache 端省略了块被替换时发 Quit / Update 的转换，替换规则见第33页的表；与原课件第173页的教材图对照时，</a:t>
              </a:r>
              <a:br/>
              <a:r>
                <a:rPr lang="zh-CN" sz="1350" dirty="0">
                  <a:solidFill>
                    <a:srgbClr val="1F2937"/>
                  </a:solidFill>
                  <a:latin typeface="+mn-lt"/>
                  <a:ea typeface="+mn-ea"/>
                  <a:cs typeface="+mn-cs"/>
                </a:rPr>
                <a:t>“提取”对应 Fetch，“数据值回复”对应 Data。</a:t>
              </a:r>
            </a:p>
          </p:txBody>
        </p:sp>
      </p:grpSp>
      <p:grpSp>
        <p:nvGrpSpPr>
          <p:cNvPr id="100" name="footer"/>
          <p:cNvGrpSpPr/>
          <p:nvPr/>
        </p:nvGrpSpPr>
        <p:grpSpPr>
          <a:xfrm>
            <a:off x="528447" y="6581299"/>
            <a:ext cx="11135106" cy="190690"/>
            <a:chOff x="528447" y="6581299"/>
            <a:chExt cx="11135106" cy="190690"/>
          </a:xfrm>
        </p:grpSpPr>
        <p:sp>
          <p:nvSpPr>
            <p:cNvPr id="98" name="TextBox 98"/>
            <p:cNvSpPr txBox="1"/>
            <p:nvPr/>
          </p:nvSpPr>
          <p:spPr>
            <a:xfrm>
              <a:off x="528447" y="6581299"/>
              <a:ext cx="2120748"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并行与分布式计算 · 第7章 体系结构</a:t>
              </a:r>
            </a:p>
          </p:txBody>
        </p:sp>
        <p:sp>
          <p:nvSpPr>
            <p:cNvPr id="99" name="TextBox 99"/>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36</a:t>
              </a:r>
            </a:p>
          </p:txBody>
        </p:sp>
      </p:grpSp>
    </p:spTree>
  </p:cSld>
  <p:clrMapOvr>
    <a:masterClrMapping/>
  </p:clrMapOvr>
  <p:transition xmlns:p14="http://schemas.microsoft.com/office/powerpoint/2010/main" p14:dur="400">
    <p:fade/>
  </p:transition>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7215248" cy="909257"/>
            <a:chOff x="520446" y="342900"/>
            <a:chExt cx="7215248" cy="909257"/>
          </a:xfrm>
        </p:grpSpPr>
        <p:sp>
          <p:nvSpPr>
            <p:cNvPr id="2" name="Rectangle 2"/>
            <p:cNvSpPr/>
            <p:nvPr/>
          </p:nvSpPr>
          <p:spPr>
            <a:xfrm>
              <a:off x="533400" y="342900"/>
              <a:ext cx="2586038" cy="266700"/>
            </a:xfrm>
            <a:prstGeom prst="roundRect">
              <a:avLst>
                <a:gd name="adj" fmla="val 50000"/>
              </a:avLst>
            </a:prstGeom>
            <a:solidFill>
              <a:srgbClr val="E7EDF3"/>
            </a:solidFill>
            <a:ln>
              <a:noFill/>
            </a:ln>
          </p:spPr>
        </p:sp>
        <p:sp>
          <p:nvSpPr>
            <p:cNvPr id="3" name="TextBox 3"/>
            <p:cNvSpPr txBox="1"/>
            <p:nvPr/>
          </p:nvSpPr>
          <p:spPr>
            <a:xfrm>
              <a:off x="587464" y="407194"/>
              <a:ext cx="2476957"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第7章 体系结构 · Cache 一致性问题</a:t>
              </a:r>
            </a:p>
          </p:txBody>
        </p:sp>
        <p:sp>
          <p:nvSpPr>
            <p:cNvPr id="4" name="TextBox 4"/>
            <p:cNvSpPr txBox="1"/>
            <p:nvPr/>
          </p:nvSpPr>
          <p:spPr>
            <a:xfrm>
              <a:off x="520446" y="753428"/>
              <a:ext cx="7215248"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例题：两个节点轮流访问块 K，跟踪目录和消息</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8" name="lead"/>
          <p:cNvGrpSpPr/>
          <p:nvPr/>
        </p:nvGrpSpPr>
        <p:grpSpPr>
          <a:xfrm>
            <a:off x="526161" y="1547336"/>
            <a:ext cx="7456028" cy="278702"/>
            <a:chOff x="526161" y="1547336"/>
            <a:chExt cx="7456028" cy="278702"/>
          </a:xfrm>
        </p:grpSpPr>
        <p:sp>
          <p:nvSpPr>
            <p:cNvPr id="7" name="TextBox 7"/>
            <p:cNvSpPr txBox="1"/>
            <p:nvPr/>
          </p:nvSpPr>
          <p:spPr>
            <a:xfrm>
              <a:off x="526161" y="1547336"/>
              <a:ext cx="7456028" cy="278702"/>
            </a:xfrm>
            <a:prstGeom prst="rect">
              <a:avLst/>
            </a:prstGeom>
            <a:noFill/>
            <a:ln>
              <a:noFill/>
            </a:ln>
          </p:spPr>
          <p:txBody>
            <a:bodyPr wrap="none" lIns="0" tIns="0" rIns="0" bIns="0" anchor="t" anchorCtr="0">
              <a:spAutoFit/>
            </a:bodyPr>
            <a:lstStyle/>
            <a:p>
              <a:pPr algn="l"/>
              <a:r>
                <a:rPr lang="zh-CN" sz="1420" dirty="0">
                  <a:solidFill>
                    <a:srgbClr val="5B6475"/>
                  </a:solidFill>
                  <a:latin typeface="+mn-lt"/>
                  <a:ea typeface="+mn-ea"/>
                  <a:cs typeface="+mn-cs"/>
                </a:rPr>
                <a:t>块 K 的宿主是节点 B，P1、P2 轮流当请求节点或远程节点。初始目录状态 U，G = { }。</a:t>
              </a:r>
            </a:p>
          </p:txBody>
        </p:sp>
      </p:grpSp>
      <p:grpSp>
        <p:nvGrpSpPr>
          <p:cNvPr id="75" name="c1-table-1"/>
          <p:cNvGrpSpPr/>
          <p:nvPr/>
        </p:nvGrpSpPr>
        <p:grpSpPr>
          <a:xfrm>
            <a:off x="533400" y="1941195"/>
            <a:ext cx="11125200" cy="3352801"/>
            <a:chOff x="533400" y="1941195"/>
            <a:chExt cx="11125200" cy="3352801"/>
          </a:xfrm>
        </p:grpSpPr>
        <p:sp>
          <p:nvSpPr>
            <p:cNvPr id="9" name="Rectangle 9"/>
            <p:cNvSpPr/>
            <p:nvPr/>
          </p:nvSpPr>
          <p:spPr>
            <a:xfrm>
              <a:off x="533400" y="1941195"/>
              <a:ext cx="11125200" cy="444818"/>
            </a:xfrm>
            <a:prstGeom prst="rect">
              <a:avLst/>
            </a:prstGeom>
            <a:solidFill>
              <a:srgbClr val="334E68"/>
            </a:solidFill>
            <a:ln>
              <a:noFill/>
            </a:ln>
          </p:spPr>
        </p:sp>
        <p:sp>
          <p:nvSpPr>
            <p:cNvPr id="10" name="TextBox 10"/>
            <p:cNvSpPr txBox="1"/>
            <p:nvPr/>
          </p:nvSpPr>
          <p:spPr>
            <a:xfrm>
              <a:off x="769048" y="2069782"/>
              <a:ext cx="195453"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步</a:t>
              </a:r>
            </a:p>
          </p:txBody>
        </p:sp>
        <p:sp>
          <p:nvSpPr>
            <p:cNvPr id="11" name="TextBox 11"/>
            <p:cNvSpPr txBox="1"/>
            <p:nvPr/>
          </p:nvSpPr>
          <p:spPr>
            <a:xfrm>
              <a:off x="1735455" y="2069782"/>
              <a:ext cx="377190"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操作</a:t>
              </a:r>
            </a:p>
          </p:txBody>
        </p:sp>
        <p:sp>
          <p:nvSpPr>
            <p:cNvPr id="12" name="TextBox 12"/>
            <p:cNvSpPr txBox="1"/>
            <p:nvPr/>
          </p:nvSpPr>
          <p:spPr>
            <a:xfrm>
              <a:off x="4779836" y="2069782"/>
              <a:ext cx="740664"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消息序列</a:t>
              </a:r>
            </a:p>
          </p:txBody>
        </p:sp>
        <p:sp>
          <p:nvSpPr>
            <p:cNvPr id="13" name="TextBox 13"/>
            <p:cNvSpPr txBox="1"/>
            <p:nvPr/>
          </p:nvSpPr>
          <p:spPr>
            <a:xfrm>
              <a:off x="7925158" y="2069782"/>
              <a:ext cx="235504"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P1</a:t>
              </a:r>
            </a:p>
          </p:txBody>
        </p:sp>
        <p:sp>
          <p:nvSpPr>
            <p:cNvPr id="14" name="TextBox 14"/>
            <p:cNvSpPr txBox="1"/>
            <p:nvPr/>
          </p:nvSpPr>
          <p:spPr>
            <a:xfrm>
              <a:off x="8704303" y="2069782"/>
              <a:ext cx="235504"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P2</a:t>
              </a:r>
            </a:p>
          </p:txBody>
        </p:sp>
        <p:sp>
          <p:nvSpPr>
            <p:cNvPr id="15" name="TextBox 15"/>
            <p:cNvSpPr txBox="1"/>
            <p:nvPr/>
          </p:nvSpPr>
          <p:spPr>
            <a:xfrm>
              <a:off x="9396603" y="2069782"/>
              <a:ext cx="740664"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目录状态</a:t>
              </a:r>
            </a:p>
          </p:txBody>
        </p:sp>
        <p:sp>
          <p:nvSpPr>
            <p:cNvPr id="16" name="TextBox 16"/>
            <p:cNvSpPr txBox="1"/>
            <p:nvPr/>
          </p:nvSpPr>
          <p:spPr>
            <a:xfrm>
              <a:off x="10928593" y="2069782"/>
              <a:ext cx="124610"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G</a:t>
              </a:r>
            </a:p>
          </p:txBody>
        </p:sp>
        <p:sp>
          <p:nvSpPr>
            <p:cNvPr id="17" name="TextBox 17"/>
            <p:cNvSpPr txBox="1"/>
            <p:nvPr/>
          </p:nvSpPr>
          <p:spPr>
            <a:xfrm>
              <a:off x="807440" y="2514600"/>
              <a:ext cx="118669" cy="264033"/>
            </a:xfrm>
            <a:prstGeom prst="rect">
              <a:avLst/>
            </a:prstGeom>
            <a:noFill/>
            <a:ln>
              <a:noFill/>
            </a:ln>
          </p:spPr>
          <p:txBody>
            <a:bodyPr wrap="none" lIns="0" tIns="0" rIns="0" bIns="0" anchor="t" anchorCtr="0">
              <a:spAutoFit/>
            </a:bodyPr>
            <a:lstStyle/>
            <a:p>
              <a:pPr algn="ctr"/>
              <a:r>
                <a:rPr lang="zh-CN" sz="1350" b="1" dirty="0">
                  <a:solidFill>
                    <a:srgbClr val="1F2937"/>
                  </a:solidFill>
                  <a:latin typeface="+mn-lt"/>
                  <a:ea typeface="+mn-ea"/>
                  <a:cs typeface="+mn-cs"/>
                </a:rPr>
                <a:t>1</a:t>
              </a:r>
            </a:p>
          </p:txBody>
        </p:sp>
        <p:sp>
          <p:nvSpPr>
            <p:cNvPr id="18" name="TextBox 18"/>
            <p:cNvSpPr txBox="1"/>
            <p:nvPr/>
          </p:nvSpPr>
          <p:spPr>
            <a:xfrm>
              <a:off x="1299972" y="2514600"/>
              <a:ext cx="627507"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P1 读 K</a:t>
              </a:r>
            </a:p>
          </p:txBody>
        </p:sp>
        <p:sp>
          <p:nvSpPr>
            <p:cNvPr id="19" name="TextBox 19"/>
            <p:cNvSpPr txBox="1"/>
            <p:nvPr/>
          </p:nvSpPr>
          <p:spPr>
            <a:xfrm>
              <a:off x="2745867" y="2514600"/>
              <a:ext cx="2148354"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P1→B RdMiss；B→P1 Data</a:t>
              </a:r>
            </a:p>
          </p:txBody>
        </p:sp>
        <p:sp>
          <p:nvSpPr>
            <p:cNvPr id="20" name="TextBox 20"/>
            <p:cNvSpPr txBox="1"/>
            <p:nvPr/>
          </p:nvSpPr>
          <p:spPr>
            <a:xfrm>
              <a:off x="7983245" y="2514600"/>
              <a:ext cx="119329" cy="264033"/>
            </a:xfrm>
            <a:prstGeom prst="rect">
              <a:avLst/>
            </a:prstGeom>
            <a:noFill/>
            <a:ln>
              <a:noFill/>
            </a:ln>
          </p:spPr>
          <p:txBody>
            <a:bodyPr wrap="none" lIns="0" tIns="0" rIns="0" bIns="0" anchor="t" anchorCtr="0">
              <a:spAutoFit/>
            </a:bodyPr>
            <a:lstStyle/>
            <a:p>
              <a:pPr algn="ctr"/>
              <a:r>
                <a:rPr lang="en-US" sz="1350" dirty="0">
                  <a:solidFill>
                    <a:srgbClr val="1F2937"/>
                  </a:solidFill>
                  <a:latin typeface="+mn-lt"/>
                  <a:ea typeface="+mn-ea"/>
                  <a:cs typeface="+mn-cs"/>
                </a:rPr>
                <a:t>S</a:t>
              </a:r>
            </a:p>
          </p:txBody>
        </p:sp>
        <p:sp>
          <p:nvSpPr>
            <p:cNvPr id="21" name="TextBox 21"/>
            <p:cNvSpPr txBox="1"/>
            <p:nvPr/>
          </p:nvSpPr>
          <p:spPr>
            <a:xfrm>
              <a:off x="8786393" y="2514600"/>
              <a:ext cx="71323" cy="264033"/>
            </a:xfrm>
            <a:prstGeom prst="rect">
              <a:avLst/>
            </a:prstGeom>
            <a:noFill/>
            <a:ln>
              <a:noFill/>
            </a:ln>
          </p:spPr>
          <p:txBody>
            <a:bodyPr wrap="none" lIns="0" tIns="0" rIns="0" bIns="0" anchor="t" anchorCtr="0">
              <a:spAutoFit/>
            </a:bodyPr>
            <a:lstStyle/>
            <a:p>
              <a:pPr algn="ctr"/>
              <a:r>
                <a:rPr lang="en-US" sz="1350" dirty="0">
                  <a:solidFill>
                    <a:srgbClr val="1F2937"/>
                  </a:solidFill>
                  <a:latin typeface="+mn-lt"/>
                  <a:ea typeface="+mn-ea"/>
                  <a:cs typeface="+mn-cs"/>
                </a:rPr>
                <a:t>I</a:t>
              </a:r>
            </a:p>
          </p:txBody>
        </p:sp>
        <p:sp>
          <p:nvSpPr>
            <p:cNvPr id="22" name="TextBox 22"/>
            <p:cNvSpPr txBox="1"/>
            <p:nvPr/>
          </p:nvSpPr>
          <p:spPr>
            <a:xfrm>
              <a:off x="9544050" y="2514600"/>
              <a:ext cx="445770" cy="264033"/>
            </a:xfrm>
            <a:prstGeom prst="rect">
              <a:avLst/>
            </a:prstGeom>
            <a:noFill/>
            <a:ln>
              <a:noFill/>
            </a:ln>
          </p:spPr>
          <p:txBody>
            <a:bodyPr wrap="none" lIns="0" tIns="0" rIns="0" bIns="0" anchor="t" anchorCtr="0">
              <a:spAutoFit/>
            </a:bodyPr>
            <a:lstStyle/>
            <a:p>
              <a:pPr algn="ctr"/>
              <a:r>
                <a:rPr lang="en-US" sz="1350" dirty="0">
                  <a:solidFill>
                    <a:srgbClr val="1F2937"/>
                  </a:solidFill>
                  <a:latin typeface="+mn-lt"/>
                  <a:ea typeface="+mn-ea"/>
                  <a:cs typeface="+mn-cs"/>
                </a:rPr>
                <a:t>U → S</a:t>
              </a:r>
            </a:p>
          </p:txBody>
        </p:sp>
        <p:sp>
          <p:nvSpPr>
            <p:cNvPr id="23" name="TextBox 23"/>
            <p:cNvSpPr txBox="1"/>
            <p:nvPr/>
          </p:nvSpPr>
          <p:spPr>
            <a:xfrm>
              <a:off x="10422064" y="2514600"/>
              <a:ext cx="436169" cy="264033"/>
            </a:xfrm>
            <a:prstGeom prst="rect">
              <a:avLst/>
            </a:prstGeom>
            <a:noFill/>
            <a:ln>
              <a:noFill/>
            </a:ln>
          </p:spPr>
          <p:txBody>
            <a:bodyPr wrap="none" lIns="0" tIns="0" rIns="0" bIns="0" anchor="t" anchorCtr="0">
              <a:spAutoFit/>
            </a:bodyPr>
            <a:lstStyle/>
            <a:p>
              <a:pPr algn="l"/>
              <a:r>
                <a:rPr lang="en-US" sz="1350" dirty="0">
                  <a:solidFill>
                    <a:srgbClr val="1F2937"/>
                  </a:solidFill>
                  <a:latin typeface="+mn-lt"/>
                  <a:ea typeface="+mn-ea"/>
                  <a:cs typeface="+mn-cs"/>
                </a:rPr>
                <a:t>{P1}</a:t>
              </a:r>
            </a:p>
          </p:txBody>
        </p:sp>
        <p:sp>
          <p:nvSpPr>
            <p:cNvPr id="24" name="Rectangle 24"/>
            <p:cNvSpPr/>
            <p:nvPr/>
          </p:nvSpPr>
          <p:spPr>
            <a:xfrm>
              <a:off x="533400" y="2826068"/>
              <a:ext cx="11125200" cy="9525"/>
            </a:xfrm>
            <a:prstGeom prst="rect">
              <a:avLst/>
            </a:prstGeom>
            <a:solidFill>
              <a:srgbClr val="D9DFEA"/>
            </a:solidFill>
            <a:ln>
              <a:noFill/>
            </a:ln>
          </p:spPr>
        </p:sp>
        <p:sp>
          <p:nvSpPr>
            <p:cNvPr id="25" name="Rectangle 25"/>
            <p:cNvSpPr/>
            <p:nvPr/>
          </p:nvSpPr>
          <p:spPr>
            <a:xfrm>
              <a:off x="533400" y="2830830"/>
              <a:ext cx="11125200" cy="444818"/>
            </a:xfrm>
            <a:prstGeom prst="rect">
              <a:avLst/>
            </a:prstGeom>
            <a:solidFill>
              <a:srgbClr val="F4F6FB"/>
            </a:solidFill>
            <a:ln>
              <a:noFill/>
            </a:ln>
          </p:spPr>
        </p:sp>
        <p:sp>
          <p:nvSpPr>
            <p:cNvPr id="26" name="TextBox 26"/>
            <p:cNvSpPr txBox="1"/>
            <p:nvPr/>
          </p:nvSpPr>
          <p:spPr>
            <a:xfrm>
              <a:off x="807440" y="2958465"/>
              <a:ext cx="118669" cy="264033"/>
            </a:xfrm>
            <a:prstGeom prst="rect">
              <a:avLst/>
            </a:prstGeom>
            <a:noFill/>
            <a:ln>
              <a:noFill/>
            </a:ln>
          </p:spPr>
          <p:txBody>
            <a:bodyPr wrap="none" lIns="0" tIns="0" rIns="0" bIns="0" anchor="t" anchorCtr="0">
              <a:spAutoFit/>
            </a:bodyPr>
            <a:lstStyle/>
            <a:p>
              <a:pPr algn="ctr"/>
              <a:r>
                <a:rPr lang="zh-CN" sz="1350" b="1" dirty="0">
                  <a:solidFill>
                    <a:srgbClr val="1F2937"/>
                  </a:solidFill>
                  <a:latin typeface="+mn-lt"/>
                  <a:ea typeface="+mn-ea"/>
                  <a:cs typeface="+mn-cs"/>
                </a:rPr>
                <a:t>2</a:t>
              </a:r>
            </a:p>
          </p:txBody>
        </p:sp>
        <p:sp>
          <p:nvSpPr>
            <p:cNvPr id="27" name="TextBox 27"/>
            <p:cNvSpPr txBox="1"/>
            <p:nvPr/>
          </p:nvSpPr>
          <p:spPr>
            <a:xfrm>
              <a:off x="1299972" y="2958465"/>
              <a:ext cx="627507"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P2 读 K</a:t>
              </a:r>
            </a:p>
          </p:txBody>
        </p:sp>
        <p:sp>
          <p:nvSpPr>
            <p:cNvPr id="28" name="TextBox 28"/>
            <p:cNvSpPr txBox="1"/>
            <p:nvPr/>
          </p:nvSpPr>
          <p:spPr>
            <a:xfrm>
              <a:off x="2745867" y="2958465"/>
              <a:ext cx="2148354"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P2→B RdMiss；B→P2 Data</a:t>
              </a:r>
            </a:p>
          </p:txBody>
        </p:sp>
        <p:sp>
          <p:nvSpPr>
            <p:cNvPr id="29" name="TextBox 29"/>
            <p:cNvSpPr txBox="1"/>
            <p:nvPr/>
          </p:nvSpPr>
          <p:spPr>
            <a:xfrm>
              <a:off x="7983245" y="2958465"/>
              <a:ext cx="119329" cy="264033"/>
            </a:xfrm>
            <a:prstGeom prst="rect">
              <a:avLst/>
            </a:prstGeom>
            <a:noFill/>
            <a:ln>
              <a:noFill/>
            </a:ln>
          </p:spPr>
          <p:txBody>
            <a:bodyPr wrap="none" lIns="0" tIns="0" rIns="0" bIns="0" anchor="t" anchorCtr="0">
              <a:spAutoFit/>
            </a:bodyPr>
            <a:lstStyle/>
            <a:p>
              <a:pPr algn="ctr"/>
              <a:r>
                <a:rPr lang="en-US" sz="1350" dirty="0">
                  <a:solidFill>
                    <a:srgbClr val="1F2937"/>
                  </a:solidFill>
                  <a:latin typeface="+mn-lt"/>
                  <a:ea typeface="+mn-ea"/>
                  <a:cs typeface="+mn-cs"/>
                </a:rPr>
                <a:t>S</a:t>
              </a:r>
            </a:p>
          </p:txBody>
        </p:sp>
        <p:sp>
          <p:nvSpPr>
            <p:cNvPr id="30" name="TextBox 30"/>
            <p:cNvSpPr txBox="1"/>
            <p:nvPr/>
          </p:nvSpPr>
          <p:spPr>
            <a:xfrm>
              <a:off x="8762390" y="2958465"/>
              <a:ext cx="119329" cy="264033"/>
            </a:xfrm>
            <a:prstGeom prst="rect">
              <a:avLst/>
            </a:prstGeom>
            <a:noFill/>
            <a:ln>
              <a:noFill/>
            </a:ln>
          </p:spPr>
          <p:txBody>
            <a:bodyPr wrap="none" lIns="0" tIns="0" rIns="0" bIns="0" anchor="t" anchorCtr="0">
              <a:spAutoFit/>
            </a:bodyPr>
            <a:lstStyle/>
            <a:p>
              <a:pPr algn="ctr"/>
              <a:r>
                <a:rPr lang="en-US" sz="1350" dirty="0">
                  <a:solidFill>
                    <a:srgbClr val="1F2937"/>
                  </a:solidFill>
                  <a:latin typeface="+mn-lt"/>
                  <a:ea typeface="+mn-ea"/>
                  <a:cs typeface="+mn-cs"/>
                </a:rPr>
                <a:t>S</a:t>
              </a:r>
            </a:p>
          </p:txBody>
        </p:sp>
        <p:sp>
          <p:nvSpPr>
            <p:cNvPr id="31" name="TextBox 31"/>
            <p:cNvSpPr txBox="1"/>
            <p:nvPr/>
          </p:nvSpPr>
          <p:spPr>
            <a:xfrm>
              <a:off x="9707270" y="2958465"/>
              <a:ext cx="119329" cy="264033"/>
            </a:xfrm>
            <a:prstGeom prst="rect">
              <a:avLst/>
            </a:prstGeom>
            <a:noFill/>
            <a:ln>
              <a:noFill/>
            </a:ln>
          </p:spPr>
          <p:txBody>
            <a:bodyPr wrap="none" lIns="0" tIns="0" rIns="0" bIns="0" anchor="t" anchorCtr="0">
              <a:spAutoFit/>
            </a:bodyPr>
            <a:lstStyle/>
            <a:p>
              <a:pPr algn="ctr"/>
              <a:r>
                <a:rPr lang="en-US" sz="1350" dirty="0">
                  <a:solidFill>
                    <a:srgbClr val="1F2937"/>
                  </a:solidFill>
                  <a:latin typeface="+mn-lt"/>
                  <a:ea typeface="+mn-ea"/>
                  <a:cs typeface="+mn-cs"/>
                </a:rPr>
                <a:t>S</a:t>
              </a:r>
            </a:p>
          </p:txBody>
        </p:sp>
        <p:sp>
          <p:nvSpPr>
            <p:cNvPr id="32" name="TextBox 32"/>
            <p:cNvSpPr txBox="1"/>
            <p:nvPr/>
          </p:nvSpPr>
          <p:spPr>
            <a:xfrm>
              <a:off x="10422064" y="2958465"/>
              <a:ext cx="810616" cy="264033"/>
            </a:xfrm>
            <a:prstGeom prst="rect">
              <a:avLst/>
            </a:prstGeom>
            <a:noFill/>
            <a:ln>
              <a:noFill/>
            </a:ln>
          </p:spPr>
          <p:txBody>
            <a:bodyPr wrap="none" lIns="0" tIns="0" rIns="0" bIns="0" anchor="t" anchorCtr="0">
              <a:spAutoFit/>
            </a:bodyPr>
            <a:lstStyle/>
            <a:p>
              <a:pPr algn="l"/>
              <a:r>
                <a:rPr lang="en-US" sz="1350" dirty="0">
                  <a:solidFill>
                    <a:srgbClr val="1F2937"/>
                  </a:solidFill>
                  <a:latin typeface="+mn-lt"/>
                  <a:ea typeface="+mn-ea"/>
                  <a:cs typeface="+mn-cs"/>
                </a:rPr>
                <a:t>{P1, P2}</a:t>
              </a:r>
            </a:p>
          </p:txBody>
        </p:sp>
        <p:sp>
          <p:nvSpPr>
            <p:cNvPr id="33" name="Rectangle 33"/>
            <p:cNvSpPr/>
            <p:nvPr/>
          </p:nvSpPr>
          <p:spPr>
            <a:xfrm>
              <a:off x="533400" y="3270885"/>
              <a:ext cx="11125200" cy="9525"/>
            </a:xfrm>
            <a:prstGeom prst="rect">
              <a:avLst/>
            </a:prstGeom>
            <a:solidFill>
              <a:srgbClr val="D9DFEA"/>
            </a:solidFill>
            <a:ln>
              <a:noFill/>
            </a:ln>
          </p:spPr>
        </p:sp>
        <p:sp>
          <p:nvSpPr>
            <p:cNvPr id="34" name="TextBox 34"/>
            <p:cNvSpPr txBox="1"/>
            <p:nvPr/>
          </p:nvSpPr>
          <p:spPr>
            <a:xfrm>
              <a:off x="807440" y="3403282"/>
              <a:ext cx="118669" cy="264033"/>
            </a:xfrm>
            <a:prstGeom prst="rect">
              <a:avLst/>
            </a:prstGeom>
            <a:noFill/>
            <a:ln>
              <a:noFill/>
            </a:ln>
          </p:spPr>
          <p:txBody>
            <a:bodyPr wrap="none" lIns="0" tIns="0" rIns="0" bIns="0" anchor="t" anchorCtr="0">
              <a:spAutoFit/>
            </a:bodyPr>
            <a:lstStyle/>
            <a:p>
              <a:pPr algn="ctr"/>
              <a:r>
                <a:rPr lang="zh-CN" sz="1350" b="1" dirty="0">
                  <a:solidFill>
                    <a:srgbClr val="1F2937"/>
                  </a:solidFill>
                  <a:latin typeface="+mn-lt"/>
                  <a:ea typeface="+mn-ea"/>
                  <a:cs typeface="+mn-cs"/>
                </a:rPr>
                <a:t>3</a:t>
              </a:r>
            </a:p>
          </p:txBody>
        </p:sp>
        <p:sp>
          <p:nvSpPr>
            <p:cNvPr id="35" name="TextBox 35"/>
            <p:cNvSpPr txBox="1"/>
            <p:nvPr/>
          </p:nvSpPr>
          <p:spPr>
            <a:xfrm>
              <a:off x="1299972" y="3403282"/>
              <a:ext cx="627507"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P2 写 K</a:t>
              </a:r>
            </a:p>
          </p:txBody>
        </p:sp>
        <p:sp>
          <p:nvSpPr>
            <p:cNvPr id="36" name="TextBox 36"/>
            <p:cNvSpPr txBox="1"/>
            <p:nvPr/>
          </p:nvSpPr>
          <p:spPr>
            <a:xfrm>
              <a:off x="2745867" y="3403282"/>
              <a:ext cx="2867930"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P2→B Invalidate；B→P1 Invalidate</a:t>
              </a:r>
            </a:p>
          </p:txBody>
        </p:sp>
        <p:sp>
          <p:nvSpPr>
            <p:cNvPr id="37" name="TextBox 37"/>
            <p:cNvSpPr txBox="1"/>
            <p:nvPr/>
          </p:nvSpPr>
          <p:spPr>
            <a:xfrm>
              <a:off x="8007248" y="3403282"/>
              <a:ext cx="71323" cy="264033"/>
            </a:xfrm>
            <a:prstGeom prst="rect">
              <a:avLst/>
            </a:prstGeom>
            <a:noFill/>
            <a:ln>
              <a:noFill/>
            </a:ln>
          </p:spPr>
          <p:txBody>
            <a:bodyPr wrap="none" lIns="0" tIns="0" rIns="0" bIns="0" anchor="t" anchorCtr="0">
              <a:spAutoFit/>
            </a:bodyPr>
            <a:lstStyle/>
            <a:p>
              <a:pPr algn="ctr"/>
              <a:r>
                <a:rPr lang="en-US" sz="1350" dirty="0">
                  <a:solidFill>
                    <a:srgbClr val="1F2937"/>
                  </a:solidFill>
                  <a:latin typeface="+mn-lt"/>
                  <a:ea typeface="+mn-ea"/>
                  <a:cs typeface="+mn-cs"/>
                </a:rPr>
                <a:t>I</a:t>
              </a:r>
            </a:p>
          </p:txBody>
        </p:sp>
        <p:sp>
          <p:nvSpPr>
            <p:cNvPr id="38" name="TextBox 38"/>
            <p:cNvSpPr txBox="1"/>
            <p:nvPr/>
          </p:nvSpPr>
          <p:spPr>
            <a:xfrm>
              <a:off x="8743188" y="3403282"/>
              <a:ext cx="157734" cy="264033"/>
            </a:xfrm>
            <a:prstGeom prst="rect">
              <a:avLst/>
            </a:prstGeom>
            <a:noFill/>
            <a:ln>
              <a:noFill/>
            </a:ln>
          </p:spPr>
          <p:txBody>
            <a:bodyPr wrap="none" lIns="0" tIns="0" rIns="0" bIns="0" anchor="t" anchorCtr="0">
              <a:spAutoFit/>
            </a:bodyPr>
            <a:lstStyle/>
            <a:p>
              <a:pPr algn="ctr"/>
              <a:r>
                <a:rPr lang="en-US" sz="1350" dirty="0">
                  <a:solidFill>
                    <a:srgbClr val="1F2937"/>
                  </a:solidFill>
                  <a:latin typeface="+mn-lt"/>
                  <a:ea typeface="+mn-ea"/>
                  <a:cs typeface="+mn-cs"/>
                </a:rPr>
                <a:t>M</a:t>
              </a:r>
            </a:p>
          </p:txBody>
        </p:sp>
        <p:sp>
          <p:nvSpPr>
            <p:cNvPr id="39" name="TextBox 39"/>
            <p:cNvSpPr txBox="1"/>
            <p:nvPr/>
          </p:nvSpPr>
          <p:spPr>
            <a:xfrm>
              <a:off x="9544050" y="3403282"/>
              <a:ext cx="445770" cy="264033"/>
            </a:xfrm>
            <a:prstGeom prst="rect">
              <a:avLst/>
            </a:prstGeom>
            <a:noFill/>
            <a:ln>
              <a:noFill/>
            </a:ln>
          </p:spPr>
          <p:txBody>
            <a:bodyPr wrap="none" lIns="0" tIns="0" rIns="0" bIns="0" anchor="t" anchorCtr="0">
              <a:spAutoFit/>
            </a:bodyPr>
            <a:lstStyle/>
            <a:p>
              <a:pPr algn="ctr"/>
              <a:r>
                <a:rPr lang="en-US" sz="1350" dirty="0">
                  <a:solidFill>
                    <a:srgbClr val="1F2937"/>
                  </a:solidFill>
                  <a:latin typeface="+mn-lt"/>
                  <a:ea typeface="+mn-ea"/>
                  <a:cs typeface="+mn-cs"/>
                </a:rPr>
                <a:t>S → E</a:t>
              </a:r>
            </a:p>
          </p:txBody>
        </p:sp>
        <p:sp>
          <p:nvSpPr>
            <p:cNvPr id="40" name="TextBox 40"/>
            <p:cNvSpPr txBox="1"/>
            <p:nvPr/>
          </p:nvSpPr>
          <p:spPr>
            <a:xfrm>
              <a:off x="10422064" y="3403282"/>
              <a:ext cx="436169" cy="264033"/>
            </a:xfrm>
            <a:prstGeom prst="rect">
              <a:avLst/>
            </a:prstGeom>
            <a:noFill/>
            <a:ln>
              <a:noFill/>
            </a:ln>
          </p:spPr>
          <p:txBody>
            <a:bodyPr wrap="none" lIns="0" tIns="0" rIns="0" bIns="0" anchor="t" anchorCtr="0">
              <a:spAutoFit/>
            </a:bodyPr>
            <a:lstStyle/>
            <a:p>
              <a:pPr algn="l"/>
              <a:r>
                <a:rPr lang="en-US" sz="1350" dirty="0">
                  <a:solidFill>
                    <a:srgbClr val="1F2937"/>
                  </a:solidFill>
                  <a:latin typeface="+mn-lt"/>
                  <a:ea typeface="+mn-ea"/>
                  <a:cs typeface="+mn-cs"/>
                </a:rPr>
                <a:t>{P2}</a:t>
              </a:r>
            </a:p>
          </p:txBody>
        </p:sp>
        <p:sp>
          <p:nvSpPr>
            <p:cNvPr id="41" name="Rectangle 41"/>
            <p:cNvSpPr/>
            <p:nvPr/>
          </p:nvSpPr>
          <p:spPr>
            <a:xfrm>
              <a:off x="533400" y="3715702"/>
              <a:ext cx="11125200" cy="9525"/>
            </a:xfrm>
            <a:prstGeom prst="rect">
              <a:avLst/>
            </a:prstGeom>
            <a:solidFill>
              <a:srgbClr val="D9DFEA"/>
            </a:solidFill>
            <a:ln>
              <a:noFill/>
            </a:ln>
          </p:spPr>
        </p:sp>
        <p:sp>
          <p:nvSpPr>
            <p:cNvPr id="42" name="Rectangle 42"/>
            <p:cNvSpPr/>
            <p:nvPr/>
          </p:nvSpPr>
          <p:spPr>
            <a:xfrm>
              <a:off x="533400" y="3720465"/>
              <a:ext cx="11125200" cy="684848"/>
            </a:xfrm>
            <a:prstGeom prst="rect">
              <a:avLst/>
            </a:prstGeom>
            <a:solidFill>
              <a:srgbClr val="F4F6FB"/>
            </a:solidFill>
            <a:ln>
              <a:noFill/>
            </a:ln>
          </p:spPr>
        </p:sp>
        <p:sp>
          <p:nvSpPr>
            <p:cNvPr id="43" name="TextBox 43"/>
            <p:cNvSpPr txBox="1"/>
            <p:nvPr/>
          </p:nvSpPr>
          <p:spPr>
            <a:xfrm>
              <a:off x="807440" y="3968115"/>
              <a:ext cx="118669" cy="264033"/>
            </a:xfrm>
            <a:prstGeom prst="rect">
              <a:avLst/>
            </a:prstGeom>
            <a:noFill/>
            <a:ln>
              <a:noFill/>
            </a:ln>
          </p:spPr>
          <p:txBody>
            <a:bodyPr wrap="none" lIns="0" tIns="0" rIns="0" bIns="0" anchor="t" anchorCtr="0">
              <a:spAutoFit/>
            </a:bodyPr>
            <a:lstStyle/>
            <a:p>
              <a:pPr algn="ctr"/>
              <a:r>
                <a:rPr lang="zh-CN" sz="1350" b="1" dirty="0">
                  <a:solidFill>
                    <a:srgbClr val="1F2937"/>
                  </a:solidFill>
                  <a:latin typeface="+mn-lt"/>
                  <a:ea typeface="+mn-ea"/>
                  <a:cs typeface="+mn-cs"/>
                </a:rPr>
                <a:t>4</a:t>
              </a:r>
            </a:p>
          </p:txBody>
        </p:sp>
        <p:sp>
          <p:nvSpPr>
            <p:cNvPr id="44" name="TextBox 44"/>
            <p:cNvSpPr txBox="1"/>
            <p:nvPr/>
          </p:nvSpPr>
          <p:spPr>
            <a:xfrm>
              <a:off x="1299972" y="3968115"/>
              <a:ext cx="627507"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P1 读 K</a:t>
              </a:r>
            </a:p>
          </p:txBody>
        </p:sp>
        <p:sp>
          <p:nvSpPr>
            <p:cNvPr id="45" name="Rectangle 45"/>
            <p:cNvSpPr/>
            <p:nvPr/>
          </p:nvSpPr>
          <p:spPr>
            <a:xfrm>
              <a:off x="2656522" y="3729990"/>
              <a:ext cx="4987290" cy="665798"/>
            </a:xfrm>
            <a:prstGeom prst="rect">
              <a:avLst/>
            </a:prstGeom>
            <a:solidFill>
              <a:srgbClr val="FDEEE7"/>
            </a:solidFill>
            <a:ln>
              <a:noFill/>
            </a:ln>
          </p:spPr>
        </p:sp>
        <p:sp>
          <p:nvSpPr>
            <p:cNvPr id="46" name="TextBox 46"/>
            <p:cNvSpPr txBox="1"/>
            <p:nvPr/>
          </p:nvSpPr>
          <p:spPr>
            <a:xfrm>
              <a:off x="2745867" y="3848100"/>
              <a:ext cx="4334256" cy="504063"/>
            </a:xfrm>
            <a:prstGeom prst="rect">
              <a:avLst/>
            </a:prstGeom>
            <a:noFill/>
            <a:ln>
              <a:noFill/>
            </a:ln>
          </p:spPr>
          <p:txBody>
            <a:bodyPr wrap="none" lIns="0" tIns="0" rIns="0" bIns="0" anchor="t" anchorCtr="0">
              <a:spAutoFit/>
            </a:bodyPr>
            <a:lstStyle/>
            <a:p>
              <a:pPr algn="l">
                <a:lnSpc>
                  <a:spcPts val="1890"/>
                </a:lnSpc>
              </a:pPr>
              <a:r>
                <a:rPr lang="zh-CN" sz="1350" dirty="0">
                  <a:solidFill>
                    <a:srgbClr val="1F2937"/>
                  </a:solidFill>
                  <a:latin typeface="+mn-lt"/>
                  <a:ea typeface="+mn-ea"/>
                  <a:cs typeface="+mn-cs"/>
                </a:rPr>
                <a:t>P1→B RdMiss；B→P2 FetchS；P2→B Update；B 更新存储</a:t>
              </a:r>
              <a:br/>
              <a:r>
                <a:rPr lang="zh-CN" sz="1350" dirty="0">
                  <a:solidFill>
                    <a:srgbClr val="1F2937"/>
                  </a:solidFill>
                  <a:latin typeface="+mn-lt"/>
                  <a:ea typeface="+mn-ea"/>
                  <a:cs typeface="+mn-cs"/>
                </a:rPr>
                <a:t>器；B→P1 Data</a:t>
              </a:r>
            </a:p>
          </p:txBody>
        </p:sp>
        <p:sp>
          <p:nvSpPr>
            <p:cNvPr id="47" name="TextBox 47"/>
            <p:cNvSpPr txBox="1"/>
            <p:nvPr/>
          </p:nvSpPr>
          <p:spPr>
            <a:xfrm>
              <a:off x="7983245" y="3968115"/>
              <a:ext cx="119329" cy="264033"/>
            </a:xfrm>
            <a:prstGeom prst="rect">
              <a:avLst/>
            </a:prstGeom>
            <a:noFill/>
            <a:ln>
              <a:noFill/>
            </a:ln>
          </p:spPr>
          <p:txBody>
            <a:bodyPr wrap="none" lIns="0" tIns="0" rIns="0" bIns="0" anchor="t" anchorCtr="0">
              <a:spAutoFit/>
            </a:bodyPr>
            <a:lstStyle/>
            <a:p>
              <a:pPr algn="ctr"/>
              <a:r>
                <a:rPr lang="en-US" sz="1350" dirty="0">
                  <a:solidFill>
                    <a:srgbClr val="1F2937"/>
                  </a:solidFill>
                  <a:latin typeface="+mn-lt"/>
                  <a:ea typeface="+mn-ea"/>
                  <a:cs typeface="+mn-cs"/>
                </a:rPr>
                <a:t>S</a:t>
              </a:r>
            </a:p>
          </p:txBody>
        </p:sp>
        <p:sp>
          <p:nvSpPr>
            <p:cNvPr id="48" name="TextBox 48"/>
            <p:cNvSpPr txBox="1"/>
            <p:nvPr/>
          </p:nvSpPr>
          <p:spPr>
            <a:xfrm>
              <a:off x="8762390" y="3968115"/>
              <a:ext cx="119329" cy="264033"/>
            </a:xfrm>
            <a:prstGeom prst="rect">
              <a:avLst/>
            </a:prstGeom>
            <a:noFill/>
            <a:ln>
              <a:noFill/>
            </a:ln>
          </p:spPr>
          <p:txBody>
            <a:bodyPr wrap="none" lIns="0" tIns="0" rIns="0" bIns="0" anchor="t" anchorCtr="0">
              <a:spAutoFit/>
            </a:bodyPr>
            <a:lstStyle/>
            <a:p>
              <a:pPr algn="ctr"/>
              <a:r>
                <a:rPr lang="en-US" sz="1350" dirty="0">
                  <a:solidFill>
                    <a:srgbClr val="1F2937"/>
                  </a:solidFill>
                  <a:latin typeface="+mn-lt"/>
                  <a:ea typeface="+mn-ea"/>
                  <a:cs typeface="+mn-cs"/>
                </a:rPr>
                <a:t>S</a:t>
              </a:r>
            </a:p>
          </p:txBody>
        </p:sp>
        <p:sp>
          <p:nvSpPr>
            <p:cNvPr id="49" name="TextBox 49"/>
            <p:cNvSpPr txBox="1"/>
            <p:nvPr/>
          </p:nvSpPr>
          <p:spPr>
            <a:xfrm>
              <a:off x="9544050" y="3968115"/>
              <a:ext cx="445770" cy="264033"/>
            </a:xfrm>
            <a:prstGeom prst="rect">
              <a:avLst/>
            </a:prstGeom>
            <a:noFill/>
            <a:ln>
              <a:noFill/>
            </a:ln>
          </p:spPr>
          <p:txBody>
            <a:bodyPr wrap="none" lIns="0" tIns="0" rIns="0" bIns="0" anchor="t" anchorCtr="0">
              <a:spAutoFit/>
            </a:bodyPr>
            <a:lstStyle/>
            <a:p>
              <a:pPr algn="ctr"/>
              <a:r>
                <a:rPr lang="en-US" sz="1350" dirty="0">
                  <a:solidFill>
                    <a:srgbClr val="1F2937"/>
                  </a:solidFill>
                  <a:latin typeface="+mn-lt"/>
                  <a:ea typeface="+mn-ea"/>
                  <a:cs typeface="+mn-cs"/>
                </a:rPr>
                <a:t>E → S</a:t>
              </a:r>
            </a:p>
          </p:txBody>
        </p:sp>
        <p:sp>
          <p:nvSpPr>
            <p:cNvPr id="50" name="TextBox 50"/>
            <p:cNvSpPr txBox="1"/>
            <p:nvPr/>
          </p:nvSpPr>
          <p:spPr>
            <a:xfrm>
              <a:off x="10422064" y="3968115"/>
              <a:ext cx="810616" cy="264033"/>
            </a:xfrm>
            <a:prstGeom prst="rect">
              <a:avLst/>
            </a:prstGeom>
            <a:noFill/>
            <a:ln>
              <a:noFill/>
            </a:ln>
          </p:spPr>
          <p:txBody>
            <a:bodyPr wrap="none" lIns="0" tIns="0" rIns="0" bIns="0" anchor="t" anchorCtr="0">
              <a:spAutoFit/>
            </a:bodyPr>
            <a:lstStyle/>
            <a:p>
              <a:pPr algn="l"/>
              <a:r>
                <a:rPr lang="en-US" sz="1350" dirty="0">
                  <a:solidFill>
                    <a:srgbClr val="1F2937"/>
                  </a:solidFill>
                  <a:latin typeface="+mn-lt"/>
                  <a:ea typeface="+mn-ea"/>
                  <a:cs typeface="+mn-cs"/>
                </a:rPr>
                <a:t>{P1, P2}</a:t>
              </a:r>
            </a:p>
          </p:txBody>
        </p:sp>
        <p:sp>
          <p:nvSpPr>
            <p:cNvPr id="51" name="Rectangle 51"/>
            <p:cNvSpPr/>
            <p:nvPr/>
          </p:nvSpPr>
          <p:spPr>
            <a:xfrm>
              <a:off x="533400" y="4399598"/>
              <a:ext cx="11125200" cy="9525"/>
            </a:xfrm>
            <a:prstGeom prst="rect">
              <a:avLst/>
            </a:prstGeom>
            <a:solidFill>
              <a:srgbClr val="D9DFEA"/>
            </a:solidFill>
            <a:ln>
              <a:noFill/>
            </a:ln>
          </p:spPr>
        </p:sp>
        <p:sp>
          <p:nvSpPr>
            <p:cNvPr id="52" name="TextBox 52"/>
            <p:cNvSpPr txBox="1"/>
            <p:nvPr/>
          </p:nvSpPr>
          <p:spPr>
            <a:xfrm>
              <a:off x="807440" y="4532948"/>
              <a:ext cx="118669" cy="264033"/>
            </a:xfrm>
            <a:prstGeom prst="rect">
              <a:avLst/>
            </a:prstGeom>
            <a:noFill/>
            <a:ln>
              <a:noFill/>
            </a:ln>
          </p:spPr>
          <p:txBody>
            <a:bodyPr wrap="none" lIns="0" tIns="0" rIns="0" bIns="0" anchor="t" anchorCtr="0">
              <a:spAutoFit/>
            </a:bodyPr>
            <a:lstStyle/>
            <a:p>
              <a:pPr algn="ctr"/>
              <a:r>
                <a:rPr lang="zh-CN" sz="1350" b="1" dirty="0">
                  <a:solidFill>
                    <a:srgbClr val="1F2937"/>
                  </a:solidFill>
                  <a:latin typeface="+mn-lt"/>
                  <a:ea typeface="+mn-ea"/>
                  <a:cs typeface="+mn-cs"/>
                </a:rPr>
                <a:t>5</a:t>
              </a:r>
            </a:p>
          </p:txBody>
        </p:sp>
        <p:sp>
          <p:nvSpPr>
            <p:cNvPr id="53" name="TextBox 53"/>
            <p:cNvSpPr txBox="1"/>
            <p:nvPr/>
          </p:nvSpPr>
          <p:spPr>
            <a:xfrm>
              <a:off x="1299972" y="4532948"/>
              <a:ext cx="809244"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P1 替换 K</a:t>
              </a:r>
            </a:p>
          </p:txBody>
        </p:sp>
        <p:sp>
          <p:nvSpPr>
            <p:cNvPr id="54" name="TextBox 54"/>
            <p:cNvSpPr txBox="1"/>
            <p:nvPr/>
          </p:nvSpPr>
          <p:spPr>
            <a:xfrm>
              <a:off x="2745867" y="4532948"/>
              <a:ext cx="882710" cy="264033"/>
            </a:xfrm>
            <a:prstGeom prst="rect">
              <a:avLst/>
            </a:prstGeom>
            <a:noFill/>
            <a:ln>
              <a:noFill/>
            </a:ln>
          </p:spPr>
          <p:txBody>
            <a:bodyPr wrap="none" lIns="0" tIns="0" rIns="0" bIns="0" anchor="t" anchorCtr="0">
              <a:spAutoFit/>
            </a:bodyPr>
            <a:lstStyle/>
            <a:p>
              <a:pPr algn="l"/>
              <a:r>
                <a:rPr lang="en-US" sz="1350" dirty="0">
                  <a:solidFill>
                    <a:srgbClr val="1F2937"/>
                  </a:solidFill>
                  <a:latin typeface="+mn-lt"/>
                  <a:ea typeface="+mn-ea"/>
                  <a:cs typeface="+mn-cs"/>
                </a:rPr>
                <a:t>P1→B Quit</a:t>
              </a:r>
            </a:p>
          </p:txBody>
        </p:sp>
        <p:sp>
          <p:nvSpPr>
            <p:cNvPr id="55" name="TextBox 55"/>
            <p:cNvSpPr txBox="1"/>
            <p:nvPr/>
          </p:nvSpPr>
          <p:spPr>
            <a:xfrm>
              <a:off x="8007248" y="4532948"/>
              <a:ext cx="71323" cy="264033"/>
            </a:xfrm>
            <a:prstGeom prst="rect">
              <a:avLst/>
            </a:prstGeom>
            <a:noFill/>
            <a:ln>
              <a:noFill/>
            </a:ln>
          </p:spPr>
          <p:txBody>
            <a:bodyPr wrap="none" lIns="0" tIns="0" rIns="0" bIns="0" anchor="t" anchorCtr="0">
              <a:spAutoFit/>
            </a:bodyPr>
            <a:lstStyle/>
            <a:p>
              <a:pPr algn="ctr"/>
              <a:r>
                <a:rPr lang="en-US" sz="1350" dirty="0">
                  <a:solidFill>
                    <a:srgbClr val="1F2937"/>
                  </a:solidFill>
                  <a:latin typeface="+mn-lt"/>
                  <a:ea typeface="+mn-ea"/>
                  <a:cs typeface="+mn-cs"/>
                </a:rPr>
                <a:t>I</a:t>
              </a:r>
            </a:p>
          </p:txBody>
        </p:sp>
        <p:sp>
          <p:nvSpPr>
            <p:cNvPr id="56" name="TextBox 56"/>
            <p:cNvSpPr txBox="1"/>
            <p:nvPr/>
          </p:nvSpPr>
          <p:spPr>
            <a:xfrm>
              <a:off x="8762390" y="4532948"/>
              <a:ext cx="119329" cy="264033"/>
            </a:xfrm>
            <a:prstGeom prst="rect">
              <a:avLst/>
            </a:prstGeom>
            <a:noFill/>
            <a:ln>
              <a:noFill/>
            </a:ln>
          </p:spPr>
          <p:txBody>
            <a:bodyPr wrap="none" lIns="0" tIns="0" rIns="0" bIns="0" anchor="t" anchorCtr="0">
              <a:spAutoFit/>
            </a:bodyPr>
            <a:lstStyle/>
            <a:p>
              <a:pPr algn="ctr"/>
              <a:r>
                <a:rPr lang="en-US" sz="1350" dirty="0">
                  <a:solidFill>
                    <a:srgbClr val="1F2937"/>
                  </a:solidFill>
                  <a:latin typeface="+mn-lt"/>
                  <a:ea typeface="+mn-ea"/>
                  <a:cs typeface="+mn-cs"/>
                </a:rPr>
                <a:t>S</a:t>
              </a:r>
            </a:p>
          </p:txBody>
        </p:sp>
        <p:sp>
          <p:nvSpPr>
            <p:cNvPr id="57" name="TextBox 57"/>
            <p:cNvSpPr txBox="1"/>
            <p:nvPr/>
          </p:nvSpPr>
          <p:spPr>
            <a:xfrm>
              <a:off x="9707270" y="4532948"/>
              <a:ext cx="119329" cy="264033"/>
            </a:xfrm>
            <a:prstGeom prst="rect">
              <a:avLst/>
            </a:prstGeom>
            <a:noFill/>
            <a:ln>
              <a:noFill/>
            </a:ln>
          </p:spPr>
          <p:txBody>
            <a:bodyPr wrap="none" lIns="0" tIns="0" rIns="0" bIns="0" anchor="t" anchorCtr="0">
              <a:spAutoFit/>
            </a:bodyPr>
            <a:lstStyle/>
            <a:p>
              <a:pPr algn="ctr"/>
              <a:r>
                <a:rPr lang="en-US" sz="1350" dirty="0">
                  <a:solidFill>
                    <a:srgbClr val="1F2937"/>
                  </a:solidFill>
                  <a:latin typeface="+mn-lt"/>
                  <a:ea typeface="+mn-ea"/>
                  <a:cs typeface="+mn-cs"/>
                </a:rPr>
                <a:t>S</a:t>
              </a:r>
            </a:p>
          </p:txBody>
        </p:sp>
        <p:sp>
          <p:nvSpPr>
            <p:cNvPr id="58" name="TextBox 58"/>
            <p:cNvSpPr txBox="1"/>
            <p:nvPr/>
          </p:nvSpPr>
          <p:spPr>
            <a:xfrm>
              <a:off x="10422064" y="4532948"/>
              <a:ext cx="436169" cy="264033"/>
            </a:xfrm>
            <a:prstGeom prst="rect">
              <a:avLst/>
            </a:prstGeom>
            <a:noFill/>
            <a:ln>
              <a:noFill/>
            </a:ln>
          </p:spPr>
          <p:txBody>
            <a:bodyPr wrap="none" lIns="0" tIns="0" rIns="0" bIns="0" anchor="t" anchorCtr="0">
              <a:spAutoFit/>
            </a:bodyPr>
            <a:lstStyle/>
            <a:p>
              <a:pPr algn="l"/>
              <a:r>
                <a:rPr lang="en-US" sz="1350" dirty="0">
                  <a:solidFill>
                    <a:srgbClr val="1F2937"/>
                  </a:solidFill>
                  <a:latin typeface="+mn-lt"/>
                  <a:ea typeface="+mn-ea"/>
                  <a:cs typeface="+mn-cs"/>
                </a:rPr>
                <a:t>{P2}</a:t>
              </a:r>
            </a:p>
          </p:txBody>
        </p:sp>
        <p:sp>
          <p:nvSpPr>
            <p:cNvPr id="59" name="Rectangle 59"/>
            <p:cNvSpPr/>
            <p:nvPr/>
          </p:nvSpPr>
          <p:spPr>
            <a:xfrm>
              <a:off x="533400" y="4844415"/>
              <a:ext cx="11125200" cy="9525"/>
            </a:xfrm>
            <a:prstGeom prst="rect">
              <a:avLst/>
            </a:prstGeom>
            <a:solidFill>
              <a:srgbClr val="D9DFEA"/>
            </a:solidFill>
            <a:ln>
              <a:noFill/>
            </a:ln>
          </p:spPr>
        </p:sp>
        <p:sp>
          <p:nvSpPr>
            <p:cNvPr id="60" name="Rectangle 60"/>
            <p:cNvSpPr/>
            <p:nvPr/>
          </p:nvSpPr>
          <p:spPr>
            <a:xfrm>
              <a:off x="533400" y="4849178"/>
              <a:ext cx="11125200" cy="444818"/>
            </a:xfrm>
            <a:prstGeom prst="rect">
              <a:avLst/>
            </a:prstGeom>
            <a:solidFill>
              <a:srgbClr val="F4F6FB"/>
            </a:solidFill>
            <a:ln>
              <a:noFill/>
            </a:ln>
          </p:spPr>
        </p:sp>
        <p:sp>
          <p:nvSpPr>
            <p:cNvPr id="61" name="TextBox 61"/>
            <p:cNvSpPr txBox="1"/>
            <p:nvPr/>
          </p:nvSpPr>
          <p:spPr>
            <a:xfrm>
              <a:off x="807440" y="4977765"/>
              <a:ext cx="118669" cy="264033"/>
            </a:xfrm>
            <a:prstGeom prst="rect">
              <a:avLst/>
            </a:prstGeom>
            <a:noFill/>
            <a:ln>
              <a:noFill/>
            </a:ln>
          </p:spPr>
          <p:txBody>
            <a:bodyPr wrap="none" lIns="0" tIns="0" rIns="0" bIns="0" anchor="t" anchorCtr="0">
              <a:spAutoFit/>
            </a:bodyPr>
            <a:lstStyle/>
            <a:p>
              <a:pPr algn="ctr"/>
              <a:r>
                <a:rPr lang="zh-CN" sz="1350" b="1" dirty="0">
                  <a:solidFill>
                    <a:srgbClr val="1F2937"/>
                  </a:solidFill>
                  <a:latin typeface="+mn-lt"/>
                  <a:ea typeface="+mn-ea"/>
                  <a:cs typeface="+mn-cs"/>
                </a:rPr>
                <a:t>6</a:t>
              </a:r>
            </a:p>
          </p:txBody>
        </p:sp>
        <p:sp>
          <p:nvSpPr>
            <p:cNvPr id="62" name="TextBox 62"/>
            <p:cNvSpPr txBox="1"/>
            <p:nvPr/>
          </p:nvSpPr>
          <p:spPr>
            <a:xfrm>
              <a:off x="1299972" y="4977765"/>
              <a:ext cx="809244"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P2 替换 K</a:t>
              </a:r>
            </a:p>
          </p:txBody>
        </p:sp>
        <p:sp>
          <p:nvSpPr>
            <p:cNvPr id="63" name="TextBox 63"/>
            <p:cNvSpPr txBox="1"/>
            <p:nvPr/>
          </p:nvSpPr>
          <p:spPr>
            <a:xfrm>
              <a:off x="2745867" y="4977765"/>
              <a:ext cx="882710" cy="264033"/>
            </a:xfrm>
            <a:prstGeom prst="rect">
              <a:avLst/>
            </a:prstGeom>
            <a:noFill/>
            <a:ln>
              <a:noFill/>
            </a:ln>
          </p:spPr>
          <p:txBody>
            <a:bodyPr wrap="none" lIns="0" tIns="0" rIns="0" bIns="0" anchor="t" anchorCtr="0">
              <a:spAutoFit/>
            </a:bodyPr>
            <a:lstStyle/>
            <a:p>
              <a:pPr algn="l"/>
              <a:r>
                <a:rPr lang="en-US" sz="1350" dirty="0">
                  <a:solidFill>
                    <a:srgbClr val="1F2937"/>
                  </a:solidFill>
                  <a:latin typeface="+mn-lt"/>
                  <a:ea typeface="+mn-ea"/>
                  <a:cs typeface="+mn-cs"/>
                </a:rPr>
                <a:t>P2→B Quit</a:t>
              </a:r>
            </a:p>
          </p:txBody>
        </p:sp>
        <p:sp>
          <p:nvSpPr>
            <p:cNvPr id="64" name="TextBox 64"/>
            <p:cNvSpPr txBox="1"/>
            <p:nvPr/>
          </p:nvSpPr>
          <p:spPr>
            <a:xfrm>
              <a:off x="8007248" y="4977765"/>
              <a:ext cx="71323" cy="264033"/>
            </a:xfrm>
            <a:prstGeom prst="rect">
              <a:avLst/>
            </a:prstGeom>
            <a:noFill/>
            <a:ln>
              <a:noFill/>
            </a:ln>
          </p:spPr>
          <p:txBody>
            <a:bodyPr wrap="none" lIns="0" tIns="0" rIns="0" bIns="0" anchor="t" anchorCtr="0">
              <a:spAutoFit/>
            </a:bodyPr>
            <a:lstStyle/>
            <a:p>
              <a:pPr algn="ctr"/>
              <a:r>
                <a:rPr lang="en-US" sz="1350" dirty="0">
                  <a:solidFill>
                    <a:srgbClr val="1F2937"/>
                  </a:solidFill>
                  <a:latin typeface="+mn-lt"/>
                  <a:ea typeface="+mn-ea"/>
                  <a:cs typeface="+mn-cs"/>
                </a:rPr>
                <a:t>I</a:t>
              </a:r>
            </a:p>
          </p:txBody>
        </p:sp>
        <p:sp>
          <p:nvSpPr>
            <p:cNvPr id="65" name="TextBox 65"/>
            <p:cNvSpPr txBox="1"/>
            <p:nvPr/>
          </p:nvSpPr>
          <p:spPr>
            <a:xfrm>
              <a:off x="8786393" y="4977765"/>
              <a:ext cx="71323" cy="264033"/>
            </a:xfrm>
            <a:prstGeom prst="rect">
              <a:avLst/>
            </a:prstGeom>
            <a:noFill/>
            <a:ln>
              <a:noFill/>
            </a:ln>
          </p:spPr>
          <p:txBody>
            <a:bodyPr wrap="none" lIns="0" tIns="0" rIns="0" bIns="0" anchor="t" anchorCtr="0">
              <a:spAutoFit/>
            </a:bodyPr>
            <a:lstStyle/>
            <a:p>
              <a:pPr algn="ctr"/>
              <a:r>
                <a:rPr lang="en-US" sz="1350" dirty="0">
                  <a:solidFill>
                    <a:srgbClr val="1F2937"/>
                  </a:solidFill>
                  <a:latin typeface="+mn-lt"/>
                  <a:ea typeface="+mn-ea"/>
                  <a:cs typeface="+mn-cs"/>
                </a:rPr>
                <a:t>I</a:t>
              </a:r>
            </a:p>
          </p:txBody>
        </p:sp>
        <p:sp>
          <p:nvSpPr>
            <p:cNvPr id="66" name="TextBox 66"/>
            <p:cNvSpPr txBox="1"/>
            <p:nvPr/>
          </p:nvSpPr>
          <p:spPr>
            <a:xfrm>
              <a:off x="9544050" y="4977765"/>
              <a:ext cx="445770" cy="264033"/>
            </a:xfrm>
            <a:prstGeom prst="rect">
              <a:avLst/>
            </a:prstGeom>
            <a:noFill/>
            <a:ln>
              <a:noFill/>
            </a:ln>
          </p:spPr>
          <p:txBody>
            <a:bodyPr wrap="none" lIns="0" tIns="0" rIns="0" bIns="0" anchor="t" anchorCtr="0">
              <a:spAutoFit/>
            </a:bodyPr>
            <a:lstStyle/>
            <a:p>
              <a:pPr algn="ctr"/>
              <a:r>
                <a:rPr lang="en-US" sz="1350" dirty="0">
                  <a:solidFill>
                    <a:srgbClr val="1F2937"/>
                  </a:solidFill>
                  <a:latin typeface="+mn-lt"/>
                  <a:ea typeface="+mn-ea"/>
                  <a:cs typeface="+mn-cs"/>
                </a:rPr>
                <a:t>S → U</a:t>
              </a:r>
            </a:p>
          </p:txBody>
        </p:sp>
        <p:sp>
          <p:nvSpPr>
            <p:cNvPr id="67" name="TextBox 67"/>
            <p:cNvSpPr txBox="1"/>
            <p:nvPr/>
          </p:nvSpPr>
          <p:spPr>
            <a:xfrm>
              <a:off x="10422064" y="4977765"/>
              <a:ext cx="268148"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 }</a:t>
              </a:r>
            </a:p>
          </p:txBody>
        </p:sp>
        <p:sp>
          <p:nvSpPr>
            <p:cNvPr id="68" name="Rectangle 68"/>
            <p:cNvSpPr/>
            <p:nvPr/>
          </p:nvSpPr>
          <p:spPr>
            <a:xfrm>
              <a:off x="533400" y="1941195"/>
              <a:ext cx="11125200" cy="3352800"/>
            </a:xfrm>
            <a:prstGeom prst="rect">
              <a:avLst/>
            </a:prstGeom>
            <a:noFill/>
            <a:ln w="14288">
              <a:solidFill>
                <a:srgbClr val="D9DFEA"/>
              </a:solidFill>
            </a:ln>
          </p:spPr>
        </p:sp>
        <p:sp>
          <p:nvSpPr>
            <p:cNvPr id="69" name="Rectangle 69"/>
            <p:cNvSpPr/>
            <p:nvPr/>
          </p:nvSpPr>
          <p:spPr>
            <a:xfrm>
              <a:off x="1196340" y="1941195"/>
              <a:ext cx="9525" cy="3352800"/>
            </a:xfrm>
            <a:prstGeom prst="rect">
              <a:avLst/>
            </a:prstGeom>
            <a:solidFill>
              <a:srgbClr val="D9DFEA"/>
            </a:solidFill>
            <a:ln>
              <a:noFill/>
            </a:ln>
          </p:spPr>
        </p:sp>
        <p:sp>
          <p:nvSpPr>
            <p:cNvPr id="70" name="Rectangle 70"/>
            <p:cNvSpPr/>
            <p:nvPr/>
          </p:nvSpPr>
          <p:spPr>
            <a:xfrm>
              <a:off x="2642235" y="1941195"/>
              <a:ext cx="9525" cy="3352800"/>
            </a:xfrm>
            <a:prstGeom prst="rect">
              <a:avLst/>
            </a:prstGeom>
            <a:solidFill>
              <a:srgbClr val="D9DFEA"/>
            </a:solidFill>
            <a:ln>
              <a:noFill/>
            </a:ln>
          </p:spPr>
        </p:sp>
        <p:sp>
          <p:nvSpPr>
            <p:cNvPr id="71" name="Rectangle 71"/>
            <p:cNvSpPr/>
            <p:nvPr/>
          </p:nvSpPr>
          <p:spPr>
            <a:xfrm>
              <a:off x="7648575" y="1941195"/>
              <a:ext cx="9525" cy="3352800"/>
            </a:xfrm>
            <a:prstGeom prst="rect">
              <a:avLst/>
            </a:prstGeom>
            <a:solidFill>
              <a:srgbClr val="D9DFEA"/>
            </a:solidFill>
            <a:ln>
              <a:noFill/>
            </a:ln>
          </p:spPr>
        </p:sp>
        <p:sp>
          <p:nvSpPr>
            <p:cNvPr id="72" name="Rectangle 72"/>
            <p:cNvSpPr/>
            <p:nvPr/>
          </p:nvSpPr>
          <p:spPr>
            <a:xfrm>
              <a:off x="8427720" y="1941195"/>
              <a:ext cx="9525" cy="3352800"/>
            </a:xfrm>
            <a:prstGeom prst="rect">
              <a:avLst/>
            </a:prstGeom>
            <a:solidFill>
              <a:srgbClr val="D9DFEA"/>
            </a:solidFill>
            <a:ln>
              <a:noFill/>
            </a:ln>
          </p:spPr>
        </p:sp>
        <p:sp>
          <p:nvSpPr>
            <p:cNvPr id="73" name="Rectangle 73"/>
            <p:cNvSpPr/>
            <p:nvPr/>
          </p:nvSpPr>
          <p:spPr>
            <a:xfrm>
              <a:off x="9205912" y="1941195"/>
              <a:ext cx="9525" cy="3352800"/>
            </a:xfrm>
            <a:prstGeom prst="rect">
              <a:avLst/>
            </a:prstGeom>
            <a:solidFill>
              <a:srgbClr val="D9DFEA"/>
            </a:solidFill>
            <a:ln>
              <a:noFill/>
            </a:ln>
          </p:spPr>
        </p:sp>
        <p:sp>
          <p:nvSpPr>
            <p:cNvPr id="74" name="Rectangle 74"/>
            <p:cNvSpPr/>
            <p:nvPr/>
          </p:nvSpPr>
          <p:spPr>
            <a:xfrm>
              <a:off x="10318432" y="1941195"/>
              <a:ext cx="9525" cy="3352800"/>
            </a:xfrm>
            <a:prstGeom prst="rect">
              <a:avLst/>
            </a:prstGeom>
            <a:solidFill>
              <a:srgbClr val="D9DFEA"/>
            </a:solidFill>
            <a:ln>
              <a:noFill/>
            </a:ln>
          </p:spPr>
        </p:sp>
      </p:grpSp>
      <p:grpSp>
        <p:nvGrpSpPr>
          <p:cNvPr id="82" name="takeaway"/>
          <p:cNvGrpSpPr/>
          <p:nvPr/>
        </p:nvGrpSpPr>
        <p:grpSpPr>
          <a:xfrm>
            <a:off x="533400" y="5874068"/>
            <a:ext cx="11125200" cy="488632"/>
            <a:chOff x="533400" y="5874068"/>
            <a:chExt cx="11125200" cy="488632"/>
          </a:xfrm>
        </p:grpSpPr>
        <p:sp>
          <p:nvSpPr>
            <p:cNvPr id="76" name="Rectangle 76"/>
            <p:cNvSpPr/>
            <p:nvPr/>
          </p:nvSpPr>
          <p:spPr>
            <a:xfrm>
              <a:off x="533400" y="5874068"/>
              <a:ext cx="11125200" cy="488632"/>
            </a:xfrm>
            <a:prstGeom prst="roundRect">
              <a:avLst>
                <a:gd name="adj" fmla="val 23392"/>
              </a:avLst>
            </a:prstGeom>
            <a:solidFill>
              <a:srgbClr val="FDEEE7"/>
            </a:solidFill>
            <a:ln>
              <a:noFill/>
            </a:ln>
          </p:spPr>
        </p:sp>
        <p:grpSp>
          <p:nvGrpSpPr>
            <p:cNvPr id="80" name="Group 80"/>
            <p:cNvGrpSpPr/>
            <p:nvPr/>
          </p:nvGrpSpPr>
          <p:grpSpPr>
            <a:xfrm>
              <a:off x="738188" y="6017895"/>
              <a:ext cx="200026" cy="200025"/>
              <a:chOff x="738188" y="6017895"/>
              <a:chExt cx="200026" cy="200025"/>
            </a:xfrm>
          </p:grpSpPr>
          <p:sp>
            <p:nvSpPr>
              <p:cNvPr id="77" name="Freeform 77"/>
              <p:cNvSpPr/>
              <p:nvPr/>
            </p:nvSpPr>
            <p:spPr>
              <a:xfrm>
                <a:off x="738188" y="6017895"/>
                <a:ext cx="200026" cy="100013"/>
              </a:xfrm>
              <a:custGeom>
                <a:avLst/>
                <a:gdLst/>
                <a:ahLst/>
                <a:cxnLst/>
                <a:rect l="l" t="t" r="r" b="b"/>
                <a:pathLst>
                  <a:path w="200026" h="100013">
                    <a:moveTo>
                      <a:pt x="0" y="100013"/>
                    </a:moveTo>
                    <a:lnTo>
                      <a:pt x="11113" y="100013"/>
                    </a:lnTo>
                    <a:moveTo>
                      <a:pt x="100013" y="0"/>
                    </a:moveTo>
                    <a:lnTo>
                      <a:pt x="100013" y="11113"/>
                    </a:lnTo>
                    <a:moveTo>
                      <a:pt x="188913" y="100013"/>
                    </a:moveTo>
                    <a:lnTo>
                      <a:pt x="200026" y="100013"/>
                    </a:lnTo>
                    <a:moveTo>
                      <a:pt x="28893" y="28893"/>
                    </a:moveTo>
                    <a:lnTo>
                      <a:pt x="36671" y="36671"/>
                    </a:lnTo>
                    <a:moveTo>
                      <a:pt x="171133" y="28893"/>
                    </a:moveTo>
                    <a:lnTo>
                      <a:pt x="163354" y="36671"/>
                    </a:lnTo>
                  </a:path>
                </a:pathLst>
              </a:custGeom>
              <a:noFill/>
              <a:ln w="22225">
                <a:solidFill>
                  <a:srgbClr val="C2410C"/>
                </a:solidFill>
              </a:ln>
            </p:spPr>
          </p:sp>
          <p:sp>
            <p:nvSpPr>
              <p:cNvPr id="78" name="Freeform 78"/>
              <p:cNvSpPr/>
              <p:nvPr/>
            </p:nvSpPr>
            <p:spPr>
              <a:xfrm>
                <a:off x="777926" y="6062345"/>
                <a:ext cx="120548" cy="155575"/>
              </a:xfrm>
              <a:custGeom>
                <a:avLst/>
                <a:gdLst/>
                <a:ahLst/>
                <a:cxnLst/>
                <a:rect l="l" t="t" r="r" b="b"/>
                <a:pathLst>
                  <a:path w="120548" h="155575">
                    <a:moveTo>
                      <a:pt x="26937" y="100013"/>
                    </a:moveTo>
                    <a:cubicBezTo>
                      <a:pt x="7804" y="85663"/>
                      <a:pt x="0" y="60681"/>
                      <a:pt x="7563" y="37992"/>
                    </a:cubicBezTo>
                    <a:cubicBezTo>
                      <a:pt x="15126" y="15304"/>
                      <a:pt x="36358" y="0"/>
                      <a:pt x="60274" y="0"/>
                    </a:cubicBezTo>
                    <a:cubicBezTo>
                      <a:pt x="84190" y="0"/>
                      <a:pt x="105423" y="15304"/>
                      <a:pt x="112986" y="37992"/>
                    </a:cubicBezTo>
                    <a:cubicBezTo>
                      <a:pt x="120548" y="60681"/>
                      <a:pt x="112745" y="85663"/>
                      <a:pt x="93612" y="100013"/>
                    </a:cubicBezTo>
                    <a:cubicBezTo>
                      <a:pt x="84812" y="108723"/>
                      <a:pt x="80686" y="121103"/>
                      <a:pt x="82499" y="133350"/>
                    </a:cubicBezTo>
                    <a:cubicBezTo>
                      <a:pt x="82499" y="145625"/>
                      <a:pt x="72549" y="155575"/>
                      <a:pt x="60274" y="155575"/>
                    </a:cubicBezTo>
                    <a:cubicBezTo>
                      <a:pt x="48000" y="155575"/>
                      <a:pt x="38049" y="145625"/>
                      <a:pt x="38049" y="133350"/>
                    </a:cubicBezTo>
                    <a:cubicBezTo>
                      <a:pt x="39862" y="121103"/>
                      <a:pt x="35736" y="108723"/>
                      <a:pt x="26937" y="100013"/>
                    </a:cubicBezTo>
                  </a:path>
                </a:pathLst>
              </a:custGeom>
              <a:noFill/>
              <a:ln w="22225">
                <a:solidFill>
                  <a:srgbClr val="C2410C"/>
                </a:solidFill>
              </a:ln>
            </p:spPr>
          </p:sp>
          <p:sp>
            <p:nvSpPr>
              <p:cNvPr id="79" name="Freeform 79"/>
              <p:cNvSpPr/>
              <p:nvPr/>
            </p:nvSpPr>
            <p:spPr>
              <a:xfrm>
                <a:off x="812642" y="6173471"/>
                <a:ext cx="51118" cy="9525"/>
              </a:xfrm>
              <a:custGeom>
                <a:avLst/>
                <a:gdLst/>
                <a:ahLst/>
                <a:cxnLst/>
                <a:rect l="l" t="t" r="r" b="b"/>
                <a:pathLst>
                  <a:path w="51118" h="9525">
                    <a:moveTo>
                      <a:pt x="0" y="0"/>
                    </a:moveTo>
                    <a:lnTo>
                      <a:pt x="51118" y="0"/>
                    </a:lnTo>
                  </a:path>
                </a:pathLst>
              </a:custGeom>
              <a:noFill/>
              <a:ln w="22225">
                <a:solidFill>
                  <a:srgbClr val="C2410C"/>
                </a:solidFill>
              </a:ln>
            </p:spPr>
          </p:sp>
        </p:grpSp>
        <p:sp>
          <p:nvSpPr>
            <p:cNvPr id="81" name="TextBox 81"/>
            <p:cNvSpPr txBox="1"/>
            <p:nvPr/>
          </p:nvSpPr>
          <p:spPr>
            <a:xfrm>
              <a:off x="1040892" y="6023610"/>
              <a:ext cx="10410444" cy="264033"/>
            </a:xfrm>
            <a:prstGeom prst="rect">
              <a:avLst/>
            </a:prstGeom>
            <a:noFill/>
            <a:ln>
              <a:noFill/>
            </a:ln>
          </p:spPr>
          <p:txBody>
            <a:bodyPr wrap="none" lIns="0" tIns="0" rIns="0" bIns="0" anchor="t" anchorCtr="0">
              <a:spAutoFit/>
            </a:bodyPr>
            <a:lstStyle/>
            <a:p>
              <a:pPr algn="l"/>
              <a:r>
                <a:rPr lang="zh-CN" sz="1350" dirty="0">
                  <a:solidFill>
                    <a:srgbClr val="C2410C"/>
                  </a:solidFill>
                  <a:latin typeface="+mn-lt"/>
                  <a:ea typeface="+mn-ea"/>
                  <a:cs typeface="+mn-cs"/>
                </a:rPr>
                <a:t>第 3 步 P2 的身份是 C（它有 clean 副本，要求独占），第 4 步又成了被 B 索取数据的 C；同一个节点对不同操作扮演不同角色。</a:t>
              </a:r>
            </a:p>
          </p:txBody>
        </p:sp>
      </p:grpSp>
      <p:grpSp>
        <p:nvGrpSpPr>
          <p:cNvPr id="85" name="footer"/>
          <p:cNvGrpSpPr/>
          <p:nvPr/>
        </p:nvGrpSpPr>
        <p:grpSpPr>
          <a:xfrm>
            <a:off x="528447" y="6581299"/>
            <a:ext cx="11135106" cy="190690"/>
            <a:chOff x="528447" y="6581299"/>
            <a:chExt cx="11135106" cy="190690"/>
          </a:xfrm>
        </p:grpSpPr>
        <p:sp>
          <p:nvSpPr>
            <p:cNvPr id="83" name="TextBox 83"/>
            <p:cNvSpPr txBox="1"/>
            <p:nvPr/>
          </p:nvSpPr>
          <p:spPr>
            <a:xfrm>
              <a:off x="528447" y="6581299"/>
              <a:ext cx="2120748"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并行与分布式计算 · 第7章 体系结构</a:t>
              </a:r>
            </a:p>
          </p:txBody>
        </p:sp>
        <p:sp>
          <p:nvSpPr>
            <p:cNvPr id="84" name="TextBox 84"/>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37</a:t>
              </a:r>
            </a:p>
          </p:txBody>
        </p:sp>
      </p:grpSp>
    </p:spTree>
  </p:cSld>
  <p:clrMapOvr>
    <a:masterClrMapping/>
  </p:clrMapOvr>
  <p:transition xmlns:p14="http://schemas.microsoft.com/office/powerpoint/2010/main" p14:dur="400">
    <p:fade/>
  </p:transition>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6204966" cy="909257"/>
            <a:chOff x="520446" y="342900"/>
            <a:chExt cx="6204966" cy="909257"/>
          </a:xfrm>
        </p:grpSpPr>
        <p:sp>
          <p:nvSpPr>
            <p:cNvPr id="2" name="Rectangle 2"/>
            <p:cNvSpPr/>
            <p:nvPr/>
          </p:nvSpPr>
          <p:spPr>
            <a:xfrm>
              <a:off x="533400" y="342900"/>
              <a:ext cx="2586038" cy="266700"/>
            </a:xfrm>
            <a:prstGeom prst="roundRect">
              <a:avLst>
                <a:gd name="adj" fmla="val 50000"/>
              </a:avLst>
            </a:prstGeom>
            <a:solidFill>
              <a:srgbClr val="E7EDF3"/>
            </a:solidFill>
            <a:ln>
              <a:noFill/>
            </a:ln>
          </p:spPr>
        </p:sp>
        <p:sp>
          <p:nvSpPr>
            <p:cNvPr id="3" name="TextBox 3"/>
            <p:cNvSpPr txBox="1"/>
            <p:nvPr/>
          </p:nvSpPr>
          <p:spPr>
            <a:xfrm>
              <a:off x="587464" y="407194"/>
              <a:ext cx="2476957"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第7章 体系结构 · Cache 一致性问题</a:t>
              </a:r>
            </a:p>
          </p:txBody>
        </p:sp>
        <p:sp>
          <p:nvSpPr>
            <p:cNvPr id="4" name="TextBox 4"/>
            <p:cNvSpPr txBox="1"/>
            <p:nvPr/>
          </p:nvSpPr>
          <p:spPr>
            <a:xfrm>
              <a:off x="520446" y="753428"/>
              <a:ext cx="6204966"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三类目录结构：位向量、有限指针、链表</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31" name="c1-table-1"/>
          <p:cNvGrpSpPr/>
          <p:nvPr/>
        </p:nvGrpSpPr>
        <p:grpSpPr>
          <a:xfrm>
            <a:off x="533400" y="1524000"/>
            <a:ext cx="6059805" cy="2889885"/>
            <a:chOff x="533400" y="1524000"/>
            <a:chExt cx="6059805" cy="2889885"/>
          </a:xfrm>
        </p:grpSpPr>
        <p:sp>
          <p:nvSpPr>
            <p:cNvPr id="7" name="Rectangle 7"/>
            <p:cNvSpPr/>
            <p:nvPr/>
          </p:nvSpPr>
          <p:spPr>
            <a:xfrm>
              <a:off x="533400" y="1524000"/>
              <a:ext cx="6059805" cy="468630"/>
            </a:xfrm>
            <a:prstGeom prst="rect">
              <a:avLst/>
            </a:prstGeom>
            <a:solidFill>
              <a:srgbClr val="334E68"/>
            </a:solidFill>
            <a:ln>
              <a:noFill/>
            </a:ln>
          </p:spPr>
        </p:sp>
        <p:sp>
          <p:nvSpPr>
            <p:cNvPr id="8" name="TextBox 8"/>
            <p:cNvSpPr txBox="1"/>
            <p:nvPr/>
          </p:nvSpPr>
          <p:spPr>
            <a:xfrm>
              <a:off x="758863" y="1658779"/>
              <a:ext cx="396799" cy="278702"/>
            </a:xfrm>
            <a:prstGeom prst="rect">
              <a:avLst/>
            </a:prstGeom>
            <a:noFill/>
            <a:ln>
              <a:noFill/>
            </a:ln>
          </p:spPr>
          <p:txBody>
            <a:bodyPr wrap="none" lIns="0" tIns="0" rIns="0" bIns="0" anchor="t" anchorCtr="0">
              <a:spAutoFit/>
            </a:bodyPr>
            <a:lstStyle/>
            <a:p>
              <a:pPr algn="ctr"/>
              <a:r>
                <a:rPr lang="zh-CN" sz="1420" b="1" dirty="0">
                  <a:solidFill>
                    <a:srgbClr val="FFFFFF"/>
                  </a:solidFill>
                  <a:latin typeface="+mn-lt"/>
                  <a:ea typeface="+mn-ea"/>
                  <a:cs typeface="+mn-cs"/>
                </a:rPr>
                <a:t>结构</a:t>
              </a:r>
            </a:p>
          </p:txBody>
        </p:sp>
        <p:sp>
          <p:nvSpPr>
            <p:cNvPr id="9" name="TextBox 9"/>
            <p:cNvSpPr txBox="1"/>
            <p:nvPr/>
          </p:nvSpPr>
          <p:spPr>
            <a:xfrm>
              <a:off x="1483309" y="1658779"/>
              <a:ext cx="1734922" cy="278702"/>
            </a:xfrm>
            <a:prstGeom prst="rect">
              <a:avLst/>
            </a:prstGeom>
            <a:noFill/>
            <a:ln>
              <a:noFill/>
            </a:ln>
          </p:spPr>
          <p:txBody>
            <a:bodyPr wrap="none" lIns="0" tIns="0" rIns="0" bIns="0" anchor="t" anchorCtr="0">
              <a:spAutoFit/>
            </a:bodyPr>
            <a:lstStyle/>
            <a:p>
              <a:pPr algn="ctr"/>
              <a:r>
                <a:rPr lang="zh-CN" sz="1420" b="1" dirty="0">
                  <a:solidFill>
                    <a:srgbClr val="FFFFFF"/>
                  </a:solidFill>
                  <a:latin typeface="+mn-lt"/>
                  <a:ea typeface="+mn-ea"/>
                  <a:cs typeface="+mn-cs"/>
                </a:rPr>
                <a:t>每块的目录项存什么</a:t>
              </a:r>
            </a:p>
          </p:txBody>
        </p:sp>
        <p:sp>
          <p:nvSpPr>
            <p:cNvPr id="10" name="TextBox 10"/>
            <p:cNvSpPr txBox="1"/>
            <p:nvPr/>
          </p:nvSpPr>
          <p:spPr>
            <a:xfrm>
              <a:off x="3527412" y="1658779"/>
              <a:ext cx="1161440" cy="278702"/>
            </a:xfrm>
            <a:prstGeom prst="rect">
              <a:avLst/>
            </a:prstGeom>
            <a:noFill/>
            <a:ln>
              <a:noFill/>
            </a:ln>
          </p:spPr>
          <p:txBody>
            <a:bodyPr wrap="none" lIns="0" tIns="0" rIns="0" bIns="0" anchor="t" anchorCtr="0">
              <a:spAutoFit/>
            </a:bodyPr>
            <a:lstStyle/>
            <a:p>
              <a:pPr algn="ctr"/>
              <a:r>
                <a:rPr lang="zh-CN" sz="1420" b="1" dirty="0">
                  <a:solidFill>
                    <a:srgbClr val="FFFFFF"/>
                  </a:solidFill>
                  <a:latin typeface="+mn-lt"/>
                  <a:ea typeface="+mn-ea"/>
                  <a:cs typeface="+mn-cs"/>
                </a:rPr>
                <a:t>每块目录位数</a:t>
              </a:r>
            </a:p>
          </p:txBody>
        </p:sp>
        <p:sp>
          <p:nvSpPr>
            <p:cNvPr id="11" name="TextBox 11"/>
            <p:cNvSpPr txBox="1"/>
            <p:nvPr/>
          </p:nvSpPr>
          <p:spPr>
            <a:xfrm>
              <a:off x="5546128" y="1658779"/>
              <a:ext cx="396799" cy="278702"/>
            </a:xfrm>
            <a:prstGeom prst="rect">
              <a:avLst/>
            </a:prstGeom>
            <a:noFill/>
            <a:ln>
              <a:noFill/>
            </a:ln>
          </p:spPr>
          <p:txBody>
            <a:bodyPr wrap="none" lIns="0" tIns="0" rIns="0" bIns="0" anchor="t" anchorCtr="0">
              <a:spAutoFit/>
            </a:bodyPr>
            <a:lstStyle/>
            <a:p>
              <a:pPr algn="ctr"/>
              <a:r>
                <a:rPr lang="zh-CN" sz="1420" b="1" dirty="0">
                  <a:solidFill>
                    <a:srgbClr val="FFFFFF"/>
                  </a:solidFill>
                  <a:latin typeface="+mn-lt"/>
                  <a:ea typeface="+mn-ea"/>
                  <a:cs typeface="+mn-cs"/>
                </a:rPr>
                <a:t>特点</a:t>
              </a:r>
            </a:p>
          </p:txBody>
        </p:sp>
        <p:sp>
          <p:nvSpPr>
            <p:cNvPr id="12" name="TextBox 12"/>
            <p:cNvSpPr txBox="1"/>
            <p:nvPr/>
          </p:nvSpPr>
          <p:spPr>
            <a:xfrm>
              <a:off x="637604" y="2255044"/>
              <a:ext cx="587959"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全映像</a:t>
              </a:r>
            </a:p>
          </p:txBody>
        </p:sp>
        <p:sp>
          <p:nvSpPr>
            <p:cNvPr id="13" name="TextBox 13"/>
            <p:cNvSpPr txBox="1"/>
            <p:nvPr/>
          </p:nvSpPr>
          <p:spPr>
            <a:xfrm>
              <a:off x="1486281" y="2128361"/>
              <a:ext cx="1610487" cy="532066"/>
            </a:xfrm>
            <a:prstGeom prst="rect">
              <a:avLst/>
            </a:prstGeom>
            <a:noFill/>
            <a:ln>
              <a:noFill/>
            </a:ln>
          </p:spPr>
          <p:txBody>
            <a:bodyPr wrap="none" lIns="0" tIns="0" rIns="0" bIns="0" anchor="t" anchorCtr="0">
              <a:spAutoFit/>
            </a:bodyPr>
            <a:lstStyle/>
            <a:p>
              <a:pPr algn="l">
                <a:lnSpc>
                  <a:spcPts val="1995"/>
                </a:lnSpc>
              </a:pPr>
              <a:r>
                <a:rPr lang="zh-CN" sz="1420" dirty="0">
                  <a:solidFill>
                    <a:srgbClr val="1F2937"/>
                  </a:solidFill>
                  <a:latin typeface="+mn-lt"/>
                  <a:ea typeface="+mn-ea"/>
                  <a:cs typeface="+mn-cs"/>
                </a:rPr>
                <a:t>N 位位向量，每位对</a:t>
              </a:r>
              <a:br/>
              <a:r>
                <a:rPr lang="zh-CN" sz="1420" dirty="0">
                  <a:solidFill>
                    <a:srgbClr val="1F2937"/>
                  </a:solidFill>
                  <a:latin typeface="+mn-lt"/>
                  <a:ea typeface="+mn-ea"/>
                  <a:cs typeface="+mn-cs"/>
                </a:rPr>
                <a:t>应一个处理器</a:t>
              </a:r>
            </a:p>
          </p:txBody>
        </p:sp>
        <p:sp>
          <p:nvSpPr>
            <p:cNvPr id="14" name="TextBox 14"/>
            <p:cNvSpPr txBox="1"/>
            <p:nvPr/>
          </p:nvSpPr>
          <p:spPr>
            <a:xfrm>
              <a:off x="3424618" y="2255044"/>
              <a:ext cx="125567" cy="278702"/>
            </a:xfrm>
            <a:prstGeom prst="rect">
              <a:avLst/>
            </a:prstGeom>
            <a:noFill/>
            <a:ln>
              <a:noFill/>
            </a:ln>
          </p:spPr>
          <p:txBody>
            <a:bodyPr wrap="none" lIns="0" tIns="0" rIns="0" bIns="0" anchor="t" anchorCtr="0">
              <a:spAutoFit/>
            </a:bodyPr>
            <a:lstStyle/>
            <a:p>
              <a:pPr algn="l"/>
              <a:r>
                <a:rPr lang="en-US" sz="1420" dirty="0">
                  <a:solidFill>
                    <a:srgbClr val="1F2937"/>
                  </a:solidFill>
                  <a:latin typeface="+mn-lt"/>
                  <a:ea typeface="+mn-ea"/>
                  <a:cs typeface="+mn-cs"/>
                </a:rPr>
                <a:t>N</a:t>
              </a:r>
            </a:p>
          </p:txBody>
        </p:sp>
        <p:sp>
          <p:nvSpPr>
            <p:cNvPr id="15" name="TextBox 15"/>
            <p:cNvSpPr txBox="1"/>
            <p:nvPr/>
          </p:nvSpPr>
          <p:spPr>
            <a:xfrm>
              <a:off x="5000054" y="2128361"/>
              <a:ext cx="1285875" cy="532066"/>
            </a:xfrm>
            <a:prstGeom prst="rect">
              <a:avLst/>
            </a:prstGeom>
            <a:noFill/>
            <a:ln>
              <a:noFill/>
            </a:ln>
          </p:spPr>
          <p:txBody>
            <a:bodyPr wrap="none" lIns="0" tIns="0" rIns="0" bIns="0" anchor="t" anchorCtr="0">
              <a:spAutoFit/>
            </a:bodyPr>
            <a:lstStyle/>
            <a:p>
              <a:pPr algn="l">
                <a:lnSpc>
                  <a:spcPts val="1995"/>
                </a:lnSpc>
              </a:pPr>
              <a:r>
                <a:rPr lang="zh-CN" sz="1420" dirty="0">
                  <a:solidFill>
                    <a:srgbClr val="1F2937"/>
                  </a:solidFill>
                  <a:latin typeface="+mn-lt"/>
                  <a:ea typeface="+mn-ea"/>
                  <a:cs typeface="+mn-cs"/>
                </a:rPr>
                <a:t>精确；总开销 m</a:t>
              </a:r>
              <a:br/>
              <a:r>
                <a:rPr lang="en-US" sz="1420" dirty="0">
                  <a:solidFill>
                    <a:srgbClr val="1F2937"/>
                  </a:solidFill>
                  <a:latin typeface="+mn-lt"/>
                  <a:ea typeface="+mn-ea"/>
                  <a:cs typeface="+mn-cs"/>
                </a:rPr>
                <a:t>× N²</a:t>
              </a:r>
            </a:p>
          </p:txBody>
        </p:sp>
        <p:sp>
          <p:nvSpPr>
            <p:cNvPr id="16" name="Rectangle 16"/>
            <p:cNvSpPr/>
            <p:nvPr/>
          </p:nvSpPr>
          <p:spPr>
            <a:xfrm>
              <a:off x="533400" y="2710815"/>
              <a:ext cx="6059805" cy="9525"/>
            </a:xfrm>
            <a:prstGeom prst="rect">
              <a:avLst/>
            </a:prstGeom>
            <a:solidFill>
              <a:srgbClr val="D9DFEA"/>
            </a:solidFill>
            <a:ln>
              <a:noFill/>
            </a:ln>
          </p:spPr>
        </p:sp>
        <p:sp>
          <p:nvSpPr>
            <p:cNvPr id="17" name="Rectangle 17"/>
            <p:cNvSpPr/>
            <p:nvPr/>
          </p:nvSpPr>
          <p:spPr>
            <a:xfrm>
              <a:off x="533400" y="2715578"/>
              <a:ext cx="6059805" cy="721995"/>
            </a:xfrm>
            <a:prstGeom prst="rect">
              <a:avLst/>
            </a:prstGeom>
            <a:solidFill>
              <a:srgbClr val="F4F6FB"/>
            </a:solidFill>
            <a:ln>
              <a:noFill/>
            </a:ln>
          </p:spPr>
        </p:sp>
        <p:sp>
          <p:nvSpPr>
            <p:cNvPr id="18" name="TextBox 18"/>
            <p:cNvSpPr txBox="1"/>
            <p:nvPr/>
          </p:nvSpPr>
          <p:spPr>
            <a:xfrm>
              <a:off x="637604" y="2850356"/>
              <a:ext cx="555498" cy="532066"/>
            </a:xfrm>
            <a:prstGeom prst="rect">
              <a:avLst/>
            </a:prstGeom>
            <a:noFill/>
            <a:ln>
              <a:noFill/>
            </a:ln>
          </p:spPr>
          <p:txBody>
            <a:bodyPr wrap="none" lIns="0" tIns="0" rIns="0" bIns="0" anchor="t" anchorCtr="0">
              <a:spAutoFit/>
            </a:bodyPr>
            <a:lstStyle/>
            <a:p>
              <a:pPr algn="l">
                <a:lnSpc>
                  <a:spcPts val="1995"/>
                </a:lnSpc>
              </a:pPr>
              <a:r>
                <a:rPr lang="zh-CN" sz="1420" b="1" dirty="0">
                  <a:solidFill>
                    <a:srgbClr val="1F2937"/>
                  </a:solidFill>
                  <a:latin typeface="+mn-lt"/>
                  <a:ea typeface="+mn-ea"/>
                  <a:cs typeface="+mn-cs"/>
                </a:rPr>
                <a:t>有限映</a:t>
              </a:r>
              <a:br/>
              <a:r>
                <a:rPr lang="zh-CN" sz="1420" b="1" dirty="0">
                  <a:solidFill>
                    <a:srgbClr val="1F2937"/>
                  </a:solidFill>
                  <a:latin typeface="+mn-lt"/>
                  <a:ea typeface="+mn-ea"/>
                  <a:cs typeface="+mn-cs"/>
                </a:rPr>
                <a:t>像</a:t>
              </a:r>
            </a:p>
          </p:txBody>
        </p:sp>
        <p:sp>
          <p:nvSpPr>
            <p:cNvPr id="19" name="TextBox 19"/>
            <p:cNvSpPr txBox="1"/>
            <p:nvPr/>
          </p:nvSpPr>
          <p:spPr>
            <a:xfrm>
              <a:off x="1486281" y="2850356"/>
              <a:ext cx="1484249" cy="532066"/>
            </a:xfrm>
            <a:prstGeom prst="rect">
              <a:avLst/>
            </a:prstGeom>
            <a:noFill/>
            <a:ln>
              <a:noFill/>
            </a:ln>
          </p:spPr>
          <p:txBody>
            <a:bodyPr wrap="none" lIns="0" tIns="0" rIns="0" bIns="0" anchor="t" anchorCtr="0">
              <a:spAutoFit/>
            </a:bodyPr>
            <a:lstStyle/>
            <a:p>
              <a:pPr algn="l">
                <a:lnSpc>
                  <a:spcPts val="1995"/>
                </a:lnSpc>
              </a:pPr>
              <a:r>
                <a:rPr lang="zh-CN" sz="1420" dirty="0">
                  <a:solidFill>
                    <a:srgbClr val="1F2937"/>
                  </a:solidFill>
                  <a:latin typeface="+mn-lt"/>
                  <a:ea typeface="+mn-ea"/>
                  <a:cs typeface="+mn-cs"/>
                </a:rPr>
                <a:t>固定 c 个指针，每</a:t>
              </a:r>
              <a:br/>
              <a:r>
                <a:rPr lang="zh-CN" sz="1420" dirty="0">
                  <a:solidFill>
                    <a:srgbClr val="1F2937"/>
                  </a:solidFill>
                  <a:latin typeface="+mn-lt"/>
                  <a:ea typeface="+mn-ea"/>
                  <a:cs typeface="+mn-cs"/>
                </a:rPr>
                <a:t>个存一个处理器号</a:t>
              </a:r>
            </a:p>
          </p:txBody>
        </p:sp>
        <p:sp>
          <p:nvSpPr>
            <p:cNvPr id="20" name="TextBox 20"/>
            <p:cNvSpPr txBox="1"/>
            <p:nvPr/>
          </p:nvSpPr>
          <p:spPr>
            <a:xfrm>
              <a:off x="3424618" y="2977039"/>
              <a:ext cx="1039098" cy="278702"/>
            </a:xfrm>
            <a:prstGeom prst="rect">
              <a:avLst/>
            </a:prstGeom>
            <a:noFill/>
            <a:ln>
              <a:noFill/>
            </a:ln>
          </p:spPr>
          <p:txBody>
            <a:bodyPr wrap="none" lIns="0" tIns="0" rIns="0" bIns="0" anchor="t" anchorCtr="0">
              <a:spAutoFit/>
            </a:bodyPr>
            <a:lstStyle/>
            <a:p>
              <a:pPr algn="l"/>
              <a:r>
                <a:rPr lang="en-US" sz="1420" dirty="0">
                  <a:solidFill>
                    <a:srgbClr val="1F2937"/>
                  </a:solidFill>
                  <a:latin typeface="+mn-lt"/>
                  <a:ea typeface="+mn-ea"/>
                  <a:cs typeface="+mn-cs"/>
                </a:rPr>
                <a:t>c × ⌈log₂N⌉</a:t>
              </a:r>
            </a:p>
          </p:txBody>
        </p:sp>
        <p:sp>
          <p:nvSpPr>
            <p:cNvPr id="21" name="TextBox 21"/>
            <p:cNvSpPr txBox="1"/>
            <p:nvPr/>
          </p:nvSpPr>
          <p:spPr>
            <a:xfrm>
              <a:off x="5000054" y="2850356"/>
              <a:ext cx="1303909" cy="532066"/>
            </a:xfrm>
            <a:prstGeom prst="rect">
              <a:avLst/>
            </a:prstGeom>
            <a:noFill/>
            <a:ln>
              <a:noFill/>
            </a:ln>
          </p:spPr>
          <p:txBody>
            <a:bodyPr wrap="none" lIns="0" tIns="0" rIns="0" bIns="0" anchor="t" anchorCtr="0">
              <a:spAutoFit/>
            </a:bodyPr>
            <a:lstStyle/>
            <a:p>
              <a:pPr algn="l">
                <a:lnSpc>
                  <a:spcPts val="1995"/>
                </a:lnSpc>
              </a:pPr>
              <a:r>
                <a:rPr lang="zh-CN" sz="1420" dirty="0">
                  <a:solidFill>
                    <a:srgbClr val="1F2937"/>
                  </a:solidFill>
                  <a:latin typeface="+mn-lt"/>
                  <a:ea typeface="+mn-ea"/>
                  <a:cs typeface="+mn-cs"/>
                </a:rPr>
                <a:t>副本超过 c 个时</a:t>
              </a:r>
              <a:br/>
              <a:r>
                <a:rPr lang="zh-CN" sz="1420" dirty="0">
                  <a:solidFill>
                    <a:srgbClr val="1F2937"/>
                  </a:solidFill>
                  <a:latin typeface="+mn-lt"/>
                  <a:ea typeface="+mn-ea"/>
                  <a:cs typeface="+mn-cs"/>
                </a:rPr>
                <a:t>要替换掉一个</a:t>
              </a:r>
            </a:p>
          </p:txBody>
        </p:sp>
        <p:sp>
          <p:nvSpPr>
            <p:cNvPr id="22" name="Rectangle 22"/>
            <p:cNvSpPr/>
            <p:nvPr/>
          </p:nvSpPr>
          <p:spPr>
            <a:xfrm>
              <a:off x="533400" y="3432810"/>
              <a:ext cx="6059805" cy="9525"/>
            </a:xfrm>
            <a:prstGeom prst="rect">
              <a:avLst/>
            </a:prstGeom>
            <a:solidFill>
              <a:srgbClr val="D9DFEA"/>
            </a:solidFill>
            <a:ln>
              <a:noFill/>
            </a:ln>
          </p:spPr>
        </p:sp>
        <p:sp>
          <p:nvSpPr>
            <p:cNvPr id="23" name="TextBox 23"/>
            <p:cNvSpPr txBox="1"/>
            <p:nvPr/>
          </p:nvSpPr>
          <p:spPr>
            <a:xfrm>
              <a:off x="637604" y="3699034"/>
              <a:ext cx="555498" cy="532066"/>
            </a:xfrm>
            <a:prstGeom prst="rect">
              <a:avLst/>
            </a:prstGeom>
            <a:noFill/>
            <a:ln>
              <a:noFill/>
            </a:ln>
          </p:spPr>
          <p:txBody>
            <a:bodyPr wrap="none" lIns="0" tIns="0" rIns="0" bIns="0" anchor="t" anchorCtr="0">
              <a:spAutoFit/>
            </a:bodyPr>
            <a:lstStyle/>
            <a:p>
              <a:pPr algn="l">
                <a:lnSpc>
                  <a:spcPts val="1995"/>
                </a:lnSpc>
              </a:pPr>
              <a:r>
                <a:rPr lang="zh-CN" sz="1420" b="1" dirty="0">
                  <a:solidFill>
                    <a:srgbClr val="1F2937"/>
                  </a:solidFill>
                  <a:latin typeface="+mn-lt"/>
                  <a:ea typeface="+mn-ea"/>
                  <a:cs typeface="+mn-cs"/>
                </a:rPr>
                <a:t>链式目</a:t>
              </a:r>
              <a:br/>
              <a:r>
                <a:rPr lang="zh-CN" sz="1420" b="1" dirty="0">
                  <a:solidFill>
                    <a:srgbClr val="1F2937"/>
                  </a:solidFill>
                  <a:latin typeface="+mn-lt"/>
                  <a:ea typeface="+mn-ea"/>
                  <a:cs typeface="+mn-cs"/>
                </a:rPr>
                <a:t>录</a:t>
              </a:r>
            </a:p>
          </p:txBody>
        </p:sp>
        <p:sp>
          <p:nvSpPr>
            <p:cNvPr id="24" name="TextBox 24"/>
            <p:cNvSpPr txBox="1"/>
            <p:nvPr/>
          </p:nvSpPr>
          <p:spPr>
            <a:xfrm>
              <a:off x="1486281" y="3572351"/>
              <a:ext cx="1646555" cy="785432"/>
            </a:xfrm>
            <a:prstGeom prst="rect">
              <a:avLst/>
            </a:prstGeom>
            <a:noFill/>
            <a:ln>
              <a:noFill/>
            </a:ln>
          </p:spPr>
          <p:txBody>
            <a:bodyPr wrap="none" lIns="0" tIns="0" rIns="0" bIns="0" anchor="t" anchorCtr="0">
              <a:spAutoFit/>
            </a:bodyPr>
            <a:lstStyle/>
            <a:p>
              <a:pPr algn="l">
                <a:lnSpc>
                  <a:spcPts val="1995"/>
                </a:lnSpc>
              </a:pPr>
              <a:r>
                <a:rPr lang="zh-CN" sz="1420" dirty="0">
                  <a:solidFill>
                    <a:srgbClr val="1F2937"/>
                  </a:solidFill>
                  <a:latin typeface="+mn-lt"/>
                  <a:ea typeface="+mn-ea"/>
                  <a:cs typeface="+mn-cs"/>
                </a:rPr>
                <a:t>表头指针指向第一个</a:t>
              </a:r>
              <a:br/>
              <a:r>
                <a:rPr lang="zh-CN" sz="1420" dirty="0">
                  <a:solidFill>
                    <a:srgbClr val="1F2937"/>
                  </a:solidFill>
                  <a:latin typeface="+mn-lt"/>
                  <a:ea typeface="+mn-ea"/>
                  <a:cs typeface="+mn-cs"/>
                </a:rPr>
                <a:t>有副本的 Cache，各</a:t>
              </a:r>
              <a:br/>
              <a:r>
                <a:rPr lang="zh-CN" sz="1420" dirty="0">
                  <a:solidFill>
                    <a:srgbClr val="1F2937"/>
                  </a:solidFill>
                  <a:latin typeface="+mn-lt"/>
                  <a:ea typeface="+mn-ea"/>
                  <a:cs typeface="+mn-cs"/>
                </a:rPr>
                <a:t>Cache 再串成链表</a:t>
              </a:r>
            </a:p>
          </p:txBody>
        </p:sp>
        <p:sp>
          <p:nvSpPr>
            <p:cNvPr id="25" name="TextBox 25"/>
            <p:cNvSpPr txBox="1"/>
            <p:nvPr/>
          </p:nvSpPr>
          <p:spPr>
            <a:xfrm>
              <a:off x="3424618" y="3572351"/>
              <a:ext cx="1159637" cy="785432"/>
            </a:xfrm>
            <a:prstGeom prst="rect">
              <a:avLst/>
            </a:prstGeom>
            <a:noFill/>
            <a:ln>
              <a:noFill/>
            </a:ln>
          </p:spPr>
          <p:txBody>
            <a:bodyPr wrap="none" lIns="0" tIns="0" rIns="0" bIns="0" anchor="t" anchorCtr="0">
              <a:spAutoFit/>
            </a:bodyPr>
            <a:lstStyle/>
            <a:p>
              <a:pPr algn="l">
                <a:lnSpc>
                  <a:spcPts val="1995"/>
                </a:lnSpc>
              </a:pPr>
              <a:r>
                <a:rPr lang="zh-CN" sz="1420" dirty="0">
                  <a:solidFill>
                    <a:srgbClr val="1F2937"/>
                  </a:solidFill>
                  <a:latin typeface="+mn-lt"/>
                  <a:ea typeface="+mn-ea"/>
                  <a:cs typeface="+mn-cs"/>
                </a:rPr>
                <a:t>⌈log₂N⌉，另</a:t>
              </a:r>
              <a:br/>
              <a:r>
                <a:rPr lang="zh-CN" sz="1420" dirty="0">
                  <a:solidFill>
                    <a:srgbClr val="1F2937"/>
                  </a:solidFill>
                  <a:latin typeface="+mn-lt"/>
                  <a:ea typeface="+mn-ea"/>
                  <a:cs typeface="+mn-cs"/>
                </a:rPr>
                <a:t>加各 Cache 里</a:t>
              </a:r>
              <a:br/>
              <a:r>
                <a:rPr lang="zh-CN" sz="1420" dirty="0">
                  <a:solidFill>
                    <a:srgbClr val="1F2937"/>
                  </a:solidFill>
                  <a:latin typeface="+mn-lt"/>
                  <a:ea typeface="+mn-ea"/>
                  <a:cs typeface="+mn-cs"/>
                </a:rPr>
                <a:t>的指针</a:t>
              </a:r>
            </a:p>
          </p:txBody>
        </p:sp>
        <p:sp>
          <p:nvSpPr>
            <p:cNvPr id="26" name="TextBox 26"/>
            <p:cNvSpPr txBox="1"/>
            <p:nvPr/>
          </p:nvSpPr>
          <p:spPr>
            <a:xfrm>
              <a:off x="5000054" y="3572351"/>
              <a:ext cx="1276858" cy="785432"/>
            </a:xfrm>
            <a:prstGeom prst="rect">
              <a:avLst/>
            </a:prstGeom>
            <a:noFill/>
            <a:ln>
              <a:noFill/>
            </a:ln>
          </p:spPr>
          <p:txBody>
            <a:bodyPr wrap="none" lIns="0" tIns="0" rIns="0" bIns="0" anchor="t" anchorCtr="0">
              <a:spAutoFit/>
            </a:bodyPr>
            <a:lstStyle/>
            <a:p>
              <a:pPr algn="l">
                <a:lnSpc>
                  <a:spcPts val="1995"/>
                </a:lnSpc>
              </a:pPr>
              <a:r>
                <a:rPr lang="zh-CN" sz="1420" dirty="0">
                  <a:solidFill>
                    <a:srgbClr val="1F2937"/>
                  </a:solidFill>
                  <a:latin typeface="+mn-lt"/>
                  <a:ea typeface="+mn-ea"/>
                  <a:cs typeface="+mn-cs"/>
                </a:rPr>
                <a:t>链长随副本数变</a:t>
              </a:r>
              <a:br/>
              <a:r>
                <a:rPr lang="zh-CN" sz="1420" dirty="0">
                  <a:solidFill>
                    <a:srgbClr val="1F2937"/>
                  </a:solidFill>
                  <a:latin typeface="+mn-lt"/>
                  <a:ea typeface="+mn-ea"/>
                  <a:cs typeface="+mn-cs"/>
                </a:rPr>
                <a:t>化；可用单向或</a:t>
              </a:r>
              <a:br/>
              <a:r>
                <a:rPr lang="zh-CN" sz="1420" dirty="0">
                  <a:solidFill>
                    <a:srgbClr val="1F2937"/>
                  </a:solidFill>
                  <a:latin typeface="+mn-lt"/>
                  <a:ea typeface="+mn-ea"/>
                  <a:cs typeface="+mn-cs"/>
                </a:rPr>
                <a:t>双向链表</a:t>
              </a:r>
            </a:p>
          </p:txBody>
        </p:sp>
        <p:sp>
          <p:nvSpPr>
            <p:cNvPr id="27" name="Rectangle 27"/>
            <p:cNvSpPr/>
            <p:nvPr/>
          </p:nvSpPr>
          <p:spPr>
            <a:xfrm>
              <a:off x="533400" y="1524000"/>
              <a:ext cx="6059805" cy="2889885"/>
            </a:xfrm>
            <a:prstGeom prst="rect">
              <a:avLst/>
            </a:prstGeom>
            <a:noFill/>
            <a:ln w="14288">
              <a:solidFill>
                <a:srgbClr val="D9DFEA"/>
              </a:solidFill>
            </a:ln>
          </p:spPr>
        </p:sp>
        <p:sp>
          <p:nvSpPr>
            <p:cNvPr id="28" name="Rectangle 28"/>
            <p:cNvSpPr/>
            <p:nvPr/>
          </p:nvSpPr>
          <p:spPr>
            <a:xfrm>
              <a:off x="1377315" y="1524000"/>
              <a:ext cx="9525" cy="2889885"/>
            </a:xfrm>
            <a:prstGeom prst="rect">
              <a:avLst/>
            </a:prstGeom>
            <a:solidFill>
              <a:srgbClr val="D9DFEA"/>
            </a:solidFill>
            <a:ln>
              <a:noFill/>
            </a:ln>
          </p:spPr>
        </p:sp>
        <p:sp>
          <p:nvSpPr>
            <p:cNvPr id="29" name="Rectangle 29"/>
            <p:cNvSpPr/>
            <p:nvPr/>
          </p:nvSpPr>
          <p:spPr>
            <a:xfrm>
              <a:off x="3315652" y="1524000"/>
              <a:ext cx="9525" cy="2889885"/>
            </a:xfrm>
            <a:prstGeom prst="rect">
              <a:avLst/>
            </a:prstGeom>
            <a:solidFill>
              <a:srgbClr val="D9DFEA"/>
            </a:solidFill>
            <a:ln>
              <a:noFill/>
            </a:ln>
          </p:spPr>
        </p:sp>
        <p:sp>
          <p:nvSpPr>
            <p:cNvPr id="30" name="Rectangle 30"/>
            <p:cNvSpPr/>
            <p:nvPr/>
          </p:nvSpPr>
          <p:spPr>
            <a:xfrm>
              <a:off x="4891088" y="1524000"/>
              <a:ext cx="9525" cy="2889885"/>
            </a:xfrm>
            <a:prstGeom prst="rect">
              <a:avLst/>
            </a:prstGeom>
            <a:solidFill>
              <a:srgbClr val="D9DFEA"/>
            </a:solidFill>
            <a:ln>
              <a:noFill/>
            </a:ln>
          </p:spPr>
        </p:sp>
      </p:grpSp>
      <p:grpSp>
        <p:nvGrpSpPr>
          <p:cNvPr id="37" name="c1-card-2"/>
          <p:cNvGrpSpPr/>
          <p:nvPr/>
        </p:nvGrpSpPr>
        <p:grpSpPr>
          <a:xfrm>
            <a:off x="533400" y="4598670"/>
            <a:ext cx="6059805" cy="1545908"/>
            <a:chOff x="533400" y="4598670"/>
            <a:chExt cx="6059805" cy="1545908"/>
          </a:xfrm>
        </p:grpSpPr>
        <p:sp>
          <p:nvSpPr>
            <p:cNvPr id="32" name="Rectangle 32"/>
            <p:cNvSpPr/>
            <p:nvPr/>
          </p:nvSpPr>
          <p:spPr>
            <a:xfrm>
              <a:off x="533400" y="4598670"/>
              <a:ext cx="6059805" cy="1545908"/>
            </a:xfrm>
            <a:prstGeom prst="roundRect">
              <a:avLst>
                <a:gd name="adj" fmla="val 8626"/>
              </a:avLst>
            </a:prstGeom>
            <a:solidFill>
              <a:srgbClr val="FFFFFF"/>
            </a:solidFill>
            <a:ln w="14288">
              <a:solidFill>
                <a:srgbClr val="D9DFEA"/>
              </a:solidFill>
            </a:ln>
          </p:spPr>
        </p:sp>
        <p:sp>
          <p:nvSpPr>
            <p:cNvPr id="33" name="Rectangle 33"/>
            <p:cNvSpPr/>
            <p:nvPr/>
          </p:nvSpPr>
          <p:spPr>
            <a:xfrm>
              <a:off x="542925" y="4732020"/>
              <a:ext cx="47625" cy="1279208"/>
            </a:xfrm>
            <a:prstGeom prst="roundRect">
              <a:avLst>
                <a:gd name="adj" fmla="val 50000"/>
              </a:avLst>
            </a:prstGeom>
            <a:solidFill>
              <a:srgbClr val="5B6475"/>
            </a:solidFill>
            <a:ln>
              <a:noFill/>
            </a:ln>
          </p:spPr>
        </p:sp>
        <p:sp>
          <p:nvSpPr>
            <p:cNvPr id="34" name="Rectangle 34"/>
            <p:cNvSpPr/>
            <p:nvPr/>
          </p:nvSpPr>
          <p:spPr>
            <a:xfrm>
              <a:off x="775335" y="4802505"/>
              <a:ext cx="778192" cy="257175"/>
            </a:xfrm>
            <a:prstGeom prst="roundRect">
              <a:avLst>
                <a:gd name="adj" fmla="val 50000"/>
              </a:avLst>
            </a:prstGeom>
            <a:solidFill>
              <a:srgbClr val="F4F6FB"/>
            </a:solidFill>
            <a:ln>
              <a:noFill/>
            </a:ln>
          </p:spPr>
        </p:sp>
        <p:sp>
          <p:nvSpPr>
            <p:cNvPr id="35" name="TextBox 35"/>
            <p:cNvSpPr txBox="1"/>
            <p:nvPr/>
          </p:nvSpPr>
          <p:spPr>
            <a:xfrm>
              <a:off x="857644" y="4838224"/>
              <a:ext cx="614528" cy="220028"/>
            </a:xfrm>
            <a:prstGeom prst="rect">
              <a:avLst/>
            </a:prstGeom>
            <a:noFill/>
            <a:ln>
              <a:noFill/>
            </a:ln>
          </p:spPr>
          <p:txBody>
            <a:bodyPr wrap="none" lIns="0" tIns="0" rIns="0" bIns="0" anchor="t" anchorCtr="0">
              <a:spAutoFit/>
            </a:bodyPr>
            <a:lstStyle/>
            <a:p>
              <a:pPr algn="ctr"/>
              <a:r>
                <a:rPr lang="zh-CN" sz="1120" b="1" dirty="0">
                  <a:solidFill>
                    <a:srgbClr val="5B6475"/>
                  </a:solidFill>
                  <a:latin typeface="+mn-lt"/>
                  <a:ea typeface="+mn-ea"/>
                  <a:cs typeface="+mn-cs"/>
                </a:rPr>
                <a:t>记号说明</a:t>
              </a:r>
            </a:p>
          </p:txBody>
        </p:sp>
        <p:sp>
          <p:nvSpPr>
            <p:cNvPr id="36" name="TextBox 36"/>
            <p:cNvSpPr txBox="1"/>
            <p:nvPr/>
          </p:nvSpPr>
          <p:spPr>
            <a:xfrm>
              <a:off x="768096" y="5175409"/>
              <a:ext cx="5388610" cy="821626"/>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原课件写有限映像、链式目录的“目录所占空间 N × m × log₂N”，</a:t>
              </a:r>
              <a:br/>
              <a:r>
                <a:rPr lang="zh-CN" sz="1420" dirty="0">
                  <a:solidFill>
                    <a:srgbClr val="1F2937"/>
                  </a:solidFill>
                  <a:latin typeface="+mn-lt"/>
                  <a:ea typeface="+mn-ea"/>
                  <a:cs typeface="+mn-cs"/>
                </a:rPr>
                <a:t>其中的 m 是每项的指针个数或平均链长，和上一页“每节点 m 个块”</a:t>
              </a:r>
              <a:br/>
              <a:r>
                <a:rPr lang="zh-CN" sz="1420" dirty="0">
                  <a:solidFill>
                    <a:srgbClr val="1F2937"/>
                  </a:solidFill>
                  <a:latin typeface="+mn-lt"/>
                  <a:ea typeface="+mn-ea"/>
                  <a:cs typeface="+mn-cs"/>
                </a:rPr>
                <a:t>的 m 不是同一个量。本页把指针个数改记作 c。</a:t>
              </a:r>
            </a:p>
          </p:txBody>
        </p:sp>
      </p:grpSp>
      <p:grpSp>
        <p:nvGrpSpPr>
          <p:cNvPr id="65" name="c2-card-1"/>
          <p:cNvGrpSpPr/>
          <p:nvPr/>
        </p:nvGrpSpPr>
        <p:grpSpPr>
          <a:xfrm>
            <a:off x="6898005" y="1524000"/>
            <a:ext cx="4760595" cy="4621530"/>
            <a:chOff x="6898005" y="1524000"/>
            <a:chExt cx="4760595" cy="4621530"/>
          </a:xfrm>
        </p:grpSpPr>
        <p:sp>
          <p:nvSpPr>
            <p:cNvPr id="38" name="Rectangle 38"/>
            <p:cNvSpPr/>
            <p:nvPr/>
          </p:nvSpPr>
          <p:spPr>
            <a:xfrm>
              <a:off x="6898005" y="1524000"/>
              <a:ext cx="4760595" cy="4621530"/>
            </a:xfrm>
            <a:prstGeom prst="roundRect">
              <a:avLst>
                <a:gd name="adj" fmla="val 2885"/>
              </a:avLst>
            </a:prstGeom>
            <a:solidFill>
              <a:srgbClr val="FFFFFF"/>
            </a:solidFill>
            <a:ln w="14288">
              <a:solidFill>
                <a:srgbClr val="D9DFEA"/>
              </a:solidFill>
            </a:ln>
          </p:spPr>
        </p:sp>
        <p:sp>
          <p:nvSpPr>
            <p:cNvPr id="39" name="Rectangle 39"/>
            <p:cNvSpPr/>
            <p:nvPr/>
          </p:nvSpPr>
          <p:spPr>
            <a:xfrm>
              <a:off x="6907530" y="1657350"/>
              <a:ext cx="47625" cy="4354830"/>
            </a:xfrm>
            <a:prstGeom prst="roundRect">
              <a:avLst>
                <a:gd name="adj" fmla="val 50000"/>
              </a:avLst>
            </a:prstGeom>
            <a:solidFill>
              <a:srgbClr val="14A38B"/>
            </a:solidFill>
            <a:ln>
              <a:noFill/>
            </a:ln>
          </p:spPr>
        </p:sp>
        <p:sp>
          <p:nvSpPr>
            <p:cNvPr id="40" name="Rectangle 40"/>
            <p:cNvSpPr/>
            <p:nvPr/>
          </p:nvSpPr>
          <p:spPr>
            <a:xfrm>
              <a:off x="7139940" y="1727835"/>
              <a:ext cx="494348" cy="257175"/>
            </a:xfrm>
            <a:prstGeom prst="roundRect">
              <a:avLst>
                <a:gd name="adj" fmla="val 50000"/>
              </a:avLst>
            </a:prstGeom>
            <a:solidFill>
              <a:srgbClr val="E3F5F1"/>
            </a:solidFill>
            <a:ln>
              <a:noFill/>
            </a:ln>
          </p:spPr>
        </p:sp>
        <p:sp>
          <p:nvSpPr>
            <p:cNvPr id="41" name="TextBox 41"/>
            <p:cNvSpPr txBox="1"/>
            <p:nvPr/>
          </p:nvSpPr>
          <p:spPr>
            <a:xfrm>
              <a:off x="7230148" y="1763554"/>
              <a:ext cx="312979" cy="220028"/>
            </a:xfrm>
            <a:prstGeom prst="rect">
              <a:avLst/>
            </a:prstGeom>
            <a:noFill/>
            <a:ln>
              <a:noFill/>
            </a:ln>
          </p:spPr>
          <p:txBody>
            <a:bodyPr wrap="none" lIns="0" tIns="0" rIns="0" bIns="0" anchor="t" anchorCtr="0">
              <a:spAutoFit/>
            </a:bodyPr>
            <a:lstStyle/>
            <a:p>
              <a:pPr algn="ctr"/>
              <a:r>
                <a:rPr lang="zh-CN" sz="1120" b="1" dirty="0">
                  <a:solidFill>
                    <a:srgbClr val="0F7A68"/>
                  </a:solidFill>
                  <a:latin typeface="+mn-lt"/>
                  <a:ea typeface="+mn-ea"/>
                  <a:cs typeface="+mn-cs"/>
                </a:rPr>
                <a:t>例题</a:t>
              </a:r>
            </a:p>
          </p:txBody>
        </p:sp>
        <p:sp>
          <p:nvSpPr>
            <p:cNvPr id="42" name="TextBox 42"/>
            <p:cNvSpPr txBox="1"/>
            <p:nvPr/>
          </p:nvSpPr>
          <p:spPr>
            <a:xfrm>
              <a:off x="7740396" y="1767364"/>
              <a:ext cx="3559304"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块大小 64 B（512 位），每块的目录开销</a:t>
              </a:r>
            </a:p>
          </p:txBody>
        </p:sp>
        <p:sp>
          <p:nvSpPr>
            <p:cNvPr id="43" name="Rectangle 43"/>
            <p:cNvSpPr/>
            <p:nvPr/>
          </p:nvSpPr>
          <p:spPr>
            <a:xfrm>
              <a:off x="7139940" y="2095500"/>
              <a:ext cx="4314825" cy="643890"/>
            </a:xfrm>
            <a:prstGeom prst="rect">
              <a:avLst/>
            </a:prstGeom>
            <a:solidFill>
              <a:srgbClr val="334E68"/>
            </a:solidFill>
            <a:ln>
              <a:noFill/>
            </a:ln>
          </p:spPr>
        </p:sp>
        <p:sp>
          <p:nvSpPr>
            <p:cNvPr id="44" name="TextBox 44"/>
            <p:cNvSpPr txBox="1"/>
            <p:nvPr/>
          </p:nvSpPr>
          <p:spPr>
            <a:xfrm>
              <a:off x="7387453" y="2333625"/>
              <a:ext cx="110764"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mn-lt"/>
                  <a:ea typeface="+mn-ea"/>
                  <a:cs typeface="+mn-cs"/>
                </a:rPr>
                <a:t>N</a:t>
              </a:r>
            </a:p>
          </p:txBody>
        </p:sp>
        <p:sp>
          <p:nvSpPr>
            <p:cNvPr id="45" name="TextBox 45"/>
            <p:cNvSpPr txBox="1"/>
            <p:nvPr/>
          </p:nvSpPr>
          <p:spPr>
            <a:xfrm>
              <a:off x="8167878" y="2333625"/>
              <a:ext cx="496824"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全映像</a:t>
              </a:r>
            </a:p>
          </p:txBody>
        </p:sp>
        <p:sp>
          <p:nvSpPr>
            <p:cNvPr id="46" name="TextBox 46"/>
            <p:cNvSpPr txBox="1"/>
            <p:nvPr/>
          </p:nvSpPr>
          <p:spPr>
            <a:xfrm>
              <a:off x="9299448" y="2226945"/>
              <a:ext cx="757809" cy="448056"/>
            </a:xfrm>
            <a:prstGeom prst="rect">
              <a:avLst/>
            </a:prstGeom>
            <a:noFill/>
            <a:ln>
              <a:noFill/>
            </a:ln>
          </p:spPr>
          <p:txBody>
            <a:bodyPr wrap="none" lIns="0" tIns="0" rIns="0" bIns="0" anchor="t" anchorCtr="0">
              <a:spAutoFit/>
            </a:bodyPr>
            <a:lstStyle/>
            <a:p>
              <a:pPr algn="ctr">
                <a:lnSpc>
                  <a:spcPts val="1680"/>
                </a:lnSpc>
              </a:pPr>
              <a:r>
                <a:rPr lang="zh-CN" sz="1200" b="1" dirty="0">
                  <a:solidFill>
                    <a:srgbClr val="FFFFFF"/>
                  </a:solidFill>
                  <a:latin typeface="+mn-lt"/>
                  <a:ea typeface="+mn-ea"/>
                  <a:cs typeface="+mn-cs"/>
                </a:rPr>
                <a:t>有限映像 c</a:t>
              </a:r>
              <a:br/>
              <a:r>
                <a:rPr lang="zh-CN" sz="1200" b="1" dirty="0">
                  <a:solidFill>
                    <a:srgbClr val="FFFFFF"/>
                  </a:solidFill>
                  <a:latin typeface="+mn-lt"/>
                  <a:ea typeface="+mn-ea"/>
                  <a:cs typeface="+mn-cs"/>
                </a:rPr>
                <a:t>= 4</a:t>
              </a:r>
            </a:p>
          </p:txBody>
        </p:sp>
        <p:sp>
          <p:nvSpPr>
            <p:cNvPr id="47" name="TextBox 47"/>
            <p:cNvSpPr txBox="1"/>
            <p:nvPr/>
          </p:nvSpPr>
          <p:spPr>
            <a:xfrm>
              <a:off x="10533126" y="2333625"/>
              <a:ext cx="658368"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链式表头</a:t>
              </a:r>
            </a:p>
          </p:txBody>
        </p:sp>
        <p:sp>
          <p:nvSpPr>
            <p:cNvPr id="48" name="TextBox 48"/>
            <p:cNvSpPr txBox="1"/>
            <p:nvPr/>
          </p:nvSpPr>
          <p:spPr>
            <a:xfrm>
              <a:off x="7245286" y="2977515"/>
              <a:ext cx="198775" cy="234696"/>
            </a:xfrm>
            <a:prstGeom prst="rect">
              <a:avLst/>
            </a:prstGeom>
            <a:noFill/>
            <a:ln>
              <a:noFill/>
            </a:ln>
          </p:spPr>
          <p:txBody>
            <a:bodyPr wrap="none" lIns="0" tIns="0" rIns="0" bIns="0" anchor="t" anchorCtr="0">
              <a:spAutoFit/>
            </a:bodyPr>
            <a:lstStyle/>
            <a:p>
              <a:pPr algn="l"/>
              <a:r>
                <a:rPr lang="zh-CN" sz="1200" b="1" dirty="0">
                  <a:solidFill>
                    <a:srgbClr val="1F2937"/>
                  </a:solidFill>
                  <a:latin typeface="+mn-lt"/>
                  <a:ea typeface="+mn-ea"/>
                  <a:cs typeface="+mn-cs"/>
                </a:rPr>
                <a:t>64</a:t>
              </a:r>
            </a:p>
          </p:txBody>
        </p:sp>
        <p:sp>
          <p:nvSpPr>
            <p:cNvPr id="49" name="TextBox 49"/>
            <p:cNvSpPr txBox="1"/>
            <p:nvPr/>
          </p:nvSpPr>
          <p:spPr>
            <a:xfrm>
              <a:off x="7852029" y="2870835"/>
              <a:ext cx="766572" cy="448056"/>
            </a:xfrm>
            <a:prstGeom prst="rect">
              <a:avLst/>
            </a:prstGeom>
            <a:noFill/>
            <a:ln>
              <a:noFill/>
            </a:ln>
          </p:spPr>
          <p:txBody>
            <a:bodyPr wrap="none" lIns="0" tIns="0" rIns="0" bIns="0" anchor="t" anchorCtr="0">
              <a:spAutoFit/>
            </a:bodyPr>
            <a:lstStyle/>
            <a:p>
              <a:pPr algn="l">
                <a:lnSpc>
                  <a:spcPts val="1680"/>
                </a:lnSpc>
              </a:pPr>
              <a:r>
                <a:rPr lang="zh-CN" sz="1200" dirty="0">
                  <a:solidFill>
                    <a:srgbClr val="1F2937"/>
                  </a:solidFill>
                  <a:latin typeface="+mn-lt"/>
                  <a:ea typeface="+mn-ea"/>
                  <a:cs typeface="+mn-cs"/>
                </a:rPr>
                <a:t>64 位</a:t>
              </a:r>
              <a:br/>
              <a:r>
                <a:rPr lang="zh-CN" sz="1200" dirty="0">
                  <a:solidFill>
                    <a:srgbClr val="1F2937"/>
                  </a:solidFill>
                  <a:latin typeface="+mn-lt"/>
                  <a:ea typeface="+mn-ea"/>
                  <a:cs typeface="+mn-cs"/>
                </a:rPr>
                <a:t>（12.5%）</a:t>
              </a:r>
            </a:p>
          </p:txBody>
        </p:sp>
        <p:sp>
          <p:nvSpPr>
            <p:cNvPr id="50" name="TextBox 50"/>
            <p:cNvSpPr txBox="1"/>
            <p:nvPr/>
          </p:nvSpPr>
          <p:spPr>
            <a:xfrm>
              <a:off x="9191244" y="2870835"/>
              <a:ext cx="682752" cy="448056"/>
            </a:xfrm>
            <a:prstGeom prst="rect">
              <a:avLst/>
            </a:prstGeom>
            <a:noFill/>
            <a:ln>
              <a:noFill/>
            </a:ln>
          </p:spPr>
          <p:txBody>
            <a:bodyPr wrap="none" lIns="0" tIns="0" rIns="0" bIns="0" anchor="t" anchorCtr="0">
              <a:spAutoFit/>
            </a:bodyPr>
            <a:lstStyle/>
            <a:p>
              <a:pPr algn="l">
                <a:lnSpc>
                  <a:spcPts val="1680"/>
                </a:lnSpc>
              </a:pPr>
              <a:r>
                <a:rPr lang="zh-CN" sz="1200" dirty="0">
                  <a:solidFill>
                    <a:srgbClr val="1F2937"/>
                  </a:solidFill>
                  <a:latin typeface="+mn-lt"/>
                  <a:ea typeface="+mn-ea"/>
                  <a:cs typeface="+mn-cs"/>
                </a:rPr>
                <a:t>24 位</a:t>
              </a:r>
              <a:br/>
              <a:r>
                <a:rPr lang="zh-CN" sz="1200" dirty="0">
                  <a:solidFill>
                    <a:srgbClr val="1F2937"/>
                  </a:solidFill>
                  <a:latin typeface="+mn-lt"/>
                  <a:ea typeface="+mn-ea"/>
                  <a:cs typeface="+mn-cs"/>
                </a:rPr>
                <a:t>（4.7%）</a:t>
              </a:r>
            </a:p>
          </p:txBody>
        </p:sp>
        <p:sp>
          <p:nvSpPr>
            <p:cNvPr id="51" name="TextBox 51"/>
            <p:cNvSpPr txBox="1"/>
            <p:nvPr/>
          </p:nvSpPr>
          <p:spPr>
            <a:xfrm>
              <a:off x="10376154" y="2870835"/>
              <a:ext cx="682752" cy="448056"/>
            </a:xfrm>
            <a:prstGeom prst="rect">
              <a:avLst/>
            </a:prstGeom>
            <a:noFill/>
            <a:ln>
              <a:noFill/>
            </a:ln>
          </p:spPr>
          <p:txBody>
            <a:bodyPr wrap="none" lIns="0" tIns="0" rIns="0" bIns="0" anchor="t" anchorCtr="0">
              <a:spAutoFit/>
            </a:bodyPr>
            <a:lstStyle/>
            <a:p>
              <a:pPr algn="l">
                <a:lnSpc>
                  <a:spcPts val="1680"/>
                </a:lnSpc>
              </a:pPr>
              <a:r>
                <a:rPr lang="zh-CN" sz="1200" dirty="0">
                  <a:solidFill>
                    <a:srgbClr val="1F2937"/>
                  </a:solidFill>
                  <a:latin typeface="+mn-lt"/>
                  <a:ea typeface="+mn-ea"/>
                  <a:cs typeface="+mn-cs"/>
                </a:rPr>
                <a:t>6 位</a:t>
              </a:r>
              <a:br/>
              <a:r>
                <a:rPr lang="zh-CN" sz="1200" dirty="0">
                  <a:solidFill>
                    <a:srgbClr val="1F2937"/>
                  </a:solidFill>
                  <a:latin typeface="+mn-lt"/>
                  <a:ea typeface="+mn-ea"/>
                  <a:cs typeface="+mn-cs"/>
                </a:rPr>
                <a:t>（1.2%）</a:t>
              </a:r>
            </a:p>
          </p:txBody>
        </p:sp>
        <p:sp>
          <p:nvSpPr>
            <p:cNvPr id="52" name="Rectangle 52"/>
            <p:cNvSpPr/>
            <p:nvPr/>
          </p:nvSpPr>
          <p:spPr>
            <a:xfrm>
              <a:off x="7139940" y="3378518"/>
              <a:ext cx="4314825" cy="9525"/>
            </a:xfrm>
            <a:prstGeom prst="rect">
              <a:avLst/>
            </a:prstGeom>
            <a:solidFill>
              <a:srgbClr val="D9DFEA"/>
            </a:solidFill>
            <a:ln>
              <a:noFill/>
            </a:ln>
          </p:spPr>
        </p:sp>
        <p:sp>
          <p:nvSpPr>
            <p:cNvPr id="53" name="Rectangle 53"/>
            <p:cNvSpPr/>
            <p:nvPr/>
          </p:nvSpPr>
          <p:spPr>
            <a:xfrm>
              <a:off x="7139940" y="3383280"/>
              <a:ext cx="4314825" cy="643890"/>
            </a:xfrm>
            <a:prstGeom prst="rect">
              <a:avLst/>
            </a:prstGeom>
            <a:solidFill>
              <a:srgbClr val="F4F6FB"/>
            </a:solidFill>
            <a:ln>
              <a:noFill/>
            </a:ln>
          </p:spPr>
        </p:sp>
        <p:sp>
          <p:nvSpPr>
            <p:cNvPr id="54" name="TextBox 54"/>
            <p:cNvSpPr txBox="1"/>
            <p:nvPr/>
          </p:nvSpPr>
          <p:spPr>
            <a:xfrm>
              <a:off x="7245286" y="3620452"/>
              <a:ext cx="385359" cy="234696"/>
            </a:xfrm>
            <a:prstGeom prst="rect">
              <a:avLst/>
            </a:prstGeom>
            <a:noFill/>
            <a:ln>
              <a:noFill/>
            </a:ln>
          </p:spPr>
          <p:txBody>
            <a:bodyPr wrap="none" lIns="0" tIns="0" rIns="0" bIns="0" anchor="t" anchorCtr="0">
              <a:spAutoFit/>
            </a:bodyPr>
            <a:lstStyle/>
            <a:p>
              <a:pPr algn="l"/>
              <a:r>
                <a:rPr lang="zh-CN" sz="1200" b="1" dirty="0">
                  <a:solidFill>
                    <a:srgbClr val="1F2937"/>
                  </a:solidFill>
                  <a:latin typeface="+mn-lt"/>
                  <a:ea typeface="+mn-ea"/>
                  <a:cs typeface="+mn-cs"/>
                </a:rPr>
                <a:t>1024</a:t>
              </a:r>
            </a:p>
          </p:txBody>
        </p:sp>
        <p:sp>
          <p:nvSpPr>
            <p:cNvPr id="55" name="Rectangle 55"/>
            <p:cNvSpPr/>
            <p:nvPr/>
          </p:nvSpPr>
          <p:spPr>
            <a:xfrm>
              <a:off x="7756208" y="3392805"/>
              <a:ext cx="1320165" cy="624840"/>
            </a:xfrm>
            <a:prstGeom prst="rect">
              <a:avLst/>
            </a:prstGeom>
            <a:solidFill>
              <a:srgbClr val="FDECEA"/>
            </a:solidFill>
            <a:ln>
              <a:noFill/>
            </a:ln>
          </p:spPr>
        </p:sp>
        <p:sp>
          <p:nvSpPr>
            <p:cNvPr id="56" name="TextBox 56"/>
            <p:cNvSpPr txBox="1"/>
            <p:nvPr/>
          </p:nvSpPr>
          <p:spPr>
            <a:xfrm>
              <a:off x="7852029" y="3513772"/>
              <a:ext cx="682752" cy="448056"/>
            </a:xfrm>
            <a:prstGeom prst="rect">
              <a:avLst/>
            </a:prstGeom>
            <a:noFill/>
            <a:ln>
              <a:noFill/>
            </a:ln>
          </p:spPr>
          <p:txBody>
            <a:bodyPr wrap="none" lIns="0" tIns="0" rIns="0" bIns="0" anchor="t" anchorCtr="0">
              <a:spAutoFit/>
            </a:bodyPr>
            <a:lstStyle/>
            <a:p>
              <a:pPr algn="l">
                <a:lnSpc>
                  <a:spcPts val="1680"/>
                </a:lnSpc>
              </a:pPr>
              <a:r>
                <a:rPr lang="zh-CN" sz="1200" dirty="0">
                  <a:solidFill>
                    <a:srgbClr val="1F2937"/>
                  </a:solidFill>
                  <a:latin typeface="+mn-lt"/>
                  <a:ea typeface="+mn-ea"/>
                  <a:cs typeface="+mn-cs"/>
                </a:rPr>
                <a:t>1024 位</a:t>
              </a:r>
              <a:br/>
              <a:r>
                <a:rPr lang="zh-CN" sz="1200" dirty="0">
                  <a:solidFill>
                    <a:srgbClr val="1F2937"/>
                  </a:solidFill>
                  <a:latin typeface="+mn-lt"/>
                  <a:ea typeface="+mn-ea"/>
                  <a:cs typeface="+mn-cs"/>
                </a:rPr>
                <a:t>（200%）</a:t>
              </a:r>
            </a:p>
          </p:txBody>
        </p:sp>
        <p:sp>
          <p:nvSpPr>
            <p:cNvPr id="57" name="TextBox 57"/>
            <p:cNvSpPr txBox="1"/>
            <p:nvPr/>
          </p:nvSpPr>
          <p:spPr>
            <a:xfrm>
              <a:off x="9191244" y="3513772"/>
              <a:ext cx="682752" cy="448056"/>
            </a:xfrm>
            <a:prstGeom prst="rect">
              <a:avLst/>
            </a:prstGeom>
            <a:noFill/>
            <a:ln>
              <a:noFill/>
            </a:ln>
          </p:spPr>
          <p:txBody>
            <a:bodyPr wrap="none" lIns="0" tIns="0" rIns="0" bIns="0" anchor="t" anchorCtr="0">
              <a:spAutoFit/>
            </a:bodyPr>
            <a:lstStyle/>
            <a:p>
              <a:pPr algn="l">
                <a:lnSpc>
                  <a:spcPts val="1680"/>
                </a:lnSpc>
              </a:pPr>
              <a:r>
                <a:rPr lang="zh-CN" sz="1200" dirty="0">
                  <a:solidFill>
                    <a:srgbClr val="1F2937"/>
                  </a:solidFill>
                  <a:latin typeface="+mn-lt"/>
                  <a:ea typeface="+mn-ea"/>
                  <a:cs typeface="+mn-cs"/>
                </a:rPr>
                <a:t>40 位</a:t>
              </a:r>
              <a:br/>
              <a:r>
                <a:rPr lang="zh-CN" sz="1200" dirty="0">
                  <a:solidFill>
                    <a:srgbClr val="1F2937"/>
                  </a:solidFill>
                  <a:latin typeface="+mn-lt"/>
                  <a:ea typeface="+mn-ea"/>
                  <a:cs typeface="+mn-cs"/>
                </a:rPr>
                <a:t>（7.8%）</a:t>
              </a:r>
            </a:p>
          </p:txBody>
        </p:sp>
        <p:sp>
          <p:nvSpPr>
            <p:cNvPr id="58" name="TextBox 58"/>
            <p:cNvSpPr txBox="1"/>
            <p:nvPr/>
          </p:nvSpPr>
          <p:spPr>
            <a:xfrm>
              <a:off x="10376154" y="3513772"/>
              <a:ext cx="682752" cy="448056"/>
            </a:xfrm>
            <a:prstGeom prst="rect">
              <a:avLst/>
            </a:prstGeom>
            <a:noFill/>
            <a:ln>
              <a:noFill/>
            </a:ln>
          </p:spPr>
          <p:txBody>
            <a:bodyPr wrap="none" lIns="0" tIns="0" rIns="0" bIns="0" anchor="t" anchorCtr="0">
              <a:spAutoFit/>
            </a:bodyPr>
            <a:lstStyle/>
            <a:p>
              <a:pPr algn="l">
                <a:lnSpc>
                  <a:spcPts val="1680"/>
                </a:lnSpc>
              </a:pPr>
              <a:r>
                <a:rPr lang="zh-CN" sz="1200" dirty="0">
                  <a:solidFill>
                    <a:srgbClr val="1F2937"/>
                  </a:solidFill>
                  <a:latin typeface="+mn-lt"/>
                  <a:ea typeface="+mn-ea"/>
                  <a:cs typeface="+mn-cs"/>
                </a:rPr>
                <a:t>10 位</a:t>
              </a:r>
              <a:br/>
              <a:r>
                <a:rPr lang="zh-CN" sz="1200" dirty="0">
                  <a:solidFill>
                    <a:srgbClr val="1F2937"/>
                  </a:solidFill>
                  <a:latin typeface="+mn-lt"/>
                  <a:ea typeface="+mn-ea"/>
                  <a:cs typeface="+mn-cs"/>
                </a:rPr>
                <a:t>（2.0%）</a:t>
              </a:r>
            </a:p>
          </p:txBody>
        </p:sp>
        <p:sp>
          <p:nvSpPr>
            <p:cNvPr id="59" name="Rectangle 59"/>
            <p:cNvSpPr/>
            <p:nvPr/>
          </p:nvSpPr>
          <p:spPr>
            <a:xfrm>
              <a:off x="7139940" y="2095500"/>
              <a:ext cx="4314825" cy="1930718"/>
            </a:xfrm>
            <a:prstGeom prst="rect">
              <a:avLst/>
            </a:prstGeom>
            <a:noFill/>
            <a:ln w="14288">
              <a:solidFill>
                <a:srgbClr val="D9DFEA"/>
              </a:solidFill>
            </a:ln>
          </p:spPr>
        </p:sp>
        <p:sp>
          <p:nvSpPr>
            <p:cNvPr id="60" name="Rectangle 60"/>
            <p:cNvSpPr/>
            <p:nvPr/>
          </p:nvSpPr>
          <p:spPr>
            <a:xfrm>
              <a:off x="7741920" y="2095500"/>
              <a:ext cx="9525" cy="1930718"/>
            </a:xfrm>
            <a:prstGeom prst="rect">
              <a:avLst/>
            </a:prstGeom>
            <a:solidFill>
              <a:srgbClr val="D9DFEA"/>
            </a:solidFill>
            <a:ln>
              <a:noFill/>
            </a:ln>
          </p:spPr>
        </p:sp>
        <p:sp>
          <p:nvSpPr>
            <p:cNvPr id="61" name="Rectangle 61"/>
            <p:cNvSpPr/>
            <p:nvPr/>
          </p:nvSpPr>
          <p:spPr>
            <a:xfrm>
              <a:off x="9081135" y="2095500"/>
              <a:ext cx="9525" cy="1930718"/>
            </a:xfrm>
            <a:prstGeom prst="rect">
              <a:avLst/>
            </a:prstGeom>
            <a:solidFill>
              <a:srgbClr val="D9DFEA"/>
            </a:solidFill>
            <a:ln>
              <a:noFill/>
            </a:ln>
          </p:spPr>
        </p:sp>
        <p:sp>
          <p:nvSpPr>
            <p:cNvPr id="62" name="Rectangle 62"/>
            <p:cNvSpPr/>
            <p:nvPr/>
          </p:nvSpPr>
          <p:spPr>
            <a:xfrm>
              <a:off x="10266045" y="2095500"/>
              <a:ext cx="9525" cy="1930718"/>
            </a:xfrm>
            <a:prstGeom prst="rect">
              <a:avLst/>
            </a:prstGeom>
            <a:solidFill>
              <a:srgbClr val="D9DFEA"/>
            </a:solidFill>
            <a:ln>
              <a:noFill/>
            </a:ln>
          </p:spPr>
        </p:sp>
        <p:sp>
          <p:nvSpPr>
            <p:cNvPr id="63" name="TextBox 63"/>
            <p:cNvSpPr txBox="1"/>
            <p:nvPr/>
          </p:nvSpPr>
          <p:spPr>
            <a:xfrm>
              <a:off x="7133844" y="4138612"/>
              <a:ext cx="4081272" cy="455676"/>
            </a:xfrm>
            <a:prstGeom prst="rect">
              <a:avLst/>
            </a:prstGeom>
            <a:noFill/>
            <a:ln>
              <a:noFill/>
            </a:ln>
          </p:spPr>
          <p:txBody>
            <a:bodyPr wrap="none" lIns="0" tIns="0" rIns="0" bIns="0" anchor="t" anchorCtr="0">
              <a:spAutoFit/>
            </a:bodyPr>
            <a:lstStyle/>
            <a:p>
              <a:pPr algn="l">
                <a:lnSpc>
                  <a:spcPts val="1740"/>
                </a:lnSpc>
              </a:pPr>
              <a:r>
                <a:rPr lang="zh-CN" sz="1200" dirty="0">
                  <a:solidFill>
                    <a:srgbClr val="5B6475"/>
                  </a:solidFill>
                  <a:latin typeface="+mn-lt"/>
                  <a:ea typeface="+mn-ea"/>
                  <a:cs typeface="+mn-cs"/>
                </a:rPr>
                <a:t>N = 64、每节点 1 GB 时，全映像目录共 8 GB，占 64 GB 总内</a:t>
              </a:r>
              <a:br/>
              <a:r>
                <a:rPr lang="zh-CN" sz="1200" dirty="0">
                  <a:solidFill>
                    <a:srgbClr val="5B6475"/>
                  </a:solidFill>
                  <a:latin typeface="+mn-lt"/>
                  <a:ea typeface="+mn-ea"/>
                  <a:cs typeface="+mn-cs"/>
                </a:rPr>
                <a:t>存的 12.5%。</a:t>
              </a:r>
            </a:p>
          </p:txBody>
        </p:sp>
        <p:sp>
          <p:nvSpPr>
            <p:cNvPr id="64" name="TextBox 64"/>
            <p:cNvSpPr txBox="1"/>
            <p:nvPr/>
          </p:nvSpPr>
          <p:spPr>
            <a:xfrm>
              <a:off x="7133844" y="4640580"/>
              <a:ext cx="4005072" cy="455676"/>
            </a:xfrm>
            <a:prstGeom prst="rect">
              <a:avLst/>
            </a:prstGeom>
            <a:noFill/>
            <a:ln>
              <a:noFill/>
            </a:ln>
          </p:spPr>
          <p:txBody>
            <a:bodyPr wrap="none" lIns="0" tIns="0" rIns="0" bIns="0" anchor="t" anchorCtr="0">
              <a:spAutoFit/>
            </a:bodyPr>
            <a:lstStyle/>
            <a:p>
              <a:pPr algn="l">
                <a:lnSpc>
                  <a:spcPts val="1740"/>
                </a:lnSpc>
              </a:pPr>
              <a:r>
                <a:rPr lang="zh-CN" sz="1200" dirty="0">
                  <a:solidFill>
                    <a:srgbClr val="5B6475"/>
                  </a:solidFill>
                  <a:latin typeface="+mn-lt"/>
                  <a:ea typeface="+mn-ea"/>
                  <a:cs typeface="+mn-cs"/>
                </a:rPr>
                <a:t>N = 1024 时位向量比数据块本身还大一倍，全映像只适合处</a:t>
              </a:r>
              <a:br/>
              <a:r>
                <a:rPr lang="zh-CN" sz="1200" dirty="0">
                  <a:solidFill>
                    <a:srgbClr val="5B6475"/>
                  </a:solidFill>
                  <a:latin typeface="+mn-lt"/>
                  <a:ea typeface="+mn-ea"/>
                  <a:cs typeface="+mn-cs"/>
                </a:rPr>
                <a:t>理器不多的系统。</a:t>
              </a:r>
            </a:p>
          </p:txBody>
        </p:sp>
      </p:grpSp>
      <p:grpSp>
        <p:nvGrpSpPr>
          <p:cNvPr id="68" name="footer"/>
          <p:cNvGrpSpPr/>
          <p:nvPr/>
        </p:nvGrpSpPr>
        <p:grpSpPr>
          <a:xfrm>
            <a:off x="528447" y="6581299"/>
            <a:ext cx="11135106" cy="190690"/>
            <a:chOff x="528447" y="6581299"/>
            <a:chExt cx="11135106" cy="190690"/>
          </a:xfrm>
        </p:grpSpPr>
        <p:sp>
          <p:nvSpPr>
            <p:cNvPr id="66" name="TextBox 66"/>
            <p:cNvSpPr txBox="1"/>
            <p:nvPr/>
          </p:nvSpPr>
          <p:spPr>
            <a:xfrm>
              <a:off x="528447" y="6581299"/>
              <a:ext cx="2120748"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并行与分布式计算 · 第7章 体系结构</a:t>
              </a:r>
            </a:p>
          </p:txBody>
        </p:sp>
        <p:sp>
          <p:nvSpPr>
            <p:cNvPr id="67" name="TextBox 67"/>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38</a:t>
              </a:r>
            </a:p>
          </p:txBody>
        </p:sp>
      </p:grpSp>
    </p:spTree>
  </p:cSld>
  <p:clrMapOvr>
    <a:masterClrMapping/>
  </p:clrMapOvr>
  <p:transition xmlns:p14="http://schemas.microsoft.com/office/powerpoint/2010/main" p14:dur="400">
    <p:fade/>
  </p:transition>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3801999" cy="909257"/>
            <a:chOff x="520446" y="342900"/>
            <a:chExt cx="3801999" cy="909257"/>
          </a:xfrm>
        </p:grpSpPr>
        <p:sp>
          <p:nvSpPr>
            <p:cNvPr id="2" name="Rectangle 2"/>
            <p:cNvSpPr/>
            <p:nvPr/>
          </p:nvSpPr>
          <p:spPr>
            <a:xfrm>
              <a:off x="533400" y="342900"/>
              <a:ext cx="2586038" cy="266700"/>
            </a:xfrm>
            <a:prstGeom prst="roundRect">
              <a:avLst>
                <a:gd name="adj" fmla="val 50000"/>
              </a:avLst>
            </a:prstGeom>
            <a:solidFill>
              <a:srgbClr val="E7EDF3"/>
            </a:solidFill>
            <a:ln>
              <a:noFill/>
            </a:ln>
          </p:spPr>
        </p:sp>
        <p:sp>
          <p:nvSpPr>
            <p:cNvPr id="3" name="TextBox 3"/>
            <p:cNvSpPr txBox="1"/>
            <p:nvPr/>
          </p:nvSpPr>
          <p:spPr>
            <a:xfrm>
              <a:off x="587464" y="407194"/>
              <a:ext cx="2476957"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第7章 体系结构 · Cache 一致性问题</a:t>
              </a:r>
            </a:p>
          </p:txBody>
        </p:sp>
        <p:sp>
          <p:nvSpPr>
            <p:cNvPr id="4" name="TextBox 4"/>
            <p:cNvSpPr txBox="1"/>
            <p:nvPr/>
          </p:nvSpPr>
          <p:spPr>
            <a:xfrm>
              <a:off x="520446" y="753428"/>
              <a:ext cx="3801999"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同一个共享集的三种记法</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8" name="c1-text-1"/>
          <p:cNvGrpSpPr/>
          <p:nvPr/>
        </p:nvGrpSpPr>
        <p:grpSpPr>
          <a:xfrm>
            <a:off x="526161" y="1547336"/>
            <a:ext cx="1424737" cy="278702"/>
            <a:chOff x="526161" y="1547336"/>
            <a:chExt cx="1424737" cy="278702"/>
          </a:xfrm>
        </p:grpSpPr>
        <p:sp>
          <p:nvSpPr>
            <p:cNvPr id="7" name="TextBox 7"/>
            <p:cNvSpPr txBox="1"/>
            <p:nvPr/>
          </p:nvSpPr>
          <p:spPr>
            <a:xfrm>
              <a:off x="526161" y="1547336"/>
              <a:ext cx="1424737"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全映像</a:t>
              </a:r>
              <a:r>
                <a:rPr lang="zh-CN" sz="1420" dirty="0">
                  <a:solidFill>
                    <a:srgbClr val="1F2937"/>
                  </a:solidFill>
                  <a:latin typeface="+mn-lt"/>
                  <a:ea typeface="+mn-ea"/>
                  <a:cs typeface="+mn-cs"/>
                </a:rPr>
                <a:t>（N = 8）</a:t>
              </a:r>
            </a:p>
          </p:txBody>
        </p:sp>
      </p:grpSp>
      <p:grpSp>
        <p:nvGrpSpPr>
          <p:cNvPr id="34" name="c1-cells-2"/>
          <p:cNvGrpSpPr/>
          <p:nvPr/>
        </p:nvGrpSpPr>
        <p:grpSpPr>
          <a:xfrm>
            <a:off x="527304" y="1955482"/>
            <a:ext cx="3511296" cy="638175"/>
            <a:chOff x="527304" y="1955482"/>
            <a:chExt cx="3511296" cy="638175"/>
          </a:xfrm>
        </p:grpSpPr>
        <p:sp>
          <p:nvSpPr>
            <p:cNvPr id="9" name="TextBox 9"/>
            <p:cNvSpPr txBox="1"/>
            <p:nvPr/>
          </p:nvSpPr>
          <p:spPr>
            <a:xfrm>
              <a:off x="527304" y="2084070"/>
              <a:ext cx="496824" cy="234696"/>
            </a:xfrm>
            <a:prstGeom prst="rect">
              <a:avLst/>
            </a:prstGeom>
            <a:noFill/>
            <a:ln>
              <a:noFill/>
            </a:ln>
          </p:spPr>
          <p:txBody>
            <a:bodyPr wrap="none" lIns="0" tIns="0" rIns="0" bIns="0" anchor="t" anchorCtr="0">
              <a:spAutoFit/>
            </a:bodyPr>
            <a:lstStyle/>
            <a:p>
              <a:pPr algn="l"/>
              <a:r>
                <a:rPr lang="zh-CN" sz="1200" b="1" dirty="0">
                  <a:solidFill>
                    <a:srgbClr val="334E68"/>
                  </a:solidFill>
                  <a:latin typeface="+mn-lt"/>
                  <a:ea typeface="+mn-ea"/>
                  <a:cs typeface="+mn-cs"/>
                </a:rPr>
                <a:t>位向量</a:t>
              </a:r>
            </a:p>
          </p:txBody>
        </p:sp>
        <p:sp>
          <p:nvSpPr>
            <p:cNvPr id="10" name="Rectangle 10"/>
            <p:cNvSpPr/>
            <p:nvPr/>
          </p:nvSpPr>
          <p:spPr>
            <a:xfrm>
              <a:off x="1123950" y="1955482"/>
              <a:ext cx="363855" cy="406718"/>
            </a:xfrm>
            <a:prstGeom prst="rect">
              <a:avLst/>
            </a:prstGeom>
            <a:solidFill>
              <a:srgbClr val="FDEEE7"/>
            </a:solidFill>
            <a:ln w="15240">
              <a:solidFill>
                <a:srgbClr val="F26B3A"/>
              </a:solidFill>
            </a:ln>
          </p:spPr>
        </p:sp>
        <p:sp>
          <p:nvSpPr>
            <p:cNvPr id="11" name="TextBox 11"/>
            <p:cNvSpPr txBox="1"/>
            <p:nvPr/>
          </p:nvSpPr>
          <p:spPr>
            <a:xfrm>
              <a:off x="1253136" y="2084070"/>
              <a:ext cx="105484" cy="234696"/>
            </a:xfrm>
            <a:prstGeom prst="rect">
              <a:avLst/>
            </a:prstGeom>
            <a:noFill/>
            <a:ln>
              <a:noFill/>
            </a:ln>
          </p:spPr>
          <p:txBody>
            <a:bodyPr wrap="none" lIns="0" tIns="0" rIns="0" bIns="0" anchor="t" anchorCtr="0">
              <a:spAutoFit/>
            </a:bodyPr>
            <a:lstStyle/>
            <a:p>
              <a:pPr algn="ctr"/>
              <a:r>
                <a:rPr lang="zh-CN" sz="1200" b="1" dirty="0">
                  <a:solidFill>
                    <a:srgbClr val="1F2937"/>
                  </a:solidFill>
                  <a:latin typeface="+mn-lt"/>
                  <a:ea typeface="+mn-ea"/>
                  <a:cs typeface="+mn-cs"/>
                </a:rPr>
                <a:t>1</a:t>
              </a:r>
            </a:p>
          </p:txBody>
        </p:sp>
        <p:sp>
          <p:nvSpPr>
            <p:cNvPr id="12" name="Rectangle 12"/>
            <p:cNvSpPr/>
            <p:nvPr/>
          </p:nvSpPr>
          <p:spPr>
            <a:xfrm>
              <a:off x="1487805" y="1955482"/>
              <a:ext cx="363855" cy="406718"/>
            </a:xfrm>
            <a:prstGeom prst="rect">
              <a:avLst/>
            </a:prstGeom>
            <a:solidFill>
              <a:srgbClr val="FFFFFF"/>
            </a:solidFill>
            <a:ln w="15240">
              <a:solidFill>
                <a:srgbClr val="334E68"/>
              </a:solidFill>
            </a:ln>
          </p:spPr>
        </p:sp>
        <p:sp>
          <p:nvSpPr>
            <p:cNvPr id="13" name="TextBox 13"/>
            <p:cNvSpPr txBox="1"/>
            <p:nvPr/>
          </p:nvSpPr>
          <p:spPr>
            <a:xfrm>
              <a:off x="1617943" y="2084070"/>
              <a:ext cx="105484" cy="234696"/>
            </a:xfrm>
            <a:prstGeom prst="rect">
              <a:avLst/>
            </a:prstGeom>
            <a:noFill/>
            <a:ln>
              <a:noFill/>
            </a:ln>
          </p:spPr>
          <p:txBody>
            <a:bodyPr wrap="none" lIns="0" tIns="0" rIns="0" bIns="0" anchor="t" anchorCtr="0">
              <a:spAutoFit/>
            </a:bodyPr>
            <a:lstStyle/>
            <a:p>
              <a:pPr algn="ctr"/>
              <a:r>
                <a:rPr lang="zh-CN" sz="1200" b="1" dirty="0">
                  <a:solidFill>
                    <a:srgbClr val="1F2937"/>
                  </a:solidFill>
                  <a:latin typeface="+mn-lt"/>
                  <a:ea typeface="+mn-ea"/>
                  <a:cs typeface="+mn-cs"/>
                </a:rPr>
                <a:t>0</a:t>
              </a:r>
            </a:p>
          </p:txBody>
        </p:sp>
        <p:sp>
          <p:nvSpPr>
            <p:cNvPr id="14" name="Rectangle 14"/>
            <p:cNvSpPr/>
            <p:nvPr/>
          </p:nvSpPr>
          <p:spPr>
            <a:xfrm>
              <a:off x="1852612" y="1955482"/>
              <a:ext cx="363855" cy="406718"/>
            </a:xfrm>
            <a:prstGeom prst="rect">
              <a:avLst/>
            </a:prstGeom>
            <a:solidFill>
              <a:srgbClr val="FDEEE7"/>
            </a:solidFill>
            <a:ln w="15240">
              <a:solidFill>
                <a:srgbClr val="F26B3A"/>
              </a:solidFill>
            </a:ln>
          </p:spPr>
        </p:sp>
        <p:sp>
          <p:nvSpPr>
            <p:cNvPr id="15" name="TextBox 15"/>
            <p:cNvSpPr txBox="1"/>
            <p:nvPr/>
          </p:nvSpPr>
          <p:spPr>
            <a:xfrm>
              <a:off x="1981798" y="2084070"/>
              <a:ext cx="105484" cy="234696"/>
            </a:xfrm>
            <a:prstGeom prst="rect">
              <a:avLst/>
            </a:prstGeom>
            <a:noFill/>
            <a:ln>
              <a:noFill/>
            </a:ln>
          </p:spPr>
          <p:txBody>
            <a:bodyPr wrap="none" lIns="0" tIns="0" rIns="0" bIns="0" anchor="t" anchorCtr="0">
              <a:spAutoFit/>
            </a:bodyPr>
            <a:lstStyle/>
            <a:p>
              <a:pPr algn="ctr"/>
              <a:r>
                <a:rPr lang="zh-CN" sz="1200" b="1" dirty="0">
                  <a:solidFill>
                    <a:srgbClr val="1F2937"/>
                  </a:solidFill>
                  <a:latin typeface="+mn-lt"/>
                  <a:ea typeface="+mn-ea"/>
                  <a:cs typeface="+mn-cs"/>
                </a:rPr>
                <a:t>1</a:t>
              </a:r>
            </a:p>
          </p:txBody>
        </p:sp>
        <p:sp>
          <p:nvSpPr>
            <p:cNvPr id="16" name="Rectangle 16"/>
            <p:cNvSpPr/>
            <p:nvPr/>
          </p:nvSpPr>
          <p:spPr>
            <a:xfrm>
              <a:off x="2217420" y="1955482"/>
              <a:ext cx="363855" cy="406718"/>
            </a:xfrm>
            <a:prstGeom prst="rect">
              <a:avLst/>
            </a:prstGeom>
            <a:solidFill>
              <a:srgbClr val="FFFFFF"/>
            </a:solidFill>
            <a:ln w="15240">
              <a:solidFill>
                <a:srgbClr val="334E68"/>
              </a:solidFill>
            </a:ln>
          </p:spPr>
        </p:sp>
        <p:sp>
          <p:nvSpPr>
            <p:cNvPr id="17" name="TextBox 17"/>
            <p:cNvSpPr txBox="1"/>
            <p:nvPr/>
          </p:nvSpPr>
          <p:spPr>
            <a:xfrm>
              <a:off x="2346606" y="2084070"/>
              <a:ext cx="105484" cy="234696"/>
            </a:xfrm>
            <a:prstGeom prst="rect">
              <a:avLst/>
            </a:prstGeom>
            <a:noFill/>
            <a:ln>
              <a:noFill/>
            </a:ln>
          </p:spPr>
          <p:txBody>
            <a:bodyPr wrap="none" lIns="0" tIns="0" rIns="0" bIns="0" anchor="t" anchorCtr="0">
              <a:spAutoFit/>
            </a:bodyPr>
            <a:lstStyle/>
            <a:p>
              <a:pPr algn="ctr"/>
              <a:r>
                <a:rPr lang="zh-CN" sz="1200" b="1" dirty="0">
                  <a:solidFill>
                    <a:srgbClr val="1F2937"/>
                  </a:solidFill>
                  <a:latin typeface="+mn-lt"/>
                  <a:ea typeface="+mn-ea"/>
                  <a:cs typeface="+mn-cs"/>
                </a:rPr>
                <a:t>0</a:t>
              </a:r>
            </a:p>
          </p:txBody>
        </p:sp>
        <p:sp>
          <p:nvSpPr>
            <p:cNvPr id="18" name="Rectangle 18"/>
            <p:cNvSpPr/>
            <p:nvPr/>
          </p:nvSpPr>
          <p:spPr>
            <a:xfrm>
              <a:off x="2581275" y="1955482"/>
              <a:ext cx="363855" cy="406718"/>
            </a:xfrm>
            <a:prstGeom prst="rect">
              <a:avLst/>
            </a:prstGeom>
            <a:solidFill>
              <a:srgbClr val="FFFFFF"/>
            </a:solidFill>
            <a:ln w="15240">
              <a:solidFill>
                <a:srgbClr val="334E68"/>
              </a:solidFill>
            </a:ln>
          </p:spPr>
        </p:sp>
        <p:sp>
          <p:nvSpPr>
            <p:cNvPr id="19" name="TextBox 19"/>
            <p:cNvSpPr txBox="1"/>
            <p:nvPr/>
          </p:nvSpPr>
          <p:spPr>
            <a:xfrm>
              <a:off x="2710461" y="2084070"/>
              <a:ext cx="105484" cy="234696"/>
            </a:xfrm>
            <a:prstGeom prst="rect">
              <a:avLst/>
            </a:prstGeom>
            <a:noFill/>
            <a:ln>
              <a:noFill/>
            </a:ln>
          </p:spPr>
          <p:txBody>
            <a:bodyPr wrap="none" lIns="0" tIns="0" rIns="0" bIns="0" anchor="t" anchorCtr="0">
              <a:spAutoFit/>
            </a:bodyPr>
            <a:lstStyle/>
            <a:p>
              <a:pPr algn="ctr"/>
              <a:r>
                <a:rPr lang="zh-CN" sz="1200" b="1" dirty="0">
                  <a:solidFill>
                    <a:srgbClr val="1F2937"/>
                  </a:solidFill>
                  <a:latin typeface="+mn-lt"/>
                  <a:ea typeface="+mn-ea"/>
                  <a:cs typeface="+mn-cs"/>
                </a:rPr>
                <a:t>0</a:t>
              </a:r>
            </a:p>
          </p:txBody>
        </p:sp>
        <p:sp>
          <p:nvSpPr>
            <p:cNvPr id="20" name="Rectangle 20"/>
            <p:cNvSpPr/>
            <p:nvPr/>
          </p:nvSpPr>
          <p:spPr>
            <a:xfrm>
              <a:off x="2945130" y="1955482"/>
              <a:ext cx="363855" cy="406718"/>
            </a:xfrm>
            <a:prstGeom prst="rect">
              <a:avLst/>
            </a:prstGeom>
            <a:solidFill>
              <a:srgbClr val="FFFFFF"/>
            </a:solidFill>
            <a:ln w="15240">
              <a:solidFill>
                <a:srgbClr val="334E68"/>
              </a:solidFill>
            </a:ln>
          </p:spPr>
        </p:sp>
        <p:sp>
          <p:nvSpPr>
            <p:cNvPr id="21" name="TextBox 21"/>
            <p:cNvSpPr txBox="1"/>
            <p:nvPr/>
          </p:nvSpPr>
          <p:spPr>
            <a:xfrm>
              <a:off x="3075268" y="2084070"/>
              <a:ext cx="105484" cy="234696"/>
            </a:xfrm>
            <a:prstGeom prst="rect">
              <a:avLst/>
            </a:prstGeom>
            <a:noFill/>
            <a:ln>
              <a:noFill/>
            </a:ln>
          </p:spPr>
          <p:txBody>
            <a:bodyPr wrap="none" lIns="0" tIns="0" rIns="0" bIns="0" anchor="t" anchorCtr="0">
              <a:spAutoFit/>
            </a:bodyPr>
            <a:lstStyle/>
            <a:p>
              <a:pPr algn="ctr"/>
              <a:r>
                <a:rPr lang="zh-CN" sz="1200" b="1" dirty="0">
                  <a:solidFill>
                    <a:srgbClr val="1F2937"/>
                  </a:solidFill>
                  <a:latin typeface="+mn-lt"/>
                  <a:ea typeface="+mn-ea"/>
                  <a:cs typeface="+mn-cs"/>
                </a:rPr>
                <a:t>0</a:t>
              </a:r>
            </a:p>
          </p:txBody>
        </p:sp>
        <p:sp>
          <p:nvSpPr>
            <p:cNvPr id="22" name="Rectangle 22"/>
            <p:cNvSpPr/>
            <p:nvPr/>
          </p:nvSpPr>
          <p:spPr>
            <a:xfrm>
              <a:off x="3309938" y="1955482"/>
              <a:ext cx="363855" cy="406718"/>
            </a:xfrm>
            <a:prstGeom prst="rect">
              <a:avLst/>
            </a:prstGeom>
            <a:solidFill>
              <a:srgbClr val="FDEEE7"/>
            </a:solidFill>
            <a:ln w="15240">
              <a:solidFill>
                <a:srgbClr val="F26B3A"/>
              </a:solidFill>
            </a:ln>
          </p:spPr>
        </p:sp>
        <p:sp>
          <p:nvSpPr>
            <p:cNvPr id="23" name="TextBox 23"/>
            <p:cNvSpPr txBox="1"/>
            <p:nvPr/>
          </p:nvSpPr>
          <p:spPr>
            <a:xfrm>
              <a:off x="3439123" y="2084070"/>
              <a:ext cx="105484" cy="234696"/>
            </a:xfrm>
            <a:prstGeom prst="rect">
              <a:avLst/>
            </a:prstGeom>
            <a:noFill/>
            <a:ln>
              <a:noFill/>
            </a:ln>
          </p:spPr>
          <p:txBody>
            <a:bodyPr wrap="none" lIns="0" tIns="0" rIns="0" bIns="0" anchor="t" anchorCtr="0">
              <a:spAutoFit/>
            </a:bodyPr>
            <a:lstStyle/>
            <a:p>
              <a:pPr algn="ctr"/>
              <a:r>
                <a:rPr lang="zh-CN" sz="1200" b="1" dirty="0">
                  <a:solidFill>
                    <a:srgbClr val="1F2937"/>
                  </a:solidFill>
                  <a:latin typeface="+mn-lt"/>
                  <a:ea typeface="+mn-ea"/>
                  <a:cs typeface="+mn-cs"/>
                </a:rPr>
                <a:t>1</a:t>
              </a:r>
            </a:p>
          </p:txBody>
        </p:sp>
        <p:sp>
          <p:nvSpPr>
            <p:cNvPr id="24" name="Rectangle 24"/>
            <p:cNvSpPr/>
            <p:nvPr/>
          </p:nvSpPr>
          <p:spPr>
            <a:xfrm>
              <a:off x="3674745" y="1955482"/>
              <a:ext cx="363855" cy="406718"/>
            </a:xfrm>
            <a:prstGeom prst="rect">
              <a:avLst/>
            </a:prstGeom>
            <a:solidFill>
              <a:srgbClr val="FFFFFF"/>
            </a:solidFill>
            <a:ln w="15240">
              <a:solidFill>
                <a:srgbClr val="334E68"/>
              </a:solidFill>
            </a:ln>
          </p:spPr>
        </p:sp>
        <p:sp>
          <p:nvSpPr>
            <p:cNvPr id="25" name="TextBox 25"/>
            <p:cNvSpPr txBox="1"/>
            <p:nvPr/>
          </p:nvSpPr>
          <p:spPr>
            <a:xfrm>
              <a:off x="3803931" y="2084070"/>
              <a:ext cx="105484" cy="234696"/>
            </a:xfrm>
            <a:prstGeom prst="rect">
              <a:avLst/>
            </a:prstGeom>
            <a:noFill/>
            <a:ln>
              <a:noFill/>
            </a:ln>
          </p:spPr>
          <p:txBody>
            <a:bodyPr wrap="none" lIns="0" tIns="0" rIns="0" bIns="0" anchor="t" anchorCtr="0">
              <a:spAutoFit/>
            </a:bodyPr>
            <a:lstStyle/>
            <a:p>
              <a:pPr algn="ctr"/>
              <a:r>
                <a:rPr lang="zh-CN" sz="1200" b="1" dirty="0">
                  <a:solidFill>
                    <a:srgbClr val="1F2937"/>
                  </a:solidFill>
                  <a:latin typeface="+mn-lt"/>
                  <a:ea typeface="+mn-ea"/>
                  <a:cs typeface="+mn-cs"/>
                </a:rPr>
                <a:t>0</a:t>
              </a:r>
            </a:p>
          </p:txBody>
        </p:sp>
        <p:sp>
          <p:nvSpPr>
            <p:cNvPr id="26" name="TextBox 26"/>
            <p:cNvSpPr txBox="1"/>
            <p:nvPr/>
          </p:nvSpPr>
          <p:spPr>
            <a:xfrm>
              <a:off x="1267797" y="2417445"/>
              <a:ext cx="76162" cy="176212"/>
            </a:xfrm>
            <a:prstGeom prst="rect">
              <a:avLst/>
            </a:prstGeom>
            <a:noFill/>
            <a:ln>
              <a:noFill/>
            </a:ln>
          </p:spPr>
          <p:txBody>
            <a:bodyPr wrap="none" lIns="0" tIns="0" rIns="0" bIns="0" anchor="t" anchorCtr="0">
              <a:spAutoFit/>
            </a:bodyPr>
            <a:lstStyle/>
            <a:p>
              <a:pPr algn="ctr"/>
              <a:r>
                <a:rPr lang="zh-CN" sz="900" dirty="0">
                  <a:solidFill>
                    <a:srgbClr val="5B6475"/>
                  </a:solidFill>
                  <a:latin typeface="+mn-lt"/>
                  <a:ea typeface="+mn-ea"/>
                  <a:cs typeface="+mn-cs"/>
                </a:rPr>
                <a:t>1</a:t>
              </a:r>
            </a:p>
          </p:txBody>
        </p:sp>
        <p:sp>
          <p:nvSpPr>
            <p:cNvPr id="27" name="TextBox 27"/>
            <p:cNvSpPr txBox="1"/>
            <p:nvPr/>
          </p:nvSpPr>
          <p:spPr>
            <a:xfrm>
              <a:off x="1632604" y="2417445"/>
              <a:ext cx="76162" cy="176212"/>
            </a:xfrm>
            <a:prstGeom prst="rect">
              <a:avLst/>
            </a:prstGeom>
            <a:noFill/>
            <a:ln>
              <a:noFill/>
            </a:ln>
          </p:spPr>
          <p:txBody>
            <a:bodyPr wrap="none" lIns="0" tIns="0" rIns="0" bIns="0" anchor="t" anchorCtr="0">
              <a:spAutoFit/>
            </a:bodyPr>
            <a:lstStyle/>
            <a:p>
              <a:pPr algn="ctr"/>
              <a:r>
                <a:rPr lang="zh-CN" sz="900" dirty="0">
                  <a:solidFill>
                    <a:srgbClr val="5B6475"/>
                  </a:solidFill>
                  <a:latin typeface="+mn-lt"/>
                  <a:ea typeface="+mn-ea"/>
                  <a:cs typeface="+mn-cs"/>
                </a:rPr>
                <a:t>2</a:t>
              </a:r>
            </a:p>
          </p:txBody>
        </p:sp>
        <p:sp>
          <p:nvSpPr>
            <p:cNvPr id="28" name="TextBox 28"/>
            <p:cNvSpPr txBox="1"/>
            <p:nvPr/>
          </p:nvSpPr>
          <p:spPr>
            <a:xfrm>
              <a:off x="1996459" y="2417445"/>
              <a:ext cx="76162" cy="176212"/>
            </a:xfrm>
            <a:prstGeom prst="rect">
              <a:avLst/>
            </a:prstGeom>
            <a:noFill/>
            <a:ln>
              <a:noFill/>
            </a:ln>
          </p:spPr>
          <p:txBody>
            <a:bodyPr wrap="none" lIns="0" tIns="0" rIns="0" bIns="0" anchor="t" anchorCtr="0">
              <a:spAutoFit/>
            </a:bodyPr>
            <a:lstStyle/>
            <a:p>
              <a:pPr algn="ctr"/>
              <a:r>
                <a:rPr lang="zh-CN" sz="900" dirty="0">
                  <a:solidFill>
                    <a:srgbClr val="5B6475"/>
                  </a:solidFill>
                  <a:latin typeface="+mn-lt"/>
                  <a:ea typeface="+mn-ea"/>
                  <a:cs typeface="+mn-cs"/>
                </a:rPr>
                <a:t>3</a:t>
              </a:r>
            </a:p>
          </p:txBody>
        </p:sp>
        <p:sp>
          <p:nvSpPr>
            <p:cNvPr id="29" name="TextBox 29"/>
            <p:cNvSpPr txBox="1"/>
            <p:nvPr/>
          </p:nvSpPr>
          <p:spPr>
            <a:xfrm>
              <a:off x="2361267" y="2417445"/>
              <a:ext cx="76162" cy="176212"/>
            </a:xfrm>
            <a:prstGeom prst="rect">
              <a:avLst/>
            </a:prstGeom>
            <a:noFill/>
            <a:ln>
              <a:noFill/>
            </a:ln>
          </p:spPr>
          <p:txBody>
            <a:bodyPr wrap="none" lIns="0" tIns="0" rIns="0" bIns="0" anchor="t" anchorCtr="0">
              <a:spAutoFit/>
            </a:bodyPr>
            <a:lstStyle/>
            <a:p>
              <a:pPr algn="ctr"/>
              <a:r>
                <a:rPr lang="zh-CN" sz="900" dirty="0">
                  <a:solidFill>
                    <a:srgbClr val="5B6475"/>
                  </a:solidFill>
                  <a:latin typeface="+mn-lt"/>
                  <a:ea typeface="+mn-ea"/>
                  <a:cs typeface="+mn-cs"/>
                </a:rPr>
                <a:t>4</a:t>
              </a:r>
            </a:p>
          </p:txBody>
        </p:sp>
        <p:sp>
          <p:nvSpPr>
            <p:cNvPr id="30" name="TextBox 30"/>
            <p:cNvSpPr txBox="1"/>
            <p:nvPr/>
          </p:nvSpPr>
          <p:spPr>
            <a:xfrm>
              <a:off x="2725122" y="2417445"/>
              <a:ext cx="76162" cy="176212"/>
            </a:xfrm>
            <a:prstGeom prst="rect">
              <a:avLst/>
            </a:prstGeom>
            <a:noFill/>
            <a:ln>
              <a:noFill/>
            </a:ln>
          </p:spPr>
          <p:txBody>
            <a:bodyPr wrap="none" lIns="0" tIns="0" rIns="0" bIns="0" anchor="t" anchorCtr="0">
              <a:spAutoFit/>
            </a:bodyPr>
            <a:lstStyle/>
            <a:p>
              <a:pPr algn="ctr"/>
              <a:r>
                <a:rPr lang="zh-CN" sz="900" dirty="0">
                  <a:solidFill>
                    <a:srgbClr val="5B6475"/>
                  </a:solidFill>
                  <a:latin typeface="+mn-lt"/>
                  <a:ea typeface="+mn-ea"/>
                  <a:cs typeface="+mn-cs"/>
                </a:rPr>
                <a:t>5</a:t>
              </a:r>
            </a:p>
          </p:txBody>
        </p:sp>
        <p:sp>
          <p:nvSpPr>
            <p:cNvPr id="31" name="TextBox 31"/>
            <p:cNvSpPr txBox="1"/>
            <p:nvPr/>
          </p:nvSpPr>
          <p:spPr>
            <a:xfrm>
              <a:off x="3089929" y="2417445"/>
              <a:ext cx="76162" cy="176212"/>
            </a:xfrm>
            <a:prstGeom prst="rect">
              <a:avLst/>
            </a:prstGeom>
            <a:noFill/>
            <a:ln>
              <a:noFill/>
            </a:ln>
          </p:spPr>
          <p:txBody>
            <a:bodyPr wrap="none" lIns="0" tIns="0" rIns="0" bIns="0" anchor="t" anchorCtr="0">
              <a:spAutoFit/>
            </a:bodyPr>
            <a:lstStyle/>
            <a:p>
              <a:pPr algn="ctr"/>
              <a:r>
                <a:rPr lang="zh-CN" sz="900" dirty="0">
                  <a:solidFill>
                    <a:srgbClr val="5B6475"/>
                  </a:solidFill>
                  <a:latin typeface="+mn-lt"/>
                  <a:ea typeface="+mn-ea"/>
                  <a:cs typeface="+mn-cs"/>
                </a:rPr>
                <a:t>6</a:t>
              </a:r>
            </a:p>
          </p:txBody>
        </p:sp>
        <p:sp>
          <p:nvSpPr>
            <p:cNvPr id="32" name="TextBox 32"/>
            <p:cNvSpPr txBox="1"/>
            <p:nvPr/>
          </p:nvSpPr>
          <p:spPr>
            <a:xfrm>
              <a:off x="3453784" y="2417445"/>
              <a:ext cx="76162" cy="176212"/>
            </a:xfrm>
            <a:prstGeom prst="rect">
              <a:avLst/>
            </a:prstGeom>
            <a:noFill/>
            <a:ln>
              <a:noFill/>
            </a:ln>
          </p:spPr>
          <p:txBody>
            <a:bodyPr wrap="none" lIns="0" tIns="0" rIns="0" bIns="0" anchor="t" anchorCtr="0">
              <a:spAutoFit/>
            </a:bodyPr>
            <a:lstStyle/>
            <a:p>
              <a:pPr algn="ctr"/>
              <a:r>
                <a:rPr lang="zh-CN" sz="900" dirty="0">
                  <a:solidFill>
                    <a:srgbClr val="5B6475"/>
                  </a:solidFill>
                  <a:latin typeface="+mn-lt"/>
                  <a:ea typeface="+mn-ea"/>
                  <a:cs typeface="+mn-cs"/>
                </a:rPr>
                <a:t>7</a:t>
              </a:r>
            </a:p>
          </p:txBody>
        </p:sp>
        <p:sp>
          <p:nvSpPr>
            <p:cNvPr id="33" name="TextBox 33"/>
            <p:cNvSpPr txBox="1"/>
            <p:nvPr/>
          </p:nvSpPr>
          <p:spPr>
            <a:xfrm>
              <a:off x="3818592" y="2417445"/>
              <a:ext cx="76162" cy="176212"/>
            </a:xfrm>
            <a:prstGeom prst="rect">
              <a:avLst/>
            </a:prstGeom>
            <a:noFill/>
            <a:ln>
              <a:noFill/>
            </a:ln>
          </p:spPr>
          <p:txBody>
            <a:bodyPr wrap="none" lIns="0" tIns="0" rIns="0" bIns="0" anchor="t" anchorCtr="0">
              <a:spAutoFit/>
            </a:bodyPr>
            <a:lstStyle/>
            <a:p>
              <a:pPr algn="ctr"/>
              <a:r>
                <a:rPr lang="zh-CN" sz="900" dirty="0">
                  <a:solidFill>
                    <a:srgbClr val="5B6475"/>
                  </a:solidFill>
                  <a:latin typeface="+mn-lt"/>
                  <a:ea typeface="+mn-ea"/>
                  <a:cs typeface="+mn-cs"/>
                </a:rPr>
                <a:t>8</a:t>
              </a:r>
            </a:p>
          </p:txBody>
        </p:sp>
      </p:grpSp>
      <p:grpSp>
        <p:nvGrpSpPr>
          <p:cNvPr id="36" name="c1-text-3"/>
          <p:cNvGrpSpPr/>
          <p:nvPr/>
        </p:nvGrpSpPr>
        <p:grpSpPr>
          <a:xfrm>
            <a:off x="527304" y="2757488"/>
            <a:ext cx="3197352" cy="470916"/>
            <a:chOff x="527304" y="2757488"/>
            <a:chExt cx="3197352" cy="470916"/>
          </a:xfrm>
        </p:grpSpPr>
        <p:sp>
          <p:nvSpPr>
            <p:cNvPr id="35" name="TextBox 35"/>
            <p:cNvSpPr txBox="1"/>
            <p:nvPr/>
          </p:nvSpPr>
          <p:spPr>
            <a:xfrm>
              <a:off x="527304" y="2757488"/>
              <a:ext cx="3197352" cy="470916"/>
            </a:xfrm>
            <a:prstGeom prst="rect">
              <a:avLst/>
            </a:prstGeom>
            <a:noFill/>
            <a:ln>
              <a:noFill/>
            </a:ln>
          </p:spPr>
          <p:txBody>
            <a:bodyPr wrap="none" lIns="0" tIns="0" rIns="0" bIns="0" anchor="t" anchorCtr="0">
              <a:spAutoFit/>
            </a:bodyPr>
            <a:lstStyle/>
            <a:p>
              <a:pPr algn="l">
                <a:lnSpc>
                  <a:spcPts val="1860"/>
                </a:lnSpc>
              </a:pPr>
              <a:r>
                <a:rPr lang="zh-CN" sz="1200" dirty="0">
                  <a:solidFill>
                    <a:srgbClr val="1F2937"/>
                  </a:solidFill>
                  <a:latin typeface="+mn-lt"/>
                  <a:ea typeface="+mn-ea"/>
                  <a:cs typeface="+mn-cs"/>
                </a:rPr>
                <a:t>第 i 位为 1 表示 Pᵢ 有副本，这里 G = {P1, P3,</a:t>
              </a:r>
              <a:br/>
              <a:r>
                <a:rPr lang="zh-CN" sz="1200" dirty="0">
                  <a:solidFill>
                    <a:srgbClr val="1F2937"/>
                  </a:solidFill>
                  <a:latin typeface="+mn-lt"/>
                  <a:ea typeface="+mn-ea"/>
                  <a:cs typeface="+mn-cs"/>
                </a:rPr>
                <a:t>P7}。</a:t>
              </a:r>
            </a:p>
          </p:txBody>
        </p:sp>
      </p:grpSp>
      <p:grpSp>
        <p:nvGrpSpPr>
          <p:cNvPr id="45" name="c1-card-4"/>
          <p:cNvGrpSpPr/>
          <p:nvPr/>
        </p:nvGrpSpPr>
        <p:grpSpPr>
          <a:xfrm>
            <a:off x="533400" y="3367088"/>
            <a:ext cx="3505200" cy="1911668"/>
            <a:chOff x="533400" y="3367088"/>
            <a:chExt cx="3505200" cy="1911668"/>
          </a:xfrm>
        </p:grpSpPr>
        <p:sp>
          <p:nvSpPr>
            <p:cNvPr id="37" name="Rectangle 37"/>
            <p:cNvSpPr/>
            <p:nvPr/>
          </p:nvSpPr>
          <p:spPr>
            <a:xfrm>
              <a:off x="533400" y="3367088"/>
              <a:ext cx="3505200" cy="1911668"/>
            </a:xfrm>
            <a:prstGeom prst="roundRect">
              <a:avLst>
                <a:gd name="adj" fmla="val 6976"/>
              </a:avLst>
            </a:prstGeom>
            <a:solidFill>
              <a:srgbClr val="FFFFFF"/>
            </a:solidFill>
            <a:ln w="14288">
              <a:solidFill>
                <a:srgbClr val="D9DFEA"/>
              </a:solidFill>
            </a:ln>
          </p:spPr>
        </p:sp>
        <p:sp>
          <p:nvSpPr>
            <p:cNvPr id="38" name="Rectangle 38"/>
            <p:cNvSpPr/>
            <p:nvPr/>
          </p:nvSpPr>
          <p:spPr>
            <a:xfrm>
              <a:off x="542925" y="3500438"/>
              <a:ext cx="47625" cy="1644968"/>
            </a:xfrm>
            <a:prstGeom prst="roundRect">
              <a:avLst>
                <a:gd name="adj" fmla="val 50000"/>
              </a:avLst>
            </a:prstGeom>
            <a:solidFill>
              <a:srgbClr val="334E68"/>
            </a:solidFill>
            <a:ln>
              <a:noFill/>
            </a:ln>
          </p:spPr>
        </p:sp>
        <p:sp>
          <p:nvSpPr>
            <p:cNvPr id="39" name="Rectangle 39"/>
            <p:cNvSpPr/>
            <p:nvPr/>
          </p:nvSpPr>
          <p:spPr>
            <a:xfrm>
              <a:off x="775335" y="3570922"/>
              <a:ext cx="494348" cy="257175"/>
            </a:xfrm>
            <a:prstGeom prst="roundRect">
              <a:avLst>
                <a:gd name="adj" fmla="val 50000"/>
              </a:avLst>
            </a:prstGeom>
            <a:solidFill>
              <a:srgbClr val="E7EDF3"/>
            </a:solidFill>
            <a:ln>
              <a:noFill/>
            </a:ln>
          </p:spPr>
        </p:sp>
        <p:sp>
          <p:nvSpPr>
            <p:cNvPr id="40" name="TextBox 40"/>
            <p:cNvSpPr txBox="1"/>
            <p:nvPr/>
          </p:nvSpPr>
          <p:spPr>
            <a:xfrm>
              <a:off x="865543" y="3606641"/>
              <a:ext cx="312979"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特点</a:t>
              </a:r>
            </a:p>
          </p:txBody>
        </p:sp>
        <p:sp>
          <p:nvSpPr>
            <p:cNvPr id="41" name="Ellipse 41"/>
            <p:cNvSpPr/>
            <p:nvPr/>
          </p:nvSpPr>
          <p:spPr>
            <a:xfrm>
              <a:off x="782955" y="4003358"/>
              <a:ext cx="60960" cy="60960"/>
            </a:xfrm>
            <a:prstGeom prst="ellipse">
              <a:avLst/>
            </a:prstGeom>
            <a:solidFill>
              <a:srgbClr val="334E68"/>
            </a:solidFill>
            <a:ln>
              <a:noFill/>
            </a:ln>
          </p:spPr>
        </p:sp>
        <p:sp>
          <p:nvSpPr>
            <p:cNvPr id="42" name="TextBox 42"/>
            <p:cNvSpPr txBox="1"/>
            <p:nvPr/>
          </p:nvSpPr>
          <p:spPr>
            <a:xfrm>
              <a:off x="939546" y="3943826"/>
              <a:ext cx="2719578" cy="550164"/>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能精确记录任意多个副本，作废时</a:t>
              </a:r>
              <a:br/>
              <a:r>
                <a:rPr lang="zh-CN" sz="1420" dirty="0">
                  <a:solidFill>
                    <a:srgbClr val="1F2937"/>
                  </a:solidFill>
                  <a:latin typeface="+mn-lt"/>
                  <a:ea typeface="+mn-ea"/>
                  <a:cs typeface="+mn-cs"/>
                </a:rPr>
                <a:t>直接按位向量逐个通知</a:t>
              </a:r>
            </a:p>
          </p:txBody>
        </p:sp>
        <p:sp>
          <p:nvSpPr>
            <p:cNvPr id="43" name="Ellipse 43"/>
            <p:cNvSpPr/>
            <p:nvPr/>
          </p:nvSpPr>
          <p:spPr>
            <a:xfrm>
              <a:off x="782955" y="4594860"/>
              <a:ext cx="60960" cy="60960"/>
            </a:xfrm>
            <a:prstGeom prst="ellipse">
              <a:avLst/>
            </a:prstGeom>
            <a:solidFill>
              <a:srgbClr val="334E68"/>
            </a:solidFill>
            <a:ln>
              <a:noFill/>
            </a:ln>
          </p:spPr>
        </p:sp>
        <p:sp>
          <p:nvSpPr>
            <p:cNvPr id="44" name="TextBox 44"/>
            <p:cNvSpPr txBox="1"/>
            <p:nvPr/>
          </p:nvSpPr>
          <p:spPr>
            <a:xfrm>
              <a:off x="939546" y="4535329"/>
              <a:ext cx="2611374" cy="550164"/>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每块 N 位，总开销 O(N²)，处理</a:t>
              </a:r>
              <a:br/>
              <a:r>
                <a:rPr lang="zh-CN" sz="1420" dirty="0">
                  <a:solidFill>
                    <a:srgbClr val="1F2937"/>
                  </a:solidFill>
                  <a:latin typeface="+mn-lt"/>
                  <a:ea typeface="+mn-ea"/>
                  <a:cs typeface="+mn-cs"/>
                </a:rPr>
                <a:t>器多了就放不下</a:t>
              </a:r>
            </a:p>
          </p:txBody>
        </p:sp>
      </p:grpSp>
      <p:grpSp>
        <p:nvGrpSpPr>
          <p:cNvPr id="47" name="c2-text-1"/>
          <p:cNvGrpSpPr/>
          <p:nvPr/>
        </p:nvGrpSpPr>
        <p:grpSpPr>
          <a:xfrm>
            <a:off x="4336161" y="1547336"/>
            <a:ext cx="2348258" cy="278702"/>
            <a:chOff x="4336161" y="1547336"/>
            <a:chExt cx="2348258" cy="278702"/>
          </a:xfrm>
        </p:grpSpPr>
        <p:sp>
          <p:nvSpPr>
            <p:cNvPr id="46" name="TextBox 46"/>
            <p:cNvSpPr txBox="1"/>
            <p:nvPr/>
          </p:nvSpPr>
          <p:spPr>
            <a:xfrm>
              <a:off x="4336161" y="1547336"/>
              <a:ext cx="2348258"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有限映像</a:t>
              </a:r>
              <a:r>
                <a:rPr lang="zh-CN" sz="1420" dirty="0">
                  <a:solidFill>
                    <a:srgbClr val="1F2937"/>
                  </a:solidFill>
                  <a:latin typeface="+mn-lt"/>
                  <a:ea typeface="+mn-ea"/>
                  <a:cs typeface="+mn-cs"/>
                </a:rPr>
                <a:t>（c = 4，N = 16）</a:t>
              </a:r>
            </a:p>
          </p:txBody>
        </p:sp>
      </p:grpSp>
      <p:grpSp>
        <p:nvGrpSpPr>
          <p:cNvPr id="57" name="c2-cells-2"/>
          <p:cNvGrpSpPr/>
          <p:nvPr/>
        </p:nvGrpSpPr>
        <p:grpSpPr>
          <a:xfrm>
            <a:off x="4337304" y="1955482"/>
            <a:ext cx="3511296" cy="406718"/>
            <a:chOff x="4337304" y="1955482"/>
            <a:chExt cx="3511296" cy="406718"/>
          </a:xfrm>
        </p:grpSpPr>
        <p:sp>
          <p:nvSpPr>
            <p:cNvPr id="48" name="TextBox 48"/>
            <p:cNvSpPr txBox="1"/>
            <p:nvPr/>
          </p:nvSpPr>
          <p:spPr>
            <a:xfrm>
              <a:off x="4337304" y="2084070"/>
              <a:ext cx="335280" cy="234696"/>
            </a:xfrm>
            <a:prstGeom prst="rect">
              <a:avLst/>
            </a:prstGeom>
            <a:noFill/>
            <a:ln>
              <a:noFill/>
            </a:ln>
          </p:spPr>
          <p:txBody>
            <a:bodyPr wrap="none" lIns="0" tIns="0" rIns="0" bIns="0" anchor="t" anchorCtr="0">
              <a:spAutoFit/>
            </a:bodyPr>
            <a:lstStyle/>
            <a:p>
              <a:pPr algn="l"/>
              <a:r>
                <a:rPr lang="zh-CN" sz="1200" b="1" dirty="0">
                  <a:solidFill>
                    <a:srgbClr val="334E68"/>
                  </a:solidFill>
                  <a:latin typeface="+mn-lt"/>
                  <a:ea typeface="+mn-ea"/>
                  <a:cs typeface="+mn-cs"/>
                </a:rPr>
                <a:t>指针</a:t>
              </a:r>
            </a:p>
          </p:txBody>
        </p:sp>
        <p:sp>
          <p:nvSpPr>
            <p:cNvPr id="49" name="Rectangle 49"/>
            <p:cNvSpPr/>
            <p:nvPr/>
          </p:nvSpPr>
          <p:spPr>
            <a:xfrm>
              <a:off x="4781550" y="1955482"/>
              <a:ext cx="766762" cy="406718"/>
            </a:xfrm>
            <a:prstGeom prst="rect">
              <a:avLst/>
            </a:prstGeom>
            <a:solidFill>
              <a:srgbClr val="FFFFFF"/>
            </a:solidFill>
            <a:ln w="15240">
              <a:solidFill>
                <a:srgbClr val="334E68"/>
              </a:solidFill>
            </a:ln>
          </p:spPr>
        </p:sp>
        <p:sp>
          <p:nvSpPr>
            <p:cNvPr id="50" name="TextBox 50"/>
            <p:cNvSpPr txBox="1"/>
            <p:nvPr/>
          </p:nvSpPr>
          <p:spPr>
            <a:xfrm>
              <a:off x="4971776" y="2084070"/>
              <a:ext cx="385359" cy="234696"/>
            </a:xfrm>
            <a:prstGeom prst="rect">
              <a:avLst/>
            </a:prstGeom>
            <a:noFill/>
            <a:ln>
              <a:noFill/>
            </a:ln>
          </p:spPr>
          <p:txBody>
            <a:bodyPr wrap="none" lIns="0" tIns="0" rIns="0" bIns="0" anchor="t" anchorCtr="0">
              <a:spAutoFit/>
            </a:bodyPr>
            <a:lstStyle/>
            <a:p>
              <a:pPr algn="ctr"/>
              <a:r>
                <a:rPr lang="zh-CN" sz="1200" b="1" dirty="0">
                  <a:solidFill>
                    <a:srgbClr val="1F2937"/>
                  </a:solidFill>
                  <a:latin typeface="+mn-lt"/>
                  <a:ea typeface="+mn-ea"/>
                  <a:cs typeface="+mn-cs"/>
                </a:rPr>
                <a:t>0001</a:t>
              </a:r>
            </a:p>
          </p:txBody>
        </p:sp>
        <p:sp>
          <p:nvSpPr>
            <p:cNvPr id="51" name="Rectangle 51"/>
            <p:cNvSpPr/>
            <p:nvPr/>
          </p:nvSpPr>
          <p:spPr>
            <a:xfrm>
              <a:off x="5548312" y="1955482"/>
              <a:ext cx="766762" cy="406718"/>
            </a:xfrm>
            <a:prstGeom prst="rect">
              <a:avLst/>
            </a:prstGeom>
            <a:solidFill>
              <a:srgbClr val="FFFFFF"/>
            </a:solidFill>
            <a:ln w="15240">
              <a:solidFill>
                <a:srgbClr val="334E68"/>
              </a:solidFill>
            </a:ln>
          </p:spPr>
        </p:sp>
        <p:sp>
          <p:nvSpPr>
            <p:cNvPr id="52" name="TextBox 52"/>
            <p:cNvSpPr txBox="1"/>
            <p:nvPr/>
          </p:nvSpPr>
          <p:spPr>
            <a:xfrm>
              <a:off x="5739491" y="2084070"/>
              <a:ext cx="385359" cy="234696"/>
            </a:xfrm>
            <a:prstGeom prst="rect">
              <a:avLst/>
            </a:prstGeom>
            <a:noFill/>
            <a:ln>
              <a:noFill/>
            </a:ln>
          </p:spPr>
          <p:txBody>
            <a:bodyPr wrap="none" lIns="0" tIns="0" rIns="0" bIns="0" anchor="t" anchorCtr="0">
              <a:spAutoFit/>
            </a:bodyPr>
            <a:lstStyle/>
            <a:p>
              <a:pPr algn="ctr"/>
              <a:r>
                <a:rPr lang="zh-CN" sz="1200" b="1" dirty="0">
                  <a:solidFill>
                    <a:srgbClr val="1F2937"/>
                  </a:solidFill>
                  <a:latin typeface="+mn-lt"/>
                  <a:ea typeface="+mn-ea"/>
                  <a:cs typeface="+mn-cs"/>
                </a:rPr>
                <a:t>0011</a:t>
              </a:r>
            </a:p>
          </p:txBody>
        </p:sp>
        <p:sp>
          <p:nvSpPr>
            <p:cNvPr id="53" name="Rectangle 53"/>
            <p:cNvSpPr/>
            <p:nvPr/>
          </p:nvSpPr>
          <p:spPr>
            <a:xfrm>
              <a:off x="6315075" y="1955482"/>
              <a:ext cx="766762" cy="406718"/>
            </a:xfrm>
            <a:prstGeom prst="rect">
              <a:avLst/>
            </a:prstGeom>
            <a:solidFill>
              <a:srgbClr val="FDEEE7"/>
            </a:solidFill>
            <a:ln w="15240">
              <a:solidFill>
                <a:srgbClr val="F26B3A"/>
              </a:solidFill>
            </a:ln>
          </p:spPr>
        </p:sp>
        <p:sp>
          <p:nvSpPr>
            <p:cNvPr id="54" name="TextBox 54"/>
            <p:cNvSpPr txBox="1"/>
            <p:nvPr/>
          </p:nvSpPr>
          <p:spPr>
            <a:xfrm>
              <a:off x="6505301" y="2084070"/>
              <a:ext cx="385359" cy="234696"/>
            </a:xfrm>
            <a:prstGeom prst="rect">
              <a:avLst/>
            </a:prstGeom>
            <a:noFill/>
            <a:ln>
              <a:noFill/>
            </a:ln>
          </p:spPr>
          <p:txBody>
            <a:bodyPr wrap="none" lIns="0" tIns="0" rIns="0" bIns="0" anchor="t" anchorCtr="0">
              <a:spAutoFit/>
            </a:bodyPr>
            <a:lstStyle/>
            <a:p>
              <a:pPr algn="ctr"/>
              <a:r>
                <a:rPr lang="zh-CN" sz="1200" b="1" dirty="0">
                  <a:solidFill>
                    <a:srgbClr val="1F2937"/>
                  </a:solidFill>
                  <a:latin typeface="+mn-lt"/>
                  <a:ea typeface="+mn-ea"/>
                  <a:cs typeface="+mn-cs"/>
                </a:rPr>
                <a:t>0100</a:t>
              </a:r>
            </a:p>
          </p:txBody>
        </p:sp>
        <p:sp>
          <p:nvSpPr>
            <p:cNvPr id="55" name="Rectangle 55"/>
            <p:cNvSpPr/>
            <p:nvPr/>
          </p:nvSpPr>
          <p:spPr>
            <a:xfrm>
              <a:off x="7081838" y="1955482"/>
              <a:ext cx="766762" cy="406718"/>
            </a:xfrm>
            <a:prstGeom prst="rect">
              <a:avLst/>
            </a:prstGeom>
            <a:solidFill>
              <a:srgbClr val="FFFFFF"/>
            </a:solidFill>
            <a:ln w="15240">
              <a:solidFill>
                <a:srgbClr val="334E68"/>
              </a:solidFill>
            </a:ln>
          </p:spPr>
        </p:sp>
        <p:sp>
          <p:nvSpPr>
            <p:cNvPr id="56" name="TextBox 56"/>
            <p:cNvSpPr txBox="1"/>
            <p:nvPr/>
          </p:nvSpPr>
          <p:spPr>
            <a:xfrm>
              <a:off x="7273016" y="2084070"/>
              <a:ext cx="385359" cy="234696"/>
            </a:xfrm>
            <a:prstGeom prst="rect">
              <a:avLst/>
            </a:prstGeom>
            <a:noFill/>
            <a:ln>
              <a:noFill/>
            </a:ln>
          </p:spPr>
          <p:txBody>
            <a:bodyPr wrap="none" lIns="0" tIns="0" rIns="0" bIns="0" anchor="t" anchorCtr="0">
              <a:spAutoFit/>
            </a:bodyPr>
            <a:lstStyle/>
            <a:p>
              <a:pPr algn="ctr"/>
              <a:r>
                <a:rPr lang="zh-CN" sz="1200" b="1" dirty="0">
                  <a:solidFill>
                    <a:srgbClr val="1F2937"/>
                  </a:solidFill>
                  <a:latin typeface="+mn-lt"/>
                  <a:ea typeface="+mn-ea"/>
                  <a:cs typeface="+mn-cs"/>
                </a:rPr>
                <a:t>0111</a:t>
              </a:r>
            </a:p>
          </p:txBody>
        </p:sp>
      </p:grpSp>
      <p:grpSp>
        <p:nvGrpSpPr>
          <p:cNvPr id="59" name="c2-text-3"/>
          <p:cNvGrpSpPr/>
          <p:nvPr/>
        </p:nvGrpSpPr>
        <p:grpSpPr>
          <a:xfrm>
            <a:off x="4337304" y="2566988"/>
            <a:ext cx="3159252" cy="470916"/>
            <a:chOff x="4337304" y="2566988"/>
            <a:chExt cx="3159252" cy="470916"/>
          </a:xfrm>
        </p:grpSpPr>
        <p:sp>
          <p:nvSpPr>
            <p:cNvPr id="58" name="TextBox 58"/>
            <p:cNvSpPr txBox="1"/>
            <p:nvPr/>
          </p:nvSpPr>
          <p:spPr>
            <a:xfrm>
              <a:off x="4337304" y="2566988"/>
              <a:ext cx="3159252" cy="470916"/>
            </a:xfrm>
            <a:prstGeom prst="rect">
              <a:avLst/>
            </a:prstGeom>
            <a:noFill/>
            <a:ln>
              <a:noFill/>
            </a:ln>
          </p:spPr>
          <p:txBody>
            <a:bodyPr wrap="none" lIns="0" tIns="0" rIns="0" bIns="0" anchor="t" anchorCtr="0">
              <a:spAutoFit/>
            </a:bodyPr>
            <a:lstStyle/>
            <a:p>
              <a:pPr algn="l">
                <a:lnSpc>
                  <a:spcPts val="1860"/>
                </a:lnSpc>
              </a:pPr>
              <a:r>
                <a:rPr lang="zh-CN" sz="1200" dirty="0">
                  <a:solidFill>
                    <a:srgbClr val="1F2937"/>
                  </a:solidFill>
                  <a:latin typeface="+mn-lt"/>
                  <a:ea typeface="+mn-ea"/>
                  <a:cs typeface="+mn-cs"/>
                </a:rPr>
                <a:t>4 个指针各存一个处理器号，G = {P1, P3, P4,</a:t>
              </a:r>
              <a:br/>
              <a:r>
                <a:rPr lang="zh-CN" sz="1200" dirty="0">
                  <a:solidFill>
                    <a:srgbClr val="1F2937"/>
                  </a:solidFill>
                  <a:latin typeface="+mn-lt"/>
                  <a:ea typeface="+mn-ea"/>
                  <a:cs typeface="+mn-cs"/>
                </a:rPr>
                <a:t>P7}，每个指针 ⌈log₂16⌉ = 4 位。</a:t>
              </a:r>
            </a:p>
          </p:txBody>
        </p:sp>
      </p:grpSp>
      <p:grpSp>
        <p:nvGrpSpPr>
          <p:cNvPr id="65" name="c2-card-4"/>
          <p:cNvGrpSpPr/>
          <p:nvPr/>
        </p:nvGrpSpPr>
        <p:grpSpPr>
          <a:xfrm>
            <a:off x="4343400" y="3176588"/>
            <a:ext cx="3505200" cy="2102168"/>
            <a:chOff x="4343400" y="3176588"/>
            <a:chExt cx="3505200" cy="2102168"/>
          </a:xfrm>
        </p:grpSpPr>
        <p:sp>
          <p:nvSpPr>
            <p:cNvPr id="60" name="Rectangle 60"/>
            <p:cNvSpPr/>
            <p:nvPr/>
          </p:nvSpPr>
          <p:spPr>
            <a:xfrm>
              <a:off x="4343400" y="3176588"/>
              <a:ext cx="3505200" cy="2102168"/>
            </a:xfrm>
            <a:prstGeom prst="roundRect">
              <a:avLst>
                <a:gd name="adj" fmla="val 6343"/>
              </a:avLst>
            </a:prstGeom>
            <a:solidFill>
              <a:srgbClr val="FFFFFF"/>
            </a:solidFill>
            <a:ln w="14288">
              <a:solidFill>
                <a:srgbClr val="D9DFEA"/>
              </a:solidFill>
            </a:ln>
          </p:spPr>
        </p:sp>
        <p:sp>
          <p:nvSpPr>
            <p:cNvPr id="61" name="Rectangle 61"/>
            <p:cNvSpPr/>
            <p:nvPr/>
          </p:nvSpPr>
          <p:spPr>
            <a:xfrm>
              <a:off x="4352925" y="3309938"/>
              <a:ext cx="47625" cy="1835468"/>
            </a:xfrm>
            <a:prstGeom prst="roundRect">
              <a:avLst>
                <a:gd name="adj" fmla="val 50000"/>
              </a:avLst>
            </a:prstGeom>
            <a:solidFill>
              <a:srgbClr val="5B6475"/>
            </a:solidFill>
            <a:ln>
              <a:noFill/>
            </a:ln>
          </p:spPr>
        </p:sp>
        <p:sp>
          <p:nvSpPr>
            <p:cNvPr id="62" name="Rectangle 62"/>
            <p:cNvSpPr/>
            <p:nvPr/>
          </p:nvSpPr>
          <p:spPr>
            <a:xfrm>
              <a:off x="4585335" y="3380422"/>
              <a:ext cx="494348" cy="257175"/>
            </a:xfrm>
            <a:prstGeom prst="roundRect">
              <a:avLst>
                <a:gd name="adj" fmla="val 50000"/>
              </a:avLst>
            </a:prstGeom>
            <a:solidFill>
              <a:srgbClr val="F4F6FB"/>
            </a:solidFill>
            <a:ln>
              <a:noFill/>
            </a:ln>
          </p:spPr>
        </p:sp>
        <p:sp>
          <p:nvSpPr>
            <p:cNvPr id="63" name="TextBox 63"/>
            <p:cNvSpPr txBox="1"/>
            <p:nvPr/>
          </p:nvSpPr>
          <p:spPr>
            <a:xfrm>
              <a:off x="4675543" y="3416141"/>
              <a:ext cx="312979" cy="220028"/>
            </a:xfrm>
            <a:prstGeom prst="rect">
              <a:avLst/>
            </a:prstGeom>
            <a:noFill/>
            <a:ln>
              <a:noFill/>
            </a:ln>
          </p:spPr>
          <p:txBody>
            <a:bodyPr wrap="none" lIns="0" tIns="0" rIns="0" bIns="0" anchor="t" anchorCtr="0">
              <a:spAutoFit/>
            </a:bodyPr>
            <a:lstStyle/>
            <a:p>
              <a:pPr algn="ctr"/>
              <a:r>
                <a:rPr lang="zh-CN" sz="1120" b="1" dirty="0">
                  <a:solidFill>
                    <a:srgbClr val="5B6475"/>
                  </a:solidFill>
                  <a:latin typeface="+mn-lt"/>
                  <a:ea typeface="+mn-ea"/>
                  <a:cs typeface="+mn-cs"/>
                </a:rPr>
                <a:t>更正</a:t>
              </a:r>
            </a:p>
          </p:txBody>
        </p:sp>
        <p:sp>
          <p:nvSpPr>
            <p:cNvPr id="64" name="TextBox 64"/>
            <p:cNvSpPr txBox="1"/>
            <p:nvPr/>
          </p:nvSpPr>
          <p:spPr>
            <a:xfrm>
              <a:off x="4578096" y="3753326"/>
              <a:ext cx="2863850" cy="821626"/>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原课件第77页图中第三个指针写作</a:t>
              </a:r>
              <a:br/>
              <a:r>
                <a:rPr lang="zh-CN" sz="1420" dirty="0">
                  <a:solidFill>
                    <a:srgbClr val="1F2937"/>
                  </a:solidFill>
                  <a:latin typeface="+mn-lt"/>
                  <a:ea typeface="+mn-ea"/>
                  <a:cs typeface="+mn-cs"/>
                </a:rPr>
                <a:t>0101（即 5），与共享集 {P1, P3,</a:t>
              </a:r>
              <a:br/>
              <a:r>
                <a:rPr lang="zh-CN" sz="1420" dirty="0">
                  <a:solidFill>
                    <a:srgbClr val="1F2937"/>
                  </a:solidFill>
                  <a:latin typeface="+mn-lt"/>
                  <a:ea typeface="+mn-ea"/>
                  <a:cs typeface="+mn-cs"/>
                </a:rPr>
                <a:t>P4, P7} 不符，P4 应编码为 0100。</a:t>
              </a:r>
            </a:p>
          </p:txBody>
        </p:sp>
      </p:grpSp>
      <p:grpSp>
        <p:nvGrpSpPr>
          <p:cNvPr id="67" name="c3-text-1"/>
          <p:cNvGrpSpPr/>
          <p:nvPr/>
        </p:nvGrpSpPr>
        <p:grpSpPr>
          <a:xfrm>
            <a:off x="8146161" y="1547336"/>
            <a:ext cx="1734922" cy="278702"/>
            <a:chOff x="8146161" y="1547336"/>
            <a:chExt cx="1734922" cy="278702"/>
          </a:xfrm>
        </p:grpSpPr>
        <p:sp>
          <p:nvSpPr>
            <p:cNvPr id="66" name="TextBox 66"/>
            <p:cNvSpPr txBox="1"/>
            <p:nvPr/>
          </p:nvSpPr>
          <p:spPr>
            <a:xfrm>
              <a:off x="8146161" y="1547336"/>
              <a:ext cx="1734922"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链式目录</a:t>
              </a:r>
              <a:r>
                <a:rPr lang="zh-CN" sz="1420" dirty="0">
                  <a:solidFill>
                    <a:srgbClr val="1F2937"/>
                  </a:solidFill>
                  <a:latin typeface="+mn-lt"/>
                  <a:ea typeface="+mn-ea"/>
                  <a:cs typeface="+mn-cs"/>
                </a:rPr>
                <a:t>（单链表）</a:t>
              </a:r>
            </a:p>
          </p:txBody>
        </p:sp>
      </p:grpSp>
      <p:grpSp>
        <p:nvGrpSpPr>
          <p:cNvPr id="85" name="c3-cells-2"/>
          <p:cNvGrpSpPr/>
          <p:nvPr/>
        </p:nvGrpSpPr>
        <p:grpSpPr>
          <a:xfrm>
            <a:off x="8147304" y="1955482"/>
            <a:ext cx="3187446" cy="406718"/>
            <a:chOff x="8147304" y="1955482"/>
            <a:chExt cx="3187446" cy="406718"/>
          </a:xfrm>
        </p:grpSpPr>
        <p:sp>
          <p:nvSpPr>
            <p:cNvPr id="68" name="TextBox 68"/>
            <p:cNvSpPr txBox="1"/>
            <p:nvPr/>
          </p:nvSpPr>
          <p:spPr>
            <a:xfrm>
              <a:off x="8147304" y="2084070"/>
              <a:ext cx="335280" cy="234696"/>
            </a:xfrm>
            <a:prstGeom prst="rect">
              <a:avLst/>
            </a:prstGeom>
            <a:noFill/>
            <a:ln>
              <a:noFill/>
            </a:ln>
          </p:spPr>
          <p:txBody>
            <a:bodyPr wrap="none" lIns="0" tIns="0" rIns="0" bIns="0" anchor="t" anchorCtr="0">
              <a:spAutoFit/>
            </a:bodyPr>
            <a:lstStyle/>
            <a:p>
              <a:pPr algn="l"/>
              <a:r>
                <a:rPr lang="zh-CN" sz="1200" b="1" dirty="0">
                  <a:solidFill>
                    <a:srgbClr val="334E68"/>
                  </a:solidFill>
                  <a:latin typeface="+mn-lt"/>
                  <a:ea typeface="+mn-ea"/>
                  <a:cs typeface="+mn-cs"/>
                </a:rPr>
                <a:t>表头</a:t>
              </a:r>
            </a:p>
          </p:txBody>
        </p:sp>
        <p:sp>
          <p:nvSpPr>
            <p:cNvPr id="69" name="Rectangle 69"/>
            <p:cNvSpPr/>
            <p:nvPr/>
          </p:nvSpPr>
          <p:spPr>
            <a:xfrm>
              <a:off x="8591550" y="1955482"/>
              <a:ext cx="488632" cy="406718"/>
            </a:xfrm>
            <a:prstGeom prst="rect">
              <a:avLst/>
            </a:prstGeom>
            <a:solidFill>
              <a:srgbClr val="FFFFFF"/>
            </a:solidFill>
            <a:ln w="15240">
              <a:solidFill>
                <a:srgbClr val="334E68"/>
              </a:solidFill>
            </a:ln>
          </p:spPr>
        </p:sp>
        <p:sp>
          <p:nvSpPr>
            <p:cNvPr id="70" name="TextBox 70"/>
            <p:cNvSpPr txBox="1"/>
            <p:nvPr/>
          </p:nvSpPr>
          <p:spPr>
            <a:xfrm>
              <a:off x="8731674" y="2084070"/>
              <a:ext cx="209337" cy="234696"/>
            </a:xfrm>
            <a:prstGeom prst="rect">
              <a:avLst/>
            </a:prstGeom>
            <a:noFill/>
            <a:ln>
              <a:noFill/>
            </a:ln>
          </p:spPr>
          <p:txBody>
            <a:bodyPr wrap="none" lIns="0" tIns="0" rIns="0" bIns="0" anchor="t" anchorCtr="0">
              <a:spAutoFit/>
            </a:bodyPr>
            <a:lstStyle/>
            <a:p>
              <a:pPr algn="ctr"/>
              <a:r>
                <a:rPr lang="en-US" sz="1200" b="1" dirty="0">
                  <a:solidFill>
                    <a:srgbClr val="1F2937"/>
                  </a:solidFill>
                  <a:latin typeface="+mn-lt"/>
                  <a:ea typeface="+mn-ea"/>
                  <a:cs typeface="+mn-cs"/>
                </a:rPr>
                <a:t>P1</a:t>
              </a:r>
            </a:p>
          </p:txBody>
        </p:sp>
        <p:sp>
          <p:nvSpPr>
            <p:cNvPr id="71" name="Rectangle 71"/>
            <p:cNvSpPr/>
            <p:nvPr/>
          </p:nvSpPr>
          <p:spPr>
            <a:xfrm>
              <a:off x="9080182" y="1955482"/>
              <a:ext cx="209550" cy="406718"/>
            </a:xfrm>
            <a:prstGeom prst="rect">
              <a:avLst/>
            </a:prstGeom>
            <a:solidFill>
              <a:srgbClr val="E7EDF3"/>
            </a:solidFill>
            <a:ln w="15240">
              <a:solidFill>
                <a:srgbClr val="334E68"/>
              </a:solidFill>
            </a:ln>
          </p:spPr>
        </p:sp>
        <p:sp>
          <p:nvSpPr>
            <p:cNvPr id="72" name="Ellipse 72"/>
            <p:cNvSpPr/>
            <p:nvPr/>
          </p:nvSpPr>
          <p:spPr>
            <a:xfrm>
              <a:off x="9156382" y="2129790"/>
              <a:ext cx="57150" cy="57150"/>
            </a:xfrm>
            <a:prstGeom prst="ellipse">
              <a:avLst/>
            </a:prstGeom>
            <a:solidFill>
              <a:srgbClr val="1F2937"/>
            </a:solidFill>
            <a:ln>
              <a:noFill/>
            </a:ln>
          </p:spPr>
        </p:sp>
        <p:sp>
          <p:nvSpPr>
            <p:cNvPr id="73" name="Freeform 73"/>
            <p:cNvSpPr/>
            <p:nvPr/>
          </p:nvSpPr>
          <p:spPr>
            <a:xfrm>
              <a:off x="9184958" y="2158365"/>
              <a:ext cx="342900" cy="9525"/>
            </a:xfrm>
            <a:custGeom>
              <a:avLst/>
              <a:gdLst/>
              <a:ahLst/>
              <a:cxnLst/>
              <a:rect l="l" t="t" r="r" b="b"/>
              <a:pathLst>
                <a:path w="342900" h="9525">
                  <a:moveTo>
                    <a:pt x="0" y="0"/>
                  </a:moveTo>
                  <a:lnTo>
                    <a:pt x="342900" y="0"/>
                  </a:lnTo>
                </a:path>
              </a:pathLst>
            </a:custGeom>
            <a:noFill/>
            <a:ln w="15240">
              <a:solidFill>
                <a:srgbClr val="1F2937"/>
              </a:solidFill>
            </a:ln>
          </p:spPr>
        </p:sp>
        <p:sp>
          <p:nvSpPr>
            <p:cNvPr id="74" name="Freeform 74"/>
            <p:cNvSpPr/>
            <p:nvPr/>
          </p:nvSpPr>
          <p:spPr>
            <a:xfrm>
              <a:off x="9527858" y="2115502"/>
              <a:ext cx="85725" cy="85725"/>
            </a:xfrm>
            <a:custGeom>
              <a:avLst/>
              <a:gdLst/>
              <a:ahLst/>
              <a:cxnLst/>
              <a:rect l="l" t="t" r="r" b="b"/>
              <a:pathLst>
                <a:path w="85725" h="85725">
                  <a:moveTo>
                    <a:pt x="85725" y="42862"/>
                  </a:moveTo>
                  <a:lnTo>
                    <a:pt x="0" y="85725"/>
                  </a:lnTo>
                  <a:lnTo>
                    <a:pt x="0" y="0"/>
                  </a:lnTo>
                  <a:close/>
                </a:path>
              </a:pathLst>
            </a:custGeom>
            <a:solidFill>
              <a:srgbClr val="1F2937"/>
            </a:solidFill>
            <a:ln>
              <a:noFill/>
            </a:ln>
          </p:spPr>
        </p:sp>
        <p:sp>
          <p:nvSpPr>
            <p:cNvPr id="75" name="Rectangle 75"/>
            <p:cNvSpPr/>
            <p:nvPr/>
          </p:nvSpPr>
          <p:spPr>
            <a:xfrm>
              <a:off x="9613582" y="1955482"/>
              <a:ext cx="488632" cy="406718"/>
            </a:xfrm>
            <a:prstGeom prst="rect">
              <a:avLst/>
            </a:prstGeom>
            <a:solidFill>
              <a:srgbClr val="FFFFFF"/>
            </a:solidFill>
            <a:ln w="15240">
              <a:solidFill>
                <a:srgbClr val="334E68"/>
              </a:solidFill>
            </a:ln>
          </p:spPr>
        </p:sp>
        <p:sp>
          <p:nvSpPr>
            <p:cNvPr id="76" name="TextBox 76"/>
            <p:cNvSpPr txBox="1"/>
            <p:nvPr/>
          </p:nvSpPr>
          <p:spPr>
            <a:xfrm>
              <a:off x="9753707" y="2084070"/>
              <a:ext cx="209337" cy="234696"/>
            </a:xfrm>
            <a:prstGeom prst="rect">
              <a:avLst/>
            </a:prstGeom>
            <a:noFill/>
            <a:ln>
              <a:noFill/>
            </a:ln>
          </p:spPr>
          <p:txBody>
            <a:bodyPr wrap="none" lIns="0" tIns="0" rIns="0" bIns="0" anchor="t" anchorCtr="0">
              <a:spAutoFit/>
            </a:bodyPr>
            <a:lstStyle/>
            <a:p>
              <a:pPr algn="ctr"/>
              <a:r>
                <a:rPr lang="en-US" sz="1200" b="1" dirty="0">
                  <a:solidFill>
                    <a:srgbClr val="1F2937"/>
                  </a:solidFill>
                  <a:latin typeface="+mn-lt"/>
                  <a:ea typeface="+mn-ea"/>
                  <a:cs typeface="+mn-cs"/>
                </a:rPr>
                <a:t>P4</a:t>
              </a:r>
            </a:p>
          </p:txBody>
        </p:sp>
        <p:sp>
          <p:nvSpPr>
            <p:cNvPr id="77" name="Rectangle 77"/>
            <p:cNvSpPr/>
            <p:nvPr/>
          </p:nvSpPr>
          <p:spPr>
            <a:xfrm>
              <a:off x="10103168" y="1955482"/>
              <a:ext cx="209550" cy="406718"/>
            </a:xfrm>
            <a:prstGeom prst="rect">
              <a:avLst/>
            </a:prstGeom>
            <a:solidFill>
              <a:srgbClr val="E7EDF3"/>
            </a:solidFill>
            <a:ln w="15240">
              <a:solidFill>
                <a:srgbClr val="334E68"/>
              </a:solidFill>
            </a:ln>
          </p:spPr>
        </p:sp>
        <p:sp>
          <p:nvSpPr>
            <p:cNvPr id="78" name="Ellipse 78"/>
            <p:cNvSpPr/>
            <p:nvPr/>
          </p:nvSpPr>
          <p:spPr>
            <a:xfrm>
              <a:off x="10179368" y="2129790"/>
              <a:ext cx="57150" cy="57150"/>
            </a:xfrm>
            <a:prstGeom prst="ellipse">
              <a:avLst/>
            </a:prstGeom>
            <a:solidFill>
              <a:srgbClr val="1F2937"/>
            </a:solidFill>
            <a:ln>
              <a:noFill/>
            </a:ln>
          </p:spPr>
        </p:sp>
        <p:sp>
          <p:nvSpPr>
            <p:cNvPr id="79" name="Freeform 79"/>
            <p:cNvSpPr/>
            <p:nvPr/>
          </p:nvSpPr>
          <p:spPr>
            <a:xfrm>
              <a:off x="10207942" y="2158365"/>
              <a:ext cx="342900" cy="9525"/>
            </a:xfrm>
            <a:custGeom>
              <a:avLst/>
              <a:gdLst/>
              <a:ahLst/>
              <a:cxnLst/>
              <a:rect l="l" t="t" r="r" b="b"/>
              <a:pathLst>
                <a:path w="342900" h="9525">
                  <a:moveTo>
                    <a:pt x="0" y="0"/>
                  </a:moveTo>
                  <a:lnTo>
                    <a:pt x="342900" y="0"/>
                  </a:lnTo>
                </a:path>
              </a:pathLst>
            </a:custGeom>
            <a:noFill/>
            <a:ln w="15240">
              <a:solidFill>
                <a:srgbClr val="1F2937"/>
              </a:solidFill>
            </a:ln>
          </p:spPr>
        </p:sp>
        <p:sp>
          <p:nvSpPr>
            <p:cNvPr id="80" name="Freeform 80"/>
            <p:cNvSpPr/>
            <p:nvPr/>
          </p:nvSpPr>
          <p:spPr>
            <a:xfrm>
              <a:off x="10550842" y="2115502"/>
              <a:ext cx="85725" cy="85725"/>
            </a:xfrm>
            <a:custGeom>
              <a:avLst/>
              <a:gdLst/>
              <a:ahLst/>
              <a:cxnLst/>
              <a:rect l="l" t="t" r="r" b="b"/>
              <a:pathLst>
                <a:path w="85725" h="85725">
                  <a:moveTo>
                    <a:pt x="85725" y="42862"/>
                  </a:moveTo>
                  <a:lnTo>
                    <a:pt x="0" y="85725"/>
                  </a:lnTo>
                  <a:lnTo>
                    <a:pt x="0" y="0"/>
                  </a:lnTo>
                  <a:close/>
                </a:path>
              </a:pathLst>
            </a:custGeom>
            <a:solidFill>
              <a:srgbClr val="1F2937"/>
            </a:solidFill>
            <a:ln>
              <a:noFill/>
            </a:ln>
          </p:spPr>
        </p:sp>
        <p:sp>
          <p:nvSpPr>
            <p:cNvPr id="81" name="Rectangle 81"/>
            <p:cNvSpPr/>
            <p:nvPr/>
          </p:nvSpPr>
          <p:spPr>
            <a:xfrm>
              <a:off x="10636568" y="1955482"/>
              <a:ext cx="488632" cy="406718"/>
            </a:xfrm>
            <a:prstGeom prst="rect">
              <a:avLst/>
            </a:prstGeom>
            <a:solidFill>
              <a:srgbClr val="FFFFFF"/>
            </a:solidFill>
            <a:ln w="15240">
              <a:solidFill>
                <a:srgbClr val="334E68"/>
              </a:solidFill>
            </a:ln>
          </p:spPr>
        </p:sp>
        <p:sp>
          <p:nvSpPr>
            <p:cNvPr id="82" name="TextBox 82"/>
            <p:cNvSpPr txBox="1"/>
            <p:nvPr/>
          </p:nvSpPr>
          <p:spPr>
            <a:xfrm>
              <a:off x="10775739" y="2084070"/>
              <a:ext cx="209337" cy="234696"/>
            </a:xfrm>
            <a:prstGeom prst="rect">
              <a:avLst/>
            </a:prstGeom>
            <a:noFill/>
            <a:ln>
              <a:noFill/>
            </a:ln>
          </p:spPr>
          <p:txBody>
            <a:bodyPr wrap="none" lIns="0" tIns="0" rIns="0" bIns="0" anchor="t" anchorCtr="0">
              <a:spAutoFit/>
            </a:bodyPr>
            <a:lstStyle/>
            <a:p>
              <a:pPr algn="ctr"/>
              <a:r>
                <a:rPr lang="en-US" sz="1200" b="1" dirty="0">
                  <a:solidFill>
                    <a:srgbClr val="1F2937"/>
                  </a:solidFill>
                  <a:latin typeface="+mn-lt"/>
                  <a:ea typeface="+mn-ea"/>
                  <a:cs typeface="+mn-cs"/>
                </a:rPr>
                <a:t>P2</a:t>
              </a:r>
            </a:p>
          </p:txBody>
        </p:sp>
        <p:sp>
          <p:nvSpPr>
            <p:cNvPr id="83" name="Rectangle 83"/>
            <p:cNvSpPr/>
            <p:nvPr/>
          </p:nvSpPr>
          <p:spPr>
            <a:xfrm>
              <a:off x="11125200" y="1955482"/>
              <a:ext cx="209550" cy="406718"/>
            </a:xfrm>
            <a:prstGeom prst="rect">
              <a:avLst/>
            </a:prstGeom>
            <a:solidFill>
              <a:srgbClr val="E7EDF3"/>
            </a:solidFill>
            <a:ln w="15240">
              <a:solidFill>
                <a:srgbClr val="334E68"/>
              </a:solidFill>
            </a:ln>
          </p:spPr>
        </p:sp>
        <p:sp>
          <p:nvSpPr>
            <p:cNvPr id="84" name="TextBox 84"/>
            <p:cNvSpPr txBox="1"/>
            <p:nvPr/>
          </p:nvSpPr>
          <p:spPr>
            <a:xfrm>
              <a:off x="11185769" y="2090738"/>
              <a:ext cx="88411" cy="205359"/>
            </a:xfrm>
            <a:prstGeom prst="rect">
              <a:avLst/>
            </a:prstGeom>
            <a:noFill/>
            <a:ln>
              <a:noFill/>
            </a:ln>
          </p:spPr>
          <p:txBody>
            <a:bodyPr wrap="none" lIns="0" tIns="0" rIns="0" bIns="0" anchor="t" anchorCtr="0">
              <a:spAutoFit/>
            </a:bodyPr>
            <a:lstStyle/>
            <a:p>
              <a:pPr algn="ctr"/>
              <a:r>
                <a:rPr lang="zh-CN" sz="1050" dirty="0">
                  <a:solidFill>
                    <a:srgbClr val="5B6475"/>
                  </a:solidFill>
                  <a:latin typeface="+mn-lt"/>
                  <a:ea typeface="+mn-ea"/>
                  <a:cs typeface="+mn-cs"/>
                </a:rPr>
                <a:t>∧</a:t>
              </a:r>
            </a:p>
          </p:txBody>
        </p:sp>
      </p:grpSp>
      <p:grpSp>
        <p:nvGrpSpPr>
          <p:cNvPr id="87" name="c3-text-3"/>
          <p:cNvGrpSpPr/>
          <p:nvPr/>
        </p:nvGrpSpPr>
        <p:grpSpPr>
          <a:xfrm>
            <a:off x="8147304" y="2566988"/>
            <a:ext cx="3204972" cy="707136"/>
            <a:chOff x="8147304" y="2566988"/>
            <a:chExt cx="3204972" cy="707136"/>
          </a:xfrm>
        </p:grpSpPr>
        <p:sp>
          <p:nvSpPr>
            <p:cNvPr id="86" name="TextBox 86"/>
            <p:cNvSpPr txBox="1"/>
            <p:nvPr/>
          </p:nvSpPr>
          <p:spPr>
            <a:xfrm>
              <a:off x="8147304" y="2566988"/>
              <a:ext cx="3204972" cy="707136"/>
            </a:xfrm>
            <a:prstGeom prst="rect">
              <a:avLst/>
            </a:prstGeom>
            <a:noFill/>
            <a:ln>
              <a:noFill/>
            </a:ln>
          </p:spPr>
          <p:txBody>
            <a:bodyPr wrap="none" lIns="0" tIns="0" rIns="0" bIns="0" anchor="t" anchorCtr="0">
              <a:spAutoFit/>
            </a:bodyPr>
            <a:lstStyle/>
            <a:p>
              <a:pPr algn="l">
                <a:lnSpc>
                  <a:spcPts val="1860"/>
                </a:lnSpc>
              </a:pPr>
              <a:r>
                <a:rPr lang="zh-CN" sz="1200" dirty="0">
                  <a:solidFill>
                    <a:srgbClr val="1F2937"/>
                  </a:solidFill>
                  <a:latin typeface="+mn-lt"/>
                  <a:ea typeface="+mn-ea"/>
                  <a:cs typeface="+mn-cs"/>
                </a:rPr>
                <a:t>目录里只存表头指针（⌈log₂N⌉ 位），各 Cache</a:t>
              </a:r>
              <a:br/>
              <a:r>
                <a:rPr lang="zh-CN" sz="1200" dirty="0">
                  <a:solidFill>
                    <a:srgbClr val="1F2937"/>
                  </a:solidFill>
                  <a:latin typeface="+mn-lt"/>
                  <a:ea typeface="+mn-ea"/>
                  <a:cs typeface="+mn-cs"/>
                </a:rPr>
                <a:t>再存下一个的指针，最后一个指向空：G = {P1,</a:t>
              </a:r>
              <a:br/>
              <a:r>
                <a:rPr lang="zh-CN" sz="1200" dirty="0">
                  <a:solidFill>
                    <a:srgbClr val="1F2937"/>
                  </a:solidFill>
                  <a:latin typeface="+mn-lt"/>
                  <a:ea typeface="+mn-ea"/>
                  <a:cs typeface="+mn-cs"/>
                </a:rPr>
                <a:t>P4, P2}。</a:t>
              </a:r>
            </a:p>
          </p:txBody>
        </p:sp>
      </p:grpSp>
      <p:grpSp>
        <p:nvGrpSpPr>
          <p:cNvPr id="96" name="c3-card-4"/>
          <p:cNvGrpSpPr/>
          <p:nvPr/>
        </p:nvGrpSpPr>
        <p:grpSpPr>
          <a:xfrm>
            <a:off x="8153400" y="3412808"/>
            <a:ext cx="3505200" cy="1865948"/>
            <a:chOff x="8153400" y="3412808"/>
            <a:chExt cx="3505200" cy="1865948"/>
          </a:xfrm>
        </p:grpSpPr>
        <p:sp>
          <p:nvSpPr>
            <p:cNvPr id="88" name="Rectangle 88"/>
            <p:cNvSpPr/>
            <p:nvPr/>
          </p:nvSpPr>
          <p:spPr>
            <a:xfrm>
              <a:off x="8153400" y="3412808"/>
              <a:ext cx="3505200" cy="1865948"/>
            </a:xfrm>
            <a:prstGeom prst="roundRect">
              <a:avLst>
                <a:gd name="adj" fmla="val 7147"/>
              </a:avLst>
            </a:prstGeom>
            <a:solidFill>
              <a:srgbClr val="FFFFFF"/>
            </a:solidFill>
            <a:ln w="14288">
              <a:solidFill>
                <a:srgbClr val="D9DFEA"/>
              </a:solidFill>
            </a:ln>
          </p:spPr>
        </p:sp>
        <p:sp>
          <p:nvSpPr>
            <p:cNvPr id="89" name="Rectangle 89"/>
            <p:cNvSpPr/>
            <p:nvPr/>
          </p:nvSpPr>
          <p:spPr>
            <a:xfrm>
              <a:off x="8162925" y="3546158"/>
              <a:ext cx="47625" cy="1599248"/>
            </a:xfrm>
            <a:prstGeom prst="roundRect">
              <a:avLst>
                <a:gd name="adj" fmla="val 50000"/>
              </a:avLst>
            </a:prstGeom>
            <a:solidFill>
              <a:srgbClr val="334E68"/>
            </a:solidFill>
            <a:ln>
              <a:noFill/>
            </a:ln>
          </p:spPr>
        </p:sp>
        <p:sp>
          <p:nvSpPr>
            <p:cNvPr id="90" name="Rectangle 90"/>
            <p:cNvSpPr/>
            <p:nvPr/>
          </p:nvSpPr>
          <p:spPr>
            <a:xfrm>
              <a:off x="8395335" y="3616642"/>
              <a:ext cx="494348" cy="257175"/>
            </a:xfrm>
            <a:prstGeom prst="roundRect">
              <a:avLst>
                <a:gd name="adj" fmla="val 50000"/>
              </a:avLst>
            </a:prstGeom>
            <a:solidFill>
              <a:srgbClr val="E7EDF3"/>
            </a:solidFill>
            <a:ln>
              <a:noFill/>
            </a:ln>
          </p:spPr>
        </p:sp>
        <p:sp>
          <p:nvSpPr>
            <p:cNvPr id="91" name="TextBox 91"/>
            <p:cNvSpPr txBox="1"/>
            <p:nvPr/>
          </p:nvSpPr>
          <p:spPr>
            <a:xfrm>
              <a:off x="8485543" y="3652361"/>
              <a:ext cx="312979"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特点</a:t>
              </a:r>
            </a:p>
          </p:txBody>
        </p:sp>
        <p:sp>
          <p:nvSpPr>
            <p:cNvPr id="92" name="Ellipse 92"/>
            <p:cNvSpPr/>
            <p:nvPr/>
          </p:nvSpPr>
          <p:spPr>
            <a:xfrm>
              <a:off x="8402955" y="4049078"/>
              <a:ext cx="60960" cy="60960"/>
            </a:xfrm>
            <a:prstGeom prst="ellipse">
              <a:avLst/>
            </a:prstGeom>
            <a:solidFill>
              <a:srgbClr val="334E68"/>
            </a:solidFill>
            <a:ln>
              <a:noFill/>
            </a:ln>
          </p:spPr>
        </p:sp>
        <p:sp>
          <p:nvSpPr>
            <p:cNvPr id="93" name="TextBox 93"/>
            <p:cNvSpPr txBox="1"/>
            <p:nvPr/>
          </p:nvSpPr>
          <p:spPr>
            <a:xfrm>
              <a:off x="8559546" y="3989546"/>
              <a:ext cx="2690724"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目录开销小，副本个数不受限制</a:t>
              </a:r>
            </a:p>
          </p:txBody>
        </p:sp>
        <p:sp>
          <p:nvSpPr>
            <p:cNvPr id="94" name="Ellipse 94"/>
            <p:cNvSpPr/>
            <p:nvPr/>
          </p:nvSpPr>
          <p:spPr>
            <a:xfrm>
              <a:off x="8402955" y="4369118"/>
              <a:ext cx="60960" cy="60960"/>
            </a:xfrm>
            <a:prstGeom prst="ellipse">
              <a:avLst/>
            </a:prstGeom>
            <a:solidFill>
              <a:srgbClr val="334E68"/>
            </a:solidFill>
            <a:ln>
              <a:noFill/>
            </a:ln>
          </p:spPr>
        </p:sp>
        <p:sp>
          <p:nvSpPr>
            <p:cNvPr id="95" name="TextBox 95"/>
            <p:cNvSpPr txBox="1"/>
            <p:nvPr/>
          </p:nvSpPr>
          <p:spPr>
            <a:xfrm>
              <a:off x="8559546" y="4309586"/>
              <a:ext cx="2719578" cy="821626"/>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作废要沿链表逐个传下去，副本越</a:t>
              </a:r>
              <a:br/>
              <a:r>
                <a:rPr lang="zh-CN" sz="1420" dirty="0">
                  <a:solidFill>
                    <a:srgbClr val="1F2937"/>
                  </a:solidFill>
                  <a:latin typeface="+mn-lt"/>
                  <a:ea typeface="+mn-ea"/>
                  <a:cs typeface="+mn-cs"/>
                </a:rPr>
                <a:t>多延迟越长；用双向链表可加快中</a:t>
              </a:r>
              <a:br/>
              <a:r>
                <a:rPr lang="zh-CN" sz="1420" dirty="0">
                  <a:solidFill>
                    <a:srgbClr val="1F2937"/>
                  </a:solidFill>
                  <a:latin typeface="+mn-lt"/>
                  <a:ea typeface="+mn-ea"/>
                  <a:cs typeface="+mn-cs"/>
                </a:rPr>
                <a:t>间节点的退出</a:t>
              </a:r>
            </a:p>
          </p:txBody>
        </p:sp>
      </p:grpSp>
      <p:grpSp>
        <p:nvGrpSpPr>
          <p:cNvPr id="103" name="takeaway"/>
          <p:cNvGrpSpPr/>
          <p:nvPr/>
        </p:nvGrpSpPr>
        <p:grpSpPr>
          <a:xfrm>
            <a:off x="533400" y="5606415"/>
            <a:ext cx="11125200" cy="756285"/>
            <a:chOff x="533400" y="5606415"/>
            <a:chExt cx="11125200" cy="756285"/>
          </a:xfrm>
        </p:grpSpPr>
        <p:sp>
          <p:nvSpPr>
            <p:cNvPr id="97" name="Rectangle 97"/>
            <p:cNvSpPr/>
            <p:nvPr/>
          </p:nvSpPr>
          <p:spPr>
            <a:xfrm>
              <a:off x="533400" y="5606415"/>
              <a:ext cx="11125200" cy="756285"/>
            </a:xfrm>
            <a:prstGeom prst="roundRect">
              <a:avLst>
                <a:gd name="adj" fmla="val 15113"/>
              </a:avLst>
            </a:prstGeom>
            <a:solidFill>
              <a:srgbClr val="FDEEE7"/>
            </a:solidFill>
            <a:ln>
              <a:noFill/>
            </a:ln>
          </p:spPr>
        </p:sp>
        <p:grpSp>
          <p:nvGrpSpPr>
            <p:cNvPr id="101" name="Group 101"/>
            <p:cNvGrpSpPr/>
            <p:nvPr/>
          </p:nvGrpSpPr>
          <p:grpSpPr>
            <a:xfrm>
              <a:off x="738188" y="5884545"/>
              <a:ext cx="200026" cy="200025"/>
              <a:chOff x="738188" y="5884545"/>
              <a:chExt cx="200026" cy="200025"/>
            </a:xfrm>
          </p:grpSpPr>
          <p:sp>
            <p:nvSpPr>
              <p:cNvPr id="98" name="Freeform 98"/>
              <p:cNvSpPr/>
              <p:nvPr/>
            </p:nvSpPr>
            <p:spPr>
              <a:xfrm>
                <a:off x="738188" y="5884545"/>
                <a:ext cx="200026" cy="100013"/>
              </a:xfrm>
              <a:custGeom>
                <a:avLst/>
                <a:gdLst/>
                <a:ahLst/>
                <a:cxnLst/>
                <a:rect l="l" t="t" r="r" b="b"/>
                <a:pathLst>
                  <a:path w="200026" h="100013">
                    <a:moveTo>
                      <a:pt x="0" y="100013"/>
                    </a:moveTo>
                    <a:lnTo>
                      <a:pt x="11113" y="100013"/>
                    </a:lnTo>
                    <a:moveTo>
                      <a:pt x="100013" y="0"/>
                    </a:moveTo>
                    <a:lnTo>
                      <a:pt x="100013" y="11113"/>
                    </a:lnTo>
                    <a:moveTo>
                      <a:pt x="188913" y="100013"/>
                    </a:moveTo>
                    <a:lnTo>
                      <a:pt x="200026" y="100013"/>
                    </a:lnTo>
                    <a:moveTo>
                      <a:pt x="28893" y="28893"/>
                    </a:moveTo>
                    <a:lnTo>
                      <a:pt x="36671" y="36671"/>
                    </a:lnTo>
                    <a:moveTo>
                      <a:pt x="171133" y="28893"/>
                    </a:moveTo>
                    <a:lnTo>
                      <a:pt x="163354" y="36671"/>
                    </a:lnTo>
                  </a:path>
                </a:pathLst>
              </a:custGeom>
              <a:noFill/>
              <a:ln w="22225">
                <a:solidFill>
                  <a:srgbClr val="C2410C"/>
                </a:solidFill>
              </a:ln>
            </p:spPr>
          </p:sp>
          <p:sp>
            <p:nvSpPr>
              <p:cNvPr id="99" name="Freeform 99"/>
              <p:cNvSpPr/>
              <p:nvPr/>
            </p:nvSpPr>
            <p:spPr>
              <a:xfrm>
                <a:off x="777926" y="5928995"/>
                <a:ext cx="120548" cy="155575"/>
              </a:xfrm>
              <a:custGeom>
                <a:avLst/>
                <a:gdLst/>
                <a:ahLst/>
                <a:cxnLst/>
                <a:rect l="l" t="t" r="r" b="b"/>
                <a:pathLst>
                  <a:path w="120548" h="155575">
                    <a:moveTo>
                      <a:pt x="26937" y="100013"/>
                    </a:moveTo>
                    <a:cubicBezTo>
                      <a:pt x="7804" y="85663"/>
                      <a:pt x="0" y="60681"/>
                      <a:pt x="7563" y="37992"/>
                    </a:cubicBezTo>
                    <a:cubicBezTo>
                      <a:pt x="15126" y="15304"/>
                      <a:pt x="36358" y="0"/>
                      <a:pt x="60274" y="0"/>
                    </a:cubicBezTo>
                    <a:cubicBezTo>
                      <a:pt x="84190" y="0"/>
                      <a:pt x="105423" y="15304"/>
                      <a:pt x="112986" y="37992"/>
                    </a:cubicBezTo>
                    <a:cubicBezTo>
                      <a:pt x="120548" y="60681"/>
                      <a:pt x="112745" y="85663"/>
                      <a:pt x="93612" y="100013"/>
                    </a:cubicBezTo>
                    <a:cubicBezTo>
                      <a:pt x="84812" y="108723"/>
                      <a:pt x="80686" y="121103"/>
                      <a:pt x="82499" y="133350"/>
                    </a:cubicBezTo>
                    <a:cubicBezTo>
                      <a:pt x="82499" y="145625"/>
                      <a:pt x="72549" y="155575"/>
                      <a:pt x="60274" y="155575"/>
                    </a:cubicBezTo>
                    <a:cubicBezTo>
                      <a:pt x="48000" y="155575"/>
                      <a:pt x="38049" y="145625"/>
                      <a:pt x="38049" y="133350"/>
                    </a:cubicBezTo>
                    <a:cubicBezTo>
                      <a:pt x="39862" y="121103"/>
                      <a:pt x="35736" y="108723"/>
                      <a:pt x="26937" y="100013"/>
                    </a:cubicBezTo>
                  </a:path>
                </a:pathLst>
              </a:custGeom>
              <a:noFill/>
              <a:ln w="22225">
                <a:solidFill>
                  <a:srgbClr val="C2410C"/>
                </a:solidFill>
              </a:ln>
            </p:spPr>
          </p:sp>
          <p:sp>
            <p:nvSpPr>
              <p:cNvPr id="100" name="Freeform 100"/>
              <p:cNvSpPr/>
              <p:nvPr/>
            </p:nvSpPr>
            <p:spPr>
              <a:xfrm>
                <a:off x="812642" y="6040121"/>
                <a:ext cx="51118" cy="9525"/>
              </a:xfrm>
              <a:custGeom>
                <a:avLst/>
                <a:gdLst/>
                <a:ahLst/>
                <a:cxnLst/>
                <a:rect l="l" t="t" r="r" b="b"/>
                <a:pathLst>
                  <a:path w="51118" h="9525">
                    <a:moveTo>
                      <a:pt x="0" y="0"/>
                    </a:moveTo>
                    <a:lnTo>
                      <a:pt x="51118" y="0"/>
                    </a:lnTo>
                  </a:path>
                </a:pathLst>
              </a:custGeom>
              <a:noFill/>
              <a:ln w="22225">
                <a:solidFill>
                  <a:srgbClr val="C2410C"/>
                </a:solidFill>
              </a:ln>
            </p:spPr>
          </p:sp>
        </p:grpSp>
        <p:sp>
          <p:nvSpPr>
            <p:cNvPr id="102" name="TextBox 102"/>
            <p:cNvSpPr txBox="1"/>
            <p:nvPr/>
          </p:nvSpPr>
          <p:spPr>
            <a:xfrm>
              <a:off x="1040511" y="5753576"/>
              <a:ext cx="9933178" cy="541592"/>
            </a:xfrm>
            <a:prstGeom prst="rect">
              <a:avLst/>
            </a:prstGeom>
            <a:noFill/>
            <a:ln>
              <a:noFill/>
            </a:ln>
          </p:spPr>
          <p:txBody>
            <a:bodyPr wrap="none" lIns="0" tIns="0" rIns="0" bIns="0" anchor="t" anchorCtr="0">
              <a:spAutoFit/>
            </a:bodyPr>
            <a:lstStyle/>
            <a:p>
              <a:pPr algn="l">
                <a:lnSpc>
                  <a:spcPts val="2070"/>
                </a:lnSpc>
              </a:pPr>
              <a:r>
                <a:rPr lang="zh-CN" sz="1420" dirty="0">
                  <a:solidFill>
                    <a:srgbClr val="C2410C"/>
                  </a:solidFill>
                  <a:latin typeface="+mn-lt"/>
                  <a:ea typeface="+mn-ea"/>
                  <a:cs typeface="+mn-cs"/>
                </a:rPr>
                <a:t>副本数很少时，有限映像几乎不损失信息；若有被很多处理器同时读的数据（例如只读查找表），指针会频繁溢出，这时全映</a:t>
              </a:r>
              <a:br/>
              <a:r>
                <a:rPr lang="zh-CN" sz="1420" dirty="0">
                  <a:solidFill>
                    <a:srgbClr val="C2410C"/>
                  </a:solidFill>
                  <a:latin typeface="+mn-lt"/>
                  <a:ea typeface="+mn-ea"/>
                  <a:cs typeface="+mn-cs"/>
                </a:rPr>
                <a:t>像或链式目录更合适。</a:t>
              </a:r>
            </a:p>
          </p:txBody>
        </p:sp>
      </p:grpSp>
      <p:grpSp>
        <p:nvGrpSpPr>
          <p:cNvPr id="106" name="footer"/>
          <p:cNvGrpSpPr/>
          <p:nvPr/>
        </p:nvGrpSpPr>
        <p:grpSpPr>
          <a:xfrm>
            <a:off x="528447" y="6581299"/>
            <a:ext cx="11135106" cy="190690"/>
            <a:chOff x="528447" y="6581299"/>
            <a:chExt cx="11135106" cy="190690"/>
          </a:xfrm>
        </p:grpSpPr>
        <p:sp>
          <p:nvSpPr>
            <p:cNvPr id="104" name="TextBox 104"/>
            <p:cNvSpPr txBox="1"/>
            <p:nvPr/>
          </p:nvSpPr>
          <p:spPr>
            <a:xfrm>
              <a:off x="528447" y="6581299"/>
              <a:ext cx="2120748"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并行与分布式计算 · 第7章 体系结构</a:t>
              </a:r>
            </a:p>
          </p:txBody>
        </p:sp>
        <p:sp>
          <p:nvSpPr>
            <p:cNvPr id="105" name="TextBox 105"/>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39</a:t>
              </a:r>
            </a:p>
          </p:txBody>
        </p:sp>
      </p:grpSp>
    </p:spTree>
  </p:cSld>
  <p:clrMapOvr>
    <a:masterClrMapping/>
  </p:clrMapOvr>
  <p:transition xmlns:p14="http://schemas.microsoft.com/office/powerpoint/2010/main" p14:dur="400">
    <p:fade/>
  </p:transition>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7234809" cy="909257"/>
            <a:chOff x="520446" y="342900"/>
            <a:chExt cx="7234809" cy="909257"/>
          </a:xfrm>
        </p:grpSpPr>
        <p:sp>
          <p:nvSpPr>
            <p:cNvPr id="2" name="Rectangle 2"/>
            <p:cNvSpPr/>
            <p:nvPr/>
          </p:nvSpPr>
          <p:spPr>
            <a:xfrm>
              <a:off x="533400" y="342900"/>
              <a:ext cx="2586038" cy="266700"/>
            </a:xfrm>
            <a:prstGeom prst="roundRect">
              <a:avLst>
                <a:gd name="adj" fmla="val 50000"/>
              </a:avLst>
            </a:prstGeom>
            <a:solidFill>
              <a:srgbClr val="E7EDF3"/>
            </a:solidFill>
            <a:ln>
              <a:noFill/>
            </a:ln>
          </p:spPr>
        </p:sp>
        <p:sp>
          <p:nvSpPr>
            <p:cNvPr id="3" name="TextBox 3"/>
            <p:cNvSpPr txBox="1"/>
            <p:nvPr/>
          </p:nvSpPr>
          <p:spPr>
            <a:xfrm>
              <a:off x="587464" y="407194"/>
              <a:ext cx="2476957"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第7章 体系结构 · Cache 一致性问题</a:t>
              </a:r>
            </a:p>
          </p:txBody>
        </p:sp>
        <p:sp>
          <p:nvSpPr>
            <p:cNvPr id="4" name="TextBox 4"/>
            <p:cNvSpPr txBox="1"/>
            <p:nvPr/>
          </p:nvSpPr>
          <p:spPr>
            <a:xfrm>
              <a:off x="520446" y="753428"/>
              <a:ext cx="7234809"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目录式协议小结：同一套状态，换成点对点消息</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22" name="c1-bullets-1"/>
          <p:cNvGrpSpPr/>
          <p:nvPr/>
        </p:nvGrpSpPr>
        <p:grpSpPr>
          <a:xfrm>
            <a:off x="533400" y="1535430"/>
            <a:ext cx="5785409" cy="2257425"/>
            <a:chOff x="533400" y="1535430"/>
            <a:chExt cx="5785409" cy="2257425"/>
          </a:xfrm>
        </p:grpSpPr>
        <p:sp>
          <p:nvSpPr>
            <p:cNvPr id="7" name="Ellipse 7"/>
            <p:cNvSpPr/>
            <p:nvPr/>
          </p:nvSpPr>
          <p:spPr>
            <a:xfrm>
              <a:off x="533400" y="1535430"/>
              <a:ext cx="213360" cy="213360"/>
            </a:xfrm>
            <a:prstGeom prst="ellipse">
              <a:avLst/>
            </a:prstGeom>
            <a:solidFill>
              <a:srgbClr val="334E68"/>
            </a:solidFill>
            <a:ln>
              <a:noFill/>
            </a:ln>
          </p:spPr>
        </p:sp>
        <p:sp>
          <p:nvSpPr>
            <p:cNvPr id="8" name="TextBox 8"/>
            <p:cNvSpPr txBox="1"/>
            <p:nvPr/>
          </p:nvSpPr>
          <p:spPr>
            <a:xfrm>
              <a:off x="595249" y="1577721"/>
              <a:ext cx="89661" cy="199492"/>
            </a:xfrm>
            <a:prstGeom prst="rect">
              <a:avLst/>
            </a:prstGeom>
            <a:noFill/>
            <a:ln>
              <a:noFill/>
            </a:ln>
          </p:spPr>
          <p:txBody>
            <a:bodyPr wrap="none" lIns="0" tIns="0" rIns="0" bIns="0" anchor="t" anchorCtr="0">
              <a:spAutoFit/>
            </a:bodyPr>
            <a:lstStyle/>
            <a:p>
              <a:pPr algn="ctr"/>
              <a:r>
                <a:rPr lang="zh-CN" sz="1020" b="1" dirty="0">
                  <a:solidFill>
                    <a:srgbClr val="FFFFFF"/>
                  </a:solidFill>
                  <a:latin typeface="+mn-lt"/>
                  <a:ea typeface="+mn-ea"/>
                  <a:cs typeface="+mn-cs"/>
                </a:rPr>
                <a:t>1</a:t>
              </a:r>
            </a:p>
          </p:txBody>
        </p:sp>
        <p:sp>
          <p:nvSpPr>
            <p:cNvPr id="9" name="TextBox 9"/>
            <p:cNvSpPr txBox="1"/>
            <p:nvPr/>
          </p:nvSpPr>
          <p:spPr>
            <a:xfrm>
              <a:off x="834390" y="1548765"/>
              <a:ext cx="5484419"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Cache 块的基本状态和状态转换规则，与监听式协议实质相同</a:t>
              </a:r>
            </a:p>
          </p:txBody>
        </p:sp>
        <p:sp>
          <p:nvSpPr>
            <p:cNvPr id="10" name="Ellipse 10"/>
            <p:cNvSpPr/>
            <p:nvPr/>
          </p:nvSpPr>
          <p:spPr>
            <a:xfrm>
              <a:off x="533400" y="1880235"/>
              <a:ext cx="213360" cy="213360"/>
            </a:xfrm>
            <a:prstGeom prst="ellipse">
              <a:avLst/>
            </a:prstGeom>
            <a:solidFill>
              <a:srgbClr val="334E68"/>
            </a:solidFill>
            <a:ln>
              <a:noFill/>
            </a:ln>
          </p:spPr>
        </p:sp>
        <p:sp>
          <p:nvSpPr>
            <p:cNvPr id="11" name="TextBox 11"/>
            <p:cNvSpPr txBox="1"/>
            <p:nvPr/>
          </p:nvSpPr>
          <p:spPr>
            <a:xfrm>
              <a:off x="595249" y="1922526"/>
              <a:ext cx="89661" cy="199492"/>
            </a:xfrm>
            <a:prstGeom prst="rect">
              <a:avLst/>
            </a:prstGeom>
            <a:noFill/>
            <a:ln>
              <a:noFill/>
            </a:ln>
          </p:spPr>
          <p:txBody>
            <a:bodyPr wrap="none" lIns="0" tIns="0" rIns="0" bIns="0" anchor="t" anchorCtr="0">
              <a:spAutoFit/>
            </a:bodyPr>
            <a:lstStyle/>
            <a:p>
              <a:pPr algn="ctr"/>
              <a:r>
                <a:rPr lang="zh-CN" sz="1020" b="1" dirty="0">
                  <a:solidFill>
                    <a:srgbClr val="FFFFFF"/>
                  </a:solidFill>
                  <a:latin typeface="+mn-lt"/>
                  <a:ea typeface="+mn-ea"/>
                  <a:cs typeface="+mn-cs"/>
                </a:rPr>
                <a:t>2</a:t>
              </a:r>
            </a:p>
          </p:txBody>
        </p:sp>
        <p:sp>
          <p:nvSpPr>
            <p:cNvPr id="12" name="TextBox 12"/>
            <p:cNvSpPr txBox="1"/>
            <p:nvPr/>
          </p:nvSpPr>
          <p:spPr>
            <a:xfrm>
              <a:off x="834390" y="1893570"/>
              <a:ext cx="4132174"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写一个 Cache 块之前，该块必须处于独占状态</a:t>
              </a:r>
            </a:p>
          </p:txBody>
        </p:sp>
        <p:sp>
          <p:nvSpPr>
            <p:cNvPr id="13" name="Ellipse 13"/>
            <p:cNvSpPr/>
            <p:nvPr/>
          </p:nvSpPr>
          <p:spPr>
            <a:xfrm>
              <a:off x="533400" y="2225040"/>
              <a:ext cx="213360" cy="213360"/>
            </a:xfrm>
            <a:prstGeom prst="ellipse">
              <a:avLst/>
            </a:prstGeom>
            <a:solidFill>
              <a:srgbClr val="334E68"/>
            </a:solidFill>
            <a:ln>
              <a:noFill/>
            </a:ln>
          </p:spPr>
        </p:sp>
        <p:sp>
          <p:nvSpPr>
            <p:cNvPr id="14" name="TextBox 14"/>
            <p:cNvSpPr txBox="1"/>
            <p:nvPr/>
          </p:nvSpPr>
          <p:spPr>
            <a:xfrm>
              <a:off x="595249" y="2267331"/>
              <a:ext cx="89661" cy="199492"/>
            </a:xfrm>
            <a:prstGeom prst="rect">
              <a:avLst/>
            </a:prstGeom>
            <a:noFill/>
            <a:ln>
              <a:noFill/>
            </a:ln>
          </p:spPr>
          <p:txBody>
            <a:bodyPr wrap="none" lIns="0" tIns="0" rIns="0" bIns="0" anchor="t" anchorCtr="0">
              <a:spAutoFit/>
            </a:bodyPr>
            <a:lstStyle/>
            <a:p>
              <a:pPr algn="ctr"/>
              <a:r>
                <a:rPr lang="zh-CN" sz="1020" b="1" dirty="0">
                  <a:solidFill>
                    <a:srgbClr val="FFFFFF"/>
                  </a:solidFill>
                  <a:latin typeface="+mn-lt"/>
                  <a:ea typeface="+mn-ea"/>
                  <a:cs typeface="+mn-cs"/>
                </a:rPr>
                <a:t>3</a:t>
              </a:r>
            </a:p>
          </p:txBody>
        </p:sp>
        <p:sp>
          <p:nvSpPr>
            <p:cNvPr id="15" name="TextBox 15"/>
            <p:cNvSpPr txBox="1"/>
            <p:nvPr/>
          </p:nvSpPr>
          <p:spPr>
            <a:xfrm>
              <a:off x="834390" y="2238375"/>
              <a:ext cx="486156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处于共享态的块，目录节点存储器里的值一定是最新值</a:t>
              </a:r>
            </a:p>
          </p:txBody>
        </p:sp>
        <p:sp>
          <p:nvSpPr>
            <p:cNvPr id="16" name="Ellipse 16"/>
            <p:cNvSpPr/>
            <p:nvPr/>
          </p:nvSpPr>
          <p:spPr>
            <a:xfrm>
              <a:off x="533400" y="2569845"/>
              <a:ext cx="213360" cy="213360"/>
            </a:xfrm>
            <a:prstGeom prst="ellipse">
              <a:avLst/>
            </a:prstGeom>
            <a:solidFill>
              <a:srgbClr val="334E68"/>
            </a:solidFill>
            <a:ln>
              <a:noFill/>
            </a:ln>
          </p:spPr>
        </p:sp>
        <p:sp>
          <p:nvSpPr>
            <p:cNvPr id="17" name="TextBox 17"/>
            <p:cNvSpPr txBox="1"/>
            <p:nvPr/>
          </p:nvSpPr>
          <p:spPr>
            <a:xfrm>
              <a:off x="595249" y="2612136"/>
              <a:ext cx="89661" cy="199492"/>
            </a:xfrm>
            <a:prstGeom prst="rect">
              <a:avLst/>
            </a:prstGeom>
            <a:noFill/>
            <a:ln>
              <a:noFill/>
            </a:ln>
          </p:spPr>
          <p:txBody>
            <a:bodyPr wrap="none" lIns="0" tIns="0" rIns="0" bIns="0" anchor="t" anchorCtr="0">
              <a:spAutoFit/>
            </a:bodyPr>
            <a:lstStyle/>
            <a:p>
              <a:pPr algn="ctr"/>
              <a:r>
                <a:rPr lang="zh-CN" sz="1020" b="1" dirty="0">
                  <a:solidFill>
                    <a:srgbClr val="FFFFFF"/>
                  </a:solidFill>
                  <a:latin typeface="+mn-lt"/>
                  <a:ea typeface="+mn-ea"/>
                  <a:cs typeface="+mn-cs"/>
                </a:rPr>
                <a:t>4</a:t>
              </a:r>
            </a:p>
          </p:txBody>
        </p:sp>
        <p:sp>
          <p:nvSpPr>
            <p:cNvPr id="18" name="TextBox 18"/>
            <p:cNvSpPr txBox="1"/>
            <p:nvPr/>
          </p:nvSpPr>
          <p:spPr>
            <a:xfrm>
              <a:off x="834390" y="2583180"/>
              <a:ext cx="3488436"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监听式的“消息广播”改为“点对点通信”</a:t>
              </a:r>
            </a:p>
          </p:txBody>
        </p:sp>
        <p:sp>
          <p:nvSpPr>
            <p:cNvPr id="19" name="Ellipse 19"/>
            <p:cNvSpPr/>
            <p:nvPr/>
          </p:nvSpPr>
          <p:spPr>
            <a:xfrm>
              <a:off x="533400" y="2914650"/>
              <a:ext cx="213360" cy="213360"/>
            </a:xfrm>
            <a:prstGeom prst="ellipse">
              <a:avLst/>
            </a:prstGeom>
            <a:solidFill>
              <a:srgbClr val="334E68"/>
            </a:solidFill>
            <a:ln>
              <a:noFill/>
            </a:ln>
          </p:spPr>
        </p:sp>
        <p:sp>
          <p:nvSpPr>
            <p:cNvPr id="20" name="TextBox 20"/>
            <p:cNvSpPr txBox="1"/>
            <p:nvPr/>
          </p:nvSpPr>
          <p:spPr>
            <a:xfrm>
              <a:off x="595249" y="2956941"/>
              <a:ext cx="89661" cy="199492"/>
            </a:xfrm>
            <a:prstGeom prst="rect">
              <a:avLst/>
            </a:prstGeom>
            <a:noFill/>
            <a:ln>
              <a:noFill/>
            </a:ln>
          </p:spPr>
          <p:txBody>
            <a:bodyPr wrap="none" lIns="0" tIns="0" rIns="0" bIns="0" anchor="t" anchorCtr="0">
              <a:spAutoFit/>
            </a:bodyPr>
            <a:lstStyle/>
            <a:p>
              <a:pPr algn="ctr"/>
              <a:r>
                <a:rPr lang="zh-CN" sz="1020" b="1" dirty="0">
                  <a:solidFill>
                    <a:srgbClr val="FFFFFF"/>
                  </a:solidFill>
                  <a:latin typeface="+mn-lt"/>
                  <a:ea typeface="+mn-ea"/>
                  <a:cs typeface="+mn-cs"/>
                </a:rPr>
                <a:t>5</a:t>
              </a:r>
            </a:p>
          </p:txBody>
        </p:sp>
        <p:sp>
          <p:nvSpPr>
            <p:cNvPr id="21" name="TextBox 21"/>
            <p:cNvSpPr txBox="1"/>
            <p:nvPr/>
          </p:nvSpPr>
          <p:spPr>
            <a:xfrm>
              <a:off x="834390" y="2927985"/>
              <a:ext cx="5425440" cy="86487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块被替换写回时，旧块有唯一目录节点 B1，新调入的块有唯一目</a:t>
              </a:r>
              <a:br/>
              <a:r>
                <a:rPr lang="zh-CN" sz="1500" dirty="0">
                  <a:solidFill>
                    <a:srgbClr val="1F2937"/>
                  </a:solidFill>
                  <a:latin typeface="+mn-lt"/>
                  <a:ea typeface="+mn-ea"/>
                  <a:cs typeface="+mn-cs"/>
                </a:rPr>
                <a:t>录节点 B2；Cache 与 B1、B2 各自单线联系，两者逻辑上不同，</a:t>
              </a:r>
              <a:br/>
              <a:r>
                <a:rPr lang="zh-CN" sz="1500" dirty="0">
                  <a:solidFill>
                    <a:srgbClr val="1F2937"/>
                  </a:solidFill>
                  <a:latin typeface="+mn-lt"/>
                  <a:ea typeface="+mn-ea"/>
                  <a:cs typeface="+mn-cs"/>
                </a:rPr>
                <a:t>地址分布重合时也可能落在同一物理节点</a:t>
              </a:r>
            </a:p>
          </p:txBody>
        </p:sp>
      </p:grpSp>
      <p:grpSp>
        <p:nvGrpSpPr>
          <p:cNvPr id="39" name="c1-table-2"/>
          <p:cNvGrpSpPr/>
          <p:nvPr/>
        </p:nvGrpSpPr>
        <p:grpSpPr>
          <a:xfrm>
            <a:off x="527685" y="3924300"/>
            <a:ext cx="5956935" cy="1869282"/>
            <a:chOff x="527685" y="3924300"/>
            <a:chExt cx="5956935" cy="1869282"/>
          </a:xfrm>
        </p:grpSpPr>
        <p:sp>
          <p:nvSpPr>
            <p:cNvPr id="23" name="Rectangle 23"/>
            <p:cNvSpPr/>
            <p:nvPr/>
          </p:nvSpPr>
          <p:spPr>
            <a:xfrm>
              <a:off x="533400" y="3924300"/>
              <a:ext cx="5951220" cy="448628"/>
            </a:xfrm>
            <a:prstGeom prst="rect">
              <a:avLst/>
            </a:prstGeom>
            <a:solidFill>
              <a:srgbClr val="334E68"/>
            </a:solidFill>
            <a:ln>
              <a:noFill/>
            </a:ln>
          </p:spPr>
        </p:sp>
        <p:sp>
          <p:nvSpPr>
            <p:cNvPr id="24" name="TextBox 24"/>
            <p:cNvSpPr txBox="1"/>
            <p:nvPr/>
          </p:nvSpPr>
          <p:spPr>
            <a:xfrm>
              <a:off x="1366164" y="4060031"/>
              <a:ext cx="357581"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操作</a:t>
              </a:r>
            </a:p>
          </p:txBody>
        </p:sp>
        <p:sp>
          <p:nvSpPr>
            <p:cNvPr id="25" name="TextBox 25"/>
            <p:cNvSpPr txBox="1"/>
            <p:nvPr/>
          </p:nvSpPr>
          <p:spPr>
            <a:xfrm>
              <a:off x="3065945" y="4060031"/>
              <a:ext cx="529895"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监听式</a:t>
              </a:r>
            </a:p>
          </p:txBody>
        </p:sp>
        <p:sp>
          <p:nvSpPr>
            <p:cNvPr id="26" name="TextBox 26"/>
            <p:cNvSpPr txBox="1"/>
            <p:nvPr/>
          </p:nvSpPr>
          <p:spPr>
            <a:xfrm>
              <a:off x="5029048" y="4060031"/>
              <a:ext cx="529895"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目录式</a:t>
              </a:r>
            </a:p>
          </p:txBody>
        </p:sp>
        <p:sp>
          <p:nvSpPr>
            <p:cNvPr id="27" name="TextBox 27"/>
            <p:cNvSpPr txBox="1"/>
            <p:nvPr/>
          </p:nvSpPr>
          <p:spPr>
            <a:xfrm>
              <a:off x="641223" y="4622006"/>
              <a:ext cx="529895"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读缺失</a:t>
              </a:r>
            </a:p>
          </p:txBody>
        </p:sp>
        <p:sp>
          <p:nvSpPr>
            <p:cNvPr id="28" name="TextBox 28"/>
            <p:cNvSpPr txBox="1"/>
            <p:nvPr/>
          </p:nvSpPr>
          <p:spPr>
            <a:xfrm>
              <a:off x="2664333" y="4622006"/>
              <a:ext cx="676361"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1 次广播</a:t>
              </a:r>
            </a:p>
          </p:txBody>
        </p:sp>
        <p:sp>
          <p:nvSpPr>
            <p:cNvPr id="29" name="TextBox 29"/>
            <p:cNvSpPr txBox="1"/>
            <p:nvPr/>
          </p:nvSpPr>
          <p:spPr>
            <a:xfrm>
              <a:off x="4212146" y="4508659"/>
              <a:ext cx="1776730" cy="476059"/>
            </a:xfrm>
            <a:prstGeom prst="rect">
              <a:avLst/>
            </a:prstGeom>
            <a:noFill/>
            <a:ln>
              <a:noFill/>
            </a:ln>
          </p:spPr>
          <p:txBody>
            <a:bodyPr wrap="none" lIns="0" tIns="0" rIns="0" bIns="0" anchor="t" anchorCtr="0">
              <a:spAutoFit/>
            </a:bodyPr>
            <a:lstStyle/>
            <a:p>
              <a:pPr algn="l">
                <a:lnSpc>
                  <a:spcPts val="1785"/>
                </a:lnSpc>
              </a:pPr>
              <a:r>
                <a:rPr lang="zh-CN" sz="1280" dirty="0">
                  <a:solidFill>
                    <a:srgbClr val="1F2937"/>
                  </a:solidFill>
                  <a:latin typeface="+mn-lt"/>
                  <a:ea typeface="+mn-ea"/>
                  <a:cs typeface="+mn-cs"/>
                </a:rPr>
                <a:t>2 条消息（目录为 E 时 4</a:t>
              </a:r>
              <a:br/>
              <a:r>
                <a:rPr lang="zh-CN" sz="1280" dirty="0">
                  <a:solidFill>
                    <a:srgbClr val="1F2937"/>
                  </a:solidFill>
                  <a:latin typeface="+mn-lt"/>
                  <a:ea typeface="+mn-ea"/>
                  <a:cs typeface="+mn-cs"/>
                </a:rPr>
                <a:t>条）</a:t>
              </a:r>
            </a:p>
          </p:txBody>
        </p:sp>
        <p:sp>
          <p:nvSpPr>
            <p:cNvPr id="30" name="Rectangle 30"/>
            <p:cNvSpPr/>
            <p:nvPr/>
          </p:nvSpPr>
          <p:spPr>
            <a:xfrm>
              <a:off x="533400" y="5043488"/>
              <a:ext cx="5951220" cy="9525"/>
            </a:xfrm>
            <a:prstGeom prst="rect">
              <a:avLst/>
            </a:prstGeom>
            <a:solidFill>
              <a:srgbClr val="D9DFEA"/>
            </a:solidFill>
            <a:ln>
              <a:noFill/>
            </a:ln>
          </p:spPr>
        </p:sp>
        <p:sp>
          <p:nvSpPr>
            <p:cNvPr id="31" name="Rectangle 31"/>
            <p:cNvSpPr/>
            <p:nvPr/>
          </p:nvSpPr>
          <p:spPr>
            <a:xfrm>
              <a:off x="533400" y="5048250"/>
              <a:ext cx="5951220" cy="448628"/>
            </a:xfrm>
            <a:prstGeom prst="rect">
              <a:avLst/>
            </a:prstGeom>
            <a:solidFill>
              <a:srgbClr val="F4F6FB"/>
            </a:solidFill>
            <a:ln>
              <a:noFill/>
            </a:ln>
          </p:spPr>
        </p:sp>
        <p:sp>
          <p:nvSpPr>
            <p:cNvPr id="32" name="TextBox 32"/>
            <p:cNvSpPr txBox="1"/>
            <p:nvPr/>
          </p:nvSpPr>
          <p:spPr>
            <a:xfrm>
              <a:off x="641223" y="5183981"/>
              <a:ext cx="1771845"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写有 k 个副本的共享块</a:t>
              </a:r>
            </a:p>
          </p:txBody>
        </p:sp>
        <p:sp>
          <p:nvSpPr>
            <p:cNvPr id="33" name="TextBox 33"/>
            <p:cNvSpPr txBox="1"/>
            <p:nvPr/>
          </p:nvSpPr>
          <p:spPr>
            <a:xfrm>
              <a:off x="2664333" y="5183981"/>
              <a:ext cx="1020989"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1 次广播作废</a:t>
              </a:r>
            </a:p>
          </p:txBody>
        </p:sp>
        <p:sp>
          <p:nvSpPr>
            <p:cNvPr id="34" name="TextBox 34"/>
            <p:cNvSpPr txBox="1"/>
            <p:nvPr/>
          </p:nvSpPr>
          <p:spPr>
            <a:xfrm>
              <a:off x="4212146" y="5183981"/>
              <a:ext cx="1744706"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1 + (k − 1) = k 条消息</a:t>
              </a:r>
            </a:p>
          </p:txBody>
        </p:sp>
        <p:sp>
          <p:nvSpPr>
            <p:cNvPr id="35" name="Rectangle 35"/>
            <p:cNvSpPr/>
            <p:nvPr/>
          </p:nvSpPr>
          <p:spPr>
            <a:xfrm>
              <a:off x="533400" y="3924300"/>
              <a:ext cx="5951220" cy="1573530"/>
            </a:xfrm>
            <a:prstGeom prst="rect">
              <a:avLst/>
            </a:prstGeom>
            <a:noFill/>
            <a:ln w="14288">
              <a:solidFill>
                <a:srgbClr val="D9DFEA"/>
              </a:solidFill>
            </a:ln>
          </p:spPr>
        </p:sp>
        <p:sp>
          <p:nvSpPr>
            <p:cNvPr id="36" name="Rectangle 36"/>
            <p:cNvSpPr/>
            <p:nvPr/>
          </p:nvSpPr>
          <p:spPr>
            <a:xfrm>
              <a:off x="2551748" y="3924300"/>
              <a:ext cx="9525" cy="1573530"/>
            </a:xfrm>
            <a:prstGeom prst="rect">
              <a:avLst/>
            </a:prstGeom>
            <a:solidFill>
              <a:srgbClr val="D9DFEA"/>
            </a:solidFill>
            <a:ln>
              <a:noFill/>
            </a:ln>
          </p:spPr>
        </p:sp>
        <p:sp>
          <p:nvSpPr>
            <p:cNvPr id="37" name="Rectangle 37"/>
            <p:cNvSpPr/>
            <p:nvPr/>
          </p:nvSpPr>
          <p:spPr>
            <a:xfrm>
              <a:off x="4099560" y="3924300"/>
              <a:ext cx="9525" cy="1573530"/>
            </a:xfrm>
            <a:prstGeom prst="rect">
              <a:avLst/>
            </a:prstGeom>
            <a:solidFill>
              <a:srgbClr val="D9DFEA"/>
            </a:solidFill>
            <a:ln>
              <a:noFill/>
            </a:ln>
          </p:spPr>
        </p:sp>
        <p:sp>
          <p:nvSpPr>
            <p:cNvPr id="38" name="TextBox 38"/>
            <p:cNvSpPr txBox="1"/>
            <p:nvPr/>
          </p:nvSpPr>
          <p:spPr>
            <a:xfrm>
              <a:off x="527685" y="5573554"/>
              <a:ext cx="3479241" cy="220028"/>
            </a:xfrm>
            <a:prstGeom prst="rect">
              <a:avLst/>
            </a:prstGeom>
            <a:noFill/>
            <a:ln>
              <a:noFill/>
            </a:ln>
          </p:spPr>
          <p:txBody>
            <a:bodyPr wrap="none" lIns="0" tIns="0" rIns="0" bIns="0" anchor="t" anchorCtr="0">
              <a:spAutoFit/>
            </a:bodyPr>
            <a:lstStyle/>
            <a:p>
              <a:pPr algn="l"/>
              <a:r>
                <a:rPr lang="zh-CN" sz="1120" dirty="0">
                  <a:solidFill>
                    <a:srgbClr val="5B6475"/>
                  </a:solidFill>
                  <a:latin typeface="+mn-lt"/>
                  <a:ea typeface="+mn-ea"/>
                  <a:cs typeface="+mn-cs"/>
                </a:rPr>
                <a:t>消息条数对比：目录式条数多，但每条只占一段链路</a:t>
              </a:r>
            </a:p>
          </p:txBody>
        </p:sp>
      </p:grpSp>
      <p:grpSp>
        <p:nvGrpSpPr>
          <p:cNvPr id="49" name="c2-card-1"/>
          <p:cNvGrpSpPr/>
          <p:nvPr/>
        </p:nvGrpSpPr>
        <p:grpSpPr>
          <a:xfrm>
            <a:off x="6789420" y="1524000"/>
            <a:ext cx="4869180" cy="4225290"/>
            <a:chOff x="6789420" y="1524000"/>
            <a:chExt cx="4869180" cy="4225290"/>
          </a:xfrm>
        </p:grpSpPr>
        <p:sp>
          <p:nvSpPr>
            <p:cNvPr id="40" name="Rectangle 40"/>
            <p:cNvSpPr/>
            <p:nvPr/>
          </p:nvSpPr>
          <p:spPr>
            <a:xfrm>
              <a:off x="6789420" y="1524000"/>
              <a:ext cx="4869180" cy="4225290"/>
            </a:xfrm>
            <a:prstGeom prst="roundRect">
              <a:avLst>
                <a:gd name="adj" fmla="val 3156"/>
              </a:avLst>
            </a:prstGeom>
            <a:solidFill>
              <a:srgbClr val="334E68"/>
            </a:solidFill>
            <a:ln>
              <a:noFill/>
            </a:ln>
          </p:spPr>
        </p:sp>
        <p:sp>
          <p:nvSpPr>
            <p:cNvPr id="41" name="Rectangle 41"/>
            <p:cNvSpPr/>
            <p:nvPr/>
          </p:nvSpPr>
          <p:spPr>
            <a:xfrm>
              <a:off x="6998970" y="1733550"/>
              <a:ext cx="1062990" cy="257175"/>
            </a:xfrm>
            <a:prstGeom prst="roundRect">
              <a:avLst>
                <a:gd name="adj" fmla="val 50000"/>
              </a:avLst>
            </a:prstGeom>
            <a:solidFill>
              <a:srgbClr val="243B53"/>
            </a:solidFill>
            <a:ln>
              <a:noFill/>
            </a:ln>
          </p:spPr>
        </p:sp>
        <p:sp>
          <p:nvSpPr>
            <p:cNvPr id="42" name="TextBox 42"/>
            <p:cNvSpPr txBox="1"/>
            <p:nvPr/>
          </p:nvSpPr>
          <p:spPr>
            <a:xfrm>
              <a:off x="7072427" y="1769269"/>
              <a:ext cx="916076"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角色是相对的</a:t>
              </a:r>
            </a:p>
          </p:txBody>
        </p:sp>
        <p:sp>
          <p:nvSpPr>
            <p:cNvPr id="43" name="Ellipse 43"/>
            <p:cNvSpPr/>
            <p:nvPr/>
          </p:nvSpPr>
          <p:spPr>
            <a:xfrm>
              <a:off x="7004685" y="2173605"/>
              <a:ext cx="64770" cy="64770"/>
            </a:xfrm>
            <a:prstGeom prst="ellipse">
              <a:avLst/>
            </a:prstGeom>
            <a:solidFill>
              <a:srgbClr val="FFFFFF"/>
            </a:solidFill>
            <a:ln>
              <a:noFill/>
            </a:ln>
          </p:spPr>
        </p:sp>
        <p:sp>
          <p:nvSpPr>
            <p:cNvPr id="44" name="TextBox 44"/>
            <p:cNvSpPr txBox="1"/>
            <p:nvPr/>
          </p:nvSpPr>
          <p:spPr>
            <a:xfrm>
              <a:off x="7162800" y="2110740"/>
              <a:ext cx="4053840"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FFFFFF"/>
                  </a:solidFill>
                  <a:latin typeface="+mn-lt"/>
                  <a:ea typeface="+mn-ea"/>
                  <a:cs typeface="+mn-cs"/>
                </a:rPr>
                <a:t>缺副本的 Cache 都把自己看成 A，把有副本的看</a:t>
              </a:r>
              <a:br/>
              <a:r>
                <a:rPr lang="zh-CN" sz="1500" dirty="0">
                  <a:solidFill>
                    <a:srgbClr val="FFFFFF"/>
                  </a:solidFill>
                  <a:latin typeface="+mn-lt"/>
                  <a:ea typeface="+mn-ea"/>
                  <a:cs typeface="+mn-cs"/>
                </a:rPr>
                <a:t>成 C</a:t>
              </a:r>
            </a:p>
          </p:txBody>
        </p:sp>
        <p:sp>
          <p:nvSpPr>
            <p:cNvPr id="45" name="Ellipse 45"/>
            <p:cNvSpPr/>
            <p:nvPr/>
          </p:nvSpPr>
          <p:spPr>
            <a:xfrm>
              <a:off x="7004685" y="2794635"/>
              <a:ext cx="64770" cy="64770"/>
            </a:xfrm>
            <a:prstGeom prst="ellipse">
              <a:avLst/>
            </a:prstGeom>
            <a:solidFill>
              <a:srgbClr val="FFFFFF"/>
            </a:solidFill>
            <a:ln>
              <a:noFill/>
            </a:ln>
          </p:spPr>
        </p:sp>
        <p:sp>
          <p:nvSpPr>
            <p:cNvPr id="46" name="TextBox 46"/>
            <p:cNvSpPr txBox="1"/>
            <p:nvPr/>
          </p:nvSpPr>
          <p:spPr>
            <a:xfrm>
              <a:off x="7162800" y="2731770"/>
              <a:ext cx="4053840"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FFFFFF"/>
                  </a:solidFill>
                  <a:latin typeface="+mn-lt"/>
                  <a:ea typeface="+mn-ea"/>
                  <a:cs typeface="+mn-cs"/>
                </a:rPr>
                <a:t>有副本的 Cache 都把自己看成 C，把来请求的看</a:t>
              </a:r>
              <a:br/>
              <a:r>
                <a:rPr lang="zh-CN" sz="1500" dirty="0">
                  <a:solidFill>
                    <a:srgbClr val="FFFFFF"/>
                  </a:solidFill>
                  <a:latin typeface="+mn-lt"/>
                  <a:ea typeface="+mn-ea"/>
                  <a:cs typeface="+mn-cs"/>
                </a:rPr>
                <a:t>成 A</a:t>
              </a:r>
            </a:p>
          </p:txBody>
        </p:sp>
        <p:sp>
          <p:nvSpPr>
            <p:cNvPr id="47" name="Ellipse 47"/>
            <p:cNvSpPr/>
            <p:nvPr/>
          </p:nvSpPr>
          <p:spPr>
            <a:xfrm>
              <a:off x="7004685" y="3415665"/>
              <a:ext cx="64770" cy="64770"/>
            </a:xfrm>
            <a:prstGeom prst="ellipse">
              <a:avLst/>
            </a:prstGeom>
            <a:solidFill>
              <a:srgbClr val="FFFFFF"/>
            </a:solidFill>
            <a:ln>
              <a:noFill/>
            </a:ln>
          </p:spPr>
        </p:sp>
        <p:sp>
          <p:nvSpPr>
            <p:cNvPr id="48" name="TextBox 48"/>
            <p:cNvSpPr txBox="1"/>
            <p:nvPr/>
          </p:nvSpPr>
          <p:spPr>
            <a:xfrm>
              <a:off x="7162800" y="3352800"/>
              <a:ext cx="4006215" cy="864870"/>
            </a:xfrm>
            <a:prstGeom prst="rect">
              <a:avLst/>
            </a:prstGeom>
            <a:noFill/>
            <a:ln>
              <a:noFill/>
            </a:ln>
          </p:spPr>
          <p:txBody>
            <a:bodyPr wrap="none" lIns="0" tIns="0" rIns="0" bIns="0" anchor="t" anchorCtr="0">
              <a:spAutoFit/>
            </a:bodyPr>
            <a:lstStyle/>
            <a:p>
              <a:pPr algn="l">
                <a:lnSpc>
                  <a:spcPts val="2250"/>
                </a:lnSpc>
              </a:pPr>
              <a:r>
                <a:rPr lang="zh-CN" sz="1500" dirty="0">
                  <a:solidFill>
                    <a:srgbClr val="FFFFFF"/>
                  </a:solidFill>
                  <a:latin typeface="+mn-lt"/>
                  <a:ea typeface="+mn-ea"/>
                  <a:cs typeface="+mn-cs"/>
                </a:rPr>
                <a:t>同一个节点对不同的块可以同时是 A、B、C：它</a:t>
              </a:r>
              <a:br/>
              <a:r>
                <a:rPr lang="zh-CN" sz="1500" dirty="0">
                  <a:solidFill>
                    <a:srgbClr val="FFFFFF"/>
                  </a:solidFill>
                  <a:latin typeface="+mn-lt"/>
                  <a:ea typeface="+mn-ea"/>
                  <a:cs typeface="+mn-cs"/>
                </a:rPr>
                <a:t>是自己本地存储器中那些块的目录节点 B，同时</a:t>
              </a:r>
              <a:br/>
              <a:r>
                <a:rPr lang="zh-CN" sz="1500" dirty="0">
                  <a:solidFill>
                    <a:srgbClr val="FFFFFF"/>
                  </a:solidFill>
                  <a:latin typeface="+mn-lt"/>
                  <a:ea typeface="+mn-ea"/>
                  <a:cs typeface="+mn-cs"/>
                </a:rPr>
                <a:t>又可能在请求别处的块</a:t>
              </a:r>
            </a:p>
          </p:txBody>
        </p:sp>
      </p:grpSp>
      <p:grpSp>
        <p:nvGrpSpPr>
          <p:cNvPr id="52" name="footer"/>
          <p:cNvGrpSpPr/>
          <p:nvPr/>
        </p:nvGrpSpPr>
        <p:grpSpPr>
          <a:xfrm>
            <a:off x="528447" y="6581299"/>
            <a:ext cx="11135106" cy="190690"/>
            <a:chOff x="528447" y="6581299"/>
            <a:chExt cx="11135106" cy="190690"/>
          </a:xfrm>
        </p:grpSpPr>
        <p:sp>
          <p:nvSpPr>
            <p:cNvPr id="50" name="TextBox 50"/>
            <p:cNvSpPr txBox="1"/>
            <p:nvPr/>
          </p:nvSpPr>
          <p:spPr>
            <a:xfrm>
              <a:off x="528447" y="6581299"/>
              <a:ext cx="2120748"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并行与分布式计算 · 第7章 体系结构</a:t>
              </a:r>
            </a:p>
          </p:txBody>
        </p:sp>
        <p:sp>
          <p:nvSpPr>
            <p:cNvPr id="51" name="TextBox 51"/>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40</a:t>
              </a:r>
            </a:p>
          </p:txBody>
        </p:sp>
      </p:grpSp>
    </p:spTree>
  </p:cSld>
  <p:clrMapOvr>
    <a:masterClrMapping/>
  </p:clrMapOvr>
  <p:transition xmlns:p14="http://schemas.microsoft.com/office/powerpoint/2010/main" p14:dur="400">
    <p:fade/>
  </p:transition>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ection-disc"/>
          <p:cNvSpPr/>
          <p:nvPr/>
        </p:nvSpPr>
        <p:spPr>
          <a:xfrm>
            <a:off x="7715250" y="571500"/>
            <a:ext cx="5715000" cy="5715000"/>
          </a:xfrm>
          <a:prstGeom prst="ellipse">
            <a:avLst/>
          </a:prstGeom>
          <a:solidFill>
            <a:srgbClr val="334E68"/>
          </a:solidFill>
          <a:ln>
            <a:noFill/>
          </a:ln>
        </p:spPr>
      </p:sp>
      <p:sp>
        <p:nvSpPr>
          <p:cNvPr id="3" name="section-ring"/>
          <p:cNvSpPr/>
          <p:nvPr/>
        </p:nvSpPr>
        <p:spPr>
          <a:xfrm>
            <a:off x="7334250" y="190500"/>
            <a:ext cx="6477000" cy="6477000"/>
          </a:xfrm>
          <a:prstGeom prst="ellipse">
            <a:avLst/>
          </a:prstGeom>
          <a:noFill/>
          <a:ln w="133350">
            <a:solidFill>
              <a:srgbClr val="E7EDF3"/>
            </a:solidFill>
          </a:ln>
        </p:spPr>
      </p:sp>
      <p:grpSp>
        <p:nvGrpSpPr>
          <p:cNvPr id="5" name="section-num"/>
          <p:cNvGrpSpPr/>
          <p:nvPr/>
        </p:nvGrpSpPr>
        <p:grpSpPr>
          <a:xfrm>
            <a:off x="8954033" y="2705100"/>
            <a:ext cx="1903933" cy="2305050"/>
            <a:chOff x="8954033" y="2705100"/>
            <a:chExt cx="1903933" cy="2305050"/>
          </a:xfrm>
        </p:grpSpPr>
        <p:sp>
          <p:nvSpPr>
            <p:cNvPr id="4" name="TextBox 4"/>
            <p:cNvSpPr txBox="1"/>
            <p:nvPr/>
          </p:nvSpPr>
          <p:spPr>
            <a:xfrm>
              <a:off x="8954033" y="2705100"/>
              <a:ext cx="1903933" cy="2305050"/>
            </a:xfrm>
            <a:prstGeom prst="rect">
              <a:avLst/>
            </a:prstGeom>
            <a:noFill/>
            <a:ln>
              <a:noFill/>
            </a:ln>
          </p:spPr>
          <p:txBody>
            <a:bodyPr wrap="none" lIns="0" tIns="0" rIns="0" bIns="0" anchor="t" anchorCtr="0">
              <a:spAutoFit/>
            </a:bodyPr>
            <a:lstStyle/>
            <a:p>
              <a:pPr algn="ctr"/>
              <a:r>
                <a:rPr lang="zh-CN" sz="12000" b="1" dirty="0">
                  <a:solidFill>
                    <a:srgbClr val="FFFFFF"/>
                  </a:solidFill>
                  <a:latin typeface="+mn-lt"/>
                  <a:ea typeface="+mn-ea"/>
                  <a:cs typeface="+mn-cs"/>
                </a:rPr>
                <a:t>03</a:t>
              </a:r>
            </a:p>
          </p:txBody>
        </p:sp>
      </p:grpSp>
      <p:grpSp>
        <p:nvGrpSpPr>
          <p:cNvPr id="18" name="section-title"/>
          <p:cNvGrpSpPr/>
          <p:nvPr/>
        </p:nvGrpSpPr>
        <p:grpSpPr>
          <a:xfrm>
            <a:off x="667512" y="1835468"/>
            <a:ext cx="6313170" cy="3675697"/>
            <a:chOff x="667512" y="1835468"/>
            <a:chExt cx="6313170" cy="3675697"/>
          </a:xfrm>
        </p:grpSpPr>
        <p:sp>
          <p:nvSpPr>
            <p:cNvPr id="6" name="TextBox 6"/>
            <p:cNvSpPr txBox="1"/>
            <p:nvPr/>
          </p:nvSpPr>
          <p:spPr>
            <a:xfrm>
              <a:off x="678942" y="1835468"/>
              <a:ext cx="740664" cy="264033"/>
            </a:xfrm>
            <a:prstGeom prst="rect">
              <a:avLst/>
            </a:prstGeom>
            <a:noFill/>
            <a:ln>
              <a:noFill/>
            </a:ln>
          </p:spPr>
          <p:txBody>
            <a:bodyPr wrap="none" lIns="0" tIns="0" rIns="0" bIns="0" anchor="t" anchorCtr="0">
              <a:spAutoFit/>
            </a:bodyPr>
            <a:lstStyle/>
            <a:p>
              <a:pPr algn="l"/>
              <a:r>
                <a:rPr lang="zh-CN" sz="1350" b="1" dirty="0">
                  <a:solidFill>
                    <a:srgbClr val="C2410C"/>
                  </a:solidFill>
                  <a:latin typeface="+mn-lt"/>
                  <a:ea typeface="+mn-ea"/>
                  <a:cs typeface="+mn-cs"/>
                </a:rPr>
                <a:t>第三部分</a:t>
              </a:r>
            </a:p>
          </p:txBody>
        </p:sp>
        <p:sp>
          <p:nvSpPr>
            <p:cNvPr id="7" name="TextBox 7"/>
            <p:cNvSpPr txBox="1"/>
            <p:nvPr/>
          </p:nvSpPr>
          <p:spPr>
            <a:xfrm>
              <a:off x="667512" y="2240280"/>
              <a:ext cx="1975104" cy="704088"/>
            </a:xfrm>
            <a:prstGeom prst="rect">
              <a:avLst/>
            </a:prstGeom>
            <a:noFill/>
            <a:ln>
              <a:noFill/>
            </a:ln>
          </p:spPr>
          <p:txBody>
            <a:bodyPr wrap="none" lIns="0" tIns="0" rIns="0" bIns="0" anchor="t" anchorCtr="0">
              <a:spAutoFit/>
            </a:bodyPr>
            <a:lstStyle/>
            <a:p>
              <a:pPr algn="l"/>
              <a:r>
                <a:rPr lang="zh-CN" sz="3600" b="1" dirty="0">
                  <a:solidFill>
                    <a:srgbClr val="1F2937"/>
                  </a:solidFill>
                  <a:latin typeface="+mn-lt"/>
                  <a:ea typeface="+mn-ea"/>
                  <a:cs typeface="+mn-cs"/>
                </a:rPr>
                <a:t>互连结构</a:t>
              </a:r>
            </a:p>
          </p:txBody>
        </p:sp>
        <p:sp>
          <p:nvSpPr>
            <p:cNvPr id="8" name="Rectangle 8"/>
            <p:cNvSpPr/>
            <p:nvPr/>
          </p:nvSpPr>
          <p:spPr>
            <a:xfrm>
              <a:off x="685800" y="3041332"/>
              <a:ext cx="762000" cy="47625"/>
            </a:xfrm>
            <a:prstGeom prst="roundRect">
              <a:avLst>
                <a:gd name="adj" fmla="val 50000"/>
              </a:avLst>
            </a:prstGeom>
            <a:solidFill>
              <a:srgbClr val="F26B3A"/>
            </a:solidFill>
            <a:ln>
              <a:noFill/>
            </a:ln>
          </p:spPr>
        </p:sp>
        <p:sp>
          <p:nvSpPr>
            <p:cNvPr id="9" name="TextBox 9"/>
            <p:cNvSpPr txBox="1"/>
            <p:nvPr/>
          </p:nvSpPr>
          <p:spPr>
            <a:xfrm>
              <a:off x="677418" y="3377565"/>
              <a:ext cx="6303264" cy="646557"/>
            </a:xfrm>
            <a:prstGeom prst="rect">
              <a:avLst/>
            </a:prstGeom>
            <a:noFill/>
            <a:ln>
              <a:noFill/>
            </a:ln>
          </p:spPr>
          <p:txBody>
            <a:bodyPr wrap="none" lIns="0" tIns="0" rIns="0" bIns="0" anchor="t" anchorCtr="0">
              <a:spAutoFit/>
            </a:bodyPr>
            <a:lstStyle/>
            <a:p>
              <a:pPr algn="l">
                <a:lnSpc>
                  <a:spcPts val="2550"/>
                </a:lnSpc>
              </a:pPr>
              <a:r>
                <a:rPr lang="zh-CN" sz="1650" dirty="0">
                  <a:solidFill>
                    <a:srgbClr val="5B6475"/>
                  </a:solidFill>
                  <a:latin typeface="+mn-lt"/>
                  <a:ea typeface="+mn-ea"/>
                  <a:cs typeface="+mn-cs"/>
                </a:rPr>
                <a:t>用开关把处理器和存储器连起来：拓扑决定距离，开关决定谁能同时</a:t>
              </a:r>
              <a:br/>
              <a:r>
                <a:rPr lang="zh-CN" sz="1650" dirty="0">
                  <a:solidFill>
                    <a:srgbClr val="5B6475"/>
                  </a:solidFill>
                  <a:latin typeface="+mn-lt"/>
                  <a:ea typeface="+mn-ea"/>
                  <a:cs typeface="+mn-cs"/>
                </a:rPr>
                <a:t>通信</a:t>
              </a:r>
            </a:p>
          </p:txBody>
        </p:sp>
        <p:sp>
          <p:nvSpPr>
            <p:cNvPr id="10" name="Ellipse 10"/>
            <p:cNvSpPr/>
            <p:nvPr/>
          </p:nvSpPr>
          <p:spPr>
            <a:xfrm>
              <a:off x="723900" y="4211955"/>
              <a:ext cx="76200" cy="76200"/>
            </a:xfrm>
            <a:prstGeom prst="ellipse">
              <a:avLst/>
            </a:prstGeom>
            <a:solidFill>
              <a:srgbClr val="334E68"/>
            </a:solidFill>
            <a:ln>
              <a:noFill/>
            </a:ln>
          </p:spPr>
        </p:sp>
        <p:sp>
          <p:nvSpPr>
            <p:cNvPr id="11" name="TextBox 11"/>
            <p:cNvSpPr txBox="1"/>
            <p:nvPr/>
          </p:nvSpPr>
          <p:spPr>
            <a:xfrm>
              <a:off x="906780" y="4154805"/>
              <a:ext cx="1216724"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7.3 互连结构</a:t>
              </a:r>
            </a:p>
          </p:txBody>
        </p:sp>
        <p:sp>
          <p:nvSpPr>
            <p:cNvPr id="12" name="Ellipse 12"/>
            <p:cNvSpPr/>
            <p:nvPr/>
          </p:nvSpPr>
          <p:spPr>
            <a:xfrm>
              <a:off x="723900" y="4566285"/>
              <a:ext cx="76200" cy="76200"/>
            </a:xfrm>
            <a:prstGeom prst="ellipse">
              <a:avLst/>
            </a:prstGeom>
            <a:solidFill>
              <a:srgbClr val="334E68"/>
            </a:solidFill>
            <a:ln>
              <a:noFill/>
            </a:ln>
          </p:spPr>
        </p:sp>
        <p:sp>
          <p:nvSpPr>
            <p:cNvPr id="13" name="TextBox 13"/>
            <p:cNvSpPr txBox="1"/>
            <p:nvPr/>
          </p:nvSpPr>
          <p:spPr>
            <a:xfrm>
              <a:off x="906780" y="4509135"/>
              <a:ext cx="223647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拓扑参数与静态互连网络</a:t>
              </a:r>
            </a:p>
          </p:txBody>
        </p:sp>
        <p:sp>
          <p:nvSpPr>
            <p:cNvPr id="14" name="Ellipse 14"/>
            <p:cNvSpPr/>
            <p:nvPr/>
          </p:nvSpPr>
          <p:spPr>
            <a:xfrm>
              <a:off x="723900" y="4920615"/>
              <a:ext cx="76200" cy="76200"/>
            </a:xfrm>
            <a:prstGeom prst="ellipse">
              <a:avLst/>
            </a:prstGeom>
            <a:solidFill>
              <a:srgbClr val="334E68"/>
            </a:solidFill>
            <a:ln>
              <a:noFill/>
            </a:ln>
          </p:spPr>
        </p:sp>
        <p:sp>
          <p:nvSpPr>
            <p:cNvPr id="15" name="TextBox 15"/>
            <p:cNvSpPr txBox="1"/>
            <p:nvPr/>
          </p:nvSpPr>
          <p:spPr>
            <a:xfrm>
              <a:off x="906780" y="4863465"/>
              <a:ext cx="284226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总线、交叉开关与多级互连网络</a:t>
              </a:r>
            </a:p>
          </p:txBody>
        </p:sp>
        <p:sp>
          <p:nvSpPr>
            <p:cNvPr id="16" name="Ellipse 16"/>
            <p:cNvSpPr/>
            <p:nvPr/>
          </p:nvSpPr>
          <p:spPr>
            <a:xfrm>
              <a:off x="723900" y="5274945"/>
              <a:ext cx="76200" cy="76200"/>
            </a:xfrm>
            <a:prstGeom prst="ellipse">
              <a:avLst/>
            </a:prstGeom>
            <a:solidFill>
              <a:srgbClr val="334E68"/>
            </a:solidFill>
            <a:ln>
              <a:noFill/>
            </a:ln>
          </p:spPr>
        </p:sp>
        <p:sp>
          <p:nvSpPr>
            <p:cNvPr id="17" name="TextBox 17"/>
            <p:cNvSpPr txBox="1"/>
            <p:nvPr/>
          </p:nvSpPr>
          <p:spPr>
            <a:xfrm>
              <a:off x="906780" y="5217795"/>
              <a:ext cx="223647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互连规模与常用互连协议</a:t>
              </a:r>
            </a:p>
          </p:txBody>
        </p:sp>
      </p:grpSp>
      <p:grpSp>
        <p:nvGrpSpPr>
          <p:cNvPr id="21" name="footer"/>
          <p:cNvGrpSpPr/>
          <p:nvPr/>
        </p:nvGrpSpPr>
        <p:grpSpPr>
          <a:xfrm>
            <a:off x="528447" y="6581299"/>
            <a:ext cx="11135106" cy="190690"/>
            <a:chOff x="528447" y="6581299"/>
            <a:chExt cx="11135106" cy="190690"/>
          </a:xfrm>
        </p:grpSpPr>
        <p:sp>
          <p:nvSpPr>
            <p:cNvPr id="19" name="TextBox 19"/>
            <p:cNvSpPr txBox="1"/>
            <p:nvPr/>
          </p:nvSpPr>
          <p:spPr>
            <a:xfrm>
              <a:off x="528447" y="6581299"/>
              <a:ext cx="2120748"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并行与分布式计算 · 第7章 体系结构</a:t>
              </a:r>
            </a:p>
          </p:txBody>
        </p:sp>
        <p:sp>
          <p:nvSpPr>
            <p:cNvPr id="20" name="TextBox 20"/>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41</a:t>
              </a:r>
            </a:p>
          </p:txBody>
        </p:sp>
      </p:grpSp>
    </p:spTree>
  </p:cSld>
  <p:clrMapOvr>
    <a:masterClrMapping/>
  </p:clrMapOvr>
  <p:transition xmlns:p14="http://schemas.microsoft.com/office/powerpoint/2010/main" p14:dur="400">
    <p:fade/>
  </p:transition>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6548247" cy="909257"/>
            <a:chOff x="520446" y="342900"/>
            <a:chExt cx="6548247" cy="909257"/>
          </a:xfrm>
        </p:grpSpPr>
        <p:sp>
          <p:nvSpPr>
            <p:cNvPr id="2" name="Rectangle 2"/>
            <p:cNvSpPr/>
            <p:nvPr/>
          </p:nvSpPr>
          <p:spPr>
            <a:xfrm>
              <a:off x="533400" y="342900"/>
              <a:ext cx="1987868" cy="266700"/>
            </a:xfrm>
            <a:prstGeom prst="roundRect">
              <a:avLst>
                <a:gd name="adj" fmla="val 50000"/>
              </a:avLst>
            </a:prstGeom>
            <a:solidFill>
              <a:srgbClr val="E7EDF3"/>
            </a:solidFill>
            <a:ln>
              <a:noFill/>
            </a:ln>
          </p:spPr>
        </p:sp>
        <p:sp>
          <p:nvSpPr>
            <p:cNvPr id="3" name="TextBox 3"/>
            <p:cNvSpPr txBox="1"/>
            <p:nvPr/>
          </p:nvSpPr>
          <p:spPr>
            <a:xfrm>
              <a:off x="608957" y="407194"/>
              <a:ext cx="1835800"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第7章 体系结构 · 互连结构</a:t>
              </a:r>
            </a:p>
          </p:txBody>
        </p:sp>
        <p:sp>
          <p:nvSpPr>
            <p:cNvPr id="4" name="TextBox 4"/>
            <p:cNvSpPr txBox="1"/>
            <p:nvPr/>
          </p:nvSpPr>
          <p:spPr>
            <a:xfrm>
              <a:off x="520446" y="753428"/>
              <a:ext cx="6548247"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互连结构：三要素、两大类、七个拓扑参数</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20" name="c1-card-1"/>
          <p:cNvGrpSpPr/>
          <p:nvPr/>
        </p:nvGrpSpPr>
        <p:grpSpPr>
          <a:xfrm>
            <a:off x="533400" y="1524000"/>
            <a:ext cx="5193982" cy="2325052"/>
            <a:chOff x="533400" y="1524000"/>
            <a:chExt cx="5193982" cy="2325052"/>
          </a:xfrm>
        </p:grpSpPr>
        <p:sp>
          <p:nvSpPr>
            <p:cNvPr id="7" name="Rectangle 7"/>
            <p:cNvSpPr/>
            <p:nvPr/>
          </p:nvSpPr>
          <p:spPr>
            <a:xfrm>
              <a:off x="533400" y="1524000"/>
              <a:ext cx="5193982" cy="2325052"/>
            </a:xfrm>
            <a:prstGeom prst="roundRect">
              <a:avLst>
                <a:gd name="adj" fmla="val 5735"/>
              </a:avLst>
            </a:prstGeom>
            <a:solidFill>
              <a:srgbClr val="FFFFFF"/>
            </a:solidFill>
            <a:ln w="14288">
              <a:solidFill>
                <a:srgbClr val="D9DFEA"/>
              </a:solidFill>
            </a:ln>
          </p:spPr>
        </p:sp>
        <p:sp>
          <p:nvSpPr>
            <p:cNvPr id="8" name="Rectangle 8"/>
            <p:cNvSpPr/>
            <p:nvPr/>
          </p:nvSpPr>
          <p:spPr>
            <a:xfrm>
              <a:off x="542925" y="1657350"/>
              <a:ext cx="47625" cy="2058352"/>
            </a:xfrm>
            <a:prstGeom prst="roundRect">
              <a:avLst>
                <a:gd name="adj" fmla="val 50000"/>
              </a:avLst>
            </a:prstGeom>
            <a:solidFill>
              <a:srgbClr val="334E68"/>
            </a:solidFill>
            <a:ln>
              <a:noFill/>
            </a:ln>
          </p:spPr>
        </p:sp>
        <p:sp>
          <p:nvSpPr>
            <p:cNvPr id="9" name="Rectangle 9"/>
            <p:cNvSpPr/>
            <p:nvPr/>
          </p:nvSpPr>
          <p:spPr>
            <a:xfrm>
              <a:off x="763905" y="1716405"/>
              <a:ext cx="476250" cy="247650"/>
            </a:xfrm>
            <a:prstGeom prst="roundRect">
              <a:avLst>
                <a:gd name="adj" fmla="val 50000"/>
              </a:avLst>
            </a:prstGeom>
            <a:solidFill>
              <a:srgbClr val="E7EDF3"/>
            </a:solidFill>
            <a:ln>
              <a:noFill/>
            </a:ln>
          </p:spPr>
        </p:sp>
        <p:sp>
          <p:nvSpPr>
            <p:cNvPr id="10" name="TextBox 10"/>
            <p:cNvSpPr txBox="1"/>
            <p:nvPr/>
          </p:nvSpPr>
          <p:spPr>
            <a:xfrm>
              <a:off x="855345" y="1750695"/>
              <a:ext cx="293370" cy="205359"/>
            </a:xfrm>
            <a:prstGeom prst="rect">
              <a:avLst/>
            </a:prstGeom>
            <a:noFill/>
            <a:ln>
              <a:noFill/>
            </a:ln>
          </p:spPr>
          <p:txBody>
            <a:bodyPr wrap="none" lIns="0" tIns="0" rIns="0" bIns="0" anchor="t" anchorCtr="0">
              <a:spAutoFit/>
            </a:bodyPr>
            <a:lstStyle/>
            <a:p>
              <a:pPr algn="ctr"/>
              <a:r>
                <a:rPr lang="zh-CN" sz="1050" b="1" dirty="0">
                  <a:solidFill>
                    <a:srgbClr val="334E68"/>
                  </a:solidFill>
                  <a:latin typeface="+mn-lt"/>
                  <a:ea typeface="+mn-ea"/>
                  <a:cs typeface="+mn-cs"/>
                </a:rPr>
                <a:t>定义</a:t>
              </a:r>
            </a:p>
          </p:txBody>
        </p:sp>
        <p:sp>
          <p:nvSpPr>
            <p:cNvPr id="11" name="TextBox 11"/>
            <p:cNvSpPr txBox="1"/>
            <p:nvPr/>
          </p:nvSpPr>
          <p:spPr>
            <a:xfrm>
              <a:off x="757047" y="2072640"/>
              <a:ext cx="4471416"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由开关元件按一定拓扑结构连接、按一定控制方式工作的结</a:t>
              </a:r>
              <a:br/>
              <a:r>
                <a:rPr lang="zh-CN" sz="1350" dirty="0">
                  <a:solidFill>
                    <a:srgbClr val="1F2937"/>
                  </a:solidFill>
                  <a:latin typeface="+mn-lt"/>
                  <a:ea typeface="+mn-ea"/>
                  <a:cs typeface="+mn-cs"/>
                </a:rPr>
                <a:t>构，用来连接计算机系统内的多个功能部件。</a:t>
              </a:r>
            </a:p>
          </p:txBody>
        </p:sp>
        <p:sp>
          <p:nvSpPr>
            <p:cNvPr id="12" name="TextBox 12"/>
            <p:cNvSpPr txBox="1"/>
            <p:nvPr/>
          </p:nvSpPr>
          <p:spPr>
            <a:xfrm>
              <a:off x="757047" y="2632710"/>
              <a:ext cx="740664" cy="264033"/>
            </a:xfrm>
            <a:prstGeom prst="rect">
              <a:avLst/>
            </a:prstGeom>
            <a:noFill/>
            <a:ln>
              <a:noFill/>
            </a:ln>
          </p:spPr>
          <p:txBody>
            <a:bodyPr wrap="none" lIns="0" tIns="0" rIns="0" bIns="0" anchor="t" anchorCtr="0">
              <a:spAutoFit/>
            </a:bodyPr>
            <a:lstStyle/>
            <a:p>
              <a:pPr algn="l"/>
              <a:r>
                <a:rPr lang="zh-CN" sz="1350" b="1" dirty="0">
                  <a:solidFill>
                    <a:srgbClr val="334E68"/>
                  </a:solidFill>
                  <a:latin typeface="+mn-lt"/>
                  <a:ea typeface="+mn-ea"/>
                  <a:cs typeface="+mn-cs"/>
                </a:rPr>
                <a:t>互连拓扑</a:t>
              </a:r>
            </a:p>
          </p:txBody>
        </p:sp>
        <p:sp>
          <p:nvSpPr>
            <p:cNvPr id="13" name="TextBox 13"/>
            <p:cNvSpPr txBox="1"/>
            <p:nvPr/>
          </p:nvSpPr>
          <p:spPr>
            <a:xfrm>
              <a:off x="1719072" y="2632710"/>
              <a:ext cx="1649349"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连接通路的拓扑结构</a:t>
              </a:r>
            </a:p>
          </p:txBody>
        </p:sp>
        <p:sp>
          <p:nvSpPr>
            <p:cNvPr id="14" name="Rectangle 14"/>
            <p:cNvSpPr/>
            <p:nvPr/>
          </p:nvSpPr>
          <p:spPr>
            <a:xfrm>
              <a:off x="763905" y="2921318"/>
              <a:ext cx="4771072" cy="9525"/>
            </a:xfrm>
            <a:prstGeom prst="rect">
              <a:avLst/>
            </a:prstGeom>
            <a:solidFill>
              <a:srgbClr val="D9DFEA"/>
            </a:solidFill>
            <a:ln>
              <a:noFill/>
            </a:ln>
          </p:spPr>
        </p:sp>
        <p:sp>
          <p:nvSpPr>
            <p:cNvPr id="15" name="TextBox 15"/>
            <p:cNvSpPr txBox="1"/>
            <p:nvPr/>
          </p:nvSpPr>
          <p:spPr>
            <a:xfrm>
              <a:off x="757047" y="3030855"/>
              <a:ext cx="740664" cy="264033"/>
            </a:xfrm>
            <a:prstGeom prst="rect">
              <a:avLst/>
            </a:prstGeom>
            <a:noFill/>
            <a:ln>
              <a:noFill/>
            </a:ln>
          </p:spPr>
          <p:txBody>
            <a:bodyPr wrap="none" lIns="0" tIns="0" rIns="0" bIns="0" anchor="t" anchorCtr="0">
              <a:spAutoFit/>
            </a:bodyPr>
            <a:lstStyle/>
            <a:p>
              <a:pPr algn="l"/>
              <a:r>
                <a:rPr lang="zh-CN" sz="1350" b="1" dirty="0">
                  <a:solidFill>
                    <a:srgbClr val="334E68"/>
                  </a:solidFill>
                  <a:latin typeface="+mn-lt"/>
                  <a:ea typeface="+mn-ea"/>
                  <a:cs typeface="+mn-cs"/>
                </a:rPr>
                <a:t>开关元件</a:t>
              </a:r>
            </a:p>
          </p:txBody>
        </p:sp>
        <p:sp>
          <p:nvSpPr>
            <p:cNvPr id="16" name="TextBox 16"/>
            <p:cNvSpPr txBox="1"/>
            <p:nvPr/>
          </p:nvSpPr>
          <p:spPr>
            <a:xfrm>
              <a:off x="1719072" y="3030855"/>
              <a:ext cx="1649349"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连接通路的开关状态</a:t>
              </a:r>
            </a:p>
          </p:txBody>
        </p:sp>
        <p:sp>
          <p:nvSpPr>
            <p:cNvPr id="17" name="Rectangle 17"/>
            <p:cNvSpPr/>
            <p:nvPr/>
          </p:nvSpPr>
          <p:spPr>
            <a:xfrm>
              <a:off x="763905" y="3319462"/>
              <a:ext cx="4771072" cy="9525"/>
            </a:xfrm>
            <a:prstGeom prst="rect">
              <a:avLst/>
            </a:prstGeom>
            <a:solidFill>
              <a:srgbClr val="D9DFEA"/>
            </a:solidFill>
            <a:ln>
              <a:noFill/>
            </a:ln>
          </p:spPr>
        </p:sp>
        <p:sp>
          <p:nvSpPr>
            <p:cNvPr id="18" name="TextBox 18"/>
            <p:cNvSpPr txBox="1"/>
            <p:nvPr/>
          </p:nvSpPr>
          <p:spPr>
            <a:xfrm>
              <a:off x="757047" y="3428048"/>
              <a:ext cx="740664" cy="264033"/>
            </a:xfrm>
            <a:prstGeom prst="rect">
              <a:avLst/>
            </a:prstGeom>
            <a:noFill/>
            <a:ln>
              <a:noFill/>
            </a:ln>
          </p:spPr>
          <p:txBody>
            <a:bodyPr wrap="none" lIns="0" tIns="0" rIns="0" bIns="0" anchor="t" anchorCtr="0">
              <a:spAutoFit/>
            </a:bodyPr>
            <a:lstStyle/>
            <a:p>
              <a:pPr algn="l"/>
              <a:r>
                <a:rPr lang="zh-CN" sz="1350" b="1" dirty="0">
                  <a:solidFill>
                    <a:srgbClr val="334E68"/>
                  </a:solidFill>
                  <a:latin typeface="+mn-lt"/>
                  <a:ea typeface="+mn-ea"/>
                  <a:cs typeface="+mn-cs"/>
                </a:rPr>
                <a:t>控制方式</a:t>
              </a:r>
            </a:p>
          </p:txBody>
        </p:sp>
        <p:sp>
          <p:nvSpPr>
            <p:cNvPr id="19" name="TextBox 19"/>
            <p:cNvSpPr txBox="1"/>
            <p:nvPr/>
          </p:nvSpPr>
          <p:spPr>
            <a:xfrm>
              <a:off x="1719072" y="3428048"/>
              <a:ext cx="1649349"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连接通路的操作规则</a:t>
              </a:r>
            </a:p>
          </p:txBody>
        </p:sp>
      </p:grpSp>
      <p:grpSp>
        <p:nvGrpSpPr>
          <p:cNvPr id="37" name="c1-compare-2"/>
          <p:cNvGrpSpPr/>
          <p:nvPr/>
        </p:nvGrpSpPr>
        <p:grpSpPr>
          <a:xfrm>
            <a:off x="533400" y="4024312"/>
            <a:ext cx="5193030" cy="2147888"/>
            <a:chOff x="533400" y="4024312"/>
            <a:chExt cx="5193030" cy="2147888"/>
          </a:xfrm>
        </p:grpSpPr>
        <p:sp>
          <p:nvSpPr>
            <p:cNvPr id="21" name="Rectangle 21"/>
            <p:cNvSpPr/>
            <p:nvPr/>
          </p:nvSpPr>
          <p:spPr>
            <a:xfrm>
              <a:off x="533400" y="4024312"/>
              <a:ext cx="2386965" cy="2147888"/>
            </a:xfrm>
            <a:prstGeom prst="roundRect">
              <a:avLst>
                <a:gd name="adj" fmla="val 6208"/>
              </a:avLst>
            </a:prstGeom>
            <a:solidFill>
              <a:srgbClr val="FFFFFF"/>
            </a:solidFill>
            <a:ln w="14288">
              <a:solidFill>
                <a:srgbClr val="D9DFEA"/>
              </a:solidFill>
            </a:ln>
          </p:spPr>
        </p:sp>
        <p:sp>
          <p:nvSpPr>
            <p:cNvPr id="22" name="Rectangle 22"/>
            <p:cNvSpPr/>
            <p:nvPr/>
          </p:nvSpPr>
          <p:spPr>
            <a:xfrm>
              <a:off x="542925" y="4157662"/>
              <a:ext cx="47625" cy="1881188"/>
            </a:xfrm>
            <a:prstGeom prst="roundRect">
              <a:avLst>
                <a:gd name="adj" fmla="val 50000"/>
              </a:avLst>
            </a:prstGeom>
            <a:solidFill>
              <a:srgbClr val="334E68"/>
            </a:solidFill>
            <a:ln>
              <a:noFill/>
            </a:ln>
          </p:spPr>
        </p:sp>
        <p:sp>
          <p:nvSpPr>
            <p:cNvPr id="23" name="TextBox 23"/>
            <p:cNvSpPr txBox="1"/>
            <p:nvPr/>
          </p:nvSpPr>
          <p:spPr>
            <a:xfrm>
              <a:off x="757047" y="4238625"/>
              <a:ext cx="740664"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静态互连</a:t>
              </a:r>
            </a:p>
          </p:txBody>
        </p:sp>
        <p:sp>
          <p:nvSpPr>
            <p:cNvPr id="24" name="Ellipse 24"/>
            <p:cNvSpPr/>
            <p:nvPr/>
          </p:nvSpPr>
          <p:spPr>
            <a:xfrm>
              <a:off x="772478" y="4614862"/>
              <a:ext cx="59055" cy="59055"/>
            </a:xfrm>
            <a:prstGeom prst="ellipse">
              <a:avLst/>
            </a:prstGeom>
            <a:solidFill>
              <a:srgbClr val="334E68"/>
            </a:solidFill>
            <a:ln>
              <a:noFill/>
            </a:ln>
          </p:spPr>
        </p:sp>
        <p:sp>
          <p:nvSpPr>
            <p:cNvPr id="25" name="TextBox 25"/>
            <p:cNvSpPr txBox="1"/>
            <p:nvPr/>
          </p:nvSpPr>
          <p:spPr>
            <a:xfrm>
              <a:off x="928497" y="4558665"/>
              <a:ext cx="1556766" cy="778383"/>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节点固定地与开关单</a:t>
              </a:r>
              <a:br/>
              <a:r>
                <a:rPr lang="zh-CN" sz="1350" dirty="0">
                  <a:solidFill>
                    <a:srgbClr val="1F2937"/>
                  </a:solidFill>
                  <a:latin typeface="+mn-lt"/>
                  <a:ea typeface="+mn-ea"/>
                  <a:cs typeface="+mn-cs"/>
                </a:rPr>
                <a:t>元相连，建立被动连</a:t>
              </a:r>
              <a:br/>
              <a:r>
                <a:rPr lang="zh-CN" sz="1350" dirty="0">
                  <a:solidFill>
                    <a:srgbClr val="1F2937"/>
                  </a:solidFill>
                  <a:latin typeface="+mn-lt"/>
                  <a:ea typeface="+mn-ea"/>
                  <a:cs typeface="+mn-cs"/>
                </a:rPr>
                <a:t>接通路</a:t>
              </a:r>
            </a:p>
          </p:txBody>
        </p:sp>
        <p:sp>
          <p:nvSpPr>
            <p:cNvPr id="26" name="Ellipse 26"/>
            <p:cNvSpPr/>
            <p:nvPr/>
          </p:nvSpPr>
          <p:spPr>
            <a:xfrm>
              <a:off x="772478" y="5432108"/>
              <a:ext cx="59055" cy="59055"/>
            </a:xfrm>
            <a:prstGeom prst="ellipse">
              <a:avLst/>
            </a:prstGeom>
            <a:solidFill>
              <a:srgbClr val="334E68"/>
            </a:solidFill>
            <a:ln>
              <a:noFill/>
            </a:ln>
          </p:spPr>
        </p:sp>
        <p:sp>
          <p:nvSpPr>
            <p:cNvPr id="27" name="TextBox 27"/>
            <p:cNvSpPr txBox="1"/>
            <p:nvPr/>
          </p:nvSpPr>
          <p:spPr>
            <a:xfrm>
              <a:off x="928497" y="5375910"/>
              <a:ext cx="1556766"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一维、环、带弦环、</a:t>
              </a:r>
              <a:br/>
              <a:r>
                <a:rPr lang="zh-CN" sz="1350" dirty="0">
                  <a:solidFill>
                    <a:srgbClr val="1F2937"/>
                  </a:solidFill>
                  <a:latin typeface="+mn-lt"/>
                  <a:ea typeface="+mn-ea"/>
                  <a:cs typeface="+mn-cs"/>
                </a:rPr>
                <a:t>树、网格、超立方</a:t>
              </a:r>
            </a:p>
          </p:txBody>
        </p:sp>
        <p:sp>
          <p:nvSpPr>
            <p:cNvPr id="28" name="Rectangle 28"/>
            <p:cNvSpPr/>
            <p:nvPr/>
          </p:nvSpPr>
          <p:spPr>
            <a:xfrm>
              <a:off x="3339465" y="4024312"/>
              <a:ext cx="2386965" cy="2147888"/>
            </a:xfrm>
            <a:prstGeom prst="roundRect">
              <a:avLst>
                <a:gd name="adj" fmla="val 6208"/>
              </a:avLst>
            </a:prstGeom>
            <a:solidFill>
              <a:srgbClr val="FFFFFF"/>
            </a:solidFill>
            <a:ln w="14288">
              <a:solidFill>
                <a:srgbClr val="D9DFEA"/>
              </a:solidFill>
            </a:ln>
          </p:spPr>
        </p:sp>
        <p:sp>
          <p:nvSpPr>
            <p:cNvPr id="29" name="Rectangle 29"/>
            <p:cNvSpPr/>
            <p:nvPr/>
          </p:nvSpPr>
          <p:spPr>
            <a:xfrm>
              <a:off x="3348990" y="4157662"/>
              <a:ext cx="47625" cy="1881188"/>
            </a:xfrm>
            <a:prstGeom prst="roundRect">
              <a:avLst>
                <a:gd name="adj" fmla="val 50000"/>
              </a:avLst>
            </a:prstGeom>
            <a:solidFill>
              <a:srgbClr val="F26B3A"/>
            </a:solidFill>
            <a:ln>
              <a:noFill/>
            </a:ln>
          </p:spPr>
        </p:sp>
        <p:sp>
          <p:nvSpPr>
            <p:cNvPr id="30" name="TextBox 30"/>
            <p:cNvSpPr txBox="1"/>
            <p:nvPr/>
          </p:nvSpPr>
          <p:spPr>
            <a:xfrm>
              <a:off x="3563112" y="4238625"/>
              <a:ext cx="740664"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动态互连</a:t>
              </a:r>
            </a:p>
          </p:txBody>
        </p:sp>
        <p:sp>
          <p:nvSpPr>
            <p:cNvPr id="31" name="Ellipse 31"/>
            <p:cNvSpPr/>
            <p:nvPr/>
          </p:nvSpPr>
          <p:spPr>
            <a:xfrm>
              <a:off x="3578542" y="4614862"/>
              <a:ext cx="59055" cy="59055"/>
            </a:xfrm>
            <a:prstGeom prst="ellipse">
              <a:avLst/>
            </a:prstGeom>
            <a:solidFill>
              <a:srgbClr val="334E68"/>
            </a:solidFill>
            <a:ln>
              <a:noFill/>
            </a:ln>
          </p:spPr>
        </p:sp>
        <p:sp>
          <p:nvSpPr>
            <p:cNvPr id="32" name="TextBox 32"/>
            <p:cNvSpPr txBox="1"/>
            <p:nvPr/>
          </p:nvSpPr>
          <p:spPr>
            <a:xfrm>
              <a:off x="3734562" y="4558665"/>
              <a:ext cx="1556766" cy="778383"/>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节点只连网络边界上</a:t>
              </a:r>
              <a:br/>
              <a:r>
                <a:rPr lang="zh-CN" sz="1350" dirty="0">
                  <a:solidFill>
                    <a:srgbClr val="1F2937"/>
                  </a:solidFill>
                  <a:latin typeface="+mn-lt"/>
                  <a:ea typeface="+mn-ea"/>
                  <a:cs typeface="+mn-cs"/>
                </a:rPr>
                <a:t>的开关，开关之间可</a:t>
              </a:r>
              <a:br/>
              <a:r>
                <a:rPr lang="zh-CN" sz="1350" dirty="0">
                  <a:solidFill>
                    <a:srgbClr val="1F2937"/>
                  </a:solidFill>
                  <a:latin typeface="+mn-lt"/>
                  <a:ea typeface="+mn-ea"/>
                  <a:cs typeface="+mn-cs"/>
                </a:rPr>
                <a:t>按需改变连接组态</a:t>
              </a:r>
            </a:p>
          </p:txBody>
        </p:sp>
        <p:sp>
          <p:nvSpPr>
            <p:cNvPr id="33" name="Ellipse 33"/>
            <p:cNvSpPr/>
            <p:nvPr/>
          </p:nvSpPr>
          <p:spPr>
            <a:xfrm>
              <a:off x="3578542" y="5432108"/>
              <a:ext cx="59055" cy="59055"/>
            </a:xfrm>
            <a:prstGeom prst="ellipse">
              <a:avLst/>
            </a:prstGeom>
            <a:solidFill>
              <a:srgbClr val="334E68"/>
            </a:solidFill>
            <a:ln>
              <a:noFill/>
            </a:ln>
          </p:spPr>
        </p:sp>
        <p:sp>
          <p:nvSpPr>
            <p:cNvPr id="34" name="TextBox 34"/>
            <p:cNvSpPr txBox="1"/>
            <p:nvPr/>
          </p:nvSpPr>
          <p:spPr>
            <a:xfrm>
              <a:off x="3734562" y="5375910"/>
              <a:ext cx="1556766"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总线、交叉开关、多</a:t>
              </a:r>
              <a:br/>
              <a:r>
                <a:rPr lang="zh-CN" sz="1350" dirty="0">
                  <a:solidFill>
                    <a:srgbClr val="1F2937"/>
                  </a:solidFill>
                  <a:latin typeface="+mn-lt"/>
                  <a:ea typeface="+mn-ea"/>
                  <a:cs typeface="+mn-cs"/>
                </a:rPr>
                <a:t>级互连网络</a:t>
              </a:r>
            </a:p>
          </p:txBody>
        </p:sp>
        <p:sp>
          <p:nvSpPr>
            <p:cNvPr id="35" name="Ellipse 35"/>
            <p:cNvSpPr/>
            <p:nvPr/>
          </p:nvSpPr>
          <p:spPr>
            <a:xfrm>
              <a:off x="2967990" y="4935855"/>
              <a:ext cx="323850" cy="323850"/>
            </a:xfrm>
            <a:prstGeom prst="ellipse">
              <a:avLst/>
            </a:prstGeom>
            <a:solidFill>
              <a:srgbClr val="F26B3A"/>
            </a:solidFill>
            <a:ln>
              <a:noFill/>
            </a:ln>
          </p:spPr>
        </p:sp>
        <p:sp>
          <p:nvSpPr>
            <p:cNvPr id="36" name="TextBox 36"/>
            <p:cNvSpPr txBox="1"/>
            <p:nvPr/>
          </p:nvSpPr>
          <p:spPr>
            <a:xfrm>
              <a:off x="3044461" y="5037296"/>
              <a:ext cx="170907" cy="190690"/>
            </a:xfrm>
            <a:prstGeom prst="rect">
              <a:avLst/>
            </a:prstGeom>
            <a:noFill/>
            <a:ln>
              <a:noFill/>
            </a:ln>
          </p:spPr>
          <p:txBody>
            <a:bodyPr wrap="none" lIns="0" tIns="0" rIns="0" bIns="0" anchor="t" anchorCtr="0">
              <a:spAutoFit/>
            </a:bodyPr>
            <a:lstStyle/>
            <a:p>
              <a:pPr algn="ctr"/>
              <a:r>
                <a:rPr lang="en-US" sz="980" b="1" dirty="0">
                  <a:solidFill>
                    <a:srgbClr val="FFFFFF"/>
                  </a:solidFill>
                  <a:latin typeface="+mn-lt"/>
                  <a:ea typeface="+mn-ea"/>
                  <a:cs typeface="+mn-cs"/>
                </a:rPr>
                <a:t>VS</a:t>
              </a:r>
            </a:p>
          </p:txBody>
        </p:sp>
      </p:grpSp>
      <p:grpSp>
        <p:nvGrpSpPr>
          <p:cNvPr id="66" name="c2-table-1"/>
          <p:cNvGrpSpPr/>
          <p:nvPr/>
        </p:nvGrpSpPr>
        <p:grpSpPr>
          <a:xfrm>
            <a:off x="6032182" y="1524000"/>
            <a:ext cx="5626418" cy="3246120"/>
            <a:chOff x="6032182" y="1524000"/>
            <a:chExt cx="5626418" cy="3246120"/>
          </a:xfrm>
        </p:grpSpPr>
        <p:sp>
          <p:nvSpPr>
            <p:cNvPr id="38" name="Rectangle 38"/>
            <p:cNvSpPr/>
            <p:nvPr/>
          </p:nvSpPr>
          <p:spPr>
            <a:xfrm>
              <a:off x="6032182" y="1524000"/>
              <a:ext cx="5626418" cy="405765"/>
            </a:xfrm>
            <a:prstGeom prst="rect">
              <a:avLst/>
            </a:prstGeom>
            <a:solidFill>
              <a:srgbClr val="334E68"/>
            </a:solidFill>
            <a:ln>
              <a:noFill/>
            </a:ln>
          </p:spPr>
        </p:sp>
        <p:sp>
          <p:nvSpPr>
            <p:cNvPr id="39" name="TextBox 39"/>
            <p:cNvSpPr txBox="1"/>
            <p:nvPr/>
          </p:nvSpPr>
          <p:spPr>
            <a:xfrm>
              <a:off x="6551016" y="1648301"/>
              <a:ext cx="312979"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参数</a:t>
              </a:r>
            </a:p>
          </p:txBody>
        </p:sp>
        <p:sp>
          <p:nvSpPr>
            <p:cNvPr id="40" name="TextBox 40"/>
            <p:cNvSpPr txBox="1"/>
            <p:nvPr/>
          </p:nvSpPr>
          <p:spPr>
            <a:xfrm>
              <a:off x="9363748" y="1648301"/>
              <a:ext cx="312979"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含义</a:t>
              </a:r>
            </a:p>
          </p:txBody>
        </p:sp>
        <p:sp>
          <p:nvSpPr>
            <p:cNvPr id="41" name="TextBox 41"/>
            <p:cNvSpPr txBox="1"/>
            <p:nvPr/>
          </p:nvSpPr>
          <p:spPr>
            <a:xfrm>
              <a:off x="6132195" y="2054066"/>
              <a:ext cx="614528"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网络规模</a:t>
              </a:r>
            </a:p>
          </p:txBody>
        </p:sp>
        <p:sp>
          <p:nvSpPr>
            <p:cNvPr id="42" name="TextBox 42"/>
            <p:cNvSpPr txBox="1"/>
            <p:nvPr/>
          </p:nvSpPr>
          <p:spPr>
            <a:xfrm>
              <a:off x="7482840" y="2054066"/>
              <a:ext cx="749940"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节点个数 N</a:t>
              </a:r>
            </a:p>
          </p:txBody>
        </p:sp>
        <p:sp>
          <p:nvSpPr>
            <p:cNvPr id="43" name="Rectangle 43"/>
            <p:cNvSpPr/>
            <p:nvPr/>
          </p:nvSpPr>
          <p:spPr>
            <a:xfrm>
              <a:off x="6032182" y="2330768"/>
              <a:ext cx="5626418" cy="9525"/>
            </a:xfrm>
            <a:prstGeom prst="rect">
              <a:avLst/>
            </a:prstGeom>
            <a:solidFill>
              <a:srgbClr val="D9DFEA"/>
            </a:solidFill>
            <a:ln>
              <a:noFill/>
            </a:ln>
          </p:spPr>
        </p:sp>
        <p:sp>
          <p:nvSpPr>
            <p:cNvPr id="44" name="Rectangle 44"/>
            <p:cNvSpPr/>
            <p:nvPr/>
          </p:nvSpPr>
          <p:spPr>
            <a:xfrm>
              <a:off x="6032182" y="2335530"/>
              <a:ext cx="5626418" cy="405765"/>
            </a:xfrm>
            <a:prstGeom prst="rect">
              <a:avLst/>
            </a:prstGeom>
            <a:solidFill>
              <a:srgbClr val="F4F6FB"/>
            </a:solidFill>
            <a:ln>
              <a:noFill/>
            </a:ln>
          </p:spPr>
        </p:sp>
        <p:sp>
          <p:nvSpPr>
            <p:cNvPr id="45" name="TextBox 45"/>
            <p:cNvSpPr txBox="1"/>
            <p:nvPr/>
          </p:nvSpPr>
          <p:spPr>
            <a:xfrm>
              <a:off x="6132195" y="2459831"/>
              <a:ext cx="463753"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链路数</a:t>
              </a:r>
            </a:p>
          </p:txBody>
        </p:sp>
        <p:sp>
          <p:nvSpPr>
            <p:cNvPr id="46" name="TextBox 46"/>
            <p:cNvSpPr txBox="1"/>
            <p:nvPr/>
          </p:nvSpPr>
          <p:spPr>
            <a:xfrm>
              <a:off x="7482840" y="2459831"/>
              <a:ext cx="1519174"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所有节点间链路的总数</a:t>
              </a:r>
            </a:p>
          </p:txBody>
        </p:sp>
        <p:sp>
          <p:nvSpPr>
            <p:cNvPr id="47" name="Rectangle 47"/>
            <p:cNvSpPr/>
            <p:nvPr/>
          </p:nvSpPr>
          <p:spPr>
            <a:xfrm>
              <a:off x="6032182" y="2736532"/>
              <a:ext cx="5626418" cy="9525"/>
            </a:xfrm>
            <a:prstGeom prst="rect">
              <a:avLst/>
            </a:prstGeom>
            <a:solidFill>
              <a:srgbClr val="D9DFEA"/>
            </a:solidFill>
            <a:ln>
              <a:noFill/>
            </a:ln>
          </p:spPr>
        </p:sp>
        <p:sp>
          <p:nvSpPr>
            <p:cNvPr id="48" name="TextBox 48"/>
            <p:cNvSpPr txBox="1"/>
            <p:nvPr/>
          </p:nvSpPr>
          <p:spPr>
            <a:xfrm>
              <a:off x="6132195" y="2865596"/>
              <a:ext cx="765302"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链路冗余度</a:t>
              </a:r>
            </a:p>
          </p:txBody>
        </p:sp>
        <p:sp>
          <p:nvSpPr>
            <p:cNvPr id="49" name="TextBox 49"/>
            <p:cNvSpPr txBox="1"/>
            <p:nvPr/>
          </p:nvSpPr>
          <p:spPr>
            <a:xfrm>
              <a:off x="7482840" y="2865596"/>
              <a:ext cx="2273046"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连接两个特定节点的所有通路个数</a:t>
              </a:r>
            </a:p>
          </p:txBody>
        </p:sp>
        <p:sp>
          <p:nvSpPr>
            <p:cNvPr id="50" name="Rectangle 50"/>
            <p:cNvSpPr/>
            <p:nvPr/>
          </p:nvSpPr>
          <p:spPr>
            <a:xfrm>
              <a:off x="6032182" y="3142298"/>
              <a:ext cx="5626418" cy="9525"/>
            </a:xfrm>
            <a:prstGeom prst="rect">
              <a:avLst/>
            </a:prstGeom>
            <a:solidFill>
              <a:srgbClr val="D9DFEA"/>
            </a:solidFill>
            <a:ln>
              <a:noFill/>
            </a:ln>
          </p:spPr>
        </p:sp>
        <p:sp>
          <p:nvSpPr>
            <p:cNvPr id="51" name="Rectangle 51"/>
            <p:cNvSpPr/>
            <p:nvPr/>
          </p:nvSpPr>
          <p:spPr>
            <a:xfrm>
              <a:off x="6032182" y="3147060"/>
              <a:ext cx="5626418" cy="405765"/>
            </a:xfrm>
            <a:prstGeom prst="rect">
              <a:avLst/>
            </a:prstGeom>
            <a:solidFill>
              <a:srgbClr val="F4F6FB"/>
            </a:solidFill>
            <a:ln>
              <a:noFill/>
            </a:ln>
          </p:spPr>
        </p:sp>
        <p:sp>
          <p:nvSpPr>
            <p:cNvPr id="52" name="TextBox 52"/>
            <p:cNvSpPr txBox="1"/>
            <p:nvPr/>
          </p:nvSpPr>
          <p:spPr>
            <a:xfrm>
              <a:off x="6132195" y="3271361"/>
              <a:ext cx="463753"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节点度</a:t>
              </a:r>
            </a:p>
          </p:txBody>
        </p:sp>
        <p:sp>
          <p:nvSpPr>
            <p:cNvPr id="53" name="TextBox 53"/>
            <p:cNvSpPr txBox="1"/>
            <p:nvPr/>
          </p:nvSpPr>
          <p:spPr>
            <a:xfrm>
              <a:off x="7482840" y="3271361"/>
              <a:ext cx="3373699"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与节点相连的边数；有向图中度 = 入边数 + 出边数</a:t>
              </a:r>
            </a:p>
          </p:txBody>
        </p:sp>
        <p:sp>
          <p:nvSpPr>
            <p:cNvPr id="54" name="Rectangle 54"/>
            <p:cNvSpPr/>
            <p:nvPr/>
          </p:nvSpPr>
          <p:spPr>
            <a:xfrm>
              <a:off x="6032182" y="3548062"/>
              <a:ext cx="5626418" cy="9525"/>
            </a:xfrm>
            <a:prstGeom prst="rect">
              <a:avLst/>
            </a:prstGeom>
            <a:solidFill>
              <a:srgbClr val="D9DFEA"/>
            </a:solidFill>
            <a:ln>
              <a:noFill/>
            </a:ln>
          </p:spPr>
        </p:sp>
        <p:sp>
          <p:nvSpPr>
            <p:cNvPr id="55" name="TextBox 55"/>
            <p:cNvSpPr txBox="1"/>
            <p:nvPr/>
          </p:nvSpPr>
          <p:spPr>
            <a:xfrm>
              <a:off x="6132195" y="3677126"/>
              <a:ext cx="312979"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直径</a:t>
              </a:r>
            </a:p>
          </p:txBody>
        </p:sp>
        <p:sp>
          <p:nvSpPr>
            <p:cNvPr id="56" name="TextBox 56"/>
            <p:cNvSpPr txBox="1"/>
            <p:nvPr/>
          </p:nvSpPr>
          <p:spPr>
            <a:xfrm>
              <a:off x="7482840" y="3677126"/>
              <a:ext cx="3479241"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任意两节点之间距离的最大值（距离按最短路径算）</a:t>
              </a:r>
            </a:p>
          </p:txBody>
        </p:sp>
        <p:sp>
          <p:nvSpPr>
            <p:cNvPr id="57" name="Rectangle 57"/>
            <p:cNvSpPr/>
            <p:nvPr/>
          </p:nvSpPr>
          <p:spPr>
            <a:xfrm>
              <a:off x="6032182" y="3953828"/>
              <a:ext cx="5626418" cy="9525"/>
            </a:xfrm>
            <a:prstGeom prst="rect">
              <a:avLst/>
            </a:prstGeom>
            <a:solidFill>
              <a:srgbClr val="D9DFEA"/>
            </a:solidFill>
            <a:ln>
              <a:noFill/>
            </a:ln>
          </p:spPr>
        </p:sp>
        <p:sp>
          <p:nvSpPr>
            <p:cNvPr id="58" name="Rectangle 58"/>
            <p:cNvSpPr/>
            <p:nvPr/>
          </p:nvSpPr>
          <p:spPr>
            <a:xfrm>
              <a:off x="6032182" y="3958590"/>
              <a:ext cx="5626418" cy="405765"/>
            </a:xfrm>
            <a:prstGeom prst="rect">
              <a:avLst/>
            </a:prstGeom>
            <a:solidFill>
              <a:srgbClr val="F4F6FB"/>
            </a:solidFill>
            <a:ln>
              <a:noFill/>
            </a:ln>
          </p:spPr>
        </p:sp>
        <p:sp>
          <p:nvSpPr>
            <p:cNvPr id="59" name="TextBox 59"/>
            <p:cNvSpPr txBox="1"/>
            <p:nvPr/>
          </p:nvSpPr>
          <p:spPr>
            <a:xfrm>
              <a:off x="6132195" y="4082891"/>
              <a:ext cx="614528"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对剖宽度</a:t>
              </a:r>
            </a:p>
          </p:txBody>
        </p:sp>
        <p:sp>
          <p:nvSpPr>
            <p:cNvPr id="60" name="TextBox 60"/>
            <p:cNvSpPr txBox="1"/>
            <p:nvPr/>
          </p:nvSpPr>
          <p:spPr>
            <a:xfrm>
              <a:off x="7482840" y="4082891"/>
              <a:ext cx="3328467"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把网络分成节点数相等的两半，最少要去掉的边数</a:t>
              </a:r>
            </a:p>
          </p:txBody>
        </p:sp>
        <p:sp>
          <p:nvSpPr>
            <p:cNvPr id="61" name="Rectangle 61"/>
            <p:cNvSpPr/>
            <p:nvPr/>
          </p:nvSpPr>
          <p:spPr>
            <a:xfrm>
              <a:off x="6032182" y="4359592"/>
              <a:ext cx="5626418" cy="9525"/>
            </a:xfrm>
            <a:prstGeom prst="rect">
              <a:avLst/>
            </a:prstGeom>
            <a:solidFill>
              <a:srgbClr val="D9DFEA"/>
            </a:solidFill>
            <a:ln>
              <a:noFill/>
            </a:ln>
          </p:spPr>
        </p:sp>
        <p:sp>
          <p:nvSpPr>
            <p:cNvPr id="62" name="TextBox 62"/>
            <p:cNvSpPr txBox="1"/>
            <p:nvPr/>
          </p:nvSpPr>
          <p:spPr>
            <a:xfrm>
              <a:off x="6132195" y="4488656"/>
              <a:ext cx="463753"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对称性</a:t>
              </a:r>
            </a:p>
          </p:txBody>
        </p:sp>
        <p:sp>
          <p:nvSpPr>
            <p:cNvPr id="63" name="TextBox 63"/>
            <p:cNvSpPr txBox="1"/>
            <p:nvPr/>
          </p:nvSpPr>
          <p:spPr>
            <a:xfrm>
              <a:off x="7482840" y="4488656"/>
              <a:ext cx="2273046"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从任一节点看整个网络是否都一样</a:t>
              </a:r>
            </a:p>
          </p:txBody>
        </p:sp>
        <p:sp>
          <p:nvSpPr>
            <p:cNvPr id="64" name="Rectangle 64"/>
            <p:cNvSpPr/>
            <p:nvPr/>
          </p:nvSpPr>
          <p:spPr>
            <a:xfrm>
              <a:off x="6032182" y="1524000"/>
              <a:ext cx="5626418" cy="3246120"/>
            </a:xfrm>
            <a:prstGeom prst="rect">
              <a:avLst/>
            </a:prstGeom>
            <a:noFill/>
            <a:ln w="14288">
              <a:solidFill>
                <a:srgbClr val="D9DFEA"/>
              </a:solidFill>
            </a:ln>
          </p:spPr>
        </p:sp>
        <p:sp>
          <p:nvSpPr>
            <p:cNvPr id="65" name="Rectangle 65"/>
            <p:cNvSpPr/>
            <p:nvPr/>
          </p:nvSpPr>
          <p:spPr>
            <a:xfrm>
              <a:off x="7378065" y="1524000"/>
              <a:ext cx="9525" cy="3246120"/>
            </a:xfrm>
            <a:prstGeom prst="rect">
              <a:avLst/>
            </a:prstGeom>
            <a:solidFill>
              <a:srgbClr val="D9DFEA"/>
            </a:solidFill>
            <a:ln>
              <a:noFill/>
            </a:ln>
          </p:spPr>
        </p:sp>
      </p:grpSp>
      <p:grpSp>
        <p:nvGrpSpPr>
          <p:cNvPr id="73" name="c2-callout-2"/>
          <p:cNvGrpSpPr/>
          <p:nvPr/>
        </p:nvGrpSpPr>
        <p:grpSpPr>
          <a:xfrm>
            <a:off x="6032182" y="4945380"/>
            <a:ext cx="5626418" cy="1226820"/>
            <a:chOff x="6032182" y="4945380"/>
            <a:chExt cx="5626418" cy="1226820"/>
          </a:xfrm>
        </p:grpSpPr>
        <p:sp>
          <p:nvSpPr>
            <p:cNvPr id="67" name="Rectangle 67"/>
            <p:cNvSpPr/>
            <p:nvPr/>
          </p:nvSpPr>
          <p:spPr>
            <a:xfrm>
              <a:off x="6032182" y="4945380"/>
              <a:ext cx="5626418" cy="1226820"/>
            </a:xfrm>
            <a:prstGeom prst="roundRect">
              <a:avLst>
                <a:gd name="adj" fmla="val 9317"/>
              </a:avLst>
            </a:prstGeom>
            <a:solidFill>
              <a:srgbClr val="FDEEE7"/>
            </a:solidFill>
            <a:ln>
              <a:noFill/>
            </a:ln>
          </p:spPr>
        </p:sp>
        <p:grpSp>
          <p:nvGrpSpPr>
            <p:cNvPr id="71" name="Group 71"/>
            <p:cNvGrpSpPr/>
            <p:nvPr/>
          </p:nvGrpSpPr>
          <p:grpSpPr>
            <a:xfrm>
              <a:off x="6236970" y="5458778"/>
              <a:ext cx="200026" cy="200025"/>
              <a:chOff x="6236970" y="5458778"/>
              <a:chExt cx="200026" cy="200025"/>
            </a:xfrm>
          </p:grpSpPr>
          <p:sp>
            <p:nvSpPr>
              <p:cNvPr id="68" name="Freeform 68"/>
              <p:cNvSpPr/>
              <p:nvPr/>
            </p:nvSpPr>
            <p:spPr>
              <a:xfrm>
                <a:off x="6236970" y="5458778"/>
                <a:ext cx="200026" cy="100013"/>
              </a:xfrm>
              <a:custGeom>
                <a:avLst/>
                <a:gdLst/>
                <a:ahLst/>
                <a:cxnLst/>
                <a:rect l="l" t="t" r="r" b="b"/>
                <a:pathLst>
                  <a:path w="200026" h="100013">
                    <a:moveTo>
                      <a:pt x="0" y="100013"/>
                    </a:moveTo>
                    <a:lnTo>
                      <a:pt x="11113" y="100013"/>
                    </a:lnTo>
                    <a:moveTo>
                      <a:pt x="100013" y="0"/>
                    </a:moveTo>
                    <a:lnTo>
                      <a:pt x="100013" y="11113"/>
                    </a:lnTo>
                    <a:moveTo>
                      <a:pt x="188913" y="100013"/>
                    </a:moveTo>
                    <a:lnTo>
                      <a:pt x="200026" y="100013"/>
                    </a:lnTo>
                    <a:moveTo>
                      <a:pt x="28893" y="28893"/>
                    </a:moveTo>
                    <a:lnTo>
                      <a:pt x="36671" y="36671"/>
                    </a:lnTo>
                    <a:moveTo>
                      <a:pt x="171133" y="28893"/>
                    </a:moveTo>
                    <a:lnTo>
                      <a:pt x="163354" y="36671"/>
                    </a:lnTo>
                  </a:path>
                </a:pathLst>
              </a:custGeom>
              <a:noFill/>
              <a:ln w="22225">
                <a:solidFill>
                  <a:srgbClr val="C2410C"/>
                </a:solidFill>
              </a:ln>
            </p:spPr>
          </p:sp>
          <p:sp>
            <p:nvSpPr>
              <p:cNvPr id="69" name="Freeform 69"/>
              <p:cNvSpPr/>
              <p:nvPr/>
            </p:nvSpPr>
            <p:spPr>
              <a:xfrm>
                <a:off x="6276709" y="5503228"/>
                <a:ext cx="120548" cy="155575"/>
              </a:xfrm>
              <a:custGeom>
                <a:avLst/>
                <a:gdLst/>
                <a:ahLst/>
                <a:cxnLst/>
                <a:rect l="l" t="t" r="r" b="b"/>
                <a:pathLst>
                  <a:path w="120548" h="155575">
                    <a:moveTo>
                      <a:pt x="26937" y="100013"/>
                    </a:moveTo>
                    <a:cubicBezTo>
                      <a:pt x="7804" y="85663"/>
                      <a:pt x="0" y="60681"/>
                      <a:pt x="7563" y="37992"/>
                    </a:cubicBezTo>
                    <a:cubicBezTo>
                      <a:pt x="15126" y="15304"/>
                      <a:pt x="36358" y="0"/>
                      <a:pt x="60274" y="0"/>
                    </a:cubicBezTo>
                    <a:cubicBezTo>
                      <a:pt x="84190" y="0"/>
                      <a:pt x="105423" y="15304"/>
                      <a:pt x="112986" y="37992"/>
                    </a:cubicBezTo>
                    <a:cubicBezTo>
                      <a:pt x="120548" y="60681"/>
                      <a:pt x="112745" y="85663"/>
                      <a:pt x="93612" y="100013"/>
                    </a:cubicBezTo>
                    <a:cubicBezTo>
                      <a:pt x="84812" y="108723"/>
                      <a:pt x="80686" y="121103"/>
                      <a:pt x="82499" y="133350"/>
                    </a:cubicBezTo>
                    <a:cubicBezTo>
                      <a:pt x="82499" y="145625"/>
                      <a:pt x="72549" y="155575"/>
                      <a:pt x="60274" y="155575"/>
                    </a:cubicBezTo>
                    <a:cubicBezTo>
                      <a:pt x="48000" y="155575"/>
                      <a:pt x="38049" y="145625"/>
                      <a:pt x="38049" y="133350"/>
                    </a:cubicBezTo>
                    <a:cubicBezTo>
                      <a:pt x="39862" y="121103"/>
                      <a:pt x="35736" y="108723"/>
                      <a:pt x="26937" y="100013"/>
                    </a:cubicBezTo>
                  </a:path>
                </a:pathLst>
              </a:custGeom>
              <a:noFill/>
              <a:ln w="22225">
                <a:solidFill>
                  <a:srgbClr val="C2410C"/>
                </a:solidFill>
              </a:ln>
            </p:spPr>
          </p:sp>
          <p:sp>
            <p:nvSpPr>
              <p:cNvPr id="70" name="Freeform 70"/>
              <p:cNvSpPr/>
              <p:nvPr/>
            </p:nvSpPr>
            <p:spPr>
              <a:xfrm>
                <a:off x="6311424" y="5614353"/>
                <a:ext cx="51118" cy="9525"/>
              </a:xfrm>
              <a:custGeom>
                <a:avLst/>
                <a:gdLst/>
                <a:ahLst/>
                <a:cxnLst/>
                <a:rect l="l" t="t" r="r" b="b"/>
                <a:pathLst>
                  <a:path w="51118" h="9525">
                    <a:moveTo>
                      <a:pt x="0" y="0"/>
                    </a:moveTo>
                    <a:lnTo>
                      <a:pt x="51118" y="0"/>
                    </a:lnTo>
                  </a:path>
                </a:pathLst>
              </a:custGeom>
              <a:noFill/>
              <a:ln w="22225">
                <a:solidFill>
                  <a:srgbClr val="C2410C"/>
                </a:solidFill>
              </a:ln>
            </p:spPr>
          </p:sp>
        </p:grpSp>
        <p:sp>
          <p:nvSpPr>
            <p:cNvPr id="72" name="TextBox 72"/>
            <p:cNvSpPr txBox="1"/>
            <p:nvPr/>
          </p:nvSpPr>
          <p:spPr>
            <a:xfrm>
              <a:off x="6539674" y="5091112"/>
              <a:ext cx="4642866" cy="1009841"/>
            </a:xfrm>
            <a:prstGeom prst="rect">
              <a:avLst/>
            </a:prstGeom>
            <a:noFill/>
            <a:ln>
              <a:noFill/>
            </a:ln>
          </p:spPr>
          <p:txBody>
            <a:bodyPr wrap="none" lIns="0" tIns="0" rIns="0" bIns="0" anchor="t" anchorCtr="0">
              <a:spAutoFit/>
            </a:bodyPr>
            <a:lstStyle/>
            <a:p>
              <a:pPr algn="l">
                <a:lnSpc>
                  <a:spcPts val="1958"/>
                </a:lnSpc>
              </a:pPr>
              <a:r>
                <a:rPr lang="zh-CN" sz="1350" dirty="0">
                  <a:solidFill>
                    <a:srgbClr val="C2410C"/>
                  </a:solidFill>
                  <a:latin typeface="+mn-lt"/>
                  <a:ea typeface="+mn-ea"/>
                  <a:cs typeface="+mn-cs"/>
                </a:rPr>
                <a:t>静态网络的设计要求：度小且与规模无关，直径小且增长慢，</a:t>
              </a:r>
              <a:br/>
              <a:r>
                <a:rPr lang="zh-CN" sz="1350" dirty="0">
                  <a:solidFill>
                    <a:srgbClr val="C2410C"/>
                  </a:solidFill>
                  <a:latin typeface="+mn-lt"/>
                  <a:ea typeface="+mn-ea"/>
                  <a:cs typeface="+mn-cs"/>
                </a:rPr>
                <a:t>尽量对称，编址便于路由，路径冗余高，扩展代价低。度和直</a:t>
              </a:r>
              <a:br/>
              <a:r>
                <a:rPr lang="zh-CN" sz="1350" dirty="0">
                  <a:solidFill>
                    <a:srgbClr val="C2410C"/>
                  </a:solidFill>
                  <a:latin typeface="+mn-lt"/>
                  <a:ea typeface="+mn-ea"/>
                  <a:cs typeface="+mn-cs"/>
                </a:rPr>
                <a:t>径互相牵制，多加链路能缩短直径，每个节点的端口也跟着增</a:t>
              </a:r>
              <a:br/>
              <a:r>
                <a:rPr lang="zh-CN" sz="1350" dirty="0">
                  <a:solidFill>
                    <a:srgbClr val="C2410C"/>
                  </a:solidFill>
                  <a:latin typeface="+mn-lt"/>
                  <a:ea typeface="+mn-ea"/>
                  <a:cs typeface="+mn-cs"/>
                </a:rPr>
                <a:t>多。</a:t>
              </a:r>
            </a:p>
          </p:txBody>
        </p:sp>
      </p:grpSp>
      <p:grpSp>
        <p:nvGrpSpPr>
          <p:cNvPr id="76" name="footer"/>
          <p:cNvGrpSpPr/>
          <p:nvPr/>
        </p:nvGrpSpPr>
        <p:grpSpPr>
          <a:xfrm>
            <a:off x="528447" y="6581299"/>
            <a:ext cx="11135106" cy="190690"/>
            <a:chOff x="528447" y="6581299"/>
            <a:chExt cx="11135106" cy="190690"/>
          </a:xfrm>
        </p:grpSpPr>
        <p:sp>
          <p:nvSpPr>
            <p:cNvPr id="74" name="TextBox 74"/>
            <p:cNvSpPr txBox="1"/>
            <p:nvPr/>
          </p:nvSpPr>
          <p:spPr>
            <a:xfrm>
              <a:off x="528447" y="6581299"/>
              <a:ext cx="2120748"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并行与分布式计算 · 第7章 体系结构</a:t>
              </a:r>
            </a:p>
          </p:txBody>
        </p:sp>
        <p:sp>
          <p:nvSpPr>
            <p:cNvPr id="75" name="TextBox 75"/>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42</a:t>
              </a:r>
            </a:p>
          </p:txBody>
        </p:sp>
      </p:grpSp>
    </p:spTree>
  </p:cSld>
  <p:clrMapOvr>
    <a:masterClrMapping/>
  </p:clrMapOvr>
  <p:transition xmlns:p14="http://schemas.microsoft.com/office/powerpoint/2010/main" p14:dur="400">
    <p:fade/>
  </p:transition>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6548247" cy="909257"/>
            <a:chOff x="520446" y="342900"/>
            <a:chExt cx="6548247" cy="909257"/>
          </a:xfrm>
        </p:grpSpPr>
        <p:sp>
          <p:nvSpPr>
            <p:cNvPr id="2" name="Rectangle 2"/>
            <p:cNvSpPr/>
            <p:nvPr/>
          </p:nvSpPr>
          <p:spPr>
            <a:xfrm>
              <a:off x="533400" y="342900"/>
              <a:ext cx="1987868" cy="266700"/>
            </a:xfrm>
            <a:prstGeom prst="roundRect">
              <a:avLst>
                <a:gd name="adj" fmla="val 50000"/>
              </a:avLst>
            </a:prstGeom>
            <a:solidFill>
              <a:srgbClr val="E7EDF3"/>
            </a:solidFill>
            <a:ln>
              <a:noFill/>
            </a:ln>
          </p:spPr>
        </p:sp>
        <p:sp>
          <p:nvSpPr>
            <p:cNvPr id="3" name="TextBox 3"/>
            <p:cNvSpPr txBox="1"/>
            <p:nvPr/>
          </p:nvSpPr>
          <p:spPr>
            <a:xfrm>
              <a:off x="608957" y="407194"/>
              <a:ext cx="1835800"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第7章 体系结构 · 互连结构</a:t>
              </a:r>
            </a:p>
          </p:txBody>
        </p:sp>
        <p:sp>
          <p:nvSpPr>
            <p:cNvPr id="4" name="TextBox 4"/>
            <p:cNvSpPr txBox="1"/>
            <p:nvPr/>
          </p:nvSpPr>
          <p:spPr>
            <a:xfrm>
              <a:off x="520446" y="753428"/>
              <a:ext cx="6548247"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从线到环再到全连接：链路越多，直径越小</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8" name="c1-text-1"/>
          <p:cNvGrpSpPr/>
          <p:nvPr/>
        </p:nvGrpSpPr>
        <p:grpSpPr>
          <a:xfrm>
            <a:off x="526542" y="1545907"/>
            <a:ext cx="1899666" cy="264033"/>
            <a:chOff x="526542" y="1545907"/>
            <a:chExt cx="1899666" cy="264033"/>
          </a:xfrm>
        </p:grpSpPr>
        <p:sp>
          <p:nvSpPr>
            <p:cNvPr id="7" name="TextBox 7"/>
            <p:cNvSpPr txBox="1"/>
            <p:nvPr/>
          </p:nvSpPr>
          <p:spPr>
            <a:xfrm>
              <a:off x="526542" y="1545907"/>
              <a:ext cx="1899666"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一维线性阵列</a:t>
              </a:r>
              <a:r>
                <a:rPr lang="zh-CN" sz="1350" dirty="0">
                  <a:solidFill>
                    <a:srgbClr val="1F2937"/>
                  </a:solidFill>
                  <a:latin typeface="+mn-lt"/>
                  <a:ea typeface="+mn-ea"/>
                  <a:cs typeface="+mn-cs"/>
                </a:rPr>
                <a:t>（N = 8）</a:t>
              </a:r>
            </a:p>
          </p:txBody>
        </p:sp>
      </p:grpSp>
      <p:grpSp>
        <p:nvGrpSpPr>
          <p:cNvPr id="32" name="c1-graph-2"/>
          <p:cNvGrpSpPr/>
          <p:nvPr/>
        </p:nvGrpSpPr>
        <p:grpSpPr>
          <a:xfrm>
            <a:off x="674370" y="2090738"/>
            <a:ext cx="3223260" cy="224789"/>
            <a:chOff x="674370" y="2090738"/>
            <a:chExt cx="3223260" cy="224789"/>
          </a:xfrm>
        </p:grpSpPr>
        <p:sp>
          <p:nvSpPr>
            <p:cNvPr id="9" name="Freeform 9"/>
            <p:cNvSpPr/>
            <p:nvPr/>
          </p:nvSpPr>
          <p:spPr>
            <a:xfrm>
              <a:off x="893445" y="2195512"/>
              <a:ext cx="201930" cy="9525"/>
            </a:xfrm>
            <a:custGeom>
              <a:avLst/>
              <a:gdLst/>
              <a:ahLst/>
              <a:cxnLst/>
              <a:rect l="l" t="t" r="r" b="b"/>
              <a:pathLst>
                <a:path w="201930" h="9525">
                  <a:moveTo>
                    <a:pt x="0" y="0"/>
                  </a:moveTo>
                  <a:lnTo>
                    <a:pt x="201930" y="0"/>
                  </a:lnTo>
                </a:path>
              </a:pathLst>
            </a:custGeom>
            <a:noFill/>
            <a:ln w="17145">
              <a:solidFill>
                <a:srgbClr val="1F2937"/>
              </a:solidFill>
            </a:ln>
          </p:spPr>
        </p:sp>
        <p:sp>
          <p:nvSpPr>
            <p:cNvPr id="10" name="Freeform 10"/>
            <p:cNvSpPr/>
            <p:nvPr/>
          </p:nvSpPr>
          <p:spPr>
            <a:xfrm>
              <a:off x="1323975" y="2195512"/>
              <a:ext cx="202883" cy="9525"/>
            </a:xfrm>
            <a:custGeom>
              <a:avLst/>
              <a:gdLst/>
              <a:ahLst/>
              <a:cxnLst/>
              <a:rect l="l" t="t" r="r" b="b"/>
              <a:pathLst>
                <a:path w="202883" h="9525">
                  <a:moveTo>
                    <a:pt x="0" y="0"/>
                  </a:moveTo>
                  <a:lnTo>
                    <a:pt x="202883" y="0"/>
                  </a:lnTo>
                </a:path>
              </a:pathLst>
            </a:custGeom>
            <a:noFill/>
            <a:ln w="17145">
              <a:solidFill>
                <a:srgbClr val="1F2937"/>
              </a:solidFill>
            </a:ln>
          </p:spPr>
        </p:sp>
        <p:sp>
          <p:nvSpPr>
            <p:cNvPr id="11" name="Freeform 11"/>
            <p:cNvSpPr/>
            <p:nvPr/>
          </p:nvSpPr>
          <p:spPr>
            <a:xfrm>
              <a:off x="1755458" y="2195512"/>
              <a:ext cx="202882" cy="9525"/>
            </a:xfrm>
            <a:custGeom>
              <a:avLst/>
              <a:gdLst/>
              <a:ahLst/>
              <a:cxnLst/>
              <a:rect l="l" t="t" r="r" b="b"/>
              <a:pathLst>
                <a:path w="202882" h="9525">
                  <a:moveTo>
                    <a:pt x="0" y="0"/>
                  </a:moveTo>
                  <a:lnTo>
                    <a:pt x="202882" y="0"/>
                  </a:lnTo>
                </a:path>
              </a:pathLst>
            </a:custGeom>
            <a:noFill/>
            <a:ln w="17145">
              <a:solidFill>
                <a:srgbClr val="1F2937"/>
              </a:solidFill>
            </a:ln>
          </p:spPr>
        </p:sp>
        <p:sp>
          <p:nvSpPr>
            <p:cNvPr id="12" name="Freeform 12"/>
            <p:cNvSpPr/>
            <p:nvPr/>
          </p:nvSpPr>
          <p:spPr>
            <a:xfrm>
              <a:off x="2186940" y="2195512"/>
              <a:ext cx="198120" cy="9525"/>
            </a:xfrm>
            <a:custGeom>
              <a:avLst/>
              <a:gdLst/>
              <a:ahLst/>
              <a:cxnLst/>
              <a:rect l="l" t="t" r="r" b="b"/>
              <a:pathLst>
                <a:path w="198120" h="9525">
                  <a:moveTo>
                    <a:pt x="0" y="0"/>
                  </a:moveTo>
                  <a:lnTo>
                    <a:pt x="198120" y="0"/>
                  </a:lnTo>
                </a:path>
              </a:pathLst>
            </a:custGeom>
            <a:noFill/>
            <a:ln w="17145">
              <a:solidFill>
                <a:srgbClr val="1F2937"/>
              </a:solidFill>
            </a:ln>
          </p:spPr>
        </p:sp>
        <p:sp>
          <p:nvSpPr>
            <p:cNvPr id="13" name="Freeform 13"/>
            <p:cNvSpPr/>
            <p:nvPr/>
          </p:nvSpPr>
          <p:spPr>
            <a:xfrm>
              <a:off x="2613660" y="2195512"/>
              <a:ext cx="202883" cy="9525"/>
            </a:xfrm>
            <a:custGeom>
              <a:avLst/>
              <a:gdLst/>
              <a:ahLst/>
              <a:cxnLst/>
              <a:rect l="l" t="t" r="r" b="b"/>
              <a:pathLst>
                <a:path w="202883" h="9525">
                  <a:moveTo>
                    <a:pt x="0" y="0"/>
                  </a:moveTo>
                  <a:lnTo>
                    <a:pt x="202883" y="0"/>
                  </a:lnTo>
                </a:path>
              </a:pathLst>
            </a:custGeom>
            <a:noFill/>
            <a:ln w="17145">
              <a:solidFill>
                <a:srgbClr val="1F2937"/>
              </a:solidFill>
            </a:ln>
          </p:spPr>
        </p:sp>
        <p:sp>
          <p:nvSpPr>
            <p:cNvPr id="14" name="Freeform 14"/>
            <p:cNvSpPr/>
            <p:nvPr/>
          </p:nvSpPr>
          <p:spPr>
            <a:xfrm>
              <a:off x="3045142" y="2195512"/>
              <a:ext cx="202883" cy="9525"/>
            </a:xfrm>
            <a:custGeom>
              <a:avLst/>
              <a:gdLst/>
              <a:ahLst/>
              <a:cxnLst/>
              <a:rect l="l" t="t" r="r" b="b"/>
              <a:pathLst>
                <a:path w="202883" h="9525">
                  <a:moveTo>
                    <a:pt x="0" y="0"/>
                  </a:moveTo>
                  <a:lnTo>
                    <a:pt x="202883" y="0"/>
                  </a:lnTo>
                </a:path>
              </a:pathLst>
            </a:custGeom>
            <a:noFill/>
            <a:ln w="17145">
              <a:solidFill>
                <a:srgbClr val="1F2937"/>
              </a:solidFill>
            </a:ln>
          </p:spPr>
        </p:sp>
        <p:sp>
          <p:nvSpPr>
            <p:cNvPr id="15" name="Freeform 15"/>
            <p:cNvSpPr/>
            <p:nvPr/>
          </p:nvSpPr>
          <p:spPr>
            <a:xfrm>
              <a:off x="3476625" y="2195512"/>
              <a:ext cx="201930" cy="9525"/>
            </a:xfrm>
            <a:custGeom>
              <a:avLst/>
              <a:gdLst/>
              <a:ahLst/>
              <a:cxnLst/>
              <a:rect l="l" t="t" r="r" b="b"/>
              <a:pathLst>
                <a:path w="201930" h="9525">
                  <a:moveTo>
                    <a:pt x="0" y="0"/>
                  </a:moveTo>
                  <a:lnTo>
                    <a:pt x="201930" y="0"/>
                  </a:lnTo>
                </a:path>
              </a:pathLst>
            </a:custGeom>
            <a:noFill/>
            <a:ln w="17145">
              <a:solidFill>
                <a:srgbClr val="1F2937"/>
              </a:solidFill>
            </a:ln>
          </p:spPr>
        </p:sp>
        <p:sp>
          <p:nvSpPr>
            <p:cNvPr id="16" name="Ellipse 16"/>
            <p:cNvSpPr/>
            <p:nvPr/>
          </p:nvSpPr>
          <p:spPr>
            <a:xfrm>
              <a:off x="674370" y="2090738"/>
              <a:ext cx="209550" cy="209550"/>
            </a:xfrm>
            <a:prstGeom prst="ellipse">
              <a:avLst/>
            </a:prstGeom>
            <a:solidFill>
              <a:srgbClr val="FFFFFF"/>
            </a:solidFill>
            <a:ln w="17145">
              <a:solidFill>
                <a:srgbClr val="334E68"/>
              </a:solidFill>
            </a:ln>
          </p:spPr>
        </p:sp>
        <p:sp>
          <p:nvSpPr>
            <p:cNvPr id="17" name="Ellipse 17"/>
            <p:cNvSpPr/>
            <p:nvPr/>
          </p:nvSpPr>
          <p:spPr>
            <a:xfrm>
              <a:off x="1104900" y="2090738"/>
              <a:ext cx="209550" cy="209550"/>
            </a:xfrm>
            <a:prstGeom prst="ellipse">
              <a:avLst/>
            </a:prstGeom>
            <a:solidFill>
              <a:srgbClr val="FFFFFF"/>
            </a:solidFill>
            <a:ln w="17145">
              <a:solidFill>
                <a:srgbClr val="334E68"/>
              </a:solidFill>
            </a:ln>
          </p:spPr>
        </p:sp>
        <p:sp>
          <p:nvSpPr>
            <p:cNvPr id="18" name="Ellipse 18"/>
            <p:cNvSpPr/>
            <p:nvPr/>
          </p:nvSpPr>
          <p:spPr>
            <a:xfrm>
              <a:off x="1536382" y="2090738"/>
              <a:ext cx="209550" cy="209550"/>
            </a:xfrm>
            <a:prstGeom prst="ellipse">
              <a:avLst/>
            </a:prstGeom>
            <a:solidFill>
              <a:srgbClr val="FFFFFF"/>
            </a:solidFill>
            <a:ln w="17145">
              <a:solidFill>
                <a:srgbClr val="334E68"/>
              </a:solidFill>
            </a:ln>
          </p:spPr>
        </p:sp>
        <p:sp>
          <p:nvSpPr>
            <p:cNvPr id="19" name="Ellipse 19"/>
            <p:cNvSpPr/>
            <p:nvPr/>
          </p:nvSpPr>
          <p:spPr>
            <a:xfrm>
              <a:off x="1967865" y="2090738"/>
              <a:ext cx="209550" cy="209550"/>
            </a:xfrm>
            <a:prstGeom prst="ellipse">
              <a:avLst/>
            </a:prstGeom>
            <a:solidFill>
              <a:srgbClr val="FFFFFF"/>
            </a:solidFill>
            <a:ln w="17145">
              <a:solidFill>
                <a:srgbClr val="334E68"/>
              </a:solidFill>
            </a:ln>
          </p:spPr>
        </p:sp>
        <p:sp>
          <p:nvSpPr>
            <p:cNvPr id="20" name="Ellipse 20"/>
            <p:cNvSpPr/>
            <p:nvPr/>
          </p:nvSpPr>
          <p:spPr>
            <a:xfrm>
              <a:off x="2394585" y="2090738"/>
              <a:ext cx="209550" cy="209550"/>
            </a:xfrm>
            <a:prstGeom prst="ellipse">
              <a:avLst/>
            </a:prstGeom>
            <a:solidFill>
              <a:srgbClr val="FFFFFF"/>
            </a:solidFill>
            <a:ln w="17145">
              <a:solidFill>
                <a:srgbClr val="334E68"/>
              </a:solidFill>
            </a:ln>
          </p:spPr>
        </p:sp>
        <p:sp>
          <p:nvSpPr>
            <p:cNvPr id="21" name="Ellipse 21"/>
            <p:cNvSpPr/>
            <p:nvPr/>
          </p:nvSpPr>
          <p:spPr>
            <a:xfrm>
              <a:off x="2826068" y="2090738"/>
              <a:ext cx="209550" cy="209550"/>
            </a:xfrm>
            <a:prstGeom prst="ellipse">
              <a:avLst/>
            </a:prstGeom>
            <a:solidFill>
              <a:srgbClr val="FFFFFF"/>
            </a:solidFill>
            <a:ln w="17145">
              <a:solidFill>
                <a:srgbClr val="334E68"/>
              </a:solidFill>
            </a:ln>
          </p:spPr>
        </p:sp>
        <p:sp>
          <p:nvSpPr>
            <p:cNvPr id="22" name="Ellipse 22"/>
            <p:cNvSpPr/>
            <p:nvPr/>
          </p:nvSpPr>
          <p:spPr>
            <a:xfrm>
              <a:off x="3257550" y="2090738"/>
              <a:ext cx="209550" cy="209550"/>
            </a:xfrm>
            <a:prstGeom prst="ellipse">
              <a:avLst/>
            </a:prstGeom>
            <a:solidFill>
              <a:srgbClr val="FFFFFF"/>
            </a:solidFill>
            <a:ln w="17145">
              <a:solidFill>
                <a:srgbClr val="334E68"/>
              </a:solidFill>
            </a:ln>
          </p:spPr>
        </p:sp>
        <p:sp>
          <p:nvSpPr>
            <p:cNvPr id="23" name="Ellipse 23"/>
            <p:cNvSpPr/>
            <p:nvPr/>
          </p:nvSpPr>
          <p:spPr>
            <a:xfrm>
              <a:off x="3688080" y="2090738"/>
              <a:ext cx="209550" cy="209550"/>
            </a:xfrm>
            <a:prstGeom prst="ellipse">
              <a:avLst/>
            </a:prstGeom>
            <a:solidFill>
              <a:srgbClr val="FFFFFF"/>
            </a:solidFill>
            <a:ln w="17145">
              <a:solidFill>
                <a:srgbClr val="334E68"/>
              </a:solidFill>
            </a:ln>
          </p:spPr>
        </p:sp>
        <p:sp>
          <p:nvSpPr>
            <p:cNvPr id="24" name="TextBox 24"/>
            <p:cNvSpPr txBox="1"/>
            <p:nvPr/>
          </p:nvSpPr>
          <p:spPr>
            <a:xfrm>
              <a:off x="739398" y="2139315"/>
              <a:ext cx="79494" cy="176212"/>
            </a:xfrm>
            <a:prstGeom prst="rect">
              <a:avLst/>
            </a:prstGeom>
            <a:noFill/>
            <a:ln>
              <a:noFill/>
            </a:ln>
          </p:spPr>
          <p:txBody>
            <a:bodyPr wrap="none" lIns="0" tIns="0" rIns="0" bIns="0" anchor="t" anchorCtr="0">
              <a:spAutoFit/>
            </a:bodyPr>
            <a:lstStyle/>
            <a:p>
              <a:pPr algn="ctr"/>
              <a:r>
                <a:rPr lang="zh-CN" sz="900" b="1" dirty="0">
                  <a:solidFill>
                    <a:srgbClr val="1F2937"/>
                  </a:solidFill>
                  <a:latin typeface="+mn-lt"/>
                  <a:ea typeface="+mn-ea"/>
                  <a:cs typeface="+mn-cs"/>
                </a:rPr>
                <a:t>0</a:t>
              </a:r>
            </a:p>
          </p:txBody>
        </p:sp>
        <p:sp>
          <p:nvSpPr>
            <p:cNvPr id="25" name="TextBox 25"/>
            <p:cNvSpPr txBox="1"/>
            <p:nvPr/>
          </p:nvSpPr>
          <p:spPr>
            <a:xfrm>
              <a:off x="1169928" y="2139315"/>
              <a:ext cx="79494" cy="176212"/>
            </a:xfrm>
            <a:prstGeom prst="rect">
              <a:avLst/>
            </a:prstGeom>
            <a:noFill/>
            <a:ln>
              <a:noFill/>
            </a:ln>
          </p:spPr>
          <p:txBody>
            <a:bodyPr wrap="none" lIns="0" tIns="0" rIns="0" bIns="0" anchor="t" anchorCtr="0">
              <a:spAutoFit/>
            </a:bodyPr>
            <a:lstStyle/>
            <a:p>
              <a:pPr algn="ctr"/>
              <a:r>
                <a:rPr lang="zh-CN" sz="900" b="1" dirty="0">
                  <a:solidFill>
                    <a:srgbClr val="1F2937"/>
                  </a:solidFill>
                  <a:latin typeface="+mn-lt"/>
                  <a:ea typeface="+mn-ea"/>
                  <a:cs typeface="+mn-cs"/>
                </a:rPr>
                <a:t>1</a:t>
              </a:r>
            </a:p>
          </p:txBody>
        </p:sp>
        <p:sp>
          <p:nvSpPr>
            <p:cNvPr id="26" name="TextBox 26"/>
            <p:cNvSpPr txBox="1"/>
            <p:nvPr/>
          </p:nvSpPr>
          <p:spPr>
            <a:xfrm>
              <a:off x="1601411" y="2139315"/>
              <a:ext cx="79494" cy="176212"/>
            </a:xfrm>
            <a:prstGeom prst="rect">
              <a:avLst/>
            </a:prstGeom>
            <a:noFill/>
            <a:ln>
              <a:noFill/>
            </a:ln>
          </p:spPr>
          <p:txBody>
            <a:bodyPr wrap="none" lIns="0" tIns="0" rIns="0" bIns="0" anchor="t" anchorCtr="0">
              <a:spAutoFit/>
            </a:bodyPr>
            <a:lstStyle/>
            <a:p>
              <a:pPr algn="ctr"/>
              <a:r>
                <a:rPr lang="zh-CN" sz="900" b="1" dirty="0">
                  <a:solidFill>
                    <a:srgbClr val="1F2937"/>
                  </a:solidFill>
                  <a:latin typeface="+mn-lt"/>
                  <a:ea typeface="+mn-ea"/>
                  <a:cs typeface="+mn-cs"/>
                </a:rPr>
                <a:t>2</a:t>
              </a:r>
            </a:p>
          </p:txBody>
        </p:sp>
        <p:sp>
          <p:nvSpPr>
            <p:cNvPr id="27" name="TextBox 27"/>
            <p:cNvSpPr txBox="1"/>
            <p:nvPr/>
          </p:nvSpPr>
          <p:spPr>
            <a:xfrm>
              <a:off x="2032893" y="2139315"/>
              <a:ext cx="79494" cy="176212"/>
            </a:xfrm>
            <a:prstGeom prst="rect">
              <a:avLst/>
            </a:prstGeom>
            <a:noFill/>
            <a:ln>
              <a:noFill/>
            </a:ln>
          </p:spPr>
          <p:txBody>
            <a:bodyPr wrap="none" lIns="0" tIns="0" rIns="0" bIns="0" anchor="t" anchorCtr="0">
              <a:spAutoFit/>
            </a:bodyPr>
            <a:lstStyle/>
            <a:p>
              <a:pPr algn="ctr"/>
              <a:r>
                <a:rPr lang="zh-CN" sz="900" b="1" dirty="0">
                  <a:solidFill>
                    <a:srgbClr val="1F2937"/>
                  </a:solidFill>
                  <a:latin typeface="+mn-lt"/>
                  <a:ea typeface="+mn-ea"/>
                  <a:cs typeface="+mn-cs"/>
                </a:rPr>
                <a:t>3</a:t>
              </a:r>
            </a:p>
          </p:txBody>
        </p:sp>
        <p:sp>
          <p:nvSpPr>
            <p:cNvPr id="28" name="TextBox 28"/>
            <p:cNvSpPr txBox="1"/>
            <p:nvPr/>
          </p:nvSpPr>
          <p:spPr>
            <a:xfrm>
              <a:off x="2459613" y="2139315"/>
              <a:ext cx="79494" cy="176212"/>
            </a:xfrm>
            <a:prstGeom prst="rect">
              <a:avLst/>
            </a:prstGeom>
            <a:noFill/>
            <a:ln>
              <a:noFill/>
            </a:ln>
          </p:spPr>
          <p:txBody>
            <a:bodyPr wrap="none" lIns="0" tIns="0" rIns="0" bIns="0" anchor="t" anchorCtr="0">
              <a:spAutoFit/>
            </a:bodyPr>
            <a:lstStyle/>
            <a:p>
              <a:pPr algn="ctr"/>
              <a:r>
                <a:rPr lang="zh-CN" sz="900" b="1" dirty="0">
                  <a:solidFill>
                    <a:srgbClr val="1F2937"/>
                  </a:solidFill>
                  <a:latin typeface="+mn-lt"/>
                  <a:ea typeface="+mn-ea"/>
                  <a:cs typeface="+mn-cs"/>
                </a:rPr>
                <a:t>4</a:t>
              </a:r>
            </a:p>
          </p:txBody>
        </p:sp>
        <p:sp>
          <p:nvSpPr>
            <p:cNvPr id="29" name="TextBox 29"/>
            <p:cNvSpPr txBox="1"/>
            <p:nvPr/>
          </p:nvSpPr>
          <p:spPr>
            <a:xfrm>
              <a:off x="2891096" y="2139315"/>
              <a:ext cx="79494" cy="176212"/>
            </a:xfrm>
            <a:prstGeom prst="rect">
              <a:avLst/>
            </a:prstGeom>
            <a:noFill/>
            <a:ln>
              <a:noFill/>
            </a:ln>
          </p:spPr>
          <p:txBody>
            <a:bodyPr wrap="none" lIns="0" tIns="0" rIns="0" bIns="0" anchor="t" anchorCtr="0">
              <a:spAutoFit/>
            </a:bodyPr>
            <a:lstStyle/>
            <a:p>
              <a:pPr algn="ctr"/>
              <a:r>
                <a:rPr lang="zh-CN" sz="900" b="1" dirty="0">
                  <a:solidFill>
                    <a:srgbClr val="1F2937"/>
                  </a:solidFill>
                  <a:latin typeface="+mn-lt"/>
                  <a:ea typeface="+mn-ea"/>
                  <a:cs typeface="+mn-cs"/>
                </a:rPr>
                <a:t>5</a:t>
              </a:r>
            </a:p>
          </p:txBody>
        </p:sp>
        <p:sp>
          <p:nvSpPr>
            <p:cNvPr id="30" name="TextBox 30"/>
            <p:cNvSpPr txBox="1"/>
            <p:nvPr/>
          </p:nvSpPr>
          <p:spPr>
            <a:xfrm>
              <a:off x="3322578" y="2139315"/>
              <a:ext cx="79494" cy="176212"/>
            </a:xfrm>
            <a:prstGeom prst="rect">
              <a:avLst/>
            </a:prstGeom>
            <a:noFill/>
            <a:ln>
              <a:noFill/>
            </a:ln>
          </p:spPr>
          <p:txBody>
            <a:bodyPr wrap="none" lIns="0" tIns="0" rIns="0" bIns="0" anchor="t" anchorCtr="0">
              <a:spAutoFit/>
            </a:bodyPr>
            <a:lstStyle/>
            <a:p>
              <a:pPr algn="ctr"/>
              <a:r>
                <a:rPr lang="zh-CN" sz="900" b="1" dirty="0">
                  <a:solidFill>
                    <a:srgbClr val="1F2937"/>
                  </a:solidFill>
                  <a:latin typeface="+mn-lt"/>
                  <a:ea typeface="+mn-ea"/>
                  <a:cs typeface="+mn-cs"/>
                </a:rPr>
                <a:t>6</a:t>
              </a:r>
            </a:p>
          </p:txBody>
        </p:sp>
        <p:sp>
          <p:nvSpPr>
            <p:cNvPr id="31" name="TextBox 31"/>
            <p:cNvSpPr txBox="1"/>
            <p:nvPr/>
          </p:nvSpPr>
          <p:spPr>
            <a:xfrm>
              <a:off x="3753108" y="2139315"/>
              <a:ext cx="79494" cy="176212"/>
            </a:xfrm>
            <a:prstGeom prst="rect">
              <a:avLst/>
            </a:prstGeom>
            <a:noFill/>
            <a:ln>
              <a:noFill/>
            </a:ln>
          </p:spPr>
          <p:txBody>
            <a:bodyPr wrap="none" lIns="0" tIns="0" rIns="0" bIns="0" anchor="t" anchorCtr="0">
              <a:spAutoFit/>
            </a:bodyPr>
            <a:lstStyle/>
            <a:p>
              <a:pPr algn="ctr"/>
              <a:r>
                <a:rPr lang="zh-CN" sz="900" b="1" dirty="0">
                  <a:solidFill>
                    <a:srgbClr val="1F2937"/>
                  </a:solidFill>
                  <a:latin typeface="+mn-lt"/>
                  <a:ea typeface="+mn-ea"/>
                  <a:cs typeface="+mn-cs"/>
                </a:rPr>
                <a:t>7</a:t>
              </a:r>
            </a:p>
          </p:txBody>
        </p:sp>
      </p:grpSp>
      <p:grpSp>
        <p:nvGrpSpPr>
          <p:cNvPr id="34" name="c1-text-3"/>
          <p:cNvGrpSpPr/>
          <p:nvPr/>
        </p:nvGrpSpPr>
        <p:grpSpPr>
          <a:xfrm>
            <a:off x="527685" y="2652236"/>
            <a:ext cx="3261614" cy="441008"/>
            <a:chOff x="527685" y="2652236"/>
            <a:chExt cx="3261614" cy="441008"/>
          </a:xfrm>
        </p:grpSpPr>
        <p:sp>
          <p:nvSpPr>
            <p:cNvPr id="33" name="TextBox 33"/>
            <p:cNvSpPr txBox="1"/>
            <p:nvPr/>
          </p:nvSpPr>
          <p:spPr>
            <a:xfrm>
              <a:off x="527685" y="2652236"/>
              <a:ext cx="3261614" cy="441008"/>
            </a:xfrm>
            <a:prstGeom prst="rect">
              <a:avLst/>
            </a:prstGeom>
            <a:noFill/>
            <a:ln>
              <a:noFill/>
            </a:ln>
          </p:spPr>
          <p:txBody>
            <a:bodyPr wrap="none" lIns="0" tIns="0" rIns="0" bIns="0" anchor="t" anchorCtr="0">
              <a:spAutoFit/>
            </a:bodyPr>
            <a:lstStyle/>
            <a:p>
              <a:pPr algn="l">
                <a:lnSpc>
                  <a:spcPts val="1740"/>
                </a:lnSpc>
              </a:pPr>
              <a:r>
                <a:rPr lang="zh-CN" sz="1120" dirty="0">
                  <a:solidFill>
                    <a:srgbClr val="1F2937"/>
                  </a:solidFill>
                  <a:latin typeface="+mn-lt"/>
                  <a:ea typeface="+mn-ea"/>
                  <a:cs typeface="+mn-cs"/>
                </a:rPr>
                <a:t>每个节点只连左右近邻（二近邻连接）。度 2（两端</a:t>
              </a:r>
              <a:br/>
              <a:r>
                <a:rPr lang="zh-CN" sz="1120" dirty="0">
                  <a:solidFill>
                    <a:srgbClr val="1F2937"/>
                  </a:solidFill>
                  <a:latin typeface="+mn-lt"/>
                  <a:ea typeface="+mn-ea"/>
                  <a:cs typeface="+mn-cs"/>
                </a:rPr>
                <a:t>为 1），直径 N − 1，对剖宽度 1。</a:t>
              </a:r>
            </a:p>
          </p:txBody>
        </p:sp>
      </p:grpSp>
      <p:grpSp>
        <p:nvGrpSpPr>
          <p:cNvPr id="36" name="c1-text-4"/>
          <p:cNvGrpSpPr/>
          <p:nvPr/>
        </p:nvGrpSpPr>
        <p:grpSpPr>
          <a:xfrm>
            <a:off x="526542" y="3241358"/>
            <a:ext cx="990981" cy="264033"/>
            <a:chOff x="526542" y="3241358"/>
            <a:chExt cx="990981" cy="264033"/>
          </a:xfrm>
        </p:grpSpPr>
        <p:sp>
          <p:nvSpPr>
            <p:cNvPr id="35" name="TextBox 35"/>
            <p:cNvSpPr txBox="1"/>
            <p:nvPr/>
          </p:nvSpPr>
          <p:spPr>
            <a:xfrm>
              <a:off x="526542" y="3241358"/>
              <a:ext cx="990981"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环</a:t>
              </a:r>
              <a:r>
                <a:rPr lang="zh-CN" sz="1350" dirty="0">
                  <a:solidFill>
                    <a:srgbClr val="1F2937"/>
                  </a:solidFill>
                  <a:latin typeface="+mn-lt"/>
                  <a:ea typeface="+mn-ea"/>
                  <a:cs typeface="+mn-cs"/>
                </a:rPr>
                <a:t>（N = 8）</a:t>
              </a:r>
            </a:p>
          </p:txBody>
        </p:sp>
      </p:grpSp>
      <p:grpSp>
        <p:nvGrpSpPr>
          <p:cNvPr id="61" name="c1-graph-5"/>
          <p:cNvGrpSpPr/>
          <p:nvPr/>
        </p:nvGrpSpPr>
        <p:grpSpPr>
          <a:xfrm>
            <a:off x="1532572" y="3659505"/>
            <a:ext cx="1506856" cy="1365885"/>
            <a:chOff x="1532572" y="3659505"/>
            <a:chExt cx="1506856" cy="1365885"/>
          </a:xfrm>
        </p:grpSpPr>
        <p:sp>
          <p:nvSpPr>
            <p:cNvPr id="37" name="Freeform 37"/>
            <p:cNvSpPr/>
            <p:nvPr/>
          </p:nvSpPr>
          <p:spPr>
            <a:xfrm>
              <a:off x="2393632" y="3803332"/>
              <a:ext cx="243840" cy="89535"/>
            </a:xfrm>
            <a:custGeom>
              <a:avLst/>
              <a:gdLst/>
              <a:ahLst/>
              <a:cxnLst/>
              <a:rect l="l" t="t" r="r" b="b"/>
              <a:pathLst>
                <a:path w="243840" h="89535">
                  <a:moveTo>
                    <a:pt x="0" y="0"/>
                  </a:moveTo>
                  <a:lnTo>
                    <a:pt x="243840" y="89535"/>
                  </a:lnTo>
                </a:path>
              </a:pathLst>
            </a:custGeom>
            <a:noFill/>
            <a:ln w="17145">
              <a:solidFill>
                <a:srgbClr val="1F2937"/>
              </a:solidFill>
            </a:ln>
          </p:spPr>
        </p:sp>
        <p:sp>
          <p:nvSpPr>
            <p:cNvPr id="38" name="Freeform 38"/>
            <p:cNvSpPr/>
            <p:nvPr/>
          </p:nvSpPr>
          <p:spPr>
            <a:xfrm>
              <a:off x="2793682" y="4034790"/>
              <a:ext cx="92392" cy="196215"/>
            </a:xfrm>
            <a:custGeom>
              <a:avLst/>
              <a:gdLst/>
              <a:ahLst/>
              <a:cxnLst/>
              <a:rect l="l" t="t" r="r" b="b"/>
              <a:pathLst>
                <a:path w="92392" h="196215">
                  <a:moveTo>
                    <a:pt x="0" y="0"/>
                  </a:moveTo>
                  <a:lnTo>
                    <a:pt x="92392" y="196215"/>
                  </a:lnTo>
                </a:path>
              </a:pathLst>
            </a:custGeom>
            <a:noFill/>
            <a:ln w="17145">
              <a:solidFill>
                <a:srgbClr val="1F2937"/>
              </a:solidFill>
            </a:ln>
          </p:spPr>
        </p:sp>
        <p:sp>
          <p:nvSpPr>
            <p:cNvPr id="39" name="Freeform 39"/>
            <p:cNvSpPr/>
            <p:nvPr/>
          </p:nvSpPr>
          <p:spPr>
            <a:xfrm>
              <a:off x="2793682" y="4438650"/>
              <a:ext cx="92392" cy="196215"/>
            </a:xfrm>
            <a:custGeom>
              <a:avLst/>
              <a:gdLst/>
              <a:ahLst/>
              <a:cxnLst/>
              <a:rect l="l" t="t" r="r" b="b"/>
              <a:pathLst>
                <a:path w="92392" h="196215">
                  <a:moveTo>
                    <a:pt x="92392" y="0"/>
                  </a:moveTo>
                  <a:lnTo>
                    <a:pt x="0" y="196215"/>
                  </a:lnTo>
                </a:path>
              </a:pathLst>
            </a:custGeom>
            <a:noFill/>
            <a:ln w="17145">
              <a:solidFill>
                <a:srgbClr val="1F2937"/>
              </a:solidFill>
            </a:ln>
          </p:spPr>
        </p:sp>
        <p:sp>
          <p:nvSpPr>
            <p:cNvPr id="40" name="Freeform 40"/>
            <p:cNvSpPr/>
            <p:nvPr/>
          </p:nvSpPr>
          <p:spPr>
            <a:xfrm>
              <a:off x="2393632" y="4776788"/>
              <a:ext cx="243840" cy="88583"/>
            </a:xfrm>
            <a:custGeom>
              <a:avLst/>
              <a:gdLst/>
              <a:ahLst/>
              <a:cxnLst/>
              <a:rect l="l" t="t" r="r" b="b"/>
              <a:pathLst>
                <a:path w="243840" h="88583">
                  <a:moveTo>
                    <a:pt x="243840" y="0"/>
                  </a:moveTo>
                  <a:lnTo>
                    <a:pt x="0" y="88583"/>
                  </a:lnTo>
                </a:path>
              </a:pathLst>
            </a:custGeom>
            <a:noFill/>
            <a:ln w="17145">
              <a:solidFill>
                <a:srgbClr val="1F2937"/>
              </a:solidFill>
            </a:ln>
          </p:spPr>
        </p:sp>
        <p:sp>
          <p:nvSpPr>
            <p:cNvPr id="41" name="Freeform 41"/>
            <p:cNvSpPr/>
            <p:nvPr/>
          </p:nvSpPr>
          <p:spPr>
            <a:xfrm>
              <a:off x="1934528" y="4776788"/>
              <a:ext cx="243840" cy="88583"/>
            </a:xfrm>
            <a:custGeom>
              <a:avLst/>
              <a:gdLst/>
              <a:ahLst/>
              <a:cxnLst/>
              <a:rect l="l" t="t" r="r" b="b"/>
              <a:pathLst>
                <a:path w="243840" h="88583">
                  <a:moveTo>
                    <a:pt x="243840" y="88583"/>
                  </a:moveTo>
                  <a:lnTo>
                    <a:pt x="0" y="0"/>
                  </a:lnTo>
                </a:path>
              </a:pathLst>
            </a:custGeom>
            <a:noFill/>
            <a:ln w="17145">
              <a:solidFill>
                <a:srgbClr val="1F2937"/>
              </a:solidFill>
            </a:ln>
          </p:spPr>
        </p:sp>
        <p:sp>
          <p:nvSpPr>
            <p:cNvPr id="42" name="Freeform 42"/>
            <p:cNvSpPr/>
            <p:nvPr/>
          </p:nvSpPr>
          <p:spPr>
            <a:xfrm>
              <a:off x="1685925" y="4438650"/>
              <a:ext cx="92392" cy="196215"/>
            </a:xfrm>
            <a:custGeom>
              <a:avLst/>
              <a:gdLst/>
              <a:ahLst/>
              <a:cxnLst/>
              <a:rect l="l" t="t" r="r" b="b"/>
              <a:pathLst>
                <a:path w="92392" h="196215">
                  <a:moveTo>
                    <a:pt x="92392" y="196215"/>
                  </a:moveTo>
                  <a:lnTo>
                    <a:pt x="0" y="0"/>
                  </a:lnTo>
                </a:path>
              </a:pathLst>
            </a:custGeom>
            <a:noFill/>
            <a:ln w="17145">
              <a:solidFill>
                <a:srgbClr val="1F2937"/>
              </a:solidFill>
            </a:ln>
          </p:spPr>
        </p:sp>
        <p:sp>
          <p:nvSpPr>
            <p:cNvPr id="43" name="Freeform 43"/>
            <p:cNvSpPr/>
            <p:nvPr/>
          </p:nvSpPr>
          <p:spPr>
            <a:xfrm>
              <a:off x="1685925" y="4034790"/>
              <a:ext cx="92392" cy="196215"/>
            </a:xfrm>
            <a:custGeom>
              <a:avLst/>
              <a:gdLst/>
              <a:ahLst/>
              <a:cxnLst/>
              <a:rect l="l" t="t" r="r" b="b"/>
              <a:pathLst>
                <a:path w="92392" h="196215">
                  <a:moveTo>
                    <a:pt x="0" y="196215"/>
                  </a:moveTo>
                  <a:lnTo>
                    <a:pt x="92392" y="0"/>
                  </a:lnTo>
                </a:path>
              </a:pathLst>
            </a:custGeom>
            <a:noFill/>
            <a:ln w="17145">
              <a:solidFill>
                <a:srgbClr val="1F2937"/>
              </a:solidFill>
            </a:ln>
          </p:spPr>
        </p:sp>
        <p:sp>
          <p:nvSpPr>
            <p:cNvPr id="44" name="Freeform 44"/>
            <p:cNvSpPr/>
            <p:nvPr/>
          </p:nvSpPr>
          <p:spPr>
            <a:xfrm>
              <a:off x="1934528" y="3803332"/>
              <a:ext cx="243840" cy="89535"/>
            </a:xfrm>
            <a:custGeom>
              <a:avLst/>
              <a:gdLst/>
              <a:ahLst/>
              <a:cxnLst/>
              <a:rect l="l" t="t" r="r" b="b"/>
              <a:pathLst>
                <a:path w="243840" h="89535">
                  <a:moveTo>
                    <a:pt x="0" y="89535"/>
                  </a:moveTo>
                  <a:lnTo>
                    <a:pt x="243840" y="0"/>
                  </a:lnTo>
                </a:path>
              </a:pathLst>
            </a:custGeom>
            <a:noFill/>
            <a:ln w="17145">
              <a:solidFill>
                <a:srgbClr val="1F2937"/>
              </a:solidFill>
            </a:ln>
          </p:spPr>
        </p:sp>
        <p:sp>
          <p:nvSpPr>
            <p:cNvPr id="45" name="Ellipse 45"/>
            <p:cNvSpPr/>
            <p:nvPr/>
          </p:nvSpPr>
          <p:spPr>
            <a:xfrm>
              <a:off x="2181225" y="3659505"/>
              <a:ext cx="209550" cy="209550"/>
            </a:xfrm>
            <a:prstGeom prst="ellipse">
              <a:avLst/>
            </a:prstGeom>
            <a:solidFill>
              <a:srgbClr val="FFFFFF"/>
            </a:solidFill>
            <a:ln w="17145">
              <a:solidFill>
                <a:srgbClr val="334E68"/>
              </a:solidFill>
            </a:ln>
          </p:spPr>
        </p:sp>
        <p:sp>
          <p:nvSpPr>
            <p:cNvPr id="46" name="Ellipse 46"/>
            <p:cNvSpPr/>
            <p:nvPr/>
          </p:nvSpPr>
          <p:spPr>
            <a:xfrm>
              <a:off x="2640330" y="3827145"/>
              <a:ext cx="209550" cy="209550"/>
            </a:xfrm>
            <a:prstGeom prst="ellipse">
              <a:avLst/>
            </a:prstGeom>
            <a:solidFill>
              <a:srgbClr val="FFFFFF"/>
            </a:solidFill>
            <a:ln w="17145">
              <a:solidFill>
                <a:srgbClr val="334E68"/>
              </a:solidFill>
            </a:ln>
          </p:spPr>
        </p:sp>
        <p:sp>
          <p:nvSpPr>
            <p:cNvPr id="47" name="Ellipse 47"/>
            <p:cNvSpPr/>
            <p:nvPr/>
          </p:nvSpPr>
          <p:spPr>
            <a:xfrm>
              <a:off x="2829878" y="4230052"/>
              <a:ext cx="209550" cy="209550"/>
            </a:xfrm>
            <a:prstGeom prst="ellipse">
              <a:avLst/>
            </a:prstGeom>
            <a:solidFill>
              <a:srgbClr val="FFFFFF"/>
            </a:solidFill>
            <a:ln w="17145">
              <a:solidFill>
                <a:srgbClr val="334E68"/>
              </a:solidFill>
            </a:ln>
          </p:spPr>
        </p:sp>
        <p:sp>
          <p:nvSpPr>
            <p:cNvPr id="48" name="Ellipse 48"/>
            <p:cNvSpPr/>
            <p:nvPr/>
          </p:nvSpPr>
          <p:spPr>
            <a:xfrm>
              <a:off x="2640330" y="4632960"/>
              <a:ext cx="209550" cy="209550"/>
            </a:xfrm>
            <a:prstGeom prst="ellipse">
              <a:avLst/>
            </a:prstGeom>
            <a:solidFill>
              <a:srgbClr val="FFFFFF"/>
            </a:solidFill>
            <a:ln w="17145">
              <a:solidFill>
                <a:srgbClr val="334E68"/>
              </a:solidFill>
            </a:ln>
          </p:spPr>
        </p:sp>
        <p:sp>
          <p:nvSpPr>
            <p:cNvPr id="49" name="Ellipse 49"/>
            <p:cNvSpPr/>
            <p:nvPr/>
          </p:nvSpPr>
          <p:spPr>
            <a:xfrm>
              <a:off x="2181225" y="4799648"/>
              <a:ext cx="209550" cy="209550"/>
            </a:xfrm>
            <a:prstGeom prst="ellipse">
              <a:avLst/>
            </a:prstGeom>
            <a:solidFill>
              <a:srgbClr val="FFFFFF"/>
            </a:solidFill>
            <a:ln w="17145">
              <a:solidFill>
                <a:srgbClr val="334E68"/>
              </a:solidFill>
            </a:ln>
          </p:spPr>
        </p:sp>
        <p:sp>
          <p:nvSpPr>
            <p:cNvPr id="50" name="Ellipse 50"/>
            <p:cNvSpPr/>
            <p:nvPr/>
          </p:nvSpPr>
          <p:spPr>
            <a:xfrm>
              <a:off x="1722120" y="4632960"/>
              <a:ext cx="209550" cy="209550"/>
            </a:xfrm>
            <a:prstGeom prst="ellipse">
              <a:avLst/>
            </a:prstGeom>
            <a:solidFill>
              <a:srgbClr val="FFFFFF"/>
            </a:solidFill>
            <a:ln w="17145">
              <a:solidFill>
                <a:srgbClr val="334E68"/>
              </a:solidFill>
            </a:ln>
          </p:spPr>
        </p:sp>
        <p:sp>
          <p:nvSpPr>
            <p:cNvPr id="51" name="Ellipse 51"/>
            <p:cNvSpPr/>
            <p:nvPr/>
          </p:nvSpPr>
          <p:spPr>
            <a:xfrm>
              <a:off x="1532572" y="4230052"/>
              <a:ext cx="209550" cy="209550"/>
            </a:xfrm>
            <a:prstGeom prst="ellipse">
              <a:avLst/>
            </a:prstGeom>
            <a:solidFill>
              <a:srgbClr val="FFFFFF"/>
            </a:solidFill>
            <a:ln w="17145">
              <a:solidFill>
                <a:srgbClr val="334E68"/>
              </a:solidFill>
            </a:ln>
          </p:spPr>
        </p:sp>
        <p:sp>
          <p:nvSpPr>
            <p:cNvPr id="52" name="Ellipse 52"/>
            <p:cNvSpPr/>
            <p:nvPr/>
          </p:nvSpPr>
          <p:spPr>
            <a:xfrm>
              <a:off x="1722120" y="3827145"/>
              <a:ext cx="209550" cy="209550"/>
            </a:xfrm>
            <a:prstGeom prst="ellipse">
              <a:avLst/>
            </a:prstGeom>
            <a:solidFill>
              <a:srgbClr val="FFFFFF"/>
            </a:solidFill>
            <a:ln w="17145">
              <a:solidFill>
                <a:srgbClr val="334E68"/>
              </a:solidFill>
            </a:ln>
          </p:spPr>
        </p:sp>
        <p:sp>
          <p:nvSpPr>
            <p:cNvPr id="53" name="TextBox 53"/>
            <p:cNvSpPr txBox="1"/>
            <p:nvPr/>
          </p:nvSpPr>
          <p:spPr>
            <a:xfrm>
              <a:off x="2246253" y="3709035"/>
              <a:ext cx="79494" cy="176212"/>
            </a:xfrm>
            <a:prstGeom prst="rect">
              <a:avLst/>
            </a:prstGeom>
            <a:noFill/>
            <a:ln>
              <a:noFill/>
            </a:ln>
          </p:spPr>
          <p:txBody>
            <a:bodyPr wrap="none" lIns="0" tIns="0" rIns="0" bIns="0" anchor="t" anchorCtr="0">
              <a:spAutoFit/>
            </a:bodyPr>
            <a:lstStyle/>
            <a:p>
              <a:pPr algn="ctr"/>
              <a:r>
                <a:rPr lang="zh-CN" sz="900" b="1" dirty="0">
                  <a:solidFill>
                    <a:srgbClr val="1F2937"/>
                  </a:solidFill>
                  <a:latin typeface="+mn-lt"/>
                  <a:ea typeface="+mn-ea"/>
                  <a:cs typeface="+mn-cs"/>
                </a:rPr>
                <a:t>0</a:t>
              </a:r>
            </a:p>
          </p:txBody>
        </p:sp>
        <p:sp>
          <p:nvSpPr>
            <p:cNvPr id="54" name="TextBox 54"/>
            <p:cNvSpPr txBox="1"/>
            <p:nvPr/>
          </p:nvSpPr>
          <p:spPr>
            <a:xfrm>
              <a:off x="2705358" y="3875723"/>
              <a:ext cx="79494" cy="176212"/>
            </a:xfrm>
            <a:prstGeom prst="rect">
              <a:avLst/>
            </a:prstGeom>
            <a:noFill/>
            <a:ln>
              <a:noFill/>
            </a:ln>
          </p:spPr>
          <p:txBody>
            <a:bodyPr wrap="none" lIns="0" tIns="0" rIns="0" bIns="0" anchor="t" anchorCtr="0">
              <a:spAutoFit/>
            </a:bodyPr>
            <a:lstStyle/>
            <a:p>
              <a:pPr algn="ctr"/>
              <a:r>
                <a:rPr lang="zh-CN" sz="900" b="1" dirty="0">
                  <a:solidFill>
                    <a:srgbClr val="1F2937"/>
                  </a:solidFill>
                  <a:latin typeface="+mn-lt"/>
                  <a:ea typeface="+mn-ea"/>
                  <a:cs typeface="+mn-cs"/>
                </a:rPr>
                <a:t>1</a:t>
              </a:r>
            </a:p>
          </p:txBody>
        </p:sp>
        <p:sp>
          <p:nvSpPr>
            <p:cNvPr id="55" name="TextBox 55"/>
            <p:cNvSpPr txBox="1"/>
            <p:nvPr/>
          </p:nvSpPr>
          <p:spPr>
            <a:xfrm>
              <a:off x="2894906" y="4278630"/>
              <a:ext cx="79494" cy="176212"/>
            </a:xfrm>
            <a:prstGeom prst="rect">
              <a:avLst/>
            </a:prstGeom>
            <a:noFill/>
            <a:ln>
              <a:noFill/>
            </a:ln>
          </p:spPr>
          <p:txBody>
            <a:bodyPr wrap="none" lIns="0" tIns="0" rIns="0" bIns="0" anchor="t" anchorCtr="0">
              <a:spAutoFit/>
            </a:bodyPr>
            <a:lstStyle/>
            <a:p>
              <a:pPr algn="ctr"/>
              <a:r>
                <a:rPr lang="zh-CN" sz="900" b="1" dirty="0">
                  <a:solidFill>
                    <a:srgbClr val="1F2937"/>
                  </a:solidFill>
                  <a:latin typeface="+mn-lt"/>
                  <a:ea typeface="+mn-ea"/>
                  <a:cs typeface="+mn-cs"/>
                </a:rPr>
                <a:t>2</a:t>
              </a:r>
            </a:p>
          </p:txBody>
        </p:sp>
        <p:sp>
          <p:nvSpPr>
            <p:cNvPr id="56" name="TextBox 56"/>
            <p:cNvSpPr txBox="1"/>
            <p:nvPr/>
          </p:nvSpPr>
          <p:spPr>
            <a:xfrm>
              <a:off x="2705358" y="4681538"/>
              <a:ext cx="79494" cy="176212"/>
            </a:xfrm>
            <a:prstGeom prst="rect">
              <a:avLst/>
            </a:prstGeom>
            <a:noFill/>
            <a:ln>
              <a:noFill/>
            </a:ln>
          </p:spPr>
          <p:txBody>
            <a:bodyPr wrap="none" lIns="0" tIns="0" rIns="0" bIns="0" anchor="t" anchorCtr="0">
              <a:spAutoFit/>
            </a:bodyPr>
            <a:lstStyle/>
            <a:p>
              <a:pPr algn="ctr"/>
              <a:r>
                <a:rPr lang="zh-CN" sz="900" b="1" dirty="0">
                  <a:solidFill>
                    <a:srgbClr val="1F2937"/>
                  </a:solidFill>
                  <a:latin typeface="+mn-lt"/>
                  <a:ea typeface="+mn-ea"/>
                  <a:cs typeface="+mn-cs"/>
                </a:rPr>
                <a:t>3</a:t>
              </a:r>
            </a:p>
          </p:txBody>
        </p:sp>
        <p:sp>
          <p:nvSpPr>
            <p:cNvPr id="57" name="TextBox 57"/>
            <p:cNvSpPr txBox="1"/>
            <p:nvPr/>
          </p:nvSpPr>
          <p:spPr>
            <a:xfrm>
              <a:off x="2246253" y="4849178"/>
              <a:ext cx="79494" cy="176212"/>
            </a:xfrm>
            <a:prstGeom prst="rect">
              <a:avLst/>
            </a:prstGeom>
            <a:noFill/>
            <a:ln>
              <a:noFill/>
            </a:ln>
          </p:spPr>
          <p:txBody>
            <a:bodyPr wrap="none" lIns="0" tIns="0" rIns="0" bIns="0" anchor="t" anchorCtr="0">
              <a:spAutoFit/>
            </a:bodyPr>
            <a:lstStyle/>
            <a:p>
              <a:pPr algn="ctr"/>
              <a:r>
                <a:rPr lang="zh-CN" sz="900" b="1" dirty="0">
                  <a:solidFill>
                    <a:srgbClr val="1F2937"/>
                  </a:solidFill>
                  <a:latin typeface="+mn-lt"/>
                  <a:ea typeface="+mn-ea"/>
                  <a:cs typeface="+mn-cs"/>
                </a:rPr>
                <a:t>4</a:t>
              </a:r>
            </a:p>
          </p:txBody>
        </p:sp>
        <p:sp>
          <p:nvSpPr>
            <p:cNvPr id="58" name="TextBox 58"/>
            <p:cNvSpPr txBox="1"/>
            <p:nvPr/>
          </p:nvSpPr>
          <p:spPr>
            <a:xfrm>
              <a:off x="1787148" y="4681538"/>
              <a:ext cx="79494" cy="176212"/>
            </a:xfrm>
            <a:prstGeom prst="rect">
              <a:avLst/>
            </a:prstGeom>
            <a:noFill/>
            <a:ln>
              <a:noFill/>
            </a:ln>
          </p:spPr>
          <p:txBody>
            <a:bodyPr wrap="none" lIns="0" tIns="0" rIns="0" bIns="0" anchor="t" anchorCtr="0">
              <a:spAutoFit/>
            </a:bodyPr>
            <a:lstStyle/>
            <a:p>
              <a:pPr algn="ctr"/>
              <a:r>
                <a:rPr lang="zh-CN" sz="900" b="1" dirty="0">
                  <a:solidFill>
                    <a:srgbClr val="1F2937"/>
                  </a:solidFill>
                  <a:latin typeface="+mn-lt"/>
                  <a:ea typeface="+mn-ea"/>
                  <a:cs typeface="+mn-cs"/>
                </a:rPr>
                <a:t>5</a:t>
              </a:r>
            </a:p>
          </p:txBody>
        </p:sp>
        <p:sp>
          <p:nvSpPr>
            <p:cNvPr id="59" name="TextBox 59"/>
            <p:cNvSpPr txBox="1"/>
            <p:nvPr/>
          </p:nvSpPr>
          <p:spPr>
            <a:xfrm>
              <a:off x="1597601" y="4278630"/>
              <a:ext cx="79494" cy="176212"/>
            </a:xfrm>
            <a:prstGeom prst="rect">
              <a:avLst/>
            </a:prstGeom>
            <a:noFill/>
            <a:ln>
              <a:noFill/>
            </a:ln>
          </p:spPr>
          <p:txBody>
            <a:bodyPr wrap="none" lIns="0" tIns="0" rIns="0" bIns="0" anchor="t" anchorCtr="0">
              <a:spAutoFit/>
            </a:bodyPr>
            <a:lstStyle/>
            <a:p>
              <a:pPr algn="ctr"/>
              <a:r>
                <a:rPr lang="zh-CN" sz="900" b="1" dirty="0">
                  <a:solidFill>
                    <a:srgbClr val="1F2937"/>
                  </a:solidFill>
                  <a:latin typeface="+mn-lt"/>
                  <a:ea typeface="+mn-ea"/>
                  <a:cs typeface="+mn-cs"/>
                </a:rPr>
                <a:t>6</a:t>
              </a:r>
            </a:p>
          </p:txBody>
        </p:sp>
        <p:sp>
          <p:nvSpPr>
            <p:cNvPr id="60" name="TextBox 60"/>
            <p:cNvSpPr txBox="1"/>
            <p:nvPr/>
          </p:nvSpPr>
          <p:spPr>
            <a:xfrm>
              <a:off x="1787148" y="3875723"/>
              <a:ext cx="79494" cy="176212"/>
            </a:xfrm>
            <a:prstGeom prst="rect">
              <a:avLst/>
            </a:prstGeom>
            <a:noFill/>
            <a:ln>
              <a:noFill/>
            </a:ln>
          </p:spPr>
          <p:txBody>
            <a:bodyPr wrap="none" lIns="0" tIns="0" rIns="0" bIns="0" anchor="t" anchorCtr="0">
              <a:spAutoFit/>
            </a:bodyPr>
            <a:lstStyle/>
            <a:p>
              <a:pPr algn="ctr"/>
              <a:r>
                <a:rPr lang="zh-CN" sz="900" b="1" dirty="0">
                  <a:solidFill>
                    <a:srgbClr val="1F2937"/>
                  </a:solidFill>
                  <a:latin typeface="+mn-lt"/>
                  <a:ea typeface="+mn-ea"/>
                  <a:cs typeface="+mn-cs"/>
                </a:rPr>
                <a:t>7</a:t>
              </a:r>
            </a:p>
          </p:txBody>
        </p:sp>
      </p:grpSp>
      <p:grpSp>
        <p:nvGrpSpPr>
          <p:cNvPr id="63" name="c1-text-6"/>
          <p:cNvGrpSpPr/>
          <p:nvPr/>
        </p:nvGrpSpPr>
        <p:grpSpPr>
          <a:xfrm>
            <a:off x="527685" y="5235416"/>
            <a:ext cx="3240278" cy="441008"/>
            <a:chOff x="527685" y="5235416"/>
            <a:chExt cx="3240278" cy="441008"/>
          </a:xfrm>
        </p:grpSpPr>
        <p:sp>
          <p:nvSpPr>
            <p:cNvPr id="62" name="TextBox 62"/>
            <p:cNvSpPr txBox="1"/>
            <p:nvPr/>
          </p:nvSpPr>
          <p:spPr>
            <a:xfrm>
              <a:off x="527685" y="5235416"/>
              <a:ext cx="3240278" cy="441008"/>
            </a:xfrm>
            <a:prstGeom prst="rect">
              <a:avLst/>
            </a:prstGeom>
            <a:noFill/>
            <a:ln>
              <a:noFill/>
            </a:ln>
          </p:spPr>
          <p:txBody>
            <a:bodyPr wrap="none" lIns="0" tIns="0" rIns="0" bIns="0" anchor="t" anchorCtr="0">
              <a:spAutoFit/>
            </a:bodyPr>
            <a:lstStyle/>
            <a:p>
              <a:pPr algn="l">
                <a:lnSpc>
                  <a:spcPts val="1740"/>
                </a:lnSpc>
              </a:pPr>
              <a:r>
                <a:rPr lang="zh-CN" sz="1120" dirty="0">
                  <a:solidFill>
                    <a:srgbClr val="1F2937"/>
                  </a:solidFill>
                  <a:latin typeface="+mn-lt"/>
                  <a:ea typeface="+mn-ea"/>
                  <a:cs typeface="+mn-cs"/>
                </a:rPr>
                <a:t>首尾再加一条链路。度 2，对剖宽度 2；双向环直径</a:t>
              </a:r>
              <a:br/>
              <a:r>
                <a:rPr lang="zh-CN" sz="1120" dirty="0">
                  <a:solidFill>
                    <a:srgbClr val="1F2937"/>
                  </a:solidFill>
                  <a:latin typeface="+mn-lt"/>
                  <a:ea typeface="+mn-ea"/>
                  <a:cs typeface="+mn-cs"/>
                </a:rPr>
                <a:t>⌊N/2⌋，单向环直径 N − 1。</a:t>
              </a:r>
            </a:p>
          </p:txBody>
        </p:sp>
      </p:grpSp>
      <p:grpSp>
        <p:nvGrpSpPr>
          <p:cNvPr id="65" name="c2-text-1"/>
          <p:cNvGrpSpPr/>
          <p:nvPr/>
        </p:nvGrpSpPr>
        <p:grpSpPr>
          <a:xfrm>
            <a:off x="4336542" y="1545907"/>
            <a:ext cx="2224727" cy="264033"/>
            <a:chOff x="4336542" y="1545907"/>
            <a:chExt cx="2224727" cy="264033"/>
          </a:xfrm>
        </p:grpSpPr>
        <p:sp>
          <p:nvSpPr>
            <p:cNvPr id="64" name="TextBox 64"/>
            <p:cNvSpPr txBox="1"/>
            <p:nvPr/>
          </p:nvSpPr>
          <p:spPr>
            <a:xfrm>
              <a:off x="4336542" y="1545907"/>
              <a:ext cx="2224727"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度为 3 的带弦环</a:t>
              </a:r>
              <a:r>
                <a:rPr lang="zh-CN" sz="1350" dirty="0">
                  <a:solidFill>
                    <a:srgbClr val="1F2937"/>
                  </a:solidFill>
                  <a:latin typeface="+mn-lt"/>
                  <a:ea typeface="+mn-ea"/>
                  <a:cs typeface="+mn-cs"/>
                </a:rPr>
                <a:t>（N = 16）</a:t>
              </a:r>
            </a:p>
          </p:txBody>
        </p:sp>
      </p:grpSp>
      <p:grpSp>
        <p:nvGrpSpPr>
          <p:cNvPr id="122" name="c2-graph-2"/>
          <p:cNvGrpSpPr/>
          <p:nvPr/>
        </p:nvGrpSpPr>
        <p:grpSpPr>
          <a:xfrm>
            <a:off x="4771072" y="2090738"/>
            <a:ext cx="2649856" cy="2370772"/>
            <a:chOff x="4771072" y="2090738"/>
            <a:chExt cx="2649856" cy="2370772"/>
          </a:xfrm>
        </p:grpSpPr>
        <p:sp>
          <p:nvSpPr>
            <p:cNvPr id="66" name="Freeform 66"/>
            <p:cNvSpPr/>
            <p:nvPr/>
          </p:nvSpPr>
          <p:spPr>
            <a:xfrm>
              <a:off x="6208395" y="2214562"/>
              <a:ext cx="240983" cy="41910"/>
            </a:xfrm>
            <a:custGeom>
              <a:avLst/>
              <a:gdLst/>
              <a:ahLst/>
              <a:cxnLst/>
              <a:rect l="l" t="t" r="r" b="b"/>
              <a:pathLst>
                <a:path w="240983" h="41910">
                  <a:moveTo>
                    <a:pt x="0" y="0"/>
                  </a:moveTo>
                  <a:lnTo>
                    <a:pt x="240983" y="41910"/>
                  </a:lnTo>
                </a:path>
              </a:pathLst>
            </a:custGeom>
            <a:noFill/>
            <a:ln w="17145">
              <a:solidFill>
                <a:srgbClr val="1F2937"/>
              </a:solidFill>
            </a:ln>
          </p:spPr>
        </p:sp>
        <p:sp>
          <p:nvSpPr>
            <p:cNvPr id="67" name="Freeform 67"/>
            <p:cNvSpPr/>
            <p:nvPr/>
          </p:nvSpPr>
          <p:spPr>
            <a:xfrm>
              <a:off x="6660832" y="2333625"/>
              <a:ext cx="199073" cy="117158"/>
            </a:xfrm>
            <a:custGeom>
              <a:avLst/>
              <a:gdLst/>
              <a:ahLst/>
              <a:cxnLst/>
              <a:rect l="l" t="t" r="r" b="b"/>
              <a:pathLst>
                <a:path w="199073" h="117158">
                  <a:moveTo>
                    <a:pt x="0" y="0"/>
                  </a:moveTo>
                  <a:lnTo>
                    <a:pt x="199073" y="117158"/>
                  </a:lnTo>
                </a:path>
              </a:pathLst>
            </a:custGeom>
            <a:noFill/>
            <a:ln w="17145">
              <a:solidFill>
                <a:srgbClr val="1F2937"/>
              </a:solidFill>
            </a:ln>
          </p:spPr>
        </p:sp>
        <p:sp>
          <p:nvSpPr>
            <p:cNvPr id="68" name="Freeform 68"/>
            <p:cNvSpPr/>
            <p:nvPr/>
          </p:nvSpPr>
          <p:spPr>
            <a:xfrm>
              <a:off x="7027545" y="2600325"/>
              <a:ext cx="124778" cy="166688"/>
            </a:xfrm>
            <a:custGeom>
              <a:avLst/>
              <a:gdLst/>
              <a:ahLst/>
              <a:cxnLst/>
              <a:rect l="l" t="t" r="r" b="b"/>
              <a:pathLst>
                <a:path w="124778" h="166688">
                  <a:moveTo>
                    <a:pt x="0" y="0"/>
                  </a:moveTo>
                  <a:lnTo>
                    <a:pt x="124778" y="166688"/>
                  </a:lnTo>
                </a:path>
              </a:pathLst>
            </a:custGeom>
            <a:noFill/>
            <a:ln w="17145">
              <a:solidFill>
                <a:srgbClr val="1F2937"/>
              </a:solidFill>
            </a:ln>
          </p:spPr>
        </p:sp>
        <p:sp>
          <p:nvSpPr>
            <p:cNvPr id="69" name="Freeform 69"/>
            <p:cNvSpPr/>
            <p:nvPr/>
          </p:nvSpPr>
          <p:spPr>
            <a:xfrm>
              <a:off x="7246620" y="2968942"/>
              <a:ext cx="43815" cy="187642"/>
            </a:xfrm>
            <a:custGeom>
              <a:avLst/>
              <a:gdLst/>
              <a:ahLst/>
              <a:cxnLst/>
              <a:rect l="l" t="t" r="r" b="b"/>
              <a:pathLst>
                <a:path w="43815" h="187642">
                  <a:moveTo>
                    <a:pt x="0" y="0"/>
                  </a:moveTo>
                  <a:lnTo>
                    <a:pt x="43815" y="187642"/>
                  </a:lnTo>
                </a:path>
              </a:pathLst>
            </a:custGeom>
            <a:noFill/>
            <a:ln w="17145">
              <a:solidFill>
                <a:srgbClr val="1F2937"/>
              </a:solidFill>
            </a:ln>
          </p:spPr>
        </p:sp>
        <p:sp>
          <p:nvSpPr>
            <p:cNvPr id="70" name="Freeform 70"/>
            <p:cNvSpPr/>
            <p:nvPr/>
          </p:nvSpPr>
          <p:spPr>
            <a:xfrm>
              <a:off x="7246620" y="3379470"/>
              <a:ext cx="43815" cy="187642"/>
            </a:xfrm>
            <a:custGeom>
              <a:avLst/>
              <a:gdLst/>
              <a:ahLst/>
              <a:cxnLst/>
              <a:rect l="l" t="t" r="r" b="b"/>
              <a:pathLst>
                <a:path w="43815" h="187642">
                  <a:moveTo>
                    <a:pt x="43815" y="0"/>
                  </a:moveTo>
                  <a:lnTo>
                    <a:pt x="0" y="187642"/>
                  </a:lnTo>
                </a:path>
              </a:pathLst>
            </a:custGeom>
            <a:noFill/>
            <a:ln w="17145">
              <a:solidFill>
                <a:srgbClr val="1F2937"/>
              </a:solidFill>
            </a:ln>
          </p:spPr>
        </p:sp>
        <p:sp>
          <p:nvSpPr>
            <p:cNvPr id="71" name="Freeform 71"/>
            <p:cNvSpPr/>
            <p:nvPr/>
          </p:nvSpPr>
          <p:spPr>
            <a:xfrm>
              <a:off x="7027545" y="3769995"/>
              <a:ext cx="124778" cy="165735"/>
            </a:xfrm>
            <a:custGeom>
              <a:avLst/>
              <a:gdLst/>
              <a:ahLst/>
              <a:cxnLst/>
              <a:rect l="l" t="t" r="r" b="b"/>
              <a:pathLst>
                <a:path w="124778" h="165735">
                  <a:moveTo>
                    <a:pt x="124778" y="0"/>
                  </a:moveTo>
                  <a:lnTo>
                    <a:pt x="0" y="165735"/>
                  </a:lnTo>
                </a:path>
              </a:pathLst>
            </a:custGeom>
            <a:noFill/>
            <a:ln w="17145">
              <a:solidFill>
                <a:srgbClr val="1F2937"/>
              </a:solidFill>
            </a:ln>
          </p:spPr>
        </p:sp>
        <p:sp>
          <p:nvSpPr>
            <p:cNvPr id="72" name="Freeform 72"/>
            <p:cNvSpPr/>
            <p:nvPr/>
          </p:nvSpPr>
          <p:spPr>
            <a:xfrm>
              <a:off x="6660832" y="4085272"/>
              <a:ext cx="199073" cy="117158"/>
            </a:xfrm>
            <a:custGeom>
              <a:avLst/>
              <a:gdLst/>
              <a:ahLst/>
              <a:cxnLst/>
              <a:rect l="l" t="t" r="r" b="b"/>
              <a:pathLst>
                <a:path w="199073" h="117158">
                  <a:moveTo>
                    <a:pt x="199073" y="0"/>
                  </a:moveTo>
                  <a:lnTo>
                    <a:pt x="0" y="117158"/>
                  </a:lnTo>
                </a:path>
              </a:pathLst>
            </a:custGeom>
            <a:noFill/>
            <a:ln w="17145">
              <a:solidFill>
                <a:srgbClr val="1F2937"/>
              </a:solidFill>
            </a:ln>
          </p:spPr>
        </p:sp>
        <p:sp>
          <p:nvSpPr>
            <p:cNvPr id="73" name="Freeform 73"/>
            <p:cNvSpPr/>
            <p:nvPr/>
          </p:nvSpPr>
          <p:spPr>
            <a:xfrm>
              <a:off x="6208395" y="4280535"/>
              <a:ext cx="240983" cy="40958"/>
            </a:xfrm>
            <a:custGeom>
              <a:avLst/>
              <a:gdLst/>
              <a:ahLst/>
              <a:cxnLst/>
              <a:rect l="l" t="t" r="r" b="b"/>
              <a:pathLst>
                <a:path w="240983" h="40958">
                  <a:moveTo>
                    <a:pt x="240983" y="0"/>
                  </a:moveTo>
                  <a:lnTo>
                    <a:pt x="0" y="40958"/>
                  </a:lnTo>
                </a:path>
              </a:pathLst>
            </a:custGeom>
            <a:noFill/>
            <a:ln w="17145">
              <a:solidFill>
                <a:srgbClr val="1F2937"/>
              </a:solidFill>
            </a:ln>
          </p:spPr>
        </p:sp>
        <p:sp>
          <p:nvSpPr>
            <p:cNvPr id="74" name="Freeform 74"/>
            <p:cNvSpPr/>
            <p:nvPr/>
          </p:nvSpPr>
          <p:spPr>
            <a:xfrm>
              <a:off x="5742622" y="4280535"/>
              <a:ext cx="240983" cy="40958"/>
            </a:xfrm>
            <a:custGeom>
              <a:avLst/>
              <a:gdLst/>
              <a:ahLst/>
              <a:cxnLst/>
              <a:rect l="l" t="t" r="r" b="b"/>
              <a:pathLst>
                <a:path w="240983" h="40958">
                  <a:moveTo>
                    <a:pt x="240983" y="40958"/>
                  </a:moveTo>
                  <a:lnTo>
                    <a:pt x="0" y="0"/>
                  </a:lnTo>
                </a:path>
              </a:pathLst>
            </a:custGeom>
            <a:noFill/>
            <a:ln w="17145">
              <a:solidFill>
                <a:srgbClr val="1F2937"/>
              </a:solidFill>
            </a:ln>
          </p:spPr>
        </p:sp>
        <p:sp>
          <p:nvSpPr>
            <p:cNvPr id="75" name="Freeform 75"/>
            <p:cNvSpPr/>
            <p:nvPr/>
          </p:nvSpPr>
          <p:spPr>
            <a:xfrm>
              <a:off x="5332095" y="4085272"/>
              <a:ext cx="199073" cy="117158"/>
            </a:xfrm>
            <a:custGeom>
              <a:avLst/>
              <a:gdLst/>
              <a:ahLst/>
              <a:cxnLst/>
              <a:rect l="l" t="t" r="r" b="b"/>
              <a:pathLst>
                <a:path w="199073" h="117158">
                  <a:moveTo>
                    <a:pt x="199073" y="117158"/>
                  </a:moveTo>
                  <a:lnTo>
                    <a:pt x="0" y="0"/>
                  </a:lnTo>
                </a:path>
              </a:pathLst>
            </a:custGeom>
            <a:noFill/>
            <a:ln w="17145">
              <a:solidFill>
                <a:srgbClr val="1F2937"/>
              </a:solidFill>
            </a:ln>
          </p:spPr>
        </p:sp>
        <p:sp>
          <p:nvSpPr>
            <p:cNvPr id="76" name="Freeform 76"/>
            <p:cNvSpPr/>
            <p:nvPr/>
          </p:nvSpPr>
          <p:spPr>
            <a:xfrm>
              <a:off x="5039678" y="3769995"/>
              <a:ext cx="124778" cy="165735"/>
            </a:xfrm>
            <a:custGeom>
              <a:avLst/>
              <a:gdLst/>
              <a:ahLst/>
              <a:cxnLst/>
              <a:rect l="l" t="t" r="r" b="b"/>
              <a:pathLst>
                <a:path w="124778" h="165735">
                  <a:moveTo>
                    <a:pt x="124778" y="165735"/>
                  </a:moveTo>
                  <a:lnTo>
                    <a:pt x="0" y="0"/>
                  </a:lnTo>
                </a:path>
              </a:pathLst>
            </a:custGeom>
            <a:noFill/>
            <a:ln w="17145">
              <a:solidFill>
                <a:srgbClr val="1F2937"/>
              </a:solidFill>
            </a:ln>
          </p:spPr>
        </p:sp>
        <p:sp>
          <p:nvSpPr>
            <p:cNvPr id="77" name="Freeform 77"/>
            <p:cNvSpPr/>
            <p:nvPr/>
          </p:nvSpPr>
          <p:spPr>
            <a:xfrm>
              <a:off x="4901565" y="3379470"/>
              <a:ext cx="43815" cy="187642"/>
            </a:xfrm>
            <a:custGeom>
              <a:avLst/>
              <a:gdLst/>
              <a:ahLst/>
              <a:cxnLst/>
              <a:rect l="l" t="t" r="r" b="b"/>
              <a:pathLst>
                <a:path w="43815" h="187642">
                  <a:moveTo>
                    <a:pt x="43815" y="187642"/>
                  </a:moveTo>
                  <a:lnTo>
                    <a:pt x="0" y="0"/>
                  </a:lnTo>
                </a:path>
              </a:pathLst>
            </a:custGeom>
            <a:noFill/>
            <a:ln w="17145">
              <a:solidFill>
                <a:srgbClr val="1F2937"/>
              </a:solidFill>
            </a:ln>
          </p:spPr>
        </p:sp>
        <p:sp>
          <p:nvSpPr>
            <p:cNvPr id="78" name="Freeform 78"/>
            <p:cNvSpPr/>
            <p:nvPr/>
          </p:nvSpPr>
          <p:spPr>
            <a:xfrm>
              <a:off x="4901565" y="2968942"/>
              <a:ext cx="43815" cy="187642"/>
            </a:xfrm>
            <a:custGeom>
              <a:avLst/>
              <a:gdLst/>
              <a:ahLst/>
              <a:cxnLst/>
              <a:rect l="l" t="t" r="r" b="b"/>
              <a:pathLst>
                <a:path w="43815" h="187642">
                  <a:moveTo>
                    <a:pt x="0" y="187642"/>
                  </a:moveTo>
                  <a:lnTo>
                    <a:pt x="43815" y="0"/>
                  </a:lnTo>
                </a:path>
              </a:pathLst>
            </a:custGeom>
            <a:noFill/>
            <a:ln w="17145">
              <a:solidFill>
                <a:srgbClr val="1F2937"/>
              </a:solidFill>
            </a:ln>
          </p:spPr>
        </p:sp>
        <p:sp>
          <p:nvSpPr>
            <p:cNvPr id="79" name="Freeform 79"/>
            <p:cNvSpPr/>
            <p:nvPr/>
          </p:nvSpPr>
          <p:spPr>
            <a:xfrm>
              <a:off x="5039678" y="2600325"/>
              <a:ext cx="124778" cy="166688"/>
            </a:xfrm>
            <a:custGeom>
              <a:avLst/>
              <a:gdLst/>
              <a:ahLst/>
              <a:cxnLst/>
              <a:rect l="l" t="t" r="r" b="b"/>
              <a:pathLst>
                <a:path w="124778" h="166688">
                  <a:moveTo>
                    <a:pt x="0" y="166688"/>
                  </a:moveTo>
                  <a:lnTo>
                    <a:pt x="124778" y="0"/>
                  </a:lnTo>
                </a:path>
              </a:pathLst>
            </a:custGeom>
            <a:noFill/>
            <a:ln w="17145">
              <a:solidFill>
                <a:srgbClr val="1F2937"/>
              </a:solidFill>
            </a:ln>
          </p:spPr>
        </p:sp>
        <p:sp>
          <p:nvSpPr>
            <p:cNvPr id="80" name="Freeform 80"/>
            <p:cNvSpPr/>
            <p:nvPr/>
          </p:nvSpPr>
          <p:spPr>
            <a:xfrm>
              <a:off x="5332095" y="2333625"/>
              <a:ext cx="199073" cy="117158"/>
            </a:xfrm>
            <a:custGeom>
              <a:avLst/>
              <a:gdLst/>
              <a:ahLst/>
              <a:cxnLst/>
              <a:rect l="l" t="t" r="r" b="b"/>
              <a:pathLst>
                <a:path w="199073" h="117158">
                  <a:moveTo>
                    <a:pt x="0" y="117158"/>
                  </a:moveTo>
                  <a:lnTo>
                    <a:pt x="199073" y="0"/>
                  </a:lnTo>
                </a:path>
              </a:pathLst>
            </a:custGeom>
            <a:noFill/>
            <a:ln w="17145">
              <a:solidFill>
                <a:srgbClr val="1F2937"/>
              </a:solidFill>
            </a:ln>
          </p:spPr>
        </p:sp>
        <p:sp>
          <p:nvSpPr>
            <p:cNvPr id="81" name="Freeform 81"/>
            <p:cNvSpPr/>
            <p:nvPr/>
          </p:nvSpPr>
          <p:spPr>
            <a:xfrm>
              <a:off x="5742622" y="2214562"/>
              <a:ext cx="240983" cy="41910"/>
            </a:xfrm>
            <a:custGeom>
              <a:avLst/>
              <a:gdLst/>
              <a:ahLst/>
              <a:cxnLst/>
              <a:rect l="l" t="t" r="r" b="b"/>
              <a:pathLst>
                <a:path w="240983" h="41910">
                  <a:moveTo>
                    <a:pt x="0" y="41910"/>
                  </a:moveTo>
                  <a:lnTo>
                    <a:pt x="240983" y="0"/>
                  </a:lnTo>
                </a:path>
              </a:pathLst>
            </a:custGeom>
            <a:noFill/>
            <a:ln w="17145">
              <a:solidFill>
                <a:srgbClr val="1F2937"/>
              </a:solidFill>
            </a:ln>
          </p:spPr>
        </p:sp>
        <p:sp>
          <p:nvSpPr>
            <p:cNvPr id="82" name="Freeform 82"/>
            <p:cNvSpPr/>
            <p:nvPr/>
          </p:nvSpPr>
          <p:spPr>
            <a:xfrm>
              <a:off x="6631305" y="2366962"/>
              <a:ext cx="615315" cy="810578"/>
            </a:xfrm>
            <a:custGeom>
              <a:avLst/>
              <a:gdLst/>
              <a:ahLst/>
              <a:cxnLst/>
              <a:rect l="l" t="t" r="r" b="b"/>
              <a:pathLst>
                <a:path w="615315" h="810578">
                  <a:moveTo>
                    <a:pt x="0" y="0"/>
                  </a:moveTo>
                  <a:lnTo>
                    <a:pt x="615315" y="810578"/>
                  </a:lnTo>
                </a:path>
              </a:pathLst>
            </a:custGeom>
            <a:noFill/>
            <a:ln w="17145">
              <a:solidFill>
                <a:srgbClr val="F26B3A"/>
              </a:solidFill>
            </a:ln>
          </p:spPr>
        </p:sp>
        <p:sp>
          <p:nvSpPr>
            <p:cNvPr id="83" name="Freeform 83"/>
            <p:cNvSpPr/>
            <p:nvPr/>
          </p:nvSpPr>
          <p:spPr>
            <a:xfrm>
              <a:off x="6983730" y="2968942"/>
              <a:ext cx="212407" cy="946785"/>
            </a:xfrm>
            <a:custGeom>
              <a:avLst/>
              <a:gdLst/>
              <a:ahLst/>
              <a:cxnLst/>
              <a:rect l="l" t="t" r="r" b="b"/>
              <a:pathLst>
                <a:path w="212407" h="946785">
                  <a:moveTo>
                    <a:pt x="212407" y="0"/>
                  </a:moveTo>
                  <a:lnTo>
                    <a:pt x="0" y="946785"/>
                  </a:lnTo>
                </a:path>
              </a:pathLst>
            </a:custGeom>
            <a:noFill/>
            <a:ln w="17145">
              <a:solidFill>
                <a:srgbClr val="F26B3A"/>
              </a:solidFill>
            </a:ln>
          </p:spPr>
        </p:sp>
        <p:sp>
          <p:nvSpPr>
            <p:cNvPr id="84" name="Freeform 84"/>
            <p:cNvSpPr/>
            <p:nvPr/>
          </p:nvSpPr>
          <p:spPr>
            <a:xfrm>
              <a:off x="6194108" y="3736658"/>
              <a:ext cx="928688" cy="546735"/>
            </a:xfrm>
            <a:custGeom>
              <a:avLst/>
              <a:gdLst/>
              <a:ahLst/>
              <a:cxnLst/>
              <a:rect l="l" t="t" r="r" b="b"/>
              <a:pathLst>
                <a:path w="928688" h="546735">
                  <a:moveTo>
                    <a:pt x="928688" y="0"/>
                  </a:moveTo>
                  <a:lnTo>
                    <a:pt x="0" y="546735"/>
                  </a:lnTo>
                </a:path>
              </a:pathLst>
            </a:custGeom>
            <a:noFill/>
            <a:ln w="17145">
              <a:solidFill>
                <a:srgbClr val="F26B3A"/>
              </a:solidFill>
            </a:ln>
          </p:spPr>
        </p:sp>
        <p:sp>
          <p:nvSpPr>
            <p:cNvPr id="85" name="Freeform 85"/>
            <p:cNvSpPr/>
            <p:nvPr/>
          </p:nvSpPr>
          <p:spPr>
            <a:xfrm>
              <a:off x="5346382" y="4047172"/>
              <a:ext cx="1102995" cy="193358"/>
            </a:xfrm>
            <a:custGeom>
              <a:avLst/>
              <a:gdLst/>
              <a:ahLst/>
              <a:cxnLst/>
              <a:rect l="l" t="t" r="r" b="b"/>
              <a:pathLst>
                <a:path w="1102995" h="193358">
                  <a:moveTo>
                    <a:pt x="1102995" y="193358"/>
                  </a:moveTo>
                  <a:lnTo>
                    <a:pt x="0" y="0"/>
                  </a:lnTo>
                </a:path>
              </a:pathLst>
            </a:custGeom>
            <a:noFill/>
            <a:ln w="17145">
              <a:solidFill>
                <a:srgbClr val="F26B3A"/>
              </a:solidFill>
            </a:ln>
          </p:spPr>
        </p:sp>
        <p:sp>
          <p:nvSpPr>
            <p:cNvPr id="86" name="Freeform 86"/>
            <p:cNvSpPr/>
            <p:nvPr/>
          </p:nvSpPr>
          <p:spPr>
            <a:xfrm>
              <a:off x="4945380" y="3359468"/>
              <a:ext cx="615315" cy="810578"/>
            </a:xfrm>
            <a:custGeom>
              <a:avLst/>
              <a:gdLst/>
              <a:ahLst/>
              <a:cxnLst/>
              <a:rect l="l" t="t" r="r" b="b"/>
              <a:pathLst>
                <a:path w="615315" h="810578">
                  <a:moveTo>
                    <a:pt x="615315" y="810578"/>
                  </a:moveTo>
                  <a:lnTo>
                    <a:pt x="0" y="0"/>
                  </a:lnTo>
                </a:path>
              </a:pathLst>
            </a:custGeom>
            <a:noFill/>
            <a:ln w="17145">
              <a:solidFill>
                <a:srgbClr val="F26B3A"/>
              </a:solidFill>
            </a:ln>
          </p:spPr>
        </p:sp>
        <p:sp>
          <p:nvSpPr>
            <p:cNvPr id="87" name="Freeform 87"/>
            <p:cNvSpPr/>
            <p:nvPr/>
          </p:nvSpPr>
          <p:spPr>
            <a:xfrm>
              <a:off x="4995862" y="2620328"/>
              <a:ext cx="212407" cy="946785"/>
            </a:xfrm>
            <a:custGeom>
              <a:avLst/>
              <a:gdLst/>
              <a:ahLst/>
              <a:cxnLst/>
              <a:rect l="l" t="t" r="r" b="b"/>
              <a:pathLst>
                <a:path w="212407" h="946785">
                  <a:moveTo>
                    <a:pt x="0" y="946785"/>
                  </a:moveTo>
                  <a:lnTo>
                    <a:pt x="212407" y="0"/>
                  </a:lnTo>
                </a:path>
              </a:pathLst>
            </a:custGeom>
            <a:noFill/>
            <a:ln w="17145">
              <a:solidFill>
                <a:srgbClr val="F26B3A"/>
              </a:solidFill>
            </a:ln>
          </p:spPr>
        </p:sp>
        <p:sp>
          <p:nvSpPr>
            <p:cNvPr id="88" name="Freeform 88"/>
            <p:cNvSpPr/>
            <p:nvPr/>
          </p:nvSpPr>
          <p:spPr>
            <a:xfrm>
              <a:off x="5069205" y="2253615"/>
              <a:ext cx="928688" cy="545782"/>
            </a:xfrm>
            <a:custGeom>
              <a:avLst/>
              <a:gdLst/>
              <a:ahLst/>
              <a:cxnLst/>
              <a:rect l="l" t="t" r="r" b="b"/>
              <a:pathLst>
                <a:path w="928688" h="545782">
                  <a:moveTo>
                    <a:pt x="0" y="545782"/>
                  </a:moveTo>
                  <a:lnTo>
                    <a:pt x="928688" y="0"/>
                  </a:lnTo>
                </a:path>
              </a:pathLst>
            </a:custGeom>
            <a:noFill/>
            <a:ln w="17145">
              <a:solidFill>
                <a:srgbClr val="F26B3A"/>
              </a:solidFill>
            </a:ln>
          </p:spPr>
        </p:sp>
        <p:sp>
          <p:nvSpPr>
            <p:cNvPr id="89" name="Freeform 89"/>
            <p:cNvSpPr/>
            <p:nvPr/>
          </p:nvSpPr>
          <p:spPr>
            <a:xfrm>
              <a:off x="5742622" y="2295525"/>
              <a:ext cx="1102995" cy="194310"/>
            </a:xfrm>
            <a:custGeom>
              <a:avLst/>
              <a:gdLst/>
              <a:ahLst/>
              <a:cxnLst/>
              <a:rect l="l" t="t" r="r" b="b"/>
              <a:pathLst>
                <a:path w="1102995" h="194310">
                  <a:moveTo>
                    <a:pt x="0" y="0"/>
                  </a:moveTo>
                  <a:lnTo>
                    <a:pt x="1102995" y="194310"/>
                  </a:lnTo>
                </a:path>
              </a:pathLst>
            </a:custGeom>
            <a:noFill/>
            <a:ln w="17145">
              <a:solidFill>
                <a:srgbClr val="F26B3A"/>
              </a:solidFill>
            </a:ln>
          </p:spPr>
        </p:sp>
        <p:sp>
          <p:nvSpPr>
            <p:cNvPr id="90" name="Ellipse 90"/>
            <p:cNvSpPr/>
            <p:nvPr/>
          </p:nvSpPr>
          <p:spPr>
            <a:xfrm>
              <a:off x="5991225" y="2090738"/>
              <a:ext cx="209550" cy="209550"/>
            </a:xfrm>
            <a:prstGeom prst="ellipse">
              <a:avLst/>
            </a:prstGeom>
            <a:solidFill>
              <a:srgbClr val="FFFFFF"/>
            </a:solidFill>
            <a:ln w="17145">
              <a:solidFill>
                <a:srgbClr val="334E68"/>
              </a:solidFill>
            </a:ln>
          </p:spPr>
        </p:sp>
        <p:sp>
          <p:nvSpPr>
            <p:cNvPr id="91" name="Ellipse 91"/>
            <p:cNvSpPr/>
            <p:nvPr/>
          </p:nvSpPr>
          <p:spPr>
            <a:xfrm>
              <a:off x="6456998" y="2170748"/>
              <a:ext cx="209550" cy="209550"/>
            </a:xfrm>
            <a:prstGeom prst="ellipse">
              <a:avLst/>
            </a:prstGeom>
            <a:solidFill>
              <a:srgbClr val="FFFFFF"/>
            </a:solidFill>
            <a:ln w="17145">
              <a:solidFill>
                <a:srgbClr val="334E68"/>
              </a:solidFill>
            </a:ln>
          </p:spPr>
        </p:sp>
        <p:sp>
          <p:nvSpPr>
            <p:cNvPr id="92" name="Ellipse 92"/>
            <p:cNvSpPr/>
            <p:nvPr/>
          </p:nvSpPr>
          <p:spPr>
            <a:xfrm>
              <a:off x="6853238" y="2404110"/>
              <a:ext cx="209550" cy="209550"/>
            </a:xfrm>
            <a:prstGeom prst="ellipse">
              <a:avLst/>
            </a:prstGeom>
            <a:solidFill>
              <a:srgbClr val="FFFFFF"/>
            </a:solidFill>
            <a:ln w="17145">
              <a:solidFill>
                <a:srgbClr val="334E68"/>
              </a:solidFill>
            </a:ln>
          </p:spPr>
        </p:sp>
        <p:sp>
          <p:nvSpPr>
            <p:cNvPr id="93" name="Ellipse 93"/>
            <p:cNvSpPr/>
            <p:nvPr/>
          </p:nvSpPr>
          <p:spPr>
            <a:xfrm>
              <a:off x="7116128" y="2752725"/>
              <a:ext cx="209550" cy="209550"/>
            </a:xfrm>
            <a:prstGeom prst="ellipse">
              <a:avLst/>
            </a:prstGeom>
            <a:solidFill>
              <a:srgbClr val="FFFFFF"/>
            </a:solidFill>
            <a:ln w="17145">
              <a:solidFill>
                <a:srgbClr val="334E68"/>
              </a:solidFill>
            </a:ln>
          </p:spPr>
        </p:sp>
        <p:sp>
          <p:nvSpPr>
            <p:cNvPr id="94" name="Ellipse 94"/>
            <p:cNvSpPr/>
            <p:nvPr/>
          </p:nvSpPr>
          <p:spPr>
            <a:xfrm>
              <a:off x="7211378" y="3163252"/>
              <a:ext cx="209550" cy="209550"/>
            </a:xfrm>
            <a:prstGeom prst="ellipse">
              <a:avLst/>
            </a:prstGeom>
            <a:solidFill>
              <a:srgbClr val="FFFFFF"/>
            </a:solidFill>
            <a:ln w="17145">
              <a:solidFill>
                <a:srgbClr val="334E68"/>
              </a:solidFill>
            </a:ln>
          </p:spPr>
        </p:sp>
        <p:sp>
          <p:nvSpPr>
            <p:cNvPr id="95" name="Ellipse 95"/>
            <p:cNvSpPr/>
            <p:nvPr/>
          </p:nvSpPr>
          <p:spPr>
            <a:xfrm>
              <a:off x="7116128" y="3573780"/>
              <a:ext cx="209550" cy="209550"/>
            </a:xfrm>
            <a:prstGeom prst="ellipse">
              <a:avLst/>
            </a:prstGeom>
            <a:solidFill>
              <a:srgbClr val="FFFFFF"/>
            </a:solidFill>
            <a:ln w="17145">
              <a:solidFill>
                <a:srgbClr val="334E68"/>
              </a:solidFill>
            </a:ln>
          </p:spPr>
        </p:sp>
        <p:sp>
          <p:nvSpPr>
            <p:cNvPr id="96" name="Ellipse 96"/>
            <p:cNvSpPr/>
            <p:nvPr/>
          </p:nvSpPr>
          <p:spPr>
            <a:xfrm>
              <a:off x="6853238" y="3922395"/>
              <a:ext cx="209550" cy="209550"/>
            </a:xfrm>
            <a:prstGeom prst="ellipse">
              <a:avLst/>
            </a:prstGeom>
            <a:solidFill>
              <a:srgbClr val="FFFFFF"/>
            </a:solidFill>
            <a:ln w="17145">
              <a:solidFill>
                <a:srgbClr val="334E68"/>
              </a:solidFill>
            </a:ln>
          </p:spPr>
        </p:sp>
        <p:sp>
          <p:nvSpPr>
            <p:cNvPr id="97" name="Ellipse 97"/>
            <p:cNvSpPr/>
            <p:nvPr/>
          </p:nvSpPr>
          <p:spPr>
            <a:xfrm>
              <a:off x="6456998" y="4155758"/>
              <a:ext cx="209550" cy="209550"/>
            </a:xfrm>
            <a:prstGeom prst="ellipse">
              <a:avLst/>
            </a:prstGeom>
            <a:solidFill>
              <a:srgbClr val="FFFFFF"/>
            </a:solidFill>
            <a:ln w="17145">
              <a:solidFill>
                <a:srgbClr val="334E68"/>
              </a:solidFill>
            </a:ln>
          </p:spPr>
        </p:sp>
        <p:sp>
          <p:nvSpPr>
            <p:cNvPr id="98" name="Ellipse 98"/>
            <p:cNvSpPr/>
            <p:nvPr/>
          </p:nvSpPr>
          <p:spPr>
            <a:xfrm>
              <a:off x="5991225" y="4236720"/>
              <a:ext cx="209550" cy="209550"/>
            </a:xfrm>
            <a:prstGeom prst="ellipse">
              <a:avLst/>
            </a:prstGeom>
            <a:solidFill>
              <a:srgbClr val="FFFFFF"/>
            </a:solidFill>
            <a:ln w="17145">
              <a:solidFill>
                <a:srgbClr val="334E68"/>
              </a:solidFill>
            </a:ln>
          </p:spPr>
        </p:sp>
        <p:sp>
          <p:nvSpPr>
            <p:cNvPr id="99" name="Ellipse 99"/>
            <p:cNvSpPr/>
            <p:nvPr/>
          </p:nvSpPr>
          <p:spPr>
            <a:xfrm>
              <a:off x="5525452" y="4155758"/>
              <a:ext cx="209550" cy="209550"/>
            </a:xfrm>
            <a:prstGeom prst="ellipse">
              <a:avLst/>
            </a:prstGeom>
            <a:solidFill>
              <a:srgbClr val="FFFFFF"/>
            </a:solidFill>
            <a:ln w="17145">
              <a:solidFill>
                <a:srgbClr val="334E68"/>
              </a:solidFill>
            </a:ln>
          </p:spPr>
        </p:sp>
        <p:sp>
          <p:nvSpPr>
            <p:cNvPr id="100" name="Ellipse 100"/>
            <p:cNvSpPr/>
            <p:nvPr/>
          </p:nvSpPr>
          <p:spPr>
            <a:xfrm>
              <a:off x="5129212" y="3922395"/>
              <a:ext cx="209550" cy="209550"/>
            </a:xfrm>
            <a:prstGeom prst="ellipse">
              <a:avLst/>
            </a:prstGeom>
            <a:solidFill>
              <a:srgbClr val="FFFFFF"/>
            </a:solidFill>
            <a:ln w="17145">
              <a:solidFill>
                <a:srgbClr val="334E68"/>
              </a:solidFill>
            </a:ln>
          </p:spPr>
        </p:sp>
        <p:sp>
          <p:nvSpPr>
            <p:cNvPr id="101" name="Ellipse 101"/>
            <p:cNvSpPr/>
            <p:nvPr/>
          </p:nvSpPr>
          <p:spPr>
            <a:xfrm>
              <a:off x="4866322" y="3573780"/>
              <a:ext cx="209550" cy="209550"/>
            </a:xfrm>
            <a:prstGeom prst="ellipse">
              <a:avLst/>
            </a:prstGeom>
            <a:solidFill>
              <a:srgbClr val="FFFFFF"/>
            </a:solidFill>
            <a:ln w="17145">
              <a:solidFill>
                <a:srgbClr val="334E68"/>
              </a:solidFill>
            </a:ln>
          </p:spPr>
        </p:sp>
        <p:sp>
          <p:nvSpPr>
            <p:cNvPr id="102" name="Ellipse 102"/>
            <p:cNvSpPr/>
            <p:nvPr/>
          </p:nvSpPr>
          <p:spPr>
            <a:xfrm>
              <a:off x="4771072" y="3163252"/>
              <a:ext cx="209550" cy="209550"/>
            </a:xfrm>
            <a:prstGeom prst="ellipse">
              <a:avLst/>
            </a:prstGeom>
            <a:solidFill>
              <a:srgbClr val="FFFFFF"/>
            </a:solidFill>
            <a:ln w="17145">
              <a:solidFill>
                <a:srgbClr val="334E68"/>
              </a:solidFill>
            </a:ln>
          </p:spPr>
        </p:sp>
        <p:sp>
          <p:nvSpPr>
            <p:cNvPr id="103" name="Ellipse 103"/>
            <p:cNvSpPr/>
            <p:nvPr/>
          </p:nvSpPr>
          <p:spPr>
            <a:xfrm>
              <a:off x="4866322" y="2752725"/>
              <a:ext cx="209550" cy="209550"/>
            </a:xfrm>
            <a:prstGeom prst="ellipse">
              <a:avLst/>
            </a:prstGeom>
            <a:solidFill>
              <a:srgbClr val="FFFFFF"/>
            </a:solidFill>
            <a:ln w="17145">
              <a:solidFill>
                <a:srgbClr val="334E68"/>
              </a:solidFill>
            </a:ln>
          </p:spPr>
        </p:sp>
        <p:sp>
          <p:nvSpPr>
            <p:cNvPr id="104" name="Ellipse 104"/>
            <p:cNvSpPr/>
            <p:nvPr/>
          </p:nvSpPr>
          <p:spPr>
            <a:xfrm>
              <a:off x="5129212" y="2404110"/>
              <a:ext cx="209550" cy="209550"/>
            </a:xfrm>
            <a:prstGeom prst="ellipse">
              <a:avLst/>
            </a:prstGeom>
            <a:solidFill>
              <a:srgbClr val="FFFFFF"/>
            </a:solidFill>
            <a:ln w="17145">
              <a:solidFill>
                <a:srgbClr val="334E68"/>
              </a:solidFill>
            </a:ln>
          </p:spPr>
        </p:sp>
        <p:sp>
          <p:nvSpPr>
            <p:cNvPr id="105" name="Ellipse 105"/>
            <p:cNvSpPr/>
            <p:nvPr/>
          </p:nvSpPr>
          <p:spPr>
            <a:xfrm>
              <a:off x="5525452" y="2170748"/>
              <a:ext cx="209550" cy="209550"/>
            </a:xfrm>
            <a:prstGeom prst="ellipse">
              <a:avLst/>
            </a:prstGeom>
            <a:solidFill>
              <a:srgbClr val="FFFFFF"/>
            </a:solidFill>
            <a:ln w="17145">
              <a:solidFill>
                <a:srgbClr val="334E68"/>
              </a:solidFill>
            </a:ln>
          </p:spPr>
        </p:sp>
        <p:sp>
          <p:nvSpPr>
            <p:cNvPr id="106" name="TextBox 106"/>
            <p:cNvSpPr txBox="1"/>
            <p:nvPr/>
          </p:nvSpPr>
          <p:spPr>
            <a:xfrm>
              <a:off x="6056253" y="2139315"/>
              <a:ext cx="79494" cy="176212"/>
            </a:xfrm>
            <a:prstGeom prst="rect">
              <a:avLst/>
            </a:prstGeom>
            <a:noFill/>
            <a:ln>
              <a:noFill/>
            </a:ln>
          </p:spPr>
          <p:txBody>
            <a:bodyPr wrap="none" lIns="0" tIns="0" rIns="0" bIns="0" anchor="t" anchorCtr="0">
              <a:spAutoFit/>
            </a:bodyPr>
            <a:lstStyle/>
            <a:p>
              <a:pPr algn="ctr"/>
              <a:r>
                <a:rPr lang="zh-CN" sz="900" b="1" dirty="0">
                  <a:solidFill>
                    <a:srgbClr val="1F2937"/>
                  </a:solidFill>
                  <a:latin typeface="+mn-lt"/>
                  <a:ea typeface="+mn-ea"/>
                  <a:cs typeface="+mn-cs"/>
                </a:rPr>
                <a:t>0</a:t>
              </a:r>
            </a:p>
          </p:txBody>
        </p:sp>
        <p:sp>
          <p:nvSpPr>
            <p:cNvPr id="107" name="TextBox 107"/>
            <p:cNvSpPr txBox="1"/>
            <p:nvPr/>
          </p:nvSpPr>
          <p:spPr>
            <a:xfrm>
              <a:off x="6522026" y="2219325"/>
              <a:ext cx="79494" cy="176212"/>
            </a:xfrm>
            <a:prstGeom prst="rect">
              <a:avLst/>
            </a:prstGeom>
            <a:noFill/>
            <a:ln>
              <a:noFill/>
            </a:ln>
          </p:spPr>
          <p:txBody>
            <a:bodyPr wrap="none" lIns="0" tIns="0" rIns="0" bIns="0" anchor="t" anchorCtr="0">
              <a:spAutoFit/>
            </a:bodyPr>
            <a:lstStyle/>
            <a:p>
              <a:pPr algn="ctr"/>
              <a:r>
                <a:rPr lang="zh-CN" sz="900" b="1" dirty="0">
                  <a:solidFill>
                    <a:srgbClr val="1F2937"/>
                  </a:solidFill>
                  <a:latin typeface="+mn-lt"/>
                  <a:ea typeface="+mn-ea"/>
                  <a:cs typeface="+mn-cs"/>
                </a:rPr>
                <a:t>1</a:t>
              </a:r>
            </a:p>
          </p:txBody>
        </p:sp>
        <p:sp>
          <p:nvSpPr>
            <p:cNvPr id="108" name="TextBox 108"/>
            <p:cNvSpPr txBox="1"/>
            <p:nvPr/>
          </p:nvSpPr>
          <p:spPr>
            <a:xfrm>
              <a:off x="6918266" y="2452688"/>
              <a:ext cx="79494" cy="176212"/>
            </a:xfrm>
            <a:prstGeom prst="rect">
              <a:avLst/>
            </a:prstGeom>
            <a:noFill/>
            <a:ln>
              <a:noFill/>
            </a:ln>
          </p:spPr>
          <p:txBody>
            <a:bodyPr wrap="none" lIns="0" tIns="0" rIns="0" bIns="0" anchor="t" anchorCtr="0">
              <a:spAutoFit/>
            </a:bodyPr>
            <a:lstStyle/>
            <a:p>
              <a:pPr algn="ctr"/>
              <a:r>
                <a:rPr lang="zh-CN" sz="900" b="1" dirty="0">
                  <a:solidFill>
                    <a:srgbClr val="1F2937"/>
                  </a:solidFill>
                  <a:latin typeface="+mn-lt"/>
                  <a:ea typeface="+mn-ea"/>
                  <a:cs typeface="+mn-cs"/>
                </a:rPr>
                <a:t>2</a:t>
              </a:r>
            </a:p>
          </p:txBody>
        </p:sp>
        <p:sp>
          <p:nvSpPr>
            <p:cNvPr id="109" name="TextBox 109"/>
            <p:cNvSpPr txBox="1"/>
            <p:nvPr/>
          </p:nvSpPr>
          <p:spPr>
            <a:xfrm>
              <a:off x="7181156" y="2802255"/>
              <a:ext cx="79494" cy="176212"/>
            </a:xfrm>
            <a:prstGeom prst="rect">
              <a:avLst/>
            </a:prstGeom>
            <a:noFill/>
            <a:ln>
              <a:noFill/>
            </a:ln>
          </p:spPr>
          <p:txBody>
            <a:bodyPr wrap="none" lIns="0" tIns="0" rIns="0" bIns="0" anchor="t" anchorCtr="0">
              <a:spAutoFit/>
            </a:bodyPr>
            <a:lstStyle/>
            <a:p>
              <a:pPr algn="ctr"/>
              <a:r>
                <a:rPr lang="zh-CN" sz="900" b="1" dirty="0">
                  <a:solidFill>
                    <a:srgbClr val="1F2937"/>
                  </a:solidFill>
                  <a:latin typeface="+mn-lt"/>
                  <a:ea typeface="+mn-ea"/>
                  <a:cs typeface="+mn-cs"/>
                </a:rPr>
                <a:t>3</a:t>
              </a:r>
            </a:p>
          </p:txBody>
        </p:sp>
        <p:sp>
          <p:nvSpPr>
            <p:cNvPr id="110" name="TextBox 110"/>
            <p:cNvSpPr txBox="1"/>
            <p:nvPr/>
          </p:nvSpPr>
          <p:spPr>
            <a:xfrm>
              <a:off x="7276406" y="3211830"/>
              <a:ext cx="79494" cy="176212"/>
            </a:xfrm>
            <a:prstGeom prst="rect">
              <a:avLst/>
            </a:prstGeom>
            <a:noFill/>
            <a:ln>
              <a:noFill/>
            </a:ln>
          </p:spPr>
          <p:txBody>
            <a:bodyPr wrap="none" lIns="0" tIns="0" rIns="0" bIns="0" anchor="t" anchorCtr="0">
              <a:spAutoFit/>
            </a:bodyPr>
            <a:lstStyle/>
            <a:p>
              <a:pPr algn="ctr"/>
              <a:r>
                <a:rPr lang="zh-CN" sz="900" b="1" dirty="0">
                  <a:solidFill>
                    <a:srgbClr val="1F2937"/>
                  </a:solidFill>
                  <a:latin typeface="+mn-lt"/>
                  <a:ea typeface="+mn-ea"/>
                  <a:cs typeface="+mn-cs"/>
                </a:rPr>
                <a:t>4</a:t>
              </a:r>
            </a:p>
          </p:txBody>
        </p:sp>
        <p:sp>
          <p:nvSpPr>
            <p:cNvPr id="111" name="TextBox 111"/>
            <p:cNvSpPr txBox="1"/>
            <p:nvPr/>
          </p:nvSpPr>
          <p:spPr>
            <a:xfrm>
              <a:off x="7181156" y="3622358"/>
              <a:ext cx="79494" cy="176212"/>
            </a:xfrm>
            <a:prstGeom prst="rect">
              <a:avLst/>
            </a:prstGeom>
            <a:noFill/>
            <a:ln>
              <a:noFill/>
            </a:ln>
          </p:spPr>
          <p:txBody>
            <a:bodyPr wrap="none" lIns="0" tIns="0" rIns="0" bIns="0" anchor="t" anchorCtr="0">
              <a:spAutoFit/>
            </a:bodyPr>
            <a:lstStyle/>
            <a:p>
              <a:pPr algn="ctr"/>
              <a:r>
                <a:rPr lang="zh-CN" sz="900" b="1" dirty="0">
                  <a:solidFill>
                    <a:srgbClr val="1F2937"/>
                  </a:solidFill>
                  <a:latin typeface="+mn-lt"/>
                  <a:ea typeface="+mn-ea"/>
                  <a:cs typeface="+mn-cs"/>
                </a:rPr>
                <a:t>5</a:t>
              </a:r>
            </a:p>
          </p:txBody>
        </p:sp>
        <p:sp>
          <p:nvSpPr>
            <p:cNvPr id="112" name="TextBox 112"/>
            <p:cNvSpPr txBox="1"/>
            <p:nvPr/>
          </p:nvSpPr>
          <p:spPr>
            <a:xfrm>
              <a:off x="6918266" y="3970973"/>
              <a:ext cx="79494" cy="176212"/>
            </a:xfrm>
            <a:prstGeom prst="rect">
              <a:avLst/>
            </a:prstGeom>
            <a:noFill/>
            <a:ln>
              <a:noFill/>
            </a:ln>
          </p:spPr>
          <p:txBody>
            <a:bodyPr wrap="none" lIns="0" tIns="0" rIns="0" bIns="0" anchor="t" anchorCtr="0">
              <a:spAutoFit/>
            </a:bodyPr>
            <a:lstStyle/>
            <a:p>
              <a:pPr algn="ctr"/>
              <a:r>
                <a:rPr lang="zh-CN" sz="900" b="1" dirty="0">
                  <a:solidFill>
                    <a:srgbClr val="1F2937"/>
                  </a:solidFill>
                  <a:latin typeface="+mn-lt"/>
                  <a:ea typeface="+mn-ea"/>
                  <a:cs typeface="+mn-cs"/>
                </a:rPr>
                <a:t>6</a:t>
              </a:r>
            </a:p>
          </p:txBody>
        </p:sp>
        <p:sp>
          <p:nvSpPr>
            <p:cNvPr id="113" name="TextBox 113"/>
            <p:cNvSpPr txBox="1"/>
            <p:nvPr/>
          </p:nvSpPr>
          <p:spPr>
            <a:xfrm>
              <a:off x="6522026" y="4204335"/>
              <a:ext cx="79494" cy="176212"/>
            </a:xfrm>
            <a:prstGeom prst="rect">
              <a:avLst/>
            </a:prstGeom>
            <a:noFill/>
            <a:ln>
              <a:noFill/>
            </a:ln>
          </p:spPr>
          <p:txBody>
            <a:bodyPr wrap="none" lIns="0" tIns="0" rIns="0" bIns="0" anchor="t" anchorCtr="0">
              <a:spAutoFit/>
            </a:bodyPr>
            <a:lstStyle/>
            <a:p>
              <a:pPr algn="ctr"/>
              <a:r>
                <a:rPr lang="zh-CN" sz="900" b="1" dirty="0">
                  <a:solidFill>
                    <a:srgbClr val="1F2937"/>
                  </a:solidFill>
                  <a:latin typeface="+mn-lt"/>
                  <a:ea typeface="+mn-ea"/>
                  <a:cs typeface="+mn-cs"/>
                </a:rPr>
                <a:t>7</a:t>
              </a:r>
            </a:p>
          </p:txBody>
        </p:sp>
        <p:sp>
          <p:nvSpPr>
            <p:cNvPr id="114" name="TextBox 114"/>
            <p:cNvSpPr txBox="1"/>
            <p:nvPr/>
          </p:nvSpPr>
          <p:spPr>
            <a:xfrm>
              <a:off x="6056253" y="4285298"/>
              <a:ext cx="79494" cy="176212"/>
            </a:xfrm>
            <a:prstGeom prst="rect">
              <a:avLst/>
            </a:prstGeom>
            <a:noFill/>
            <a:ln>
              <a:noFill/>
            </a:ln>
          </p:spPr>
          <p:txBody>
            <a:bodyPr wrap="none" lIns="0" tIns="0" rIns="0" bIns="0" anchor="t" anchorCtr="0">
              <a:spAutoFit/>
            </a:bodyPr>
            <a:lstStyle/>
            <a:p>
              <a:pPr algn="ctr"/>
              <a:r>
                <a:rPr lang="zh-CN" sz="900" b="1" dirty="0">
                  <a:solidFill>
                    <a:srgbClr val="1F2937"/>
                  </a:solidFill>
                  <a:latin typeface="+mn-lt"/>
                  <a:ea typeface="+mn-ea"/>
                  <a:cs typeface="+mn-cs"/>
                </a:rPr>
                <a:t>8</a:t>
              </a:r>
            </a:p>
          </p:txBody>
        </p:sp>
        <p:sp>
          <p:nvSpPr>
            <p:cNvPr id="115" name="TextBox 115"/>
            <p:cNvSpPr txBox="1"/>
            <p:nvPr/>
          </p:nvSpPr>
          <p:spPr>
            <a:xfrm>
              <a:off x="5590481" y="4204335"/>
              <a:ext cx="79494" cy="176212"/>
            </a:xfrm>
            <a:prstGeom prst="rect">
              <a:avLst/>
            </a:prstGeom>
            <a:noFill/>
            <a:ln>
              <a:noFill/>
            </a:ln>
          </p:spPr>
          <p:txBody>
            <a:bodyPr wrap="none" lIns="0" tIns="0" rIns="0" bIns="0" anchor="t" anchorCtr="0">
              <a:spAutoFit/>
            </a:bodyPr>
            <a:lstStyle/>
            <a:p>
              <a:pPr algn="ctr"/>
              <a:r>
                <a:rPr lang="zh-CN" sz="900" b="1" dirty="0">
                  <a:solidFill>
                    <a:srgbClr val="1F2937"/>
                  </a:solidFill>
                  <a:latin typeface="+mn-lt"/>
                  <a:ea typeface="+mn-ea"/>
                  <a:cs typeface="+mn-cs"/>
                </a:rPr>
                <a:t>9</a:t>
              </a:r>
            </a:p>
          </p:txBody>
        </p:sp>
        <p:sp>
          <p:nvSpPr>
            <p:cNvPr id="116" name="TextBox 116"/>
            <p:cNvSpPr txBox="1"/>
            <p:nvPr/>
          </p:nvSpPr>
          <p:spPr>
            <a:xfrm>
              <a:off x="5159256" y="3970973"/>
              <a:ext cx="149462" cy="176212"/>
            </a:xfrm>
            <a:prstGeom prst="rect">
              <a:avLst/>
            </a:prstGeom>
            <a:noFill/>
            <a:ln>
              <a:noFill/>
            </a:ln>
          </p:spPr>
          <p:txBody>
            <a:bodyPr wrap="none" lIns="0" tIns="0" rIns="0" bIns="0" anchor="t" anchorCtr="0">
              <a:spAutoFit/>
            </a:bodyPr>
            <a:lstStyle/>
            <a:p>
              <a:pPr algn="ctr"/>
              <a:r>
                <a:rPr lang="zh-CN" sz="900" b="1" dirty="0">
                  <a:solidFill>
                    <a:srgbClr val="1F2937"/>
                  </a:solidFill>
                  <a:latin typeface="+mn-lt"/>
                  <a:ea typeface="+mn-ea"/>
                  <a:cs typeface="+mn-cs"/>
                </a:rPr>
                <a:t>10</a:t>
              </a:r>
            </a:p>
          </p:txBody>
        </p:sp>
        <p:sp>
          <p:nvSpPr>
            <p:cNvPr id="117" name="TextBox 117"/>
            <p:cNvSpPr txBox="1"/>
            <p:nvPr/>
          </p:nvSpPr>
          <p:spPr>
            <a:xfrm>
              <a:off x="4896366" y="3622358"/>
              <a:ext cx="149462" cy="176212"/>
            </a:xfrm>
            <a:prstGeom prst="rect">
              <a:avLst/>
            </a:prstGeom>
            <a:noFill/>
            <a:ln>
              <a:noFill/>
            </a:ln>
          </p:spPr>
          <p:txBody>
            <a:bodyPr wrap="none" lIns="0" tIns="0" rIns="0" bIns="0" anchor="t" anchorCtr="0">
              <a:spAutoFit/>
            </a:bodyPr>
            <a:lstStyle/>
            <a:p>
              <a:pPr algn="ctr"/>
              <a:r>
                <a:rPr lang="zh-CN" sz="900" b="1" dirty="0">
                  <a:solidFill>
                    <a:srgbClr val="1F2937"/>
                  </a:solidFill>
                  <a:latin typeface="+mn-lt"/>
                  <a:ea typeface="+mn-ea"/>
                  <a:cs typeface="+mn-cs"/>
                </a:rPr>
                <a:t>11</a:t>
              </a:r>
            </a:p>
          </p:txBody>
        </p:sp>
        <p:sp>
          <p:nvSpPr>
            <p:cNvPr id="118" name="TextBox 118"/>
            <p:cNvSpPr txBox="1"/>
            <p:nvPr/>
          </p:nvSpPr>
          <p:spPr>
            <a:xfrm>
              <a:off x="4801116" y="3211830"/>
              <a:ext cx="149462" cy="176212"/>
            </a:xfrm>
            <a:prstGeom prst="rect">
              <a:avLst/>
            </a:prstGeom>
            <a:noFill/>
            <a:ln>
              <a:noFill/>
            </a:ln>
          </p:spPr>
          <p:txBody>
            <a:bodyPr wrap="none" lIns="0" tIns="0" rIns="0" bIns="0" anchor="t" anchorCtr="0">
              <a:spAutoFit/>
            </a:bodyPr>
            <a:lstStyle/>
            <a:p>
              <a:pPr algn="ctr"/>
              <a:r>
                <a:rPr lang="zh-CN" sz="900" b="1" dirty="0">
                  <a:solidFill>
                    <a:srgbClr val="1F2937"/>
                  </a:solidFill>
                  <a:latin typeface="+mn-lt"/>
                  <a:ea typeface="+mn-ea"/>
                  <a:cs typeface="+mn-cs"/>
                </a:rPr>
                <a:t>12</a:t>
              </a:r>
            </a:p>
          </p:txBody>
        </p:sp>
        <p:sp>
          <p:nvSpPr>
            <p:cNvPr id="119" name="TextBox 119"/>
            <p:cNvSpPr txBox="1"/>
            <p:nvPr/>
          </p:nvSpPr>
          <p:spPr>
            <a:xfrm>
              <a:off x="4896366" y="2802255"/>
              <a:ext cx="149462" cy="176212"/>
            </a:xfrm>
            <a:prstGeom prst="rect">
              <a:avLst/>
            </a:prstGeom>
            <a:noFill/>
            <a:ln>
              <a:noFill/>
            </a:ln>
          </p:spPr>
          <p:txBody>
            <a:bodyPr wrap="none" lIns="0" tIns="0" rIns="0" bIns="0" anchor="t" anchorCtr="0">
              <a:spAutoFit/>
            </a:bodyPr>
            <a:lstStyle/>
            <a:p>
              <a:pPr algn="ctr"/>
              <a:r>
                <a:rPr lang="zh-CN" sz="900" b="1" dirty="0">
                  <a:solidFill>
                    <a:srgbClr val="1F2937"/>
                  </a:solidFill>
                  <a:latin typeface="+mn-lt"/>
                  <a:ea typeface="+mn-ea"/>
                  <a:cs typeface="+mn-cs"/>
                </a:rPr>
                <a:t>13</a:t>
              </a:r>
            </a:p>
          </p:txBody>
        </p:sp>
        <p:sp>
          <p:nvSpPr>
            <p:cNvPr id="120" name="TextBox 120"/>
            <p:cNvSpPr txBox="1"/>
            <p:nvPr/>
          </p:nvSpPr>
          <p:spPr>
            <a:xfrm>
              <a:off x="5159256" y="2452688"/>
              <a:ext cx="149462" cy="176212"/>
            </a:xfrm>
            <a:prstGeom prst="rect">
              <a:avLst/>
            </a:prstGeom>
            <a:noFill/>
            <a:ln>
              <a:noFill/>
            </a:ln>
          </p:spPr>
          <p:txBody>
            <a:bodyPr wrap="none" lIns="0" tIns="0" rIns="0" bIns="0" anchor="t" anchorCtr="0">
              <a:spAutoFit/>
            </a:bodyPr>
            <a:lstStyle/>
            <a:p>
              <a:pPr algn="ctr"/>
              <a:r>
                <a:rPr lang="zh-CN" sz="900" b="1" dirty="0">
                  <a:solidFill>
                    <a:srgbClr val="1F2937"/>
                  </a:solidFill>
                  <a:latin typeface="+mn-lt"/>
                  <a:ea typeface="+mn-ea"/>
                  <a:cs typeface="+mn-cs"/>
                </a:rPr>
                <a:t>14</a:t>
              </a:r>
            </a:p>
          </p:txBody>
        </p:sp>
        <p:sp>
          <p:nvSpPr>
            <p:cNvPr id="121" name="TextBox 121"/>
            <p:cNvSpPr txBox="1"/>
            <p:nvPr/>
          </p:nvSpPr>
          <p:spPr>
            <a:xfrm>
              <a:off x="5555496" y="2219325"/>
              <a:ext cx="149462" cy="176212"/>
            </a:xfrm>
            <a:prstGeom prst="rect">
              <a:avLst/>
            </a:prstGeom>
            <a:noFill/>
            <a:ln>
              <a:noFill/>
            </a:ln>
          </p:spPr>
          <p:txBody>
            <a:bodyPr wrap="none" lIns="0" tIns="0" rIns="0" bIns="0" anchor="t" anchorCtr="0">
              <a:spAutoFit/>
            </a:bodyPr>
            <a:lstStyle/>
            <a:p>
              <a:pPr algn="ctr"/>
              <a:r>
                <a:rPr lang="zh-CN" sz="900" b="1" dirty="0">
                  <a:solidFill>
                    <a:srgbClr val="1F2937"/>
                  </a:solidFill>
                  <a:latin typeface="+mn-lt"/>
                  <a:ea typeface="+mn-ea"/>
                  <a:cs typeface="+mn-cs"/>
                </a:rPr>
                <a:t>15</a:t>
              </a:r>
            </a:p>
          </p:txBody>
        </p:sp>
      </p:grpSp>
      <p:grpSp>
        <p:nvGrpSpPr>
          <p:cNvPr id="124" name="c2-text-3"/>
          <p:cNvGrpSpPr/>
          <p:nvPr/>
        </p:nvGrpSpPr>
        <p:grpSpPr>
          <a:xfrm>
            <a:off x="4337685" y="4798219"/>
            <a:ext cx="3290062" cy="441008"/>
            <a:chOff x="4337685" y="4798219"/>
            <a:chExt cx="3290062" cy="441008"/>
          </a:xfrm>
        </p:grpSpPr>
        <p:sp>
          <p:nvSpPr>
            <p:cNvPr id="123" name="TextBox 123"/>
            <p:cNvSpPr txBox="1"/>
            <p:nvPr/>
          </p:nvSpPr>
          <p:spPr>
            <a:xfrm>
              <a:off x="4337685" y="4798219"/>
              <a:ext cx="3290062" cy="441008"/>
            </a:xfrm>
            <a:prstGeom prst="rect">
              <a:avLst/>
            </a:prstGeom>
            <a:noFill/>
            <a:ln>
              <a:noFill/>
            </a:ln>
          </p:spPr>
          <p:txBody>
            <a:bodyPr wrap="none" lIns="0" tIns="0" rIns="0" bIns="0" anchor="t" anchorCtr="0">
              <a:spAutoFit/>
            </a:bodyPr>
            <a:lstStyle/>
            <a:p>
              <a:pPr algn="l">
                <a:lnSpc>
                  <a:spcPts val="1740"/>
                </a:lnSpc>
              </a:pPr>
              <a:r>
                <a:rPr lang="zh-CN" sz="1120" dirty="0">
                  <a:solidFill>
                    <a:srgbClr val="1F2937"/>
                  </a:solidFill>
                  <a:latin typeface="+mn-lt"/>
                  <a:ea typeface="+mn-ea"/>
                  <a:cs typeface="+mn-cs"/>
                </a:rPr>
                <a:t>奇数号节点 i 再连 i + 3（橙色弦）。直径 5、对剖宽</a:t>
              </a:r>
              <a:br/>
              <a:r>
                <a:rPr lang="zh-CN" sz="1120" dirty="0">
                  <a:solidFill>
                    <a:srgbClr val="1F2937"/>
                  </a:solidFill>
                  <a:latin typeface="+mn-lt"/>
                  <a:ea typeface="+mn-ea"/>
                  <a:cs typeface="+mn-cs"/>
                </a:rPr>
                <a:t>度 4，同样 16 个节点的环分别是 8 和 2。</a:t>
              </a:r>
            </a:p>
          </p:txBody>
        </p:sp>
      </p:grpSp>
      <p:grpSp>
        <p:nvGrpSpPr>
          <p:cNvPr id="126" name="c3-text-1"/>
          <p:cNvGrpSpPr/>
          <p:nvPr/>
        </p:nvGrpSpPr>
        <p:grpSpPr>
          <a:xfrm>
            <a:off x="8146542" y="1545907"/>
            <a:ext cx="1354455" cy="264033"/>
            <a:chOff x="8146542" y="1545907"/>
            <a:chExt cx="1354455" cy="264033"/>
          </a:xfrm>
        </p:grpSpPr>
        <p:sp>
          <p:nvSpPr>
            <p:cNvPr id="125" name="TextBox 125"/>
            <p:cNvSpPr txBox="1"/>
            <p:nvPr/>
          </p:nvSpPr>
          <p:spPr>
            <a:xfrm>
              <a:off x="8146542" y="1545907"/>
              <a:ext cx="1354455"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全连接</a:t>
              </a:r>
              <a:r>
                <a:rPr lang="zh-CN" sz="1350" dirty="0">
                  <a:solidFill>
                    <a:srgbClr val="1F2937"/>
                  </a:solidFill>
                  <a:latin typeface="+mn-lt"/>
                  <a:ea typeface="+mn-ea"/>
                  <a:cs typeface="+mn-cs"/>
                </a:rPr>
                <a:t>（N = 8）</a:t>
              </a:r>
            </a:p>
          </p:txBody>
        </p:sp>
      </p:grpSp>
      <p:grpSp>
        <p:nvGrpSpPr>
          <p:cNvPr id="171" name="c3-graph-2"/>
          <p:cNvGrpSpPr/>
          <p:nvPr/>
        </p:nvGrpSpPr>
        <p:grpSpPr>
          <a:xfrm>
            <a:off x="8610600" y="2113598"/>
            <a:ext cx="2590800" cy="2315526"/>
            <a:chOff x="8610600" y="2113598"/>
            <a:chExt cx="2590800" cy="2315526"/>
          </a:xfrm>
        </p:grpSpPr>
        <p:sp>
          <p:nvSpPr>
            <p:cNvPr id="127" name="Freeform 127"/>
            <p:cNvSpPr/>
            <p:nvPr/>
          </p:nvSpPr>
          <p:spPr>
            <a:xfrm>
              <a:off x="10022205" y="2269808"/>
              <a:ext cx="601980" cy="220980"/>
            </a:xfrm>
            <a:custGeom>
              <a:avLst/>
              <a:gdLst/>
              <a:ahLst/>
              <a:cxnLst/>
              <a:rect l="l" t="t" r="r" b="b"/>
              <a:pathLst>
                <a:path w="601980" h="220980">
                  <a:moveTo>
                    <a:pt x="0" y="0"/>
                  </a:moveTo>
                  <a:lnTo>
                    <a:pt x="601980" y="220980"/>
                  </a:lnTo>
                </a:path>
              </a:pathLst>
            </a:custGeom>
            <a:noFill/>
            <a:ln w="17145">
              <a:solidFill>
                <a:srgbClr val="1F2937"/>
              </a:solidFill>
            </a:ln>
          </p:spPr>
        </p:sp>
        <p:sp>
          <p:nvSpPr>
            <p:cNvPr id="128" name="Freeform 128"/>
            <p:cNvSpPr/>
            <p:nvPr/>
          </p:nvSpPr>
          <p:spPr>
            <a:xfrm>
              <a:off x="10792778" y="2645092"/>
              <a:ext cx="241935" cy="511492"/>
            </a:xfrm>
            <a:custGeom>
              <a:avLst/>
              <a:gdLst/>
              <a:ahLst/>
              <a:cxnLst/>
              <a:rect l="l" t="t" r="r" b="b"/>
              <a:pathLst>
                <a:path w="241935" h="511492">
                  <a:moveTo>
                    <a:pt x="0" y="0"/>
                  </a:moveTo>
                  <a:lnTo>
                    <a:pt x="241935" y="511492"/>
                  </a:lnTo>
                </a:path>
              </a:pathLst>
            </a:custGeom>
            <a:noFill/>
            <a:ln w="17145">
              <a:solidFill>
                <a:srgbClr val="1F2937"/>
              </a:solidFill>
            </a:ln>
          </p:spPr>
        </p:sp>
        <p:sp>
          <p:nvSpPr>
            <p:cNvPr id="129" name="Freeform 129"/>
            <p:cNvSpPr/>
            <p:nvPr/>
          </p:nvSpPr>
          <p:spPr>
            <a:xfrm>
              <a:off x="10792778" y="3380422"/>
              <a:ext cx="241935" cy="510540"/>
            </a:xfrm>
            <a:custGeom>
              <a:avLst/>
              <a:gdLst/>
              <a:ahLst/>
              <a:cxnLst/>
              <a:rect l="l" t="t" r="r" b="b"/>
              <a:pathLst>
                <a:path w="241935" h="510540">
                  <a:moveTo>
                    <a:pt x="241935" y="0"/>
                  </a:moveTo>
                  <a:lnTo>
                    <a:pt x="0" y="510540"/>
                  </a:lnTo>
                </a:path>
              </a:pathLst>
            </a:custGeom>
            <a:noFill/>
            <a:ln w="17145">
              <a:solidFill>
                <a:srgbClr val="1F2937"/>
              </a:solidFill>
            </a:ln>
          </p:spPr>
        </p:sp>
        <p:sp>
          <p:nvSpPr>
            <p:cNvPr id="130" name="Freeform 130"/>
            <p:cNvSpPr/>
            <p:nvPr/>
          </p:nvSpPr>
          <p:spPr>
            <a:xfrm>
              <a:off x="10022205" y="4046220"/>
              <a:ext cx="601980" cy="220027"/>
            </a:xfrm>
            <a:custGeom>
              <a:avLst/>
              <a:gdLst/>
              <a:ahLst/>
              <a:cxnLst/>
              <a:rect l="l" t="t" r="r" b="b"/>
              <a:pathLst>
                <a:path w="601980" h="220027">
                  <a:moveTo>
                    <a:pt x="601980" y="0"/>
                  </a:moveTo>
                  <a:lnTo>
                    <a:pt x="0" y="220027"/>
                  </a:lnTo>
                </a:path>
              </a:pathLst>
            </a:custGeom>
            <a:noFill/>
            <a:ln w="17145">
              <a:solidFill>
                <a:srgbClr val="1F2937"/>
              </a:solidFill>
            </a:ln>
          </p:spPr>
        </p:sp>
        <p:sp>
          <p:nvSpPr>
            <p:cNvPr id="131" name="Freeform 131"/>
            <p:cNvSpPr/>
            <p:nvPr/>
          </p:nvSpPr>
          <p:spPr>
            <a:xfrm>
              <a:off x="9187815" y="4046220"/>
              <a:ext cx="601980" cy="220027"/>
            </a:xfrm>
            <a:custGeom>
              <a:avLst/>
              <a:gdLst/>
              <a:ahLst/>
              <a:cxnLst/>
              <a:rect l="l" t="t" r="r" b="b"/>
              <a:pathLst>
                <a:path w="601980" h="220027">
                  <a:moveTo>
                    <a:pt x="601980" y="220027"/>
                  </a:moveTo>
                  <a:lnTo>
                    <a:pt x="0" y="0"/>
                  </a:lnTo>
                </a:path>
              </a:pathLst>
            </a:custGeom>
            <a:noFill/>
            <a:ln w="17145">
              <a:solidFill>
                <a:srgbClr val="1F2937"/>
              </a:solidFill>
            </a:ln>
          </p:spPr>
        </p:sp>
        <p:sp>
          <p:nvSpPr>
            <p:cNvPr id="132" name="Freeform 132"/>
            <p:cNvSpPr/>
            <p:nvPr/>
          </p:nvSpPr>
          <p:spPr>
            <a:xfrm>
              <a:off x="8777288" y="3380422"/>
              <a:ext cx="241935" cy="510540"/>
            </a:xfrm>
            <a:custGeom>
              <a:avLst/>
              <a:gdLst/>
              <a:ahLst/>
              <a:cxnLst/>
              <a:rect l="l" t="t" r="r" b="b"/>
              <a:pathLst>
                <a:path w="241935" h="510540">
                  <a:moveTo>
                    <a:pt x="241935" y="510540"/>
                  </a:moveTo>
                  <a:lnTo>
                    <a:pt x="0" y="0"/>
                  </a:lnTo>
                </a:path>
              </a:pathLst>
            </a:custGeom>
            <a:noFill/>
            <a:ln w="17145">
              <a:solidFill>
                <a:srgbClr val="1F2937"/>
              </a:solidFill>
            </a:ln>
          </p:spPr>
        </p:sp>
        <p:sp>
          <p:nvSpPr>
            <p:cNvPr id="133" name="Freeform 133"/>
            <p:cNvSpPr/>
            <p:nvPr/>
          </p:nvSpPr>
          <p:spPr>
            <a:xfrm>
              <a:off x="8777288" y="2645092"/>
              <a:ext cx="241935" cy="511492"/>
            </a:xfrm>
            <a:custGeom>
              <a:avLst/>
              <a:gdLst/>
              <a:ahLst/>
              <a:cxnLst/>
              <a:rect l="l" t="t" r="r" b="b"/>
              <a:pathLst>
                <a:path w="241935" h="511492">
                  <a:moveTo>
                    <a:pt x="0" y="511492"/>
                  </a:moveTo>
                  <a:lnTo>
                    <a:pt x="241935" y="0"/>
                  </a:lnTo>
                </a:path>
              </a:pathLst>
            </a:custGeom>
            <a:noFill/>
            <a:ln w="17145">
              <a:solidFill>
                <a:srgbClr val="1F2937"/>
              </a:solidFill>
            </a:ln>
          </p:spPr>
        </p:sp>
        <p:sp>
          <p:nvSpPr>
            <p:cNvPr id="134" name="Freeform 134"/>
            <p:cNvSpPr/>
            <p:nvPr/>
          </p:nvSpPr>
          <p:spPr>
            <a:xfrm>
              <a:off x="9187815" y="2269808"/>
              <a:ext cx="601980" cy="220980"/>
            </a:xfrm>
            <a:custGeom>
              <a:avLst/>
              <a:gdLst/>
              <a:ahLst/>
              <a:cxnLst/>
              <a:rect l="l" t="t" r="r" b="b"/>
              <a:pathLst>
                <a:path w="601980" h="220980">
                  <a:moveTo>
                    <a:pt x="0" y="220980"/>
                  </a:moveTo>
                  <a:lnTo>
                    <a:pt x="601980" y="0"/>
                  </a:lnTo>
                </a:path>
              </a:pathLst>
            </a:custGeom>
            <a:noFill/>
            <a:ln w="17145">
              <a:solidFill>
                <a:srgbClr val="1F2937"/>
              </a:solidFill>
            </a:ln>
          </p:spPr>
        </p:sp>
        <p:sp>
          <p:nvSpPr>
            <p:cNvPr id="135" name="Freeform 135"/>
            <p:cNvSpPr/>
            <p:nvPr/>
          </p:nvSpPr>
          <p:spPr>
            <a:xfrm>
              <a:off x="9999345" y="2309812"/>
              <a:ext cx="995362" cy="876300"/>
            </a:xfrm>
            <a:custGeom>
              <a:avLst/>
              <a:gdLst/>
              <a:ahLst/>
              <a:cxnLst/>
              <a:rect l="l" t="t" r="r" b="b"/>
              <a:pathLst>
                <a:path w="995362" h="876300">
                  <a:moveTo>
                    <a:pt x="0" y="0"/>
                  </a:moveTo>
                  <a:lnTo>
                    <a:pt x="995362" y="876300"/>
                  </a:lnTo>
                </a:path>
              </a:pathLst>
            </a:custGeom>
            <a:noFill/>
            <a:ln w="17145">
              <a:solidFill>
                <a:srgbClr val="1F2937"/>
              </a:solidFill>
            </a:ln>
          </p:spPr>
        </p:sp>
        <p:sp>
          <p:nvSpPr>
            <p:cNvPr id="136" name="Freeform 136"/>
            <p:cNvSpPr/>
            <p:nvPr/>
          </p:nvSpPr>
          <p:spPr>
            <a:xfrm>
              <a:off x="9958388" y="2339340"/>
              <a:ext cx="729615" cy="1551622"/>
            </a:xfrm>
            <a:custGeom>
              <a:avLst/>
              <a:gdLst/>
              <a:ahLst/>
              <a:cxnLst/>
              <a:rect l="l" t="t" r="r" b="b"/>
              <a:pathLst>
                <a:path w="729615" h="1551622">
                  <a:moveTo>
                    <a:pt x="0" y="0"/>
                  </a:moveTo>
                  <a:lnTo>
                    <a:pt x="729615" y="1551622"/>
                  </a:lnTo>
                </a:path>
              </a:pathLst>
            </a:custGeom>
            <a:noFill/>
            <a:ln w="17145">
              <a:solidFill>
                <a:srgbClr val="1F2937"/>
              </a:solidFill>
            </a:ln>
          </p:spPr>
        </p:sp>
        <p:sp>
          <p:nvSpPr>
            <p:cNvPr id="137" name="Freeform 137"/>
            <p:cNvSpPr/>
            <p:nvPr/>
          </p:nvSpPr>
          <p:spPr>
            <a:xfrm>
              <a:off x="9906000" y="2351722"/>
              <a:ext cx="9525" cy="1833562"/>
            </a:xfrm>
            <a:custGeom>
              <a:avLst/>
              <a:gdLst/>
              <a:ahLst/>
              <a:cxnLst/>
              <a:rect l="l" t="t" r="r" b="b"/>
              <a:pathLst>
                <a:path w="9525" h="1833562">
                  <a:moveTo>
                    <a:pt x="0" y="0"/>
                  </a:moveTo>
                  <a:lnTo>
                    <a:pt x="0" y="1833562"/>
                  </a:lnTo>
                </a:path>
              </a:pathLst>
            </a:custGeom>
            <a:noFill/>
            <a:ln w="17145">
              <a:solidFill>
                <a:srgbClr val="1F2937"/>
              </a:solidFill>
            </a:ln>
          </p:spPr>
        </p:sp>
        <p:sp>
          <p:nvSpPr>
            <p:cNvPr id="138" name="Freeform 138"/>
            <p:cNvSpPr/>
            <p:nvPr/>
          </p:nvSpPr>
          <p:spPr>
            <a:xfrm>
              <a:off x="9123998" y="2339340"/>
              <a:ext cx="729615" cy="1551622"/>
            </a:xfrm>
            <a:custGeom>
              <a:avLst/>
              <a:gdLst/>
              <a:ahLst/>
              <a:cxnLst/>
              <a:rect l="l" t="t" r="r" b="b"/>
              <a:pathLst>
                <a:path w="729615" h="1551622">
                  <a:moveTo>
                    <a:pt x="729615" y="0"/>
                  </a:moveTo>
                  <a:lnTo>
                    <a:pt x="0" y="1551622"/>
                  </a:lnTo>
                </a:path>
              </a:pathLst>
            </a:custGeom>
            <a:noFill/>
            <a:ln w="17145">
              <a:solidFill>
                <a:srgbClr val="1F2937"/>
              </a:solidFill>
            </a:ln>
          </p:spPr>
        </p:sp>
        <p:sp>
          <p:nvSpPr>
            <p:cNvPr id="139" name="Freeform 139"/>
            <p:cNvSpPr/>
            <p:nvPr/>
          </p:nvSpPr>
          <p:spPr>
            <a:xfrm>
              <a:off x="8817292" y="2309812"/>
              <a:ext cx="995362" cy="876300"/>
            </a:xfrm>
            <a:custGeom>
              <a:avLst/>
              <a:gdLst/>
              <a:ahLst/>
              <a:cxnLst/>
              <a:rect l="l" t="t" r="r" b="b"/>
              <a:pathLst>
                <a:path w="995362" h="876300">
                  <a:moveTo>
                    <a:pt x="995362" y="0"/>
                  </a:moveTo>
                  <a:lnTo>
                    <a:pt x="0" y="876300"/>
                  </a:lnTo>
                </a:path>
              </a:pathLst>
            </a:custGeom>
            <a:noFill/>
            <a:ln w="17145">
              <a:solidFill>
                <a:srgbClr val="1F2937"/>
              </a:solidFill>
            </a:ln>
          </p:spPr>
        </p:sp>
        <p:sp>
          <p:nvSpPr>
            <p:cNvPr id="140" name="Freeform 140"/>
            <p:cNvSpPr/>
            <p:nvPr/>
          </p:nvSpPr>
          <p:spPr>
            <a:xfrm>
              <a:off x="10740390" y="2657475"/>
              <a:ext cx="9525" cy="1222058"/>
            </a:xfrm>
            <a:custGeom>
              <a:avLst/>
              <a:gdLst/>
              <a:ahLst/>
              <a:cxnLst/>
              <a:rect l="l" t="t" r="r" b="b"/>
              <a:pathLst>
                <a:path w="9525" h="1222058">
                  <a:moveTo>
                    <a:pt x="0" y="0"/>
                  </a:moveTo>
                  <a:lnTo>
                    <a:pt x="0" y="1222058"/>
                  </a:lnTo>
                </a:path>
              </a:pathLst>
            </a:custGeom>
            <a:noFill/>
            <a:ln w="17145">
              <a:solidFill>
                <a:srgbClr val="1F2937"/>
              </a:solidFill>
            </a:ln>
          </p:spPr>
        </p:sp>
        <p:sp>
          <p:nvSpPr>
            <p:cNvPr id="141" name="Freeform 141"/>
            <p:cNvSpPr/>
            <p:nvPr/>
          </p:nvSpPr>
          <p:spPr>
            <a:xfrm>
              <a:off x="9958388" y="2645092"/>
              <a:ext cx="729615" cy="1551623"/>
            </a:xfrm>
            <a:custGeom>
              <a:avLst/>
              <a:gdLst/>
              <a:ahLst/>
              <a:cxnLst/>
              <a:rect l="l" t="t" r="r" b="b"/>
              <a:pathLst>
                <a:path w="729615" h="1551623">
                  <a:moveTo>
                    <a:pt x="729615" y="0"/>
                  </a:moveTo>
                  <a:lnTo>
                    <a:pt x="0" y="1551623"/>
                  </a:lnTo>
                </a:path>
              </a:pathLst>
            </a:custGeom>
            <a:noFill/>
            <a:ln w="17145">
              <a:solidFill>
                <a:srgbClr val="1F2937"/>
              </a:solidFill>
            </a:ln>
          </p:spPr>
        </p:sp>
        <p:sp>
          <p:nvSpPr>
            <p:cNvPr id="142" name="Freeform 142"/>
            <p:cNvSpPr/>
            <p:nvPr/>
          </p:nvSpPr>
          <p:spPr>
            <a:xfrm>
              <a:off x="9164955" y="2615565"/>
              <a:ext cx="1482090" cy="1305877"/>
            </a:xfrm>
            <a:custGeom>
              <a:avLst/>
              <a:gdLst/>
              <a:ahLst/>
              <a:cxnLst/>
              <a:rect l="l" t="t" r="r" b="b"/>
              <a:pathLst>
                <a:path w="1482090" h="1305877">
                  <a:moveTo>
                    <a:pt x="1482090" y="0"/>
                  </a:moveTo>
                  <a:lnTo>
                    <a:pt x="0" y="1305877"/>
                  </a:lnTo>
                </a:path>
              </a:pathLst>
            </a:custGeom>
            <a:noFill/>
            <a:ln w="17145">
              <a:solidFill>
                <a:srgbClr val="1F2937"/>
              </a:solidFill>
            </a:ln>
          </p:spPr>
        </p:sp>
        <p:sp>
          <p:nvSpPr>
            <p:cNvPr id="143" name="Freeform 143"/>
            <p:cNvSpPr/>
            <p:nvPr/>
          </p:nvSpPr>
          <p:spPr>
            <a:xfrm>
              <a:off x="8841105" y="2575560"/>
              <a:ext cx="1783080" cy="650558"/>
            </a:xfrm>
            <a:custGeom>
              <a:avLst/>
              <a:gdLst/>
              <a:ahLst/>
              <a:cxnLst/>
              <a:rect l="l" t="t" r="r" b="b"/>
              <a:pathLst>
                <a:path w="1783080" h="650558">
                  <a:moveTo>
                    <a:pt x="1783080" y="0"/>
                  </a:moveTo>
                  <a:lnTo>
                    <a:pt x="0" y="650558"/>
                  </a:lnTo>
                </a:path>
              </a:pathLst>
            </a:custGeom>
            <a:noFill/>
            <a:ln w="17145">
              <a:solidFill>
                <a:srgbClr val="1F2937"/>
              </a:solidFill>
            </a:ln>
          </p:spPr>
        </p:sp>
        <p:sp>
          <p:nvSpPr>
            <p:cNvPr id="144" name="Freeform 144"/>
            <p:cNvSpPr/>
            <p:nvPr/>
          </p:nvSpPr>
          <p:spPr>
            <a:xfrm>
              <a:off x="9195435" y="2533650"/>
              <a:ext cx="1421130" cy="9525"/>
            </a:xfrm>
            <a:custGeom>
              <a:avLst/>
              <a:gdLst/>
              <a:ahLst/>
              <a:cxnLst/>
              <a:rect l="l" t="t" r="r" b="b"/>
              <a:pathLst>
                <a:path w="1421130" h="9525">
                  <a:moveTo>
                    <a:pt x="1421130" y="0"/>
                  </a:moveTo>
                  <a:lnTo>
                    <a:pt x="0" y="0"/>
                  </a:lnTo>
                </a:path>
              </a:pathLst>
            </a:custGeom>
            <a:noFill/>
            <a:ln w="17145">
              <a:solidFill>
                <a:srgbClr val="1F2937"/>
              </a:solidFill>
            </a:ln>
          </p:spPr>
        </p:sp>
        <p:sp>
          <p:nvSpPr>
            <p:cNvPr id="145" name="Freeform 145"/>
            <p:cNvSpPr/>
            <p:nvPr/>
          </p:nvSpPr>
          <p:spPr>
            <a:xfrm>
              <a:off x="9999345" y="3349942"/>
              <a:ext cx="995362" cy="877253"/>
            </a:xfrm>
            <a:custGeom>
              <a:avLst/>
              <a:gdLst/>
              <a:ahLst/>
              <a:cxnLst/>
              <a:rect l="l" t="t" r="r" b="b"/>
              <a:pathLst>
                <a:path w="995362" h="877253">
                  <a:moveTo>
                    <a:pt x="995362" y="0"/>
                  </a:moveTo>
                  <a:lnTo>
                    <a:pt x="0" y="877253"/>
                  </a:lnTo>
                </a:path>
              </a:pathLst>
            </a:custGeom>
            <a:noFill/>
            <a:ln w="17145">
              <a:solidFill>
                <a:srgbClr val="1F2937"/>
              </a:solidFill>
            </a:ln>
          </p:spPr>
        </p:sp>
        <p:sp>
          <p:nvSpPr>
            <p:cNvPr id="146" name="Freeform 146"/>
            <p:cNvSpPr/>
            <p:nvPr/>
          </p:nvSpPr>
          <p:spPr>
            <a:xfrm>
              <a:off x="9187815" y="3310890"/>
              <a:ext cx="1783080" cy="649605"/>
            </a:xfrm>
            <a:custGeom>
              <a:avLst/>
              <a:gdLst/>
              <a:ahLst/>
              <a:cxnLst/>
              <a:rect l="l" t="t" r="r" b="b"/>
              <a:pathLst>
                <a:path w="1783080" h="649605">
                  <a:moveTo>
                    <a:pt x="1783080" y="0"/>
                  </a:moveTo>
                  <a:lnTo>
                    <a:pt x="0" y="649605"/>
                  </a:lnTo>
                </a:path>
              </a:pathLst>
            </a:custGeom>
            <a:noFill/>
            <a:ln w="17145">
              <a:solidFill>
                <a:srgbClr val="1F2937"/>
              </a:solidFill>
            </a:ln>
          </p:spPr>
        </p:sp>
        <p:sp>
          <p:nvSpPr>
            <p:cNvPr id="147" name="Freeform 147"/>
            <p:cNvSpPr/>
            <p:nvPr/>
          </p:nvSpPr>
          <p:spPr>
            <a:xfrm>
              <a:off x="8848725" y="3268028"/>
              <a:ext cx="2114550" cy="9525"/>
            </a:xfrm>
            <a:custGeom>
              <a:avLst/>
              <a:gdLst/>
              <a:ahLst/>
              <a:cxnLst/>
              <a:rect l="l" t="t" r="r" b="b"/>
              <a:pathLst>
                <a:path w="2114550" h="9525">
                  <a:moveTo>
                    <a:pt x="2114550" y="0"/>
                  </a:moveTo>
                  <a:lnTo>
                    <a:pt x="0" y="0"/>
                  </a:lnTo>
                </a:path>
              </a:pathLst>
            </a:custGeom>
            <a:noFill/>
            <a:ln w="17145">
              <a:solidFill>
                <a:srgbClr val="1F2937"/>
              </a:solidFill>
            </a:ln>
          </p:spPr>
        </p:sp>
        <p:sp>
          <p:nvSpPr>
            <p:cNvPr id="148" name="Freeform 148"/>
            <p:cNvSpPr/>
            <p:nvPr/>
          </p:nvSpPr>
          <p:spPr>
            <a:xfrm>
              <a:off x="9187815" y="2575560"/>
              <a:ext cx="1783080" cy="650558"/>
            </a:xfrm>
            <a:custGeom>
              <a:avLst/>
              <a:gdLst/>
              <a:ahLst/>
              <a:cxnLst/>
              <a:rect l="l" t="t" r="r" b="b"/>
              <a:pathLst>
                <a:path w="1783080" h="650558">
                  <a:moveTo>
                    <a:pt x="1783080" y="650558"/>
                  </a:moveTo>
                  <a:lnTo>
                    <a:pt x="0" y="0"/>
                  </a:lnTo>
                </a:path>
              </a:pathLst>
            </a:custGeom>
            <a:noFill/>
            <a:ln w="17145">
              <a:solidFill>
                <a:srgbClr val="1F2937"/>
              </a:solidFill>
            </a:ln>
          </p:spPr>
        </p:sp>
        <p:sp>
          <p:nvSpPr>
            <p:cNvPr id="149" name="Freeform 149"/>
            <p:cNvSpPr/>
            <p:nvPr/>
          </p:nvSpPr>
          <p:spPr>
            <a:xfrm>
              <a:off x="9195435" y="4003358"/>
              <a:ext cx="1421130" cy="9525"/>
            </a:xfrm>
            <a:custGeom>
              <a:avLst/>
              <a:gdLst/>
              <a:ahLst/>
              <a:cxnLst/>
              <a:rect l="l" t="t" r="r" b="b"/>
              <a:pathLst>
                <a:path w="1421130" h="9525">
                  <a:moveTo>
                    <a:pt x="1421130" y="0"/>
                  </a:moveTo>
                  <a:lnTo>
                    <a:pt x="0" y="0"/>
                  </a:lnTo>
                </a:path>
              </a:pathLst>
            </a:custGeom>
            <a:noFill/>
            <a:ln w="17145">
              <a:solidFill>
                <a:srgbClr val="1F2937"/>
              </a:solidFill>
            </a:ln>
          </p:spPr>
        </p:sp>
        <p:sp>
          <p:nvSpPr>
            <p:cNvPr id="150" name="Freeform 150"/>
            <p:cNvSpPr/>
            <p:nvPr/>
          </p:nvSpPr>
          <p:spPr>
            <a:xfrm>
              <a:off x="8841105" y="3310890"/>
              <a:ext cx="1783080" cy="649605"/>
            </a:xfrm>
            <a:custGeom>
              <a:avLst/>
              <a:gdLst/>
              <a:ahLst/>
              <a:cxnLst/>
              <a:rect l="l" t="t" r="r" b="b"/>
              <a:pathLst>
                <a:path w="1783080" h="649605">
                  <a:moveTo>
                    <a:pt x="1783080" y="649605"/>
                  </a:moveTo>
                  <a:lnTo>
                    <a:pt x="0" y="0"/>
                  </a:lnTo>
                </a:path>
              </a:pathLst>
            </a:custGeom>
            <a:noFill/>
            <a:ln w="17145">
              <a:solidFill>
                <a:srgbClr val="1F2937"/>
              </a:solidFill>
            </a:ln>
          </p:spPr>
        </p:sp>
        <p:sp>
          <p:nvSpPr>
            <p:cNvPr id="151" name="Freeform 151"/>
            <p:cNvSpPr/>
            <p:nvPr/>
          </p:nvSpPr>
          <p:spPr>
            <a:xfrm>
              <a:off x="9164955" y="2615565"/>
              <a:ext cx="1482090" cy="1305877"/>
            </a:xfrm>
            <a:custGeom>
              <a:avLst/>
              <a:gdLst/>
              <a:ahLst/>
              <a:cxnLst/>
              <a:rect l="l" t="t" r="r" b="b"/>
              <a:pathLst>
                <a:path w="1482090" h="1305877">
                  <a:moveTo>
                    <a:pt x="1482090" y="1305877"/>
                  </a:moveTo>
                  <a:lnTo>
                    <a:pt x="0" y="0"/>
                  </a:lnTo>
                </a:path>
              </a:pathLst>
            </a:custGeom>
            <a:noFill/>
            <a:ln w="17145">
              <a:solidFill>
                <a:srgbClr val="1F2937"/>
              </a:solidFill>
            </a:ln>
          </p:spPr>
        </p:sp>
        <p:sp>
          <p:nvSpPr>
            <p:cNvPr id="152" name="Freeform 152"/>
            <p:cNvSpPr/>
            <p:nvPr/>
          </p:nvSpPr>
          <p:spPr>
            <a:xfrm>
              <a:off x="8817292" y="3349942"/>
              <a:ext cx="995362" cy="877253"/>
            </a:xfrm>
            <a:custGeom>
              <a:avLst/>
              <a:gdLst/>
              <a:ahLst/>
              <a:cxnLst/>
              <a:rect l="l" t="t" r="r" b="b"/>
              <a:pathLst>
                <a:path w="995362" h="877253">
                  <a:moveTo>
                    <a:pt x="995362" y="877253"/>
                  </a:moveTo>
                  <a:lnTo>
                    <a:pt x="0" y="0"/>
                  </a:lnTo>
                </a:path>
              </a:pathLst>
            </a:custGeom>
            <a:noFill/>
            <a:ln w="17145">
              <a:solidFill>
                <a:srgbClr val="1F2937"/>
              </a:solidFill>
            </a:ln>
          </p:spPr>
        </p:sp>
        <p:sp>
          <p:nvSpPr>
            <p:cNvPr id="153" name="Freeform 153"/>
            <p:cNvSpPr/>
            <p:nvPr/>
          </p:nvSpPr>
          <p:spPr>
            <a:xfrm>
              <a:off x="9123998" y="2645092"/>
              <a:ext cx="729615" cy="1551623"/>
            </a:xfrm>
            <a:custGeom>
              <a:avLst/>
              <a:gdLst/>
              <a:ahLst/>
              <a:cxnLst/>
              <a:rect l="l" t="t" r="r" b="b"/>
              <a:pathLst>
                <a:path w="729615" h="1551623">
                  <a:moveTo>
                    <a:pt x="729615" y="1551623"/>
                  </a:moveTo>
                  <a:lnTo>
                    <a:pt x="0" y="0"/>
                  </a:lnTo>
                </a:path>
              </a:pathLst>
            </a:custGeom>
            <a:noFill/>
            <a:ln w="17145">
              <a:solidFill>
                <a:srgbClr val="1F2937"/>
              </a:solidFill>
            </a:ln>
          </p:spPr>
        </p:sp>
        <p:sp>
          <p:nvSpPr>
            <p:cNvPr id="154" name="Freeform 154"/>
            <p:cNvSpPr/>
            <p:nvPr/>
          </p:nvSpPr>
          <p:spPr>
            <a:xfrm>
              <a:off x="9071610" y="2657475"/>
              <a:ext cx="9525" cy="1222058"/>
            </a:xfrm>
            <a:custGeom>
              <a:avLst/>
              <a:gdLst/>
              <a:ahLst/>
              <a:cxnLst/>
              <a:rect l="l" t="t" r="r" b="b"/>
              <a:pathLst>
                <a:path w="9525" h="1222058">
                  <a:moveTo>
                    <a:pt x="0" y="1222058"/>
                  </a:moveTo>
                  <a:lnTo>
                    <a:pt x="0" y="0"/>
                  </a:lnTo>
                </a:path>
              </a:pathLst>
            </a:custGeom>
            <a:noFill/>
            <a:ln w="17145">
              <a:solidFill>
                <a:srgbClr val="1F2937"/>
              </a:solidFill>
            </a:ln>
          </p:spPr>
        </p:sp>
        <p:sp>
          <p:nvSpPr>
            <p:cNvPr id="155" name="Ellipse 155"/>
            <p:cNvSpPr/>
            <p:nvPr/>
          </p:nvSpPr>
          <p:spPr>
            <a:xfrm>
              <a:off x="9791700" y="2113598"/>
              <a:ext cx="228600" cy="228600"/>
            </a:xfrm>
            <a:prstGeom prst="ellipse">
              <a:avLst/>
            </a:prstGeom>
            <a:solidFill>
              <a:srgbClr val="FFFFFF"/>
            </a:solidFill>
            <a:ln w="17145">
              <a:solidFill>
                <a:srgbClr val="334E68"/>
              </a:solidFill>
            </a:ln>
          </p:spPr>
        </p:sp>
        <p:sp>
          <p:nvSpPr>
            <p:cNvPr id="156" name="Ellipse 156"/>
            <p:cNvSpPr/>
            <p:nvPr/>
          </p:nvSpPr>
          <p:spPr>
            <a:xfrm>
              <a:off x="10626090" y="2419350"/>
              <a:ext cx="228600" cy="228600"/>
            </a:xfrm>
            <a:prstGeom prst="ellipse">
              <a:avLst/>
            </a:prstGeom>
            <a:solidFill>
              <a:srgbClr val="FFFFFF"/>
            </a:solidFill>
            <a:ln w="17145">
              <a:solidFill>
                <a:srgbClr val="334E68"/>
              </a:solidFill>
            </a:ln>
          </p:spPr>
        </p:sp>
        <p:sp>
          <p:nvSpPr>
            <p:cNvPr id="157" name="Ellipse 157"/>
            <p:cNvSpPr/>
            <p:nvPr/>
          </p:nvSpPr>
          <p:spPr>
            <a:xfrm>
              <a:off x="10972800" y="3153728"/>
              <a:ext cx="228600" cy="228600"/>
            </a:xfrm>
            <a:prstGeom prst="ellipse">
              <a:avLst/>
            </a:prstGeom>
            <a:solidFill>
              <a:srgbClr val="FFFFFF"/>
            </a:solidFill>
            <a:ln w="17145">
              <a:solidFill>
                <a:srgbClr val="334E68"/>
              </a:solidFill>
            </a:ln>
          </p:spPr>
        </p:sp>
        <p:sp>
          <p:nvSpPr>
            <p:cNvPr id="158" name="Ellipse 158"/>
            <p:cNvSpPr/>
            <p:nvPr/>
          </p:nvSpPr>
          <p:spPr>
            <a:xfrm>
              <a:off x="10626090" y="3889058"/>
              <a:ext cx="228600" cy="228600"/>
            </a:xfrm>
            <a:prstGeom prst="ellipse">
              <a:avLst/>
            </a:prstGeom>
            <a:solidFill>
              <a:srgbClr val="FFFFFF"/>
            </a:solidFill>
            <a:ln w="17145">
              <a:solidFill>
                <a:srgbClr val="334E68"/>
              </a:solidFill>
            </a:ln>
          </p:spPr>
        </p:sp>
        <p:sp>
          <p:nvSpPr>
            <p:cNvPr id="159" name="Ellipse 159"/>
            <p:cNvSpPr/>
            <p:nvPr/>
          </p:nvSpPr>
          <p:spPr>
            <a:xfrm>
              <a:off x="9791700" y="4194810"/>
              <a:ext cx="228600" cy="228600"/>
            </a:xfrm>
            <a:prstGeom prst="ellipse">
              <a:avLst/>
            </a:prstGeom>
            <a:solidFill>
              <a:srgbClr val="FFFFFF"/>
            </a:solidFill>
            <a:ln w="17145">
              <a:solidFill>
                <a:srgbClr val="334E68"/>
              </a:solidFill>
            </a:ln>
          </p:spPr>
        </p:sp>
        <p:sp>
          <p:nvSpPr>
            <p:cNvPr id="160" name="Ellipse 160"/>
            <p:cNvSpPr/>
            <p:nvPr/>
          </p:nvSpPr>
          <p:spPr>
            <a:xfrm>
              <a:off x="8957310" y="3889058"/>
              <a:ext cx="228600" cy="228600"/>
            </a:xfrm>
            <a:prstGeom prst="ellipse">
              <a:avLst/>
            </a:prstGeom>
            <a:solidFill>
              <a:srgbClr val="FFFFFF"/>
            </a:solidFill>
            <a:ln w="17145">
              <a:solidFill>
                <a:srgbClr val="334E68"/>
              </a:solidFill>
            </a:ln>
          </p:spPr>
        </p:sp>
        <p:sp>
          <p:nvSpPr>
            <p:cNvPr id="161" name="Ellipse 161"/>
            <p:cNvSpPr/>
            <p:nvPr/>
          </p:nvSpPr>
          <p:spPr>
            <a:xfrm>
              <a:off x="8610600" y="3153728"/>
              <a:ext cx="228600" cy="228600"/>
            </a:xfrm>
            <a:prstGeom prst="ellipse">
              <a:avLst/>
            </a:prstGeom>
            <a:solidFill>
              <a:srgbClr val="FFFFFF"/>
            </a:solidFill>
            <a:ln w="17145">
              <a:solidFill>
                <a:srgbClr val="334E68"/>
              </a:solidFill>
            </a:ln>
          </p:spPr>
        </p:sp>
        <p:sp>
          <p:nvSpPr>
            <p:cNvPr id="162" name="Ellipse 162"/>
            <p:cNvSpPr/>
            <p:nvPr/>
          </p:nvSpPr>
          <p:spPr>
            <a:xfrm>
              <a:off x="8957310" y="2419350"/>
              <a:ext cx="228600" cy="228600"/>
            </a:xfrm>
            <a:prstGeom prst="ellipse">
              <a:avLst/>
            </a:prstGeom>
            <a:solidFill>
              <a:srgbClr val="FFFFFF"/>
            </a:solidFill>
            <a:ln w="17145">
              <a:solidFill>
                <a:srgbClr val="334E68"/>
              </a:solidFill>
            </a:ln>
          </p:spPr>
        </p:sp>
        <p:sp>
          <p:nvSpPr>
            <p:cNvPr id="163" name="TextBox 163"/>
            <p:cNvSpPr txBox="1"/>
            <p:nvPr/>
          </p:nvSpPr>
          <p:spPr>
            <a:xfrm>
              <a:off x="9866253" y="2171700"/>
              <a:ext cx="79494" cy="176212"/>
            </a:xfrm>
            <a:prstGeom prst="rect">
              <a:avLst/>
            </a:prstGeom>
            <a:noFill/>
            <a:ln>
              <a:noFill/>
            </a:ln>
          </p:spPr>
          <p:txBody>
            <a:bodyPr wrap="none" lIns="0" tIns="0" rIns="0" bIns="0" anchor="t" anchorCtr="0">
              <a:spAutoFit/>
            </a:bodyPr>
            <a:lstStyle/>
            <a:p>
              <a:pPr algn="ctr"/>
              <a:r>
                <a:rPr lang="zh-CN" sz="900" b="1" dirty="0">
                  <a:solidFill>
                    <a:srgbClr val="1F2937"/>
                  </a:solidFill>
                  <a:latin typeface="+mn-lt"/>
                  <a:ea typeface="+mn-ea"/>
                  <a:cs typeface="+mn-cs"/>
                </a:rPr>
                <a:t>0</a:t>
              </a:r>
            </a:p>
          </p:txBody>
        </p:sp>
        <p:sp>
          <p:nvSpPr>
            <p:cNvPr id="164" name="TextBox 164"/>
            <p:cNvSpPr txBox="1"/>
            <p:nvPr/>
          </p:nvSpPr>
          <p:spPr>
            <a:xfrm>
              <a:off x="10700643" y="2477452"/>
              <a:ext cx="79494" cy="176212"/>
            </a:xfrm>
            <a:prstGeom prst="rect">
              <a:avLst/>
            </a:prstGeom>
            <a:noFill/>
            <a:ln>
              <a:noFill/>
            </a:ln>
          </p:spPr>
          <p:txBody>
            <a:bodyPr wrap="none" lIns="0" tIns="0" rIns="0" bIns="0" anchor="t" anchorCtr="0">
              <a:spAutoFit/>
            </a:bodyPr>
            <a:lstStyle/>
            <a:p>
              <a:pPr algn="ctr"/>
              <a:r>
                <a:rPr lang="zh-CN" sz="900" b="1" dirty="0">
                  <a:solidFill>
                    <a:srgbClr val="1F2937"/>
                  </a:solidFill>
                  <a:latin typeface="+mn-lt"/>
                  <a:ea typeface="+mn-ea"/>
                  <a:cs typeface="+mn-cs"/>
                </a:rPr>
                <a:t>1</a:t>
              </a:r>
            </a:p>
          </p:txBody>
        </p:sp>
        <p:sp>
          <p:nvSpPr>
            <p:cNvPr id="165" name="TextBox 165"/>
            <p:cNvSpPr txBox="1"/>
            <p:nvPr/>
          </p:nvSpPr>
          <p:spPr>
            <a:xfrm>
              <a:off x="11047353" y="3211830"/>
              <a:ext cx="79494" cy="176212"/>
            </a:xfrm>
            <a:prstGeom prst="rect">
              <a:avLst/>
            </a:prstGeom>
            <a:noFill/>
            <a:ln>
              <a:noFill/>
            </a:ln>
          </p:spPr>
          <p:txBody>
            <a:bodyPr wrap="none" lIns="0" tIns="0" rIns="0" bIns="0" anchor="t" anchorCtr="0">
              <a:spAutoFit/>
            </a:bodyPr>
            <a:lstStyle/>
            <a:p>
              <a:pPr algn="ctr"/>
              <a:r>
                <a:rPr lang="zh-CN" sz="900" b="1" dirty="0">
                  <a:solidFill>
                    <a:srgbClr val="1F2937"/>
                  </a:solidFill>
                  <a:latin typeface="+mn-lt"/>
                  <a:ea typeface="+mn-ea"/>
                  <a:cs typeface="+mn-cs"/>
                </a:rPr>
                <a:t>2</a:t>
              </a:r>
            </a:p>
          </p:txBody>
        </p:sp>
        <p:sp>
          <p:nvSpPr>
            <p:cNvPr id="166" name="TextBox 166"/>
            <p:cNvSpPr txBox="1"/>
            <p:nvPr/>
          </p:nvSpPr>
          <p:spPr>
            <a:xfrm>
              <a:off x="10700643" y="3947160"/>
              <a:ext cx="79494" cy="176212"/>
            </a:xfrm>
            <a:prstGeom prst="rect">
              <a:avLst/>
            </a:prstGeom>
            <a:noFill/>
            <a:ln>
              <a:noFill/>
            </a:ln>
          </p:spPr>
          <p:txBody>
            <a:bodyPr wrap="none" lIns="0" tIns="0" rIns="0" bIns="0" anchor="t" anchorCtr="0">
              <a:spAutoFit/>
            </a:bodyPr>
            <a:lstStyle/>
            <a:p>
              <a:pPr algn="ctr"/>
              <a:r>
                <a:rPr lang="zh-CN" sz="900" b="1" dirty="0">
                  <a:solidFill>
                    <a:srgbClr val="1F2937"/>
                  </a:solidFill>
                  <a:latin typeface="+mn-lt"/>
                  <a:ea typeface="+mn-ea"/>
                  <a:cs typeface="+mn-cs"/>
                </a:rPr>
                <a:t>3</a:t>
              </a:r>
            </a:p>
          </p:txBody>
        </p:sp>
        <p:sp>
          <p:nvSpPr>
            <p:cNvPr id="167" name="TextBox 167"/>
            <p:cNvSpPr txBox="1"/>
            <p:nvPr/>
          </p:nvSpPr>
          <p:spPr>
            <a:xfrm>
              <a:off x="9866253" y="4252912"/>
              <a:ext cx="79494" cy="176212"/>
            </a:xfrm>
            <a:prstGeom prst="rect">
              <a:avLst/>
            </a:prstGeom>
            <a:noFill/>
            <a:ln>
              <a:noFill/>
            </a:ln>
          </p:spPr>
          <p:txBody>
            <a:bodyPr wrap="none" lIns="0" tIns="0" rIns="0" bIns="0" anchor="t" anchorCtr="0">
              <a:spAutoFit/>
            </a:bodyPr>
            <a:lstStyle/>
            <a:p>
              <a:pPr algn="ctr"/>
              <a:r>
                <a:rPr lang="zh-CN" sz="900" b="1" dirty="0">
                  <a:solidFill>
                    <a:srgbClr val="1F2937"/>
                  </a:solidFill>
                  <a:latin typeface="+mn-lt"/>
                  <a:ea typeface="+mn-ea"/>
                  <a:cs typeface="+mn-cs"/>
                </a:rPr>
                <a:t>4</a:t>
              </a:r>
            </a:p>
          </p:txBody>
        </p:sp>
        <p:sp>
          <p:nvSpPr>
            <p:cNvPr id="168" name="TextBox 168"/>
            <p:cNvSpPr txBox="1"/>
            <p:nvPr/>
          </p:nvSpPr>
          <p:spPr>
            <a:xfrm>
              <a:off x="9031863" y="3947160"/>
              <a:ext cx="79494" cy="176212"/>
            </a:xfrm>
            <a:prstGeom prst="rect">
              <a:avLst/>
            </a:prstGeom>
            <a:noFill/>
            <a:ln>
              <a:noFill/>
            </a:ln>
          </p:spPr>
          <p:txBody>
            <a:bodyPr wrap="none" lIns="0" tIns="0" rIns="0" bIns="0" anchor="t" anchorCtr="0">
              <a:spAutoFit/>
            </a:bodyPr>
            <a:lstStyle/>
            <a:p>
              <a:pPr algn="ctr"/>
              <a:r>
                <a:rPr lang="zh-CN" sz="900" b="1" dirty="0">
                  <a:solidFill>
                    <a:srgbClr val="1F2937"/>
                  </a:solidFill>
                  <a:latin typeface="+mn-lt"/>
                  <a:ea typeface="+mn-ea"/>
                  <a:cs typeface="+mn-cs"/>
                </a:rPr>
                <a:t>5</a:t>
              </a:r>
            </a:p>
          </p:txBody>
        </p:sp>
        <p:sp>
          <p:nvSpPr>
            <p:cNvPr id="169" name="TextBox 169"/>
            <p:cNvSpPr txBox="1"/>
            <p:nvPr/>
          </p:nvSpPr>
          <p:spPr>
            <a:xfrm>
              <a:off x="8685153" y="3211830"/>
              <a:ext cx="79494" cy="176212"/>
            </a:xfrm>
            <a:prstGeom prst="rect">
              <a:avLst/>
            </a:prstGeom>
            <a:noFill/>
            <a:ln>
              <a:noFill/>
            </a:ln>
          </p:spPr>
          <p:txBody>
            <a:bodyPr wrap="none" lIns="0" tIns="0" rIns="0" bIns="0" anchor="t" anchorCtr="0">
              <a:spAutoFit/>
            </a:bodyPr>
            <a:lstStyle/>
            <a:p>
              <a:pPr algn="ctr"/>
              <a:r>
                <a:rPr lang="zh-CN" sz="900" b="1" dirty="0">
                  <a:solidFill>
                    <a:srgbClr val="1F2937"/>
                  </a:solidFill>
                  <a:latin typeface="+mn-lt"/>
                  <a:ea typeface="+mn-ea"/>
                  <a:cs typeface="+mn-cs"/>
                </a:rPr>
                <a:t>6</a:t>
              </a:r>
            </a:p>
          </p:txBody>
        </p:sp>
        <p:sp>
          <p:nvSpPr>
            <p:cNvPr id="170" name="TextBox 170"/>
            <p:cNvSpPr txBox="1"/>
            <p:nvPr/>
          </p:nvSpPr>
          <p:spPr>
            <a:xfrm>
              <a:off x="9031863" y="2477452"/>
              <a:ext cx="79494" cy="176212"/>
            </a:xfrm>
            <a:prstGeom prst="rect">
              <a:avLst/>
            </a:prstGeom>
            <a:noFill/>
            <a:ln>
              <a:noFill/>
            </a:ln>
          </p:spPr>
          <p:txBody>
            <a:bodyPr wrap="none" lIns="0" tIns="0" rIns="0" bIns="0" anchor="t" anchorCtr="0">
              <a:spAutoFit/>
            </a:bodyPr>
            <a:lstStyle/>
            <a:p>
              <a:pPr algn="ctr"/>
              <a:r>
                <a:rPr lang="zh-CN" sz="900" b="1" dirty="0">
                  <a:solidFill>
                    <a:srgbClr val="1F2937"/>
                  </a:solidFill>
                  <a:latin typeface="+mn-lt"/>
                  <a:ea typeface="+mn-ea"/>
                  <a:cs typeface="+mn-cs"/>
                </a:rPr>
                <a:t>7</a:t>
              </a:r>
            </a:p>
          </p:txBody>
        </p:sp>
      </p:grpSp>
      <p:grpSp>
        <p:nvGrpSpPr>
          <p:cNvPr id="173" name="c3-text-3"/>
          <p:cNvGrpSpPr/>
          <p:nvPr/>
        </p:nvGrpSpPr>
        <p:grpSpPr>
          <a:xfrm>
            <a:off x="8147685" y="4798219"/>
            <a:ext cx="2955798" cy="441008"/>
            <a:chOff x="8147685" y="4798219"/>
            <a:chExt cx="2955798" cy="441008"/>
          </a:xfrm>
        </p:grpSpPr>
        <p:sp>
          <p:nvSpPr>
            <p:cNvPr id="172" name="TextBox 172"/>
            <p:cNvSpPr txBox="1"/>
            <p:nvPr/>
          </p:nvSpPr>
          <p:spPr>
            <a:xfrm>
              <a:off x="8147685" y="4798219"/>
              <a:ext cx="2955798" cy="441008"/>
            </a:xfrm>
            <a:prstGeom prst="rect">
              <a:avLst/>
            </a:prstGeom>
            <a:noFill/>
            <a:ln>
              <a:noFill/>
            </a:ln>
          </p:spPr>
          <p:txBody>
            <a:bodyPr wrap="none" lIns="0" tIns="0" rIns="0" bIns="0" anchor="t" anchorCtr="0">
              <a:spAutoFit/>
            </a:bodyPr>
            <a:lstStyle/>
            <a:p>
              <a:pPr algn="l">
                <a:lnSpc>
                  <a:spcPts val="1740"/>
                </a:lnSpc>
              </a:pPr>
              <a:r>
                <a:rPr lang="zh-CN" sz="1120" dirty="0">
                  <a:solidFill>
                    <a:srgbClr val="1F2937"/>
                  </a:solidFill>
                  <a:latin typeface="+mn-lt"/>
                  <a:ea typeface="+mn-ea"/>
                  <a:cs typeface="+mn-cs"/>
                </a:rPr>
                <a:t>度 N − 1，直径 1，链路 N(N − 1)/2，对剖宽度</a:t>
              </a:r>
              <a:br/>
              <a:r>
                <a:rPr lang="zh-CN" sz="1120" dirty="0">
                  <a:solidFill>
                    <a:srgbClr val="1F2937"/>
                  </a:solidFill>
                  <a:latin typeface="+mn-lt"/>
                  <a:ea typeface="+mn-ea"/>
                  <a:cs typeface="+mn-cs"/>
                </a:rPr>
                <a:t>N²/4。N = 8 时 28 条链路、对剖宽度 16。</a:t>
              </a:r>
            </a:p>
          </p:txBody>
        </p:sp>
      </p:grpSp>
      <p:grpSp>
        <p:nvGrpSpPr>
          <p:cNvPr id="180" name="takeaway"/>
          <p:cNvGrpSpPr/>
          <p:nvPr/>
        </p:nvGrpSpPr>
        <p:grpSpPr>
          <a:xfrm>
            <a:off x="533400" y="5881688"/>
            <a:ext cx="11125200" cy="481012"/>
            <a:chOff x="533400" y="5881688"/>
            <a:chExt cx="11125200" cy="481012"/>
          </a:xfrm>
        </p:grpSpPr>
        <p:sp>
          <p:nvSpPr>
            <p:cNvPr id="174" name="Rectangle 174"/>
            <p:cNvSpPr/>
            <p:nvPr/>
          </p:nvSpPr>
          <p:spPr>
            <a:xfrm>
              <a:off x="533400" y="5881688"/>
              <a:ext cx="11125200" cy="481012"/>
            </a:xfrm>
            <a:prstGeom prst="roundRect">
              <a:avLst>
                <a:gd name="adj" fmla="val 23762"/>
              </a:avLst>
            </a:prstGeom>
            <a:solidFill>
              <a:srgbClr val="F4F6FB"/>
            </a:solidFill>
            <a:ln>
              <a:noFill/>
            </a:ln>
          </p:spPr>
        </p:sp>
        <p:grpSp>
          <p:nvGrpSpPr>
            <p:cNvPr id="178" name="Group 178"/>
            <p:cNvGrpSpPr/>
            <p:nvPr/>
          </p:nvGrpSpPr>
          <p:grpSpPr>
            <a:xfrm>
              <a:off x="738188" y="6022658"/>
              <a:ext cx="200026" cy="200026"/>
              <a:chOff x="738188" y="6022658"/>
              <a:chExt cx="200026" cy="200026"/>
            </a:xfrm>
          </p:grpSpPr>
          <p:sp>
            <p:nvSpPr>
              <p:cNvPr id="175" name="Freeform 175"/>
              <p:cNvSpPr/>
              <p:nvPr/>
            </p:nvSpPr>
            <p:spPr>
              <a:xfrm>
                <a:off x="738188" y="6022658"/>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1F2937"/>
                </a:solidFill>
              </a:ln>
            </p:spPr>
          </p:sp>
          <p:sp>
            <p:nvSpPr>
              <p:cNvPr id="176" name="Freeform 176"/>
              <p:cNvSpPr/>
              <p:nvPr/>
            </p:nvSpPr>
            <p:spPr>
              <a:xfrm>
                <a:off x="838200" y="6089333"/>
                <a:ext cx="9525" cy="9525"/>
              </a:xfrm>
              <a:custGeom>
                <a:avLst/>
                <a:gdLst/>
                <a:ahLst/>
                <a:cxnLst/>
                <a:rect l="l" t="t" r="r" b="b"/>
                <a:pathLst>
                  <a:path w="9525" h="9525">
                    <a:moveTo>
                      <a:pt x="0" y="0"/>
                    </a:moveTo>
                    <a:lnTo>
                      <a:pt x="111" y="0"/>
                    </a:lnTo>
                  </a:path>
                </a:pathLst>
              </a:custGeom>
              <a:noFill/>
              <a:ln w="22225">
                <a:solidFill>
                  <a:srgbClr val="1F2937"/>
                </a:solidFill>
              </a:ln>
            </p:spPr>
          </p:sp>
          <p:sp>
            <p:nvSpPr>
              <p:cNvPr id="177" name="Freeform 177"/>
              <p:cNvSpPr/>
              <p:nvPr/>
            </p:nvSpPr>
            <p:spPr>
              <a:xfrm>
                <a:off x="827088" y="6122670"/>
                <a:ext cx="22225" cy="44450"/>
              </a:xfrm>
              <a:custGeom>
                <a:avLst/>
                <a:gdLst/>
                <a:ahLst/>
                <a:cxnLst/>
                <a:rect l="l" t="t" r="r" b="b"/>
                <a:pathLst>
                  <a:path w="22225" h="44450">
                    <a:moveTo>
                      <a:pt x="0" y="0"/>
                    </a:moveTo>
                    <a:lnTo>
                      <a:pt x="11113" y="0"/>
                    </a:lnTo>
                    <a:lnTo>
                      <a:pt x="11113" y="44450"/>
                    </a:lnTo>
                    <a:lnTo>
                      <a:pt x="22225" y="44450"/>
                    </a:lnTo>
                  </a:path>
                </a:pathLst>
              </a:custGeom>
              <a:noFill/>
              <a:ln w="22225">
                <a:solidFill>
                  <a:srgbClr val="1F2937"/>
                </a:solidFill>
              </a:ln>
            </p:spPr>
          </p:sp>
        </p:grpSp>
        <p:sp>
          <p:nvSpPr>
            <p:cNvPr id="179" name="TextBox 179"/>
            <p:cNvSpPr txBox="1"/>
            <p:nvPr/>
          </p:nvSpPr>
          <p:spPr>
            <a:xfrm>
              <a:off x="1040892" y="6028373"/>
              <a:ext cx="9442094"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更正：原课件第87页写单向环直径为 N。单向环从节点 i 走到 i − 1 要绕 N − 1 步，直径是 N − 1（N = 16 时为 15）。</a:t>
              </a:r>
            </a:p>
          </p:txBody>
        </p:sp>
      </p:grpSp>
      <p:grpSp>
        <p:nvGrpSpPr>
          <p:cNvPr id="183" name="footer"/>
          <p:cNvGrpSpPr/>
          <p:nvPr/>
        </p:nvGrpSpPr>
        <p:grpSpPr>
          <a:xfrm>
            <a:off x="528447" y="6581299"/>
            <a:ext cx="11135106" cy="190690"/>
            <a:chOff x="528447" y="6581299"/>
            <a:chExt cx="11135106" cy="190690"/>
          </a:xfrm>
        </p:grpSpPr>
        <p:sp>
          <p:nvSpPr>
            <p:cNvPr id="181" name="TextBox 181"/>
            <p:cNvSpPr txBox="1"/>
            <p:nvPr/>
          </p:nvSpPr>
          <p:spPr>
            <a:xfrm>
              <a:off x="528447" y="6581299"/>
              <a:ext cx="2120748"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并行与分布式计算 · 第7章 体系结构</a:t>
              </a:r>
            </a:p>
          </p:txBody>
        </p:sp>
        <p:sp>
          <p:nvSpPr>
            <p:cNvPr id="182" name="TextBox 182"/>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43</a:t>
              </a:r>
            </a:p>
          </p:txBody>
        </p:sp>
      </p:grpSp>
    </p:spTree>
  </p:cSld>
  <p:clrMapOvr>
    <a:masterClrMapping/>
  </p:clrMapOvr>
  <p:transition xmlns:p14="http://schemas.microsoft.com/office/powerpoint/2010/main" p14:dur="400">
    <p:fade/>
  </p:transition>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3801999" cy="909257"/>
            <a:chOff x="520446" y="342900"/>
            <a:chExt cx="3801999" cy="909257"/>
          </a:xfrm>
        </p:grpSpPr>
        <p:sp>
          <p:nvSpPr>
            <p:cNvPr id="2" name="Rectangle 2"/>
            <p:cNvSpPr/>
            <p:nvPr/>
          </p:nvSpPr>
          <p:spPr>
            <a:xfrm>
              <a:off x="533400" y="342900"/>
              <a:ext cx="1987868" cy="266700"/>
            </a:xfrm>
            <a:prstGeom prst="roundRect">
              <a:avLst>
                <a:gd name="adj" fmla="val 50000"/>
              </a:avLst>
            </a:prstGeom>
            <a:solidFill>
              <a:srgbClr val="E7EDF3"/>
            </a:solidFill>
            <a:ln>
              <a:noFill/>
            </a:ln>
          </p:spPr>
        </p:sp>
        <p:sp>
          <p:nvSpPr>
            <p:cNvPr id="3" name="TextBox 3"/>
            <p:cNvSpPr txBox="1"/>
            <p:nvPr/>
          </p:nvSpPr>
          <p:spPr>
            <a:xfrm>
              <a:off x="608957" y="407194"/>
              <a:ext cx="1835800"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第7章 体系结构 · 互连结构</a:t>
              </a:r>
            </a:p>
          </p:txBody>
        </p:sp>
        <p:sp>
          <p:nvSpPr>
            <p:cNvPr id="4" name="TextBox 4"/>
            <p:cNvSpPr txBox="1"/>
            <p:nvPr/>
          </p:nvSpPr>
          <p:spPr>
            <a:xfrm>
              <a:off x="520446" y="753428"/>
              <a:ext cx="3801999"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循环移数网络与树形连接</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8" name="c1-text-1"/>
          <p:cNvGrpSpPr/>
          <p:nvPr/>
        </p:nvGrpSpPr>
        <p:grpSpPr>
          <a:xfrm>
            <a:off x="526542" y="1545907"/>
            <a:ext cx="1899666" cy="264033"/>
            <a:chOff x="526542" y="1545907"/>
            <a:chExt cx="1899666" cy="264033"/>
          </a:xfrm>
        </p:grpSpPr>
        <p:sp>
          <p:nvSpPr>
            <p:cNvPr id="7" name="TextBox 7"/>
            <p:cNvSpPr txBox="1"/>
            <p:nvPr/>
          </p:nvSpPr>
          <p:spPr>
            <a:xfrm>
              <a:off x="526542" y="1545907"/>
              <a:ext cx="1899666"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循环移数网络</a:t>
              </a:r>
              <a:r>
                <a:rPr lang="zh-CN" sz="1350" dirty="0">
                  <a:solidFill>
                    <a:srgbClr val="1F2937"/>
                  </a:solidFill>
                  <a:latin typeface="+mn-lt"/>
                  <a:ea typeface="+mn-ea"/>
                  <a:cs typeface="+mn-cs"/>
                </a:rPr>
                <a:t>（N = 8）</a:t>
              </a:r>
            </a:p>
          </p:txBody>
        </p:sp>
      </p:grpSp>
      <p:grpSp>
        <p:nvGrpSpPr>
          <p:cNvPr id="45" name="c1-graph-2"/>
          <p:cNvGrpSpPr/>
          <p:nvPr/>
        </p:nvGrpSpPr>
        <p:grpSpPr>
          <a:xfrm>
            <a:off x="1257300" y="2013585"/>
            <a:ext cx="2057400" cy="1844039"/>
            <a:chOff x="1257300" y="2013585"/>
            <a:chExt cx="2057400" cy="1844039"/>
          </a:xfrm>
        </p:grpSpPr>
        <p:sp>
          <p:nvSpPr>
            <p:cNvPr id="9" name="Freeform 9"/>
            <p:cNvSpPr/>
            <p:nvPr/>
          </p:nvSpPr>
          <p:spPr>
            <a:xfrm>
              <a:off x="2402205" y="2170748"/>
              <a:ext cx="412433" cy="150495"/>
            </a:xfrm>
            <a:custGeom>
              <a:avLst/>
              <a:gdLst/>
              <a:ahLst/>
              <a:cxnLst/>
              <a:rect l="l" t="t" r="r" b="b"/>
              <a:pathLst>
                <a:path w="412433" h="150495">
                  <a:moveTo>
                    <a:pt x="0" y="0"/>
                  </a:moveTo>
                  <a:lnTo>
                    <a:pt x="412433" y="150495"/>
                  </a:lnTo>
                </a:path>
              </a:pathLst>
            </a:custGeom>
            <a:noFill/>
            <a:ln w="17145">
              <a:solidFill>
                <a:srgbClr val="1F2937"/>
              </a:solidFill>
            </a:ln>
          </p:spPr>
        </p:sp>
        <p:sp>
          <p:nvSpPr>
            <p:cNvPr id="10" name="Freeform 10"/>
            <p:cNvSpPr/>
            <p:nvPr/>
          </p:nvSpPr>
          <p:spPr>
            <a:xfrm>
              <a:off x="2984182" y="2475548"/>
              <a:ext cx="163830" cy="345758"/>
            </a:xfrm>
            <a:custGeom>
              <a:avLst/>
              <a:gdLst/>
              <a:ahLst/>
              <a:cxnLst/>
              <a:rect l="l" t="t" r="r" b="b"/>
              <a:pathLst>
                <a:path w="163830" h="345758">
                  <a:moveTo>
                    <a:pt x="0" y="0"/>
                  </a:moveTo>
                  <a:lnTo>
                    <a:pt x="163830" y="345758"/>
                  </a:lnTo>
                </a:path>
              </a:pathLst>
            </a:custGeom>
            <a:noFill/>
            <a:ln w="17145">
              <a:solidFill>
                <a:srgbClr val="1F2937"/>
              </a:solidFill>
            </a:ln>
          </p:spPr>
        </p:sp>
        <p:sp>
          <p:nvSpPr>
            <p:cNvPr id="11" name="Freeform 11"/>
            <p:cNvSpPr/>
            <p:nvPr/>
          </p:nvSpPr>
          <p:spPr>
            <a:xfrm>
              <a:off x="2984182" y="3045142"/>
              <a:ext cx="163830" cy="344805"/>
            </a:xfrm>
            <a:custGeom>
              <a:avLst/>
              <a:gdLst/>
              <a:ahLst/>
              <a:cxnLst/>
              <a:rect l="l" t="t" r="r" b="b"/>
              <a:pathLst>
                <a:path w="163830" h="344805">
                  <a:moveTo>
                    <a:pt x="163830" y="0"/>
                  </a:moveTo>
                  <a:lnTo>
                    <a:pt x="0" y="344805"/>
                  </a:lnTo>
                </a:path>
              </a:pathLst>
            </a:custGeom>
            <a:noFill/>
            <a:ln w="17145">
              <a:solidFill>
                <a:srgbClr val="1F2937"/>
              </a:solidFill>
            </a:ln>
          </p:spPr>
        </p:sp>
        <p:sp>
          <p:nvSpPr>
            <p:cNvPr id="12" name="Freeform 12"/>
            <p:cNvSpPr/>
            <p:nvPr/>
          </p:nvSpPr>
          <p:spPr>
            <a:xfrm>
              <a:off x="2402205" y="3544252"/>
              <a:ext cx="412433" cy="150495"/>
            </a:xfrm>
            <a:custGeom>
              <a:avLst/>
              <a:gdLst/>
              <a:ahLst/>
              <a:cxnLst/>
              <a:rect l="l" t="t" r="r" b="b"/>
              <a:pathLst>
                <a:path w="412433" h="150495">
                  <a:moveTo>
                    <a:pt x="412433" y="0"/>
                  </a:moveTo>
                  <a:lnTo>
                    <a:pt x="0" y="150495"/>
                  </a:lnTo>
                </a:path>
              </a:pathLst>
            </a:custGeom>
            <a:noFill/>
            <a:ln w="17145">
              <a:solidFill>
                <a:srgbClr val="1F2937"/>
              </a:solidFill>
            </a:ln>
          </p:spPr>
        </p:sp>
        <p:sp>
          <p:nvSpPr>
            <p:cNvPr id="13" name="Freeform 13"/>
            <p:cNvSpPr/>
            <p:nvPr/>
          </p:nvSpPr>
          <p:spPr>
            <a:xfrm>
              <a:off x="1757362" y="3544252"/>
              <a:ext cx="412433" cy="150495"/>
            </a:xfrm>
            <a:custGeom>
              <a:avLst/>
              <a:gdLst/>
              <a:ahLst/>
              <a:cxnLst/>
              <a:rect l="l" t="t" r="r" b="b"/>
              <a:pathLst>
                <a:path w="412433" h="150495">
                  <a:moveTo>
                    <a:pt x="412433" y="150495"/>
                  </a:moveTo>
                  <a:lnTo>
                    <a:pt x="0" y="0"/>
                  </a:lnTo>
                </a:path>
              </a:pathLst>
            </a:custGeom>
            <a:noFill/>
            <a:ln w="17145">
              <a:solidFill>
                <a:srgbClr val="1F2937"/>
              </a:solidFill>
            </a:ln>
          </p:spPr>
        </p:sp>
        <p:sp>
          <p:nvSpPr>
            <p:cNvPr id="14" name="Freeform 14"/>
            <p:cNvSpPr/>
            <p:nvPr/>
          </p:nvSpPr>
          <p:spPr>
            <a:xfrm>
              <a:off x="1423988" y="3045142"/>
              <a:ext cx="163830" cy="344805"/>
            </a:xfrm>
            <a:custGeom>
              <a:avLst/>
              <a:gdLst/>
              <a:ahLst/>
              <a:cxnLst/>
              <a:rect l="l" t="t" r="r" b="b"/>
              <a:pathLst>
                <a:path w="163830" h="344805">
                  <a:moveTo>
                    <a:pt x="163830" y="344805"/>
                  </a:moveTo>
                  <a:lnTo>
                    <a:pt x="0" y="0"/>
                  </a:lnTo>
                </a:path>
              </a:pathLst>
            </a:custGeom>
            <a:noFill/>
            <a:ln w="17145">
              <a:solidFill>
                <a:srgbClr val="1F2937"/>
              </a:solidFill>
            </a:ln>
          </p:spPr>
        </p:sp>
        <p:sp>
          <p:nvSpPr>
            <p:cNvPr id="15" name="Freeform 15"/>
            <p:cNvSpPr/>
            <p:nvPr/>
          </p:nvSpPr>
          <p:spPr>
            <a:xfrm>
              <a:off x="1423988" y="2475548"/>
              <a:ext cx="163830" cy="345758"/>
            </a:xfrm>
            <a:custGeom>
              <a:avLst/>
              <a:gdLst/>
              <a:ahLst/>
              <a:cxnLst/>
              <a:rect l="l" t="t" r="r" b="b"/>
              <a:pathLst>
                <a:path w="163830" h="345758">
                  <a:moveTo>
                    <a:pt x="0" y="345758"/>
                  </a:moveTo>
                  <a:lnTo>
                    <a:pt x="163830" y="0"/>
                  </a:lnTo>
                </a:path>
              </a:pathLst>
            </a:custGeom>
            <a:noFill/>
            <a:ln w="17145">
              <a:solidFill>
                <a:srgbClr val="1F2937"/>
              </a:solidFill>
            </a:ln>
          </p:spPr>
        </p:sp>
        <p:sp>
          <p:nvSpPr>
            <p:cNvPr id="16" name="Freeform 16"/>
            <p:cNvSpPr/>
            <p:nvPr/>
          </p:nvSpPr>
          <p:spPr>
            <a:xfrm>
              <a:off x="1757362" y="2170748"/>
              <a:ext cx="412433" cy="150495"/>
            </a:xfrm>
            <a:custGeom>
              <a:avLst/>
              <a:gdLst/>
              <a:ahLst/>
              <a:cxnLst/>
              <a:rect l="l" t="t" r="r" b="b"/>
              <a:pathLst>
                <a:path w="412433" h="150495">
                  <a:moveTo>
                    <a:pt x="0" y="150495"/>
                  </a:moveTo>
                  <a:lnTo>
                    <a:pt x="412433" y="0"/>
                  </a:lnTo>
                </a:path>
              </a:pathLst>
            </a:custGeom>
            <a:noFill/>
            <a:ln w="17145">
              <a:solidFill>
                <a:srgbClr val="1F2937"/>
              </a:solidFill>
            </a:ln>
          </p:spPr>
        </p:sp>
        <p:sp>
          <p:nvSpPr>
            <p:cNvPr id="17" name="Freeform 17"/>
            <p:cNvSpPr/>
            <p:nvPr/>
          </p:nvSpPr>
          <p:spPr>
            <a:xfrm>
              <a:off x="2379345" y="2209800"/>
              <a:ext cx="728662" cy="641033"/>
            </a:xfrm>
            <a:custGeom>
              <a:avLst/>
              <a:gdLst/>
              <a:ahLst/>
              <a:cxnLst/>
              <a:rect l="l" t="t" r="r" b="b"/>
              <a:pathLst>
                <a:path w="728662" h="641033">
                  <a:moveTo>
                    <a:pt x="0" y="0"/>
                  </a:moveTo>
                  <a:lnTo>
                    <a:pt x="728662" y="641033"/>
                  </a:lnTo>
                </a:path>
              </a:pathLst>
            </a:custGeom>
            <a:noFill/>
            <a:ln w="17145">
              <a:solidFill>
                <a:srgbClr val="F26B3A"/>
              </a:solidFill>
            </a:ln>
          </p:spPr>
        </p:sp>
        <p:sp>
          <p:nvSpPr>
            <p:cNvPr id="18" name="Freeform 18"/>
            <p:cNvSpPr/>
            <p:nvPr/>
          </p:nvSpPr>
          <p:spPr>
            <a:xfrm>
              <a:off x="2930842" y="2487930"/>
              <a:ext cx="9525" cy="890588"/>
            </a:xfrm>
            <a:custGeom>
              <a:avLst/>
              <a:gdLst/>
              <a:ahLst/>
              <a:cxnLst/>
              <a:rect l="l" t="t" r="r" b="b"/>
              <a:pathLst>
                <a:path w="9525" h="890588">
                  <a:moveTo>
                    <a:pt x="0" y="0"/>
                  </a:moveTo>
                  <a:lnTo>
                    <a:pt x="0" y="890588"/>
                  </a:lnTo>
                </a:path>
              </a:pathLst>
            </a:custGeom>
            <a:noFill/>
            <a:ln w="17145">
              <a:solidFill>
                <a:srgbClr val="F26B3A"/>
              </a:solidFill>
            </a:ln>
          </p:spPr>
        </p:sp>
        <p:sp>
          <p:nvSpPr>
            <p:cNvPr id="19" name="Freeform 19"/>
            <p:cNvSpPr/>
            <p:nvPr/>
          </p:nvSpPr>
          <p:spPr>
            <a:xfrm>
              <a:off x="2379345" y="3014662"/>
              <a:ext cx="728662" cy="641033"/>
            </a:xfrm>
            <a:custGeom>
              <a:avLst/>
              <a:gdLst/>
              <a:ahLst/>
              <a:cxnLst/>
              <a:rect l="l" t="t" r="r" b="b"/>
              <a:pathLst>
                <a:path w="728662" h="641033">
                  <a:moveTo>
                    <a:pt x="728662" y="0"/>
                  </a:moveTo>
                  <a:lnTo>
                    <a:pt x="0" y="641033"/>
                  </a:lnTo>
                </a:path>
              </a:pathLst>
            </a:custGeom>
            <a:noFill/>
            <a:ln w="17145">
              <a:solidFill>
                <a:srgbClr val="F26B3A"/>
              </a:solidFill>
            </a:ln>
          </p:spPr>
        </p:sp>
        <p:sp>
          <p:nvSpPr>
            <p:cNvPr id="20" name="Freeform 20"/>
            <p:cNvSpPr/>
            <p:nvPr/>
          </p:nvSpPr>
          <p:spPr>
            <a:xfrm>
              <a:off x="1764982" y="3502342"/>
              <a:ext cx="1042035" cy="9525"/>
            </a:xfrm>
            <a:custGeom>
              <a:avLst/>
              <a:gdLst/>
              <a:ahLst/>
              <a:cxnLst/>
              <a:rect l="l" t="t" r="r" b="b"/>
              <a:pathLst>
                <a:path w="1042035" h="9525">
                  <a:moveTo>
                    <a:pt x="1042035" y="0"/>
                  </a:moveTo>
                  <a:lnTo>
                    <a:pt x="0" y="0"/>
                  </a:lnTo>
                </a:path>
              </a:pathLst>
            </a:custGeom>
            <a:noFill/>
            <a:ln w="17145">
              <a:solidFill>
                <a:srgbClr val="F26B3A"/>
              </a:solidFill>
            </a:ln>
          </p:spPr>
        </p:sp>
        <p:sp>
          <p:nvSpPr>
            <p:cNvPr id="21" name="Freeform 21"/>
            <p:cNvSpPr/>
            <p:nvPr/>
          </p:nvSpPr>
          <p:spPr>
            <a:xfrm>
              <a:off x="1463992" y="3014662"/>
              <a:ext cx="728662" cy="641033"/>
            </a:xfrm>
            <a:custGeom>
              <a:avLst/>
              <a:gdLst/>
              <a:ahLst/>
              <a:cxnLst/>
              <a:rect l="l" t="t" r="r" b="b"/>
              <a:pathLst>
                <a:path w="728662" h="641033">
                  <a:moveTo>
                    <a:pt x="728662" y="641033"/>
                  </a:moveTo>
                  <a:lnTo>
                    <a:pt x="0" y="0"/>
                  </a:lnTo>
                </a:path>
              </a:pathLst>
            </a:custGeom>
            <a:noFill/>
            <a:ln w="17145">
              <a:solidFill>
                <a:srgbClr val="F26B3A"/>
              </a:solidFill>
            </a:ln>
          </p:spPr>
        </p:sp>
        <p:sp>
          <p:nvSpPr>
            <p:cNvPr id="22" name="Freeform 22"/>
            <p:cNvSpPr/>
            <p:nvPr/>
          </p:nvSpPr>
          <p:spPr>
            <a:xfrm>
              <a:off x="1641158" y="2487930"/>
              <a:ext cx="9525" cy="890588"/>
            </a:xfrm>
            <a:custGeom>
              <a:avLst/>
              <a:gdLst/>
              <a:ahLst/>
              <a:cxnLst/>
              <a:rect l="l" t="t" r="r" b="b"/>
              <a:pathLst>
                <a:path w="9525" h="890588">
                  <a:moveTo>
                    <a:pt x="0" y="890588"/>
                  </a:moveTo>
                  <a:lnTo>
                    <a:pt x="0" y="0"/>
                  </a:lnTo>
                </a:path>
              </a:pathLst>
            </a:custGeom>
            <a:noFill/>
            <a:ln w="17145">
              <a:solidFill>
                <a:srgbClr val="F26B3A"/>
              </a:solidFill>
            </a:ln>
          </p:spPr>
        </p:sp>
        <p:sp>
          <p:nvSpPr>
            <p:cNvPr id="23" name="Freeform 23"/>
            <p:cNvSpPr/>
            <p:nvPr/>
          </p:nvSpPr>
          <p:spPr>
            <a:xfrm>
              <a:off x="1463992" y="2209800"/>
              <a:ext cx="728662" cy="641033"/>
            </a:xfrm>
            <a:custGeom>
              <a:avLst/>
              <a:gdLst/>
              <a:ahLst/>
              <a:cxnLst/>
              <a:rect l="l" t="t" r="r" b="b"/>
              <a:pathLst>
                <a:path w="728662" h="641033">
                  <a:moveTo>
                    <a:pt x="0" y="641033"/>
                  </a:moveTo>
                  <a:lnTo>
                    <a:pt x="728662" y="0"/>
                  </a:lnTo>
                </a:path>
              </a:pathLst>
            </a:custGeom>
            <a:noFill/>
            <a:ln w="17145">
              <a:solidFill>
                <a:srgbClr val="F26B3A"/>
              </a:solidFill>
            </a:ln>
          </p:spPr>
        </p:sp>
        <p:sp>
          <p:nvSpPr>
            <p:cNvPr id="24" name="Freeform 24"/>
            <p:cNvSpPr/>
            <p:nvPr/>
          </p:nvSpPr>
          <p:spPr>
            <a:xfrm>
              <a:off x="1764982" y="2364105"/>
              <a:ext cx="1042035" cy="9525"/>
            </a:xfrm>
            <a:custGeom>
              <a:avLst/>
              <a:gdLst/>
              <a:ahLst/>
              <a:cxnLst/>
              <a:rect l="l" t="t" r="r" b="b"/>
              <a:pathLst>
                <a:path w="1042035" h="9525">
                  <a:moveTo>
                    <a:pt x="0" y="0"/>
                  </a:moveTo>
                  <a:lnTo>
                    <a:pt x="1042035" y="0"/>
                  </a:lnTo>
                </a:path>
              </a:pathLst>
            </a:custGeom>
            <a:noFill/>
            <a:ln w="17145">
              <a:solidFill>
                <a:srgbClr val="F26B3A"/>
              </a:solidFill>
            </a:ln>
          </p:spPr>
        </p:sp>
        <p:sp>
          <p:nvSpPr>
            <p:cNvPr id="25" name="Freeform 25"/>
            <p:cNvSpPr/>
            <p:nvPr/>
          </p:nvSpPr>
          <p:spPr>
            <a:xfrm>
              <a:off x="2286000" y="2251710"/>
              <a:ext cx="9525" cy="1362075"/>
            </a:xfrm>
            <a:custGeom>
              <a:avLst/>
              <a:gdLst/>
              <a:ahLst/>
              <a:cxnLst/>
              <a:rect l="l" t="t" r="r" b="b"/>
              <a:pathLst>
                <a:path w="9525" h="1362075">
                  <a:moveTo>
                    <a:pt x="0" y="0"/>
                  </a:moveTo>
                  <a:lnTo>
                    <a:pt x="0" y="1362075"/>
                  </a:lnTo>
                </a:path>
              </a:pathLst>
            </a:custGeom>
            <a:noFill/>
            <a:ln w="17145">
              <a:solidFill>
                <a:srgbClr val="14A38B"/>
              </a:solidFill>
            </a:ln>
          </p:spPr>
        </p:sp>
        <p:sp>
          <p:nvSpPr>
            <p:cNvPr id="26" name="Freeform 26"/>
            <p:cNvSpPr/>
            <p:nvPr/>
          </p:nvSpPr>
          <p:spPr>
            <a:xfrm>
              <a:off x="1733550" y="2446020"/>
              <a:ext cx="1104900" cy="974408"/>
            </a:xfrm>
            <a:custGeom>
              <a:avLst/>
              <a:gdLst/>
              <a:ahLst/>
              <a:cxnLst/>
              <a:rect l="l" t="t" r="r" b="b"/>
              <a:pathLst>
                <a:path w="1104900" h="974408">
                  <a:moveTo>
                    <a:pt x="1104900" y="0"/>
                  </a:moveTo>
                  <a:lnTo>
                    <a:pt x="0" y="974408"/>
                  </a:lnTo>
                </a:path>
              </a:pathLst>
            </a:custGeom>
            <a:noFill/>
            <a:ln w="17145">
              <a:solidFill>
                <a:srgbClr val="14A38B"/>
              </a:solidFill>
            </a:ln>
          </p:spPr>
        </p:sp>
        <p:sp>
          <p:nvSpPr>
            <p:cNvPr id="27" name="Freeform 27"/>
            <p:cNvSpPr/>
            <p:nvPr/>
          </p:nvSpPr>
          <p:spPr>
            <a:xfrm>
              <a:off x="1495425" y="2932748"/>
              <a:ext cx="1581150" cy="9525"/>
            </a:xfrm>
            <a:custGeom>
              <a:avLst/>
              <a:gdLst/>
              <a:ahLst/>
              <a:cxnLst/>
              <a:rect l="l" t="t" r="r" b="b"/>
              <a:pathLst>
                <a:path w="1581150" h="9525">
                  <a:moveTo>
                    <a:pt x="1581150" y="0"/>
                  </a:moveTo>
                  <a:lnTo>
                    <a:pt x="0" y="0"/>
                  </a:lnTo>
                </a:path>
              </a:pathLst>
            </a:custGeom>
            <a:noFill/>
            <a:ln w="17145">
              <a:solidFill>
                <a:srgbClr val="14A38B"/>
              </a:solidFill>
            </a:ln>
          </p:spPr>
        </p:sp>
        <p:sp>
          <p:nvSpPr>
            <p:cNvPr id="28" name="Freeform 28"/>
            <p:cNvSpPr/>
            <p:nvPr/>
          </p:nvSpPr>
          <p:spPr>
            <a:xfrm>
              <a:off x="1733550" y="2446020"/>
              <a:ext cx="1104900" cy="974408"/>
            </a:xfrm>
            <a:custGeom>
              <a:avLst/>
              <a:gdLst/>
              <a:ahLst/>
              <a:cxnLst/>
              <a:rect l="l" t="t" r="r" b="b"/>
              <a:pathLst>
                <a:path w="1104900" h="974408">
                  <a:moveTo>
                    <a:pt x="1104900" y="974408"/>
                  </a:moveTo>
                  <a:lnTo>
                    <a:pt x="0" y="0"/>
                  </a:lnTo>
                </a:path>
              </a:pathLst>
            </a:custGeom>
            <a:noFill/>
            <a:ln w="17145">
              <a:solidFill>
                <a:srgbClr val="14A38B"/>
              </a:solidFill>
            </a:ln>
          </p:spPr>
        </p:sp>
        <p:sp>
          <p:nvSpPr>
            <p:cNvPr id="29" name="Ellipse 29"/>
            <p:cNvSpPr/>
            <p:nvPr/>
          </p:nvSpPr>
          <p:spPr>
            <a:xfrm>
              <a:off x="2171700" y="2013585"/>
              <a:ext cx="228600" cy="228600"/>
            </a:xfrm>
            <a:prstGeom prst="ellipse">
              <a:avLst/>
            </a:prstGeom>
            <a:solidFill>
              <a:srgbClr val="FFFFFF"/>
            </a:solidFill>
            <a:ln w="17145">
              <a:solidFill>
                <a:srgbClr val="334E68"/>
              </a:solidFill>
            </a:ln>
          </p:spPr>
        </p:sp>
        <p:sp>
          <p:nvSpPr>
            <p:cNvPr id="30" name="Ellipse 30"/>
            <p:cNvSpPr/>
            <p:nvPr/>
          </p:nvSpPr>
          <p:spPr>
            <a:xfrm>
              <a:off x="2816542" y="2249805"/>
              <a:ext cx="228600" cy="228600"/>
            </a:xfrm>
            <a:prstGeom prst="ellipse">
              <a:avLst/>
            </a:prstGeom>
            <a:solidFill>
              <a:srgbClr val="FFFFFF"/>
            </a:solidFill>
            <a:ln w="17145">
              <a:solidFill>
                <a:srgbClr val="334E68"/>
              </a:solidFill>
            </a:ln>
          </p:spPr>
        </p:sp>
        <p:sp>
          <p:nvSpPr>
            <p:cNvPr id="31" name="Ellipse 31"/>
            <p:cNvSpPr/>
            <p:nvPr/>
          </p:nvSpPr>
          <p:spPr>
            <a:xfrm>
              <a:off x="3086100" y="2818448"/>
              <a:ext cx="228600" cy="228600"/>
            </a:xfrm>
            <a:prstGeom prst="ellipse">
              <a:avLst/>
            </a:prstGeom>
            <a:solidFill>
              <a:srgbClr val="FFFFFF"/>
            </a:solidFill>
            <a:ln w="17145">
              <a:solidFill>
                <a:srgbClr val="334E68"/>
              </a:solidFill>
            </a:ln>
          </p:spPr>
        </p:sp>
        <p:sp>
          <p:nvSpPr>
            <p:cNvPr id="32" name="Ellipse 32"/>
            <p:cNvSpPr/>
            <p:nvPr/>
          </p:nvSpPr>
          <p:spPr>
            <a:xfrm>
              <a:off x="2816542" y="3388042"/>
              <a:ext cx="228600" cy="228600"/>
            </a:xfrm>
            <a:prstGeom prst="ellipse">
              <a:avLst/>
            </a:prstGeom>
            <a:solidFill>
              <a:srgbClr val="FFFFFF"/>
            </a:solidFill>
            <a:ln w="17145">
              <a:solidFill>
                <a:srgbClr val="334E68"/>
              </a:solidFill>
            </a:ln>
          </p:spPr>
        </p:sp>
        <p:sp>
          <p:nvSpPr>
            <p:cNvPr id="33" name="Ellipse 33"/>
            <p:cNvSpPr/>
            <p:nvPr/>
          </p:nvSpPr>
          <p:spPr>
            <a:xfrm>
              <a:off x="2171700" y="3623310"/>
              <a:ext cx="228600" cy="228600"/>
            </a:xfrm>
            <a:prstGeom prst="ellipse">
              <a:avLst/>
            </a:prstGeom>
            <a:solidFill>
              <a:srgbClr val="FFFFFF"/>
            </a:solidFill>
            <a:ln w="17145">
              <a:solidFill>
                <a:srgbClr val="334E68"/>
              </a:solidFill>
            </a:ln>
          </p:spPr>
        </p:sp>
        <p:sp>
          <p:nvSpPr>
            <p:cNvPr id="34" name="Ellipse 34"/>
            <p:cNvSpPr/>
            <p:nvPr/>
          </p:nvSpPr>
          <p:spPr>
            <a:xfrm>
              <a:off x="1526858" y="3388042"/>
              <a:ext cx="228600" cy="228600"/>
            </a:xfrm>
            <a:prstGeom prst="ellipse">
              <a:avLst/>
            </a:prstGeom>
            <a:solidFill>
              <a:srgbClr val="FFFFFF"/>
            </a:solidFill>
            <a:ln w="17145">
              <a:solidFill>
                <a:srgbClr val="334E68"/>
              </a:solidFill>
            </a:ln>
          </p:spPr>
        </p:sp>
        <p:sp>
          <p:nvSpPr>
            <p:cNvPr id="35" name="Ellipse 35"/>
            <p:cNvSpPr/>
            <p:nvPr/>
          </p:nvSpPr>
          <p:spPr>
            <a:xfrm>
              <a:off x="1257300" y="2818448"/>
              <a:ext cx="228600" cy="228600"/>
            </a:xfrm>
            <a:prstGeom prst="ellipse">
              <a:avLst/>
            </a:prstGeom>
            <a:solidFill>
              <a:srgbClr val="FFFFFF"/>
            </a:solidFill>
            <a:ln w="17145">
              <a:solidFill>
                <a:srgbClr val="334E68"/>
              </a:solidFill>
            </a:ln>
          </p:spPr>
        </p:sp>
        <p:sp>
          <p:nvSpPr>
            <p:cNvPr id="36" name="Ellipse 36"/>
            <p:cNvSpPr/>
            <p:nvPr/>
          </p:nvSpPr>
          <p:spPr>
            <a:xfrm>
              <a:off x="1526858" y="2249805"/>
              <a:ext cx="228600" cy="228600"/>
            </a:xfrm>
            <a:prstGeom prst="ellipse">
              <a:avLst/>
            </a:prstGeom>
            <a:solidFill>
              <a:srgbClr val="FFFFFF"/>
            </a:solidFill>
            <a:ln w="17145">
              <a:solidFill>
                <a:srgbClr val="334E68"/>
              </a:solidFill>
            </a:ln>
          </p:spPr>
        </p:sp>
        <p:sp>
          <p:nvSpPr>
            <p:cNvPr id="37" name="TextBox 37"/>
            <p:cNvSpPr txBox="1"/>
            <p:nvPr/>
          </p:nvSpPr>
          <p:spPr>
            <a:xfrm>
              <a:off x="2246253" y="2072640"/>
              <a:ext cx="79494" cy="176212"/>
            </a:xfrm>
            <a:prstGeom prst="rect">
              <a:avLst/>
            </a:prstGeom>
            <a:noFill/>
            <a:ln>
              <a:noFill/>
            </a:ln>
          </p:spPr>
          <p:txBody>
            <a:bodyPr wrap="none" lIns="0" tIns="0" rIns="0" bIns="0" anchor="t" anchorCtr="0">
              <a:spAutoFit/>
            </a:bodyPr>
            <a:lstStyle/>
            <a:p>
              <a:pPr algn="ctr"/>
              <a:r>
                <a:rPr lang="zh-CN" sz="900" b="1" dirty="0">
                  <a:solidFill>
                    <a:srgbClr val="1F2937"/>
                  </a:solidFill>
                  <a:latin typeface="+mn-lt"/>
                  <a:ea typeface="+mn-ea"/>
                  <a:cs typeface="+mn-cs"/>
                </a:rPr>
                <a:t>0</a:t>
              </a:r>
            </a:p>
          </p:txBody>
        </p:sp>
        <p:sp>
          <p:nvSpPr>
            <p:cNvPr id="38" name="TextBox 38"/>
            <p:cNvSpPr txBox="1"/>
            <p:nvPr/>
          </p:nvSpPr>
          <p:spPr>
            <a:xfrm>
              <a:off x="2891096" y="2307908"/>
              <a:ext cx="79494" cy="176212"/>
            </a:xfrm>
            <a:prstGeom prst="rect">
              <a:avLst/>
            </a:prstGeom>
            <a:noFill/>
            <a:ln>
              <a:noFill/>
            </a:ln>
          </p:spPr>
          <p:txBody>
            <a:bodyPr wrap="none" lIns="0" tIns="0" rIns="0" bIns="0" anchor="t" anchorCtr="0">
              <a:spAutoFit/>
            </a:bodyPr>
            <a:lstStyle/>
            <a:p>
              <a:pPr algn="ctr"/>
              <a:r>
                <a:rPr lang="zh-CN" sz="900" b="1" dirty="0">
                  <a:solidFill>
                    <a:srgbClr val="1F2937"/>
                  </a:solidFill>
                  <a:latin typeface="+mn-lt"/>
                  <a:ea typeface="+mn-ea"/>
                  <a:cs typeface="+mn-cs"/>
                </a:rPr>
                <a:t>1</a:t>
              </a:r>
            </a:p>
          </p:txBody>
        </p:sp>
        <p:sp>
          <p:nvSpPr>
            <p:cNvPr id="39" name="TextBox 39"/>
            <p:cNvSpPr txBox="1"/>
            <p:nvPr/>
          </p:nvSpPr>
          <p:spPr>
            <a:xfrm>
              <a:off x="3160653" y="2876550"/>
              <a:ext cx="79494" cy="176212"/>
            </a:xfrm>
            <a:prstGeom prst="rect">
              <a:avLst/>
            </a:prstGeom>
            <a:noFill/>
            <a:ln>
              <a:noFill/>
            </a:ln>
          </p:spPr>
          <p:txBody>
            <a:bodyPr wrap="none" lIns="0" tIns="0" rIns="0" bIns="0" anchor="t" anchorCtr="0">
              <a:spAutoFit/>
            </a:bodyPr>
            <a:lstStyle/>
            <a:p>
              <a:pPr algn="ctr"/>
              <a:r>
                <a:rPr lang="zh-CN" sz="900" b="1" dirty="0">
                  <a:solidFill>
                    <a:srgbClr val="1F2937"/>
                  </a:solidFill>
                  <a:latin typeface="+mn-lt"/>
                  <a:ea typeface="+mn-ea"/>
                  <a:cs typeface="+mn-cs"/>
                </a:rPr>
                <a:t>2</a:t>
              </a:r>
            </a:p>
          </p:txBody>
        </p:sp>
        <p:sp>
          <p:nvSpPr>
            <p:cNvPr id="40" name="TextBox 40"/>
            <p:cNvSpPr txBox="1"/>
            <p:nvPr/>
          </p:nvSpPr>
          <p:spPr>
            <a:xfrm>
              <a:off x="2891096" y="3446145"/>
              <a:ext cx="79494" cy="176212"/>
            </a:xfrm>
            <a:prstGeom prst="rect">
              <a:avLst/>
            </a:prstGeom>
            <a:noFill/>
            <a:ln>
              <a:noFill/>
            </a:ln>
          </p:spPr>
          <p:txBody>
            <a:bodyPr wrap="none" lIns="0" tIns="0" rIns="0" bIns="0" anchor="t" anchorCtr="0">
              <a:spAutoFit/>
            </a:bodyPr>
            <a:lstStyle/>
            <a:p>
              <a:pPr algn="ctr"/>
              <a:r>
                <a:rPr lang="zh-CN" sz="900" b="1" dirty="0">
                  <a:solidFill>
                    <a:srgbClr val="1F2937"/>
                  </a:solidFill>
                  <a:latin typeface="+mn-lt"/>
                  <a:ea typeface="+mn-ea"/>
                  <a:cs typeface="+mn-cs"/>
                </a:rPr>
                <a:t>3</a:t>
              </a:r>
            </a:p>
          </p:txBody>
        </p:sp>
        <p:sp>
          <p:nvSpPr>
            <p:cNvPr id="41" name="TextBox 41"/>
            <p:cNvSpPr txBox="1"/>
            <p:nvPr/>
          </p:nvSpPr>
          <p:spPr>
            <a:xfrm>
              <a:off x="2246253" y="3681412"/>
              <a:ext cx="79494" cy="176212"/>
            </a:xfrm>
            <a:prstGeom prst="rect">
              <a:avLst/>
            </a:prstGeom>
            <a:noFill/>
            <a:ln>
              <a:noFill/>
            </a:ln>
          </p:spPr>
          <p:txBody>
            <a:bodyPr wrap="none" lIns="0" tIns="0" rIns="0" bIns="0" anchor="t" anchorCtr="0">
              <a:spAutoFit/>
            </a:bodyPr>
            <a:lstStyle/>
            <a:p>
              <a:pPr algn="ctr"/>
              <a:r>
                <a:rPr lang="zh-CN" sz="900" b="1" dirty="0">
                  <a:solidFill>
                    <a:srgbClr val="1F2937"/>
                  </a:solidFill>
                  <a:latin typeface="+mn-lt"/>
                  <a:ea typeface="+mn-ea"/>
                  <a:cs typeface="+mn-cs"/>
                </a:rPr>
                <a:t>4</a:t>
              </a:r>
            </a:p>
          </p:txBody>
        </p:sp>
        <p:sp>
          <p:nvSpPr>
            <p:cNvPr id="42" name="TextBox 42"/>
            <p:cNvSpPr txBox="1"/>
            <p:nvPr/>
          </p:nvSpPr>
          <p:spPr>
            <a:xfrm>
              <a:off x="1601411" y="3446145"/>
              <a:ext cx="79494" cy="176212"/>
            </a:xfrm>
            <a:prstGeom prst="rect">
              <a:avLst/>
            </a:prstGeom>
            <a:noFill/>
            <a:ln>
              <a:noFill/>
            </a:ln>
          </p:spPr>
          <p:txBody>
            <a:bodyPr wrap="none" lIns="0" tIns="0" rIns="0" bIns="0" anchor="t" anchorCtr="0">
              <a:spAutoFit/>
            </a:bodyPr>
            <a:lstStyle/>
            <a:p>
              <a:pPr algn="ctr"/>
              <a:r>
                <a:rPr lang="zh-CN" sz="900" b="1" dirty="0">
                  <a:solidFill>
                    <a:srgbClr val="1F2937"/>
                  </a:solidFill>
                  <a:latin typeface="+mn-lt"/>
                  <a:ea typeface="+mn-ea"/>
                  <a:cs typeface="+mn-cs"/>
                </a:rPr>
                <a:t>5</a:t>
              </a:r>
            </a:p>
          </p:txBody>
        </p:sp>
        <p:sp>
          <p:nvSpPr>
            <p:cNvPr id="43" name="TextBox 43"/>
            <p:cNvSpPr txBox="1"/>
            <p:nvPr/>
          </p:nvSpPr>
          <p:spPr>
            <a:xfrm>
              <a:off x="1331853" y="2876550"/>
              <a:ext cx="79494" cy="176212"/>
            </a:xfrm>
            <a:prstGeom prst="rect">
              <a:avLst/>
            </a:prstGeom>
            <a:noFill/>
            <a:ln>
              <a:noFill/>
            </a:ln>
          </p:spPr>
          <p:txBody>
            <a:bodyPr wrap="none" lIns="0" tIns="0" rIns="0" bIns="0" anchor="t" anchorCtr="0">
              <a:spAutoFit/>
            </a:bodyPr>
            <a:lstStyle/>
            <a:p>
              <a:pPr algn="ctr"/>
              <a:r>
                <a:rPr lang="zh-CN" sz="900" b="1" dirty="0">
                  <a:solidFill>
                    <a:srgbClr val="1F2937"/>
                  </a:solidFill>
                  <a:latin typeface="+mn-lt"/>
                  <a:ea typeface="+mn-ea"/>
                  <a:cs typeface="+mn-cs"/>
                </a:rPr>
                <a:t>6</a:t>
              </a:r>
            </a:p>
          </p:txBody>
        </p:sp>
        <p:sp>
          <p:nvSpPr>
            <p:cNvPr id="44" name="TextBox 44"/>
            <p:cNvSpPr txBox="1"/>
            <p:nvPr/>
          </p:nvSpPr>
          <p:spPr>
            <a:xfrm>
              <a:off x="1601411" y="2307908"/>
              <a:ext cx="79494" cy="176212"/>
            </a:xfrm>
            <a:prstGeom prst="rect">
              <a:avLst/>
            </a:prstGeom>
            <a:noFill/>
            <a:ln>
              <a:noFill/>
            </a:ln>
          </p:spPr>
          <p:txBody>
            <a:bodyPr wrap="none" lIns="0" tIns="0" rIns="0" bIns="0" anchor="t" anchorCtr="0">
              <a:spAutoFit/>
            </a:bodyPr>
            <a:lstStyle/>
            <a:p>
              <a:pPr algn="ctr"/>
              <a:r>
                <a:rPr lang="zh-CN" sz="900" b="1" dirty="0">
                  <a:solidFill>
                    <a:srgbClr val="1F2937"/>
                  </a:solidFill>
                  <a:latin typeface="+mn-lt"/>
                  <a:ea typeface="+mn-ea"/>
                  <a:cs typeface="+mn-cs"/>
                </a:rPr>
                <a:t>7</a:t>
              </a:r>
            </a:p>
          </p:txBody>
        </p:sp>
      </p:grpSp>
      <p:grpSp>
        <p:nvGrpSpPr>
          <p:cNvPr id="47" name="c1-text-3"/>
          <p:cNvGrpSpPr/>
          <p:nvPr/>
        </p:nvGrpSpPr>
        <p:grpSpPr>
          <a:xfrm>
            <a:off x="527685" y="4127659"/>
            <a:ext cx="3318510" cy="661988"/>
            <a:chOff x="527685" y="4127659"/>
            <a:chExt cx="3318510" cy="661988"/>
          </a:xfrm>
        </p:grpSpPr>
        <p:sp>
          <p:nvSpPr>
            <p:cNvPr id="46" name="TextBox 46"/>
            <p:cNvSpPr txBox="1"/>
            <p:nvPr/>
          </p:nvSpPr>
          <p:spPr>
            <a:xfrm>
              <a:off x="527685" y="4127659"/>
              <a:ext cx="3318510" cy="661988"/>
            </a:xfrm>
            <a:prstGeom prst="rect">
              <a:avLst/>
            </a:prstGeom>
            <a:noFill/>
            <a:ln>
              <a:noFill/>
            </a:ln>
          </p:spPr>
          <p:txBody>
            <a:bodyPr wrap="none" lIns="0" tIns="0" rIns="0" bIns="0" anchor="t" anchorCtr="0">
              <a:spAutoFit/>
            </a:bodyPr>
            <a:lstStyle/>
            <a:p>
              <a:pPr algn="l">
                <a:lnSpc>
                  <a:spcPts val="1740"/>
                </a:lnSpc>
              </a:pPr>
              <a:r>
                <a:rPr lang="zh-CN" sz="1120" dirty="0">
                  <a:solidFill>
                    <a:srgbClr val="1F2937"/>
                  </a:solidFill>
                  <a:latin typeface="+mn-lt"/>
                  <a:ea typeface="+mn-ea"/>
                  <a:cs typeface="+mn-cs"/>
                </a:rPr>
                <a:t>环上每个节点再连到距离为 2 的整数幂的节点（橙色</a:t>
              </a:r>
              <a:br/>
              <a:r>
                <a:rPr lang="zh-CN" sz="1120" dirty="0">
                  <a:solidFill>
                    <a:srgbClr val="1F2937"/>
                  </a:solidFill>
                  <a:latin typeface="+mn-lt"/>
                  <a:ea typeface="+mn-ea"/>
                  <a:cs typeface="+mn-cs"/>
                </a:rPr>
                <a:t>±2，绿色 4）。N = 2ⁿ，度 2n − 1；N = 8 时度 5、直</a:t>
              </a:r>
              <a:br/>
              <a:r>
                <a:rPr lang="zh-CN" sz="1120" dirty="0">
                  <a:solidFill>
                    <a:srgbClr val="1F2937"/>
                  </a:solidFill>
                  <a:latin typeface="+mn-lt"/>
                  <a:ea typeface="+mn-ea"/>
                  <a:cs typeface="+mn-cs"/>
                </a:rPr>
                <a:t>径 2。</a:t>
              </a:r>
            </a:p>
          </p:txBody>
        </p:sp>
      </p:grpSp>
      <p:grpSp>
        <p:nvGrpSpPr>
          <p:cNvPr id="53" name="c1-card-4"/>
          <p:cNvGrpSpPr/>
          <p:nvPr/>
        </p:nvGrpSpPr>
        <p:grpSpPr>
          <a:xfrm>
            <a:off x="533400" y="4915852"/>
            <a:ext cx="3505200" cy="1443038"/>
            <a:chOff x="533400" y="4915852"/>
            <a:chExt cx="3505200" cy="1443038"/>
          </a:xfrm>
        </p:grpSpPr>
        <p:sp>
          <p:nvSpPr>
            <p:cNvPr id="48" name="Rectangle 48"/>
            <p:cNvSpPr/>
            <p:nvPr/>
          </p:nvSpPr>
          <p:spPr>
            <a:xfrm>
              <a:off x="533400" y="4915852"/>
              <a:ext cx="3505200" cy="1443038"/>
            </a:xfrm>
            <a:prstGeom prst="roundRect">
              <a:avLst>
                <a:gd name="adj" fmla="val 9241"/>
              </a:avLst>
            </a:prstGeom>
            <a:solidFill>
              <a:srgbClr val="FFFFFF"/>
            </a:solidFill>
            <a:ln w="14288">
              <a:solidFill>
                <a:srgbClr val="D9DFEA"/>
              </a:solidFill>
            </a:ln>
          </p:spPr>
        </p:sp>
        <p:sp>
          <p:nvSpPr>
            <p:cNvPr id="49" name="Rectangle 49"/>
            <p:cNvSpPr/>
            <p:nvPr/>
          </p:nvSpPr>
          <p:spPr>
            <a:xfrm>
              <a:off x="542925" y="5049202"/>
              <a:ext cx="47625" cy="1176338"/>
            </a:xfrm>
            <a:prstGeom prst="roundRect">
              <a:avLst>
                <a:gd name="adj" fmla="val 50000"/>
              </a:avLst>
            </a:prstGeom>
            <a:solidFill>
              <a:srgbClr val="5B6475"/>
            </a:solidFill>
            <a:ln>
              <a:noFill/>
            </a:ln>
          </p:spPr>
        </p:sp>
        <p:sp>
          <p:nvSpPr>
            <p:cNvPr id="50" name="Rectangle 50"/>
            <p:cNvSpPr/>
            <p:nvPr/>
          </p:nvSpPr>
          <p:spPr>
            <a:xfrm>
              <a:off x="758190" y="5102542"/>
              <a:ext cx="458152" cy="238125"/>
            </a:xfrm>
            <a:prstGeom prst="roundRect">
              <a:avLst>
                <a:gd name="adj" fmla="val 50000"/>
              </a:avLst>
            </a:prstGeom>
            <a:solidFill>
              <a:srgbClr val="F4F6FB"/>
            </a:solidFill>
            <a:ln>
              <a:noFill/>
            </a:ln>
          </p:spPr>
        </p:sp>
        <p:sp>
          <p:nvSpPr>
            <p:cNvPr id="51" name="TextBox 51"/>
            <p:cNvSpPr txBox="1"/>
            <p:nvPr/>
          </p:nvSpPr>
          <p:spPr>
            <a:xfrm>
              <a:off x="850862" y="5135404"/>
              <a:ext cx="273761" cy="190690"/>
            </a:xfrm>
            <a:prstGeom prst="rect">
              <a:avLst/>
            </a:prstGeom>
            <a:noFill/>
            <a:ln>
              <a:noFill/>
            </a:ln>
          </p:spPr>
          <p:txBody>
            <a:bodyPr wrap="none" lIns="0" tIns="0" rIns="0" bIns="0" anchor="t" anchorCtr="0">
              <a:spAutoFit/>
            </a:bodyPr>
            <a:lstStyle/>
            <a:p>
              <a:pPr algn="ctr"/>
              <a:r>
                <a:rPr lang="zh-CN" sz="980" b="1" dirty="0">
                  <a:solidFill>
                    <a:srgbClr val="5B6475"/>
                  </a:solidFill>
                  <a:latin typeface="+mn-lt"/>
                  <a:ea typeface="+mn-ea"/>
                  <a:cs typeface="+mn-cs"/>
                </a:rPr>
                <a:t>更正</a:t>
              </a:r>
            </a:p>
          </p:txBody>
        </p:sp>
        <p:sp>
          <p:nvSpPr>
            <p:cNvPr id="52" name="TextBox 52"/>
            <p:cNvSpPr txBox="1"/>
            <p:nvPr/>
          </p:nvSpPr>
          <p:spPr>
            <a:xfrm>
              <a:off x="751332" y="5446395"/>
              <a:ext cx="2894076" cy="778383"/>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原课件写直径 D = n/2，只在 n 为偶数</a:t>
              </a:r>
              <a:br/>
              <a:r>
                <a:rPr lang="zh-CN" sz="1350" dirty="0">
                  <a:solidFill>
                    <a:srgbClr val="1F2937"/>
                  </a:solidFill>
                  <a:latin typeface="+mn-lt"/>
                  <a:ea typeface="+mn-ea"/>
                  <a:cs typeface="+mn-cs"/>
                </a:rPr>
                <a:t>时成立；逐点搜索得 n = 3、5 时直径</a:t>
              </a:r>
              <a:br/>
              <a:r>
                <a:rPr lang="zh-CN" sz="1350" dirty="0">
                  <a:solidFill>
                    <a:srgbClr val="1F2937"/>
                  </a:solidFill>
                  <a:latin typeface="+mn-lt"/>
                  <a:ea typeface="+mn-ea"/>
                  <a:cs typeface="+mn-cs"/>
                </a:rPr>
                <a:t>为 2、3，一般是 ⌈n/2⌉。</a:t>
              </a:r>
            </a:p>
          </p:txBody>
        </p:sp>
      </p:grpSp>
      <p:grpSp>
        <p:nvGrpSpPr>
          <p:cNvPr id="55" name="c2-text-1"/>
          <p:cNvGrpSpPr/>
          <p:nvPr/>
        </p:nvGrpSpPr>
        <p:grpSpPr>
          <a:xfrm>
            <a:off x="4336542" y="1545907"/>
            <a:ext cx="1722044" cy="264033"/>
            <a:chOff x="4336542" y="1545907"/>
            <a:chExt cx="1722044" cy="264033"/>
          </a:xfrm>
        </p:grpSpPr>
        <p:sp>
          <p:nvSpPr>
            <p:cNvPr id="54" name="TextBox 54"/>
            <p:cNvSpPr txBox="1"/>
            <p:nvPr/>
          </p:nvSpPr>
          <p:spPr>
            <a:xfrm>
              <a:off x="4336542" y="1545907"/>
              <a:ext cx="1722044"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二叉树</a:t>
              </a:r>
              <a:r>
                <a:rPr lang="zh-CN" sz="1350" dirty="0">
                  <a:solidFill>
                    <a:srgbClr val="1F2937"/>
                  </a:solidFill>
                  <a:latin typeface="+mn-lt"/>
                  <a:ea typeface="+mn-ea"/>
                  <a:cs typeface="+mn-cs"/>
                </a:rPr>
                <a:t>（15 个节点）</a:t>
              </a:r>
            </a:p>
          </p:txBody>
        </p:sp>
      </p:grpSp>
      <p:grpSp>
        <p:nvGrpSpPr>
          <p:cNvPr id="85" name="c2-graph-2"/>
          <p:cNvGrpSpPr/>
          <p:nvPr/>
        </p:nvGrpSpPr>
        <p:grpSpPr>
          <a:xfrm>
            <a:off x="4611052" y="2018348"/>
            <a:ext cx="2969896" cy="1493520"/>
            <a:chOff x="4611052" y="2018348"/>
            <a:chExt cx="2969896" cy="1493520"/>
          </a:xfrm>
        </p:grpSpPr>
        <p:sp>
          <p:nvSpPr>
            <p:cNvPr id="56" name="Freeform 56"/>
            <p:cNvSpPr/>
            <p:nvPr/>
          </p:nvSpPr>
          <p:spPr>
            <a:xfrm>
              <a:off x="5365432" y="2135505"/>
              <a:ext cx="655320" cy="354330"/>
            </a:xfrm>
            <a:custGeom>
              <a:avLst/>
              <a:gdLst/>
              <a:ahLst/>
              <a:cxnLst/>
              <a:rect l="l" t="t" r="r" b="b"/>
              <a:pathLst>
                <a:path w="655320" h="354330">
                  <a:moveTo>
                    <a:pt x="655320" y="0"/>
                  </a:moveTo>
                  <a:lnTo>
                    <a:pt x="0" y="354330"/>
                  </a:lnTo>
                </a:path>
              </a:pathLst>
            </a:custGeom>
            <a:noFill/>
            <a:ln w="17145">
              <a:solidFill>
                <a:srgbClr val="1F2937"/>
              </a:solidFill>
            </a:ln>
          </p:spPr>
        </p:sp>
        <p:sp>
          <p:nvSpPr>
            <p:cNvPr id="57" name="Freeform 57"/>
            <p:cNvSpPr/>
            <p:nvPr/>
          </p:nvSpPr>
          <p:spPr>
            <a:xfrm>
              <a:off x="6171248" y="2135505"/>
              <a:ext cx="655320" cy="354330"/>
            </a:xfrm>
            <a:custGeom>
              <a:avLst/>
              <a:gdLst/>
              <a:ahLst/>
              <a:cxnLst/>
              <a:rect l="l" t="t" r="r" b="b"/>
              <a:pathLst>
                <a:path w="655320" h="354330">
                  <a:moveTo>
                    <a:pt x="0" y="0"/>
                  </a:moveTo>
                  <a:lnTo>
                    <a:pt x="655320" y="354330"/>
                  </a:lnTo>
                </a:path>
              </a:pathLst>
            </a:custGeom>
            <a:noFill/>
            <a:ln w="17145">
              <a:solidFill>
                <a:srgbClr val="1F2937"/>
              </a:solidFill>
            </a:ln>
          </p:spPr>
        </p:sp>
        <p:sp>
          <p:nvSpPr>
            <p:cNvPr id="58" name="Freeform 58"/>
            <p:cNvSpPr/>
            <p:nvPr/>
          </p:nvSpPr>
          <p:spPr>
            <a:xfrm>
              <a:off x="4943475" y="2594610"/>
              <a:ext cx="289560" cy="324803"/>
            </a:xfrm>
            <a:custGeom>
              <a:avLst/>
              <a:gdLst/>
              <a:ahLst/>
              <a:cxnLst/>
              <a:rect l="l" t="t" r="r" b="b"/>
              <a:pathLst>
                <a:path w="289560" h="324803">
                  <a:moveTo>
                    <a:pt x="289560" y="0"/>
                  </a:moveTo>
                  <a:lnTo>
                    <a:pt x="0" y="324803"/>
                  </a:lnTo>
                </a:path>
              </a:pathLst>
            </a:custGeom>
            <a:noFill/>
            <a:ln w="17145">
              <a:solidFill>
                <a:srgbClr val="1F2937"/>
              </a:solidFill>
            </a:ln>
          </p:spPr>
        </p:sp>
        <p:sp>
          <p:nvSpPr>
            <p:cNvPr id="59" name="Freeform 59"/>
            <p:cNvSpPr/>
            <p:nvPr/>
          </p:nvSpPr>
          <p:spPr>
            <a:xfrm>
              <a:off x="5346382" y="2594610"/>
              <a:ext cx="289560" cy="324803"/>
            </a:xfrm>
            <a:custGeom>
              <a:avLst/>
              <a:gdLst/>
              <a:ahLst/>
              <a:cxnLst/>
              <a:rect l="l" t="t" r="r" b="b"/>
              <a:pathLst>
                <a:path w="289560" h="324803">
                  <a:moveTo>
                    <a:pt x="0" y="0"/>
                  </a:moveTo>
                  <a:lnTo>
                    <a:pt x="289560" y="324803"/>
                  </a:lnTo>
                </a:path>
              </a:pathLst>
            </a:custGeom>
            <a:noFill/>
            <a:ln w="17145">
              <a:solidFill>
                <a:srgbClr val="1F2937"/>
              </a:solidFill>
            </a:ln>
          </p:spPr>
        </p:sp>
        <p:sp>
          <p:nvSpPr>
            <p:cNvPr id="60" name="Freeform 60"/>
            <p:cNvSpPr/>
            <p:nvPr/>
          </p:nvSpPr>
          <p:spPr>
            <a:xfrm>
              <a:off x="6556058" y="2594610"/>
              <a:ext cx="289560" cy="324803"/>
            </a:xfrm>
            <a:custGeom>
              <a:avLst/>
              <a:gdLst/>
              <a:ahLst/>
              <a:cxnLst/>
              <a:rect l="l" t="t" r="r" b="b"/>
              <a:pathLst>
                <a:path w="289560" h="324803">
                  <a:moveTo>
                    <a:pt x="289560" y="0"/>
                  </a:moveTo>
                  <a:lnTo>
                    <a:pt x="0" y="324803"/>
                  </a:lnTo>
                </a:path>
              </a:pathLst>
            </a:custGeom>
            <a:noFill/>
            <a:ln w="17145">
              <a:solidFill>
                <a:srgbClr val="1F2937"/>
              </a:solidFill>
            </a:ln>
          </p:spPr>
        </p:sp>
        <p:sp>
          <p:nvSpPr>
            <p:cNvPr id="61" name="Freeform 61"/>
            <p:cNvSpPr/>
            <p:nvPr/>
          </p:nvSpPr>
          <p:spPr>
            <a:xfrm>
              <a:off x="6958965" y="2594610"/>
              <a:ext cx="289560" cy="324803"/>
            </a:xfrm>
            <a:custGeom>
              <a:avLst/>
              <a:gdLst/>
              <a:ahLst/>
              <a:cxnLst/>
              <a:rect l="l" t="t" r="r" b="b"/>
              <a:pathLst>
                <a:path w="289560" h="324803">
                  <a:moveTo>
                    <a:pt x="0" y="0"/>
                  </a:moveTo>
                  <a:lnTo>
                    <a:pt x="289560" y="324803"/>
                  </a:lnTo>
                </a:path>
              </a:pathLst>
            </a:custGeom>
            <a:noFill/>
            <a:ln w="17145">
              <a:solidFill>
                <a:srgbClr val="1F2937"/>
              </a:solidFill>
            </a:ln>
          </p:spPr>
        </p:sp>
        <p:sp>
          <p:nvSpPr>
            <p:cNvPr id="62" name="Freeform 62"/>
            <p:cNvSpPr/>
            <p:nvPr/>
          </p:nvSpPr>
          <p:spPr>
            <a:xfrm>
              <a:off x="4721542" y="3061335"/>
              <a:ext cx="130492" cy="296228"/>
            </a:xfrm>
            <a:custGeom>
              <a:avLst/>
              <a:gdLst/>
              <a:ahLst/>
              <a:cxnLst/>
              <a:rect l="l" t="t" r="r" b="b"/>
              <a:pathLst>
                <a:path w="130492" h="296228">
                  <a:moveTo>
                    <a:pt x="130492" y="0"/>
                  </a:moveTo>
                  <a:lnTo>
                    <a:pt x="0" y="296228"/>
                  </a:lnTo>
                </a:path>
              </a:pathLst>
            </a:custGeom>
            <a:noFill/>
            <a:ln w="17145">
              <a:solidFill>
                <a:srgbClr val="1F2937"/>
              </a:solidFill>
            </a:ln>
          </p:spPr>
        </p:sp>
        <p:sp>
          <p:nvSpPr>
            <p:cNvPr id="63" name="Freeform 63"/>
            <p:cNvSpPr/>
            <p:nvPr/>
          </p:nvSpPr>
          <p:spPr>
            <a:xfrm>
              <a:off x="4921568" y="3061335"/>
              <a:ext cx="130492" cy="296228"/>
            </a:xfrm>
            <a:custGeom>
              <a:avLst/>
              <a:gdLst/>
              <a:ahLst/>
              <a:cxnLst/>
              <a:rect l="l" t="t" r="r" b="b"/>
              <a:pathLst>
                <a:path w="130492" h="296228">
                  <a:moveTo>
                    <a:pt x="0" y="0"/>
                  </a:moveTo>
                  <a:lnTo>
                    <a:pt x="130492" y="296228"/>
                  </a:lnTo>
                </a:path>
              </a:pathLst>
            </a:custGeom>
            <a:noFill/>
            <a:ln w="17145">
              <a:solidFill>
                <a:srgbClr val="1F2937"/>
              </a:solidFill>
            </a:ln>
          </p:spPr>
        </p:sp>
        <p:sp>
          <p:nvSpPr>
            <p:cNvPr id="64" name="Freeform 64"/>
            <p:cNvSpPr/>
            <p:nvPr/>
          </p:nvSpPr>
          <p:spPr>
            <a:xfrm>
              <a:off x="5527358" y="3061335"/>
              <a:ext cx="130493" cy="296228"/>
            </a:xfrm>
            <a:custGeom>
              <a:avLst/>
              <a:gdLst/>
              <a:ahLst/>
              <a:cxnLst/>
              <a:rect l="l" t="t" r="r" b="b"/>
              <a:pathLst>
                <a:path w="130493" h="296228">
                  <a:moveTo>
                    <a:pt x="130493" y="0"/>
                  </a:moveTo>
                  <a:lnTo>
                    <a:pt x="0" y="296228"/>
                  </a:lnTo>
                </a:path>
              </a:pathLst>
            </a:custGeom>
            <a:noFill/>
            <a:ln w="17145">
              <a:solidFill>
                <a:srgbClr val="1F2937"/>
              </a:solidFill>
            </a:ln>
          </p:spPr>
        </p:sp>
        <p:sp>
          <p:nvSpPr>
            <p:cNvPr id="65" name="Freeform 65"/>
            <p:cNvSpPr/>
            <p:nvPr/>
          </p:nvSpPr>
          <p:spPr>
            <a:xfrm>
              <a:off x="5727382" y="3061335"/>
              <a:ext cx="130493" cy="296228"/>
            </a:xfrm>
            <a:custGeom>
              <a:avLst/>
              <a:gdLst/>
              <a:ahLst/>
              <a:cxnLst/>
              <a:rect l="l" t="t" r="r" b="b"/>
              <a:pathLst>
                <a:path w="130493" h="296228">
                  <a:moveTo>
                    <a:pt x="0" y="0"/>
                  </a:moveTo>
                  <a:lnTo>
                    <a:pt x="130493" y="296228"/>
                  </a:lnTo>
                </a:path>
              </a:pathLst>
            </a:custGeom>
            <a:noFill/>
            <a:ln w="17145">
              <a:solidFill>
                <a:srgbClr val="1F2937"/>
              </a:solidFill>
            </a:ln>
          </p:spPr>
        </p:sp>
        <p:sp>
          <p:nvSpPr>
            <p:cNvPr id="66" name="Freeform 66"/>
            <p:cNvSpPr/>
            <p:nvPr/>
          </p:nvSpPr>
          <p:spPr>
            <a:xfrm>
              <a:off x="6334125" y="3061335"/>
              <a:ext cx="130493" cy="296228"/>
            </a:xfrm>
            <a:custGeom>
              <a:avLst/>
              <a:gdLst/>
              <a:ahLst/>
              <a:cxnLst/>
              <a:rect l="l" t="t" r="r" b="b"/>
              <a:pathLst>
                <a:path w="130493" h="296228">
                  <a:moveTo>
                    <a:pt x="130493" y="0"/>
                  </a:moveTo>
                  <a:lnTo>
                    <a:pt x="0" y="296228"/>
                  </a:lnTo>
                </a:path>
              </a:pathLst>
            </a:custGeom>
            <a:noFill/>
            <a:ln w="17145">
              <a:solidFill>
                <a:srgbClr val="1F2937"/>
              </a:solidFill>
            </a:ln>
          </p:spPr>
        </p:sp>
        <p:sp>
          <p:nvSpPr>
            <p:cNvPr id="67" name="Freeform 67"/>
            <p:cNvSpPr/>
            <p:nvPr/>
          </p:nvSpPr>
          <p:spPr>
            <a:xfrm>
              <a:off x="6534150" y="3061335"/>
              <a:ext cx="130493" cy="296228"/>
            </a:xfrm>
            <a:custGeom>
              <a:avLst/>
              <a:gdLst/>
              <a:ahLst/>
              <a:cxnLst/>
              <a:rect l="l" t="t" r="r" b="b"/>
              <a:pathLst>
                <a:path w="130493" h="296228">
                  <a:moveTo>
                    <a:pt x="0" y="0"/>
                  </a:moveTo>
                  <a:lnTo>
                    <a:pt x="130493" y="296228"/>
                  </a:lnTo>
                </a:path>
              </a:pathLst>
            </a:custGeom>
            <a:noFill/>
            <a:ln w="17145">
              <a:solidFill>
                <a:srgbClr val="1F2937"/>
              </a:solidFill>
            </a:ln>
          </p:spPr>
        </p:sp>
        <p:sp>
          <p:nvSpPr>
            <p:cNvPr id="68" name="Freeform 68"/>
            <p:cNvSpPr/>
            <p:nvPr/>
          </p:nvSpPr>
          <p:spPr>
            <a:xfrm>
              <a:off x="7139940" y="3061335"/>
              <a:ext cx="130492" cy="296228"/>
            </a:xfrm>
            <a:custGeom>
              <a:avLst/>
              <a:gdLst/>
              <a:ahLst/>
              <a:cxnLst/>
              <a:rect l="l" t="t" r="r" b="b"/>
              <a:pathLst>
                <a:path w="130492" h="296228">
                  <a:moveTo>
                    <a:pt x="130492" y="0"/>
                  </a:moveTo>
                  <a:lnTo>
                    <a:pt x="0" y="296228"/>
                  </a:lnTo>
                </a:path>
              </a:pathLst>
            </a:custGeom>
            <a:noFill/>
            <a:ln w="17145">
              <a:solidFill>
                <a:srgbClr val="1F2937"/>
              </a:solidFill>
            </a:ln>
          </p:spPr>
        </p:sp>
        <p:sp>
          <p:nvSpPr>
            <p:cNvPr id="69" name="Freeform 69"/>
            <p:cNvSpPr/>
            <p:nvPr/>
          </p:nvSpPr>
          <p:spPr>
            <a:xfrm>
              <a:off x="7339965" y="3061335"/>
              <a:ext cx="130492" cy="296228"/>
            </a:xfrm>
            <a:custGeom>
              <a:avLst/>
              <a:gdLst/>
              <a:ahLst/>
              <a:cxnLst/>
              <a:rect l="l" t="t" r="r" b="b"/>
              <a:pathLst>
                <a:path w="130492" h="296228">
                  <a:moveTo>
                    <a:pt x="0" y="0"/>
                  </a:moveTo>
                  <a:lnTo>
                    <a:pt x="130492" y="296228"/>
                  </a:lnTo>
                </a:path>
              </a:pathLst>
            </a:custGeom>
            <a:noFill/>
            <a:ln w="17145">
              <a:solidFill>
                <a:srgbClr val="1F2937"/>
              </a:solidFill>
            </a:ln>
          </p:spPr>
        </p:sp>
        <p:sp>
          <p:nvSpPr>
            <p:cNvPr id="70" name="Ellipse 70"/>
            <p:cNvSpPr/>
            <p:nvPr/>
          </p:nvSpPr>
          <p:spPr>
            <a:xfrm>
              <a:off x="6019800" y="2018348"/>
              <a:ext cx="152400" cy="152400"/>
            </a:xfrm>
            <a:prstGeom prst="ellipse">
              <a:avLst/>
            </a:prstGeom>
            <a:solidFill>
              <a:srgbClr val="FFFFFF"/>
            </a:solidFill>
            <a:ln w="17145">
              <a:solidFill>
                <a:srgbClr val="334E68"/>
              </a:solidFill>
            </a:ln>
          </p:spPr>
        </p:sp>
        <p:sp>
          <p:nvSpPr>
            <p:cNvPr id="71" name="Ellipse 71"/>
            <p:cNvSpPr/>
            <p:nvPr/>
          </p:nvSpPr>
          <p:spPr>
            <a:xfrm>
              <a:off x="5213985" y="2454592"/>
              <a:ext cx="152400" cy="152400"/>
            </a:xfrm>
            <a:prstGeom prst="ellipse">
              <a:avLst/>
            </a:prstGeom>
            <a:solidFill>
              <a:srgbClr val="FFFFFF"/>
            </a:solidFill>
            <a:ln w="17145">
              <a:solidFill>
                <a:srgbClr val="334E68"/>
              </a:solidFill>
            </a:ln>
          </p:spPr>
        </p:sp>
        <p:sp>
          <p:nvSpPr>
            <p:cNvPr id="72" name="Ellipse 72"/>
            <p:cNvSpPr/>
            <p:nvPr/>
          </p:nvSpPr>
          <p:spPr>
            <a:xfrm>
              <a:off x="6825615" y="2454592"/>
              <a:ext cx="152400" cy="152400"/>
            </a:xfrm>
            <a:prstGeom prst="ellipse">
              <a:avLst/>
            </a:prstGeom>
            <a:solidFill>
              <a:srgbClr val="FFFFFF"/>
            </a:solidFill>
            <a:ln w="17145">
              <a:solidFill>
                <a:srgbClr val="334E68"/>
              </a:solidFill>
            </a:ln>
          </p:spPr>
        </p:sp>
        <p:sp>
          <p:nvSpPr>
            <p:cNvPr id="73" name="Ellipse 73"/>
            <p:cNvSpPr/>
            <p:nvPr/>
          </p:nvSpPr>
          <p:spPr>
            <a:xfrm>
              <a:off x="4810125" y="2907030"/>
              <a:ext cx="152400" cy="152400"/>
            </a:xfrm>
            <a:prstGeom prst="ellipse">
              <a:avLst/>
            </a:prstGeom>
            <a:solidFill>
              <a:srgbClr val="FFFFFF"/>
            </a:solidFill>
            <a:ln w="17145">
              <a:solidFill>
                <a:srgbClr val="334E68"/>
              </a:solidFill>
            </a:ln>
          </p:spPr>
        </p:sp>
        <p:sp>
          <p:nvSpPr>
            <p:cNvPr id="74" name="Ellipse 74"/>
            <p:cNvSpPr/>
            <p:nvPr/>
          </p:nvSpPr>
          <p:spPr>
            <a:xfrm>
              <a:off x="5616892" y="2907030"/>
              <a:ext cx="152400" cy="152400"/>
            </a:xfrm>
            <a:prstGeom prst="ellipse">
              <a:avLst/>
            </a:prstGeom>
            <a:solidFill>
              <a:srgbClr val="FFFFFF"/>
            </a:solidFill>
            <a:ln w="17145">
              <a:solidFill>
                <a:srgbClr val="334E68"/>
              </a:solidFill>
            </a:ln>
          </p:spPr>
        </p:sp>
        <p:sp>
          <p:nvSpPr>
            <p:cNvPr id="75" name="Ellipse 75"/>
            <p:cNvSpPr/>
            <p:nvPr/>
          </p:nvSpPr>
          <p:spPr>
            <a:xfrm>
              <a:off x="6422708" y="2907030"/>
              <a:ext cx="152400" cy="152400"/>
            </a:xfrm>
            <a:prstGeom prst="ellipse">
              <a:avLst/>
            </a:prstGeom>
            <a:solidFill>
              <a:srgbClr val="FFFFFF"/>
            </a:solidFill>
            <a:ln w="17145">
              <a:solidFill>
                <a:srgbClr val="334E68"/>
              </a:solidFill>
            </a:ln>
          </p:spPr>
        </p:sp>
        <p:sp>
          <p:nvSpPr>
            <p:cNvPr id="76" name="Ellipse 76"/>
            <p:cNvSpPr/>
            <p:nvPr/>
          </p:nvSpPr>
          <p:spPr>
            <a:xfrm>
              <a:off x="7229475" y="2907030"/>
              <a:ext cx="152400" cy="152400"/>
            </a:xfrm>
            <a:prstGeom prst="ellipse">
              <a:avLst/>
            </a:prstGeom>
            <a:solidFill>
              <a:srgbClr val="FFFFFF"/>
            </a:solidFill>
            <a:ln w="17145">
              <a:solidFill>
                <a:srgbClr val="334E68"/>
              </a:solidFill>
            </a:ln>
          </p:spPr>
        </p:sp>
        <p:sp>
          <p:nvSpPr>
            <p:cNvPr id="77" name="Ellipse 77"/>
            <p:cNvSpPr/>
            <p:nvPr/>
          </p:nvSpPr>
          <p:spPr>
            <a:xfrm>
              <a:off x="4611052" y="3359468"/>
              <a:ext cx="152400" cy="152400"/>
            </a:xfrm>
            <a:prstGeom prst="ellipse">
              <a:avLst/>
            </a:prstGeom>
            <a:solidFill>
              <a:srgbClr val="FFFFFF"/>
            </a:solidFill>
            <a:ln w="17145">
              <a:solidFill>
                <a:srgbClr val="334E68"/>
              </a:solidFill>
            </a:ln>
          </p:spPr>
        </p:sp>
        <p:sp>
          <p:nvSpPr>
            <p:cNvPr id="78" name="Ellipse 78"/>
            <p:cNvSpPr/>
            <p:nvPr/>
          </p:nvSpPr>
          <p:spPr>
            <a:xfrm>
              <a:off x="5010150" y="3359468"/>
              <a:ext cx="152400" cy="152400"/>
            </a:xfrm>
            <a:prstGeom prst="ellipse">
              <a:avLst/>
            </a:prstGeom>
            <a:solidFill>
              <a:srgbClr val="FFFFFF"/>
            </a:solidFill>
            <a:ln w="17145">
              <a:solidFill>
                <a:srgbClr val="334E68"/>
              </a:solidFill>
            </a:ln>
          </p:spPr>
        </p:sp>
        <p:sp>
          <p:nvSpPr>
            <p:cNvPr id="79" name="Ellipse 79"/>
            <p:cNvSpPr/>
            <p:nvPr/>
          </p:nvSpPr>
          <p:spPr>
            <a:xfrm>
              <a:off x="5416868" y="3359468"/>
              <a:ext cx="152400" cy="152400"/>
            </a:xfrm>
            <a:prstGeom prst="ellipse">
              <a:avLst/>
            </a:prstGeom>
            <a:solidFill>
              <a:srgbClr val="FFFFFF"/>
            </a:solidFill>
            <a:ln w="17145">
              <a:solidFill>
                <a:srgbClr val="334E68"/>
              </a:solidFill>
            </a:ln>
          </p:spPr>
        </p:sp>
        <p:sp>
          <p:nvSpPr>
            <p:cNvPr id="80" name="Ellipse 80"/>
            <p:cNvSpPr/>
            <p:nvPr/>
          </p:nvSpPr>
          <p:spPr>
            <a:xfrm>
              <a:off x="5816918" y="3359468"/>
              <a:ext cx="152400" cy="152400"/>
            </a:xfrm>
            <a:prstGeom prst="ellipse">
              <a:avLst/>
            </a:prstGeom>
            <a:solidFill>
              <a:srgbClr val="FFFFFF"/>
            </a:solidFill>
            <a:ln w="17145">
              <a:solidFill>
                <a:srgbClr val="334E68"/>
              </a:solidFill>
            </a:ln>
          </p:spPr>
        </p:sp>
        <p:sp>
          <p:nvSpPr>
            <p:cNvPr id="81" name="Ellipse 81"/>
            <p:cNvSpPr/>
            <p:nvPr/>
          </p:nvSpPr>
          <p:spPr>
            <a:xfrm>
              <a:off x="6222682" y="3359468"/>
              <a:ext cx="152400" cy="152400"/>
            </a:xfrm>
            <a:prstGeom prst="ellipse">
              <a:avLst/>
            </a:prstGeom>
            <a:solidFill>
              <a:srgbClr val="FFFFFF"/>
            </a:solidFill>
            <a:ln w="17145">
              <a:solidFill>
                <a:srgbClr val="334E68"/>
              </a:solidFill>
            </a:ln>
          </p:spPr>
        </p:sp>
        <p:sp>
          <p:nvSpPr>
            <p:cNvPr id="82" name="Ellipse 82"/>
            <p:cNvSpPr/>
            <p:nvPr/>
          </p:nvSpPr>
          <p:spPr>
            <a:xfrm>
              <a:off x="6622732" y="3359468"/>
              <a:ext cx="152400" cy="152400"/>
            </a:xfrm>
            <a:prstGeom prst="ellipse">
              <a:avLst/>
            </a:prstGeom>
            <a:solidFill>
              <a:srgbClr val="FFFFFF"/>
            </a:solidFill>
            <a:ln w="17145">
              <a:solidFill>
                <a:srgbClr val="334E68"/>
              </a:solidFill>
            </a:ln>
          </p:spPr>
        </p:sp>
        <p:sp>
          <p:nvSpPr>
            <p:cNvPr id="83" name="Ellipse 83"/>
            <p:cNvSpPr/>
            <p:nvPr/>
          </p:nvSpPr>
          <p:spPr>
            <a:xfrm>
              <a:off x="7029450" y="3359468"/>
              <a:ext cx="152400" cy="152400"/>
            </a:xfrm>
            <a:prstGeom prst="ellipse">
              <a:avLst/>
            </a:prstGeom>
            <a:solidFill>
              <a:srgbClr val="FFFFFF"/>
            </a:solidFill>
            <a:ln w="17145">
              <a:solidFill>
                <a:srgbClr val="334E68"/>
              </a:solidFill>
            </a:ln>
          </p:spPr>
        </p:sp>
        <p:sp>
          <p:nvSpPr>
            <p:cNvPr id="84" name="Ellipse 84"/>
            <p:cNvSpPr/>
            <p:nvPr/>
          </p:nvSpPr>
          <p:spPr>
            <a:xfrm>
              <a:off x="7428548" y="3359468"/>
              <a:ext cx="152400" cy="152400"/>
            </a:xfrm>
            <a:prstGeom prst="ellipse">
              <a:avLst/>
            </a:prstGeom>
            <a:solidFill>
              <a:srgbClr val="FFFFFF"/>
            </a:solidFill>
            <a:ln w="17145">
              <a:solidFill>
                <a:srgbClr val="334E68"/>
              </a:solidFill>
            </a:ln>
          </p:spPr>
        </p:sp>
      </p:grpSp>
      <p:grpSp>
        <p:nvGrpSpPr>
          <p:cNvPr id="87" name="c2-text-3"/>
          <p:cNvGrpSpPr/>
          <p:nvPr/>
        </p:nvGrpSpPr>
        <p:grpSpPr>
          <a:xfrm>
            <a:off x="4337685" y="3792379"/>
            <a:ext cx="3261614" cy="661988"/>
            <a:chOff x="4337685" y="3792379"/>
            <a:chExt cx="3261614" cy="661988"/>
          </a:xfrm>
        </p:grpSpPr>
        <p:sp>
          <p:nvSpPr>
            <p:cNvPr id="86" name="TextBox 86"/>
            <p:cNvSpPr txBox="1"/>
            <p:nvPr/>
          </p:nvSpPr>
          <p:spPr>
            <a:xfrm>
              <a:off x="4337685" y="3792379"/>
              <a:ext cx="3261614" cy="661988"/>
            </a:xfrm>
            <a:prstGeom prst="rect">
              <a:avLst/>
            </a:prstGeom>
            <a:noFill/>
            <a:ln>
              <a:noFill/>
            </a:ln>
          </p:spPr>
          <p:txBody>
            <a:bodyPr wrap="none" lIns="0" tIns="0" rIns="0" bIns="0" anchor="t" anchorCtr="0">
              <a:spAutoFit/>
            </a:bodyPr>
            <a:lstStyle/>
            <a:p>
              <a:pPr algn="l">
                <a:lnSpc>
                  <a:spcPts val="1740"/>
                </a:lnSpc>
              </a:pPr>
              <a:r>
                <a:rPr lang="zh-CN" sz="1120" dirty="0">
                  <a:solidFill>
                    <a:srgbClr val="1F2937"/>
                  </a:solidFill>
                  <a:latin typeface="+mn-lt"/>
                  <a:ea typeface="+mn-ea"/>
                  <a:cs typeface="+mn-cs"/>
                </a:rPr>
                <a:t>内节点只连父节点和两个孩子（三近邻）。度 3，对</a:t>
              </a:r>
              <a:br/>
              <a:r>
                <a:rPr lang="zh-CN" sz="1120" dirty="0">
                  <a:solidFill>
                    <a:srgbClr val="1F2937"/>
                  </a:solidFill>
                  <a:latin typeface="+mn-lt"/>
                  <a:ea typeface="+mn-ea"/>
                  <a:cs typeface="+mn-cs"/>
                </a:rPr>
                <a:t>剖宽度 1，直径 2 ×（层数 − 1），约 2log₂N；图中</a:t>
              </a:r>
              <a:br/>
              <a:r>
                <a:rPr lang="zh-CN" sz="1120" dirty="0">
                  <a:solidFill>
                    <a:srgbClr val="1F2937"/>
                  </a:solidFill>
                  <a:latin typeface="+mn-lt"/>
                  <a:ea typeface="+mn-ea"/>
                  <a:cs typeface="+mn-cs"/>
                </a:rPr>
                <a:t>4 层，直径 6。</a:t>
              </a:r>
            </a:p>
          </p:txBody>
        </p:sp>
      </p:grpSp>
      <p:grpSp>
        <p:nvGrpSpPr>
          <p:cNvPr id="105" name="c2-graph-4"/>
          <p:cNvGrpSpPr/>
          <p:nvPr/>
        </p:nvGrpSpPr>
        <p:grpSpPr>
          <a:xfrm>
            <a:off x="5525452" y="4612958"/>
            <a:ext cx="1141096" cy="1024890"/>
            <a:chOff x="5525452" y="4612958"/>
            <a:chExt cx="1141096" cy="1024890"/>
          </a:xfrm>
        </p:grpSpPr>
        <p:sp>
          <p:nvSpPr>
            <p:cNvPr id="88" name="Freeform 88"/>
            <p:cNvSpPr/>
            <p:nvPr/>
          </p:nvSpPr>
          <p:spPr>
            <a:xfrm>
              <a:off x="6096000" y="4774882"/>
              <a:ext cx="9525" cy="236220"/>
            </a:xfrm>
            <a:custGeom>
              <a:avLst/>
              <a:gdLst/>
              <a:ahLst/>
              <a:cxnLst/>
              <a:rect l="l" t="t" r="r" b="b"/>
              <a:pathLst>
                <a:path w="9525" h="236220">
                  <a:moveTo>
                    <a:pt x="0" y="236220"/>
                  </a:moveTo>
                  <a:lnTo>
                    <a:pt x="0" y="0"/>
                  </a:lnTo>
                </a:path>
              </a:pathLst>
            </a:custGeom>
            <a:noFill/>
            <a:ln w="17145">
              <a:solidFill>
                <a:srgbClr val="1F2937"/>
              </a:solidFill>
            </a:ln>
          </p:spPr>
        </p:sp>
        <p:sp>
          <p:nvSpPr>
            <p:cNvPr id="89" name="Freeform 89"/>
            <p:cNvSpPr/>
            <p:nvPr/>
          </p:nvSpPr>
          <p:spPr>
            <a:xfrm>
              <a:off x="6181725" y="4873942"/>
              <a:ext cx="200025" cy="176213"/>
            </a:xfrm>
            <a:custGeom>
              <a:avLst/>
              <a:gdLst/>
              <a:ahLst/>
              <a:cxnLst/>
              <a:rect l="l" t="t" r="r" b="b"/>
              <a:pathLst>
                <a:path w="200025" h="176213">
                  <a:moveTo>
                    <a:pt x="0" y="176213"/>
                  </a:moveTo>
                  <a:lnTo>
                    <a:pt x="200025" y="0"/>
                  </a:lnTo>
                </a:path>
              </a:pathLst>
            </a:custGeom>
            <a:noFill/>
            <a:ln w="17145">
              <a:solidFill>
                <a:srgbClr val="1F2937"/>
              </a:solidFill>
            </a:ln>
          </p:spPr>
        </p:sp>
        <p:sp>
          <p:nvSpPr>
            <p:cNvPr id="90" name="Freeform 90"/>
            <p:cNvSpPr/>
            <p:nvPr/>
          </p:nvSpPr>
          <p:spPr>
            <a:xfrm>
              <a:off x="6210300" y="5125402"/>
              <a:ext cx="294322" cy="9525"/>
            </a:xfrm>
            <a:custGeom>
              <a:avLst/>
              <a:gdLst/>
              <a:ahLst/>
              <a:cxnLst/>
              <a:rect l="l" t="t" r="r" b="b"/>
              <a:pathLst>
                <a:path w="294322" h="9525">
                  <a:moveTo>
                    <a:pt x="0" y="0"/>
                  </a:moveTo>
                  <a:lnTo>
                    <a:pt x="294322" y="0"/>
                  </a:lnTo>
                </a:path>
              </a:pathLst>
            </a:custGeom>
            <a:noFill/>
            <a:ln w="17145">
              <a:solidFill>
                <a:srgbClr val="1F2937"/>
              </a:solidFill>
            </a:ln>
          </p:spPr>
        </p:sp>
        <p:sp>
          <p:nvSpPr>
            <p:cNvPr id="91" name="Freeform 91"/>
            <p:cNvSpPr/>
            <p:nvPr/>
          </p:nvSpPr>
          <p:spPr>
            <a:xfrm>
              <a:off x="6181725" y="5200650"/>
              <a:ext cx="200025" cy="176212"/>
            </a:xfrm>
            <a:custGeom>
              <a:avLst/>
              <a:gdLst/>
              <a:ahLst/>
              <a:cxnLst/>
              <a:rect l="l" t="t" r="r" b="b"/>
              <a:pathLst>
                <a:path w="200025" h="176212">
                  <a:moveTo>
                    <a:pt x="0" y="0"/>
                  </a:moveTo>
                  <a:lnTo>
                    <a:pt x="200025" y="176212"/>
                  </a:lnTo>
                </a:path>
              </a:pathLst>
            </a:custGeom>
            <a:noFill/>
            <a:ln w="17145">
              <a:solidFill>
                <a:srgbClr val="1F2937"/>
              </a:solidFill>
            </a:ln>
          </p:spPr>
        </p:sp>
        <p:sp>
          <p:nvSpPr>
            <p:cNvPr id="92" name="Freeform 92"/>
            <p:cNvSpPr/>
            <p:nvPr/>
          </p:nvSpPr>
          <p:spPr>
            <a:xfrm>
              <a:off x="6096000" y="5239702"/>
              <a:ext cx="9525" cy="236220"/>
            </a:xfrm>
            <a:custGeom>
              <a:avLst/>
              <a:gdLst/>
              <a:ahLst/>
              <a:cxnLst/>
              <a:rect l="l" t="t" r="r" b="b"/>
              <a:pathLst>
                <a:path w="9525" h="236220">
                  <a:moveTo>
                    <a:pt x="0" y="0"/>
                  </a:moveTo>
                  <a:lnTo>
                    <a:pt x="0" y="236220"/>
                  </a:lnTo>
                </a:path>
              </a:pathLst>
            </a:custGeom>
            <a:noFill/>
            <a:ln w="17145">
              <a:solidFill>
                <a:srgbClr val="1F2937"/>
              </a:solidFill>
            </a:ln>
          </p:spPr>
        </p:sp>
        <p:sp>
          <p:nvSpPr>
            <p:cNvPr id="93" name="Freeform 93"/>
            <p:cNvSpPr/>
            <p:nvPr/>
          </p:nvSpPr>
          <p:spPr>
            <a:xfrm>
              <a:off x="5810250" y="5200650"/>
              <a:ext cx="200025" cy="176212"/>
            </a:xfrm>
            <a:custGeom>
              <a:avLst/>
              <a:gdLst/>
              <a:ahLst/>
              <a:cxnLst/>
              <a:rect l="l" t="t" r="r" b="b"/>
              <a:pathLst>
                <a:path w="200025" h="176212">
                  <a:moveTo>
                    <a:pt x="200025" y="0"/>
                  </a:moveTo>
                  <a:lnTo>
                    <a:pt x="0" y="176212"/>
                  </a:lnTo>
                </a:path>
              </a:pathLst>
            </a:custGeom>
            <a:noFill/>
            <a:ln w="17145">
              <a:solidFill>
                <a:srgbClr val="1F2937"/>
              </a:solidFill>
            </a:ln>
          </p:spPr>
        </p:sp>
        <p:sp>
          <p:nvSpPr>
            <p:cNvPr id="94" name="Freeform 94"/>
            <p:cNvSpPr/>
            <p:nvPr/>
          </p:nvSpPr>
          <p:spPr>
            <a:xfrm>
              <a:off x="5687378" y="5125402"/>
              <a:ext cx="294322" cy="9525"/>
            </a:xfrm>
            <a:custGeom>
              <a:avLst/>
              <a:gdLst/>
              <a:ahLst/>
              <a:cxnLst/>
              <a:rect l="l" t="t" r="r" b="b"/>
              <a:pathLst>
                <a:path w="294322" h="9525">
                  <a:moveTo>
                    <a:pt x="294322" y="0"/>
                  </a:moveTo>
                  <a:lnTo>
                    <a:pt x="0" y="0"/>
                  </a:lnTo>
                </a:path>
              </a:pathLst>
            </a:custGeom>
            <a:noFill/>
            <a:ln w="17145">
              <a:solidFill>
                <a:srgbClr val="1F2937"/>
              </a:solidFill>
            </a:ln>
          </p:spPr>
        </p:sp>
        <p:sp>
          <p:nvSpPr>
            <p:cNvPr id="95" name="Freeform 95"/>
            <p:cNvSpPr/>
            <p:nvPr/>
          </p:nvSpPr>
          <p:spPr>
            <a:xfrm>
              <a:off x="5810250" y="4873942"/>
              <a:ext cx="200025" cy="176213"/>
            </a:xfrm>
            <a:custGeom>
              <a:avLst/>
              <a:gdLst/>
              <a:ahLst/>
              <a:cxnLst/>
              <a:rect l="l" t="t" r="r" b="b"/>
              <a:pathLst>
                <a:path w="200025" h="176213">
                  <a:moveTo>
                    <a:pt x="200025" y="176213"/>
                  </a:moveTo>
                  <a:lnTo>
                    <a:pt x="0" y="0"/>
                  </a:lnTo>
                </a:path>
              </a:pathLst>
            </a:custGeom>
            <a:noFill/>
            <a:ln w="17145">
              <a:solidFill>
                <a:srgbClr val="1F2937"/>
              </a:solidFill>
            </a:ln>
          </p:spPr>
        </p:sp>
        <p:sp>
          <p:nvSpPr>
            <p:cNvPr id="96" name="Ellipse 96"/>
            <p:cNvSpPr/>
            <p:nvPr/>
          </p:nvSpPr>
          <p:spPr>
            <a:xfrm>
              <a:off x="5991225" y="5020628"/>
              <a:ext cx="209550" cy="209550"/>
            </a:xfrm>
            <a:prstGeom prst="ellipse">
              <a:avLst/>
            </a:prstGeom>
            <a:solidFill>
              <a:srgbClr val="FDEEE7"/>
            </a:solidFill>
            <a:ln w="17145">
              <a:solidFill>
                <a:srgbClr val="F26B3A"/>
              </a:solidFill>
            </a:ln>
          </p:spPr>
        </p:sp>
        <p:sp>
          <p:nvSpPr>
            <p:cNvPr id="97" name="Ellipse 97"/>
            <p:cNvSpPr/>
            <p:nvPr/>
          </p:nvSpPr>
          <p:spPr>
            <a:xfrm>
              <a:off x="6019800" y="4612958"/>
              <a:ext cx="152400" cy="152400"/>
            </a:xfrm>
            <a:prstGeom prst="ellipse">
              <a:avLst/>
            </a:prstGeom>
            <a:solidFill>
              <a:srgbClr val="FFFFFF"/>
            </a:solidFill>
            <a:ln w="17145">
              <a:solidFill>
                <a:srgbClr val="334E68"/>
              </a:solidFill>
            </a:ln>
          </p:spPr>
        </p:sp>
        <p:sp>
          <p:nvSpPr>
            <p:cNvPr id="98" name="Ellipse 98"/>
            <p:cNvSpPr/>
            <p:nvPr/>
          </p:nvSpPr>
          <p:spPr>
            <a:xfrm>
              <a:off x="6370320" y="4740592"/>
              <a:ext cx="152400" cy="152400"/>
            </a:xfrm>
            <a:prstGeom prst="ellipse">
              <a:avLst/>
            </a:prstGeom>
            <a:solidFill>
              <a:srgbClr val="FFFFFF"/>
            </a:solidFill>
            <a:ln w="17145">
              <a:solidFill>
                <a:srgbClr val="334E68"/>
              </a:solidFill>
            </a:ln>
          </p:spPr>
        </p:sp>
        <p:sp>
          <p:nvSpPr>
            <p:cNvPr id="99" name="Ellipse 99"/>
            <p:cNvSpPr/>
            <p:nvPr/>
          </p:nvSpPr>
          <p:spPr>
            <a:xfrm>
              <a:off x="6514148" y="5049202"/>
              <a:ext cx="152400" cy="152400"/>
            </a:xfrm>
            <a:prstGeom prst="ellipse">
              <a:avLst/>
            </a:prstGeom>
            <a:solidFill>
              <a:srgbClr val="FFFFFF"/>
            </a:solidFill>
            <a:ln w="17145">
              <a:solidFill>
                <a:srgbClr val="334E68"/>
              </a:solidFill>
            </a:ln>
          </p:spPr>
        </p:sp>
        <p:sp>
          <p:nvSpPr>
            <p:cNvPr id="100" name="Ellipse 100"/>
            <p:cNvSpPr/>
            <p:nvPr/>
          </p:nvSpPr>
          <p:spPr>
            <a:xfrm>
              <a:off x="6370320" y="5357812"/>
              <a:ext cx="152400" cy="152400"/>
            </a:xfrm>
            <a:prstGeom prst="ellipse">
              <a:avLst/>
            </a:prstGeom>
            <a:solidFill>
              <a:srgbClr val="FFFFFF"/>
            </a:solidFill>
            <a:ln w="17145">
              <a:solidFill>
                <a:srgbClr val="334E68"/>
              </a:solidFill>
            </a:ln>
          </p:spPr>
        </p:sp>
        <p:sp>
          <p:nvSpPr>
            <p:cNvPr id="101" name="Ellipse 101"/>
            <p:cNvSpPr/>
            <p:nvPr/>
          </p:nvSpPr>
          <p:spPr>
            <a:xfrm>
              <a:off x="6019800" y="5485448"/>
              <a:ext cx="152400" cy="152400"/>
            </a:xfrm>
            <a:prstGeom prst="ellipse">
              <a:avLst/>
            </a:prstGeom>
            <a:solidFill>
              <a:srgbClr val="FFFFFF"/>
            </a:solidFill>
            <a:ln w="17145">
              <a:solidFill>
                <a:srgbClr val="334E68"/>
              </a:solidFill>
            </a:ln>
          </p:spPr>
        </p:sp>
        <p:sp>
          <p:nvSpPr>
            <p:cNvPr id="102" name="Ellipse 102"/>
            <p:cNvSpPr/>
            <p:nvPr/>
          </p:nvSpPr>
          <p:spPr>
            <a:xfrm>
              <a:off x="5669280" y="5357812"/>
              <a:ext cx="152400" cy="152400"/>
            </a:xfrm>
            <a:prstGeom prst="ellipse">
              <a:avLst/>
            </a:prstGeom>
            <a:solidFill>
              <a:srgbClr val="FFFFFF"/>
            </a:solidFill>
            <a:ln w="17145">
              <a:solidFill>
                <a:srgbClr val="334E68"/>
              </a:solidFill>
            </a:ln>
          </p:spPr>
        </p:sp>
        <p:sp>
          <p:nvSpPr>
            <p:cNvPr id="103" name="Ellipse 103"/>
            <p:cNvSpPr/>
            <p:nvPr/>
          </p:nvSpPr>
          <p:spPr>
            <a:xfrm>
              <a:off x="5525452" y="5049202"/>
              <a:ext cx="152400" cy="152400"/>
            </a:xfrm>
            <a:prstGeom prst="ellipse">
              <a:avLst/>
            </a:prstGeom>
            <a:solidFill>
              <a:srgbClr val="FFFFFF"/>
            </a:solidFill>
            <a:ln w="17145">
              <a:solidFill>
                <a:srgbClr val="334E68"/>
              </a:solidFill>
            </a:ln>
          </p:spPr>
        </p:sp>
        <p:sp>
          <p:nvSpPr>
            <p:cNvPr id="104" name="Ellipse 104"/>
            <p:cNvSpPr/>
            <p:nvPr/>
          </p:nvSpPr>
          <p:spPr>
            <a:xfrm>
              <a:off x="5669280" y="4740592"/>
              <a:ext cx="152400" cy="152400"/>
            </a:xfrm>
            <a:prstGeom prst="ellipse">
              <a:avLst/>
            </a:prstGeom>
            <a:solidFill>
              <a:srgbClr val="FFFFFF"/>
            </a:solidFill>
            <a:ln w="17145">
              <a:solidFill>
                <a:srgbClr val="334E68"/>
              </a:solidFill>
            </a:ln>
          </p:spPr>
        </p:sp>
      </p:grpSp>
      <p:grpSp>
        <p:nvGrpSpPr>
          <p:cNvPr id="107" name="c2-text-5"/>
          <p:cNvGrpSpPr/>
          <p:nvPr/>
        </p:nvGrpSpPr>
        <p:grpSpPr>
          <a:xfrm>
            <a:off x="4337685" y="5858351"/>
            <a:ext cx="3339846" cy="441008"/>
            <a:chOff x="4337685" y="5858351"/>
            <a:chExt cx="3339846" cy="441008"/>
          </a:xfrm>
        </p:grpSpPr>
        <p:sp>
          <p:nvSpPr>
            <p:cNvPr id="106" name="TextBox 106"/>
            <p:cNvSpPr txBox="1"/>
            <p:nvPr/>
          </p:nvSpPr>
          <p:spPr>
            <a:xfrm>
              <a:off x="4337685" y="5858351"/>
              <a:ext cx="3339846" cy="441008"/>
            </a:xfrm>
            <a:prstGeom prst="rect">
              <a:avLst/>
            </a:prstGeom>
            <a:noFill/>
            <a:ln>
              <a:noFill/>
            </a:ln>
          </p:spPr>
          <p:txBody>
            <a:bodyPr wrap="none" lIns="0" tIns="0" rIns="0" bIns="0" anchor="t" anchorCtr="0">
              <a:spAutoFit/>
            </a:bodyPr>
            <a:lstStyle/>
            <a:p>
              <a:pPr algn="l">
                <a:lnSpc>
                  <a:spcPts val="1740"/>
                </a:lnSpc>
              </a:pPr>
              <a:r>
                <a:rPr lang="zh-CN" sz="1120" b="1" dirty="0">
                  <a:solidFill>
                    <a:srgbClr val="1F2937"/>
                  </a:solidFill>
                  <a:latin typeface="+mn-lt"/>
                  <a:ea typeface="+mn-ea"/>
                  <a:cs typeface="+mn-cs"/>
                </a:rPr>
                <a:t>星形</a:t>
              </a:r>
              <a:r>
                <a:rPr lang="zh-CN" sz="1120" dirty="0">
                  <a:solidFill>
                    <a:srgbClr val="1F2937"/>
                  </a:solidFill>
                  <a:latin typeface="+mn-lt"/>
                  <a:ea typeface="+mn-ea"/>
                  <a:cs typeface="+mn-cs"/>
                </a:rPr>
                <a:t>：一个中心连其余 N − 1 个节点，中心度 N − 1，</a:t>
              </a:r>
              <a:br/>
              <a:r>
                <a:rPr lang="zh-CN" sz="1120" dirty="0">
                  <a:solidFill>
                    <a:srgbClr val="1F2937"/>
                  </a:solidFill>
                  <a:latin typeface="+mn-lt"/>
                  <a:ea typeface="+mn-ea"/>
                  <a:cs typeface="+mn-cs"/>
                </a:rPr>
                <a:t>直径 2，中心是瓶颈。</a:t>
              </a:r>
            </a:p>
          </p:txBody>
        </p:sp>
      </p:grpSp>
      <p:grpSp>
        <p:nvGrpSpPr>
          <p:cNvPr id="109" name="c3-text-1"/>
          <p:cNvGrpSpPr/>
          <p:nvPr/>
        </p:nvGrpSpPr>
        <p:grpSpPr>
          <a:xfrm>
            <a:off x="8146542" y="1545907"/>
            <a:ext cx="740664" cy="264033"/>
            <a:chOff x="8146542" y="1545907"/>
            <a:chExt cx="740664" cy="264033"/>
          </a:xfrm>
        </p:grpSpPr>
        <p:sp>
          <p:nvSpPr>
            <p:cNvPr id="108" name="TextBox 108"/>
            <p:cNvSpPr txBox="1"/>
            <p:nvPr/>
          </p:nvSpPr>
          <p:spPr>
            <a:xfrm>
              <a:off x="8146542" y="1545907"/>
              <a:ext cx="740664"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二叉胖树</a:t>
              </a:r>
            </a:p>
          </p:txBody>
        </p:sp>
      </p:grpSp>
      <p:grpSp>
        <p:nvGrpSpPr>
          <p:cNvPr id="149" name="c3-graph-2"/>
          <p:cNvGrpSpPr/>
          <p:nvPr/>
        </p:nvGrpSpPr>
        <p:grpSpPr>
          <a:xfrm>
            <a:off x="8366760" y="2053590"/>
            <a:ext cx="3078480" cy="2457450"/>
            <a:chOff x="8366760" y="2053590"/>
            <a:chExt cx="3078480" cy="2457450"/>
          </a:xfrm>
        </p:grpSpPr>
        <p:sp>
          <p:nvSpPr>
            <p:cNvPr id="110" name="Freeform 110"/>
            <p:cNvSpPr/>
            <p:nvPr/>
          </p:nvSpPr>
          <p:spPr>
            <a:xfrm>
              <a:off x="9250680" y="2187892"/>
              <a:ext cx="631507" cy="681990"/>
            </a:xfrm>
            <a:custGeom>
              <a:avLst/>
              <a:gdLst/>
              <a:ahLst/>
              <a:cxnLst/>
              <a:rect l="l" t="t" r="r" b="b"/>
              <a:pathLst>
                <a:path w="631507" h="681990">
                  <a:moveTo>
                    <a:pt x="631507" y="0"/>
                  </a:moveTo>
                  <a:cubicBezTo>
                    <a:pt x="507048" y="351790"/>
                    <a:pt x="296545" y="579120"/>
                    <a:pt x="0" y="681990"/>
                  </a:cubicBezTo>
                </a:path>
              </a:pathLst>
            </a:custGeom>
            <a:noFill/>
            <a:ln w="17145">
              <a:solidFill>
                <a:srgbClr val="1F2937"/>
              </a:solidFill>
            </a:ln>
          </p:spPr>
        </p:sp>
        <p:sp>
          <p:nvSpPr>
            <p:cNvPr id="111" name="Freeform 111"/>
            <p:cNvSpPr/>
            <p:nvPr/>
          </p:nvSpPr>
          <p:spPr>
            <a:xfrm>
              <a:off x="9181148" y="2187892"/>
              <a:ext cx="676275" cy="676275"/>
            </a:xfrm>
            <a:custGeom>
              <a:avLst/>
              <a:gdLst/>
              <a:ahLst/>
              <a:cxnLst/>
              <a:rect l="l" t="t" r="r" b="b"/>
              <a:pathLst>
                <a:path w="676275" h="676275">
                  <a:moveTo>
                    <a:pt x="676275" y="0"/>
                  </a:moveTo>
                  <a:cubicBezTo>
                    <a:pt x="482600" y="265430"/>
                    <a:pt x="257175" y="490855"/>
                    <a:pt x="0" y="676275"/>
                  </a:cubicBezTo>
                </a:path>
              </a:pathLst>
            </a:custGeom>
            <a:noFill/>
            <a:ln w="17145">
              <a:solidFill>
                <a:srgbClr val="1F2937"/>
              </a:solidFill>
            </a:ln>
          </p:spPr>
        </p:sp>
        <p:sp>
          <p:nvSpPr>
            <p:cNvPr id="112" name="Freeform 112"/>
            <p:cNvSpPr/>
            <p:nvPr/>
          </p:nvSpPr>
          <p:spPr>
            <a:xfrm>
              <a:off x="9142095" y="2187892"/>
              <a:ext cx="670560" cy="676275"/>
            </a:xfrm>
            <a:custGeom>
              <a:avLst/>
              <a:gdLst/>
              <a:ahLst/>
              <a:cxnLst/>
              <a:rect l="l" t="t" r="r" b="b"/>
              <a:pathLst>
                <a:path w="670560" h="676275">
                  <a:moveTo>
                    <a:pt x="670560" y="0"/>
                  </a:moveTo>
                  <a:cubicBezTo>
                    <a:pt x="421005" y="179705"/>
                    <a:pt x="197485" y="405130"/>
                    <a:pt x="0" y="676275"/>
                  </a:cubicBezTo>
                </a:path>
              </a:pathLst>
            </a:custGeom>
            <a:noFill/>
            <a:ln w="17145">
              <a:solidFill>
                <a:srgbClr val="1F2937"/>
              </a:solidFill>
            </a:ln>
          </p:spPr>
        </p:sp>
        <p:sp>
          <p:nvSpPr>
            <p:cNvPr id="113" name="Freeform 113"/>
            <p:cNvSpPr/>
            <p:nvPr/>
          </p:nvSpPr>
          <p:spPr>
            <a:xfrm>
              <a:off x="9120188" y="2185035"/>
              <a:ext cx="601028" cy="679132"/>
            </a:xfrm>
            <a:custGeom>
              <a:avLst/>
              <a:gdLst/>
              <a:ahLst/>
              <a:cxnLst/>
              <a:rect l="l" t="t" r="r" b="b"/>
              <a:pathLst>
                <a:path w="601028" h="679132">
                  <a:moveTo>
                    <a:pt x="601028" y="0"/>
                  </a:moveTo>
                  <a:cubicBezTo>
                    <a:pt x="327343" y="95250"/>
                    <a:pt x="127000" y="321628"/>
                    <a:pt x="0" y="679132"/>
                  </a:cubicBezTo>
                </a:path>
              </a:pathLst>
            </a:custGeom>
            <a:noFill/>
            <a:ln w="17145">
              <a:solidFill>
                <a:srgbClr val="1F2937"/>
              </a:solidFill>
            </a:ln>
          </p:spPr>
        </p:sp>
        <p:sp>
          <p:nvSpPr>
            <p:cNvPr id="114" name="Freeform 114"/>
            <p:cNvSpPr/>
            <p:nvPr/>
          </p:nvSpPr>
          <p:spPr>
            <a:xfrm>
              <a:off x="10090785" y="2185035"/>
              <a:ext cx="601027" cy="679132"/>
            </a:xfrm>
            <a:custGeom>
              <a:avLst/>
              <a:gdLst/>
              <a:ahLst/>
              <a:cxnLst/>
              <a:rect l="l" t="t" r="r" b="b"/>
              <a:pathLst>
                <a:path w="601027" h="679132">
                  <a:moveTo>
                    <a:pt x="0" y="0"/>
                  </a:moveTo>
                  <a:cubicBezTo>
                    <a:pt x="273685" y="95250"/>
                    <a:pt x="474027" y="321628"/>
                    <a:pt x="601027" y="679132"/>
                  </a:cubicBezTo>
                </a:path>
              </a:pathLst>
            </a:custGeom>
            <a:noFill/>
            <a:ln w="17145">
              <a:solidFill>
                <a:srgbClr val="1F2937"/>
              </a:solidFill>
            </a:ln>
          </p:spPr>
        </p:sp>
        <p:sp>
          <p:nvSpPr>
            <p:cNvPr id="115" name="Freeform 115"/>
            <p:cNvSpPr/>
            <p:nvPr/>
          </p:nvSpPr>
          <p:spPr>
            <a:xfrm>
              <a:off x="9999345" y="2187892"/>
              <a:ext cx="670560" cy="676275"/>
            </a:xfrm>
            <a:custGeom>
              <a:avLst/>
              <a:gdLst/>
              <a:ahLst/>
              <a:cxnLst/>
              <a:rect l="l" t="t" r="r" b="b"/>
              <a:pathLst>
                <a:path w="670560" h="676275">
                  <a:moveTo>
                    <a:pt x="0" y="0"/>
                  </a:moveTo>
                  <a:cubicBezTo>
                    <a:pt x="249555" y="179705"/>
                    <a:pt x="473075" y="405130"/>
                    <a:pt x="670560" y="676275"/>
                  </a:cubicBezTo>
                </a:path>
              </a:pathLst>
            </a:custGeom>
            <a:noFill/>
            <a:ln w="17145">
              <a:solidFill>
                <a:srgbClr val="1F2937"/>
              </a:solidFill>
            </a:ln>
          </p:spPr>
        </p:sp>
        <p:sp>
          <p:nvSpPr>
            <p:cNvPr id="116" name="Freeform 116"/>
            <p:cNvSpPr/>
            <p:nvPr/>
          </p:nvSpPr>
          <p:spPr>
            <a:xfrm>
              <a:off x="9954578" y="2187892"/>
              <a:ext cx="676275" cy="676275"/>
            </a:xfrm>
            <a:custGeom>
              <a:avLst/>
              <a:gdLst/>
              <a:ahLst/>
              <a:cxnLst/>
              <a:rect l="l" t="t" r="r" b="b"/>
              <a:pathLst>
                <a:path w="676275" h="676275">
                  <a:moveTo>
                    <a:pt x="0" y="0"/>
                  </a:moveTo>
                  <a:cubicBezTo>
                    <a:pt x="193675" y="265430"/>
                    <a:pt x="419100" y="490855"/>
                    <a:pt x="676275" y="676275"/>
                  </a:cubicBezTo>
                </a:path>
              </a:pathLst>
            </a:custGeom>
            <a:noFill/>
            <a:ln w="17145">
              <a:solidFill>
                <a:srgbClr val="1F2937"/>
              </a:solidFill>
            </a:ln>
          </p:spPr>
        </p:sp>
        <p:sp>
          <p:nvSpPr>
            <p:cNvPr id="117" name="Freeform 117"/>
            <p:cNvSpPr/>
            <p:nvPr/>
          </p:nvSpPr>
          <p:spPr>
            <a:xfrm>
              <a:off x="9929812" y="2187892"/>
              <a:ext cx="631507" cy="681990"/>
            </a:xfrm>
            <a:custGeom>
              <a:avLst/>
              <a:gdLst/>
              <a:ahLst/>
              <a:cxnLst/>
              <a:rect l="l" t="t" r="r" b="b"/>
              <a:pathLst>
                <a:path w="631507" h="681990">
                  <a:moveTo>
                    <a:pt x="0" y="0"/>
                  </a:moveTo>
                  <a:cubicBezTo>
                    <a:pt x="124460" y="351790"/>
                    <a:pt x="334962" y="579120"/>
                    <a:pt x="631507" y="681990"/>
                  </a:cubicBezTo>
                </a:path>
              </a:pathLst>
            </a:custGeom>
            <a:noFill/>
            <a:ln w="17145">
              <a:solidFill>
                <a:srgbClr val="1F2937"/>
              </a:solidFill>
            </a:ln>
          </p:spPr>
        </p:sp>
        <p:sp>
          <p:nvSpPr>
            <p:cNvPr id="118" name="Freeform 118"/>
            <p:cNvSpPr/>
            <p:nvPr/>
          </p:nvSpPr>
          <p:spPr>
            <a:xfrm>
              <a:off x="8692515" y="2981325"/>
              <a:ext cx="389572" cy="665797"/>
            </a:xfrm>
            <a:custGeom>
              <a:avLst/>
              <a:gdLst/>
              <a:ahLst/>
              <a:cxnLst/>
              <a:rect l="l" t="t" r="r" b="b"/>
              <a:pathLst>
                <a:path w="389572" h="665797">
                  <a:moveTo>
                    <a:pt x="389572" y="0"/>
                  </a:moveTo>
                  <a:cubicBezTo>
                    <a:pt x="311468" y="255905"/>
                    <a:pt x="181610" y="477838"/>
                    <a:pt x="0" y="665797"/>
                  </a:cubicBezTo>
                </a:path>
              </a:pathLst>
            </a:custGeom>
            <a:noFill/>
            <a:ln w="17145">
              <a:solidFill>
                <a:srgbClr val="1F2937"/>
              </a:solidFill>
            </a:ln>
          </p:spPr>
        </p:sp>
        <p:sp>
          <p:nvSpPr>
            <p:cNvPr id="119" name="Freeform 119"/>
            <p:cNvSpPr/>
            <p:nvPr/>
          </p:nvSpPr>
          <p:spPr>
            <a:xfrm>
              <a:off x="8659178" y="2981325"/>
              <a:ext cx="383857" cy="665797"/>
            </a:xfrm>
            <a:custGeom>
              <a:avLst/>
              <a:gdLst/>
              <a:ahLst/>
              <a:cxnLst/>
              <a:rect l="l" t="t" r="r" b="b"/>
              <a:pathLst>
                <a:path w="383857" h="665797">
                  <a:moveTo>
                    <a:pt x="383857" y="0"/>
                  </a:moveTo>
                  <a:cubicBezTo>
                    <a:pt x="207963" y="182880"/>
                    <a:pt x="80010" y="404812"/>
                    <a:pt x="0" y="665797"/>
                  </a:cubicBezTo>
                </a:path>
              </a:pathLst>
            </a:custGeom>
            <a:noFill/>
            <a:ln w="17145">
              <a:solidFill>
                <a:srgbClr val="1F2937"/>
              </a:solidFill>
            </a:ln>
          </p:spPr>
        </p:sp>
        <p:sp>
          <p:nvSpPr>
            <p:cNvPr id="120" name="Freeform 120"/>
            <p:cNvSpPr/>
            <p:nvPr/>
          </p:nvSpPr>
          <p:spPr>
            <a:xfrm>
              <a:off x="9152572" y="2981325"/>
              <a:ext cx="354330" cy="665797"/>
            </a:xfrm>
            <a:custGeom>
              <a:avLst/>
              <a:gdLst/>
              <a:ahLst/>
              <a:cxnLst/>
              <a:rect l="l" t="t" r="r" b="b"/>
              <a:pathLst>
                <a:path w="354330" h="665797">
                  <a:moveTo>
                    <a:pt x="0" y="0"/>
                  </a:moveTo>
                  <a:cubicBezTo>
                    <a:pt x="167005" y="185420"/>
                    <a:pt x="285115" y="407352"/>
                    <a:pt x="354330" y="665797"/>
                  </a:cubicBezTo>
                </a:path>
              </a:pathLst>
            </a:custGeom>
            <a:noFill/>
            <a:ln w="17145">
              <a:solidFill>
                <a:srgbClr val="1F2937"/>
              </a:solidFill>
            </a:ln>
          </p:spPr>
        </p:sp>
        <p:sp>
          <p:nvSpPr>
            <p:cNvPr id="121" name="Freeform 121"/>
            <p:cNvSpPr/>
            <p:nvPr/>
          </p:nvSpPr>
          <p:spPr>
            <a:xfrm>
              <a:off x="9115425" y="2981325"/>
              <a:ext cx="360045" cy="665797"/>
            </a:xfrm>
            <a:custGeom>
              <a:avLst/>
              <a:gdLst/>
              <a:ahLst/>
              <a:cxnLst/>
              <a:rect l="l" t="t" r="r" b="b"/>
              <a:pathLst>
                <a:path w="360045" h="665797">
                  <a:moveTo>
                    <a:pt x="0" y="0"/>
                  </a:moveTo>
                  <a:cubicBezTo>
                    <a:pt x="67945" y="252730"/>
                    <a:pt x="187960" y="474662"/>
                    <a:pt x="360045" y="665797"/>
                  </a:cubicBezTo>
                </a:path>
              </a:pathLst>
            </a:custGeom>
            <a:noFill/>
            <a:ln w="17145">
              <a:solidFill>
                <a:srgbClr val="1F2937"/>
              </a:solidFill>
            </a:ln>
          </p:spPr>
        </p:sp>
        <p:sp>
          <p:nvSpPr>
            <p:cNvPr id="122" name="Freeform 122"/>
            <p:cNvSpPr/>
            <p:nvPr/>
          </p:nvSpPr>
          <p:spPr>
            <a:xfrm>
              <a:off x="10336530" y="2981325"/>
              <a:ext cx="360045" cy="665797"/>
            </a:xfrm>
            <a:custGeom>
              <a:avLst/>
              <a:gdLst/>
              <a:ahLst/>
              <a:cxnLst/>
              <a:rect l="l" t="t" r="r" b="b"/>
              <a:pathLst>
                <a:path w="360045" h="665797">
                  <a:moveTo>
                    <a:pt x="360045" y="0"/>
                  </a:moveTo>
                  <a:cubicBezTo>
                    <a:pt x="292100" y="252730"/>
                    <a:pt x="172085" y="474662"/>
                    <a:pt x="0" y="665797"/>
                  </a:cubicBezTo>
                </a:path>
              </a:pathLst>
            </a:custGeom>
            <a:noFill/>
            <a:ln w="17145">
              <a:solidFill>
                <a:srgbClr val="1F2937"/>
              </a:solidFill>
            </a:ln>
          </p:spPr>
        </p:sp>
        <p:sp>
          <p:nvSpPr>
            <p:cNvPr id="123" name="Freeform 123"/>
            <p:cNvSpPr/>
            <p:nvPr/>
          </p:nvSpPr>
          <p:spPr>
            <a:xfrm>
              <a:off x="10305098" y="2981325"/>
              <a:ext cx="354330" cy="665797"/>
            </a:xfrm>
            <a:custGeom>
              <a:avLst/>
              <a:gdLst/>
              <a:ahLst/>
              <a:cxnLst/>
              <a:rect l="l" t="t" r="r" b="b"/>
              <a:pathLst>
                <a:path w="354330" h="665797">
                  <a:moveTo>
                    <a:pt x="354330" y="0"/>
                  </a:moveTo>
                  <a:cubicBezTo>
                    <a:pt x="187325" y="185420"/>
                    <a:pt x="69215" y="407352"/>
                    <a:pt x="0" y="665797"/>
                  </a:cubicBezTo>
                </a:path>
              </a:pathLst>
            </a:custGeom>
            <a:noFill/>
            <a:ln w="17145">
              <a:solidFill>
                <a:srgbClr val="1F2937"/>
              </a:solidFill>
            </a:ln>
          </p:spPr>
        </p:sp>
        <p:sp>
          <p:nvSpPr>
            <p:cNvPr id="124" name="Freeform 124"/>
            <p:cNvSpPr/>
            <p:nvPr/>
          </p:nvSpPr>
          <p:spPr>
            <a:xfrm>
              <a:off x="10768965" y="2981325"/>
              <a:ext cx="383858" cy="665797"/>
            </a:xfrm>
            <a:custGeom>
              <a:avLst/>
              <a:gdLst/>
              <a:ahLst/>
              <a:cxnLst/>
              <a:rect l="l" t="t" r="r" b="b"/>
              <a:pathLst>
                <a:path w="383858" h="665797">
                  <a:moveTo>
                    <a:pt x="0" y="0"/>
                  </a:moveTo>
                  <a:cubicBezTo>
                    <a:pt x="175895" y="182880"/>
                    <a:pt x="303848" y="404812"/>
                    <a:pt x="383858" y="665797"/>
                  </a:cubicBezTo>
                </a:path>
              </a:pathLst>
            </a:custGeom>
            <a:noFill/>
            <a:ln w="17145">
              <a:solidFill>
                <a:srgbClr val="1F2937"/>
              </a:solidFill>
            </a:ln>
          </p:spPr>
        </p:sp>
        <p:sp>
          <p:nvSpPr>
            <p:cNvPr id="125" name="Freeform 125"/>
            <p:cNvSpPr/>
            <p:nvPr/>
          </p:nvSpPr>
          <p:spPr>
            <a:xfrm>
              <a:off x="10729912" y="2981325"/>
              <a:ext cx="389573" cy="665797"/>
            </a:xfrm>
            <a:custGeom>
              <a:avLst/>
              <a:gdLst/>
              <a:ahLst/>
              <a:cxnLst/>
              <a:rect l="l" t="t" r="r" b="b"/>
              <a:pathLst>
                <a:path w="389573" h="665797">
                  <a:moveTo>
                    <a:pt x="0" y="0"/>
                  </a:moveTo>
                  <a:cubicBezTo>
                    <a:pt x="78105" y="255905"/>
                    <a:pt x="207962" y="477838"/>
                    <a:pt x="389573" y="665797"/>
                  </a:cubicBezTo>
                </a:path>
              </a:pathLst>
            </a:custGeom>
            <a:noFill/>
            <a:ln w="17145">
              <a:solidFill>
                <a:srgbClr val="1F2937"/>
              </a:solidFill>
            </a:ln>
          </p:spPr>
        </p:sp>
        <p:sp>
          <p:nvSpPr>
            <p:cNvPr id="126" name="Freeform 126"/>
            <p:cNvSpPr/>
            <p:nvPr/>
          </p:nvSpPr>
          <p:spPr>
            <a:xfrm>
              <a:off x="8454390" y="3748088"/>
              <a:ext cx="175260" cy="622935"/>
            </a:xfrm>
            <a:custGeom>
              <a:avLst/>
              <a:gdLst/>
              <a:ahLst/>
              <a:cxnLst/>
              <a:rect l="l" t="t" r="r" b="b"/>
              <a:pathLst>
                <a:path w="175260" h="622935">
                  <a:moveTo>
                    <a:pt x="175260" y="0"/>
                  </a:moveTo>
                  <a:lnTo>
                    <a:pt x="0" y="622935"/>
                  </a:lnTo>
                </a:path>
              </a:pathLst>
            </a:custGeom>
            <a:noFill/>
            <a:ln w="17145">
              <a:solidFill>
                <a:srgbClr val="1F2937"/>
              </a:solidFill>
            </a:ln>
          </p:spPr>
        </p:sp>
        <p:sp>
          <p:nvSpPr>
            <p:cNvPr id="127" name="Freeform 127"/>
            <p:cNvSpPr/>
            <p:nvPr/>
          </p:nvSpPr>
          <p:spPr>
            <a:xfrm>
              <a:off x="8658225" y="3748088"/>
              <a:ext cx="175260" cy="622935"/>
            </a:xfrm>
            <a:custGeom>
              <a:avLst/>
              <a:gdLst/>
              <a:ahLst/>
              <a:cxnLst/>
              <a:rect l="l" t="t" r="r" b="b"/>
              <a:pathLst>
                <a:path w="175260" h="622935">
                  <a:moveTo>
                    <a:pt x="0" y="0"/>
                  </a:moveTo>
                  <a:lnTo>
                    <a:pt x="175260" y="622935"/>
                  </a:lnTo>
                </a:path>
              </a:pathLst>
            </a:custGeom>
            <a:noFill/>
            <a:ln w="17145">
              <a:solidFill>
                <a:srgbClr val="1F2937"/>
              </a:solidFill>
            </a:ln>
          </p:spPr>
        </p:sp>
        <p:sp>
          <p:nvSpPr>
            <p:cNvPr id="128" name="Freeform 128"/>
            <p:cNvSpPr/>
            <p:nvPr/>
          </p:nvSpPr>
          <p:spPr>
            <a:xfrm>
              <a:off x="9330690" y="3748088"/>
              <a:ext cx="175260" cy="622935"/>
            </a:xfrm>
            <a:custGeom>
              <a:avLst/>
              <a:gdLst/>
              <a:ahLst/>
              <a:cxnLst/>
              <a:rect l="l" t="t" r="r" b="b"/>
              <a:pathLst>
                <a:path w="175260" h="622935">
                  <a:moveTo>
                    <a:pt x="175260" y="0"/>
                  </a:moveTo>
                  <a:lnTo>
                    <a:pt x="0" y="622935"/>
                  </a:lnTo>
                </a:path>
              </a:pathLst>
            </a:custGeom>
            <a:noFill/>
            <a:ln w="17145">
              <a:solidFill>
                <a:srgbClr val="1F2937"/>
              </a:solidFill>
            </a:ln>
          </p:spPr>
        </p:sp>
        <p:sp>
          <p:nvSpPr>
            <p:cNvPr id="129" name="Freeform 129"/>
            <p:cNvSpPr/>
            <p:nvPr/>
          </p:nvSpPr>
          <p:spPr>
            <a:xfrm>
              <a:off x="9534525" y="3748088"/>
              <a:ext cx="175260" cy="622935"/>
            </a:xfrm>
            <a:custGeom>
              <a:avLst/>
              <a:gdLst/>
              <a:ahLst/>
              <a:cxnLst/>
              <a:rect l="l" t="t" r="r" b="b"/>
              <a:pathLst>
                <a:path w="175260" h="622935">
                  <a:moveTo>
                    <a:pt x="0" y="0"/>
                  </a:moveTo>
                  <a:lnTo>
                    <a:pt x="175260" y="622935"/>
                  </a:lnTo>
                </a:path>
              </a:pathLst>
            </a:custGeom>
            <a:noFill/>
            <a:ln w="17145">
              <a:solidFill>
                <a:srgbClr val="1F2937"/>
              </a:solidFill>
            </a:ln>
          </p:spPr>
        </p:sp>
        <p:sp>
          <p:nvSpPr>
            <p:cNvPr id="130" name="Freeform 130"/>
            <p:cNvSpPr/>
            <p:nvPr/>
          </p:nvSpPr>
          <p:spPr>
            <a:xfrm>
              <a:off x="10102215" y="3748088"/>
              <a:ext cx="175260" cy="622935"/>
            </a:xfrm>
            <a:custGeom>
              <a:avLst/>
              <a:gdLst/>
              <a:ahLst/>
              <a:cxnLst/>
              <a:rect l="l" t="t" r="r" b="b"/>
              <a:pathLst>
                <a:path w="175260" h="622935">
                  <a:moveTo>
                    <a:pt x="175260" y="0"/>
                  </a:moveTo>
                  <a:lnTo>
                    <a:pt x="0" y="622935"/>
                  </a:lnTo>
                </a:path>
              </a:pathLst>
            </a:custGeom>
            <a:noFill/>
            <a:ln w="17145">
              <a:solidFill>
                <a:srgbClr val="1F2937"/>
              </a:solidFill>
            </a:ln>
          </p:spPr>
        </p:sp>
        <p:sp>
          <p:nvSpPr>
            <p:cNvPr id="131" name="Freeform 131"/>
            <p:cNvSpPr/>
            <p:nvPr/>
          </p:nvSpPr>
          <p:spPr>
            <a:xfrm>
              <a:off x="10306050" y="3748088"/>
              <a:ext cx="175260" cy="622935"/>
            </a:xfrm>
            <a:custGeom>
              <a:avLst/>
              <a:gdLst/>
              <a:ahLst/>
              <a:cxnLst/>
              <a:rect l="l" t="t" r="r" b="b"/>
              <a:pathLst>
                <a:path w="175260" h="622935">
                  <a:moveTo>
                    <a:pt x="0" y="0"/>
                  </a:moveTo>
                  <a:lnTo>
                    <a:pt x="175260" y="622935"/>
                  </a:lnTo>
                </a:path>
              </a:pathLst>
            </a:custGeom>
            <a:noFill/>
            <a:ln w="17145">
              <a:solidFill>
                <a:srgbClr val="1F2937"/>
              </a:solidFill>
            </a:ln>
          </p:spPr>
        </p:sp>
        <p:sp>
          <p:nvSpPr>
            <p:cNvPr id="132" name="Freeform 132"/>
            <p:cNvSpPr/>
            <p:nvPr/>
          </p:nvSpPr>
          <p:spPr>
            <a:xfrm>
              <a:off x="10978515" y="3748088"/>
              <a:ext cx="175260" cy="622935"/>
            </a:xfrm>
            <a:custGeom>
              <a:avLst/>
              <a:gdLst/>
              <a:ahLst/>
              <a:cxnLst/>
              <a:rect l="l" t="t" r="r" b="b"/>
              <a:pathLst>
                <a:path w="175260" h="622935">
                  <a:moveTo>
                    <a:pt x="175260" y="0"/>
                  </a:moveTo>
                  <a:lnTo>
                    <a:pt x="0" y="622935"/>
                  </a:lnTo>
                </a:path>
              </a:pathLst>
            </a:custGeom>
            <a:noFill/>
            <a:ln w="17145">
              <a:solidFill>
                <a:srgbClr val="1F2937"/>
              </a:solidFill>
            </a:ln>
          </p:spPr>
        </p:sp>
        <p:sp>
          <p:nvSpPr>
            <p:cNvPr id="133" name="Freeform 133"/>
            <p:cNvSpPr/>
            <p:nvPr/>
          </p:nvSpPr>
          <p:spPr>
            <a:xfrm>
              <a:off x="11182350" y="3748088"/>
              <a:ext cx="175260" cy="622935"/>
            </a:xfrm>
            <a:custGeom>
              <a:avLst/>
              <a:gdLst/>
              <a:ahLst/>
              <a:cxnLst/>
              <a:rect l="l" t="t" r="r" b="b"/>
              <a:pathLst>
                <a:path w="175260" h="622935">
                  <a:moveTo>
                    <a:pt x="0" y="0"/>
                  </a:moveTo>
                  <a:lnTo>
                    <a:pt x="175260" y="622935"/>
                  </a:lnTo>
                </a:path>
              </a:pathLst>
            </a:custGeom>
            <a:noFill/>
            <a:ln w="17145">
              <a:solidFill>
                <a:srgbClr val="1F2937"/>
              </a:solidFill>
            </a:ln>
          </p:spPr>
        </p:sp>
        <p:sp>
          <p:nvSpPr>
            <p:cNvPr id="134" name="Rectangle 134"/>
            <p:cNvSpPr/>
            <p:nvPr/>
          </p:nvSpPr>
          <p:spPr>
            <a:xfrm>
              <a:off x="9721215" y="2053590"/>
              <a:ext cx="368618" cy="134302"/>
            </a:xfrm>
            <a:prstGeom prst="roundRect">
              <a:avLst>
                <a:gd name="adj" fmla="val 50000"/>
              </a:avLst>
            </a:prstGeom>
            <a:solidFill>
              <a:srgbClr val="FDEEE7"/>
            </a:solidFill>
            <a:ln w="17145">
              <a:solidFill>
                <a:srgbClr val="F26B3A"/>
              </a:solidFill>
            </a:ln>
          </p:spPr>
        </p:sp>
        <p:sp>
          <p:nvSpPr>
            <p:cNvPr id="135" name="Rectangle 135"/>
            <p:cNvSpPr/>
            <p:nvPr/>
          </p:nvSpPr>
          <p:spPr>
            <a:xfrm>
              <a:off x="8948738" y="2864168"/>
              <a:ext cx="301942" cy="117158"/>
            </a:xfrm>
            <a:prstGeom prst="roundRect">
              <a:avLst>
                <a:gd name="adj" fmla="val 50000"/>
              </a:avLst>
            </a:prstGeom>
            <a:solidFill>
              <a:srgbClr val="FDEEE7"/>
            </a:solidFill>
            <a:ln w="17145">
              <a:solidFill>
                <a:srgbClr val="F26B3A"/>
              </a:solidFill>
            </a:ln>
          </p:spPr>
        </p:sp>
        <p:sp>
          <p:nvSpPr>
            <p:cNvPr id="136" name="Rectangle 136"/>
            <p:cNvSpPr/>
            <p:nvPr/>
          </p:nvSpPr>
          <p:spPr>
            <a:xfrm>
              <a:off x="10561320" y="2864168"/>
              <a:ext cx="301942" cy="117158"/>
            </a:xfrm>
            <a:prstGeom prst="roundRect">
              <a:avLst>
                <a:gd name="adj" fmla="val 50000"/>
              </a:avLst>
            </a:prstGeom>
            <a:solidFill>
              <a:srgbClr val="FDEEE7"/>
            </a:solidFill>
            <a:ln w="17145">
              <a:solidFill>
                <a:srgbClr val="F26B3A"/>
              </a:solidFill>
            </a:ln>
          </p:spPr>
        </p:sp>
        <p:sp>
          <p:nvSpPr>
            <p:cNvPr id="137" name="Rectangle 137"/>
            <p:cNvSpPr/>
            <p:nvPr/>
          </p:nvSpPr>
          <p:spPr>
            <a:xfrm>
              <a:off x="8518208" y="3647122"/>
              <a:ext cx="251460" cy="100965"/>
            </a:xfrm>
            <a:prstGeom prst="roundRect">
              <a:avLst>
                <a:gd name="adj" fmla="val 50000"/>
              </a:avLst>
            </a:prstGeom>
            <a:solidFill>
              <a:srgbClr val="FDEEE7"/>
            </a:solidFill>
            <a:ln w="17145">
              <a:solidFill>
                <a:srgbClr val="F26B3A"/>
              </a:solidFill>
            </a:ln>
          </p:spPr>
        </p:sp>
        <p:sp>
          <p:nvSpPr>
            <p:cNvPr id="138" name="Rectangle 138"/>
            <p:cNvSpPr/>
            <p:nvPr/>
          </p:nvSpPr>
          <p:spPr>
            <a:xfrm>
              <a:off x="9394508" y="3647122"/>
              <a:ext cx="251460" cy="100965"/>
            </a:xfrm>
            <a:prstGeom prst="roundRect">
              <a:avLst>
                <a:gd name="adj" fmla="val 50000"/>
              </a:avLst>
            </a:prstGeom>
            <a:solidFill>
              <a:srgbClr val="FDEEE7"/>
            </a:solidFill>
            <a:ln w="17145">
              <a:solidFill>
                <a:srgbClr val="F26B3A"/>
              </a:solidFill>
            </a:ln>
          </p:spPr>
        </p:sp>
        <p:sp>
          <p:nvSpPr>
            <p:cNvPr id="139" name="Rectangle 139"/>
            <p:cNvSpPr/>
            <p:nvPr/>
          </p:nvSpPr>
          <p:spPr>
            <a:xfrm>
              <a:off x="10166032" y="3647122"/>
              <a:ext cx="251460" cy="100965"/>
            </a:xfrm>
            <a:prstGeom prst="roundRect">
              <a:avLst>
                <a:gd name="adj" fmla="val 50000"/>
              </a:avLst>
            </a:prstGeom>
            <a:solidFill>
              <a:srgbClr val="FDEEE7"/>
            </a:solidFill>
            <a:ln w="17145">
              <a:solidFill>
                <a:srgbClr val="F26B3A"/>
              </a:solidFill>
            </a:ln>
          </p:spPr>
        </p:sp>
        <p:sp>
          <p:nvSpPr>
            <p:cNvPr id="140" name="Rectangle 140"/>
            <p:cNvSpPr/>
            <p:nvPr/>
          </p:nvSpPr>
          <p:spPr>
            <a:xfrm>
              <a:off x="11042332" y="3647122"/>
              <a:ext cx="251460" cy="100965"/>
            </a:xfrm>
            <a:prstGeom prst="roundRect">
              <a:avLst>
                <a:gd name="adj" fmla="val 50000"/>
              </a:avLst>
            </a:prstGeom>
            <a:solidFill>
              <a:srgbClr val="FDEEE7"/>
            </a:solidFill>
            <a:ln w="17145">
              <a:solidFill>
                <a:srgbClr val="F26B3A"/>
              </a:solidFill>
            </a:ln>
          </p:spPr>
        </p:sp>
        <p:sp>
          <p:nvSpPr>
            <p:cNvPr id="141" name="Ellipse 141"/>
            <p:cNvSpPr/>
            <p:nvPr/>
          </p:nvSpPr>
          <p:spPr>
            <a:xfrm>
              <a:off x="8366760" y="4377690"/>
              <a:ext cx="133350" cy="133350"/>
            </a:xfrm>
            <a:prstGeom prst="ellipse">
              <a:avLst/>
            </a:prstGeom>
            <a:solidFill>
              <a:srgbClr val="FFFFFF"/>
            </a:solidFill>
            <a:ln w="17145">
              <a:solidFill>
                <a:srgbClr val="334E68"/>
              </a:solidFill>
            </a:ln>
          </p:spPr>
        </p:sp>
        <p:sp>
          <p:nvSpPr>
            <p:cNvPr id="142" name="Ellipse 142"/>
            <p:cNvSpPr/>
            <p:nvPr/>
          </p:nvSpPr>
          <p:spPr>
            <a:xfrm>
              <a:off x="8787765" y="4377690"/>
              <a:ext cx="133350" cy="133350"/>
            </a:xfrm>
            <a:prstGeom prst="ellipse">
              <a:avLst/>
            </a:prstGeom>
            <a:solidFill>
              <a:srgbClr val="FFFFFF"/>
            </a:solidFill>
            <a:ln w="17145">
              <a:solidFill>
                <a:srgbClr val="334E68"/>
              </a:solidFill>
            </a:ln>
          </p:spPr>
        </p:sp>
        <p:sp>
          <p:nvSpPr>
            <p:cNvPr id="143" name="Ellipse 143"/>
            <p:cNvSpPr/>
            <p:nvPr/>
          </p:nvSpPr>
          <p:spPr>
            <a:xfrm>
              <a:off x="9243060" y="4377690"/>
              <a:ext cx="133350" cy="133350"/>
            </a:xfrm>
            <a:prstGeom prst="ellipse">
              <a:avLst/>
            </a:prstGeom>
            <a:solidFill>
              <a:srgbClr val="FFFFFF"/>
            </a:solidFill>
            <a:ln w="17145">
              <a:solidFill>
                <a:srgbClr val="334E68"/>
              </a:solidFill>
            </a:ln>
          </p:spPr>
        </p:sp>
        <p:sp>
          <p:nvSpPr>
            <p:cNvPr id="144" name="Ellipse 144"/>
            <p:cNvSpPr/>
            <p:nvPr/>
          </p:nvSpPr>
          <p:spPr>
            <a:xfrm>
              <a:off x="9664065" y="4377690"/>
              <a:ext cx="133350" cy="133350"/>
            </a:xfrm>
            <a:prstGeom prst="ellipse">
              <a:avLst/>
            </a:prstGeom>
            <a:solidFill>
              <a:srgbClr val="FFFFFF"/>
            </a:solidFill>
            <a:ln w="17145">
              <a:solidFill>
                <a:srgbClr val="334E68"/>
              </a:solidFill>
            </a:ln>
          </p:spPr>
        </p:sp>
        <p:sp>
          <p:nvSpPr>
            <p:cNvPr id="145" name="Ellipse 145"/>
            <p:cNvSpPr/>
            <p:nvPr/>
          </p:nvSpPr>
          <p:spPr>
            <a:xfrm>
              <a:off x="10014585" y="4377690"/>
              <a:ext cx="133350" cy="133350"/>
            </a:xfrm>
            <a:prstGeom prst="ellipse">
              <a:avLst/>
            </a:prstGeom>
            <a:solidFill>
              <a:srgbClr val="FFFFFF"/>
            </a:solidFill>
            <a:ln w="17145">
              <a:solidFill>
                <a:srgbClr val="334E68"/>
              </a:solidFill>
            </a:ln>
          </p:spPr>
        </p:sp>
        <p:sp>
          <p:nvSpPr>
            <p:cNvPr id="146" name="Ellipse 146"/>
            <p:cNvSpPr/>
            <p:nvPr/>
          </p:nvSpPr>
          <p:spPr>
            <a:xfrm>
              <a:off x="10435590" y="4377690"/>
              <a:ext cx="133350" cy="133350"/>
            </a:xfrm>
            <a:prstGeom prst="ellipse">
              <a:avLst/>
            </a:prstGeom>
            <a:solidFill>
              <a:srgbClr val="FFFFFF"/>
            </a:solidFill>
            <a:ln w="17145">
              <a:solidFill>
                <a:srgbClr val="334E68"/>
              </a:solidFill>
            </a:ln>
          </p:spPr>
        </p:sp>
        <p:sp>
          <p:nvSpPr>
            <p:cNvPr id="147" name="Ellipse 147"/>
            <p:cNvSpPr/>
            <p:nvPr/>
          </p:nvSpPr>
          <p:spPr>
            <a:xfrm>
              <a:off x="10890885" y="4377690"/>
              <a:ext cx="133350" cy="133350"/>
            </a:xfrm>
            <a:prstGeom prst="ellipse">
              <a:avLst/>
            </a:prstGeom>
            <a:solidFill>
              <a:srgbClr val="FFFFFF"/>
            </a:solidFill>
            <a:ln w="17145">
              <a:solidFill>
                <a:srgbClr val="334E68"/>
              </a:solidFill>
            </a:ln>
          </p:spPr>
        </p:sp>
        <p:sp>
          <p:nvSpPr>
            <p:cNvPr id="148" name="Ellipse 148"/>
            <p:cNvSpPr/>
            <p:nvPr/>
          </p:nvSpPr>
          <p:spPr>
            <a:xfrm>
              <a:off x="11311890" y="4377690"/>
              <a:ext cx="133350" cy="133350"/>
            </a:xfrm>
            <a:prstGeom prst="ellipse">
              <a:avLst/>
            </a:prstGeom>
            <a:solidFill>
              <a:srgbClr val="FFFFFF"/>
            </a:solidFill>
            <a:ln w="17145">
              <a:solidFill>
                <a:srgbClr val="334E68"/>
              </a:solidFill>
            </a:ln>
          </p:spPr>
        </p:sp>
      </p:grpSp>
      <p:grpSp>
        <p:nvGrpSpPr>
          <p:cNvPr id="151" name="c3-text-3"/>
          <p:cNvGrpSpPr/>
          <p:nvPr/>
        </p:nvGrpSpPr>
        <p:grpSpPr>
          <a:xfrm>
            <a:off x="8147685" y="4882039"/>
            <a:ext cx="3318510" cy="661988"/>
            <a:chOff x="8147685" y="4882039"/>
            <a:chExt cx="3318510" cy="661988"/>
          </a:xfrm>
        </p:grpSpPr>
        <p:sp>
          <p:nvSpPr>
            <p:cNvPr id="150" name="TextBox 150"/>
            <p:cNvSpPr txBox="1"/>
            <p:nvPr/>
          </p:nvSpPr>
          <p:spPr>
            <a:xfrm>
              <a:off x="8147685" y="4882039"/>
              <a:ext cx="3318510" cy="661988"/>
            </a:xfrm>
            <a:prstGeom prst="rect">
              <a:avLst/>
            </a:prstGeom>
            <a:noFill/>
            <a:ln>
              <a:noFill/>
            </a:ln>
          </p:spPr>
          <p:txBody>
            <a:bodyPr wrap="none" lIns="0" tIns="0" rIns="0" bIns="0" anchor="t" anchorCtr="0">
              <a:spAutoFit/>
            </a:bodyPr>
            <a:lstStyle/>
            <a:p>
              <a:pPr algn="l">
                <a:lnSpc>
                  <a:spcPts val="1740"/>
                </a:lnSpc>
              </a:pPr>
              <a:r>
                <a:rPr lang="zh-CN" sz="1120" dirty="0">
                  <a:solidFill>
                    <a:srgbClr val="1F2937"/>
                  </a:solidFill>
                  <a:latin typeface="+mn-lt"/>
                  <a:ea typeface="+mn-ea"/>
                  <a:cs typeface="+mn-cs"/>
                </a:rPr>
                <a:t>离根越近链路越多（图中自上而下 4、2、1 条），缓</a:t>
              </a:r>
              <a:br/>
              <a:r>
                <a:rPr lang="zh-CN" sz="1120" dirty="0">
                  <a:solidFill>
                    <a:srgbClr val="1F2937"/>
                  </a:solidFill>
                  <a:latin typeface="+mn-lt"/>
                  <a:ea typeface="+mn-ea"/>
                  <a:cs typeface="+mn-cs"/>
                </a:rPr>
                <a:t>解二叉树里根节点附近的通信瓶颈。方框是开关，圆</a:t>
              </a:r>
              <a:br/>
              <a:r>
                <a:rPr lang="zh-CN" sz="1120" dirty="0">
                  <a:solidFill>
                    <a:srgbClr val="1F2937"/>
                  </a:solidFill>
                  <a:latin typeface="+mn-lt"/>
                  <a:ea typeface="+mn-ea"/>
                  <a:cs typeface="+mn-cs"/>
                </a:rPr>
                <a:t>点是处理器。</a:t>
              </a:r>
            </a:p>
          </p:txBody>
        </p:sp>
      </p:grpSp>
      <p:grpSp>
        <p:nvGrpSpPr>
          <p:cNvPr id="154" name="footer"/>
          <p:cNvGrpSpPr/>
          <p:nvPr/>
        </p:nvGrpSpPr>
        <p:grpSpPr>
          <a:xfrm>
            <a:off x="528447" y="6581299"/>
            <a:ext cx="11135106" cy="190690"/>
            <a:chOff x="528447" y="6581299"/>
            <a:chExt cx="11135106" cy="190690"/>
          </a:xfrm>
        </p:grpSpPr>
        <p:sp>
          <p:nvSpPr>
            <p:cNvPr id="152" name="TextBox 152"/>
            <p:cNvSpPr txBox="1"/>
            <p:nvPr/>
          </p:nvSpPr>
          <p:spPr>
            <a:xfrm>
              <a:off x="528447" y="6581299"/>
              <a:ext cx="2120748"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并行与分布式计算 · 第7章 体系结构</a:t>
              </a:r>
            </a:p>
          </p:txBody>
        </p:sp>
        <p:sp>
          <p:nvSpPr>
            <p:cNvPr id="153" name="TextBox 153"/>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44</a:t>
              </a:r>
            </a:p>
          </p:txBody>
        </p:sp>
      </p:grpSp>
    </p:spTree>
  </p:cSld>
  <p:clrMapOvr>
    <a:masterClrMapping/>
  </p:clrMapOvr>
  <p:transition xmlns:p14="http://schemas.microsoft.com/office/powerpoint/2010/main" p14:dur="400">
    <p:fade/>
  </p:transition>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5968954" cy="909257"/>
            <a:chOff x="520446" y="342900"/>
            <a:chExt cx="5968954" cy="909257"/>
          </a:xfrm>
        </p:grpSpPr>
        <p:sp>
          <p:nvSpPr>
            <p:cNvPr id="2" name="Rectangle 2"/>
            <p:cNvSpPr/>
            <p:nvPr/>
          </p:nvSpPr>
          <p:spPr>
            <a:xfrm>
              <a:off x="533400" y="342900"/>
              <a:ext cx="1987868" cy="266700"/>
            </a:xfrm>
            <a:prstGeom prst="roundRect">
              <a:avLst>
                <a:gd name="adj" fmla="val 50000"/>
              </a:avLst>
            </a:prstGeom>
            <a:solidFill>
              <a:srgbClr val="E7EDF3"/>
            </a:solidFill>
            <a:ln>
              <a:noFill/>
            </a:ln>
          </p:spPr>
        </p:sp>
        <p:sp>
          <p:nvSpPr>
            <p:cNvPr id="3" name="TextBox 3"/>
            <p:cNvSpPr txBox="1"/>
            <p:nvPr/>
          </p:nvSpPr>
          <p:spPr>
            <a:xfrm>
              <a:off x="608957" y="407194"/>
              <a:ext cx="1835800"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第7章 体系结构 · 互连结构</a:t>
              </a:r>
            </a:p>
          </p:txBody>
        </p:sp>
        <p:sp>
          <p:nvSpPr>
            <p:cNvPr id="4" name="TextBox 4"/>
            <p:cNvSpPr txBox="1"/>
            <p:nvPr/>
          </p:nvSpPr>
          <p:spPr>
            <a:xfrm>
              <a:off x="520446" y="753428"/>
              <a:ext cx="5968954"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网格家族：网格、Torus 与 Illiac 网孔</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8" name="c1-text-1"/>
          <p:cNvGrpSpPr/>
          <p:nvPr/>
        </p:nvGrpSpPr>
        <p:grpSpPr>
          <a:xfrm>
            <a:off x="525780" y="1548765"/>
            <a:ext cx="1681163" cy="293370"/>
            <a:chOff x="525780" y="1548765"/>
            <a:chExt cx="1681163" cy="293370"/>
          </a:xfrm>
        </p:grpSpPr>
        <p:sp>
          <p:nvSpPr>
            <p:cNvPr id="7" name="TextBox 7"/>
            <p:cNvSpPr txBox="1"/>
            <p:nvPr/>
          </p:nvSpPr>
          <p:spPr>
            <a:xfrm>
              <a:off x="525780" y="1548765"/>
              <a:ext cx="1681163"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二维网格</a:t>
              </a:r>
              <a:r>
                <a:rPr lang="zh-CN" sz="1500" dirty="0">
                  <a:solidFill>
                    <a:srgbClr val="1F2937"/>
                  </a:solidFill>
                  <a:latin typeface="+mn-lt"/>
                  <a:ea typeface="+mn-ea"/>
                  <a:cs typeface="+mn-cs"/>
                </a:rPr>
                <a:t>（4 × 4）</a:t>
              </a:r>
            </a:p>
          </p:txBody>
        </p:sp>
      </p:grpSp>
      <p:grpSp>
        <p:nvGrpSpPr>
          <p:cNvPr id="49" name="c1-graph-2"/>
          <p:cNvGrpSpPr/>
          <p:nvPr/>
        </p:nvGrpSpPr>
        <p:grpSpPr>
          <a:xfrm>
            <a:off x="928688" y="2163128"/>
            <a:ext cx="2714624" cy="1833562"/>
            <a:chOff x="928688" y="2163128"/>
            <a:chExt cx="2714624" cy="1833562"/>
          </a:xfrm>
        </p:grpSpPr>
        <p:sp>
          <p:nvSpPr>
            <p:cNvPr id="9" name="Freeform 9"/>
            <p:cNvSpPr/>
            <p:nvPr/>
          </p:nvSpPr>
          <p:spPr>
            <a:xfrm>
              <a:off x="1128712" y="2258378"/>
              <a:ext cx="631508" cy="9525"/>
            </a:xfrm>
            <a:custGeom>
              <a:avLst/>
              <a:gdLst/>
              <a:ahLst/>
              <a:cxnLst/>
              <a:rect l="l" t="t" r="r" b="b"/>
              <a:pathLst>
                <a:path w="631508" h="9525">
                  <a:moveTo>
                    <a:pt x="0" y="0"/>
                  </a:moveTo>
                  <a:lnTo>
                    <a:pt x="631508" y="0"/>
                  </a:lnTo>
                </a:path>
              </a:pathLst>
            </a:custGeom>
            <a:noFill/>
            <a:ln w="17145">
              <a:solidFill>
                <a:srgbClr val="1F2937"/>
              </a:solidFill>
            </a:ln>
          </p:spPr>
        </p:sp>
        <p:sp>
          <p:nvSpPr>
            <p:cNvPr id="10" name="Freeform 10"/>
            <p:cNvSpPr/>
            <p:nvPr/>
          </p:nvSpPr>
          <p:spPr>
            <a:xfrm>
              <a:off x="1023938" y="2363152"/>
              <a:ext cx="9525" cy="338138"/>
            </a:xfrm>
            <a:custGeom>
              <a:avLst/>
              <a:gdLst/>
              <a:ahLst/>
              <a:cxnLst/>
              <a:rect l="l" t="t" r="r" b="b"/>
              <a:pathLst>
                <a:path w="9525" h="338138">
                  <a:moveTo>
                    <a:pt x="0" y="0"/>
                  </a:moveTo>
                  <a:lnTo>
                    <a:pt x="0" y="338138"/>
                  </a:lnTo>
                </a:path>
              </a:pathLst>
            </a:custGeom>
            <a:noFill/>
            <a:ln w="17145">
              <a:solidFill>
                <a:srgbClr val="1F2937"/>
              </a:solidFill>
            </a:ln>
          </p:spPr>
        </p:sp>
        <p:sp>
          <p:nvSpPr>
            <p:cNvPr id="11" name="Freeform 11"/>
            <p:cNvSpPr/>
            <p:nvPr/>
          </p:nvSpPr>
          <p:spPr>
            <a:xfrm>
              <a:off x="1969770" y="2258378"/>
              <a:ext cx="632460" cy="9525"/>
            </a:xfrm>
            <a:custGeom>
              <a:avLst/>
              <a:gdLst/>
              <a:ahLst/>
              <a:cxnLst/>
              <a:rect l="l" t="t" r="r" b="b"/>
              <a:pathLst>
                <a:path w="632460" h="9525">
                  <a:moveTo>
                    <a:pt x="0" y="0"/>
                  </a:moveTo>
                  <a:lnTo>
                    <a:pt x="632460" y="0"/>
                  </a:lnTo>
                </a:path>
              </a:pathLst>
            </a:custGeom>
            <a:noFill/>
            <a:ln w="17145">
              <a:solidFill>
                <a:srgbClr val="1F2937"/>
              </a:solidFill>
            </a:ln>
          </p:spPr>
        </p:sp>
        <p:sp>
          <p:nvSpPr>
            <p:cNvPr id="12" name="Freeform 12"/>
            <p:cNvSpPr/>
            <p:nvPr/>
          </p:nvSpPr>
          <p:spPr>
            <a:xfrm>
              <a:off x="1864995" y="2363152"/>
              <a:ext cx="9525" cy="338138"/>
            </a:xfrm>
            <a:custGeom>
              <a:avLst/>
              <a:gdLst/>
              <a:ahLst/>
              <a:cxnLst/>
              <a:rect l="l" t="t" r="r" b="b"/>
              <a:pathLst>
                <a:path w="9525" h="338138">
                  <a:moveTo>
                    <a:pt x="0" y="0"/>
                  </a:moveTo>
                  <a:lnTo>
                    <a:pt x="0" y="338138"/>
                  </a:lnTo>
                </a:path>
              </a:pathLst>
            </a:custGeom>
            <a:noFill/>
            <a:ln w="17145">
              <a:solidFill>
                <a:srgbClr val="1F2937"/>
              </a:solidFill>
            </a:ln>
          </p:spPr>
        </p:sp>
        <p:sp>
          <p:nvSpPr>
            <p:cNvPr id="13" name="Freeform 13"/>
            <p:cNvSpPr/>
            <p:nvPr/>
          </p:nvSpPr>
          <p:spPr>
            <a:xfrm>
              <a:off x="2811780" y="2258378"/>
              <a:ext cx="631508" cy="9525"/>
            </a:xfrm>
            <a:custGeom>
              <a:avLst/>
              <a:gdLst/>
              <a:ahLst/>
              <a:cxnLst/>
              <a:rect l="l" t="t" r="r" b="b"/>
              <a:pathLst>
                <a:path w="631508" h="9525">
                  <a:moveTo>
                    <a:pt x="0" y="0"/>
                  </a:moveTo>
                  <a:lnTo>
                    <a:pt x="631508" y="0"/>
                  </a:lnTo>
                </a:path>
              </a:pathLst>
            </a:custGeom>
            <a:noFill/>
            <a:ln w="17145">
              <a:solidFill>
                <a:srgbClr val="1F2937"/>
              </a:solidFill>
            </a:ln>
          </p:spPr>
        </p:sp>
        <p:sp>
          <p:nvSpPr>
            <p:cNvPr id="14" name="Freeform 14"/>
            <p:cNvSpPr/>
            <p:nvPr/>
          </p:nvSpPr>
          <p:spPr>
            <a:xfrm>
              <a:off x="2707005" y="2363152"/>
              <a:ext cx="9525" cy="338138"/>
            </a:xfrm>
            <a:custGeom>
              <a:avLst/>
              <a:gdLst/>
              <a:ahLst/>
              <a:cxnLst/>
              <a:rect l="l" t="t" r="r" b="b"/>
              <a:pathLst>
                <a:path w="9525" h="338138">
                  <a:moveTo>
                    <a:pt x="0" y="0"/>
                  </a:moveTo>
                  <a:lnTo>
                    <a:pt x="0" y="338138"/>
                  </a:lnTo>
                </a:path>
              </a:pathLst>
            </a:custGeom>
            <a:noFill/>
            <a:ln w="17145">
              <a:solidFill>
                <a:srgbClr val="1F2937"/>
              </a:solidFill>
            </a:ln>
          </p:spPr>
        </p:sp>
        <p:sp>
          <p:nvSpPr>
            <p:cNvPr id="15" name="Freeform 15"/>
            <p:cNvSpPr/>
            <p:nvPr/>
          </p:nvSpPr>
          <p:spPr>
            <a:xfrm>
              <a:off x="3548062" y="2363152"/>
              <a:ext cx="9525" cy="338138"/>
            </a:xfrm>
            <a:custGeom>
              <a:avLst/>
              <a:gdLst/>
              <a:ahLst/>
              <a:cxnLst/>
              <a:rect l="l" t="t" r="r" b="b"/>
              <a:pathLst>
                <a:path w="9525" h="338138">
                  <a:moveTo>
                    <a:pt x="0" y="0"/>
                  </a:moveTo>
                  <a:lnTo>
                    <a:pt x="0" y="338138"/>
                  </a:lnTo>
                </a:path>
              </a:pathLst>
            </a:custGeom>
            <a:noFill/>
            <a:ln w="17145">
              <a:solidFill>
                <a:srgbClr val="1F2937"/>
              </a:solidFill>
            </a:ln>
          </p:spPr>
        </p:sp>
        <p:sp>
          <p:nvSpPr>
            <p:cNvPr id="16" name="Freeform 16"/>
            <p:cNvSpPr/>
            <p:nvPr/>
          </p:nvSpPr>
          <p:spPr>
            <a:xfrm>
              <a:off x="1128712" y="2806065"/>
              <a:ext cx="631508" cy="9525"/>
            </a:xfrm>
            <a:custGeom>
              <a:avLst/>
              <a:gdLst/>
              <a:ahLst/>
              <a:cxnLst/>
              <a:rect l="l" t="t" r="r" b="b"/>
              <a:pathLst>
                <a:path w="631508" h="9525">
                  <a:moveTo>
                    <a:pt x="0" y="0"/>
                  </a:moveTo>
                  <a:lnTo>
                    <a:pt x="631508" y="0"/>
                  </a:lnTo>
                </a:path>
              </a:pathLst>
            </a:custGeom>
            <a:noFill/>
            <a:ln w="17145">
              <a:solidFill>
                <a:srgbClr val="1F2937"/>
              </a:solidFill>
            </a:ln>
          </p:spPr>
        </p:sp>
        <p:sp>
          <p:nvSpPr>
            <p:cNvPr id="17" name="Freeform 17"/>
            <p:cNvSpPr/>
            <p:nvPr/>
          </p:nvSpPr>
          <p:spPr>
            <a:xfrm>
              <a:off x="1023938" y="2910840"/>
              <a:ext cx="9525" cy="338138"/>
            </a:xfrm>
            <a:custGeom>
              <a:avLst/>
              <a:gdLst/>
              <a:ahLst/>
              <a:cxnLst/>
              <a:rect l="l" t="t" r="r" b="b"/>
              <a:pathLst>
                <a:path w="9525" h="338138">
                  <a:moveTo>
                    <a:pt x="0" y="0"/>
                  </a:moveTo>
                  <a:lnTo>
                    <a:pt x="0" y="338138"/>
                  </a:lnTo>
                </a:path>
              </a:pathLst>
            </a:custGeom>
            <a:noFill/>
            <a:ln w="17145">
              <a:solidFill>
                <a:srgbClr val="1F2937"/>
              </a:solidFill>
            </a:ln>
          </p:spPr>
        </p:sp>
        <p:sp>
          <p:nvSpPr>
            <p:cNvPr id="18" name="Freeform 18"/>
            <p:cNvSpPr/>
            <p:nvPr/>
          </p:nvSpPr>
          <p:spPr>
            <a:xfrm>
              <a:off x="1969770" y="2806065"/>
              <a:ext cx="632460" cy="9525"/>
            </a:xfrm>
            <a:custGeom>
              <a:avLst/>
              <a:gdLst/>
              <a:ahLst/>
              <a:cxnLst/>
              <a:rect l="l" t="t" r="r" b="b"/>
              <a:pathLst>
                <a:path w="632460" h="9525">
                  <a:moveTo>
                    <a:pt x="0" y="0"/>
                  </a:moveTo>
                  <a:lnTo>
                    <a:pt x="632460" y="0"/>
                  </a:lnTo>
                </a:path>
              </a:pathLst>
            </a:custGeom>
            <a:noFill/>
            <a:ln w="17145">
              <a:solidFill>
                <a:srgbClr val="1F2937"/>
              </a:solidFill>
            </a:ln>
          </p:spPr>
        </p:sp>
        <p:sp>
          <p:nvSpPr>
            <p:cNvPr id="19" name="Freeform 19"/>
            <p:cNvSpPr/>
            <p:nvPr/>
          </p:nvSpPr>
          <p:spPr>
            <a:xfrm>
              <a:off x="1864995" y="2910840"/>
              <a:ext cx="9525" cy="338138"/>
            </a:xfrm>
            <a:custGeom>
              <a:avLst/>
              <a:gdLst/>
              <a:ahLst/>
              <a:cxnLst/>
              <a:rect l="l" t="t" r="r" b="b"/>
              <a:pathLst>
                <a:path w="9525" h="338138">
                  <a:moveTo>
                    <a:pt x="0" y="0"/>
                  </a:moveTo>
                  <a:lnTo>
                    <a:pt x="0" y="338138"/>
                  </a:lnTo>
                </a:path>
              </a:pathLst>
            </a:custGeom>
            <a:noFill/>
            <a:ln w="17145">
              <a:solidFill>
                <a:srgbClr val="1F2937"/>
              </a:solidFill>
            </a:ln>
          </p:spPr>
        </p:sp>
        <p:sp>
          <p:nvSpPr>
            <p:cNvPr id="20" name="Freeform 20"/>
            <p:cNvSpPr/>
            <p:nvPr/>
          </p:nvSpPr>
          <p:spPr>
            <a:xfrm>
              <a:off x="2811780" y="2806065"/>
              <a:ext cx="631508" cy="9525"/>
            </a:xfrm>
            <a:custGeom>
              <a:avLst/>
              <a:gdLst/>
              <a:ahLst/>
              <a:cxnLst/>
              <a:rect l="l" t="t" r="r" b="b"/>
              <a:pathLst>
                <a:path w="631508" h="9525">
                  <a:moveTo>
                    <a:pt x="0" y="0"/>
                  </a:moveTo>
                  <a:lnTo>
                    <a:pt x="631508" y="0"/>
                  </a:lnTo>
                </a:path>
              </a:pathLst>
            </a:custGeom>
            <a:noFill/>
            <a:ln w="17145">
              <a:solidFill>
                <a:srgbClr val="1F2937"/>
              </a:solidFill>
            </a:ln>
          </p:spPr>
        </p:sp>
        <p:sp>
          <p:nvSpPr>
            <p:cNvPr id="21" name="Freeform 21"/>
            <p:cNvSpPr/>
            <p:nvPr/>
          </p:nvSpPr>
          <p:spPr>
            <a:xfrm>
              <a:off x="2707005" y="2910840"/>
              <a:ext cx="9525" cy="338138"/>
            </a:xfrm>
            <a:custGeom>
              <a:avLst/>
              <a:gdLst/>
              <a:ahLst/>
              <a:cxnLst/>
              <a:rect l="l" t="t" r="r" b="b"/>
              <a:pathLst>
                <a:path w="9525" h="338138">
                  <a:moveTo>
                    <a:pt x="0" y="0"/>
                  </a:moveTo>
                  <a:lnTo>
                    <a:pt x="0" y="338138"/>
                  </a:lnTo>
                </a:path>
              </a:pathLst>
            </a:custGeom>
            <a:noFill/>
            <a:ln w="17145">
              <a:solidFill>
                <a:srgbClr val="1F2937"/>
              </a:solidFill>
            </a:ln>
          </p:spPr>
        </p:sp>
        <p:sp>
          <p:nvSpPr>
            <p:cNvPr id="22" name="Freeform 22"/>
            <p:cNvSpPr/>
            <p:nvPr/>
          </p:nvSpPr>
          <p:spPr>
            <a:xfrm>
              <a:off x="3548062" y="2910840"/>
              <a:ext cx="9525" cy="338138"/>
            </a:xfrm>
            <a:custGeom>
              <a:avLst/>
              <a:gdLst/>
              <a:ahLst/>
              <a:cxnLst/>
              <a:rect l="l" t="t" r="r" b="b"/>
              <a:pathLst>
                <a:path w="9525" h="338138">
                  <a:moveTo>
                    <a:pt x="0" y="0"/>
                  </a:moveTo>
                  <a:lnTo>
                    <a:pt x="0" y="338138"/>
                  </a:lnTo>
                </a:path>
              </a:pathLst>
            </a:custGeom>
            <a:noFill/>
            <a:ln w="17145">
              <a:solidFill>
                <a:srgbClr val="1F2937"/>
              </a:solidFill>
            </a:ln>
          </p:spPr>
        </p:sp>
        <p:sp>
          <p:nvSpPr>
            <p:cNvPr id="23" name="Freeform 23"/>
            <p:cNvSpPr/>
            <p:nvPr/>
          </p:nvSpPr>
          <p:spPr>
            <a:xfrm>
              <a:off x="1128712" y="3353752"/>
              <a:ext cx="631508" cy="9525"/>
            </a:xfrm>
            <a:custGeom>
              <a:avLst/>
              <a:gdLst/>
              <a:ahLst/>
              <a:cxnLst/>
              <a:rect l="l" t="t" r="r" b="b"/>
              <a:pathLst>
                <a:path w="631508" h="9525">
                  <a:moveTo>
                    <a:pt x="0" y="0"/>
                  </a:moveTo>
                  <a:lnTo>
                    <a:pt x="631508" y="0"/>
                  </a:lnTo>
                </a:path>
              </a:pathLst>
            </a:custGeom>
            <a:noFill/>
            <a:ln w="17145">
              <a:solidFill>
                <a:srgbClr val="1F2937"/>
              </a:solidFill>
            </a:ln>
          </p:spPr>
        </p:sp>
        <p:sp>
          <p:nvSpPr>
            <p:cNvPr id="24" name="Freeform 24"/>
            <p:cNvSpPr/>
            <p:nvPr/>
          </p:nvSpPr>
          <p:spPr>
            <a:xfrm>
              <a:off x="1023938" y="3458528"/>
              <a:ext cx="9525" cy="338138"/>
            </a:xfrm>
            <a:custGeom>
              <a:avLst/>
              <a:gdLst/>
              <a:ahLst/>
              <a:cxnLst/>
              <a:rect l="l" t="t" r="r" b="b"/>
              <a:pathLst>
                <a:path w="9525" h="338138">
                  <a:moveTo>
                    <a:pt x="0" y="0"/>
                  </a:moveTo>
                  <a:lnTo>
                    <a:pt x="0" y="338138"/>
                  </a:lnTo>
                </a:path>
              </a:pathLst>
            </a:custGeom>
            <a:noFill/>
            <a:ln w="17145">
              <a:solidFill>
                <a:srgbClr val="1F2937"/>
              </a:solidFill>
            </a:ln>
          </p:spPr>
        </p:sp>
        <p:sp>
          <p:nvSpPr>
            <p:cNvPr id="25" name="Freeform 25"/>
            <p:cNvSpPr/>
            <p:nvPr/>
          </p:nvSpPr>
          <p:spPr>
            <a:xfrm>
              <a:off x="1969770" y="3353752"/>
              <a:ext cx="632460" cy="9525"/>
            </a:xfrm>
            <a:custGeom>
              <a:avLst/>
              <a:gdLst/>
              <a:ahLst/>
              <a:cxnLst/>
              <a:rect l="l" t="t" r="r" b="b"/>
              <a:pathLst>
                <a:path w="632460" h="9525">
                  <a:moveTo>
                    <a:pt x="0" y="0"/>
                  </a:moveTo>
                  <a:lnTo>
                    <a:pt x="632460" y="0"/>
                  </a:lnTo>
                </a:path>
              </a:pathLst>
            </a:custGeom>
            <a:noFill/>
            <a:ln w="17145">
              <a:solidFill>
                <a:srgbClr val="1F2937"/>
              </a:solidFill>
            </a:ln>
          </p:spPr>
        </p:sp>
        <p:sp>
          <p:nvSpPr>
            <p:cNvPr id="26" name="Freeform 26"/>
            <p:cNvSpPr/>
            <p:nvPr/>
          </p:nvSpPr>
          <p:spPr>
            <a:xfrm>
              <a:off x="1864995" y="3458528"/>
              <a:ext cx="9525" cy="338138"/>
            </a:xfrm>
            <a:custGeom>
              <a:avLst/>
              <a:gdLst/>
              <a:ahLst/>
              <a:cxnLst/>
              <a:rect l="l" t="t" r="r" b="b"/>
              <a:pathLst>
                <a:path w="9525" h="338138">
                  <a:moveTo>
                    <a:pt x="0" y="0"/>
                  </a:moveTo>
                  <a:lnTo>
                    <a:pt x="0" y="338138"/>
                  </a:lnTo>
                </a:path>
              </a:pathLst>
            </a:custGeom>
            <a:noFill/>
            <a:ln w="17145">
              <a:solidFill>
                <a:srgbClr val="1F2937"/>
              </a:solidFill>
            </a:ln>
          </p:spPr>
        </p:sp>
        <p:sp>
          <p:nvSpPr>
            <p:cNvPr id="27" name="Freeform 27"/>
            <p:cNvSpPr/>
            <p:nvPr/>
          </p:nvSpPr>
          <p:spPr>
            <a:xfrm>
              <a:off x="2811780" y="3353752"/>
              <a:ext cx="631508" cy="9525"/>
            </a:xfrm>
            <a:custGeom>
              <a:avLst/>
              <a:gdLst/>
              <a:ahLst/>
              <a:cxnLst/>
              <a:rect l="l" t="t" r="r" b="b"/>
              <a:pathLst>
                <a:path w="631508" h="9525">
                  <a:moveTo>
                    <a:pt x="0" y="0"/>
                  </a:moveTo>
                  <a:lnTo>
                    <a:pt x="631508" y="0"/>
                  </a:lnTo>
                </a:path>
              </a:pathLst>
            </a:custGeom>
            <a:noFill/>
            <a:ln w="17145">
              <a:solidFill>
                <a:srgbClr val="1F2937"/>
              </a:solidFill>
            </a:ln>
          </p:spPr>
        </p:sp>
        <p:sp>
          <p:nvSpPr>
            <p:cNvPr id="28" name="Freeform 28"/>
            <p:cNvSpPr/>
            <p:nvPr/>
          </p:nvSpPr>
          <p:spPr>
            <a:xfrm>
              <a:off x="2707005" y="3458528"/>
              <a:ext cx="9525" cy="338138"/>
            </a:xfrm>
            <a:custGeom>
              <a:avLst/>
              <a:gdLst/>
              <a:ahLst/>
              <a:cxnLst/>
              <a:rect l="l" t="t" r="r" b="b"/>
              <a:pathLst>
                <a:path w="9525" h="338138">
                  <a:moveTo>
                    <a:pt x="0" y="0"/>
                  </a:moveTo>
                  <a:lnTo>
                    <a:pt x="0" y="338138"/>
                  </a:lnTo>
                </a:path>
              </a:pathLst>
            </a:custGeom>
            <a:noFill/>
            <a:ln w="17145">
              <a:solidFill>
                <a:srgbClr val="1F2937"/>
              </a:solidFill>
            </a:ln>
          </p:spPr>
        </p:sp>
        <p:sp>
          <p:nvSpPr>
            <p:cNvPr id="29" name="Freeform 29"/>
            <p:cNvSpPr/>
            <p:nvPr/>
          </p:nvSpPr>
          <p:spPr>
            <a:xfrm>
              <a:off x="3548062" y="3458528"/>
              <a:ext cx="9525" cy="338138"/>
            </a:xfrm>
            <a:custGeom>
              <a:avLst/>
              <a:gdLst/>
              <a:ahLst/>
              <a:cxnLst/>
              <a:rect l="l" t="t" r="r" b="b"/>
              <a:pathLst>
                <a:path w="9525" h="338138">
                  <a:moveTo>
                    <a:pt x="0" y="0"/>
                  </a:moveTo>
                  <a:lnTo>
                    <a:pt x="0" y="338138"/>
                  </a:lnTo>
                </a:path>
              </a:pathLst>
            </a:custGeom>
            <a:noFill/>
            <a:ln w="17145">
              <a:solidFill>
                <a:srgbClr val="1F2937"/>
              </a:solidFill>
            </a:ln>
          </p:spPr>
        </p:sp>
        <p:sp>
          <p:nvSpPr>
            <p:cNvPr id="30" name="Freeform 30"/>
            <p:cNvSpPr/>
            <p:nvPr/>
          </p:nvSpPr>
          <p:spPr>
            <a:xfrm>
              <a:off x="1128712" y="3901440"/>
              <a:ext cx="631508" cy="9525"/>
            </a:xfrm>
            <a:custGeom>
              <a:avLst/>
              <a:gdLst/>
              <a:ahLst/>
              <a:cxnLst/>
              <a:rect l="l" t="t" r="r" b="b"/>
              <a:pathLst>
                <a:path w="631508" h="9525">
                  <a:moveTo>
                    <a:pt x="0" y="0"/>
                  </a:moveTo>
                  <a:lnTo>
                    <a:pt x="631508" y="0"/>
                  </a:lnTo>
                </a:path>
              </a:pathLst>
            </a:custGeom>
            <a:noFill/>
            <a:ln w="17145">
              <a:solidFill>
                <a:srgbClr val="1F2937"/>
              </a:solidFill>
            </a:ln>
          </p:spPr>
        </p:sp>
        <p:sp>
          <p:nvSpPr>
            <p:cNvPr id="31" name="Freeform 31"/>
            <p:cNvSpPr/>
            <p:nvPr/>
          </p:nvSpPr>
          <p:spPr>
            <a:xfrm>
              <a:off x="1969770" y="3901440"/>
              <a:ext cx="632460" cy="9525"/>
            </a:xfrm>
            <a:custGeom>
              <a:avLst/>
              <a:gdLst/>
              <a:ahLst/>
              <a:cxnLst/>
              <a:rect l="l" t="t" r="r" b="b"/>
              <a:pathLst>
                <a:path w="632460" h="9525">
                  <a:moveTo>
                    <a:pt x="0" y="0"/>
                  </a:moveTo>
                  <a:lnTo>
                    <a:pt x="632460" y="0"/>
                  </a:lnTo>
                </a:path>
              </a:pathLst>
            </a:custGeom>
            <a:noFill/>
            <a:ln w="17145">
              <a:solidFill>
                <a:srgbClr val="1F2937"/>
              </a:solidFill>
            </a:ln>
          </p:spPr>
        </p:sp>
        <p:sp>
          <p:nvSpPr>
            <p:cNvPr id="32" name="Freeform 32"/>
            <p:cNvSpPr/>
            <p:nvPr/>
          </p:nvSpPr>
          <p:spPr>
            <a:xfrm>
              <a:off x="2811780" y="3901440"/>
              <a:ext cx="631508" cy="9525"/>
            </a:xfrm>
            <a:custGeom>
              <a:avLst/>
              <a:gdLst/>
              <a:ahLst/>
              <a:cxnLst/>
              <a:rect l="l" t="t" r="r" b="b"/>
              <a:pathLst>
                <a:path w="631508" h="9525">
                  <a:moveTo>
                    <a:pt x="0" y="0"/>
                  </a:moveTo>
                  <a:lnTo>
                    <a:pt x="631508" y="0"/>
                  </a:lnTo>
                </a:path>
              </a:pathLst>
            </a:custGeom>
            <a:noFill/>
            <a:ln w="17145">
              <a:solidFill>
                <a:srgbClr val="1F2937"/>
              </a:solidFill>
            </a:ln>
          </p:spPr>
        </p:sp>
        <p:sp>
          <p:nvSpPr>
            <p:cNvPr id="33" name="Ellipse 33"/>
            <p:cNvSpPr/>
            <p:nvPr/>
          </p:nvSpPr>
          <p:spPr>
            <a:xfrm>
              <a:off x="928688" y="2163128"/>
              <a:ext cx="190500" cy="190500"/>
            </a:xfrm>
            <a:prstGeom prst="ellipse">
              <a:avLst/>
            </a:prstGeom>
            <a:solidFill>
              <a:srgbClr val="FFFFFF"/>
            </a:solidFill>
            <a:ln w="17145">
              <a:solidFill>
                <a:srgbClr val="334E68"/>
              </a:solidFill>
            </a:ln>
          </p:spPr>
        </p:sp>
        <p:sp>
          <p:nvSpPr>
            <p:cNvPr id="34" name="Ellipse 34"/>
            <p:cNvSpPr/>
            <p:nvPr/>
          </p:nvSpPr>
          <p:spPr>
            <a:xfrm>
              <a:off x="1769745" y="2163128"/>
              <a:ext cx="190500" cy="190500"/>
            </a:xfrm>
            <a:prstGeom prst="ellipse">
              <a:avLst/>
            </a:prstGeom>
            <a:solidFill>
              <a:srgbClr val="FFFFFF"/>
            </a:solidFill>
            <a:ln w="17145">
              <a:solidFill>
                <a:srgbClr val="334E68"/>
              </a:solidFill>
            </a:ln>
          </p:spPr>
        </p:sp>
        <p:sp>
          <p:nvSpPr>
            <p:cNvPr id="35" name="Ellipse 35"/>
            <p:cNvSpPr/>
            <p:nvPr/>
          </p:nvSpPr>
          <p:spPr>
            <a:xfrm>
              <a:off x="2611755" y="2163128"/>
              <a:ext cx="190500" cy="190500"/>
            </a:xfrm>
            <a:prstGeom prst="ellipse">
              <a:avLst/>
            </a:prstGeom>
            <a:solidFill>
              <a:srgbClr val="FFFFFF"/>
            </a:solidFill>
            <a:ln w="17145">
              <a:solidFill>
                <a:srgbClr val="334E68"/>
              </a:solidFill>
            </a:ln>
          </p:spPr>
        </p:sp>
        <p:sp>
          <p:nvSpPr>
            <p:cNvPr id="36" name="Ellipse 36"/>
            <p:cNvSpPr/>
            <p:nvPr/>
          </p:nvSpPr>
          <p:spPr>
            <a:xfrm>
              <a:off x="3452812" y="2163128"/>
              <a:ext cx="190500" cy="190500"/>
            </a:xfrm>
            <a:prstGeom prst="ellipse">
              <a:avLst/>
            </a:prstGeom>
            <a:solidFill>
              <a:srgbClr val="FFFFFF"/>
            </a:solidFill>
            <a:ln w="17145">
              <a:solidFill>
                <a:srgbClr val="334E68"/>
              </a:solidFill>
            </a:ln>
          </p:spPr>
        </p:sp>
        <p:sp>
          <p:nvSpPr>
            <p:cNvPr id="37" name="Ellipse 37"/>
            <p:cNvSpPr/>
            <p:nvPr/>
          </p:nvSpPr>
          <p:spPr>
            <a:xfrm>
              <a:off x="928688" y="2710815"/>
              <a:ext cx="190500" cy="190500"/>
            </a:xfrm>
            <a:prstGeom prst="ellipse">
              <a:avLst/>
            </a:prstGeom>
            <a:solidFill>
              <a:srgbClr val="FFFFFF"/>
            </a:solidFill>
            <a:ln w="17145">
              <a:solidFill>
                <a:srgbClr val="334E68"/>
              </a:solidFill>
            </a:ln>
          </p:spPr>
        </p:sp>
        <p:sp>
          <p:nvSpPr>
            <p:cNvPr id="38" name="Ellipse 38"/>
            <p:cNvSpPr/>
            <p:nvPr/>
          </p:nvSpPr>
          <p:spPr>
            <a:xfrm>
              <a:off x="1769745" y="2710815"/>
              <a:ext cx="190500" cy="190500"/>
            </a:xfrm>
            <a:prstGeom prst="ellipse">
              <a:avLst/>
            </a:prstGeom>
            <a:solidFill>
              <a:srgbClr val="FFFFFF"/>
            </a:solidFill>
            <a:ln w="17145">
              <a:solidFill>
                <a:srgbClr val="334E68"/>
              </a:solidFill>
            </a:ln>
          </p:spPr>
        </p:sp>
        <p:sp>
          <p:nvSpPr>
            <p:cNvPr id="39" name="Ellipse 39"/>
            <p:cNvSpPr/>
            <p:nvPr/>
          </p:nvSpPr>
          <p:spPr>
            <a:xfrm>
              <a:off x="2611755" y="2710815"/>
              <a:ext cx="190500" cy="190500"/>
            </a:xfrm>
            <a:prstGeom prst="ellipse">
              <a:avLst/>
            </a:prstGeom>
            <a:solidFill>
              <a:srgbClr val="FFFFFF"/>
            </a:solidFill>
            <a:ln w="17145">
              <a:solidFill>
                <a:srgbClr val="334E68"/>
              </a:solidFill>
            </a:ln>
          </p:spPr>
        </p:sp>
        <p:sp>
          <p:nvSpPr>
            <p:cNvPr id="40" name="Ellipse 40"/>
            <p:cNvSpPr/>
            <p:nvPr/>
          </p:nvSpPr>
          <p:spPr>
            <a:xfrm>
              <a:off x="3452812" y="2710815"/>
              <a:ext cx="190500" cy="190500"/>
            </a:xfrm>
            <a:prstGeom prst="ellipse">
              <a:avLst/>
            </a:prstGeom>
            <a:solidFill>
              <a:srgbClr val="FFFFFF"/>
            </a:solidFill>
            <a:ln w="17145">
              <a:solidFill>
                <a:srgbClr val="334E68"/>
              </a:solidFill>
            </a:ln>
          </p:spPr>
        </p:sp>
        <p:sp>
          <p:nvSpPr>
            <p:cNvPr id="41" name="Ellipse 41"/>
            <p:cNvSpPr/>
            <p:nvPr/>
          </p:nvSpPr>
          <p:spPr>
            <a:xfrm>
              <a:off x="928688" y="3258502"/>
              <a:ext cx="190500" cy="190500"/>
            </a:xfrm>
            <a:prstGeom prst="ellipse">
              <a:avLst/>
            </a:prstGeom>
            <a:solidFill>
              <a:srgbClr val="FFFFFF"/>
            </a:solidFill>
            <a:ln w="17145">
              <a:solidFill>
                <a:srgbClr val="334E68"/>
              </a:solidFill>
            </a:ln>
          </p:spPr>
        </p:sp>
        <p:sp>
          <p:nvSpPr>
            <p:cNvPr id="42" name="Ellipse 42"/>
            <p:cNvSpPr/>
            <p:nvPr/>
          </p:nvSpPr>
          <p:spPr>
            <a:xfrm>
              <a:off x="1769745" y="3258502"/>
              <a:ext cx="190500" cy="190500"/>
            </a:xfrm>
            <a:prstGeom prst="ellipse">
              <a:avLst/>
            </a:prstGeom>
            <a:solidFill>
              <a:srgbClr val="FFFFFF"/>
            </a:solidFill>
            <a:ln w="17145">
              <a:solidFill>
                <a:srgbClr val="334E68"/>
              </a:solidFill>
            </a:ln>
          </p:spPr>
        </p:sp>
        <p:sp>
          <p:nvSpPr>
            <p:cNvPr id="43" name="Ellipse 43"/>
            <p:cNvSpPr/>
            <p:nvPr/>
          </p:nvSpPr>
          <p:spPr>
            <a:xfrm>
              <a:off x="2611755" y="3258502"/>
              <a:ext cx="190500" cy="190500"/>
            </a:xfrm>
            <a:prstGeom prst="ellipse">
              <a:avLst/>
            </a:prstGeom>
            <a:solidFill>
              <a:srgbClr val="FFFFFF"/>
            </a:solidFill>
            <a:ln w="17145">
              <a:solidFill>
                <a:srgbClr val="334E68"/>
              </a:solidFill>
            </a:ln>
          </p:spPr>
        </p:sp>
        <p:sp>
          <p:nvSpPr>
            <p:cNvPr id="44" name="Ellipse 44"/>
            <p:cNvSpPr/>
            <p:nvPr/>
          </p:nvSpPr>
          <p:spPr>
            <a:xfrm>
              <a:off x="3452812" y="3258502"/>
              <a:ext cx="190500" cy="190500"/>
            </a:xfrm>
            <a:prstGeom prst="ellipse">
              <a:avLst/>
            </a:prstGeom>
            <a:solidFill>
              <a:srgbClr val="FFFFFF"/>
            </a:solidFill>
            <a:ln w="17145">
              <a:solidFill>
                <a:srgbClr val="334E68"/>
              </a:solidFill>
            </a:ln>
          </p:spPr>
        </p:sp>
        <p:sp>
          <p:nvSpPr>
            <p:cNvPr id="45" name="Ellipse 45"/>
            <p:cNvSpPr/>
            <p:nvPr/>
          </p:nvSpPr>
          <p:spPr>
            <a:xfrm>
              <a:off x="928688" y="3806190"/>
              <a:ext cx="190500" cy="190500"/>
            </a:xfrm>
            <a:prstGeom prst="ellipse">
              <a:avLst/>
            </a:prstGeom>
            <a:solidFill>
              <a:srgbClr val="FFFFFF"/>
            </a:solidFill>
            <a:ln w="17145">
              <a:solidFill>
                <a:srgbClr val="334E68"/>
              </a:solidFill>
            </a:ln>
          </p:spPr>
        </p:sp>
        <p:sp>
          <p:nvSpPr>
            <p:cNvPr id="46" name="Ellipse 46"/>
            <p:cNvSpPr/>
            <p:nvPr/>
          </p:nvSpPr>
          <p:spPr>
            <a:xfrm>
              <a:off x="1769745" y="3806190"/>
              <a:ext cx="190500" cy="190500"/>
            </a:xfrm>
            <a:prstGeom prst="ellipse">
              <a:avLst/>
            </a:prstGeom>
            <a:solidFill>
              <a:srgbClr val="FFFFFF"/>
            </a:solidFill>
            <a:ln w="17145">
              <a:solidFill>
                <a:srgbClr val="334E68"/>
              </a:solidFill>
            </a:ln>
          </p:spPr>
        </p:sp>
        <p:sp>
          <p:nvSpPr>
            <p:cNvPr id="47" name="Ellipse 47"/>
            <p:cNvSpPr/>
            <p:nvPr/>
          </p:nvSpPr>
          <p:spPr>
            <a:xfrm>
              <a:off x="2611755" y="3806190"/>
              <a:ext cx="190500" cy="190500"/>
            </a:xfrm>
            <a:prstGeom prst="ellipse">
              <a:avLst/>
            </a:prstGeom>
            <a:solidFill>
              <a:srgbClr val="FFFFFF"/>
            </a:solidFill>
            <a:ln w="17145">
              <a:solidFill>
                <a:srgbClr val="334E68"/>
              </a:solidFill>
            </a:ln>
          </p:spPr>
        </p:sp>
        <p:sp>
          <p:nvSpPr>
            <p:cNvPr id="48" name="Ellipse 48"/>
            <p:cNvSpPr/>
            <p:nvPr/>
          </p:nvSpPr>
          <p:spPr>
            <a:xfrm>
              <a:off x="3452812" y="3806190"/>
              <a:ext cx="190500" cy="190500"/>
            </a:xfrm>
            <a:prstGeom prst="ellipse">
              <a:avLst/>
            </a:prstGeom>
            <a:solidFill>
              <a:srgbClr val="FFFFFF"/>
            </a:solidFill>
            <a:ln w="17145">
              <a:solidFill>
                <a:srgbClr val="334E68"/>
              </a:solidFill>
            </a:ln>
          </p:spPr>
        </p:sp>
      </p:grpSp>
      <p:grpSp>
        <p:nvGrpSpPr>
          <p:cNvPr id="51" name="c1-text-3"/>
          <p:cNvGrpSpPr/>
          <p:nvPr/>
        </p:nvGrpSpPr>
        <p:grpSpPr>
          <a:xfrm>
            <a:off x="526923" y="4376261"/>
            <a:ext cx="3288538" cy="752284"/>
            <a:chOff x="526923" y="4376261"/>
            <a:chExt cx="3288538" cy="752284"/>
          </a:xfrm>
        </p:grpSpPr>
        <p:sp>
          <p:nvSpPr>
            <p:cNvPr id="50" name="TextBox 50"/>
            <p:cNvSpPr txBox="1"/>
            <p:nvPr/>
          </p:nvSpPr>
          <p:spPr>
            <a:xfrm>
              <a:off x="526923" y="4376261"/>
              <a:ext cx="3288538" cy="752284"/>
            </a:xfrm>
            <a:prstGeom prst="rect">
              <a:avLst/>
            </a:prstGeom>
            <a:noFill/>
            <a:ln>
              <a:noFill/>
            </a:ln>
          </p:spPr>
          <p:txBody>
            <a:bodyPr wrap="none" lIns="0" tIns="0" rIns="0" bIns="0" anchor="t" anchorCtr="0">
              <a:spAutoFit/>
            </a:bodyPr>
            <a:lstStyle/>
            <a:p>
              <a:pPr algn="l">
                <a:lnSpc>
                  <a:spcPts val="1980"/>
                </a:lnSpc>
              </a:pPr>
              <a:r>
                <a:rPr lang="zh-CN" sz="1280" dirty="0">
                  <a:solidFill>
                    <a:srgbClr val="1F2937"/>
                  </a:solidFill>
                  <a:latin typeface="+mn-lt"/>
                  <a:ea typeface="+mn-ea"/>
                  <a:cs typeface="+mn-cs"/>
                </a:rPr>
                <a:t>k 维网格 N = nᵏ，直径 k(n − 1)，内部节点度</a:t>
              </a:r>
              <a:br/>
              <a:r>
                <a:rPr lang="zh-CN" sz="1280" dirty="0">
                  <a:solidFill>
                    <a:srgbClr val="1F2937"/>
                  </a:solidFill>
                  <a:latin typeface="+mn-lt"/>
                  <a:ea typeface="+mn-ea"/>
                  <a:cs typeface="+mn-cs"/>
                </a:rPr>
                <a:t>2k。4 × 4 网格：度 2～4，直径 6，对剖宽度</a:t>
              </a:r>
              <a:br/>
              <a:r>
                <a:rPr lang="zh-CN" sz="1280" dirty="0">
                  <a:solidFill>
                    <a:srgbClr val="1F2937"/>
                  </a:solidFill>
                  <a:latin typeface="+mn-lt"/>
                  <a:ea typeface="+mn-ea"/>
                  <a:cs typeface="+mn-cs"/>
                </a:rPr>
                <a:t>4。</a:t>
              </a:r>
            </a:p>
          </p:txBody>
        </p:sp>
      </p:grpSp>
      <p:grpSp>
        <p:nvGrpSpPr>
          <p:cNvPr id="53" name="c2-text-1"/>
          <p:cNvGrpSpPr/>
          <p:nvPr/>
        </p:nvGrpSpPr>
        <p:grpSpPr>
          <a:xfrm>
            <a:off x="4335780" y="1548765"/>
            <a:ext cx="2335164" cy="293370"/>
            <a:chOff x="4335780" y="1548765"/>
            <a:chExt cx="2335164" cy="293370"/>
          </a:xfrm>
        </p:grpSpPr>
        <p:sp>
          <p:nvSpPr>
            <p:cNvPr id="52" name="TextBox 52"/>
            <p:cNvSpPr txBox="1"/>
            <p:nvPr/>
          </p:nvSpPr>
          <p:spPr>
            <a:xfrm>
              <a:off x="4335780" y="1548765"/>
              <a:ext cx="2335164"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Torus 环形网格</a:t>
              </a:r>
              <a:r>
                <a:rPr lang="zh-CN" sz="1500" dirty="0">
                  <a:solidFill>
                    <a:srgbClr val="1F2937"/>
                  </a:solidFill>
                  <a:latin typeface="+mn-lt"/>
                  <a:ea typeface="+mn-ea"/>
                  <a:cs typeface="+mn-cs"/>
                </a:rPr>
                <a:t>（4 × 4）</a:t>
              </a:r>
            </a:p>
          </p:txBody>
        </p:sp>
      </p:grpSp>
      <p:grpSp>
        <p:nvGrpSpPr>
          <p:cNvPr id="110" name="c2-graph-2"/>
          <p:cNvGrpSpPr/>
          <p:nvPr/>
        </p:nvGrpSpPr>
        <p:grpSpPr>
          <a:xfrm>
            <a:off x="4486275" y="2139315"/>
            <a:ext cx="3219451" cy="1881188"/>
            <a:chOff x="4486275" y="2139315"/>
            <a:chExt cx="3219451" cy="1881188"/>
          </a:xfrm>
        </p:grpSpPr>
        <p:sp>
          <p:nvSpPr>
            <p:cNvPr id="54" name="Freeform 54"/>
            <p:cNvSpPr/>
            <p:nvPr/>
          </p:nvSpPr>
          <p:spPr>
            <a:xfrm>
              <a:off x="4938712" y="2258378"/>
              <a:ext cx="631507" cy="9525"/>
            </a:xfrm>
            <a:custGeom>
              <a:avLst/>
              <a:gdLst/>
              <a:ahLst/>
              <a:cxnLst/>
              <a:rect l="l" t="t" r="r" b="b"/>
              <a:pathLst>
                <a:path w="631507" h="9525">
                  <a:moveTo>
                    <a:pt x="0" y="0"/>
                  </a:moveTo>
                  <a:lnTo>
                    <a:pt x="631507" y="0"/>
                  </a:lnTo>
                </a:path>
              </a:pathLst>
            </a:custGeom>
            <a:noFill/>
            <a:ln w="17145">
              <a:solidFill>
                <a:srgbClr val="1F2937"/>
              </a:solidFill>
            </a:ln>
          </p:spPr>
        </p:sp>
        <p:sp>
          <p:nvSpPr>
            <p:cNvPr id="55" name="Freeform 55"/>
            <p:cNvSpPr/>
            <p:nvPr/>
          </p:nvSpPr>
          <p:spPr>
            <a:xfrm>
              <a:off x="4833938" y="2363152"/>
              <a:ext cx="9525" cy="338138"/>
            </a:xfrm>
            <a:custGeom>
              <a:avLst/>
              <a:gdLst/>
              <a:ahLst/>
              <a:cxnLst/>
              <a:rect l="l" t="t" r="r" b="b"/>
              <a:pathLst>
                <a:path w="9525" h="338138">
                  <a:moveTo>
                    <a:pt x="0" y="0"/>
                  </a:moveTo>
                  <a:lnTo>
                    <a:pt x="0" y="338138"/>
                  </a:lnTo>
                </a:path>
              </a:pathLst>
            </a:custGeom>
            <a:noFill/>
            <a:ln w="17145">
              <a:solidFill>
                <a:srgbClr val="1F2937"/>
              </a:solidFill>
            </a:ln>
          </p:spPr>
        </p:sp>
        <p:sp>
          <p:nvSpPr>
            <p:cNvPr id="56" name="Freeform 56"/>
            <p:cNvSpPr/>
            <p:nvPr/>
          </p:nvSpPr>
          <p:spPr>
            <a:xfrm>
              <a:off x="5779770" y="2258378"/>
              <a:ext cx="632460" cy="9525"/>
            </a:xfrm>
            <a:custGeom>
              <a:avLst/>
              <a:gdLst/>
              <a:ahLst/>
              <a:cxnLst/>
              <a:rect l="l" t="t" r="r" b="b"/>
              <a:pathLst>
                <a:path w="632460" h="9525">
                  <a:moveTo>
                    <a:pt x="0" y="0"/>
                  </a:moveTo>
                  <a:lnTo>
                    <a:pt x="632460" y="0"/>
                  </a:lnTo>
                </a:path>
              </a:pathLst>
            </a:custGeom>
            <a:noFill/>
            <a:ln w="17145">
              <a:solidFill>
                <a:srgbClr val="1F2937"/>
              </a:solidFill>
            </a:ln>
          </p:spPr>
        </p:sp>
        <p:sp>
          <p:nvSpPr>
            <p:cNvPr id="57" name="Freeform 57"/>
            <p:cNvSpPr/>
            <p:nvPr/>
          </p:nvSpPr>
          <p:spPr>
            <a:xfrm>
              <a:off x="5674995" y="2363152"/>
              <a:ext cx="9525" cy="338138"/>
            </a:xfrm>
            <a:custGeom>
              <a:avLst/>
              <a:gdLst/>
              <a:ahLst/>
              <a:cxnLst/>
              <a:rect l="l" t="t" r="r" b="b"/>
              <a:pathLst>
                <a:path w="9525" h="338138">
                  <a:moveTo>
                    <a:pt x="0" y="0"/>
                  </a:moveTo>
                  <a:lnTo>
                    <a:pt x="0" y="338138"/>
                  </a:lnTo>
                </a:path>
              </a:pathLst>
            </a:custGeom>
            <a:noFill/>
            <a:ln w="17145">
              <a:solidFill>
                <a:srgbClr val="1F2937"/>
              </a:solidFill>
            </a:ln>
          </p:spPr>
        </p:sp>
        <p:sp>
          <p:nvSpPr>
            <p:cNvPr id="58" name="Freeform 58"/>
            <p:cNvSpPr/>
            <p:nvPr/>
          </p:nvSpPr>
          <p:spPr>
            <a:xfrm>
              <a:off x="6621780" y="2258378"/>
              <a:ext cx="631507" cy="9525"/>
            </a:xfrm>
            <a:custGeom>
              <a:avLst/>
              <a:gdLst/>
              <a:ahLst/>
              <a:cxnLst/>
              <a:rect l="l" t="t" r="r" b="b"/>
              <a:pathLst>
                <a:path w="631507" h="9525">
                  <a:moveTo>
                    <a:pt x="0" y="0"/>
                  </a:moveTo>
                  <a:lnTo>
                    <a:pt x="631507" y="0"/>
                  </a:lnTo>
                </a:path>
              </a:pathLst>
            </a:custGeom>
            <a:noFill/>
            <a:ln w="17145">
              <a:solidFill>
                <a:srgbClr val="1F2937"/>
              </a:solidFill>
            </a:ln>
          </p:spPr>
        </p:sp>
        <p:sp>
          <p:nvSpPr>
            <p:cNvPr id="59" name="Freeform 59"/>
            <p:cNvSpPr/>
            <p:nvPr/>
          </p:nvSpPr>
          <p:spPr>
            <a:xfrm>
              <a:off x="6517005" y="2363152"/>
              <a:ext cx="9525" cy="338138"/>
            </a:xfrm>
            <a:custGeom>
              <a:avLst/>
              <a:gdLst/>
              <a:ahLst/>
              <a:cxnLst/>
              <a:rect l="l" t="t" r="r" b="b"/>
              <a:pathLst>
                <a:path w="9525" h="338138">
                  <a:moveTo>
                    <a:pt x="0" y="0"/>
                  </a:moveTo>
                  <a:lnTo>
                    <a:pt x="0" y="338138"/>
                  </a:lnTo>
                </a:path>
              </a:pathLst>
            </a:custGeom>
            <a:noFill/>
            <a:ln w="17145">
              <a:solidFill>
                <a:srgbClr val="1F2937"/>
              </a:solidFill>
            </a:ln>
          </p:spPr>
        </p:sp>
        <p:sp>
          <p:nvSpPr>
            <p:cNvPr id="60" name="Freeform 60"/>
            <p:cNvSpPr/>
            <p:nvPr/>
          </p:nvSpPr>
          <p:spPr>
            <a:xfrm>
              <a:off x="7358062" y="2363152"/>
              <a:ext cx="9525" cy="338138"/>
            </a:xfrm>
            <a:custGeom>
              <a:avLst/>
              <a:gdLst/>
              <a:ahLst/>
              <a:cxnLst/>
              <a:rect l="l" t="t" r="r" b="b"/>
              <a:pathLst>
                <a:path w="9525" h="338138">
                  <a:moveTo>
                    <a:pt x="0" y="0"/>
                  </a:moveTo>
                  <a:lnTo>
                    <a:pt x="0" y="338138"/>
                  </a:lnTo>
                </a:path>
              </a:pathLst>
            </a:custGeom>
            <a:noFill/>
            <a:ln w="17145">
              <a:solidFill>
                <a:srgbClr val="1F2937"/>
              </a:solidFill>
            </a:ln>
          </p:spPr>
        </p:sp>
        <p:sp>
          <p:nvSpPr>
            <p:cNvPr id="61" name="Freeform 61"/>
            <p:cNvSpPr/>
            <p:nvPr/>
          </p:nvSpPr>
          <p:spPr>
            <a:xfrm>
              <a:off x="4938712" y="2806065"/>
              <a:ext cx="631507" cy="9525"/>
            </a:xfrm>
            <a:custGeom>
              <a:avLst/>
              <a:gdLst/>
              <a:ahLst/>
              <a:cxnLst/>
              <a:rect l="l" t="t" r="r" b="b"/>
              <a:pathLst>
                <a:path w="631507" h="9525">
                  <a:moveTo>
                    <a:pt x="0" y="0"/>
                  </a:moveTo>
                  <a:lnTo>
                    <a:pt x="631507" y="0"/>
                  </a:lnTo>
                </a:path>
              </a:pathLst>
            </a:custGeom>
            <a:noFill/>
            <a:ln w="17145">
              <a:solidFill>
                <a:srgbClr val="1F2937"/>
              </a:solidFill>
            </a:ln>
          </p:spPr>
        </p:sp>
        <p:sp>
          <p:nvSpPr>
            <p:cNvPr id="62" name="Freeform 62"/>
            <p:cNvSpPr/>
            <p:nvPr/>
          </p:nvSpPr>
          <p:spPr>
            <a:xfrm>
              <a:off x="4833938" y="2910840"/>
              <a:ext cx="9525" cy="338138"/>
            </a:xfrm>
            <a:custGeom>
              <a:avLst/>
              <a:gdLst/>
              <a:ahLst/>
              <a:cxnLst/>
              <a:rect l="l" t="t" r="r" b="b"/>
              <a:pathLst>
                <a:path w="9525" h="338138">
                  <a:moveTo>
                    <a:pt x="0" y="0"/>
                  </a:moveTo>
                  <a:lnTo>
                    <a:pt x="0" y="338138"/>
                  </a:lnTo>
                </a:path>
              </a:pathLst>
            </a:custGeom>
            <a:noFill/>
            <a:ln w="17145">
              <a:solidFill>
                <a:srgbClr val="1F2937"/>
              </a:solidFill>
            </a:ln>
          </p:spPr>
        </p:sp>
        <p:sp>
          <p:nvSpPr>
            <p:cNvPr id="63" name="Freeform 63"/>
            <p:cNvSpPr/>
            <p:nvPr/>
          </p:nvSpPr>
          <p:spPr>
            <a:xfrm>
              <a:off x="5779770" y="2806065"/>
              <a:ext cx="632460" cy="9525"/>
            </a:xfrm>
            <a:custGeom>
              <a:avLst/>
              <a:gdLst/>
              <a:ahLst/>
              <a:cxnLst/>
              <a:rect l="l" t="t" r="r" b="b"/>
              <a:pathLst>
                <a:path w="632460" h="9525">
                  <a:moveTo>
                    <a:pt x="0" y="0"/>
                  </a:moveTo>
                  <a:lnTo>
                    <a:pt x="632460" y="0"/>
                  </a:lnTo>
                </a:path>
              </a:pathLst>
            </a:custGeom>
            <a:noFill/>
            <a:ln w="17145">
              <a:solidFill>
                <a:srgbClr val="1F2937"/>
              </a:solidFill>
            </a:ln>
          </p:spPr>
        </p:sp>
        <p:sp>
          <p:nvSpPr>
            <p:cNvPr id="64" name="Freeform 64"/>
            <p:cNvSpPr/>
            <p:nvPr/>
          </p:nvSpPr>
          <p:spPr>
            <a:xfrm>
              <a:off x="5674995" y="2910840"/>
              <a:ext cx="9525" cy="338138"/>
            </a:xfrm>
            <a:custGeom>
              <a:avLst/>
              <a:gdLst/>
              <a:ahLst/>
              <a:cxnLst/>
              <a:rect l="l" t="t" r="r" b="b"/>
              <a:pathLst>
                <a:path w="9525" h="338138">
                  <a:moveTo>
                    <a:pt x="0" y="0"/>
                  </a:moveTo>
                  <a:lnTo>
                    <a:pt x="0" y="338138"/>
                  </a:lnTo>
                </a:path>
              </a:pathLst>
            </a:custGeom>
            <a:noFill/>
            <a:ln w="17145">
              <a:solidFill>
                <a:srgbClr val="1F2937"/>
              </a:solidFill>
            </a:ln>
          </p:spPr>
        </p:sp>
        <p:sp>
          <p:nvSpPr>
            <p:cNvPr id="65" name="Freeform 65"/>
            <p:cNvSpPr/>
            <p:nvPr/>
          </p:nvSpPr>
          <p:spPr>
            <a:xfrm>
              <a:off x="6621780" y="2806065"/>
              <a:ext cx="631507" cy="9525"/>
            </a:xfrm>
            <a:custGeom>
              <a:avLst/>
              <a:gdLst/>
              <a:ahLst/>
              <a:cxnLst/>
              <a:rect l="l" t="t" r="r" b="b"/>
              <a:pathLst>
                <a:path w="631507" h="9525">
                  <a:moveTo>
                    <a:pt x="0" y="0"/>
                  </a:moveTo>
                  <a:lnTo>
                    <a:pt x="631507" y="0"/>
                  </a:lnTo>
                </a:path>
              </a:pathLst>
            </a:custGeom>
            <a:noFill/>
            <a:ln w="17145">
              <a:solidFill>
                <a:srgbClr val="1F2937"/>
              </a:solidFill>
            </a:ln>
          </p:spPr>
        </p:sp>
        <p:sp>
          <p:nvSpPr>
            <p:cNvPr id="66" name="Freeform 66"/>
            <p:cNvSpPr/>
            <p:nvPr/>
          </p:nvSpPr>
          <p:spPr>
            <a:xfrm>
              <a:off x="6517005" y="2910840"/>
              <a:ext cx="9525" cy="338138"/>
            </a:xfrm>
            <a:custGeom>
              <a:avLst/>
              <a:gdLst/>
              <a:ahLst/>
              <a:cxnLst/>
              <a:rect l="l" t="t" r="r" b="b"/>
              <a:pathLst>
                <a:path w="9525" h="338138">
                  <a:moveTo>
                    <a:pt x="0" y="0"/>
                  </a:moveTo>
                  <a:lnTo>
                    <a:pt x="0" y="338138"/>
                  </a:lnTo>
                </a:path>
              </a:pathLst>
            </a:custGeom>
            <a:noFill/>
            <a:ln w="17145">
              <a:solidFill>
                <a:srgbClr val="1F2937"/>
              </a:solidFill>
            </a:ln>
          </p:spPr>
        </p:sp>
        <p:sp>
          <p:nvSpPr>
            <p:cNvPr id="67" name="Freeform 67"/>
            <p:cNvSpPr/>
            <p:nvPr/>
          </p:nvSpPr>
          <p:spPr>
            <a:xfrm>
              <a:off x="7358062" y="2910840"/>
              <a:ext cx="9525" cy="338138"/>
            </a:xfrm>
            <a:custGeom>
              <a:avLst/>
              <a:gdLst/>
              <a:ahLst/>
              <a:cxnLst/>
              <a:rect l="l" t="t" r="r" b="b"/>
              <a:pathLst>
                <a:path w="9525" h="338138">
                  <a:moveTo>
                    <a:pt x="0" y="0"/>
                  </a:moveTo>
                  <a:lnTo>
                    <a:pt x="0" y="338138"/>
                  </a:lnTo>
                </a:path>
              </a:pathLst>
            </a:custGeom>
            <a:noFill/>
            <a:ln w="17145">
              <a:solidFill>
                <a:srgbClr val="1F2937"/>
              </a:solidFill>
            </a:ln>
          </p:spPr>
        </p:sp>
        <p:sp>
          <p:nvSpPr>
            <p:cNvPr id="68" name="Freeform 68"/>
            <p:cNvSpPr/>
            <p:nvPr/>
          </p:nvSpPr>
          <p:spPr>
            <a:xfrm>
              <a:off x="4938712" y="3353752"/>
              <a:ext cx="631507" cy="9525"/>
            </a:xfrm>
            <a:custGeom>
              <a:avLst/>
              <a:gdLst/>
              <a:ahLst/>
              <a:cxnLst/>
              <a:rect l="l" t="t" r="r" b="b"/>
              <a:pathLst>
                <a:path w="631507" h="9525">
                  <a:moveTo>
                    <a:pt x="0" y="0"/>
                  </a:moveTo>
                  <a:lnTo>
                    <a:pt x="631507" y="0"/>
                  </a:lnTo>
                </a:path>
              </a:pathLst>
            </a:custGeom>
            <a:noFill/>
            <a:ln w="17145">
              <a:solidFill>
                <a:srgbClr val="1F2937"/>
              </a:solidFill>
            </a:ln>
          </p:spPr>
        </p:sp>
        <p:sp>
          <p:nvSpPr>
            <p:cNvPr id="69" name="Freeform 69"/>
            <p:cNvSpPr/>
            <p:nvPr/>
          </p:nvSpPr>
          <p:spPr>
            <a:xfrm>
              <a:off x="4833938" y="3458528"/>
              <a:ext cx="9525" cy="338138"/>
            </a:xfrm>
            <a:custGeom>
              <a:avLst/>
              <a:gdLst/>
              <a:ahLst/>
              <a:cxnLst/>
              <a:rect l="l" t="t" r="r" b="b"/>
              <a:pathLst>
                <a:path w="9525" h="338138">
                  <a:moveTo>
                    <a:pt x="0" y="0"/>
                  </a:moveTo>
                  <a:lnTo>
                    <a:pt x="0" y="338138"/>
                  </a:lnTo>
                </a:path>
              </a:pathLst>
            </a:custGeom>
            <a:noFill/>
            <a:ln w="17145">
              <a:solidFill>
                <a:srgbClr val="1F2937"/>
              </a:solidFill>
            </a:ln>
          </p:spPr>
        </p:sp>
        <p:sp>
          <p:nvSpPr>
            <p:cNvPr id="70" name="Freeform 70"/>
            <p:cNvSpPr/>
            <p:nvPr/>
          </p:nvSpPr>
          <p:spPr>
            <a:xfrm>
              <a:off x="5779770" y="3353752"/>
              <a:ext cx="632460" cy="9525"/>
            </a:xfrm>
            <a:custGeom>
              <a:avLst/>
              <a:gdLst/>
              <a:ahLst/>
              <a:cxnLst/>
              <a:rect l="l" t="t" r="r" b="b"/>
              <a:pathLst>
                <a:path w="632460" h="9525">
                  <a:moveTo>
                    <a:pt x="0" y="0"/>
                  </a:moveTo>
                  <a:lnTo>
                    <a:pt x="632460" y="0"/>
                  </a:lnTo>
                </a:path>
              </a:pathLst>
            </a:custGeom>
            <a:noFill/>
            <a:ln w="17145">
              <a:solidFill>
                <a:srgbClr val="1F2937"/>
              </a:solidFill>
            </a:ln>
          </p:spPr>
        </p:sp>
        <p:sp>
          <p:nvSpPr>
            <p:cNvPr id="71" name="Freeform 71"/>
            <p:cNvSpPr/>
            <p:nvPr/>
          </p:nvSpPr>
          <p:spPr>
            <a:xfrm>
              <a:off x="5674995" y="3458528"/>
              <a:ext cx="9525" cy="338138"/>
            </a:xfrm>
            <a:custGeom>
              <a:avLst/>
              <a:gdLst/>
              <a:ahLst/>
              <a:cxnLst/>
              <a:rect l="l" t="t" r="r" b="b"/>
              <a:pathLst>
                <a:path w="9525" h="338138">
                  <a:moveTo>
                    <a:pt x="0" y="0"/>
                  </a:moveTo>
                  <a:lnTo>
                    <a:pt x="0" y="338138"/>
                  </a:lnTo>
                </a:path>
              </a:pathLst>
            </a:custGeom>
            <a:noFill/>
            <a:ln w="17145">
              <a:solidFill>
                <a:srgbClr val="1F2937"/>
              </a:solidFill>
            </a:ln>
          </p:spPr>
        </p:sp>
        <p:sp>
          <p:nvSpPr>
            <p:cNvPr id="72" name="Freeform 72"/>
            <p:cNvSpPr/>
            <p:nvPr/>
          </p:nvSpPr>
          <p:spPr>
            <a:xfrm>
              <a:off x="6621780" y="3353752"/>
              <a:ext cx="631507" cy="9525"/>
            </a:xfrm>
            <a:custGeom>
              <a:avLst/>
              <a:gdLst/>
              <a:ahLst/>
              <a:cxnLst/>
              <a:rect l="l" t="t" r="r" b="b"/>
              <a:pathLst>
                <a:path w="631507" h="9525">
                  <a:moveTo>
                    <a:pt x="0" y="0"/>
                  </a:moveTo>
                  <a:lnTo>
                    <a:pt x="631507" y="0"/>
                  </a:lnTo>
                </a:path>
              </a:pathLst>
            </a:custGeom>
            <a:noFill/>
            <a:ln w="17145">
              <a:solidFill>
                <a:srgbClr val="1F2937"/>
              </a:solidFill>
            </a:ln>
          </p:spPr>
        </p:sp>
        <p:sp>
          <p:nvSpPr>
            <p:cNvPr id="73" name="Freeform 73"/>
            <p:cNvSpPr/>
            <p:nvPr/>
          </p:nvSpPr>
          <p:spPr>
            <a:xfrm>
              <a:off x="6517005" y="3458528"/>
              <a:ext cx="9525" cy="338138"/>
            </a:xfrm>
            <a:custGeom>
              <a:avLst/>
              <a:gdLst/>
              <a:ahLst/>
              <a:cxnLst/>
              <a:rect l="l" t="t" r="r" b="b"/>
              <a:pathLst>
                <a:path w="9525" h="338138">
                  <a:moveTo>
                    <a:pt x="0" y="0"/>
                  </a:moveTo>
                  <a:lnTo>
                    <a:pt x="0" y="338138"/>
                  </a:lnTo>
                </a:path>
              </a:pathLst>
            </a:custGeom>
            <a:noFill/>
            <a:ln w="17145">
              <a:solidFill>
                <a:srgbClr val="1F2937"/>
              </a:solidFill>
            </a:ln>
          </p:spPr>
        </p:sp>
        <p:sp>
          <p:nvSpPr>
            <p:cNvPr id="74" name="Freeform 74"/>
            <p:cNvSpPr/>
            <p:nvPr/>
          </p:nvSpPr>
          <p:spPr>
            <a:xfrm>
              <a:off x="7358062" y="3458528"/>
              <a:ext cx="9525" cy="338138"/>
            </a:xfrm>
            <a:custGeom>
              <a:avLst/>
              <a:gdLst/>
              <a:ahLst/>
              <a:cxnLst/>
              <a:rect l="l" t="t" r="r" b="b"/>
              <a:pathLst>
                <a:path w="9525" h="338138">
                  <a:moveTo>
                    <a:pt x="0" y="0"/>
                  </a:moveTo>
                  <a:lnTo>
                    <a:pt x="0" y="338138"/>
                  </a:lnTo>
                </a:path>
              </a:pathLst>
            </a:custGeom>
            <a:noFill/>
            <a:ln w="17145">
              <a:solidFill>
                <a:srgbClr val="1F2937"/>
              </a:solidFill>
            </a:ln>
          </p:spPr>
        </p:sp>
        <p:sp>
          <p:nvSpPr>
            <p:cNvPr id="75" name="Freeform 75"/>
            <p:cNvSpPr/>
            <p:nvPr/>
          </p:nvSpPr>
          <p:spPr>
            <a:xfrm>
              <a:off x="4938712" y="3901440"/>
              <a:ext cx="631507" cy="9525"/>
            </a:xfrm>
            <a:custGeom>
              <a:avLst/>
              <a:gdLst/>
              <a:ahLst/>
              <a:cxnLst/>
              <a:rect l="l" t="t" r="r" b="b"/>
              <a:pathLst>
                <a:path w="631507" h="9525">
                  <a:moveTo>
                    <a:pt x="0" y="0"/>
                  </a:moveTo>
                  <a:lnTo>
                    <a:pt x="631507" y="0"/>
                  </a:lnTo>
                </a:path>
              </a:pathLst>
            </a:custGeom>
            <a:noFill/>
            <a:ln w="17145">
              <a:solidFill>
                <a:srgbClr val="1F2937"/>
              </a:solidFill>
            </a:ln>
          </p:spPr>
        </p:sp>
        <p:sp>
          <p:nvSpPr>
            <p:cNvPr id="76" name="Freeform 76"/>
            <p:cNvSpPr/>
            <p:nvPr/>
          </p:nvSpPr>
          <p:spPr>
            <a:xfrm>
              <a:off x="5779770" y="3901440"/>
              <a:ext cx="632460" cy="9525"/>
            </a:xfrm>
            <a:custGeom>
              <a:avLst/>
              <a:gdLst/>
              <a:ahLst/>
              <a:cxnLst/>
              <a:rect l="l" t="t" r="r" b="b"/>
              <a:pathLst>
                <a:path w="632460" h="9525">
                  <a:moveTo>
                    <a:pt x="0" y="0"/>
                  </a:moveTo>
                  <a:lnTo>
                    <a:pt x="632460" y="0"/>
                  </a:lnTo>
                </a:path>
              </a:pathLst>
            </a:custGeom>
            <a:noFill/>
            <a:ln w="17145">
              <a:solidFill>
                <a:srgbClr val="1F2937"/>
              </a:solidFill>
            </a:ln>
          </p:spPr>
        </p:sp>
        <p:sp>
          <p:nvSpPr>
            <p:cNvPr id="77" name="Freeform 77"/>
            <p:cNvSpPr/>
            <p:nvPr/>
          </p:nvSpPr>
          <p:spPr>
            <a:xfrm>
              <a:off x="6621780" y="3901440"/>
              <a:ext cx="631507" cy="9525"/>
            </a:xfrm>
            <a:custGeom>
              <a:avLst/>
              <a:gdLst/>
              <a:ahLst/>
              <a:cxnLst/>
              <a:rect l="l" t="t" r="r" b="b"/>
              <a:pathLst>
                <a:path w="631507" h="9525">
                  <a:moveTo>
                    <a:pt x="0" y="0"/>
                  </a:moveTo>
                  <a:lnTo>
                    <a:pt x="631507" y="0"/>
                  </a:lnTo>
                </a:path>
              </a:pathLst>
            </a:custGeom>
            <a:noFill/>
            <a:ln w="17145">
              <a:solidFill>
                <a:srgbClr val="1F2937"/>
              </a:solidFill>
            </a:ln>
          </p:spPr>
        </p:sp>
        <p:sp>
          <p:nvSpPr>
            <p:cNvPr id="78" name="Freeform 78"/>
            <p:cNvSpPr/>
            <p:nvPr/>
          </p:nvSpPr>
          <p:spPr>
            <a:xfrm>
              <a:off x="4486275" y="2258378"/>
              <a:ext cx="242888" cy="9525"/>
            </a:xfrm>
            <a:custGeom>
              <a:avLst/>
              <a:gdLst/>
              <a:ahLst/>
              <a:cxnLst/>
              <a:rect l="l" t="t" r="r" b="b"/>
              <a:pathLst>
                <a:path w="242888" h="9525">
                  <a:moveTo>
                    <a:pt x="242888" y="0"/>
                  </a:moveTo>
                  <a:lnTo>
                    <a:pt x="0" y="0"/>
                  </a:lnTo>
                </a:path>
              </a:pathLst>
            </a:custGeom>
            <a:noFill/>
            <a:ln w="17145">
              <a:solidFill>
                <a:srgbClr val="F26B3A"/>
              </a:solidFill>
              <a:custDash>
                <a:ds d="333333" sp="222222"/>
              </a:custDash>
            </a:ln>
          </p:spPr>
        </p:sp>
        <p:sp>
          <p:nvSpPr>
            <p:cNvPr id="79" name="Freeform 79"/>
            <p:cNvSpPr/>
            <p:nvPr/>
          </p:nvSpPr>
          <p:spPr>
            <a:xfrm>
              <a:off x="7462838" y="2258378"/>
              <a:ext cx="242888" cy="9525"/>
            </a:xfrm>
            <a:custGeom>
              <a:avLst/>
              <a:gdLst/>
              <a:ahLst/>
              <a:cxnLst/>
              <a:rect l="l" t="t" r="r" b="b"/>
              <a:pathLst>
                <a:path w="242888" h="9525">
                  <a:moveTo>
                    <a:pt x="0" y="0"/>
                  </a:moveTo>
                  <a:lnTo>
                    <a:pt x="242888" y="0"/>
                  </a:lnTo>
                </a:path>
              </a:pathLst>
            </a:custGeom>
            <a:noFill/>
            <a:ln w="17145">
              <a:solidFill>
                <a:srgbClr val="F26B3A"/>
              </a:solidFill>
              <a:custDash>
                <a:ds d="333333" sp="222222"/>
              </a:custDash>
            </a:ln>
          </p:spPr>
        </p:sp>
        <p:sp>
          <p:nvSpPr>
            <p:cNvPr id="80" name="Freeform 80"/>
            <p:cNvSpPr/>
            <p:nvPr/>
          </p:nvSpPr>
          <p:spPr>
            <a:xfrm>
              <a:off x="4486275" y="2806065"/>
              <a:ext cx="242888" cy="9525"/>
            </a:xfrm>
            <a:custGeom>
              <a:avLst/>
              <a:gdLst/>
              <a:ahLst/>
              <a:cxnLst/>
              <a:rect l="l" t="t" r="r" b="b"/>
              <a:pathLst>
                <a:path w="242888" h="9525">
                  <a:moveTo>
                    <a:pt x="242888" y="0"/>
                  </a:moveTo>
                  <a:lnTo>
                    <a:pt x="0" y="0"/>
                  </a:lnTo>
                </a:path>
              </a:pathLst>
            </a:custGeom>
            <a:noFill/>
            <a:ln w="17145">
              <a:solidFill>
                <a:srgbClr val="F26B3A"/>
              </a:solidFill>
              <a:custDash>
                <a:ds d="333333" sp="222222"/>
              </a:custDash>
            </a:ln>
          </p:spPr>
        </p:sp>
        <p:sp>
          <p:nvSpPr>
            <p:cNvPr id="81" name="Freeform 81"/>
            <p:cNvSpPr/>
            <p:nvPr/>
          </p:nvSpPr>
          <p:spPr>
            <a:xfrm>
              <a:off x="7462838" y="2806065"/>
              <a:ext cx="242888" cy="9525"/>
            </a:xfrm>
            <a:custGeom>
              <a:avLst/>
              <a:gdLst/>
              <a:ahLst/>
              <a:cxnLst/>
              <a:rect l="l" t="t" r="r" b="b"/>
              <a:pathLst>
                <a:path w="242888" h="9525">
                  <a:moveTo>
                    <a:pt x="0" y="0"/>
                  </a:moveTo>
                  <a:lnTo>
                    <a:pt x="242888" y="0"/>
                  </a:lnTo>
                </a:path>
              </a:pathLst>
            </a:custGeom>
            <a:noFill/>
            <a:ln w="17145">
              <a:solidFill>
                <a:srgbClr val="F26B3A"/>
              </a:solidFill>
              <a:custDash>
                <a:ds d="333333" sp="222222"/>
              </a:custDash>
            </a:ln>
          </p:spPr>
        </p:sp>
        <p:sp>
          <p:nvSpPr>
            <p:cNvPr id="82" name="Freeform 82"/>
            <p:cNvSpPr/>
            <p:nvPr/>
          </p:nvSpPr>
          <p:spPr>
            <a:xfrm>
              <a:off x="4486275" y="3353752"/>
              <a:ext cx="242888" cy="9525"/>
            </a:xfrm>
            <a:custGeom>
              <a:avLst/>
              <a:gdLst/>
              <a:ahLst/>
              <a:cxnLst/>
              <a:rect l="l" t="t" r="r" b="b"/>
              <a:pathLst>
                <a:path w="242888" h="9525">
                  <a:moveTo>
                    <a:pt x="242888" y="0"/>
                  </a:moveTo>
                  <a:lnTo>
                    <a:pt x="0" y="0"/>
                  </a:lnTo>
                </a:path>
              </a:pathLst>
            </a:custGeom>
            <a:noFill/>
            <a:ln w="17145">
              <a:solidFill>
                <a:srgbClr val="F26B3A"/>
              </a:solidFill>
              <a:custDash>
                <a:ds d="333333" sp="222222"/>
              </a:custDash>
            </a:ln>
          </p:spPr>
        </p:sp>
        <p:sp>
          <p:nvSpPr>
            <p:cNvPr id="83" name="Freeform 83"/>
            <p:cNvSpPr/>
            <p:nvPr/>
          </p:nvSpPr>
          <p:spPr>
            <a:xfrm>
              <a:off x="7462838" y="3353752"/>
              <a:ext cx="242888" cy="9525"/>
            </a:xfrm>
            <a:custGeom>
              <a:avLst/>
              <a:gdLst/>
              <a:ahLst/>
              <a:cxnLst/>
              <a:rect l="l" t="t" r="r" b="b"/>
              <a:pathLst>
                <a:path w="242888" h="9525">
                  <a:moveTo>
                    <a:pt x="0" y="0"/>
                  </a:moveTo>
                  <a:lnTo>
                    <a:pt x="242888" y="0"/>
                  </a:lnTo>
                </a:path>
              </a:pathLst>
            </a:custGeom>
            <a:noFill/>
            <a:ln w="17145">
              <a:solidFill>
                <a:srgbClr val="F26B3A"/>
              </a:solidFill>
              <a:custDash>
                <a:ds d="333333" sp="222222"/>
              </a:custDash>
            </a:ln>
          </p:spPr>
        </p:sp>
        <p:sp>
          <p:nvSpPr>
            <p:cNvPr id="84" name="Freeform 84"/>
            <p:cNvSpPr/>
            <p:nvPr/>
          </p:nvSpPr>
          <p:spPr>
            <a:xfrm>
              <a:off x="4486275" y="3901440"/>
              <a:ext cx="242888" cy="9525"/>
            </a:xfrm>
            <a:custGeom>
              <a:avLst/>
              <a:gdLst/>
              <a:ahLst/>
              <a:cxnLst/>
              <a:rect l="l" t="t" r="r" b="b"/>
              <a:pathLst>
                <a:path w="242888" h="9525">
                  <a:moveTo>
                    <a:pt x="242888" y="0"/>
                  </a:moveTo>
                  <a:lnTo>
                    <a:pt x="0" y="0"/>
                  </a:lnTo>
                </a:path>
              </a:pathLst>
            </a:custGeom>
            <a:noFill/>
            <a:ln w="17145">
              <a:solidFill>
                <a:srgbClr val="F26B3A"/>
              </a:solidFill>
              <a:custDash>
                <a:ds d="333333" sp="222222"/>
              </a:custDash>
            </a:ln>
          </p:spPr>
        </p:sp>
        <p:sp>
          <p:nvSpPr>
            <p:cNvPr id="85" name="Freeform 85"/>
            <p:cNvSpPr/>
            <p:nvPr/>
          </p:nvSpPr>
          <p:spPr>
            <a:xfrm>
              <a:off x="7462838" y="3901440"/>
              <a:ext cx="242888" cy="9525"/>
            </a:xfrm>
            <a:custGeom>
              <a:avLst/>
              <a:gdLst/>
              <a:ahLst/>
              <a:cxnLst/>
              <a:rect l="l" t="t" r="r" b="b"/>
              <a:pathLst>
                <a:path w="242888" h="9525">
                  <a:moveTo>
                    <a:pt x="0" y="0"/>
                  </a:moveTo>
                  <a:lnTo>
                    <a:pt x="242888" y="0"/>
                  </a:lnTo>
                </a:path>
              </a:pathLst>
            </a:custGeom>
            <a:noFill/>
            <a:ln w="17145">
              <a:solidFill>
                <a:srgbClr val="F26B3A"/>
              </a:solidFill>
              <a:custDash>
                <a:ds d="333333" sp="222222"/>
              </a:custDash>
            </a:ln>
          </p:spPr>
        </p:sp>
        <p:sp>
          <p:nvSpPr>
            <p:cNvPr id="86" name="Freeform 86"/>
            <p:cNvSpPr/>
            <p:nvPr/>
          </p:nvSpPr>
          <p:spPr>
            <a:xfrm>
              <a:off x="4833938" y="2139315"/>
              <a:ext cx="9525" cy="14288"/>
            </a:xfrm>
            <a:custGeom>
              <a:avLst/>
              <a:gdLst/>
              <a:ahLst/>
              <a:cxnLst/>
              <a:rect l="l" t="t" r="r" b="b"/>
              <a:pathLst>
                <a:path w="9525" h="14288">
                  <a:moveTo>
                    <a:pt x="0" y="14288"/>
                  </a:moveTo>
                  <a:lnTo>
                    <a:pt x="0" y="0"/>
                  </a:lnTo>
                </a:path>
              </a:pathLst>
            </a:custGeom>
            <a:noFill/>
            <a:ln w="17145">
              <a:solidFill>
                <a:srgbClr val="F26B3A"/>
              </a:solidFill>
              <a:custDash>
                <a:ds d="333333" sp="222222"/>
              </a:custDash>
            </a:ln>
          </p:spPr>
        </p:sp>
        <p:sp>
          <p:nvSpPr>
            <p:cNvPr id="87" name="Freeform 87"/>
            <p:cNvSpPr/>
            <p:nvPr/>
          </p:nvSpPr>
          <p:spPr>
            <a:xfrm>
              <a:off x="4833938" y="4006215"/>
              <a:ext cx="9525" cy="14288"/>
            </a:xfrm>
            <a:custGeom>
              <a:avLst/>
              <a:gdLst/>
              <a:ahLst/>
              <a:cxnLst/>
              <a:rect l="l" t="t" r="r" b="b"/>
              <a:pathLst>
                <a:path w="9525" h="14288">
                  <a:moveTo>
                    <a:pt x="0" y="0"/>
                  </a:moveTo>
                  <a:lnTo>
                    <a:pt x="0" y="14288"/>
                  </a:lnTo>
                </a:path>
              </a:pathLst>
            </a:custGeom>
            <a:noFill/>
            <a:ln w="17145">
              <a:solidFill>
                <a:srgbClr val="F26B3A"/>
              </a:solidFill>
              <a:custDash>
                <a:ds d="333333" sp="222222"/>
              </a:custDash>
            </a:ln>
          </p:spPr>
        </p:sp>
        <p:sp>
          <p:nvSpPr>
            <p:cNvPr id="88" name="Freeform 88"/>
            <p:cNvSpPr/>
            <p:nvPr/>
          </p:nvSpPr>
          <p:spPr>
            <a:xfrm>
              <a:off x="5674995" y="2139315"/>
              <a:ext cx="9525" cy="14288"/>
            </a:xfrm>
            <a:custGeom>
              <a:avLst/>
              <a:gdLst/>
              <a:ahLst/>
              <a:cxnLst/>
              <a:rect l="l" t="t" r="r" b="b"/>
              <a:pathLst>
                <a:path w="9525" h="14288">
                  <a:moveTo>
                    <a:pt x="0" y="14288"/>
                  </a:moveTo>
                  <a:lnTo>
                    <a:pt x="0" y="0"/>
                  </a:lnTo>
                </a:path>
              </a:pathLst>
            </a:custGeom>
            <a:noFill/>
            <a:ln w="17145">
              <a:solidFill>
                <a:srgbClr val="F26B3A"/>
              </a:solidFill>
              <a:custDash>
                <a:ds d="333333" sp="222222"/>
              </a:custDash>
            </a:ln>
          </p:spPr>
        </p:sp>
        <p:sp>
          <p:nvSpPr>
            <p:cNvPr id="89" name="Freeform 89"/>
            <p:cNvSpPr/>
            <p:nvPr/>
          </p:nvSpPr>
          <p:spPr>
            <a:xfrm>
              <a:off x="5674995" y="4006215"/>
              <a:ext cx="9525" cy="14288"/>
            </a:xfrm>
            <a:custGeom>
              <a:avLst/>
              <a:gdLst/>
              <a:ahLst/>
              <a:cxnLst/>
              <a:rect l="l" t="t" r="r" b="b"/>
              <a:pathLst>
                <a:path w="9525" h="14288">
                  <a:moveTo>
                    <a:pt x="0" y="0"/>
                  </a:moveTo>
                  <a:lnTo>
                    <a:pt x="0" y="14288"/>
                  </a:lnTo>
                </a:path>
              </a:pathLst>
            </a:custGeom>
            <a:noFill/>
            <a:ln w="17145">
              <a:solidFill>
                <a:srgbClr val="F26B3A"/>
              </a:solidFill>
              <a:custDash>
                <a:ds d="333333" sp="222222"/>
              </a:custDash>
            </a:ln>
          </p:spPr>
        </p:sp>
        <p:sp>
          <p:nvSpPr>
            <p:cNvPr id="90" name="Freeform 90"/>
            <p:cNvSpPr/>
            <p:nvPr/>
          </p:nvSpPr>
          <p:spPr>
            <a:xfrm>
              <a:off x="6517005" y="2139315"/>
              <a:ext cx="9525" cy="14288"/>
            </a:xfrm>
            <a:custGeom>
              <a:avLst/>
              <a:gdLst/>
              <a:ahLst/>
              <a:cxnLst/>
              <a:rect l="l" t="t" r="r" b="b"/>
              <a:pathLst>
                <a:path w="9525" h="14288">
                  <a:moveTo>
                    <a:pt x="0" y="14288"/>
                  </a:moveTo>
                  <a:lnTo>
                    <a:pt x="0" y="0"/>
                  </a:lnTo>
                </a:path>
              </a:pathLst>
            </a:custGeom>
            <a:noFill/>
            <a:ln w="17145">
              <a:solidFill>
                <a:srgbClr val="F26B3A"/>
              </a:solidFill>
              <a:custDash>
                <a:ds d="333333" sp="222222"/>
              </a:custDash>
            </a:ln>
          </p:spPr>
        </p:sp>
        <p:sp>
          <p:nvSpPr>
            <p:cNvPr id="91" name="Freeform 91"/>
            <p:cNvSpPr/>
            <p:nvPr/>
          </p:nvSpPr>
          <p:spPr>
            <a:xfrm>
              <a:off x="6517005" y="4006215"/>
              <a:ext cx="9525" cy="14288"/>
            </a:xfrm>
            <a:custGeom>
              <a:avLst/>
              <a:gdLst/>
              <a:ahLst/>
              <a:cxnLst/>
              <a:rect l="l" t="t" r="r" b="b"/>
              <a:pathLst>
                <a:path w="9525" h="14288">
                  <a:moveTo>
                    <a:pt x="0" y="0"/>
                  </a:moveTo>
                  <a:lnTo>
                    <a:pt x="0" y="14288"/>
                  </a:lnTo>
                </a:path>
              </a:pathLst>
            </a:custGeom>
            <a:noFill/>
            <a:ln w="17145">
              <a:solidFill>
                <a:srgbClr val="F26B3A"/>
              </a:solidFill>
              <a:custDash>
                <a:ds d="333333" sp="222222"/>
              </a:custDash>
            </a:ln>
          </p:spPr>
        </p:sp>
        <p:sp>
          <p:nvSpPr>
            <p:cNvPr id="92" name="Freeform 92"/>
            <p:cNvSpPr/>
            <p:nvPr/>
          </p:nvSpPr>
          <p:spPr>
            <a:xfrm>
              <a:off x="7358062" y="2139315"/>
              <a:ext cx="9525" cy="14288"/>
            </a:xfrm>
            <a:custGeom>
              <a:avLst/>
              <a:gdLst/>
              <a:ahLst/>
              <a:cxnLst/>
              <a:rect l="l" t="t" r="r" b="b"/>
              <a:pathLst>
                <a:path w="9525" h="14288">
                  <a:moveTo>
                    <a:pt x="0" y="14288"/>
                  </a:moveTo>
                  <a:lnTo>
                    <a:pt x="0" y="0"/>
                  </a:lnTo>
                </a:path>
              </a:pathLst>
            </a:custGeom>
            <a:noFill/>
            <a:ln w="17145">
              <a:solidFill>
                <a:srgbClr val="F26B3A"/>
              </a:solidFill>
              <a:custDash>
                <a:ds d="333333" sp="222222"/>
              </a:custDash>
            </a:ln>
          </p:spPr>
        </p:sp>
        <p:sp>
          <p:nvSpPr>
            <p:cNvPr id="93" name="Freeform 93"/>
            <p:cNvSpPr/>
            <p:nvPr/>
          </p:nvSpPr>
          <p:spPr>
            <a:xfrm>
              <a:off x="7358062" y="4006215"/>
              <a:ext cx="9525" cy="14288"/>
            </a:xfrm>
            <a:custGeom>
              <a:avLst/>
              <a:gdLst/>
              <a:ahLst/>
              <a:cxnLst/>
              <a:rect l="l" t="t" r="r" b="b"/>
              <a:pathLst>
                <a:path w="9525" h="14288">
                  <a:moveTo>
                    <a:pt x="0" y="0"/>
                  </a:moveTo>
                  <a:lnTo>
                    <a:pt x="0" y="14288"/>
                  </a:lnTo>
                </a:path>
              </a:pathLst>
            </a:custGeom>
            <a:noFill/>
            <a:ln w="17145">
              <a:solidFill>
                <a:srgbClr val="F26B3A"/>
              </a:solidFill>
              <a:custDash>
                <a:ds d="333333" sp="222222"/>
              </a:custDash>
            </a:ln>
          </p:spPr>
        </p:sp>
        <p:sp>
          <p:nvSpPr>
            <p:cNvPr id="94" name="Ellipse 94"/>
            <p:cNvSpPr/>
            <p:nvPr/>
          </p:nvSpPr>
          <p:spPr>
            <a:xfrm>
              <a:off x="4738688" y="2163128"/>
              <a:ext cx="190500" cy="190500"/>
            </a:xfrm>
            <a:prstGeom prst="ellipse">
              <a:avLst/>
            </a:prstGeom>
            <a:solidFill>
              <a:srgbClr val="FFFFFF"/>
            </a:solidFill>
            <a:ln w="17145">
              <a:solidFill>
                <a:srgbClr val="334E68"/>
              </a:solidFill>
            </a:ln>
          </p:spPr>
        </p:sp>
        <p:sp>
          <p:nvSpPr>
            <p:cNvPr id="95" name="Ellipse 95"/>
            <p:cNvSpPr/>
            <p:nvPr/>
          </p:nvSpPr>
          <p:spPr>
            <a:xfrm>
              <a:off x="5579745" y="2163128"/>
              <a:ext cx="190500" cy="190500"/>
            </a:xfrm>
            <a:prstGeom prst="ellipse">
              <a:avLst/>
            </a:prstGeom>
            <a:solidFill>
              <a:srgbClr val="FFFFFF"/>
            </a:solidFill>
            <a:ln w="17145">
              <a:solidFill>
                <a:srgbClr val="334E68"/>
              </a:solidFill>
            </a:ln>
          </p:spPr>
        </p:sp>
        <p:sp>
          <p:nvSpPr>
            <p:cNvPr id="96" name="Ellipse 96"/>
            <p:cNvSpPr/>
            <p:nvPr/>
          </p:nvSpPr>
          <p:spPr>
            <a:xfrm>
              <a:off x="6421755" y="2163128"/>
              <a:ext cx="190500" cy="190500"/>
            </a:xfrm>
            <a:prstGeom prst="ellipse">
              <a:avLst/>
            </a:prstGeom>
            <a:solidFill>
              <a:srgbClr val="FFFFFF"/>
            </a:solidFill>
            <a:ln w="17145">
              <a:solidFill>
                <a:srgbClr val="334E68"/>
              </a:solidFill>
            </a:ln>
          </p:spPr>
        </p:sp>
        <p:sp>
          <p:nvSpPr>
            <p:cNvPr id="97" name="Ellipse 97"/>
            <p:cNvSpPr/>
            <p:nvPr/>
          </p:nvSpPr>
          <p:spPr>
            <a:xfrm>
              <a:off x="7262812" y="2163128"/>
              <a:ext cx="190500" cy="190500"/>
            </a:xfrm>
            <a:prstGeom prst="ellipse">
              <a:avLst/>
            </a:prstGeom>
            <a:solidFill>
              <a:srgbClr val="FFFFFF"/>
            </a:solidFill>
            <a:ln w="17145">
              <a:solidFill>
                <a:srgbClr val="334E68"/>
              </a:solidFill>
            </a:ln>
          </p:spPr>
        </p:sp>
        <p:sp>
          <p:nvSpPr>
            <p:cNvPr id="98" name="Ellipse 98"/>
            <p:cNvSpPr/>
            <p:nvPr/>
          </p:nvSpPr>
          <p:spPr>
            <a:xfrm>
              <a:off x="4738688" y="2710815"/>
              <a:ext cx="190500" cy="190500"/>
            </a:xfrm>
            <a:prstGeom prst="ellipse">
              <a:avLst/>
            </a:prstGeom>
            <a:solidFill>
              <a:srgbClr val="FFFFFF"/>
            </a:solidFill>
            <a:ln w="17145">
              <a:solidFill>
                <a:srgbClr val="334E68"/>
              </a:solidFill>
            </a:ln>
          </p:spPr>
        </p:sp>
        <p:sp>
          <p:nvSpPr>
            <p:cNvPr id="99" name="Ellipse 99"/>
            <p:cNvSpPr/>
            <p:nvPr/>
          </p:nvSpPr>
          <p:spPr>
            <a:xfrm>
              <a:off x="5579745" y="2710815"/>
              <a:ext cx="190500" cy="190500"/>
            </a:xfrm>
            <a:prstGeom prst="ellipse">
              <a:avLst/>
            </a:prstGeom>
            <a:solidFill>
              <a:srgbClr val="FFFFFF"/>
            </a:solidFill>
            <a:ln w="17145">
              <a:solidFill>
                <a:srgbClr val="334E68"/>
              </a:solidFill>
            </a:ln>
          </p:spPr>
        </p:sp>
        <p:sp>
          <p:nvSpPr>
            <p:cNvPr id="100" name="Ellipse 100"/>
            <p:cNvSpPr/>
            <p:nvPr/>
          </p:nvSpPr>
          <p:spPr>
            <a:xfrm>
              <a:off x="6421755" y="2710815"/>
              <a:ext cx="190500" cy="190500"/>
            </a:xfrm>
            <a:prstGeom prst="ellipse">
              <a:avLst/>
            </a:prstGeom>
            <a:solidFill>
              <a:srgbClr val="FFFFFF"/>
            </a:solidFill>
            <a:ln w="17145">
              <a:solidFill>
                <a:srgbClr val="334E68"/>
              </a:solidFill>
            </a:ln>
          </p:spPr>
        </p:sp>
        <p:sp>
          <p:nvSpPr>
            <p:cNvPr id="101" name="Ellipse 101"/>
            <p:cNvSpPr/>
            <p:nvPr/>
          </p:nvSpPr>
          <p:spPr>
            <a:xfrm>
              <a:off x="7262812" y="2710815"/>
              <a:ext cx="190500" cy="190500"/>
            </a:xfrm>
            <a:prstGeom prst="ellipse">
              <a:avLst/>
            </a:prstGeom>
            <a:solidFill>
              <a:srgbClr val="FFFFFF"/>
            </a:solidFill>
            <a:ln w="17145">
              <a:solidFill>
                <a:srgbClr val="334E68"/>
              </a:solidFill>
            </a:ln>
          </p:spPr>
        </p:sp>
        <p:sp>
          <p:nvSpPr>
            <p:cNvPr id="102" name="Ellipse 102"/>
            <p:cNvSpPr/>
            <p:nvPr/>
          </p:nvSpPr>
          <p:spPr>
            <a:xfrm>
              <a:off x="4738688" y="3258502"/>
              <a:ext cx="190500" cy="190500"/>
            </a:xfrm>
            <a:prstGeom prst="ellipse">
              <a:avLst/>
            </a:prstGeom>
            <a:solidFill>
              <a:srgbClr val="FFFFFF"/>
            </a:solidFill>
            <a:ln w="17145">
              <a:solidFill>
                <a:srgbClr val="334E68"/>
              </a:solidFill>
            </a:ln>
          </p:spPr>
        </p:sp>
        <p:sp>
          <p:nvSpPr>
            <p:cNvPr id="103" name="Ellipse 103"/>
            <p:cNvSpPr/>
            <p:nvPr/>
          </p:nvSpPr>
          <p:spPr>
            <a:xfrm>
              <a:off x="5579745" y="3258502"/>
              <a:ext cx="190500" cy="190500"/>
            </a:xfrm>
            <a:prstGeom prst="ellipse">
              <a:avLst/>
            </a:prstGeom>
            <a:solidFill>
              <a:srgbClr val="FFFFFF"/>
            </a:solidFill>
            <a:ln w="17145">
              <a:solidFill>
                <a:srgbClr val="334E68"/>
              </a:solidFill>
            </a:ln>
          </p:spPr>
        </p:sp>
        <p:sp>
          <p:nvSpPr>
            <p:cNvPr id="104" name="Ellipse 104"/>
            <p:cNvSpPr/>
            <p:nvPr/>
          </p:nvSpPr>
          <p:spPr>
            <a:xfrm>
              <a:off x="6421755" y="3258502"/>
              <a:ext cx="190500" cy="190500"/>
            </a:xfrm>
            <a:prstGeom prst="ellipse">
              <a:avLst/>
            </a:prstGeom>
            <a:solidFill>
              <a:srgbClr val="FFFFFF"/>
            </a:solidFill>
            <a:ln w="17145">
              <a:solidFill>
                <a:srgbClr val="334E68"/>
              </a:solidFill>
            </a:ln>
          </p:spPr>
        </p:sp>
        <p:sp>
          <p:nvSpPr>
            <p:cNvPr id="105" name="Ellipse 105"/>
            <p:cNvSpPr/>
            <p:nvPr/>
          </p:nvSpPr>
          <p:spPr>
            <a:xfrm>
              <a:off x="7262812" y="3258502"/>
              <a:ext cx="190500" cy="190500"/>
            </a:xfrm>
            <a:prstGeom prst="ellipse">
              <a:avLst/>
            </a:prstGeom>
            <a:solidFill>
              <a:srgbClr val="FFFFFF"/>
            </a:solidFill>
            <a:ln w="17145">
              <a:solidFill>
                <a:srgbClr val="334E68"/>
              </a:solidFill>
            </a:ln>
          </p:spPr>
        </p:sp>
        <p:sp>
          <p:nvSpPr>
            <p:cNvPr id="106" name="Ellipse 106"/>
            <p:cNvSpPr/>
            <p:nvPr/>
          </p:nvSpPr>
          <p:spPr>
            <a:xfrm>
              <a:off x="4738688" y="3806190"/>
              <a:ext cx="190500" cy="190500"/>
            </a:xfrm>
            <a:prstGeom prst="ellipse">
              <a:avLst/>
            </a:prstGeom>
            <a:solidFill>
              <a:srgbClr val="FFFFFF"/>
            </a:solidFill>
            <a:ln w="17145">
              <a:solidFill>
                <a:srgbClr val="334E68"/>
              </a:solidFill>
            </a:ln>
          </p:spPr>
        </p:sp>
        <p:sp>
          <p:nvSpPr>
            <p:cNvPr id="107" name="Ellipse 107"/>
            <p:cNvSpPr/>
            <p:nvPr/>
          </p:nvSpPr>
          <p:spPr>
            <a:xfrm>
              <a:off x="5579745" y="3806190"/>
              <a:ext cx="190500" cy="190500"/>
            </a:xfrm>
            <a:prstGeom prst="ellipse">
              <a:avLst/>
            </a:prstGeom>
            <a:solidFill>
              <a:srgbClr val="FFFFFF"/>
            </a:solidFill>
            <a:ln w="17145">
              <a:solidFill>
                <a:srgbClr val="334E68"/>
              </a:solidFill>
            </a:ln>
          </p:spPr>
        </p:sp>
        <p:sp>
          <p:nvSpPr>
            <p:cNvPr id="108" name="Ellipse 108"/>
            <p:cNvSpPr/>
            <p:nvPr/>
          </p:nvSpPr>
          <p:spPr>
            <a:xfrm>
              <a:off x="6421755" y="3806190"/>
              <a:ext cx="190500" cy="190500"/>
            </a:xfrm>
            <a:prstGeom prst="ellipse">
              <a:avLst/>
            </a:prstGeom>
            <a:solidFill>
              <a:srgbClr val="FFFFFF"/>
            </a:solidFill>
            <a:ln w="17145">
              <a:solidFill>
                <a:srgbClr val="334E68"/>
              </a:solidFill>
            </a:ln>
          </p:spPr>
        </p:sp>
        <p:sp>
          <p:nvSpPr>
            <p:cNvPr id="109" name="Ellipse 109"/>
            <p:cNvSpPr/>
            <p:nvPr/>
          </p:nvSpPr>
          <p:spPr>
            <a:xfrm>
              <a:off x="7262812" y="3806190"/>
              <a:ext cx="190500" cy="190500"/>
            </a:xfrm>
            <a:prstGeom prst="ellipse">
              <a:avLst/>
            </a:prstGeom>
            <a:solidFill>
              <a:srgbClr val="FFFFFF"/>
            </a:solidFill>
            <a:ln w="17145">
              <a:solidFill>
                <a:srgbClr val="334E68"/>
              </a:solidFill>
            </a:ln>
          </p:spPr>
        </p:sp>
      </p:grpSp>
      <p:grpSp>
        <p:nvGrpSpPr>
          <p:cNvPr id="112" name="c2-text-3"/>
          <p:cNvGrpSpPr/>
          <p:nvPr/>
        </p:nvGrpSpPr>
        <p:grpSpPr>
          <a:xfrm>
            <a:off x="4336923" y="4376261"/>
            <a:ext cx="3158490" cy="752284"/>
            <a:chOff x="4336923" y="4376261"/>
            <a:chExt cx="3158490" cy="752284"/>
          </a:xfrm>
        </p:grpSpPr>
        <p:sp>
          <p:nvSpPr>
            <p:cNvPr id="111" name="TextBox 111"/>
            <p:cNvSpPr txBox="1"/>
            <p:nvPr/>
          </p:nvSpPr>
          <p:spPr>
            <a:xfrm>
              <a:off x="4336923" y="4376261"/>
              <a:ext cx="3158490" cy="752284"/>
            </a:xfrm>
            <a:prstGeom prst="rect">
              <a:avLst/>
            </a:prstGeom>
            <a:noFill/>
            <a:ln>
              <a:noFill/>
            </a:ln>
          </p:spPr>
          <p:txBody>
            <a:bodyPr wrap="none" lIns="0" tIns="0" rIns="0" bIns="0" anchor="t" anchorCtr="0">
              <a:spAutoFit/>
            </a:bodyPr>
            <a:lstStyle/>
            <a:p>
              <a:pPr algn="l">
                <a:lnSpc>
                  <a:spcPts val="1980"/>
                </a:lnSpc>
              </a:pPr>
              <a:r>
                <a:rPr lang="zh-CN" sz="1280" dirty="0">
                  <a:solidFill>
                    <a:srgbClr val="1F2937"/>
                  </a:solidFill>
                  <a:latin typeface="+mn-lt"/>
                  <a:ea typeface="+mn-ea"/>
                  <a:cs typeface="+mn-cs"/>
                </a:rPr>
                <a:t>每行、每列首尾相连（虚线短线表示环回链</a:t>
              </a:r>
              <a:br/>
              <a:r>
                <a:rPr lang="zh-CN" sz="1280" dirty="0">
                  <a:solidFill>
                    <a:srgbClr val="1F2937"/>
                  </a:solidFill>
                  <a:latin typeface="+mn-lt"/>
                  <a:ea typeface="+mn-ea"/>
                  <a:cs typeface="+mn-cs"/>
                </a:rPr>
                <a:t>路）。所有节点度都是 2k；k × k 时直径 2⌊</a:t>
              </a:r>
              <a:br/>
              <a:r>
                <a:rPr lang="zh-CN" sz="1280" dirty="0">
                  <a:solidFill>
                    <a:srgbClr val="1F2937"/>
                  </a:solidFill>
                  <a:latin typeface="+mn-lt"/>
                  <a:ea typeface="+mn-ea"/>
                  <a:cs typeface="+mn-cs"/>
                </a:rPr>
                <a:t>k/2⌋，对剖宽度 2k。</a:t>
              </a:r>
            </a:p>
          </p:txBody>
        </p:sp>
      </p:grpSp>
      <p:grpSp>
        <p:nvGrpSpPr>
          <p:cNvPr id="114" name="c3-text-1"/>
          <p:cNvGrpSpPr/>
          <p:nvPr/>
        </p:nvGrpSpPr>
        <p:grpSpPr>
          <a:xfrm>
            <a:off x="8145780" y="1548765"/>
            <a:ext cx="1833772" cy="293370"/>
            <a:chOff x="8145780" y="1548765"/>
            <a:chExt cx="1833772" cy="293370"/>
          </a:xfrm>
        </p:grpSpPr>
        <p:sp>
          <p:nvSpPr>
            <p:cNvPr id="113" name="TextBox 113"/>
            <p:cNvSpPr txBox="1"/>
            <p:nvPr/>
          </p:nvSpPr>
          <p:spPr>
            <a:xfrm>
              <a:off x="8145780" y="1548765"/>
              <a:ext cx="1833772"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Illiac 网孔</a:t>
              </a:r>
              <a:r>
                <a:rPr lang="zh-CN" sz="1500" dirty="0">
                  <a:solidFill>
                    <a:srgbClr val="1F2937"/>
                  </a:solidFill>
                  <a:latin typeface="+mn-lt"/>
                  <a:ea typeface="+mn-ea"/>
                  <a:cs typeface="+mn-cs"/>
                </a:rPr>
                <a:t>（4 × 4）</a:t>
              </a:r>
            </a:p>
          </p:txBody>
        </p:sp>
      </p:grpSp>
      <p:grpSp>
        <p:nvGrpSpPr>
          <p:cNvPr id="179" name="c3-graph-2"/>
          <p:cNvGrpSpPr/>
          <p:nvPr/>
        </p:nvGrpSpPr>
        <p:grpSpPr>
          <a:xfrm>
            <a:off x="8896350" y="2060258"/>
            <a:ext cx="2019300" cy="2042159"/>
            <a:chOff x="8896350" y="2060258"/>
            <a:chExt cx="2019300" cy="2042159"/>
          </a:xfrm>
        </p:grpSpPr>
        <p:sp>
          <p:nvSpPr>
            <p:cNvPr id="115" name="Freeform 115"/>
            <p:cNvSpPr/>
            <p:nvPr/>
          </p:nvSpPr>
          <p:spPr>
            <a:xfrm>
              <a:off x="10008870" y="2175510"/>
              <a:ext cx="144780" cy="27623"/>
            </a:xfrm>
            <a:custGeom>
              <a:avLst/>
              <a:gdLst/>
              <a:ahLst/>
              <a:cxnLst/>
              <a:rect l="l" t="t" r="r" b="b"/>
              <a:pathLst>
                <a:path w="144780" h="27623">
                  <a:moveTo>
                    <a:pt x="0" y="0"/>
                  </a:moveTo>
                  <a:lnTo>
                    <a:pt x="144780" y="27623"/>
                  </a:lnTo>
                </a:path>
              </a:pathLst>
            </a:custGeom>
            <a:noFill/>
            <a:ln w="17145">
              <a:solidFill>
                <a:srgbClr val="1F2937"/>
              </a:solidFill>
            </a:ln>
          </p:spPr>
        </p:sp>
        <p:sp>
          <p:nvSpPr>
            <p:cNvPr id="116" name="Freeform 116"/>
            <p:cNvSpPr/>
            <p:nvPr/>
          </p:nvSpPr>
          <p:spPr>
            <a:xfrm>
              <a:off x="10343198" y="2282190"/>
              <a:ext cx="120967" cy="81915"/>
            </a:xfrm>
            <a:custGeom>
              <a:avLst/>
              <a:gdLst/>
              <a:ahLst/>
              <a:cxnLst/>
              <a:rect l="l" t="t" r="r" b="b"/>
              <a:pathLst>
                <a:path w="120967" h="81915">
                  <a:moveTo>
                    <a:pt x="0" y="0"/>
                  </a:moveTo>
                  <a:lnTo>
                    <a:pt x="120967" y="81915"/>
                  </a:lnTo>
                </a:path>
              </a:pathLst>
            </a:custGeom>
            <a:noFill/>
            <a:ln w="17145">
              <a:solidFill>
                <a:srgbClr val="1F2937"/>
              </a:solidFill>
            </a:ln>
          </p:spPr>
        </p:sp>
        <p:sp>
          <p:nvSpPr>
            <p:cNvPr id="117" name="Freeform 117"/>
            <p:cNvSpPr/>
            <p:nvPr/>
          </p:nvSpPr>
          <p:spPr>
            <a:xfrm>
              <a:off x="10609898" y="2509838"/>
              <a:ext cx="81915" cy="121920"/>
            </a:xfrm>
            <a:custGeom>
              <a:avLst/>
              <a:gdLst/>
              <a:ahLst/>
              <a:cxnLst/>
              <a:rect l="l" t="t" r="r" b="b"/>
              <a:pathLst>
                <a:path w="81915" h="121920">
                  <a:moveTo>
                    <a:pt x="0" y="0"/>
                  </a:moveTo>
                  <a:lnTo>
                    <a:pt x="81915" y="121920"/>
                  </a:lnTo>
                </a:path>
              </a:pathLst>
            </a:custGeom>
            <a:noFill/>
            <a:ln w="17145">
              <a:solidFill>
                <a:srgbClr val="1F2937"/>
              </a:solidFill>
            </a:ln>
          </p:spPr>
        </p:sp>
        <p:sp>
          <p:nvSpPr>
            <p:cNvPr id="118" name="Freeform 118"/>
            <p:cNvSpPr/>
            <p:nvPr/>
          </p:nvSpPr>
          <p:spPr>
            <a:xfrm>
              <a:off x="10770870" y="2821305"/>
              <a:ext cx="29528" cy="144780"/>
            </a:xfrm>
            <a:custGeom>
              <a:avLst/>
              <a:gdLst/>
              <a:ahLst/>
              <a:cxnLst/>
              <a:rect l="l" t="t" r="r" b="b"/>
              <a:pathLst>
                <a:path w="29528" h="144780">
                  <a:moveTo>
                    <a:pt x="0" y="0"/>
                  </a:moveTo>
                  <a:lnTo>
                    <a:pt x="29528" y="144780"/>
                  </a:lnTo>
                </a:path>
              </a:pathLst>
            </a:custGeom>
            <a:noFill/>
            <a:ln w="17145">
              <a:solidFill>
                <a:srgbClr val="1F2937"/>
              </a:solidFill>
            </a:ln>
          </p:spPr>
        </p:sp>
        <p:sp>
          <p:nvSpPr>
            <p:cNvPr id="119" name="Freeform 119"/>
            <p:cNvSpPr/>
            <p:nvPr/>
          </p:nvSpPr>
          <p:spPr>
            <a:xfrm>
              <a:off x="10770870" y="3171825"/>
              <a:ext cx="29528" cy="144780"/>
            </a:xfrm>
            <a:custGeom>
              <a:avLst/>
              <a:gdLst/>
              <a:ahLst/>
              <a:cxnLst/>
              <a:rect l="l" t="t" r="r" b="b"/>
              <a:pathLst>
                <a:path w="29528" h="144780">
                  <a:moveTo>
                    <a:pt x="29528" y="0"/>
                  </a:moveTo>
                  <a:lnTo>
                    <a:pt x="0" y="144780"/>
                  </a:lnTo>
                </a:path>
              </a:pathLst>
            </a:custGeom>
            <a:noFill/>
            <a:ln w="17145">
              <a:solidFill>
                <a:srgbClr val="1F2937"/>
              </a:solidFill>
            </a:ln>
          </p:spPr>
        </p:sp>
        <p:sp>
          <p:nvSpPr>
            <p:cNvPr id="120" name="Freeform 120"/>
            <p:cNvSpPr/>
            <p:nvPr/>
          </p:nvSpPr>
          <p:spPr>
            <a:xfrm>
              <a:off x="10609898" y="3506152"/>
              <a:ext cx="81915" cy="121920"/>
            </a:xfrm>
            <a:custGeom>
              <a:avLst/>
              <a:gdLst/>
              <a:ahLst/>
              <a:cxnLst/>
              <a:rect l="l" t="t" r="r" b="b"/>
              <a:pathLst>
                <a:path w="81915" h="121920">
                  <a:moveTo>
                    <a:pt x="81915" y="0"/>
                  </a:moveTo>
                  <a:lnTo>
                    <a:pt x="0" y="121920"/>
                  </a:lnTo>
                </a:path>
              </a:pathLst>
            </a:custGeom>
            <a:noFill/>
            <a:ln w="17145">
              <a:solidFill>
                <a:srgbClr val="1F2937"/>
              </a:solidFill>
            </a:ln>
          </p:spPr>
        </p:sp>
        <p:sp>
          <p:nvSpPr>
            <p:cNvPr id="121" name="Freeform 121"/>
            <p:cNvSpPr/>
            <p:nvPr/>
          </p:nvSpPr>
          <p:spPr>
            <a:xfrm>
              <a:off x="10343198" y="3773805"/>
              <a:ext cx="120967" cy="81915"/>
            </a:xfrm>
            <a:custGeom>
              <a:avLst/>
              <a:gdLst/>
              <a:ahLst/>
              <a:cxnLst/>
              <a:rect l="l" t="t" r="r" b="b"/>
              <a:pathLst>
                <a:path w="120967" h="81915">
                  <a:moveTo>
                    <a:pt x="120967" y="0"/>
                  </a:moveTo>
                  <a:lnTo>
                    <a:pt x="0" y="81915"/>
                  </a:lnTo>
                </a:path>
              </a:pathLst>
            </a:custGeom>
            <a:noFill/>
            <a:ln w="17145">
              <a:solidFill>
                <a:srgbClr val="1F2937"/>
              </a:solidFill>
            </a:ln>
          </p:spPr>
        </p:sp>
        <p:sp>
          <p:nvSpPr>
            <p:cNvPr id="122" name="Freeform 122"/>
            <p:cNvSpPr/>
            <p:nvPr/>
          </p:nvSpPr>
          <p:spPr>
            <a:xfrm>
              <a:off x="10008870" y="3934778"/>
              <a:ext cx="144780" cy="27622"/>
            </a:xfrm>
            <a:custGeom>
              <a:avLst/>
              <a:gdLst/>
              <a:ahLst/>
              <a:cxnLst/>
              <a:rect l="l" t="t" r="r" b="b"/>
              <a:pathLst>
                <a:path w="144780" h="27622">
                  <a:moveTo>
                    <a:pt x="144780" y="0"/>
                  </a:moveTo>
                  <a:lnTo>
                    <a:pt x="0" y="27622"/>
                  </a:lnTo>
                </a:path>
              </a:pathLst>
            </a:custGeom>
            <a:noFill/>
            <a:ln w="17145">
              <a:solidFill>
                <a:srgbClr val="1F2937"/>
              </a:solidFill>
            </a:ln>
          </p:spPr>
        </p:sp>
        <p:sp>
          <p:nvSpPr>
            <p:cNvPr id="123" name="Freeform 123"/>
            <p:cNvSpPr/>
            <p:nvPr/>
          </p:nvSpPr>
          <p:spPr>
            <a:xfrm>
              <a:off x="9658350" y="3934778"/>
              <a:ext cx="144780" cy="27622"/>
            </a:xfrm>
            <a:custGeom>
              <a:avLst/>
              <a:gdLst/>
              <a:ahLst/>
              <a:cxnLst/>
              <a:rect l="l" t="t" r="r" b="b"/>
              <a:pathLst>
                <a:path w="144780" h="27622">
                  <a:moveTo>
                    <a:pt x="144780" y="27622"/>
                  </a:moveTo>
                  <a:lnTo>
                    <a:pt x="0" y="0"/>
                  </a:lnTo>
                </a:path>
              </a:pathLst>
            </a:custGeom>
            <a:noFill/>
            <a:ln w="17145">
              <a:solidFill>
                <a:srgbClr val="1F2937"/>
              </a:solidFill>
            </a:ln>
          </p:spPr>
        </p:sp>
        <p:sp>
          <p:nvSpPr>
            <p:cNvPr id="124" name="Freeform 124"/>
            <p:cNvSpPr/>
            <p:nvPr/>
          </p:nvSpPr>
          <p:spPr>
            <a:xfrm>
              <a:off x="9347835" y="3773805"/>
              <a:ext cx="120968" cy="81915"/>
            </a:xfrm>
            <a:custGeom>
              <a:avLst/>
              <a:gdLst/>
              <a:ahLst/>
              <a:cxnLst/>
              <a:rect l="l" t="t" r="r" b="b"/>
              <a:pathLst>
                <a:path w="120968" h="81915">
                  <a:moveTo>
                    <a:pt x="120968" y="81915"/>
                  </a:moveTo>
                  <a:lnTo>
                    <a:pt x="0" y="0"/>
                  </a:lnTo>
                </a:path>
              </a:pathLst>
            </a:custGeom>
            <a:noFill/>
            <a:ln w="17145">
              <a:solidFill>
                <a:srgbClr val="1F2937"/>
              </a:solidFill>
            </a:ln>
          </p:spPr>
        </p:sp>
        <p:sp>
          <p:nvSpPr>
            <p:cNvPr id="125" name="Freeform 125"/>
            <p:cNvSpPr/>
            <p:nvPr/>
          </p:nvSpPr>
          <p:spPr>
            <a:xfrm>
              <a:off x="9120188" y="3506152"/>
              <a:ext cx="81915" cy="121920"/>
            </a:xfrm>
            <a:custGeom>
              <a:avLst/>
              <a:gdLst/>
              <a:ahLst/>
              <a:cxnLst/>
              <a:rect l="l" t="t" r="r" b="b"/>
              <a:pathLst>
                <a:path w="81915" h="121920">
                  <a:moveTo>
                    <a:pt x="81915" y="121920"/>
                  </a:moveTo>
                  <a:lnTo>
                    <a:pt x="0" y="0"/>
                  </a:lnTo>
                </a:path>
              </a:pathLst>
            </a:custGeom>
            <a:noFill/>
            <a:ln w="17145">
              <a:solidFill>
                <a:srgbClr val="1F2937"/>
              </a:solidFill>
            </a:ln>
          </p:spPr>
        </p:sp>
        <p:sp>
          <p:nvSpPr>
            <p:cNvPr id="126" name="Freeform 126"/>
            <p:cNvSpPr/>
            <p:nvPr/>
          </p:nvSpPr>
          <p:spPr>
            <a:xfrm>
              <a:off x="9011602" y="3171825"/>
              <a:ext cx="29528" cy="144780"/>
            </a:xfrm>
            <a:custGeom>
              <a:avLst/>
              <a:gdLst/>
              <a:ahLst/>
              <a:cxnLst/>
              <a:rect l="l" t="t" r="r" b="b"/>
              <a:pathLst>
                <a:path w="29528" h="144780">
                  <a:moveTo>
                    <a:pt x="29528" y="144780"/>
                  </a:moveTo>
                  <a:lnTo>
                    <a:pt x="0" y="0"/>
                  </a:lnTo>
                </a:path>
              </a:pathLst>
            </a:custGeom>
            <a:noFill/>
            <a:ln w="17145">
              <a:solidFill>
                <a:srgbClr val="1F2937"/>
              </a:solidFill>
            </a:ln>
          </p:spPr>
        </p:sp>
        <p:sp>
          <p:nvSpPr>
            <p:cNvPr id="127" name="Freeform 127"/>
            <p:cNvSpPr/>
            <p:nvPr/>
          </p:nvSpPr>
          <p:spPr>
            <a:xfrm>
              <a:off x="9011602" y="2821305"/>
              <a:ext cx="29528" cy="144780"/>
            </a:xfrm>
            <a:custGeom>
              <a:avLst/>
              <a:gdLst/>
              <a:ahLst/>
              <a:cxnLst/>
              <a:rect l="l" t="t" r="r" b="b"/>
              <a:pathLst>
                <a:path w="29528" h="144780">
                  <a:moveTo>
                    <a:pt x="0" y="144780"/>
                  </a:moveTo>
                  <a:lnTo>
                    <a:pt x="29528" y="0"/>
                  </a:lnTo>
                </a:path>
              </a:pathLst>
            </a:custGeom>
            <a:noFill/>
            <a:ln w="17145">
              <a:solidFill>
                <a:srgbClr val="1F2937"/>
              </a:solidFill>
            </a:ln>
          </p:spPr>
        </p:sp>
        <p:sp>
          <p:nvSpPr>
            <p:cNvPr id="128" name="Freeform 128"/>
            <p:cNvSpPr/>
            <p:nvPr/>
          </p:nvSpPr>
          <p:spPr>
            <a:xfrm>
              <a:off x="9120188" y="2509838"/>
              <a:ext cx="81915" cy="121920"/>
            </a:xfrm>
            <a:custGeom>
              <a:avLst/>
              <a:gdLst/>
              <a:ahLst/>
              <a:cxnLst/>
              <a:rect l="l" t="t" r="r" b="b"/>
              <a:pathLst>
                <a:path w="81915" h="121920">
                  <a:moveTo>
                    <a:pt x="0" y="121920"/>
                  </a:moveTo>
                  <a:lnTo>
                    <a:pt x="81915" y="0"/>
                  </a:lnTo>
                </a:path>
              </a:pathLst>
            </a:custGeom>
            <a:noFill/>
            <a:ln w="17145">
              <a:solidFill>
                <a:srgbClr val="1F2937"/>
              </a:solidFill>
            </a:ln>
          </p:spPr>
        </p:sp>
        <p:sp>
          <p:nvSpPr>
            <p:cNvPr id="129" name="Freeform 129"/>
            <p:cNvSpPr/>
            <p:nvPr/>
          </p:nvSpPr>
          <p:spPr>
            <a:xfrm>
              <a:off x="9347835" y="2282190"/>
              <a:ext cx="120968" cy="81915"/>
            </a:xfrm>
            <a:custGeom>
              <a:avLst/>
              <a:gdLst/>
              <a:ahLst/>
              <a:cxnLst/>
              <a:rect l="l" t="t" r="r" b="b"/>
              <a:pathLst>
                <a:path w="120968" h="81915">
                  <a:moveTo>
                    <a:pt x="0" y="81915"/>
                  </a:moveTo>
                  <a:lnTo>
                    <a:pt x="120968" y="0"/>
                  </a:lnTo>
                </a:path>
              </a:pathLst>
            </a:custGeom>
            <a:noFill/>
            <a:ln w="17145">
              <a:solidFill>
                <a:srgbClr val="1F2937"/>
              </a:solidFill>
            </a:ln>
          </p:spPr>
        </p:sp>
        <p:sp>
          <p:nvSpPr>
            <p:cNvPr id="130" name="Freeform 130"/>
            <p:cNvSpPr/>
            <p:nvPr/>
          </p:nvSpPr>
          <p:spPr>
            <a:xfrm>
              <a:off x="9658350" y="2175510"/>
              <a:ext cx="144780" cy="27623"/>
            </a:xfrm>
            <a:custGeom>
              <a:avLst/>
              <a:gdLst/>
              <a:ahLst/>
              <a:cxnLst/>
              <a:rect l="l" t="t" r="r" b="b"/>
              <a:pathLst>
                <a:path w="144780" h="27623">
                  <a:moveTo>
                    <a:pt x="0" y="27623"/>
                  </a:moveTo>
                  <a:lnTo>
                    <a:pt x="144780" y="0"/>
                  </a:lnTo>
                </a:path>
              </a:pathLst>
            </a:custGeom>
            <a:noFill/>
            <a:ln w="17145">
              <a:solidFill>
                <a:srgbClr val="1F2937"/>
              </a:solidFill>
            </a:ln>
          </p:spPr>
        </p:sp>
        <p:sp>
          <p:nvSpPr>
            <p:cNvPr id="131" name="Freeform 131"/>
            <p:cNvSpPr/>
            <p:nvPr/>
          </p:nvSpPr>
          <p:spPr>
            <a:xfrm>
              <a:off x="9980295" y="2229802"/>
              <a:ext cx="766762" cy="764857"/>
            </a:xfrm>
            <a:custGeom>
              <a:avLst/>
              <a:gdLst/>
              <a:ahLst/>
              <a:cxnLst/>
              <a:rect l="l" t="t" r="r" b="b"/>
              <a:pathLst>
                <a:path w="766762" h="764857">
                  <a:moveTo>
                    <a:pt x="0" y="0"/>
                  </a:moveTo>
                  <a:lnTo>
                    <a:pt x="766762" y="764857"/>
                  </a:lnTo>
                </a:path>
              </a:pathLst>
            </a:custGeom>
            <a:noFill/>
            <a:ln w="17145">
              <a:solidFill>
                <a:srgbClr val="F26B3A"/>
              </a:solidFill>
            </a:ln>
          </p:spPr>
        </p:sp>
        <p:sp>
          <p:nvSpPr>
            <p:cNvPr id="132" name="Freeform 132"/>
            <p:cNvSpPr/>
            <p:nvPr/>
          </p:nvSpPr>
          <p:spPr>
            <a:xfrm>
              <a:off x="10296525" y="2320290"/>
              <a:ext cx="414338" cy="1002030"/>
            </a:xfrm>
            <a:custGeom>
              <a:avLst/>
              <a:gdLst/>
              <a:ahLst/>
              <a:cxnLst/>
              <a:rect l="l" t="t" r="r" b="b"/>
              <a:pathLst>
                <a:path w="414338" h="1002030">
                  <a:moveTo>
                    <a:pt x="0" y="0"/>
                  </a:moveTo>
                  <a:lnTo>
                    <a:pt x="414338" y="1002030"/>
                  </a:lnTo>
                </a:path>
              </a:pathLst>
            </a:custGeom>
            <a:noFill/>
            <a:ln w="17145">
              <a:solidFill>
                <a:srgbClr val="F26B3A"/>
              </a:solidFill>
            </a:ln>
          </p:spPr>
        </p:sp>
        <p:sp>
          <p:nvSpPr>
            <p:cNvPr id="133" name="Freeform 133"/>
            <p:cNvSpPr/>
            <p:nvPr/>
          </p:nvSpPr>
          <p:spPr>
            <a:xfrm>
              <a:off x="10550842" y="2527935"/>
              <a:ext cx="9525" cy="1082040"/>
            </a:xfrm>
            <a:custGeom>
              <a:avLst/>
              <a:gdLst/>
              <a:ahLst/>
              <a:cxnLst/>
              <a:rect l="l" t="t" r="r" b="b"/>
              <a:pathLst>
                <a:path w="9525" h="1082040">
                  <a:moveTo>
                    <a:pt x="0" y="0"/>
                  </a:moveTo>
                  <a:lnTo>
                    <a:pt x="0" y="1082040"/>
                  </a:lnTo>
                </a:path>
              </a:pathLst>
            </a:custGeom>
            <a:noFill/>
            <a:ln w="17145">
              <a:solidFill>
                <a:srgbClr val="F26B3A"/>
              </a:solidFill>
            </a:ln>
          </p:spPr>
        </p:sp>
        <p:sp>
          <p:nvSpPr>
            <p:cNvPr id="134" name="Freeform 134"/>
            <p:cNvSpPr/>
            <p:nvPr/>
          </p:nvSpPr>
          <p:spPr>
            <a:xfrm>
              <a:off x="10296525" y="2815590"/>
              <a:ext cx="414338" cy="1002030"/>
            </a:xfrm>
            <a:custGeom>
              <a:avLst/>
              <a:gdLst/>
              <a:ahLst/>
              <a:cxnLst/>
              <a:rect l="l" t="t" r="r" b="b"/>
              <a:pathLst>
                <a:path w="414338" h="1002030">
                  <a:moveTo>
                    <a:pt x="414338" y="0"/>
                  </a:moveTo>
                  <a:lnTo>
                    <a:pt x="0" y="1002030"/>
                  </a:lnTo>
                </a:path>
              </a:pathLst>
            </a:custGeom>
            <a:noFill/>
            <a:ln w="17145">
              <a:solidFill>
                <a:srgbClr val="F26B3A"/>
              </a:solidFill>
            </a:ln>
          </p:spPr>
        </p:sp>
        <p:sp>
          <p:nvSpPr>
            <p:cNvPr id="135" name="Freeform 135"/>
            <p:cNvSpPr/>
            <p:nvPr/>
          </p:nvSpPr>
          <p:spPr>
            <a:xfrm>
              <a:off x="9980295" y="3143250"/>
              <a:ext cx="766762" cy="764858"/>
            </a:xfrm>
            <a:custGeom>
              <a:avLst/>
              <a:gdLst/>
              <a:ahLst/>
              <a:cxnLst/>
              <a:rect l="l" t="t" r="r" b="b"/>
              <a:pathLst>
                <a:path w="766762" h="764858">
                  <a:moveTo>
                    <a:pt x="766762" y="0"/>
                  </a:moveTo>
                  <a:lnTo>
                    <a:pt x="0" y="764858"/>
                  </a:lnTo>
                </a:path>
              </a:pathLst>
            </a:custGeom>
            <a:noFill/>
            <a:ln w="17145">
              <a:solidFill>
                <a:srgbClr val="F26B3A"/>
              </a:solidFill>
            </a:ln>
          </p:spPr>
        </p:sp>
        <p:sp>
          <p:nvSpPr>
            <p:cNvPr id="136" name="Freeform 136"/>
            <p:cNvSpPr/>
            <p:nvPr/>
          </p:nvSpPr>
          <p:spPr>
            <a:xfrm>
              <a:off x="9652635" y="3459480"/>
              <a:ext cx="1001078" cy="415290"/>
            </a:xfrm>
            <a:custGeom>
              <a:avLst/>
              <a:gdLst/>
              <a:ahLst/>
              <a:cxnLst/>
              <a:rect l="l" t="t" r="r" b="b"/>
              <a:pathLst>
                <a:path w="1001078" h="415290">
                  <a:moveTo>
                    <a:pt x="1001078" y="0"/>
                  </a:moveTo>
                  <a:lnTo>
                    <a:pt x="0" y="415290"/>
                  </a:lnTo>
                </a:path>
              </a:pathLst>
            </a:custGeom>
            <a:noFill/>
            <a:ln w="17145">
              <a:solidFill>
                <a:srgbClr val="F26B3A"/>
              </a:solidFill>
            </a:ln>
          </p:spPr>
        </p:sp>
        <p:sp>
          <p:nvSpPr>
            <p:cNvPr id="137" name="Freeform 137"/>
            <p:cNvSpPr/>
            <p:nvPr/>
          </p:nvSpPr>
          <p:spPr>
            <a:xfrm>
              <a:off x="9365932" y="3714750"/>
              <a:ext cx="1080135" cy="9525"/>
            </a:xfrm>
            <a:custGeom>
              <a:avLst/>
              <a:gdLst/>
              <a:ahLst/>
              <a:cxnLst/>
              <a:rect l="l" t="t" r="r" b="b"/>
              <a:pathLst>
                <a:path w="1080135" h="9525">
                  <a:moveTo>
                    <a:pt x="1080135" y="0"/>
                  </a:moveTo>
                  <a:lnTo>
                    <a:pt x="0" y="0"/>
                  </a:lnTo>
                </a:path>
              </a:pathLst>
            </a:custGeom>
            <a:noFill/>
            <a:ln w="17145">
              <a:solidFill>
                <a:srgbClr val="F26B3A"/>
              </a:solidFill>
            </a:ln>
          </p:spPr>
        </p:sp>
        <p:sp>
          <p:nvSpPr>
            <p:cNvPr id="138" name="Freeform 138"/>
            <p:cNvSpPr/>
            <p:nvPr/>
          </p:nvSpPr>
          <p:spPr>
            <a:xfrm>
              <a:off x="9158288" y="3459480"/>
              <a:ext cx="1001077" cy="415290"/>
            </a:xfrm>
            <a:custGeom>
              <a:avLst/>
              <a:gdLst/>
              <a:ahLst/>
              <a:cxnLst/>
              <a:rect l="l" t="t" r="r" b="b"/>
              <a:pathLst>
                <a:path w="1001077" h="415290">
                  <a:moveTo>
                    <a:pt x="1001077" y="415290"/>
                  </a:moveTo>
                  <a:lnTo>
                    <a:pt x="0" y="0"/>
                  </a:lnTo>
                </a:path>
              </a:pathLst>
            </a:custGeom>
            <a:noFill/>
            <a:ln w="17145">
              <a:solidFill>
                <a:srgbClr val="F26B3A"/>
              </a:solidFill>
            </a:ln>
          </p:spPr>
        </p:sp>
        <p:sp>
          <p:nvSpPr>
            <p:cNvPr id="139" name="Freeform 139"/>
            <p:cNvSpPr/>
            <p:nvPr/>
          </p:nvSpPr>
          <p:spPr>
            <a:xfrm>
              <a:off x="9064942" y="3143250"/>
              <a:ext cx="766762" cy="764858"/>
            </a:xfrm>
            <a:custGeom>
              <a:avLst/>
              <a:gdLst/>
              <a:ahLst/>
              <a:cxnLst/>
              <a:rect l="l" t="t" r="r" b="b"/>
              <a:pathLst>
                <a:path w="766762" h="764858">
                  <a:moveTo>
                    <a:pt x="766762" y="764858"/>
                  </a:moveTo>
                  <a:lnTo>
                    <a:pt x="0" y="0"/>
                  </a:lnTo>
                </a:path>
              </a:pathLst>
            </a:custGeom>
            <a:noFill/>
            <a:ln w="17145">
              <a:solidFill>
                <a:srgbClr val="F26B3A"/>
              </a:solidFill>
            </a:ln>
          </p:spPr>
        </p:sp>
        <p:sp>
          <p:nvSpPr>
            <p:cNvPr id="140" name="Freeform 140"/>
            <p:cNvSpPr/>
            <p:nvPr/>
          </p:nvSpPr>
          <p:spPr>
            <a:xfrm>
              <a:off x="9101138" y="2815590"/>
              <a:ext cx="414338" cy="1002030"/>
            </a:xfrm>
            <a:custGeom>
              <a:avLst/>
              <a:gdLst/>
              <a:ahLst/>
              <a:cxnLst/>
              <a:rect l="l" t="t" r="r" b="b"/>
              <a:pathLst>
                <a:path w="414338" h="1002030">
                  <a:moveTo>
                    <a:pt x="414338" y="1002030"/>
                  </a:moveTo>
                  <a:lnTo>
                    <a:pt x="0" y="0"/>
                  </a:lnTo>
                </a:path>
              </a:pathLst>
            </a:custGeom>
            <a:noFill/>
            <a:ln w="17145">
              <a:solidFill>
                <a:srgbClr val="F26B3A"/>
              </a:solidFill>
            </a:ln>
          </p:spPr>
        </p:sp>
        <p:sp>
          <p:nvSpPr>
            <p:cNvPr id="141" name="Freeform 141"/>
            <p:cNvSpPr/>
            <p:nvPr/>
          </p:nvSpPr>
          <p:spPr>
            <a:xfrm>
              <a:off x="9261158" y="2527935"/>
              <a:ext cx="9525" cy="1082040"/>
            </a:xfrm>
            <a:custGeom>
              <a:avLst/>
              <a:gdLst/>
              <a:ahLst/>
              <a:cxnLst/>
              <a:rect l="l" t="t" r="r" b="b"/>
              <a:pathLst>
                <a:path w="9525" h="1082040">
                  <a:moveTo>
                    <a:pt x="0" y="1082040"/>
                  </a:moveTo>
                  <a:lnTo>
                    <a:pt x="0" y="0"/>
                  </a:lnTo>
                </a:path>
              </a:pathLst>
            </a:custGeom>
            <a:noFill/>
            <a:ln w="17145">
              <a:solidFill>
                <a:srgbClr val="F26B3A"/>
              </a:solidFill>
            </a:ln>
          </p:spPr>
        </p:sp>
        <p:sp>
          <p:nvSpPr>
            <p:cNvPr id="142" name="Freeform 142"/>
            <p:cNvSpPr/>
            <p:nvPr/>
          </p:nvSpPr>
          <p:spPr>
            <a:xfrm>
              <a:off x="9101138" y="2320290"/>
              <a:ext cx="414338" cy="1002030"/>
            </a:xfrm>
            <a:custGeom>
              <a:avLst/>
              <a:gdLst/>
              <a:ahLst/>
              <a:cxnLst/>
              <a:rect l="l" t="t" r="r" b="b"/>
              <a:pathLst>
                <a:path w="414338" h="1002030">
                  <a:moveTo>
                    <a:pt x="0" y="1002030"/>
                  </a:moveTo>
                  <a:lnTo>
                    <a:pt x="414338" y="0"/>
                  </a:lnTo>
                </a:path>
              </a:pathLst>
            </a:custGeom>
            <a:noFill/>
            <a:ln w="17145">
              <a:solidFill>
                <a:srgbClr val="F26B3A"/>
              </a:solidFill>
            </a:ln>
          </p:spPr>
        </p:sp>
        <p:sp>
          <p:nvSpPr>
            <p:cNvPr id="143" name="Freeform 143"/>
            <p:cNvSpPr/>
            <p:nvPr/>
          </p:nvSpPr>
          <p:spPr>
            <a:xfrm>
              <a:off x="9064942" y="2229802"/>
              <a:ext cx="766762" cy="764857"/>
            </a:xfrm>
            <a:custGeom>
              <a:avLst/>
              <a:gdLst/>
              <a:ahLst/>
              <a:cxnLst/>
              <a:rect l="l" t="t" r="r" b="b"/>
              <a:pathLst>
                <a:path w="766762" h="764857">
                  <a:moveTo>
                    <a:pt x="0" y="764857"/>
                  </a:moveTo>
                  <a:lnTo>
                    <a:pt x="766762" y="0"/>
                  </a:lnTo>
                </a:path>
              </a:pathLst>
            </a:custGeom>
            <a:noFill/>
            <a:ln w="17145">
              <a:solidFill>
                <a:srgbClr val="F26B3A"/>
              </a:solidFill>
            </a:ln>
          </p:spPr>
        </p:sp>
        <p:sp>
          <p:nvSpPr>
            <p:cNvPr id="144" name="Freeform 144"/>
            <p:cNvSpPr/>
            <p:nvPr/>
          </p:nvSpPr>
          <p:spPr>
            <a:xfrm>
              <a:off x="9158288" y="2263140"/>
              <a:ext cx="1001077" cy="415290"/>
            </a:xfrm>
            <a:custGeom>
              <a:avLst/>
              <a:gdLst/>
              <a:ahLst/>
              <a:cxnLst/>
              <a:rect l="l" t="t" r="r" b="b"/>
              <a:pathLst>
                <a:path w="1001077" h="415290">
                  <a:moveTo>
                    <a:pt x="0" y="415290"/>
                  </a:moveTo>
                  <a:lnTo>
                    <a:pt x="1001077" y="0"/>
                  </a:lnTo>
                </a:path>
              </a:pathLst>
            </a:custGeom>
            <a:noFill/>
            <a:ln w="17145">
              <a:solidFill>
                <a:srgbClr val="F26B3A"/>
              </a:solidFill>
            </a:ln>
          </p:spPr>
        </p:sp>
        <p:sp>
          <p:nvSpPr>
            <p:cNvPr id="145" name="Freeform 145"/>
            <p:cNvSpPr/>
            <p:nvPr/>
          </p:nvSpPr>
          <p:spPr>
            <a:xfrm>
              <a:off x="9365932" y="2422208"/>
              <a:ext cx="1080135" cy="9525"/>
            </a:xfrm>
            <a:custGeom>
              <a:avLst/>
              <a:gdLst/>
              <a:ahLst/>
              <a:cxnLst/>
              <a:rect l="l" t="t" r="r" b="b"/>
              <a:pathLst>
                <a:path w="1080135" h="9525">
                  <a:moveTo>
                    <a:pt x="0" y="0"/>
                  </a:moveTo>
                  <a:lnTo>
                    <a:pt x="1080135" y="0"/>
                  </a:lnTo>
                </a:path>
              </a:pathLst>
            </a:custGeom>
            <a:noFill/>
            <a:ln w="17145">
              <a:solidFill>
                <a:srgbClr val="F26B3A"/>
              </a:solidFill>
            </a:ln>
          </p:spPr>
        </p:sp>
        <p:sp>
          <p:nvSpPr>
            <p:cNvPr id="146" name="Freeform 146"/>
            <p:cNvSpPr/>
            <p:nvPr/>
          </p:nvSpPr>
          <p:spPr>
            <a:xfrm>
              <a:off x="9652635" y="2263140"/>
              <a:ext cx="1001078" cy="415290"/>
            </a:xfrm>
            <a:custGeom>
              <a:avLst/>
              <a:gdLst/>
              <a:ahLst/>
              <a:cxnLst/>
              <a:rect l="l" t="t" r="r" b="b"/>
              <a:pathLst>
                <a:path w="1001078" h="415290">
                  <a:moveTo>
                    <a:pt x="0" y="0"/>
                  </a:moveTo>
                  <a:lnTo>
                    <a:pt x="1001078" y="415290"/>
                  </a:lnTo>
                </a:path>
              </a:pathLst>
            </a:custGeom>
            <a:noFill/>
            <a:ln w="17145">
              <a:solidFill>
                <a:srgbClr val="F26B3A"/>
              </a:solidFill>
            </a:ln>
          </p:spPr>
        </p:sp>
        <p:sp>
          <p:nvSpPr>
            <p:cNvPr id="147" name="Ellipse 147"/>
            <p:cNvSpPr/>
            <p:nvPr/>
          </p:nvSpPr>
          <p:spPr>
            <a:xfrm>
              <a:off x="9810750" y="2060258"/>
              <a:ext cx="190500" cy="190500"/>
            </a:xfrm>
            <a:prstGeom prst="ellipse">
              <a:avLst/>
            </a:prstGeom>
            <a:solidFill>
              <a:srgbClr val="FFFFFF"/>
            </a:solidFill>
            <a:ln w="17145">
              <a:solidFill>
                <a:srgbClr val="334E68"/>
              </a:solidFill>
            </a:ln>
          </p:spPr>
        </p:sp>
        <p:sp>
          <p:nvSpPr>
            <p:cNvPr id="148" name="Ellipse 148"/>
            <p:cNvSpPr/>
            <p:nvPr/>
          </p:nvSpPr>
          <p:spPr>
            <a:xfrm>
              <a:off x="10161270" y="2127885"/>
              <a:ext cx="190500" cy="190500"/>
            </a:xfrm>
            <a:prstGeom prst="ellipse">
              <a:avLst/>
            </a:prstGeom>
            <a:solidFill>
              <a:srgbClr val="FFFFFF"/>
            </a:solidFill>
            <a:ln w="17145">
              <a:solidFill>
                <a:srgbClr val="334E68"/>
              </a:solidFill>
            </a:ln>
          </p:spPr>
        </p:sp>
        <p:sp>
          <p:nvSpPr>
            <p:cNvPr id="149" name="Ellipse 149"/>
            <p:cNvSpPr/>
            <p:nvPr/>
          </p:nvSpPr>
          <p:spPr>
            <a:xfrm>
              <a:off x="10455592" y="2326958"/>
              <a:ext cx="190500" cy="190500"/>
            </a:xfrm>
            <a:prstGeom prst="ellipse">
              <a:avLst/>
            </a:prstGeom>
            <a:solidFill>
              <a:srgbClr val="FFFFFF"/>
            </a:solidFill>
            <a:ln w="17145">
              <a:solidFill>
                <a:srgbClr val="334E68"/>
              </a:solidFill>
            </a:ln>
          </p:spPr>
        </p:sp>
        <p:sp>
          <p:nvSpPr>
            <p:cNvPr id="150" name="Ellipse 150"/>
            <p:cNvSpPr/>
            <p:nvPr/>
          </p:nvSpPr>
          <p:spPr>
            <a:xfrm>
              <a:off x="10655618" y="2623185"/>
              <a:ext cx="190500" cy="190500"/>
            </a:xfrm>
            <a:prstGeom prst="ellipse">
              <a:avLst/>
            </a:prstGeom>
            <a:solidFill>
              <a:srgbClr val="FFFFFF"/>
            </a:solidFill>
            <a:ln w="17145">
              <a:solidFill>
                <a:srgbClr val="334E68"/>
              </a:solidFill>
            </a:ln>
          </p:spPr>
        </p:sp>
        <p:sp>
          <p:nvSpPr>
            <p:cNvPr id="151" name="Ellipse 151"/>
            <p:cNvSpPr/>
            <p:nvPr/>
          </p:nvSpPr>
          <p:spPr>
            <a:xfrm>
              <a:off x="10725150" y="2973705"/>
              <a:ext cx="190500" cy="190500"/>
            </a:xfrm>
            <a:prstGeom prst="ellipse">
              <a:avLst/>
            </a:prstGeom>
            <a:solidFill>
              <a:srgbClr val="FFFFFF"/>
            </a:solidFill>
            <a:ln w="17145">
              <a:solidFill>
                <a:srgbClr val="334E68"/>
              </a:solidFill>
            </a:ln>
          </p:spPr>
        </p:sp>
        <p:sp>
          <p:nvSpPr>
            <p:cNvPr id="152" name="Ellipse 152"/>
            <p:cNvSpPr/>
            <p:nvPr/>
          </p:nvSpPr>
          <p:spPr>
            <a:xfrm>
              <a:off x="10655618" y="3324225"/>
              <a:ext cx="190500" cy="190500"/>
            </a:xfrm>
            <a:prstGeom prst="ellipse">
              <a:avLst/>
            </a:prstGeom>
            <a:solidFill>
              <a:srgbClr val="FFFFFF"/>
            </a:solidFill>
            <a:ln w="17145">
              <a:solidFill>
                <a:srgbClr val="334E68"/>
              </a:solidFill>
            </a:ln>
          </p:spPr>
        </p:sp>
        <p:sp>
          <p:nvSpPr>
            <p:cNvPr id="153" name="Ellipse 153"/>
            <p:cNvSpPr/>
            <p:nvPr/>
          </p:nvSpPr>
          <p:spPr>
            <a:xfrm>
              <a:off x="10455592" y="3619500"/>
              <a:ext cx="190500" cy="190500"/>
            </a:xfrm>
            <a:prstGeom prst="ellipse">
              <a:avLst/>
            </a:prstGeom>
            <a:solidFill>
              <a:srgbClr val="FFFFFF"/>
            </a:solidFill>
            <a:ln w="17145">
              <a:solidFill>
                <a:srgbClr val="334E68"/>
              </a:solidFill>
            </a:ln>
          </p:spPr>
        </p:sp>
        <p:sp>
          <p:nvSpPr>
            <p:cNvPr id="154" name="Ellipse 154"/>
            <p:cNvSpPr/>
            <p:nvPr/>
          </p:nvSpPr>
          <p:spPr>
            <a:xfrm>
              <a:off x="10161270" y="3819525"/>
              <a:ext cx="190500" cy="190500"/>
            </a:xfrm>
            <a:prstGeom prst="ellipse">
              <a:avLst/>
            </a:prstGeom>
            <a:solidFill>
              <a:srgbClr val="FFFFFF"/>
            </a:solidFill>
            <a:ln w="17145">
              <a:solidFill>
                <a:srgbClr val="334E68"/>
              </a:solidFill>
            </a:ln>
          </p:spPr>
        </p:sp>
        <p:sp>
          <p:nvSpPr>
            <p:cNvPr id="155" name="Ellipse 155"/>
            <p:cNvSpPr/>
            <p:nvPr/>
          </p:nvSpPr>
          <p:spPr>
            <a:xfrm>
              <a:off x="9810750" y="3887152"/>
              <a:ext cx="190500" cy="190500"/>
            </a:xfrm>
            <a:prstGeom prst="ellipse">
              <a:avLst/>
            </a:prstGeom>
            <a:solidFill>
              <a:srgbClr val="FFFFFF"/>
            </a:solidFill>
            <a:ln w="17145">
              <a:solidFill>
                <a:srgbClr val="334E68"/>
              </a:solidFill>
            </a:ln>
          </p:spPr>
        </p:sp>
        <p:sp>
          <p:nvSpPr>
            <p:cNvPr id="156" name="Ellipse 156"/>
            <p:cNvSpPr/>
            <p:nvPr/>
          </p:nvSpPr>
          <p:spPr>
            <a:xfrm>
              <a:off x="9460230" y="3819525"/>
              <a:ext cx="190500" cy="190500"/>
            </a:xfrm>
            <a:prstGeom prst="ellipse">
              <a:avLst/>
            </a:prstGeom>
            <a:solidFill>
              <a:srgbClr val="FFFFFF"/>
            </a:solidFill>
            <a:ln w="17145">
              <a:solidFill>
                <a:srgbClr val="334E68"/>
              </a:solidFill>
            </a:ln>
          </p:spPr>
        </p:sp>
        <p:sp>
          <p:nvSpPr>
            <p:cNvPr id="157" name="Ellipse 157"/>
            <p:cNvSpPr/>
            <p:nvPr/>
          </p:nvSpPr>
          <p:spPr>
            <a:xfrm>
              <a:off x="9165908" y="3619500"/>
              <a:ext cx="190500" cy="190500"/>
            </a:xfrm>
            <a:prstGeom prst="ellipse">
              <a:avLst/>
            </a:prstGeom>
            <a:solidFill>
              <a:srgbClr val="FFFFFF"/>
            </a:solidFill>
            <a:ln w="17145">
              <a:solidFill>
                <a:srgbClr val="334E68"/>
              </a:solidFill>
            </a:ln>
          </p:spPr>
        </p:sp>
        <p:sp>
          <p:nvSpPr>
            <p:cNvPr id="158" name="Ellipse 158"/>
            <p:cNvSpPr/>
            <p:nvPr/>
          </p:nvSpPr>
          <p:spPr>
            <a:xfrm>
              <a:off x="8965882" y="3324225"/>
              <a:ext cx="190500" cy="190500"/>
            </a:xfrm>
            <a:prstGeom prst="ellipse">
              <a:avLst/>
            </a:prstGeom>
            <a:solidFill>
              <a:srgbClr val="FFFFFF"/>
            </a:solidFill>
            <a:ln w="17145">
              <a:solidFill>
                <a:srgbClr val="334E68"/>
              </a:solidFill>
            </a:ln>
          </p:spPr>
        </p:sp>
        <p:sp>
          <p:nvSpPr>
            <p:cNvPr id="159" name="Ellipse 159"/>
            <p:cNvSpPr/>
            <p:nvPr/>
          </p:nvSpPr>
          <p:spPr>
            <a:xfrm>
              <a:off x="8896350" y="2973705"/>
              <a:ext cx="190500" cy="190500"/>
            </a:xfrm>
            <a:prstGeom prst="ellipse">
              <a:avLst/>
            </a:prstGeom>
            <a:solidFill>
              <a:srgbClr val="FFFFFF"/>
            </a:solidFill>
            <a:ln w="17145">
              <a:solidFill>
                <a:srgbClr val="334E68"/>
              </a:solidFill>
            </a:ln>
          </p:spPr>
        </p:sp>
        <p:sp>
          <p:nvSpPr>
            <p:cNvPr id="160" name="Ellipse 160"/>
            <p:cNvSpPr/>
            <p:nvPr/>
          </p:nvSpPr>
          <p:spPr>
            <a:xfrm>
              <a:off x="8965882" y="2623185"/>
              <a:ext cx="190500" cy="190500"/>
            </a:xfrm>
            <a:prstGeom prst="ellipse">
              <a:avLst/>
            </a:prstGeom>
            <a:solidFill>
              <a:srgbClr val="FFFFFF"/>
            </a:solidFill>
            <a:ln w="17145">
              <a:solidFill>
                <a:srgbClr val="334E68"/>
              </a:solidFill>
            </a:ln>
          </p:spPr>
        </p:sp>
        <p:sp>
          <p:nvSpPr>
            <p:cNvPr id="161" name="Ellipse 161"/>
            <p:cNvSpPr/>
            <p:nvPr/>
          </p:nvSpPr>
          <p:spPr>
            <a:xfrm>
              <a:off x="9165908" y="2326958"/>
              <a:ext cx="190500" cy="190500"/>
            </a:xfrm>
            <a:prstGeom prst="ellipse">
              <a:avLst/>
            </a:prstGeom>
            <a:solidFill>
              <a:srgbClr val="FFFFFF"/>
            </a:solidFill>
            <a:ln w="17145">
              <a:solidFill>
                <a:srgbClr val="334E68"/>
              </a:solidFill>
            </a:ln>
          </p:spPr>
        </p:sp>
        <p:sp>
          <p:nvSpPr>
            <p:cNvPr id="162" name="Ellipse 162"/>
            <p:cNvSpPr/>
            <p:nvPr/>
          </p:nvSpPr>
          <p:spPr>
            <a:xfrm>
              <a:off x="9460230" y="2127885"/>
              <a:ext cx="190500" cy="190500"/>
            </a:xfrm>
            <a:prstGeom prst="ellipse">
              <a:avLst/>
            </a:prstGeom>
            <a:solidFill>
              <a:srgbClr val="FFFFFF"/>
            </a:solidFill>
            <a:ln w="17145">
              <a:solidFill>
                <a:srgbClr val="334E68"/>
              </a:solidFill>
            </a:ln>
          </p:spPr>
        </p:sp>
        <p:sp>
          <p:nvSpPr>
            <p:cNvPr id="163" name="TextBox 163"/>
            <p:cNvSpPr txBox="1"/>
            <p:nvPr/>
          </p:nvSpPr>
          <p:spPr>
            <a:xfrm>
              <a:off x="9866253" y="2099310"/>
              <a:ext cx="79494" cy="176212"/>
            </a:xfrm>
            <a:prstGeom prst="rect">
              <a:avLst/>
            </a:prstGeom>
            <a:noFill/>
            <a:ln>
              <a:noFill/>
            </a:ln>
          </p:spPr>
          <p:txBody>
            <a:bodyPr wrap="none" lIns="0" tIns="0" rIns="0" bIns="0" anchor="t" anchorCtr="0">
              <a:spAutoFit/>
            </a:bodyPr>
            <a:lstStyle/>
            <a:p>
              <a:pPr algn="ctr"/>
              <a:r>
                <a:rPr lang="zh-CN" sz="900" b="1" dirty="0">
                  <a:solidFill>
                    <a:srgbClr val="1F2937"/>
                  </a:solidFill>
                  <a:latin typeface="+mn-lt"/>
                  <a:ea typeface="+mn-ea"/>
                  <a:cs typeface="+mn-cs"/>
                </a:rPr>
                <a:t>0</a:t>
              </a:r>
            </a:p>
          </p:txBody>
        </p:sp>
        <p:sp>
          <p:nvSpPr>
            <p:cNvPr id="164" name="TextBox 164"/>
            <p:cNvSpPr txBox="1"/>
            <p:nvPr/>
          </p:nvSpPr>
          <p:spPr>
            <a:xfrm>
              <a:off x="10216773" y="2166938"/>
              <a:ext cx="79494" cy="176212"/>
            </a:xfrm>
            <a:prstGeom prst="rect">
              <a:avLst/>
            </a:prstGeom>
            <a:noFill/>
            <a:ln>
              <a:noFill/>
            </a:ln>
          </p:spPr>
          <p:txBody>
            <a:bodyPr wrap="none" lIns="0" tIns="0" rIns="0" bIns="0" anchor="t" anchorCtr="0">
              <a:spAutoFit/>
            </a:bodyPr>
            <a:lstStyle/>
            <a:p>
              <a:pPr algn="ctr"/>
              <a:r>
                <a:rPr lang="zh-CN" sz="900" b="1" dirty="0">
                  <a:solidFill>
                    <a:srgbClr val="1F2937"/>
                  </a:solidFill>
                  <a:latin typeface="+mn-lt"/>
                  <a:ea typeface="+mn-ea"/>
                  <a:cs typeface="+mn-cs"/>
                </a:rPr>
                <a:t>1</a:t>
              </a:r>
            </a:p>
          </p:txBody>
        </p:sp>
        <p:sp>
          <p:nvSpPr>
            <p:cNvPr id="165" name="TextBox 165"/>
            <p:cNvSpPr txBox="1"/>
            <p:nvPr/>
          </p:nvSpPr>
          <p:spPr>
            <a:xfrm>
              <a:off x="10511096" y="2366962"/>
              <a:ext cx="79494" cy="176212"/>
            </a:xfrm>
            <a:prstGeom prst="rect">
              <a:avLst/>
            </a:prstGeom>
            <a:noFill/>
            <a:ln>
              <a:noFill/>
            </a:ln>
          </p:spPr>
          <p:txBody>
            <a:bodyPr wrap="none" lIns="0" tIns="0" rIns="0" bIns="0" anchor="t" anchorCtr="0">
              <a:spAutoFit/>
            </a:bodyPr>
            <a:lstStyle/>
            <a:p>
              <a:pPr algn="ctr"/>
              <a:r>
                <a:rPr lang="zh-CN" sz="900" b="1" dirty="0">
                  <a:solidFill>
                    <a:srgbClr val="1F2937"/>
                  </a:solidFill>
                  <a:latin typeface="+mn-lt"/>
                  <a:ea typeface="+mn-ea"/>
                  <a:cs typeface="+mn-cs"/>
                </a:rPr>
                <a:t>2</a:t>
              </a:r>
            </a:p>
          </p:txBody>
        </p:sp>
        <p:sp>
          <p:nvSpPr>
            <p:cNvPr id="166" name="TextBox 166"/>
            <p:cNvSpPr txBox="1"/>
            <p:nvPr/>
          </p:nvSpPr>
          <p:spPr>
            <a:xfrm>
              <a:off x="10711121" y="2662238"/>
              <a:ext cx="79494" cy="176212"/>
            </a:xfrm>
            <a:prstGeom prst="rect">
              <a:avLst/>
            </a:prstGeom>
            <a:noFill/>
            <a:ln>
              <a:noFill/>
            </a:ln>
          </p:spPr>
          <p:txBody>
            <a:bodyPr wrap="none" lIns="0" tIns="0" rIns="0" bIns="0" anchor="t" anchorCtr="0">
              <a:spAutoFit/>
            </a:bodyPr>
            <a:lstStyle/>
            <a:p>
              <a:pPr algn="ctr"/>
              <a:r>
                <a:rPr lang="zh-CN" sz="900" b="1" dirty="0">
                  <a:solidFill>
                    <a:srgbClr val="1F2937"/>
                  </a:solidFill>
                  <a:latin typeface="+mn-lt"/>
                  <a:ea typeface="+mn-ea"/>
                  <a:cs typeface="+mn-cs"/>
                </a:rPr>
                <a:t>3</a:t>
              </a:r>
            </a:p>
          </p:txBody>
        </p:sp>
        <p:sp>
          <p:nvSpPr>
            <p:cNvPr id="167" name="TextBox 167"/>
            <p:cNvSpPr txBox="1"/>
            <p:nvPr/>
          </p:nvSpPr>
          <p:spPr>
            <a:xfrm>
              <a:off x="10780653" y="3012758"/>
              <a:ext cx="79494" cy="176212"/>
            </a:xfrm>
            <a:prstGeom prst="rect">
              <a:avLst/>
            </a:prstGeom>
            <a:noFill/>
            <a:ln>
              <a:noFill/>
            </a:ln>
          </p:spPr>
          <p:txBody>
            <a:bodyPr wrap="none" lIns="0" tIns="0" rIns="0" bIns="0" anchor="t" anchorCtr="0">
              <a:spAutoFit/>
            </a:bodyPr>
            <a:lstStyle/>
            <a:p>
              <a:pPr algn="ctr"/>
              <a:r>
                <a:rPr lang="zh-CN" sz="900" b="1" dirty="0">
                  <a:solidFill>
                    <a:srgbClr val="1F2937"/>
                  </a:solidFill>
                  <a:latin typeface="+mn-lt"/>
                  <a:ea typeface="+mn-ea"/>
                  <a:cs typeface="+mn-cs"/>
                </a:rPr>
                <a:t>4</a:t>
              </a:r>
            </a:p>
          </p:txBody>
        </p:sp>
        <p:sp>
          <p:nvSpPr>
            <p:cNvPr id="168" name="TextBox 168"/>
            <p:cNvSpPr txBox="1"/>
            <p:nvPr/>
          </p:nvSpPr>
          <p:spPr>
            <a:xfrm>
              <a:off x="10711121" y="3363278"/>
              <a:ext cx="79494" cy="176212"/>
            </a:xfrm>
            <a:prstGeom prst="rect">
              <a:avLst/>
            </a:prstGeom>
            <a:noFill/>
            <a:ln>
              <a:noFill/>
            </a:ln>
          </p:spPr>
          <p:txBody>
            <a:bodyPr wrap="none" lIns="0" tIns="0" rIns="0" bIns="0" anchor="t" anchorCtr="0">
              <a:spAutoFit/>
            </a:bodyPr>
            <a:lstStyle/>
            <a:p>
              <a:pPr algn="ctr"/>
              <a:r>
                <a:rPr lang="zh-CN" sz="900" b="1" dirty="0">
                  <a:solidFill>
                    <a:srgbClr val="1F2937"/>
                  </a:solidFill>
                  <a:latin typeface="+mn-lt"/>
                  <a:ea typeface="+mn-ea"/>
                  <a:cs typeface="+mn-cs"/>
                </a:rPr>
                <a:t>5</a:t>
              </a:r>
            </a:p>
          </p:txBody>
        </p:sp>
        <p:sp>
          <p:nvSpPr>
            <p:cNvPr id="169" name="TextBox 169"/>
            <p:cNvSpPr txBox="1"/>
            <p:nvPr/>
          </p:nvSpPr>
          <p:spPr>
            <a:xfrm>
              <a:off x="10511096" y="3659505"/>
              <a:ext cx="79494" cy="176212"/>
            </a:xfrm>
            <a:prstGeom prst="rect">
              <a:avLst/>
            </a:prstGeom>
            <a:noFill/>
            <a:ln>
              <a:noFill/>
            </a:ln>
          </p:spPr>
          <p:txBody>
            <a:bodyPr wrap="none" lIns="0" tIns="0" rIns="0" bIns="0" anchor="t" anchorCtr="0">
              <a:spAutoFit/>
            </a:bodyPr>
            <a:lstStyle/>
            <a:p>
              <a:pPr algn="ctr"/>
              <a:r>
                <a:rPr lang="zh-CN" sz="900" b="1" dirty="0">
                  <a:solidFill>
                    <a:srgbClr val="1F2937"/>
                  </a:solidFill>
                  <a:latin typeface="+mn-lt"/>
                  <a:ea typeface="+mn-ea"/>
                  <a:cs typeface="+mn-cs"/>
                </a:rPr>
                <a:t>6</a:t>
              </a:r>
            </a:p>
          </p:txBody>
        </p:sp>
        <p:sp>
          <p:nvSpPr>
            <p:cNvPr id="170" name="TextBox 170"/>
            <p:cNvSpPr txBox="1"/>
            <p:nvPr/>
          </p:nvSpPr>
          <p:spPr>
            <a:xfrm>
              <a:off x="10216773" y="3858578"/>
              <a:ext cx="79494" cy="176212"/>
            </a:xfrm>
            <a:prstGeom prst="rect">
              <a:avLst/>
            </a:prstGeom>
            <a:noFill/>
            <a:ln>
              <a:noFill/>
            </a:ln>
          </p:spPr>
          <p:txBody>
            <a:bodyPr wrap="none" lIns="0" tIns="0" rIns="0" bIns="0" anchor="t" anchorCtr="0">
              <a:spAutoFit/>
            </a:bodyPr>
            <a:lstStyle/>
            <a:p>
              <a:pPr algn="ctr"/>
              <a:r>
                <a:rPr lang="zh-CN" sz="900" b="1" dirty="0">
                  <a:solidFill>
                    <a:srgbClr val="1F2937"/>
                  </a:solidFill>
                  <a:latin typeface="+mn-lt"/>
                  <a:ea typeface="+mn-ea"/>
                  <a:cs typeface="+mn-cs"/>
                </a:rPr>
                <a:t>7</a:t>
              </a:r>
            </a:p>
          </p:txBody>
        </p:sp>
        <p:sp>
          <p:nvSpPr>
            <p:cNvPr id="171" name="TextBox 171"/>
            <p:cNvSpPr txBox="1"/>
            <p:nvPr/>
          </p:nvSpPr>
          <p:spPr>
            <a:xfrm>
              <a:off x="9866253" y="3926205"/>
              <a:ext cx="79494" cy="176212"/>
            </a:xfrm>
            <a:prstGeom prst="rect">
              <a:avLst/>
            </a:prstGeom>
            <a:noFill/>
            <a:ln>
              <a:noFill/>
            </a:ln>
          </p:spPr>
          <p:txBody>
            <a:bodyPr wrap="none" lIns="0" tIns="0" rIns="0" bIns="0" anchor="t" anchorCtr="0">
              <a:spAutoFit/>
            </a:bodyPr>
            <a:lstStyle/>
            <a:p>
              <a:pPr algn="ctr"/>
              <a:r>
                <a:rPr lang="zh-CN" sz="900" b="1" dirty="0">
                  <a:solidFill>
                    <a:srgbClr val="1F2937"/>
                  </a:solidFill>
                  <a:latin typeface="+mn-lt"/>
                  <a:ea typeface="+mn-ea"/>
                  <a:cs typeface="+mn-cs"/>
                </a:rPr>
                <a:t>8</a:t>
              </a:r>
            </a:p>
          </p:txBody>
        </p:sp>
        <p:sp>
          <p:nvSpPr>
            <p:cNvPr id="172" name="TextBox 172"/>
            <p:cNvSpPr txBox="1"/>
            <p:nvPr/>
          </p:nvSpPr>
          <p:spPr>
            <a:xfrm>
              <a:off x="9515733" y="3858578"/>
              <a:ext cx="79494" cy="176212"/>
            </a:xfrm>
            <a:prstGeom prst="rect">
              <a:avLst/>
            </a:prstGeom>
            <a:noFill/>
            <a:ln>
              <a:noFill/>
            </a:ln>
          </p:spPr>
          <p:txBody>
            <a:bodyPr wrap="none" lIns="0" tIns="0" rIns="0" bIns="0" anchor="t" anchorCtr="0">
              <a:spAutoFit/>
            </a:bodyPr>
            <a:lstStyle/>
            <a:p>
              <a:pPr algn="ctr"/>
              <a:r>
                <a:rPr lang="zh-CN" sz="900" b="1" dirty="0">
                  <a:solidFill>
                    <a:srgbClr val="1F2937"/>
                  </a:solidFill>
                  <a:latin typeface="+mn-lt"/>
                  <a:ea typeface="+mn-ea"/>
                  <a:cs typeface="+mn-cs"/>
                </a:rPr>
                <a:t>9</a:t>
              </a:r>
            </a:p>
          </p:txBody>
        </p:sp>
        <p:sp>
          <p:nvSpPr>
            <p:cNvPr id="173" name="TextBox 173"/>
            <p:cNvSpPr txBox="1"/>
            <p:nvPr/>
          </p:nvSpPr>
          <p:spPr>
            <a:xfrm>
              <a:off x="9186426" y="3659505"/>
              <a:ext cx="149462" cy="176212"/>
            </a:xfrm>
            <a:prstGeom prst="rect">
              <a:avLst/>
            </a:prstGeom>
            <a:noFill/>
            <a:ln>
              <a:noFill/>
            </a:ln>
          </p:spPr>
          <p:txBody>
            <a:bodyPr wrap="none" lIns="0" tIns="0" rIns="0" bIns="0" anchor="t" anchorCtr="0">
              <a:spAutoFit/>
            </a:bodyPr>
            <a:lstStyle/>
            <a:p>
              <a:pPr algn="ctr"/>
              <a:r>
                <a:rPr lang="zh-CN" sz="900" b="1" dirty="0">
                  <a:solidFill>
                    <a:srgbClr val="1F2937"/>
                  </a:solidFill>
                  <a:latin typeface="+mn-lt"/>
                  <a:ea typeface="+mn-ea"/>
                  <a:cs typeface="+mn-cs"/>
                </a:rPr>
                <a:t>10</a:t>
              </a:r>
            </a:p>
          </p:txBody>
        </p:sp>
        <p:sp>
          <p:nvSpPr>
            <p:cNvPr id="174" name="TextBox 174"/>
            <p:cNvSpPr txBox="1"/>
            <p:nvPr/>
          </p:nvSpPr>
          <p:spPr>
            <a:xfrm>
              <a:off x="8986401" y="3363278"/>
              <a:ext cx="149462" cy="176212"/>
            </a:xfrm>
            <a:prstGeom prst="rect">
              <a:avLst/>
            </a:prstGeom>
            <a:noFill/>
            <a:ln>
              <a:noFill/>
            </a:ln>
          </p:spPr>
          <p:txBody>
            <a:bodyPr wrap="none" lIns="0" tIns="0" rIns="0" bIns="0" anchor="t" anchorCtr="0">
              <a:spAutoFit/>
            </a:bodyPr>
            <a:lstStyle/>
            <a:p>
              <a:pPr algn="ctr"/>
              <a:r>
                <a:rPr lang="zh-CN" sz="900" b="1" dirty="0">
                  <a:solidFill>
                    <a:srgbClr val="1F2937"/>
                  </a:solidFill>
                  <a:latin typeface="+mn-lt"/>
                  <a:ea typeface="+mn-ea"/>
                  <a:cs typeface="+mn-cs"/>
                </a:rPr>
                <a:t>11</a:t>
              </a:r>
            </a:p>
          </p:txBody>
        </p:sp>
        <p:sp>
          <p:nvSpPr>
            <p:cNvPr id="175" name="TextBox 175"/>
            <p:cNvSpPr txBox="1"/>
            <p:nvPr/>
          </p:nvSpPr>
          <p:spPr>
            <a:xfrm>
              <a:off x="8916869" y="3012758"/>
              <a:ext cx="149462" cy="176212"/>
            </a:xfrm>
            <a:prstGeom prst="rect">
              <a:avLst/>
            </a:prstGeom>
            <a:noFill/>
            <a:ln>
              <a:noFill/>
            </a:ln>
          </p:spPr>
          <p:txBody>
            <a:bodyPr wrap="none" lIns="0" tIns="0" rIns="0" bIns="0" anchor="t" anchorCtr="0">
              <a:spAutoFit/>
            </a:bodyPr>
            <a:lstStyle/>
            <a:p>
              <a:pPr algn="ctr"/>
              <a:r>
                <a:rPr lang="zh-CN" sz="900" b="1" dirty="0">
                  <a:solidFill>
                    <a:srgbClr val="1F2937"/>
                  </a:solidFill>
                  <a:latin typeface="+mn-lt"/>
                  <a:ea typeface="+mn-ea"/>
                  <a:cs typeface="+mn-cs"/>
                </a:rPr>
                <a:t>12</a:t>
              </a:r>
            </a:p>
          </p:txBody>
        </p:sp>
        <p:sp>
          <p:nvSpPr>
            <p:cNvPr id="176" name="TextBox 176"/>
            <p:cNvSpPr txBox="1"/>
            <p:nvPr/>
          </p:nvSpPr>
          <p:spPr>
            <a:xfrm>
              <a:off x="8986401" y="2662238"/>
              <a:ext cx="149462" cy="176212"/>
            </a:xfrm>
            <a:prstGeom prst="rect">
              <a:avLst/>
            </a:prstGeom>
            <a:noFill/>
            <a:ln>
              <a:noFill/>
            </a:ln>
          </p:spPr>
          <p:txBody>
            <a:bodyPr wrap="none" lIns="0" tIns="0" rIns="0" bIns="0" anchor="t" anchorCtr="0">
              <a:spAutoFit/>
            </a:bodyPr>
            <a:lstStyle/>
            <a:p>
              <a:pPr algn="ctr"/>
              <a:r>
                <a:rPr lang="zh-CN" sz="900" b="1" dirty="0">
                  <a:solidFill>
                    <a:srgbClr val="1F2937"/>
                  </a:solidFill>
                  <a:latin typeface="+mn-lt"/>
                  <a:ea typeface="+mn-ea"/>
                  <a:cs typeface="+mn-cs"/>
                </a:rPr>
                <a:t>13</a:t>
              </a:r>
            </a:p>
          </p:txBody>
        </p:sp>
        <p:sp>
          <p:nvSpPr>
            <p:cNvPr id="177" name="TextBox 177"/>
            <p:cNvSpPr txBox="1"/>
            <p:nvPr/>
          </p:nvSpPr>
          <p:spPr>
            <a:xfrm>
              <a:off x="9186426" y="2366962"/>
              <a:ext cx="149462" cy="176212"/>
            </a:xfrm>
            <a:prstGeom prst="rect">
              <a:avLst/>
            </a:prstGeom>
            <a:noFill/>
            <a:ln>
              <a:noFill/>
            </a:ln>
          </p:spPr>
          <p:txBody>
            <a:bodyPr wrap="none" lIns="0" tIns="0" rIns="0" bIns="0" anchor="t" anchorCtr="0">
              <a:spAutoFit/>
            </a:bodyPr>
            <a:lstStyle/>
            <a:p>
              <a:pPr algn="ctr"/>
              <a:r>
                <a:rPr lang="zh-CN" sz="900" b="1" dirty="0">
                  <a:solidFill>
                    <a:srgbClr val="1F2937"/>
                  </a:solidFill>
                  <a:latin typeface="+mn-lt"/>
                  <a:ea typeface="+mn-ea"/>
                  <a:cs typeface="+mn-cs"/>
                </a:rPr>
                <a:t>14</a:t>
              </a:r>
            </a:p>
          </p:txBody>
        </p:sp>
        <p:sp>
          <p:nvSpPr>
            <p:cNvPr id="178" name="TextBox 178"/>
            <p:cNvSpPr txBox="1"/>
            <p:nvPr/>
          </p:nvSpPr>
          <p:spPr>
            <a:xfrm>
              <a:off x="9480749" y="2166938"/>
              <a:ext cx="149462" cy="176212"/>
            </a:xfrm>
            <a:prstGeom prst="rect">
              <a:avLst/>
            </a:prstGeom>
            <a:noFill/>
            <a:ln>
              <a:noFill/>
            </a:ln>
          </p:spPr>
          <p:txBody>
            <a:bodyPr wrap="none" lIns="0" tIns="0" rIns="0" bIns="0" anchor="t" anchorCtr="0">
              <a:spAutoFit/>
            </a:bodyPr>
            <a:lstStyle/>
            <a:p>
              <a:pPr algn="ctr"/>
              <a:r>
                <a:rPr lang="zh-CN" sz="900" b="1" dirty="0">
                  <a:solidFill>
                    <a:srgbClr val="1F2937"/>
                  </a:solidFill>
                  <a:latin typeface="+mn-lt"/>
                  <a:ea typeface="+mn-ea"/>
                  <a:cs typeface="+mn-cs"/>
                </a:rPr>
                <a:t>15</a:t>
              </a:r>
            </a:p>
          </p:txBody>
        </p:sp>
      </p:grpSp>
      <p:grpSp>
        <p:nvGrpSpPr>
          <p:cNvPr id="181" name="c3-text-3"/>
          <p:cNvGrpSpPr/>
          <p:nvPr/>
        </p:nvGrpSpPr>
        <p:grpSpPr>
          <a:xfrm>
            <a:off x="8146923" y="4376261"/>
            <a:ext cx="3264154" cy="752284"/>
            <a:chOff x="8146923" y="4376261"/>
            <a:chExt cx="3264154" cy="752284"/>
          </a:xfrm>
        </p:grpSpPr>
        <p:sp>
          <p:nvSpPr>
            <p:cNvPr id="180" name="TextBox 180"/>
            <p:cNvSpPr txBox="1"/>
            <p:nvPr/>
          </p:nvSpPr>
          <p:spPr>
            <a:xfrm>
              <a:off x="8146923" y="4376261"/>
              <a:ext cx="3264154" cy="752284"/>
            </a:xfrm>
            <a:prstGeom prst="rect">
              <a:avLst/>
            </a:prstGeom>
            <a:noFill/>
            <a:ln>
              <a:noFill/>
            </a:ln>
          </p:spPr>
          <p:txBody>
            <a:bodyPr wrap="none" lIns="0" tIns="0" rIns="0" bIns="0" anchor="t" anchorCtr="0">
              <a:spAutoFit/>
            </a:bodyPr>
            <a:lstStyle/>
            <a:p>
              <a:pPr algn="l">
                <a:lnSpc>
                  <a:spcPts val="1980"/>
                </a:lnSpc>
              </a:pPr>
              <a:r>
                <a:rPr lang="zh-CN" sz="1280" dirty="0">
                  <a:solidFill>
                    <a:srgbClr val="1F2937"/>
                  </a:solidFill>
                  <a:latin typeface="+mn-lt"/>
                  <a:ea typeface="+mn-ea"/>
                  <a:cs typeface="+mn-cs"/>
                </a:rPr>
                <a:t>列方向带状环形连接，行方向跨行蛇形连接。</a:t>
              </a:r>
              <a:br/>
              <a:r>
                <a:rPr lang="zh-CN" sz="1280" dirty="0">
                  <a:solidFill>
                    <a:srgbClr val="1F2937"/>
                  </a:solidFill>
                  <a:latin typeface="+mn-lt"/>
                  <a:ea typeface="+mn-ea"/>
                  <a:cs typeface="+mn-cs"/>
                </a:rPr>
                <a:t>按蛇形编号排成一圈，就是 i ± 1、i ± k 相连</a:t>
              </a:r>
              <a:br/>
              <a:r>
                <a:rPr lang="zh-CN" sz="1280" dirty="0">
                  <a:solidFill>
                    <a:srgbClr val="1F2937"/>
                  </a:solidFill>
                  <a:latin typeface="+mn-lt"/>
                  <a:ea typeface="+mn-ea"/>
                  <a:cs typeface="+mn-cs"/>
                </a:rPr>
                <a:t>的带弦环。度 4，直径 k − 1，对剖宽度 2k。</a:t>
              </a:r>
            </a:p>
          </p:txBody>
        </p:sp>
      </p:grpSp>
      <p:grpSp>
        <p:nvGrpSpPr>
          <p:cNvPr id="188" name="takeaway"/>
          <p:cNvGrpSpPr/>
          <p:nvPr/>
        </p:nvGrpSpPr>
        <p:grpSpPr>
          <a:xfrm>
            <a:off x="533400" y="5579745"/>
            <a:ext cx="11125200" cy="782955"/>
            <a:chOff x="533400" y="5579745"/>
            <a:chExt cx="11125200" cy="782955"/>
          </a:xfrm>
        </p:grpSpPr>
        <p:sp>
          <p:nvSpPr>
            <p:cNvPr id="182" name="Rectangle 182"/>
            <p:cNvSpPr/>
            <p:nvPr/>
          </p:nvSpPr>
          <p:spPr>
            <a:xfrm>
              <a:off x="533400" y="5579745"/>
              <a:ext cx="11125200" cy="782955"/>
            </a:xfrm>
            <a:prstGeom prst="roundRect">
              <a:avLst>
                <a:gd name="adj" fmla="val 14599"/>
              </a:avLst>
            </a:prstGeom>
            <a:solidFill>
              <a:srgbClr val="F4F6FB"/>
            </a:solidFill>
            <a:ln>
              <a:noFill/>
            </a:ln>
          </p:spPr>
        </p:sp>
        <p:grpSp>
          <p:nvGrpSpPr>
            <p:cNvPr id="186" name="Group 186"/>
            <p:cNvGrpSpPr/>
            <p:nvPr/>
          </p:nvGrpSpPr>
          <p:grpSpPr>
            <a:xfrm>
              <a:off x="738188" y="5871210"/>
              <a:ext cx="200026" cy="200026"/>
              <a:chOff x="738188" y="5871210"/>
              <a:chExt cx="200026" cy="200026"/>
            </a:xfrm>
          </p:grpSpPr>
          <p:sp>
            <p:nvSpPr>
              <p:cNvPr id="183" name="Freeform 183"/>
              <p:cNvSpPr/>
              <p:nvPr/>
            </p:nvSpPr>
            <p:spPr>
              <a:xfrm>
                <a:off x="738188" y="5871210"/>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1F2937"/>
                </a:solidFill>
              </a:ln>
            </p:spPr>
          </p:sp>
          <p:sp>
            <p:nvSpPr>
              <p:cNvPr id="184" name="Freeform 184"/>
              <p:cNvSpPr/>
              <p:nvPr/>
            </p:nvSpPr>
            <p:spPr>
              <a:xfrm>
                <a:off x="838200" y="5937885"/>
                <a:ext cx="9525" cy="9525"/>
              </a:xfrm>
              <a:custGeom>
                <a:avLst/>
                <a:gdLst/>
                <a:ahLst/>
                <a:cxnLst/>
                <a:rect l="l" t="t" r="r" b="b"/>
                <a:pathLst>
                  <a:path w="9525" h="9525">
                    <a:moveTo>
                      <a:pt x="0" y="0"/>
                    </a:moveTo>
                    <a:lnTo>
                      <a:pt x="111" y="0"/>
                    </a:lnTo>
                  </a:path>
                </a:pathLst>
              </a:custGeom>
              <a:noFill/>
              <a:ln w="22225">
                <a:solidFill>
                  <a:srgbClr val="1F2937"/>
                </a:solidFill>
              </a:ln>
            </p:spPr>
          </p:sp>
          <p:sp>
            <p:nvSpPr>
              <p:cNvPr id="185" name="Freeform 185"/>
              <p:cNvSpPr/>
              <p:nvPr/>
            </p:nvSpPr>
            <p:spPr>
              <a:xfrm>
                <a:off x="827088" y="5971223"/>
                <a:ext cx="22225" cy="44450"/>
              </a:xfrm>
              <a:custGeom>
                <a:avLst/>
                <a:gdLst/>
                <a:ahLst/>
                <a:cxnLst/>
                <a:rect l="l" t="t" r="r" b="b"/>
                <a:pathLst>
                  <a:path w="22225" h="44450">
                    <a:moveTo>
                      <a:pt x="0" y="0"/>
                    </a:moveTo>
                    <a:lnTo>
                      <a:pt x="11113" y="0"/>
                    </a:lnTo>
                    <a:lnTo>
                      <a:pt x="11113" y="44450"/>
                    </a:lnTo>
                    <a:lnTo>
                      <a:pt x="22225" y="44450"/>
                    </a:lnTo>
                  </a:path>
                </a:pathLst>
              </a:custGeom>
              <a:noFill/>
              <a:ln w="22225">
                <a:solidFill>
                  <a:srgbClr val="1F2937"/>
                </a:solidFill>
              </a:ln>
            </p:spPr>
          </p:sp>
        </p:grpSp>
        <p:sp>
          <p:nvSpPr>
            <p:cNvPr id="187" name="TextBox 187"/>
            <p:cNvSpPr txBox="1"/>
            <p:nvPr/>
          </p:nvSpPr>
          <p:spPr>
            <a:xfrm>
              <a:off x="1040130" y="5728335"/>
              <a:ext cx="10026015" cy="569595"/>
            </a:xfrm>
            <a:prstGeom prst="rect">
              <a:avLst/>
            </a:prstGeom>
            <a:noFill/>
            <a:ln>
              <a:noFill/>
            </a:ln>
          </p:spPr>
          <p:txBody>
            <a:bodyPr wrap="none" lIns="0" tIns="0" rIns="0" bIns="0" anchor="t" anchorCtr="0">
              <a:spAutoFit/>
            </a:bodyPr>
            <a:lstStyle/>
            <a:p>
              <a:pPr algn="l">
                <a:lnSpc>
                  <a:spcPts val="2175"/>
                </a:lnSpc>
              </a:pPr>
              <a:r>
                <a:rPr lang="zh-CN" sz="1500" dirty="0">
                  <a:solidFill>
                    <a:srgbClr val="1F2937"/>
                  </a:solidFill>
                  <a:latin typeface="+mn-lt"/>
                  <a:ea typeface="+mn-ea"/>
                  <a:cs typeface="+mn-cs"/>
                </a:rPr>
                <a:t>更正：原课件说网格的边、角节点度为 3 或 2，只对二维成立（三维网格角 3、棱 4、面 5）；环形网格有环回链路，所</a:t>
              </a:r>
              <a:br/>
              <a:r>
                <a:rPr lang="zh-CN" sz="1500" dirty="0">
                  <a:solidFill>
                    <a:srgbClr val="1F2937"/>
                  </a:solidFill>
                  <a:latin typeface="+mn-lt"/>
                  <a:ea typeface="+mn-ea"/>
                  <a:cs typeface="+mn-cs"/>
                </a:rPr>
                <a:t>有节点度都是 2k。Torus 直径写作 k，k 为奇数时应为 2⌊k/2⌋（5 × 5 为 4）。</a:t>
              </a:r>
            </a:p>
          </p:txBody>
        </p:sp>
      </p:grpSp>
      <p:grpSp>
        <p:nvGrpSpPr>
          <p:cNvPr id="191" name="footer"/>
          <p:cNvGrpSpPr/>
          <p:nvPr/>
        </p:nvGrpSpPr>
        <p:grpSpPr>
          <a:xfrm>
            <a:off x="528447" y="6581299"/>
            <a:ext cx="11135106" cy="190690"/>
            <a:chOff x="528447" y="6581299"/>
            <a:chExt cx="11135106" cy="190690"/>
          </a:xfrm>
        </p:grpSpPr>
        <p:sp>
          <p:nvSpPr>
            <p:cNvPr id="189" name="TextBox 189"/>
            <p:cNvSpPr txBox="1"/>
            <p:nvPr/>
          </p:nvSpPr>
          <p:spPr>
            <a:xfrm>
              <a:off x="528447" y="6581299"/>
              <a:ext cx="2120748"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并行与分布式计算 · 第7章 体系结构</a:t>
              </a:r>
            </a:p>
          </p:txBody>
        </p:sp>
        <p:sp>
          <p:nvSpPr>
            <p:cNvPr id="190" name="TextBox 190"/>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45</a:t>
              </a:r>
            </a:p>
          </p:txBody>
        </p:sp>
      </p:grpSp>
    </p:spTree>
  </p:cSld>
  <p:clrMapOvr>
    <a:masterClrMapping/>
  </p:clrMapOvr>
  <p:transition xmlns:p14="http://schemas.microsoft.com/office/powerpoint/2010/main" p14:dur="400">
    <p:fade/>
  </p:transition>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5518404" cy="909257"/>
            <a:chOff x="520446" y="342900"/>
            <a:chExt cx="5518404" cy="909257"/>
          </a:xfrm>
        </p:grpSpPr>
        <p:sp>
          <p:nvSpPr>
            <p:cNvPr id="2" name="Rectangle 2"/>
            <p:cNvSpPr/>
            <p:nvPr/>
          </p:nvSpPr>
          <p:spPr>
            <a:xfrm>
              <a:off x="533400" y="342900"/>
              <a:ext cx="1987868" cy="266700"/>
            </a:xfrm>
            <a:prstGeom prst="roundRect">
              <a:avLst>
                <a:gd name="adj" fmla="val 50000"/>
              </a:avLst>
            </a:prstGeom>
            <a:solidFill>
              <a:srgbClr val="E7EDF3"/>
            </a:solidFill>
            <a:ln>
              <a:noFill/>
            </a:ln>
          </p:spPr>
        </p:sp>
        <p:sp>
          <p:nvSpPr>
            <p:cNvPr id="3" name="TextBox 3"/>
            <p:cNvSpPr txBox="1"/>
            <p:nvPr/>
          </p:nvSpPr>
          <p:spPr>
            <a:xfrm>
              <a:off x="608957" y="407194"/>
              <a:ext cx="1835800"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第7章 体系结构 · 互连结构</a:t>
              </a:r>
            </a:p>
          </p:txBody>
        </p:sp>
        <p:sp>
          <p:nvSpPr>
            <p:cNvPr id="4" name="TextBox 4"/>
            <p:cNvSpPr txBox="1"/>
            <p:nvPr/>
          </p:nvSpPr>
          <p:spPr>
            <a:xfrm>
              <a:off x="520446" y="753428"/>
              <a:ext cx="5518404"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超立方体：相邻节点的地址只差一位</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35" name="c1-graph-1"/>
          <p:cNvGrpSpPr/>
          <p:nvPr/>
        </p:nvGrpSpPr>
        <p:grpSpPr>
          <a:xfrm>
            <a:off x="1112520" y="1781175"/>
            <a:ext cx="3710940" cy="2343150"/>
            <a:chOff x="1112520" y="1781175"/>
            <a:chExt cx="3710940" cy="2343150"/>
          </a:xfrm>
        </p:grpSpPr>
        <p:sp>
          <p:nvSpPr>
            <p:cNvPr id="7" name="Freeform 7"/>
            <p:cNvSpPr/>
            <p:nvPr/>
          </p:nvSpPr>
          <p:spPr>
            <a:xfrm>
              <a:off x="1522095" y="3924300"/>
              <a:ext cx="1820227" cy="9525"/>
            </a:xfrm>
            <a:custGeom>
              <a:avLst/>
              <a:gdLst/>
              <a:ahLst/>
              <a:cxnLst/>
              <a:rect l="l" t="t" r="r" b="b"/>
              <a:pathLst>
                <a:path w="1820227" h="9525">
                  <a:moveTo>
                    <a:pt x="0" y="0"/>
                  </a:moveTo>
                  <a:lnTo>
                    <a:pt x="1820227" y="0"/>
                  </a:lnTo>
                </a:path>
              </a:pathLst>
            </a:custGeom>
            <a:noFill/>
            <a:ln w="17145">
              <a:solidFill>
                <a:srgbClr val="334E68"/>
              </a:solidFill>
            </a:ln>
          </p:spPr>
        </p:sp>
        <p:sp>
          <p:nvSpPr>
            <p:cNvPr id="8" name="Freeform 8"/>
            <p:cNvSpPr/>
            <p:nvPr/>
          </p:nvSpPr>
          <p:spPr>
            <a:xfrm>
              <a:off x="1312545" y="2647950"/>
              <a:ext cx="9525" cy="1066800"/>
            </a:xfrm>
            <a:custGeom>
              <a:avLst/>
              <a:gdLst/>
              <a:ahLst/>
              <a:cxnLst/>
              <a:rect l="l" t="t" r="r" b="b"/>
              <a:pathLst>
                <a:path w="9525" h="1066800">
                  <a:moveTo>
                    <a:pt x="0" y="1066800"/>
                  </a:moveTo>
                  <a:lnTo>
                    <a:pt x="0" y="0"/>
                  </a:lnTo>
                </a:path>
              </a:pathLst>
            </a:custGeom>
            <a:noFill/>
            <a:ln w="17145">
              <a:solidFill>
                <a:srgbClr val="14A38B"/>
              </a:solidFill>
            </a:ln>
          </p:spPr>
        </p:sp>
        <p:sp>
          <p:nvSpPr>
            <p:cNvPr id="9" name="Freeform 9"/>
            <p:cNvSpPr/>
            <p:nvPr/>
          </p:nvSpPr>
          <p:spPr>
            <a:xfrm>
              <a:off x="1504950" y="3549015"/>
              <a:ext cx="685800" cy="293370"/>
            </a:xfrm>
            <a:custGeom>
              <a:avLst/>
              <a:gdLst/>
              <a:ahLst/>
              <a:cxnLst/>
              <a:rect l="l" t="t" r="r" b="b"/>
              <a:pathLst>
                <a:path w="685800" h="293370">
                  <a:moveTo>
                    <a:pt x="0" y="293370"/>
                  </a:moveTo>
                  <a:lnTo>
                    <a:pt x="685800" y="0"/>
                  </a:lnTo>
                </a:path>
              </a:pathLst>
            </a:custGeom>
            <a:noFill/>
            <a:ln w="17145">
              <a:solidFill>
                <a:srgbClr val="F26B3A"/>
              </a:solidFill>
            </a:ln>
          </p:spPr>
        </p:sp>
        <p:sp>
          <p:nvSpPr>
            <p:cNvPr id="10" name="Freeform 10"/>
            <p:cNvSpPr/>
            <p:nvPr/>
          </p:nvSpPr>
          <p:spPr>
            <a:xfrm>
              <a:off x="3551872" y="2647950"/>
              <a:ext cx="9525" cy="1066800"/>
            </a:xfrm>
            <a:custGeom>
              <a:avLst/>
              <a:gdLst/>
              <a:ahLst/>
              <a:cxnLst/>
              <a:rect l="l" t="t" r="r" b="b"/>
              <a:pathLst>
                <a:path w="9525" h="1066800">
                  <a:moveTo>
                    <a:pt x="0" y="1066800"/>
                  </a:moveTo>
                  <a:lnTo>
                    <a:pt x="0" y="0"/>
                  </a:lnTo>
                </a:path>
              </a:pathLst>
            </a:custGeom>
            <a:noFill/>
            <a:ln w="17145">
              <a:solidFill>
                <a:srgbClr val="14A38B"/>
              </a:solidFill>
            </a:ln>
          </p:spPr>
        </p:sp>
        <p:sp>
          <p:nvSpPr>
            <p:cNvPr id="11" name="Freeform 11"/>
            <p:cNvSpPr/>
            <p:nvPr/>
          </p:nvSpPr>
          <p:spPr>
            <a:xfrm>
              <a:off x="3745230" y="3549015"/>
              <a:ext cx="685800" cy="293370"/>
            </a:xfrm>
            <a:custGeom>
              <a:avLst/>
              <a:gdLst/>
              <a:ahLst/>
              <a:cxnLst/>
              <a:rect l="l" t="t" r="r" b="b"/>
              <a:pathLst>
                <a:path w="685800" h="293370">
                  <a:moveTo>
                    <a:pt x="0" y="293370"/>
                  </a:moveTo>
                  <a:lnTo>
                    <a:pt x="685800" y="0"/>
                  </a:lnTo>
                </a:path>
              </a:pathLst>
            </a:custGeom>
            <a:noFill/>
            <a:ln w="17145">
              <a:solidFill>
                <a:srgbClr val="F26B3A"/>
              </a:solidFill>
            </a:ln>
          </p:spPr>
        </p:sp>
        <p:sp>
          <p:nvSpPr>
            <p:cNvPr id="12" name="Freeform 12"/>
            <p:cNvSpPr/>
            <p:nvPr/>
          </p:nvSpPr>
          <p:spPr>
            <a:xfrm>
              <a:off x="1522095" y="2438400"/>
              <a:ext cx="1820227" cy="9525"/>
            </a:xfrm>
            <a:custGeom>
              <a:avLst/>
              <a:gdLst/>
              <a:ahLst/>
              <a:cxnLst/>
              <a:rect l="l" t="t" r="r" b="b"/>
              <a:pathLst>
                <a:path w="1820227" h="9525">
                  <a:moveTo>
                    <a:pt x="0" y="0"/>
                  </a:moveTo>
                  <a:lnTo>
                    <a:pt x="1820227" y="0"/>
                  </a:lnTo>
                </a:path>
              </a:pathLst>
            </a:custGeom>
            <a:noFill/>
            <a:ln w="17145">
              <a:solidFill>
                <a:srgbClr val="334E68"/>
              </a:solidFill>
            </a:ln>
          </p:spPr>
        </p:sp>
        <p:sp>
          <p:nvSpPr>
            <p:cNvPr id="13" name="Freeform 13"/>
            <p:cNvSpPr/>
            <p:nvPr/>
          </p:nvSpPr>
          <p:spPr>
            <a:xfrm>
              <a:off x="1504950" y="2063115"/>
              <a:ext cx="685800" cy="293370"/>
            </a:xfrm>
            <a:custGeom>
              <a:avLst/>
              <a:gdLst/>
              <a:ahLst/>
              <a:cxnLst/>
              <a:rect l="l" t="t" r="r" b="b"/>
              <a:pathLst>
                <a:path w="685800" h="293370">
                  <a:moveTo>
                    <a:pt x="0" y="293370"/>
                  </a:moveTo>
                  <a:lnTo>
                    <a:pt x="685800" y="0"/>
                  </a:lnTo>
                </a:path>
              </a:pathLst>
            </a:custGeom>
            <a:noFill/>
            <a:ln w="17145">
              <a:solidFill>
                <a:srgbClr val="F26B3A"/>
              </a:solidFill>
            </a:ln>
          </p:spPr>
        </p:sp>
        <p:sp>
          <p:nvSpPr>
            <p:cNvPr id="14" name="Freeform 14"/>
            <p:cNvSpPr/>
            <p:nvPr/>
          </p:nvSpPr>
          <p:spPr>
            <a:xfrm>
              <a:off x="3745230" y="2063115"/>
              <a:ext cx="685800" cy="293370"/>
            </a:xfrm>
            <a:custGeom>
              <a:avLst/>
              <a:gdLst/>
              <a:ahLst/>
              <a:cxnLst/>
              <a:rect l="l" t="t" r="r" b="b"/>
              <a:pathLst>
                <a:path w="685800" h="293370">
                  <a:moveTo>
                    <a:pt x="0" y="293370"/>
                  </a:moveTo>
                  <a:lnTo>
                    <a:pt x="685800" y="0"/>
                  </a:lnTo>
                </a:path>
              </a:pathLst>
            </a:custGeom>
            <a:noFill/>
            <a:ln w="17145">
              <a:solidFill>
                <a:srgbClr val="F26B3A"/>
              </a:solidFill>
            </a:ln>
          </p:spPr>
        </p:sp>
        <p:sp>
          <p:nvSpPr>
            <p:cNvPr id="15" name="Freeform 15"/>
            <p:cNvSpPr/>
            <p:nvPr/>
          </p:nvSpPr>
          <p:spPr>
            <a:xfrm>
              <a:off x="2593658" y="3467100"/>
              <a:ext cx="1820227" cy="9525"/>
            </a:xfrm>
            <a:custGeom>
              <a:avLst/>
              <a:gdLst/>
              <a:ahLst/>
              <a:cxnLst/>
              <a:rect l="l" t="t" r="r" b="b"/>
              <a:pathLst>
                <a:path w="1820227" h="9525">
                  <a:moveTo>
                    <a:pt x="0" y="0"/>
                  </a:moveTo>
                  <a:lnTo>
                    <a:pt x="1820227" y="0"/>
                  </a:lnTo>
                </a:path>
              </a:pathLst>
            </a:custGeom>
            <a:noFill/>
            <a:ln w="17145">
              <a:solidFill>
                <a:srgbClr val="334E68"/>
              </a:solidFill>
            </a:ln>
          </p:spPr>
        </p:sp>
        <p:sp>
          <p:nvSpPr>
            <p:cNvPr id="16" name="Freeform 16"/>
            <p:cNvSpPr/>
            <p:nvPr/>
          </p:nvSpPr>
          <p:spPr>
            <a:xfrm>
              <a:off x="2384108" y="2190750"/>
              <a:ext cx="9525" cy="1066800"/>
            </a:xfrm>
            <a:custGeom>
              <a:avLst/>
              <a:gdLst/>
              <a:ahLst/>
              <a:cxnLst/>
              <a:rect l="l" t="t" r="r" b="b"/>
              <a:pathLst>
                <a:path w="9525" h="1066800">
                  <a:moveTo>
                    <a:pt x="0" y="1066800"/>
                  </a:moveTo>
                  <a:lnTo>
                    <a:pt x="0" y="0"/>
                  </a:lnTo>
                </a:path>
              </a:pathLst>
            </a:custGeom>
            <a:noFill/>
            <a:ln w="17145">
              <a:solidFill>
                <a:srgbClr val="14A38B"/>
              </a:solidFill>
            </a:ln>
          </p:spPr>
        </p:sp>
        <p:sp>
          <p:nvSpPr>
            <p:cNvPr id="17" name="Freeform 17"/>
            <p:cNvSpPr/>
            <p:nvPr/>
          </p:nvSpPr>
          <p:spPr>
            <a:xfrm>
              <a:off x="4623435" y="2190750"/>
              <a:ext cx="9525" cy="1066800"/>
            </a:xfrm>
            <a:custGeom>
              <a:avLst/>
              <a:gdLst/>
              <a:ahLst/>
              <a:cxnLst/>
              <a:rect l="l" t="t" r="r" b="b"/>
              <a:pathLst>
                <a:path w="9525" h="1066800">
                  <a:moveTo>
                    <a:pt x="0" y="1066800"/>
                  </a:moveTo>
                  <a:lnTo>
                    <a:pt x="0" y="0"/>
                  </a:lnTo>
                </a:path>
              </a:pathLst>
            </a:custGeom>
            <a:noFill/>
            <a:ln w="17145">
              <a:solidFill>
                <a:srgbClr val="14A38B"/>
              </a:solidFill>
            </a:ln>
          </p:spPr>
        </p:sp>
        <p:sp>
          <p:nvSpPr>
            <p:cNvPr id="18" name="Freeform 18"/>
            <p:cNvSpPr/>
            <p:nvPr/>
          </p:nvSpPr>
          <p:spPr>
            <a:xfrm>
              <a:off x="2593658" y="1981200"/>
              <a:ext cx="1820227" cy="9525"/>
            </a:xfrm>
            <a:custGeom>
              <a:avLst/>
              <a:gdLst/>
              <a:ahLst/>
              <a:cxnLst/>
              <a:rect l="l" t="t" r="r" b="b"/>
              <a:pathLst>
                <a:path w="1820227" h="9525">
                  <a:moveTo>
                    <a:pt x="0" y="0"/>
                  </a:moveTo>
                  <a:lnTo>
                    <a:pt x="1820227" y="0"/>
                  </a:lnTo>
                </a:path>
              </a:pathLst>
            </a:custGeom>
            <a:noFill/>
            <a:ln w="17145">
              <a:solidFill>
                <a:srgbClr val="334E68"/>
              </a:solidFill>
            </a:ln>
          </p:spPr>
        </p:sp>
        <p:sp>
          <p:nvSpPr>
            <p:cNvPr id="19" name="Ellipse 19"/>
            <p:cNvSpPr/>
            <p:nvPr/>
          </p:nvSpPr>
          <p:spPr>
            <a:xfrm>
              <a:off x="1112520" y="3724275"/>
              <a:ext cx="400050" cy="400050"/>
            </a:xfrm>
            <a:prstGeom prst="ellipse">
              <a:avLst/>
            </a:prstGeom>
            <a:solidFill>
              <a:srgbClr val="FFFFFF"/>
            </a:solidFill>
            <a:ln w="17145">
              <a:solidFill>
                <a:srgbClr val="334E68"/>
              </a:solidFill>
            </a:ln>
          </p:spPr>
        </p:sp>
        <p:sp>
          <p:nvSpPr>
            <p:cNvPr id="20" name="Ellipse 20"/>
            <p:cNvSpPr/>
            <p:nvPr/>
          </p:nvSpPr>
          <p:spPr>
            <a:xfrm>
              <a:off x="3351848" y="3724275"/>
              <a:ext cx="400050" cy="400050"/>
            </a:xfrm>
            <a:prstGeom prst="ellipse">
              <a:avLst/>
            </a:prstGeom>
            <a:solidFill>
              <a:srgbClr val="FFFFFF"/>
            </a:solidFill>
            <a:ln w="17145">
              <a:solidFill>
                <a:srgbClr val="334E68"/>
              </a:solidFill>
            </a:ln>
          </p:spPr>
        </p:sp>
        <p:sp>
          <p:nvSpPr>
            <p:cNvPr id="21" name="Ellipse 21"/>
            <p:cNvSpPr/>
            <p:nvPr/>
          </p:nvSpPr>
          <p:spPr>
            <a:xfrm>
              <a:off x="1112520" y="2238375"/>
              <a:ext cx="400050" cy="400050"/>
            </a:xfrm>
            <a:prstGeom prst="ellipse">
              <a:avLst/>
            </a:prstGeom>
            <a:solidFill>
              <a:srgbClr val="FFFFFF"/>
            </a:solidFill>
            <a:ln w="17145">
              <a:solidFill>
                <a:srgbClr val="334E68"/>
              </a:solidFill>
            </a:ln>
          </p:spPr>
        </p:sp>
        <p:sp>
          <p:nvSpPr>
            <p:cNvPr id="22" name="Ellipse 22"/>
            <p:cNvSpPr/>
            <p:nvPr/>
          </p:nvSpPr>
          <p:spPr>
            <a:xfrm>
              <a:off x="3351848" y="2238375"/>
              <a:ext cx="400050" cy="400050"/>
            </a:xfrm>
            <a:prstGeom prst="ellipse">
              <a:avLst/>
            </a:prstGeom>
            <a:solidFill>
              <a:srgbClr val="FFFFFF"/>
            </a:solidFill>
            <a:ln w="17145">
              <a:solidFill>
                <a:srgbClr val="334E68"/>
              </a:solidFill>
            </a:ln>
          </p:spPr>
        </p:sp>
        <p:sp>
          <p:nvSpPr>
            <p:cNvPr id="23" name="Ellipse 23"/>
            <p:cNvSpPr/>
            <p:nvPr/>
          </p:nvSpPr>
          <p:spPr>
            <a:xfrm>
              <a:off x="2184082" y="3267075"/>
              <a:ext cx="400050" cy="400050"/>
            </a:xfrm>
            <a:prstGeom prst="ellipse">
              <a:avLst/>
            </a:prstGeom>
            <a:solidFill>
              <a:srgbClr val="FFFFFF"/>
            </a:solidFill>
            <a:ln w="17145">
              <a:solidFill>
                <a:srgbClr val="334E68"/>
              </a:solidFill>
            </a:ln>
          </p:spPr>
        </p:sp>
        <p:sp>
          <p:nvSpPr>
            <p:cNvPr id="24" name="Ellipse 24"/>
            <p:cNvSpPr/>
            <p:nvPr/>
          </p:nvSpPr>
          <p:spPr>
            <a:xfrm>
              <a:off x="4423410" y="3267075"/>
              <a:ext cx="400050" cy="400050"/>
            </a:xfrm>
            <a:prstGeom prst="ellipse">
              <a:avLst/>
            </a:prstGeom>
            <a:solidFill>
              <a:srgbClr val="FFFFFF"/>
            </a:solidFill>
            <a:ln w="17145">
              <a:solidFill>
                <a:srgbClr val="334E68"/>
              </a:solidFill>
            </a:ln>
          </p:spPr>
        </p:sp>
        <p:sp>
          <p:nvSpPr>
            <p:cNvPr id="25" name="Ellipse 25"/>
            <p:cNvSpPr/>
            <p:nvPr/>
          </p:nvSpPr>
          <p:spPr>
            <a:xfrm>
              <a:off x="2184082" y="1781175"/>
              <a:ext cx="400050" cy="400050"/>
            </a:xfrm>
            <a:prstGeom prst="ellipse">
              <a:avLst/>
            </a:prstGeom>
            <a:solidFill>
              <a:srgbClr val="FFFFFF"/>
            </a:solidFill>
            <a:ln w="17145">
              <a:solidFill>
                <a:srgbClr val="334E68"/>
              </a:solidFill>
            </a:ln>
          </p:spPr>
        </p:sp>
        <p:sp>
          <p:nvSpPr>
            <p:cNvPr id="26" name="Ellipse 26"/>
            <p:cNvSpPr/>
            <p:nvPr/>
          </p:nvSpPr>
          <p:spPr>
            <a:xfrm>
              <a:off x="4423410" y="1781175"/>
              <a:ext cx="400050" cy="400050"/>
            </a:xfrm>
            <a:prstGeom prst="ellipse">
              <a:avLst/>
            </a:prstGeom>
            <a:solidFill>
              <a:srgbClr val="FFFFFF"/>
            </a:solidFill>
            <a:ln w="17145">
              <a:solidFill>
                <a:srgbClr val="334E68"/>
              </a:solidFill>
            </a:ln>
          </p:spPr>
        </p:sp>
        <p:sp>
          <p:nvSpPr>
            <p:cNvPr id="27" name="TextBox 27"/>
            <p:cNvSpPr txBox="1"/>
            <p:nvPr/>
          </p:nvSpPr>
          <p:spPr>
            <a:xfrm>
              <a:off x="1193310" y="3863816"/>
              <a:ext cx="238471" cy="190690"/>
            </a:xfrm>
            <a:prstGeom prst="rect">
              <a:avLst/>
            </a:prstGeom>
            <a:noFill/>
            <a:ln>
              <a:noFill/>
            </a:ln>
          </p:spPr>
          <p:txBody>
            <a:bodyPr wrap="none" lIns="0" tIns="0" rIns="0" bIns="0" anchor="t" anchorCtr="0">
              <a:spAutoFit/>
            </a:bodyPr>
            <a:lstStyle/>
            <a:p>
              <a:pPr algn="ctr"/>
              <a:r>
                <a:rPr lang="zh-CN" sz="980" b="1" dirty="0">
                  <a:solidFill>
                    <a:srgbClr val="1F2937"/>
                  </a:solidFill>
                  <a:latin typeface="+mn-lt"/>
                  <a:ea typeface="+mn-ea"/>
                  <a:cs typeface="+mn-cs"/>
                </a:rPr>
                <a:t>000</a:t>
              </a:r>
            </a:p>
          </p:txBody>
        </p:sp>
        <p:sp>
          <p:nvSpPr>
            <p:cNvPr id="28" name="TextBox 28"/>
            <p:cNvSpPr txBox="1"/>
            <p:nvPr/>
          </p:nvSpPr>
          <p:spPr>
            <a:xfrm>
              <a:off x="3432637" y="3863816"/>
              <a:ext cx="238471" cy="190690"/>
            </a:xfrm>
            <a:prstGeom prst="rect">
              <a:avLst/>
            </a:prstGeom>
            <a:noFill/>
            <a:ln>
              <a:noFill/>
            </a:ln>
          </p:spPr>
          <p:txBody>
            <a:bodyPr wrap="none" lIns="0" tIns="0" rIns="0" bIns="0" anchor="t" anchorCtr="0">
              <a:spAutoFit/>
            </a:bodyPr>
            <a:lstStyle/>
            <a:p>
              <a:pPr algn="ctr"/>
              <a:r>
                <a:rPr lang="zh-CN" sz="980" b="1" dirty="0">
                  <a:solidFill>
                    <a:srgbClr val="1F2937"/>
                  </a:solidFill>
                  <a:latin typeface="+mn-lt"/>
                  <a:ea typeface="+mn-ea"/>
                  <a:cs typeface="+mn-cs"/>
                </a:rPr>
                <a:t>001</a:t>
              </a:r>
            </a:p>
          </p:txBody>
        </p:sp>
        <p:sp>
          <p:nvSpPr>
            <p:cNvPr id="29" name="TextBox 29"/>
            <p:cNvSpPr txBox="1"/>
            <p:nvPr/>
          </p:nvSpPr>
          <p:spPr>
            <a:xfrm>
              <a:off x="1193310" y="2377916"/>
              <a:ext cx="238471" cy="190690"/>
            </a:xfrm>
            <a:prstGeom prst="rect">
              <a:avLst/>
            </a:prstGeom>
            <a:noFill/>
            <a:ln>
              <a:noFill/>
            </a:ln>
          </p:spPr>
          <p:txBody>
            <a:bodyPr wrap="none" lIns="0" tIns="0" rIns="0" bIns="0" anchor="t" anchorCtr="0">
              <a:spAutoFit/>
            </a:bodyPr>
            <a:lstStyle/>
            <a:p>
              <a:pPr algn="ctr"/>
              <a:r>
                <a:rPr lang="zh-CN" sz="980" b="1" dirty="0">
                  <a:solidFill>
                    <a:srgbClr val="1F2937"/>
                  </a:solidFill>
                  <a:latin typeface="+mn-lt"/>
                  <a:ea typeface="+mn-ea"/>
                  <a:cs typeface="+mn-cs"/>
                </a:rPr>
                <a:t>010</a:t>
              </a:r>
            </a:p>
          </p:txBody>
        </p:sp>
        <p:sp>
          <p:nvSpPr>
            <p:cNvPr id="30" name="TextBox 30"/>
            <p:cNvSpPr txBox="1"/>
            <p:nvPr/>
          </p:nvSpPr>
          <p:spPr>
            <a:xfrm>
              <a:off x="3432637" y="2377916"/>
              <a:ext cx="238471" cy="190690"/>
            </a:xfrm>
            <a:prstGeom prst="rect">
              <a:avLst/>
            </a:prstGeom>
            <a:noFill/>
            <a:ln>
              <a:noFill/>
            </a:ln>
          </p:spPr>
          <p:txBody>
            <a:bodyPr wrap="none" lIns="0" tIns="0" rIns="0" bIns="0" anchor="t" anchorCtr="0">
              <a:spAutoFit/>
            </a:bodyPr>
            <a:lstStyle/>
            <a:p>
              <a:pPr algn="ctr"/>
              <a:r>
                <a:rPr lang="zh-CN" sz="980" b="1" dirty="0">
                  <a:solidFill>
                    <a:srgbClr val="1F2937"/>
                  </a:solidFill>
                  <a:latin typeface="+mn-lt"/>
                  <a:ea typeface="+mn-ea"/>
                  <a:cs typeface="+mn-cs"/>
                </a:rPr>
                <a:t>011</a:t>
              </a:r>
            </a:p>
          </p:txBody>
        </p:sp>
        <p:sp>
          <p:nvSpPr>
            <p:cNvPr id="31" name="TextBox 31"/>
            <p:cNvSpPr txBox="1"/>
            <p:nvPr/>
          </p:nvSpPr>
          <p:spPr>
            <a:xfrm>
              <a:off x="2264872" y="3406616"/>
              <a:ext cx="238471" cy="190690"/>
            </a:xfrm>
            <a:prstGeom prst="rect">
              <a:avLst/>
            </a:prstGeom>
            <a:noFill/>
            <a:ln>
              <a:noFill/>
            </a:ln>
          </p:spPr>
          <p:txBody>
            <a:bodyPr wrap="none" lIns="0" tIns="0" rIns="0" bIns="0" anchor="t" anchorCtr="0">
              <a:spAutoFit/>
            </a:bodyPr>
            <a:lstStyle/>
            <a:p>
              <a:pPr algn="ctr"/>
              <a:r>
                <a:rPr lang="zh-CN" sz="980" b="1" dirty="0">
                  <a:solidFill>
                    <a:srgbClr val="1F2937"/>
                  </a:solidFill>
                  <a:latin typeface="+mn-lt"/>
                  <a:ea typeface="+mn-ea"/>
                  <a:cs typeface="+mn-cs"/>
                </a:rPr>
                <a:t>100</a:t>
              </a:r>
            </a:p>
          </p:txBody>
        </p:sp>
        <p:sp>
          <p:nvSpPr>
            <p:cNvPr id="32" name="TextBox 32"/>
            <p:cNvSpPr txBox="1"/>
            <p:nvPr/>
          </p:nvSpPr>
          <p:spPr>
            <a:xfrm>
              <a:off x="4504200" y="3406616"/>
              <a:ext cx="238471" cy="190690"/>
            </a:xfrm>
            <a:prstGeom prst="rect">
              <a:avLst/>
            </a:prstGeom>
            <a:noFill/>
            <a:ln>
              <a:noFill/>
            </a:ln>
          </p:spPr>
          <p:txBody>
            <a:bodyPr wrap="none" lIns="0" tIns="0" rIns="0" bIns="0" anchor="t" anchorCtr="0">
              <a:spAutoFit/>
            </a:bodyPr>
            <a:lstStyle/>
            <a:p>
              <a:pPr algn="ctr"/>
              <a:r>
                <a:rPr lang="zh-CN" sz="980" b="1" dirty="0">
                  <a:solidFill>
                    <a:srgbClr val="1F2937"/>
                  </a:solidFill>
                  <a:latin typeface="+mn-lt"/>
                  <a:ea typeface="+mn-ea"/>
                  <a:cs typeface="+mn-cs"/>
                </a:rPr>
                <a:t>101</a:t>
              </a:r>
            </a:p>
          </p:txBody>
        </p:sp>
        <p:sp>
          <p:nvSpPr>
            <p:cNvPr id="33" name="TextBox 33"/>
            <p:cNvSpPr txBox="1"/>
            <p:nvPr/>
          </p:nvSpPr>
          <p:spPr>
            <a:xfrm>
              <a:off x="2264872" y="1920716"/>
              <a:ext cx="238471" cy="190690"/>
            </a:xfrm>
            <a:prstGeom prst="rect">
              <a:avLst/>
            </a:prstGeom>
            <a:noFill/>
            <a:ln>
              <a:noFill/>
            </a:ln>
          </p:spPr>
          <p:txBody>
            <a:bodyPr wrap="none" lIns="0" tIns="0" rIns="0" bIns="0" anchor="t" anchorCtr="0">
              <a:spAutoFit/>
            </a:bodyPr>
            <a:lstStyle/>
            <a:p>
              <a:pPr algn="ctr"/>
              <a:r>
                <a:rPr lang="zh-CN" sz="980" b="1" dirty="0">
                  <a:solidFill>
                    <a:srgbClr val="1F2937"/>
                  </a:solidFill>
                  <a:latin typeface="+mn-lt"/>
                  <a:ea typeface="+mn-ea"/>
                  <a:cs typeface="+mn-cs"/>
                </a:rPr>
                <a:t>110</a:t>
              </a:r>
            </a:p>
          </p:txBody>
        </p:sp>
        <p:sp>
          <p:nvSpPr>
            <p:cNvPr id="34" name="TextBox 34"/>
            <p:cNvSpPr txBox="1"/>
            <p:nvPr/>
          </p:nvSpPr>
          <p:spPr>
            <a:xfrm>
              <a:off x="4504200" y="1920716"/>
              <a:ext cx="238471" cy="190690"/>
            </a:xfrm>
            <a:prstGeom prst="rect">
              <a:avLst/>
            </a:prstGeom>
            <a:noFill/>
            <a:ln>
              <a:noFill/>
            </a:ln>
          </p:spPr>
          <p:txBody>
            <a:bodyPr wrap="none" lIns="0" tIns="0" rIns="0" bIns="0" anchor="t" anchorCtr="0">
              <a:spAutoFit/>
            </a:bodyPr>
            <a:lstStyle/>
            <a:p>
              <a:pPr algn="ctr"/>
              <a:r>
                <a:rPr lang="zh-CN" sz="980" b="1" dirty="0">
                  <a:solidFill>
                    <a:srgbClr val="1F2937"/>
                  </a:solidFill>
                  <a:latin typeface="+mn-lt"/>
                  <a:ea typeface="+mn-ea"/>
                  <a:cs typeface="+mn-cs"/>
                </a:rPr>
                <a:t>111</a:t>
              </a:r>
            </a:p>
          </p:txBody>
        </p:sp>
      </p:grpSp>
      <p:grpSp>
        <p:nvGrpSpPr>
          <p:cNvPr id="37" name="c1-text-2"/>
          <p:cNvGrpSpPr/>
          <p:nvPr/>
        </p:nvGrpSpPr>
        <p:grpSpPr>
          <a:xfrm>
            <a:off x="526923" y="4593431"/>
            <a:ext cx="4381104" cy="249364"/>
            <a:chOff x="526923" y="4593431"/>
            <a:chExt cx="4381104" cy="249364"/>
          </a:xfrm>
        </p:grpSpPr>
        <p:sp>
          <p:nvSpPr>
            <p:cNvPr id="36" name="TextBox 36"/>
            <p:cNvSpPr txBox="1"/>
            <p:nvPr/>
          </p:nvSpPr>
          <p:spPr>
            <a:xfrm>
              <a:off x="526923" y="4593431"/>
              <a:ext cx="4381104" cy="249364"/>
            </a:xfrm>
            <a:prstGeom prst="rect">
              <a:avLst/>
            </a:prstGeom>
            <a:noFill/>
            <a:ln>
              <a:noFill/>
            </a:ln>
          </p:spPr>
          <p:txBody>
            <a:bodyPr wrap="none" lIns="0" tIns="0" rIns="0" bIns="0" anchor="t" anchorCtr="0">
              <a:spAutoFit/>
            </a:bodyPr>
            <a:lstStyle/>
            <a:p>
              <a:pPr algn="l"/>
              <a:r>
                <a:rPr lang="zh-CN" sz="1280" dirty="0">
                  <a:solidFill>
                    <a:srgbClr val="5B6475"/>
                  </a:solidFill>
                  <a:latin typeface="+mn-lt"/>
                  <a:ea typeface="+mn-ea"/>
                  <a:cs typeface="+mn-cs"/>
                </a:rPr>
                <a:t>3-立方：蓝、绿、橙三种边分别改变地址的第 0、1、2 位</a:t>
              </a:r>
            </a:p>
          </p:txBody>
        </p:sp>
      </p:grpSp>
      <p:grpSp>
        <p:nvGrpSpPr>
          <p:cNvPr id="44" name="c1-callout-3"/>
          <p:cNvGrpSpPr/>
          <p:nvPr/>
        </p:nvGrpSpPr>
        <p:grpSpPr>
          <a:xfrm>
            <a:off x="533400" y="4982528"/>
            <a:ext cx="4869180" cy="1335405"/>
            <a:chOff x="533400" y="4982528"/>
            <a:chExt cx="4869180" cy="1335405"/>
          </a:xfrm>
        </p:grpSpPr>
        <p:sp>
          <p:nvSpPr>
            <p:cNvPr id="38" name="Rectangle 38"/>
            <p:cNvSpPr/>
            <p:nvPr/>
          </p:nvSpPr>
          <p:spPr>
            <a:xfrm>
              <a:off x="533400" y="4982528"/>
              <a:ext cx="4869180" cy="1335405"/>
            </a:xfrm>
            <a:prstGeom prst="roundRect">
              <a:avLst>
                <a:gd name="adj" fmla="val 8559"/>
              </a:avLst>
            </a:prstGeom>
            <a:solidFill>
              <a:srgbClr val="F4F6FB"/>
            </a:solidFill>
            <a:ln>
              <a:noFill/>
            </a:ln>
          </p:spPr>
        </p:sp>
        <p:grpSp>
          <p:nvGrpSpPr>
            <p:cNvPr id="42" name="Group 42"/>
            <p:cNvGrpSpPr/>
            <p:nvPr/>
          </p:nvGrpSpPr>
          <p:grpSpPr>
            <a:xfrm>
              <a:off x="738188" y="5550218"/>
              <a:ext cx="200026" cy="200026"/>
              <a:chOff x="738188" y="5550218"/>
              <a:chExt cx="200026" cy="200026"/>
            </a:xfrm>
          </p:grpSpPr>
          <p:sp>
            <p:nvSpPr>
              <p:cNvPr id="39" name="Freeform 39"/>
              <p:cNvSpPr/>
              <p:nvPr/>
            </p:nvSpPr>
            <p:spPr>
              <a:xfrm>
                <a:off x="738188" y="5550218"/>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1F2937"/>
                </a:solidFill>
              </a:ln>
            </p:spPr>
          </p:sp>
          <p:sp>
            <p:nvSpPr>
              <p:cNvPr id="40" name="Freeform 40"/>
              <p:cNvSpPr/>
              <p:nvPr/>
            </p:nvSpPr>
            <p:spPr>
              <a:xfrm>
                <a:off x="838200" y="5616893"/>
                <a:ext cx="9525" cy="9525"/>
              </a:xfrm>
              <a:custGeom>
                <a:avLst/>
                <a:gdLst/>
                <a:ahLst/>
                <a:cxnLst/>
                <a:rect l="l" t="t" r="r" b="b"/>
                <a:pathLst>
                  <a:path w="9525" h="9525">
                    <a:moveTo>
                      <a:pt x="0" y="0"/>
                    </a:moveTo>
                    <a:lnTo>
                      <a:pt x="111" y="0"/>
                    </a:lnTo>
                  </a:path>
                </a:pathLst>
              </a:custGeom>
              <a:noFill/>
              <a:ln w="22225">
                <a:solidFill>
                  <a:srgbClr val="1F2937"/>
                </a:solidFill>
              </a:ln>
            </p:spPr>
          </p:sp>
          <p:sp>
            <p:nvSpPr>
              <p:cNvPr id="41" name="Freeform 41"/>
              <p:cNvSpPr/>
              <p:nvPr/>
            </p:nvSpPr>
            <p:spPr>
              <a:xfrm>
                <a:off x="827088" y="5650230"/>
                <a:ext cx="22225" cy="44450"/>
              </a:xfrm>
              <a:custGeom>
                <a:avLst/>
                <a:gdLst/>
                <a:ahLst/>
                <a:cxnLst/>
                <a:rect l="l" t="t" r="r" b="b"/>
                <a:pathLst>
                  <a:path w="22225" h="44450">
                    <a:moveTo>
                      <a:pt x="0" y="0"/>
                    </a:moveTo>
                    <a:lnTo>
                      <a:pt x="11113" y="0"/>
                    </a:lnTo>
                    <a:lnTo>
                      <a:pt x="11113" y="44450"/>
                    </a:lnTo>
                    <a:lnTo>
                      <a:pt x="22225" y="44450"/>
                    </a:lnTo>
                  </a:path>
                </a:pathLst>
              </a:custGeom>
              <a:noFill/>
              <a:ln w="22225">
                <a:solidFill>
                  <a:srgbClr val="1F2937"/>
                </a:solidFill>
              </a:ln>
            </p:spPr>
          </p:sp>
        </p:grpSp>
        <p:sp>
          <p:nvSpPr>
            <p:cNvPr id="43" name="TextBox 43"/>
            <p:cNvSpPr txBox="1"/>
            <p:nvPr/>
          </p:nvSpPr>
          <p:spPr>
            <a:xfrm>
              <a:off x="1040130" y="5131118"/>
              <a:ext cx="3930015" cy="1122045"/>
            </a:xfrm>
            <a:prstGeom prst="rect">
              <a:avLst/>
            </a:prstGeom>
            <a:noFill/>
            <a:ln>
              <a:noFill/>
            </a:ln>
          </p:spPr>
          <p:txBody>
            <a:bodyPr wrap="none" lIns="0" tIns="0" rIns="0" bIns="0" anchor="t" anchorCtr="0">
              <a:spAutoFit/>
            </a:bodyPr>
            <a:lstStyle/>
            <a:p>
              <a:pPr algn="l">
                <a:lnSpc>
                  <a:spcPts val="2175"/>
                </a:lnSpc>
              </a:pPr>
              <a:r>
                <a:rPr lang="zh-CN" sz="1500" dirty="0">
                  <a:solidFill>
                    <a:srgbClr val="1F2937"/>
                  </a:solidFill>
                  <a:latin typeface="+mn-lt"/>
                  <a:ea typeface="+mn-ea"/>
                  <a:cs typeface="+mn-cs"/>
                </a:rPr>
                <a:t>超立方环：把 3-立方的每个顶点换成一个 3 节</a:t>
              </a:r>
              <a:br/>
              <a:r>
                <a:rPr lang="zh-CN" sz="1500" dirty="0">
                  <a:solidFill>
                    <a:srgbClr val="1F2937"/>
                  </a:solidFill>
                  <a:latin typeface="+mn-lt"/>
                  <a:ea typeface="+mn-ea"/>
                  <a:cs typeface="+mn-cs"/>
                </a:rPr>
                <a:t>点的环，得到 24 个节点、度 3、直径 6 的网</a:t>
              </a:r>
              <a:br/>
              <a:r>
                <a:rPr lang="zh-CN" sz="1500" dirty="0">
                  <a:solidFill>
                    <a:srgbClr val="1F2937"/>
                  </a:solidFill>
                  <a:latin typeface="+mn-lt"/>
                  <a:ea typeface="+mn-ea"/>
                  <a:cs typeface="+mn-cs"/>
                </a:rPr>
                <a:t>络。超立方和超立方环可扩放性差、应用价值</a:t>
              </a:r>
              <a:br/>
              <a:r>
                <a:rPr lang="zh-CN" sz="1500" dirty="0">
                  <a:solidFill>
                    <a:srgbClr val="1F2937"/>
                  </a:solidFill>
                  <a:latin typeface="+mn-lt"/>
                  <a:ea typeface="+mn-ea"/>
                  <a:cs typeface="+mn-cs"/>
                </a:rPr>
                <a:t>不高，主要有学术价值。</a:t>
              </a:r>
            </a:p>
          </p:txBody>
        </p:sp>
      </p:grpSp>
      <p:grpSp>
        <p:nvGrpSpPr>
          <p:cNvPr id="55" name="c2-card-1"/>
          <p:cNvGrpSpPr/>
          <p:nvPr/>
        </p:nvGrpSpPr>
        <p:grpSpPr>
          <a:xfrm>
            <a:off x="5707380" y="1524000"/>
            <a:ext cx="5951220" cy="2272665"/>
            <a:chOff x="5707380" y="1524000"/>
            <a:chExt cx="5951220" cy="2272665"/>
          </a:xfrm>
        </p:grpSpPr>
        <p:sp>
          <p:nvSpPr>
            <p:cNvPr id="45" name="Rectangle 45"/>
            <p:cNvSpPr/>
            <p:nvPr/>
          </p:nvSpPr>
          <p:spPr>
            <a:xfrm>
              <a:off x="5707380" y="1524000"/>
              <a:ext cx="5951220" cy="2272665"/>
            </a:xfrm>
            <a:prstGeom prst="roundRect">
              <a:avLst>
                <a:gd name="adj" fmla="val 5868"/>
              </a:avLst>
            </a:prstGeom>
            <a:solidFill>
              <a:srgbClr val="FFFFFF"/>
            </a:solidFill>
            <a:ln w="14288">
              <a:solidFill>
                <a:srgbClr val="D9DFEA"/>
              </a:solidFill>
            </a:ln>
          </p:spPr>
        </p:sp>
        <p:sp>
          <p:nvSpPr>
            <p:cNvPr id="46" name="Rectangle 46"/>
            <p:cNvSpPr/>
            <p:nvPr/>
          </p:nvSpPr>
          <p:spPr>
            <a:xfrm>
              <a:off x="5716905" y="1657350"/>
              <a:ext cx="47625" cy="2005965"/>
            </a:xfrm>
            <a:prstGeom prst="roundRect">
              <a:avLst>
                <a:gd name="adj" fmla="val 50000"/>
              </a:avLst>
            </a:prstGeom>
            <a:solidFill>
              <a:srgbClr val="334E68"/>
            </a:solidFill>
            <a:ln>
              <a:noFill/>
            </a:ln>
          </p:spPr>
        </p:sp>
        <p:sp>
          <p:nvSpPr>
            <p:cNvPr id="47" name="Rectangle 47"/>
            <p:cNvSpPr/>
            <p:nvPr/>
          </p:nvSpPr>
          <p:spPr>
            <a:xfrm>
              <a:off x="5955030" y="1733550"/>
              <a:ext cx="1645920" cy="257175"/>
            </a:xfrm>
            <a:prstGeom prst="roundRect">
              <a:avLst>
                <a:gd name="adj" fmla="val 50000"/>
              </a:avLst>
            </a:prstGeom>
            <a:solidFill>
              <a:srgbClr val="E7EDF3"/>
            </a:solidFill>
            <a:ln>
              <a:noFill/>
            </a:ln>
          </p:spPr>
        </p:sp>
        <p:sp>
          <p:nvSpPr>
            <p:cNvPr id="48" name="TextBox 48"/>
            <p:cNvSpPr txBox="1"/>
            <p:nvPr/>
          </p:nvSpPr>
          <p:spPr>
            <a:xfrm>
              <a:off x="6010864" y="1769269"/>
              <a:ext cx="1534251"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2 元 n 立方（超立方）</a:t>
              </a:r>
            </a:p>
          </p:txBody>
        </p:sp>
        <p:sp>
          <p:nvSpPr>
            <p:cNvPr id="49" name="Ellipse 49"/>
            <p:cNvSpPr/>
            <p:nvPr/>
          </p:nvSpPr>
          <p:spPr>
            <a:xfrm>
              <a:off x="5960745" y="2173605"/>
              <a:ext cx="64770" cy="64770"/>
            </a:xfrm>
            <a:prstGeom prst="ellipse">
              <a:avLst/>
            </a:prstGeom>
            <a:solidFill>
              <a:srgbClr val="334E68"/>
            </a:solidFill>
            <a:ln>
              <a:noFill/>
            </a:ln>
          </p:spPr>
        </p:sp>
        <p:sp>
          <p:nvSpPr>
            <p:cNvPr id="50" name="TextBox 50"/>
            <p:cNvSpPr txBox="1"/>
            <p:nvPr/>
          </p:nvSpPr>
          <p:spPr>
            <a:xfrm>
              <a:off x="6118860" y="2110740"/>
              <a:ext cx="5044440"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N = 2ⁿ 个节点分布在 n 维上，每维 2 个节点，每个节点是立</a:t>
              </a:r>
              <a:br/>
              <a:r>
                <a:rPr lang="zh-CN" sz="1500" dirty="0">
                  <a:solidFill>
                    <a:srgbClr val="1F2937"/>
                  </a:solidFill>
                  <a:latin typeface="+mn-lt"/>
                  <a:ea typeface="+mn-ea"/>
                  <a:cs typeface="+mn-cs"/>
                </a:rPr>
                <a:t>方体的一个顶点</a:t>
              </a:r>
            </a:p>
          </p:txBody>
        </p:sp>
        <p:sp>
          <p:nvSpPr>
            <p:cNvPr id="51" name="Ellipse 51"/>
            <p:cNvSpPr/>
            <p:nvPr/>
          </p:nvSpPr>
          <p:spPr>
            <a:xfrm>
              <a:off x="5960745" y="2794635"/>
              <a:ext cx="64770" cy="64770"/>
            </a:xfrm>
            <a:prstGeom prst="ellipse">
              <a:avLst/>
            </a:prstGeom>
            <a:solidFill>
              <a:srgbClr val="334E68"/>
            </a:solidFill>
            <a:ln>
              <a:noFill/>
            </a:ln>
          </p:spPr>
        </p:sp>
        <p:sp>
          <p:nvSpPr>
            <p:cNvPr id="52" name="TextBox 52"/>
            <p:cNvSpPr txBox="1"/>
            <p:nvPr/>
          </p:nvSpPr>
          <p:spPr>
            <a:xfrm>
              <a:off x="6118860" y="2731770"/>
              <a:ext cx="3084576"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节点度 n，直径 n，对剖宽度 2ⁿ⁻¹</a:t>
              </a:r>
            </a:p>
          </p:txBody>
        </p:sp>
        <p:sp>
          <p:nvSpPr>
            <p:cNvPr id="53" name="Ellipse 53"/>
            <p:cNvSpPr/>
            <p:nvPr/>
          </p:nvSpPr>
          <p:spPr>
            <a:xfrm>
              <a:off x="5960745" y="3129915"/>
              <a:ext cx="64770" cy="64770"/>
            </a:xfrm>
            <a:prstGeom prst="ellipse">
              <a:avLst/>
            </a:prstGeom>
            <a:solidFill>
              <a:srgbClr val="334E68"/>
            </a:solidFill>
            <a:ln>
              <a:noFill/>
            </a:ln>
          </p:spPr>
        </p:sp>
        <p:sp>
          <p:nvSpPr>
            <p:cNvPr id="54" name="TextBox 54"/>
            <p:cNvSpPr txBox="1"/>
            <p:nvPr/>
          </p:nvSpPr>
          <p:spPr>
            <a:xfrm>
              <a:off x="6118860" y="3067050"/>
              <a:ext cx="4968240"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两个 n − 1 维立方体的对应顶点相连就得到 n 维立方体（原</a:t>
              </a:r>
              <a:br/>
              <a:r>
                <a:rPr lang="zh-CN" sz="1500" dirty="0">
                  <a:solidFill>
                    <a:srgbClr val="1F2937"/>
                  </a:solidFill>
                  <a:latin typeface="+mn-lt"/>
                  <a:ea typeface="+mn-ea"/>
                  <a:cs typeface="+mn-cs"/>
                </a:rPr>
                <a:t>课件第99页：两个 3-立方组成 4-立方）</a:t>
              </a:r>
            </a:p>
          </p:txBody>
        </p:sp>
      </p:grpSp>
      <p:grpSp>
        <p:nvGrpSpPr>
          <p:cNvPr id="66" name="c2-card-2"/>
          <p:cNvGrpSpPr/>
          <p:nvPr/>
        </p:nvGrpSpPr>
        <p:grpSpPr>
          <a:xfrm>
            <a:off x="5707380" y="3987165"/>
            <a:ext cx="5951220" cy="2330768"/>
            <a:chOff x="5707380" y="3987165"/>
            <a:chExt cx="5951220" cy="2330768"/>
          </a:xfrm>
        </p:grpSpPr>
        <p:sp>
          <p:nvSpPr>
            <p:cNvPr id="56" name="Rectangle 56"/>
            <p:cNvSpPr/>
            <p:nvPr/>
          </p:nvSpPr>
          <p:spPr>
            <a:xfrm>
              <a:off x="5707380" y="3987165"/>
              <a:ext cx="5951220" cy="2330768"/>
            </a:xfrm>
            <a:prstGeom prst="roundRect">
              <a:avLst>
                <a:gd name="adj" fmla="val 5721"/>
              </a:avLst>
            </a:prstGeom>
            <a:solidFill>
              <a:srgbClr val="FFFFFF"/>
            </a:solidFill>
            <a:ln w="14288">
              <a:solidFill>
                <a:srgbClr val="D9DFEA"/>
              </a:solidFill>
            </a:ln>
          </p:spPr>
        </p:sp>
        <p:sp>
          <p:nvSpPr>
            <p:cNvPr id="57" name="Rectangle 57"/>
            <p:cNvSpPr/>
            <p:nvPr/>
          </p:nvSpPr>
          <p:spPr>
            <a:xfrm>
              <a:off x="5716905" y="4120515"/>
              <a:ext cx="47625" cy="2064068"/>
            </a:xfrm>
            <a:prstGeom prst="roundRect">
              <a:avLst>
                <a:gd name="adj" fmla="val 50000"/>
              </a:avLst>
            </a:prstGeom>
            <a:solidFill>
              <a:srgbClr val="334E68"/>
            </a:solidFill>
            <a:ln>
              <a:noFill/>
            </a:ln>
          </p:spPr>
        </p:sp>
        <p:sp>
          <p:nvSpPr>
            <p:cNvPr id="58" name="Rectangle 58"/>
            <p:cNvSpPr/>
            <p:nvPr/>
          </p:nvSpPr>
          <p:spPr>
            <a:xfrm>
              <a:off x="5955030" y="4196715"/>
              <a:ext cx="935355" cy="257175"/>
            </a:xfrm>
            <a:prstGeom prst="roundRect">
              <a:avLst>
                <a:gd name="adj" fmla="val 50000"/>
              </a:avLst>
            </a:prstGeom>
            <a:solidFill>
              <a:srgbClr val="E7EDF3"/>
            </a:solidFill>
            <a:ln>
              <a:noFill/>
            </a:ln>
          </p:spPr>
        </p:sp>
        <p:sp>
          <p:nvSpPr>
            <p:cNvPr id="59" name="TextBox 59"/>
            <p:cNvSpPr txBox="1"/>
            <p:nvPr/>
          </p:nvSpPr>
          <p:spPr>
            <a:xfrm>
              <a:off x="6032518" y="4232434"/>
              <a:ext cx="780379"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k 元 n 立方</a:t>
              </a:r>
            </a:p>
          </p:txBody>
        </p:sp>
        <p:sp>
          <p:nvSpPr>
            <p:cNvPr id="60" name="Ellipse 60"/>
            <p:cNvSpPr/>
            <p:nvPr/>
          </p:nvSpPr>
          <p:spPr>
            <a:xfrm>
              <a:off x="5960745" y="4636770"/>
              <a:ext cx="64770" cy="64770"/>
            </a:xfrm>
            <a:prstGeom prst="ellipse">
              <a:avLst/>
            </a:prstGeom>
            <a:solidFill>
              <a:srgbClr val="334E68"/>
            </a:solidFill>
            <a:ln>
              <a:noFill/>
            </a:ln>
          </p:spPr>
        </p:sp>
        <p:sp>
          <p:nvSpPr>
            <p:cNvPr id="61" name="TextBox 61"/>
            <p:cNvSpPr txBox="1"/>
            <p:nvPr/>
          </p:nvSpPr>
          <p:spPr>
            <a:xfrm>
              <a:off x="6118860" y="4573905"/>
              <a:ext cx="4882515"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N = kⁿ 个节点，每维 k 个节点，节点地址是 n 位 k 进制数</a:t>
              </a:r>
              <a:br/>
              <a:r>
                <a:rPr lang="zh-CN" sz="1500" dirty="0">
                  <a:solidFill>
                    <a:srgbClr val="1F2937"/>
                  </a:solidFill>
                  <a:latin typeface="+mn-lt"/>
                  <a:ea typeface="+mn-ea"/>
                  <a:cs typeface="+mn-cs"/>
                </a:rPr>
                <a:t>a₀a₁…aₙ₋₁，aᵢ 表示第 i 维上的位置</a:t>
              </a:r>
            </a:p>
          </p:txBody>
        </p:sp>
        <p:sp>
          <p:nvSpPr>
            <p:cNvPr id="62" name="Ellipse 62"/>
            <p:cNvSpPr/>
            <p:nvPr/>
          </p:nvSpPr>
          <p:spPr>
            <a:xfrm>
              <a:off x="5960745" y="5257800"/>
              <a:ext cx="64770" cy="64770"/>
            </a:xfrm>
            <a:prstGeom prst="ellipse">
              <a:avLst/>
            </a:prstGeom>
            <a:solidFill>
              <a:srgbClr val="334E68"/>
            </a:solidFill>
            <a:ln>
              <a:noFill/>
            </a:ln>
          </p:spPr>
        </p:sp>
        <p:sp>
          <p:nvSpPr>
            <p:cNvPr id="63" name="TextBox 63"/>
            <p:cNvSpPr txBox="1"/>
            <p:nvPr/>
          </p:nvSpPr>
          <p:spPr>
            <a:xfrm>
              <a:off x="6118860" y="5194935"/>
              <a:ext cx="4996815"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环、网格、环网、二元 n 立方都和它拓扑同构；习惯上低维</a:t>
              </a:r>
              <a:br/>
              <a:r>
                <a:rPr lang="zh-CN" sz="1500" dirty="0">
                  <a:solidFill>
                    <a:srgbClr val="1F2937"/>
                  </a:solidFill>
                  <a:latin typeface="+mn-lt"/>
                  <a:ea typeface="+mn-ea"/>
                  <a:cs typeface="+mn-cs"/>
                </a:rPr>
                <a:t>的叫环网，高维二元的叫超立方</a:t>
              </a:r>
            </a:p>
          </p:txBody>
        </p:sp>
        <p:sp>
          <p:nvSpPr>
            <p:cNvPr id="64" name="Ellipse 64"/>
            <p:cNvSpPr/>
            <p:nvPr/>
          </p:nvSpPr>
          <p:spPr>
            <a:xfrm>
              <a:off x="5960745" y="5878830"/>
              <a:ext cx="64770" cy="64770"/>
            </a:xfrm>
            <a:prstGeom prst="ellipse">
              <a:avLst/>
            </a:prstGeom>
            <a:solidFill>
              <a:srgbClr val="334E68"/>
            </a:solidFill>
            <a:ln>
              <a:noFill/>
            </a:ln>
          </p:spPr>
        </p:sp>
        <p:sp>
          <p:nvSpPr>
            <p:cNvPr id="65" name="TextBox 65"/>
            <p:cNvSpPr txBox="1"/>
            <p:nvPr/>
          </p:nvSpPr>
          <p:spPr>
            <a:xfrm>
              <a:off x="6118860" y="5815965"/>
              <a:ext cx="3468243"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4 元 3 立方：64 个节点，度 6，直径 6</a:t>
              </a:r>
            </a:p>
          </p:txBody>
        </p:sp>
      </p:grpSp>
      <p:grpSp>
        <p:nvGrpSpPr>
          <p:cNvPr id="69" name="footer"/>
          <p:cNvGrpSpPr/>
          <p:nvPr/>
        </p:nvGrpSpPr>
        <p:grpSpPr>
          <a:xfrm>
            <a:off x="528447" y="6581299"/>
            <a:ext cx="11135106" cy="190690"/>
            <a:chOff x="528447" y="6581299"/>
            <a:chExt cx="11135106" cy="190690"/>
          </a:xfrm>
        </p:grpSpPr>
        <p:sp>
          <p:nvSpPr>
            <p:cNvPr id="67" name="TextBox 67"/>
            <p:cNvSpPr txBox="1"/>
            <p:nvPr/>
          </p:nvSpPr>
          <p:spPr>
            <a:xfrm>
              <a:off x="528447" y="6581299"/>
              <a:ext cx="2120748"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并行与分布式计算 · 第7章 体系结构</a:t>
              </a:r>
            </a:p>
          </p:txBody>
        </p:sp>
        <p:sp>
          <p:nvSpPr>
            <p:cNvPr id="68" name="TextBox 68"/>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46</a:t>
              </a:r>
            </a:p>
          </p:txBody>
        </p:sp>
      </p:grpSp>
    </p:spTree>
  </p:cSld>
  <p:clrMapOvr>
    <a:masterClrMapping/>
  </p:clrMapOvr>
  <p:transition xmlns:p14="http://schemas.microsoft.com/office/powerpoint/2010/main" p14:dur="400">
    <p:fade/>
  </p:transition>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2772156" cy="909257"/>
            <a:chOff x="520446" y="342900"/>
            <a:chExt cx="2772156" cy="909257"/>
          </a:xfrm>
        </p:grpSpPr>
        <p:sp>
          <p:nvSpPr>
            <p:cNvPr id="2" name="Rectangle 2"/>
            <p:cNvSpPr/>
            <p:nvPr/>
          </p:nvSpPr>
          <p:spPr>
            <a:xfrm>
              <a:off x="533400" y="342900"/>
              <a:ext cx="1987868" cy="266700"/>
            </a:xfrm>
            <a:prstGeom prst="roundRect">
              <a:avLst>
                <a:gd name="adj" fmla="val 50000"/>
              </a:avLst>
            </a:prstGeom>
            <a:solidFill>
              <a:srgbClr val="E7EDF3"/>
            </a:solidFill>
            <a:ln>
              <a:noFill/>
            </a:ln>
          </p:spPr>
        </p:sp>
        <p:sp>
          <p:nvSpPr>
            <p:cNvPr id="3" name="TextBox 3"/>
            <p:cNvSpPr txBox="1"/>
            <p:nvPr/>
          </p:nvSpPr>
          <p:spPr>
            <a:xfrm>
              <a:off x="608957" y="407194"/>
              <a:ext cx="1835800"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第7章 体系结构 · 互连结构</a:t>
              </a:r>
            </a:p>
          </p:txBody>
        </p:sp>
        <p:sp>
          <p:nvSpPr>
            <p:cNvPr id="4" name="TextBox 4"/>
            <p:cNvSpPr txBox="1"/>
            <p:nvPr/>
          </p:nvSpPr>
          <p:spPr>
            <a:xfrm>
              <a:off x="520446" y="753428"/>
              <a:ext cx="2772156"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静态网络参数汇总</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57" name="c1-table-1"/>
          <p:cNvGrpSpPr/>
          <p:nvPr/>
        </p:nvGrpSpPr>
        <p:grpSpPr>
          <a:xfrm>
            <a:off x="527685" y="1524000"/>
            <a:ext cx="5415915" cy="4160044"/>
            <a:chOff x="527685" y="1524000"/>
            <a:chExt cx="5415915" cy="4160044"/>
          </a:xfrm>
        </p:grpSpPr>
        <p:sp>
          <p:nvSpPr>
            <p:cNvPr id="7" name="Rectangle 7"/>
            <p:cNvSpPr/>
            <p:nvPr/>
          </p:nvSpPr>
          <p:spPr>
            <a:xfrm>
              <a:off x="533400" y="1524000"/>
              <a:ext cx="5410200" cy="643890"/>
            </a:xfrm>
            <a:prstGeom prst="rect">
              <a:avLst/>
            </a:prstGeom>
            <a:solidFill>
              <a:srgbClr val="334E68"/>
            </a:solidFill>
            <a:ln>
              <a:noFill/>
            </a:ln>
          </p:spPr>
        </p:sp>
        <p:sp>
          <p:nvSpPr>
            <p:cNvPr id="8" name="TextBox 8"/>
            <p:cNvSpPr txBox="1"/>
            <p:nvPr/>
          </p:nvSpPr>
          <p:spPr>
            <a:xfrm>
              <a:off x="1177290" y="1762125"/>
              <a:ext cx="335280"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网络</a:t>
              </a:r>
            </a:p>
          </p:txBody>
        </p:sp>
        <p:sp>
          <p:nvSpPr>
            <p:cNvPr id="9" name="TextBox 9"/>
            <p:cNvSpPr txBox="1"/>
            <p:nvPr/>
          </p:nvSpPr>
          <p:spPr>
            <a:xfrm>
              <a:off x="2394776" y="1762125"/>
              <a:ext cx="496824"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节点度</a:t>
              </a:r>
            </a:p>
          </p:txBody>
        </p:sp>
        <p:sp>
          <p:nvSpPr>
            <p:cNvPr id="10" name="TextBox 10"/>
            <p:cNvSpPr txBox="1"/>
            <p:nvPr/>
          </p:nvSpPr>
          <p:spPr>
            <a:xfrm>
              <a:off x="3422332" y="1762125"/>
              <a:ext cx="335280"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直径</a:t>
              </a:r>
            </a:p>
          </p:txBody>
        </p:sp>
        <p:sp>
          <p:nvSpPr>
            <p:cNvPr id="11" name="TextBox 11"/>
            <p:cNvSpPr txBox="1"/>
            <p:nvPr/>
          </p:nvSpPr>
          <p:spPr>
            <a:xfrm>
              <a:off x="4221099" y="1655445"/>
              <a:ext cx="469392" cy="448056"/>
            </a:xfrm>
            <a:prstGeom prst="rect">
              <a:avLst/>
            </a:prstGeom>
            <a:noFill/>
            <a:ln>
              <a:noFill/>
            </a:ln>
          </p:spPr>
          <p:txBody>
            <a:bodyPr wrap="none" lIns="0" tIns="0" rIns="0" bIns="0" anchor="t" anchorCtr="0">
              <a:spAutoFit/>
            </a:bodyPr>
            <a:lstStyle/>
            <a:p>
              <a:pPr algn="ctr">
                <a:lnSpc>
                  <a:spcPts val="1680"/>
                </a:lnSpc>
              </a:pPr>
              <a:r>
                <a:rPr lang="zh-CN" sz="1200" b="1" dirty="0">
                  <a:solidFill>
                    <a:srgbClr val="FFFFFF"/>
                  </a:solidFill>
                  <a:latin typeface="+mn-lt"/>
                  <a:ea typeface="+mn-ea"/>
                  <a:cs typeface="+mn-cs"/>
                </a:rPr>
                <a:t>对剖宽</a:t>
              </a:r>
              <a:br/>
              <a:r>
                <a:rPr lang="zh-CN" sz="1200" b="1" dirty="0">
                  <a:solidFill>
                    <a:srgbClr val="FFFFFF"/>
                  </a:solidFill>
                  <a:latin typeface="+mn-lt"/>
                  <a:ea typeface="+mn-ea"/>
                  <a:cs typeface="+mn-cs"/>
                </a:rPr>
                <a:t>度</a:t>
              </a:r>
            </a:p>
          </p:txBody>
        </p:sp>
        <p:sp>
          <p:nvSpPr>
            <p:cNvPr id="12" name="TextBox 12"/>
            <p:cNvSpPr txBox="1"/>
            <p:nvPr/>
          </p:nvSpPr>
          <p:spPr>
            <a:xfrm>
              <a:off x="5154168" y="1762125"/>
              <a:ext cx="496824"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链路数</a:t>
              </a:r>
            </a:p>
          </p:txBody>
        </p:sp>
        <p:sp>
          <p:nvSpPr>
            <p:cNvPr id="13" name="TextBox 13"/>
            <p:cNvSpPr txBox="1"/>
            <p:nvPr/>
          </p:nvSpPr>
          <p:spPr>
            <a:xfrm>
              <a:off x="638746" y="2405063"/>
              <a:ext cx="981456" cy="234696"/>
            </a:xfrm>
            <a:prstGeom prst="rect">
              <a:avLst/>
            </a:prstGeom>
            <a:noFill/>
            <a:ln>
              <a:noFill/>
            </a:ln>
          </p:spPr>
          <p:txBody>
            <a:bodyPr wrap="none" lIns="0" tIns="0" rIns="0" bIns="0" anchor="t" anchorCtr="0">
              <a:spAutoFit/>
            </a:bodyPr>
            <a:lstStyle/>
            <a:p>
              <a:pPr algn="l"/>
              <a:r>
                <a:rPr lang="zh-CN" sz="1200" b="1" dirty="0">
                  <a:solidFill>
                    <a:srgbClr val="1F2937"/>
                  </a:solidFill>
                  <a:latin typeface="+mn-lt"/>
                  <a:ea typeface="+mn-ea"/>
                  <a:cs typeface="+mn-cs"/>
                </a:rPr>
                <a:t>一维线性阵列</a:t>
              </a:r>
            </a:p>
          </p:txBody>
        </p:sp>
        <p:sp>
          <p:nvSpPr>
            <p:cNvPr id="14" name="TextBox 14"/>
            <p:cNvSpPr txBox="1"/>
            <p:nvPr/>
          </p:nvSpPr>
          <p:spPr>
            <a:xfrm>
              <a:off x="2366582" y="2298382"/>
              <a:ext cx="553212" cy="448056"/>
            </a:xfrm>
            <a:prstGeom prst="rect">
              <a:avLst/>
            </a:prstGeom>
            <a:noFill/>
            <a:ln>
              <a:noFill/>
            </a:ln>
          </p:spPr>
          <p:txBody>
            <a:bodyPr wrap="none" lIns="0" tIns="0" rIns="0" bIns="0" anchor="t" anchorCtr="0">
              <a:spAutoFit/>
            </a:bodyPr>
            <a:lstStyle/>
            <a:p>
              <a:pPr algn="ctr">
                <a:lnSpc>
                  <a:spcPts val="1680"/>
                </a:lnSpc>
              </a:pPr>
              <a:r>
                <a:rPr lang="zh-CN" sz="1200" dirty="0">
                  <a:solidFill>
                    <a:srgbClr val="1F2937"/>
                  </a:solidFill>
                  <a:latin typeface="+mn-lt"/>
                  <a:ea typeface="+mn-ea"/>
                  <a:cs typeface="+mn-cs"/>
                </a:rPr>
                <a:t>2（两端</a:t>
              </a:r>
              <a:br/>
              <a:r>
                <a:rPr lang="zh-CN" sz="1200" dirty="0">
                  <a:solidFill>
                    <a:srgbClr val="1F2937"/>
                  </a:solidFill>
                  <a:latin typeface="+mn-lt"/>
                  <a:ea typeface="+mn-ea"/>
                  <a:cs typeface="+mn-cs"/>
                </a:rPr>
                <a:t>1）</a:t>
              </a:r>
            </a:p>
          </p:txBody>
        </p:sp>
        <p:sp>
          <p:nvSpPr>
            <p:cNvPr id="15" name="TextBox 15"/>
            <p:cNvSpPr txBox="1"/>
            <p:nvPr/>
          </p:nvSpPr>
          <p:spPr>
            <a:xfrm>
              <a:off x="3391852" y="2405063"/>
              <a:ext cx="396240" cy="234696"/>
            </a:xfrm>
            <a:prstGeom prst="rect">
              <a:avLst/>
            </a:prstGeom>
            <a:noFill/>
            <a:ln>
              <a:noFill/>
            </a:ln>
          </p:spPr>
          <p:txBody>
            <a:bodyPr wrap="none" lIns="0" tIns="0" rIns="0" bIns="0" anchor="t" anchorCtr="0">
              <a:spAutoFit/>
            </a:bodyPr>
            <a:lstStyle/>
            <a:p>
              <a:pPr algn="ctr"/>
              <a:r>
                <a:rPr lang="en-US" sz="1200" dirty="0">
                  <a:solidFill>
                    <a:srgbClr val="1F2937"/>
                  </a:solidFill>
                  <a:latin typeface="+mn-lt"/>
                  <a:ea typeface="+mn-ea"/>
                  <a:cs typeface="+mn-cs"/>
                </a:rPr>
                <a:t>N − 1</a:t>
              </a:r>
            </a:p>
          </p:txBody>
        </p:sp>
        <p:sp>
          <p:nvSpPr>
            <p:cNvPr id="16" name="TextBox 16"/>
            <p:cNvSpPr txBox="1"/>
            <p:nvPr/>
          </p:nvSpPr>
          <p:spPr>
            <a:xfrm>
              <a:off x="4405274" y="2405063"/>
              <a:ext cx="101041" cy="234696"/>
            </a:xfrm>
            <a:prstGeom prst="rect">
              <a:avLst/>
            </a:prstGeom>
            <a:noFill/>
            <a:ln>
              <a:noFill/>
            </a:ln>
          </p:spPr>
          <p:txBody>
            <a:bodyPr wrap="none" lIns="0" tIns="0" rIns="0" bIns="0" anchor="t" anchorCtr="0">
              <a:spAutoFit/>
            </a:bodyPr>
            <a:lstStyle/>
            <a:p>
              <a:pPr algn="ctr"/>
              <a:r>
                <a:rPr lang="zh-CN" sz="1200" dirty="0">
                  <a:solidFill>
                    <a:srgbClr val="1F2937"/>
                  </a:solidFill>
                  <a:latin typeface="+mn-lt"/>
                  <a:ea typeface="+mn-ea"/>
                  <a:cs typeface="+mn-cs"/>
                </a:rPr>
                <a:t>1</a:t>
              </a:r>
            </a:p>
          </p:txBody>
        </p:sp>
        <p:sp>
          <p:nvSpPr>
            <p:cNvPr id="17" name="TextBox 17"/>
            <p:cNvSpPr txBox="1"/>
            <p:nvPr/>
          </p:nvSpPr>
          <p:spPr>
            <a:xfrm>
              <a:off x="5204460" y="2405063"/>
              <a:ext cx="396240" cy="234696"/>
            </a:xfrm>
            <a:prstGeom prst="rect">
              <a:avLst/>
            </a:prstGeom>
            <a:noFill/>
            <a:ln>
              <a:noFill/>
            </a:ln>
          </p:spPr>
          <p:txBody>
            <a:bodyPr wrap="none" lIns="0" tIns="0" rIns="0" bIns="0" anchor="t" anchorCtr="0">
              <a:spAutoFit/>
            </a:bodyPr>
            <a:lstStyle/>
            <a:p>
              <a:pPr algn="ctr"/>
              <a:r>
                <a:rPr lang="en-US" sz="1200" dirty="0">
                  <a:solidFill>
                    <a:srgbClr val="1F2937"/>
                  </a:solidFill>
                  <a:latin typeface="+mn-lt"/>
                  <a:ea typeface="+mn-ea"/>
                  <a:cs typeface="+mn-cs"/>
                </a:rPr>
                <a:t>N − 1</a:t>
              </a:r>
            </a:p>
          </p:txBody>
        </p:sp>
        <p:sp>
          <p:nvSpPr>
            <p:cNvPr id="18" name="Rectangle 18"/>
            <p:cNvSpPr/>
            <p:nvPr/>
          </p:nvSpPr>
          <p:spPr>
            <a:xfrm>
              <a:off x="533400" y="2806065"/>
              <a:ext cx="5410200" cy="9525"/>
            </a:xfrm>
            <a:prstGeom prst="rect">
              <a:avLst/>
            </a:prstGeom>
            <a:solidFill>
              <a:srgbClr val="D9DFEA"/>
            </a:solidFill>
            <a:ln>
              <a:noFill/>
            </a:ln>
          </p:spPr>
        </p:sp>
        <p:sp>
          <p:nvSpPr>
            <p:cNvPr id="19" name="Rectangle 19"/>
            <p:cNvSpPr/>
            <p:nvPr/>
          </p:nvSpPr>
          <p:spPr>
            <a:xfrm>
              <a:off x="533400" y="2810828"/>
              <a:ext cx="5410200" cy="430530"/>
            </a:xfrm>
            <a:prstGeom prst="rect">
              <a:avLst/>
            </a:prstGeom>
            <a:solidFill>
              <a:srgbClr val="F4F6FB"/>
            </a:solidFill>
            <a:ln>
              <a:noFill/>
            </a:ln>
          </p:spPr>
        </p:sp>
        <p:sp>
          <p:nvSpPr>
            <p:cNvPr id="20" name="TextBox 20"/>
            <p:cNvSpPr txBox="1"/>
            <p:nvPr/>
          </p:nvSpPr>
          <p:spPr>
            <a:xfrm>
              <a:off x="638746" y="2942272"/>
              <a:ext cx="496824" cy="234696"/>
            </a:xfrm>
            <a:prstGeom prst="rect">
              <a:avLst/>
            </a:prstGeom>
            <a:noFill/>
            <a:ln>
              <a:noFill/>
            </a:ln>
          </p:spPr>
          <p:txBody>
            <a:bodyPr wrap="none" lIns="0" tIns="0" rIns="0" bIns="0" anchor="t" anchorCtr="0">
              <a:spAutoFit/>
            </a:bodyPr>
            <a:lstStyle/>
            <a:p>
              <a:pPr algn="l"/>
              <a:r>
                <a:rPr lang="zh-CN" sz="1200" b="1" dirty="0">
                  <a:solidFill>
                    <a:srgbClr val="1F2937"/>
                  </a:solidFill>
                  <a:latin typeface="+mn-lt"/>
                  <a:ea typeface="+mn-ea"/>
                  <a:cs typeface="+mn-cs"/>
                </a:rPr>
                <a:t>双向环</a:t>
              </a:r>
            </a:p>
          </p:txBody>
        </p:sp>
        <p:sp>
          <p:nvSpPr>
            <p:cNvPr id="21" name="TextBox 21"/>
            <p:cNvSpPr txBox="1"/>
            <p:nvPr/>
          </p:nvSpPr>
          <p:spPr>
            <a:xfrm>
              <a:off x="2592667" y="2942272"/>
              <a:ext cx="101041" cy="234696"/>
            </a:xfrm>
            <a:prstGeom prst="rect">
              <a:avLst/>
            </a:prstGeom>
            <a:noFill/>
            <a:ln>
              <a:noFill/>
            </a:ln>
          </p:spPr>
          <p:txBody>
            <a:bodyPr wrap="none" lIns="0" tIns="0" rIns="0" bIns="0" anchor="t" anchorCtr="0">
              <a:spAutoFit/>
            </a:bodyPr>
            <a:lstStyle/>
            <a:p>
              <a:pPr algn="ctr"/>
              <a:r>
                <a:rPr lang="zh-CN" sz="1200" dirty="0">
                  <a:solidFill>
                    <a:srgbClr val="1F2937"/>
                  </a:solidFill>
                  <a:latin typeface="+mn-lt"/>
                  <a:ea typeface="+mn-ea"/>
                  <a:cs typeface="+mn-cs"/>
                </a:rPr>
                <a:t>2</a:t>
              </a:r>
            </a:p>
          </p:txBody>
        </p:sp>
        <p:sp>
          <p:nvSpPr>
            <p:cNvPr id="22" name="TextBox 22"/>
            <p:cNvSpPr txBox="1"/>
            <p:nvPr/>
          </p:nvSpPr>
          <p:spPr>
            <a:xfrm>
              <a:off x="3349180" y="2942272"/>
              <a:ext cx="481584" cy="234696"/>
            </a:xfrm>
            <a:prstGeom prst="rect">
              <a:avLst/>
            </a:prstGeom>
            <a:noFill/>
            <a:ln>
              <a:noFill/>
            </a:ln>
          </p:spPr>
          <p:txBody>
            <a:bodyPr wrap="none" lIns="0" tIns="0" rIns="0" bIns="0" anchor="t" anchorCtr="0">
              <a:spAutoFit/>
            </a:bodyPr>
            <a:lstStyle/>
            <a:p>
              <a:pPr algn="ctr"/>
              <a:r>
                <a:rPr lang="en-US" sz="1200" dirty="0">
                  <a:solidFill>
                    <a:srgbClr val="1F2937"/>
                  </a:solidFill>
                  <a:latin typeface="+mn-lt"/>
                  <a:ea typeface="+mn-ea"/>
                  <a:cs typeface="+mn-cs"/>
                </a:rPr>
                <a:t>⌊N/2⌋</a:t>
              </a:r>
            </a:p>
          </p:txBody>
        </p:sp>
        <p:sp>
          <p:nvSpPr>
            <p:cNvPr id="23" name="TextBox 23"/>
            <p:cNvSpPr txBox="1"/>
            <p:nvPr/>
          </p:nvSpPr>
          <p:spPr>
            <a:xfrm>
              <a:off x="4405274" y="2942272"/>
              <a:ext cx="101041" cy="234696"/>
            </a:xfrm>
            <a:prstGeom prst="rect">
              <a:avLst/>
            </a:prstGeom>
            <a:noFill/>
            <a:ln>
              <a:noFill/>
            </a:ln>
          </p:spPr>
          <p:txBody>
            <a:bodyPr wrap="none" lIns="0" tIns="0" rIns="0" bIns="0" anchor="t" anchorCtr="0">
              <a:spAutoFit/>
            </a:bodyPr>
            <a:lstStyle/>
            <a:p>
              <a:pPr algn="ctr"/>
              <a:r>
                <a:rPr lang="zh-CN" sz="1200" dirty="0">
                  <a:solidFill>
                    <a:srgbClr val="1F2937"/>
                  </a:solidFill>
                  <a:latin typeface="+mn-lt"/>
                  <a:ea typeface="+mn-ea"/>
                  <a:cs typeface="+mn-cs"/>
                </a:rPr>
                <a:t>2</a:t>
              </a:r>
            </a:p>
          </p:txBody>
        </p:sp>
        <p:sp>
          <p:nvSpPr>
            <p:cNvPr id="24" name="TextBox 24"/>
            <p:cNvSpPr txBox="1"/>
            <p:nvPr/>
          </p:nvSpPr>
          <p:spPr>
            <a:xfrm>
              <a:off x="5349545" y="2942272"/>
              <a:ext cx="106070" cy="234696"/>
            </a:xfrm>
            <a:prstGeom prst="rect">
              <a:avLst/>
            </a:prstGeom>
            <a:noFill/>
            <a:ln>
              <a:noFill/>
            </a:ln>
          </p:spPr>
          <p:txBody>
            <a:bodyPr wrap="none" lIns="0" tIns="0" rIns="0" bIns="0" anchor="t" anchorCtr="0">
              <a:spAutoFit/>
            </a:bodyPr>
            <a:lstStyle/>
            <a:p>
              <a:pPr algn="ctr"/>
              <a:r>
                <a:rPr lang="en-US" sz="1200" dirty="0">
                  <a:solidFill>
                    <a:srgbClr val="1F2937"/>
                  </a:solidFill>
                  <a:latin typeface="+mn-lt"/>
                  <a:ea typeface="+mn-ea"/>
                  <a:cs typeface="+mn-cs"/>
                </a:rPr>
                <a:t>N</a:t>
              </a:r>
            </a:p>
          </p:txBody>
        </p:sp>
        <p:sp>
          <p:nvSpPr>
            <p:cNvPr id="25" name="Rectangle 25"/>
            <p:cNvSpPr/>
            <p:nvPr/>
          </p:nvSpPr>
          <p:spPr>
            <a:xfrm>
              <a:off x="533400" y="3236595"/>
              <a:ext cx="5410200" cy="9525"/>
            </a:xfrm>
            <a:prstGeom prst="rect">
              <a:avLst/>
            </a:prstGeom>
            <a:solidFill>
              <a:srgbClr val="D9DFEA"/>
            </a:solidFill>
            <a:ln>
              <a:noFill/>
            </a:ln>
          </p:spPr>
        </p:sp>
        <p:sp>
          <p:nvSpPr>
            <p:cNvPr id="26" name="TextBox 26"/>
            <p:cNvSpPr txBox="1"/>
            <p:nvPr/>
          </p:nvSpPr>
          <p:spPr>
            <a:xfrm>
              <a:off x="638746" y="3372802"/>
              <a:ext cx="496824" cy="234696"/>
            </a:xfrm>
            <a:prstGeom prst="rect">
              <a:avLst/>
            </a:prstGeom>
            <a:noFill/>
            <a:ln>
              <a:noFill/>
            </a:ln>
          </p:spPr>
          <p:txBody>
            <a:bodyPr wrap="none" lIns="0" tIns="0" rIns="0" bIns="0" anchor="t" anchorCtr="0">
              <a:spAutoFit/>
            </a:bodyPr>
            <a:lstStyle/>
            <a:p>
              <a:pPr algn="l"/>
              <a:r>
                <a:rPr lang="zh-CN" sz="1200" b="1" dirty="0">
                  <a:solidFill>
                    <a:srgbClr val="1F2937"/>
                  </a:solidFill>
                  <a:latin typeface="+mn-lt"/>
                  <a:ea typeface="+mn-ea"/>
                  <a:cs typeface="+mn-cs"/>
                </a:rPr>
                <a:t>全连接</a:t>
              </a:r>
            </a:p>
          </p:txBody>
        </p:sp>
        <p:sp>
          <p:nvSpPr>
            <p:cNvPr id="27" name="TextBox 27"/>
            <p:cNvSpPr txBox="1"/>
            <p:nvPr/>
          </p:nvSpPr>
          <p:spPr>
            <a:xfrm>
              <a:off x="2445068" y="3372802"/>
              <a:ext cx="396240" cy="234696"/>
            </a:xfrm>
            <a:prstGeom prst="rect">
              <a:avLst/>
            </a:prstGeom>
            <a:noFill/>
            <a:ln>
              <a:noFill/>
            </a:ln>
          </p:spPr>
          <p:txBody>
            <a:bodyPr wrap="none" lIns="0" tIns="0" rIns="0" bIns="0" anchor="t" anchorCtr="0">
              <a:spAutoFit/>
            </a:bodyPr>
            <a:lstStyle/>
            <a:p>
              <a:pPr algn="ctr"/>
              <a:r>
                <a:rPr lang="en-US" sz="1200" dirty="0">
                  <a:solidFill>
                    <a:srgbClr val="1F2937"/>
                  </a:solidFill>
                  <a:latin typeface="+mn-lt"/>
                  <a:ea typeface="+mn-ea"/>
                  <a:cs typeface="+mn-cs"/>
                </a:rPr>
                <a:t>N − 1</a:t>
              </a:r>
            </a:p>
          </p:txBody>
        </p:sp>
        <p:sp>
          <p:nvSpPr>
            <p:cNvPr id="28" name="TextBox 28"/>
            <p:cNvSpPr txBox="1"/>
            <p:nvPr/>
          </p:nvSpPr>
          <p:spPr>
            <a:xfrm>
              <a:off x="3539452" y="3372802"/>
              <a:ext cx="101041" cy="234696"/>
            </a:xfrm>
            <a:prstGeom prst="rect">
              <a:avLst/>
            </a:prstGeom>
            <a:noFill/>
            <a:ln>
              <a:noFill/>
            </a:ln>
          </p:spPr>
          <p:txBody>
            <a:bodyPr wrap="none" lIns="0" tIns="0" rIns="0" bIns="0" anchor="t" anchorCtr="0">
              <a:spAutoFit/>
            </a:bodyPr>
            <a:lstStyle/>
            <a:p>
              <a:pPr algn="ctr"/>
              <a:r>
                <a:rPr lang="zh-CN" sz="1200" dirty="0">
                  <a:solidFill>
                    <a:srgbClr val="1F2937"/>
                  </a:solidFill>
                  <a:latin typeface="+mn-lt"/>
                  <a:ea typeface="+mn-ea"/>
                  <a:cs typeface="+mn-cs"/>
                </a:rPr>
                <a:t>1</a:t>
              </a:r>
            </a:p>
          </p:txBody>
        </p:sp>
        <p:sp>
          <p:nvSpPr>
            <p:cNvPr id="29" name="TextBox 29"/>
            <p:cNvSpPr txBox="1"/>
            <p:nvPr/>
          </p:nvSpPr>
          <p:spPr>
            <a:xfrm>
              <a:off x="4261942" y="3372802"/>
              <a:ext cx="387706" cy="234696"/>
            </a:xfrm>
            <a:prstGeom prst="rect">
              <a:avLst/>
            </a:prstGeom>
            <a:noFill/>
            <a:ln>
              <a:noFill/>
            </a:ln>
          </p:spPr>
          <p:txBody>
            <a:bodyPr wrap="none" lIns="0" tIns="0" rIns="0" bIns="0" anchor="t" anchorCtr="0">
              <a:spAutoFit/>
            </a:bodyPr>
            <a:lstStyle/>
            <a:p>
              <a:pPr algn="ctr"/>
              <a:r>
                <a:rPr lang="en-US" sz="1200" dirty="0">
                  <a:solidFill>
                    <a:srgbClr val="1F2937"/>
                  </a:solidFill>
                  <a:latin typeface="+mn-lt"/>
                  <a:ea typeface="+mn-ea"/>
                  <a:cs typeface="+mn-cs"/>
                </a:rPr>
                <a:t>N²/4</a:t>
              </a:r>
            </a:p>
          </p:txBody>
        </p:sp>
        <p:sp>
          <p:nvSpPr>
            <p:cNvPr id="30" name="TextBox 30"/>
            <p:cNvSpPr txBox="1"/>
            <p:nvPr/>
          </p:nvSpPr>
          <p:spPr>
            <a:xfrm>
              <a:off x="4969764" y="3372802"/>
              <a:ext cx="865632" cy="234696"/>
            </a:xfrm>
            <a:prstGeom prst="rect">
              <a:avLst/>
            </a:prstGeom>
            <a:noFill/>
            <a:ln>
              <a:noFill/>
            </a:ln>
          </p:spPr>
          <p:txBody>
            <a:bodyPr wrap="none" lIns="0" tIns="0" rIns="0" bIns="0" anchor="t" anchorCtr="0">
              <a:spAutoFit/>
            </a:bodyPr>
            <a:lstStyle/>
            <a:p>
              <a:pPr algn="ctr"/>
              <a:r>
                <a:rPr lang="en-US" sz="1200" dirty="0">
                  <a:solidFill>
                    <a:srgbClr val="1F2937"/>
                  </a:solidFill>
                  <a:latin typeface="+mn-lt"/>
                  <a:ea typeface="+mn-ea"/>
                  <a:cs typeface="+mn-cs"/>
                </a:rPr>
                <a:t>N(N − 1)/2</a:t>
              </a:r>
            </a:p>
          </p:txBody>
        </p:sp>
        <p:sp>
          <p:nvSpPr>
            <p:cNvPr id="31" name="Rectangle 31"/>
            <p:cNvSpPr/>
            <p:nvPr/>
          </p:nvSpPr>
          <p:spPr>
            <a:xfrm>
              <a:off x="533400" y="3666172"/>
              <a:ext cx="5410200" cy="9525"/>
            </a:xfrm>
            <a:prstGeom prst="rect">
              <a:avLst/>
            </a:prstGeom>
            <a:solidFill>
              <a:srgbClr val="D9DFEA"/>
            </a:solidFill>
            <a:ln>
              <a:noFill/>
            </a:ln>
          </p:spPr>
        </p:sp>
        <p:sp>
          <p:nvSpPr>
            <p:cNvPr id="32" name="Rectangle 32"/>
            <p:cNvSpPr/>
            <p:nvPr/>
          </p:nvSpPr>
          <p:spPr>
            <a:xfrm>
              <a:off x="533400" y="3670935"/>
              <a:ext cx="5410200" cy="643890"/>
            </a:xfrm>
            <a:prstGeom prst="rect">
              <a:avLst/>
            </a:prstGeom>
            <a:solidFill>
              <a:srgbClr val="F4F6FB"/>
            </a:solidFill>
            <a:ln>
              <a:noFill/>
            </a:ln>
          </p:spPr>
        </p:sp>
        <p:sp>
          <p:nvSpPr>
            <p:cNvPr id="33" name="TextBox 33"/>
            <p:cNvSpPr txBox="1"/>
            <p:nvPr/>
          </p:nvSpPr>
          <p:spPr>
            <a:xfrm>
              <a:off x="638746" y="3909060"/>
              <a:ext cx="658368" cy="234696"/>
            </a:xfrm>
            <a:prstGeom prst="rect">
              <a:avLst/>
            </a:prstGeom>
            <a:noFill/>
            <a:ln>
              <a:noFill/>
            </a:ln>
          </p:spPr>
          <p:txBody>
            <a:bodyPr wrap="none" lIns="0" tIns="0" rIns="0" bIns="0" anchor="t" anchorCtr="0">
              <a:spAutoFit/>
            </a:bodyPr>
            <a:lstStyle/>
            <a:p>
              <a:pPr algn="l"/>
              <a:r>
                <a:rPr lang="zh-CN" sz="1200" b="1" dirty="0">
                  <a:solidFill>
                    <a:srgbClr val="1F2937"/>
                  </a:solidFill>
                  <a:latin typeface="+mn-lt"/>
                  <a:ea typeface="+mn-ea"/>
                  <a:cs typeface="+mn-cs"/>
                </a:rPr>
                <a:t>循环移数</a:t>
              </a:r>
            </a:p>
          </p:txBody>
        </p:sp>
        <p:sp>
          <p:nvSpPr>
            <p:cNvPr id="34" name="TextBox 34"/>
            <p:cNvSpPr txBox="1"/>
            <p:nvPr/>
          </p:nvSpPr>
          <p:spPr>
            <a:xfrm>
              <a:off x="2410930" y="3909060"/>
              <a:ext cx="464515" cy="234696"/>
            </a:xfrm>
            <a:prstGeom prst="rect">
              <a:avLst/>
            </a:prstGeom>
            <a:noFill/>
            <a:ln>
              <a:noFill/>
            </a:ln>
          </p:spPr>
          <p:txBody>
            <a:bodyPr wrap="none" lIns="0" tIns="0" rIns="0" bIns="0" anchor="t" anchorCtr="0">
              <a:spAutoFit/>
            </a:bodyPr>
            <a:lstStyle/>
            <a:p>
              <a:pPr algn="ctr"/>
              <a:r>
                <a:rPr lang="en-US" sz="1200" dirty="0">
                  <a:solidFill>
                    <a:srgbClr val="1F2937"/>
                  </a:solidFill>
                  <a:latin typeface="+mn-lt"/>
                  <a:ea typeface="+mn-ea"/>
                  <a:cs typeface="+mn-cs"/>
                </a:rPr>
                <a:t>2n − 1</a:t>
              </a:r>
            </a:p>
          </p:txBody>
        </p:sp>
        <p:sp>
          <p:nvSpPr>
            <p:cNvPr id="35" name="TextBox 35"/>
            <p:cNvSpPr txBox="1"/>
            <p:nvPr/>
          </p:nvSpPr>
          <p:spPr>
            <a:xfrm>
              <a:off x="3361754" y="3909060"/>
              <a:ext cx="456438" cy="234696"/>
            </a:xfrm>
            <a:prstGeom prst="rect">
              <a:avLst/>
            </a:prstGeom>
            <a:noFill/>
            <a:ln>
              <a:noFill/>
            </a:ln>
          </p:spPr>
          <p:txBody>
            <a:bodyPr wrap="none" lIns="0" tIns="0" rIns="0" bIns="0" anchor="t" anchorCtr="0">
              <a:spAutoFit/>
            </a:bodyPr>
            <a:lstStyle/>
            <a:p>
              <a:pPr algn="ctr"/>
              <a:r>
                <a:rPr lang="en-US" sz="1200" dirty="0">
                  <a:solidFill>
                    <a:srgbClr val="1F2937"/>
                  </a:solidFill>
                  <a:latin typeface="+mn-lt"/>
                  <a:ea typeface="+mn-ea"/>
                  <a:cs typeface="+mn-cs"/>
                </a:rPr>
                <a:t>⌈n/2⌉</a:t>
              </a:r>
            </a:p>
          </p:txBody>
        </p:sp>
        <p:sp>
          <p:nvSpPr>
            <p:cNvPr id="36" name="TextBox 36"/>
            <p:cNvSpPr txBox="1"/>
            <p:nvPr/>
          </p:nvSpPr>
          <p:spPr>
            <a:xfrm>
              <a:off x="4405274" y="3909060"/>
              <a:ext cx="101041" cy="234696"/>
            </a:xfrm>
            <a:prstGeom prst="rect">
              <a:avLst/>
            </a:prstGeom>
            <a:noFill/>
            <a:ln>
              <a:noFill/>
            </a:ln>
          </p:spPr>
          <p:txBody>
            <a:bodyPr wrap="none" lIns="0" tIns="0" rIns="0" bIns="0" anchor="t" anchorCtr="0">
              <a:spAutoFit/>
            </a:bodyPr>
            <a:lstStyle/>
            <a:p>
              <a:pPr algn="ctr"/>
              <a:r>
                <a:rPr lang="zh-CN" sz="1200" dirty="0">
                  <a:solidFill>
                    <a:srgbClr val="1F2937"/>
                  </a:solidFill>
                  <a:latin typeface="+mn-lt"/>
                  <a:ea typeface="+mn-ea"/>
                  <a:cs typeface="+mn-cs"/>
                </a:rPr>
                <a:t>—</a:t>
              </a:r>
            </a:p>
          </p:txBody>
        </p:sp>
        <p:sp>
          <p:nvSpPr>
            <p:cNvPr id="37" name="TextBox 37"/>
            <p:cNvSpPr txBox="1"/>
            <p:nvPr/>
          </p:nvSpPr>
          <p:spPr>
            <a:xfrm>
              <a:off x="5164074" y="3802380"/>
              <a:ext cx="477012" cy="448056"/>
            </a:xfrm>
            <a:prstGeom prst="rect">
              <a:avLst/>
            </a:prstGeom>
            <a:noFill/>
            <a:ln>
              <a:noFill/>
            </a:ln>
          </p:spPr>
          <p:txBody>
            <a:bodyPr wrap="none" lIns="0" tIns="0" rIns="0" bIns="0" anchor="t" anchorCtr="0">
              <a:spAutoFit/>
            </a:bodyPr>
            <a:lstStyle/>
            <a:p>
              <a:pPr algn="ctr">
                <a:lnSpc>
                  <a:spcPts val="1680"/>
                </a:lnSpc>
              </a:pPr>
              <a:r>
                <a:rPr lang="en-US" sz="1200" dirty="0">
                  <a:solidFill>
                    <a:srgbClr val="1F2937"/>
                  </a:solidFill>
                  <a:latin typeface="+mn-lt"/>
                  <a:ea typeface="+mn-ea"/>
                  <a:cs typeface="+mn-cs"/>
                </a:rPr>
                <a:t>N(2n −</a:t>
              </a:r>
              <a:br/>
              <a:r>
                <a:rPr lang="zh-CN" sz="1200" dirty="0">
                  <a:solidFill>
                    <a:srgbClr val="1F2937"/>
                  </a:solidFill>
                  <a:latin typeface="+mn-lt"/>
                  <a:ea typeface="+mn-ea"/>
                  <a:cs typeface="+mn-cs"/>
                </a:rPr>
                <a:t>1)/2</a:t>
              </a:r>
            </a:p>
          </p:txBody>
        </p:sp>
        <p:sp>
          <p:nvSpPr>
            <p:cNvPr id="38" name="Rectangle 38"/>
            <p:cNvSpPr/>
            <p:nvPr/>
          </p:nvSpPr>
          <p:spPr>
            <a:xfrm>
              <a:off x="533400" y="4310062"/>
              <a:ext cx="5410200" cy="9525"/>
            </a:xfrm>
            <a:prstGeom prst="rect">
              <a:avLst/>
            </a:prstGeom>
            <a:solidFill>
              <a:srgbClr val="D9DFEA"/>
            </a:solidFill>
            <a:ln>
              <a:noFill/>
            </a:ln>
          </p:spPr>
        </p:sp>
        <p:sp>
          <p:nvSpPr>
            <p:cNvPr id="39" name="TextBox 39"/>
            <p:cNvSpPr txBox="1"/>
            <p:nvPr/>
          </p:nvSpPr>
          <p:spPr>
            <a:xfrm>
              <a:off x="638746" y="4552950"/>
              <a:ext cx="496824" cy="234696"/>
            </a:xfrm>
            <a:prstGeom prst="rect">
              <a:avLst/>
            </a:prstGeom>
            <a:noFill/>
            <a:ln>
              <a:noFill/>
            </a:ln>
          </p:spPr>
          <p:txBody>
            <a:bodyPr wrap="none" lIns="0" tIns="0" rIns="0" bIns="0" anchor="t" anchorCtr="0">
              <a:spAutoFit/>
            </a:bodyPr>
            <a:lstStyle/>
            <a:p>
              <a:pPr algn="l"/>
              <a:r>
                <a:rPr lang="zh-CN" sz="1200" b="1" dirty="0">
                  <a:solidFill>
                    <a:srgbClr val="1F2937"/>
                  </a:solidFill>
                  <a:latin typeface="+mn-lt"/>
                  <a:ea typeface="+mn-ea"/>
                  <a:cs typeface="+mn-cs"/>
                </a:rPr>
                <a:t>二叉树</a:t>
              </a:r>
            </a:p>
          </p:txBody>
        </p:sp>
        <p:sp>
          <p:nvSpPr>
            <p:cNvPr id="40" name="TextBox 40"/>
            <p:cNvSpPr txBox="1"/>
            <p:nvPr/>
          </p:nvSpPr>
          <p:spPr>
            <a:xfrm>
              <a:off x="2592667" y="4552950"/>
              <a:ext cx="101041" cy="234696"/>
            </a:xfrm>
            <a:prstGeom prst="rect">
              <a:avLst/>
            </a:prstGeom>
            <a:noFill/>
            <a:ln>
              <a:noFill/>
            </a:ln>
          </p:spPr>
          <p:txBody>
            <a:bodyPr wrap="none" lIns="0" tIns="0" rIns="0" bIns="0" anchor="t" anchorCtr="0">
              <a:spAutoFit/>
            </a:bodyPr>
            <a:lstStyle/>
            <a:p>
              <a:pPr algn="ctr"/>
              <a:r>
                <a:rPr lang="zh-CN" sz="1200" dirty="0">
                  <a:solidFill>
                    <a:srgbClr val="1F2937"/>
                  </a:solidFill>
                  <a:latin typeface="+mn-lt"/>
                  <a:ea typeface="+mn-ea"/>
                  <a:cs typeface="+mn-cs"/>
                </a:rPr>
                <a:t>3</a:t>
              </a:r>
            </a:p>
          </p:txBody>
        </p:sp>
        <p:sp>
          <p:nvSpPr>
            <p:cNvPr id="41" name="TextBox 41"/>
            <p:cNvSpPr txBox="1"/>
            <p:nvPr/>
          </p:nvSpPr>
          <p:spPr>
            <a:xfrm>
              <a:off x="3351466" y="4446270"/>
              <a:ext cx="477012" cy="448056"/>
            </a:xfrm>
            <a:prstGeom prst="rect">
              <a:avLst/>
            </a:prstGeom>
            <a:noFill/>
            <a:ln>
              <a:noFill/>
            </a:ln>
          </p:spPr>
          <p:txBody>
            <a:bodyPr wrap="none" lIns="0" tIns="0" rIns="0" bIns="0" anchor="t" anchorCtr="0">
              <a:spAutoFit/>
            </a:bodyPr>
            <a:lstStyle/>
            <a:p>
              <a:pPr algn="ctr">
                <a:lnSpc>
                  <a:spcPts val="1680"/>
                </a:lnSpc>
              </a:pPr>
              <a:r>
                <a:rPr lang="zh-CN" sz="1200" dirty="0">
                  <a:solidFill>
                    <a:srgbClr val="1F2937"/>
                  </a:solidFill>
                  <a:latin typeface="+mn-lt"/>
                  <a:ea typeface="+mn-ea"/>
                  <a:cs typeface="+mn-cs"/>
                </a:rPr>
                <a:t>约</a:t>
              </a:r>
              <a:br/>
              <a:r>
                <a:rPr lang="en-US" sz="1200" dirty="0">
                  <a:solidFill>
                    <a:srgbClr val="1F2937"/>
                  </a:solidFill>
                  <a:latin typeface="+mn-lt"/>
                  <a:ea typeface="+mn-ea"/>
                  <a:cs typeface="+mn-cs"/>
                </a:rPr>
                <a:t>2log₂N</a:t>
              </a:r>
            </a:p>
          </p:txBody>
        </p:sp>
        <p:sp>
          <p:nvSpPr>
            <p:cNvPr id="42" name="TextBox 42"/>
            <p:cNvSpPr txBox="1"/>
            <p:nvPr/>
          </p:nvSpPr>
          <p:spPr>
            <a:xfrm>
              <a:off x="4405274" y="4552950"/>
              <a:ext cx="101041" cy="234696"/>
            </a:xfrm>
            <a:prstGeom prst="rect">
              <a:avLst/>
            </a:prstGeom>
            <a:noFill/>
            <a:ln>
              <a:noFill/>
            </a:ln>
          </p:spPr>
          <p:txBody>
            <a:bodyPr wrap="none" lIns="0" tIns="0" rIns="0" bIns="0" anchor="t" anchorCtr="0">
              <a:spAutoFit/>
            </a:bodyPr>
            <a:lstStyle/>
            <a:p>
              <a:pPr algn="ctr"/>
              <a:r>
                <a:rPr lang="zh-CN" sz="1200" dirty="0">
                  <a:solidFill>
                    <a:srgbClr val="1F2937"/>
                  </a:solidFill>
                  <a:latin typeface="+mn-lt"/>
                  <a:ea typeface="+mn-ea"/>
                  <a:cs typeface="+mn-cs"/>
                </a:rPr>
                <a:t>1</a:t>
              </a:r>
            </a:p>
          </p:txBody>
        </p:sp>
        <p:sp>
          <p:nvSpPr>
            <p:cNvPr id="43" name="TextBox 43"/>
            <p:cNvSpPr txBox="1"/>
            <p:nvPr/>
          </p:nvSpPr>
          <p:spPr>
            <a:xfrm>
              <a:off x="5204460" y="4552950"/>
              <a:ext cx="396240" cy="234696"/>
            </a:xfrm>
            <a:prstGeom prst="rect">
              <a:avLst/>
            </a:prstGeom>
            <a:noFill/>
            <a:ln>
              <a:noFill/>
            </a:ln>
          </p:spPr>
          <p:txBody>
            <a:bodyPr wrap="none" lIns="0" tIns="0" rIns="0" bIns="0" anchor="t" anchorCtr="0">
              <a:spAutoFit/>
            </a:bodyPr>
            <a:lstStyle/>
            <a:p>
              <a:pPr algn="ctr"/>
              <a:r>
                <a:rPr lang="en-US" sz="1200" dirty="0">
                  <a:solidFill>
                    <a:srgbClr val="1F2937"/>
                  </a:solidFill>
                  <a:latin typeface="+mn-lt"/>
                  <a:ea typeface="+mn-ea"/>
                  <a:cs typeface="+mn-cs"/>
                </a:rPr>
                <a:t>N − 1</a:t>
              </a:r>
            </a:p>
          </p:txBody>
        </p:sp>
        <p:sp>
          <p:nvSpPr>
            <p:cNvPr id="44" name="Rectangle 44"/>
            <p:cNvSpPr/>
            <p:nvPr/>
          </p:nvSpPr>
          <p:spPr>
            <a:xfrm>
              <a:off x="533400" y="4953952"/>
              <a:ext cx="5410200" cy="9525"/>
            </a:xfrm>
            <a:prstGeom prst="rect">
              <a:avLst/>
            </a:prstGeom>
            <a:solidFill>
              <a:srgbClr val="D9DFEA"/>
            </a:solidFill>
            <a:ln>
              <a:noFill/>
            </a:ln>
          </p:spPr>
        </p:sp>
        <p:sp>
          <p:nvSpPr>
            <p:cNvPr id="45" name="Rectangle 45"/>
            <p:cNvSpPr/>
            <p:nvPr/>
          </p:nvSpPr>
          <p:spPr>
            <a:xfrm>
              <a:off x="533400" y="4958715"/>
              <a:ext cx="5410200" cy="430530"/>
            </a:xfrm>
            <a:prstGeom prst="rect">
              <a:avLst/>
            </a:prstGeom>
            <a:solidFill>
              <a:srgbClr val="F4F6FB"/>
            </a:solidFill>
            <a:ln>
              <a:noFill/>
            </a:ln>
          </p:spPr>
        </p:sp>
        <p:sp>
          <p:nvSpPr>
            <p:cNvPr id="46" name="TextBox 46"/>
            <p:cNvSpPr txBox="1"/>
            <p:nvPr/>
          </p:nvSpPr>
          <p:spPr>
            <a:xfrm>
              <a:off x="638746" y="5089208"/>
              <a:ext cx="335280" cy="234696"/>
            </a:xfrm>
            <a:prstGeom prst="rect">
              <a:avLst/>
            </a:prstGeom>
            <a:noFill/>
            <a:ln>
              <a:noFill/>
            </a:ln>
          </p:spPr>
          <p:txBody>
            <a:bodyPr wrap="none" lIns="0" tIns="0" rIns="0" bIns="0" anchor="t" anchorCtr="0">
              <a:spAutoFit/>
            </a:bodyPr>
            <a:lstStyle/>
            <a:p>
              <a:pPr algn="l"/>
              <a:r>
                <a:rPr lang="zh-CN" sz="1200" b="1" dirty="0">
                  <a:solidFill>
                    <a:srgbClr val="1F2937"/>
                  </a:solidFill>
                  <a:latin typeface="+mn-lt"/>
                  <a:ea typeface="+mn-ea"/>
                  <a:cs typeface="+mn-cs"/>
                </a:rPr>
                <a:t>星形</a:t>
              </a:r>
            </a:p>
          </p:txBody>
        </p:sp>
        <p:sp>
          <p:nvSpPr>
            <p:cNvPr id="47" name="TextBox 47"/>
            <p:cNvSpPr txBox="1"/>
            <p:nvPr/>
          </p:nvSpPr>
          <p:spPr>
            <a:xfrm>
              <a:off x="2445068" y="5089208"/>
              <a:ext cx="396240" cy="234696"/>
            </a:xfrm>
            <a:prstGeom prst="rect">
              <a:avLst/>
            </a:prstGeom>
            <a:noFill/>
            <a:ln>
              <a:noFill/>
            </a:ln>
          </p:spPr>
          <p:txBody>
            <a:bodyPr wrap="none" lIns="0" tIns="0" rIns="0" bIns="0" anchor="t" anchorCtr="0">
              <a:spAutoFit/>
            </a:bodyPr>
            <a:lstStyle/>
            <a:p>
              <a:pPr algn="ctr"/>
              <a:r>
                <a:rPr lang="en-US" sz="1200" dirty="0">
                  <a:solidFill>
                    <a:srgbClr val="1F2937"/>
                  </a:solidFill>
                  <a:latin typeface="+mn-lt"/>
                  <a:ea typeface="+mn-ea"/>
                  <a:cs typeface="+mn-cs"/>
                </a:rPr>
                <a:t>N − 1</a:t>
              </a:r>
            </a:p>
          </p:txBody>
        </p:sp>
        <p:sp>
          <p:nvSpPr>
            <p:cNvPr id="48" name="TextBox 48"/>
            <p:cNvSpPr txBox="1"/>
            <p:nvPr/>
          </p:nvSpPr>
          <p:spPr>
            <a:xfrm>
              <a:off x="3539452" y="5089208"/>
              <a:ext cx="101041" cy="234696"/>
            </a:xfrm>
            <a:prstGeom prst="rect">
              <a:avLst/>
            </a:prstGeom>
            <a:noFill/>
            <a:ln>
              <a:noFill/>
            </a:ln>
          </p:spPr>
          <p:txBody>
            <a:bodyPr wrap="none" lIns="0" tIns="0" rIns="0" bIns="0" anchor="t" anchorCtr="0">
              <a:spAutoFit/>
            </a:bodyPr>
            <a:lstStyle/>
            <a:p>
              <a:pPr algn="ctr"/>
              <a:r>
                <a:rPr lang="zh-CN" sz="1200" dirty="0">
                  <a:solidFill>
                    <a:srgbClr val="1F2937"/>
                  </a:solidFill>
                  <a:latin typeface="+mn-lt"/>
                  <a:ea typeface="+mn-ea"/>
                  <a:cs typeface="+mn-cs"/>
                </a:rPr>
                <a:t>2</a:t>
              </a:r>
            </a:p>
          </p:txBody>
        </p:sp>
        <p:sp>
          <p:nvSpPr>
            <p:cNvPr id="49" name="TextBox 49"/>
            <p:cNvSpPr txBox="1"/>
            <p:nvPr/>
          </p:nvSpPr>
          <p:spPr>
            <a:xfrm>
              <a:off x="4215003" y="5089208"/>
              <a:ext cx="481584" cy="234696"/>
            </a:xfrm>
            <a:prstGeom prst="rect">
              <a:avLst/>
            </a:prstGeom>
            <a:noFill/>
            <a:ln>
              <a:noFill/>
            </a:ln>
          </p:spPr>
          <p:txBody>
            <a:bodyPr wrap="none" lIns="0" tIns="0" rIns="0" bIns="0" anchor="t" anchorCtr="0">
              <a:spAutoFit/>
            </a:bodyPr>
            <a:lstStyle/>
            <a:p>
              <a:pPr algn="ctr"/>
              <a:r>
                <a:rPr lang="en-US" sz="1200" dirty="0">
                  <a:solidFill>
                    <a:srgbClr val="1F2937"/>
                  </a:solidFill>
                  <a:latin typeface="+mn-lt"/>
                  <a:ea typeface="+mn-ea"/>
                  <a:cs typeface="+mn-cs"/>
                </a:rPr>
                <a:t>⌊N/2⌋</a:t>
              </a:r>
            </a:p>
          </p:txBody>
        </p:sp>
        <p:sp>
          <p:nvSpPr>
            <p:cNvPr id="50" name="TextBox 50"/>
            <p:cNvSpPr txBox="1"/>
            <p:nvPr/>
          </p:nvSpPr>
          <p:spPr>
            <a:xfrm>
              <a:off x="5204460" y="5089208"/>
              <a:ext cx="396240" cy="234696"/>
            </a:xfrm>
            <a:prstGeom prst="rect">
              <a:avLst/>
            </a:prstGeom>
            <a:noFill/>
            <a:ln>
              <a:noFill/>
            </a:ln>
          </p:spPr>
          <p:txBody>
            <a:bodyPr wrap="none" lIns="0" tIns="0" rIns="0" bIns="0" anchor="t" anchorCtr="0">
              <a:spAutoFit/>
            </a:bodyPr>
            <a:lstStyle/>
            <a:p>
              <a:pPr algn="ctr"/>
              <a:r>
                <a:rPr lang="en-US" sz="1200" dirty="0">
                  <a:solidFill>
                    <a:srgbClr val="1F2937"/>
                  </a:solidFill>
                  <a:latin typeface="+mn-lt"/>
                  <a:ea typeface="+mn-ea"/>
                  <a:cs typeface="+mn-cs"/>
                </a:rPr>
                <a:t>N − 1</a:t>
              </a:r>
            </a:p>
          </p:txBody>
        </p:sp>
        <p:sp>
          <p:nvSpPr>
            <p:cNvPr id="51" name="Rectangle 51"/>
            <p:cNvSpPr/>
            <p:nvPr/>
          </p:nvSpPr>
          <p:spPr>
            <a:xfrm>
              <a:off x="533400" y="1524000"/>
              <a:ext cx="5410200" cy="3864292"/>
            </a:xfrm>
            <a:prstGeom prst="rect">
              <a:avLst/>
            </a:prstGeom>
            <a:noFill/>
            <a:ln w="14288">
              <a:solidFill>
                <a:srgbClr val="D9DFEA"/>
              </a:solidFill>
            </a:ln>
          </p:spPr>
        </p:sp>
        <p:sp>
          <p:nvSpPr>
            <p:cNvPr id="52" name="Rectangle 52"/>
            <p:cNvSpPr/>
            <p:nvPr/>
          </p:nvSpPr>
          <p:spPr>
            <a:xfrm>
              <a:off x="2151698" y="1524000"/>
              <a:ext cx="9525" cy="3864292"/>
            </a:xfrm>
            <a:prstGeom prst="rect">
              <a:avLst/>
            </a:prstGeom>
            <a:solidFill>
              <a:srgbClr val="D9DFEA"/>
            </a:solidFill>
            <a:ln>
              <a:noFill/>
            </a:ln>
          </p:spPr>
        </p:sp>
        <p:sp>
          <p:nvSpPr>
            <p:cNvPr id="53" name="Rectangle 53"/>
            <p:cNvSpPr/>
            <p:nvPr/>
          </p:nvSpPr>
          <p:spPr>
            <a:xfrm>
              <a:off x="3125152" y="1524000"/>
              <a:ext cx="9525" cy="3864292"/>
            </a:xfrm>
            <a:prstGeom prst="rect">
              <a:avLst/>
            </a:prstGeom>
            <a:solidFill>
              <a:srgbClr val="D9DFEA"/>
            </a:solidFill>
            <a:ln>
              <a:noFill/>
            </a:ln>
          </p:spPr>
        </p:sp>
        <p:sp>
          <p:nvSpPr>
            <p:cNvPr id="54" name="Rectangle 54"/>
            <p:cNvSpPr/>
            <p:nvPr/>
          </p:nvSpPr>
          <p:spPr>
            <a:xfrm>
              <a:off x="4045268" y="1524000"/>
              <a:ext cx="9525" cy="3864292"/>
            </a:xfrm>
            <a:prstGeom prst="rect">
              <a:avLst/>
            </a:prstGeom>
            <a:solidFill>
              <a:srgbClr val="D9DFEA"/>
            </a:solidFill>
            <a:ln>
              <a:noFill/>
            </a:ln>
          </p:spPr>
        </p:sp>
        <p:sp>
          <p:nvSpPr>
            <p:cNvPr id="55" name="Rectangle 55"/>
            <p:cNvSpPr/>
            <p:nvPr/>
          </p:nvSpPr>
          <p:spPr>
            <a:xfrm>
              <a:off x="4856798" y="1524000"/>
              <a:ext cx="9525" cy="3864292"/>
            </a:xfrm>
            <a:prstGeom prst="rect">
              <a:avLst/>
            </a:prstGeom>
            <a:solidFill>
              <a:srgbClr val="D9DFEA"/>
            </a:solidFill>
            <a:ln>
              <a:noFill/>
            </a:ln>
          </p:spPr>
        </p:sp>
        <p:sp>
          <p:nvSpPr>
            <p:cNvPr id="56" name="TextBox 56"/>
            <p:cNvSpPr txBox="1"/>
            <p:nvPr/>
          </p:nvSpPr>
          <p:spPr>
            <a:xfrm>
              <a:off x="527685" y="5464016"/>
              <a:ext cx="2917678" cy="220028"/>
            </a:xfrm>
            <a:prstGeom prst="rect">
              <a:avLst/>
            </a:prstGeom>
            <a:noFill/>
            <a:ln>
              <a:noFill/>
            </a:ln>
          </p:spPr>
          <p:txBody>
            <a:bodyPr wrap="none" lIns="0" tIns="0" rIns="0" bIns="0" anchor="t" anchorCtr="0">
              <a:spAutoFit/>
            </a:bodyPr>
            <a:lstStyle/>
            <a:p>
              <a:pPr algn="l"/>
              <a:r>
                <a:rPr lang="zh-CN" sz="1120" dirty="0">
                  <a:solidFill>
                    <a:srgbClr val="5B6475"/>
                  </a:solidFill>
                  <a:latin typeface="+mn-lt"/>
                  <a:ea typeface="+mn-ea"/>
                  <a:cs typeface="+mn-cs"/>
                </a:rPr>
                <a:t>一维、环形与树形（循环移数网络 N = 2ⁿ）</a:t>
              </a:r>
            </a:p>
          </p:txBody>
        </p:sp>
      </p:grpSp>
      <p:grpSp>
        <p:nvGrpSpPr>
          <p:cNvPr id="102" name="c2-table-1"/>
          <p:cNvGrpSpPr/>
          <p:nvPr/>
        </p:nvGrpSpPr>
        <p:grpSpPr>
          <a:xfrm>
            <a:off x="6242685" y="1524000"/>
            <a:ext cx="5415915" cy="2877027"/>
            <a:chOff x="6242685" y="1524000"/>
            <a:chExt cx="5415915" cy="2877027"/>
          </a:xfrm>
        </p:grpSpPr>
        <p:sp>
          <p:nvSpPr>
            <p:cNvPr id="58" name="Rectangle 58"/>
            <p:cNvSpPr/>
            <p:nvPr/>
          </p:nvSpPr>
          <p:spPr>
            <a:xfrm>
              <a:off x="6248400" y="1524000"/>
              <a:ext cx="5410200" cy="430530"/>
            </a:xfrm>
            <a:prstGeom prst="rect">
              <a:avLst/>
            </a:prstGeom>
            <a:solidFill>
              <a:srgbClr val="334E68"/>
            </a:solidFill>
            <a:ln>
              <a:noFill/>
            </a:ln>
          </p:spPr>
        </p:sp>
        <p:sp>
          <p:nvSpPr>
            <p:cNvPr id="59" name="TextBox 59"/>
            <p:cNvSpPr txBox="1"/>
            <p:nvPr/>
          </p:nvSpPr>
          <p:spPr>
            <a:xfrm>
              <a:off x="6892290" y="1655445"/>
              <a:ext cx="335280"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网络</a:t>
              </a:r>
            </a:p>
          </p:txBody>
        </p:sp>
        <p:sp>
          <p:nvSpPr>
            <p:cNvPr id="60" name="TextBox 60"/>
            <p:cNvSpPr txBox="1"/>
            <p:nvPr/>
          </p:nvSpPr>
          <p:spPr>
            <a:xfrm>
              <a:off x="8002143" y="1655445"/>
              <a:ext cx="496824"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节点度</a:t>
              </a:r>
            </a:p>
          </p:txBody>
        </p:sp>
        <p:sp>
          <p:nvSpPr>
            <p:cNvPr id="61" name="TextBox 61"/>
            <p:cNvSpPr txBox="1"/>
            <p:nvPr/>
          </p:nvSpPr>
          <p:spPr>
            <a:xfrm>
              <a:off x="8975408" y="1655445"/>
              <a:ext cx="335280"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直径</a:t>
              </a:r>
            </a:p>
          </p:txBody>
        </p:sp>
        <p:sp>
          <p:nvSpPr>
            <p:cNvPr id="62" name="TextBox 62"/>
            <p:cNvSpPr txBox="1"/>
            <p:nvPr/>
          </p:nvSpPr>
          <p:spPr>
            <a:xfrm>
              <a:off x="9787318" y="1655445"/>
              <a:ext cx="658368"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对剖宽度</a:t>
              </a:r>
            </a:p>
          </p:txBody>
        </p:sp>
        <p:sp>
          <p:nvSpPr>
            <p:cNvPr id="63" name="TextBox 63"/>
            <p:cNvSpPr txBox="1"/>
            <p:nvPr/>
          </p:nvSpPr>
          <p:spPr>
            <a:xfrm>
              <a:off x="10869168" y="1655445"/>
              <a:ext cx="496824"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链路数</a:t>
              </a:r>
            </a:p>
          </p:txBody>
        </p:sp>
        <p:sp>
          <p:nvSpPr>
            <p:cNvPr id="64" name="TextBox 64"/>
            <p:cNvSpPr txBox="1"/>
            <p:nvPr/>
          </p:nvSpPr>
          <p:spPr>
            <a:xfrm>
              <a:off x="6353747" y="2085022"/>
              <a:ext cx="1090902" cy="234696"/>
            </a:xfrm>
            <a:prstGeom prst="rect">
              <a:avLst/>
            </a:prstGeom>
            <a:noFill/>
            <a:ln>
              <a:noFill/>
            </a:ln>
          </p:spPr>
          <p:txBody>
            <a:bodyPr wrap="none" lIns="0" tIns="0" rIns="0" bIns="0" anchor="t" anchorCtr="0">
              <a:spAutoFit/>
            </a:bodyPr>
            <a:lstStyle/>
            <a:p>
              <a:pPr algn="l"/>
              <a:r>
                <a:rPr lang="zh-CN" sz="1200" b="1" dirty="0">
                  <a:solidFill>
                    <a:srgbClr val="1F2937"/>
                  </a:solidFill>
                  <a:latin typeface="+mn-lt"/>
                  <a:ea typeface="+mn-ea"/>
                  <a:cs typeface="+mn-cs"/>
                </a:rPr>
                <a:t>二维网格 r × r</a:t>
              </a:r>
            </a:p>
          </p:txBody>
        </p:sp>
        <p:sp>
          <p:nvSpPr>
            <p:cNvPr id="65" name="TextBox 65"/>
            <p:cNvSpPr txBox="1"/>
            <p:nvPr/>
          </p:nvSpPr>
          <p:spPr>
            <a:xfrm>
              <a:off x="8200034" y="2085022"/>
              <a:ext cx="101041" cy="234696"/>
            </a:xfrm>
            <a:prstGeom prst="rect">
              <a:avLst/>
            </a:prstGeom>
            <a:noFill/>
            <a:ln>
              <a:noFill/>
            </a:ln>
          </p:spPr>
          <p:txBody>
            <a:bodyPr wrap="none" lIns="0" tIns="0" rIns="0" bIns="0" anchor="t" anchorCtr="0">
              <a:spAutoFit/>
            </a:bodyPr>
            <a:lstStyle/>
            <a:p>
              <a:pPr algn="ctr"/>
              <a:r>
                <a:rPr lang="zh-CN" sz="1200" dirty="0">
                  <a:solidFill>
                    <a:srgbClr val="1F2937"/>
                  </a:solidFill>
                  <a:latin typeface="+mn-lt"/>
                  <a:ea typeface="+mn-ea"/>
                  <a:cs typeface="+mn-cs"/>
                </a:rPr>
                <a:t>4</a:t>
              </a:r>
            </a:p>
          </p:txBody>
        </p:sp>
        <p:sp>
          <p:nvSpPr>
            <p:cNvPr id="66" name="TextBox 66"/>
            <p:cNvSpPr txBox="1"/>
            <p:nvPr/>
          </p:nvSpPr>
          <p:spPr>
            <a:xfrm>
              <a:off x="8821941" y="2085022"/>
              <a:ext cx="642214" cy="234696"/>
            </a:xfrm>
            <a:prstGeom prst="rect">
              <a:avLst/>
            </a:prstGeom>
            <a:noFill/>
            <a:ln>
              <a:noFill/>
            </a:ln>
          </p:spPr>
          <p:txBody>
            <a:bodyPr wrap="none" lIns="0" tIns="0" rIns="0" bIns="0" anchor="t" anchorCtr="0">
              <a:spAutoFit/>
            </a:bodyPr>
            <a:lstStyle/>
            <a:p>
              <a:pPr algn="ctr"/>
              <a:r>
                <a:rPr lang="en-US" sz="1200" dirty="0">
                  <a:solidFill>
                    <a:srgbClr val="1F2937"/>
                  </a:solidFill>
                  <a:latin typeface="+mn-lt"/>
                  <a:ea typeface="+mn-ea"/>
                  <a:cs typeface="+mn-cs"/>
                </a:rPr>
                <a:t>2(r − 1)</a:t>
              </a:r>
            </a:p>
          </p:txBody>
        </p:sp>
        <p:sp>
          <p:nvSpPr>
            <p:cNvPr id="67" name="TextBox 67"/>
            <p:cNvSpPr txBox="1"/>
            <p:nvPr/>
          </p:nvSpPr>
          <p:spPr>
            <a:xfrm>
              <a:off x="10065982" y="2085022"/>
              <a:ext cx="101041" cy="234696"/>
            </a:xfrm>
            <a:prstGeom prst="rect">
              <a:avLst/>
            </a:prstGeom>
            <a:noFill/>
            <a:ln>
              <a:noFill/>
            </a:ln>
          </p:spPr>
          <p:txBody>
            <a:bodyPr wrap="none" lIns="0" tIns="0" rIns="0" bIns="0" anchor="t" anchorCtr="0">
              <a:spAutoFit/>
            </a:bodyPr>
            <a:lstStyle/>
            <a:p>
              <a:pPr algn="ctr"/>
              <a:r>
                <a:rPr lang="en-US" sz="1200" dirty="0">
                  <a:solidFill>
                    <a:srgbClr val="1F2937"/>
                  </a:solidFill>
                  <a:latin typeface="+mn-lt"/>
                  <a:ea typeface="+mn-ea"/>
                  <a:cs typeface="+mn-cs"/>
                </a:rPr>
                <a:t>r</a:t>
              </a:r>
            </a:p>
          </p:txBody>
        </p:sp>
        <p:sp>
          <p:nvSpPr>
            <p:cNvPr id="68" name="TextBox 68"/>
            <p:cNvSpPr txBox="1"/>
            <p:nvPr/>
          </p:nvSpPr>
          <p:spPr>
            <a:xfrm>
              <a:off x="10833240" y="2085022"/>
              <a:ext cx="568681" cy="234696"/>
            </a:xfrm>
            <a:prstGeom prst="rect">
              <a:avLst/>
            </a:prstGeom>
            <a:noFill/>
            <a:ln>
              <a:noFill/>
            </a:ln>
          </p:spPr>
          <p:txBody>
            <a:bodyPr wrap="none" lIns="0" tIns="0" rIns="0" bIns="0" anchor="t" anchorCtr="0">
              <a:spAutoFit/>
            </a:bodyPr>
            <a:lstStyle/>
            <a:p>
              <a:pPr algn="ctr"/>
              <a:r>
                <a:rPr lang="en-US" sz="1200" dirty="0">
                  <a:solidFill>
                    <a:srgbClr val="1F2937"/>
                  </a:solidFill>
                  <a:latin typeface="+mn-lt"/>
                  <a:ea typeface="+mn-ea"/>
                  <a:cs typeface="+mn-cs"/>
                </a:rPr>
                <a:t>2N − 2r</a:t>
              </a:r>
            </a:p>
          </p:txBody>
        </p:sp>
        <p:sp>
          <p:nvSpPr>
            <p:cNvPr id="69" name="Rectangle 69"/>
            <p:cNvSpPr/>
            <p:nvPr/>
          </p:nvSpPr>
          <p:spPr>
            <a:xfrm>
              <a:off x="6248400" y="2379345"/>
              <a:ext cx="5410200" cy="9525"/>
            </a:xfrm>
            <a:prstGeom prst="rect">
              <a:avLst/>
            </a:prstGeom>
            <a:solidFill>
              <a:srgbClr val="D9DFEA"/>
            </a:solidFill>
            <a:ln>
              <a:noFill/>
            </a:ln>
          </p:spPr>
        </p:sp>
        <p:sp>
          <p:nvSpPr>
            <p:cNvPr id="70" name="Rectangle 70"/>
            <p:cNvSpPr/>
            <p:nvPr/>
          </p:nvSpPr>
          <p:spPr>
            <a:xfrm>
              <a:off x="6248400" y="2384108"/>
              <a:ext cx="5410200" cy="430530"/>
            </a:xfrm>
            <a:prstGeom prst="rect">
              <a:avLst/>
            </a:prstGeom>
            <a:solidFill>
              <a:srgbClr val="F4F6FB"/>
            </a:solidFill>
            <a:ln>
              <a:noFill/>
            </a:ln>
          </p:spPr>
        </p:sp>
        <p:sp>
          <p:nvSpPr>
            <p:cNvPr id="71" name="TextBox 71"/>
            <p:cNvSpPr txBox="1"/>
            <p:nvPr/>
          </p:nvSpPr>
          <p:spPr>
            <a:xfrm>
              <a:off x="6353747" y="2515552"/>
              <a:ext cx="840676" cy="234696"/>
            </a:xfrm>
            <a:prstGeom prst="rect">
              <a:avLst/>
            </a:prstGeom>
            <a:noFill/>
            <a:ln>
              <a:noFill/>
            </a:ln>
          </p:spPr>
          <p:txBody>
            <a:bodyPr wrap="none" lIns="0" tIns="0" rIns="0" bIns="0" anchor="t" anchorCtr="0">
              <a:spAutoFit/>
            </a:bodyPr>
            <a:lstStyle/>
            <a:p>
              <a:pPr algn="l"/>
              <a:r>
                <a:rPr lang="en-US" sz="1200" b="1" dirty="0">
                  <a:solidFill>
                    <a:srgbClr val="1F2937"/>
                  </a:solidFill>
                  <a:latin typeface="+mn-lt"/>
                  <a:ea typeface="+mn-ea"/>
                  <a:cs typeface="+mn-cs"/>
                </a:rPr>
                <a:t>Illiac r × r</a:t>
              </a:r>
            </a:p>
          </p:txBody>
        </p:sp>
        <p:sp>
          <p:nvSpPr>
            <p:cNvPr id="72" name="TextBox 72"/>
            <p:cNvSpPr txBox="1"/>
            <p:nvPr/>
          </p:nvSpPr>
          <p:spPr>
            <a:xfrm>
              <a:off x="8200034" y="2515552"/>
              <a:ext cx="101041" cy="234696"/>
            </a:xfrm>
            <a:prstGeom prst="rect">
              <a:avLst/>
            </a:prstGeom>
            <a:noFill/>
            <a:ln>
              <a:noFill/>
            </a:ln>
          </p:spPr>
          <p:txBody>
            <a:bodyPr wrap="none" lIns="0" tIns="0" rIns="0" bIns="0" anchor="t" anchorCtr="0">
              <a:spAutoFit/>
            </a:bodyPr>
            <a:lstStyle/>
            <a:p>
              <a:pPr algn="ctr"/>
              <a:r>
                <a:rPr lang="zh-CN" sz="1200" dirty="0">
                  <a:solidFill>
                    <a:srgbClr val="1F2937"/>
                  </a:solidFill>
                  <a:latin typeface="+mn-lt"/>
                  <a:ea typeface="+mn-ea"/>
                  <a:cs typeface="+mn-cs"/>
                </a:rPr>
                <a:t>4</a:t>
              </a:r>
            </a:p>
          </p:txBody>
        </p:sp>
        <p:sp>
          <p:nvSpPr>
            <p:cNvPr id="73" name="TextBox 73"/>
            <p:cNvSpPr txBox="1"/>
            <p:nvPr/>
          </p:nvSpPr>
          <p:spPr>
            <a:xfrm>
              <a:off x="8955214" y="2515552"/>
              <a:ext cx="375666" cy="234696"/>
            </a:xfrm>
            <a:prstGeom prst="rect">
              <a:avLst/>
            </a:prstGeom>
            <a:noFill/>
            <a:ln>
              <a:noFill/>
            </a:ln>
          </p:spPr>
          <p:txBody>
            <a:bodyPr wrap="none" lIns="0" tIns="0" rIns="0" bIns="0" anchor="t" anchorCtr="0">
              <a:spAutoFit/>
            </a:bodyPr>
            <a:lstStyle/>
            <a:p>
              <a:pPr algn="ctr"/>
              <a:r>
                <a:rPr lang="en-US" sz="1200" dirty="0">
                  <a:solidFill>
                    <a:srgbClr val="1F2937"/>
                  </a:solidFill>
                  <a:latin typeface="+mn-lt"/>
                  <a:ea typeface="+mn-ea"/>
                  <a:cs typeface="+mn-cs"/>
                </a:rPr>
                <a:t>r − 1</a:t>
              </a:r>
            </a:p>
          </p:txBody>
        </p:sp>
        <p:sp>
          <p:nvSpPr>
            <p:cNvPr id="74" name="TextBox 74"/>
            <p:cNvSpPr txBox="1"/>
            <p:nvPr/>
          </p:nvSpPr>
          <p:spPr>
            <a:xfrm>
              <a:off x="10021557" y="2515552"/>
              <a:ext cx="189890" cy="234696"/>
            </a:xfrm>
            <a:prstGeom prst="rect">
              <a:avLst/>
            </a:prstGeom>
            <a:noFill/>
            <a:ln>
              <a:noFill/>
            </a:ln>
          </p:spPr>
          <p:txBody>
            <a:bodyPr wrap="none" lIns="0" tIns="0" rIns="0" bIns="0" anchor="t" anchorCtr="0">
              <a:spAutoFit/>
            </a:bodyPr>
            <a:lstStyle/>
            <a:p>
              <a:pPr algn="ctr"/>
              <a:r>
                <a:rPr lang="en-US" sz="1200" dirty="0">
                  <a:solidFill>
                    <a:srgbClr val="1F2937"/>
                  </a:solidFill>
                  <a:latin typeface="+mn-lt"/>
                  <a:ea typeface="+mn-ea"/>
                  <a:cs typeface="+mn-cs"/>
                </a:rPr>
                <a:t>2r</a:t>
              </a:r>
            </a:p>
          </p:txBody>
        </p:sp>
        <p:sp>
          <p:nvSpPr>
            <p:cNvPr id="75" name="TextBox 75"/>
            <p:cNvSpPr txBox="1"/>
            <p:nvPr/>
          </p:nvSpPr>
          <p:spPr>
            <a:xfrm>
              <a:off x="11017606" y="2515552"/>
              <a:ext cx="199949" cy="234696"/>
            </a:xfrm>
            <a:prstGeom prst="rect">
              <a:avLst/>
            </a:prstGeom>
            <a:noFill/>
            <a:ln>
              <a:noFill/>
            </a:ln>
          </p:spPr>
          <p:txBody>
            <a:bodyPr wrap="none" lIns="0" tIns="0" rIns="0" bIns="0" anchor="t" anchorCtr="0">
              <a:spAutoFit/>
            </a:bodyPr>
            <a:lstStyle/>
            <a:p>
              <a:pPr algn="ctr"/>
              <a:r>
                <a:rPr lang="en-US" sz="1200" dirty="0">
                  <a:solidFill>
                    <a:srgbClr val="1F2937"/>
                  </a:solidFill>
                  <a:latin typeface="+mn-lt"/>
                  <a:ea typeface="+mn-ea"/>
                  <a:cs typeface="+mn-cs"/>
                </a:rPr>
                <a:t>2N</a:t>
              </a:r>
            </a:p>
          </p:txBody>
        </p:sp>
        <p:sp>
          <p:nvSpPr>
            <p:cNvPr id="76" name="Rectangle 76"/>
            <p:cNvSpPr/>
            <p:nvPr/>
          </p:nvSpPr>
          <p:spPr>
            <a:xfrm>
              <a:off x="6248400" y="2809875"/>
              <a:ext cx="5410200" cy="9525"/>
            </a:xfrm>
            <a:prstGeom prst="rect">
              <a:avLst/>
            </a:prstGeom>
            <a:solidFill>
              <a:srgbClr val="D9DFEA"/>
            </a:solidFill>
            <a:ln>
              <a:noFill/>
            </a:ln>
          </p:spPr>
        </p:sp>
        <p:sp>
          <p:nvSpPr>
            <p:cNvPr id="77" name="TextBox 77"/>
            <p:cNvSpPr txBox="1"/>
            <p:nvPr/>
          </p:nvSpPr>
          <p:spPr>
            <a:xfrm>
              <a:off x="6353747" y="2946082"/>
              <a:ext cx="918454" cy="234696"/>
            </a:xfrm>
            <a:prstGeom prst="rect">
              <a:avLst/>
            </a:prstGeom>
            <a:noFill/>
            <a:ln>
              <a:noFill/>
            </a:ln>
          </p:spPr>
          <p:txBody>
            <a:bodyPr wrap="none" lIns="0" tIns="0" rIns="0" bIns="0" anchor="t" anchorCtr="0">
              <a:spAutoFit/>
            </a:bodyPr>
            <a:lstStyle/>
            <a:p>
              <a:pPr algn="l"/>
              <a:r>
                <a:rPr lang="en-US" sz="1200" b="1" dirty="0">
                  <a:solidFill>
                    <a:srgbClr val="1F2937"/>
                  </a:solidFill>
                  <a:latin typeface="+mn-lt"/>
                  <a:ea typeface="+mn-ea"/>
                  <a:cs typeface="+mn-cs"/>
                </a:rPr>
                <a:t>Torus r × r</a:t>
              </a:r>
            </a:p>
          </p:txBody>
        </p:sp>
        <p:sp>
          <p:nvSpPr>
            <p:cNvPr id="78" name="TextBox 78"/>
            <p:cNvSpPr txBox="1"/>
            <p:nvPr/>
          </p:nvSpPr>
          <p:spPr>
            <a:xfrm>
              <a:off x="8200034" y="2946082"/>
              <a:ext cx="101041" cy="234696"/>
            </a:xfrm>
            <a:prstGeom prst="rect">
              <a:avLst/>
            </a:prstGeom>
            <a:noFill/>
            <a:ln>
              <a:noFill/>
            </a:ln>
          </p:spPr>
          <p:txBody>
            <a:bodyPr wrap="none" lIns="0" tIns="0" rIns="0" bIns="0" anchor="t" anchorCtr="0">
              <a:spAutoFit/>
            </a:bodyPr>
            <a:lstStyle/>
            <a:p>
              <a:pPr algn="ctr"/>
              <a:r>
                <a:rPr lang="zh-CN" sz="1200" dirty="0">
                  <a:solidFill>
                    <a:srgbClr val="1F2937"/>
                  </a:solidFill>
                  <a:latin typeface="+mn-lt"/>
                  <a:ea typeface="+mn-ea"/>
                  <a:cs typeface="+mn-cs"/>
                </a:rPr>
                <a:t>4</a:t>
              </a:r>
            </a:p>
          </p:txBody>
        </p:sp>
        <p:sp>
          <p:nvSpPr>
            <p:cNvPr id="79" name="TextBox 79"/>
            <p:cNvSpPr txBox="1"/>
            <p:nvPr/>
          </p:nvSpPr>
          <p:spPr>
            <a:xfrm>
              <a:off x="8870404" y="2946082"/>
              <a:ext cx="545287" cy="234696"/>
            </a:xfrm>
            <a:prstGeom prst="rect">
              <a:avLst/>
            </a:prstGeom>
            <a:noFill/>
            <a:ln>
              <a:noFill/>
            </a:ln>
          </p:spPr>
          <p:txBody>
            <a:bodyPr wrap="none" lIns="0" tIns="0" rIns="0" bIns="0" anchor="t" anchorCtr="0">
              <a:spAutoFit/>
            </a:bodyPr>
            <a:lstStyle/>
            <a:p>
              <a:pPr algn="ctr"/>
              <a:r>
                <a:rPr lang="en-US" sz="1200" dirty="0">
                  <a:solidFill>
                    <a:srgbClr val="1F2937"/>
                  </a:solidFill>
                  <a:latin typeface="+mn-lt"/>
                  <a:ea typeface="+mn-ea"/>
                  <a:cs typeface="+mn-cs"/>
                </a:rPr>
                <a:t>2⌊r/2⌋</a:t>
              </a:r>
            </a:p>
          </p:txBody>
        </p:sp>
        <p:sp>
          <p:nvSpPr>
            <p:cNvPr id="80" name="TextBox 80"/>
            <p:cNvSpPr txBox="1"/>
            <p:nvPr/>
          </p:nvSpPr>
          <p:spPr>
            <a:xfrm>
              <a:off x="10021557" y="2946082"/>
              <a:ext cx="189890" cy="234696"/>
            </a:xfrm>
            <a:prstGeom prst="rect">
              <a:avLst/>
            </a:prstGeom>
            <a:noFill/>
            <a:ln>
              <a:noFill/>
            </a:ln>
          </p:spPr>
          <p:txBody>
            <a:bodyPr wrap="none" lIns="0" tIns="0" rIns="0" bIns="0" anchor="t" anchorCtr="0">
              <a:spAutoFit/>
            </a:bodyPr>
            <a:lstStyle/>
            <a:p>
              <a:pPr algn="ctr"/>
              <a:r>
                <a:rPr lang="en-US" sz="1200" dirty="0">
                  <a:solidFill>
                    <a:srgbClr val="1F2937"/>
                  </a:solidFill>
                  <a:latin typeface="+mn-lt"/>
                  <a:ea typeface="+mn-ea"/>
                  <a:cs typeface="+mn-cs"/>
                </a:rPr>
                <a:t>2r</a:t>
              </a:r>
            </a:p>
          </p:txBody>
        </p:sp>
        <p:sp>
          <p:nvSpPr>
            <p:cNvPr id="81" name="TextBox 81"/>
            <p:cNvSpPr txBox="1"/>
            <p:nvPr/>
          </p:nvSpPr>
          <p:spPr>
            <a:xfrm>
              <a:off x="11017606" y="2946082"/>
              <a:ext cx="199949" cy="234696"/>
            </a:xfrm>
            <a:prstGeom prst="rect">
              <a:avLst/>
            </a:prstGeom>
            <a:noFill/>
            <a:ln>
              <a:noFill/>
            </a:ln>
          </p:spPr>
          <p:txBody>
            <a:bodyPr wrap="none" lIns="0" tIns="0" rIns="0" bIns="0" anchor="t" anchorCtr="0">
              <a:spAutoFit/>
            </a:bodyPr>
            <a:lstStyle/>
            <a:p>
              <a:pPr algn="ctr"/>
              <a:r>
                <a:rPr lang="en-US" sz="1200" dirty="0">
                  <a:solidFill>
                    <a:srgbClr val="1F2937"/>
                  </a:solidFill>
                  <a:latin typeface="+mn-lt"/>
                  <a:ea typeface="+mn-ea"/>
                  <a:cs typeface="+mn-cs"/>
                </a:rPr>
                <a:t>2N</a:t>
              </a:r>
            </a:p>
          </p:txBody>
        </p:sp>
        <p:sp>
          <p:nvSpPr>
            <p:cNvPr id="82" name="Rectangle 82"/>
            <p:cNvSpPr/>
            <p:nvPr/>
          </p:nvSpPr>
          <p:spPr>
            <a:xfrm>
              <a:off x="6248400" y="3239452"/>
              <a:ext cx="5410200" cy="9525"/>
            </a:xfrm>
            <a:prstGeom prst="rect">
              <a:avLst/>
            </a:prstGeom>
            <a:solidFill>
              <a:srgbClr val="D9DFEA"/>
            </a:solidFill>
            <a:ln>
              <a:noFill/>
            </a:ln>
          </p:spPr>
        </p:sp>
        <p:sp>
          <p:nvSpPr>
            <p:cNvPr id="83" name="Rectangle 83"/>
            <p:cNvSpPr/>
            <p:nvPr/>
          </p:nvSpPr>
          <p:spPr>
            <a:xfrm>
              <a:off x="6248400" y="3244215"/>
              <a:ext cx="5410200" cy="430530"/>
            </a:xfrm>
            <a:prstGeom prst="rect">
              <a:avLst/>
            </a:prstGeom>
            <a:solidFill>
              <a:srgbClr val="F4F6FB"/>
            </a:solidFill>
            <a:ln>
              <a:noFill/>
            </a:ln>
          </p:spPr>
        </p:sp>
        <p:sp>
          <p:nvSpPr>
            <p:cNvPr id="84" name="Rectangle 84"/>
            <p:cNvSpPr/>
            <p:nvPr/>
          </p:nvSpPr>
          <p:spPr>
            <a:xfrm>
              <a:off x="6257925" y="3253740"/>
              <a:ext cx="1604010" cy="411480"/>
            </a:xfrm>
            <a:prstGeom prst="rect">
              <a:avLst/>
            </a:prstGeom>
            <a:solidFill>
              <a:srgbClr val="FDEEE7"/>
            </a:solidFill>
            <a:ln>
              <a:noFill/>
            </a:ln>
          </p:spPr>
        </p:sp>
        <p:sp>
          <p:nvSpPr>
            <p:cNvPr id="85" name="TextBox 85"/>
            <p:cNvSpPr txBox="1"/>
            <p:nvPr/>
          </p:nvSpPr>
          <p:spPr>
            <a:xfrm>
              <a:off x="6353747" y="3375660"/>
              <a:ext cx="496824" cy="234696"/>
            </a:xfrm>
            <a:prstGeom prst="rect">
              <a:avLst/>
            </a:prstGeom>
            <a:noFill/>
            <a:ln>
              <a:noFill/>
            </a:ln>
          </p:spPr>
          <p:txBody>
            <a:bodyPr wrap="none" lIns="0" tIns="0" rIns="0" bIns="0" anchor="t" anchorCtr="0">
              <a:spAutoFit/>
            </a:bodyPr>
            <a:lstStyle/>
            <a:p>
              <a:pPr algn="l"/>
              <a:r>
                <a:rPr lang="zh-CN" sz="1200" b="1" dirty="0">
                  <a:solidFill>
                    <a:srgbClr val="1F2937"/>
                  </a:solidFill>
                  <a:latin typeface="+mn-lt"/>
                  <a:ea typeface="+mn-ea"/>
                  <a:cs typeface="+mn-cs"/>
                </a:rPr>
                <a:t>超立方</a:t>
              </a:r>
            </a:p>
          </p:txBody>
        </p:sp>
        <p:sp>
          <p:nvSpPr>
            <p:cNvPr id="86" name="TextBox 86"/>
            <p:cNvSpPr txBox="1"/>
            <p:nvPr/>
          </p:nvSpPr>
          <p:spPr>
            <a:xfrm>
              <a:off x="8200034" y="3375660"/>
              <a:ext cx="101041" cy="234696"/>
            </a:xfrm>
            <a:prstGeom prst="rect">
              <a:avLst/>
            </a:prstGeom>
            <a:noFill/>
            <a:ln>
              <a:noFill/>
            </a:ln>
          </p:spPr>
          <p:txBody>
            <a:bodyPr wrap="none" lIns="0" tIns="0" rIns="0" bIns="0" anchor="t" anchorCtr="0">
              <a:spAutoFit/>
            </a:bodyPr>
            <a:lstStyle/>
            <a:p>
              <a:pPr algn="ctr"/>
              <a:r>
                <a:rPr lang="en-US" sz="1200" dirty="0">
                  <a:solidFill>
                    <a:srgbClr val="1F2937"/>
                  </a:solidFill>
                  <a:latin typeface="+mn-lt"/>
                  <a:ea typeface="+mn-ea"/>
                  <a:cs typeface="+mn-cs"/>
                </a:rPr>
                <a:t>n</a:t>
              </a:r>
            </a:p>
          </p:txBody>
        </p:sp>
        <p:sp>
          <p:nvSpPr>
            <p:cNvPr id="87" name="TextBox 87"/>
            <p:cNvSpPr txBox="1"/>
            <p:nvPr/>
          </p:nvSpPr>
          <p:spPr>
            <a:xfrm>
              <a:off x="9092527" y="3375660"/>
              <a:ext cx="101041" cy="234696"/>
            </a:xfrm>
            <a:prstGeom prst="rect">
              <a:avLst/>
            </a:prstGeom>
            <a:noFill/>
            <a:ln>
              <a:noFill/>
            </a:ln>
          </p:spPr>
          <p:txBody>
            <a:bodyPr wrap="none" lIns="0" tIns="0" rIns="0" bIns="0" anchor="t" anchorCtr="0">
              <a:spAutoFit/>
            </a:bodyPr>
            <a:lstStyle/>
            <a:p>
              <a:pPr algn="ctr"/>
              <a:r>
                <a:rPr lang="en-US" sz="1200" dirty="0">
                  <a:solidFill>
                    <a:srgbClr val="1F2937"/>
                  </a:solidFill>
                  <a:latin typeface="+mn-lt"/>
                  <a:ea typeface="+mn-ea"/>
                  <a:cs typeface="+mn-cs"/>
                </a:rPr>
                <a:t>n</a:t>
              </a:r>
            </a:p>
          </p:txBody>
        </p:sp>
        <p:sp>
          <p:nvSpPr>
            <p:cNvPr id="88" name="TextBox 88"/>
            <p:cNvSpPr txBox="1"/>
            <p:nvPr/>
          </p:nvSpPr>
          <p:spPr>
            <a:xfrm>
              <a:off x="9969589" y="3375660"/>
              <a:ext cx="293827" cy="234696"/>
            </a:xfrm>
            <a:prstGeom prst="rect">
              <a:avLst/>
            </a:prstGeom>
            <a:noFill/>
            <a:ln>
              <a:noFill/>
            </a:ln>
          </p:spPr>
          <p:txBody>
            <a:bodyPr wrap="none" lIns="0" tIns="0" rIns="0" bIns="0" anchor="t" anchorCtr="0">
              <a:spAutoFit/>
            </a:bodyPr>
            <a:lstStyle/>
            <a:p>
              <a:pPr algn="ctr"/>
              <a:r>
                <a:rPr lang="en-US" sz="1200" dirty="0">
                  <a:solidFill>
                    <a:srgbClr val="1F2937"/>
                  </a:solidFill>
                  <a:latin typeface="+mn-lt"/>
                  <a:ea typeface="+mn-ea"/>
                  <a:cs typeface="+mn-cs"/>
                </a:rPr>
                <a:t>N/2</a:t>
              </a:r>
            </a:p>
          </p:txBody>
        </p:sp>
        <p:sp>
          <p:nvSpPr>
            <p:cNvPr id="89" name="TextBox 89"/>
            <p:cNvSpPr txBox="1"/>
            <p:nvPr/>
          </p:nvSpPr>
          <p:spPr>
            <a:xfrm>
              <a:off x="10928756" y="3375660"/>
              <a:ext cx="377647" cy="234696"/>
            </a:xfrm>
            <a:prstGeom prst="rect">
              <a:avLst/>
            </a:prstGeom>
            <a:noFill/>
            <a:ln>
              <a:noFill/>
            </a:ln>
          </p:spPr>
          <p:txBody>
            <a:bodyPr wrap="none" lIns="0" tIns="0" rIns="0" bIns="0" anchor="t" anchorCtr="0">
              <a:spAutoFit/>
            </a:bodyPr>
            <a:lstStyle/>
            <a:p>
              <a:pPr algn="ctr"/>
              <a:r>
                <a:rPr lang="en-US" sz="1200" dirty="0">
                  <a:solidFill>
                    <a:srgbClr val="1F2937"/>
                  </a:solidFill>
                  <a:latin typeface="+mn-lt"/>
                  <a:ea typeface="+mn-ea"/>
                  <a:cs typeface="+mn-cs"/>
                </a:rPr>
                <a:t>nN/2</a:t>
              </a:r>
            </a:p>
          </p:txBody>
        </p:sp>
        <p:sp>
          <p:nvSpPr>
            <p:cNvPr id="90" name="Rectangle 90"/>
            <p:cNvSpPr/>
            <p:nvPr/>
          </p:nvSpPr>
          <p:spPr>
            <a:xfrm>
              <a:off x="6248400" y="3669982"/>
              <a:ext cx="5410200" cy="9525"/>
            </a:xfrm>
            <a:prstGeom prst="rect">
              <a:avLst/>
            </a:prstGeom>
            <a:solidFill>
              <a:srgbClr val="D9DFEA"/>
            </a:solidFill>
            <a:ln>
              <a:noFill/>
            </a:ln>
          </p:spPr>
        </p:sp>
        <p:sp>
          <p:nvSpPr>
            <p:cNvPr id="91" name="TextBox 91"/>
            <p:cNvSpPr txBox="1"/>
            <p:nvPr/>
          </p:nvSpPr>
          <p:spPr>
            <a:xfrm>
              <a:off x="6353747" y="3806190"/>
              <a:ext cx="836066" cy="234696"/>
            </a:xfrm>
            <a:prstGeom prst="rect">
              <a:avLst/>
            </a:prstGeom>
            <a:noFill/>
            <a:ln>
              <a:noFill/>
            </a:ln>
          </p:spPr>
          <p:txBody>
            <a:bodyPr wrap="none" lIns="0" tIns="0" rIns="0" bIns="0" anchor="t" anchorCtr="0">
              <a:spAutoFit/>
            </a:bodyPr>
            <a:lstStyle/>
            <a:p>
              <a:pPr algn="l"/>
              <a:r>
                <a:rPr lang="zh-CN" sz="1200" b="1" dirty="0">
                  <a:solidFill>
                    <a:srgbClr val="1F2937"/>
                  </a:solidFill>
                  <a:latin typeface="+mn-lt"/>
                  <a:ea typeface="+mn-ea"/>
                  <a:cs typeface="+mn-cs"/>
                </a:rPr>
                <a:t>k 元 n 立方</a:t>
              </a:r>
            </a:p>
          </p:txBody>
        </p:sp>
        <p:sp>
          <p:nvSpPr>
            <p:cNvPr id="92" name="TextBox 92"/>
            <p:cNvSpPr txBox="1"/>
            <p:nvPr/>
          </p:nvSpPr>
          <p:spPr>
            <a:xfrm>
              <a:off x="8155610" y="3806190"/>
              <a:ext cx="189890" cy="234696"/>
            </a:xfrm>
            <a:prstGeom prst="rect">
              <a:avLst/>
            </a:prstGeom>
            <a:noFill/>
            <a:ln>
              <a:noFill/>
            </a:ln>
          </p:spPr>
          <p:txBody>
            <a:bodyPr wrap="none" lIns="0" tIns="0" rIns="0" bIns="0" anchor="t" anchorCtr="0">
              <a:spAutoFit/>
            </a:bodyPr>
            <a:lstStyle/>
            <a:p>
              <a:pPr algn="ctr"/>
              <a:r>
                <a:rPr lang="en-US" sz="1200" dirty="0">
                  <a:solidFill>
                    <a:srgbClr val="1F2937"/>
                  </a:solidFill>
                  <a:latin typeface="+mn-lt"/>
                  <a:ea typeface="+mn-ea"/>
                  <a:cs typeface="+mn-cs"/>
                </a:rPr>
                <a:t>2n</a:t>
              </a:r>
            </a:p>
          </p:txBody>
        </p:sp>
        <p:sp>
          <p:nvSpPr>
            <p:cNvPr id="93" name="TextBox 93"/>
            <p:cNvSpPr txBox="1"/>
            <p:nvPr/>
          </p:nvSpPr>
          <p:spPr>
            <a:xfrm>
              <a:off x="8870404" y="3806190"/>
              <a:ext cx="545287" cy="234696"/>
            </a:xfrm>
            <a:prstGeom prst="rect">
              <a:avLst/>
            </a:prstGeom>
            <a:noFill/>
            <a:ln>
              <a:noFill/>
            </a:ln>
          </p:spPr>
          <p:txBody>
            <a:bodyPr wrap="none" lIns="0" tIns="0" rIns="0" bIns="0" anchor="t" anchorCtr="0">
              <a:spAutoFit/>
            </a:bodyPr>
            <a:lstStyle/>
            <a:p>
              <a:pPr algn="ctr"/>
              <a:r>
                <a:rPr lang="en-US" sz="1200" dirty="0">
                  <a:solidFill>
                    <a:srgbClr val="1F2937"/>
                  </a:solidFill>
                  <a:latin typeface="+mn-lt"/>
                  <a:ea typeface="+mn-ea"/>
                  <a:cs typeface="+mn-cs"/>
                </a:rPr>
                <a:t>n⌊k/2⌋</a:t>
              </a:r>
            </a:p>
          </p:txBody>
        </p:sp>
        <p:sp>
          <p:nvSpPr>
            <p:cNvPr id="94" name="TextBox 94"/>
            <p:cNvSpPr txBox="1"/>
            <p:nvPr/>
          </p:nvSpPr>
          <p:spPr>
            <a:xfrm>
              <a:off x="9888283" y="3806190"/>
              <a:ext cx="456438" cy="234696"/>
            </a:xfrm>
            <a:prstGeom prst="rect">
              <a:avLst/>
            </a:prstGeom>
            <a:noFill/>
            <a:ln>
              <a:noFill/>
            </a:ln>
          </p:spPr>
          <p:txBody>
            <a:bodyPr wrap="none" lIns="0" tIns="0" rIns="0" bIns="0" anchor="t" anchorCtr="0">
              <a:spAutoFit/>
            </a:bodyPr>
            <a:lstStyle/>
            <a:p>
              <a:pPr algn="ctr"/>
              <a:r>
                <a:rPr lang="en-US" sz="1200" dirty="0">
                  <a:solidFill>
                    <a:srgbClr val="1F2937"/>
                  </a:solidFill>
                  <a:latin typeface="+mn-lt"/>
                  <a:ea typeface="+mn-ea"/>
                  <a:cs typeface="+mn-cs"/>
                </a:rPr>
                <a:t>2kⁿ⁻¹</a:t>
              </a:r>
            </a:p>
          </p:txBody>
        </p:sp>
        <p:sp>
          <p:nvSpPr>
            <p:cNvPr id="95" name="TextBox 95"/>
            <p:cNvSpPr txBox="1"/>
            <p:nvPr/>
          </p:nvSpPr>
          <p:spPr>
            <a:xfrm>
              <a:off x="11020120" y="3806190"/>
              <a:ext cx="194920" cy="234696"/>
            </a:xfrm>
            <a:prstGeom prst="rect">
              <a:avLst/>
            </a:prstGeom>
            <a:noFill/>
            <a:ln>
              <a:noFill/>
            </a:ln>
          </p:spPr>
          <p:txBody>
            <a:bodyPr wrap="none" lIns="0" tIns="0" rIns="0" bIns="0" anchor="t" anchorCtr="0">
              <a:spAutoFit/>
            </a:bodyPr>
            <a:lstStyle/>
            <a:p>
              <a:pPr algn="ctr"/>
              <a:r>
                <a:rPr lang="en-US" sz="1200" dirty="0">
                  <a:solidFill>
                    <a:srgbClr val="1F2937"/>
                  </a:solidFill>
                  <a:latin typeface="+mn-lt"/>
                  <a:ea typeface="+mn-ea"/>
                  <a:cs typeface="+mn-cs"/>
                </a:rPr>
                <a:t>nN</a:t>
              </a:r>
            </a:p>
          </p:txBody>
        </p:sp>
        <p:sp>
          <p:nvSpPr>
            <p:cNvPr id="96" name="Rectangle 96"/>
            <p:cNvSpPr/>
            <p:nvPr/>
          </p:nvSpPr>
          <p:spPr>
            <a:xfrm>
              <a:off x="6248400" y="1524000"/>
              <a:ext cx="5410200" cy="2581275"/>
            </a:xfrm>
            <a:prstGeom prst="rect">
              <a:avLst/>
            </a:prstGeom>
            <a:noFill/>
            <a:ln w="14288">
              <a:solidFill>
                <a:srgbClr val="D9DFEA"/>
              </a:solidFill>
            </a:ln>
          </p:spPr>
        </p:sp>
        <p:sp>
          <p:nvSpPr>
            <p:cNvPr id="97" name="Rectangle 97"/>
            <p:cNvSpPr/>
            <p:nvPr/>
          </p:nvSpPr>
          <p:spPr>
            <a:xfrm>
              <a:off x="7866698" y="1524000"/>
              <a:ext cx="9525" cy="2581275"/>
            </a:xfrm>
            <a:prstGeom prst="rect">
              <a:avLst/>
            </a:prstGeom>
            <a:solidFill>
              <a:srgbClr val="D9DFEA"/>
            </a:solidFill>
            <a:ln>
              <a:noFill/>
            </a:ln>
          </p:spPr>
        </p:sp>
        <p:sp>
          <p:nvSpPr>
            <p:cNvPr id="98" name="Rectangle 98"/>
            <p:cNvSpPr/>
            <p:nvPr/>
          </p:nvSpPr>
          <p:spPr>
            <a:xfrm>
              <a:off x="8623935" y="1524000"/>
              <a:ext cx="9525" cy="2581275"/>
            </a:xfrm>
            <a:prstGeom prst="rect">
              <a:avLst/>
            </a:prstGeom>
            <a:solidFill>
              <a:srgbClr val="D9DFEA"/>
            </a:solidFill>
            <a:ln>
              <a:noFill/>
            </a:ln>
          </p:spPr>
        </p:sp>
        <p:sp>
          <p:nvSpPr>
            <p:cNvPr id="99" name="Rectangle 99"/>
            <p:cNvSpPr/>
            <p:nvPr/>
          </p:nvSpPr>
          <p:spPr>
            <a:xfrm>
              <a:off x="9651682" y="1524000"/>
              <a:ext cx="9525" cy="2581275"/>
            </a:xfrm>
            <a:prstGeom prst="rect">
              <a:avLst/>
            </a:prstGeom>
            <a:solidFill>
              <a:srgbClr val="D9DFEA"/>
            </a:solidFill>
            <a:ln>
              <a:noFill/>
            </a:ln>
          </p:spPr>
        </p:sp>
        <p:sp>
          <p:nvSpPr>
            <p:cNvPr id="100" name="Rectangle 100"/>
            <p:cNvSpPr/>
            <p:nvPr/>
          </p:nvSpPr>
          <p:spPr>
            <a:xfrm>
              <a:off x="10571798" y="1524000"/>
              <a:ext cx="9525" cy="2581275"/>
            </a:xfrm>
            <a:prstGeom prst="rect">
              <a:avLst/>
            </a:prstGeom>
            <a:solidFill>
              <a:srgbClr val="D9DFEA"/>
            </a:solidFill>
            <a:ln>
              <a:noFill/>
            </a:ln>
          </p:spPr>
        </p:sp>
        <p:sp>
          <p:nvSpPr>
            <p:cNvPr id="101" name="TextBox 101"/>
            <p:cNvSpPr txBox="1"/>
            <p:nvPr/>
          </p:nvSpPr>
          <p:spPr>
            <a:xfrm>
              <a:off x="6242685" y="4180999"/>
              <a:ext cx="4039098" cy="220028"/>
            </a:xfrm>
            <a:prstGeom prst="rect">
              <a:avLst/>
            </a:prstGeom>
            <a:noFill/>
            <a:ln>
              <a:noFill/>
            </a:ln>
          </p:spPr>
          <p:txBody>
            <a:bodyPr wrap="none" lIns="0" tIns="0" rIns="0" bIns="0" anchor="t" anchorCtr="0">
              <a:spAutoFit/>
            </a:bodyPr>
            <a:lstStyle/>
            <a:p>
              <a:pPr algn="l"/>
              <a:r>
                <a:rPr lang="zh-CN" sz="1120" dirty="0">
                  <a:solidFill>
                    <a:srgbClr val="5B6475"/>
                  </a:solidFill>
                  <a:latin typeface="+mn-lt"/>
                  <a:ea typeface="+mn-ea"/>
                  <a:cs typeface="+mn-cs"/>
                </a:rPr>
                <a:t>网格与立方类（超立方 N = 2ⁿ；k 元 n 立方 N = kⁿ，k &gt; 2）</a:t>
              </a:r>
            </a:p>
          </p:txBody>
        </p:sp>
      </p:grpSp>
      <p:grpSp>
        <p:nvGrpSpPr>
          <p:cNvPr id="109" name="c2-callout-2"/>
          <p:cNvGrpSpPr/>
          <p:nvPr/>
        </p:nvGrpSpPr>
        <p:grpSpPr>
          <a:xfrm>
            <a:off x="6248400" y="4541520"/>
            <a:ext cx="5410200" cy="1098232"/>
            <a:chOff x="6248400" y="4541520"/>
            <a:chExt cx="5410200" cy="1098232"/>
          </a:xfrm>
        </p:grpSpPr>
        <p:sp>
          <p:nvSpPr>
            <p:cNvPr id="103" name="Rectangle 103"/>
            <p:cNvSpPr/>
            <p:nvPr/>
          </p:nvSpPr>
          <p:spPr>
            <a:xfrm>
              <a:off x="6248400" y="4541520"/>
              <a:ext cx="5410200" cy="1098232"/>
            </a:xfrm>
            <a:prstGeom prst="roundRect">
              <a:avLst>
                <a:gd name="adj" fmla="val 10408"/>
              </a:avLst>
            </a:prstGeom>
            <a:solidFill>
              <a:srgbClr val="F4F6FB"/>
            </a:solidFill>
            <a:ln>
              <a:noFill/>
            </a:ln>
          </p:spPr>
        </p:sp>
        <p:grpSp>
          <p:nvGrpSpPr>
            <p:cNvPr id="107" name="Group 107"/>
            <p:cNvGrpSpPr/>
            <p:nvPr/>
          </p:nvGrpSpPr>
          <p:grpSpPr>
            <a:xfrm>
              <a:off x="6453188" y="4991100"/>
              <a:ext cx="200026" cy="200026"/>
              <a:chOff x="6453188" y="4991100"/>
              <a:chExt cx="200026" cy="200026"/>
            </a:xfrm>
          </p:grpSpPr>
          <p:sp>
            <p:nvSpPr>
              <p:cNvPr id="104" name="Freeform 104"/>
              <p:cNvSpPr/>
              <p:nvPr/>
            </p:nvSpPr>
            <p:spPr>
              <a:xfrm>
                <a:off x="6453188" y="4991100"/>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1F2937"/>
                </a:solidFill>
              </a:ln>
            </p:spPr>
          </p:sp>
          <p:sp>
            <p:nvSpPr>
              <p:cNvPr id="105" name="Freeform 105"/>
              <p:cNvSpPr/>
              <p:nvPr/>
            </p:nvSpPr>
            <p:spPr>
              <a:xfrm>
                <a:off x="6553200" y="5057775"/>
                <a:ext cx="9525" cy="9525"/>
              </a:xfrm>
              <a:custGeom>
                <a:avLst/>
                <a:gdLst/>
                <a:ahLst/>
                <a:cxnLst/>
                <a:rect l="l" t="t" r="r" b="b"/>
                <a:pathLst>
                  <a:path w="9525" h="9525">
                    <a:moveTo>
                      <a:pt x="0" y="0"/>
                    </a:moveTo>
                    <a:lnTo>
                      <a:pt x="111" y="0"/>
                    </a:lnTo>
                  </a:path>
                </a:pathLst>
              </a:custGeom>
              <a:noFill/>
              <a:ln w="22225">
                <a:solidFill>
                  <a:srgbClr val="1F2937"/>
                </a:solidFill>
              </a:ln>
            </p:spPr>
          </p:sp>
          <p:sp>
            <p:nvSpPr>
              <p:cNvPr id="106" name="Freeform 106"/>
              <p:cNvSpPr/>
              <p:nvPr/>
            </p:nvSpPr>
            <p:spPr>
              <a:xfrm>
                <a:off x="6542088" y="5091113"/>
                <a:ext cx="22225" cy="44450"/>
              </a:xfrm>
              <a:custGeom>
                <a:avLst/>
                <a:gdLst/>
                <a:ahLst/>
                <a:cxnLst/>
                <a:rect l="l" t="t" r="r" b="b"/>
                <a:pathLst>
                  <a:path w="22225" h="44450">
                    <a:moveTo>
                      <a:pt x="0" y="0"/>
                    </a:moveTo>
                    <a:lnTo>
                      <a:pt x="11113" y="0"/>
                    </a:lnTo>
                    <a:lnTo>
                      <a:pt x="11113" y="44450"/>
                    </a:lnTo>
                    <a:lnTo>
                      <a:pt x="22225" y="44450"/>
                    </a:lnTo>
                  </a:path>
                </a:pathLst>
              </a:custGeom>
              <a:noFill/>
              <a:ln w="22225">
                <a:solidFill>
                  <a:srgbClr val="1F2937"/>
                </a:solidFill>
              </a:ln>
            </p:spPr>
          </p:sp>
        </p:grpSp>
        <p:sp>
          <p:nvSpPr>
            <p:cNvPr id="108" name="TextBox 108"/>
            <p:cNvSpPr txBox="1"/>
            <p:nvPr/>
          </p:nvSpPr>
          <p:spPr>
            <a:xfrm>
              <a:off x="6755511" y="4860131"/>
              <a:ext cx="4441825" cy="541592"/>
            </a:xfrm>
            <a:prstGeom prst="rect">
              <a:avLst/>
            </a:prstGeom>
            <a:noFill/>
            <a:ln>
              <a:noFill/>
            </a:ln>
          </p:spPr>
          <p:txBody>
            <a:bodyPr wrap="none" lIns="0" tIns="0" rIns="0" bIns="0" anchor="t" anchorCtr="0">
              <a:spAutoFit/>
            </a:bodyPr>
            <a:lstStyle/>
            <a:p>
              <a:pPr algn="l">
                <a:lnSpc>
                  <a:spcPts val="2070"/>
                </a:lnSpc>
              </a:pPr>
              <a:r>
                <a:rPr lang="zh-CN" sz="1420" dirty="0">
                  <a:solidFill>
                    <a:srgbClr val="1F2937"/>
                  </a:solidFill>
                  <a:latin typeface="+mn-lt"/>
                  <a:ea typeface="+mn-ea"/>
                  <a:cs typeface="+mn-cs"/>
                </a:rPr>
                <a:t>N 为节点数，度指最大节点度。表中各式都用程序对 N =</a:t>
              </a:r>
              <a:br/>
              <a:r>
                <a:rPr lang="zh-CN" sz="1420" dirty="0">
                  <a:solidFill>
                    <a:srgbClr val="1F2937"/>
                  </a:solidFill>
                  <a:latin typeface="+mn-lt"/>
                  <a:ea typeface="+mn-ea"/>
                  <a:cs typeface="+mn-cs"/>
                </a:rPr>
                <a:t>8～64 的实例逐一搜索核对过。</a:t>
              </a:r>
            </a:p>
          </p:txBody>
        </p:sp>
      </p:grpSp>
      <p:grpSp>
        <p:nvGrpSpPr>
          <p:cNvPr id="115" name="takeaway"/>
          <p:cNvGrpSpPr/>
          <p:nvPr/>
        </p:nvGrpSpPr>
        <p:grpSpPr>
          <a:xfrm>
            <a:off x="533400" y="5844540"/>
            <a:ext cx="11125200" cy="518160"/>
            <a:chOff x="533400" y="5844540"/>
            <a:chExt cx="11125200" cy="518160"/>
          </a:xfrm>
        </p:grpSpPr>
        <p:sp>
          <p:nvSpPr>
            <p:cNvPr id="110" name="Rectangle 110"/>
            <p:cNvSpPr/>
            <p:nvPr/>
          </p:nvSpPr>
          <p:spPr>
            <a:xfrm>
              <a:off x="533400" y="5844540"/>
              <a:ext cx="11125200" cy="518160"/>
            </a:xfrm>
            <a:prstGeom prst="roundRect">
              <a:avLst>
                <a:gd name="adj" fmla="val 22059"/>
              </a:avLst>
            </a:prstGeom>
            <a:solidFill>
              <a:srgbClr val="334E68"/>
            </a:solidFill>
            <a:ln>
              <a:noFill/>
            </a:ln>
          </p:spPr>
        </p:sp>
        <p:grpSp>
          <p:nvGrpSpPr>
            <p:cNvPr id="113" name="Group 113"/>
            <p:cNvGrpSpPr/>
            <p:nvPr/>
          </p:nvGrpSpPr>
          <p:grpSpPr>
            <a:xfrm>
              <a:off x="738188" y="6003610"/>
              <a:ext cx="200023" cy="200023"/>
              <a:chOff x="738188" y="6003610"/>
              <a:chExt cx="200023" cy="200023"/>
            </a:xfrm>
          </p:grpSpPr>
          <p:sp>
            <p:nvSpPr>
              <p:cNvPr id="111" name="Freeform 111"/>
              <p:cNvSpPr/>
              <p:nvPr/>
            </p:nvSpPr>
            <p:spPr>
              <a:xfrm>
                <a:off x="738188" y="6003610"/>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112" name="Freeform 112"/>
              <p:cNvSpPr/>
              <p:nvPr/>
            </p:nvSpPr>
            <p:spPr>
              <a:xfrm>
                <a:off x="871538" y="6070283"/>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114" name="TextBox 114"/>
            <p:cNvSpPr txBox="1"/>
            <p:nvPr/>
          </p:nvSpPr>
          <p:spPr>
            <a:xfrm>
              <a:off x="1040511" y="6004084"/>
              <a:ext cx="9190177" cy="278702"/>
            </a:xfrm>
            <a:prstGeom prst="rect">
              <a:avLst/>
            </a:prstGeom>
            <a:noFill/>
            <a:ln>
              <a:noFill/>
            </a:ln>
          </p:spPr>
          <p:txBody>
            <a:bodyPr wrap="none" lIns="0" tIns="0" rIns="0" bIns="0" anchor="t" anchorCtr="0">
              <a:spAutoFit/>
            </a:bodyPr>
            <a:lstStyle/>
            <a:p>
              <a:pPr algn="l"/>
              <a:r>
                <a:rPr lang="zh-CN" sz="1420" dirty="0">
                  <a:solidFill>
                    <a:srgbClr val="FFFFFF"/>
                  </a:solidFill>
                  <a:latin typeface="+mn-lt"/>
                  <a:ea typeface="+mn-ea"/>
                  <a:cs typeface="+mn-cs"/>
                </a:rPr>
                <a:t>比较网络先看两个数：直径决定最坏情况下的通信距离，对剖宽度决定全体节点两两交换数据时的带宽上限。</a:t>
              </a:r>
            </a:p>
          </p:txBody>
        </p:sp>
      </p:grpSp>
      <p:grpSp>
        <p:nvGrpSpPr>
          <p:cNvPr id="118" name="footer"/>
          <p:cNvGrpSpPr/>
          <p:nvPr/>
        </p:nvGrpSpPr>
        <p:grpSpPr>
          <a:xfrm>
            <a:off x="528447" y="6581299"/>
            <a:ext cx="11135106" cy="190690"/>
            <a:chOff x="528447" y="6581299"/>
            <a:chExt cx="11135106" cy="190690"/>
          </a:xfrm>
        </p:grpSpPr>
        <p:sp>
          <p:nvSpPr>
            <p:cNvPr id="116" name="TextBox 116"/>
            <p:cNvSpPr txBox="1"/>
            <p:nvPr/>
          </p:nvSpPr>
          <p:spPr>
            <a:xfrm>
              <a:off x="528447" y="6581299"/>
              <a:ext cx="2120748"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并行与分布式计算 · 第7章 体系结构</a:t>
              </a:r>
            </a:p>
          </p:txBody>
        </p:sp>
        <p:sp>
          <p:nvSpPr>
            <p:cNvPr id="117" name="TextBox 117"/>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47</a:t>
              </a:r>
            </a:p>
          </p:txBody>
        </p:sp>
      </p:grpSp>
    </p:spTree>
  </p:cSld>
  <p:clrMapOvr>
    <a:masterClrMapping/>
  </p:clrMapOvr>
  <p:transition xmlns:p14="http://schemas.microsoft.com/office/powerpoint/2010/main" p14:dur="400">
    <p:fade/>
  </p:transition>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7234809" cy="909257"/>
            <a:chOff x="520446" y="342900"/>
            <a:chExt cx="7234809" cy="909257"/>
          </a:xfrm>
        </p:grpSpPr>
        <p:sp>
          <p:nvSpPr>
            <p:cNvPr id="2" name="Rectangle 2"/>
            <p:cNvSpPr/>
            <p:nvPr/>
          </p:nvSpPr>
          <p:spPr>
            <a:xfrm>
              <a:off x="533400" y="342900"/>
              <a:ext cx="1987868" cy="266700"/>
            </a:xfrm>
            <a:prstGeom prst="roundRect">
              <a:avLst>
                <a:gd name="adj" fmla="val 50000"/>
              </a:avLst>
            </a:prstGeom>
            <a:solidFill>
              <a:srgbClr val="E7EDF3"/>
            </a:solidFill>
            <a:ln>
              <a:noFill/>
            </a:ln>
          </p:spPr>
        </p:sp>
        <p:sp>
          <p:nvSpPr>
            <p:cNvPr id="3" name="TextBox 3"/>
            <p:cNvSpPr txBox="1"/>
            <p:nvPr/>
          </p:nvSpPr>
          <p:spPr>
            <a:xfrm>
              <a:off x="608957" y="407194"/>
              <a:ext cx="1835800"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第7章 体系结构 · 互连结构</a:t>
              </a:r>
            </a:p>
          </p:txBody>
        </p:sp>
        <p:sp>
          <p:nvSpPr>
            <p:cNvPr id="4" name="TextBox 4"/>
            <p:cNvSpPr txBox="1"/>
            <p:nvPr/>
          </p:nvSpPr>
          <p:spPr>
            <a:xfrm>
              <a:off x="520446" y="753428"/>
              <a:ext cx="7234809"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总线：分时共享的一组导线，每条都要配控制器</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17" name="c1-card-1"/>
          <p:cNvGrpSpPr/>
          <p:nvPr/>
        </p:nvGrpSpPr>
        <p:grpSpPr>
          <a:xfrm>
            <a:off x="533400" y="1524000"/>
            <a:ext cx="5193982" cy="2457450"/>
            <a:chOff x="533400" y="1524000"/>
            <a:chExt cx="5193982" cy="2457450"/>
          </a:xfrm>
        </p:grpSpPr>
        <p:sp>
          <p:nvSpPr>
            <p:cNvPr id="7" name="Rectangle 7"/>
            <p:cNvSpPr/>
            <p:nvPr/>
          </p:nvSpPr>
          <p:spPr>
            <a:xfrm>
              <a:off x="533400" y="1524000"/>
              <a:ext cx="5193982" cy="2457450"/>
            </a:xfrm>
            <a:prstGeom prst="roundRect">
              <a:avLst>
                <a:gd name="adj" fmla="val 5426"/>
              </a:avLst>
            </a:prstGeom>
            <a:solidFill>
              <a:srgbClr val="FFFFFF"/>
            </a:solidFill>
            <a:ln w="14288">
              <a:solidFill>
                <a:srgbClr val="D9DFEA"/>
              </a:solidFill>
            </a:ln>
          </p:spPr>
        </p:sp>
        <p:sp>
          <p:nvSpPr>
            <p:cNvPr id="8" name="Rectangle 8"/>
            <p:cNvSpPr/>
            <p:nvPr/>
          </p:nvSpPr>
          <p:spPr>
            <a:xfrm>
              <a:off x="542925" y="1657350"/>
              <a:ext cx="47625" cy="2190750"/>
            </a:xfrm>
            <a:prstGeom prst="roundRect">
              <a:avLst>
                <a:gd name="adj" fmla="val 50000"/>
              </a:avLst>
            </a:prstGeom>
            <a:solidFill>
              <a:srgbClr val="334E68"/>
            </a:solidFill>
            <a:ln>
              <a:noFill/>
            </a:ln>
          </p:spPr>
        </p:sp>
        <p:sp>
          <p:nvSpPr>
            <p:cNvPr id="9" name="Rectangle 9"/>
            <p:cNvSpPr/>
            <p:nvPr/>
          </p:nvSpPr>
          <p:spPr>
            <a:xfrm>
              <a:off x="775335" y="1727835"/>
              <a:ext cx="1024890" cy="257175"/>
            </a:xfrm>
            <a:prstGeom prst="roundRect">
              <a:avLst>
                <a:gd name="adj" fmla="val 50000"/>
              </a:avLst>
            </a:prstGeom>
            <a:solidFill>
              <a:srgbClr val="E7EDF3"/>
            </a:solidFill>
            <a:ln>
              <a:noFill/>
            </a:ln>
          </p:spPr>
        </p:sp>
        <p:sp>
          <p:nvSpPr>
            <p:cNvPr id="10" name="TextBox 10"/>
            <p:cNvSpPr txBox="1"/>
            <p:nvPr/>
          </p:nvSpPr>
          <p:spPr>
            <a:xfrm>
              <a:off x="847444" y="1763554"/>
              <a:ext cx="880673"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总线（Bus）</a:t>
              </a:r>
            </a:p>
          </p:txBody>
        </p:sp>
        <p:sp>
          <p:nvSpPr>
            <p:cNvPr id="11" name="Ellipse 11"/>
            <p:cNvSpPr/>
            <p:nvPr/>
          </p:nvSpPr>
          <p:spPr>
            <a:xfrm>
              <a:off x="782955" y="2161222"/>
              <a:ext cx="60960" cy="60960"/>
            </a:xfrm>
            <a:prstGeom prst="ellipse">
              <a:avLst/>
            </a:prstGeom>
            <a:solidFill>
              <a:srgbClr val="334E68"/>
            </a:solidFill>
            <a:ln>
              <a:noFill/>
            </a:ln>
          </p:spPr>
        </p:sp>
        <p:sp>
          <p:nvSpPr>
            <p:cNvPr id="12" name="TextBox 12"/>
            <p:cNvSpPr txBox="1"/>
            <p:nvPr/>
          </p:nvSpPr>
          <p:spPr>
            <a:xfrm>
              <a:off x="939546" y="2100739"/>
              <a:ext cx="4342638" cy="550164"/>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连接计算机系统各个部件的一组导线和插座，用于主设</a:t>
              </a:r>
              <a:br/>
              <a:r>
                <a:rPr lang="zh-CN" sz="1420" dirty="0">
                  <a:solidFill>
                    <a:srgbClr val="1F2937"/>
                  </a:solidFill>
                  <a:latin typeface="+mn-lt"/>
                  <a:ea typeface="+mn-ea"/>
                  <a:cs typeface="+mn-cs"/>
                </a:rPr>
                <a:t>备和从设备之间传输数据</a:t>
              </a:r>
            </a:p>
          </p:txBody>
        </p:sp>
        <p:sp>
          <p:nvSpPr>
            <p:cNvPr id="13" name="Ellipse 13"/>
            <p:cNvSpPr/>
            <p:nvPr/>
          </p:nvSpPr>
          <p:spPr>
            <a:xfrm>
              <a:off x="782955" y="2752725"/>
              <a:ext cx="60960" cy="60960"/>
            </a:xfrm>
            <a:prstGeom prst="ellipse">
              <a:avLst/>
            </a:prstGeom>
            <a:solidFill>
              <a:srgbClr val="334E68"/>
            </a:solidFill>
            <a:ln>
              <a:noFill/>
            </a:ln>
          </p:spPr>
        </p:sp>
        <p:sp>
          <p:nvSpPr>
            <p:cNvPr id="14" name="TextBox 14"/>
            <p:cNvSpPr txBox="1"/>
            <p:nvPr/>
          </p:nvSpPr>
          <p:spPr>
            <a:xfrm>
              <a:off x="939546" y="2692241"/>
              <a:ext cx="4342638" cy="550164"/>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公共总线以分时工作为基础，所以每条总线都要配一个</a:t>
              </a:r>
              <a:br/>
              <a:r>
                <a:rPr lang="zh-CN" sz="1420" dirty="0">
                  <a:solidFill>
                    <a:srgbClr val="1F2937"/>
                  </a:solidFill>
                  <a:latin typeface="+mn-lt"/>
                  <a:ea typeface="+mn-ea"/>
                  <a:cs typeface="+mn-cs"/>
                </a:rPr>
                <a:t>总线控制器</a:t>
              </a:r>
            </a:p>
          </p:txBody>
        </p:sp>
        <p:sp>
          <p:nvSpPr>
            <p:cNvPr id="15" name="Ellipse 15"/>
            <p:cNvSpPr/>
            <p:nvPr/>
          </p:nvSpPr>
          <p:spPr>
            <a:xfrm>
              <a:off x="782955" y="3344228"/>
              <a:ext cx="60960" cy="60960"/>
            </a:xfrm>
            <a:prstGeom prst="ellipse">
              <a:avLst/>
            </a:prstGeom>
            <a:solidFill>
              <a:srgbClr val="334E68"/>
            </a:solidFill>
            <a:ln>
              <a:noFill/>
            </a:ln>
          </p:spPr>
        </p:sp>
        <p:sp>
          <p:nvSpPr>
            <p:cNvPr id="16" name="TextBox 16"/>
            <p:cNvSpPr txBox="1"/>
            <p:nvPr/>
          </p:nvSpPr>
          <p:spPr>
            <a:xfrm>
              <a:off x="939546" y="3283744"/>
              <a:ext cx="4342638" cy="550164"/>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各插入板上还设有专用逻辑接口和专用控制器：存储控</a:t>
              </a:r>
              <a:br/>
              <a:r>
                <a:rPr lang="zh-CN" sz="1420" dirty="0">
                  <a:solidFill>
                    <a:srgbClr val="1F2937"/>
                  </a:solidFill>
                  <a:latin typeface="+mn-lt"/>
                  <a:ea typeface="+mn-ea"/>
                  <a:cs typeface="+mn-cs"/>
                </a:rPr>
                <a:t>制器、通信控制器、I/O 控制器</a:t>
              </a:r>
            </a:p>
          </p:txBody>
        </p:sp>
      </p:grpSp>
      <p:grpSp>
        <p:nvGrpSpPr>
          <p:cNvPr id="23" name="c1-card-2"/>
          <p:cNvGrpSpPr/>
          <p:nvPr/>
        </p:nvGrpSpPr>
        <p:grpSpPr>
          <a:xfrm>
            <a:off x="533400" y="4167188"/>
            <a:ext cx="5193982" cy="2063115"/>
            <a:chOff x="533400" y="4167188"/>
            <a:chExt cx="5193982" cy="2063115"/>
          </a:xfrm>
        </p:grpSpPr>
        <p:sp>
          <p:nvSpPr>
            <p:cNvPr id="18" name="Rectangle 18"/>
            <p:cNvSpPr/>
            <p:nvPr/>
          </p:nvSpPr>
          <p:spPr>
            <a:xfrm>
              <a:off x="533400" y="4167188"/>
              <a:ext cx="5193982" cy="2063115"/>
            </a:xfrm>
            <a:prstGeom prst="roundRect">
              <a:avLst>
                <a:gd name="adj" fmla="val 6464"/>
              </a:avLst>
            </a:prstGeom>
            <a:solidFill>
              <a:srgbClr val="FFFFFF"/>
            </a:solidFill>
            <a:ln w="14288">
              <a:solidFill>
                <a:srgbClr val="D9DFEA"/>
              </a:solidFill>
            </a:ln>
          </p:spPr>
        </p:sp>
        <p:sp>
          <p:nvSpPr>
            <p:cNvPr id="19" name="Rectangle 19"/>
            <p:cNvSpPr/>
            <p:nvPr/>
          </p:nvSpPr>
          <p:spPr>
            <a:xfrm>
              <a:off x="542925" y="4300538"/>
              <a:ext cx="47625" cy="1796415"/>
            </a:xfrm>
            <a:prstGeom prst="roundRect">
              <a:avLst>
                <a:gd name="adj" fmla="val 50000"/>
              </a:avLst>
            </a:prstGeom>
            <a:solidFill>
              <a:srgbClr val="D97706"/>
            </a:solidFill>
            <a:ln>
              <a:noFill/>
            </a:ln>
          </p:spPr>
        </p:sp>
        <p:sp>
          <p:nvSpPr>
            <p:cNvPr id="20" name="Rectangle 20"/>
            <p:cNvSpPr/>
            <p:nvPr/>
          </p:nvSpPr>
          <p:spPr>
            <a:xfrm>
              <a:off x="775335" y="4371022"/>
              <a:ext cx="1631632" cy="257175"/>
            </a:xfrm>
            <a:prstGeom prst="roundRect">
              <a:avLst>
                <a:gd name="adj" fmla="val 50000"/>
              </a:avLst>
            </a:prstGeom>
            <a:solidFill>
              <a:srgbClr val="FEF3C7"/>
            </a:solidFill>
            <a:ln>
              <a:noFill/>
            </a:ln>
          </p:spPr>
        </p:sp>
        <p:sp>
          <p:nvSpPr>
            <p:cNvPr id="21" name="TextBox 21"/>
            <p:cNvSpPr txBox="1"/>
            <p:nvPr/>
          </p:nvSpPr>
          <p:spPr>
            <a:xfrm>
              <a:off x="832040" y="4406741"/>
              <a:ext cx="1519174" cy="220028"/>
            </a:xfrm>
            <a:prstGeom prst="rect">
              <a:avLst/>
            </a:prstGeom>
            <a:noFill/>
            <a:ln>
              <a:noFill/>
            </a:ln>
          </p:spPr>
          <p:txBody>
            <a:bodyPr wrap="none" lIns="0" tIns="0" rIns="0" bIns="0" anchor="t" anchorCtr="0">
              <a:spAutoFit/>
            </a:bodyPr>
            <a:lstStyle/>
            <a:p>
              <a:pPr algn="ctr"/>
              <a:r>
                <a:rPr lang="zh-CN" sz="1120" b="1" dirty="0">
                  <a:solidFill>
                    <a:srgbClr val="92400E"/>
                  </a:solidFill>
                  <a:latin typeface="+mn-lt"/>
                  <a:ea typeface="+mn-ea"/>
                  <a:cs typeface="+mn-cs"/>
                </a:rPr>
                <a:t>设计总线要考虑的问题</a:t>
              </a:r>
            </a:p>
          </p:txBody>
        </p:sp>
        <p:sp>
          <p:nvSpPr>
            <p:cNvPr id="22" name="TextBox 22"/>
            <p:cNvSpPr txBox="1"/>
            <p:nvPr/>
          </p:nvSpPr>
          <p:spPr>
            <a:xfrm>
              <a:off x="768096" y="4743926"/>
              <a:ext cx="4342638" cy="550164"/>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总线仲裁、中断处理、协议转换、路障同步、缓存一致</a:t>
              </a:r>
              <a:br/>
              <a:r>
                <a:rPr lang="zh-CN" sz="1420" dirty="0">
                  <a:solidFill>
                    <a:srgbClr val="1F2937"/>
                  </a:solidFill>
                  <a:latin typeface="+mn-lt"/>
                  <a:ea typeface="+mn-ea"/>
                  <a:cs typeface="+mn-cs"/>
                </a:rPr>
                <a:t>性、总线桥接、层次扩展。</a:t>
              </a:r>
            </a:p>
          </p:txBody>
        </p:sp>
      </p:grpSp>
      <p:grpSp>
        <p:nvGrpSpPr>
          <p:cNvPr id="50" name="c2-graph-1"/>
          <p:cNvGrpSpPr/>
          <p:nvPr/>
        </p:nvGrpSpPr>
        <p:grpSpPr>
          <a:xfrm>
            <a:off x="6350318" y="1564005"/>
            <a:ext cx="4989195" cy="1903476"/>
            <a:chOff x="6350318" y="1564005"/>
            <a:chExt cx="4989195" cy="1903476"/>
          </a:xfrm>
        </p:grpSpPr>
        <p:sp>
          <p:nvSpPr>
            <p:cNvPr id="24" name="Freeform 24"/>
            <p:cNvSpPr/>
            <p:nvPr/>
          </p:nvSpPr>
          <p:spPr>
            <a:xfrm>
              <a:off x="7269480" y="2084070"/>
              <a:ext cx="9525" cy="193357"/>
            </a:xfrm>
            <a:custGeom>
              <a:avLst/>
              <a:gdLst/>
              <a:ahLst/>
              <a:cxnLst/>
              <a:rect l="l" t="t" r="r" b="b"/>
              <a:pathLst>
                <a:path w="9525" h="193357">
                  <a:moveTo>
                    <a:pt x="0" y="0"/>
                  </a:moveTo>
                  <a:lnTo>
                    <a:pt x="0" y="193357"/>
                  </a:lnTo>
                </a:path>
              </a:pathLst>
            </a:custGeom>
            <a:noFill/>
            <a:ln w="17145">
              <a:solidFill>
                <a:srgbClr val="1F2937"/>
              </a:solidFill>
            </a:ln>
          </p:spPr>
        </p:sp>
        <p:sp>
          <p:nvSpPr>
            <p:cNvPr id="25" name="Freeform 25"/>
            <p:cNvSpPr/>
            <p:nvPr/>
          </p:nvSpPr>
          <p:spPr>
            <a:xfrm>
              <a:off x="7221855" y="2277428"/>
              <a:ext cx="95250" cy="95250"/>
            </a:xfrm>
            <a:custGeom>
              <a:avLst/>
              <a:gdLst/>
              <a:ahLst/>
              <a:cxnLst/>
              <a:rect l="l" t="t" r="r" b="b"/>
              <a:pathLst>
                <a:path w="95250" h="95250">
                  <a:moveTo>
                    <a:pt x="47625" y="95250"/>
                  </a:moveTo>
                  <a:lnTo>
                    <a:pt x="0" y="0"/>
                  </a:lnTo>
                  <a:lnTo>
                    <a:pt x="95250" y="0"/>
                  </a:lnTo>
                  <a:close/>
                </a:path>
              </a:pathLst>
            </a:custGeom>
            <a:solidFill>
              <a:srgbClr val="1F2937"/>
            </a:solidFill>
            <a:ln>
              <a:noFill/>
            </a:ln>
          </p:spPr>
        </p:sp>
        <p:sp>
          <p:nvSpPr>
            <p:cNvPr id="26" name="Freeform 26"/>
            <p:cNvSpPr/>
            <p:nvPr/>
          </p:nvSpPr>
          <p:spPr>
            <a:xfrm>
              <a:off x="7221855" y="1988820"/>
              <a:ext cx="95250" cy="95250"/>
            </a:xfrm>
            <a:custGeom>
              <a:avLst/>
              <a:gdLst/>
              <a:ahLst/>
              <a:cxnLst/>
              <a:rect l="l" t="t" r="r" b="b"/>
              <a:pathLst>
                <a:path w="95250" h="95250">
                  <a:moveTo>
                    <a:pt x="47625" y="0"/>
                  </a:moveTo>
                  <a:lnTo>
                    <a:pt x="95250" y="95250"/>
                  </a:lnTo>
                  <a:lnTo>
                    <a:pt x="0" y="95250"/>
                  </a:lnTo>
                  <a:close/>
                </a:path>
              </a:pathLst>
            </a:custGeom>
            <a:solidFill>
              <a:srgbClr val="1F2937"/>
            </a:solidFill>
            <a:ln>
              <a:noFill/>
            </a:ln>
          </p:spPr>
        </p:sp>
        <p:sp>
          <p:nvSpPr>
            <p:cNvPr id="27" name="Freeform 27"/>
            <p:cNvSpPr/>
            <p:nvPr/>
          </p:nvSpPr>
          <p:spPr>
            <a:xfrm>
              <a:off x="10307955" y="2084070"/>
              <a:ext cx="9525" cy="193357"/>
            </a:xfrm>
            <a:custGeom>
              <a:avLst/>
              <a:gdLst/>
              <a:ahLst/>
              <a:cxnLst/>
              <a:rect l="l" t="t" r="r" b="b"/>
              <a:pathLst>
                <a:path w="9525" h="193357">
                  <a:moveTo>
                    <a:pt x="0" y="0"/>
                  </a:moveTo>
                  <a:lnTo>
                    <a:pt x="0" y="193357"/>
                  </a:lnTo>
                </a:path>
              </a:pathLst>
            </a:custGeom>
            <a:noFill/>
            <a:ln w="17145">
              <a:solidFill>
                <a:srgbClr val="1F2937"/>
              </a:solidFill>
            </a:ln>
          </p:spPr>
        </p:sp>
        <p:sp>
          <p:nvSpPr>
            <p:cNvPr id="28" name="Freeform 28"/>
            <p:cNvSpPr/>
            <p:nvPr/>
          </p:nvSpPr>
          <p:spPr>
            <a:xfrm>
              <a:off x="10260330" y="2277428"/>
              <a:ext cx="95250" cy="95250"/>
            </a:xfrm>
            <a:custGeom>
              <a:avLst/>
              <a:gdLst/>
              <a:ahLst/>
              <a:cxnLst/>
              <a:rect l="l" t="t" r="r" b="b"/>
              <a:pathLst>
                <a:path w="95250" h="95250">
                  <a:moveTo>
                    <a:pt x="47625" y="95250"/>
                  </a:moveTo>
                  <a:lnTo>
                    <a:pt x="0" y="0"/>
                  </a:lnTo>
                  <a:lnTo>
                    <a:pt x="95250" y="0"/>
                  </a:lnTo>
                  <a:close/>
                </a:path>
              </a:pathLst>
            </a:custGeom>
            <a:solidFill>
              <a:srgbClr val="1F2937"/>
            </a:solidFill>
            <a:ln>
              <a:noFill/>
            </a:ln>
          </p:spPr>
        </p:sp>
        <p:sp>
          <p:nvSpPr>
            <p:cNvPr id="29" name="Freeform 29"/>
            <p:cNvSpPr/>
            <p:nvPr/>
          </p:nvSpPr>
          <p:spPr>
            <a:xfrm>
              <a:off x="10260330" y="1988820"/>
              <a:ext cx="95250" cy="95250"/>
            </a:xfrm>
            <a:custGeom>
              <a:avLst/>
              <a:gdLst/>
              <a:ahLst/>
              <a:cxnLst/>
              <a:rect l="l" t="t" r="r" b="b"/>
              <a:pathLst>
                <a:path w="95250" h="95250">
                  <a:moveTo>
                    <a:pt x="47625" y="0"/>
                  </a:moveTo>
                  <a:lnTo>
                    <a:pt x="95250" y="95250"/>
                  </a:lnTo>
                  <a:lnTo>
                    <a:pt x="0" y="95250"/>
                  </a:lnTo>
                  <a:close/>
                </a:path>
              </a:pathLst>
            </a:custGeom>
            <a:solidFill>
              <a:srgbClr val="1F2937"/>
            </a:solidFill>
            <a:ln>
              <a:noFill/>
            </a:ln>
          </p:spPr>
        </p:sp>
        <p:sp>
          <p:nvSpPr>
            <p:cNvPr id="30" name="Freeform 30"/>
            <p:cNvSpPr/>
            <p:nvPr/>
          </p:nvSpPr>
          <p:spPr>
            <a:xfrm>
              <a:off x="7269480" y="2711768"/>
              <a:ext cx="9525" cy="192405"/>
            </a:xfrm>
            <a:custGeom>
              <a:avLst/>
              <a:gdLst/>
              <a:ahLst/>
              <a:cxnLst/>
              <a:rect l="l" t="t" r="r" b="b"/>
              <a:pathLst>
                <a:path w="9525" h="192405">
                  <a:moveTo>
                    <a:pt x="0" y="0"/>
                  </a:moveTo>
                  <a:lnTo>
                    <a:pt x="0" y="192405"/>
                  </a:lnTo>
                </a:path>
              </a:pathLst>
            </a:custGeom>
            <a:noFill/>
            <a:ln w="17145">
              <a:solidFill>
                <a:srgbClr val="1F2937"/>
              </a:solidFill>
            </a:ln>
          </p:spPr>
        </p:sp>
        <p:sp>
          <p:nvSpPr>
            <p:cNvPr id="31" name="Freeform 31"/>
            <p:cNvSpPr/>
            <p:nvPr/>
          </p:nvSpPr>
          <p:spPr>
            <a:xfrm>
              <a:off x="7221855" y="2904172"/>
              <a:ext cx="95250" cy="95250"/>
            </a:xfrm>
            <a:custGeom>
              <a:avLst/>
              <a:gdLst/>
              <a:ahLst/>
              <a:cxnLst/>
              <a:rect l="l" t="t" r="r" b="b"/>
              <a:pathLst>
                <a:path w="95250" h="95250">
                  <a:moveTo>
                    <a:pt x="47625" y="95250"/>
                  </a:moveTo>
                  <a:lnTo>
                    <a:pt x="0" y="0"/>
                  </a:lnTo>
                  <a:lnTo>
                    <a:pt x="95250" y="0"/>
                  </a:lnTo>
                  <a:close/>
                </a:path>
              </a:pathLst>
            </a:custGeom>
            <a:solidFill>
              <a:srgbClr val="1F2937"/>
            </a:solidFill>
            <a:ln>
              <a:noFill/>
            </a:ln>
          </p:spPr>
        </p:sp>
        <p:sp>
          <p:nvSpPr>
            <p:cNvPr id="32" name="Freeform 32"/>
            <p:cNvSpPr/>
            <p:nvPr/>
          </p:nvSpPr>
          <p:spPr>
            <a:xfrm>
              <a:off x="7221855" y="2616518"/>
              <a:ext cx="95250" cy="95250"/>
            </a:xfrm>
            <a:custGeom>
              <a:avLst/>
              <a:gdLst/>
              <a:ahLst/>
              <a:cxnLst/>
              <a:rect l="l" t="t" r="r" b="b"/>
              <a:pathLst>
                <a:path w="95250" h="95250">
                  <a:moveTo>
                    <a:pt x="47625" y="0"/>
                  </a:moveTo>
                  <a:lnTo>
                    <a:pt x="95250" y="95250"/>
                  </a:lnTo>
                  <a:lnTo>
                    <a:pt x="0" y="95250"/>
                  </a:lnTo>
                  <a:close/>
                </a:path>
              </a:pathLst>
            </a:custGeom>
            <a:solidFill>
              <a:srgbClr val="1F2937"/>
            </a:solidFill>
            <a:ln>
              <a:noFill/>
            </a:ln>
          </p:spPr>
        </p:sp>
        <p:sp>
          <p:nvSpPr>
            <p:cNvPr id="33" name="Freeform 33"/>
            <p:cNvSpPr/>
            <p:nvPr/>
          </p:nvSpPr>
          <p:spPr>
            <a:xfrm>
              <a:off x="10307955" y="2711768"/>
              <a:ext cx="9525" cy="192405"/>
            </a:xfrm>
            <a:custGeom>
              <a:avLst/>
              <a:gdLst/>
              <a:ahLst/>
              <a:cxnLst/>
              <a:rect l="l" t="t" r="r" b="b"/>
              <a:pathLst>
                <a:path w="9525" h="192405">
                  <a:moveTo>
                    <a:pt x="0" y="0"/>
                  </a:moveTo>
                  <a:lnTo>
                    <a:pt x="0" y="192405"/>
                  </a:lnTo>
                </a:path>
              </a:pathLst>
            </a:custGeom>
            <a:noFill/>
            <a:ln w="17145">
              <a:solidFill>
                <a:srgbClr val="1F2937"/>
              </a:solidFill>
            </a:ln>
          </p:spPr>
        </p:sp>
        <p:sp>
          <p:nvSpPr>
            <p:cNvPr id="34" name="Freeform 34"/>
            <p:cNvSpPr/>
            <p:nvPr/>
          </p:nvSpPr>
          <p:spPr>
            <a:xfrm>
              <a:off x="10260330" y="2904172"/>
              <a:ext cx="95250" cy="95250"/>
            </a:xfrm>
            <a:custGeom>
              <a:avLst/>
              <a:gdLst/>
              <a:ahLst/>
              <a:cxnLst/>
              <a:rect l="l" t="t" r="r" b="b"/>
              <a:pathLst>
                <a:path w="95250" h="95250">
                  <a:moveTo>
                    <a:pt x="47625" y="95250"/>
                  </a:moveTo>
                  <a:lnTo>
                    <a:pt x="0" y="0"/>
                  </a:lnTo>
                  <a:lnTo>
                    <a:pt x="95250" y="0"/>
                  </a:lnTo>
                  <a:close/>
                </a:path>
              </a:pathLst>
            </a:custGeom>
            <a:solidFill>
              <a:srgbClr val="1F2937"/>
            </a:solidFill>
            <a:ln>
              <a:noFill/>
            </a:ln>
          </p:spPr>
        </p:sp>
        <p:sp>
          <p:nvSpPr>
            <p:cNvPr id="35" name="Freeform 35"/>
            <p:cNvSpPr/>
            <p:nvPr/>
          </p:nvSpPr>
          <p:spPr>
            <a:xfrm>
              <a:off x="10260330" y="2616518"/>
              <a:ext cx="95250" cy="95250"/>
            </a:xfrm>
            <a:custGeom>
              <a:avLst/>
              <a:gdLst/>
              <a:ahLst/>
              <a:cxnLst/>
              <a:rect l="l" t="t" r="r" b="b"/>
              <a:pathLst>
                <a:path w="95250" h="95250">
                  <a:moveTo>
                    <a:pt x="47625" y="0"/>
                  </a:moveTo>
                  <a:lnTo>
                    <a:pt x="95250" y="95250"/>
                  </a:lnTo>
                  <a:lnTo>
                    <a:pt x="0" y="95250"/>
                  </a:lnTo>
                  <a:close/>
                </a:path>
              </a:pathLst>
            </a:custGeom>
            <a:solidFill>
              <a:srgbClr val="1F2937"/>
            </a:solidFill>
            <a:ln>
              <a:noFill/>
            </a:ln>
          </p:spPr>
        </p:sp>
        <p:sp>
          <p:nvSpPr>
            <p:cNvPr id="36" name="Rectangle 36"/>
            <p:cNvSpPr/>
            <p:nvPr/>
          </p:nvSpPr>
          <p:spPr>
            <a:xfrm>
              <a:off x="6350318" y="2373630"/>
              <a:ext cx="4989195" cy="240030"/>
            </a:xfrm>
            <a:prstGeom prst="roundRect">
              <a:avLst>
                <a:gd name="adj" fmla="val 39683"/>
              </a:avLst>
            </a:prstGeom>
            <a:solidFill>
              <a:srgbClr val="334E68"/>
            </a:solidFill>
            <a:ln w="17145">
              <a:solidFill>
                <a:srgbClr val="334E68"/>
              </a:solidFill>
            </a:ln>
          </p:spPr>
        </p:sp>
        <p:sp>
          <p:nvSpPr>
            <p:cNvPr id="37" name="Rectangle 37"/>
            <p:cNvSpPr/>
            <p:nvPr/>
          </p:nvSpPr>
          <p:spPr>
            <a:xfrm>
              <a:off x="6577012" y="1564005"/>
              <a:ext cx="1385888" cy="424815"/>
            </a:xfrm>
            <a:prstGeom prst="roundRect">
              <a:avLst>
                <a:gd name="adj" fmla="val 22422"/>
              </a:avLst>
            </a:prstGeom>
            <a:solidFill>
              <a:srgbClr val="E7EDF3"/>
            </a:solidFill>
            <a:ln w="17145">
              <a:solidFill>
                <a:srgbClr val="334E68"/>
              </a:solidFill>
            </a:ln>
          </p:spPr>
        </p:sp>
        <p:sp>
          <p:nvSpPr>
            <p:cNvPr id="38" name="Rectangle 38"/>
            <p:cNvSpPr/>
            <p:nvPr/>
          </p:nvSpPr>
          <p:spPr>
            <a:xfrm>
              <a:off x="9615488" y="1564005"/>
              <a:ext cx="1385888" cy="424815"/>
            </a:xfrm>
            <a:prstGeom prst="roundRect">
              <a:avLst>
                <a:gd name="adj" fmla="val 22422"/>
              </a:avLst>
            </a:prstGeom>
            <a:solidFill>
              <a:srgbClr val="E7EDF3"/>
            </a:solidFill>
            <a:ln w="17145">
              <a:solidFill>
                <a:srgbClr val="334E68"/>
              </a:solidFill>
            </a:ln>
          </p:spPr>
        </p:sp>
        <p:sp>
          <p:nvSpPr>
            <p:cNvPr id="39" name="Rectangle 39"/>
            <p:cNvSpPr/>
            <p:nvPr/>
          </p:nvSpPr>
          <p:spPr>
            <a:xfrm>
              <a:off x="6577012" y="2999422"/>
              <a:ext cx="1385888" cy="424815"/>
            </a:xfrm>
            <a:prstGeom prst="roundRect">
              <a:avLst>
                <a:gd name="adj" fmla="val 22422"/>
              </a:avLst>
            </a:prstGeom>
            <a:solidFill>
              <a:srgbClr val="E7EDF3"/>
            </a:solidFill>
            <a:ln w="17145">
              <a:solidFill>
                <a:srgbClr val="334E68"/>
              </a:solidFill>
            </a:ln>
          </p:spPr>
        </p:sp>
        <p:sp>
          <p:nvSpPr>
            <p:cNvPr id="40" name="Rectangle 40"/>
            <p:cNvSpPr/>
            <p:nvPr/>
          </p:nvSpPr>
          <p:spPr>
            <a:xfrm>
              <a:off x="9615488" y="2999422"/>
              <a:ext cx="1385888" cy="424815"/>
            </a:xfrm>
            <a:prstGeom prst="roundRect">
              <a:avLst>
                <a:gd name="adj" fmla="val 22422"/>
              </a:avLst>
            </a:prstGeom>
            <a:solidFill>
              <a:srgbClr val="E7EDF3"/>
            </a:solidFill>
            <a:ln w="17145">
              <a:solidFill>
                <a:srgbClr val="334E68"/>
              </a:solidFill>
            </a:ln>
          </p:spPr>
        </p:sp>
        <p:sp>
          <p:nvSpPr>
            <p:cNvPr id="41" name="TextBox 41"/>
            <p:cNvSpPr txBox="1"/>
            <p:nvPr/>
          </p:nvSpPr>
          <p:spPr>
            <a:xfrm>
              <a:off x="8192643" y="2419350"/>
              <a:ext cx="1304544"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系统总线（底板）</a:t>
              </a:r>
            </a:p>
          </p:txBody>
        </p:sp>
        <p:sp>
          <p:nvSpPr>
            <p:cNvPr id="42" name="TextBox 42"/>
            <p:cNvSpPr txBox="1"/>
            <p:nvPr/>
          </p:nvSpPr>
          <p:spPr>
            <a:xfrm>
              <a:off x="7007870" y="1605915"/>
              <a:ext cx="523220" cy="234696"/>
            </a:xfrm>
            <a:prstGeom prst="rect">
              <a:avLst/>
            </a:prstGeom>
            <a:noFill/>
            <a:ln>
              <a:noFill/>
            </a:ln>
          </p:spPr>
          <p:txBody>
            <a:bodyPr wrap="none" lIns="0" tIns="0" rIns="0" bIns="0" anchor="t" anchorCtr="0">
              <a:spAutoFit/>
            </a:bodyPr>
            <a:lstStyle/>
            <a:p>
              <a:pPr algn="ctr"/>
              <a:r>
                <a:rPr lang="zh-CN" sz="1200" b="1" dirty="0">
                  <a:solidFill>
                    <a:srgbClr val="243B53"/>
                  </a:solidFill>
                  <a:latin typeface="+mn-lt"/>
                  <a:ea typeface="+mn-ea"/>
                  <a:cs typeface="+mn-cs"/>
                </a:rPr>
                <a:t>CPU 板</a:t>
              </a:r>
            </a:p>
          </p:txBody>
        </p:sp>
        <p:sp>
          <p:nvSpPr>
            <p:cNvPr id="43" name="TextBox 43"/>
            <p:cNvSpPr txBox="1"/>
            <p:nvPr/>
          </p:nvSpPr>
          <p:spPr>
            <a:xfrm>
              <a:off x="6940296" y="1796415"/>
              <a:ext cx="658368" cy="234696"/>
            </a:xfrm>
            <a:prstGeom prst="rect">
              <a:avLst/>
            </a:prstGeom>
            <a:noFill/>
            <a:ln>
              <a:noFill/>
            </a:ln>
          </p:spPr>
          <p:txBody>
            <a:bodyPr wrap="none" lIns="0" tIns="0" rIns="0" bIns="0" anchor="t" anchorCtr="0">
              <a:spAutoFit/>
            </a:bodyPr>
            <a:lstStyle/>
            <a:p>
              <a:pPr algn="ctr"/>
              <a:r>
                <a:rPr lang="zh-CN" sz="1200" b="1" dirty="0">
                  <a:solidFill>
                    <a:srgbClr val="243B53"/>
                  </a:solidFill>
                  <a:latin typeface="+mn-lt"/>
                  <a:ea typeface="+mn-ea"/>
                  <a:cs typeface="+mn-cs"/>
                </a:rPr>
                <a:t>本地总线</a:t>
              </a:r>
            </a:p>
          </p:txBody>
        </p:sp>
        <p:sp>
          <p:nvSpPr>
            <p:cNvPr id="44" name="TextBox 44"/>
            <p:cNvSpPr txBox="1"/>
            <p:nvPr/>
          </p:nvSpPr>
          <p:spPr>
            <a:xfrm>
              <a:off x="9978771" y="1605915"/>
              <a:ext cx="658368" cy="234696"/>
            </a:xfrm>
            <a:prstGeom prst="rect">
              <a:avLst/>
            </a:prstGeom>
            <a:noFill/>
            <a:ln>
              <a:noFill/>
            </a:ln>
          </p:spPr>
          <p:txBody>
            <a:bodyPr wrap="none" lIns="0" tIns="0" rIns="0" bIns="0" anchor="t" anchorCtr="0">
              <a:spAutoFit/>
            </a:bodyPr>
            <a:lstStyle/>
            <a:p>
              <a:pPr algn="ctr"/>
              <a:r>
                <a:rPr lang="zh-CN" sz="1200" b="1" dirty="0">
                  <a:solidFill>
                    <a:srgbClr val="243B53"/>
                  </a:solidFill>
                  <a:latin typeface="+mn-lt"/>
                  <a:ea typeface="+mn-ea"/>
                  <a:cs typeface="+mn-cs"/>
                </a:rPr>
                <a:t>存储器板</a:t>
              </a:r>
            </a:p>
          </p:txBody>
        </p:sp>
        <p:sp>
          <p:nvSpPr>
            <p:cNvPr id="45" name="TextBox 45"/>
            <p:cNvSpPr txBox="1"/>
            <p:nvPr/>
          </p:nvSpPr>
          <p:spPr>
            <a:xfrm>
              <a:off x="9897999" y="1796415"/>
              <a:ext cx="819912" cy="234696"/>
            </a:xfrm>
            <a:prstGeom prst="rect">
              <a:avLst/>
            </a:prstGeom>
            <a:noFill/>
            <a:ln>
              <a:noFill/>
            </a:ln>
          </p:spPr>
          <p:txBody>
            <a:bodyPr wrap="none" lIns="0" tIns="0" rIns="0" bIns="0" anchor="t" anchorCtr="0">
              <a:spAutoFit/>
            </a:bodyPr>
            <a:lstStyle/>
            <a:p>
              <a:pPr algn="ctr"/>
              <a:r>
                <a:rPr lang="zh-CN" sz="1200" b="1" dirty="0">
                  <a:solidFill>
                    <a:srgbClr val="243B53"/>
                  </a:solidFill>
                  <a:latin typeface="+mn-lt"/>
                  <a:ea typeface="+mn-ea"/>
                  <a:cs typeface="+mn-cs"/>
                </a:rPr>
                <a:t>存储器总线</a:t>
              </a:r>
            </a:p>
          </p:txBody>
        </p:sp>
        <p:sp>
          <p:nvSpPr>
            <p:cNvPr id="46" name="TextBox 46"/>
            <p:cNvSpPr txBox="1"/>
            <p:nvPr/>
          </p:nvSpPr>
          <p:spPr>
            <a:xfrm>
              <a:off x="7012351" y="3042285"/>
              <a:ext cx="514259" cy="234696"/>
            </a:xfrm>
            <a:prstGeom prst="rect">
              <a:avLst/>
            </a:prstGeom>
            <a:noFill/>
            <a:ln>
              <a:noFill/>
            </a:ln>
          </p:spPr>
          <p:txBody>
            <a:bodyPr wrap="none" lIns="0" tIns="0" rIns="0" bIns="0" anchor="t" anchorCtr="0">
              <a:spAutoFit/>
            </a:bodyPr>
            <a:lstStyle/>
            <a:p>
              <a:pPr algn="ctr"/>
              <a:r>
                <a:rPr lang="zh-CN" sz="1200" b="1" dirty="0">
                  <a:solidFill>
                    <a:srgbClr val="243B53"/>
                  </a:solidFill>
                  <a:latin typeface="+mn-lt"/>
                  <a:ea typeface="+mn-ea"/>
                  <a:cs typeface="+mn-cs"/>
                </a:rPr>
                <a:t>I/O 板</a:t>
              </a:r>
            </a:p>
          </p:txBody>
        </p:sp>
        <p:sp>
          <p:nvSpPr>
            <p:cNvPr id="47" name="TextBox 47"/>
            <p:cNvSpPr txBox="1"/>
            <p:nvPr/>
          </p:nvSpPr>
          <p:spPr>
            <a:xfrm>
              <a:off x="6940296" y="3232785"/>
              <a:ext cx="658368" cy="234696"/>
            </a:xfrm>
            <a:prstGeom prst="rect">
              <a:avLst/>
            </a:prstGeom>
            <a:noFill/>
            <a:ln>
              <a:noFill/>
            </a:ln>
          </p:spPr>
          <p:txBody>
            <a:bodyPr wrap="none" lIns="0" tIns="0" rIns="0" bIns="0" anchor="t" anchorCtr="0">
              <a:spAutoFit/>
            </a:bodyPr>
            <a:lstStyle/>
            <a:p>
              <a:pPr algn="ctr"/>
              <a:r>
                <a:rPr lang="zh-CN" sz="1200" b="1" dirty="0">
                  <a:solidFill>
                    <a:srgbClr val="243B53"/>
                  </a:solidFill>
                  <a:latin typeface="+mn-lt"/>
                  <a:ea typeface="+mn-ea"/>
                  <a:cs typeface="+mn-cs"/>
                </a:rPr>
                <a:t>数据总线</a:t>
              </a:r>
            </a:p>
          </p:txBody>
        </p:sp>
        <p:sp>
          <p:nvSpPr>
            <p:cNvPr id="48" name="TextBox 48"/>
            <p:cNvSpPr txBox="1"/>
            <p:nvPr/>
          </p:nvSpPr>
          <p:spPr>
            <a:xfrm>
              <a:off x="10059543" y="3042285"/>
              <a:ext cx="496824" cy="234696"/>
            </a:xfrm>
            <a:prstGeom prst="rect">
              <a:avLst/>
            </a:prstGeom>
            <a:noFill/>
            <a:ln>
              <a:noFill/>
            </a:ln>
          </p:spPr>
          <p:txBody>
            <a:bodyPr wrap="none" lIns="0" tIns="0" rIns="0" bIns="0" anchor="t" anchorCtr="0">
              <a:spAutoFit/>
            </a:bodyPr>
            <a:lstStyle/>
            <a:p>
              <a:pPr algn="ctr"/>
              <a:r>
                <a:rPr lang="zh-CN" sz="1200" b="1" dirty="0">
                  <a:solidFill>
                    <a:srgbClr val="243B53"/>
                  </a:solidFill>
                  <a:latin typeface="+mn-lt"/>
                  <a:ea typeface="+mn-ea"/>
                  <a:cs typeface="+mn-cs"/>
                </a:rPr>
                <a:t>通信板</a:t>
              </a:r>
            </a:p>
          </p:txBody>
        </p:sp>
        <p:sp>
          <p:nvSpPr>
            <p:cNvPr id="49" name="TextBox 49"/>
            <p:cNvSpPr txBox="1"/>
            <p:nvPr/>
          </p:nvSpPr>
          <p:spPr>
            <a:xfrm>
              <a:off x="9978771" y="3232785"/>
              <a:ext cx="658368" cy="234696"/>
            </a:xfrm>
            <a:prstGeom prst="rect">
              <a:avLst/>
            </a:prstGeom>
            <a:noFill/>
            <a:ln>
              <a:noFill/>
            </a:ln>
          </p:spPr>
          <p:txBody>
            <a:bodyPr wrap="none" lIns="0" tIns="0" rIns="0" bIns="0" anchor="t" anchorCtr="0">
              <a:spAutoFit/>
            </a:bodyPr>
            <a:lstStyle/>
            <a:p>
              <a:pPr algn="ctr"/>
              <a:r>
                <a:rPr lang="zh-CN" sz="1200" b="1" dirty="0">
                  <a:solidFill>
                    <a:srgbClr val="243B53"/>
                  </a:solidFill>
                  <a:latin typeface="+mn-lt"/>
                  <a:ea typeface="+mn-ea"/>
                  <a:cs typeface="+mn-cs"/>
                </a:rPr>
                <a:t>数据总线</a:t>
              </a:r>
            </a:p>
          </p:txBody>
        </p:sp>
      </p:grpSp>
      <p:grpSp>
        <p:nvGrpSpPr>
          <p:cNvPr id="72" name="c2-table-2"/>
          <p:cNvGrpSpPr/>
          <p:nvPr/>
        </p:nvGrpSpPr>
        <p:grpSpPr>
          <a:xfrm>
            <a:off x="6032182" y="3649980"/>
            <a:ext cx="5626418" cy="2581275"/>
            <a:chOff x="6032182" y="3649980"/>
            <a:chExt cx="5626418" cy="2581275"/>
          </a:xfrm>
        </p:grpSpPr>
        <p:sp>
          <p:nvSpPr>
            <p:cNvPr id="51" name="Rectangle 51"/>
            <p:cNvSpPr/>
            <p:nvPr/>
          </p:nvSpPr>
          <p:spPr>
            <a:xfrm>
              <a:off x="6032182" y="3649980"/>
              <a:ext cx="5626418" cy="430530"/>
            </a:xfrm>
            <a:prstGeom prst="rect">
              <a:avLst/>
            </a:prstGeom>
            <a:solidFill>
              <a:srgbClr val="334E68"/>
            </a:solidFill>
            <a:ln>
              <a:noFill/>
            </a:ln>
          </p:spPr>
        </p:sp>
        <p:sp>
          <p:nvSpPr>
            <p:cNvPr id="52" name="TextBox 52"/>
            <p:cNvSpPr txBox="1"/>
            <p:nvPr/>
          </p:nvSpPr>
          <p:spPr>
            <a:xfrm>
              <a:off x="6596062" y="3780472"/>
              <a:ext cx="335280"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层次</a:t>
              </a:r>
            </a:p>
          </p:txBody>
        </p:sp>
        <p:sp>
          <p:nvSpPr>
            <p:cNvPr id="53" name="TextBox 53"/>
            <p:cNvSpPr txBox="1"/>
            <p:nvPr/>
          </p:nvSpPr>
          <p:spPr>
            <a:xfrm>
              <a:off x="9408795" y="3780472"/>
              <a:ext cx="335280"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位置</a:t>
              </a:r>
            </a:p>
          </p:txBody>
        </p:sp>
        <p:sp>
          <p:nvSpPr>
            <p:cNvPr id="54" name="TextBox 54"/>
            <p:cNvSpPr txBox="1"/>
            <p:nvPr/>
          </p:nvSpPr>
          <p:spPr>
            <a:xfrm>
              <a:off x="6137529" y="4211002"/>
              <a:ext cx="658368" cy="234696"/>
            </a:xfrm>
            <a:prstGeom prst="rect">
              <a:avLst/>
            </a:prstGeom>
            <a:noFill/>
            <a:ln>
              <a:noFill/>
            </a:ln>
          </p:spPr>
          <p:txBody>
            <a:bodyPr wrap="none" lIns="0" tIns="0" rIns="0" bIns="0" anchor="t" anchorCtr="0">
              <a:spAutoFit/>
            </a:bodyPr>
            <a:lstStyle/>
            <a:p>
              <a:pPr algn="l"/>
              <a:r>
                <a:rPr lang="zh-CN" sz="1200" b="1" dirty="0">
                  <a:solidFill>
                    <a:srgbClr val="1F2937"/>
                  </a:solidFill>
                  <a:latin typeface="+mn-lt"/>
                  <a:ea typeface="+mn-ea"/>
                  <a:cs typeface="+mn-cs"/>
                </a:rPr>
                <a:t>局部总线</a:t>
              </a:r>
            </a:p>
          </p:txBody>
        </p:sp>
        <p:sp>
          <p:nvSpPr>
            <p:cNvPr id="55" name="TextBox 55"/>
            <p:cNvSpPr txBox="1"/>
            <p:nvPr/>
          </p:nvSpPr>
          <p:spPr>
            <a:xfrm>
              <a:off x="7600569" y="4211002"/>
              <a:ext cx="1789176"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印刷电路板上实现的总线</a:t>
              </a:r>
            </a:p>
          </p:txBody>
        </p:sp>
        <p:sp>
          <p:nvSpPr>
            <p:cNvPr id="56" name="Rectangle 56"/>
            <p:cNvSpPr/>
            <p:nvPr/>
          </p:nvSpPr>
          <p:spPr>
            <a:xfrm>
              <a:off x="6032182" y="4505325"/>
              <a:ext cx="5626418" cy="9525"/>
            </a:xfrm>
            <a:prstGeom prst="rect">
              <a:avLst/>
            </a:prstGeom>
            <a:solidFill>
              <a:srgbClr val="D9DFEA"/>
            </a:solidFill>
            <a:ln>
              <a:noFill/>
            </a:ln>
          </p:spPr>
        </p:sp>
        <p:sp>
          <p:nvSpPr>
            <p:cNvPr id="57" name="Rectangle 57"/>
            <p:cNvSpPr/>
            <p:nvPr/>
          </p:nvSpPr>
          <p:spPr>
            <a:xfrm>
              <a:off x="6032182" y="4510088"/>
              <a:ext cx="5626418" cy="430530"/>
            </a:xfrm>
            <a:prstGeom prst="rect">
              <a:avLst/>
            </a:prstGeom>
            <a:solidFill>
              <a:srgbClr val="F4F6FB"/>
            </a:solidFill>
            <a:ln>
              <a:noFill/>
            </a:ln>
          </p:spPr>
        </p:sp>
        <p:sp>
          <p:nvSpPr>
            <p:cNvPr id="58" name="TextBox 58"/>
            <p:cNvSpPr txBox="1"/>
            <p:nvPr/>
          </p:nvSpPr>
          <p:spPr>
            <a:xfrm>
              <a:off x="6137529" y="4641532"/>
              <a:ext cx="819912" cy="234696"/>
            </a:xfrm>
            <a:prstGeom prst="rect">
              <a:avLst/>
            </a:prstGeom>
            <a:noFill/>
            <a:ln>
              <a:noFill/>
            </a:ln>
          </p:spPr>
          <p:txBody>
            <a:bodyPr wrap="none" lIns="0" tIns="0" rIns="0" bIns="0" anchor="t" anchorCtr="0">
              <a:spAutoFit/>
            </a:bodyPr>
            <a:lstStyle/>
            <a:p>
              <a:pPr algn="l"/>
              <a:r>
                <a:rPr lang="zh-CN" sz="1200" b="1" dirty="0">
                  <a:solidFill>
                    <a:srgbClr val="1F2937"/>
                  </a:solidFill>
                  <a:latin typeface="+mn-lt"/>
                  <a:ea typeface="+mn-ea"/>
                  <a:cs typeface="+mn-cs"/>
                </a:rPr>
                <a:t>处理器总线</a:t>
              </a:r>
            </a:p>
          </p:txBody>
        </p:sp>
        <p:sp>
          <p:nvSpPr>
            <p:cNvPr id="59" name="TextBox 59"/>
            <p:cNvSpPr txBox="1"/>
            <p:nvPr/>
          </p:nvSpPr>
          <p:spPr>
            <a:xfrm>
              <a:off x="7600569" y="4641532"/>
              <a:ext cx="1314298"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CPU 板级上的总线</a:t>
              </a:r>
            </a:p>
          </p:txBody>
        </p:sp>
        <p:sp>
          <p:nvSpPr>
            <p:cNvPr id="60" name="Rectangle 60"/>
            <p:cNvSpPr/>
            <p:nvPr/>
          </p:nvSpPr>
          <p:spPr>
            <a:xfrm>
              <a:off x="6032182" y="4934902"/>
              <a:ext cx="5626418" cy="9525"/>
            </a:xfrm>
            <a:prstGeom prst="rect">
              <a:avLst/>
            </a:prstGeom>
            <a:solidFill>
              <a:srgbClr val="D9DFEA"/>
            </a:solidFill>
            <a:ln>
              <a:noFill/>
            </a:ln>
          </p:spPr>
        </p:sp>
        <p:sp>
          <p:nvSpPr>
            <p:cNvPr id="61" name="TextBox 61"/>
            <p:cNvSpPr txBox="1"/>
            <p:nvPr/>
          </p:nvSpPr>
          <p:spPr>
            <a:xfrm>
              <a:off x="6137529" y="5071110"/>
              <a:ext cx="819912" cy="234696"/>
            </a:xfrm>
            <a:prstGeom prst="rect">
              <a:avLst/>
            </a:prstGeom>
            <a:noFill/>
            <a:ln>
              <a:noFill/>
            </a:ln>
          </p:spPr>
          <p:txBody>
            <a:bodyPr wrap="none" lIns="0" tIns="0" rIns="0" bIns="0" anchor="t" anchorCtr="0">
              <a:spAutoFit/>
            </a:bodyPr>
            <a:lstStyle/>
            <a:p>
              <a:pPr algn="l"/>
              <a:r>
                <a:rPr lang="zh-CN" sz="1200" b="1" dirty="0">
                  <a:solidFill>
                    <a:srgbClr val="1F2937"/>
                  </a:solidFill>
                  <a:latin typeface="+mn-lt"/>
                  <a:ea typeface="+mn-ea"/>
                  <a:cs typeface="+mn-cs"/>
                </a:rPr>
                <a:t>存储器总线</a:t>
              </a:r>
            </a:p>
          </p:txBody>
        </p:sp>
        <p:sp>
          <p:nvSpPr>
            <p:cNvPr id="62" name="TextBox 62"/>
            <p:cNvSpPr txBox="1"/>
            <p:nvPr/>
          </p:nvSpPr>
          <p:spPr>
            <a:xfrm>
              <a:off x="7600569" y="5071110"/>
              <a:ext cx="1466088"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存储器板级上的总线</a:t>
              </a:r>
            </a:p>
          </p:txBody>
        </p:sp>
        <p:sp>
          <p:nvSpPr>
            <p:cNvPr id="63" name="Rectangle 63"/>
            <p:cNvSpPr/>
            <p:nvPr/>
          </p:nvSpPr>
          <p:spPr>
            <a:xfrm>
              <a:off x="6032182" y="5365432"/>
              <a:ext cx="5626418" cy="9525"/>
            </a:xfrm>
            <a:prstGeom prst="rect">
              <a:avLst/>
            </a:prstGeom>
            <a:solidFill>
              <a:srgbClr val="D9DFEA"/>
            </a:solidFill>
            <a:ln>
              <a:noFill/>
            </a:ln>
          </p:spPr>
        </p:sp>
        <p:sp>
          <p:nvSpPr>
            <p:cNvPr id="64" name="Rectangle 64"/>
            <p:cNvSpPr/>
            <p:nvPr/>
          </p:nvSpPr>
          <p:spPr>
            <a:xfrm>
              <a:off x="6032182" y="5370195"/>
              <a:ext cx="5626418" cy="430530"/>
            </a:xfrm>
            <a:prstGeom prst="rect">
              <a:avLst/>
            </a:prstGeom>
            <a:solidFill>
              <a:srgbClr val="F4F6FB"/>
            </a:solidFill>
            <a:ln>
              <a:noFill/>
            </a:ln>
          </p:spPr>
        </p:sp>
        <p:sp>
          <p:nvSpPr>
            <p:cNvPr id="65" name="TextBox 65"/>
            <p:cNvSpPr txBox="1"/>
            <p:nvPr/>
          </p:nvSpPr>
          <p:spPr>
            <a:xfrm>
              <a:off x="6137529" y="5501640"/>
              <a:ext cx="658368" cy="234696"/>
            </a:xfrm>
            <a:prstGeom prst="rect">
              <a:avLst/>
            </a:prstGeom>
            <a:noFill/>
            <a:ln>
              <a:noFill/>
            </a:ln>
          </p:spPr>
          <p:txBody>
            <a:bodyPr wrap="none" lIns="0" tIns="0" rIns="0" bIns="0" anchor="t" anchorCtr="0">
              <a:spAutoFit/>
            </a:bodyPr>
            <a:lstStyle/>
            <a:p>
              <a:pPr algn="l"/>
              <a:r>
                <a:rPr lang="zh-CN" sz="1200" b="1" dirty="0">
                  <a:solidFill>
                    <a:srgbClr val="1F2937"/>
                  </a:solidFill>
                  <a:latin typeface="+mn-lt"/>
                  <a:ea typeface="+mn-ea"/>
                  <a:cs typeface="+mn-cs"/>
                </a:rPr>
                <a:t>数据总线</a:t>
              </a:r>
            </a:p>
          </p:txBody>
        </p:sp>
        <p:sp>
          <p:nvSpPr>
            <p:cNvPr id="66" name="TextBox 66"/>
            <p:cNvSpPr txBox="1"/>
            <p:nvPr/>
          </p:nvSpPr>
          <p:spPr>
            <a:xfrm>
              <a:off x="7600569" y="5501640"/>
              <a:ext cx="2113483"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I/O 板级和通信板级上的总线</a:t>
              </a:r>
            </a:p>
          </p:txBody>
        </p:sp>
        <p:sp>
          <p:nvSpPr>
            <p:cNvPr id="67" name="Rectangle 67"/>
            <p:cNvSpPr/>
            <p:nvPr/>
          </p:nvSpPr>
          <p:spPr>
            <a:xfrm>
              <a:off x="6032182" y="5795962"/>
              <a:ext cx="5626418" cy="9525"/>
            </a:xfrm>
            <a:prstGeom prst="rect">
              <a:avLst/>
            </a:prstGeom>
            <a:solidFill>
              <a:srgbClr val="D9DFEA"/>
            </a:solidFill>
            <a:ln>
              <a:noFill/>
            </a:ln>
          </p:spPr>
        </p:sp>
        <p:sp>
          <p:nvSpPr>
            <p:cNvPr id="68" name="TextBox 68"/>
            <p:cNvSpPr txBox="1"/>
            <p:nvPr/>
          </p:nvSpPr>
          <p:spPr>
            <a:xfrm>
              <a:off x="6137529" y="5931217"/>
              <a:ext cx="658368" cy="234696"/>
            </a:xfrm>
            <a:prstGeom prst="rect">
              <a:avLst/>
            </a:prstGeom>
            <a:noFill/>
            <a:ln>
              <a:noFill/>
            </a:ln>
          </p:spPr>
          <p:txBody>
            <a:bodyPr wrap="none" lIns="0" tIns="0" rIns="0" bIns="0" anchor="t" anchorCtr="0">
              <a:spAutoFit/>
            </a:bodyPr>
            <a:lstStyle/>
            <a:p>
              <a:pPr algn="l"/>
              <a:r>
                <a:rPr lang="zh-CN" sz="1200" b="1" dirty="0">
                  <a:solidFill>
                    <a:srgbClr val="1F2937"/>
                  </a:solidFill>
                  <a:latin typeface="+mn-lt"/>
                  <a:ea typeface="+mn-ea"/>
                  <a:cs typeface="+mn-cs"/>
                </a:rPr>
                <a:t>系统总线</a:t>
              </a:r>
            </a:p>
          </p:txBody>
        </p:sp>
        <p:sp>
          <p:nvSpPr>
            <p:cNvPr id="69" name="TextBox 69"/>
            <p:cNvSpPr txBox="1"/>
            <p:nvPr/>
          </p:nvSpPr>
          <p:spPr>
            <a:xfrm>
              <a:off x="7600569" y="5931217"/>
              <a:ext cx="3727704"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底板（主板）上，为所有插入板之间的通信提供通路</a:t>
              </a:r>
            </a:p>
          </p:txBody>
        </p:sp>
        <p:sp>
          <p:nvSpPr>
            <p:cNvPr id="70" name="Rectangle 70"/>
            <p:cNvSpPr/>
            <p:nvPr/>
          </p:nvSpPr>
          <p:spPr>
            <a:xfrm>
              <a:off x="6032182" y="3649980"/>
              <a:ext cx="5626418" cy="2581275"/>
            </a:xfrm>
            <a:prstGeom prst="rect">
              <a:avLst/>
            </a:prstGeom>
            <a:noFill/>
            <a:ln w="14288">
              <a:solidFill>
                <a:srgbClr val="D9DFEA"/>
              </a:solidFill>
            </a:ln>
          </p:spPr>
        </p:sp>
        <p:sp>
          <p:nvSpPr>
            <p:cNvPr id="71" name="Rectangle 71"/>
            <p:cNvSpPr/>
            <p:nvPr/>
          </p:nvSpPr>
          <p:spPr>
            <a:xfrm>
              <a:off x="7490460" y="3649980"/>
              <a:ext cx="9525" cy="2581275"/>
            </a:xfrm>
            <a:prstGeom prst="rect">
              <a:avLst/>
            </a:prstGeom>
            <a:solidFill>
              <a:srgbClr val="D9DFEA"/>
            </a:solidFill>
            <a:ln>
              <a:noFill/>
            </a:ln>
          </p:spPr>
        </p:sp>
      </p:grpSp>
      <p:grpSp>
        <p:nvGrpSpPr>
          <p:cNvPr id="75" name="footer"/>
          <p:cNvGrpSpPr/>
          <p:nvPr/>
        </p:nvGrpSpPr>
        <p:grpSpPr>
          <a:xfrm>
            <a:off x="528447" y="6581299"/>
            <a:ext cx="11135106" cy="190690"/>
            <a:chOff x="528447" y="6581299"/>
            <a:chExt cx="11135106" cy="190690"/>
          </a:xfrm>
        </p:grpSpPr>
        <p:sp>
          <p:nvSpPr>
            <p:cNvPr id="73" name="TextBox 73"/>
            <p:cNvSpPr txBox="1"/>
            <p:nvPr/>
          </p:nvSpPr>
          <p:spPr>
            <a:xfrm>
              <a:off x="528447" y="6581299"/>
              <a:ext cx="2120748"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并行与分布式计算 · 第7章 体系结构</a:t>
              </a:r>
            </a:p>
          </p:txBody>
        </p:sp>
        <p:sp>
          <p:nvSpPr>
            <p:cNvPr id="74" name="TextBox 74"/>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48</a:t>
              </a:r>
            </a:p>
          </p:txBody>
        </p:sp>
      </p:grpSp>
    </p:spTree>
  </p:cSld>
  <p:clrMapOvr>
    <a:masterClrMapping/>
  </p:clrMapOvr>
  <p:transition xmlns:p14="http://schemas.microsoft.com/office/powerpoint/2010/main" p14:dur="400">
    <p:fade/>
  </p:transition>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9131838" cy="909257"/>
            <a:chOff x="520446" y="342900"/>
            <a:chExt cx="9131838" cy="909257"/>
          </a:xfrm>
        </p:grpSpPr>
        <p:sp>
          <p:nvSpPr>
            <p:cNvPr id="2" name="Rectangle 2"/>
            <p:cNvSpPr/>
            <p:nvPr/>
          </p:nvSpPr>
          <p:spPr>
            <a:xfrm>
              <a:off x="533400" y="342900"/>
              <a:ext cx="1987868" cy="266700"/>
            </a:xfrm>
            <a:prstGeom prst="roundRect">
              <a:avLst>
                <a:gd name="adj" fmla="val 50000"/>
              </a:avLst>
            </a:prstGeom>
            <a:solidFill>
              <a:srgbClr val="E7EDF3"/>
            </a:solidFill>
            <a:ln>
              <a:noFill/>
            </a:ln>
          </p:spPr>
        </p:sp>
        <p:sp>
          <p:nvSpPr>
            <p:cNvPr id="3" name="TextBox 3"/>
            <p:cNvSpPr txBox="1"/>
            <p:nvPr/>
          </p:nvSpPr>
          <p:spPr>
            <a:xfrm>
              <a:off x="608957" y="407194"/>
              <a:ext cx="1835800"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第7章 体系结构 · 互连结构</a:t>
              </a:r>
            </a:p>
          </p:txBody>
        </p:sp>
        <p:sp>
          <p:nvSpPr>
            <p:cNvPr id="4" name="TextBox 4"/>
            <p:cNvSpPr txBox="1"/>
            <p:nvPr/>
          </p:nvSpPr>
          <p:spPr>
            <a:xfrm>
              <a:off x="520446" y="753428"/>
              <a:ext cx="9131838"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交叉开关与多级互连网络：N² 个交叉点还是 N log N 个开关</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59" name="c1-graph-1"/>
          <p:cNvGrpSpPr/>
          <p:nvPr/>
        </p:nvGrpSpPr>
        <p:grpSpPr>
          <a:xfrm>
            <a:off x="822960" y="1600200"/>
            <a:ext cx="4762500" cy="2031682"/>
            <a:chOff x="822960" y="1600200"/>
            <a:chExt cx="4762500" cy="2031682"/>
          </a:xfrm>
        </p:grpSpPr>
        <p:sp>
          <p:nvSpPr>
            <p:cNvPr id="7" name="Freeform 7"/>
            <p:cNvSpPr/>
            <p:nvPr/>
          </p:nvSpPr>
          <p:spPr>
            <a:xfrm>
              <a:off x="1179195" y="2204085"/>
              <a:ext cx="4406265" cy="9525"/>
            </a:xfrm>
            <a:custGeom>
              <a:avLst/>
              <a:gdLst/>
              <a:ahLst/>
              <a:cxnLst/>
              <a:rect l="l" t="t" r="r" b="b"/>
              <a:pathLst>
                <a:path w="4406265" h="9525">
                  <a:moveTo>
                    <a:pt x="0" y="0"/>
                  </a:moveTo>
                  <a:lnTo>
                    <a:pt x="4406265" y="0"/>
                  </a:lnTo>
                </a:path>
              </a:pathLst>
            </a:custGeom>
            <a:noFill/>
            <a:ln w="17145">
              <a:solidFill>
                <a:srgbClr val="5B6475"/>
              </a:solidFill>
            </a:ln>
          </p:spPr>
        </p:sp>
        <p:sp>
          <p:nvSpPr>
            <p:cNvPr id="8" name="Freeform 8"/>
            <p:cNvSpPr/>
            <p:nvPr/>
          </p:nvSpPr>
          <p:spPr>
            <a:xfrm>
              <a:off x="1179195" y="2611755"/>
              <a:ext cx="4406265" cy="9525"/>
            </a:xfrm>
            <a:custGeom>
              <a:avLst/>
              <a:gdLst/>
              <a:ahLst/>
              <a:cxnLst/>
              <a:rect l="l" t="t" r="r" b="b"/>
              <a:pathLst>
                <a:path w="4406265" h="9525">
                  <a:moveTo>
                    <a:pt x="0" y="0"/>
                  </a:moveTo>
                  <a:lnTo>
                    <a:pt x="4406265" y="0"/>
                  </a:lnTo>
                </a:path>
              </a:pathLst>
            </a:custGeom>
            <a:noFill/>
            <a:ln w="17145">
              <a:solidFill>
                <a:srgbClr val="5B6475"/>
              </a:solidFill>
            </a:ln>
          </p:spPr>
        </p:sp>
        <p:sp>
          <p:nvSpPr>
            <p:cNvPr id="9" name="Freeform 9"/>
            <p:cNvSpPr/>
            <p:nvPr/>
          </p:nvSpPr>
          <p:spPr>
            <a:xfrm>
              <a:off x="1179195" y="3020378"/>
              <a:ext cx="4406265" cy="9525"/>
            </a:xfrm>
            <a:custGeom>
              <a:avLst/>
              <a:gdLst/>
              <a:ahLst/>
              <a:cxnLst/>
              <a:rect l="l" t="t" r="r" b="b"/>
              <a:pathLst>
                <a:path w="4406265" h="9525">
                  <a:moveTo>
                    <a:pt x="0" y="0"/>
                  </a:moveTo>
                  <a:lnTo>
                    <a:pt x="4406265" y="0"/>
                  </a:lnTo>
                </a:path>
              </a:pathLst>
            </a:custGeom>
            <a:noFill/>
            <a:ln w="17145">
              <a:solidFill>
                <a:srgbClr val="5B6475"/>
              </a:solidFill>
            </a:ln>
          </p:spPr>
        </p:sp>
        <p:sp>
          <p:nvSpPr>
            <p:cNvPr id="10" name="Freeform 10"/>
            <p:cNvSpPr/>
            <p:nvPr/>
          </p:nvSpPr>
          <p:spPr>
            <a:xfrm>
              <a:off x="1179195" y="3428048"/>
              <a:ext cx="4406265" cy="9525"/>
            </a:xfrm>
            <a:custGeom>
              <a:avLst/>
              <a:gdLst/>
              <a:ahLst/>
              <a:cxnLst/>
              <a:rect l="l" t="t" r="r" b="b"/>
              <a:pathLst>
                <a:path w="4406265" h="9525">
                  <a:moveTo>
                    <a:pt x="0" y="0"/>
                  </a:moveTo>
                  <a:lnTo>
                    <a:pt x="4406265" y="0"/>
                  </a:lnTo>
                </a:path>
              </a:pathLst>
            </a:custGeom>
            <a:noFill/>
            <a:ln w="17145">
              <a:solidFill>
                <a:srgbClr val="5B6475"/>
              </a:solidFill>
            </a:ln>
          </p:spPr>
        </p:sp>
        <p:sp>
          <p:nvSpPr>
            <p:cNvPr id="11" name="Freeform 11"/>
            <p:cNvSpPr/>
            <p:nvPr/>
          </p:nvSpPr>
          <p:spPr>
            <a:xfrm>
              <a:off x="2403158" y="1810702"/>
              <a:ext cx="9525" cy="1821180"/>
            </a:xfrm>
            <a:custGeom>
              <a:avLst/>
              <a:gdLst/>
              <a:ahLst/>
              <a:cxnLst/>
              <a:rect l="l" t="t" r="r" b="b"/>
              <a:pathLst>
                <a:path w="9525" h="1821180">
                  <a:moveTo>
                    <a:pt x="0" y="0"/>
                  </a:moveTo>
                  <a:lnTo>
                    <a:pt x="0" y="1821180"/>
                  </a:lnTo>
                </a:path>
              </a:pathLst>
            </a:custGeom>
            <a:noFill/>
            <a:ln w="17145">
              <a:solidFill>
                <a:srgbClr val="5B6475"/>
              </a:solidFill>
            </a:ln>
          </p:spPr>
        </p:sp>
        <p:sp>
          <p:nvSpPr>
            <p:cNvPr id="12" name="Freeform 12"/>
            <p:cNvSpPr/>
            <p:nvPr/>
          </p:nvSpPr>
          <p:spPr>
            <a:xfrm>
              <a:off x="3338512" y="1810702"/>
              <a:ext cx="9525" cy="1821180"/>
            </a:xfrm>
            <a:custGeom>
              <a:avLst/>
              <a:gdLst/>
              <a:ahLst/>
              <a:cxnLst/>
              <a:rect l="l" t="t" r="r" b="b"/>
              <a:pathLst>
                <a:path w="9525" h="1821180">
                  <a:moveTo>
                    <a:pt x="0" y="0"/>
                  </a:moveTo>
                  <a:lnTo>
                    <a:pt x="0" y="1821180"/>
                  </a:lnTo>
                </a:path>
              </a:pathLst>
            </a:custGeom>
            <a:noFill/>
            <a:ln w="17145">
              <a:solidFill>
                <a:srgbClr val="5B6475"/>
              </a:solidFill>
            </a:ln>
          </p:spPr>
        </p:sp>
        <p:sp>
          <p:nvSpPr>
            <p:cNvPr id="13" name="Freeform 13"/>
            <p:cNvSpPr/>
            <p:nvPr/>
          </p:nvSpPr>
          <p:spPr>
            <a:xfrm>
              <a:off x="4272915" y="1810702"/>
              <a:ext cx="9525" cy="1821180"/>
            </a:xfrm>
            <a:custGeom>
              <a:avLst/>
              <a:gdLst/>
              <a:ahLst/>
              <a:cxnLst/>
              <a:rect l="l" t="t" r="r" b="b"/>
              <a:pathLst>
                <a:path w="9525" h="1821180">
                  <a:moveTo>
                    <a:pt x="0" y="0"/>
                  </a:moveTo>
                  <a:lnTo>
                    <a:pt x="0" y="1821180"/>
                  </a:lnTo>
                </a:path>
              </a:pathLst>
            </a:custGeom>
            <a:noFill/>
            <a:ln w="17145">
              <a:solidFill>
                <a:srgbClr val="5B6475"/>
              </a:solidFill>
            </a:ln>
          </p:spPr>
        </p:sp>
        <p:sp>
          <p:nvSpPr>
            <p:cNvPr id="14" name="Freeform 14"/>
            <p:cNvSpPr/>
            <p:nvPr/>
          </p:nvSpPr>
          <p:spPr>
            <a:xfrm>
              <a:off x="5208270" y="1810702"/>
              <a:ext cx="9525" cy="1821180"/>
            </a:xfrm>
            <a:custGeom>
              <a:avLst/>
              <a:gdLst/>
              <a:ahLst/>
              <a:cxnLst/>
              <a:rect l="l" t="t" r="r" b="b"/>
              <a:pathLst>
                <a:path w="9525" h="1821180">
                  <a:moveTo>
                    <a:pt x="0" y="0"/>
                  </a:moveTo>
                  <a:lnTo>
                    <a:pt x="0" y="1821180"/>
                  </a:lnTo>
                </a:path>
              </a:pathLst>
            </a:custGeom>
            <a:noFill/>
            <a:ln w="17145">
              <a:solidFill>
                <a:srgbClr val="5B6475"/>
              </a:solidFill>
            </a:ln>
          </p:spPr>
        </p:sp>
        <p:sp>
          <p:nvSpPr>
            <p:cNvPr id="15" name="Freeform 15"/>
            <p:cNvSpPr/>
            <p:nvPr/>
          </p:nvSpPr>
          <p:spPr>
            <a:xfrm>
              <a:off x="1179195" y="2204085"/>
              <a:ext cx="3036570" cy="9525"/>
            </a:xfrm>
            <a:custGeom>
              <a:avLst/>
              <a:gdLst/>
              <a:ahLst/>
              <a:cxnLst/>
              <a:rect l="l" t="t" r="r" b="b"/>
              <a:pathLst>
                <a:path w="3036570" h="9525">
                  <a:moveTo>
                    <a:pt x="0" y="0"/>
                  </a:moveTo>
                  <a:lnTo>
                    <a:pt x="3036570" y="0"/>
                  </a:lnTo>
                </a:path>
              </a:pathLst>
            </a:custGeom>
            <a:noFill/>
            <a:ln w="17145">
              <a:solidFill>
                <a:srgbClr val="F26B3A"/>
              </a:solidFill>
            </a:ln>
          </p:spPr>
        </p:sp>
        <p:sp>
          <p:nvSpPr>
            <p:cNvPr id="16" name="Freeform 16"/>
            <p:cNvSpPr/>
            <p:nvPr/>
          </p:nvSpPr>
          <p:spPr>
            <a:xfrm>
              <a:off x="4272915" y="1905952"/>
              <a:ext cx="9525" cy="240983"/>
            </a:xfrm>
            <a:custGeom>
              <a:avLst/>
              <a:gdLst/>
              <a:ahLst/>
              <a:cxnLst/>
              <a:rect l="l" t="t" r="r" b="b"/>
              <a:pathLst>
                <a:path w="9525" h="240983">
                  <a:moveTo>
                    <a:pt x="0" y="240983"/>
                  </a:moveTo>
                  <a:lnTo>
                    <a:pt x="0" y="0"/>
                  </a:lnTo>
                </a:path>
              </a:pathLst>
            </a:custGeom>
            <a:noFill/>
            <a:ln w="17145">
              <a:solidFill>
                <a:srgbClr val="F26B3A"/>
              </a:solidFill>
            </a:ln>
          </p:spPr>
        </p:sp>
        <p:sp>
          <p:nvSpPr>
            <p:cNvPr id="17" name="Freeform 17"/>
            <p:cNvSpPr/>
            <p:nvPr/>
          </p:nvSpPr>
          <p:spPr>
            <a:xfrm>
              <a:off x="4225290" y="1810702"/>
              <a:ext cx="95250" cy="95250"/>
            </a:xfrm>
            <a:custGeom>
              <a:avLst/>
              <a:gdLst/>
              <a:ahLst/>
              <a:cxnLst/>
              <a:rect l="l" t="t" r="r" b="b"/>
              <a:pathLst>
                <a:path w="95250" h="95250">
                  <a:moveTo>
                    <a:pt x="47625" y="0"/>
                  </a:moveTo>
                  <a:lnTo>
                    <a:pt x="95250" y="95250"/>
                  </a:lnTo>
                  <a:lnTo>
                    <a:pt x="0" y="95250"/>
                  </a:lnTo>
                  <a:close/>
                </a:path>
              </a:pathLst>
            </a:custGeom>
            <a:solidFill>
              <a:srgbClr val="F26B3A"/>
            </a:solidFill>
            <a:ln>
              <a:noFill/>
            </a:ln>
          </p:spPr>
        </p:sp>
        <p:sp>
          <p:nvSpPr>
            <p:cNvPr id="18" name="Freeform 18"/>
            <p:cNvSpPr/>
            <p:nvPr/>
          </p:nvSpPr>
          <p:spPr>
            <a:xfrm>
              <a:off x="1179195" y="2611755"/>
              <a:ext cx="1166813" cy="9525"/>
            </a:xfrm>
            <a:custGeom>
              <a:avLst/>
              <a:gdLst/>
              <a:ahLst/>
              <a:cxnLst/>
              <a:rect l="l" t="t" r="r" b="b"/>
              <a:pathLst>
                <a:path w="1166813" h="9525">
                  <a:moveTo>
                    <a:pt x="0" y="0"/>
                  </a:moveTo>
                  <a:lnTo>
                    <a:pt x="1166813" y="0"/>
                  </a:lnTo>
                </a:path>
              </a:pathLst>
            </a:custGeom>
            <a:noFill/>
            <a:ln w="17145">
              <a:solidFill>
                <a:srgbClr val="F26B3A"/>
              </a:solidFill>
            </a:ln>
          </p:spPr>
        </p:sp>
        <p:sp>
          <p:nvSpPr>
            <p:cNvPr id="19" name="Freeform 19"/>
            <p:cNvSpPr/>
            <p:nvPr/>
          </p:nvSpPr>
          <p:spPr>
            <a:xfrm>
              <a:off x="2403158" y="1905952"/>
              <a:ext cx="9525" cy="648652"/>
            </a:xfrm>
            <a:custGeom>
              <a:avLst/>
              <a:gdLst/>
              <a:ahLst/>
              <a:cxnLst/>
              <a:rect l="l" t="t" r="r" b="b"/>
              <a:pathLst>
                <a:path w="9525" h="648652">
                  <a:moveTo>
                    <a:pt x="0" y="648652"/>
                  </a:moveTo>
                  <a:lnTo>
                    <a:pt x="0" y="0"/>
                  </a:lnTo>
                </a:path>
              </a:pathLst>
            </a:custGeom>
            <a:noFill/>
            <a:ln w="17145">
              <a:solidFill>
                <a:srgbClr val="F26B3A"/>
              </a:solidFill>
            </a:ln>
          </p:spPr>
        </p:sp>
        <p:sp>
          <p:nvSpPr>
            <p:cNvPr id="20" name="Freeform 20"/>
            <p:cNvSpPr/>
            <p:nvPr/>
          </p:nvSpPr>
          <p:spPr>
            <a:xfrm>
              <a:off x="2355532" y="1810702"/>
              <a:ext cx="95250" cy="95250"/>
            </a:xfrm>
            <a:custGeom>
              <a:avLst/>
              <a:gdLst/>
              <a:ahLst/>
              <a:cxnLst/>
              <a:rect l="l" t="t" r="r" b="b"/>
              <a:pathLst>
                <a:path w="95250" h="95250">
                  <a:moveTo>
                    <a:pt x="47625" y="0"/>
                  </a:moveTo>
                  <a:lnTo>
                    <a:pt x="95250" y="95250"/>
                  </a:lnTo>
                  <a:lnTo>
                    <a:pt x="0" y="95250"/>
                  </a:lnTo>
                  <a:close/>
                </a:path>
              </a:pathLst>
            </a:custGeom>
            <a:solidFill>
              <a:srgbClr val="F26B3A"/>
            </a:solidFill>
            <a:ln>
              <a:noFill/>
            </a:ln>
          </p:spPr>
        </p:sp>
        <p:sp>
          <p:nvSpPr>
            <p:cNvPr id="21" name="Freeform 21"/>
            <p:cNvSpPr/>
            <p:nvPr/>
          </p:nvSpPr>
          <p:spPr>
            <a:xfrm>
              <a:off x="1179195" y="3020378"/>
              <a:ext cx="3971925" cy="9525"/>
            </a:xfrm>
            <a:custGeom>
              <a:avLst/>
              <a:gdLst/>
              <a:ahLst/>
              <a:cxnLst/>
              <a:rect l="l" t="t" r="r" b="b"/>
              <a:pathLst>
                <a:path w="3971925" h="9525">
                  <a:moveTo>
                    <a:pt x="0" y="0"/>
                  </a:moveTo>
                  <a:lnTo>
                    <a:pt x="3971925" y="0"/>
                  </a:lnTo>
                </a:path>
              </a:pathLst>
            </a:custGeom>
            <a:noFill/>
            <a:ln w="17145">
              <a:solidFill>
                <a:srgbClr val="F26B3A"/>
              </a:solidFill>
            </a:ln>
          </p:spPr>
        </p:sp>
        <p:sp>
          <p:nvSpPr>
            <p:cNvPr id="22" name="Freeform 22"/>
            <p:cNvSpPr/>
            <p:nvPr/>
          </p:nvSpPr>
          <p:spPr>
            <a:xfrm>
              <a:off x="5208270" y="1905952"/>
              <a:ext cx="9525" cy="1057275"/>
            </a:xfrm>
            <a:custGeom>
              <a:avLst/>
              <a:gdLst/>
              <a:ahLst/>
              <a:cxnLst/>
              <a:rect l="l" t="t" r="r" b="b"/>
              <a:pathLst>
                <a:path w="9525" h="1057275">
                  <a:moveTo>
                    <a:pt x="0" y="1057275"/>
                  </a:moveTo>
                  <a:lnTo>
                    <a:pt x="0" y="0"/>
                  </a:lnTo>
                </a:path>
              </a:pathLst>
            </a:custGeom>
            <a:noFill/>
            <a:ln w="17145">
              <a:solidFill>
                <a:srgbClr val="F26B3A"/>
              </a:solidFill>
            </a:ln>
          </p:spPr>
        </p:sp>
        <p:sp>
          <p:nvSpPr>
            <p:cNvPr id="23" name="Freeform 23"/>
            <p:cNvSpPr/>
            <p:nvPr/>
          </p:nvSpPr>
          <p:spPr>
            <a:xfrm>
              <a:off x="5160645" y="1810702"/>
              <a:ext cx="95250" cy="95250"/>
            </a:xfrm>
            <a:custGeom>
              <a:avLst/>
              <a:gdLst/>
              <a:ahLst/>
              <a:cxnLst/>
              <a:rect l="l" t="t" r="r" b="b"/>
              <a:pathLst>
                <a:path w="95250" h="95250">
                  <a:moveTo>
                    <a:pt x="47625" y="0"/>
                  </a:moveTo>
                  <a:lnTo>
                    <a:pt x="95250" y="95250"/>
                  </a:lnTo>
                  <a:lnTo>
                    <a:pt x="0" y="95250"/>
                  </a:lnTo>
                  <a:close/>
                </a:path>
              </a:pathLst>
            </a:custGeom>
            <a:solidFill>
              <a:srgbClr val="F26B3A"/>
            </a:solidFill>
            <a:ln>
              <a:noFill/>
            </a:ln>
          </p:spPr>
        </p:sp>
        <p:sp>
          <p:nvSpPr>
            <p:cNvPr id="24" name="Freeform 24"/>
            <p:cNvSpPr/>
            <p:nvPr/>
          </p:nvSpPr>
          <p:spPr>
            <a:xfrm>
              <a:off x="1179195" y="3428048"/>
              <a:ext cx="2102168" cy="9525"/>
            </a:xfrm>
            <a:custGeom>
              <a:avLst/>
              <a:gdLst/>
              <a:ahLst/>
              <a:cxnLst/>
              <a:rect l="l" t="t" r="r" b="b"/>
              <a:pathLst>
                <a:path w="2102168" h="9525">
                  <a:moveTo>
                    <a:pt x="0" y="0"/>
                  </a:moveTo>
                  <a:lnTo>
                    <a:pt x="2102168" y="0"/>
                  </a:lnTo>
                </a:path>
              </a:pathLst>
            </a:custGeom>
            <a:noFill/>
            <a:ln w="17145">
              <a:solidFill>
                <a:srgbClr val="F26B3A"/>
              </a:solidFill>
            </a:ln>
          </p:spPr>
        </p:sp>
        <p:sp>
          <p:nvSpPr>
            <p:cNvPr id="25" name="Freeform 25"/>
            <p:cNvSpPr/>
            <p:nvPr/>
          </p:nvSpPr>
          <p:spPr>
            <a:xfrm>
              <a:off x="3338512" y="1905952"/>
              <a:ext cx="9525" cy="1464945"/>
            </a:xfrm>
            <a:custGeom>
              <a:avLst/>
              <a:gdLst/>
              <a:ahLst/>
              <a:cxnLst/>
              <a:rect l="l" t="t" r="r" b="b"/>
              <a:pathLst>
                <a:path w="9525" h="1464945">
                  <a:moveTo>
                    <a:pt x="0" y="1464945"/>
                  </a:moveTo>
                  <a:lnTo>
                    <a:pt x="0" y="0"/>
                  </a:lnTo>
                </a:path>
              </a:pathLst>
            </a:custGeom>
            <a:noFill/>
            <a:ln w="17145">
              <a:solidFill>
                <a:srgbClr val="F26B3A"/>
              </a:solidFill>
            </a:ln>
          </p:spPr>
        </p:sp>
        <p:sp>
          <p:nvSpPr>
            <p:cNvPr id="26" name="Freeform 26"/>
            <p:cNvSpPr/>
            <p:nvPr/>
          </p:nvSpPr>
          <p:spPr>
            <a:xfrm>
              <a:off x="3290888" y="1810702"/>
              <a:ext cx="95250" cy="95250"/>
            </a:xfrm>
            <a:custGeom>
              <a:avLst/>
              <a:gdLst/>
              <a:ahLst/>
              <a:cxnLst/>
              <a:rect l="l" t="t" r="r" b="b"/>
              <a:pathLst>
                <a:path w="95250" h="95250">
                  <a:moveTo>
                    <a:pt x="47625" y="0"/>
                  </a:moveTo>
                  <a:lnTo>
                    <a:pt x="95250" y="95250"/>
                  </a:lnTo>
                  <a:lnTo>
                    <a:pt x="0" y="95250"/>
                  </a:lnTo>
                  <a:close/>
                </a:path>
              </a:pathLst>
            </a:custGeom>
            <a:solidFill>
              <a:srgbClr val="F26B3A"/>
            </a:solidFill>
            <a:ln>
              <a:noFill/>
            </a:ln>
          </p:spPr>
        </p:sp>
        <p:sp>
          <p:nvSpPr>
            <p:cNvPr id="27" name="Rectangle 27"/>
            <p:cNvSpPr/>
            <p:nvPr/>
          </p:nvSpPr>
          <p:spPr>
            <a:xfrm>
              <a:off x="822960" y="2098358"/>
              <a:ext cx="356235" cy="210502"/>
            </a:xfrm>
            <a:prstGeom prst="roundRect">
              <a:avLst>
                <a:gd name="adj" fmla="val 45249"/>
              </a:avLst>
            </a:prstGeom>
            <a:solidFill>
              <a:srgbClr val="334E68"/>
            </a:solidFill>
            <a:ln w="17145">
              <a:solidFill>
                <a:srgbClr val="334E68"/>
              </a:solidFill>
            </a:ln>
          </p:spPr>
        </p:sp>
        <p:sp>
          <p:nvSpPr>
            <p:cNvPr id="28" name="Rectangle 28"/>
            <p:cNvSpPr/>
            <p:nvPr/>
          </p:nvSpPr>
          <p:spPr>
            <a:xfrm>
              <a:off x="822960" y="2506980"/>
              <a:ext cx="356235" cy="210502"/>
            </a:xfrm>
            <a:prstGeom prst="roundRect">
              <a:avLst>
                <a:gd name="adj" fmla="val 45249"/>
              </a:avLst>
            </a:prstGeom>
            <a:solidFill>
              <a:srgbClr val="334E68"/>
            </a:solidFill>
            <a:ln w="17145">
              <a:solidFill>
                <a:srgbClr val="334E68"/>
              </a:solidFill>
            </a:ln>
          </p:spPr>
        </p:sp>
        <p:sp>
          <p:nvSpPr>
            <p:cNvPr id="29" name="Rectangle 29"/>
            <p:cNvSpPr/>
            <p:nvPr/>
          </p:nvSpPr>
          <p:spPr>
            <a:xfrm>
              <a:off x="822960" y="2914650"/>
              <a:ext cx="356235" cy="210502"/>
            </a:xfrm>
            <a:prstGeom prst="roundRect">
              <a:avLst>
                <a:gd name="adj" fmla="val 45249"/>
              </a:avLst>
            </a:prstGeom>
            <a:solidFill>
              <a:srgbClr val="334E68"/>
            </a:solidFill>
            <a:ln w="17145">
              <a:solidFill>
                <a:srgbClr val="334E68"/>
              </a:solidFill>
            </a:ln>
          </p:spPr>
        </p:sp>
        <p:sp>
          <p:nvSpPr>
            <p:cNvPr id="30" name="Rectangle 30"/>
            <p:cNvSpPr/>
            <p:nvPr/>
          </p:nvSpPr>
          <p:spPr>
            <a:xfrm>
              <a:off x="822960" y="3323272"/>
              <a:ext cx="356235" cy="210502"/>
            </a:xfrm>
            <a:prstGeom prst="roundRect">
              <a:avLst>
                <a:gd name="adj" fmla="val 45249"/>
              </a:avLst>
            </a:prstGeom>
            <a:solidFill>
              <a:srgbClr val="334E68"/>
            </a:solidFill>
            <a:ln w="17145">
              <a:solidFill>
                <a:srgbClr val="334E68"/>
              </a:solidFill>
            </a:ln>
          </p:spPr>
        </p:sp>
        <p:sp>
          <p:nvSpPr>
            <p:cNvPr id="31" name="Rectangle 31"/>
            <p:cNvSpPr/>
            <p:nvPr/>
          </p:nvSpPr>
          <p:spPr>
            <a:xfrm>
              <a:off x="2225040" y="1600200"/>
              <a:ext cx="356235" cy="210502"/>
            </a:xfrm>
            <a:prstGeom prst="roundRect">
              <a:avLst>
                <a:gd name="adj" fmla="val 45249"/>
              </a:avLst>
            </a:prstGeom>
            <a:solidFill>
              <a:srgbClr val="E7EDF3"/>
            </a:solidFill>
            <a:ln w="17145">
              <a:solidFill>
                <a:srgbClr val="334E68"/>
              </a:solidFill>
            </a:ln>
          </p:spPr>
        </p:sp>
        <p:sp>
          <p:nvSpPr>
            <p:cNvPr id="32" name="Rectangle 32"/>
            <p:cNvSpPr/>
            <p:nvPr/>
          </p:nvSpPr>
          <p:spPr>
            <a:xfrm>
              <a:off x="3160395" y="1600200"/>
              <a:ext cx="356235" cy="210502"/>
            </a:xfrm>
            <a:prstGeom prst="roundRect">
              <a:avLst>
                <a:gd name="adj" fmla="val 45249"/>
              </a:avLst>
            </a:prstGeom>
            <a:solidFill>
              <a:srgbClr val="E7EDF3"/>
            </a:solidFill>
            <a:ln w="17145">
              <a:solidFill>
                <a:srgbClr val="334E68"/>
              </a:solidFill>
            </a:ln>
          </p:spPr>
        </p:sp>
        <p:sp>
          <p:nvSpPr>
            <p:cNvPr id="33" name="Rectangle 33"/>
            <p:cNvSpPr/>
            <p:nvPr/>
          </p:nvSpPr>
          <p:spPr>
            <a:xfrm>
              <a:off x="4094798" y="1600200"/>
              <a:ext cx="356235" cy="210502"/>
            </a:xfrm>
            <a:prstGeom prst="roundRect">
              <a:avLst>
                <a:gd name="adj" fmla="val 45249"/>
              </a:avLst>
            </a:prstGeom>
            <a:solidFill>
              <a:srgbClr val="E7EDF3"/>
            </a:solidFill>
            <a:ln w="17145">
              <a:solidFill>
                <a:srgbClr val="334E68"/>
              </a:solidFill>
            </a:ln>
          </p:spPr>
        </p:sp>
        <p:sp>
          <p:nvSpPr>
            <p:cNvPr id="34" name="Rectangle 34"/>
            <p:cNvSpPr/>
            <p:nvPr/>
          </p:nvSpPr>
          <p:spPr>
            <a:xfrm>
              <a:off x="5030152" y="1600200"/>
              <a:ext cx="356235" cy="210502"/>
            </a:xfrm>
            <a:prstGeom prst="roundRect">
              <a:avLst>
                <a:gd name="adj" fmla="val 45249"/>
              </a:avLst>
            </a:prstGeom>
            <a:solidFill>
              <a:srgbClr val="E7EDF3"/>
            </a:solidFill>
            <a:ln w="17145">
              <a:solidFill>
                <a:srgbClr val="334E68"/>
              </a:solidFill>
            </a:ln>
          </p:spPr>
        </p:sp>
        <p:sp>
          <p:nvSpPr>
            <p:cNvPr id="35" name="Ellipse 35"/>
            <p:cNvSpPr/>
            <p:nvPr/>
          </p:nvSpPr>
          <p:spPr>
            <a:xfrm>
              <a:off x="2355532" y="2156460"/>
              <a:ext cx="95250" cy="95250"/>
            </a:xfrm>
            <a:prstGeom prst="ellipse">
              <a:avLst/>
            </a:prstGeom>
            <a:solidFill>
              <a:srgbClr val="D9DFEA"/>
            </a:solidFill>
            <a:ln>
              <a:noFill/>
            </a:ln>
          </p:spPr>
        </p:sp>
        <p:sp>
          <p:nvSpPr>
            <p:cNvPr id="36" name="Ellipse 36"/>
            <p:cNvSpPr/>
            <p:nvPr/>
          </p:nvSpPr>
          <p:spPr>
            <a:xfrm>
              <a:off x="3290888" y="2156460"/>
              <a:ext cx="95250" cy="95250"/>
            </a:xfrm>
            <a:prstGeom prst="ellipse">
              <a:avLst/>
            </a:prstGeom>
            <a:solidFill>
              <a:srgbClr val="D9DFEA"/>
            </a:solidFill>
            <a:ln>
              <a:noFill/>
            </a:ln>
          </p:spPr>
        </p:sp>
        <p:sp>
          <p:nvSpPr>
            <p:cNvPr id="37" name="Ellipse 37"/>
            <p:cNvSpPr/>
            <p:nvPr/>
          </p:nvSpPr>
          <p:spPr>
            <a:xfrm>
              <a:off x="4225290" y="2156460"/>
              <a:ext cx="95250" cy="95250"/>
            </a:xfrm>
            <a:prstGeom prst="ellipse">
              <a:avLst/>
            </a:prstGeom>
            <a:solidFill>
              <a:srgbClr val="F26B3A"/>
            </a:solidFill>
            <a:ln>
              <a:noFill/>
            </a:ln>
          </p:spPr>
        </p:sp>
        <p:sp>
          <p:nvSpPr>
            <p:cNvPr id="38" name="Ellipse 38"/>
            <p:cNvSpPr/>
            <p:nvPr/>
          </p:nvSpPr>
          <p:spPr>
            <a:xfrm>
              <a:off x="5160645" y="2156460"/>
              <a:ext cx="95250" cy="95250"/>
            </a:xfrm>
            <a:prstGeom prst="ellipse">
              <a:avLst/>
            </a:prstGeom>
            <a:solidFill>
              <a:srgbClr val="D9DFEA"/>
            </a:solidFill>
            <a:ln>
              <a:noFill/>
            </a:ln>
          </p:spPr>
        </p:sp>
        <p:sp>
          <p:nvSpPr>
            <p:cNvPr id="39" name="Ellipse 39"/>
            <p:cNvSpPr/>
            <p:nvPr/>
          </p:nvSpPr>
          <p:spPr>
            <a:xfrm>
              <a:off x="2355532" y="2564130"/>
              <a:ext cx="95250" cy="95250"/>
            </a:xfrm>
            <a:prstGeom prst="ellipse">
              <a:avLst/>
            </a:prstGeom>
            <a:solidFill>
              <a:srgbClr val="F26B3A"/>
            </a:solidFill>
            <a:ln>
              <a:noFill/>
            </a:ln>
          </p:spPr>
        </p:sp>
        <p:sp>
          <p:nvSpPr>
            <p:cNvPr id="40" name="Ellipse 40"/>
            <p:cNvSpPr/>
            <p:nvPr/>
          </p:nvSpPr>
          <p:spPr>
            <a:xfrm>
              <a:off x="3290888" y="2564130"/>
              <a:ext cx="95250" cy="95250"/>
            </a:xfrm>
            <a:prstGeom prst="ellipse">
              <a:avLst/>
            </a:prstGeom>
            <a:solidFill>
              <a:srgbClr val="D9DFEA"/>
            </a:solidFill>
            <a:ln>
              <a:noFill/>
            </a:ln>
          </p:spPr>
        </p:sp>
        <p:sp>
          <p:nvSpPr>
            <p:cNvPr id="41" name="Ellipse 41"/>
            <p:cNvSpPr/>
            <p:nvPr/>
          </p:nvSpPr>
          <p:spPr>
            <a:xfrm>
              <a:off x="4225290" y="2564130"/>
              <a:ext cx="95250" cy="95250"/>
            </a:xfrm>
            <a:prstGeom prst="ellipse">
              <a:avLst/>
            </a:prstGeom>
            <a:solidFill>
              <a:srgbClr val="D9DFEA"/>
            </a:solidFill>
            <a:ln>
              <a:noFill/>
            </a:ln>
          </p:spPr>
        </p:sp>
        <p:sp>
          <p:nvSpPr>
            <p:cNvPr id="42" name="Ellipse 42"/>
            <p:cNvSpPr/>
            <p:nvPr/>
          </p:nvSpPr>
          <p:spPr>
            <a:xfrm>
              <a:off x="5160645" y="2564130"/>
              <a:ext cx="95250" cy="95250"/>
            </a:xfrm>
            <a:prstGeom prst="ellipse">
              <a:avLst/>
            </a:prstGeom>
            <a:solidFill>
              <a:srgbClr val="D9DFEA"/>
            </a:solidFill>
            <a:ln>
              <a:noFill/>
            </a:ln>
          </p:spPr>
        </p:sp>
        <p:sp>
          <p:nvSpPr>
            <p:cNvPr id="43" name="Ellipse 43"/>
            <p:cNvSpPr/>
            <p:nvPr/>
          </p:nvSpPr>
          <p:spPr>
            <a:xfrm>
              <a:off x="2355532" y="2972752"/>
              <a:ext cx="95250" cy="95250"/>
            </a:xfrm>
            <a:prstGeom prst="ellipse">
              <a:avLst/>
            </a:prstGeom>
            <a:solidFill>
              <a:srgbClr val="D9DFEA"/>
            </a:solidFill>
            <a:ln>
              <a:noFill/>
            </a:ln>
          </p:spPr>
        </p:sp>
        <p:sp>
          <p:nvSpPr>
            <p:cNvPr id="44" name="Ellipse 44"/>
            <p:cNvSpPr/>
            <p:nvPr/>
          </p:nvSpPr>
          <p:spPr>
            <a:xfrm>
              <a:off x="3290888" y="2972752"/>
              <a:ext cx="95250" cy="95250"/>
            </a:xfrm>
            <a:prstGeom prst="ellipse">
              <a:avLst/>
            </a:prstGeom>
            <a:solidFill>
              <a:srgbClr val="D9DFEA"/>
            </a:solidFill>
            <a:ln>
              <a:noFill/>
            </a:ln>
          </p:spPr>
        </p:sp>
        <p:sp>
          <p:nvSpPr>
            <p:cNvPr id="45" name="Ellipse 45"/>
            <p:cNvSpPr/>
            <p:nvPr/>
          </p:nvSpPr>
          <p:spPr>
            <a:xfrm>
              <a:off x="4225290" y="2972752"/>
              <a:ext cx="95250" cy="95250"/>
            </a:xfrm>
            <a:prstGeom prst="ellipse">
              <a:avLst/>
            </a:prstGeom>
            <a:solidFill>
              <a:srgbClr val="D9DFEA"/>
            </a:solidFill>
            <a:ln>
              <a:noFill/>
            </a:ln>
          </p:spPr>
        </p:sp>
        <p:sp>
          <p:nvSpPr>
            <p:cNvPr id="46" name="Ellipse 46"/>
            <p:cNvSpPr/>
            <p:nvPr/>
          </p:nvSpPr>
          <p:spPr>
            <a:xfrm>
              <a:off x="5160645" y="2972752"/>
              <a:ext cx="95250" cy="95250"/>
            </a:xfrm>
            <a:prstGeom prst="ellipse">
              <a:avLst/>
            </a:prstGeom>
            <a:solidFill>
              <a:srgbClr val="F26B3A"/>
            </a:solidFill>
            <a:ln>
              <a:noFill/>
            </a:ln>
          </p:spPr>
        </p:sp>
        <p:sp>
          <p:nvSpPr>
            <p:cNvPr id="47" name="Ellipse 47"/>
            <p:cNvSpPr/>
            <p:nvPr/>
          </p:nvSpPr>
          <p:spPr>
            <a:xfrm>
              <a:off x="2355532" y="3380422"/>
              <a:ext cx="95250" cy="95250"/>
            </a:xfrm>
            <a:prstGeom prst="ellipse">
              <a:avLst/>
            </a:prstGeom>
            <a:solidFill>
              <a:srgbClr val="D9DFEA"/>
            </a:solidFill>
            <a:ln>
              <a:noFill/>
            </a:ln>
          </p:spPr>
        </p:sp>
        <p:sp>
          <p:nvSpPr>
            <p:cNvPr id="48" name="Ellipse 48"/>
            <p:cNvSpPr/>
            <p:nvPr/>
          </p:nvSpPr>
          <p:spPr>
            <a:xfrm>
              <a:off x="3290888" y="3380422"/>
              <a:ext cx="95250" cy="95250"/>
            </a:xfrm>
            <a:prstGeom prst="ellipse">
              <a:avLst/>
            </a:prstGeom>
            <a:solidFill>
              <a:srgbClr val="F26B3A"/>
            </a:solidFill>
            <a:ln>
              <a:noFill/>
            </a:ln>
          </p:spPr>
        </p:sp>
        <p:sp>
          <p:nvSpPr>
            <p:cNvPr id="49" name="Ellipse 49"/>
            <p:cNvSpPr/>
            <p:nvPr/>
          </p:nvSpPr>
          <p:spPr>
            <a:xfrm>
              <a:off x="4225290" y="3380422"/>
              <a:ext cx="95250" cy="95250"/>
            </a:xfrm>
            <a:prstGeom prst="ellipse">
              <a:avLst/>
            </a:prstGeom>
            <a:solidFill>
              <a:srgbClr val="D9DFEA"/>
            </a:solidFill>
            <a:ln>
              <a:noFill/>
            </a:ln>
          </p:spPr>
        </p:sp>
        <p:sp>
          <p:nvSpPr>
            <p:cNvPr id="50" name="Ellipse 50"/>
            <p:cNvSpPr/>
            <p:nvPr/>
          </p:nvSpPr>
          <p:spPr>
            <a:xfrm>
              <a:off x="5160645" y="3380422"/>
              <a:ext cx="95250" cy="95250"/>
            </a:xfrm>
            <a:prstGeom prst="ellipse">
              <a:avLst/>
            </a:prstGeom>
            <a:solidFill>
              <a:srgbClr val="D9DFEA"/>
            </a:solidFill>
            <a:ln>
              <a:noFill/>
            </a:ln>
          </p:spPr>
        </p:sp>
        <p:sp>
          <p:nvSpPr>
            <p:cNvPr id="51" name="TextBox 51"/>
            <p:cNvSpPr txBox="1"/>
            <p:nvPr/>
          </p:nvSpPr>
          <p:spPr>
            <a:xfrm>
              <a:off x="922386" y="2147888"/>
              <a:ext cx="157383" cy="176212"/>
            </a:xfrm>
            <a:prstGeom prst="rect">
              <a:avLst/>
            </a:prstGeom>
            <a:noFill/>
            <a:ln>
              <a:noFill/>
            </a:ln>
          </p:spPr>
          <p:txBody>
            <a:bodyPr wrap="none" lIns="0" tIns="0" rIns="0" bIns="0" anchor="t" anchorCtr="0">
              <a:spAutoFit/>
            </a:bodyPr>
            <a:lstStyle/>
            <a:p>
              <a:pPr algn="ctr"/>
              <a:r>
                <a:rPr lang="en-US" sz="900" b="1" dirty="0">
                  <a:solidFill>
                    <a:srgbClr val="FFFFFF"/>
                  </a:solidFill>
                  <a:latin typeface="+mn-lt"/>
                  <a:ea typeface="+mn-ea"/>
                  <a:cs typeface="+mn-cs"/>
                </a:rPr>
                <a:t>P0</a:t>
              </a:r>
            </a:p>
          </p:txBody>
        </p:sp>
        <p:sp>
          <p:nvSpPr>
            <p:cNvPr id="52" name="TextBox 52"/>
            <p:cNvSpPr txBox="1"/>
            <p:nvPr/>
          </p:nvSpPr>
          <p:spPr>
            <a:xfrm>
              <a:off x="922386" y="2556510"/>
              <a:ext cx="157383" cy="176212"/>
            </a:xfrm>
            <a:prstGeom prst="rect">
              <a:avLst/>
            </a:prstGeom>
            <a:noFill/>
            <a:ln>
              <a:noFill/>
            </a:ln>
          </p:spPr>
          <p:txBody>
            <a:bodyPr wrap="none" lIns="0" tIns="0" rIns="0" bIns="0" anchor="t" anchorCtr="0">
              <a:spAutoFit/>
            </a:bodyPr>
            <a:lstStyle/>
            <a:p>
              <a:pPr algn="ctr"/>
              <a:r>
                <a:rPr lang="en-US" sz="900" b="1" dirty="0">
                  <a:solidFill>
                    <a:srgbClr val="FFFFFF"/>
                  </a:solidFill>
                  <a:latin typeface="+mn-lt"/>
                  <a:ea typeface="+mn-ea"/>
                  <a:cs typeface="+mn-cs"/>
                </a:rPr>
                <a:t>P1</a:t>
              </a:r>
            </a:p>
          </p:txBody>
        </p:sp>
        <p:sp>
          <p:nvSpPr>
            <p:cNvPr id="53" name="TextBox 53"/>
            <p:cNvSpPr txBox="1"/>
            <p:nvPr/>
          </p:nvSpPr>
          <p:spPr>
            <a:xfrm>
              <a:off x="922386" y="2964180"/>
              <a:ext cx="157383" cy="176212"/>
            </a:xfrm>
            <a:prstGeom prst="rect">
              <a:avLst/>
            </a:prstGeom>
            <a:noFill/>
            <a:ln>
              <a:noFill/>
            </a:ln>
          </p:spPr>
          <p:txBody>
            <a:bodyPr wrap="none" lIns="0" tIns="0" rIns="0" bIns="0" anchor="t" anchorCtr="0">
              <a:spAutoFit/>
            </a:bodyPr>
            <a:lstStyle/>
            <a:p>
              <a:pPr algn="ctr"/>
              <a:r>
                <a:rPr lang="en-US" sz="900" b="1" dirty="0">
                  <a:solidFill>
                    <a:srgbClr val="FFFFFF"/>
                  </a:solidFill>
                  <a:latin typeface="+mn-lt"/>
                  <a:ea typeface="+mn-ea"/>
                  <a:cs typeface="+mn-cs"/>
                </a:rPr>
                <a:t>P2</a:t>
              </a:r>
            </a:p>
          </p:txBody>
        </p:sp>
        <p:sp>
          <p:nvSpPr>
            <p:cNvPr id="54" name="TextBox 54"/>
            <p:cNvSpPr txBox="1"/>
            <p:nvPr/>
          </p:nvSpPr>
          <p:spPr>
            <a:xfrm>
              <a:off x="922386" y="3371850"/>
              <a:ext cx="157383" cy="176212"/>
            </a:xfrm>
            <a:prstGeom prst="rect">
              <a:avLst/>
            </a:prstGeom>
            <a:noFill/>
            <a:ln>
              <a:noFill/>
            </a:ln>
          </p:spPr>
          <p:txBody>
            <a:bodyPr wrap="none" lIns="0" tIns="0" rIns="0" bIns="0" anchor="t" anchorCtr="0">
              <a:spAutoFit/>
            </a:bodyPr>
            <a:lstStyle/>
            <a:p>
              <a:pPr algn="ctr"/>
              <a:r>
                <a:rPr lang="en-US" sz="900" b="1" dirty="0">
                  <a:solidFill>
                    <a:srgbClr val="FFFFFF"/>
                  </a:solidFill>
                  <a:latin typeface="+mn-lt"/>
                  <a:ea typeface="+mn-ea"/>
                  <a:cs typeface="+mn-cs"/>
                </a:rPr>
                <a:t>P3</a:t>
              </a:r>
            </a:p>
          </p:txBody>
        </p:sp>
        <p:sp>
          <p:nvSpPr>
            <p:cNvPr id="55" name="TextBox 55"/>
            <p:cNvSpPr txBox="1"/>
            <p:nvPr/>
          </p:nvSpPr>
          <p:spPr>
            <a:xfrm>
              <a:off x="2311024" y="1649730"/>
              <a:ext cx="184267" cy="176212"/>
            </a:xfrm>
            <a:prstGeom prst="rect">
              <a:avLst/>
            </a:prstGeom>
            <a:noFill/>
            <a:ln>
              <a:noFill/>
            </a:ln>
          </p:spPr>
          <p:txBody>
            <a:bodyPr wrap="none" lIns="0" tIns="0" rIns="0" bIns="0" anchor="t" anchorCtr="0">
              <a:spAutoFit/>
            </a:bodyPr>
            <a:lstStyle/>
            <a:p>
              <a:pPr algn="ctr"/>
              <a:r>
                <a:rPr lang="en-US" sz="900" b="1" dirty="0">
                  <a:solidFill>
                    <a:srgbClr val="243B53"/>
                  </a:solidFill>
                  <a:latin typeface="+mn-lt"/>
                  <a:ea typeface="+mn-ea"/>
                  <a:cs typeface="+mn-cs"/>
                </a:rPr>
                <a:t>M0</a:t>
              </a:r>
            </a:p>
          </p:txBody>
        </p:sp>
        <p:sp>
          <p:nvSpPr>
            <p:cNvPr id="56" name="TextBox 56"/>
            <p:cNvSpPr txBox="1"/>
            <p:nvPr/>
          </p:nvSpPr>
          <p:spPr>
            <a:xfrm>
              <a:off x="3246379" y="1649730"/>
              <a:ext cx="184267" cy="176212"/>
            </a:xfrm>
            <a:prstGeom prst="rect">
              <a:avLst/>
            </a:prstGeom>
            <a:noFill/>
            <a:ln>
              <a:noFill/>
            </a:ln>
          </p:spPr>
          <p:txBody>
            <a:bodyPr wrap="none" lIns="0" tIns="0" rIns="0" bIns="0" anchor="t" anchorCtr="0">
              <a:spAutoFit/>
            </a:bodyPr>
            <a:lstStyle/>
            <a:p>
              <a:pPr algn="ctr"/>
              <a:r>
                <a:rPr lang="en-US" sz="900" b="1" dirty="0">
                  <a:solidFill>
                    <a:srgbClr val="243B53"/>
                  </a:solidFill>
                  <a:latin typeface="+mn-lt"/>
                  <a:ea typeface="+mn-ea"/>
                  <a:cs typeface="+mn-cs"/>
                </a:rPr>
                <a:t>M1</a:t>
              </a:r>
            </a:p>
          </p:txBody>
        </p:sp>
        <p:sp>
          <p:nvSpPr>
            <p:cNvPr id="57" name="TextBox 57"/>
            <p:cNvSpPr txBox="1"/>
            <p:nvPr/>
          </p:nvSpPr>
          <p:spPr>
            <a:xfrm>
              <a:off x="4180782" y="1649730"/>
              <a:ext cx="184267" cy="176212"/>
            </a:xfrm>
            <a:prstGeom prst="rect">
              <a:avLst/>
            </a:prstGeom>
            <a:noFill/>
            <a:ln>
              <a:noFill/>
            </a:ln>
          </p:spPr>
          <p:txBody>
            <a:bodyPr wrap="none" lIns="0" tIns="0" rIns="0" bIns="0" anchor="t" anchorCtr="0">
              <a:spAutoFit/>
            </a:bodyPr>
            <a:lstStyle/>
            <a:p>
              <a:pPr algn="ctr"/>
              <a:r>
                <a:rPr lang="en-US" sz="900" b="1" dirty="0">
                  <a:solidFill>
                    <a:srgbClr val="243B53"/>
                  </a:solidFill>
                  <a:latin typeface="+mn-lt"/>
                  <a:ea typeface="+mn-ea"/>
                  <a:cs typeface="+mn-cs"/>
                </a:rPr>
                <a:t>M2</a:t>
              </a:r>
            </a:p>
          </p:txBody>
        </p:sp>
        <p:sp>
          <p:nvSpPr>
            <p:cNvPr id="58" name="TextBox 58"/>
            <p:cNvSpPr txBox="1"/>
            <p:nvPr/>
          </p:nvSpPr>
          <p:spPr>
            <a:xfrm>
              <a:off x="5116137" y="1649730"/>
              <a:ext cx="184267" cy="176212"/>
            </a:xfrm>
            <a:prstGeom prst="rect">
              <a:avLst/>
            </a:prstGeom>
            <a:noFill/>
            <a:ln>
              <a:noFill/>
            </a:ln>
          </p:spPr>
          <p:txBody>
            <a:bodyPr wrap="none" lIns="0" tIns="0" rIns="0" bIns="0" anchor="t" anchorCtr="0">
              <a:spAutoFit/>
            </a:bodyPr>
            <a:lstStyle/>
            <a:p>
              <a:pPr algn="ctr"/>
              <a:r>
                <a:rPr lang="en-US" sz="900" b="1" dirty="0">
                  <a:solidFill>
                    <a:srgbClr val="243B53"/>
                  </a:solidFill>
                  <a:latin typeface="+mn-lt"/>
                  <a:ea typeface="+mn-ea"/>
                  <a:cs typeface="+mn-cs"/>
                </a:rPr>
                <a:t>M3</a:t>
              </a:r>
            </a:p>
          </p:txBody>
        </p:sp>
      </p:grpSp>
      <p:grpSp>
        <p:nvGrpSpPr>
          <p:cNvPr id="70" name="c1-card-2"/>
          <p:cNvGrpSpPr/>
          <p:nvPr/>
        </p:nvGrpSpPr>
        <p:grpSpPr>
          <a:xfrm>
            <a:off x="533400" y="3955732"/>
            <a:ext cx="5193982" cy="2378392"/>
            <a:chOff x="533400" y="3955732"/>
            <a:chExt cx="5193982" cy="2378392"/>
          </a:xfrm>
        </p:grpSpPr>
        <p:sp>
          <p:nvSpPr>
            <p:cNvPr id="60" name="Rectangle 60"/>
            <p:cNvSpPr/>
            <p:nvPr/>
          </p:nvSpPr>
          <p:spPr>
            <a:xfrm>
              <a:off x="533400" y="3955732"/>
              <a:ext cx="5193982" cy="2378392"/>
            </a:xfrm>
            <a:prstGeom prst="roundRect">
              <a:avLst>
                <a:gd name="adj" fmla="val 5607"/>
              </a:avLst>
            </a:prstGeom>
            <a:solidFill>
              <a:srgbClr val="FFFFFF"/>
            </a:solidFill>
            <a:ln w="14288">
              <a:solidFill>
                <a:srgbClr val="D9DFEA"/>
              </a:solidFill>
            </a:ln>
          </p:spPr>
        </p:sp>
        <p:sp>
          <p:nvSpPr>
            <p:cNvPr id="61" name="Rectangle 61"/>
            <p:cNvSpPr/>
            <p:nvPr/>
          </p:nvSpPr>
          <p:spPr>
            <a:xfrm>
              <a:off x="542925" y="4089082"/>
              <a:ext cx="47625" cy="2111692"/>
            </a:xfrm>
            <a:prstGeom prst="roundRect">
              <a:avLst>
                <a:gd name="adj" fmla="val 50000"/>
              </a:avLst>
            </a:prstGeom>
            <a:solidFill>
              <a:srgbClr val="334E68"/>
            </a:solidFill>
            <a:ln>
              <a:noFill/>
            </a:ln>
          </p:spPr>
        </p:sp>
        <p:sp>
          <p:nvSpPr>
            <p:cNvPr id="62" name="Rectangle 62"/>
            <p:cNvSpPr/>
            <p:nvPr/>
          </p:nvSpPr>
          <p:spPr>
            <a:xfrm>
              <a:off x="752475" y="4136708"/>
              <a:ext cx="1531620" cy="238125"/>
            </a:xfrm>
            <a:prstGeom prst="roundRect">
              <a:avLst>
                <a:gd name="adj" fmla="val 50000"/>
              </a:avLst>
            </a:prstGeom>
            <a:solidFill>
              <a:srgbClr val="E7EDF3"/>
            </a:solidFill>
            <a:ln>
              <a:noFill/>
            </a:ln>
          </p:spPr>
        </p:sp>
        <p:sp>
          <p:nvSpPr>
            <p:cNvPr id="63" name="TextBox 63"/>
            <p:cNvSpPr txBox="1"/>
            <p:nvPr/>
          </p:nvSpPr>
          <p:spPr>
            <a:xfrm>
              <a:off x="810640" y="4169569"/>
              <a:ext cx="1415290" cy="190690"/>
            </a:xfrm>
            <a:prstGeom prst="rect">
              <a:avLst/>
            </a:prstGeom>
            <a:noFill/>
            <a:ln>
              <a:noFill/>
            </a:ln>
          </p:spPr>
          <p:txBody>
            <a:bodyPr wrap="none" lIns="0" tIns="0" rIns="0" bIns="0" anchor="t" anchorCtr="0">
              <a:spAutoFit/>
            </a:bodyPr>
            <a:lstStyle/>
            <a:p>
              <a:pPr algn="ctr"/>
              <a:r>
                <a:rPr lang="zh-CN" sz="980" b="1" dirty="0">
                  <a:solidFill>
                    <a:srgbClr val="334E68"/>
                  </a:solidFill>
                  <a:latin typeface="+mn-lt"/>
                  <a:ea typeface="+mn-ea"/>
                  <a:cs typeface="+mn-cs"/>
                </a:rPr>
                <a:t>交叉开关（Crossbar）</a:t>
              </a:r>
            </a:p>
          </p:txBody>
        </p:sp>
        <p:sp>
          <p:nvSpPr>
            <p:cNvPr id="64" name="Ellipse 64"/>
            <p:cNvSpPr/>
            <p:nvPr/>
          </p:nvSpPr>
          <p:spPr>
            <a:xfrm>
              <a:off x="762000" y="4529138"/>
              <a:ext cx="57150" cy="57150"/>
            </a:xfrm>
            <a:prstGeom prst="ellipse">
              <a:avLst/>
            </a:prstGeom>
            <a:solidFill>
              <a:srgbClr val="334E68"/>
            </a:solidFill>
            <a:ln>
              <a:noFill/>
            </a:ln>
          </p:spPr>
        </p:sp>
        <p:sp>
          <p:nvSpPr>
            <p:cNvPr id="65" name="TextBox 65"/>
            <p:cNvSpPr txBox="1"/>
            <p:nvPr/>
          </p:nvSpPr>
          <p:spPr>
            <a:xfrm>
              <a:off x="917448" y="4477226"/>
              <a:ext cx="4402074" cy="492252"/>
            </a:xfrm>
            <a:prstGeom prst="rect">
              <a:avLst/>
            </a:prstGeom>
            <a:noFill/>
            <a:ln>
              <a:noFill/>
            </a:ln>
          </p:spPr>
          <p:txBody>
            <a:bodyPr wrap="none" lIns="0" tIns="0" rIns="0" bIns="0" anchor="t" anchorCtr="0">
              <a:spAutoFit/>
            </a:bodyPr>
            <a:lstStyle/>
            <a:p>
              <a:pPr algn="l">
                <a:lnSpc>
                  <a:spcPts val="1912"/>
                </a:lnSpc>
              </a:pPr>
              <a:r>
                <a:rPr lang="zh-CN" sz="1280" dirty="0">
                  <a:solidFill>
                    <a:srgbClr val="1F2937"/>
                  </a:solidFill>
                  <a:latin typeface="+mn-lt"/>
                  <a:ea typeface="+mn-ea"/>
                  <a:cs typeface="+mn-cs"/>
                </a:rPr>
                <a:t>单级开关阵列，每个开关的状态可由程序动态控制，在源、目</a:t>
              </a:r>
              <a:br/>
              <a:r>
                <a:rPr lang="zh-CN" sz="1280" dirty="0">
                  <a:solidFill>
                    <a:srgbClr val="1F2937"/>
                  </a:solidFill>
                  <a:latin typeface="+mn-lt"/>
                  <a:ea typeface="+mn-ea"/>
                  <a:cs typeface="+mn-cs"/>
                </a:rPr>
                <a:t>的之间提供一条专用通路；N 个端口要 N² 个开关</a:t>
              </a:r>
            </a:p>
          </p:txBody>
        </p:sp>
        <p:sp>
          <p:nvSpPr>
            <p:cNvPr id="66" name="Ellipse 66"/>
            <p:cNvSpPr/>
            <p:nvPr/>
          </p:nvSpPr>
          <p:spPr>
            <a:xfrm>
              <a:off x="762000" y="5056822"/>
              <a:ext cx="57150" cy="57150"/>
            </a:xfrm>
            <a:prstGeom prst="ellipse">
              <a:avLst/>
            </a:prstGeom>
            <a:solidFill>
              <a:srgbClr val="334E68"/>
            </a:solidFill>
            <a:ln>
              <a:noFill/>
            </a:ln>
          </p:spPr>
        </p:sp>
        <p:sp>
          <p:nvSpPr>
            <p:cNvPr id="67" name="TextBox 67"/>
            <p:cNvSpPr txBox="1"/>
            <p:nvPr/>
          </p:nvSpPr>
          <p:spPr>
            <a:xfrm>
              <a:off x="917448" y="5004911"/>
              <a:ext cx="3914394" cy="492252"/>
            </a:xfrm>
            <a:prstGeom prst="rect">
              <a:avLst/>
            </a:prstGeom>
            <a:noFill/>
            <a:ln>
              <a:noFill/>
            </a:ln>
          </p:spPr>
          <p:txBody>
            <a:bodyPr wrap="none" lIns="0" tIns="0" rIns="0" bIns="0" anchor="t" anchorCtr="0">
              <a:spAutoFit/>
            </a:bodyPr>
            <a:lstStyle/>
            <a:p>
              <a:pPr algn="l">
                <a:lnSpc>
                  <a:spcPts val="1912"/>
                </a:lnSpc>
              </a:pPr>
              <a:r>
                <a:rPr lang="zh-CN" sz="1280" dirty="0">
                  <a:solidFill>
                    <a:srgbClr val="1F2937"/>
                  </a:solidFill>
                  <a:latin typeface="+mn-lt"/>
                  <a:ea typeface="+mn-ea"/>
                  <a:cs typeface="+mn-cs"/>
                </a:rPr>
                <a:t>图中闭合 4 个交叉点，同时接通 P0→M2、P1→M0、P2→</a:t>
              </a:r>
              <a:br/>
              <a:r>
                <a:rPr lang="zh-CN" sz="1280" dirty="0">
                  <a:solidFill>
                    <a:srgbClr val="1F2937"/>
                  </a:solidFill>
                  <a:latin typeface="+mn-lt"/>
                  <a:ea typeface="+mn-ea"/>
                  <a:cs typeface="+mn-cs"/>
                </a:rPr>
                <a:t>M3、P3→M1，每行、每列只闭合一个点</a:t>
              </a:r>
            </a:p>
          </p:txBody>
        </p:sp>
        <p:sp>
          <p:nvSpPr>
            <p:cNvPr id="68" name="Ellipse 68"/>
            <p:cNvSpPr/>
            <p:nvPr/>
          </p:nvSpPr>
          <p:spPr>
            <a:xfrm>
              <a:off x="762000" y="5584508"/>
              <a:ext cx="57150" cy="57150"/>
            </a:xfrm>
            <a:prstGeom prst="ellipse">
              <a:avLst/>
            </a:prstGeom>
            <a:solidFill>
              <a:srgbClr val="334E68"/>
            </a:solidFill>
            <a:ln>
              <a:noFill/>
            </a:ln>
          </p:spPr>
        </p:sp>
        <p:sp>
          <p:nvSpPr>
            <p:cNvPr id="69" name="TextBox 69"/>
            <p:cNvSpPr txBox="1"/>
            <p:nvPr/>
          </p:nvSpPr>
          <p:spPr>
            <a:xfrm>
              <a:off x="917448" y="5532596"/>
              <a:ext cx="4402074" cy="492252"/>
            </a:xfrm>
            <a:prstGeom prst="rect">
              <a:avLst/>
            </a:prstGeom>
            <a:noFill/>
            <a:ln>
              <a:noFill/>
            </a:ln>
          </p:spPr>
          <p:txBody>
            <a:bodyPr wrap="none" lIns="0" tIns="0" rIns="0" bIns="0" anchor="t" anchorCtr="0">
              <a:spAutoFit/>
            </a:bodyPr>
            <a:lstStyle/>
            <a:p>
              <a:pPr algn="l">
                <a:lnSpc>
                  <a:spcPts val="1912"/>
                </a:lnSpc>
              </a:pPr>
              <a:r>
                <a:rPr lang="zh-CN" sz="1280" dirty="0">
                  <a:solidFill>
                    <a:srgbClr val="1F2937"/>
                  </a:solidFill>
                  <a:latin typeface="+mn-lt"/>
                  <a:ea typeface="+mn-ea"/>
                  <a:cs typeface="+mn-cs"/>
                </a:rPr>
                <a:t>也可用于处理器访问多体交叉存储器：一列上闭合多个点，实</a:t>
              </a:r>
              <a:br/>
              <a:r>
                <a:rPr lang="zh-CN" sz="1280" dirty="0">
                  <a:solidFill>
                    <a:srgbClr val="1F2937"/>
                  </a:solidFill>
                  <a:latin typeface="+mn-lt"/>
                  <a:ea typeface="+mn-ea"/>
                  <a:cs typeface="+mn-cs"/>
                </a:rPr>
                <a:t>现一对多通信</a:t>
              </a:r>
            </a:p>
          </p:txBody>
        </p:sp>
      </p:grpSp>
      <p:grpSp>
        <p:nvGrpSpPr>
          <p:cNvPr id="79" name="c2-card-1"/>
          <p:cNvGrpSpPr/>
          <p:nvPr/>
        </p:nvGrpSpPr>
        <p:grpSpPr>
          <a:xfrm>
            <a:off x="6032182" y="1524000"/>
            <a:ext cx="5626418" cy="1428750"/>
            <a:chOff x="6032182" y="1524000"/>
            <a:chExt cx="5626418" cy="1428750"/>
          </a:xfrm>
        </p:grpSpPr>
        <p:sp>
          <p:nvSpPr>
            <p:cNvPr id="71" name="Rectangle 71"/>
            <p:cNvSpPr/>
            <p:nvPr/>
          </p:nvSpPr>
          <p:spPr>
            <a:xfrm>
              <a:off x="6032182" y="1524000"/>
              <a:ext cx="5626418" cy="1428750"/>
            </a:xfrm>
            <a:prstGeom prst="roundRect">
              <a:avLst>
                <a:gd name="adj" fmla="val 9333"/>
              </a:avLst>
            </a:prstGeom>
            <a:solidFill>
              <a:srgbClr val="FFFFFF"/>
            </a:solidFill>
            <a:ln w="14288">
              <a:solidFill>
                <a:srgbClr val="D9DFEA"/>
              </a:solidFill>
            </a:ln>
          </p:spPr>
        </p:sp>
        <p:sp>
          <p:nvSpPr>
            <p:cNvPr id="72" name="Rectangle 72"/>
            <p:cNvSpPr/>
            <p:nvPr/>
          </p:nvSpPr>
          <p:spPr>
            <a:xfrm>
              <a:off x="6041708" y="1657350"/>
              <a:ext cx="47625" cy="1162050"/>
            </a:xfrm>
            <a:prstGeom prst="roundRect">
              <a:avLst>
                <a:gd name="adj" fmla="val 50000"/>
              </a:avLst>
            </a:prstGeom>
            <a:solidFill>
              <a:srgbClr val="334E68"/>
            </a:solidFill>
            <a:ln>
              <a:noFill/>
            </a:ln>
          </p:spPr>
        </p:sp>
        <p:sp>
          <p:nvSpPr>
            <p:cNvPr id="73" name="Rectangle 73"/>
            <p:cNvSpPr/>
            <p:nvPr/>
          </p:nvSpPr>
          <p:spPr>
            <a:xfrm>
              <a:off x="6251258" y="1704975"/>
              <a:ext cx="1204912" cy="238125"/>
            </a:xfrm>
            <a:prstGeom prst="roundRect">
              <a:avLst>
                <a:gd name="adj" fmla="val 50000"/>
              </a:avLst>
            </a:prstGeom>
            <a:solidFill>
              <a:srgbClr val="E7EDF3"/>
            </a:solidFill>
            <a:ln>
              <a:noFill/>
            </a:ln>
          </p:spPr>
        </p:sp>
        <p:sp>
          <p:nvSpPr>
            <p:cNvPr id="74" name="TextBox 74"/>
            <p:cNvSpPr txBox="1"/>
            <p:nvPr/>
          </p:nvSpPr>
          <p:spPr>
            <a:xfrm>
              <a:off x="6313455" y="1737836"/>
              <a:ext cx="1079565" cy="190690"/>
            </a:xfrm>
            <a:prstGeom prst="rect">
              <a:avLst/>
            </a:prstGeom>
            <a:noFill/>
            <a:ln>
              <a:noFill/>
            </a:ln>
          </p:spPr>
          <p:txBody>
            <a:bodyPr wrap="none" lIns="0" tIns="0" rIns="0" bIns="0" anchor="t" anchorCtr="0">
              <a:spAutoFit/>
            </a:bodyPr>
            <a:lstStyle/>
            <a:p>
              <a:pPr algn="ctr"/>
              <a:r>
                <a:rPr lang="zh-CN" sz="980" b="1" dirty="0">
                  <a:solidFill>
                    <a:srgbClr val="334E68"/>
                  </a:solidFill>
                  <a:latin typeface="+mn-lt"/>
                  <a:ea typeface="+mn-ea"/>
                  <a:cs typeface="+mn-cs"/>
                </a:rPr>
                <a:t>多级互连网络 MIN</a:t>
              </a:r>
            </a:p>
          </p:txBody>
        </p:sp>
        <p:sp>
          <p:nvSpPr>
            <p:cNvPr id="75" name="Ellipse 75"/>
            <p:cNvSpPr/>
            <p:nvPr/>
          </p:nvSpPr>
          <p:spPr>
            <a:xfrm>
              <a:off x="6260782" y="2097405"/>
              <a:ext cx="57150" cy="57150"/>
            </a:xfrm>
            <a:prstGeom prst="ellipse">
              <a:avLst/>
            </a:prstGeom>
            <a:solidFill>
              <a:srgbClr val="334E68"/>
            </a:solidFill>
            <a:ln>
              <a:noFill/>
            </a:ln>
          </p:spPr>
        </p:sp>
        <p:sp>
          <p:nvSpPr>
            <p:cNvPr id="76" name="TextBox 76"/>
            <p:cNvSpPr txBox="1"/>
            <p:nvPr/>
          </p:nvSpPr>
          <p:spPr>
            <a:xfrm>
              <a:off x="6416230" y="2045494"/>
              <a:ext cx="4727194" cy="492252"/>
            </a:xfrm>
            <a:prstGeom prst="rect">
              <a:avLst/>
            </a:prstGeom>
            <a:noFill/>
            <a:ln>
              <a:noFill/>
            </a:ln>
          </p:spPr>
          <p:txBody>
            <a:bodyPr wrap="none" lIns="0" tIns="0" rIns="0" bIns="0" anchor="t" anchorCtr="0">
              <a:spAutoFit/>
            </a:bodyPr>
            <a:lstStyle/>
            <a:p>
              <a:pPr algn="l">
                <a:lnSpc>
                  <a:spcPts val="1912"/>
                </a:lnSpc>
              </a:pPr>
              <a:r>
                <a:rPr lang="zh-CN" sz="1280" dirty="0">
                  <a:solidFill>
                    <a:srgbClr val="1F2937"/>
                  </a:solidFill>
                  <a:latin typeface="+mn-lt"/>
                  <a:ea typeface="+mn-ea"/>
                  <a:cs typeface="+mn-cs"/>
                </a:rPr>
                <a:t>单个交叉开关不能无限增大，改把多级小交叉开关级联起来，实现</a:t>
              </a:r>
              <a:br/>
              <a:r>
                <a:rPr lang="zh-CN" sz="1280" dirty="0">
                  <a:solidFill>
                    <a:srgbClr val="1F2937"/>
                  </a:solidFill>
                  <a:latin typeface="+mn-lt"/>
                  <a:ea typeface="+mn-ea"/>
                  <a:cs typeface="+mn-cs"/>
                </a:rPr>
                <a:t>输入到输出的动态切换</a:t>
              </a:r>
            </a:p>
          </p:txBody>
        </p:sp>
        <p:sp>
          <p:nvSpPr>
            <p:cNvPr id="77" name="Ellipse 77"/>
            <p:cNvSpPr/>
            <p:nvPr/>
          </p:nvSpPr>
          <p:spPr>
            <a:xfrm>
              <a:off x="6260782" y="2625090"/>
              <a:ext cx="57150" cy="57150"/>
            </a:xfrm>
            <a:prstGeom prst="ellipse">
              <a:avLst/>
            </a:prstGeom>
            <a:solidFill>
              <a:srgbClr val="334E68"/>
            </a:solidFill>
            <a:ln>
              <a:noFill/>
            </a:ln>
          </p:spPr>
        </p:sp>
        <p:sp>
          <p:nvSpPr>
            <p:cNvPr id="78" name="TextBox 78"/>
            <p:cNvSpPr txBox="1"/>
            <p:nvPr/>
          </p:nvSpPr>
          <p:spPr>
            <a:xfrm>
              <a:off x="6416230" y="2573179"/>
              <a:ext cx="2787203"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n 输入 n 输出的网络一般有 log₂n 级</a:t>
              </a:r>
            </a:p>
          </p:txBody>
        </p:sp>
      </p:grpSp>
      <p:grpSp>
        <p:nvGrpSpPr>
          <p:cNvPr id="111" name="c2-table-2"/>
          <p:cNvGrpSpPr/>
          <p:nvPr/>
        </p:nvGrpSpPr>
        <p:grpSpPr>
          <a:xfrm>
            <a:off x="6032182" y="3117532"/>
            <a:ext cx="5626418" cy="1906906"/>
            <a:chOff x="6032182" y="3117532"/>
            <a:chExt cx="5626418" cy="1906906"/>
          </a:xfrm>
        </p:grpSpPr>
        <p:sp>
          <p:nvSpPr>
            <p:cNvPr id="80" name="Rectangle 80"/>
            <p:cNvSpPr/>
            <p:nvPr/>
          </p:nvSpPr>
          <p:spPr>
            <a:xfrm>
              <a:off x="6032182" y="3117532"/>
              <a:ext cx="5626418" cy="381000"/>
            </a:xfrm>
            <a:prstGeom prst="rect">
              <a:avLst/>
            </a:prstGeom>
            <a:solidFill>
              <a:srgbClr val="334E68"/>
            </a:solidFill>
            <a:ln>
              <a:noFill/>
            </a:ln>
          </p:spPr>
        </p:sp>
        <p:sp>
          <p:nvSpPr>
            <p:cNvPr id="81" name="TextBox 81"/>
            <p:cNvSpPr txBox="1"/>
            <p:nvPr/>
          </p:nvSpPr>
          <p:spPr>
            <a:xfrm>
              <a:off x="6525148" y="3235643"/>
              <a:ext cx="92298" cy="205359"/>
            </a:xfrm>
            <a:prstGeom prst="rect">
              <a:avLst/>
            </a:prstGeom>
            <a:noFill/>
            <a:ln>
              <a:noFill/>
            </a:ln>
          </p:spPr>
          <p:txBody>
            <a:bodyPr wrap="none" lIns="0" tIns="0" rIns="0" bIns="0" anchor="t" anchorCtr="0">
              <a:spAutoFit/>
            </a:bodyPr>
            <a:lstStyle/>
            <a:p>
              <a:pPr algn="ctr"/>
              <a:r>
                <a:rPr lang="en-US" sz="1050" b="1" dirty="0">
                  <a:solidFill>
                    <a:srgbClr val="FFFFFF"/>
                  </a:solidFill>
                  <a:latin typeface="+mn-lt"/>
                  <a:ea typeface="+mn-ea"/>
                  <a:cs typeface="+mn-cs"/>
                </a:rPr>
                <a:t>n</a:t>
              </a:r>
            </a:p>
          </p:txBody>
        </p:sp>
        <p:sp>
          <p:nvSpPr>
            <p:cNvPr id="82" name="TextBox 82"/>
            <p:cNvSpPr txBox="1"/>
            <p:nvPr/>
          </p:nvSpPr>
          <p:spPr>
            <a:xfrm>
              <a:off x="7469054" y="3235643"/>
              <a:ext cx="783858"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交叉开关 n²</a:t>
              </a:r>
            </a:p>
          </p:txBody>
        </p:sp>
        <p:sp>
          <p:nvSpPr>
            <p:cNvPr id="83" name="TextBox 83"/>
            <p:cNvSpPr txBox="1"/>
            <p:nvPr/>
          </p:nvSpPr>
          <p:spPr>
            <a:xfrm>
              <a:off x="8968386" y="3235643"/>
              <a:ext cx="709369"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Ω 网络级数</a:t>
              </a:r>
            </a:p>
          </p:txBody>
        </p:sp>
        <p:sp>
          <p:nvSpPr>
            <p:cNvPr id="84" name="TextBox 84"/>
            <p:cNvSpPr txBox="1"/>
            <p:nvPr/>
          </p:nvSpPr>
          <p:spPr>
            <a:xfrm>
              <a:off x="10414326" y="3235643"/>
              <a:ext cx="865488"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2×2 开关个数</a:t>
              </a:r>
            </a:p>
          </p:txBody>
        </p:sp>
        <p:sp>
          <p:nvSpPr>
            <p:cNvPr id="85" name="TextBox 85"/>
            <p:cNvSpPr txBox="1"/>
            <p:nvPr/>
          </p:nvSpPr>
          <p:spPr>
            <a:xfrm>
              <a:off x="6525148" y="3616643"/>
              <a:ext cx="92298" cy="205359"/>
            </a:xfrm>
            <a:prstGeom prst="rect">
              <a:avLst/>
            </a:prstGeom>
            <a:noFill/>
            <a:ln>
              <a:noFill/>
            </a:ln>
          </p:spPr>
          <p:txBody>
            <a:bodyPr wrap="none" lIns="0" tIns="0" rIns="0" bIns="0" anchor="t" anchorCtr="0">
              <a:spAutoFit/>
            </a:bodyPr>
            <a:lstStyle/>
            <a:p>
              <a:pPr algn="ctr"/>
              <a:r>
                <a:rPr lang="zh-CN" sz="1050" b="1" dirty="0">
                  <a:solidFill>
                    <a:srgbClr val="1F2937"/>
                  </a:solidFill>
                  <a:latin typeface="+mn-lt"/>
                  <a:ea typeface="+mn-ea"/>
                  <a:cs typeface="+mn-cs"/>
                </a:rPr>
                <a:t>8</a:t>
              </a:r>
            </a:p>
          </p:txBody>
        </p:sp>
        <p:sp>
          <p:nvSpPr>
            <p:cNvPr id="86" name="TextBox 86"/>
            <p:cNvSpPr txBox="1"/>
            <p:nvPr/>
          </p:nvSpPr>
          <p:spPr>
            <a:xfrm>
              <a:off x="8350720" y="3616643"/>
              <a:ext cx="166154" cy="205359"/>
            </a:xfrm>
            <a:prstGeom prst="rect">
              <a:avLst/>
            </a:prstGeom>
            <a:noFill/>
            <a:ln>
              <a:noFill/>
            </a:ln>
          </p:spPr>
          <p:txBody>
            <a:bodyPr wrap="none" lIns="0" tIns="0" rIns="0" bIns="0" anchor="t" anchorCtr="0">
              <a:spAutoFit/>
            </a:bodyPr>
            <a:lstStyle/>
            <a:p>
              <a:pPr algn="r"/>
              <a:r>
                <a:rPr lang="zh-CN" sz="1050" dirty="0">
                  <a:solidFill>
                    <a:srgbClr val="1F2937"/>
                  </a:solidFill>
                  <a:latin typeface="+mn-lt"/>
                  <a:ea typeface="+mn-ea"/>
                  <a:cs typeface="+mn-cs"/>
                </a:rPr>
                <a:t>64</a:t>
              </a:r>
            </a:p>
          </p:txBody>
        </p:sp>
        <p:sp>
          <p:nvSpPr>
            <p:cNvPr id="87" name="TextBox 87"/>
            <p:cNvSpPr txBox="1"/>
            <p:nvPr/>
          </p:nvSpPr>
          <p:spPr>
            <a:xfrm>
              <a:off x="9278864" y="3616643"/>
              <a:ext cx="88411" cy="205359"/>
            </a:xfrm>
            <a:prstGeom prst="rect">
              <a:avLst/>
            </a:prstGeom>
            <a:noFill/>
            <a:ln>
              <a:noFill/>
            </a:ln>
          </p:spPr>
          <p:txBody>
            <a:bodyPr wrap="none" lIns="0" tIns="0" rIns="0" bIns="0" anchor="t" anchorCtr="0">
              <a:spAutoFit/>
            </a:bodyPr>
            <a:lstStyle/>
            <a:p>
              <a:pPr algn="ctr"/>
              <a:r>
                <a:rPr lang="zh-CN" sz="1050" dirty="0">
                  <a:solidFill>
                    <a:srgbClr val="1F2937"/>
                  </a:solidFill>
                  <a:latin typeface="+mn-lt"/>
                  <a:ea typeface="+mn-ea"/>
                  <a:cs typeface="+mn-cs"/>
                </a:rPr>
                <a:t>3</a:t>
              </a:r>
            </a:p>
          </p:txBody>
        </p:sp>
        <p:sp>
          <p:nvSpPr>
            <p:cNvPr id="88" name="TextBox 88"/>
            <p:cNvSpPr txBox="1"/>
            <p:nvPr/>
          </p:nvSpPr>
          <p:spPr>
            <a:xfrm>
              <a:off x="11397767" y="3616643"/>
              <a:ext cx="166154" cy="205359"/>
            </a:xfrm>
            <a:prstGeom prst="rect">
              <a:avLst/>
            </a:prstGeom>
            <a:noFill/>
            <a:ln>
              <a:noFill/>
            </a:ln>
          </p:spPr>
          <p:txBody>
            <a:bodyPr wrap="none" lIns="0" tIns="0" rIns="0" bIns="0" anchor="t" anchorCtr="0">
              <a:spAutoFit/>
            </a:bodyPr>
            <a:lstStyle/>
            <a:p>
              <a:pPr algn="r"/>
              <a:r>
                <a:rPr lang="zh-CN" sz="1050" dirty="0">
                  <a:solidFill>
                    <a:srgbClr val="1F2937"/>
                  </a:solidFill>
                  <a:latin typeface="+mn-lt"/>
                  <a:ea typeface="+mn-ea"/>
                  <a:cs typeface="+mn-cs"/>
                </a:rPr>
                <a:t>12</a:t>
              </a:r>
            </a:p>
          </p:txBody>
        </p:sp>
        <p:sp>
          <p:nvSpPr>
            <p:cNvPr id="89" name="Rectangle 89"/>
            <p:cNvSpPr/>
            <p:nvPr/>
          </p:nvSpPr>
          <p:spPr>
            <a:xfrm>
              <a:off x="6032182" y="3875722"/>
              <a:ext cx="5626418" cy="9525"/>
            </a:xfrm>
            <a:prstGeom prst="rect">
              <a:avLst/>
            </a:prstGeom>
            <a:solidFill>
              <a:srgbClr val="D9DFEA"/>
            </a:solidFill>
            <a:ln>
              <a:noFill/>
            </a:ln>
          </p:spPr>
        </p:sp>
        <p:sp>
          <p:nvSpPr>
            <p:cNvPr id="90" name="Rectangle 90"/>
            <p:cNvSpPr/>
            <p:nvPr/>
          </p:nvSpPr>
          <p:spPr>
            <a:xfrm>
              <a:off x="6032182" y="3880485"/>
              <a:ext cx="5626418" cy="381000"/>
            </a:xfrm>
            <a:prstGeom prst="rect">
              <a:avLst/>
            </a:prstGeom>
            <a:solidFill>
              <a:srgbClr val="F4F6FB"/>
            </a:solidFill>
            <a:ln>
              <a:noFill/>
            </a:ln>
          </p:spPr>
        </p:sp>
        <p:sp>
          <p:nvSpPr>
            <p:cNvPr id="91" name="TextBox 91"/>
            <p:cNvSpPr txBox="1"/>
            <p:nvPr/>
          </p:nvSpPr>
          <p:spPr>
            <a:xfrm>
              <a:off x="6484333" y="3997643"/>
              <a:ext cx="173928" cy="205359"/>
            </a:xfrm>
            <a:prstGeom prst="rect">
              <a:avLst/>
            </a:prstGeom>
            <a:noFill/>
            <a:ln>
              <a:noFill/>
            </a:ln>
          </p:spPr>
          <p:txBody>
            <a:bodyPr wrap="none" lIns="0" tIns="0" rIns="0" bIns="0" anchor="t" anchorCtr="0">
              <a:spAutoFit/>
            </a:bodyPr>
            <a:lstStyle/>
            <a:p>
              <a:pPr algn="ctr"/>
              <a:r>
                <a:rPr lang="zh-CN" sz="1050" b="1" dirty="0">
                  <a:solidFill>
                    <a:srgbClr val="1F2937"/>
                  </a:solidFill>
                  <a:latin typeface="+mn-lt"/>
                  <a:ea typeface="+mn-ea"/>
                  <a:cs typeface="+mn-cs"/>
                </a:rPr>
                <a:t>16</a:t>
              </a:r>
            </a:p>
          </p:txBody>
        </p:sp>
        <p:sp>
          <p:nvSpPr>
            <p:cNvPr id="92" name="TextBox 92"/>
            <p:cNvSpPr txBox="1"/>
            <p:nvPr/>
          </p:nvSpPr>
          <p:spPr>
            <a:xfrm>
              <a:off x="8272977" y="3997643"/>
              <a:ext cx="243897" cy="205359"/>
            </a:xfrm>
            <a:prstGeom prst="rect">
              <a:avLst/>
            </a:prstGeom>
            <a:noFill/>
            <a:ln>
              <a:noFill/>
            </a:ln>
          </p:spPr>
          <p:txBody>
            <a:bodyPr wrap="none" lIns="0" tIns="0" rIns="0" bIns="0" anchor="t" anchorCtr="0">
              <a:spAutoFit/>
            </a:bodyPr>
            <a:lstStyle/>
            <a:p>
              <a:pPr algn="r"/>
              <a:r>
                <a:rPr lang="zh-CN" sz="1050" dirty="0">
                  <a:solidFill>
                    <a:srgbClr val="1F2937"/>
                  </a:solidFill>
                  <a:latin typeface="+mn-lt"/>
                  <a:ea typeface="+mn-ea"/>
                  <a:cs typeface="+mn-cs"/>
                </a:rPr>
                <a:t>256</a:t>
              </a:r>
            </a:p>
          </p:txBody>
        </p:sp>
        <p:sp>
          <p:nvSpPr>
            <p:cNvPr id="93" name="TextBox 93"/>
            <p:cNvSpPr txBox="1"/>
            <p:nvPr/>
          </p:nvSpPr>
          <p:spPr>
            <a:xfrm>
              <a:off x="9278864" y="3997643"/>
              <a:ext cx="88411" cy="205359"/>
            </a:xfrm>
            <a:prstGeom prst="rect">
              <a:avLst/>
            </a:prstGeom>
            <a:noFill/>
            <a:ln>
              <a:noFill/>
            </a:ln>
          </p:spPr>
          <p:txBody>
            <a:bodyPr wrap="none" lIns="0" tIns="0" rIns="0" bIns="0" anchor="t" anchorCtr="0">
              <a:spAutoFit/>
            </a:bodyPr>
            <a:lstStyle/>
            <a:p>
              <a:pPr algn="ctr"/>
              <a:r>
                <a:rPr lang="zh-CN" sz="1050" dirty="0">
                  <a:solidFill>
                    <a:srgbClr val="1F2937"/>
                  </a:solidFill>
                  <a:latin typeface="+mn-lt"/>
                  <a:ea typeface="+mn-ea"/>
                  <a:cs typeface="+mn-cs"/>
                </a:rPr>
                <a:t>4</a:t>
              </a:r>
            </a:p>
          </p:txBody>
        </p:sp>
        <p:sp>
          <p:nvSpPr>
            <p:cNvPr id="94" name="TextBox 94"/>
            <p:cNvSpPr txBox="1"/>
            <p:nvPr/>
          </p:nvSpPr>
          <p:spPr>
            <a:xfrm>
              <a:off x="11397767" y="3997643"/>
              <a:ext cx="166154" cy="205359"/>
            </a:xfrm>
            <a:prstGeom prst="rect">
              <a:avLst/>
            </a:prstGeom>
            <a:noFill/>
            <a:ln>
              <a:noFill/>
            </a:ln>
          </p:spPr>
          <p:txBody>
            <a:bodyPr wrap="none" lIns="0" tIns="0" rIns="0" bIns="0" anchor="t" anchorCtr="0">
              <a:spAutoFit/>
            </a:bodyPr>
            <a:lstStyle/>
            <a:p>
              <a:pPr algn="r"/>
              <a:r>
                <a:rPr lang="zh-CN" sz="1050" dirty="0">
                  <a:solidFill>
                    <a:srgbClr val="1F2937"/>
                  </a:solidFill>
                  <a:latin typeface="+mn-lt"/>
                  <a:ea typeface="+mn-ea"/>
                  <a:cs typeface="+mn-cs"/>
                </a:rPr>
                <a:t>32</a:t>
              </a:r>
            </a:p>
          </p:txBody>
        </p:sp>
        <p:sp>
          <p:nvSpPr>
            <p:cNvPr id="95" name="Rectangle 95"/>
            <p:cNvSpPr/>
            <p:nvPr/>
          </p:nvSpPr>
          <p:spPr>
            <a:xfrm>
              <a:off x="6032182" y="4257675"/>
              <a:ext cx="5626418" cy="9525"/>
            </a:xfrm>
            <a:prstGeom prst="rect">
              <a:avLst/>
            </a:prstGeom>
            <a:solidFill>
              <a:srgbClr val="D9DFEA"/>
            </a:solidFill>
            <a:ln>
              <a:noFill/>
            </a:ln>
          </p:spPr>
        </p:sp>
        <p:sp>
          <p:nvSpPr>
            <p:cNvPr id="96" name="TextBox 96"/>
            <p:cNvSpPr txBox="1"/>
            <p:nvPr/>
          </p:nvSpPr>
          <p:spPr>
            <a:xfrm>
              <a:off x="6484333" y="4379595"/>
              <a:ext cx="173928" cy="205359"/>
            </a:xfrm>
            <a:prstGeom prst="rect">
              <a:avLst/>
            </a:prstGeom>
            <a:noFill/>
            <a:ln>
              <a:noFill/>
            </a:ln>
          </p:spPr>
          <p:txBody>
            <a:bodyPr wrap="none" lIns="0" tIns="0" rIns="0" bIns="0" anchor="t" anchorCtr="0">
              <a:spAutoFit/>
            </a:bodyPr>
            <a:lstStyle/>
            <a:p>
              <a:pPr algn="ctr"/>
              <a:r>
                <a:rPr lang="zh-CN" sz="1050" b="1" dirty="0">
                  <a:solidFill>
                    <a:srgbClr val="1F2937"/>
                  </a:solidFill>
                  <a:latin typeface="+mn-lt"/>
                  <a:ea typeface="+mn-ea"/>
                  <a:cs typeface="+mn-cs"/>
                </a:rPr>
                <a:t>64</a:t>
              </a:r>
            </a:p>
          </p:txBody>
        </p:sp>
        <p:sp>
          <p:nvSpPr>
            <p:cNvPr id="97" name="TextBox 97"/>
            <p:cNvSpPr txBox="1"/>
            <p:nvPr/>
          </p:nvSpPr>
          <p:spPr>
            <a:xfrm>
              <a:off x="8195234" y="4379595"/>
              <a:ext cx="321640" cy="205359"/>
            </a:xfrm>
            <a:prstGeom prst="rect">
              <a:avLst/>
            </a:prstGeom>
            <a:noFill/>
            <a:ln>
              <a:noFill/>
            </a:ln>
          </p:spPr>
          <p:txBody>
            <a:bodyPr wrap="none" lIns="0" tIns="0" rIns="0" bIns="0" anchor="t" anchorCtr="0">
              <a:spAutoFit/>
            </a:bodyPr>
            <a:lstStyle/>
            <a:p>
              <a:pPr algn="r"/>
              <a:r>
                <a:rPr lang="zh-CN" sz="1050" dirty="0">
                  <a:solidFill>
                    <a:srgbClr val="1F2937"/>
                  </a:solidFill>
                  <a:latin typeface="+mn-lt"/>
                  <a:ea typeface="+mn-ea"/>
                  <a:cs typeface="+mn-cs"/>
                </a:rPr>
                <a:t>4096</a:t>
              </a:r>
            </a:p>
          </p:txBody>
        </p:sp>
        <p:sp>
          <p:nvSpPr>
            <p:cNvPr id="98" name="TextBox 98"/>
            <p:cNvSpPr txBox="1"/>
            <p:nvPr/>
          </p:nvSpPr>
          <p:spPr>
            <a:xfrm>
              <a:off x="9278864" y="4379595"/>
              <a:ext cx="88411" cy="205359"/>
            </a:xfrm>
            <a:prstGeom prst="rect">
              <a:avLst/>
            </a:prstGeom>
            <a:noFill/>
            <a:ln>
              <a:noFill/>
            </a:ln>
          </p:spPr>
          <p:txBody>
            <a:bodyPr wrap="none" lIns="0" tIns="0" rIns="0" bIns="0" anchor="t" anchorCtr="0">
              <a:spAutoFit/>
            </a:bodyPr>
            <a:lstStyle/>
            <a:p>
              <a:pPr algn="ctr"/>
              <a:r>
                <a:rPr lang="zh-CN" sz="1050" dirty="0">
                  <a:solidFill>
                    <a:srgbClr val="1F2937"/>
                  </a:solidFill>
                  <a:latin typeface="+mn-lt"/>
                  <a:ea typeface="+mn-ea"/>
                  <a:cs typeface="+mn-cs"/>
                </a:rPr>
                <a:t>6</a:t>
              </a:r>
            </a:p>
          </p:txBody>
        </p:sp>
        <p:sp>
          <p:nvSpPr>
            <p:cNvPr id="99" name="TextBox 99"/>
            <p:cNvSpPr txBox="1"/>
            <p:nvPr/>
          </p:nvSpPr>
          <p:spPr>
            <a:xfrm>
              <a:off x="11320024" y="4379595"/>
              <a:ext cx="243897" cy="205359"/>
            </a:xfrm>
            <a:prstGeom prst="rect">
              <a:avLst/>
            </a:prstGeom>
            <a:noFill/>
            <a:ln>
              <a:noFill/>
            </a:ln>
          </p:spPr>
          <p:txBody>
            <a:bodyPr wrap="none" lIns="0" tIns="0" rIns="0" bIns="0" anchor="t" anchorCtr="0">
              <a:spAutoFit/>
            </a:bodyPr>
            <a:lstStyle/>
            <a:p>
              <a:pPr algn="r"/>
              <a:r>
                <a:rPr lang="zh-CN" sz="1050" dirty="0">
                  <a:solidFill>
                    <a:srgbClr val="1F2937"/>
                  </a:solidFill>
                  <a:latin typeface="+mn-lt"/>
                  <a:ea typeface="+mn-ea"/>
                  <a:cs typeface="+mn-cs"/>
                </a:rPr>
                <a:t>192</a:t>
              </a:r>
            </a:p>
          </p:txBody>
        </p:sp>
        <p:sp>
          <p:nvSpPr>
            <p:cNvPr id="100" name="Rectangle 100"/>
            <p:cNvSpPr/>
            <p:nvPr/>
          </p:nvSpPr>
          <p:spPr>
            <a:xfrm>
              <a:off x="6032182" y="4638675"/>
              <a:ext cx="5626418" cy="9525"/>
            </a:xfrm>
            <a:prstGeom prst="rect">
              <a:avLst/>
            </a:prstGeom>
            <a:solidFill>
              <a:srgbClr val="D9DFEA"/>
            </a:solidFill>
            <a:ln>
              <a:noFill/>
            </a:ln>
          </p:spPr>
        </p:sp>
        <p:sp>
          <p:nvSpPr>
            <p:cNvPr id="101" name="Rectangle 101"/>
            <p:cNvSpPr/>
            <p:nvPr/>
          </p:nvSpPr>
          <p:spPr>
            <a:xfrm>
              <a:off x="6032182" y="4643438"/>
              <a:ext cx="5626418" cy="381000"/>
            </a:xfrm>
            <a:prstGeom prst="rect">
              <a:avLst/>
            </a:prstGeom>
            <a:solidFill>
              <a:srgbClr val="F4F6FB"/>
            </a:solidFill>
            <a:ln>
              <a:noFill/>
            </a:ln>
          </p:spPr>
        </p:sp>
        <p:sp>
          <p:nvSpPr>
            <p:cNvPr id="102" name="TextBox 102"/>
            <p:cNvSpPr txBox="1"/>
            <p:nvPr/>
          </p:nvSpPr>
          <p:spPr>
            <a:xfrm>
              <a:off x="6402703" y="4760595"/>
              <a:ext cx="337189" cy="205359"/>
            </a:xfrm>
            <a:prstGeom prst="rect">
              <a:avLst/>
            </a:prstGeom>
            <a:noFill/>
            <a:ln>
              <a:noFill/>
            </a:ln>
          </p:spPr>
          <p:txBody>
            <a:bodyPr wrap="none" lIns="0" tIns="0" rIns="0" bIns="0" anchor="t" anchorCtr="0">
              <a:spAutoFit/>
            </a:bodyPr>
            <a:lstStyle/>
            <a:p>
              <a:pPr algn="ctr"/>
              <a:r>
                <a:rPr lang="zh-CN" sz="1050" b="1" dirty="0">
                  <a:solidFill>
                    <a:srgbClr val="1F2937"/>
                  </a:solidFill>
                  <a:latin typeface="+mn-lt"/>
                  <a:ea typeface="+mn-ea"/>
                  <a:cs typeface="+mn-cs"/>
                </a:rPr>
                <a:t>1024</a:t>
              </a:r>
            </a:p>
          </p:txBody>
        </p:sp>
        <p:sp>
          <p:nvSpPr>
            <p:cNvPr id="103" name="TextBox 103"/>
            <p:cNvSpPr txBox="1"/>
            <p:nvPr/>
          </p:nvSpPr>
          <p:spPr>
            <a:xfrm>
              <a:off x="7962005" y="4760595"/>
              <a:ext cx="554869" cy="205359"/>
            </a:xfrm>
            <a:prstGeom prst="rect">
              <a:avLst/>
            </a:prstGeom>
            <a:noFill/>
            <a:ln>
              <a:noFill/>
            </a:ln>
          </p:spPr>
          <p:txBody>
            <a:bodyPr wrap="none" lIns="0" tIns="0" rIns="0" bIns="0" anchor="t" anchorCtr="0">
              <a:spAutoFit/>
            </a:bodyPr>
            <a:lstStyle/>
            <a:p>
              <a:pPr algn="r"/>
              <a:r>
                <a:rPr lang="zh-CN" sz="1050" dirty="0">
                  <a:solidFill>
                    <a:srgbClr val="1F2937"/>
                  </a:solidFill>
                  <a:latin typeface="+mn-lt"/>
                  <a:ea typeface="+mn-ea"/>
                  <a:cs typeface="+mn-cs"/>
                </a:rPr>
                <a:t>1048576</a:t>
              </a:r>
            </a:p>
          </p:txBody>
        </p:sp>
        <p:sp>
          <p:nvSpPr>
            <p:cNvPr id="104" name="TextBox 104"/>
            <p:cNvSpPr txBox="1"/>
            <p:nvPr/>
          </p:nvSpPr>
          <p:spPr>
            <a:xfrm>
              <a:off x="9239993" y="4760595"/>
              <a:ext cx="166154" cy="205359"/>
            </a:xfrm>
            <a:prstGeom prst="rect">
              <a:avLst/>
            </a:prstGeom>
            <a:noFill/>
            <a:ln>
              <a:noFill/>
            </a:ln>
          </p:spPr>
          <p:txBody>
            <a:bodyPr wrap="none" lIns="0" tIns="0" rIns="0" bIns="0" anchor="t" anchorCtr="0">
              <a:spAutoFit/>
            </a:bodyPr>
            <a:lstStyle/>
            <a:p>
              <a:pPr algn="ctr"/>
              <a:r>
                <a:rPr lang="zh-CN" sz="1050" dirty="0">
                  <a:solidFill>
                    <a:srgbClr val="1F2937"/>
                  </a:solidFill>
                  <a:latin typeface="+mn-lt"/>
                  <a:ea typeface="+mn-ea"/>
                  <a:cs typeface="+mn-cs"/>
                </a:rPr>
                <a:t>10</a:t>
              </a:r>
            </a:p>
          </p:txBody>
        </p:sp>
        <p:sp>
          <p:nvSpPr>
            <p:cNvPr id="105" name="Rectangle 105"/>
            <p:cNvSpPr/>
            <p:nvPr/>
          </p:nvSpPr>
          <p:spPr>
            <a:xfrm>
              <a:off x="10044112" y="4652962"/>
              <a:ext cx="1604962" cy="361950"/>
            </a:xfrm>
            <a:prstGeom prst="rect">
              <a:avLst/>
            </a:prstGeom>
            <a:solidFill>
              <a:srgbClr val="E3F5F1"/>
            </a:solidFill>
            <a:ln>
              <a:noFill/>
            </a:ln>
          </p:spPr>
        </p:sp>
        <p:sp>
          <p:nvSpPr>
            <p:cNvPr id="106" name="TextBox 106"/>
            <p:cNvSpPr txBox="1"/>
            <p:nvPr/>
          </p:nvSpPr>
          <p:spPr>
            <a:xfrm>
              <a:off x="11242281" y="4760595"/>
              <a:ext cx="321640" cy="205359"/>
            </a:xfrm>
            <a:prstGeom prst="rect">
              <a:avLst/>
            </a:prstGeom>
            <a:noFill/>
            <a:ln>
              <a:noFill/>
            </a:ln>
          </p:spPr>
          <p:txBody>
            <a:bodyPr wrap="none" lIns="0" tIns="0" rIns="0" bIns="0" anchor="t" anchorCtr="0">
              <a:spAutoFit/>
            </a:bodyPr>
            <a:lstStyle/>
            <a:p>
              <a:pPr algn="r"/>
              <a:r>
                <a:rPr lang="zh-CN" sz="1050" dirty="0">
                  <a:solidFill>
                    <a:srgbClr val="1F2937"/>
                  </a:solidFill>
                  <a:latin typeface="+mn-lt"/>
                  <a:ea typeface="+mn-ea"/>
                  <a:cs typeface="+mn-cs"/>
                </a:rPr>
                <a:t>5120</a:t>
              </a:r>
            </a:p>
          </p:txBody>
        </p:sp>
        <p:sp>
          <p:nvSpPr>
            <p:cNvPr id="107" name="Rectangle 107"/>
            <p:cNvSpPr/>
            <p:nvPr/>
          </p:nvSpPr>
          <p:spPr>
            <a:xfrm>
              <a:off x="6032182" y="3117532"/>
              <a:ext cx="5626418" cy="1906905"/>
            </a:xfrm>
            <a:prstGeom prst="rect">
              <a:avLst/>
            </a:prstGeom>
            <a:noFill/>
            <a:ln w="14288">
              <a:solidFill>
                <a:srgbClr val="D9DFEA"/>
              </a:solidFill>
            </a:ln>
          </p:spPr>
        </p:sp>
        <p:sp>
          <p:nvSpPr>
            <p:cNvPr id="108" name="Rectangle 108"/>
            <p:cNvSpPr/>
            <p:nvPr/>
          </p:nvSpPr>
          <p:spPr>
            <a:xfrm>
              <a:off x="7106602" y="3117532"/>
              <a:ext cx="9525" cy="1906905"/>
            </a:xfrm>
            <a:prstGeom prst="rect">
              <a:avLst/>
            </a:prstGeom>
            <a:solidFill>
              <a:srgbClr val="D9DFEA"/>
            </a:solidFill>
            <a:ln>
              <a:noFill/>
            </a:ln>
          </p:spPr>
        </p:sp>
        <p:sp>
          <p:nvSpPr>
            <p:cNvPr id="109" name="Rectangle 109"/>
            <p:cNvSpPr/>
            <p:nvPr/>
          </p:nvSpPr>
          <p:spPr>
            <a:xfrm>
              <a:off x="8606790" y="3117532"/>
              <a:ext cx="9525" cy="1906905"/>
            </a:xfrm>
            <a:prstGeom prst="rect">
              <a:avLst/>
            </a:prstGeom>
            <a:solidFill>
              <a:srgbClr val="D9DFEA"/>
            </a:solidFill>
            <a:ln>
              <a:noFill/>
            </a:ln>
          </p:spPr>
        </p:sp>
        <p:sp>
          <p:nvSpPr>
            <p:cNvPr id="110" name="Rectangle 110"/>
            <p:cNvSpPr/>
            <p:nvPr/>
          </p:nvSpPr>
          <p:spPr>
            <a:xfrm>
              <a:off x="10029825" y="3117532"/>
              <a:ext cx="9525" cy="1906905"/>
            </a:xfrm>
            <a:prstGeom prst="rect">
              <a:avLst/>
            </a:prstGeom>
            <a:solidFill>
              <a:srgbClr val="D9DFEA"/>
            </a:solidFill>
            <a:ln>
              <a:noFill/>
            </a:ln>
          </p:spPr>
        </p:sp>
      </p:grpSp>
      <p:grpSp>
        <p:nvGrpSpPr>
          <p:cNvPr id="117" name="c2-card-3"/>
          <p:cNvGrpSpPr/>
          <p:nvPr/>
        </p:nvGrpSpPr>
        <p:grpSpPr>
          <a:xfrm>
            <a:off x="6032182" y="5189220"/>
            <a:ext cx="5626418" cy="1143952"/>
            <a:chOff x="6032182" y="5189220"/>
            <a:chExt cx="5626418" cy="1143952"/>
          </a:xfrm>
        </p:grpSpPr>
        <p:sp>
          <p:nvSpPr>
            <p:cNvPr id="112" name="Rectangle 112"/>
            <p:cNvSpPr/>
            <p:nvPr/>
          </p:nvSpPr>
          <p:spPr>
            <a:xfrm>
              <a:off x="6032182" y="5189220"/>
              <a:ext cx="5626418" cy="1143952"/>
            </a:xfrm>
            <a:prstGeom prst="roundRect">
              <a:avLst>
                <a:gd name="adj" fmla="val 11657"/>
              </a:avLst>
            </a:prstGeom>
            <a:solidFill>
              <a:srgbClr val="FFFFFF"/>
            </a:solidFill>
            <a:ln w="14288">
              <a:solidFill>
                <a:srgbClr val="D9DFEA"/>
              </a:solidFill>
            </a:ln>
          </p:spPr>
        </p:sp>
        <p:sp>
          <p:nvSpPr>
            <p:cNvPr id="113" name="Rectangle 113"/>
            <p:cNvSpPr/>
            <p:nvPr/>
          </p:nvSpPr>
          <p:spPr>
            <a:xfrm>
              <a:off x="6041708" y="5322570"/>
              <a:ext cx="47625" cy="877252"/>
            </a:xfrm>
            <a:prstGeom prst="roundRect">
              <a:avLst>
                <a:gd name="adj" fmla="val 50000"/>
              </a:avLst>
            </a:prstGeom>
            <a:solidFill>
              <a:srgbClr val="5B6475"/>
            </a:solidFill>
            <a:ln>
              <a:noFill/>
            </a:ln>
          </p:spPr>
        </p:sp>
        <p:sp>
          <p:nvSpPr>
            <p:cNvPr id="114" name="Rectangle 114"/>
            <p:cNvSpPr/>
            <p:nvPr/>
          </p:nvSpPr>
          <p:spPr>
            <a:xfrm>
              <a:off x="6251258" y="5370195"/>
              <a:ext cx="458152" cy="238125"/>
            </a:xfrm>
            <a:prstGeom prst="roundRect">
              <a:avLst>
                <a:gd name="adj" fmla="val 50000"/>
              </a:avLst>
            </a:prstGeom>
            <a:solidFill>
              <a:srgbClr val="F4F6FB"/>
            </a:solidFill>
            <a:ln>
              <a:noFill/>
            </a:ln>
          </p:spPr>
        </p:sp>
        <p:sp>
          <p:nvSpPr>
            <p:cNvPr id="115" name="TextBox 115"/>
            <p:cNvSpPr txBox="1"/>
            <p:nvPr/>
          </p:nvSpPr>
          <p:spPr>
            <a:xfrm>
              <a:off x="6342977" y="5403056"/>
              <a:ext cx="273761" cy="190690"/>
            </a:xfrm>
            <a:prstGeom prst="rect">
              <a:avLst/>
            </a:prstGeom>
            <a:noFill/>
            <a:ln>
              <a:noFill/>
            </a:ln>
          </p:spPr>
          <p:txBody>
            <a:bodyPr wrap="none" lIns="0" tIns="0" rIns="0" bIns="0" anchor="t" anchorCtr="0">
              <a:spAutoFit/>
            </a:bodyPr>
            <a:lstStyle/>
            <a:p>
              <a:pPr algn="ctr"/>
              <a:r>
                <a:rPr lang="zh-CN" sz="980" b="1" dirty="0">
                  <a:solidFill>
                    <a:srgbClr val="5B6475"/>
                  </a:solidFill>
                  <a:latin typeface="+mn-lt"/>
                  <a:ea typeface="+mn-ea"/>
                  <a:cs typeface="+mn-cs"/>
                </a:rPr>
                <a:t>更正</a:t>
              </a:r>
            </a:p>
          </p:txBody>
        </p:sp>
        <p:sp>
          <p:nvSpPr>
            <p:cNvPr id="116" name="TextBox 116"/>
            <p:cNvSpPr txBox="1"/>
            <p:nvPr/>
          </p:nvSpPr>
          <p:spPr>
            <a:xfrm>
              <a:off x="6244780" y="5710714"/>
              <a:ext cx="4930394" cy="492252"/>
            </a:xfrm>
            <a:prstGeom prst="rect">
              <a:avLst/>
            </a:prstGeom>
            <a:noFill/>
            <a:ln>
              <a:noFill/>
            </a:ln>
          </p:spPr>
          <p:txBody>
            <a:bodyPr wrap="none" lIns="0" tIns="0" rIns="0" bIns="0" anchor="t" anchorCtr="0">
              <a:spAutoFit/>
            </a:bodyPr>
            <a:lstStyle/>
            <a:p>
              <a:pPr algn="l">
                <a:lnSpc>
                  <a:spcPts val="1912"/>
                </a:lnSpc>
              </a:pPr>
              <a:r>
                <a:rPr lang="zh-CN" sz="1280" dirty="0">
                  <a:solidFill>
                    <a:srgbClr val="1F2937"/>
                  </a:solidFill>
                  <a:latin typeface="+mn-lt"/>
                  <a:ea typeface="+mn-ea"/>
                  <a:cs typeface="+mn-cs"/>
                </a:rPr>
                <a:t>原课件写“需要开关单元个数 n·log n”。用 2×2 开关时每级 n/2 个，</a:t>
              </a:r>
              <a:br/>
              <a:r>
                <a:rPr lang="zh-CN" sz="1280" dirty="0">
                  <a:solidFill>
                    <a:srgbClr val="1F2937"/>
                  </a:solidFill>
                  <a:latin typeface="+mn-lt"/>
                  <a:ea typeface="+mn-ea"/>
                  <a:cs typeface="+mn-cs"/>
                </a:rPr>
                <a:t>共 (n/2)·log₂n 个；n·log n 多算了一倍，量级 O(n log n) 没错。</a:t>
              </a:r>
            </a:p>
          </p:txBody>
        </p:sp>
      </p:grpSp>
      <p:grpSp>
        <p:nvGrpSpPr>
          <p:cNvPr id="120" name="footer"/>
          <p:cNvGrpSpPr/>
          <p:nvPr/>
        </p:nvGrpSpPr>
        <p:grpSpPr>
          <a:xfrm>
            <a:off x="528447" y="6581299"/>
            <a:ext cx="11135106" cy="190690"/>
            <a:chOff x="528447" y="6581299"/>
            <a:chExt cx="11135106" cy="190690"/>
          </a:xfrm>
        </p:grpSpPr>
        <p:sp>
          <p:nvSpPr>
            <p:cNvPr id="118" name="TextBox 118"/>
            <p:cNvSpPr txBox="1"/>
            <p:nvPr/>
          </p:nvSpPr>
          <p:spPr>
            <a:xfrm>
              <a:off x="528447" y="6581299"/>
              <a:ext cx="2120748"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并行与分布式计算 · 第7章 体系结构</a:t>
              </a:r>
            </a:p>
          </p:txBody>
        </p:sp>
        <p:sp>
          <p:nvSpPr>
            <p:cNvPr id="119" name="TextBox 119"/>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49</a:t>
              </a:r>
            </a:p>
          </p:txBody>
        </p:sp>
      </p:grpSp>
    </p:spTree>
  </p:cSld>
  <p:clrMapOvr>
    <a:masterClrMapping/>
  </p:clrMapOvr>
  <p:transition xmlns:p14="http://schemas.microsoft.com/office/powerpoint/2010/main" p14:dur="400">
    <p:fade/>
  </p:transition>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5498843" cy="909257"/>
            <a:chOff x="520446" y="342900"/>
            <a:chExt cx="5498843" cy="909257"/>
          </a:xfrm>
        </p:grpSpPr>
        <p:sp>
          <p:nvSpPr>
            <p:cNvPr id="2" name="Rectangle 2"/>
            <p:cNvSpPr/>
            <p:nvPr/>
          </p:nvSpPr>
          <p:spPr>
            <a:xfrm>
              <a:off x="533400" y="342900"/>
              <a:ext cx="1987868" cy="266700"/>
            </a:xfrm>
            <a:prstGeom prst="roundRect">
              <a:avLst>
                <a:gd name="adj" fmla="val 50000"/>
              </a:avLst>
            </a:prstGeom>
            <a:solidFill>
              <a:srgbClr val="E7EDF3"/>
            </a:solidFill>
            <a:ln>
              <a:noFill/>
            </a:ln>
          </p:spPr>
        </p:sp>
        <p:sp>
          <p:nvSpPr>
            <p:cNvPr id="3" name="TextBox 3"/>
            <p:cNvSpPr txBox="1"/>
            <p:nvPr/>
          </p:nvSpPr>
          <p:spPr>
            <a:xfrm>
              <a:off x="608957" y="407194"/>
              <a:ext cx="1835800"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第7章 体系结构 · 互连结构</a:t>
              </a:r>
            </a:p>
          </p:txBody>
        </p:sp>
        <p:sp>
          <p:nvSpPr>
            <p:cNvPr id="4" name="TextBox 4"/>
            <p:cNvSpPr txBox="1"/>
            <p:nvPr/>
          </p:nvSpPr>
          <p:spPr>
            <a:xfrm>
              <a:off x="520446" y="753428"/>
              <a:ext cx="5498843"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Ω 网络：按目的地址逐位选上下出口</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83" name="c1-graph-1"/>
          <p:cNvGrpSpPr/>
          <p:nvPr/>
        </p:nvGrpSpPr>
        <p:grpSpPr>
          <a:xfrm>
            <a:off x="667702" y="1814512"/>
            <a:ext cx="6223636" cy="3074670"/>
            <a:chOff x="667702" y="1814512"/>
            <a:chExt cx="6223636" cy="3074670"/>
          </a:xfrm>
        </p:grpSpPr>
        <p:sp>
          <p:nvSpPr>
            <p:cNvPr id="7" name="Freeform 7"/>
            <p:cNvSpPr/>
            <p:nvPr/>
          </p:nvSpPr>
          <p:spPr>
            <a:xfrm>
              <a:off x="1048702" y="1958340"/>
              <a:ext cx="1238250" cy="9525"/>
            </a:xfrm>
            <a:custGeom>
              <a:avLst/>
              <a:gdLst/>
              <a:ahLst/>
              <a:cxnLst/>
              <a:rect l="l" t="t" r="r" b="b"/>
              <a:pathLst>
                <a:path w="1238250" h="9525">
                  <a:moveTo>
                    <a:pt x="0" y="0"/>
                  </a:moveTo>
                  <a:lnTo>
                    <a:pt x="1238250" y="0"/>
                  </a:lnTo>
                </a:path>
              </a:pathLst>
            </a:custGeom>
            <a:noFill/>
            <a:ln w="17145">
              <a:solidFill>
                <a:srgbClr val="1F2937"/>
              </a:solidFill>
            </a:ln>
          </p:spPr>
        </p:sp>
        <p:sp>
          <p:nvSpPr>
            <p:cNvPr id="8" name="Freeform 8"/>
            <p:cNvSpPr/>
            <p:nvPr/>
          </p:nvSpPr>
          <p:spPr>
            <a:xfrm>
              <a:off x="1048702" y="2407920"/>
              <a:ext cx="1238250" cy="336233"/>
            </a:xfrm>
            <a:custGeom>
              <a:avLst/>
              <a:gdLst/>
              <a:ahLst/>
              <a:cxnLst/>
              <a:rect l="l" t="t" r="r" b="b"/>
              <a:pathLst>
                <a:path w="1238250" h="336233">
                  <a:moveTo>
                    <a:pt x="0" y="0"/>
                  </a:moveTo>
                  <a:lnTo>
                    <a:pt x="1238250" y="336233"/>
                  </a:lnTo>
                </a:path>
              </a:pathLst>
            </a:custGeom>
            <a:noFill/>
            <a:ln w="17145">
              <a:solidFill>
                <a:srgbClr val="1F2937"/>
              </a:solidFill>
            </a:ln>
          </p:spPr>
        </p:sp>
        <p:sp>
          <p:nvSpPr>
            <p:cNvPr id="9" name="Freeform 9"/>
            <p:cNvSpPr/>
            <p:nvPr/>
          </p:nvSpPr>
          <p:spPr>
            <a:xfrm>
              <a:off x="1048702" y="2858452"/>
              <a:ext cx="1238250" cy="671512"/>
            </a:xfrm>
            <a:custGeom>
              <a:avLst/>
              <a:gdLst/>
              <a:ahLst/>
              <a:cxnLst/>
              <a:rect l="l" t="t" r="r" b="b"/>
              <a:pathLst>
                <a:path w="1238250" h="671512">
                  <a:moveTo>
                    <a:pt x="0" y="0"/>
                  </a:moveTo>
                  <a:lnTo>
                    <a:pt x="1238250" y="671512"/>
                  </a:lnTo>
                </a:path>
              </a:pathLst>
            </a:custGeom>
            <a:noFill/>
            <a:ln w="17145">
              <a:solidFill>
                <a:srgbClr val="F26B3A"/>
              </a:solidFill>
            </a:ln>
          </p:spPr>
        </p:sp>
        <p:sp>
          <p:nvSpPr>
            <p:cNvPr id="10" name="Freeform 10"/>
            <p:cNvSpPr/>
            <p:nvPr/>
          </p:nvSpPr>
          <p:spPr>
            <a:xfrm>
              <a:off x="986790" y="3257550"/>
              <a:ext cx="1300162" cy="1058228"/>
            </a:xfrm>
            <a:custGeom>
              <a:avLst/>
              <a:gdLst/>
              <a:ahLst/>
              <a:cxnLst/>
              <a:rect l="l" t="t" r="r" b="b"/>
              <a:pathLst>
                <a:path w="1300162" h="1058228">
                  <a:moveTo>
                    <a:pt x="0" y="0"/>
                  </a:moveTo>
                  <a:lnTo>
                    <a:pt x="1300162" y="1058228"/>
                  </a:lnTo>
                </a:path>
              </a:pathLst>
            </a:custGeom>
            <a:noFill/>
            <a:ln w="17145">
              <a:solidFill>
                <a:srgbClr val="1F2937"/>
              </a:solidFill>
            </a:ln>
          </p:spPr>
        </p:sp>
        <p:sp>
          <p:nvSpPr>
            <p:cNvPr id="11" name="Freeform 11"/>
            <p:cNvSpPr/>
            <p:nvPr/>
          </p:nvSpPr>
          <p:spPr>
            <a:xfrm>
              <a:off x="986790" y="2387918"/>
              <a:ext cx="1300162" cy="1058228"/>
            </a:xfrm>
            <a:custGeom>
              <a:avLst/>
              <a:gdLst/>
              <a:ahLst/>
              <a:cxnLst/>
              <a:rect l="l" t="t" r="r" b="b"/>
              <a:pathLst>
                <a:path w="1300162" h="1058228">
                  <a:moveTo>
                    <a:pt x="0" y="1058228"/>
                  </a:moveTo>
                  <a:lnTo>
                    <a:pt x="1300162" y="0"/>
                  </a:lnTo>
                </a:path>
              </a:pathLst>
            </a:custGeom>
            <a:noFill/>
            <a:ln w="17145">
              <a:solidFill>
                <a:srgbClr val="1F2937"/>
              </a:solidFill>
            </a:ln>
          </p:spPr>
        </p:sp>
        <p:sp>
          <p:nvSpPr>
            <p:cNvPr id="12" name="Freeform 12"/>
            <p:cNvSpPr/>
            <p:nvPr/>
          </p:nvSpPr>
          <p:spPr>
            <a:xfrm>
              <a:off x="1048702" y="3173730"/>
              <a:ext cx="1238250" cy="671512"/>
            </a:xfrm>
            <a:custGeom>
              <a:avLst/>
              <a:gdLst/>
              <a:ahLst/>
              <a:cxnLst/>
              <a:rect l="l" t="t" r="r" b="b"/>
              <a:pathLst>
                <a:path w="1238250" h="671512">
                  <a:moveTo>
                    <a:pt x="0" y="671512"/>
                  </a:moveTo>
                  <a:lnTo>
                    <a:pt x="1238250" y="0"/>
                  </a:lnTo>
                </a:path>
              </a:pathLst>
            </a:custGeom>
            <a:noFill/>
            <a:ln w="17145">
              <a:solidFill>
                <a:srgbClr val="1F2937"/>
              </a:solidFill>
            </a:ln>
          </p:spPr>
        </p:sp>
        <p:sp>
          <p:nvSpPr>
            <p:cNvPr id="13" name="Freeform 13"/>
            <p:cNvSpPr/>
            <p:nvPr/>
          </p:nvSpPr>
          <p:spPr>
            <a:xfrm>
              <a:off x="1048702" y="3959542"/>
              <a:ext cx="1238250" cy="336233"/>
            </a:xfrm>
            <a:custGeom>
              <a:avLst/>
              <a:gdLst/>
              <a:ahLst/>
              <a:cxnLst/>
              <a:rect l="l" t="t" r="r" b="b"/>
              <a:pathLst>
                <a:path w="1238250" h="336233">
                  <a:moveTo>
                    <a:pt x="0" y="336233"/>
                  </a:moveTo>
                  <a:lnTo>
                    <a:pt x="1238250" y="0"/>
                  </a:lnTo>
                </a:path>
              </a:pathLst>
            </a:custGeom>
            <a:noFill/>
            <a:ln w="17145">
              <a:solidFill>
                <a:srgbClr val="1F2937"/>
              </a:solidFill>
            </a:ln>
          </p:spPr>
        </p:sp>
        <p:sp>
          <p:nvSpPr>
            <p:cNvPr id="14" name="Freeform 14"/>
            <p:cNvSpPr/>
            <p:nvPr/>
          </p:nvSpPr>
          <p:spPr>
            <a:xfrm>
              <a:off x="1048702" y="4745355"/>
              <a:ext cx="1238250" cy="9525"/>
            </a:xfrm>
            <a:custGeom>
              <a:avLst/>
              <a:gdLst/>
              <a:ahLst/>
              <a:cxnLst/>
              <a:rect l="l" t="t" r="r" b="b"/>
              <a:pathLst>
                <a:path w="1238250" h="9525">
                  <a:moveTo>
                    <a:pt x="0" y="0"/>
                  </a:moveTo>
                  <a:lnTo>
                    <a:pt x="1238250" y="0"/>
                  </a:lnTo>
                </a:path>
              </a:pathLst>
            </a:custGeom>
            <a:noFill/>
            <a:ln w="17145">
              <a:solidFill>
                <a:srgbClr val="1F2937"/>
              </a:solidFill>
            </a:ln>
          </p:spPr>
        </p:sp>
        <p:sp>
          <p:nvSpPr>
            <p:cNvPr id="15" name="Freeform 15"/>
            <p:cNvSpPr/>
            <p:nvPr/>
          </p:nvSpPr>
          <p:spPr>
            <a:xfrm>
              <a:off x="2805112" y="1958340"/>
              <a:ext cx="1104900" cy="9525"/>
            </a:xfrm>
            <a:custGeom>
              <a:avLst/>
              <a:gdLst/>
              <a:ahLst/>
              <a:cxnLst/>
              <a:rect l="l" t="t" r="r" b="b"/>
              <a:pathLst>
                <a:path w="1104900" h="9525">
                  <a:moveTo>
                    <a:pt x="0" y="0"/>
                  </a:moveTo>
                  <a:lnTo>
                    <a:pt x="1104900" y="0"/>
                  </a:lnTo>
                </a:path>
              </a:pathLst>
            </a:custGeom>
            <a:noFill/>
            <a:ln w="17145">
              <a:solidFill>
                <a:srgbClr val="1F2937"/>
              </a:solidFill>
            </a:ln>
          </p:spPr>
        </p:sp>
        <p:sp>
          <p:nvSpPr>
            <p:cNvPr id="16" name="Freeform 16"/>
            <p:cNvSpPr/>
            <p:nvPr/>
          </p:nvSpPr>
          <p:spPr>
            <a:xfrm>
              <a:off x="2805112" y="2368868"/>
              <a:ext cx="1104900" cy="373380"/>
            </a:xfrm>
            <a:custGeom>
              <a:avLst/>
              <a:gdLst/>
              <a:ahLst/>
              <a:cxnLst/>
              <a:rect l="l" t="t" r="r" b="b"/>
              <a:pathLst>
                <a:path w="1104900" h="373380">
                  <a:moveTo>
                    <a:pt x="0" y="0"/>
                  </a:moveTo>
                  <a:lnTo>
                    <a:pt x="1104900" y="373380"/>
                  </a:lnTo>
                </a:path>
              </a:pathLst>
            </a:custGeom>
            <a:noFill/>
            <a:ln w="17145">
              <a:solidFill>
                <a:srgbClr val="1F2937"/>
              </a:solidFill>
            </a:ln>
          </p:spPr>
        </p:sp>
        <p:sp>
          <p:nvSpPr>
            <p:cNvPr id="17" name="Freeform 17"/>
            <p:cNvSpPr/>
            <p:nvPr/>
          </p:nvSpPr>
          <p:spPr>
            <a:xfrm>
              <a:off x="2805112" y="2780348"/>
              <a:ext cx="1104900" cy="744855"/>
            </a:xfrm>
            <a:custGeom>
              <a:avLst/>
              <a:gdLst/>
              <a:ahLst/>
              <a:cxnLst/>
              <a:rect l="l" t="t" r="r" b="b"/>
              <a:pathLst>
                <a:path w="1104900" h="744855">
                  <a:moveTo>
                    <a:pt x="0" y="0"/>
                  </a:moveTo>
                  <a:lnTo>
                    <a:pt x="1104900" y="744855"/>
                  </a:lnTo>
                </a:path>
              </a:pathLst>
            </a:custGeom>
            <a:noFill/>
            <a:ln w="17145">
              <a:solidFill>
                <a:srgbClr val="1F2937"/>
              </a:solidFill>
            </a:ln>
          </p:spPr>
        </p:sp>
        <p:sp>
          <p:nvSpPr>
            <p:cNvPr id="18" name="Freeform 18"/>
            <p:cNvSpPr/>
            <p:nvPr/>
          </p:nvSpPr>
          <p:spPr>
            <a:xfrm>
              <a:off x="2805112" y="3190875"/>
              <a:ext cx="1104900" cy="1118235"/>
            </a:xfrm>
            <a:custGeom>
              <a:avLst/>
              <a:gdLst/>
              <a:ahLst/>
              <a:cxnLst/>
              <a:rect l="l" t="t" r="r" b="b"/>
              <a:pathLst>
                <a:path w="1104900" h="1118235">
                  <a:moveTo>
                    <a:pt x="0" y="0"/>
                  </a:moveTo>
                  <a:lnTo>
                    <a:pt x="1104900" y="1118235"/>
                  </a:lnTo>
                </a:path>
              </a:pathLst>
            </a:custGeom>
            <a:noFill/>
            <a:ln w="17145">
              <a:solidFill>
                <a:srgbClr val="1F2937"/>
              </a:solidFill>
            </a:ln>
          </p:spPr>
        </p:sp>
        <p:sp>
          <p:nvSpPr>
            <p:cNvPr id="19" name="Freeform 19"/>
            <p:cNvSpPr/>
            <p:nvPr/>
          </p:nvSpPr>
          <p:spPr>
            <a:xfrm>
              <a:off x="2805112" y="2394585"/>
              <a:ext cx="1104900" cy="1118235"/>
            </a:xfrm>
            <a:custGeom>
              <a:avLst/>
              <a:gdLst/>
              <a:ahLst/>
              <a:cxnLst/>
              <a:rect l="l" t="t" r="r" b="b"/>
              <a:pathLst>
                <a:path w="1104900" h="1118235">
                  <a:moveTo>
                    <a:pt x="0" y="1118235"/>
                  </a:moveTo>
                  <a:lnTo>
                    <a:pt x="1104900" y="0"/>
                  </a:lnTo>
                </a:path>
              </a:pathLst>
            </a:custGeom>
            <a:noFill/>
            <a:ln w="17145">
              <a:solidFill>
                <a:srgbClr val="1F2937"/>
              </a:solidFill>
            </a:ln>
          </p:spPr>
        </p:sp>
        <p:sp>
          <p:nvSpPr>
            <p:cNvPr id="20" name="Freeform 20"/>
            <p:cNvSpPr/>
            <p:nvPr/>
          </p:nvSpPr>
          <p:spPr>
            <a:xfrm>
              <a:off x="2805112" y="3178492"/>
              <a:ext cx="1104900" cy="744855"/>
            </a:xfrm>
            <a:custGeom>
              <a:avLst/>
              <a:gdLst/>
              <a:ahLst/>
              <a:cxnLst/>
              <a:rect l="l" t="t" r="r" b="b"/>
              <a:pathLst>
                <a:path w="1104900" h="744855">
                  <a:moveTo>
                    <a:pt x="0" y="744855"/>
                  </a:moveTo>
                  <a:lnTo>
                    <a:pt x="1104900" y="0"/>
                  </a:lnTo>
                </a:path>
              </a:pathLst>
            </a:custGeom>
            <a:noFill/>
            <a:ln w="17145">
              <a:solidFill>
                <a:srgbClr val="F26B3A"/>
              </a:solidFill>
            </a:ln>
          </p:spPr>
        </p:sp>
        <p:sp>
          <p:nvSpPr>
            <p:cNvPr id="21" name="Freeform 21"/>
            <p:cNvSpPr/>
            <p:nvPr/>
          </p:nvSpPr>
          <p:spPr>
            <a:xfrm>
              <a:off x="2805112" y="3961448"/>
              <a:ext cx="1104900" cy="373380"/>
            </a:xfrm>
            <a:custGeom>
              <a:avLst/>
              <a:gdLst/>
              <a:ahLst/>
              <a:cxnLst/>
              <a:rect l="l" t="t" r="r" b="b"/>
              <a:pathLst>
                <a:path w="1104900" h="373380">
                  <a:moveTo>
                    <a:pt x="0" y="373380"/>
                  </a:moveTo>
                  <a:lnTo>
                    <a:pt x="1104900" y="0"/>
                  </a:lnTo>
                </a:path>
              </a:pathLst>
            </a:custGeom>
            <a:noFill/>
            <a:ln w="17145">
              <a:solidFill>
                <a:srgbClr val="1F2937"/>
              </a:solidFill>
            </a:ln>
          </p:spPr>
        </p:sp>
        <p:sp>
          <p:nvSpPr>
            <p:cNvPr id="22" name="Freeform 22"/>
            <p:cNvSpPr/>
            <p:nvPr/>
          </p:nvSpPr>
          <p:spPr>
            <a:xfrm>
              <a:off x="2805112" y="4745355"/>
              <a:ext cx="1104900" cy="9525"/>
            </a:xfrm>
            <a:custGeom>
              <a:avLst/>
              <a:gdLst/>
              <a:ahLst/>
              <a:cxnLst/>
              <a:rect l="l" t="t" r="r" b="b"/>
              <a:pathLst>
                <a:path w="1104900" h="9525">
                  <a:moveTo>
                    <a:pt x="0" y="0"/>
                  </a:moveTo>
                  <a:lnTo>
                    <a:pt x="1104900" y="0"/>
                  </a:lnTo>
                </a:path>
              </a:pathLst>
            </a:custGeom>
            <a:noFill/>
            <a:ln w="17145">
              <a:solidFill>
                <a:srgbClr val="1F2937"/>
              </a:solidFill>
            </a:ln>
          </p:spPr>
        </p:sp>
        <p:sp>
          <p:nvSpPr>
            <p:cNvPr id="23" name="Freeform 23"/>
            <p:cNvSpPr/>
            <p:nvPr/>
          </p:nvSpPr>
          <p:spPr>
            <a:xfrm>
              <a:off x="4428172" y="1958340"/>
              <a:ext cx="1104900" cy="9525"/>
            </a:xfrm>
            <a:custGeom>
              <a:avLst/>
              <a:gdLst/>
              <a:ahLst/>
              <a:cxnLst/>
              <a:rect l="l" t="t" r="r" b="b"/>
              <a:pathLst>
                <a:path w="1104900" h="9525">
                  <a:moveTo>
                    <a:pt x="0" y="0"/>
                  </a:moveTo>
                  <a:lnTo>
                    <a:pt x="1104900" y="0"/>
                  </a:lnTo>
                </a:path>
              </a:pathLst>
            </a:custGeom>
            <a:noFill/>
            <a:ln w="17145">
              <a:solidFill>
                <a:srgbClr val="1F2937"/>
              </a:solidFill>
            </a:ln>
          </p:spPr>
        </p:sp>
        <p:sp>
          <p:nvSpPr>
            <p:cNvPr id="24" name="Freeform 24"/>
            <p:cNvSpPr/>
            <p:nvPr/>
          </p:nvSpPr>
          <p:spPr>
            <a:xfrm>
              <a:off x="4428172" y="2368868"/>
              <a:ext cx="1104900" cy="373380"/>
            </a:xfrm>
            <a:custGeom>
              <a:avLst/>
              <a:gdLst/>
              <a:ahLst/>
              <a:cxnLst/>
              <a:rect l="l" t="t" r="r" b="b"/>
              <a:pathLst>
                <a:path w="1104900" h="373380">
                  <a:moveTo>
                    <a:pt x="0" y="0"/>
                  </a:moveTo>
                  <a:lnTo>
                    <a:pt x="1104900" y="373380"/>
                  </a:lnTo>
                </a:path>
              </a:pathLst>
            </a:custGeom>
            <a:noFill/>
            <a:ln w="17145">
              <a:solidFill>
                <a:srgbClr val="1F2937"/>
              </a:solidFill>
            </a:ln>
          </p:spPr>
        </p:sp>
        <p:sp>
          <p:nvSpPr>
            <p:cNvPr id="25" name="Freeform 25"/>
            <p:cNvSpPr/>
            <p:nvPr/>
          </p:nvSpPr>
          <p:spPr>
            <a:xfrm>
              <a:off x="4428172" y="2780348"/>
              <a:ext cx="1104900" cy="744855"/>
            </a:xfrm>
            <a:custGeom>
              <a:avLst/>
              <a:gdLst/>
              <a:ahLst/>
              <a:cxnLst/>
              <a:rect l="l" t="t" r="r" b="b"/>
              <a:pathLst>
                <a:path w="1104900" h="744855">
                  <a:moveTo>
                    <a:pt x="0" y="0"/>
                  </a:moveTo>
                  <a:lnTo>
                    <a:pt x="1104900" y="744855"/>
                  </a:lnTo>
                </a:path>
              </a:pathLst>
            </a:custGeom>
            <a:noFill/>
            <a:ln w="17145">
              <a:solidFill>
                <a:srgbClr val="F26B3A"/>
              </a:solidFill>
            </a:ln>
          </p:spPr>
        </p:sp>
        <p:sp>
          <p:nvSpPr>
            <p:cNvPr id="26" name="Freeform 26"/>
            <p:cNvSpPr/>
            <p:nvPr/>
          </p:nvSpPr>
          <p:spPr>
            <a:xfrm>
              <a:off x="4428172" y="3190875"/>
              <a:ext cx="1104900" cy="1118235"/>
            </a:xfrm>
            <a:custGeom>
              <a:avLst/>
              <a:gdLst/>
              <a:ahLst/>
              <a:cxnLst/>
              <a:rect l="l" t="t" r="r" b="b"/>
              <a:pathLst>
                <a:path w="1104900" h="1118235">
                  <a:moveTo>
                    <a:pt x="0" y="0"/>
                  </a:moveTo>
                  <a:lnTo>
                    <a:pt x="1104900" y="1118235"/>
                  </a:lnTo>
                </a:path>
              </a:pathLst>
            </a:custGeom>
            <a:noFill/>
            <a:ln w="17145">
              <a:solidFill>
                <a:srgbClr val="1F2937"/>
              </a:solidFill>
            </a:ln>
          </p:spPr>
        </p:sp>
        <p:sp>
          <p:nvSpPr>
            <p:cNvPr id="27" name="Freeform 27"/>
            <p:cNvSpPr/>
            <p:nvPr/>
          </p:nvSpPr>
          <p:spPr>
            <a:xfrm>
              <a:off x="4428172" y="2394585"/>
              <a:ext cx="1104900" cy="1118235"/>
            </a:xfrm>
            <a:custGeom>
              <a:avLst/>
              <a:gdLst/>
              <a:ahLst/>
              <a:cxnLst/>
              <a:rect l="l" t="t" r="r" b="b"/>
              <a:pathLst>
                <a:path w="1104900" h="1118235">
                  <a:moveTo>
                    <a:pt x="0" y="1118235"/>
                  </a:moveTo>
                  <a:lnTo>
                    <a:pt x="1104900" y="0"/>
                  </a:lnTo>
                </a:path>
              </a:pathLst>
            </a:custGeom>
            <a:noFill/>
            <a:ln w="17145">
              <a:solidFill>
                <a:srgbClr val="1F2937"/>
              </a:solidFill>
            </a:ln>
          </p:spPr>
        </p:sp>
        <p:sp>
          <p:nvSpPr>
            <p:cNvPr id="28" name="Freeform 28"/>
            <p:cNvSpPr/>
            <p:nvPr/>
          </p:nvSpPr>
          <p:spPr>
            <a:xfrm>
              <a:off x="4428172" y="3178492"/>
              <a:ext cx="1104900" cy="744855"/>
            </a:xfrm>
            <a:custGeom>
              <a:avLst/>
              <a:gdLst/>
              <a:ahLst/>
              <a:cxnLst/>
              <a:rect l="l" t="t" r="r" b="b"/>
              <a:pathLst>
                <a:path w="1104900" h="744855">
                  <a:moveTo>
                    <a:pt x="0" y="744855"/>
                  </a:moveTo>
                  <a:lnTo>
                    <a:pt x="1104900" y="0"/>
                  </a:lnTo>
                </a:path>
              </a:pathLst>
            </a:custGeom>
            <a:noFill/>
            <a:ln w="17145">
              <a:solidFill>
                <a:srgbClr val="1F2937"/>
              </a:solidFill>
            </a:ln>
          </p:spPr>
        </p:sp>
        <p:sp>
          <p:nvSpPr>
            <p:cNvPr id="29" name="Freeform 29"/>
            <p:cNvSpPr/>
            <p:nvPr/>
          </p:nvSpPr>
          <p:spPr>
            <a:xfrm>
              <a:off x="4428172" y="3961448"/>
              <a:ext cx="1104900" cy="373380"/>
            </a:xfrm>
            <a:custGeom>
              <a:avLst/>
              <a:gdLst/>
              <a:ahLst/>
              <a:cxnLst/>
              <a:rect l="l" t="t" r="r" b="b"/>
              <a:pathLst>
                <a:path w="1104900" h="373380">
                  <a:moveTo>
                    <a:pt x="0" y="373380"/>
                  </a:moveTo>
                  <a:lnTo>
                    <a:pt x="1104900" y="0"/>
                  </a:lnTo>
                </a:path>
              </a:pathLst>
            </a:custGeom>
            <a:noFill/>
            <a:ln w="17145">
              <a:solidFill>
                <a:srgbClr val="1F2937"/>
              </a:solidFill>
            </a:ln>
          </p:spPr>
        </p:sp>
        <p:sp>
          <p:nvSpPr>
            <p:cNvPr id="30" name="Freeform 30"/>
            <p:cNvSpPr/>
            <p:nvPr/>
          </p:nvSpPr>
          <p:spPr>
            <a:xfrm>
              <a:off x="4428172" y="4745355"/>
              <a:ext cx="1104900" cy="9525"/>
            </a:xfrm>
            <a:custGeom>
              <a:avLst/>
              <a:gdLst/>
              <a:ahLst/>
              <a:cxnLst/>
              <a:rect l="l" t="t" r="r" b="b"/>
              <a:pathLst>
                <a:path w="1104900" h="9525">
                  <a:moveTo>
                    <a:pt x="0" y="0"/>
                  </a:moveTo>
                  <a:lnTo>
                    <a:pt x="1104900" y="0"/>
                  </a:lnTo>
                </a:path>
              </a:pathLst>
            </a:custGeom>
            <a:noFill/>
            <a:ln w="17145">
              <a:solidFill>
                <a:srgbClr val="1F2937"/>
              </a:solidFill>
            </a:ln>
          </p:spPr>
        </p:sp>
        <p:sp>
          <p:nvSpPr>
            <p:cNvPr id="31" name="Freeform 31"/>
            <p:cNvSpPr/>
            <p:nvPr/>
          </p:nvSpPr>
          <p:spPr>
            <a:xfrm>
              <a:off x="6051232" y="1958340"/>
              <a:ext cx="459105" cy="9525"/>
            </a:xfrm>
            <a:custGeom>
              <a:avLst/>
              <a:gdLst/>
              <a:ahLst/>
              <a:cxnLst/>
              <a:rect l="l" t="t" r="r" b="b"/>
              <a:pathLst>
                <a:path w="459105" h="9525">
                  <a:moveTo>
                    <a:pt x="0" y="0"/>
                  </a:moveTo>
                  <a:lnTo>
                    <a:pt x="459105" y="0"/>
                  </a:lnTo>
                </a:path>
              </a:pathLst>
            </a:custGeom>
            <a:noFill/>
            <a:ln w="17145">
              <a:solidFill>
                <a:srgbClr val="1F2937"/>
              </a:solidFill>
            </a:ln>
          </p:spPr>
        </p:sp>
        <p:sp>
          <p:nvSpPr>
            <p:cNvPr id="32" name="Freeform 32"/>
            <p:cNvSpPr/>
            <p:nvPr/>
          </p:nvSpPr>
          <p:spPr>
            <a:xfrm>
              <a:off x="6051232" y="2356485"/>
              <a:ext cx="459105" cy="9525"/>
            </a:xfrm>
            <a:custGeom>
              <a:avLst/>
              <a:gdLst/>
              <a:ahLst/>
              <a:cxnLst/>
              <a:rect l="l" t="t" r="r" b="b"/>
              <a:pathLst>
                <a:path w="459105" h="9525">
                  <a:moveTo>
                    <a:pt x="0" y="0"/>
                  </a:moveTo>
                  <a:lnTo>
                    <a:pt x="459105" y="0"/>
                  </a:lnTo>
                </a:path>
              </a:pathLst>
            </a:custGeom>
            <a:noFill/>
            <a:ln w="17145">
              <a:solidFill>
                <a:srgbClr val="1F2937"/>
              </a:solidFill>
            </a:ln>
          </p:spPr>
        </p:sp>
        <p:sp>
          <p:nvSpPr>
            <p:cNvPr id="33" name="Freeform 33"/>
            <p:cNvSpPr/>
            <p:nvPr/>
          </p:nvSpPr>
          <p:spPr>
            <a:xfrm>
              <a:off x="6051232" y="2754630"/>
              <a:ext cx="459105" cy="9525"/>
            </a:xfrm>
            <a:custGeom>
              <a:avLst/>
              <a:gdLst/>
              <a:ahLst/>
              <a:cxnLst/>
              <a:rect l="l" t="t" r="r" b="b"/>
              <a:pathLst>
                <a:path w="459105" h="9525">
                  <a:moveTo>
                    <a:pt x="0" y="0"/>
                  </a:moveTo>
                  <a:lnTo>
                    <a:pt x="459105" y="0"/>
                  </a:lnTo>
                </a:path>
              </a:pathLst>
            </a:custGeom>
            <a:noFill/>
            <a:ln w="17145">
              <a:solidFill>
                <a:srgbClr val="1F2937"/>
              </a:solidFill>
            </a:ln>
          </p:spPr>
        </p:sp>
        <p:sp>
          <p:nvSpPr>
            <p:cNvPr id="34" name="Freeform 34"/>
            <p:cNvSpPr/>
            <p:nvPr/>
          </p:nvSpPr>
          <p:spPr>
            <a:xfrm>
              <a:off x="6051232" y="3152775"/>
              <a:ext cx="459105" cy="9525"/>
            </a:xfrm>
            <a:custGeom>
              <a:avLst/>
              <a:gdLst/>
              <a:ahLst/>
              <a:cxnLst/>
              <a:rect l="l" t="t" r="r" b="b"/>
              <a:pathLst>
                <a:path w="459105" h="9525">
                  <a:moveTo>
                    <a:pt x="0" y="0"/>
                  </a:moveTo>
                  <a:lnTo>
                    <a:pt x="459105" y="0"/>
                  </a:lnTo>
                </a:path>
              </a:pathLst>
            </a:custGeom>
            <a:noFill/>
            <a:ln w="17145">
              <a:solidFill>
                <a:srgbClr val="1F2937"/>
              </a:solidFill>
            </a:ln>
          </p:spPr>
        </p:sp>
        <p:sp>
          <p:nvSpPr>
            <p:cNvPr id="35" name="Freeform 35"/>
            <p:cNvSpPr/>
            <p:nvPr/>
          </p:nvSpPr>
          <p:spPr>
            <a:xfrm>
              <a:off x="6051232" y="3550920"/>
              <a:ext cx="459105" cy="9525"/>
            </a:xfrm>
            <a:custGeom>
              <a:avLst/>
              <a:gdLst/>
              <a:ahLst/>
              <a:cxnLst/>
              <a:rect l="l" t="t" r="r" b="b"/>
              <a:pathLst>
                <a:path w="459105" h="9525">
                  <a:moveTo>
                    <a:pt x="0" y="0"/>
                  </a:moveTo>
                  <a:lnTo>
                    <a:pt x="459105" y="0"/>
                  </a:lnTo>
                </a:path>
              </a:pathLst>
            </a:custGeom>
            <a:noFill/>
            <a:ln w="17145">
              <a:solidFill>
                <a:srgbClr val="1F2937"/>
              </a:solidFill>
            </a:ln>
          </p:spPr>
        </p:sp>
        <p:sp>
          <p:nvSpPr>
            <p:cNvPr id="36" name="Freeform 36"/>
            <p:cNvSpPr/>
            <p:nvPr/>
          </p:nvSpPr>
          <p:spPr>
            <a:xfrm>
              <a:off x="6051232" y="3949065"/>
              <a:ext cx="459105" cy="9525"/>
            </a:xfrm>
            <a:custGeom>
              <a:avLst/>
              <a:gdLst/>
              <a:ahLst/>
              <a:cxnLst/>
              <a:rect l="l" t="t" r="r" b="b"/>
              <a:pathLst>
                <a:path w="459105" h="9525">
                  <a:moveTo>
                    <a:pt x="0" y="0"/>
                  </a:moveTo>
                  <a:lnTo>
                    <a:pt x="459105" y="0"/>
                  </a:lnTo>
                </a:path>
              </a:pathLst>
            </a:custGeom>
            <a:noFill/>
            <a:ln w="17145">
              <a:solidFill>
                <a:srgbClr val="F26B3A"/>
              </a:solidFill>
            </a:ln>
          </p:spPr>
        </p:sp>
        <p:sp>
          <p:nvSpPr>
            <p:cNvPr id="37" name="Freeform 37"/>
            <p:cNvSpPr/>
            <p:nvPr/>
          </p:nvSpPr>
          <p:spPr>
            <a:xfrm>
              <a:off x="6051232" y="4347210"/>
              <a:ext cx="459105" cy="9525"/>
            </a:xfrm>
            <a:custGeom>
              <a:avLst/>
              <a:gdLst/>
              <a:ahLst/>
              <a:cxnLst/>
              <a:rect l="l" t="t" r="r" b="b"/>
              <a:pathLst>
                <a:path w="459105" h="9525">
                  <a:moveTo>
                    <a:pt x="0" y="0"/>
                  </a:moveTo>
                  <a:lnTo>
                    <a:pt x="459105" y="0"/>
                  </a:lnTo>
                </a:path>
              </a:pathLst>
            </a:custGeom>
            <a:noFill/>
            <a:ln w="17145">
              <a:solidFill>
                <a:srgbClr val="1F2937"/>
              </a:solidFill>
            </a:ln>
          </p:spPr>
        </p:sp>
        <p:sp>
          <p:nvSpPr>
            <p:cNvPr id="38" name="Freeform 38"/>
            <p:cNvSpPr/>
            <p:nvPr/>
          </p:nvSpPr>
          <p:spPr>
            <a:xfrm>
              <a:off x="6051232" y="4745355"/>
              <a:ext cx="459105" cy="9525"/>
            </a:xfrm>
            <a:custGeom>
              <a:avLst/>
              <a:gdLst/>
              <a:ahLst/>
              <a:cxnLst/>
              <a:rect l="l" t="t" r="r" b="b"/>
              <a:pathLst>
                <a:path w="459105" h="9525">
                  <a:moveTo>
                    <a:pt x="0" y="0"/>
                  </a:moveTo>
                  <a:lnTo>
                    <a:pt x="459105" y="0"/>
                  </a:lnTo>
                </a:path>
              </a:pathLst>
            </a:custGeom>
            <a:noFill/>
            <a:ln w="17145">
              <a:solidFill>
                <a:srgbClr val="1F2937"/>
              </a:solidFill>
            </a:ln>
          </p:spPr>
        </p:sp>
        <p:sp>
          <p:nvSpPr>
            <p:cNvPr id="39" name="Rectangle 39"/>
            <p:cNvSpPr/>
            <p:nvPr/>
          </p:nvSpPr>
          <p:spPr>
            <a:xfrm>
              <a:off x="667702" y="1853565"/>
              <a:ext cx="381000" cy="209550"/>
            </a:xfrm>
            <a:prstGeom prst="roundRect">
              <a:avLst>
                <a:gd name="adj" fmla="val 45455"/>
              </a:avLst>
            </a:prstGeom>
            <a:solidFill>
              <a:srgbClr val="E7EDF3"/>
            </a:solidFill>
            <a:ln w="17145">
              <a:solidFill>
                <a:srgbClr val="334E68"/>
              </a:solidFill>
            </a:ln>
          </p:spPr>
        </p:sp>
        <p:sp>
          <p:nvSpPr>
            <p:cNvPr id="40" name="Rectangle 40"/>
            <p:cNvSpPr/>
            <p:nvPr/>
          </p:nvSpPr>
          <p:spPr>
            <a:xfrm>
              <a:off x="6510338" y="1853565"/>
              <a:ext cx="381000" cy="209550"/>
            </a:xfrm>
            <a:prstGeom prst="roundRect">
              <a:avLst>
                <a:gd name="adj" fmla="val 45455"/>
              </a:avLst>
            </a:prstGeom>
            <a:solidFill>
              <a:srgbClr val="E7EDF3"/>
            </a:solidFill>
            <a:ln w="17145">
              <a:solidFill>
                <a:srgbClr val="334E68"/>
              </a:solidFill>
            </a:ln>
          </p:spPr>
        </p:sp>
        <p:sp>
          <p:nvSpPr>
            <p:cNvPr id="41" name="Rectangle 41"/>
            <p:cNvSpPr/>
            <p:nvPr/>
          </p:nvSpPr>
          <p:spPr>
            <a:xfrm>
              <a:off x="667702" y="2251710"/>
              <a:ext cx="381000" cy="209550"/>
            </a:xfrm>
            <a:prstGeom prst="roundRect">
              <a:avLst>
                <a:gd name="adj" fmla="val 45455"/>
              </a:avLst>
            </a:prstGeom>
            <a:solidFill>
              <a:srgbClr val="E7EDF3"/>
            </a:solidFill>
            <a:ln w="17145">
              <a:solidFill>
                <a:srgbClr val="334E68"/>
              </a:solidFill>
            </a:ln>
          </p:spPr>
        </p:sp>
        <p:sp>
          <p:nvSpPr>
            <p:cNvPr id="42" name="Rectangle 42"/>
            <p:cNvSpPr/>
            <p:nvPr/>
          </p:nvSpPr>
          <p:spPr>
            <a:xfrm>
              <a:off x="6510338" y="2251710"/>
              <a:ext cx="381000" cy="209550"/>
            </a:xfrm>
            <a:prstGeom prst="roundRect">
              <a:avLst>
                <a:gd name="adj" fmla="val 45455"/>
              </a:avLst>
            </a:prstGeom>
            <a:solidFill>
              <a:srgbClr val="E7EDF3"/>
            </a:solidFill>
            <a:ln w="17145">
              <a:solidFill>
                <a:srgbClr val="334E68"/>
              </a:solidFill>
            </a:ln>
          </p:spPr>
        </p:sp>
        <p:sp>
          <p:nvSpPr>
            <p:cNvPr id="43" name="Rectangle 43"/>
            <p:cNvSpPr/>
            <p:nvPr/>
          </p:nvSpPr>
          <p:spPr>
            <a:xfrm>
              <a:off x="667702" y="2649855"/>
              <a:ext cx="381000" cy="209550"/>
            </a:xfrm>
            <a:prstGeom prst="roundRect">
              <a:avLst>
                <a:gd name="adj" fmla="val 45455"/>
              </a:avLst>
            </a:prstGeom>
            <a:solidFill>
              <a:srgbClr val="E7EDF3"/>
            </a:solidFill>
            <a:ln w="17145">
              <a:solidFill>
                <a:srgbClr val="334E68"/>
              </a:solidFill>
            </a:ln>
          </p:spPr>
        </p:sp>
        <p:sp>
          <p:nvSpPr>
            <p:cNvPr id="44" name="Rectangle 44"/>
            <p:cNvSpPr/>
            <p:nvPr/>
          </p:nvSpPr>
          <p:spPr>
            <a:xfrm>
              <a:off x="6510338" y="2649855"/>
              <a:ext cx="381000" cy="209550"/>
            </a:xfrm>
            <a:prstGeom prst="roundRect">
              <a:avLst>
                <a:gd name="adj" fmla="val 45455"/>
              </a:avLst>
            </a:prstGeom>
            <a:solidFill>
              <a:srgbClr val="E7EDF3"/>
            </a:solidFill>
            <a:ln w="17145">
              <a:solidFill>
                <a:srgbClr val="334E68"/>
              </a:solidFill>
            </a:ln>
          </p:spPr>
        </p:sp>
        <p:sp>
          <p:nvSpPr>
            <p:cNvPr id="45" name="Rectangle 45"/>
            <p:cNvSpPr/>
            <p:nvPr/>
          </p:nvSpPr>
          <p:spPr>
            <a:xfrm>
              <a:off x="667702" y="3048000"/>
              <a:ext cx="381000" cy="209550"/>
            </a:xfrm>
            <a:prstGeom prst="roundRect">
              <a:avLst>
                <a:gd name="adj" fmla="val 45455"/>
              </a:avLst>
            </a:prstGeom>
            <a:solidFill>
              <a:srgbClr val="E7EDF3"/>
            </a:solidFill>
            <a:ln w="17145">
              <a:solidFill>
                <a:srgbClr val="334E68"/>
              </a:solidFill>
            </a:ln>
          </p:spPr>
        </p:sp>
        <p:sp>
          <p:nvSpPr>
            <p:cNvPr id="46" name="Rectangle 46"/>
            <p:cNvSpPr/>
            <p:nvPr/>
          </p:nvSpPr>
          <p:spPr>
            <a:xfrm>
              <a:off x="6510338" y="3048000"/>
              <a:ext cx="381000" cy="209550"/>
            </a:xfrm>
            <a:prstGeom prst="roundRect">
              <a:avLst>
                <a:gd name="adj" fmla="val 45455"/>
              </a:avLst>
            </a:prstGeom>
            <a:solidFill>
              <a:srgbClr val="E7EDF3"/>
            </a:solidFill>
            <a:ln w="17145">
              <a:solidFill>
                <a:srgbClr val="334E68"/>
              </a:solidFill>
            </a:ln>
          </p:spPr>
        </p:sp>
        <p:sp>
          <p:nvSpPr>
            <p:cNvPr id="47" name="Rectangle 47"/>
            <p:cNvSpPr/>
            <p:nvPr/>
          </p:nvSpPr>
          <p:spPr>
            <a:xfrm>
              <a:off x="667702" y="3446145"/>
              <a:ext cx="381000" cy="209550"/>
            </a:xfrm>
            <a:prstGeom prst="roundRect">
              <a:avLst>
                <a:gd name="adj" fmla="val 45455"/>
              </a:avLst>
            </a:prstGeom>
            <a:solidFill>
              <a:srgbClr val="E7EDF3"/>
            </a:solidFill>
            <a:ln w="17145">
              <a:solidFill>
                <a:srgbClr val="334E68"/>
              </a:solidFill>
            </a:ln>
          </p:spPr>
        </p:sp>
        <p:sp>
          <p:nvSpPr>
            <p:cNvPr id="48" name="Rectangle 48"/>
            <p:cNvSpPr/>
            <p:nvPr/>
          </p:nvSpPr>
          <p:spPr>
            <a:xfrm>
              <a:off x="6510338" y="3446145"/>
              <a:ext cx="381000" cy="209550"/>
            </a:xfrm>
            <a:prstGeom prst="roundRect">
              <a:avLst>
                <a:gd name="adj" fmla="val 45455"/>
              </a:avLst>
            </a:prstGeom>
            <a:solidFill>
              <a:srgbClr val="E7EDF3"/>
            </a:solidFill>
            <a:ln w="17145">
              <a:solidFill>
                <a:srgbClr val="334E68"/>
              </a:solidFill>
            </a:ln>
          </p:spPr>
        </p:sp>
        <p:sp>
          <p:nvSpPr>
            <p:cNvPr id="49" name="Rectangle 49"/>
            <p:cNvSpPr/>
            <p:nvPr/>
          </p:nvSpPr>
          <p:spPr>
            <a:xfrm>
              <a:off x="667702" y="3844290"/>
              <a:ext cx="381000" cy="209550"/>
            </a:xfrm>
            <a:prstGeom prst="roundRect">
              <a:avLst>
                <a:gd name="adj" fmla="val 45455"/>
              </a:avLst>
            </a:prstGeom>
            <a:solidFill>
              <a:srgbClr val="E7EDF3"/>
            </a:solidFill>
            <a:ln w="17145">
              <a:solidFill>
                <a:srgbClr val="334E68"/>
              </a:solidFill>
            </a:ln>
          </p:spPr>
        </p:sp>
        <p:sp>
          <p:nvSpPr>
            <p:cNvPr id="50" name="Rectangle 50"/>
            <p:cNvSpPr/>
            <p:nvPr/>
          </p:nvSpPr>
          <p:spPr>
            <a:xfrm>
              <a:off x="6510338" y="3844290"/>
              <a:ext cx="381000" cy="209550"/>
            </a:xfrm>
            <a:prstGeom prst="roundRect">
              <a:avLst>
                <a:gd name="adj" fmla="val 45455"/>
              </a:avLst>
            </a:prstGeom>
            <a:solidFill>
              <a:srgbClr val="E7EDF3"/>
            </a:solidFill>
            <a:ln w="17145">
              <a:solidFill>
                <a:srgbClr val="334E68"/>
              </a:solidFill>
            </a:ln>
          </p:spPr>
        </p:sp>
        <p:sp>
          <p:nvSpPr>
            <p:cNvPr id="51" name="Rectangle 51"/>
            <p:cNvSpPr/>
            <p:nvPr/>
          </p:nvSpPr>
          <p:spPr>
            <a:xfrm>
              <a:off x="667702" y="4242435"/>
              <a:ext cx="381000" cy="209550"/>
            </a:xfrm>
            <a:prstGeom prst="roundRect">
              <a:avLst>
                <a:gd name="adj" fmla="val 45455"/>
              </a:avLst>
            </a:prstGeom>
            <a:solidFill>
              <a:srgbClr val="E7EDF3"/>
            </a:solidFill>
            <a:ln w="17145">
              <a:solidFill>
                <a:srgbClr val="334E68"/>
              </a:solidFill>
            </a:ln>
          </p:spPr>
        </p:sp>
        <p:sp>
          <p:nvSpPr>
            <p:cNvPr id="52" name="Rectangle 52"/>
            <p:cNvSpPr/>
            <p:nvPr/>
          </p:nvSpPr>
          <p:spPr>
            <a:xfrm>
              <a:off x="6510338" y="4242435"/>
              <a:ext cx="381000" cy="209550"/>
            </a:xfrm>
            <a:prstGeom prst="roundRect">
              <a:avLst>
                <a:gd name="adj" fmla="val 45455"/>
              </a:avLst>
            </a:prstGeom>
            <a:solidFill>
              <a:srgbClr val="E7EDF3"/>
            </a:solidFill>
            <a:ln w="17145">
              <a:solidFill>
                <a:srgbClr val="334E68"/>
              </a:solidFill>
            </a:ln>
          </p:spPr>
        </p:sp>
        <p:sp>
          <p:nvSpPr>
            <p:cNvPr id="53" name="Rectangle 53"/>
            <p:cNvSpPr/>
            <p:nvPr/>
          </p:nvSpPr>
          <p:spPr>
            <a:xfrm>
              <a:off x="667702" y="4640580"/>
              <a:ext cx="381000" cy="209550"/>
            </a:xfrm>
            <a:prstGeom prst="roundRect">
              <a:avLst>
                <a:gd name="adj" fmla="val 45455"/>
              </a:avLst>
            </a:prstGeom>
            <a:solidFill>
              <a:srgbClr val="E7EDF3"/>
            </a:solidFill>
            <a:ln w="17145">
              <a:solidFill>
                <a:srgbClr val="334E68"/>
              </a:solidFill>
            </a:ln>
          </p:spPr>
        </p:sp>
        <p:sp>
          <p:nvSpPr>
            <p:cNvPr id="54" name="Rectangle 54"/>
            <p:cNvSpPr/>
            <p:nvPr/>
          </p:nvSpPr>
          <p:spPr>
            <a:xfrm>
              <a:off x="6510338" y="4640580"/>
              <a:ext cx="381000" cy="209550"/>
            </a:xfrm>
            <a:prstGeom prst="roundRect">
              <a:avLst>
                <a:gd name="adj" fmla="val 45455"/>
              </a:avLst>
            </a:prstGeom>
            <a:solidFill>
              <a:srgbClr val="E7EDF3"/>
            </a:solidFill>
            <a:ln w="17145">
              <a:solidFill>
                <a:srgbClr val="334E68"/>
              </a:solidFill>
            </a:ln>
          </p:spPr>
        </p:sp>
        <p:sp>
          <p:nvSpPr>
            <p:cNvPr id="55" name="Rectangle 55"/>
            <p:cNvSpPr/>
            <p:nvPr/>
          </p:nvSpPr>
          <p:spPr>
            <a:xfrm>
              <a:off x="2326958" y="1814512"/>
              <a:ext cx="438150" cy="685800"/>
            </a:xfrm>
            <a:prstGeom prst="roundRect">
              <a:avLst>
                <a:gd name="adj" fmla="val 21739"/>
              </a:avLst>
            </a:prstGeom>
            <a:solidFill>
              <a:srgbClr val="FFFFFF"/>
            </a:solidFill>
            <a:ln w="17145">
              <a:solidFill>
                <a:srgbClr val="334E68"/>
              </a:solidFill>
            </a:ln>
          </p:spPr>
        </p:sp>
        <p:sp>
          <p:nvSpPr>
            <p:cNvPr id="56" name="Rectangle 56"/>
            <p:cNvSpPr/>
            <p:nvPr/>
          </p:nvSpPr>
          <p:spPr>
            <a:xfrm>
              <a:off x="2326958" y="2610802"/>
              <a:ext cx="438150" cy="685800"/>
            </a:xfrm>
            <a:prstGeom prst="roundRect">
              <a:avLst>
                <a:gd name="adj" fmla="val 21739"/>
              </a:avLst>
            </a:prstGeom>
            <a:solidFill>
              <a:srgbClr val="FFFFFF"/>
            </a:solidFill>
            <a:ln w="17145">
              <a:solidFill>
                <a:srgbClr val="334E68"/>
              </a:solidFill>
            </a:ln>
          </p:spPr>
        </p:sp>
        <p:sp>
          <p:nvSpPr>
            <p:cNvPr id="57" name="Rectangle 57"/>
            <p:cNvSpPr/>
            <p:nvPr/>
          </p:nvSpPr>
          <p:spPr>
            <a:xfrm>
              <a:off x="2326958" y="3407092"/>
              <a:ext cx="438150" cy="685800"/>
            </a:xfrm>
            <a:prstGeom prst="roundRect">
              <a:avLst>
                <a:gd name="adj" fmla="val 21739"/>
              </a:avLst>
            </a:prstGeom>
            <a:solidFill>
              <a:srgbClr val="FDEEE7"/>
            </a:solidFill>
            <a:ln w="17145">
              <a:solidFill>
                <a:srgbClr val="F26B3A"/>
              </a:solidFill>
            </a:ln>
          </p:spPr>
        </p:sp>
        <p:sp>
          <p:nvSpPr>
            <p:cNvPr id="58" name="Rectangle 58"/>
            <p:cNvSpPr/>
            <p:nvPr/>
          </p:nvSpPr>
          <p:spPr>
            <a:xfrm>
              <a:off x="2326958" y="4203382"/>
              <a:ext cx="438150" cy="685800"/>
            </a:xfrm>
            <a:prstGeom prst="roundRect">
              <a:avLst>
                <a:gd name="adj" fmla="val 21739"/>
              </a:avLst>
            </a:prstGeom>
            <a:solidFill>
              <a:srgbClr val="FFFFFF"/>
            </a:solidFill>
            <a:ln w="17145">
              <a:solidFill>
                <a:srgbClr val="334E68"/>
              </a:solidFill>
            </a:ln>
          </p:spPr>
        </p:sp>
        <p:sp>
          <p:nvSpPr>
            <p:cNvPr id="59" name="Rectangle 59"/>
            <p:cNvSpPr/>
            <p:nvPr/>
          </p:nvSpPr>
          <p:spPr>
            <a:xfrm>
              <a:off x="3950018" y="1814512"/>
              <a:ext cx="438150" cy="685800"/>
            </a:xfrm>
            <a:prstGeom prst="roundRect">
              <a:avLst>
                <a:gd name="adj" fmla="val 21739"/>
              </a:avLst>
            </a:prstGeom>
            <a:solidFill>
              <a:srgbClr val="FFFFFF"/>
            </a:solidFill>
            <a:ln w="17145">
              <a:solidFill>
                <a:srgbClr val="334E68"/>
              </a:solidFill>
            </a:ln>
          </p:spPr>
        </p:sp>
        <p:sp>
          <p:nvSpPr>
            <p:cNvPr id="60" name="Rectangle 60"/>
            <p:cNvSpPr/>
            <p:nvPr/>
          </p:nvSpPr>
          <p:spPr>
            <a:xfrm>
              <a:off x="3950018" y="2610802"/>
              <a:ext cx="438150" cy="685800"/>
            </a:xfrm>
            <a:prstGeom prst="roundRect">
              <a:avLst>
                <a:gd name="adj" fmla="val 21739"/>
              </a:avLst>
            </a:prstGeom>
            <a:solidFill>
              <a:srgbClr val="FDEEE7"/>
            </a:solidFill>
            <a:ln w="17145">
              <a:solidFill>
                <a:srgbClr val="F26B3A"/>
              </a:solidFill>
            </a:ln>
          </p:spPr>
        </p:sp>
        <p:sp>
          <p:nvSpPr>
            <p:cNvPr id="61" name="Rectangle 61"/>
            <p:cNvSpPr/>
            <p:nvPr/>
          </p:nvSpPr>
          <p:spPr>
            <a:xfrm>
              <a:off x="3950018" y="3407092"/>
              <a:ext cx="438150" cy="685800"/>
            </a:xfrm>
            <a:prstGeom prst="roundRect">
              <a:avLst>
                <a:gd name="adj" fmla="val 21739"/>
              </a:avLst>
            </a:prstGeom>
            <a:solidFill>
              <a:srgbClr val="FFFFFF"/>
            </a:solidFill>
            <a:ln w="17145">
              <a:solidFill>
                <a:srgbClr val="334E68"/>
              </a:solidFill>
            </a:ln>
          </p:spPr>
        </p:sp>
        <p:sp>
          <p:nvSpPr>
            <p:cNvPr id="62" name="Rectangle 62"/>
            <p:cNvSpPr/>
            <p:nvPr/>
          </p:nvSpPr>
          <p:spPr>
            <a:xfrm>
              <a:off x="3950018" y="4203382"/>
              <a:ext cx="438150" cy="685800"/>
            </a:xfrm>
            <a:prstGeom prst="roundRect">
              <a:avLst>
                <a:gd name="adj" fmla="val 21739"/>
              </a:avLst>
            </a:prstGeom>
            <a:solidFill>
              <a:srgbClr val="FFFFFF"/>
            </a:solidFill>
            <a:ln w="17145">
              <a:solidFill>
                <a:srgbClr val="334E68"/>
              </a:solidFill>
            </a:ln>
          </p:spPr>
        </p:sp>
        <p:sp>
          <p:nvSpPr>
            <p:cNvPr id="63" name="Rectangle 63"/>
            <p:cNvSpPr/>
            <p:nvPr/>
          </p:nvSpPr>
          <p:spPr>
            <a:xfrm>
              <a:off x="5573078" y="1814512"/>
              <a:ext cx="438150" cy="685800"/>
            </a:xfrm>
            <a:prstGeom prst="roundRect">
              <a:avLst>
                <a:gd name="adj" fmla="val 21739"/>
              </a:avLst>
            </a:prstGeom>
            <a:solidFill>
              <a:srgbClr val="FFFFFF"/>
            </a:solidFill>
            <a:ln w="17145">
              <a:solidFill>
                <a:srgbClr val="334E68"/>
              </a:solidFill>
            </a:ln>
          </p:spPr>
        </p:sp>
        <p:sp>
          <p:nvSpPr>
            <p:cNvPr id="64" name="Rectangle 64"/>
            <p:cNvSpPr/>
            <p:nvPr/>
          </p:nvSpPr>
          <p:spPr>
            <a:xfrm>
              <a:off x="5573078" y="2610802"/>
              <a:ext cx="438150" cy="685800"/>
            </a:xfrm>
            <a:prstGeom prst="roundRect">
              <a:avLst>
                <a:gd name="adj" fmla="val 21739"/>
              </a:avLst>
            </a:prstGeom>
            <a:solidFill>
              <a:srgbClr val="FFFFFF"/>
            </a:solidFill>
            <a:ln w="17145">
              <a:solidFill>
                <a:srgbClr val="334E68"/>
              </a:solidFill>
            </a:ln>
          </p:spPr>
        </p:sp>
        <p:sp>
          <p:nvSpPr>
            <p:cNvPr id="65" name="Rectangle 65"/>
            <p:cNvSpPr/>
            <p:nvPr/>
          </p:nvSpPr>
          <p:spPr>
            <a:xfrm>
              <a:off x="5573078" y="3407092"/>
              <a:ext cx="438150" cy="685800"/>
            </a:xfrm>
            <a:prstGeom prst="roundRect">
              <a:avLst>
                <a:gd name="adj" fmla="val 21739"/>
              </a:avLst>
            </a:prstGeom>
            <a:solidFill>
              <a:srgbClr val="FDEEE7"/>
            </a:solidFill>
            <a:ln w="17145">
              <a:solidFill>
                <a:srgbClr val="F26B3A"/>
              </a:solidFill>
            </a:ln>
          </p:spPr>
        </p:sp>
        <p:sp>
          <p:nvSpPr>
            <p:cNvPr id="66" name="Rectangle 66"/>
            <p:cNvSpPr/>
            <p:nvPr/>
          </p:nvSpPr>
          <p:spPr>
            <a:xfrm>
              <a:off x="5573078" y="4203382"/>
              <a:ext cx="438150" cy="685800"/>
            </a:xfrm>
            <a:prstGeom prst="roundRect">
              <a:avLst>
                <a:gd name="adj" fmla="val 21739"/>
              </a:avLst>
            </a:prstGeom>
            <a:solidFill>
              <a:srgbClr val="FFFFFF"/>
            </a:solidFill>
            <a:ln w="17145">
              <a:solidFill>
                <a:srgbClr val="334E68"/>
              </a:solidFill>
            </a:ln>
          </p:spPr>
        </p:sp>
        <p:sp>
          <p:nvSpPr>
            <p:cNvPr id="67" name="TextBox 67"/>
            <p:cNvSpPr txBox="1"/>
            <p:nvPr/>
          </p:nvSpPr>
          <p:spPr>
            <a:xfrm>
              <a:off x="748487" y="1902143"/>
              <a:ext cx="219431" cy="176212"/>
            </a:xfrm>
            <a:prstGeom prst="rect">
              <a:avLst/>
            </a:prstGeom>
            <a:noFill/>
            <a:ln>
              <a:noFill/>
            </a:ln>
          </p:spPr>
          <p:txBody>
            <a:bodyPr wrap="none" lIns="0" tIns="0" rIns="0" bIns="0" anchor="t" anchorCtr="0">
              <a:spAutoFit/>
            </a:bodyPr>
            <a:lstStyle/>
            <a:p>
              <a:pPr algn="ctr"/>
              <a:r>
                <a:rPr lang="zh-CN" sz="900" b="1" dirty="0">
                  <a:solidFill>
                    <a:srgbClr val="243B53"/>
                  </a:solidFill>
                  <a:latin typeface="+mn-lt"/>
                  <a:ea typeface="+mn-ea"/>
                  <a:cs typeface="+mn-cs"/>
                </a:rPr>
                <a:t>000</a:t>
              </a:r>
            </a:p>
          </p:txBody>
        </p:sp>
        <p:sp>
          <p:nvSpPr>
            <p:cNvPr id="68" name="TextBox 68"/>
            <p:cNvSpPr txBox="1"/>
            <p:nvPr/>
          </p:nvSpPr>
          <p:spPr>
            <a:xfrm>
              <a:off x="6591122" y="1902143"/>
              <a:ext cx="219431" cy="176212"/>
            </a:xfrm>
            <a:prstGeom prst="rect">
              <a:avLst/>
            </a:prstGeom>
            <a:noFill/>
            <a:ln>
              <a:noFill/>
            </a:ln>
          </p:spPr>
          <p:txBody>
            <a:bodyPr wrap="none" lIns="0" tIns="0" rIns="0" bIns="0" anchor="t" anchorCtr="0">
              <a:spAutoFit/>
            </a:bodyPr>
            <a:lstStyle/>
            <a:p>
              <a:pPr algn="ctr"/>
              <a:r>
                <a:rPr lang="zh-CN" sz="900" b="1" dirty="0">
                  <a:solidFill>
                    <a:srgbClr val="243B53"/>
                  </a:solidFill>
                  <a:latin typeface="+mn-lt"/>
                  <a:ea typeface="+mn-ea"/>
                  <a:cs typeface="+mn-cs"/>
                </a:rPr>
                <a:t>000</a:t>
              </a:r>
            </a:p>
          </p:txBody>
        </p:sp>
        <p:sp>
          <p:nvSpPr>
            <p:cNvPr id="69" name="TextBox 69"/>
            <p:cNvSpPr txBox="1"/>
            <p:nvPr/>
          </p:nvSpPr>
          <p:spPr>
            <a:xfrm>
              <a:off x="748487" y="2300288"/>
              <a:ext cx="219431" cy="176212"/>
            </a:xfrm>
            <a:prstGeom prst="rect">
              <a:avLst/>
            </a:prstGeom>
            <a:noFill/>
            <a:ln>
              <a:noFill/>
            </a:ln>
          </p:spPr>
          <p:txBody>
            <a:bodyPr wrap="none" lIns="0" tIns="0" rIns="0" bIns="0" anchor="t" anchorCtr="0">
              <a:spAutoFit/>
            </a:bodyPr>
            <a:lstStyle/>
            <a:p>
              <a:pPr algn="ctr"/>
              <a:r>
                <a:rPr lang="zh-CN" sz="900" b="1" dirty="0">
                  <a:solidFill>
                    <a:srgbClr val="243B53"/>
                  </a:solidFill>
                  <a:latin typeface="+mn-lt"/>
                  <a:ea typeface="+mn-ea"/>
                  <a:cs typeface="+mn-cs"/>
                </a:rPr>
                <a:t>001</a:t>
              </a:r>
            </a:p>
          </p:txBody>
        </p:sp>
        <p:sp>
          <p:nvSpPr>
            <p:cNvPr id="70" name="TextBox 70"/>
            <p:cNvSpPr txBox="1"/>
            <p:nvPr/>
          </p:nvSpPr>
          <p:spPr>
            <a:xfrm>
              <a:off x="6591122" y="2300288"/>
              <a:ext cx="219431" cy="176212"/>
            </a:xfrm>
            <a:prstGeom prst="rect">
              <a:avLst/>
            </a:prstGeom>
            <a:noFill/>
            <a:ln>
              <a:noFill/>
            </a:ln>
          </p:spPr>
          <p:txBody>
            <a:bodyPr wrap="none" lIns="0" tIns="0" rIns="0" bIns="0" anchor="t" anchorCtr="0">
              <a:spAutoFit/>
            </a:bodyPr>
            <a:lstStyle/>
            <a:p>
              <a:pPr algn="ctr"/>
              <a:r>
                <a:rPr lang="zh-CN" sz="900" b="1" dirty="0">
                  <a:solidFill>
                    <a:srgbClr val="243B53"/>
                  </a:solidFill>
                  <a:latin typeface="+mn-lt"/>
                  <a:ea typeface="+mn-ea"/>
                  <a:cs typeface="+mn-cs"/>
                </a:rPr>
                <a:t>001</a:t>
              </a:r>
            </a:p>
          </p:txBody>
        </p:sp>
        <p:sp>
          <p:nvSpPr>
            <p:cNvPr id="71" name="TextBox 71"/>
            <p:cNvSpPr txBox="1"/>
            <p:nvPr/>
          </p:nvSpPr>
          <p:spPr>
            <a:xfrm>
              <a:off x="748487" y="2698432"/>
              <a:ext cx="219431" cy="176212"/>
            </a:xfrm>
            <a:prstGeom prst="rect">
              <a:avLst/>
            </a:prstGeom>
            <a:noFill/>
            <a:ln>
              <a:noFill/>
            </a:ln>
          </p:spPr>
          <p:txBody>
            <a:bodyPr wrap="none" lIns="0" tIns="0" rIns="0" bIns="0" anchor="t" anchorCtr="0">
              <a:spAutoFit/>
            </a:bodyPr>
            <a:lstStyle/>
            <a:p>
              <a:pPr algn="ctr"/>
              <a:r>
                <a:rPr lang="zh-CN" sz="900" b="1" dirty="0">
                  <a:solidFill>
                    <a:srgbClr val="243B53"/>
                  </a:solidFill>
                  <a:latin typeface="+mn-lt"/>
                  <a:ea typeface="+mn-ea"/>
                  <a:cs typeface="+mn-cs"/>
                </a:rPr>
                <a:t>010</a:t>
              </a:r>
            </a:p>
          </p:txBody>
        </p:sp>
        <p:sp>
          <p:nvSpPr>
            <p:cNvPr id="72" name="TextBox 72"/>
            <p:cNvSpPr txBox="1"/>
            <p:nvPr/>
          </p:nvSpPr>
          <p:spPr>
            <a:xfrm>
              <a:off x="6591122" y="2698432"/>
              <a:ext cx="219431" cy="176212"/>
            </a:xfrm>
            <a:prstGeom prst="rect">
              <a:avLst/>
            </a:prstGeom>
            <a:noFill/>
            <a:ln>
              <a:noFill/>
            </a:ln>
          </p:spPr>
          <p:txBody>
            <a:bodyPr wrap="none" lIns="0" tIns="0" rIns="0" bIns="0" anchor="t" anchorCtr="0">
              <a:spAutoFit/>
            </a:bodyPr>
            <a:lstStyle/>
            <a:p>
              <a:pPr algn="ctr"/>
              <a:r>
                <a:rPr lang="zh-CN" sz="900" b="1" dirty="0">
                  <a:solidFill>
                    <a:srgbClr val="243B53"/>
                  </a:solidFill>
                  <a:latin typeface="+mn-lt"/>
                  <a:ea typeface="+mn-ea"/>
                  <a:cs typeface="+mn-cs"/>
                </a:rPr>
                <a:t>010</a:t>
              </a:r>
            </a:p>
          </p:txBody>
        </p:sp>
        <p:sp>
          <p:nvSpPr>
            <p:cNvPr id="73" name="TextBox 73"/>
            <p:cNvSpPr txBox="1"/>
            <p:nvPr/>
          </p:nvSpPr>
          <p:spPr>
            <a:xfrm>
              <a:off x="748487" y="3096578"/>
              <a:ext cx="219431" cy="176212"/>
            </a:xfrm>
            <a:prstGeom prst="rect">
              <a:avLst/>
            </a:prstGeom>
            <a:noFill/>
            <a:ln>
              <a:noFill/>
            </a:ln>
          </p:spPr>
          <p:txBody>
            <a:bodyPr wrap="none" lIns="0" tIns="0" rIns="0" bIns="0" anchor="t" anchorCtr="0">
              <a:spAutoFit/>
            </a:bodyPr>
            <a:lstStyle/>
            <a:p>
              <a:pPr algn="ctr"/>
              <a:r>
                <a:rPr lang="zh-CN" sz="900" b="1" dirty="0">
                  <a:solidFill>
                    <a:srgbClr val="243B53"/>
                  </a:solidFill>
                  <a:latin typeface="+mn-lt"/>
                  <a:ea typeface="+mn-ea"/>
                  <a:cs typeface="+mn-cs"/>
                </a:rPr>
                <a:t>011</a:t>
              </a:r>
            </a:p>
          </p:txBody>
        </p:sp>
        <p:sp>
          <p:nvSpPr>
            <p:cNvPr id="74" name="TextBox 74"/>
            <p:cNvSpPr txBox="1"/>
            <p:nvPr/>
          </p:nvSpPr>
          <p:spPr>
            <a:xfrm>
              <a:off x="6591122" y="3096578"/>
              <a:ext cx="219431" cy="176212"/>
            </a:xfrm>
            <a:prstGeom prst="rect">
              <a:avLst/>
            </a:prstGeom>
            <a:noFill/>
            <a:ln>
              <a:noFill/>
            </a:ln>
          </p:spPr>
          <p:txBody>
            <a:bodyPr wrap="none" lIns="0" tIns="0" rIns="0" bIns="0" anchor="t" anchorCtr="0">
              <a:spAutoFit/>
            </a:bodyPr>
            <a:lstStyle/>
            <a:p>
              <a:pPr algn="ctr"/>
              <a:r>
                <a:rPr lang="zh-CN" sz="900" b="1" dirty="0">
                  <a:solidFill>
                    <a:srgbClr val="243B53"/>
                  </a:solidFill>
                  <a:latin typeface="+mn-lt"/>
                  <a:ea typeface="+mn-ea"/>
                  <a:cs typeface="+mn-cs"/>
                </a:rPr>
                <a:t>011</a:t>
              </a:r>
            </a:p>
          </p:txBody>
        </p:sp>
        <p:sp>
          <p:nvSpPr>
            <p:cNvPr id="75" name="TextBox 75"/>
            <p:cNvSpPr txBox="1"/>
            <p:nvPr/>
          </p:nvSpPr>
          <p:spPr>
            <a:xfrm>
              <a:off x="748487" y="3494723"/>
              <a:ext cx="219431" cy="176212"/>
            </a:xfrm>
            <a:prstGeom prst="rect">
              <a:avLst/>
            </a:prstGeom>
            <a:noFill/>
            <a:ln>
              <a:noFill/>
            </a:ln>
          </p:spPr>
          <p:txBody>
            <a:bodyPr wrap="none" lIns="0" tIns="0" rIns="0" bIns="0" anchor="t" anchorCtr="0">
              <a:spAutoFit/>
            </a:bodyPr>
            <a:lstStyle/>
            <a:p>
              <a:pPr algn="ctr"/>
              <a:r>
                <a:rPr lang="zh-CN" sz="900" b="1" dirty="0">
                  <a:solidFill>
                    <a:srgbClr val="243B53"/>
                  </a:solidFill>
                  <a:latin typeface="+mn-lt"/>
                  <a:ea typeface="+mn-ea"/>
                  <a:cs typeface="+mn-cs"/>
                </a:rPr>
                <a:t>100</a:t>
              </a:r>
            </a:p>
          </p:txBody>
        </p:sp>
        <p:sp>
          <p:nvSpPr>
            <p:cNvPr id="76" name="TextBox 76"/>
            <p:cNvSpPr txBox="1"/>
            <p:nvPr/>
          </p:nvSpPr>
          <p:spPr>
            <a:xfrm>
              <a:off x="6591122" y="3494723"/>
              <a:ext cx="219431" cy="176212"/>
            </a:xfrm>
            <a:prstGeom prst="rect">
              <a:avLst/>
            </a:prstGeom>
            <a:noFill/>
            <a:ln>
              <a:noFill/>
            </a:ln>
          </p:spPr>
          <p:txBody>
            <a:bodyPr wrap="none" lIns="0" tIns="0" rIns="0" bIns="0" anchor="t" anchorCtr="0">
              <a:spAutoFit/>
            </a:bodyPr>
            <a:lstStyle/>
            <a:p>
              <a:pPr algn="ctr"/>
              <a:r>
                <a:rPr lang="zh-CN" sz="900" b="1" dirty="0">
                  <a:solidFill>
                    <a:srgbClr val="243B53"/>
                  </a:solidFill>
                  <a:latin typeface="+mn-lt"/>
                  <a:ea typeface="+mn-ea"/>
                  <a:cs typeface="+mn-cs"/>
                </a:rPr>
                <a:t>100</a:t>
              </a:r>
            </a:p>
          </p:txBody>
        </p:sp>
        <p:sp>
          <p:nvSpPr>
            <p:cNvPr id="77" name="TextBox 77"/>
            <p:cNvSpPr txBox="1"/>
            <p:nvPr/>
          </p:nvSpPr>
          <p:spPr>
            <a:xfrm>
              <a:off x="748487" y="3892868"/>
              <a:ext cx="219431" cy="176212"/>
            </a:xfrm>
            <a:prstGeom prst="rect">
              <a:avLst/>
            </a:prstGeom>
            <a:noFill/>
            <a:ln>
              <a:noFill/>
            </a:ln>
          </p:spPr>
          <p:txBody>
            <a:bodyPr wrap="none" lIns="0" tIns="0" rIns="0" bIns="0" anchor="t" anchorCtr="0">
              <a:spAutoFit/>
            </a:bodyPr>
            <a:lstStyle/>
            <a:p>
              <a:pPr algn="ctr"/>
              <a:r>
                <a:rPr lang="zh-CN" sz="900" b="1" dirty="0">
                  <a:solidFill>
                    <a:srgbClr val="243B53"/>
                  </a:solidFill>
                  <a:latin typeface="+mn-lt"/>
                  <a:ea typeface="+mn-ea"/>
                  <a:cs typeface="+mn-cs"/>
                </a:rPr>
                <a:t>101</a:t>
              </a:r>
            </a:p>
          </p:txBody>
        </p:sp>
        <p:sp>
          <p:nvSpPr>
            <p:cNvPr id="78" name="TextBox 78"/>
            <p:cNvSpPr txBox="1"/>
            <p:nvPr/>
          </p:nvSpPr>
          <p:spPr>
            <a:xfrm>
              <a:off x="6591122" y="3892868"/>
              <a:ext cx="219431" cy="176212"/>
            </a:xfrm>
            <a:prstGeom prst="rect">
              <a:avLst/>
            </a:prstGeom>
            <a:noFill/>
            <a:ln>
              <a:noFill/>
            </a:ln>
          </p:spPr>
          <p:txBody>
            <a:bodyPr wrap="none" lIns="0" tIns="0" rIns="0" bIns="0" anchor="t" anchorCtr="0">
              <a:spAutoFit/>
            </a:bodyPr>
            <a:lstStyle/>
            <a:p>
              <a:pPr algn="ctr"/>
              <a:r>
                <a:rPr lang="zh-CN" sz="900" b="1" dirty="0">
                  <a:solidFill>
                    <a:srgbClr val="243B53"/>
                  </a:solidFill>
                  <a:latin typeface="+mn-lt"/>
                  <a:ea typeface="+mn-ea"/>
                  <a:cs typeface="+mn-cs"/>
                </a:rPr>
                <a:t>101</a:t>
              </a:r>
            </a:p>
          </p:txBody>
        </p:sp>
        <p:sp>
          <p:nvSpPr>
            <p:cNvPr id="79" name="TextBox 79"/>
            <p:cNvSpPr txBox="1"/>
            <p:nvPr/>
          </p:nvSpPr>
          <p:spPr>
            <a:xfrm>
              <a:off x="748487" y="4291012"/>
              <a:ext cx="219431" cy="176212"/>
            </a:xfrm>
            <a:prstGeom prst="rect">
              <a:avLst/>
            </a:prstGeom>
            <a:noFill/>
            <a:ln>
              <a:noFill/>
            </a:ln>
          </p:spPr>
          <p:txBody>
            <a:bodyPr wrap="none" lIns="0" tIns="0" rIns="0" bIns="0" anchor="t" anchorCtr="0">
              <a:spAutoFit/>
            </a:bodyPr>
            <a:lstStyle/>
            <a:p>
              <a:pPr algn="ctr"/>
              <a:r>
                <a:rPr lang="zh-CN" sz="900" b="1" dirty="0">
                  <a:solidFill>
                    <a:srgbClr val="243B53"/>
                  </a:solidFill>
                  <a:latin typeface="+mn-lt"/>
                  <a:ea typeface="+mn-ea"/>
                  <a:cs typeface="+mn-cs"/>
                </a:rPr>
                <a:t>110</a:t>
              </a:r>
            </a:p>
          </p:txBody>
        </p:sp>
        <p:sp>
          <p:nvSpPr>
            <p:cNvPr id="80" name="TextBox 80"/>
            <p:cNvSpPr txBox="1"/>
            <p:nvPr/>
          </p:nvSpPr>
          <p:spPr>
            <a:xfrm>
              <a:off x="6591122" y="4291012"/>
              <a:ext cx="219431" cy="176212"/>
            </a:xfrm>
            <a:prstGeom prst="rect">
              <a:avLst/>
            </a:prstGeom>
            <a:noFill/>
            <a:ln>
              <a:noFill/>
            </a:ln>
          </p:spPr>
          <p:txBody>
            <a:bodyPr wrap="none" lIns="0" tIns="0" rIns="0" bIns="0" anchor="t" anchorCtr="0">
              <a:spAutoFit/>
            </a:bodyPr>
            <a:lstStyle/>
            <a:p>
              <a:pPr algn="ctr"/>
              <a:r>
                <a:rPr lang="zh-CN" sz="900" b="1" dirty="0">
                  <a:solidFill>
                    <a:srgbClr val="243B53"/>
                  </a:solidFill>
                  <a:latin typeface="+mn-lt"/>
                  <a:ea typeface="+mn-ea"/>
                  <a:cs typeface="+mn-cs"/>
                </a:rPr>
                <a:t>110</a:t>
              </a:r>
            </a:p>
          </p:txBody>
        </p:sp>
        <p:sp>
          <p:nvSpPr>
            <p:cNvPr id="81" name="TextBox 81"/>
            <p:cNvSpPr txBox="1"/>
            <p:nvPr/>
          </p:nvSpPr>
          <p:spPr>
            <a:xfrm>
              <a:off x="748487" y="4689158"/>
              <a:ext cx="219431" cy="176212"/>
            </a:xfrm>
            <a:prstGeom prst="rect">
              <a:avLst/>
            </a:prstGeom>
            <a:noFill/>
            <a:ln>
              <a:noFill/>
            </a:ln>
          </p:spPr>
          <p:txBody>
            <a:bodyPr wrap="none" lIns="0" tIns="0" rIns="0" bIns="0" anchor="t" anchorCtr="0">
              <a:spAutoFit/>
            </a:bodyPr>
            <a:lstStyle/>
            <a:p>
              <a:pPr algn="ctr"/>
              <a:r>
                <a:rPr lang="zh-CN" sz="900" b="1" dirty="0">
                  <a:solidFill>
                    <a:srgbClr val="243B53"/>
                  </a:solidFill>
                  <a:latin typeface="+mn-lt"/>
                  <a:ea typeface="+mn-ea"/>
                  <a:cs typeface="+mn-cs"/>
                </a:rPr>
                <a:t>111</a:t>
              </a:r>
            </a:p>
          </p:txBody>
        </p:sp>
        <p:sp>
          <p:nvSpPr>
            <p:cNvPr id="82" name="TextBox 82"/>
            <p:cNvSpPr txBox="1"/>
            <p:nvPr/>
          </p:nvSpPr>
          <p:spPr>
            <a:xfrm>
              <a:off x="6591122" y="4689158"/>
              <a:ext cx="219431" cy="176212"/>
            </a:xfrm>
            <a:prstGeom prst="rect">
              <a:avLst/>
            </a:prstGeom>
            <a:noFill/>
            <a:ln>
              <a:noFill/>
            </a:ln>
          </p:spPr>
          <p:txBody>
            <a:bodyPr wrap="none" lIns="0" tIns="0" rIns="0" bIns="0" anchor="t" anchorCtr="0">
              <a:spAutoFit/>
            </a:bodyPr>
            <a:lstStyle/>
            <a:p>
              <a:pPr algn="ctr"/>
              <a:r>
                <a:rPr lang="zh-CN" sz="900" b="1" dirty="0">
                  <a:solidFill>
                    <a:srgbClr val="243B53"/>
                  </a:solidFill>
                  <a:latin typeface="+mn-lt"/>
                  <a:ea typeface="+mn-ea"/>
                  <a:cs typeface="+mn-cs"/>
                </a:rPr>
                <a:t>111</a:t>
              </a:r>
            </a:p>
          </p:txBody>
        </p:sp>
      </p:grpSp>
      <p:grpSp>
        <p:nvGrpSpPr>
          <p:cNvPr id="85" name="c1-text-2"/>
          <p:cNvGrpSpPr/>
          <p:nvPr/>
        </p:nvGrpSpPr>
        <p:grpSpPr>
          <a:xfrm>
            <a:off x="526923" y="5355431"/>
            <a:ext cx="5930138" cy="500824"/>
            <a:chOff x="526923" y="5355431"/>
            <a:chExt cx="5930138" cy="500824"/>
          </a:xfrm>
        </p:grpSpPr>
        <p:sp>
          <p:nvSpPr>
            <p:cNvPr id="84" name="TextBox 84"/>
            <p:cNvSpPr txBox="1"/>
            <p:nvPr/>
          </p:nvSpPr>
          <p:spPr>
            <a:xfrm>
              <a:off x="526923" y="5355431"/>
              <a:ext cx="5930138" cy="500824"/>
            </a:xfrm>
            <a:prstGeom prst="rect">
              <a:avLst/>
            </a:prstGeom>
            <a:noFill/>
            <a:ln>
              <a:noFill/>
            </a:ln>
          </p:spPr>
          <p:txBody>
            <a:bodyPr wrap="none" lIns="0" tIns="0" rIns="0" bIns="0" anchor="t" anchorCtr="0">
              <a:spAutoFit/>
            </a:bodyPr>
            <a:lstStyle/>
            <a:p>
              <a:pPr algn="l">
                <a:lnSpc>
                  <a:spcPts val="1980"/>
                </a:lnSpc>
              </a:pPr>
              <a:r>
                <a:rPr lang="zh-CN" sz="1280" dirty="0">
                  <a:solidFill>
                    <a:srgbClr val="5B6475"/>
                  </a:solidFill>
                  <a:latin typeface="+mn-lt"/>
                  <a:ea typeface="+mn-ea"/>
                  <a:cs typeface="+mn-cs"/>
                </a:rPr>
                <a:t>8 × 8 Ω 网络：3 级，每级前做一次完全混洗（地址循环左移一位），再过一列 4 个</a:t>
              </a:r>
              <a:br/>
              <a:r>
                <a:rPr lang="zh-CN" sz="1280" dirty="0">
                  <a:solidFill>
                    <a:srgbClr val="5B6475"/>
                  </a:solidFill>
                  <a:latin typeface="+mn-lt"/>
                  <a:ea typeface="+mn-ea"/>
                  <a:cs typeface="+mn-cs"/>
                </a:rPr>
                <a:t>2×2 开关。橙色是 010 → 101 的路径。</a:t>
              </a:r>
            </a:p>
          </p:txBody>
        </p:sp>
      </p:grpSp>
      <p:grpSp>
        <p:nvGrpSpPr>
          <p:cNvPr id="97" name="c2-kv-1"/>
          <p:cNvGrpSpPr/>
          <p:nvPr/>
        </p:nvGrpSpPr>
        <p:grpSpPr>
          <a:xfrm>
            <a:off x="7322820" y="1548765"/>
            <a:ext cx="4335780" cy="1613535"/>
            <a:chOff x="7322820" y="1548765"/>
            <a:chExt cx="4335780" cy="1613535"/>
          </a:xfrm>
        </p:grpSpPr>
        <p:sp>
          <p:nvSpPr>
            <p:cNvPr id="86" name="TextBox 86"/>
            <p:cNvSpPr txBox="1"/>
            <p:nvPr/>
          </p:nvSpPr>
          <p:spPr>
            <a:xfrm>
              <a:off x="7322820" y="1548765"/>
              <a:ext cx="419100" cy="293370"/>
            </a:xfrm>
            <a:prstGeom prst="rect">
              <a:avLst/>
            </a:prstGeom>
            <a:noFill/>
            <a:ln>
              <a:noFill/>
            </a:ln>
          </p:spPr>
          <p:txBody>
            <a:bodyPr wrap="none" lIns="0" tIns="0" rIns="0" bIns="0" anchor="t" anchorCtr="0">
              <a:spAutoFit/>
            </a:bodyPr>
            <a:lstStyle/>
            <a:p>
              <a:pPr algn="l"/>
              <a:r>
                <a:rPr lang="zh-CN" sz="1500" b="1" dirty="0">
                  <a:solidFill>
                    <a:srgbClr val="334E68"/>
                  </a:solidFill>
                  <a:latin typeface="+mn-lt"/>
                  <a:ea typeface="+mn-ea"/>
                  <a:cs typeface="+mn-cs"/>
                </a:rPr>
                <a:t>直通</a:t>
              </a:r>
            </a:p>
          </p:txBody>
        </p:sp>
        <p:sp>
          <p:nvSpPr>
            <p:cNvPr id="87" name="TextBox 87"/>
            <p:cNvSpPr txBox="1"/>
            <p:nvPr/>
          </p:nvSpPr>
          <p:spPr>
            <a:xfrm>
              <a:off x="7967662" y="1548765"/>
              <a:ext cx="183261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上入上出、下入下出</a:t>
              </a:r>
            </a:p>
          </p:txBody>
        </p:sp>
        <p:sp>
          <p:nvSpPr>
            <p:cNvPr id="88" name="Rectangle 88"/>
            <p:cNvSpPr/>
            <p:nvPr/>
          </p:nvSpPr>
          <p:spPr>
            <a:xfrm>
              <a:off x="7330440" y="1868805"/>
              <a:ext cx="4328160" cy="9525"/>
            </a:xfrm>
            <a:prstGeom prst="rect">
              <a:avLst/>
            </a:prstGeom>
            <a:solidFill>
              <a:srgbClr val="D9DFEA"/>
            </a:solidFill>
            <a:ln>
              <a:noFill/>
            </a:ln>
          </p:spPr>
        </p:sp>
        <p:sp>
          <p:nvSpPr>
            <p:cNvPr id="89" name="TextBox 89"/>
            <p:cNvSpPr txBox="1"/>
            <p:nvPr/>
          </p:nvSpPr>
          <p:spPr>
            <a:xfrm>
              <a:off x="7322820" y="1988820"/>
              <a:ext cx="419100" cy="293370"/>
            </a:xfrm>
            <a:prstGeom prst="rect">
              <a:avLst/>
            </a:prstGeom>
            <a:noFill/>
            <a:ln>
              <a:noFill/>
            </a:ln>
          </p:spPr>
          <p:txBody>
            <a:bodyPr wrap="none" lIns="0" tIns="0" rIns="0" bIns="0" anchor="t" anchorCtr="0">
              <a:spAutoFit/>
            </a:bodyPr>
            <a:lstStyle/>
            <a:p>
              <a:pPr algn="l"/>
              <a:r>
                <a:rPr lang="zh-CN" sz="1500" b="1" dirty="0">
                  <a:solidFill>
                    <a:srgbClr val="334E68"/>
                  </a:solidFill>
                  <a:latin typeface="+mn-lt"/>
                  <a:ea typeface="+mn-ea"/>
                  <a:cs typeface="+mn-cs"/>
                </a:rPr>
                <a:t>交叉</a:t>
              </a:r>
            </a:p>
          </p:txBody>
        </p:sp>
        <p:sp>
          <p:nvSpPr>
            <p:cNvPr id="90" name="TextBox 90"/>
            <p:cNvSpPr txBox="1"/>
            <p:nvPr/>
          </p:nvSpPr>
          <p:spPr>
            <a:xfrm>
              <a:off x="7967662" y="1988820"/>
              <a:ext cx="183261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上入下出、下入上出</a:t>
              </a:r>
            </a:p>
          </p:txBody>
        </p:sp>
        <p:sp>
          <p:nvSpPr>
            <p:cNvPr id="91" name="Rectangle 91"/>
            <p:cNvSpPr/>
            <p:nvPr/>
          </p:nvSpPr>
          <p:spPr>
            <a:xfrm>
              <a:off x="7330440" y="2308860"/>
              <a:ext cx="4328160" cy="9525"/>
            </a:xfrm>
            <a:prstGeom prst="rect">
              <a:avLst/>
            </a:prstGeom>
            <a:solidFill>
              <a:srgbClr val="D9DFEA"/>
            </a:solidFill>
            <a:ln>
              <a:noFill/>
            </a:ln>
          </p:spPr>
        </p:sp>
        <p:sp>
          <p:nvSpPr>
            <p:cNvPr id="92" name="TextBox 92"/>
            <p:cNvSpPr txBox="1"/>
            <p:nvPr/>
          </p:nvSpPr>
          <p:spPr>
            <a:xfrm>
              <a:off x="7322820" y="2428875"/>
              <a:ext cx="419100" cy="293370"/>
            </a:xfrm>
            <a:prstGeom prst="rect">
              <a:avLst/>
            </a:prstGeom>
            <a:noFill/>
            <a:ln>
              <a:noFill/>
            </a:ln>
          </p:spPr>
          <p:txBody>
            <a:bodyPr wrap="none" lIns="0" tIns="0" rIns="0" bIns="0" anchor="t" anchorCtr="0">
              <a:spAutoFit/>
            </a:bodyPr>
            <a:lstStyle/>
            <a:p>
              <a:pPr algn="l"/>
              <a:r>
                <a:rPr lang="zh-CN" sz="1500" b="1" dirty="0">
                  <a:solidFill>
                    <a:srgbClr val="334E68"/>
                  </a:solidFill>
                  <a:latin typeface="+mn-lt"/>
                  <a:ea typeface="+mn-ea"/>
                  <a:cs typeface="+mn-cs"/>
                </a:rPr>
                <a:t>上播</a:t>
              </a:r>
            </a:p>
          </p:txBody>
        </p:sp>
        <p:sp>
          <p:nvSpPr>
            <p:cNvPr id="93" name="TextBox 93"/>
            <p:cNvSpPr txBox="1"/>
            <p:nvPr/>
          </p:nvSpPr>
          <p:spPr>
            <a:xfrm>
              <a:off x="7967662" y="2428875"/>
              <a:ext cx="203454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上入同时送到两个出口</a:t>
              </a:r>
            </a:p>
          </p:txBody>
        </p:sp>
        <p:sp>
          <p:nvSpPr>
            <p:cNvPr id="94" name="Rectangle 94"/>
            <p:cNvSpPr/>
            <p:nvPr/>
          </p:nvSpPr>
          <p:spPr>
            <a:xfrm>
              <a:off x="7330440" y="2748915"/>
              <a:ext cx="4328160" cy="9525"/>
            </a:xfrm>
            <a:prstGeom prst="rect">
              <a:avLst/>
            </a:prstGeom>
            <a:solidFill>
              <a:srgbClr val="D9DFEA"/>
            </a:solidFill>
            <a:ln>
              <a:noFill/>
            </a:ln>
          </p:spPr>
        </p:sp>
        <p:sp>
          <p:nvSpPr>
            <p:cNvPr id="95" name="TextBox 95"/>
            <p:cNvSpPr txBox="1"/>
            <p:nvPr/>
          </p:nvSpPr>
          <p:spPr>
            <a:xfrm>
              <a:off x="7322820" y="2868930"/>
              <a:ext cx="419100" cy="293370"/>
            </a:xfrm>
            <a:prstGeom prst="rect">
              <a:avLst/>
            </a:prstGeom>
            <a:noFill/>
            <a:ln>
              <a:noFill/>
            </a:ln>
          </p:spPr>
          <p:txBody>
            <a:bodyPr wrap="none" lIns="0" tIns="0" rIns="0" bIns="0" anchor="t" anchorCtr="0">
              <a:spAutoFit/>
            </a:bodyPr>
            <a:lstStyle/>
            <a:p>
              <a:pPr algn="l"/>
              <a:r>
                <a:rPr lang="zh-CN" sz="1500" b="1" dirty="0">
                  <a:solidFill>
                    <a:srgbClr val="334E68"/>
                  </a:solidFill>
                  <a:latin typeface="+mn-lt"/>
                  <a:ea typeface="+mn-ea"/>
                  <a:cs typeface="+mn-cs"/>
                </a:rPr>
                <a:t>下播</a:t>
              </a:r>
            </a:p>
          </p:txBody>
        </p:sp>
        <p:sp>
          <p:nvSpPr>
            <p:cNvPr id="96" name="TextBox 96"/>
            <p:cNvSpPr txBox="1"/>
            <p:nvPr/>
          </p:nvSpPr>
          <p:spPr>
            <a:xfrm>
              <a:off x="7967662" y="2868930"/>
              <a:ext cx="203454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下入同时送到两个出口</a:t>
              </a:r>
            </a:p>
          </p:txBody>
        </p:sp>
      </p:grpSp>
      <p:grpSp>
        <p:nvGrpSpPr>
          <p:cNvPr id="111" name="c2-steps-2"/>
          <p:cNvGrpSpPr/>
          <p:nvPr/>
        </p:nvGrpSpPr>
        <p:grpSpPr>
          <a:xfrm>
            <a:off x="7330440" y="3303270"/>
            <a:ext cx="4140073" cy="3051144"/>
            <a:chOff x="7330440" y="3303270"/>
            <a:chExt cx="4140073" cy="3051144"/>
          </a:xfrm>
        </p:grpSpPr>
        <p:sp>
          <p:nvSpPr>
            <p:cNvPr id="98" name="Rectangle 98"/>
            <p:cNvSpPr/>
            <p:nvPr/>
          </p:nvSpPr>
          <p:spPr>
            <a:xfrm>
              <a:off x="7463790" y="3446145"/>
              <a:ext cx="19050" cy="2005965"/>
            </a:xfrm>
            <a:prstGeom prst="rect">
              <a:avLst/>
            </a:prstGeom>
            <a:solidFill>
              <a:srgbClr val="D9DFEA"/>
            </a:solidFill>
            <a:ln>
              <a:noFill/>
            </a:ln>
          </p:spPr>
        </p:sp>
        <p:sp>
          <p:nvSpPr>
            <p:cNvPr id="99" name="Ellipse 99"/>
            <p:cNvSpPr/>
            <p:nvPr/>
          </p:nvSpPr>
          <p:spPr>
            <a:xfrm>
              <a:off x="7330440" y="3303270"/>
              <a:ext cx="285750" cy="285750"/>
            </a:xfrm>
            <a:prstGeom prst="ellipse">
              <a:avLst/>
            </a:prstGeom>
            <a:solidFill>
              <a:srgbClr val="334E68"/>
            </a:solidFill>
            <a:ln>
              <a:noFill/>
            </a:ln>
          </p:spPr>
        </p:sp>
        <p:sp>
          <p:nvSpPr>
            <p:cNvPr id="100" name="TextBox 100"/>
            <p:cNvSpPr txBox="1"/>
            <p:nvPr/>
          </p:nvSpPr>
          <p:spPr>
            <a:xfrm>
              <a:off x="7424064" y="3377089"/>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1</a:t>
              </a:r>
            </a:p>
          </p:txBody>
        </p:sp>
        <p:sp>
          <p:nvSpPr>
            <p:cNvPr id="101" name="Ellipse 101"/>
            <p:cNvSpPr/>
            <p:nvPr/>
          </p:nvSpPr>
          <p:spPr>
            <a:xfrm>
              <a:off x="7330440" y="4189095"/>
              <a:ext cx="285750" cy="285750"/>
            </a:xfrm>
            <a:prstGeom prst="ellipse">
              <a:avLst/>
            </a:prstGeom>
            <a:solidFill>
              <a:srgbClr val="334E68"/>
            </a:solidFill>
            <a:ln>
              <a:noFill/>
            </a:ln>
          </p:spPr>
        </p:sp>
        <p:sp>
          <p:nvSpPr>
            <p:cNvPr id="102" name="TextBox 102"/>
            <p:cNvSpPr txBox="1"/>
            <p:nvPr/>
          </p:nvSpPr>
          <p:spPr>
            <a:xfrm>
              <a:off x="7424064" y="4262914"/>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2</a:t>
              </a:r>
            </a:p>
          </p:txBody>
        </p:sp>
        <p:sp>
          <p:nvSpPr>
            <p:cNvPr id="103" name="Ellipse 103"/>
            <p:cNvSpPr/>
            <p:nvPr/>
          </p:nvSpPr>
          <p:spPr>
            <a:xfrm>
              <a:off x="7330440" y="5309235"/>
              <a:ext cx="285750" cy="285750"/>
            </a:xfrm>
            <a:prstGeom prst="ellipse">
              <a:avLst/>
            </a:prstGeom>
            <a:solidFill>
              <a:srgbClr val="334E68"/>
            </a:solidFill>
            <a:ln>
              <a:noFill/>
            </a:ln>
          </p:spPr>
        </p:sp>
        <p:sp>
          <p:nvSpPr>
            <p:cNvPr id="104" name="TextBox 104"/>
            <p:cNvSpPr txBox="1"/>
            <p:nvPr/>
          </p:nvSpPr>
          <p:spPr>
            <a:xfrm>
              <a:off x="7424064" y="5383054"/>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3</a:t>
              </a:r>
            </a:p>
          </p:txBody>
        </p:sp>
        <p:sp>
          <p:nvSpPr>
            <p:cNvPr id="105" name="TextBox 105"/>
            <p:cNvSpPr txBox="1"/>
            <p:nvPr/>
          </p:nvSpPr>
          <p:spPr>
            <a:xfrm>
              <a:off x="7741920" y="3337560"/>
              <a:ext cx="822960"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路由规则</a:t>
              </a:r>
            </a:p>
          </p:txBody>
        </p:sp>
        <p:sp>
          <p:nvSpPr>
            <p:cNvPr id="106" name="TextBox 106"/>
            <p:cNvSpPr txBox="1"/>
            <p:nvPr/>
          </p:nvSpPr>
          <p:spPr>
            <a:xfrm>
              <a:off x="7743063" y="3631406"/>
              <a:ext cx="3646170" cy="483680"/>
            </a:xfrm>
            <a:prstGeom prst="rect">
              <a:avLst/>
            </a:prstGeom>
            <a:noFill/>
            <a:ln>
              <a:noFill/>
            </a:ln>
          </p:spPr>
          <p:txBody>
            <a:bodyPr wrap="none" lIns="0" tIns="0" rIns="0" bIns="0" anchor="t" anchorCtr="0">
              <a:spAutoFit/>
            </a:bodyPr>
            <a:lstStyle/>
            <a:p>
              <a:pPr algn="l">
                <a:lnSpc>
                  <a:spcPts val="1845"/>
                </a:lnSpc>
              </a:pPr>
              <a:r>
                <a:rPr lang="zh-CN" sz="1280" dirty="0">
                  <a:solidFill>
                    <a:srgbClr val="1F2937"/>
                  </a:solidFill>
                  <a:latin typeface="+mn-lt"/>
                  <a:ea typeface="+mn-ea"/>
                  <a:cs typeface="+mn-cs"/>
                </a:rPr>
                <a:t>第 i 级开关看目的地址的第 i 位（从最高位起），0</a:t>
              </a:r>
              <a:br/>
              <a:r>
                <a:rPr lang="zh-CN" sz="1280" dirty="0">
                  <a:solidFill>
                    <a:srgbClr val="1F2937"/>
                  </a:solidFill>
                  <a:latin typeface="+mn-lt"/>
                  <a:ea typeface="+mn-ea"/>
                  <a:cs typeface="+mn-cs"/>
                </a:rPr>
                <a:t>走上出口，1 走下出口</a:t>
              </a:r>
            </a:p>
          </p:txBody>
        </p:sp>
        <p:sp>
          <p:nvSpPr>
            <p:cNvPr id="107" name="TextBox 107"/>
            <p:cNvSpPr txBox="1"/>
            <p:nvPr/>
          </p:nvSpPr>
          <p:spPr>
            <a:xfrm>
              <a:off x="7741920" y="4223385"/>
              <a:ext cx="958758"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010 → 101</a:t>
              </a:r>
            </a:p>
          </p:txBody>
        </p:sp>
        <p:sp>
          <p:nvSpPr>
            <p:cNvPr id="108" name="TextBox 108"/>
            <p:cNvSpPr txBox="1"/>
            <p:nvPr/>
          </p:nvSpPr>
          <p:spPr>
            <a:xfrm>
              <a:off x="7743063" y="4516279"/>
              <a:ext cx="3540506" cy="717995"/>
            </a:xfrm>
            <a:prstGeom prst="rect">
              <a:avLst/>
            </a:prstGeom>
            <a:noFill/>
            <a:ln>
              <a:noFill/>
            </a:ln>
          </p:spPr>
          <p:txBody>
            <a:bodyPr wrap="none" lIns="0" tIns="0" rIns="0" bIns="0" anchor="t" anchorCtr="0">
              <a:spAutoFit/>
            </a:bodyPr>
            <a:lstStyle/>
            <a:p>
              <a:pPr algn="l">
                <a:lnSpc>
                  <a:spcPts val="1845"/>
                </a:lnSpc>
              </a:pPr>
              <a:r>
                <a:rPr lang="zh-CN" sz="1280" dirty="0">
                  <a:solidFill>
                    <a:srgbClr val="1F2937"/>
                  </a:solidFill>
                  <a:latin typeface="+mn-lt"/>
                  <a:ea typeface="+mn-ea"/>
                  <a:cs typeface="+mn-cs"/>
                </a:rPr>
                <a:t>混洗后进第 1 级的 100 端口，看 1 走下，出在</a:t>
              </a:r>
              <a:br/>
              <a:r>
                <a:rPr lang="zh-CN" sz="1280" dirty="0">
                  <a:solidFill>
                    <a:srgbClr val="1F2937"/>
                  </a:solidFill>
                  <a:latin typeface="+mn-lt"/>
                  <a:ea typeface="+mn-ea"/>
                  <a:cs typeface="+mn-cs"/>
                </a:rPr>
                <a:t>101；混洗到 011，看 0 走上，出在 010；混洗到</a:t>
              </a:r>
              <a:br/>
              <a:r>
                <a:rPr lang="zh-CN" sz="1280" dirty="0">
                  <a:solidFill>
                    <a:srgbClr val="1F2937"/>
                  </a:solidFill>
                  <a:latin typeface="+mn-lt"/>
                  <a:ea typeface="+mn-ea"/>
                  <a:cs typeface="+mn-cs"/>
                </a:rPr>
                <a:t>100，看 1 走下，到达 101</a:t>
              </a:r>
            </a:p>
          </p:txBody>
        </p:sp>
        <p:sp>
          <p:nvSpPr>
            <p:cNvPr id="109" name="TextBox 109"/>
            <p:cNvSpPr txBox="1"/>
            <p:nvPr/>
          </p:nvSpPr>
          <p:spPr>
            <a:xfrm>
              <a:off x="7741920" y="5343525"/>
              <a:ext cx="621030"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会阻塞</a:t>
              </a:r>
            </a:p>
          </p:txBody>
        </p:sp>
        <p:sp>
          <p:nvSpPr>
            <p:cNvPr id="110" name="TextBox 110"/>
            <p:cNvSpPr txBox="1"/>
            <p:nvPr/>
          </p:nvSpPr>
          <p:spPr>
            <a:xfrm>
              <a:off x="7743063" y="5636419"/>
              <a:ext cx="3727450" cy="717995"/>
            </a:xfrm>
            <a:prstGeom prst="rect">
              <a:avLst/>
            </a:prstGeom>
            <a:noFill/>
            <a:ln>
              <a:noFill/>
            </a:ln>
          </p:spPr>
          <p:txBody>
            <a:bodyPr wrap="none" lIns="0" tIns="0" rIns="0" bIns="0" anchor="t" anchorCtr="0">
              <a:spAutoFit/>
            </a:bodyPr>
            <a:lstStyle/>
            <a:p>
              <a:pPr algn="l">
                <a:lnSpc>
                  <a:spcPts val="1845"/>
                </a:lnSpc>
              </a:pPr>
              <a:r>
                <a:rPr lang="zh-CN" sz="1280" dirty="0">
                  <a:solidFill>
                    <a:srgbClr val="1F2937"/>
                  </a:solidFill>
                  <a:latin typeface="+mn-lt"/>
                  <a:ea typeface="+mn-ea"/>
                  <a:cs typeface="+mn-cs"/>
                </a:rPr>
                <a:t>000 → 010 与 100 → 011 在第 1 级进入同一个开</a:t>
              </a:r>
              <a:br/>
              <a:r>
                <a:rPr lang="zh-CN" sz="1280" dirty="0">
                  <a:solidFill>
                    <a:srgbClr val="1F2937"/>
                  </a:solidFill>
                  <a:latin typeface="+mn-lt"/>
                  <a:ea typeface="+mn-ea"/>
                  <a:cs typeface="+mn-cs"/>
                </a:rPr>
                <a:t>关，目的地址最高位都是 0，都要走上出口，只能一</a:t>
              </a:r>
              <a:br/>
              <a:r>
                <a:rPr lang="zh-CN" sz="1280" dirty="0">
                  <a:solidFill>
                    <a:srgbClr val="1F2937"/>
                  </a:solidFill>
                  <a:latin typeface="+mn-lt"/>
                  <a:ea typeface="+mn-ea"/>
                  <a:cs typeface="+mn-cs"/>
                </a:rPr>
                <a:t>个先过</a:t>
              </a:r>
            </a:p>
          </p:txBody>
        </p:sp>
      </p:grpSp>
      <p:grpSp>
        <p:nvGrpSpPr>
          <p:cNvPr id="114" name="footer"/>
          <p:cNvGrpSpPr/>
          <p:nvPr/>
        </p:nvGrpSpPr>
        <p:grpSpPr>
          <a:xfrm>
            <a:off x="528447" y="6581299"/>
            <a:ext cx="11135106" cy="190690"/>
            <a:chOff x="528447" y="6581299"/>
            <a:chExt cx="11135106" cy="190690"/>
          </a:xfrm>
        </p:grpSpPr>
        <p:sp>
          <p:nvSpPr>
            <p:cNvPr id="112" name="TextBox 112"/>
            <p:cNvSpPr txBox="1"/>
            <p:nvPr/>
          </p:nvSpPr>
          <p:spPr>
            <a:xfrm>
              <a:off x="528447" y="6581299"/>
              <a:ext cx="2120748"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并行与分布式计算 · 第7章 体系结构</a:t>
              </a:r>
            </a:p>
          </p:txBody>
        </p:sp>
        <p:sp>
          <p:nvSpPr>
            <p:cNvPr id="113" name="TextBox 113"/>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50</a:t>
              </a:r>
            </a:p>
          </p:txBody>
        </p:sp>
      </p:grpSp>
    </p:spTree>
  </p:cSld>
  <p:clrMapOvr>
    <a:masterClrMapping/>
  </p:clrMapOvr>
  <p:transition xmlns:p14="http://schemas.microsoft.com/office/powerpoint/2010/main" p14:dur="400">
    <p:fade/>
  </p:transition>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4488561" cy="909257"/>
            <a:chOff x="520446" y="342900"/>
            <a:chExt cx="4488561" cy="909257"/>
          </a:xfrm>
        </p:grpSpPr>
        <p:sp>
          <p:nvSpPr>
            <p:cNvPr id="2" name="Rectangle 2"/>
            <p:cNvSpPr/>
            <p:nvPr/>
          </p:nvSpPr>
          <p:spPr>
            <a:xfrm>
              <a:off x="533400" y="342900"/>
              <a:ext cx="1987868" cy="266700"/>
            </a:xfrm>
            <a:prstGeom prst="roundRect">
              <a:avLst>
                <a:gd name="adj" fmla="val 50000"/>
              </a:avLst>
            </a:prstGeom>
            <a:solidFill>
              <a:srgbClr val="E7EDF3"/>
            </a:solidFill>
            <a:ln>
              <a:noFill/>
            </a:ln>
          </p:spPr>
        </p:sp>
        <p:sp>
          <p:nvSpPr>
            <p:cNvPr id="3" name="TextBox 3"/>
            <p:cNvSpPr txBox="1"/>
            <p:nvPr/>
          </p:nvSpPr>
          <p:spPr>
            <a:xfrm>
              <a:off x="608957" y="407194"/>
              <a:ext cx="1835800"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第7章 体系结构 · 互连结构</a:t>
              </a:r>
            </a:p>
          </p:txBody>
        </p:sp>
        <p:sp>
          <p:nvSpPr>
            <p:cNvPr id="4" name="TextBox 4"/>
            <p:cNvSpPr txBox="1"/>
            <p:nvPr/>
          </p:nvSpPr>
          <p:spPr>
            <a:xfrm>
              <a:off x="520446" y="753428"/>
              <a:ext cx="4488561"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互连规模：从电路板到跨城市</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42" name="c1-table-1"/>
          <p:cNvGrpSpPr/>
          <p:nvPr/>
        </p:nvGrpSpPr>
        <p:grpSpPr>
          <a:xfrm>
            <a:off x="533400" y="1524000"/>
            <a:ext cx="6276022" cy="4792980"/>
            <a:chOff x="533400" y="1524000"/>
            <a:chExt cx="6276022" cy="4792980"/>
          </a:xfrm>
        </p:grpSpPr>
        <p:sp>
          <p:nvSpPr>
            <p:cNvPr id="7" name="Rectangle 7"/>
            <p:cNvSpPr/>
            <p:nvPr/>
          </p:nvSpPr>
          <p:spPr>
            <a:xfrm>
              <a:off x="533400" y="1524000"/>
              <a:ext cx="6276022" cy="487680"/>
            </a:xfrm>
            <a:prstGeom prst="rect">
              <a:avLst/>
            </a:prstGeom>
            <a:solidFill>
              <a:srgbClr val="334E68"/>
            </a:solidFill>
            <a:ln>
              <a:noFill/>
            </a:ln>
          </p:spPr>
        </p:sp>
        <p:sp>
          <p:nvSpPr>
            <p:cNvPr id="8" name="TextBox 8"/>
            <p:cNvSpPr txBox="1"/>
            <p:nvPr/>
          </p:nvSpPr>
          <p:spPr>
            <a:xfrm>
              <a:off x="1077278" y="1663065"/>
              <a:ext cx="419100" cy="293370"/>
            </a:xfrm>
            <a:prstGeom prst="rect">
              <a:avLst/>
            </a:prstGeom>
            <a:noFill/>
            <a:ln>
              <a:noFill/>
            </a:ln>
          </p:spPr>
          <p:txBody>
            <a:bodyPr wrap="none" lIns="0" tIns="0" rIns="0" bIns="0" anchor="t" anchorCtr="0">
              <a:spAutoFit/>
            </a:bodyPr>
            <a:lstStyle/>
            <a:p>
              <a:pPr algn="ctr"/>
              <a:r>
                <a:rPr lang="zh-CN" sz="1500" b="1" dirty="0">
                  <a:solidFill>
                    <a:srgbClr val="FFFFFF"/>
                  </a:solidFill>
                  <a:latin typeface="+mn-lt"/>
                  <a:ea typeface="+mn-ea"/>
                  <a:cs typeface="+mn-cs"/>
                </a:rPr>
                <a:t>类别</a:t>
              </a:r>
            </a:p>
          </p:txBody>
        </p:sp>
        <p:sp>
          <p:nvSpPr>
            <p:cNvPr id="9" name="TextBox 9"/>
            <p:cNvSpPr txBox="1"/>
            <p:nvPr/>
          </p:nvSpPr>
          <p:spPr>
            <a:xfrm>
              <a:off x="2300288" y="1663065"/>
              <a:ext cx="419100" cy="293370"/>
            </a:xfrm>
            <a:prstGeom prst="rect">
              <a:avLst/>
            </a:prstGeom>
            <a:noFill/>
            <a:ln>
              <a:noFill/>
            </a:ln>
          </p:spPr>
          <p:txBody>
            <a:bodyPr wrap="none" lIns="0" tIns="0" rIns="0" bIns="0" anchor="t" anchorCtr="0">
              <a:spAutoFit/>
            </a:bodyPr>
            <a:lstStyle/>
            <a:p>
              <a:pPr algn="ctr"/>
              <a:r>
                <a:rPr lang="zh-CN" sz="1500" b="1" dirty="0">
                  <a:solidFill>
                    <a:srgbClr val="FFFFFF"/>
                  </a:solidFill>
                  <a:latin typeface="+mn-lt"/>
                  <a:ea typeface="+mn-ea"/>
                  <a:cs typeface="+mn-cs"/>
                </a:rPr>
                <a:t>距离</a:t>
              </a:r>
            </a:p>
          </p:txBody>
        </p:sp>
        <p:sp>
          <p:nvSpPr>
            <p:cNvPr id="10" name="TextBox 10"/>
            <p:cNvSpPr txBox="1"/>
            <p:nvPr/>
          </p:nvSpPr>
          <p:spPr>
            <a:xfrm>
              <a:off x="3964305" y="1663065"/>
              <a:ext cx="419100" cy="293370"/>
            </a:xfrm>
            <a:prstGeom prst="rect">
              <a:avLst/>
            </a:prstGeom>
            <a:noFill/>
            <a:ln>
              <a:noFill/>
            </a:ln>
          </p:spPr>
          <p:txBody>
            <a:bodyPr wrap="none" lIns="0" tIns="0" rIns="0" bIns="0" anchor="t" anchorCtr="0">
              <a:spAutoFit/>
            </a:bodyPr>
            <a:lstStyle/>
            <a:p>
              <a:pPr algn="ctr"/>
              <a:r>
                <a:rPr lang="zh-CN" sz="1500" b="1" dirty="0">
                  <a:solidFill>
                    <a:srgbClr val="FFFFFF"/>
                  </a:solidFill>
                  <a:latin typeface="+mn-lt"/>
                  <a:ea typeface="+mn-ea"/>
                  <a:cs typeface="+mn-cs"/>
                </a:rPr>
                <a:t>特点</a:t>
              </a:r>
            </a:p>
          </p:txBody>
        </p:sp>
        <p:sp>
          <p:nvSpPr>
            <p:cNvPr id="11" name="TextBox 11"/>
            <p:cNvSpPr txBox="1"/>
            <p:nvPr/>
          </p:nvSpPr>
          <p:spPr>
            <a:xfrm>
              <a:off x="5877878" y="1663065"/>
              <a:ext cx="419100" cy="293370"/>
            </a:xfrm>
            <a:prstGeom prst="rect">
              <a:avLst/>
            </a:prstGeom>
            <a:noFill/>
            <a:ln>
              <a:noFill/>
            </a:ln>
          </p:spPr>
          <p:txBody>
            <a:bodyPr wrap="none" lIns="0" tIns="0" rIns="0" bIns="0" anchor="t" anchorCtr="0">
              <a:spAutoFit/>
            </a:bodyPr>
            <a:lstStyle/>
            <a:p>
              <a:pPr algn="ctr"/>
              <a:r>
                <a:rPr lang="zh-CN" sz="1500" b="1" dirty="0">
                  <a:solidFill>
                    <a:srgbClr val="FFFFFF"/>
                  </a:solidFill>
                  <a:latin typeface="+mn-lt"/>
                  <a:ea typeface="+mn-ea"/>
                  <a:cs typeface="+mn-cs"/>
                </a:rPr>
                <a:t>例子</a:t>
              </a:r>
            </a:p>
          </p:txBody>
        </p:sp>
        <p:sp>
          <p:nvSpPr>
            <p:cNvPr id="12" name="TextBox 12"/>
            <p:cNvSpPr txBox="1"/>
            <p:nvPr/>
          </p:nvSpPr>
          <p:spPr>
            <a:xfrm>
              <a:off x="640080" y="2284095"/>
              <a:ext cx="1197769" cy="560070"/>
            </a:xfrm>
            <a:prstGeom prst="rect">
              <a:avLst/>
            </a:prstGeom>
            <a:noFill/>
            <a:ln>
              <a:noFill/>
            </a:ln>
          </p:spPr>
          <p:txBody>
            <a:bodyPr wrap="none" lIns="0" tIns="0" rIns="0" bIns="0" anchor="t" anchorCtr="0">
              <a:spAutoFit/>
            </a:bodyPr>
            <a:lstStyle/>
            <a:p>
              <a:pPr algn="l">
                <a:lnSpc>
                  <a:spcPts val="2100"/>
                </a:lnSpc>
              </a:pPr>
              <a:r>
                <a:rPr lang="zh-CN" sz="1500" b="1" dirty="0">
                  <a:solidFill>
                    <a:srgbClr val="1F2937"/>
                  </a:solidFill>
                  <a:latin typeface="+mn-lt"/>
                  <a:ea typeface="+mn-ea"/>
                  <a:cs typeface="+mn-cs"/>
                </a:rPr>
                <a:t>总线 / 交叉开</a:t>
              </a:r>
              <a:br/>
              <a:r>
                <a:rPr lang="zh-CN" sz="1500" b="1" dirty="0">
                  <a:solidFill>
                    <a:srgbClr val="1F2937"/>
                  </a:solidFill>
                  <a:latin typeface="+mn-lt"/>
                  <a:ea typeface="+mn-ea"/>
                  <a:cs typeface="+mn-cs"/>
                </a:rPr>
                <a:t>关</a:t>
              </a:r>
            </a:p>
          </p:txBody>
        </p:sp>
        <p:sp>
          <p:nvSpPr>
            <p:cNvPr id="13" name="TextBox 13"/>
            <p:cNvSpPr txBox="1"/>
            <p:nvPr/>
          </p:nvSpPr>
          <p:spPr>
            <a:xfrm>
              <a:off x="2145982" y="2417445"/>
              <a:ext cx="41910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板内</a:t>
              </a:r>
            </a:p>
          </p:txBody>
        </p:sp>
        <p:sp>
          <p:nvSpPr>
            <p:cNvPr id="14" name="TextBox 14"/>
            <p:cNvSpPr txBox="1"/>
            <p:nvPr/>
          </p:nvSpPr>
          <p:spPr>
            <a:xfrm>
              <a:off x="3088005" y="2150745"/>
              <a:ext cx="1920240" cy="826770"/>
            </a:xfrm>
            <a:prstGeom prst="rect">
              <a:avLst/>
            </a:prstGeom>
            <a:noFill/>
            <a:ln>
              <a:noFill/>
            </a:ln>
          </p:spPr>
          <p:txBody>
            <a:bodyPr wrap="none" lIns="0" tIns="0" rIns="0" bIns="0" anchor="t" anchorCtr="0">
              <a:spAutoFit/>
            </a:bodyPr>
            <a:lstStyle/>
            <a:p>
              <a:pPr algn="l">
                <a:lnSpc>
                  <a:spcPts val="2100"/>
                </a:lnSpc>
              </a:pPr>
              <a:r>
                <a:rPr lang="zh-CN" sz="1500" dirty="0">
                  <a:solidFill>
                    <a:srgbClr val="1F2937"/>
                  </a:solidFill>
                  <a:latin typeface="+mn-lt"/>
                  <a:ea typeface="+mn-ea"/>
                  <a:cs typeface="+mn-cs"/>
                </a:rPr>
                <a:t>连接印刷电路板上的元</a:t>
              </a:r>
              <a:br/>
              <a:r>
                <a:rPr lang="zh-CN" sz="1500" dirty="0">
                  <a:solidFill>
                    <a:srgbClr val="1F2937"/>
                  </a:solidFill>
                  <a:latin typeface="+mn-lt"/>
                  <a:ea typeface="+mn-ea"/>
                  <a:cs typeface="+mn-cs"/>
                </a:rPr>
                <a:t>件，距离最短、带宽最</a:t>
              </a:r>
              <a:br/>
              <a:r>
                <a:rPr lang="zh-CN" sz="1500" dirty="0">
                  <a:solidFill>
                    <a:srgbClr val="1F2937"/>
                  </a:solidFill>
                  <a:latin typeface="+mn-lt"/>
                  <a:ea typeface="+mn-ea"/>
                  <a:cs typeface="+mn-cs"/>
                </a:rPr>
                <a:t>高</a:t>
              </a:r>
            </a:p>
          </p:txBody>
        </p:sp>
        <p:sp>
          <p:nvSpPr>
            <p:cNvPr id="15" name="TextBox 15"/>
            <p:cNvSpPr txBox="1"/>
            <p:nvPr/>
          </p:nvSpPr>
          <p:spPr>
            <a:xfrm>
              <a:off x="5472112" y="2417445"/>
              <a:ext cx="431292" cy="293370"/>
            </a:xfrm>
            <a:prstGeom prst="rect">
              <a:avLst/>
            </a:prstGeom>
            <a:noFill/>
            <a:ln>
              <a:noFill/>
            </a:ln>
          </p:spPr>
          <p:txBody>
            <a:bodyPr wrap="none" lIns="0" tIns="0" rIns="0" bIns="0" anchor="t" anchorCtr="0">
              <a:spAutoFit/>
            </a:bodyPr>
            <a:lstStyle/>
            <a:p>
              <a:pPr algn="l"/>
              <a:r>
                <a:rPr lang="en-US" sz="1500" dirty="0">
                  <a:solidFill>
                    <a:srgbClr val="1F2937"/>
                  </a:solidFill>
                  <a:latin typeface="+mn-lt"/>
                  <a:ea typeface="+mn-ea"/>
                  <a:cs typeface="+mn-cs"/>
                </a:rPr>
                <a:t>SCSI</a:t>
              </a:r>
            </a:p>
          </p:txBody>
        </p:sp>
        <p:sp>
          <p:nvSpPr>
            <p:cNvPr id="16" name="Rectangle 16"/>
            <p:cNvSpPr/>
            <p:nvPr/>
          </p:nvSpPr>
          <p:spPr>
            <a:xfrm>
              <a:off x="533400" y="3027998"/>
              <a:ext cx="6276022" cy="9525"/>
            </a:xfrm>
            <a:prstGeom prst="rect">
              <a:avLst/>
            </a:prstGeom>
            <a:solidFill>
              <a:srgbClr val="D9DFEA"/>
            </a:solidFill>
            <a:ln>
              <a:noFill/>
            </a:ln>
          </p:spPr>
        </p:sp>
        <p:sp>
          <p:nvSpPr>
            <p:cNvPr id="17" name="Rectangle 17"/>
            <p:cNvSpPr/>
            <p:nvPr/>
          </p:nvSpPr>
          <p:spPr>
            <a:xfrm>
              <a:off x="533400" y="3032760"/>
              <a:ext cx="6276022" cy="754380"/>
            </a:xfrm>
            <a:prstGeom prst="rect">
              <a:avLst/>
            </a:prstGeom>
            <a:solidFill>
              <a:srgbClr val="F4F6FB"/>
            </a:solidFill>
            <a:ln>
              <a:noFill/>
            </a:ln>
          </p:spPr>
        </p:sp>
        <p:sp>
          <p:nvSpPr>
            <p:cNvPr id="18" name="TextBox 18"/>
            <p:cNvSpPr txBox="1"/>
            <p:nvPr/>
          </p:nvSpPr>
          <p:spPr>
            <a:xfrm>
              <a:off x="640080" y="3305175"/>
              <a:ext cx="1057885"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SAN 系统网</a:t>
              </a:r>
            </a:p>
          </p:txBody>
        </p:sp>
        <p:sp>
          <p:nvSpPr>
            <p:cNvPr id="19" name="TextBox 19"/>
            <p:cNvSpPr txBox="1"/>
            <p:nvPr/>
          </p:nvSpPr>
          <p:spPr>
            <a:xfrm>
              <a:off x="2145982" y="3171825"/>
              <a:ext cx="520065" cy="560070"/>
            </a:xfrm>
            <a:prstGeom prst="rect">
              <a:avLst/>
            </a:prstGeom>
            <a:noFill/>
            <a:ln>
              <a:noFill/>
            </a:ln>
          </p:spPr>
          <p:txBody>
            <a:bodyPr wrap="none" lIns="0" tIns="0" rIns="0" bIns="0" anchor="t" anchorCtr="0">
              <a:spAutoFit/>
            </a:bodyPr>
            <a:lstStyle/>
            <a:p>
              <a:pPr algn="l">
                <a:lnSpc>
                  <a:spcPts val="2100"/>
                </a:lnSpc>
              </a:pPr>
              <a:r>
                <a:rPr lang="zh-CN" sz="1500" dirty="0">
                  <a:solidFill>
                    <a:srgbClr val="1F2937"/>
                  </a:solidFill>
                  <a:latin typeface="+mn-lt"/>
                  <a:ea typeface="+mn-ea"/>
                  <a:cs typeface="+mn-cs"/>
                </a:rPr>
                <a:t>3～25</a:t>
              </a:r>
              <a:br/>
              <a:r>
                <a:rPr lang="en-US" sz="1500" dirty="0">
                  <a:solidFill>
                    <a:srgbClr val="1F2937"/>
                  </a:solidFill>
                  <a:latin typeface="+mn-lt"/>
                  <a:ea typeface="+mn-ea"/>
                  <a:cs typeface="+mn-cs"/>
                </a:rPr>
                <a:t>m</a:t>
              </a:r>
            </a:p>
          </p:txBody>
        </p:sp>
        <p:sp>
          <p:nvSpPr>
            <p:cNvPr id="20" name="TextBox 20"/>
            <p:cNvSpPr txBox="1"/>
            <p:nvPr/>
          </p:nvSpPr>
          <p:spPr>
            <a:xfrm>
              <a:off x="3088005" y="3171825"/>
              <a:ext cx="1920240" cy="560070"/>
            </a:xfrm>
            <a:prstGeom prst="rect">
              <a:avLst/>
            </a:prstGeom>
            <a:noFill/>
            <a:ln>
              <a:noFill/>
            </a:ln>
          </p:spPr>
          <p:txBody>
            <a:bodyPr wrap="none" lIns="0" tIns="0" rIns="0" bIns="0" anchor="t" anchorCtr="0">
              <a:spAutoFit/>
            </a:bodyPr>
            <a:lstStyle/>
            <a:p>
              <a:pPr algn="l">
                <a:lnSpc>
                  <a:spcPts val="2100"/>
                </a:lnSpc>
              </a:pPr>
              <a:r>
                <a:rPr lang="zh-CN" sz="1500" dirty="0">
                  <a:solidFill>
                    <a:srgbClr val="1F2937"/>
                  </a:solidFill>
                  <a:latin typeface="+mn-lt"/>
                  <a:ea typeface="+mn-ea"/>
                  <a:cs typeface="+mn-cs"/>
                </a:rPr>
                <a:t>连成紧密耦合的单一系</a:t>
              </a:r>
              <a:br/>
              <a:r>
                <a:rPr lang="zh-CN" sz="1500" dirty="0">
                  <a:solidFill>
                    <a:srgbClr val="1F2937"/>
                  </a:solidFill>
                  <a:latin typeface="+mn-lt"/>
                  <a:ea typeface="+mn-ea"/>
                  <a:cs typeface="+mn-cs"/>
                </a:rPr>
                <a:t>统，带宽较高</a:t>
              </a:r>
            </a:p>
          </p:txBody>
        </p:sp>
        <p:sp>
          <p:nvSpPr>
            <p:cNvPr id="21" name="TextBox 21"/>
            <p:cNvSpPr txBox="1"/>
            <p:nvPr/>
          </p:nvSpPr>
          <p:spPr>
            <a:xfrm>
              <a:off x="5472112" y="3305175"/>
              <a:ext cx="985266" cy="293370"/>
            </a:xfrm>
            <a:prstGeom prst="rect">
              <a:avLst/>
            </a:prstGeom>
            <a:noFill/>
            <a:ln>
              <a:noFill/>
            </a:ln>
          </p:spPr>
          <p:txBody>
            <a:bodyPr wrap="none" lIns="0" tIns="0" rIns="0" bIns="0" anchor="t" anchorCtr="0">
              <a:spAutoFit/>
            </a:bodyPr>
            <a:lstStyle/>
            <a:p>
              <a:pPr algn="l"/>
              <a:r>
                <a:rPr lang="en-US" sz="1500" dirty="0">
                  <a:solidFill>
                    <a:srgbClr val="1F2937"/>
                  </a:solidFill>
                  <a:latin typeface="+mn-lt"/>
                  <a:ea typeface="+mn-ea"/>
                  <a:cs typeface="+mn-cs"/>
                </a:rPr>
                <a:t>InfiniBand</a:t>
              </a:r>
            </a:p>
          </p:txBody>
        </p:sp>
        <p:sp>
          <p:nvSpPr>
            <p:cNvPr id="22" name="Rectangle 22"/>
            <p:cNvSpPr/>
            <p:nvPr/>
          </p:nvSpPr>
          <p:spPr>
            <a:xfrm>
              <a:off x="533400" y="3782378"/>
              <a:ext cx="6276022" cy="9525"/>
            </a:xfrm>
            <a:prstGeom prst="rect">
              <a:avLst/>
            </a:prstGeom>
            <a:solidFill>
              <a:srgbClr val="D9DFEA"/>
            </a:solidFill>
            <a:ln>
              <a:noFill/>
            </a:ln>
          </p:spPr>
        </p:sp>
        <p:sp>
          <p:nvSpPr>
            <p:cNvPr id="23" name="TextBox 23"/>
            <p:cNvSpPr txBox="1"/>
            <p:nvPr/>
          </p:nvSpPr>
          <p:spPr>
            <a:xfrm>
              <a:off x="640080" y="4192905"/>
              <a:ext cx="1057885"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LAN 局域网</a:t>
              </a:r>
            </a:p>
          </p:txBody>
        </p:sp>
        <p:sp>
          <p:nvSpPr>
            <p:cNvPr id="24" name="TextBox 24"/>
            <p:cNvSpPr txBox="1"/>
            <p:nvPr/>
          </p:nvSpPr>
          <p:spPr>
            <a:xfrm>
              <a:off x="2145982" y="4059555"/>
              <a:ext cx="529590" cy="560070"/>
            </a:xfrm>
            <a:prstGeom prst="rect">
              <a:avLst/>
            </a:prstGeom>
            <a:noFill/>
            <a:ln>
              <a:noFill/>
            </a:ln>
          </p:spPr>
          <p:txBody>
            <a:bodyPr wrap="none" lIns="0" tIns="0" rIns="0" bIns="0" anchor="t" anchorCtr="0">
              <a:spAutoFit/>
            </a:bodyPr>
            <a:lstStyle/>
            <a:p>
              <a:pPr algn="l">
                <a:lnSpc>
                  <a:spcPts val="2100"/>
                </a:lnSpc>
              </a:pPr>
              <a:r>
                <a:rPr lang="zh-CN" sz="1500" dirty="0">
                  <a:solidFill>
                    <a:srgbClr val="1F2937"/>
                  </a:solidFill>
                  <a:latin typeface="+mn-lt"/>
                  <a:ea typeface="+mn-ea"/>
                  <a:cs typeface="+mn-cs"/>
                </a:rPr>
                <a:t>25～</a:t>
              </a:r>
              <a:br/>
              <a:r>
                <a:rPr lang="en-US" sz="1500" dirty="0">
                  <a:solidFill>
                    <a:srgbClr val="1F2937"/>
                  </a:solidFill>
                  <a:latin typeface="+mn-lt"/>
                  <a:ea typeface="+mn-ea"/>
                  <a:cs typeface="+mn-cs"/>
                </a:rPr>
                <a:t>500 m</a:t>
              </a:r>
            </a:p>
          </p:txBody>
        </p:sp>
        <p:sp>
          <p:nvSpPr>
            <p:cNvPr id="25" name="TextBox 25"/>
            <p:cNvSpPr txBox="1"/>
            <p:nvPr/>
          </p:nvSpPr>
          <p:spPr>
            <a:xfrm>
              <a:off x="3088005" y="3926205"/>
              <a:ext cx="1920240" cy="826770"/>
            </a:xfrm>
            <a:prstGeom prst="rect">
              <a:avLst/>
            </a:prstGeom>
            <a:noFill/>
            <a:ln>
              <a:noFill/>
            </a:ln>
          </p:spPr>
          <p:txBody>
            <a:bodyPr wrap="none" lIns="0" tIns="0" rIns="0" bIns="0" anchor="t" anchorCtr="0">
              <a:spAutoFit/>
            </a:bodyPr>
            <a:lstStyle/>
            <a:p>
              <a:pPr algn="l">
                <a:lnSpc>
                  <a:spcPts val="2100"/>
                </a:lnSpc>
              </a:pPr>
              <a:r>
                <a:rPr lang="zh-CN" sz="1500" dirty="0">
                  <a:solidFill>
                    <a:srgbClr val="1F2937"/>
                  </a:solidFill>
                  <a:latin typeface="+mn-lt"/>
                  <a:ea typeface="+mn-ea"/>
                  <a:cs typeface="+mn-cs"/>
                </a:rPr>
                <a:t>一座建筑或一个单位</a:t>
              </a:r>
              <a:br/>
              <a:r>
                <a:rPr lang="zh-CN" sz="1500" dirty="0">
                  <a:solidFill>
                    <a:srgbClr val="1F2937"/>
                  </a:solidFill>
                  <a:latin typeface="+mn-lt"/>
                  <a:ea typeface="+mn-ea"/>
                  <a:cs typeface="+mn-cs"/>
                </a:rPr>
                <a:t>内，形成松散耦合多机</a:t>
              </a:r>
              <a:br/>
              <a:r>
                <a:rPr lang="zh-CN" sz="1500" dirty="0">
                  <a:solidFill>
                    <a:srgbClr val="1F2937"/>
                  </a:solidFill>
                  <a:latin typeface="+mn-lt"/>
                  <a:ea typeface="+mn-ea"/>
                  <a:cs typeface="+mn-cs"/>
                </a:rPr>
                <a:t>系统</a:t>
              </a:r>
            </a:p>
          </p:txBody>
        </p:sp>
        <p:sp>
          <p:nvSpPr>
            <p:cNvPr id="26" name="TextBox 26"/>
            <p:cNvSpPr txBox="1"/>
            <p:nvPr/>
          </p:nvSpPr>
          <p:spPr>
            <a:xfrm>
              <a:off x="5472112" y="4192905"/>
              <a:ext cx="102489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千兆以太网</a:t>
              </a:r>
            </a:p>
          </p:txBody>
        </p:sp>
        <p:sp>
          <p:nvSpPr>
            <p:cNvPr id="27" name="Rectangle 27"/>
            <p:cNvSpPr/>
            <p:nvPr/>
          </p:nvSpPr>
          <p:spPr>
            <a:xfrm>
              <a:off x="533400" y="4803458"/>
              <a:ext cx="6276022" cy="9525"/>
            </a:xfrm>
            <a:prstGeom prst="rect">
              <a:avLst/>
            </a:prstGeom>
            <a:solidFill>
              <a:srgbClr val="D9DFEA"/>
            </a:solidFill>
            <a:ln>
              <a:noFill/>
            </a:ln>
          </p:spPr>
        </p:sp>
        <p:sp>
          <p:nvSpPr>
            <p:cNvPr id="28" name="Rectangle 28"/>
            <p:cNvSpPr/>
            <p:nvPr/>
          </p:nvSpPr>
          <p:spPr>
            <a:xfrm>
              <a:off x="533400" y="4808220"/>
              <a:ext cx="6276022" cy="754380"/>
            </a:xfrm>
            <a:prstGeom prst="rect">
              <a:avLst/>
            </a:prstGeom>
            <a:solidFill>
              <a:srgbClr val="F4F6FB"/>
            </a:solidFill>
            <a:ln>
              <a:noFill/>
            </a:ln>
          </p:spPr>
        </p:sp>
        <p:sp>
          <p:nvSpPr>
            <p:cNvPr id="29" name="TextBox 29"/>
            <p:cNvSpPr txBox="1"/>
            <p:nvPr/>
          </p:nvSpPr>
          <p:spPr>
            <a:xfrm>
              <a:off x="640080" y="5080635"/>
              <a:ext cx="1102690"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MAN 城域网</a:t>
              </a:r>
            </a:p>
          </p:txBody>
        </p:sp>
        <p:sp>
          <p:nvSpPr>
            <p:cNvPr id="30" name="TextBox 30"/>
            <p:cNvSpPr txBox="1"/>
            <p:nvPr/>
          </p:nvSpPr>
          <p:spPr>
            <a:xfrm>
              <a:off x="2145982" y="4947285"/>
              <a:ext cx="386715" cy="560070"/>
            </a:xfrm>
            <a:prstGeom prst="rect">
              <a:avLst/>
            </a:prstGeom>
            <a:noFill/>
            <a:ln>
              <a:noFill/>
            </a:ln>
          </p:spPr>
          <p:txBody>
            <a:bodyPr wrap="none" lIns="0" tIns="0" rIns="0" bIns="0" anchor="t" anchorCtr="0">
              <a:spAutoFit/>
            </a:bodyPr>
            <a:lstStyle/>
            <a:p>
              <a:pPr algn="l">
                <a:lnSpc>
                  <a:spcPts val="2100"/>
                </a:lnSpc>
              </a:pPr>
              <a:r>
                <a:rPr lang="zh-CN" sz="1500" dirty="0">
                  <a:solidFill>
                    <a:srgbClr val="1F2937"/>
                  </a:solidFill>
                  <a:latin typeface="+mn-lt"/>
                  <a:ea typeface="+mn-ea"/>
                  <a:cs typeface="+mn-cs"/>
                </a:rPr>
                <a:t>≤ 25</a:t>
              </a:r>
              <a:br/>
              <a:r>
                <a:rPr lang="en-US" sz="1500" dirty="0">
                  <a:solidFill>
                    <a:srgbClr val="1F2937"/>
                  </a:solidFill>
                  <a:latin typeface="+mn-lt"/>
                  <a:ea typeface="+mn-ea"/>
                  <a:cs typeface="+mn-cs"/>
                </a:rPr>
                <a:t>km</a:t>
              </a:r>
            </a:p>
          </p:txBody>
        </p:sp>
        <p:sp>
          <p:nvSpPr>
            <p:cNvPr id="31" name="TextBox 31"/>
            <p:cNvSpPr txBox="1"/>
            <p:nvPr/>
          </p:nvSpPr>
          <p:spPr>
            <a:xfrm>
              <a:off x="3088005" y="5080635"/>
              <a:ext cx="122682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覆盖整个城市</a:t>
              </a:r>
            </a:p>
          </p:txBody>
        </p:sp>
        <p:sp>
          <p:nvSpPr>
            <p:cNvPr id="32" name="TextBox 32"/>
            <p:cNvSpPr txBox="1"/>
            <p:nvPr/>
          </p:nvSpPr>
          <p:spPr>
            <a:xfrm>
              <a:off x="5472112" y="4947285"/>
              <a:ext cx="1015365" cy="560070"/>
            </a:xfrm>
            <a:prstGeom prst="rect">
              <a:avLst/>
            </a:prstGeom>
            <a:noFill/>
            <a:ln>
              <a:noFill/>
            </a:ln>
          </p:spPr>
          <p:txBody>
            <a:bodyPr wrap="none" lIns="0" tIns="0" rIns="0" bIns="0" anchor="t" anchorCtr="0">
              <a:spAutoFit/>
            </a:bodyPr>
            <a:lstStyle/>
            <a:p>
              <a:pPr algn="l">
                <a:lnSpc>
                  <a:spcPts val="2100"/>
                </a:lnSpc>
              </a:pPr>
              <a:r>
                <a:rPr lang="zh-CN" sz="1500" dirty="0">
                  <a:solidFill>
                    <a:srgbClr val="1F2937"/>
                  </a:solidFill>
                  <a:latin typeface="+mn-lt"/>
                  <a:ea typeface="+mn-ea"/>
                  <a:cs typeface="+mn-cs"/>
                </a:rPr>
                <a:t>FDDI 光纤网</a:t>
              </a:r>
              <a:br/>
              <a:r>
                <a:rPr lang="zh-CN" sz="1500" dirty="0">
                  <a:solidFill>
                    <a:srgbClr val="1F2937"/>
                  </a:solidFill>
                  <a:latin typeface="+mn-lt"/>
                  <a:ea typeface="+mn-ea"/>
                  <a:cs typeface="+mn-cs"/>
                </a:rPr>
                <a:t>络</a:t>
              </a:r>
            </a:p>
          </p:txBody>
        </p:sp>
        <p:sp>
          <p:nvSpPr>
            <p:cNvPr id="33" name="Rectangle 33"/>
            <p:cNvSpPr/>
            <p:nvPr/>
          </p:nvSpPr>
          <p:spPr>
            <a:xfrm>
              <a:off x="533400" y="5557838"/>
              <a:ext cx="6276022" cy="9525"/>
            </a:xfrm>
            <a:prstGeom prst="rect">
              <a:avLst/>
            </a:prstGeom>
            <a:solidFill>
              <a:srgbClr val="D9DFEA"/>
            </a:solidFill>
            <a:ln>
              <a:noFill/>
            </a:ln>
          </p:spPr>
        </p:sp>
        <p:sp>
          <p:nvSpPr>
            <p:cNvPr id="34" name="TextBox 34"/>
            <p:cNvSpPr txBox="1"/>
            <p:nvPr/>
          </p:nvSpPr>
          <p:spPr>
            <a:xfrm>
              <a:off x="640080" y="5835015"/>
              <a:ext cx="1102690"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WAN 广域网</a:t>
              </a:r>
            </a:p>
          </p:txBody>
        </p:sp>
        <p:sp>
          <p:nvSpPr>
            <p:cNvPr id="35" name="TextBox 35"/>
            <p:cNvSpPr txBox="1"/>
            <p:nvPr/>
          </p:nvSpPr>
          <p:spPr>
            <a:xfrm>
              <a:off x="2145982" y="5701665"/>
              <a:ext cx="586740" cy="560070"/>
            </a:xfrm>
            <a:prstGeom prst="rect">
              <a:avLst/>
            </a:prstGeom>
            <a:noFill/>
            <a:ln>
              <a:noFill/>
            </a:ln>
          </p:spPr>
          <p:txBody>
            <a:bodyPr wrap="none" lIns="0" tIns="0" rIns="0" bIns="0" anchor="t" anchorCtr="0">
              <a:spAutoFit/>
            </a:bodyPr>
            <a:lstStyle/>
            <a:p>
              <a:pPr algn="l">
                <a:lnSpc>
                  <a:spcPts val="2100"/>
                </a:lnSpc>
              </a:pPr>
              <a:r>
                <a:rPr lang="zh-CN" sz="1500" dirty="0">
                  <a:solidFill>
                    <a:srgbClr val="1F2937"/>
                  </a:solidFill>
                  <a:latin typeface="+mn-lt"/>
                  <a:ea typeface="+mn-ea"/>
                  <a:cs typeface="+mn-cs"/>
                </a:rPr>
                <a:t>城市之</a:t>
              </a:r>
              <a:br/>
              <a:r>
                <a:rPr lang="zh-CN" sz="1500" dirty="0">
                  <a:solidFill>
                    <a:srgbClr val="1F2937"/>
                  </a:solidFill>
                  <a:latin typeface="+mn-lt"/>
                  <a:ea typeface="+mn-ea"/>
                  <a:cs typeface="+mn-cs"/>
                </a:rPr>
                <a:t>间</a:t>
              </a:r>
            </a:p>
          </p:txBody>
        </p:sp>
        <p:sp>
          <p:nvSpPr>
            <p:cNvPr id="36" name="TextBox 36"/>
            <p:cNvSpPr txBox="1"/>
            <p:nvPr/>
          </p:nvSpPr>
          <p:spPr>
            <a:xfrm>
              <a:off x="3088005" y="5701665"/>
              <a:ext cx="1920240" cy="560070"/>
            </a:xfrm>
            <a:prstGeom prst="rect">
              <a:avLst/>
            </a:prstGeom>
            <a:noFill/>
            <a:ln>
              <a:noFill/>
            </a:ln>
          </p:spPr>
          <p:txBody>
            <a:bodyPr wrap="none" lIns="0" tIns="0" rIns="0" bIns="0" anchor="t" anchorCtr="0">
              <a:spAutoFit/>
            </a:bodyPr>
            <a:lstStyle/>
            <a:p>
              <a:pPr algn="l">
                <a:lnSpc>
                  <a:spcPts val="2100"/>
                </a:lnSpc>
              </a:pPr>
              <a:r>
                <a:rPr lang="zh-CN" sz="1500" dirty="0">
                  <a:solidFill>
                    <a:srgbClr val="1F2937"/>
                  </a:solidFill>
                  <a:latin typeface="+mn-lt"/>
                  <a:ea typeface="+mn-ea"/>
                  <a:cs typeface="+mn-cs"/>
                </a:rPr>
                <a:t>国家级网络，通常是逻</a:t>
              </a:r>
              <a:br/>
              <a:r>
                <a:rPr lang="zh-CN" sz="1500" dirty="0">
                  <a:solidFill>
                    <a:srgbClr val="1F2937"/>
                  </a:solidFill>
                  <a:latin typeface="+mn-lt"/>
                  <a:ea typeface="+mn-ea"/>
                  <a:cs typeface="+mn-cs"/>
                </a:rPr>
                <a:t>辑链路而非物理链路</a:t>
              </a:r>
            </a:p>
          </p:txBody>
        </p:sp>
        <p:sp>
          <p:nvSpPr>
            <p:cNvPr id="37" name="TextBox 37"/>
            <p:cNvSpPr txBox="1"/>
            <p:nvPr/>
          </p:nvSpPr>
          <p:spPr>
            <a:xfrm>
              <a:off x="5472112" y="5835015"/>
              <a:ext cx="102489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中国教育网</a:t>
              </a:r>
            </a:p>
          </p:txBody>
        </p:sp>
        <p:sp>
          <p:nvSpPr>
            <p:cNvPr id="38" name="Rectangle 38"/>
            <p:cNvSpPr/>
            <p:nvPr/>
          </p:nvSpPr>
          <p:spPr>
            <a:xfrm>
              <a:off x="533400" y="1524000"/>
              <a:ext cx="6276022" cy="4792980"/>
            </a:xfrm>
            <a:prstGeom prst="rect">
              <a:avLst/>
            </a:prstGeom>
            <a:noFill/>
            <a:ln w="14288">
              <a:solidFill>
                <a:srgbClr val="D9DFEA"/>
              </a:solidFill>
            </a:ln>
          </p:spPr>
        </p:sp>
        <p:sp>
          <p:nvSpPr>
            <p:cNvPr id="39" name="Rectangle 39"/>
            <p:cNvSpPr/>
            <p:nvPr/>
          </p:nvSpPr>
          <p:spPr>
            <a:xfrm>
              <a:off x="2034540" y="1524000"/>
              <a:ext cx="9525" cy="4792980"/>
            </a:xfrm>
            <a:prstGeom prst="rect">
              <a:avLst/>
            </a:prstGeom>
            <a:solidFill>
              <a:srgbClr val="D9DFEA"/>
            </a:solidFill>
            <a:ln>
              <a:noFill/>
            </a:ln>
          </p:spPr>
        </p:sp>
        <p:sp>
          <p:nvSpPr>
            <p:cNvPr id="40" name="Rectangle 40"/>
            <p:cNvSpPr/>
            <p:nvPr/>
          </p:nvSpPr>
          <p:spPr>
            <a:xfrm>
              <a:off x="2976562" y="1524000"/>
              <a:ext cx="9525" cy="4792980"/>
            </a:xfrm>
            <a:prstGeom prst="rect">
              <a:avLst/>
            </a:prstGeom>
            <a:solidFill>
              <a:srgbClr val="D9DFEA"/>
            </a:solidFill>
            <a:ln>
              <a:noFill/>
            </a:ln>
          </p:spPr>
        </p:sp>
        <p:sp>
          <p:nvSpPr>
            <p:cNvPr id="41" name="Rectangle 41"/>
            <p:cNvSpPr/>
            <p:nvPr/>
          </p:nvSpPr>
          <p:spPr>
            <a:xfrm>
              <a:off x="5360670" y="1524000"/>
              <a:ext cx="9525" cy="4792980"/>
            </a:xfrm>
            <a:prstGeom prst="rect">
              <a:avLst/>
            </a:prstGeom>
            <a:solidFill>
              <a:srgbClr val="D9DFEA"/>
            </a:solidFill>
            <a:ln>
              <a:noFill/>
            </a:ln>
          </p:spPr>
        </p:sp>
      </p:grpSp>
      <p:grpSp>
        <p:nvGrpSpPr>
          <p:cNvPr id="60" name="c2-kv-1"/>
          <p:cNvGrpSpPr/>
          <p:nvPr/>
        </p:nvGrpSpPr>
        <p:grpSpPr>
          <a:xfrm>
            <a:off x="7106602" y="1548765"/>
            <a:ext cx="4551998" cy="2493645"/>
            <a:chOff x="7106602" y="1548765"/>
            <a:chExt cx="4551998" cy="2493645"/>
          </a:xfrm>
        </p:grpSpPr>
        <p:sp>
          <p:nvSpPr>
            <p:cNvPr id="43" name="TextBox 43"/>
            <p:cNvSpPr txBox="1"/>
            <p:nvPr/>
          </p:nvSpPr>
          <p:spPr>
            <a:xfrm>
              <a:off x="7106602" y="1548765"/>
              <a:ext cx="1146581" cy="293370"/>
            </a:xfrm>
            <a:prstGeom prst="rect">
              <a:avLst/>
            </a:prstGeom>
            <a:noFill/>
            <a:ln>
              <a:noFill/>
            </a:ln>
          </p:spPr>
          <p:txBody>
            <a:bodyPr wrap="none" lIns="0" tIns="0" rIns="0" bIns="0" anchor="t" anchorCtr="0">
              <a:spAutoFit/>
            </a:bodyPr>
            <a:lstStyle/>
            <a:p>
              <a:pPr algn="l"/>
              <a:r>
                <a:rPr lang="en-US" sz="1500" b="1" dirty="0">
                  <a:solidFill>
                    <a:srgbClr val="334E68"/>
                  </a:solidFill>
                  <a:latin typeface="+mn-lt"/>
                  <a:ea typeface="+mn-ea"/>
                  <a:cs typeface="+mn-cs"/>
                </a:rPr>
                <a:t>PCI / PCI-E</a:t>
              </a:r>
            </a:p>
          </p:txBody>
        </p:sp>
        <p:sp>
          <p:nvSpPr>
            <p:cNvPr id="44" name="TextBox 44"/>
            <p:cNvSpPr txBox="1"/>
            <p:nvPr/>
          </p:nvSpPr>
          <p:spPr>
            <a:xfrm>
              <a:off x="8405812" y="1548765"/>
              <a:ext cx="284226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机箱内部件互连的局部总线标准</a:t>
              </a:r>
            </a:p>
          </p:txBody>
        </p:sp>
        <p:sp>
          <p:nvSpPr>
            <p:cNvPr id="45" name="Rectangle 45"/>
            <p:cNvSpPr/>
            <p:nvPr/>
          </p:nvSpPr>
          <p:spPr>
            <a:xfrm>
              <a:off x="7114222" y="1868805"/>
              <a:ext cx="4544378" cy="9525"/>
            </a:xfrm>
            <a:prstGeom prst="rect">
              <a:avLst/>
            </a:prstGeom>
            <a:solidFill>
              <a:srgbClr val="D9DFEA"/>
            </a:solidFill>
            <a:ln>
              <a:noFill/>
            </a:ln>
          </p:spPr>
        </p:sp>
        <p:sp>
          <p:nvSpPr>
            <p:cNvPr id="46" name="TextBox 46"/>
            <p:cNvSpPr txBox="1"/>
            <p:nvPr/>
          </p:nvSpPr>
          <p:spPr>
            <a:xfrm>
              <a:off x="7106602" y="1988820"/>
              <a:ext cx="1033767" cy="293370"/>
            </a:xfrm>
            <a:prstGeom prst="rect">
              <a:avLst/>
            </a:prstGeom>
            <a:noFill/>
            <a:ln>
              <a:noFill/>
            </a:ln>
          </p:spPr>
          <p:txBody>
            <a:bodyPr wrap="none" lIns="0" tIns="0" rIns="0" bIns="0" anchor="t" anchorCtr="0">
              <a:spAutoFit/>
            </a:bodyPr>
            <a:lstStyle/>
            <a:p>
              <a:pPr algn="l"/>
              <a:r>
                <a:rPr lang="en-US" sz="1500" b="1" dirty="0">
                  <a:solidFill>
                    <a:srgbClr val="334E68"/>
                  </a:solidFill>
                  <a:latin typeface="+mn-lt"/>
                  <a:ea typeface="+mn-ea"/>
                  <a:cs typeface="+mn-cs"/>
                </a:rPr>
                <a:t>InfiniBand</a:t>
              </a:r>
            </a:p>
          </p:txBody>
        </p:sp>
        <p:sp>
          <p:nvSpPr>
            <p:cNvPr id="47" name="TextBox 47"/>
            <p:cNvSpPr txBox="1"/>
            <p:nvPr/>
          </p:nvSpPr>
          <p:spPr>
            <a:xfrm>
              <a:off x="8405812" y="1988820"/>
              <a:ext cx="324612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服务器、存储之间的高速低延迟互连</a:t>
              </a:r>
            </a:p>
          </p:txBody>
        </p:sp>
        <p:sp>
          <p:nvSpPr>
            <p:cNvPr id="48" name="Rectangle 48"/>
            <p:cNvSpPr/>
            <p:nvPr/>
          </p:nvSpPr>
          <p:spPr>
            <a:xfrm>
              <a:off x="7114222" y="2308860"/>
              <a:ext cx="4544378" cy="9525"/>
            </a:xfrm>
            <a:prstGeom prst="rect">
              <a:avLst/>
            </a:prstGeom>
            <a:solidFill>
              <a:srgbClr val="D9DFEA"/>
            </a:solidFill>
            <a:ln>
              <a:noFill/>
            </a:ln>
          </p:spPr>
        </p:sp>
        <p:sp>
          <p:nvSpPr>
            <p:cNvPr id="49" name="TextBox 49"/>
            <p:cNvSpPr txBox="1"/>
            <p:nvPr/>
          </p:nvSpPr>
          <p:spPr>
            <a:xfrm>
              <a:off x="7106602" y="2428875"/>
              <a:ext cx="621030" cy="293370"/>
            </a:xfrm>
            <a:prstGeom prst="rect">
              <a:avLst/>
            </a:prstGeom>
            <a:noFill/>
            <a:ln>
              <a:noFill/>
            </a:ln>
          </p:spPr>
          <p:txBody>
            <a:bodyPr wrap="none" lIns="0" tIns="0" rIns="0" bIns="0" anchor="t" anchorCtr="0">
              <a:spAutoFit/>
            </a:bodyPr>
            <a:lstStyle/>
            <a:p>
              <a:pPr algn="l"/>
              <a:r>
                <a:rPr lang="zh-CN" sz="1500" b="1" dirty="0">
                  <a:solidFill>
                    <a:srgbClr val="334E68"/>
                  </a:solidFill>
                  <a:latin typeface="+mn-lt"/>
                  <a:ea typeface="+mn-ea"/>
                  <a:cs typeface="+mn-cs"/>
                </a:rPr>
                <a:t>以太网</a:t>
              </a:r>
            </a:p>
          </p:txBody>
        </p:sp>
        <p:sp>
          <p:nvSpPr>
            <p:cNvPr id="50" name="TextBox 50"/>
            <p:cNvSpPr txBox="1"/>
            <p:nvPr/>
          </p:nvSpPr>
          <p:spPr>
            <a:xfrm>
              <a:off x="8405812" y="2428875"/>
              <a:ext cx="183261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最普遍的局域网技术</a:t>
              </a:r>
            </a:p>
          </p:txBody>
        </p:sp>
        <p:sp>
          <p:nvSpPr>
            <p:cNvPr id="51" name="Rectangle 51"/>
            <p:cNvSpPr/>
            <p:nvPr/>
          </p:nvSpPr>
          <p:spPr>
            <a:xfrm>
              <a:off x="7114222" y="2748915"/>
              <a:ext cx="4544378" cy="9525"/>
            </a:xfrm>
            <a:prstGeom prst="rect">
              <a:avLst/>
            </a:prstGeom>
            <a:solidFill>
              <a:srgbClr val="D9DFEA"/>
            </a:solidFill>
            <a:ln>
              <a:noFill/>
            </a:ln>
          </p:spPr>
        </p:sp>
        <p:sp>
          <p:nvSpPr>
            <p:cNvPr id="52" name="TextBox 52"/>
            <p:cNvSpPr txBox="1"/>
            <p:nvPr/>
          </p:nvSpPr>
          <p:spPr>
            <a:xfrm>
              <a:off x="7106602" y="2868930"/>
              <a:ext cx="452095" cy="293370"/>
            </a:xfrm>
            <a:prstGeom prst="rect">
              <a:avLst/>
            </a:prstGeom>
            <a:noFill/>
            <a:ln>
              <a:noFill/>
            </a:ln>
          </p:spPr>
          <p:txBody>
            <a:bodyPr wrap="none" lIns="0" tIns="0" rIns="0" bIns="0" anchor="t" anchorCtr="0">
              <a:spAutoFit/>
            </a:bodyPr>
            <a:lstStyle/>
            <a:p>
              <a:pPr algn="l"/>
              <a:r>
                <a:rPr lang="en-US" sz="1500" b="1" dirty="0">
                  <a:solidFill>
                    <a:srgbClr val="334E68"/>
                  </a:solidFill>
                  <a:latin typeface="+mn-lt"/>
                  <a:ea typeface="+mn-ea"/>
                  <a:cs typeface="+mn-cs"/>
                </a:rPr>
                <a:t>FDDI</a:t>
              </a:r>
            </a:p>
          </p:txBody>
        </p:sp>
        <p:sp>
          <p:nvSpPr>
            <p:cNvPr id="53" name="TextBox 53"/>
            <p:cNvSpPr txBox="1"/>
            <p:nvPr/>
          </p:nvSpPr>
          <p:spPr>
            <a:xfrm>
              <a:off x="8405812" y="2868930"/>
              <a:ext cx="284226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双环光纤令牌网，适合较长距离</a:t>
              </a:r>
            </a:p>
          </p:txBody>
        </p:sp>
        <p:sp>
          <p:nvSpPr>
            <p:cNvPr id="54" name="Rectangle 54"/>
            <p:cNvSpPr/>
            <p:nvPr/>
          </p:nvSpPr>
          <p:spPr>
            <a:xfrm>
              <a:off x="7114222" y="3188970"/>
              <a:ext cx="4544378" cy="9525"/>
            </a:xfrm>
            <a:prstGeom prst="rect">
              <a:avLst/>
            </a:prstGeom>
            <a:solidFill>
              <a:srgbClr val="D9DFEA"/>
            </a:solidFill>
            <a:ln>
              <a:noFill/>
            </a:ln>
          </p:spPr>
        </p:sp>
        <p:sp>
          <p:nvSpPr>
            <p:cNvPr id="55" name="TextBox 55"/>
            <p:cNvSpPr txBox="1"/>
            <p:nvPr/>
          </p:nvSpPr>
          <p:spPr>
            <a:xfrm>
              <a:off x="7106602" y="3308985"/>
              <a:ext cx="384886" cy="293370"/>
            </a:xfrm>
            <a:prstGeom prst="rect">
              <a:avLst/>
            </a:prstGeom>
            <a:noFill/>
            <a:ln>
              <a:noFill/>
            </a:ln>
          </p:spPr>
          <p:txBody>
            <a:bodyPr wrap="none" lIns="0" tIns="0" rIns="0" bIns="0" anchor="t" anchorCtr="0">
              <a:spAutoFit/>
            </a:bodyPr>
            <a:lstStyle/>
            <a:p>
              <a:pPr algn="l"/>
              <a:r>
                <a:rPr lang="en-US" sz="1500" b="1" dirty="0">
                  <a:solidFill>
                    <a:srgbClr val="334E68"/>
                  </a:solidFill>
                  <a:latin typeface="+mn-lt"/>
                  <a:ea typeface="+mn-ea"/>
                  <a:cs typeface="+mn-cs"/>
                </a:rPr>
                <a:t>VPN</a:t>
              </a:r>
            </a:p>
          </p:txBody>
        </p:sp>
        <p:sp>
          <p:nvSpPr>
            <p:cNvPr id="56" name="TextBox 56"/>
            <p:cNvSpPr txBox="1"/>
            <p:nvPr/>
          </p:nvSpPr>
          <p:spPr>
            <a:xfrm>
              <a:off x="8405812" y="3308985"/>
              <a:ext cx="243840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在公网上建立的虚拟专用网</a:t>
              </a:r>
            </a:p>
          </p:txBody>
        </p:sp>
        <p:sp>
          <p:nvSpPr>
            <p:cNvPr id="57" name="Rectangle 57"/>
            <p:cNvSpPr/>
            <p:nvPr/>
          </p:nvSpPr>
          <p:spPr>
            <a:xfrm>
              <a:off x="7114222" y="3629025"/>
              <a:ext cx="4544378" cy="9525"/>
            </a:xfrm>
            <a:prstGeom prst="rect">
              <a:avLst/>
            </a:prstGeom>
            <a:solidFill>
              <a:srgbClr val="D9DFEA"/>
            </a:solidFill>
            <a:ln>
              <a:noFill/>
            </a:ln>
          </p:spPr>
        </p:sp>
        <p:sp>
          <p:nvSpPr>
            <p:cNvPr id="58" name="TextBox 58"/>
            <p:cNvSpPr txBox="1"/>
            <p:nvPr/>
          </p:nvSpPr>
          <p:spPr>
            <a:xfrm>
              <a:off x="7106602" y="3749040"/>
              <a:ext cx="384886" cy="293370"/>
            </a:xfrm>
            <a:prstGeom prst="rect">
              <a:avLst/>
            </a:prstGeom>
            <a:noFill/>
            <a:ln>
              <a:noFill/>
            </a:ln>
          </p:spPr>
          <p:txBody>
            <a:bodyPr wrap="none" lIns="0" tIns="0" rIns="0" bIns="0" anchor="t" anchorCtr="0">
              <a:spAutoFit/>
            </a:bodyPr>
            <a:lstStyle/>
            <a:p>
              <a:pPr algn="l"/>
              <a:r>
                <a:rPr lang="en-US" sz="1500" b="1" dirty="0">
                  <a:solidFill>
                    <a:srgbClr val="334E68"/>
                  </a:solidFill>
                  <a:latin typeface="+mn-lt"/>
                  <a:ea typeface="+mn-ea"/>
                  <a:cs typeface="+mn-cs"/>
                </a:rPr>
                <a:t>SDN</a:t>
              </a:r>
            </a:p>
          </p:txBody>
        </p:sp>
        <p:sp>
          <p:nvSpPr>
            <p:cNvPr id="59" name="TextBox 59"/>
            <p:cNvSpPr txBox="1"/>
            <p:nvPr/>
          </p:nvSpPr>
          <p:spPr>
            <a:xfrm>
              <a:off x="8405812" y="3749040"/>
              <a:ext cx="284226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控制与转发分离、可编程的网络</a:t>
              </a:r>
            </a:p>
          </p:txBody>
        </p:sp>
      </p:grpSp>
      <p:grpSp>
        <p:nvGrpSpPr>
          <p:cNvPr id="67" name="c2-callout-2"/>
          <p:cNvGrpSpPr/>
          <p:nvPr/>
        </p:nvGrpSpPr>
        <p:grpSpPr>
          <a:xfrm>
            <a:off x="7114222" y="4173855"/>
            <a:ext cx="4544378" cy="2143125"/>
            <a:chOff x="7114222" y="4173855"/>
            <a:chExt cx="4544378" cy="2143125"/>
          </a:xfrm>
        </p:grpSpPr>
        <p:sp>
          <p:nvSpPr>
            <p:cNvPr id="61" name="Rectangle 61"/>
            <p:cNvSpPr/>
            <p:nvPr/>
          </p:nvSpPr>
          <p:spPr>
            <a:xfrm>
              <a:off x="7114222" y="4173855"/>
              <a:ext cx="4544378" cy="2143125"/>
            </a:xfrm>
            <a:prstGeom prst="roundRect">
              <a:avLst>
                <a:gd name="adj" fmla="val 5333"/>
              </a:avLst>
            </a:prstGeom>
            <a:solidFill>
              <a:srgbClr val="FDEEE7"/>
            </a:solidFill>
            <a:ln>
              <a:noFill/>
            </a:ln>
          </p:spPr>
        </p:sp>
        <p:grpSp>
          <p:nvGrpSpPr>
            <p:cNvPr id="65" name="Group 65"/>
            <p:cNvGrpSpPr/>
            <p:nvPr/>
          </p:nvGrpSpPr>
          <p:grpSpPr>
            <a:xfrm>
              <a:off x="7319010" y="5145405"/>
              <a:ext cx="200026" cy="200025"/>
              <a:chOff x="7319010" y="5145405"/>
              <a:chExt cx="200026" cy="200025"/>
            </a:xfrm>
          </p:grpSpPr>
          <p:sp>
            <p:nvSpPr>
              <p:cNvPr id="62" name="Freeform 62"/>
              <p:cNvSpPr/>
              <p:nvPr/>
            </p:nvSpPr>
            <p:spPr>
              <a:xfrm>
                <a:off x="7319010" y="5145405"/>
                <a:ext cx="200026" cy="100013"/>
              </a:xfrm>
              <a:custGeom>
                <a:avLst/>
                <a:gdLst/>
                <a:ahLst/>
                <a:cxnLst/>
                <a:rect l="l" t="t" r="r" b="b"/>
                <a:pathLst>
                  <a:path w="200026" h="100013">
                    <a:moveTo>
                      <a:pt x="0" y="100013"/>
                    </a:moveTo>
                    <a:lnTo>
                      <a:pt x="11113" y="100013"/>
                    </a:lnTo>
                    <a:moveTo>
                      <a:pt x="100013" y="0"/>
                    </a:moveTo>
                    <a:lnTo>
                      <a:pt x="100013" y="11113"/>
                    </a:lnTo>
                    <a:moveTo>
                      <a:pt x="188913" y="100013"/>
                    </a:moveTo>
                    <a:lnTo>
                      <a:pt x="200026" y="100013"/>
                    </a:lnTo>
                    <a:moveTo>
                      <a:pt x="28893" y="28893"/>
                    </a:moveTo>
                    <a:lnTo>
                      <a:pt x="36671" y="36671"/>
                    </a:lnTo>
                    <a:moveTo>
                      <a:pt x="171133" y="28893"/>
                    </a:moveTo>
                    <a:lnTo>
                      <a:pt x="163354" y="36671"/>
                    </a:lnTo>
                  </a:path>
                </a:pathLst>
              </a:custGeom>
              <a:noFill/>
              <a:ln w="22225">
                <a:solidFill>
                  <a:srgbClr val="C2410C"/>
                </a:solidFill>
              </a:ln>
            </p:spPr>
          </p:sp>
          <p:sp>
            <p:nvSpPr>
              <p:cNvPr id="63" name="Freeform 63"/>
              <p:cNvSpPr/>
              <p:nvPr/>
            </p:nvSpPr>
            <p:spPr>
              <a:xfrm>
                <a:off x="7358749" y="5189855"/>
                <a:ext cx="120548" cy="155575"/>
              </a:xfrm>
              <a:custGeom>
                <a:avLst/>
                <a:gdLst/>
                <a:ahLst/>
                <a:cxnLst/>
                <a:rect l="l" t="t" r="r" b="b"/>
                <a:pathLst>
                  <a:path w="120548" h="155575">
                    <a:moveTo>
                      <a:pt x="26937" y="100013"/>
                    </a:moveTo>
                    <a:cubicBezTo>
                      <a:pt x="7804" y="85663"/>
                      <a:pt x="0" y="60681"/>
                      <a:pt x="7563" y="37992"/>
                    </a:cubicBezTo>
                    <a:cubicBezTo>
                      <a:pt x="15126" y="15304"/>
                      <a:pt x="36358" y="0"/>
                      <a:pt x="60274" y="0"/>
                    </a:cubicBezTo>
                    <a:cubicBezTo>
                      <a:pt x="84190" y="0"/>
                      <a:pt x="105423" y="15304"/>
                      <a:pt x="112986" y="37992"/>
                    </a:cubicBezTo>
                    <a:cubicBezTo>
                      <a:pt x="120548" y="60681"/>
                      <a:pt x="112745" y="85663"/>
                      <a:pt x="93612" y="100013"/>
                    </a:cubicBezTo>
                    <a:cubicBezTo>
                      <a:pt x="84812" y="108723"/>
                      <a:pt x="80686" y="121103"/>
                      <a:pt x="82499" y="133350"/>
                    </a:cubicBezTo>
                    <a:cubicBezTo>
                      <a:pt x="82499" y="145625"/>
                      <a:pt x="72549" y="155575"/>
                      <a:pt x="60274" y="155575"/>
                    </a:cubicBezTo>
                    <a:cubicBezTo>
                      <a:pt x="48000" y="155575"/>
                      <a:pt x="38049" y="145625"/>
                      <a:pt x="38049" y="133350"/>
                    </a:cubicBezTo>
                    <a:cubicBezTo>
                      <a:pt x="39862" y="121103"/>
                      <a:pt x="35736" y="108723"/>
                      <a:pt x="26937" y="100013"/>
                    </a:cubicBezTo>
                  </a:path>
                </a:pathLst>
              </a:custGeom>
              <a:noFill/>
              <a:ln w="22225">
                <a:solidFill>
                  <a:srgbClr val="C2410C"/>
                </a:solidFill>
              </a:ln>
            </p:spPr>
          </p:sp>
          <p:sp>
            <p:nvSpPr>
              <p:cNvPr id="64" name="Freeform 64"/>
              <p:cNvSpPr/>
              <p:nvPr/>
            </p:nvSpPr>
            <p:spPr>
              <a:xfrm>
                <a:off x="7393464" y="5300981"/>
                <a:ext cx="51118" cy="9525"/>
              </a:xfrm>
              <a:custGeom>
                <a:avLst/>
                <a:gdLst/>
                <a:ahLst/>
                <a:cxnLst/>
                <a:rect l="l" t="t" r="r" b="b"/>
                <a:pathLst>
                  <a:path w="51118" h="9525">
                    <a:moveTo>
                      <a:pt x="0" y="0"/>
                    </a:moveTo>
                    <a:lnTo>
                      <a:pt x="51118" y="0"/>
                    </a:lnTo>
                  </a:path>
                </a:pathLst>
              </a:custGeom>
              <a:noFill/>
              <a:ln w="22225">
                <a:solidFill>
                  <a:srgbClr val="C2410C"/>
                </a:solidFill>
              </a:ln>
            </p:spPr>
          </p:sp>
        </p:grpSp>
        <p:sp>
          <p:nvSpPr>
            <p:cNvPr id="66" name="TextBox 66"/>
            <p:cNvSpPr txBox="1"/>
            <p:nvPr/>
          </p:nvSpPr>
          <p:spPr>
            <a:xfrm>
              <a:off x="7620952" y="4864418"/>
              <a:ext cx="3682365" cy="845820"/>
            </a:xfrm>
            <a:prstGeom prst="rect">
              <a:avLst/>
            </a:prstGeom>
            <a:noFill/>
            <a:ln>
              <a:noFill/>
            </a:ln>
          </p:spPr>
          <p:txBody>
            <a:bodyPr wrap="none" lIns="0" tIns="0" rIns="0" bIns="0" anchor="t" anchorCtr="0">
              <a:spAutoFit/>
            </a:bodyPr>
            <a:lstStyle/>
            <a:p>
              <a:pPr algn="l">
                <a:lnSpc>
                  <a:spcPts val="2175"/>
                </a:lnSpc>
              </a:pPr>
              <a:r>
                <a:rPr lang="zh-CN" sz="1500" dirty="0">
                  <a:solidFill>
                    <a:srgbClr val="C2410C"/>
                  </a:solidFill>
                  <a:latin typeface="+mn-lt"/>
                  <a:ea typeface="+mn-ea"/>
                  <a:cs typeface="+mn-cs"/>
                </a:rPr>
                <a:t>距离越短，耦合越紧、带宽越高；多处理器</a:t>
              </a:r>
              <a:br/>
              <a:r>
                <a:rPr lang="zh-CN" sz="1500" dirty="0">
                  <a:solidFill>
                    <a:srgbClr val="C2410C"/>
                  </a:solidFill>
                  <a:latin typeface="+mn-lt"/>
                  <a:ea typeface="+mn-ea"/>
                  <a:cs typeface="+mn-cs"/>
                </a:rPr>
                <a:t>内部常用前两类，机群节点之间常用 SAN 或</a:t>
              </a:r>
              <a:br/>
              <a:r>
                <a:rPr lang="zh-CN" sz="1500" dirty="0">
                  <a:solidFill>
                    <a:srgbClr val="C2410C"/>
                  </a:solidFill>
                  <a:latin typeface="+mn-lt"/>
                  <a:ea typeface="+mn-ea"/>
                  <a:cs typeface="+mn-cs"/>
                </a:rPr>
                <a:t>LAN。</a:t>
              </a:r>
            </a:p>
          </p:txBody>
        </p:sp>
      </p:grpSp>
      <p:grpSp>
        <p:nvGrpSpPr>
          <p:cNvPr id="70" name="footer"/>
          <p:cNvGrpSpPr/>
          <p:nvPr/>
        </p:nvGrpSpPr>
        <p:grpSpPr>
          <a:xfrm>
            <a:off x="528447" y="6581299"/>
            <a:ext cx="11135106" cy="190690"/>
            <a:chOff x="528447" y="6581299"/>
            <a:chExt cx="11135106" cy="190690"/>
          </a:xfrm>
        </p:grpSpPr>
        <p:sp>
          <p:nvSpPr>
            <p:cNvPr id="68" name="TextBox 68"/>
            <p:cNvSpPr txBox="1"/>
            <p:nvPr/>
          </p:nvSpPr>
          <p:spPr>
            <a:xfrm>
              <a:off x="528447" y="6581299"/>
              <a:ext cx="2120748"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并行与分布式计算 · 第7章 体系结构</a:t>
              </a:r>
            </a:p>
          </p:txBody>
        </p:sp>
        <p:sp>
          <p:nvSpPr>
            <p:cNvPr id="69" name="TextBox 69"/>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51</a:t>
              </a:r>
            </a:p>
          </p:txBody>
        </p:sp>
      </p:grpSp>
    </p:spTree>
  </p:cSld>
  <p:clrMapOvr>
    <a:masterClrMapping/>
  </p:clrMapOvr>
  <p:transition xmlns:p14="http://schemas.microsoft.com/office/powerpoint/2010/main" p14:dur="400">
    <p:fade/>
  </p:transition>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7575499" cy="909257"/>
            <a:chOff x="520446" y="342900"/>
            <a:chExt cx="7575499" cy="909257"/>
          </a:xfrm>
        </p:grpSpPr>
        <p:sp>
          <p:nvSpPr>
            <p:cNvPr id="2" name="Rectangle 2"/>
            <p:cNvSpPr/>
            <p:nvPr/>
          </p:nvSpPr>
          <p:spPr>
            <a:xfrm>
              <a:off x="533400" y="342900"/>
              <a:ext cx="1987868" cy="266700"/>
            </a:xfrm>
            <a:prstGeom prst="roundRect">
              <a:avLst>
                <a:gd name="adj" fmla="val 50000"/>
              </a:avLst>
            </a:prstGeom>
            <a:solidFill>
              <a:srgbClr val="E7EDF3"/>
            </a:solidFill>
            <a:ln>
              <a:noFill/>
            </a:ln>
          </p:spPr>
        </p:sp>
        <p:sp>
          <p:nvSpPr>
            <p:cNvPr id="3" name="TextBox 3"/>
            <p:cNvSpPr txBox="1"/>
            <p:nvPr/>
          </p:nvSpPr>
          <p:spPr>
            <a:xfrm>
              <a:off x="608957" y="407194"/>
              <a:ext cx="1835800"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第7章 体系结构 · 互连结构</a:t>
              </a:r>
            </a:p>
          </p:txBody>
        </p:sp>
        <p:sp>
          <p:nvSpPr>
            <p:cNvPr id="4" name="TextBox 4"/>
            <p:cNvSpPr txBox="1"/>
            <p:nvPr/>
          </p:nvSpPr>
          <p:spPr>
            <a:xfrm>
              <a:off x="520446" y="753428"/>
              <a:ext cx="7575499"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PCI 与 PCI-E：共享并行总线换成点对点串行链路</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43" name="c1-graph-1"/>
          <p:cNvGrpSpPr/>
          <p:nvPr/>
        </p:nvGrpSpPr>
        <p:grpSpPr>
          <a:xfrm>
            <a:off x="855345" y="1796415"/>
            <a:ext cx="4549140" cy="3896296"/>
            <a:chOff x="855345" y="1796415"/>
            <a:chExt cx="4549140" cy="3896296"/>
          </a:xfrm>
        </p:grpSpPr>
        <p:sp>
          <p:nvSpPr>
            <p:cNvPr id="7" name="Freeform 7"/>
            <p:cNvSpPr/>
            <p:nvPr/>
          </p:nvSpPr>
          <p:spPr>
            <a:xfrm>
              <a:off x="1283018" y="2023110"/>
              <a:ext cx="881062" cy="793432"/>
            </a:xfrm>
            <a:custGeom>
              <a:avLst/>
              <a:gdLst/>
              <a:ahLst/>
              <a:cxnLst/>
              <a:rect l="l" t="t" r="r" b="b"/>
              <a:pathLst>
                <a:path w="881062" h="793432">
                  <a:moveTo>
                    <a:pt x="0" y="0"/>
                  </a:moveTo>
                  <a:lnTo>
                    <a:pt x="881062" y="793432"/>
                  </a:lnTo>
                </a:path>
              </a:pathLst>
            </a:custGeom>
            <a:noFill/>
            <a:ln w="17145">
              <a:solidFill>
                <a:srgbClr val="1F2937"/>
              </a:solidFill>
            </a:ln>
          </p:spPr>
        </p:sp>
        <p:sp>
          <p:nvSpPr>
            <p:cNvPr id="8" name="Freeform 8"/>
            <p:cNvSpPr/>
            <p:nvPr/>
          </p:nvSpPr>
          <p:spPr>
            <a:xfrm>
              <a:off x="2299335" y="2023110"/>
              <a:ext cx="9525" cy="793432"/>
            </a:xfrm>
            <a:custGeom>
              <a:avLst/>
              <a:gdLst/>
              <a:ahLst/>
              <a:cxnLst/>
              <a:rect l="l" t="t" r="r" b="b"/>
              <a:pathLst>
                <a:path w="9525" h="793432">
                  <a:moveTo>
                    <a:pt x="0" y="0"/>
                  </a:moveTo>
                  <a:lnTo>
                    <a:pt x="0" y="793432"/>
                  </a:lnTo>
                </a:path>
              </a:pathLst>
            </a:custGeom>
            <a:noFill/>
            <a:ln w="17145">
              <a:solidFill>
                <a:srgbClr val="1F2937"/>
              </a:solidFill>
            </a:ln>
          </p:spPr>
        </p:sp>
        <p:sp>
          <p:nvSpPr>
            <p:cNvPr id="9" name="Freeform 9"/>
            <p:cNvSpPr/>
            <p:nvPr/>
          </p:nvSpPr>
          <p:spPr>
            <a:xfrm>
              <a:off x="2744152" y="2938462"/>
              <a:ext cx="1331595" cy="9525"/>
            </a:xfrm>
            <a:custGeom>
              <a:avLst/>
              <a:gdLst/>
              <a:ahLst/>
              <a:cxnLst/>
              <a:rect l="l" t="t" r="r" b="b"/>
              <a:pathLst>
                <a:path w="1331595" h="9525">
                  <a:moveTo>
                    <a:pt x="0" y="0"/>
                  </a:moveTo>
                  <a:lnTo>
                    <a:pt x="1331595" y="0"/>
                  </a:lnTo>
                </a:path>
              </a:pathLst>
            </a:custGeom>
            <a:noFill/>
            <a:ln w="17145">
              <a:solidFill>
                <a:srgbClr val="1F2937"/>
              </a:solidFill>
            </a:ln>
          </p:spPr>
        </p:sp>
        <p:sp>
          <p:nvSpPr>
            <p:cNvPr id="10" name="Freeform 10"/>
            <p:cNvSpPr/>
            <p:nvPr/>
          </p:nvSpPr>
          <p:spPr>
            <a:xfrm>
              <a:off x="2299335" y="3059430"/>
              <a:ext cx="9525" cy="715328"/>
            </a:xfrm>
            <a:custGeom>
              <a:avLst/>
              <a:gdLst/>
              <a:ahLst/>
              <a:cxnLst/>
              <a:rect l="l" t="t" r="r" b="b"/>
              <a:pathLst>
                <a:path w="9525" h="715328">
                  <a:moveTo>
                    <a:pt x="0" y="0"/>
                  </a:moveTo>
                  <a:lnTo>
                    <a:pt x="0" y="715328"/>
                  </a:lnTo>
                </a:path>
              </a:pathLst>
            </a:custGeom>
            <a:noFill/>
            <a:ln w="17145">
              <a:solidFill>
                <a:srgbClr val="1F2937"/>
              </a:solidFill>
            </a:ln>
          </p:spPr>
        </p:sp>
        <p:sp>
          <p:nvSpPr>
            <p:cNvPr id="11" name="Freeform 11"/>
            <p:cNvSpPr/>
            <p:nvPr/>
          </p:nvSpPr>
          <p:spPr>
            <a:xfrm>
              <a:off x="1260158" y="3988118"/>
              <a:ext cx="9525" cy="628650"/>
            </a:xfrm>
            <a:custGeom>
              <a:avLst/>
              <a:gdLst/>
              <a:ahLst/>
              <a:cxnLst/>
              <a:rect l="l" t="t" r="r" b="b"/>
              <a:pathLst>
                <a:path w="9525" h="628650">
                  <a:moveTo>
                    <a:pt x="0" y="0"/>
                  </a:moveTo>
                  <a:lnTo>
                    <a:pt x="0" y="628650"/>
                  </a:lnTo>
                </a:path>
              </a:pathLst>
            </a:custGeom>
            <a:noFill/>
            <a:ln w="17145">
              <a:solidFill>
                <a:srgbClr val="1F2937"/>
              </a:solidFill>
            </a:ln>
          </p:spPr>
        </p:sp>
        <p:sp>
          <p:nvSpPr>
            <p:cNvPr id="12" name="Freeform 12"/>
            <p:cNvSpPr/>
            <p:nvPr/>
          </p:nvSpPr>
          <p:spPr>
            <a:xfrm>
              <a:off x="2506980" y="3988118"/>
              <a:ext cx="9525" cy="628650"/>
            </a:xfrm>
            <a:custGeom>
              <a:avLst/>
              <a:gdLst/>
              <a:ahLst/>
              <a:cxnLst/>
              <a:rect l="l" t="t" r="r" b="b"/>
              <a:pathLst>
                <a:path w="9525" h="628650">
                  <a:moveTo>
                    <a:pt x="0" y="0"/>
                  </a:moveTo>
                  <a:lnTo>
                    <a:pt x="0" y="628650"/>
                  </a:lnTo>
                </a:path>
              </a:pathLst>
            </a:custGeom>
            <a:noFill/>
            <a:ln w="17145">
              <a:solidFill>
                <a:srgbClr val="1F2937"/>
              </a:solidFill>
            </a:ln>
          </p:spPr>
        </p:sp>
        <p:sp>
          <p:nvSpPr>
            <p:cNvPr id="13" name="Freeform 13"/>
            <p:cNvSpPr/>
            <p:nvPr/>
          </p:nvSpPr>
          <p:spPr>
            <a:xfrm>
              <a:off x="3701415" y="3988118"/>
              <a:ext cx="9525" cy="628650"/>
            </a:xfrm>
            <a:custGeom>
              <a:avLst/>
              <a:gdLst/>
              <a:ahLst/>
              <a:cxnLst/>
              <a:rect l="l" t="t" r="r" b="b"/>
              <a:pathLst>
                <a:path w="9525" h="628650">
                  <a:moveTo>
                    <a:pt x="0" y="0"/>
                  </a:moveTo>
                  <a:lnTo>
                    <a:pt x="0" y="628650"/>
                  </a:lnTo>
                </a:path>
              </a:pathLst>
            </a:custGeom>
            <a:noFill/>
            <a:ln w="17145">
              <a:solidFill>
                <a:srgbClr val="1F2937"/>
              </a:solidFill>
            </a:ln>
          </p:spPr>
        </p:sp>
        <p:sp>
          <p:nvSpPr>
            <p:cNvPr id="14" name="Freeform 14"/>
            <p:cNvSpPr/>
            <p:nvPr/>
          </p:nvSpPr>
          <p:spPr>
            <a:xfrm>
              <a:off x="4999672" y="3988118"/>
              <a:ext cx="9525" cy="628650"/>
            </a:xfrm>
            <a:custGeom>
              <a:avLst/>
              <a:gdLst/>
              <a:ahLst/>
              <a:cxnLst/>
              <a:rect l="l" t="t" r="r" b="b"/>
              <a:pathLst>
                <a:path w="9525" h="628650">
                  <a:moveTo>
                    <a:pt x="0" y="0"/>
                  </a:moveTo>
                  <a:lnTo>
                    <a:pt x="0" y="628650"/>
                  </a:lnTo>
                </a:path>
              </a:pathLst>
            </a:custGeom>
            <a:noFill/>
            <a:ln w="17145">
              <a:solidFill>
                <a:srgbClr val="1F2937"/>
              </a:solidFill>
            </a:ln>
          </p:spPr>
        </p:sp>
        <p:sp>
          <p:nvSpPr>
            <p:cNvPr id="15" name="Freeform 15"/>
            <p:cNvSpPr/>
            <p:nvPr/>
          </p:nvSpPr>
          <p:spPr>
            <a:xfrm>
              <a:off x="1260158" y="4859655"/>
              <a:ext cx="9525" cy="580073"/>
            </a:xfrm>
            <a:custGeom>
              <a:avLst/>
              <a:gdLst/>
              <a:ahLst/>
              <a:cxnLst/>
              <a:rect l="l" t="t" r="r" b="b"/>
              <a:pathLst>
                <a:path w="9525" h="580073">
                  <a:moveTo>
                    <a:pt x="0" y="0"/>
                  </a:moveTo>
                  <a:lnTo>
                    <a:pt x="0" y="580073"/>
                  </a:lnTo>
                </a:path>
              </a:pathLst>
            </a:custGeom>
            <a:noFill/>
            <a:ln w="17145">
              <a:solidFill>
                <a:srgbClr val="1F2937"/>
              </a:solidFill>
            </a:ln>
          </p:spPr>
        </p:sp>
        <p:sp>
          <p:nvSpPr>
            <p:cNvPr id="16" name="Freeform 16"/>
            <p:cNvSpPr/>
            <p:nvPr/>
          </p:nvSpPr>
          <p:spPr>
            <a:xfrm>
              <a:off x="3882390" y="4859655"/>
              <a:ext cx="923925" cy="580073"/>
            </a:xfrm>
            <a:custGeom>
              <a:avLst/>
              <a:gdLst/>
              <a:ahLst/>
              <a:cxnLst/>
              <a:rect l="l" t="t" r="r" b="b"/>
              <a:pathLst>
                <a:path w="923925" h="580073">
                  <a:moveTo>
                    <a:pt x="923925" y="0"/>
                  </a:moveTo>
                  <a:lnTo>
                    <a:pt x="0" y="580073"/>
                  </a:lnTo>
                </a:path>
              </a:pathLst>
            </a:custGeom>
            <a:noFill/>
            <a:ln w="17145">
              <a:solidFill>
                <a:srgbClr val="1F2937"/>
              </a:solidFill>
            </a:ln>
          </p:spPr>
        </p:sp>
        <p:sp>
          <p:nvSpPr>
            <p:cNvPr id="17" name="Rectangle 17"/>
            <p:cNvSpPr/>
            <p:nvPr/>
          </p:nvSpPr>
          <p:spPr>
            <a:xfrm>
              <a:off x="1024890" y="3800475"/>
              <a:ext cx="4210050" cy="161925"/>
            </a:xfrm>
            <a:prstGeom prst="roundRect">
              <a:avLst>
                <a:gd name="adj" fmla="val 50000"/>
              </a:avLst>
            </a:prstGeom>
            <a:solidFill>
              <a:srgbClr val="334E68"/>
            </a:solidFill>
            <a:ln w="17145">
              <a:solidFill>
                <a:srgbClr val="334E68"/>
              </a:solidFill>
            </a:ln>
          </p:spPr>
        </p:sp>
        <p:sp>
          <p:nvSpPr>
            <p:cNvPr id="18" name="Rectangle 18"/>
            <p:cNvSpPr/>
            <p:nvPr/>
          </p:nvSpPr>
          <p:spPr>
            <a:xfrm>
              <a:off x="873442" y="1796415"/>
              <a:ext cx="566738" cy="226695"/>
            </a:xfrm>
            <a:prstGeom prst="roundRect">
              <a:avLst>
                <a:gd name="adj" fmla="val 42017"/>
              </a:avLst>
            </a:prstGeom>
            <a:solidFill>
              <a:srgbClr val="334E68"/>
            </a:solidFill>
            <a:ln w="17145">
              <a:solidFill>
                <a:srgbClr val="334E68"/>
              </a:solidFill>
            </a:ln>
          </p:spPr>
        </p:sp>
        <p:sp>
          <p:nvSpPr>
            <p:cNvPr id="19" name="Rectangle 19"/>
            <p:cNvSpPr/>
            <p:nvPr/>
          </p:nvSpPr>
          <p:spPr>
            <a:xfrm>
              <a:off x="2015490" y="1796415"/>
              <a:ext cx="566738" cy="226695"/>
            </a:xfrm>
            <a:prstGeom prst="roundRect">
              <a:avLst>
                <a:gd name="adj" fmla="val 42017"/>
              </a:avLst>
            </a:prstGeom>
            <a:solidFill>
              <a:srgbClr val="E7EDF3"/>
            </a:solidFill>
            <a:ln w="17145">
              <a:solidFill>
                <a:srgbClr val="334E68"/>
              </a:solidFill>
            </a:ln>
          </p:spPr>
        </p:sp>
        <p:sp>
          <p:nvSpPr>
            <p:cNvPr id="20" name="Rectangle 20"/>
            <p:cNvSpPr/>
            <p:nvPr/>
          </p:nvSpPr>
          <p:spPr>
            <a:xfrm>
              <a:off x="1853565" y="2816542"/>
              <a:ext cx="890588" cy="242888"/>
            </a:xfrm>
            <a:prstGeom prst="roundRect">
              <a:avLst>
                <a:gd name="adj" fmla="val 39216"/>
              </a:avLst>
            </a:prstGeom>
            <a:solidFill>
              <a:srgbClr val="FDEEE7"/>
            </a:solidFill>
            <a:ln w="17145">
              <a:solidFill>
                <a:srgbClr val="F26B3A"/>
              </a:solidFill>
            </a:ln>
          </p:spPr>
        </p:sp>
        <p:sp>
          <p:nvSpPr>
            <p:cNvPr id="21" name="Rectangle 21"/>
            <p:cNvSpPr/>
            <p:nvPr/>
          </p:nvSpPr>
          <p:spPr>
            <a:xfrm>
              <a:off x="4075748" y="2816542"/>
              <a:ext cx="809625" cy="242888"/>
            </a:xfrm>
            <a:prstGeom prst="roundRect">
              <a:avLst>
                <a:gd name="adj" fmla="val 39216"/>
              </a:avLst>
            </a:prstGeom>
            <a:solidFill>
              <a:srgbClr val="FFFFFF"/>
            </a:solidFill>
            <a:ln w="17145">
              <a:solidFill>
                <a:srgbClr val="334E68"/>
              </a:solidFill>
            </a:ln>
          </p:spPr>
        </p:sp>
        <p:sp>
          <p:nvSpPr>
            <p:cNvPr id="22" name="Rectangle 22"/>
            <p:cNvSpPr/>
            <p:nvPr/>
          </p:nvSpPr>
          <p:spPr>
            <a:xfrm>
              <a:off x="855345" y="4616768"/>
              <a:ext cx="809625" cy="242888"/>
            </a:xfrm>
            <a:prstGeom prst="roundRect">
              <a:avLst>
                <a:gd name="adj" fmla="val 39216"/>
              </a:avLst>
            </a:prstGeom>
            <a:solidFill>
              <a:srgbClr val="FDEEE7"/>
            </a:solidFill>
            <a:ln w="17145">
              <a:solidFill>
                <a:srgbClr val="F26B3A"/>
              </a:solidFill>
            </a:ln>
          </p:spPr>
        </p:sp>
        <p:sp>
          <p:nvSpPr>
            <p:cNvPr id="23" name="Rectangle 23"/>
            <p:cNvSpPr/>
            <p:nvPr/>
          </p:nvSpPr>
          <p:spPr>
            <a:xfrm>
              <a:off x="2159318" y="4616768"/>
              <a:ext cx="696278" cy="242888"/>
            </a:xfrm>
            <a:prstGeom prst="roundRect">
              <a:avLst>
                <a:gd name="adj" fmla="val 39216"/>
              </a:avLst>
            </a:prstGeom>
            <a:solidFill>
              <a:srgbClr val="E7EDF3"/>
            </a:solidFill>
            <a:ln w="17145">
              <a:solidFill>
                <a:srgbClr val="334E68"/>
              </a:solidFill>
            </a:ln>
          </p:spPr>
        </p:sp>
        <p:sp>
          <p:nvSpPr>
            <p:cNvPr id="24" name="Rectangle 24"/>
            <p:cNvSpPr/>
            <p:nvPr/>
          </p:nvSpPr>
          <p:spPr>
            <a:xfrm>
              <a:off x="3353752" y="4616768"/>
              <a:ext cx="696278" cy="242888"/>
            </a:xfrm>
            <a:prstGeom prst="roundRect">
              <a:avLst>
                <a:gd name="adj" fmla="val 39216"/>
              </a:avLst>
            </a:prstGeom>
            <a:solidFill>
              <a:srgbClr val="E7EDF3"/>
            </a:solidFill>
            <a:ln w="17145">
              <a:solidFill>
                <a:srgbClr val="334E68"/>
              </a:solidFill>
            </a:ln>
          </p:spPr>
        </p:sp>
        <p:sp>
          <p:nvSpPr>
            <p:cNvPr id="25" name="Rectangle 25"/>
            <p:cNvSpPr/>
            <p:nvPr/>
          </p:nvSpPr>
          <p:spPr>
            <a:xfrm>
              <a:off x="4594860" y="4616768"/>
              <a:ext cx="809625" cy="242888"/>
            </a:xfrm>
            <a:prstGeom prst="roundRect">
              <a:avLst>
                <a:gd name="adj" fmla="val 39216"/>
              </a:avLst>
            </a:prstGeom>
            <a:solidFill>
              <a:srgbClr val="FDEEE7"/>
            </a:solidFill>
            <a:ln w="17145">
              <a:solidFill>
                <a:srgbClr val="F26B3A"/>
              </a:solidFill>
            </a:ln>
          </p:spPr>
        </p:sp>
        <p:sp>
          <p:nvSpPr>
            <p:cNvPr id="26" name="Rectangle 26"/>
            <p:cNvSpPr/>
            <p:nvPr/>
          </p:nvSpPr>
          <p:spPr>
            <a:xfrm>
              <a:off x="912495" y="5439728"/>
              <a:ext cx="696278" cy="226695"/>
            </a:xfrm>
            <a:prstGeom prst="roundRect">
              <a:avLst>
                <a:gd name="adj" fmla="val 42017"/>
              </a:avLst>
            </a:prstGeom>
            <a:solidFill>
              <a:srgbClr val="FFFFFF"/>
            </a:solidFill>
            <a:ln w="17145">
              <a:solidFill>
                <a:srgbClr val="334E68"/>
              </a:solidFill>
            </a:ln>
          </p:spPr>
        </p:sp>
        <p:sp>
          <p:nvSpPr>
            <p:cNvPr id="27" name="Rectangle 27"/>
            <p:cNvSpPr/>
            <p:nvPr/>
          </p:nvSpPr>
          <p:spPr>
            <a:xfrm>
              <a:off x="3353752" y="5439728"/>
              <a:ext cx="696278" cy="226695"/>
            </a:xfrm>
            <a:prstGeom prst="roundRect">
              <a:avLst>
                <a:gd name="adj" fmla="val 42017"/>
              </a:avLst>
            </a:prstGeom>
            <a:solidFill>
              <a:srgbClr val="E7EDF3"/>
            </a:solidFill>
            <a:ln w="17145">
              <a:solidFill>
                <a:srgbClr val="334E68"/>
              </a:solidFill>
            </a:ln>
          </p:spPr>
        </p:sp>
        <p:sp>
          <p:nvSpPr>
            <p:cNvPr id="28" name="TextBox 28"/>
            <p:cNvSpPr txBox="1"/>
            <p:nvPr/>
          </p:nvSpPr>
          <p:spPr>
            <a:xfrm>
              <a:off x="2786855" y="3815715"/>
              <a:ext cx="686119"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PCI 总线 0</a:t>
              </a:r>
            </a:p>
          </p:txBody>
        </p:sp>
        <p:sp>
          <p:nvSpPr>
            <p:cNvPr id="29" name="TextBox 29"/>
            <p:cNvSpPr txBox="1"/>
            <p:nvPr/>
          </p:nvSpPr>
          <p:spPr>
            <a:xfrm>
              <a:off x="1021625" y="1844040"/>
              <a:ext cx="269420" cy="205359"/>
            </a:xfrm>
            <a:prstGeom prst="rect">
              <a:avLst/>
            </a:prstGeom>
            <a:noFill/>
            <a:ln>
              <a:noFill/>
            </a:ln>
          </p:spPr>
          <p:txBody>
            <a:bodyPr wrap="none" lIns="0" tIns="0" rIns="0" bIns="0" anchor="t" anchorCtr="0">
              <a:spAutoFit/>
            </a:bodyPr>
            <a:lstStyle/>
            <a:p>
              <a:pPr algn="ctr"/>
              <a:r>
                <a:rPr lang="en-US" sz="1050" b="1" dirty="0">
                  <a:solidFill>
                    <a:srgbClr val="FFFFFF"/>
                  </a:solidFill>
                  <a:latin typeface="+mn-lt"/>
                  <a:ea typeface="+mn-ea"/>
                  <a:cs typeface="+mn-cs"/>
                </a:rPr>
                <a:t>CPU</a:t>
              </a:r>
            </a:p>
          </p:txBody>
        </p:sp>
        <p:sp>
          <p:nvSpPr>
            <p:cNvPr id="30" name="TextBox 30"/>
            <p:cNvSpPr txBox="1"/>
            <p:nvPr/>
          </p:nvSpPr>
          <p:spPr>
            <a:xfrm>
              <a:off x="2087615" y="1844040"/>
              <a:ext cx="423440" cy="205359"/>
            </a:xfrm>
            <a:prstGeom prst="rect">
              <a:avLst/>
            </a:prstGeom>
            <a:noFill/>
            <a:ln>
              <a:noFill/>
            </a:ln>
          </p:spPr>
          <p:txBody>
            <a:bodyPr wrap="none" lIns="0" tIns="0" rIns="0" bIns="0" anchor="t" anchorCtr="0">
              <a:spAutoFit/>
            </a:bodyPr>
            <a:lstStyle/>
            <a:p>
              <a:pPr algn="ctr"/>
              <a:r>
                <a:rPr lang="en-US" sz="1050" b="1" dirty="0">
                  <a:solidFill>
                    <a:srgbClr val="243B53"/>
                  </a:solidFill>
                  <a:latin typeface="+mn-lt"/>
                  <a:ea typeface="+mn-ea"/>
                  <a:cs typeface="+mn-cs"/>
                </a:rPr>
                <a:t>Cache</a:t>
              </a:r>
            </a:p>
          </p:txBody>
        </p:sp>
        <p:sp>
          <p:nvSpPr>
            <p:cNvPr id="31" name="TextBox 31"/>
            <p:cNvSpPr txBox="1"/>
            <p:nvPr/>
          </p:nvSpPr>
          <p:spPr>
            <a:xfrm>
              <a:off x="1882413" y="2872740"/>
              <a:ext cx="833844" cy="205359"/>
            </a:xfrm>
            <a:prstGeom prst="rect">
              <a:avLst/>
            </a:prstGeom>
            <a:noFill/>
            <a:ln>
              <a:noFill/>
            </a:ln>
          </p:spPr>
          <p:txBody>
            <a:bodyPr wrap="none" lIns="0" tIns="0" rIns="0" bIns="0" anchor="t" anchorCtr="0">
              <a:spAutoFit/>
            </a:bodyPr>
            <a:lstStyle/>
            <a:p>
              <a:pPr algn="ctr"/>
              <a:r>
                <a:rPr lang="zh-CN" sz="1050" b="1" dirty="0">
                  <a:solidFill>
                    <a:srgbClr val="1F2937"/>
                  </a:solidFill>
                  <a:latin typeface="+mn-lt"/>
                  <a:ea typeface="+mn-ea"/>
                  <a:cs typeface="+mn-cs"/>
                </a:rPr>
                <a:t>Host/PCI 桥</a:t>
              </a:r>
            </a:p>
          </p:txBody>
        </p:sp>
        <p:sp>
          <p:nvSpPr>
            <p:cNvPr id="32" name="TextBox 32"/>
            <p:cNvSpPr txBox="1"/>
            <p:nvPr/>
          </p:nvSpPr>
          <p:spPr>
            <a:xfrm>
              <a:off x="4192524" y="2872740"/>
              <a:ext cx="576072" cy="205359"/>
            </a:xfrm>
            <a:prstGeom prst="rect">
              <a:avLst/>
            </a:prstGeom>
            <a:noFill/>
            <a:ln>
              <a:noFill/>
            </a:ln>
          </p:spPr>
          <p:txBody>
            <a:bodyPr wrap="none" lIns="0" tIns="0" rIns="0" bIns="0" anchor="t" anchorCtr="0">
              <a:spAutoFit/>
            </a:bodyPr>
            <a:lstStyle/>
            <a:p>
              <a:pPr algn="ctr"/>
              <a:r>
                <a:rPr lang="zh-CN" sz="1050" b="1" dirty="0">
                  <a:solidFill>
                    <a:srgbClr val="1F2937"/>
                  </a:solidFill>
                  <a:latin typeface="+mn-lt"/>
                  <a:ea typeface="+mn-ea"/>
                  <a:cs typeface="+mn-cs"/>
                </a:rPr>
                <a:t>存储模块</a:t>
              </a:r>
            </a:p>
          </p:txBody>
        </p:sp>
        <p:sp>
          <p:nvSpPr>
            <p:cNvPr id="33" name="TextBox 33"/>
            <p:cNvSpPr txBox="1"/>
            <p:nvPr/>
          </p:nvSpPr>
          <p:spPr>
            <a:xfrm>
              <a:off x="897952" y="4672965"/>
              <a:ext cx="724411" cy="205359"/>
            </a:xfrm>
            <a:prstGeom prst="rect">
              <a:avLst/>
            </a:prstGeom>
            <a:noFill/>
            <a:ln>
              <a:noFill/>
            </a:ln>
          </p:spPr>
          <p:txBody>
            <a:bodyPr wrap="none" lIns="0" tIns="0" rIns="0" bIns="0" anchor="t" anchorCtr="0">
              <a:spAutoFit/>
            </a:bodyPr>
            <a:lstStyle/>
            <a:p>
              <a:pPr algn="ctr"/>
              <a:r>
                <a:rPr lang="zh-CN" sz="1050" b="1" dirty="0">
                  <a:solidFill>
                    <a:srgbClr val="1F2937"/>
                  </a:solidFill>
                  <a:latin typeface="+mn-lt"/>
                  <a:ea typeface="+mn-ea"/>
                  <a:cs typeface="+mn-cs"/>
                </a:rPr>
                <a:t>PCI/ISA 桥</a:t>
              </a:r>
            </a:p>
          </p:txBody>
        </p:sp>
        <p:sp>
          <p:nvSpPr>
            <p:cNvPr id="34" name="TextBox 34"/>
            <p:cNvSpPr txBox="1"/>
            <p:nvPr/>
          </p:nvSpPr>
          <p:spPr>
            <a:xfrm>
              <a:off x="2226998" y="4672965"/>
              <a:ext cx="559963" cy="205359"/>
            </a:xfrm>
            <a:prstGeom prst="rect">
              <a:avLst/>
            </a:prstGeom>
            <a:noFill/>
            <a:ln>
              <a:noFill/>
            </a:ln>
          </p:spPr>
          <p:txBody>
            <a:bodyPr wrap="none" lIns="0" tIns="0" rIns="0" bIns="0" anchor="t" anchorCtr="0">
              <a:spAutoFit/>
            </a:bodyPr>
            <a:lstStyle/>
            <a:p>
              <a:pPr algn="ctr"/>
              <a:r>
                <a:rPr lang="zh-CN" sz="1050" b="1" dirty="0">
                  <a:solidFill>
                    <a:srgbClr val="243B53"/>
                  </a:solidFill>
                  <a:latin typeface="+mn-lt"/>
                  <a:ea typeface="+mn-ea"/>
                  <a:cs typeface="+mn-cs"/>
                </a:rPr>
                <a:t>PCI 设备</a:t>
              </a:r>
            </a:p>
          </p:txBody>
        </p:sp>
        <p:sp>
          <p:nvSpPr>
            <p:cNvPr id="35" name="TextBox 35"/>
            <p:cNvSpPr txBox="1"/>
            <p:nvPr/>
          </p:nvSpPr>
          <p:spPr>
            <a:xfrm>
              <a:off x="3421433" y="4672965"/>
              <a:ext cx="559963" cy="205359"/>
            </a:xfrm>
            <a:prstGeom prst="rect">
              <a:avLst/>
            </a:prstGeom>
            <a:noFill/>
            <a:ln>
              <a:noFill/>
            </a:ln>
          </p:spPr>
          <p:txBody>
            <a:bodyPr wrap="none" lIns="0" tIns="0" rIns="0" bIns="0" anchor="t" anchorCtr="0">
              <a:spAutoFit/>
            </a:bodyPr>
            <a:lstStyle/>
            <a:p>
              <a:pPr algn="ctr"/>
              <a:r>
                <a:rPr lang="zh-CN" sz="1050" b="1" dirty="0">
                  <a:solidFill>
                    <a:srgbClr val="243B53"/>
                  </a:solidFill>
                  <a:latin typeface="+mn-lt"/>
                  <a:ea typeface="+mn-ea"/>
                  <a:cs typeface="+mn-cs"/>
                </a:rPr>
                <a:t>PCI 设备</a:t>
              </a:r>
            </a:p>
          </p:txBody>
        </p:sp>
        <p:sp>
          <p:nvSpPr>
            <p:cNvPr id="36" name="TextBox 36"/>
            <p:cNvSpPr txBox="1"/>
            <p:nvPr/>
          </p:nvSpPr>
          <p:spPr>
            <a:xfrm>
              <a:off x="4637467" y="4672965"/>
              <a:ext cx="724411" cy="205359"/>
            </a:xfrm>
            <a:prstGeom prst="rect">
              <a:avLst/>
            </a:prstGeom>
            <a:noFill/>
            <a:ln>
              <a:noFill/>
            </a:ln>
          </p:spPr>
          <p:txBody>
            <a:bodyPr wrap="none" lIns="0" tIns="0" rIns="0" bIns="0" anchor="t" anchorCtr="0">
              <a:spAutoFit/>
            </a:bodyPr>
            <a:lstStyle/>
            <a:p>
              <a:pPr algn="ctr"/>
              <a:r>
                <a:rPr lang="zh-CN" sz="1050" b="1" dirty="0">
                  <a:solidFill>
                    <a:srgbClr val="1F2937"/>
                  </a:solidFill>
                  <a:latin typeface="+mn-lt"/>
                  <a:ea typeface="+mn-ea"/>
                  <a:cs typeface="+mn-cs"/>
                </a:rPr>
                <a:t>PCI/PCI 桥</a:t>
              </a:r>
            </a:p>
          </p:txBody>
        </p:sp>
        <p:sp>
          <p:nvSpPr>
            <p:cNvPr id="37" name="TextBox 37"/>
            <p:cNvSpPr txBox="1"/>
            <p:nvPr/>
          </p:nvSpPr>
          <p:spPr>
            <a:xfrm>
              <a:off x="980176" y="5487352"/>
              <a:ext cx="559963" cy="205359"/>
            </a:xfrm>
            <a:prstGeom prst="rect">
              <a:avLst/>
            </a:prstGeom>
            <a:noFill/>
            <a:ln>
              <a:noFill/>
            </a:ln>
          </p:spPr>
          <p:txBody>
            <a:bodyPr wrap="none" lIns="0" tIns="0" rIns="0" bIns="0" anchor="t" anchorCtr="0">
              <a:spAutoFit/>
            </a:bodyPr>
            <a:lstStyle/>
            <a:p>
              <a:pPr algn="ctr"/>
              <a:r>
                <a:rPr lang="zh-CN" sz="1050" b="1" dirty="0">
                  <a:solidFill>
                    <a:srgbClr val="1F2937"/>
                  </a:solidFill>
                  <a:latin typeface="+mn-lt"/>
                  <a:ea typeface="+mn-ea"/>
                  <a:cs typeface="+mn-cs"/>
                </a:rPr>
                <a:t>ISA 设备</a:t>
              </a:r>
            </a:p>
          </p:txBody>
        </p:sp>
        <p:sp>
          <p:nvSpPr>
            <p:cNvPr id="38" name="TextBox 38"/>
            <p:cNvSpPr txBox="1"/>
            <p:nvPr/>
          </p:nvSpPr>
          <p:spPr>
            <a:xfrm>
              <a:off x="3421433" y="5487352"/>
              <a:ext cx="559963" cy="205359"/>
            </a:xfrm>
            <a:prstGeom prst="rect">
              <a:avLst/>
            </a:prstGeom>
            <a:noFill/>
            <a:ln>
              <a:noFill/>
            </a:ln>
          </p:spPr>
          <p:txBody>
            <a:bodyPr wrap="none" lIns="0" tIns="0" rIns="0" bIns="0" anchor="t" anchorCtr="0">
              <a:spAutoFit/>
            </a:bodyPr>
            <a:lstStyle/>
            <a:p>
              <a:pPr algn="ctr"/>
              <a:r>
                <a:rPr lang="zh-CN" sz="1050" b="1" dirty="0">
                  <a:solidFill>
                    <a:srgbClr val="243B53"/>
                  </a:solidFill>
                  <a:latin typeface="+mn-lt"/>
                  <a:ea typeface="+mn-ea"/>
                  <a:cs typeface="+mn-cs"/>
                </a:rPr>
                <a:t>PCI 设备</a:t>
              </a:r>
            </a:p>
          </p:txBody>
        </p:sp>
        <p:sp>
          <p:nvSpPr>
            <p:cNvPr id="39" name="Rectangle 39"/>
            <p:cNvSpPr/>
            <p:nvPr/>
          </p:nvSpPr>
          <p:spPr>
            <a:xfrm>
              <a:off x="1450658" y="2341245"/>
              <a:ext cx="544830" cy="146685"/>
            </a:xfrm>
            <a:prstGeom prst="roundRect">
              <a:avLst>
                <a:gd name="adj" fmla="val 25974"/>
              </a:avLst>
            </a:prstGeom>
            <a:solidFill>
              <a:srgbClr val="FFFFFF"/>
            </a:solidFill>
            <a:ln>
              <a:noFill/>
            </a:ln>
          </p:spPr>
        </p:sp>
        <p:sp>
          <p:nvSpPr>
            <p:cNvPr id="40" name="TextBox 40"/>
            <p:cNvSpPr txBox="1"/>
            <p:nvPr/>
          </p:nvSpPr>
          <p:spPr>
            <a:xfrm>
              <a:off x="1467983" y="2370296"/>
              <a:ext cx="510178" cy="161925"/>
            </a:xfrm>
            <a:prstGeom prst="rect">
              <a:avLst/>
            </a:prstGeom>
            <a:noFill/>
            <a:ln>
              <a:noFill/>
            </a:ln>
          </p:spPr>
          <p:txBody>
            <a:bodyPr wrap="none" lIns="0" tIns="0" rIns="0" bIns="0" anchor="t" anchorCtr="0">
              <a:spAutoFit/>
            </a:bodyPr>
            <a:lstStyle/>
            <a:p>
              <a:pPr algn="ctr"/>
              <a:r>
                <a:rPr lang="zh-CN" sz="820" dirty="0">
                  <a:solidFill>
                    <a:srgbClr val="C2410C"/>
                  </a:solidFill>
                  <a:latin typeface="+mn-lt"/>
                  <a:ea typeface="+mn-ea"/>
                  <a:cs typeface="+mn-cs"/>
                </a:rPr>
                <a:t>Host 总线</a:t>
              </a:r>
            </a:p>
          </p:txBody>
        </p:sp>
        <p:sp>
          <p:nvSpPr>
            <p:cNvPr id="41" name="Rectangle 41"/>
            <p:cNvSpPr/>
            <p:nvPr/>
          </p:nvSpPr>
          <p:spPr>
            <a:xfrm>
              <a:off x="4069080" y="5071110"/>
              <a:ext cx="549592" cy="146685"/>
            </a:xfrm>
            <a:prstGeom prst="roundRect">
              <a:avLst>
                <a:gd name="adj" fmla="val 25974"/>
              </a:avLst>
            </a:prstGeom>
            <a:solidFill>
              <a:srgbClr val="FFFFFF"/>
            </a:solidFill>
            <a:ln>
              <a:noFill/>
            </a:ln>
          </p:spPr>
        </p:sp>
        <p:sp>
          <p:nvSpPr>
            <p:cNvPr id="42" name="TextBox 42"/>
            <p:cNvSpPr txBox="1"/>
            <p:nvPr/>
          </p:nvSpPr>
          <p:spPr>
            <a:xfrm>
              <a:off x="4083145" y="5100161"/>
              <a:ext cx="522414" cy="161925"/>
            </a:xfrm>
            <a:prstGeom prst="rect">
              <a:avLst/>
            </a:prstGeom>
            <a:noFill/>
            <a:ln>
              <a:noFill/>
            </a:ln>
          </p:spPr>
          <p:txBody>
            <a:bodyPr wrap="none" lIns="0" tIns="0" rIns="0" bIns="0" anchor="t" anchorCtr="0">
              <a:spAutoFit/>
            </a:bodyPr>
            <a:lstStyle/>
            <a:p>
              <a:pPr algn="ctr"/>
              <a:r>
                <a:rPr lang="zh-CN" sz="820" dirty="0">
                  <a:solidFill>
                    <a:srgbClr val="C2410C"/>
                  </a:solidFill>
                  <a:latin typeface="+mn-lt"/>
                  <a:ea typeface="+mn-ea"/>
                  <a:cs typeface="+mn-cs"/>
                </a:rPr>
                <a:t>PCI 总线 1</a:t>
              </a:r>
            </a:p>
          </p:txBody>
        </p:sp>
      </p:grpSp>
      <p:grpSp>
        <p:nvGrpSpPr>
          <p:cNvPr id="45" name="c1-text-2"/>
          <p:cNvGrpSpPr/>
          <p:nvPr/>
        </p:nvGrpSpPr>
        <p:grpSpPr>
          <a:xfrm>
            <a:off x="528066" y="5992178"/>
            <a:ext cx="4971288" cy="412052"/>
            <a:chOff x="528066" y="5992178"/>
            <a:chExt cx="4971288" cy="412052"/>
          </a:xfrm>
        </p:grpSpPr>
        <p:sp>
          <p:nvSpPr>
            <p:cNvPr id="44" name="TextBox 44"/>
            <p:cNvSpPr txBox="1"/>
            <p:nvPr/>
          </p:nvSpPr>
          <p:spPr>
            <a:xfrm>
              <a:off x="528066" y="5992178"/>
              <a:ext cx="4971288" cy="412052"/>
            </a:xfrm>
            <a:prstGeom prst="rect">
              <a:avLst/>
            </a:prstGeom>
            <a:noFill/>
            <a:ln>
              <a:noFill/>
            </a:ln>
          </p:spPr>
          <p:txBody>
            <a:bodyPr wrap="none" lIns="0" tIns="0" rIns="0" bIns="0" anchor="t" anchorCtr="0">
              <a:spAutoFit/>
            </a:bodyPr>
            <a:lstStyle/>
            <a:p>
              <a:pPr algn="l">
                <a:lnSpc>
                  <a:spcPts val="1628"/>
                </a:lnSpc>
              </a:pPr>
              <a:r>
                <a:rPr lang="zh-CN" sz="1050" dirty="0">
                  <a:solidFill>
                    <a:srgbClr val="1F2937"/>
                  </a:solidFill>
                  <a:latin typeface="+mn-lt"/>
                  <a:ea typeface="+mn-ea"/>
                  <a:cs typeface="+mn-cs"/>
                </a:rPr>
                <a:t>PCI 总线是树形结构，独立于 CPU 总线、可与 CPU 总线并行工作，经桥片挂接下一级</a:t>
              </a:r>
              <a:br/>
              <a:r>
                <a:rPr lang="zh-CN" sz="1050" dirty="0">
                  <a:solidFill>
                    <a:srgbClr val="1F2937"/>
                  </a:solidFill>
                  <a:latin typeface="+mn-lt"/>
                  <a:ea typeface="+mn-ea"/>
                  <a:cs typeface="+mn-cs"/>
                </a:rPr>
                <a:t>总线。</a:t>
              </a:r>
            </a:p>
          </p:txBody>
        </p:sp>
      </p:grpSp>
      <p:grpSp>
        <p:nvGrpSpPr>
          <p:cNvPr id="74" name="c2-table-1"/>
          <p:cNvGrpSpPr/>
          <p:nvPr/>
        </p:nvGrpSpPr>
        <p:grpSpPr>
          <a:xfrm>
            <a:off x="6032182" y="1524000"/>
            <a:ext cx="5626418" cy="2847975"/>
            <a:chOff x="6032182" y="1524000"/>
            <a:chExt cx="5626418" cy="2847975"/>
          </a:xfrm>
        </p:grpSpPr>
        <p:sp>
          <p:nvSpPr>
            <p:cNvPr id="46" name="Rectangle 46"/>
            <p:cNvSpPr/>
            <p:nvPr/>
          </p:nvSpPr>
          <p:spPr>
            <a:xfrm>
              <a:off x="6032182" y="1524000"/>
              <a:ext cx="5626418" cy="381000"/>
            </a:xfrm>
            <a:prstGeom prst="rect">
              <a:avLst/>
            </a:prstGeom>
            <a:solidFill>
              <a:srgbClr val="334E68"/>
            </a:solidFill>
            <a:ln>
              <a:noFill/>
            </a:ln>
          </p:spPr>
        </p:sp>
        <p:sp>
          <p:nvSpPr>
            <p:cNvPr id="47" name="TextBox 47"/>
            <p:cNvSpPr txBox="1"/>
            <p:nvPr/>
          </p:nvSpPr>
          <p:spPr>
            <a:xfrm>
              <a:off x="6320600" y="1641157"/>
              <a:ext cx="434721"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对比项</a:t>
              </a:r>
            </a:p>
          </p:txBody>
        </p:sp>
        <p:sp>
          <p:nvSpPr>
            <p:cNvPr id="48" name="TextBox 48"/>
            <p:cNvSpPr txBox="1"/>
            <p:nvPr/>
          </p:nvSpPr>
          <p:spPr>
            <a:xfrm>
              <a:off x="8055437" y="1641157"/>
              <a:ext cx="230215" cy="205359"/>
            </a:xfrm>
            <a:prstGeom prst="rect">
              <a:avLst/>
            </a:prstGeom>
            <a:noFill/>
            <a:ln>
              <a:noFill/>
            </a:ln>
          </p:spPr>
          <p:txBody>
            <a:bodyPr wrap="none" lIns="0" tIns="0" rIns="0" bIns="0" anchor="t" anchorCtr="0">
              <a:spAutoFit/>
            </a:bodyPr>
            <a:lstStyle/>
            <a:p>
              <a:pPr algn="ctr"/>
              <a:r>
                <a:rPr lang="en-US" sz="1050" b="1" dirty="0">
                  <a:solidFill>
                    <a:srgbClr val="FFFFFF"/>
                  </a:solidFill>
                  <a:latin typeface="+mn-lt"/>
                  <a:ea typeface="+mn-ea"/>
                  <a:cs typeface="+mn-cs"/>
                </a:rPr>
                <a:t>PCI</a:t>
              </a:r>
            </a:p>
          </p:txBody>
        </p:sp>
        <p:sp>
          <p:nvSpPr>
            <p:cNvPr id="49" name="TextBox 49"/>
            <p:cNvSpPr txBox="1"/>
            <p:nvPr/>
          </p:nvSpPr>
          <p:spPr>
            <a:xfrm>
              <a:off x="10275189" y="1641157"/>
              <a:ext cx="402717" cy="205359"/>
            </a:xfrm>
            <a:prstGeom prst="rect">
              <a:avLst/>
            </a:prstGeom>
            <a:noFill/>
            <a:ln>
              <a:noFill/>
            </a:ln>
          </p:spPr>
          <p:txBody>
            <a:bodyPr wrap="none" lIns="0" tIns="0" rIns="0" bIns="0" anchor="t" anchorCtr="0">
              <a:spAutoFit/>
            </a:bodyPr>
            <a:lstStyle/>
            <a:p>
              <a:pPr algn="ctr"/>
              <a:r>
                <a:rPr lang="en-US" sz="1050" b="1" dirty="0">
                  <a:solidFill>
                    <a:srgbClr val="FFFFFF"/>
                  </a:solidFill>
                  <a:latin typeface="+mn-lt"/>
                  <a:ea typeface="+mn-ea"/>
                  <a:cs typeface="+mn-cs"/>
                </a:rPr>
                <a:t>PCI-E</a:t>
              </a:r>
            </a:p>
          </p:txBody>
        </p:sp>
        <p:sp>
          <p:nvSpPr>
            <p:cNvPr id="50" name="TextBox 50"/>
            <p:cNvSpPr txBox="1"/>
            <p:nvPr/>
          </p:nvSpPr>
          <p:spPr>
            <a:xfrm>
              <a:off x="6126861" y="2023110"/>
              <a:ext cx="293370" cy="205359"/>
            </a:xfrm>
            <a:prstGeom prst="rect">
              <a:avLst/>
            </a:prstGeom>
            <a:noFill/>
            <a:ln>
              <a:noFill/>
            </a:ln>
          </p:spPr>
          <p:txBody>
            <a:bodyPr wrap="none" lIns="0" tIns="0" rIns="0" bIns="0" anchor="t" anchorCtr="0">
              <a:spAutoFit/>
            </a:bodyPr>
            <a:lstStyle/>
            <a:p>
              <a:pPr algn="l"/>
              <a:r>
                <a:rPr lang="zh-CN" sz="1050" b="1" dirty="0">
                  <a:solidFill>
                    <a:srgbClr val="1F2937"/>
                  </a:solidFill>
                  <a:latin typeface="+mn-lt"/>
                  <a:ea typeface="+mn-ea"/>
                  <a:cs typeface="+mn-cs"/>
                </a:rPr>
                <a:t>提出</a:t>
              </a:r>
            </a:p>
          </p:txBody>
        </p:sp>
        <p:sp>
          <p:nvSpPr>
            <p:cNvPr id="51" name="TextBox 51"/>
            <p:cNvSpPr txBox="1"/>
            <p:nvPr/>
          </p:nvSpPr>
          <p:spPr>
            <a:xfrm>
              <a:off x="7139369" y="2023110"/>
              <a:ext cx="968388"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Intel，1991 年</a:t>
              </a:r>
            </a:p>
          </p:txBody>
        </p:sp>
        <p:sp>
          <p:nvSpPr>
            <p:cNvPr id="52" name="TextBox 52"/>
            <p:cNvSpPr txBox="1"/>
            <p:nvPr/>
          </p:nvSpPr>
          <p:spPr>
            <a:xfrm>
              <a:off x="9390126" y="2023110"/>
              <a:ext cx="332308" cy="205359"/>
            </a:xfrm>
            <a:prstGeom prst="rect">
              <a:avLst/>
            </a:prstGeom>
            <a:noFill/>
            <a:ln>
              <a:noFill/>
            </a:ln>
          </p:spPr>
          <p:txBody>
            <a:bodyPr wrap="none" lIns="0" tIns="0" rIns="0" bIns="0" anchor="t" anchorCtr="0">
              <a:spAutoFit/>
            </a:bodyPr>
            <a:lstStyle/>
            <a:p>
              <a:pPr algn="l"/>
              <a:r>
                <a:rPr lang="en-US" sz="1050" dirty="0">
                  <a:solidFill>
                    <a:srgbClr val="1F2937"/>
                  </a:solidFill>
                  <a:latin typeface="+mn-lt"/>
                  <a:ea typeface="+mn-ea"/>
                  <a:cs typeface="+mn-cs"/>
                </a:rPr>
                <a:t>Intel</a:t>
              </a:r>
            </a:p>
          </p:txBody>
        </p:sp>
        <p:sp>
          <p:nvSpPr>
            <p:cNvPr id="53" name="Rectangle 53"/>
            <p:cNvSpPr/>
            <p:nvPr/>
          </p:nvSpPr>
          <p:spPr>
            <a:xfrm>
              <a:off x="6032182" y="2282190"/>
              <a:ext cx="5626418" cy="9525"/>
            </a:xfrm>
            <a:prstGeom prst="rect">
              <a:avLst/>
            </a:prstGeom>
            <a:solidFill>
              <a:srgbClr val="D9DFEA"/>
            </a:solidFill>
            <a:ln>
              <a:noFill/>
            </a:ln>
          </p:spPr>
        </p:sp>
        <p:sp>
          <p:nvSpPr>
            <p:cNvPr id="54" name="Rectangle 54"/>
            <p:cNvSpPr/>
            <p:nvPr/>
          </p:nvSpPr>
          <p:spPr>
            <a:xfrm>
              <a:off x="6032182" y="2286952"/>
              <a:ext cx="5626418" cy="567690"/>
            </a:xfrm>
            <a:prstGeom prst="rect">
              <a:avLst/>
            </a:prstGeom>
            <a:solidFill>
              <a:srgbClr val="F4F6FB"/>
            </a:solidFill>
            <a:ln>
              <a:noFill/>
            </a:ln>
          </p:spPr>
        </p:sp>
        <p:sp>
          <p:nvSpPr>
            <p:cNvPr id="55" name="TextBox 55"/>
            <p:cNvSpPr txBox="1"/>
            <p:nvPr/>
          </p:nvSpPr>
          <p:spPr>
            <a:xfrm>
              <a:off x="6126861" y="2497455"/>
              <a:ext cx="576072" cy="205359"/>
            </a:xfrm>
            <a:prstGeom prst="rect">
              <a:avLst/>
            </a:prstGeom>
            <a:noFill/>
            <a:ln>
              <a:noFill/>
            </a:ln>
          </p:spPr>
          <p:txBody>
            <a:bodyPr wrap="none" lIns="0" tIns="0" rIns="0" bIns="0" anchor="t" anchorCtr="0">
              <a:spAutoFit/>
            </a:bodyPr>
            <a:lstStyle/>
            <a:p>
              <a:pPr algn="l"/>
              <a:r>
                <a:rPr lang="zh-CN" sz="1050" b="1" dirty="0">
                  <a:solidFill>
                    <a:srgbClr val="1F2937"/>
                  </a:solidFill>
                  <a:latin typeface="+mn-lt"/>
                  <a:ea typeface="+mn-ea"/>
                  <a:cs typeface="+mn-cs"/>
                </a:rPr>
                <a:t>连接方式</a:t>
              </a:r>
            </a:p>
          </p:txBody>
        </p:sp>
        <p:sp>
          <p:nvSpPr>
            <p:cNvPr id="56" name="TextBox 56"/>
            <p:cNvSpPr txBox="1"/>
            <p:nvPr/>
          </p:nvSpPr>
          <p:spPr>
            <a:xfrm>
              <a:off x="7139369" y="2497455"/>
              <a:ext cx="1000125"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共享的并行总线</a:t>
              </a:r>
            </a:p>
          </p:txBody>
        </p:sp>
        <p:sp>
          <p:nvSpPr>
            <p:cNvPr id="57" name="TextBox 57"/>
            <p:cNvSpPr txBox="1"/>
            <p:nvPr/>
          </p:nvSpPr>
          <p:spPr>
            <a:xfrm>
              <a:off x="9390126" y="2404110"/>
              <a:ext cx="2010918" cy="392049"/>
            </a:xfrm>
            <a:prstGeom prst="rect">
              <a:avLst/>
            </a:prstGeom>
            <a:noFill/>
            <a:ln>
              <a:noFill/>
            </a:ln>
          </p:spPr>
          <p:txBody>
            <a:bodyPr wrap="none" lIns="0" tIns="0" rIns="0" bIns="0" anchor="t" anchorCtr="0">
              <a:spAutoFit/>
            </a:bodyPr>
            <a:lstStyle/>
            <a:p>
              <a:pPr algn="l">
                <a:lnSpc>
                  <a:spcPts val="1470"/>
                </a:lnSpc>
              </a:pPr>
              <a:r>
                <a:rPr lang="zh-CN" sz="1050" dirty="0">
                  <a:solidFill>
                    <a:srgbClr val="1F2937"/>
                  </a:solidFill>
                  <a:latin typeface="+mn-lt"/>
                  <a:ea typeface="+mn-ea"/>
                  <a:cs typeface="+mn-cs"/>
                </a:rPr>
                <a:t>点对点串行连接，每个设备独占链</a:t>
              </a:r>
              <a:br/>
              <a:r>
                <a:rPr lang="zh-CN" sz="1050" dirty="0">
                  <a:solidFill>
                    <a:srgbClr val="1F2937"/>
                  </a:solidFill>
                  <a:latin typeface="+mn-lt"/>
                  <a:ea typeface="+mn-ea"/>
                  <a:cs typeface="+mn-cs"/>
                </a:rPr>
                <a:t>路</a:t>
              </a:r>
            </a:p>
          </p:txBody>
        </p:sp>
        <p:sp>
          <p:nvSpPr>
            <p:cNvPr id="58" name="Rectangle 58"/>
            <p:cNvSpPr/>
            <p:nvPr/>
          </p:nvSpPr>
          <p:spPr>
            <a:xfrm>
              <a:off x="6032182" y="2849880"/>
              <a:ext cx="5626418" cy="9525"/>
            </a:xfrm>
            <a:prstGeom prst="rect">
              <a:avLst/>
            </a:prstGeom>
            <a:solidFill>
              <a:srgbClr val="D9DFEA"/>
            </a:solidFill>
            <a:ln>
              <a:noFill/>
            </a:ln>
          </p:spPr>
        </p:sp>
        <p:sp>
          <p:nvSpPr>
            <p:cNvPr id="59" name="TextBox 59"/>
            <p:cNvSpPr txBox="1"/>
            <p:nvPr/>
          </p:nvSpPr>
          <p:spPr>
            <a:xfrm>
              <a:off x="6126861" y="3065145"/>
              <a:ext cx="576072" cy="205359"/>
            </a:xfrm>
            <a:prstGeom prst="rect">
              <a:avLst/>
            </a:prstGeom>
            <a:noFill/>
            <a:ln>
              <a:noFill/>
            </a:ln>
          </p:spPr>
          <p:txBody>
            <a:bodyPr wrap="none" lIns="0" tIns="0" rIns="0" bIns="0" anchor="t" anchorCtr="0">
              <a:spAutoFit/>
            </a:bodyPr>
            <a:lstStyle/>
            <a:p>
              <a:pPr algn="l"/>
              <a:r>
                <a:rPr lang="zh-CN" sz="1050" b="1" dirty="0">
                  <a:solidFill>
                    <a:srgbClr val="1F2937"/>
                  </a:solidFill>
                  <a:latin typeface="+mn-lt"/>
                  <a:ea typeface="+mn-ea"/>
                  <a:cs typeface="+mn-cs"/>
                </a:rPr>
                <a:t>传输方向</a:t>
              </a:r>
            </a:p>
          </p:txBody>
        </p:sp>
        <p:sp>
          <p:nvSpPr>
            <p:cNvPr id="60" name="TextBox 60"/>
            <p:cNvSpPr txBox="1"/>
            <p:nvPr/>
          </p:nvSpPr>
          <p:spPr>
            <a:xfrm>
              <a:off x="7139369" y="2971800"/>
              <a:ext cx="1877568" cy="392049"/>
            </a:xfrm>
            <a:prstGeom prst="rect">
              <a:avLst/>
            </a:prstGeom>
            <a:noFill/>
            <a:ln>
              <a:noFill/>
            </a:ln>
          </p:spPr>
          <p:txBody>
            <a:bodyPr wrap="none" lIns="0" tIns="0" rIns="0" bIns="0" anchor="t" anchorCtr="0">
              <a:spAutoFit/>
            </a:bodyPr>
            <a:lstStyle/>
            <a:p>
              <a:pPr algn="l">
                <a:lnSpc>
                  <a:spcPts val="1470"/>
                </a:lnSpc>
              </a:pPr>
              <a:r>
                <a:rPr lang="zh-CN" sz="1050" dirty="0">
                  <a:solidFill>
                    <a:srgbClr val="1F2937"/>
                  </a:solidFill>
                  <a:latin typeface="+mn-lt"/>
                  <a:ea typeface="+mn-ea"/>
                  <a:cs typeface="+mn-cs"/>
                </a:rPr>
                <a:t>半双工，同一时刻只朝一个方向</a:t>
              </a:r>
              <a:br/>
              <a:r>
                <a:rPr lang="zh-CN" sz="1050" dirty="0">
                  <a:solidFill>
                    <a:srgbClr val="1F2937"/>
                  </a:solidFill>
                  <a:latin typeface="+mn-lt"/>
                  <a:ea typeface="+mn-ea"/>
                  <a:cs typeface="+mn-cs"/>
                </a:rPr>
                <a:t>传</a:t>
              </a:r>
            </a:p>
          </p:txBody>
        </p:sp>
        <p:sp>
          <p:nvSpPr>
            <p:cNvPr id="61" name="TextBox 61"/>
            <p:cNvSpPr txBox="1"/>
            <p:nvPr/>
          </p:nvSpPr>
          <p:spPr>
            <a:xfrm>
              <a:off x="9390126" y="3065145"/>
              <a:ext cx="2130933"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双单工，收发各用一对线同时工作</a:t>
              </a:r>
            </a:p>
          </p:txBody>
        </p:sp>
        <p:sp>
          <p:nvSpPr>
            <p:cNvPr id="62" name="Rectangle 62"/>
            <p:cNvSpPr/>
            <p:nvPr/>
          </p:nvSpPr>
          <p:spPr>
            <a:xfrm>
              <a:off x="6032182" y="3418522"/>
              <a:ext cx="5626418" cy="9525"/>
            </a:xfrm>
            <a:prstGeom prst="rect">
              <a:avLst/>
            </a:prstGeom>
            <a:solidFill>
              <a:srgbClr val="D9DFEA"/>
            </a:solidFill>
            <a:ln>
              <a:noFill/>
            </a:ln>
          </p:spPr>
        </p:sp>
        <p:sp>
          <p:nvSpPr>
            <p:cNvPr id="63" name="Rectangle 63"/>
            <p:cNvSpPr/>
            <p:nvPr/>
          </p:nvSpPr>
          <p:spPr>
            <a:xfrm>
              <a:off x="6032182" y="3423285"/>
              <a:ext cx="5626418" cy="567690"/>
            </a:xfrm>
            <a:prstGeom prst="rect">
              <a:avLst/>
            </a:prstGeom>
            <a:solidFill>
              <a:srgbClr val="F4F6FB"/>
            </a:solidFill>
            <a:ln>
              <a:noFill/>
            </a:ln>
          </p:spPr>
        </p:sp>
        <p:sp>
          <p:nvSpPr>
            <p:cNvPr id="64" name="TextBox 64"/>
            <p:cNvSpPr txBox="1"/>
            <p:nvPr/>
          </p:nvSpPr>
          <p:spPr>
            <a:xfrm>
              <a:off x="6126861" y="3633788"/>
              <a:ext cx="293370" cy="205359"/>
            </a:xfrm>
            <a:prstGeom prst="rect">
              <a:avLst/>
            </a:prstGeom>
            <a:noFill/>
            <a:ln>
              <a:noFill/>
            </a:ln>
          </p:spPr>
          <p:txBody>
            <a:bodyPr wrap="none" lIns="0" tIns="0" rIns="0" bIns="0" anchor="t" anchorCtr="0">
              <a:spAutoFit/>
            </a:bodyPr>
            <a:lstStyle/>
            <a:p>
              <a:pPr algn="l"/>
              <a:r>
                <a:rPr lang="zh-CN" sz="1050" b="1" dirty="0">
                  <a:solidFill>
                    <a:srgbClr val="1F2937"/>
                  </a:solidFill>
                  <a:latin typeface="+mn-lt"/>
                  <a:ea typeface="+mn-ea"/>
                  <a:cs typeface="+mn-cs"/>
                </a:rPr>
                <a:t>带宽</a:t>
              </a:r>
            </a:p>
          </p:txBody>
        </p:sp>
        <p:sp>
          <p:nvSpPr>
            <p:cNvPr id="65" name="TextBox 65"/>
            <p:cNvSpPr txBox="1"/>
            <p:nvPr/>
          </p:nvSpPr>
          <p:spPr>
            <a:xfrm>
              <a:off x="7139369" y="3540443"/>
              <a:ext cx="1564196" cy="392049"/>
            </a:xfrm>
            <a:prstGeom prst="rect">
              <a:avLst/>
            </a:prstGeom>
            <a:noFill/>
            <a:ln>
              <a:noFill/>
            </a:ln>
          </p:spPr>
          <p:txBody>
            <a:bodyPr wrap="none" lIns="0" tIns="0" rIns="0" bIns="0" anchor="t" anchorCtr="0">
              <a:spAutoFit/>
            </a:bodyPr>
            <a:lstStyle/>
            <a:p>
              <a:pPr algn="l">
                <a:lnSpc>
                  <a:spcPts val="1470"/>
                </a:lnSpc>
              </a:pPr>
              <a:r>
                <a:rPr lang="zh-CN" sz="1050" dirty="0">
                  <a:solidFill>
                    <a:srgbClr val="1F2937"/>
                  </a:solidFill>
                  <a:latin typeface="+mn-lt"/>
                  <a:ea typeface="+mn-ea"/>
                  <a:cs typeface="+mn-cs"/>
                </a:rPr>
                <a:t>133 MB/s（32 位 × 33.33</a:t>
              </a:r>
              <a:br/>
              <a:r>
                <a:rPr lang="zh-CN" sz="1050" dirty="0">
                  <a:solidFill>
                    <a:srgbClr val="1F2937"/>
                  </a:solidFill>
                  <a:latin typeface="+mn-lt"/>
                  <a:ea typeface="+mn-ea"/>
                  <a:cs typeface="+mn-cs"/>
                </a:rPr>
                <a:t>MHz）</a:t>
              </a:r>
            </a:p>
          </p:txBody>
        </p:sp>
        <p:sp>
          <p:nvSpPr>
            <p:cNvPr id="66" name="TextBox 66"/>
            <p:cNvSpPr txBox="1"/>
            <p:nvPr/>
          </p:nvSpPr>
          <p:spPr>
            <a:xfrm>
              <a:off x="9390126" y="3540443"/>
              <a:ext cx="1744218" cy="392049"/>
            </a:xfrm>
            <a:prstGeom prst="rect">
              <a:avLst/>
            </a:prstGeom>
            <a:noFill/>
            <a:ln>
              <a:noFill/>
            </a:ln>
          </p:spPr>
          <p:txBody>
            <a:bodyPr wrap="none" lIns="0" tIns="0" rIns="0" bIns="0" anchor="t" anchorCtr="0">
              <a:spAutoFit/>
            </a:bodyPr>
            <a:lstStyle/>
            <a:p>
              <a:pPr algn="l">
                <a:lnSpc>
                  <a:spcPts val="1470"/>
                </a:lnSpc>
              </a:pPr>
              <a:r>
                <a:rPr lang="zh-CN" sz="1050" dirty="0">
                  <a:solidFill>
                    <a:srgbClr val="1F2937"/>
                  </a:solidFill>
                  <a:latin typeface="+mn-lt"/>
                  <a:ea typeface="+mn-ea"/>
                  <a:cs typeface="+mn-cs"/>
                </a:rPr>
                <a:t>3.0 版每通道每方向约 0.985</a:t>
              </a:r>
              <a:br/>
              <a:r>
                <a:rPr lang="zh-CN" sz="1050" dirty="0">
                  <a:solidFill>
                    <a:srgbClr val="1F2937"/>
                  </a:solidFill>
                  <a:latin typeface="+mn-lt"/>
                  <a:ea typeface="+mn-ea"/>
                  <a:cs typeface="+mn-cs"/>
                </a:rPr>
                <a:t>GB/s，x16 约 15.75 GB/s</a:t>
              </a:r>
            </a:p>
          </p:txBody>
        </p:sp>
        <p:sp>
          <p:nvSpPr>
            <p:cNvPr id="67" name="Rectangle 67"/>
            <p:cNvSpPr/>
            <p:nvPr/>
          </p:nvSpPr>
          <p:spPr>
            <a:xfrm>
              <a:off x="6032182" y="3986212"/>
              <a:ext cx="5626418" cy="9525"/>
            </a:xfrm>
            <a:prstGeom prst="rect">
              <a:avLst/>
            </a:prstGeom>
            <a:solidFill>
              <a:srgbClr val="D9DFEA"/>
            </a:solidFill>
            <a:ln>
              <a:noFill/>
            </a:ln>
          </p:spPr>
        </p:sp>
        <p:sp>
          <p:nvSpPr>
            <p:cNvPr id="68" name="TextBox 68"/>
            <p:cNvSpPr txBox="1"/>
            <p:nvPr/>
          </p:nvSpPr>
          <p:spPr>
            <a:xfrm>
              <a:off x="6126861" y="4108132"/>
              <a:ext cx="576072" cy="205359"/>
            </a:xfrm>
            <a:prstGeom prst="rect">
              <a:avLst/>
            </a:prstGeom>
            <a:noFill/>
            <a:ln>
              <a:noFill/>
            </a:ln>
          </p:spPr>
          <p:txBody>
            <a:bodyPr wrap="none" lIns="0" tIns="0" rIns="0" bIns="0" anchor="t" anchorCtr="0">
              <a:spAutoFit/>
            </a:bodyPr>
            <a:lstStyle/>
            <a:p>
              <a:pPr algn="l"/>
              <a:r>
                <a:rPr lang="zh-CN" sz="1050" b="1" dirty="0">
                  <a:solidFill>
                    <a:srgbClr val="1F2937"/>
                  </a:solidFill>
                  <a:latin typeface="+mn-lt"/>
                  <a:ea typeface="+mn-ea"/>
                  <a:cs typeface="+mn-cs"/>
                </a:rPr>
                <a:t>连接对象</a:t>
              </a:r>
            </a:p>
          </p:txBody>
        </p:sp>
        <p:sp>
          <p:nvSpPr>
            <p:cNvPr id="69" name="TextBox 69"/>
            <p:cNvSpPr txBox="1"/>
            <p:nvPr/>
          </p:nvSpPr>
          <p:spPr>
            <a:xfrm>
              <a:off x="7139369" y="4108132"/>
              <a:ext cx="1706880"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显卡、网卡、声卡等扩展卡</a:t>
              </a:r>
            </a:p>
          </p:txBody>
        </p:sp>
        <p:sp>
          <p:nvSpPr>
            <p:cNvPr id="70" name="TextBox 70"/>
            <p:cNvSpPr txBox="1"/>
            <p:nvPr/>
          </p:nvSpPr>
          <p:spPr>
            <a:xfrm>
              <a:off x="9390126" y="4108132"/>
              <a:ext cx="1706880"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显卡、固态硬盘、高速网卡</a:t>
              </a:r>
            </a:p>
          </p:txBody>
        </p:sp>
        <p:sp>
          <p:nvSpPr>
            <p:cNvPr id="71" name="Rectangle 71"/>
            <p:cNvSpPr/>
            <p:nvPr/>
          </p:nvSpPr>
          <p:spPr>
            <a:xfrm>
              <a:off x="6032182" y="1524000"/>
              <a:ext cx="5626418" cy="2847975"/>
            </a:xfrm>
            <a:prstGeom prst="rect">
              <a:avLst/>
            </a:prstGeom>
            <a:noFill/>
            <a:ln w="14288">
              <a:solidFill>
                <a:srgbClr val="D9DFEA"/>
              </a:solidFill>
            </a:ln>
          </p:spPr>
        </p:sp>
        <p:sp>
          <p:nvSpPr>
            <p:cNvPr id="72" name="Rectangle 72"/>
            <p:cNvSpPr/>
            <p:nvPr/>
          </p:nvSpPr>
          <p:spPr>
            <a:xfrm>
              <a:off x="7039928" y="1524000"/>
              <a:ext cx="9525" cy="2847975"/>
            </a:xfrm>
            <a:prstGeom prst="rect">
              <a:avLst/>
            </a:prstGeom>
            <a:solidFill>
              <a:srgbClr val="D9DFEA"/>
            </a:solidFill>
            <a:ln>
              <a:noFill/>
            </a:ln>
          </p:spPr>
        </p:sp>
        <p:sp>
          <p:nvSpPr>
            <p:cNvPr id="73" name="Rectangle 73"/>
            <p:cNvSpPr/>
            <p:nvPr/>
          </p:nvSpPr>
          <p:spPr>
            <a:xfrm>
              <a:off x="9290685" y="1524000"/>
              <a:ext cx="9525" cy="2847975"/>
            </a:xfrm>
            <a:prstGeom prst="rect">
              <a:avLst/>
            </a:prstGeom>
            <a:solidFill>
              <a:srgbClr val="D9DFEA"/>
            </a:solidFill>
            <a:ln>
              <a:noFill/>
            </a:ln>
          </p:spPr>
        </p:sp>
      </p:grpSp>
      <p:grpSp>
        <p:nvGrpSpPr>
          <p:cNvPr id="83" name="c2-card-2"/>
          <p:cNvGrpSpPr/>
          <p:nvPr/>
        </p:nvGrpSpPr>
        <p:grpSpPr>
          <a:xfrm>
            <a:off x="6032182" y="4536758"/>
            <a:ext cx="5626418" cy="1671638"/>
            <a:chOff x="6032182" y="4536758"/>
            <a:chExt cx="5626418" cy="1671638"/>
          </a:xfrm>
        </p:grpSpPr>
        <p:sp>
          <p:nvSpPr>
            <p:cNvPr id="75" name="Rectangle 75"/>
            <p:cNvSpPr/>
            <p:nvPr/>
          </p:nvSpPr>
          <p:spPr>
            <a:xfrm>
              <a:off x="6032182" y="4536758"/>
              <a:ext cx="5626418" cy="1671638"/>
            </a:xfrm>
            <a:prstGeom prst="roundRect">
              <a:avLst>
                <a:gd name="adj" fmla="val 7977"/>
              </a:avLst>
            </a:prstGeom>
            <a:solidFill>
              <a:srgbClr val="FFFFFF"/>
            </a:solidFill>
            <a:ln w="14288">
              <a:solidFill>
                <a:srgbClr val="D9DFEA"/>
              </a:solidFill>
            </a:ln>
          </p:spPr>
        </p:sp>
        <p:sp>
          <p:nvSpPr>
            <p:cNvPr id="76" name="Rectangle 76"/>
            <p:cNvSpPr/>
            <p:nvPr/>
          </p:nvSpPr>
          <p:spPr>
            <a:xfrm>
              <a:off x="6041708" y="4670108"/>
              <a:ext cx="47625" cy="1404938"/>
            </a:xfrm>
            <a:prstGeom prst="roundRect">
              <a:avLst>
                <a:gd name="adj" fmla="val 50000"/>
              </a:avLst>
            </a:prstGeom>
            <a:solidFill>
              <a:srgbClr val="5B6475"/>
            </a:solidFill>
            <a:ln>
              <a:noFill/>
            </a:ln>
          </p:spPr>
        </p:sp>
        <p:sp>
          <p:nvSpPr>
            <p:cNvPr id="77" name="Rectangle 77"/>
            <p:cNvSpPr/>
            <p:nvPr/>
          </p:nvSpPr>
          <p:spPr>
            <a:xfrm>
              <a:off x="6251258" y="4717732"/>
              <a:ext cx="458152" cy="238125"/>
            </a:xfrm>
            <a:prstGeom prst="roundRect">
              <a:avLst>
                <a:gd name="adj" fmla="val 50000"/>
              </a:avLst>
            </a:prstGeom>
            <a:solidFill>
              <a:srgbClr val="F4F6FB"/>
            </a:solidFill>
            <a:ln>
              <a:noFill/>
            </a:ln>
          </p:spPr>
        </p:sp>
        <p:sp>
          <p:nvSpPr>
            <p:cNvPr id="78" name="TextBox 78"/>
            <p:cNvSpPr txBox="1"/>
            <p:nvPr/>
          </p:nvSpPr>
          <p:spPr>
            <a:xfrm>
              <a:off x="6342977" y="4750594"/>
              <a:ext cx="273761" cy="190690"/>
            </a:xfrm>
            <a:prstGeom prst="rect">
              <a:avLst/>
            </a:prstGeom>
            <a:noFill/>
            <a:ln>
              <a:noFill/>
            </a:ln>
          </p:spPr>
          <p:txBody>
            <a:bodyPr wrap="none" lIns="0" tIns="0" rIns="0" bIns="0" anchor="t" anchorCtr="0">
              <a:spAutoFit/>
            </a:bodyPr>
            <a:lstStyle/>
            <a:p>
              <a:pPr algn="ctr"/>
              <a:r>
                <a:rPr lang="zh-CN" sz="980" b="1" dirty="0">
                  <a:solidFill>
                    <a:srgbClr val="5B6475"/>
                  </a:solidFill>
                  <a:latin typeface="+mn-lt"/>
                  <a:ea typeface="+mn-ea"/>
                  <a:cs typeface="+mn-cs"/>
                </a:rPr>
                <a:t>更正</a:t>
              </a:r>
            </a:p>
          </p:txBody>
        </p:sp>
        <p:sp>
          <p:nvSpPr>
            <p:cNvPr id="79" name="Ellipse 79"/>
            <p:cNvSpPr/>
            <p:nvPr/>
          </p:nvSpPr>
          <p:spPr>
            <a:xfrm>
              <a:off x="6260782" y="5110162"/>
              <a:ext cx="57150" cy="57150"/>
            </a:xfrm>
            <a:prstGeom prst="ellipse">
              <a:avLst/>
            </a:prstGeom>
            <a:solidFill>
              <a:srgbClr val="334E68"/>
            </a:solidFill>
            <a:ln>
              <a:noFill/>
            </a:ln>
          </p:spPr>
        </p:sp>
        <p:sp>
          <p:nvSpPr>
            <p:cNvPr id="80" name="TextBox 80"/>
            <p:cNvSpPr txBox="1"/>
            <p:nvPr/>
          </p:nvSpPr>
          <p:spPr>
            <a:xfrm>
              <a:off x="6416230" y="5058251"/>
              <a:ext cx="4767834" cy="735140"/>
            </a:xfrm>
            <a:prstGeom prst="rect">
              <a:avLst/>
            </a:prstGeom>
            <a:noFill/>
            <a:ln>
              <a:noFill/>
            </a:ln>
          </p:spPr>
          <p:txBody>
            <a:bodyPr wrap="none" lIns="0" tIns="0" rIns="0" bIns="0" anchor="t" anchorCtr="0">
              <a:spAutoFit/>
            </a:bodyPr>
            <a:lstStyle/>
            <a:p>
              <a:pPr algn="l">
                <a:lnSpc>
                  <a:spcPts val="1912"/>
                </a:lnSpc>
              </a:pPr>
              <a:r>
                <a:rPr lang="zh-CN" sz="1280" dirty="0">
                  <a:solidFill>
                    <a:srgbClr val="1F2937"/>
                  </a:solidFill>
                  <a:latin typeface="+mn-lt"/>
                  <a:ea typeface="+mn-ea"/>
                  <a:cs typeface="+mn-cs"/>
                </a:rPr>
                <a:t>原课件说 PCI 总线上“只允许有一个 PCI 主设备，其他均为从设</a:t>
              </a:r>
              <a:br/>
              <a:r>
                <a:rPr lang="zh-CN" sz="1280" dirty="0">
                  <a:solidFill>
                    <a:srgbClr val="1F2937"/>
                  </a:solidFill>
                  <a:latin typeface="+mn-lt"/>
                  <a:ea typeface="+mn-ea"/>
                  <a:cs typeface="+mn-cs"/>
                </a:rPr>
                <a:t>备”。PCI 支持多个设备轮流当主设备，由仲裁器分配总线，同一时</a:t>
              </a:r>
              <a:br/>
              <a:r>
                <a:rPr lang="zh-CN" sz="1280" dirty="0">
                  <a:solidFill>
                    <a:srgbClr val="1F2937"/>
                  </a:solidFill>
                  <a:latin typeface="+mn-lt"/>
                  <a:ea typeface="+mn-ea"/>
                  <a:cs typeface="+mn-cs"/>
                </a:rPr>
                <a:t>刻只有一个主设备在传送。</a:t>
              </a:r>
            </a:p>
          </p:txBody>
        </p:sp>
        <p:sp>
          <p:nvSpPr>
            <p:cNvPr id="81" name="Ellipse 81"/>
            <p:cNvSpPr/>
            <p:nvPr/>
          </p:nvSpPr>
          <p:spPr>
            <a:xfrm>
              <a:off x="6260782" y="5881688"/>
              <a:ext cx="57150" cy="57150"/>
            </a:xfrm>
            <a:prstGeom prst="ellipse">
              <a:avLst/>
            </a:prstGeom>
            <a:solidFill>
              <a:srgbClr val="334E68"/>
            </a:solidFill>
            <a:ln>
              <a:noFill/>
            </a:ln>
          </p:spPr>
        </p:sp>
        <p:sp>
          <p:nvSpPr>
            <p:cNvPr id="82" name="TextBox 82"/>
            <p:cNvSpPr txBox="1"/>
            <p:nvPr/>
          </p:nvSpPr>
          <p:spPr>
            <a:xfrm>
              <a:off x="6416230" y="5828824"/>
              <a:ext cx="4702160"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原课件把 PCI 的共享并行架构标作“单工”，准确说是半双工。</a:t>
              </a:r>
            </a:p>
          </p:txBody>
        </p:sp>
      </p:grpSp>
      <p:grpSp>
        <p:nvGrpSpPr>
          <p:cNvPr id="86" name="footer"/>
          <p:cNvGrpSpPr/>
          <p:nvPr/>
        </p:nvGrpSpPr>
        <p:grpSpPr>
          <a:xfrm>
            <a:off x="528447" y="6581299"/>
            <a:ext cx="11135106" cy="190690"/>
            <a:chOff x="528447" y="6581299"/>
            <a:chExt cx="11135106" cy="190690"/>
          </a:xfrm>
        </p:grpSpPr>
        <p:sp>
          <p:nvSpPr>
            <p:cNvPr id="84" name="TextBox 84"/>
            <p:cNvSpPr txBox="1"/>
            <p:nvPr/>
          </p:nvSpPr>
          <p:spPr>
            <a:xfrm>
              <a:off x="528447" y="6581299"/>
              <a:ext cx="2120748"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并行与分布式计算 · 第7章 体系结构</a:t>
              </a:r>
            </a:p>
          </p:txBody>
        </p:sp>
        <p:sp>
          <p:nvSpPr>
            <p:cNvPr id="85" name="TextBox 85"/>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52</a:t>
              </a:r>
            </a:p>
          </p:txBody>
        </p:sp>
      </p:grpSp>
    </p:spTree>
  </p:cSld>
  <p:clrMapOvr>
    <a:masterClrMapping/>
  </p:clrMapOvr>
  <p:transition xmlns:p14="http://schemas.microsoft.com/office/powerpoint/2010/main" p14:dur="400">
    <p:fade/>
  </p:transition>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6906619" cy="909257"/>
            <a:chOff x="520446" y="342900"/>
            <a:chExt cx="6906619" cy="909257"/>
          </a:xfrm>
        </p:grpSpPr>
        <p:sp>
          <p:nvSpPr>
            <p:cNvPr id="2" name="Rectangle 2"/>
            <p:cNvSpPr/>
            <p:nvPr/>
          </p:nvSpPr>
          <p:spPr>
            <a:xfrm>
              <a:off x="533400" y="342900"/>
              <a:ext cx="1987868" cy="266700"/>
            </a:xfrm>
            <a:prstGeom prst="roundRect">
              <a:avLst>
                <a:gd name="adj" fmla="val 50000"/>
              </a:avLst>
            </a:prstGeom>
            <a:solidFill>
              <a:srgbClr val="E7EDF3"/>
            </a:solidFill>
            <a:ln>
              <a:noFill/>
            </a:ln>
          </p:spPr>
        </p:sp>
        <p:sp>
          <p:nvSpPr>
            <p:cNvPr id="3" name="TextBox 3"/>
            <p:cNvSpPr txBox="1"/>
            <p:nvPr/>
          </p:nvSpPr>
          <p:spPr>
            <a:xfrm>
              <a:off x="608957" y="407194"/>
              <a:ext cx="1835800"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第7章 体系结构 · 互连结构</a:t>
              </a:r>
            </a:p>
          </p:txBody>
        </p:sp>
        <p:sp>
          <p:nvSpPr>
            <p:cNvPr id="4" name="TextBox 4"/>
            <p:cNvSpPr txBox="1"/>
            <p:nvPr/>
          </p:nvSpPr>
          <p:spPr>
            <a:xfrm>
              <a:off x="520446" y="753428"/>
              <a:ext cx="6906619"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InfiniBand：适配器把数据直接送进应用内存</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19" name="c1-card-1"/>
          <p:cNvGrpSpPr/>
          <p:nvPr/>
        </p:nvGrpSpPr>
        <p:grpSpPr>
          <a:xfrm>
            <a:off x="533400" y="1524000"/>
            <a:ext cx="5410200" cy="2485072"/>
            <a:chOff x="533400" y="1524000"/>
            <a:chExt cx="5410200" cy="2485072"/>
          </a:xfrm>
        </p:grpSpPr>
        <p:sp>
          <p:nvSpPr>
            <p:cNvPr id="7" name="Rectangle 7"/>
            <p:cNvSpPr/>
            <p:nvPr/>
          </p:nvSpPr>
          <p:spPr>
            <a:xfrm>
              <a:off x="533400" y="1524000"/>
              <a:ext cx="5410200" cy="2485072"/>
            </a:xfrm>
            <a:prstGeom prst="roundRect">
              <a:avLst>
                <a:gd name="adj" fmla="val 5366"/>
              </a:avLst>
            </a:prstGeom>
            <a:solidFill>
              <a:srgbClr val="FFFFFF"/>
            </a:solidFill>
            <a:ln w="14288">
              <a:solidFill>
                <a:srgbClr val="D9DFEA"/>
              </a:solidFill>
            </a:ln>
          </p:spPr>
        </p:sp>
        <p:sp>
          <p:nvSpPr>
            <p:cNvPr id="8" name="Rectangle 8"/>
            <p:cNvSpPr/>
            <p:nvPr/>
          </p:nvSpPr>
          <p:spPr>
            <a:xfrm>
              <a:off x="542925" y="1657350"/>
              <a:ext cx="47625" cy="2218372"/>
            </a:xfrm>
            <a:prstGeom prst="roundRect">
              <a:avLst>
                <a:gd name="adj" fmla="val 50000"/>
              </a:avLst>
            </a:prstGeom>
            <a:solidFill>
              <a:srgbClr val="334E68"/>
            </a:solidFill>
            <a:ln>
              <a:noFill/>
            </a:ln>
          </p:spPr>
        </p:sp>
        <p:sp>
          <p:nvSpPr>
            <p:cNvPr id="9" name="Rectangle 9"/>
            <p:cNvSpPr/>
            <p:nvPr/>
          </p:nvSpPr>
          <p:spPr>
            <a:xfrm>
              <a:off x="752475" y="1704975"/>
              <a:ext cx="1956435" cy="238125"/>
            </a:xfrm>
            <a:prstGeom prst="roundRect">
              <a:avLst>
                <a:gd name="adj" fmla="val 50000"/>
              </a:avLst>
            </a:prstGeom>
            <a:solidFill>
              <a:srgbClr val="E7EDF3"/>
            </a:solidFill>
            <a:ln>
              <a:noFill/>
            </a:ln>
          </p:spPr>
        </p:sp>
        <p:sp>
          <p:nvSpPr>
            <p:cNvPr id="10" name="TextBox 10"/>
            <p:cNvSpPr txBox="1"/>
            <p:nvPr/>
          </p:nvSpPr>
          <p:spPr>
            <a:xfrm>
              <a:off x="792881" y="1737836"/>
              <a:ext cx="1875624" cy="190690"/>
            </a:xfrm>
            <a:prstGeom prst="rect">
              <a:avLst/>
            </a:prstGeom>
            <a:noFill/>
            <a:ln>
              <a:noFill/>
            </a:ln>
          </p:spPr>
          <p:txBody>
            <a:bodyPr wrap="none" lIns="0" tIns="0" rIns="0" bIns="0" anchor="t" anchorCtr="0">
              <a:spAutoFit/>
            </a:bodyPr>
            <a:lstStyle/>
            <a:p>
              <a:pPr algn="ctr"/>
              <a:r>
                <a:rPr lang="zh-CN" sz="980" b="1" dirty="0">
                  <a:solidFill>
                    <a:srgbClr val="334E68"/>
                  </a:solidFill>
                  <a:latin typeface="+mn-lt"/>
                  <a:ea typeface="+mn-ea"/>
                  <a:cs typeface="+mn-cs"/>
                </a:rPr>
                <a:t>InfiniBand（IB，“无限带宽”）</a:t>
              </a:r>
            </a:p>
          </p:txBody>
        </p:sp>
        <p:sp>
          <p:nvSpPr>
            <p:cNvPr id="11" name="Ellipse 11"/>
            <p:cNvSpPr/>
            <p:nvPr/>
          </p:nvSpPr>
          <p:spPr>
            <a:xfrm>
              <a:off x="762000" y="2097405"/>
              <a:ext cx="57150" cy="57150"/>
            </a:xfrm>
            <a:prstGeom prst="ellipse">
              <a:avLst/>
            </a:prstGeom>
            <a:solidFill>
              <a:srgbClr val="334E68"/>
            </a:solidFill>
            <a:ln>
              <a:noFill/>
            </a:ln>
          </p:spPr>
        </p:sp>
        <p:sp>
          <p:nvSpPr>
            <p:cNvPr id="12" name="TextBox 12"/>
            <p:cNvSpPr txBox="1"/>
            <p:nvPr/>
          </p:nvSpPr>
          <p:spPr>
            <a:xfrm>
              <a:off x="917448" y="2045494"/>
              <a:ext cx="4523994" cy="492252"/>
            </a:xfrm>
            <a:prstGeom prst="rect">
              <a:avLst/>
            </a:prstGeom>
            <a:noFill/>
            <a:ln>
              <a:noFill/>
            </a:ln>
          </p:spPr>
          <p:txBody>
            <a:bodyPr wrap="none" lIns="0" tIns="0" rIns="0" bIns="0" anchor="t" anchorCtr="0">
              <a:spAutoFit/>
            </a:bodyPr>
            <a:lstStyle/>
            <a:p>
              <a:pPr algn="l">
                <a:lnSpc>
                  <a:spcPts val="1912"/>
                </a:lnSpc>
              </a:pPr>
              <a:r>
                <a:rPr lang="zh-CN" sz="1280" dirty="0">
                  <a:solidFill>
                    <a:srgbClr val="1F2937"/>
                  </a:solidFill>
                  <a:latin typeface="+mn-lt"/>
                  <a:ea typeface="+mn-ea"/>
                  <a:cs typeface="+mn-cs"/>
                </a:rPr>
                <a:t>新一代服务器硬件平台的 I/O 标准，支持多并发链接的“转换线</a:t>
              </a:r>
              <a:br/>
              <a:r>
                <a:rPr lang="zh-CN" sz="1280" dirty="0">
                  <a:solidFill>
                    <a:srgbClr val="1F2937"/>
                  </a:solidFill>
                  <a:latin typeface="+mn-lt"/>
                  <a:ea typeface="+mn-ea"/>
                  <a:cs typeface="+mn-cs"/>
                </a:rPr>
                <a:t>缆”技术</a:t>
              </a:r>
            </a:p>
          </p:txBody>
        </p:sp>
        <p:sp>
          <p:nvSpPr>
            <p:cNvPr id="13" name="Ellipse 13"/>
            <p:cNvSpPr/>
            <p:nvPr/>
          </p:nvSpPr>
          <p:spPr>
            <a:xfrm>
              <a:off x="762000" y="2625090"/>
              <a:ext cx="57150" cy="57150"/>
            </a:xfrm>
            <a:prstGeom prst="ellipse">
              <a:avLst/>
            </a:prstGeom>
            <a:solidFill>
              <a:srgbClr val="334E68"/>
            </a:solidFill>
            <a:ln>
              <a:noFill/>
            </a:ln>
          </p:spPr>
        </p:sp>
        <p:sp>
          <p:nvSpPr>
            <p:cNvPr id="14" name="TextBox 14"/>
            <p:cNvSpPr txBox="1"/>
            <p:nvPr/>
          </p:nvSpPr>
          <p:spPr>
            <a:xfrm>
              <a:off x="917448" y="2573179"/>
              <a:ext cx="4754800"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用虚拟通道（Virtual Lane）实现 QoS，用 CRC 保证信号完整</a:t>
              </a:r>
            </a:p>
          </p:txBody>
        </p:sp>
        <p:sp>
          <p:nvSpPr>
            <p:cNvPr id="15" name="Ellipse 15"/>
            <p:cNvSpPr/>
            <p:nvPr/>
          </p:nvSpPr>
          <p:spPr>
            <a:xfrm>
              <a:off x="762000" y="2910840"/>
              <a:ext cx="57150" cy="57150"/>
            </a:xfrm>
            <a:prstGeom prst="ellipse">
              <a:avLst/>
            </a:prstGeom>
            <a:solidFill>
              <a:srgbClr val="334E68"/>
            </a:solidFill>
            <a:ln>
              <a:noFill/>
            </a:ln>
          </p:spPr>
        </p:sp>
        <p:sp>
          <p:nvSpPr>
            <p:cNvPr id="16" name="TextBox 16"/>
            <p:cNvSpPr txBox="1"/>
            <p:nvPr/>
          </p:nvSpPr>
          <p:spPr>
            <a:xfrm>
              <a:off x="917448" y="2857976"/>
              <a:ext cx="4564634" cy="492252"/>
            </a:xfrm>
            <a:prstGeom prst="rect">
              <a:avLst/>
            </a:prstGeom>
            <a:noFill/>
            <a:ln>
              <a:noFill/>
            </a:ln>
          </p:spPr>
          <p:txBody>
            <a:bodyPr wrap="none" lIns="0" tIns="0" rIns="0" bIns="0" anchor="t" anchorCtr="0">
              <a:spAutoFit/>
            </a:bodyPr>
            <a:lstStyle/>
            <a:p>
              <a:pPr algn="l">
                <a:lnSpc>
                  <a:spcPts val="1912"/>
                </a:lnSpc>
              </a:pPr>
              <a:r>
                <a:rPr lang="zh-CN" sz="1280" dirty="0">
                  <a:solidFill>
                    <a:srgbClr val="1F2937"/>
                  </a:solidFill>
                  <a:latin typeface="+mn-lt"/>
                  <a:ea typeface="+mn-ea"/>
                  <a:cs typeface="+mn-cs"/>
                </a:rPr>
                <a:t>高带宽、低延时、高可扩展，用于服务器之间、服务器与存储、</a:t>
              </a:r>
              <a:br/>
              <a:r>
                <a:rPr lang="zh-CN" sz="1280" dirty="0">
                  <a:solidFill>
                    <a:srgbClr val="1F2937"/>
                  </a:solidFill>
                  <a:latin typeface="+mn-lt"/>
                  <a:ea typeface="+mn-ea"/>
                  <a:cs typeface="+mn-cs"/>
                </a:rPr>
                <a:t>服务器与网络之间的通信</a:t>
              </a:r>
            </a:p>
          </p:txBody>
        </p:sp>
        <p:sp>
          <p:nvSpPr>
            <p:cNvPr id="17" name="Ellipse 17"/>
            <p:cNvSpPr/>
            <p:nvPr/>
          </p:nvSpPr>
          <p:spPr>
            <a:xfrm>
              <a:off x="762000" y="3438525"/>
              <a:ext cx="57150" cy="57150"/>
            </a:xfrm>
            <a:prstGeom prst="ellipse">
              <a:avLst/>
            </a:prstGeom>
            <a:solidFill>
              <a:srgbClr val="334E68"/>
            </a:solidFill>
            <a:ln>
              <a:noFill/>
            </a:ln>
          </p:spPr>
        </p:sp>
        <p:sp>
          <p:nvSpPr>
            <p:cNvPr id="18" name="TextBox 18"/>
            <p:cNvSpPr txBox="1"/>
            <p:nvPr/>
          </p:nvSpPr>
          <p:spPr>
            <a:xfrm>
              <a:off x="917448" y="3385661"/>
              <a:ext cx="4532122" cy="492252"/>
            </a:xfrm>
            <a:prstGeom prst="rect">
              <a:avLst/>
            </a:prstGeom>
            <a:noFill/>
            <a:ln>
              <a:noFill/>
            </a:ln>
          </p:spPr>
          <p:txBody>
            <a:bodyPr wrap="none" lIns="0" tIns="0" rIns="0" bIns="0" anchor="t" anchorCtr="0">
              <a:spAutoFit/>
            </a:bodyPr>
            <a:lstStyle/>
            <a:p>
              <a:pPr algn="l">
                <a:lnSpc>
                  <a:spcPts val="1912"/>
                </a:lnSpc>
              </a:pPr>
              <a:r>
                <a:rPr lang="zh-CN" sz="1280" dirty="0">
                  <a:solidFill>
                    <a:srgbClr val="1F2937"/>
                  </a:solidFill>
                  <a:latin typeface="+mn-lt"/>
                  <a:ea typeface="+mn-ea"/>
                  <a:cs typeface="+mn-cs"/>
                </a:rPr>
                <a:t>由 Intel、IBM、HP、Dell、Microsoft、Sun 等组成的行业协会</a:t>
              </a:r>
              <a:br/>
              <a:r>
                <a:rPr lang="zh-CN" sz="1280" dirty="0">
                  <a:solidFill>
                    <a:srgbClr val="1F2937"/>
                  </a:solidFill>
                  <a:latin typeface="+mn-lt"/>
                  <a:ea typeface="+mn-ea"/>
                  <a:cs typeface="+mn-cs"/>
                </a:rPr>
                <a:t>倡导，目标是取代 PCI，把 I/O 系统从服务器主机中分离出来</a:t>
              </a:r>
            </a:p>
          </p:txBody>
        </p:sp>
      </p:grpSp>
      <p:grpSp>
        <p:nvGrpSpPr>
          <p:cNvPr id="31" name="c1-kv-2"/>
          <p:cNvGrpSpPr/>
          <p:nvPr/>
        </p:nvGrpSpPr>
        <p:grpSpPr>
          <a:xfrm>
            <a:off x="526923" y="4194334"/>
            <a:ext cx="5416677" cy="1851469"/>
            <a:chOff x="526923" y="4194334"/>
            <a:chExt cx="5416677" cy="1851469"/>
          </a:xfrm>
        </p:grpSpPr>
        <p:sp>
          <p:nvSpPr>
            <p:cNvPr id="20" name="TextBox 20"/>
            <p:cNvSpPr txBox="1"/>
            <p:nvPr/>
          </p:nvSpPr>
          <p:spPr>
            <a:xfrm>
              <a:off x="526923" y="4194334"/>
              <a:ext cx="328385" cy="249364"/>
            </a:xfrm>
            <a:prstGeom prst="rect">
              <a:avLst/>
            </a:prstGeom>
            <a:noFill/>
            <a:ln>
              <a:noFill/>
            </a:ln>
          </p:spPr>
          <p:txBody>
            <a:bodyPr wrap="none" lIns="0" tIns="0" rIns="0" bIns="0" anchor="t" anchorCtr="0">
              <a:spAutoFit/>
            </a:bodyPr>
            <a:lstStyle/>
            <a:p>
              <a:pPr algn="l"/>
              <a:r>
                <a:rPr lang="en-US" sz="1280" b="1" dirty="0">
                  <a:solidFill>
                    <a:srgbClr val="334E68"/>
                  </a:solidFill>
                  <a:latin typeface="+mn-lt"/>
                  <a:ea typeface="+mn-ea"/>
                  <a:cs typeface="+mn-cs"/>
                </a:rPr>
                <a:t>HCA</a:t>
              </a:r>
            </a:p>
          </p:txBody>
        </p:sp>
        <p:sp>
          <p:nvSpPr>
            <p:cNvPr id="21" name="TextBox 21"/>
            <p:cNvSpPr txBox="1"/>
            <p:nvPr/>
          </p:nvSpPr>
          <p:spPr>
            <a:xfrm>
              <a:off x="1825180" y="4194334"/>
              <a:ext cx="3696564"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主机通道适配器，连接内存控制器和 TCA 的桥梁</a:t>
              </a:r>
            </a:p>
          </p:txBody>
        </p:sp>
        <p:sp>
          <p:nvSpPr>
            <p:cNvPr id="22" name="Rectangle 22"/>
            <p:cNvSpPr/>
            <p:nvPr/>
          </p:nvSpPr>
          <p:spPr>
            <a:xfrm>
              <a:off x="533400" y="4467225"/>
              <a:ext cx="5410200" cy="9525"/>
            </a:xfrm>
            <a:prstGeom prst="rect">
              <a:avLst/>
            </a:prstGeom>
            <a:solidFill>
              <a:srgbClr val="D9DFEA"/>
            </a:solidFill>
            <a:ln>
              <a:noFill/>
            </a:ln>
          </p:spPr>
        </p:sp>
        <p:sp>
          <p:nvSpPr>
            <p:cNvPr id="23" name="TextBox 23"/>
            <p:cNvSpPr txBox="1"/>
            <p:nvPr/>
          </p:nvSpPr>
          <p:spPr>
            <a:xfrm>
              <a:off x="526923" y="4568666"/>
              <a:ext cx="328385" cy="249364"/>
            </a:xfrm>
            <a:prstGeom prst="rect">
              <a:avLst/>
            </a:prstGeom>
            <a:noFill/>
            <a:ln>
              <a:noFill/>
            </a:ln>
          </p:spPr>
          <p:txBody>
            <a:bodyPr wrap="none" lIns="0" tIns="0" rIns="0" bIns="0" anchor="t" anchorCtr="0">
              <a:spAutoFit/>
            </a:bodyPr>
            <a:lstStyle/>
            <a:p>
              <a:pPr algn="l"/>
              <a:r>
                <a:rPr lang="en-US" sz="1280" b="1" dirty="0">
                  <a:solidFill>
                    <a:srgbClr val="334E68"/>
                  </a:solidFill>
                  <a:latin typeface="+mn-lt"/>
                  <a:ea typeface="+mn-ea"/>
                  <a:cs typeface="+mn-cs"/>
                </a:rPr>
                <a:t>TCA</a:t>
              </a:r>
            </a:p>
          </p:txBody>
        </p:sp>
        <p:sp>
          <p:nvSpPr>
            <p:cNvPr id="24" name="TextBox 24"/>
            <p:cNvSpPr txBox="1"/>
            <p:nvPr/>
          </p:nvSpPr>
          <p:spPr>
            <a:xfrm>
              <a:off x="1825180" y="4568666"/>
              <a:ext cx="3824986" cy="489394"/>
            </a:xfrm>
            <a:prstGeom prst="rect">
              <a:avLst/>
            </a:prstGeom>
            <a:noFill/>
            <a:ln>
              <a:noFill/>
            </a:ln>
          </p:spPr>
          <p:txBody>
            <a:bodyPr wrap="none" lIns="0" tIns="0" rIns="0" bIns="0" anchor="t" anchorCtr="0">
              <a:spAutoFit/>
            </a:bodyPr>
            <a:lstStyle/>
            <a:p>
              <a:pPr algn="l">
                <a:lnSpc>
                  <a:spcPts val="1890"/>
                </a:lnSpc>
              </a:pPr>
              <a:r>
                <a:rPr lang="zh-CN" sz="1280" dirty="0">
                  <a:solidFill>
                    <a:srgbClr val="1F2937"/>
                  </a:solidFill>
                  <a:latin typeface="+mn-lt"/>
                  <a:ea typeface="+mn-ea"/>
                  <a:cs typeface="+mn-cs"/>
                </a:rPr>
                <a:t>目标通道适配器，把 I/O 设备（网卡、SCSI 控制器）</a:t>
              </a:r>
              <a:br/>
              <a:r>
                <a:rPr lang="zh-CN" sz="1280" dirty="0">
                  <a:solidFill>
                    <a:srgbClr val="1F2937"/>
                  </a:solidFill>
                  <a:latin typeface="+mn-lt"/>
                  <a:ea typeface="+mn-ea"/>
                  <a:cs typeface="+mn-cs"/>
                </a:rPr>
                <a:t>的信号打包发给 HCA</a:t>
              </a:r>
            </a:p>
          </p:txBody>
        </p:sp>
        <p:sp>
          <p:nvSpPr>
            <p:cNvPr id="25" name="Rectangle 25"/>
            <p:cNvSpPr/>
            <p:nvPr/>
          </p:nvSpPr>
          <p:spPr>
            <a:xfrm>
              <a:off x="533400" y="5080635"/>
              <a:ext cx="5410200" cy="9525"/>
            </a:xfrm>
            <a:prstGeom prst="rect">
              <a:avLst/>
            </a:prstGeom>
            <a:solidFill>
              <a:srgbClr val="D9DFEA"/>
            </a:solidFill>
            <a:ln>
              <a:noFill/>
            </a:ln>
          </p:spPr>
        </p:sp>
        <p:sp>
          <p:nvSpPr>
            <p:cNvPr id="26" name="TextBox 26"/>
            <p:cNvSpPr txBox="1"/>
            <p:nvPr/>
          </p:nvSpPr>
          <p:spPr>
            <a:xfrm>
              <a:off x="526923" y="5182076"/>
              <a:ext cx="577427" cy="249364"/>
            </a:xfrm>
            <a:prstGeom prst="rect">
              <a:avLst/>
            </a:prstGeom>
            <a:noFill/>
            <a:ln>
              <a:noFill/>
            </a:ln>
          </p:spPr>
          <p:txBody>
            <a:bodyPr wrap="none" lIns="0" tIns="0" rIns="0" bIns="0" anchor="t" anchorCtr="0">
              <a:spAutoFit/>
            </a:bodyPr>
            <a:lstStyle/>
            <a:p>
              <a:pPr algn="l"/>
              <a:r>
                <a:rPr lang="zh-CN" sz="1280" b="1" dirty="0">
                  <a:solidFill>
                    <a:srgbClr val="334E68"/>
                  </a:solidFill>
                  <a:latin typeface="+mn-lt"/>
                  <a:ea typeface="+mn-ea"/>
                  <a:cs typeface="+mn-cs"/>
                </a:rPr>
                <a:t>IB 链路</a:t>
              </a:r>
            </a:p>
          </p:txBody>
        </p:sp>
        <p:sp>
          <p:nvSpPr>
            <p:cNvPr id="27" name="TextBox 27"/>
            <p:cNvSpPr txBox="1"/>
            <p:nvPr/>
          </p:nvSpPr>
          <p:spPr>
            <a:xfrm>
              <a:off x="1825180" y="5182076"/>
              <a:ext cx="4071752"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连接 HCA 和 TCA 的光纤，可用 1、4、12 条三种宽度</a:t>
              </a:r>
            </a:p>
          </p:txBody>
        </p:sp>
        <p:sp>
          <p:nvSpPr>
            <p:cNvPr id="28" name="Rectangle 28"/>
            <p:cNvSpPr/>
            <p:nvPr/>
          </p:nvSpPr>
          <p:spPr>
            <a:xfrm>
              <a:off x="533400" y="5454015"/>
              <a:ext cx="5410200" cy="9525"/>
            </a:xfrm>
            <a:prstGeom prst="rect">
              <a:avLst/>
            </a:prstGeom>
            <a:solidFill>
              <a:srgbClr val="D9DFEA"/>
            </a:solidFill>
            <a:ln>
              <a:noFill/>
            </a:ln>
          </p:spPr>
        </p:sp>
        <p:sp>
          <p:nvSpPr>
            <p:cNvPr id="29" name="TextBox 29"/>
            <p:cNvSpPr txBox="1"/>
            <p:nvPr/>
          </p:nvSpPr>
          <p:spPr>
            <a:xfrm>
              <a:off x="526923" y="5556409"/>
              <a:ext cx="1022045" cy="489394"/>
            </a:xfrm>
            <a:prstGeom prst="rect">
              <a:avLst/>
            </a:prstGeom>
            <a:noFill/>
            <a:ln>
              <a:noFill/>
            </a:ln>
          </p:spPr>
          <p:txBody>
            <a:bodyPr wrap="none" lIns="0" tIns="0" rIns="0" bIns="0" anchor="t" anchorCtr="0">
              <a:spAutoFit/>
            </a:bodyPr>
            <a:lstStyle/>
            <a:p>
              <a:pPr algn="l">
                <a:lnSpc>
                  <a:spcPts val="1890"/>
                </a:lnSpc>
              </a:pPr>
              <a:r>
                <a:rPr lang="zh-CN" sz="1280" b="1" dirty="0">
                  <a:solidFill>
                    <a:srgbClr val="334E68"/>
                  </a:solidFill>
                  <a:latin typeface="+mn-lt"/>
                  <a:ea typeface="+mn-ea"/>
                  <a:cs typeface="+mn-cs"/>
                </a:rPr>
                <a:t>交换机 / 路由</a:t>
              </a:r>
              <a:br/>
              <a:r>
                <a:rPr lang="zh-CN" sz="1280" b="1" dirty="0">
                  <a:solidFill>
                    <a:srgbClr val="334E68"/>
                  </a:solidFill>
                  <a:latin typeface="+mn-lt"/>
                  <a:ea typeface="+mn-ea"/>
                  <a:cs typeface="+mn-cs"/>
                </a:rPr>
                <a:t>器</a:t>
              </a:r>
            </a:p>
          </p:txBody>
        </p:sp>
        <p:sp>
          <p:nvSpPr>
            <p:cNvPr id="30" name="TextBox 30"/>
            <p:cNvSpPr txBox="1"/>
            <p:nvPr/>
          </p:nvSpPr>
          <p:spPr>
            <a:xfrm>
              <a:off x="1825180" y="5556409"/>
              <a:ext cx="2080717"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用光纤交换机和路由器组网</a:t>
              </a:r>
            </a:p>
          </p:txBody>
        </p:sp>
      </p:grpSp>
      <p:grpSp>
        <p:nvGrpSpPr>
          <p:cNvPr id="54" name="c2-flow-1"/>
          <p:cNvGrpSpPr/>
          <p:nvPr/>
        </p:nvGrpSpPr>
        <p:grpSpPr>
          <a:xfrm>
            <a:off x="6381750" y="1722120"/>
            <a:ext cx="5143500" cy="1142048"/>
            <a:chOff x="6381750" y="1722120"/>
            <a:chExt cx="5143500" cy="1142048"/>
          </a:xfrm>
        </p:grpSpPr>
        <p:sp>
          <p:nvSpPr>
            <p:cNvPr id="32" name="Freeform 32"/>
            <p:cNvSpPr/>
            <p:nvPr/>
          </p:nvSpPr>
          <p:spPr>
            <a:xfrm>
              <a:off x="7918132" y="1908810"/>
              <a:ext cx="161925" cy="9525"/>
            </a:xfrm>
            <a:custGeom>
              <a:avLst/>
              <a:gdLst/>
              <a:ahLst/>
              <a:cxnLst/>
              <a:rect l="l" t="t" r="r" b="b"/>
              <a:pathLst>
                <a:path w="161925" h="9525">
                  <a:moveTo>
                    <a:pt x="0" y="0"/>
                  </a:moveTo>
                  <a:lnTo>
                    <a:pt x="161925" y="0"/>
                  </a:lnTo>
                </a:path>
              </a:pathLst>
            </a:custGeom>
            <a:noFill/>
            <a:ln w="15240">
              <a:solidFill>
                <a:srgbClr val="5B6475"/>
              </a:solidFill>
            </a:ln>
          </p:spPr>
        </p:sp>
        <p:sp>
          <p:nvSpPr>
            <p:cNvPr id="33" name="Freeform 33"/>
            <p:cNvSpPr/>
            <p:nvPr/>
          </p:nvSpPr>
          <p:spPr>
            <a:xfrm>
              <a:off x="8080058" y="1856422"/>
              <a:ext cx="104775" cy="104775"/>
            </a:xfrm>
            <a:custGeom>
              <a:avLst/>
              <a:gdLst/>
              <a:ahLst/>
              <a:cxnLst/>
              <a:rect l="l" t="t" r="r" b="b"/>
              <a:pathLst>
                <a:path w="104775" h="104775">
                  <a:moveTo>
                    <a:pt x="104775" y="52388"/>
                  </a:moveTo>
                  <a:lnTo>
                    <a:pt x="0" y="104775"/>
                  </a:lnTo>
                  <a:lnTo>
                    <a:pt x="0" y="0"/>
                  </a:lnTo>
                  <a:close/>
                </a:path>
              </a:pathLst>
            </a:custGeom>
            <a:solidFill>
              <a:srgbClr val="5B6475"/>
            </a:solidFill>
            <a:ln>
              <a:noFill/>
            </a:ln>
          </p:spPr>
        </p:sp>
        <p:sp>
          <p:nvSpPr>
            <p:cNvPr id="34" name="Freeform 34"/>
            <p:cNvSpPr/>
            <p:nvPr/>
          </p:nvSpPr>
          <p:spPr>
            <a:xfrm>
              <a:off x="9722168" y="1908810"/>
              <a:ext cx="161925" cy="9525"/>
            </a:xfrm>
            <a:custGeom>
              <a:avLst/>
              <a:gdLst/>
              <a:ahLst/>
              <a:cxnLst/>
              <a:rect l="l" t="t" r="r" b="b"/>
              <a:pathLst>
                <a:path w="161925" h="9525">
                  <a:moveTo>
                    <a:pt x="0" y="0"/>
                  </a:moveTo>
                  <a:lnTo>
                    <a:pt x="161925" y="0"/>
                  </a:lnTo>
                </a:path>
              </a:pathLst>
            </a:custGeom>
            <a:noFill/>
            <a:ln w="15240">
              <a:solidFill>
                <a:srgbClr val="5B6475"/>
              </a:solidFill>
            </a:ln>
          </p:spPr>
        </p:sp>
        <p:sp>
          <p:nvSpPr>
            <p:cNvPr id="35" name="Freeform 35"/>
            <p:cNvSpPr/>
            <p:nvPr/>
          </p:nvSpPr>
          <p:spPr>
            <a:xfrm>
              <a:off x="9884092" y="1856422"/>
              <a:ext cx="104775" cy="104775"/>
            </a:xfrm>
            <a:custGeom>
              <a:avLst/>
              <a:gdLst/>
              <a:ahLst/>
              <a:cxnLst/>
              <a:rect l="l" t="t" r="r" b="b"/>
              <a:pathLst>
                <a:path w="104775" h="104775">
                  <a:moveTo>
                    <a:pt x="104775" y="52388"/>
                  </a:moveTo>
                  <a:lnTo>
                    <a:pt x="0" y="104775"/>
                  </a:lnTo>
                  <a:lnTo>
                    <a:pt x="0" y="0"/>
                  </a:lnTo>
                  <a:close/>
                </a:path>
              </a:pathLst>
            </a:custGeom>
            <a:solidFill>
              <a:srgbClr val="5B6475"/>
            </a:solidFill>
            <a:ln>
              <a:noFill/>
            </a:ln>
          </p:spPr>
        </p:sp>
        <p:sp>
          <p:nvSpPr>
            <p:cNvPr id="36" name="Freeform 36"/>
            <p:cNvSpPr/>
            <p:nvPr/>
          </p:nvSpPr>
          <p:spPr>
            <a:xfrm>
              <a:off x="7918132" y="2677478"/>
              <a:ext cx="1965960" cy="9525"/>
            </a:xfrm>
            <a:custGeom>
              <a:avLst/>
              <a:gdLst/>
              <a:ahLst/>
              <a:cxnLst/>
              <a:rect l="l" t="t" r="r" b="b"/>
              <a:pathLst>
                <a:path w="1965960" h="9525">
                  <a:moveTo>
                    <a:pt x="0" y="0"/>
                  </a:moveTo>
                  <a:lnTo>
                    <a:pt x="1965960" y="0"/>
                  </a:lnTo>
                </a:path>
              </a:pathLst>
            </a:custGeom>
            <a:noFill/>
            <a:ln w="15240">
              <a:solidFill>
                <a:srgbClr val="5B6475"/>
              </a:solidFill>
            </a:ln>
          </p:spPr>
        </p:sp>
        <p:sp>
          <p:nvSpPr>
            <p:cNvPr id="37" name="Freeform 37"/>
            <p:cNvSpPr/>
            <p:nvPr/>
          </p:nvSpPr>
          <p:spPr>
            <a:xfrm>
              <a:off x="9884092" y="2625090"/>
              <a:ext cx="104775" cy="104775"/>
            </a:xfrm>
            <a:custGeom>
              <a:avLst/>
              <a:gdLst/>
              <a:ahLst/>
              <a:cxnLst/>
              <a:rect l="l" t="t" r="r" b="b"/>
              <a:pathLst>
                <a:path w="104775" h="104775">
                  <a:moveTo>
                    <a:pt x="104775" y="52388"/>
                  </a:moveTo>
                  <a:lnTo>
                    <a:pt x="0" y="104775"/>
                  </a:lnTo>
                  <a:lnTo>
                    <a:pt x="0" y="0"/>
                  </a:lnTo>
                  <a:close/>
                </a:path>
              </a:pathLst>
            </a:custGeom>
            <a:solidFill>
              <a:srgbClr val="5B6475"/>
            </a:solidFill>
            <a:ln>
              <a:noFill/>
            </a:ln>
          </p:spPr>
        </p:sp>
        <p:sp>
          <p:nvSpPr>
            <p:cNvPr id="38" name="Rectangle 38"/>
            <p:cNvSpPr/>
            <p:nvPr/>
          </p:nvSpPr>
          <p:spPr>
            <a:xfrm>
              <a:off x="6381750" y="1722120"/>
              <a:ext cx="1536382" cy="372428"/>
            </a:xfrm>
            <a:prstGeom prst="roundRect">
              <a:avLst>
                <a:gd name="adj" fmla="val 25575"/>
              </a:avLst>
            </a:prstGeom>
            <a:solidFill>
              <a:srgbClr val="FFFFFF"/>
            </a:solidFill>
            <a:ln w="15240">
              <a:solidFill>
                <a:srgbClr val="334E68"/>
              </a:solidFill>
            </a:ln>
          </p:spPr>
        </p:sp>
        <p:sp>
          <p:nvSpPr>
            <p:cNvPr id="39" name="Rectangle 39"/>
            <p:cNvSpPr/>
            <p:nvPr/>
          </p:nvSpPr>
          <p:spPr>
            <a:xfrm>
              <a:off x="8184832" y="1722120"/>
              <a:ext cx="1536382" cy="372428"/>
            </a:xfrm>
            <a:prstGeom prst="roundRect">
              <a:avLst>
                <a:gd name="adj" fmla="val 25575"/>
              </a:avLst>
            </a:prstGeom>
            <a:solidFill>
              <a:srgbClr val="F4F6FB"/>
            </a:solidFill>
            <a:ln w="13335">
              <a:solidFill>
                <a:srgbClr val="D9DFEA"/>
              </a:solidFill>
            </a:ln>
          </p:spPr>
        </p:sp>
        <p:sp>
          <p:nvSpPr>
            <p:cNvPr id="40" name="Rectangle 40"/>
            <p:cNvSpPr/>
            <p:nvPr/>
          </p:nvSpPr>
          <p:spPr>
            <a:xfrm>
              <a:off x="9988868" y="1722120"/>
              <a:ext cx="1536382" cy="372428"/>
            </a:xfrm>
            <a:prstGeom prst="roundRect">
              <a:avLst>
                <a:gd name="adj" fmla="val 25575"/>
              </a:avLst>
            </a:prstGeom>
            <a:solidFill>
              <a:srgbClr val="FFFFFF"/>
            </a:solidFill>
            <a:ln w="15240">
              <a:solidFill>
                <a:srgbClr val="334E68"/>
              </a:solidFill>
            </a:ln>
          </p:spPr>
        </p:sp>
        <p:sp>
          <p:nvSpPr>
            <p:cNvPr id="41" name="Rectangle 41"/>
            <p:cNvSpPr/>
            <p:nvPr/>
          </p:nvSpPr>
          <p:spPr>
            <a:xfrm>
              <a:off x="6381750" y="2491740"/>
              <a:ext cx="1536382" cy="372428"/>
            </a:xfrm>
            <a:prstGeom prst="roundRect">
              <a:avLst>
                <a:gd name="adj" fmla="val 25575"/>
              </a:avLst>
            </a:prstGeom>
            <a:solidFill>
              <a:srgbClr val="FFFFFF"/>
            </a:solidFill>
            <a:ln w="15240">
              <a:solidFill>
                <a:srgbClr val="334E68"/>
              </a:solidFill>
            </a:ln>
          </p:spPr>
        </p:sp>
        <p:sp>
          <p:nvSpPr>
            <p:cNvPr id="42" name="Rectangle 42"/>
            <p:cNvSpPr/>
            <p:nvPr/>
          </p:nvSpPr>
          <p:spPr>
            <a:xfrm>
              <a:off x="9988868" y="2491740"/>
              <a:ext cx="1536382" cy="372428"/>
            </a:xfrm>
            <a:prstGeom prst="roundRect">
              <a:avLst>
                <a:gd name="adj" fmla="val 25575"/>
              </a:avLst>
            </a:prstGeom>
            <a:solidFill>
              <a:srgbClr val="E7EDF3"/>
            </a:solidFill>
            <a:ln w="19050">
              <a:solidFill>
                <a:srgbClr val="334E68"/>
              </a:solidFill>
            </a:ln>
          </p:spPr>
        </p:sp>
        <p:sp>
          <p:nvSpPr>
            <p:cNvPr id="43" name="TextBox 43"/>
            <p:cNvSpPr txBox="1"/>
            <p:nvPr/>
          </p:nvSpPr>
          <p:spPr>
            <a:xfrm>
              <a:off x="7003733" y="1835468"/>
              <a:ext cx="293370" cy="205359"/>
            </a:xfrm>
            <a:prstGeom prst="rect">
              <a:avLst/>
            </a:prstGeom>
            <a:noFill/>
            <a:ln>
              <a:noFill/>
            </a:ln>
          </p:spPr>
          <p:txBody>
            <a:bodyPr wrap="none" lIns="0" tIns="0" rIns="0" bIns="0" anchor="t" anchorCtr="0">
              <a:spAutoFit/>
            </a:bodyPr>
            <a:lstStyle/>
            <a:p>
              <a:pPr algn="ctr"/>
              <a:r>
                <a:rPr lang="zh-CN" sz="1050" dirty="0">
                  <a:solidFill>
                    <a:srgbClr val="1F2937"/>
                  </a:solidFill>
                  <a:latin typeface="+mn-lt"/>
                  <a:ea typeface="+mn-ea"/>
                  <a:cs typeface="+mn-cs"/>
                </a:rPr>
                <a:t>网卡</a:t>
              </a:r>
            </a:p>
          </p:txBody>
        </p:sp>
        <p:sp>
          <p:nvSpPr>
            <p:cNvPr id="44" name="TextBox 44"/>
            <p:cNvSpPr txBox="1"/>
            <p:nvPr/>
          </p:nvSpPr>
          <p:spPr>
            <a:xfrm>
              <a:off x="8665464" y="1835468"/>
              <a:ext cx="576072" cy="205359"/>
            </a:xfrm>
            <a:prstGeom prst="rect">
              <a:avLst/>
            </a:prstGeom>
            <a:noFill/>
            <a:ln>
              <a:noFill/>
            </a:ln>
          </p:spPr>
          <p:txBody>
            <a:bodyPr wrap="none" lIns="0" tIns="0" rIns="0" bIns="0" anchor="t" anchorCtr="0">
              <a:spAutoFit/>
            </a:bodyPr>
            <a:lstStyle/>
            <a:p>
              <a:pPr algn="ctr"/>
              <a:r>
                <a:rPr lang="zh-CN" sz="1050" dirty="0">
                  <a:solidFill>
                    <a:srgbClr val="1F2937"/>
                  </a:solidFill>
                  <a:latin typeface="+mn-lt"/>
                  <a:ea typeface="+mn-ea"/>
                  <a:cs typeface="+mn-cs"/>
                </a:rPr>
                <a:t>内核内存</a:t>
              </a:r>
            </a:p>
          </p:txBody>
        </p:sp>
        <p:sp>
          <p:nvSpPr>
            <p:cNvPr id="45" name="TextBox 45"/>
            <p:cNvSpPr txBox="1"/>
            <p:nvPr/>
          </p:nvSpPr>
          <p:spPr>
            <a:xfrm>
              <a:off x="10468546" y="1835468"/>
              <a:ext cx="576072" cy="205359"/>
            </a:xfrm>
            <a:prstGeom prst="rect">
              <a:avLst/>
            </a:prstGeom>
            <a:noFill/>
            <a:ln>
              <a:noFill/>
            </a:ln>
          </p:spPr>
          <p:txBody>
            <a:bodyPr wrap="none" lIns="0" tIns="0" rIns="0" bIns="0" anchor="t" anchorCtr="0">
              <a:spAutoFit/>
            </a:bodyPr>
            <a:lstStyle/>
            <a:p>
              <a:pPr algn="ctr"/>
              <a:r>
                <a:rPr lang="zh-CN" sz="1050" dirty="0">
                  <a:solidFill>
                    <a:srgbClr val="1F2937"/>
                  </a:solidFill>
                  <a:latin typeface="+mn-lt"/>
                  <a:ea typeface="+mn-ea"/>
                  <a:cs typeface="+mn-cs"/>
                </a:rPr>
                <a:t>应用内存</a:t>
              </a:r>
            </a:p>
          </p:txBody>
        </p:sp>
        <p:sp>
          <p:nvSpPr>
            <p:cNvPr id="46" name="TextBox 46"/>
            <p:cNvSpPr txBox="1"/>
            <p:nvPr/>
          </p:nvSpPr>
          <p:spPr>
            <a:xfrm>
              <a:off x="6847180" y="2604135"/>
              <a:ext cx="606476" cy="205359"/>
            </a:xfrm>
            <a:prstGeom prst="rect">
              <a:avLst/>
            </a:prstGeom>
            <a:noFill/>
            <a:ln>
              <a:noFill/>
            </a:ln>
          </p:spPr>
          <p:txBody>
            <a:bodyPr wrap="none" lIns="0" tIns="0" rIns="0" bIns="0" anchor="t" anchorCtr="0">
              <a:spAutoFit/>
            </a:bodyPr>
            <a:lstStyle/>
            <a:p>
              <a:pPr algn="ctr"/>
              <a:r>
                <a:rPr lang="zh-CN" sz="1050" dirty="0">
                  <a:solidFill>
                    <a:srgbClr val="1F2937"/>
                  </a:solidFill>
                  <a:latin typeface="+mn-lt"/>
                  <a:ea typeface="+mn-ea"/>
                  <a:cs typeface="+mn-cs"/>
                </a:rPr>
                <a:t>IB 适配器</a:t>
              </a:r>
            </a:p>
          </p:txBody>
        </p:sp>
        <p:sp>
          <p:nvSpPr>
            <p:cNvPr id="47" name="TextBox 47"/>
            <p:cNvSpPr txBox="1"/>
            <p:nvPr/>
          </p:nvSpPr>
          <p:spPr>
            <a:xfrm>
              <a:off x="10468546" y="2604135"/>
              <a:ext cx="576072" cy="205359"/>
            </a:xfrm>
            <a:prstGeom prst="rect">
              <a:avLst/>
            </a:prstGeom>
            <a:noFill/>
            <a:ln>
              <a:noFill/>
            </a:ln>
          </p:spPr>
          <p:txBody>
            <a:bodyPr wrap="none" lIns="0" tIns="0" rIns="0" bIns="0" anchor="t" anchorCtr="0">
              <a:spAutoFit/>
            </a:bodyPr>
            <a:lstStyle/>
            <a:p>
              <a:pPr algn="ctr"/>
              <a:r>
                <a:rPr lang="zh-CN" sz="1050" dirty="0">
                  <a:solidFill>
                    <a:srgbClr val="1F2937"/>
                  </a:solidFill>
                  <a:latin typeface="+mn-lt"/>
                  <a:ea typeface="+mn-ea"/>
                  <a:cs typeface="+mn-cs"/>
                </a:rPr>
                <a:t>应用内存</a:t>
              </a:r>
            </a:p>
          </p:txBody>
        </p:sp>
        <p:sp>
          <p:nvSpPr>
            <p:cNvPr id="48" name="Rectangle 48"/>
            <p:cNvSpPr/>
            <p:nvPr/>
          </p:nvSpPr>
          <p:spPr>
            <a:xfrm>
              <a:off x="7889558" y="2142172"/>
              <a:ext cx="323850" cy="165735"/>
            </a:xfrm>
            <a:prstGeom prst="roundRect">
              <a:avLst>
                <a:gd name="adj" fmla="val 22989"/>
              </a:avLst>
            </a:prstGeom>
            <a:solidFill>
              <a:srgbClr val="FFFFFF"/>
            </a:solidFill>
            <a:ln>
              <a:noFill/>
            </a:ln>
          </p:spPr>
        </p:sp>
        <p:sp>
          <p:nvSpPr>
            <p:cNvPr id="49" name="TextBox 49"/>
            <p:cNvSpPr txBox="1"/>
            <p:nvPr/>
          </p:nvSpPr>
          <p:spPr>
            <a:xfrm>
              <a:off x="7925562" y="2165032"/>
              <a:ext cx="251841" cy="176212"/>
            </a:xfrm>
            <a:prstGeom prst="rect">
              <a:avLst/>
            </a:prstGeom>
            <a:noFill/>
            <a:ln>
              <a:noFill/>
            </a:ln>
          </p:spPr>
          <p:txBody>
            <a:bodyPr wrap="none" lIns="0" tIns="0" rIns="0" bIns="0" anchor="t" anchorCtr="0">
              <a:spAutoFit/>
            </a:bodyPr>
            <a:lstStyle/>
            <a:p>
              <a:pPr algn="ctr"/>
              <a:r>
                <a:rPr lang="zh-CN" sz="900" dirty="0">
                  <a:solidFill>
                    <a:srgbClr val="5B6475"/>
                  </a:solidFill>
                  <a:latin typeface="+mn-lt"/>
                  <a:ea typeface="+mn-ea"/>
                  <a:cs typeface="+mn-cs"/>
                </a:rPr>
                <a:t>拷贝</a:t>
              </a:r>
            </a:p>
          </p:txBody>
        </p:sp>
        <p:sp>
          <p:nvSpPr>
            <p:cNvPr id="50" name="Rectangle 50"/>
            <p:cNvSpPr/>
            <p:nvPr/>
          </p:nvSpPr>
          <p:spPr>
            <a:xfrm>
              <a:off x="9636442" y="2142172"/>
              <a:ext cx="438150" cy="165735"/>
            </a:xfrm>
            <a:prstGeom prst="roundRect">
              <a:avLst>
                <a:gd name="adj" fmla="val 22989"/>
              </a:avLst>
            </a:prstGeom>
            <a:solidFill>
              <a:srgbClr val="FFFFFF"/>
            </a:solidFill>
            <a:ln>
              <a:noFill/>
            </a:ln>
          </p:spPr>
        </p:sp>
        <p:sp>
          <p:nvSpPr>
            <p:cNvPr id="51" name="TextBox 51"/>
            <p:cNvSpPr txBox="1"/>
            <p:nvPr/>
          </p:nvSpPr>
          <p:spPr>
            <a:xfrm>
              <a:off x="9669018" y="2165032"/>
              <a:ext cx="372999" cy="176212"/>
            </a:xfrm>
            <a:prstGeom prst="rect">
              <a:avLst/>
            </a:prstGeom>
            <a:noFill/>
            <a:ln>
              <a:noFill/>
            </a:ln>
          </p:spPr>
          <p:txBody>
            <a:bodyPr wrap="none" lIns="0" tIns="0" rIns="0" bIns="0" anchor="t" anchorCtr="0">
              <a:spAutoFit/>
            </a:bodyPr>
            <a:lstStyle/>
            <a:p>
              <a:pPr algn="ctr"/>
              <a:r>
                <a:rPr lang="zh-CN" sz="900" dirty="0">
                  <a:solidFill>
                    <a:srgbClr val="5B6475"/>
                  </a:solidFill>
                  <a:latin typeface="+mn-lt"/>
                  <a:ea typeface="+mn-ea"/>
                  <a:cs typeface="+mn-cs"/>
                </a:rPr>
                <a:t>再拷贝</a:t>
              </a:r>
            </a:p>
          </p:txBody>
        </p:sp>
        <p:sp>
          <p:nvSpPr>
            <p:cNvPr id="52" name="Rectangle 52"/>
            <p:cNvSpPr/>
            <p:nvPr/>
          </p:nvSpPr>
          <p:spPr>
            <a:xfrm>
              <a:off x="8768715" y="2481262"/>
              <a:ext cx="369570" cy="165735"/>
            </a:xfrm>
            <a:prstGeom prst="roundRect">
              <a:avLst>
                <a:gd name="adj" fmla="val 22989"/>
              </a:avLst>
            </a:prstGeom>
            <a:solidFill>
              <a:srgbClr val="FFFFFF"/>
            </a:solidFill>
            <a:ln>
              <a:noFill/>
            </a:ln>
          </p:spPr>
        </p:sp>
        <p:sp>
          <p:nvSpPr>
            <p:cNvPr id="53" name="TextBox 53"/>
            <p:cNvSpPr txBox="1"/>
            <p:nvPr/>
          </p:nvSpPr>
          <p:spPr>
            <a:xfrm>
              <a:off x="8795118" y="2504123"/>
              <a:ext cx="316763" cy="176212"/>
            </a:xfrm>
            <a:prstGeom prst="rect">
              <a:avLst/>
            </a:prstGeom>
            <a:noFill/>
            <a:ln>
              <a:noFill/>
            </a:ln>
          </p:spPr>
          <p:txBody>
            <a:bodyPr wrap="none" lIns="0" tIns="0" rIns="0" bIns="0" anchor="t" anchorCtr="0">
              <a:spAutoFit/>
            </a:bodyPr>
            <a:lstStyle/>
            <a:p>
              <a:pPr algn="ctr"/>
              <a:r>
                <a:rPr lang="en-US" sz="900" dirty="0">
                  <a:solidFill>
                    <a:srgbClr val="5B6475"/>
                  </a:solidFill>
                  <a:latin typeface="+mn-lt"/>
                  <a:ea typeface="+mn-ea"/>
                  <a:cs typeface="+mn-cs"/>
                </a:rPr>
                <a:t>RDMA</a:t>
              </a:r>
            </a:p>
          </p:txBody>
        </p:sp>
      </p:grpSp>
      <p:grpSp>
        <p:nvGrpSpPr>
          <p:cNvPr id="71" name="c2-compare-2"/>
          <p:cNvGrpSpPr/>
          <p:nvPr/>
        </p:nvGrpSpPr>
        <p:grpSpPr>
          <a:xfrm>
            <a:off x="6248400" y="3227070"/>
            <a:ext cx="5410200" cy="1897380"/>
            <a:chOff x="6248400" y="3227070"/>
            <a:chExt cx="5410200" cy="1897380"/>
          </a:xfrm>
        </p:grpSpPr>
        <p:sp>
          <p:nvSpPr>
            <p:cNvPr id="55" name="Rectangle 55"/>
            <p:cNvSpPr/>
            <p:nvPr/>
          </p:nvSpPr>
          <p:spPr>
            <a:xfrm>
              <a:off x="6248400" y="3227070"/>
              <a:ext cx="2495550" cy="1897380"/>
            </a:xfrm>
            <a:prstGeom prst="roundRect">
              <a:avLst>
                <a:gd name="adj" fmla="val 7028"/>
              </a:avLst>
            </a:prstGeom>
            <a:solidFill>
              <a:srgbClr val="FFFFFF"/>
            </a:solidFill>
            <a:ln w="14288">
              <a:solidFill>
                <a:srgbClr val="D9DFEA"/>
              </a:solidFill>
            </a:ln>
          </p:spPr>
        </p:sp>
        <p:sp>
          <p:nvSpPr>
            <p:cNvPr id="56" name="Rectangle 56"/>
            <p:cNvSpPr/>
            <p:nvPr/>
          </p:nvSpPr>
          <p:spPr>
            <a:xfrm>
              <a:off x="6257925" y="3360420"/>
              <a:ext cx="47625" cy="1630680"/>
            </a:xfrm>
            <a:prstGeom prst="roundRect">
              <a:avLst>
                <a:gd name="adj" fmla="val 50000"/>
              </a:avLst>
            </a:prstGeom>
            <a:solidFill>
              <a:srgbClr val="B42318"/>
            </a:solidFill>
            <a:ln>
              <a:noFill/>
            </a:ln>
          </p:spPr>
        </p:sp>
        <p:sp>
          <p:nvSpPr>
            <p:cNvPr id="57" name="TextBox 57"/>
            <p:cNvSpPr txBox="1"/>
            <p:nvPr/>
          </p:nvSpPr>
          <p:spPr>
            <a:xfrm>
              <a:off x="6460998" y="3429476"/>
              <a:ext cx="596024" cy="249364"/>
            </a:xfrm>
            <a:prstGeom prst="rect">
              <a:avLst/>
            </a:prstGeom>
            <a:noFill/>
            <a:ln>
              <a:noFill/>
            </a:ln>
          </p:spPr>
          <p:txBody>
            <a:bodyPr wrap="none" lIns="0" tIns="0" rIns="0" bIns="0" anchor="t" anchorCtr="0">
              <a:spAutoFit/>
            </a:bodyPr>
            <a:lstStyle/>
            <a:p>
              <a:pPr algn="l"/>
              <a:r>
                <a:rPr lang="en-US" sz="1280" b="1" dirty="0">
                  <a:solidFill>
                    <a:srgbClr val="1F2937"/>
                  </a:solidFill>
                  <a:latin typeface="+mn-lt"/>
                  <a:ea typeface="+mn-ea"/>
                  <a:cs typeface="+mn-cs"/>
                </a:rPr>
                <a:t>TCP/IP</a:t>
              </a:r>
            </a:p>
          </p:txBody>
        </p:sp>
        <p:sp>
          <p:nvSpPr>
            <p:cNvPr id="58" name="Ellipse 58"/>
            <p:cNvSpPr/>
            <p:nvPr/>
          </p:nvSpPr>
          <p:spPr>
            <a:xfrm>
              <a:off x="6477000" y="3782378"/>
              <a:ext cx="57150" cy="57150"/>
            </a:xfrm>
            <a:prstGeom prst="ellipse">
              <a:avLst/>
            </a:prstGeom>
            <a:solidFill>
              <a:srgbClr val="334E68"/>
            </a:solidFill>
            <a:ln>
              <a:noFill/>
            </a:ln>
          </p:spPr>
        </p:sp>
        <p:sp>
          <p:nvSpPr>
            <p:cNvPr id="59" name="TextBox 59"/>
            <p:cNvSpPr txBox="1"/>
            <p:nvPr/>
          </p:nvSpPr>
          <p:spPr>
            <a:xfrm>
              <a:off x="6632448" y="3730466"/>
              <a:ext cx="1801114" cy="492252"/>
            </a:xfrm>
            <a:prstGeom prst="rect">
              <a:avLst/>
            </a:prstGeom>
            <a:noFill/>
            <a:ln>
              <a:noFill/>
            </a:ln>
          </p:spPr>
          <p:txBody>
            <a:bodyPr wrap="none" lIns="0" tIns="0" rIns="0" bIns="0" anchor="t" anchorCtr="0">
              <a:spAutoFit/>
            </a:bodyPr>
            <a:lstStyle/>
            <a:p>
              <a:pPr algn="l">
                <a:lnSpc>
                  <a:spcPts val="1912"/>
                </a:lnSpc>
              </a:pPr>
              <a:r>
                <a:rPr lang="zh-CN" sz="1280" dirty="0">
                  <a:solidFill>
                    <a:srgbClr val="1F2937"/>
                  </a:solidFill>
                  <a:latin typeface="+mn-lt"/>
                  <a:ea typeface="+mn-ea"/>
                  <a:cs typeface="+mn-cs"/>
                </a:rPr>
                <a:t>数据先拷到内核内存，再</a:t>
              </a:r>
              <a:br/>
              <a:r>
                <a:rPr lang="zh-CN" sz="1280" dirty="0">
                  <a:solidFill>
                    <a:srgbClr val="1F2937"/>
                  </a:solidFill>
                  <a:latin typeface="+mn-lt"/>
                  <a:ea typeface="+mn-ea"/>
                  <a:cs typeface="+mn-cs"/>
                </a:rPr>
                <a:t>拷到应用空间</a:t>
              </a:r>
            </a:p>
          </p:txBody>
        </p:sp>
        <p:sp>
          <p:nvSpPr>
            <p:cNvPr id="60" name="Ellipse 60"/>
            <p:cNvSpPr/>
            <p:nvPr/>
          </p:nvSpPr>
          <p:spPr>
            <a:xfrm>
              <a:off x="6477000" y="4311015"/>
              <a:ext cx="57150" cy="57150"/>
            </a:xfrm>
            <a:prstGeom prst="ellipse">
              <a:avLst/>
            </a:prstGeom>
            <a:solidFill>
              <a:srgbClr val="334E68"/>
            </a:solidFill>
            <a:ln>
              <a:noFill/>
            </a:ln>
          </p:spPr>
        </p:sp>
        <p:sp>
          <p:nvSpPr>
            <p:cNvPr id="61" name="TextBox 61"/>
            <p:cNvSpPr txBox="1"/>
            <p:nvPr/>
          </p:nvSpPr>
          <p:spPr>
            <a:xfrm>
              <a:off x="6632448" y="4258151"/>
              <a:ext cx="1920108"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路径长、I/O 慢、占 CPU</a:t>
              </a:r>
            </a:p>
          </p:txBody>
        </p:sp>
        <p:sp>
          <p:nvSpPr>
            <p:cNvPr id="62" name="Rectangle 62"/>
            <p:cNvSpPr/>
            <p:nvPr/>
          </p:nvSpPr>
          <p:spPr>
            <a:xfrm>
              <a:off x="9163050" y="3227070"/>
              <a:ext cx="2495550" cy="1897380"/>
            </a:xfrm>
            <a:prstGeom prst="roundRect">
              <a:avLst>
                <a:gd name="adj" fmla="val 7028"/>
              </a:avLst>
            </a:prstGeom>
            <a:solidFill>
              <a:srgbClr val="FFFFFF"/>
            </a:solidFill>
            <a:ln w="14288">
              <a:solidFill>
                <a:srgbClr val="D9DFEA"/>
              </a:solidFill>
            </a:ln>
          </p:spPr>
        </p:sp>
        <p:sp>
          <p:nvSpPr>
            <p:cNvPr id="63" name="Rectangle 63"/>
            <p:cNvSpPr/>
            <p:nvPr/>
          </p:nvSpPr>
          <p:spPr>
            <a:xfrm>
              <a:off x="9172575" y="3360420"/>
              <a:ext cx="47625" cy="1630680"/>
            </a:xfrm>
            <a:prstGeom prst="roundRect">
              <a:avLst>
                <a:gd name="adj" fmla="val 50000"/>
              </a:avLst>
            </a:prstGeom>
            <a:solidFill>
              <a:srgbClr val="14A38B"/>
            </a:solidFill>
            <a:ln>
              <a:noFill/>
            </a:ln>
          </p:spPr>
        </p:sp>
        <p:sp>
          <p:nvSpPr>
            <p:cNvPr id="64" name="TextBox 64"/>
            <p:cNvSpPr txBox="1"/>
            <p:nvPr/>
          </p:nvSpPr>
          <p:spPr>
            <a:xfrm>
              <a:off x="9375648" y="3429476"/>
              <a:ext cx="882097" cy="249364"/>
            </a:xfrm>
            <a:prstGeom prst="rect">
              <a:avLst/>
            </a:prstGeom>
            <a:noFill/>
            <a:ln>
              <a:noFill/>
            </a:ln>
          </p:spPr>
          <p:txBody>
            <a:bodyPr wrap="none" lIns="0" tIns="0" rIns="0" bIns="0" anchor="t" anchorCtr="0">
              <a:spAutoFit/>
            </a:bodyPr>
            <a:lstStyle/>
            <a:p>
              <a:pPr algn="l"/>
              <a:r>
                <a:rPr lang="en-US" sz="1280" b="1" dirty="0">
                  <a:solidFill>
                    <a:srgbClr val="1F2937"/>
                  </a:solidFill>
                  <a:latin typeface="+mn-lt"/>
                  <a:ea typeface="+mn-ea"/>
                  <a:cs typeface="+mn-cs"/>
                </a:rPr>
                <a:t>InfiniBand</a:t>
              </a:r>
            </a:p>
          </p:txBody>
        </p:sp>
        <p:sp>
          <p:nvSpPr>
            <p:cNvPr id="65" name="Ellipse 65"/>
            <p:cNvSpPr/>
            <p:nvPr/>
          </p:nvSpPr>
          <p:spPr>
            <a:xfrm>
              <a:off x="9391650" y="3782378"/>
              <a:ext cx="57150" cy="57150"/>
            </a:xfrm>
            <a:prstGeom prst="ellipse">
              <a:avLst/>
            </a:prstGeom>
            <a:solidFill>
              <a:srgbClr val="334E68"/>
            </a:solidFill>
            <a:ln>
              <a:noFill/>
            </a:ln>
          </p:spPr>
        </p:sp>
        <p:sp>
          <p:nvSpPr>
            <p:cNvPr id="66" name="TextBox 66"/>
            <p:cNvSpPr txBox="1"/>
            <p:nvPr/>
          </p:nvSpPr>
          <p:spPr>
            <a:xfrm>
              <a:off x="9547098" y="3730466"/>
              <a:ext cx="1801114" cy="735140"/>
            </a:xfrm>
            <a:prstGeom prst="rect">
              <a:avLst/>
            </a:prstGeom>
            <a:noFill/>
            <a:ln>
              <a:noFill/>
            </a:ln>
          </p:spPr>
          <p:txBody>
            <a:bodyPr wrap="none" lIns="0" tIns="0" rIns="0" bIns="0" anchor="t" anchorCtr="0">
              <a:spAutoFit/>
            </a:bodyPr>
            <a:lstStyle/>
            <a:p>
              <a:pPr algn="l">
                <a:lnSpc>
                  <a:spcPts val="1912"/>
                </a:lnSpc>
              </a:pPr>
              <a:r>
                <a:rPr lang="zh-CN" sz="1280" dirty="0">
                  <a:solidFill>
                    <a:srgbClr val="1F2937"/>
                  </a:solidFill>
                  <a:latin typeface="+mn-lt"/>
                  <a:ea typeface="+mn-ea"/>
                  <a:cs typeface="+mn-cs"/>
                </a:rPr>
                <a:t>双队列程序提取，适配器</a:t>
              </a:r>
              <a:br/>
              <a:r>
                <a:rPr lang="zh-CN" sz="1280" dirty="0">
                  <a:solidFill>
                    <a:srgbClr val="1F2937"/>
                  </a:solidFill>
                  <a:latin typeface="+mn-lt"/>
                  <a:ea typeface="+mn-ea"/>
                  <a:cs typeface="+mn-cs"/>
                </a:rPr>
                <a:t>直接读写应用内存</a:t>
              </a:r>
              <a:br/>
              <a:r>
                <a:rPr lang="zh-CN" sz="1280" dirty="0">
                  <a:solidFill>
                    <a:srgbClr val="1F2937"/>
                  </a:solidFill>
                  <a:latin typeface="+mn-lt"/>
                  <a:ea typeface="+mn-ea"/>
                  <a:cs typeface="+mn-cs"/>
                </a:rPr>
                <a:t>（RDMA）</a:t>
              </a:r>
            </a:p>
          </p:txBody>
        </p:sp>
        <p:sp>
          <p:nvSpPr>
            <p:cNvPr id="67" name="Ellipse 67"/>
            <p:cNvSpPr/>
            <p:nvPr/>
          </p:nvSpPr>
          <p:spPr>
            <a:xfrm>
              <a:off x="9391650" y="4553902"/>
              <a:ext cx="57150" cy="57150"/>
            </a:xfrm>
            <a:prstGeom prst="ellipse">
              <a:avLst/>
            </a:prstGeom>
            <a:solidFill>
              <a:srgbClr val="334E68"/>
            </a:solidFill>
            <a:ln>
              <a:noFill/>
            </a:ln>
          </p:spPr>
        </p:sp>
        <p:sp>
          <p:nvSpPr>
            <p:cNvPr id="68" name="TextBox 68"/>
            <p:cNvSpPr txBox="1"/>
            <p:nvPr/>
          </p:nvSpPr>
          <p:spPr>
            <a:xfrm>
              <a:off x="9547098" y="4501039"/>
              <a:ext cx="1801114" cy="492252"/>
            </a:xfrm>
            <a:prstGeom prst="rect">
              <a:avLst/>
            </a:prstGeom>
            <a:noFill/>
            <a:ln>
              <a:noFill/>
            </a:ln>
          </p:spPr>
          <p:txBody>
            <a:bodyPr wrap="none" lIns="0" tIns="0" rIns="0" bIns="0" anchor="t" anchorCtr="0">
              <a:spAutoFit/>
            </a:bodyPr>
            <a:lstStyle/>
            <a:p>
              <a:pPr algn="l">
                <a:lnSpc>
                  <a:spcPts val="1912"/>
                </a:lnSpc>
              </a:pPr>
              <a:r>
                <a:rPr lang="zh-CN" sz="1280" dirty="0">
                  <a:solidFill>
                    <a:srgbClr val="1F2937"/>
                  </a:solidFill>
                  <a:latin typeface="+mn-lt"/>
                  <a:ea typeface="+mn-ea"/>
                  <a:cs typeface="+mn-cs"/>
                </a:rPr>
                <a:t>零拷贝，大数据量时接近</a:t>
              </a:r>
              <a:br/>
              <a:r>
                <a:rPr lang="zh-CN" sz="1280" dirty="0">
                  <a:solidFill>
                    <a:srgbClr val="1F2937"/>
                  </a:solidFill>
                  <a:latin typeface="+mn-lt"/>
                  <a:ea typeface="+mn-ea"/>
                  <a:cs typeface="+mn-cs"/>
                </a:rPr>
                <a:t>协议最大吞吐</a:t>
              </a:r>
            </a:p>
          </p:txBody>
        </p:sp>
        <p:sp>
          <p:nvSpPr>
            <p:cNvPr id="69" name="Ellipse 69"/>
            <p:cNvSpPr/>
            <p:nvPr/>
          </p:nvSpPr>
          <p:spPr>
            <a:xfrm>
              <a:off x="8791575" y="4013835"/>
              <a:ext cx="323850" cy="323850"/>
            </a:xfrm>
            <a:prstGeom prst="ellipse">
              <a:avLst/>
            </a:prstGeom>
            <a:solidFill>
              <a:srgbClr val="F26B3A"/>
            </a:solidFill>
            <a:ln>
              <a:noFill/>
            </a:ln>
          </p:spPr>
        </p:sp>
        <p:sp>
          <p:nvSpPr>
            <p:cNvPr id="70" name="TextBox 70"/>
            <p:cNvSpPr txBox="1"/>
            <p:nvPr/>
          </p:nvSpPr>
          <p:spPr>
            <a:xfrm>
              <a:off x="8874808" y="4119562"/>
              <a:ext cx="157383" cy="176212"/>
            </a:xfrm>
            <a:prstGeom prst="rect">
              <a:avLst/>
            </a:prstGeom>
            <a:noFill/>
            <a:ln>
              <a:noFill/>
            </a:ln>
          </p:spPr>
          <p:txBody>
            <a:bodyPr wrap="none" lIns="0" tIns="0" rIns="0" bIns="0" anchor="t" anchorCtr="0">
              <a:spAutoFit/>
            </a:bodyPr>
            <a:lstStyle/>
            <a:p>
              <a:pPr algn="ctr"/>
              <a:r>
                <a:rPr lang="en-US" sz="900" b="1" dirty="0">
                  <a:solidFill>
                    <a:srgbClr val="FFFFFF"/>
                  </a:solidFill>
                  <a:latin typeface="+mn-lt"/>
                  <a:ea typeface="+mn-ea"/>
                  <a:cs typeface="+mn-cs"/>
                </a:rPr>
                <a:t>VS</a:t>
              </a:r>
            </a:p>
          </p:txBody>
        </p:sp>
      </p:grpSp>
      <p:grpSp>
        <p:nvGrpSpPr>
          <p:cNvPr id="78" name="c2-callout-3"/>
          <p:cNvGrpSpPr/>
          <p:nvPr/>
        </p:nvGrpSpPr>
        <p:grpSpPr>
          <a:xfrm>
            <a:off x="6248400" y="5289232"/>
            <a:ext cx="5410200" cy="706755"/>
            <a:chOff x="6248400" y="5289232"/>
            <a:chExt cx="5410200" cy="706755"/>
          </a:xfrm>
        </p:grpSpPr>
        <p:sp>
          <p:nvSpPr>
            <p:cNvPr id="72" name="Rectangle 72"/>
            <p:cNvSpPr/>
            <p:nvPr/>
          </p:nvSpPr>
          <p:spPr>
            <a:xfrm>
              <a:off x="6248400" y="5289232"/>
              <a:ext cx="5410200" cy="706755"/>
            </a:xfrm>
            <a:prstGeom prst="roundRect">
              <a:avLst>
                <a:gd name="adj" fmla="val 16173"/>
              </a:avLst>
            </a:prstGeom>
            <a:solidFill>
              <a:srgbClr val="F4F6FB"/>
            </a:solidFill>
            <a:ln>
              <a:noFill/>
            </a:ln>
          </p:spPr>
        </p:sp>
        <p:grpSp>
          <p:nvGrpSpPr>
            <p:cNvPr id="76" name="Group 76"/>
            <p:cNvGrpSpPr/>
            <p:nvPr/>
          </p:nvGrpSpPr>
          <p:grpSpPr>
            <a:xfrm>
              <a:off x="6453188" y="5541645"/>
              <a:ext cx="200026" cy="200026"/>
              <a:chOff x="6453188" y="5541645"/>
              <a:chExt cx="200026" cy="200026"/>
            </a:xfrm>
          </p:grpSpPr>
          <p:sp>
            <p:nvSpPr>
              <p:cNvPr id="73" name="Freeform 73"/>
              <p:cNvSpPr/>
              <p:nvPr/>
            </p:nvSpPr>
            <p:spPr>
              <a:xfrm>
                <a:off x="6453188" y="5541645"/>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1F2937"/>
                </a:solidFill>
              </a:ln>
            </p:spPr>
          </p:sp>
          <p:sp>
            <p:nvSpPr>
              <p:cNvPr id="74" name="Freeform 74"/>
              <p:cNvSpPr/>
              <p:nvPr/>
            </p:nvSpPr>
            <p:spPr>
              <a:xfrm>
                <a:off x="6553200" y="5608320"/>
                <a:ext cx="9525" cy="9525"/>
              </a:xfrm>
              <a:custGeom>
                <a:avLst/>
                <a:gdLst/>
                <a:ahLst/>
                <a:cxnLst/>
                <a:rect l="l" t="t" r="r" b="b"/>
                <a:pathLst>
                  <a:path w="9525" h="9525">
                    <a:moveTo>
                      <a:pt x="0" y="0"/>
                    </a:moveTo>
                    <a:lnTo>
                      <a:pt x="111" y="0"/>
                    </a:lnTo>
                  </a:path>
                </a:pathLst>
              </a:custGeom>
              <a:noFill/>
              <a:ln w="22225">
                <a:solidFill>
                  <a:srgbClr val="1F2937"/>
                </a:solidFill>
              </a:ln>
            </p:spPr>
          </p:sp>
          <p:sp>
            <p:nvSpPr>
              <p:cNvPr id="75" name="Freeform 75"/>
              <p:cNvSpPr/>
              <p:nvPr/>
            </p:nvSpPr>
            <p:spPr>
              <a:xfrm>
                <a:off x="6542088" y="5641658"/>
                <a:ext cx="22225" cy="44450"/>
              </a:xfrm>
              <a:custGeom>
                <a:avLst/>
                <a:gdLst/>
                <a:ahLst/>
                <a:cxnLst/>
                <a:rect l="l" t="t" r="r" b="b"/>
                <a:pathLst>
                  <a:path w="22225" h="44450">
                    <a:moveTo>
                      <a:pt x="0" y="0"/>
                    </a:moveTo>
                    <a:lnTo>
                      <a:pt x="11113" y="0"/>
                    </a:lnTo>
                    <a:lnTo>
                      <a:pt x="11113" y="44450"/>
                    </a:lnTo>
                    <a:lnTo>
                      <a:pt x="22225" y="44450"/>
                    </a:lnTo>
                  </a:path>
                </a:pathLst>
              </a:custGeom>
              <a:noFill/>
              <a:ln w="22225">
                <a:solidFill>
                  <a:srgbClr val="1F2937"/>
                </a:solidFill>
              </a:ln>
            </p:spPr>
          </p:sp>
        </p:grpSp>
        <p:sp>
          <p:nvSpPr>
            <p:cNvPr id="77" name="TextBox 77"/>
            <p:cNvSpPr txBox="1"/>
            <p:nvPr/>
          </p:nvSpPr>
          <p:spPr>
            <a:xfrm>
              <a:off x="6756273" y="5435441"/>
              <a:ext cx="4434586" cy="483680"/>
            </a:xfrm>
            <a:prstGeom prst="rect">
              <a:avLst/>
            </a:prstGeom>
            <a:noFill/>
            <a:ln>
              <a:noFill/>
            </a:ln>
          </p:spPr>
          <p:txBody>
            <a:bodyPr wrap="none" lIns="0" tIns="0" rIns="0" bIns="0" anchor="t" anchorCtr="0">
              <a:spAutoFit/>
            </a:bodyPr>
            <a:lstStyle/>
            <a:p>
              <a:pPr algn="l">
                <a:lnSpc>
                  <a:spcPts val="1845"/>
                </a:lnSpc>
              </a:pPr>
              <a:r>
                <a:rPr lang="zh-CN" sz="1280" dirty="0">
                  <a:solidFill>
                    <a:srgbClr val="1F2937"/>
                  </a:solidFill>
                  <a:latin typeface="+mn-lt"/>
                  <a:ea typeface="+mn-ea"/>
                  <a:cs typeface="+mn-cs"/>
                </a:rPr>
                <a:t>HCA 和 TCA 实质上都是主机适配器：带一定保护功能的可编程</a:t>
              </a:r>
              <a:br/>
              <a:r>
                <a:rPr lang="zh-CN" sz="1280" dirty="0">
                  <a:solidFill>
                    <a:srgbClr val="1F2937"/>
                  </a:solidFill>
                  <a:latin typeface="+mn-lt"/>
                  <a:ea typeface="+mn-ea"/>
                  <a:cs typeface="+mn-cs"/>
                </a:rPr>
                <a:t>DMA 引擎。</a:t>
              </a:r>
            </a:p>
          </p:txBody>
        </p:sp>
      </p:grpSp>
      <p:grpSp>
        <p:nvGrpSpPr>
          <p:cNvPr id="81" name="footer"/>
          <p:cNvGrpSpPr/>
          <p:nvPr/>
        </p:nvGrpSpPr>
        <p:grpSpPr>
          <a:xfrm>
            <a:off x="528447" y="6581299"/>
            <a:ext cx="11135106" cy="190690"/>
            <a:chOff x="528447" y="6581299"/>
            <a:chExt cx="11135106" cy="190690"/>
          </a:xfrm>
        </p:grpSpPr>
        <p:sp>
          <p:nvSpPr>
            <p:cNvPr id="79" name="TextBox 79"/>
            <p:cNvSpPr txBox="1"/>
            <p:nvPr/>
          </p:nvSpPr>
          <p:spPr>
            <a:xfrm>
              <a:off x="528447" y="6581299"/>
              <a:ext cx="2120748"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并行与分布式计算 · 第7章 体系结构</a:t>
              </a:r>
            </a:p>
          </p:txBody>
        </p:sp>
        <p:sp>
          <p:nvSpPr>
            <p:cNvPr id="80" name="TextBox 80"/>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53</a:t>
              </a:r>
            </a:p>
          </p:txBody>
        </p:sp>
      </p:grpSp>
    </p:spTree>
  </p:cSld>
  <p:clrMapOvr>
    <a:masterClrMapping/>
  </p:clrMapOvr>
  <p:transition xmlns:p14="http://schemas.microsoft.com/office/powerpoint/2010/main" p14:dur="400">
    <p:fade/>
  </p:transition>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3341873" cy="909257"/>
            <a:chOff x="520446" y="342900"/>
            <a:chExt cx="3341873" cy="909257"/>
          </a:xfrm>
        </p:grpSpPr>
        <p:sp>
          <p:nvSpPr>
            <p:cNvPr id="2" name="Rectangle 2"/>
            <p:cNvSpPr/>
            <p:nvPr/>
          </p:nvSpPr>
          <p:spPr>
            <a:xfrm>
              <a:off x="533400" y="342900"/>
              <a:ext cx="1987868" cy="266700"/>
            </a:xfrm>
            <a:prstGeom prst="roundRect">
              <a:avLst>
                <a:gd name="adj" fmla="val 50000"/>
              </a:avLst>
            </a:prstGeom>
            <a:solidFill>
              <a:srgbClr val="E7EDF3"/>
            </a:solidFill>
            <a:ln>
              <a:noFill/>
            </a:ln>
          </p:spPr>
        </p:sp>
        <p:sp>
          <p:nvSpPr>
            <p:cNvPr id="3" name="TextBox 3"/>
            <p:cNvSpPr txBox="1"/>
            <p:nvPr/>
          </p:nvSpPr>
          <p:spPr>
            <a:xfrm>
              <a:off x="608957" y="407194"/>
              <a:ext cx="1835800"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第7章 体系结构 · 互连结构</a:t>
              </a:r>
            </a:p>
          </p:txBody>
        </p:sp>
        <p:sp>
          <p:nvSpPr>
            <p:cNvPr id="4" name="TextBox 4"/>
            <p:cNvSpPr txBox="1"/>
            <p:nvPr/>
          </p:nvSpPr>
          <p:spPr>
            <a:xfrm>
              <a:off x="520446" y="753428"/>
              <a:ext cx="3341873"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以太网、FDDI 与 VPN</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40" name="c1-table-1"/>
          <p:cNvGrpSpPr/>
          <p:nvPr/>
        </p:nvGrpSpPr>
        <p:grpSpPr>
          <a:xfrm>
            <a:off x="533400" y="1524000"/>
            <a:ext cx="6276022" cy="3603308"/>
            <a:chOff x="533400" y="1524000"/>
            <a:chExt cx="6276022" cy="3603308"/>
          </a:xfrm>
        </p:grpSpPr>
        <p:sp>
          <p:nvSpPr>
            <p:cNvPr id="7" name="Rectangle 7"/>
            <p:cNvSpPr/>
            <p:nvPr/>
          </p:nvSpPr>
          <p:spPr>
            <a:xfrm>
              <a:off x="533400" y="1524000"/>
              <a:ext cx="6276022" cy="381000"/>
            </a:xfrm>
            <a:prstGeom prst="rect">
              <a:avLst/>
            </a:prstGeom>
            <a:solidFill>
              <a:srgbClr val="334E68"/>
            </a:solidFill>
            <a:ln>
              <a:noFill/>
            </a:ln>
          </p:spPr>
        </p:sp>
        <p:sp>
          <p:nvSpPr>
            <p:cNvPr id="8" name="TextBox 8"/>
            <p:cNvSpPr txBox="1"/>
            <p:nvPr/>
          </p:nvSpPr>
          <p:spPr>
            <a:xfrm>
              <a:off x="818007" y="1641157"/>
              <a:ext cx="434721"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对比项</a:t>
              </a:r>
            </a:p>
          </p:txBody>
        </p:sp>
        <p:sp>
          <p:nvSpPr>
            <p:cNvPr id="9" name="TextBox 9"/>
            <p:cNvSpPr txBox="1"/>
            <p:nvPr/>
          </p:nvSpPr>
          <p:spPr>
            <a:xfrm>
              <a:off x="2701100" y="1641157"/>
              <a:ext cx="434721"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以太网</a:t>
              </a:r>
            </a:p>
          </p:txBody>
        </p:sp>
        <p:sp>
          <p:nvSpPr>
            <p:cNvPr id="10" name="TextBox 10"/>
            <p:cNvSpPr txBox="1"/>
            <p:nvPr/>
          </p:nvSpPr>
          <p:spPr>
            <a:xfrm>
              <a:off x="5395794" y="1641157"/>
              <a:ext cx="316466" cy="205359"/>
            </a:xfrm>
            <a:prstGeom prst="rect">
              <a:avLst/>
            </a:prstGeom>
            <a:noFill/>
            <a:ln>
              <a:noFill/>
            </a:ln>
          </p:spPr>
          <p:txBody>
            <a:bodyPr wrap="none" lIns="0" tIns="0" rIns="0" bIns="0" anchor="t" anchorCtr="0">
              <a:spAutoFit/>
            </a:bodyPr>
            <a:lstStyle/>
            <a:p>
              <a:pPr algn="ctr"/>
              <a:r>
                <a:rPr lang="en-US" sz="1050" b="1" dirty="0">
                  <a:solidFill>
                    <a:srgbClr val="FFFFFF"/>
                  </a:solidFill>
                  <a:latin typeface="+mn-lt"/>
                  <a:ea typeface="+mn-ea"/>
                  <a:cs typeface="+mn-cs"/>
                </a:rPr>
                <a:t>FDDI</a:t>
              </a:r>
            </a:p>
          </p:txBody>
        </p:sp>
        <p:sp>
          <p:nvSpPr>
            <p:cNvPr id="11" name="TextBox 11"/>
            <p:cNvSpPr txBox="1"/>
            <p:nvPr/>
          </p:nvSpPr>
          <p:spPr>
            <a:xfrm>
              <a:off x="628078" y="2023110"/>
              <a:ext cx="293370" cy="205359"/>
            </a:xfrm>
            <a:prstGeom prst="rect">
              <a:avLst/>
            </a:prstGeom>
            <a:noFill/>
            <a:ln>
              <a:noFill/>
            </a:ln>
          </p:spPr>
          <p:txBody>
            <a:bodyPr wrap="none" lIns="0" tIns="0" rIns="0" bIns="0" anchor="t" anchorCtr="0">
              <a:spAutoFit/>
            </a:bodyPr>
            <a:lstStyle/>
            <a:p>
              <a:pPr algn="l"/>
              <a:r>
                <a:rPr lang="zh-CN" sz="1050" b="1" dirty="0">
                  <a:solidFill>
                    <a:srgbClr val="1F2937"/>
                  </a:solidFill>
                  <a:latin typeface="+mn-lt"/>
                  <a:ea typeface="+mn-ea"/>
                  <a:cs typeface="+mn-cs"/>
                </a:rPr>
                <a:t>标准</a:t>
              </a:r>
            </a:p>
          </p:txBody>
        </p:sp>
        <p:sp>
          <p:nvSpPr>
            <p:cNvPr id="12" name="TextBox 12"/>
            <p:cNvSpPr txBox="1"/>
            <p:nvPr/>
          </p:nvSpPr>
          <p:spPr>
            <a:xfrm>
              <a:off x="1632014" y="2023110"/>
              <a:ext cx="757428" cy="205359"/>
            </a:xfrm>
            <a:prstGeom prst="rect">
              <a:avLst/>
            </a:prstGeom>
            <a:noFill/>
            <a:ln>
              <a:noFill/>
            </a:ln>
          </p:spPr>
          <p:txBody>
            <a:bodyPr wrap="none" lIns="0" tIns="0" rIns="0" bIns="0" anchor="t" anchorCtr="0">
              <a:spAutoFit/>
            </a:bodyPr>
            <a:lstStyle/>
            <a:p>
              <a:pPr algn="l"/>
              <a:r>
                <a:rPr lang="en-US" sz="1050" dirty="0">
                  <a:solidFill>
                    <a:srgbClr val="1F2937"/>
                  </a:solidFill>
                  <a:latin typeface="+mn-lt"/>
                  <a:ea typeface="+mn-ea"/>
                  <a:cs typeface="+mn-cs"/>
                </a:rPr>
                <a:t>IEEE 802.3</a:t>
              </a:r>
            </a:p>
          </p:txBody>
        </p:sp>
        <p:sp>
          <p:nvSpPr>
            <p:cNvPr id="13" name="TextBox 13"/>
            <p:cNvSpPr txBox="1"/>
            <p:nvPr/>
          </p:nvSpPr>
          <p:spPr>
            <a:xfrm>
              <a:off x="4393311" y="2023110"/>
              <a:ext cx="1282827"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光纤分布式数据接口</a:t>
              </a:r>
            </a:p>
          </p:txBody>
        </p:sp>
        <p:sp>
          <p:nvSpPr>
            <p:cNvPr id="14" name="Rectangle 14"/>
            <p:cNvSpPr/>
            <p:nvPr/>
          </p:nvSpPr>
          <p:spPr>
            <a:xfrm>
              <a:off x="533400" y="2282190"/>
              <a:ext cx="6276022" cy="9525"/>
            </a:xfrm>
            <a:prstGeom prst="rect">
              <a:avLst/>
            </a:prstGeom>
            <a:solidFill>
              <a:srgbClr val="D9DFEA"/>
            </a:solidFill>
            <a:ln>
              <a:noFill/>
            </a:ln>
          </p:spPr>
        </p:sp>
        <p:sp>
          <p:nvSpPr>
            <p:cNvPr id="15" name="Rectangle 15"/>
            <p:cNvSpPr/>
            <p:nvPr/>
          </p:nvSpPr>
          <p:spPr>
            <a:xfrm>
              <a:off x="533400" y="2286952"/>
              <a:ext cx="6276022" cy="567690"/>
            </a:xfrm>
            <a:prstGeom prst="rect">
              <a:avLst/>
            </a:prstGeom>
            <a:solidFill>
              <a:srgbClr val="F4F6FB"/>
            </a:solidFill>
            <a:ln>
              <a:noFill/>
            </a:ln>
          </p:spPr>
        </p:sp>
        <p:sp>
          <p:nvSpPr>
            <p:cNvPr id="16" name="TextBox 16"/>
            <p:cNvSpPr txBox="1"/>
            <p:nvPr/>
          </p:nvSpPr>
          <p:spPr>
            <a:xfrm>
              <a:off x="628078" y="2497455"/>
              <a:ext cx="293370" cy="205359"/>
            </a:xfrm>
            <a:prstGeom prst="rect">
              <a:avLst/>
            </a:prstGeom>
            <a:noFill/>
            <a:ln>
              <a:noFill/>
            </a:ln>
          </p:spPr>
          <p:txBody>
            <a:bodyPr wrap="none" lIns="0" tIns="0" rIns="0" bIns="0" anchor="t" anchorCtr="0">
              <a:spAutoFit/>
            </a:bodyPr>
            <a:lstStyle/>
            <a:p>
              <a:pPr algn="l"/>
              <a:r>
                <a:rPr lang="zh-CN" sz="1050" b="1" dirty="0">
                  <a:solidFill>
                    <a:srgbClr val="1F2937"/>
                  </a:solidFill>
                  <a:latin typeface="+mn-lt"/>
                  <a:ea typeface="+mn-ea"/>
                  <a:cs typeface="+mn-cs"/>
                </a:rPr>
                <a:t>拓扑</a:t>
              </a:r>
            </a:p>
          </p:txBody>
        </p:sp>
        <p:sp>
          <p:nvSpPr>
            <p:cNvPr id="17" name="TextBox 17"/>
            <p:cNvSpPr txBox="1"/>
            <p:nvPr/>
          </p:nvSpPr>
          <p:spPr>
            <a:xfrm>
              <a:off x="1632014" y="2404110"/>
              <a:ext cx="2410968" cy="392049"/>
            </a:xfrm>
            <a:prstGeom prst="rect">
              <a:avLst/>
            </a:prstGeom>
            <a:noFill/>
            <a:ln>
              <a:noFill/>
            </a:ln>
          </p:spPr>
          <p:txBody>
            <a:bodyPr wrap="none" lIns="0" tIns="0" rIns="0" bIns="0" anchor="t" anchorCtr="0">
              <a:spAutoFit/>
            </a:bodyPr>
            <a:lstStyle/>
            <a:p>
              <a:pPr algn="l">
                <a:lnSpc>
                  <a:spcPts val="1470"/>
                </a:lnSpc>
              </a:pPr>
              <a:r>
                <a:rPr lang="zh-CN" sz="1050" dirty="0">
                  <a:solidFill>
                    <a:srgbClr val="1F2937"/>
                  </a:solidFill>
                  <a:latin typeface="+mn-lt"/>
                  <a:ea typeface="+mn-ea"/>
                  <a:cs typeface="+mn-cs"/>
                </a:rPr>
                <a:t>标准是总线型；用集线器连接后物理上成</a:t>
              </a:r>
              <a:br/>
              <a:r>
                <a:rPr lang="zh-CN" sz="1050" dirty="0">
                  <a:solidFill>
                    <a:srgbClr val="1F2937"/>
                  </a:solidFill>
                  <a:latin typeface="+mn-lt"/>
                  <a:ea typeface="+mn-ea"/>
                  <a:cs typeface="+mn-cs"/>
                </a:rPr>
                <a:t>星型，逻辑上仍是总线</a:t>
              </a:r>
            </a:p>
          </p:txBody>
        </p:sp>
        <p:sp>
          <p:nvSpPr>
            <p:cNvPr id="18" name="TextBox 18"/>
            <p:cNvSpPr txBox="1"/>
            <p:nvPr/>
          </p:nvSpPr>
          <p:spPr>
            <a:xfrm>
              <a:off x="4393311" y="2497455"/>
              <a:ext cx="2130933"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双向光纤令牌环，两个环方向相反</a:t>
              </a:r>
            </a:p>
          </p:txBody>
        </p:sp>
        <p:sp>
          <p:nvSpPr>
            <p:cNvPr id="19" name="Rectangle 19"/>
            <p:cNvSpPr/>
            <p:nvPr/>
          </p:nvSpPr>
          <p:spPr>
            <a:xfrm>
              <a:off x="533400" y="2849880"/>
              <a:ext cx="6276022" cy="9525"/>
            </a:xfrm>
            <a:prstGeom prst="rect">
              <a:avLst/>
            </a:prstGeom>
            <a:solidFill>
              <a:srgbClr val="D9DFEA"/>
            </a:solidFill>
            <a:ln>
              <a:noFill/>
            </a:ln>
          </p:spPr>
        </p:sp>
        <p:sp>
          <p:nvSpPr>
            <p:cNvPr id="20" name="TextBox 20"/>
            <p:cNvSpPr txBox="1"/>
            <p:nvPr/>
          </p:nvSpPr>
          <p:spPr>
            <a:xfrm>
              <a:off x="628078" y="3065145"/>
              <a:ext cx="576072" cy="205359"/>
            </a:xfrm>
            <a:prstGeom prst="rect">
              <a:avLst/>
            </a:prstGeom>
            <a:noFill/>
            <a:ln>
              <a:noFill/>
            </a:ln>
          </p:spPr>
          <p:txBody>
            <a:bodyPr wrap="none" lIns="0" tIns="0" rIns="0" bIns="0" anchor="t" anchorCtr="0">
              <a:spAutoFit/>
            </a:bodyPr>
            <a:lstStyle/>
            <a:p>
              <a:pPr algn="l"/>
              <a:r>
                <a:rPr lang="zh-CN" sz="1050" b="1" dirty="0">
                  <a:solidFill>
                    <a:srgbClr val="1F2937"/>
                  </a:solidFill>
                  <a:latin typeface="+mn-lt"/>
                  <a:ea typeface="+mn-ea"/>
                  <a:cs typeface="+mn-cs"/>
                </a:rPr>
                <a:t>介质访问</a:t>
              </a:r>
            </a:p>
          </p:txBody>
        </p:sp>
        <p:sp>
          <p:nvSpPr>
            <p:cNvPr id="21" name="TextBox 21"/>
            <p:cNvSpPr txBox="1"/>
            <p:nvPr/>
          </p:nvSpPr>
          <p:spPr>
            <a:xfrm>
              <a:off x="1632014" y="2971800"/>
              <a:ext cx="2417636" cy="392049"/>
            </a:xfrm>
            <a:prstGeom prst="rect">
              <a:avLst/>
            </a:prstGeom>
            <a:noFill/>
            <a:ln>
              <a:noFill/>
            </a:ln>
          </p:spPr>
          <p:txBody>
            <a:bodyPr wrap="none" lIns="0" tIns="0" rIns="0" bIns="0" anchor="t" anchorCtr="0">
              <a:spAutoFit/>
            </a:bodyPr>
            <a:lstStyle/>
            <a:p>
              <a:pPr algn="l">
                <a:lnSpc>
                  <a:spcPts val="1470"/>
                </a:lnSpc>
              </a:pPr>
              <a:r>
                <a:rPr lang="zh-CN" sz="1050" dirty="0">
                  <a:solidFill>
                    <a:srgbClr val="1F2937"/>
                  </a:solidFill>
                  <a:latin typeface="+mn-lt"/>
                  <a:ea typeface="+mn-ea"/>
                  <a:cs typeface="+mn-cs"/>
                </a:rPr>
                <a:t>CSMA/CD（带冲突检测的载波侦听多路访</a:t>
              </a:r>
              <a:br/>
              <a:r>
                <a:rPr lang="zh-CN" sz="1050" dirty="0">
                  <a:solidFill>
                    <a:srgbClr val="1F2937"/>
                  </a:solidFill>
                  <a:latin typeface="+mn-lt"/>
                  <a:ea typeface="+mn-ea"/>
                  <a:cs typeface="+mn-cs"/>
                </a:rPr>
                <a:t>问）</a:t>
              </a:r>
            </a:p>
          </p:txBody>
        </p:sp>
        <p:sp>
          <p:nvSpPr>
            <p:cNvPr id="22" name="TextBox 22"/>
            <p:cNvSpPr txBox="1"/>
            <p:nvPr/>
          </p:nvSpPr>
          <p:spPr>
            <a:xfrm>
              <a:off x="4393311" y="3065145"/>
              <a:ext cx="576072"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令牌传递</a:t>
              </a:r>
            </a:p>
          </p:txBody>
        </p:sp>
        <p:sp>
          <p:nvSpPr>
            <p:cNvPr id="23" name="Rectangle 23"/>
            <p:cNvSpPr/>
            <p:nvPr/>
          </p:nvSpPr>
          <p:spPr>
            <a:xfrm>
              <a:off x="533400" y="3418522"/>
              <a:ext cx="6276022" cy="9525"/>
            </a:xfrm>
            <a:prstGeom prst="rect">
              <a:avLst/>
            </a:prstGeom>
            <a:solidFill>
              <a:srgbClr val="D9DFEA"/>
            </a:solidFill>
            <a:ln>
              <a:noFill/>
            </a:ln>
          </p:spPr>
        </p:sp>
        <p:sp>
          <p:nvSpPr>
            <p:cNvPr id="24" name="Rectangle 24"/>
            <p:cNvSpPr/>
            <p:nvPr/>
          </p:nvSpPr>
          <p:spPr>
            <a:xfrm>
              <a:off x="533400" y="3423285"/>
              <a:ext cx="6276022" cy="381000"/>
            </a:xfrm>
            <a:prstGeom prst="rect">
              <a:avLst/>
            </a:prstGeom>
            <a:solidFill>
              <a:srgbClr val="F4F6FB"/>
            </a:solidFill>
            <a:ln>
              <a:noFill/>
            </a:ln>
          </p:spPr>
        </p:sp>
        <p:sp>
          <p:nvSpPr>
            <p:cNvPr id="25" name="TextBox 25"/>
            <p:cNvSpPr txBox="1"/>
            <p:nvPr/>
          </p:nvSpPr>
          <p:spPr>
            <a:xfrm>
              <a:off x="628078" y="3540443"/>
              <a:ext cx="293370" cy="205359"/>
            </a:xfrm>
            <a:prstGeom prst="rect">
              <a:avLst/>
            </a:prstGeom>
            <a:noFill/>
            <a:ln>
              <a:noFill/>
            </a:ln>
          </p:spPr>
          <p:txBody>
            <a:bodyPr wrap="none" lIns="0" tIns="0" rIns="0" bIns="0" anchor="t" anchorCtr="0">
              <a:spAutoFit/>
            </a:bodyPr>
            <a:lstStyle/>
            <a:p>
              <a:pPr algn="l"/>
              <a:r>
                <a:rPr lang="zh-CN" sz="1050" b="1" dirty="0">
                  <a:solidFill>
                    <a:srgbClr val="1F2937"/>
                  </a:solidFill>
                  <a:latin typeface="+mn-lt"/>
                  <a:ea typeface="+mn-ea"/>
                  <a:cs typeface="+mn-cs"/>
                </a:rPr>
                <a:t>速率</a:t>
              </a:r>
            </a:p>
          </p:txBody>
        </p:sp>
        <p:sp>
          <p:nvSpPr>
            <p:cNvPr id="26" name="TextBox 26"/>
            <p:cNvSpPr txBox="1"/>
            <p:nvPr/>
          </p:nvSpPr>
          <p:spPr>
            <a:xfrm>
              <a:off x="1632014" y="3540443"/>
              <a:ext cx="1565529"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从百兆到千兆以太网主干</a:t>
              </a:r>
            </a:p>
          </p:txBody>
        </p:sp>
        <p:sp>
          <p:nvSpPr>
            <p:cNvPr id="27" name="TextBox 27"/>
            <p:cNvSpPr txBox="1"/>
            <p:nvPr/>
          </p:nvSpPr>
          <p:spPr>
            <a:xfrm>
              <a:off x="4393311" y="3540443"/>
              <a:ext cx="1011726"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100～200 Mb/s</a:t>
              </a:r>
            </a:p>
          </p:txBody>
        </p:sp>
        <p:sp>
          <p:nvSpPr>
            <p:cNvPr id="28" name="Rectangle 28"/>
            <p:cNvSpPr/>
            <p:nvPr/>
          </p:nvSpPr>
          <p:spPr>
            <a:xfrm>
              <a:off x="533400" y="3799522"/>
              <a:ext cx="6276022" cy="9525"/>
            </a:xfrm>
            <a:prstGeom prst="rect">
              <a:avLst/>
            </a:prstGeom>
            <a:solidFill>
              <a:srgbClr val="D9DFEA"/>
            </a:solidFill>
            <a:ln>
              <a:noFill/>
            </a:ln>
          </p:spPr>
        </p:sp>
        <p:sp>
          <p:nvSpPr>
            <p:cNvPr id="29" name="TextBox 29"/>
            <p:cNvSpPr txBox="1"/>
            <p:nvPr/>
          </p:nvSpPr>
          <p:spPr>
            <a:xfrm>
              <a:off x="628078" y="4014788"/>
              <a:ext cx="293370" cy="205359"/>
            </a:xfrm>
            <a:prstGeom prst="rect">
              <a:avLst/>
            </a:prstGeom>
            <a:noFill/>
            <a:ln>
              <a:noFill/>
            </a:ln>
          </p:spPr>
          <p:txBody>
            <a:bodyPr wrap="none" lIns="0" tIns="0" rIns="0" bIns="0" anchor="t" anchorCtr="0">
              <a:spAutoFit/>
            </a:bodyPr>
            <a:lstStyle/>
            <a:p>
              <a:pPr algn="l"/>
              <a:r>
                <a:rPr lang="zh-CN" sz="1050" b="1" dirty="0">
                  <a:solidFill>
                    <a:srgbClr val="1F2937"/>
                  </a:solidFill>
                  <a:latin typeface="+mn-lt"/>
                  <a:ea typeface="+mn-ea"/>
                  <a:cs typeface="+mn-cs"/>
                </a:rPr>
                <a:t>距离</a:t>
              </a:r>
            </a:p>
          </p:txBody>
        </p:sp>
        <p:sp>
          <p:nvSpPr>
            <p:cNvPr id="30" name="TextBox 30"/>
            <p:cNvSpPr txBox="1"/>
            <p:nvPr/>
          </p:nvSpPr>
          <p:spPr>
            <a:xfrm>
              <a:off x="1632014" y="4014788"/>
              <a:ext cx="717423"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局域网范围</a:t>
              </a:r>
            </a:p>
          </p:txBody>
        </p:sp>
        <p:sp>
          <p:nvSpPr>
            <p:cNvPr id="31" name="TextBox 31"/>
            <p:cNvSpPr txBox="1"/>
            <p:nvPr/>
          </p:nvSpPr>
          <p:spPr>
            <a:xfrm>
              <a:off x="4393311" y="3921443"/>
              <a:ext cx="2204276" cy="392049"/>
            </a:xfrm>
            <a:prstGeom prst="rect">
              <a:avLst/>
            </a:prstGeom>
            <a:noFill/>
            <a:ln>
              <a:noFill/>
            </a:ln>
          </p:spPr>
          <p:txBody>
            <a:bodyPr wrap="none" lIns="0" tIns="0" rIns="0" bIns="0" anchor="t" anchorCtr="0">
              <a:spAutoFit/>
            </a:bodyPr>
            <a:lstStyle/>
            <a:p>
              <a:pPr algn="l">
                <a:lnSpc>
                  <a:spcPts val="1470"/>
                </a:lnSpc>
              </a:pPr>
              <a:r>
                <a:rPr lang="zh-CN" sz="1050" dirty="0">
                  <a:solidFill>
                    <a:srgbClr val="1F2937"/>
                  </a:solidFill>
                  <a:latin typeface="+mn-lt"/>
                  <a:ea typeface="+mn-ea"/>
                  <a:cs typeface="+mn-cs"/>
                </a:rPr>
                <a:t>铜线 100 m，多模光纤 2 km，单模光</a:t>
              </a:r>
              <a:br/>
              <a:r>
                <a:rPr lang="zh-CN" sz="1050" dirty="0">
                  <a:solidFill>
                    <a:srgbClr val="1F2937"/>
                  </a:solidFill>
                  <a:latin typeface="+mn-lt"/>
                  <a:ea typeface="+mn-ea"/>
                  <a:cs typeface="+mn-cs"/>
                </a:rPr>
                <a:t>纤 60 km</a:t>
              </a:r>
            </a:p>
          </p:txBody>
        </p:sp>
        <p:sp>
          <p:nvSpPr>
            <p:cNvPr id="32" name="Rectangle 32"/>
            <p:cNvSpPr/>
            <p:nvPr/>
          </p:nvSpPr>
          <p:spPr>
            <a:xfrm>
              <a:off x="533400" y="4367212"/>
              <a:ext cx="6276022" cy="9525"/>
            </a:xfrm>
            <a:prstGeom prst="rect">
              <a:avLst/>
            </a:prstGeom>
            <a:solidFill>
              <a:srgbClr val="D9DFEA"/>
            </a:solidFill>
            <a:ln>
              <a:noFill/>
            </a:ln>
          </p:spPr>
        </p:sp>
        <p:sp>
          <p:nvSpPr>
            <p:cNvPr id="33" name="Rectangle 33"/>
            <p:cNvSpPr/>
            <p:nvPr/>
          </p:nvSpPr>
          <p:spPr>
            <a:xfrm>
              <a:off x="533400" y="4371975"/>
              <a:ext cx="6276022" cy="754380"/>
            </a:xfrm>
            <a:prstGeom prst="rect">
              <a:avLst/>
            </a:prstGeom>
            <a:solidFill>
              <a:srgbClr val="F4F6FB"/>
            </a:solidFill>
            <a:ln>
              <a:noFill/>
            </a:ln>
          </p:spPr>
        </p:sp>
        <p:sp>
          <p:nvSpPr>
            <p:cNvPr id="34" name="TextBox 34"/>
            <p:cNvSpPr txBox="1"/>
            <p:nvPr/>
          </p:nvSpPr>
          <p:spPr>
            <a:xfrm>
              <a:off x="628078" y="4676775"/>
              <a:ext cx="293370" cy="205359"/>
            </a:xfrm>
            <a:prstGeom prst="rect">
              <a:avLst/>
            </a:prstGeom>
            <a:noFill/>
            <a:ln>
              <a:noFill/>
            </a:ln>
          </p:spPr>
          <p:txBody>
            <a:bodyPr wrap="none" lIns="0" tIns="0" rIns="0" bIns="0" anchor="t" anchorCtr="0">
              <a:spAutoFit/>
            </a:bodyPr>
            <a:lstStyle/>
            <a:p>
              <a:pPr algn="l"/>
              <a:r>
                <a:rPr lang="zh-CN" sz="1050" b="1" dirty="0">
                  <a:solidFill>
                    <a:srgbClr val="1F2937"/>
                  </a:solidFill>
                  <a:latin typeface="+mn-lt"/>
                  <a:ea typeface="+mn-ea"/>
                  <a:cs typeface="+mn-cs"/>
                </a:rPr>
                <a:t>特点</a:t>
              </a:r>
            </a:p>
          </p:txBody>
        </p:sp>
        <p:sp>
          <p:nvSpPr>
            <p:cNvPr id="35" name="TextBox 35"/>
            <p:cNvSpPr txBox="1"/>
            <p:nvPr/>
          </p:nvSpPr>
          <p:spPr>
            <a:xfrm>
              <a:off x="1632014" y="4490085"/>
              <a:ext cx="2430970" cy="578739"/>
            </a:xfrm>
            <a:prstGeom prst="rect">
              <a:avLst/>
            </a:prstGeom>
            <a:noFill/>
            <a:ln>
              <a:noFill/>
            </a:ln>
          </p:spPr>
          <p:txBody>
            <a:bodyPr wrap="none" lIns="0" tIns="0" rIns="0" bIns="0" anchor="t" anchorCtr="0">
              <a:spAutoFit/>
            </a:bodyPr>
            <a:lstStyle/>
            <a:p>
              <a:pPr algn="l">
                <a:lnSpc>
                  <a:spcPts val="1470"/>
                </a:lnSpc>
              </a:pPr>
              <a:r>
                <a:rPr lang="zh-CN" sz="1050" dirty="0">
                  <a:solidFill>
                    <a:srgbClr val="1F2937"/>
                  </a:solidFill>
                  <a:latin typeface="+mn-lt"/>
                  <a:ea typeface="+mn-ea"/>
                  <a:cs typeface="+mn-cs"/>
                </a:rPr>
                <a:t>网卡有全球唯一的 48 位 MAC 地址；广播</a:t>
              </a:r>
              <a:br/>
              <a:r>
                <a:rPr lang="zh-CN" sz="1050" dirty="0">
                  <a:solidFill>
                    <a:srgbClr val="1F2937"/>
                  </a:solidFill>
                  <a:latin typeface="+mn-lt"/>
                  <a:ea typeface="+mn-ea"/>
                  <a:cs typeface="+mn-cs"/>
                </a:rPr>
                <a:t>式发送，网卡滤掉别人的帧，混杂模式下</a:t>
              </a:r>
              <a:br/>
              <a:r>
                <a:rPr lang="zh-CN" sz="1050" dirty="0">
                  <a:solidFill>
                    <a:srgbClr val="1F2937"/>
                  </a:solidFill>
                  <a:latin typeface="+mn-lt"/>
                  <a:ea typeface="+mn-ea"/>
                  <a:cs typeface="+mn-cs"/>
                </a:rPr>
                <a:t>能监听全部帧</a:t>
              </a:r>
            </a:p>
          </p:txBody>
        </p:sp>
        <p:sp>
          <p:nvSpPr>
            <p:cNvPr id="36" name="TextBox 36"/>
            <p:cNvSpPr txBox="1"/>
            <p:nvPr/>
          </p:nvSpPr>
          <p:spPr>
            <a:xfrm>
              <a:off x="4393311" y="4583430"/>
              <a:ext cx="2144268" cy="392049"/>
            </a:xfrm>
            <a:prstGeom prst="rect">
              <a:avLst/>
            </a:prstGeom>
            <a:noFill/>
            <a:ln>
              <a:noFill/>
            </a:ln>
          </p:spPr>
          <p:txBody>
            <a:bodyPr wrap="none" lIns="0" tIns="0" rIns="0" bIns="0" anchor="t" anchorCtr="0">
              <a:spAutoFit/>
            </a:bodyPr>
            <a:lstStyle/>
            <a:p>
              <a:pPr algn="l">
                <a:lnSpc>
                  <a:spcPts val="1470"/>
                </a:lnSpc>
              </a:pPr>
              <a:r>
                <a:rPr lang="zh-CN" sz="1050" dirty="0">
                  <a:solidFill>
                    <a:srgbClr val="1F2937"/>
                  </a:solidFill>
                  <a:latin typeface="+mn-lt"/>
                  <a:ea typeface="+mn-ea"/>
                  <a:cs typeface="+mn-cs"/>
                </a:rPr>
                <a:t>冗余环提高可靠性，抗电磁和射频干</a:t>
              </a:r>
              <a:br/>
              <a:r>
                <a:rPr lang="zh-CN" sz="1050" dirty="0">
                  <a:solidFill>
                    <a:srgbClr val="1F2937"/>
                  </a:solidFill>
                  <a:latin typeface="+mn-lt"/>
                  <a:ea typeface="+mn-ea"/>
                  <a:cs typeface="+mn-cs"/>
                </a:rPr>
                <a:t>扰；不能支持多媒体信息流</a:t>
              </a:r>
            </a:p>
          </p:txBody>
        </p:sp>
        <p:sp>
          <p:nvSpPr>
            <p:cNvPr id="37" name="Rectangle 37"/>
            <p:cNvSpPr/>
            <p:nvPr/>
          </p:nvSpPr>
          <p:spPr>
            <a:xfrm>
              <a:off x="533400" y="1524000"/>
              <a:ext cx="6276022" cy="3603308"/>
            </a:xfrm>
            <a:prstGeom prst="rect">
              <a:avLst/>
            </a:prstGeom>
            <a:noFill/>
            <a:ln w="14288">
              <a:solidFill>
                <a:srgbClr val="D9DFEA"/>
              </a:solidFill>
            </a:ln>
          </p:spPr>
        </p:sp>
        <p:sp>
          <p:nvSpPr>
            <p:cNvPr id="38" name="Rectangle 38"/>
            <p:cNvSpPr/>
            <p:nvPr/>
          </p:nvSpPr>
          <p:spPr>
            <a:xfrm>
              <a:off x="1532572" y="1524000"/>
              <a:ext cx="9525" cy="3603308"/>
            </a:xfrm>
            <a:prstGeom prst="rect">
              <a:avLst/>
            </a:prstGeom>
            <a:solidFill>
              <a:srgbClr val="D9DFEA"/>
            </a:solidFill>
            <a:ln>
              <a:noFill/>
            </a:ln>
          </p:spPr>
        </p:sp>
        <p:sp>
          <p:nvSpPr>
            <p:cNvPr id="39" name="Rectangle 39"/>
            <p:cNvSpPr/>
            <p:nvPr/>
          </p:nvSpPr>
          <p:spPr>
            <a:xfrm>
              <a:off x="4293870" y="1524000"/>
              <a:ext cx="9525" cy="3603308"/>
            </a:xfrm>
            <a:prstGeom prst="rect">
              <a:avLst/>
            </a:prstGeom>
            <a:solidFill>
              <a:srgbClr val="D9DFEA"/>
            </a:solidFill>
            <a:ln>
              <a:noFill/>
            </a:ln>
          </p:spPr>
        </p:sp>
      </p:grpSp>
      <p:grpSp>
        <p:nvGrpSpPr>
          <p:cNvPr id="47" name="c1-callout-2"/>
          <p:cNvGrpSpPr/>
          <p:nvPr/>
        </p:nvGrpSpPr>
        <p:grpSpPr>
          <a:xfrm>
            <a:off x="533400" y="5292090"/>
            <a:ext cx="6276022" cy="960120"/>
            <a:chOff x="533400" y="5292090"/>
            <a:chExt cx="6276022" cy="960120"/>
          </a:xfrm>
        </p:grpSpPr>
        <p:sp>
          <p:nvSpPr>
            <p:cNvPr id="41" name="Rectangle 41"/>
            <p:cNvSpPr/>
            <p:nvPr/>
          </p:nvSpPr>
          <p:spPr>
            <a:xfrm>
              <a:off x="533400" y="5292090"/>
              <a:ext cx="6276022" cy="960120"/>
            </a:xfrm>
            <a:prstGeom prst="roundRect">
              <a:avLst>
                <a:gd name="adj" fmla="val 11905"/>
              </a:avLst>
            </a:prstGeom>
            <a:solidFill>
              <a:srgbClr val="FDECEA"/>
            </a:solidFill>
            <a:ln>
              <a:noFill/>
            </a:ln>
          </p:spPr>
        </p:sp>
        <p:grpSp>
          <p:nvGrpSpPr>
            <p:cNvPr id="45" name="Group 45"/>
            <p:cNvGrpSpPr/>
            <p:nvPr/>
          </p:nvGrpSpPr>
          <p:grpSpPr>
            <a:xfrm>
              <a:off x="726129" y="5668446"/>
              <a:ext cx="224134" cy="192560"/>
              <a:chOff x="726129" y="5668446"/>
              <a:chExt cx="224134" cy="192560"/>
            </a:xfrm>
          </p:grpSpPr>
          <p:sp>
            <p:nvSpPr>
              <p:cNvPr id="42" name="Freeform 42"/>
              <p:cNvSpPr/>
              <p:nvPr/>
            </p:nvSpPr>
            <p:spPr>
              <a:xfrm>
                <a:off x="838200" y="5738813"/>
                <a:ext cx="9525" cy="44450"/>
              </a:xfrm>
              <a:custGeom>
                <a:avLst/>
                <a:gdLst/>
                <a:ahLst/>
                <a:cxnLst/>
                <a:rect l="l" t="t" r="r" b="b"/>
                <a:pathLst>
                  <a:path w="9525" h="44450">
                    <a:moveTo>
                      <a:pt x="0" y="0"/>
                    </a:moveTo>
                    <a:lnTo>
                      <a:pt x="0" y="44450"/>
                    </a:lnTo>
                  </a:path>
                </a:pathLst>
              </a:custGeom>
              <a:noFill/>
              <a:ln w="22225">
                <a:solidFill>
                  <a:srgbClr val="B42318"/>
                </a:solidFill>
              </a:ln>
            </p:spPr>
          </p:sp>
          <p:sp>
            <p:nvSpPr>
              <p:cNvPr id="43" name="Freeform 43"/>
              <p:cNvSpPr/>
              <p:nvPr/>
            </p:nvSpPr>
            <p:spPr>
              <a:xfrm>
                <a:off x="726129" y="5668446"/>
                <a:ext cx="224134" cy="192560"/>
              </a:xfrm>
              <a:custGeom>
                <a:avLst/>
                <a:gdLst/>
                <a:ahLst/>
                <a:cxnLst/>
                <a:rect l="l" t="t" r="r" b="b"/>
                <a:pathLst>
                  <a:path w="224134" h="192560">
                    <a:moveTo>
                      <a:pt x="93880" y="10259"/>
                    </a:moveTo>
                    <a:lnTo>
                      <a:pt x="3802" y="160656"/>
                    </a:lnTo>
                    <a:cubicBezTo>
                      <a:pt x="23" y="167200"/>
                      <a:pt x="0" y="175257"/>
                      <a:pt x="3741" y="181823"/>
                    </a:cubicBezTo>
                    <a:cubicBezTo>
                      <a:pt x="7482" y="188388"/>
                      <a:pt x="14426" y="192476"/>
                      <a:pt x="21982" y="192560"/>
                    </a:cubicBezTo>
                    <a:lnTo>
                      <a:pt x="202160" y="192560"/>
                    </a:lnTo>
                    <a:cubicBezTo>
                      <a:pt x="209713" y="192473"/>
                      <a:pt x="216653" y="188387"/>
                      <a:pt x="220393" y="181826"/>
                    </a:cubicBezTo>
                    <a:cubicBezTo>
                      <a:pt x="224134" y="175264"/>
                      <a:pt x="224114" y="167211"/>
                      <a:pt x="220341" y="160667"/>
                    </a:cubicBezTo>
                    <a:lnTo>
                      <a:pt x="130262" y="10248"/>
                    </a:lnTo>
                    <a:cubicBezTo>
                      <a:pt x="126408" y="3886"/>
                      <a:pt x="119510" y="0"/>
                      <a:pt x="112071" y="0"/>
                    </a:cubicBezTo>
                    <a:cubicBezTo>
                      <a:pt x="104633" y="0"/>
                      <a:pt x="97734" y="3886"/>
                      <a:pt x="93880" y="10248"/>
                    </a:cubicBezTo>
                  </a:path>
                </a:pathLst>
              </a:custGeom>
              <a:noFill/>
              <a:ln w="22225">
                <a:solidFill>
                  <a:srgbClr val="B42318"/>
                </a:solidFill>
              </a:ln>
            </p:spPr>
          </p:sp>
          <p:sp>
            <p:nvSpPr>
              <p:cNvPr id="44" name="Freeform 44"/>
              <p:cNvSpPr/>
              <p:nvPr/>
            </p:nvSpPr>
            <p:spPr>
              <a:xfrm>
                <a:off x="838200" y="5816601"/>
                <a:ext cx="9525" cy="9525"/>
              </a:xfrm>
              <a:custGeom>
                <a:avLst/>
                <a:gdLst/>
                <a:ahLst/>
                <a:cxnLst/>
                <a:rect l="l" t="t" r="r" b="b"/>
                <a:pathLst>
                  <a:path w="9525" h="9525">
                    <a:moveTo>
                      <a:pt x="0" y="0"/>
                    </a:moveTo>
                    <a:lnTo>
                      <a:pt x="111" y="0"/>
                    </a:lnTo>
                  </a:path>
                </a:pathLst>
              </a:custGeom>
              <a:noFill/>
              <a:ln w="22225">
                <a:solidFill>
                  <a:srgbClr val="B42318"/>
                </a:solidFill>
              </a:ln>
            </p:spPr>
          </p:sp>
        </p:grpSp>
        <p:sp>
          <p:nvSpPr>
            <p:cNvPr id="46" name="TextBox 46"/>
            <p:cNvSpPr txBox="1"/>
            <p:nvPr/>
          </p:nvSpPr>
          <p:spPr>
            <a:xfrm>
              <a:off x="1041273" y="5565934"/>
              <a:ext cx="5231130" cy="483680"/>
            </a:xfrm>
            <a:prstGeom prst="rect">
              <a:avLst/>
            </a:prstGeom>
            <a:noFill/>
            <a:ln>
              <a:noFill/>
            </a:ln>
          </p:spPr>
          <p:txBody>
            <a:bodyPr wrap="none" lIns="0" tIns="0" rIns="0" bIns="0" anchor="t" anchorCtr="0">
              <a:spAutoFit/>
            </a:bodyPr>
            <a:lstStyle/>
            <a:p>
              <a:pPr algn="l">
                <a:lnSpc>
                  <a:spcPts val="1845"/>
                </a:lnSpc>
              </a:pPr>
              <a:r>
                <a:rPr lang="zh-CN" sz="1280" dirty="0">
                  <a:solidFill>
                    <a:srgbClr val="B42318"/>
                  </a:solidFill>
                  <a:latin typeface="+mn-lt"/>
                  <a:ea typeface="+mn-ea"/>
                  <a:cs typeface="+mn-cs"/>
                </a:rPr>
                <a:t>共享介质以太网“一个说，大家听”，任何节点都可以选择监听线路上的全</a:t>
              </a:r>
              <a:br/>
              <a:r>
                <a:rPr lang="zh-CN" sz="1280" dirty="0">
                  <a:solidFill>
                    <a:srgbClr val="B42318"/>
                  </a:solidFill>
                  <a:latin typeface="+mn-lt"/>
                  <a:ea typeface="+mn-ea"/>
                  <a:cs typeface="+mn-cs"/>
                </a:rPr>
                <a:t>部信息，这是它在安全上的弱点。</a:t>
              </a:r>
            </a:p>
          </p:txBody>
        </p:sp>
      </p:grpSp>
      <p:grpSp>
        <p:nvGrpSpPr>
          <p:cNvPr id="56" name="c2-card-1"/>
          <p:cNvGrpSpPr/>
          <p:nvPr/>
        </p:nvGrpSpPr>
        <p:grpSpPr>
          <a:xfrm>
            <a:off x="7114222" y="1524000"/>
            <a:ext cx="4544378" cy="1671638"/>
            <a:chOff x="7114222" y="1524000"/>
            <a:chExt cx="4544378" cy="1671638"/>
          </a:xfrm>
        </p:grpSpPr>
        <p:sp>
          <p:nvSpPr>
            <p:cNvPr id="48" name="Rectangle 48"/>
            <p:cNvSpPr/>
            <p:nvPr/>
          </p:nvSpPr>
          <p:spPr>
            <a:xfrm>
              <a:off x="7114222" y="1524000"/>
              <a:ext cx="4544378" cy="1671638"/>
            </a:xfrm>
            <a:prstGeom prst="roundRect">
              <a:avLst>
                <a:gd name="adj" fmla="val 7977"/>
              </a:avLst>
            </a:prstGeom>
            <a:solidFill>
              <a:srgbClr val="FFFFFF"/>
            </a:solidFill>
            <a:ln w="14288">
              <a:solidFill>
                <a:srgbClr val="D9DFEA"/>
              </a:solidFill>
            </a:ln>
          </p:spPr>
        </p:sp>
        <p:sp>
          <p:nvSpPr>
            <p:cNvPr id="49" name="Rectangle 49"/>
            <p:cNvSpPr/>
            <p:nvPr/>
          </p:nvSpPr>
          <p:spPr>
            <a:xfrm>
              <a:off x="7123748" y="1657350"/>
              <a:ext cx="47625" cy="1404938"/>
            </a:xfrm>
            <a:prstGeom prst="roundRect">
              <a:avLst>
                <a:gd name="adj" fmla="val 50000"/>
              </a:avLst>
            </a:prstGeom>
            <a:solidFill>
              <a:srgbClr val="334E68"/>
            </a:solidFill>
            <a:ln>
              <a:noFill/>
            </a:ln>
          </p:spPr>
        </p:sp>
        <p:sp>
          <p:nvSpPr>
            <p:cNvPr id="50" name="Rectangle 50"/>
            <p:cNvSpPr/>
            <p:nvPr/>
          </p:nvSpPr>
          <p:spPr>
            <a:xfrm>
              <a:off x="7333298" y="1704975"/>
              <a:ext cx="1211580" cy="238125"/>
            </a:xfrm>
            <a:prstGeom prst="roundRect">
              <a:avLst>
                <a:gd name="adj" fmla="val 50000"/>
              </a:avLst>
            </a:prstGeom>
            <a:solidFill>
              <a:srgbClr val="E7EDF3"/>
            </a:solidFill>
            <a:ln>
              <a:noFill/>
            </a:ln>
          </p:spPr>
        </p:sp>
        <p:sp>
          <p:nvSpPr>
            <p:cNvPr id="51" name="TextBox 51"/>
            <p:cNvSpPr txBox="1"/>
            <p:nvPr/>
          </p:nvSpPr>
          <p:spPr>
            <a:xfrm>
              <a:off x="7395646" y="1737836"/>
              <a:ext cx="1086883" cy="190690"/>
            </a:xfrm>
            <a:prstGeom prst="rect">
              <a:avLst/>
            </a:prstGeom>
            <a:noFill/>
            <a:ln>
              <a:noFill/>
            </a:ln>
          </p:spPr>
          <p:txBody>
            <a:bodyPr wrap="none" lIns="0" tIns="0" rIns="0" bIns="0" anchor="t" anchorCtr="0">
              <a:spAutoFit/>
            </a:bodyPr>
            <a:lstStyle/>
            <a:p>
              <a:pPr algn="ctr"/>
              <a:r>
                <a:rPr lang="zh-CN" sz="980" b="1" dirty="0">
                  <a:solidFill>
                    <a:srgbClr val="334E68"/>
                  </a:solidFill>
                  <a:latin typeface="+mn-lt"/>
                  <a:ea typeface="+mn-ea"/>
                  <a:cs typeface="+mn-cs"/>
                </a:rPr>
                <a:t>VPN 虚拟专用网络</a:t>
              </a:r>
            </a:p>
          </p:txBody>
        </p:sp>
        <p:sp>
          <p:nvSpPr>
            <p:cNvPr id="52" name="Ellipse 52"/>
            <p:cNvSpPr/>
            <p:nvPr/>
          </p:nvSpPr>
          <p:spPr>
            <a:xfrm>
              <a:off x="7342822" y="2097405"/>
              <a:ext cx="57150" cy="57150"/>
            </a:xfrm>
            <a:prstGeom prst="ellipse">
              <a:avLst/>
            </a:prstGeom>
            <a:solidFill>
              <a:srgbClr val="334E68"/>
            </a:solidFill>
            <a:ln>
              <a:noFill/>
            </a:ln>
          </p:spPr>
        </p:sp>
        <p:sp>
          <p:nvSpPr>
            <p:cNvPr id="53" name="TextBox 53"/>
            <p:cNvSpPr txBox="1"/>
            <p:nvPr/>
          </p:nvSpPr>
          <p:spPr>
            <a:xfrm>
              <a:off x="7498270" y="2045494"/>
              <a:ext cx="3768090" cy="492252"/>
            </a:xfrm>
            <a:prstGeom prst="rect">
              <a:avLst/>
            </a:prstGeom>
            <a:noFill/>
            <a:ln>
              <a:noFill/>
            </a:ln>
          </p:spPr>
          <p:txBody>
            <a:bodyPr wrap="none" lIns="0" tIns="0" rIns="0" bIns="0" anchor="t" anchorCtr="0">
              <a:spAutoFit/>
            </a:bodyPr>
            <a:lstStyle/>
            <a:p>
              <a:pPr algn="l">
                <a:lnSpc>
                  <a:spcPts val="1912"/>
                </a:lnSpc>
              </a:pPr>
              <a:r>
                <a:rPr lang="zh-CN" sz="1280" dirty="0">
                  <a:solidFill>
                    <a:srgbClr val="1F2937"/>
                  </a:solidFill>
                  <a:latin typeface="+mn-lt"/>
                  <a:ea typeface="+mn-ea"/>
                  <a:cs typeface="+mn-cs"/>
                </a:rPr>
                <a:t>依靠 ISP（Internet 服务提供商）和 NSP（网络服务</a:t>
              </a:r>
              <a:br/>
              <a:r>
                <a:rPr lang="zh-CN" sz="1280" dirty="0">
                  <a:solidFill>
                    <a:srgbClr val="1F2937"/>
                  </a:solidFill>
                  <a:latin typeface="+mn-lt"/>
                  <a:ea typeface="+mn-ea"/>
                  <a:cs typeface="+mn-cs"/>
                </a:rPr>
                <a:t>提供商）在公共网络中建立的虚拟专用通信网络</a:t>
              </a:r>
            </a:p>
          </p:txBody>
        </p:sp>
        <p:sp>
          <p:nvSpPr>
            <p:cNvPr id="54" name="Ellipse 54"/>
            <p:cNvSpPr/>
            <p:nvPr/>
          </p:nvSpPr>
          <p:spPr>
            <a:xfrm>
              <a:off x="7342822" y="2625090"/>
              <a:ext cx="57150" cy="57150"/>
            </a:xfrm>
            <a:prstGeom prst="ellipse">
              <a:avLst/>
            </a:prstGeom>
            <a:solidFill>
              <a:srgbClr val="334E68"/>
            </a:solidFill>
            <a:ln>
              <a:noFill/>
            </a:ln>
          </p:spPr>
        </p:sp>
        <p:sp>
          <p:nvSpPr>
            <p:cNvPr id="55" name="TextBox 55"/>
            <p:cNvSpPr txBox="1"/>
            <p:nvPr/>
          </p:nvSpPr>
          <p:spPr>
            <a:xfrm>
              <a:off x="7498270" y="2573179"/>
              <a:ext cx="3743706" cy="492252"/>
            </a:xfrm>
            <a:prstGeom prst="rect">
              <a:avLst/>
            </a:prstGeom>
            <a:noFill/>
            <a:ln>
              <a:noFill/>
            </a:ln>
          </p:spPr>
          <p:txBody>
            <a:bodyPr wrap="none" lIns="0" tIns="0" rIns="0" bIns="0" anchor="t" anchorCtr="0">
              <a:spAutoFit/>
            </a:bodyPr>
            <a:lstStyle/>
            <a:p>
              <a:pPr algn="l">
                <a:lnSpc>
                  <a:spcPts val="1912"/>
                </a:lnSpc>
              </a:pPr>
              <a:r>
                <a:rPr lang="zh-CN" sz="1280" dirty="0">
                  <a:solidFill>
                    <a:srgbClr val="1F2937"/>
                  </a:solidFill>
                  <a:latin typeface="+mn-lt"/>
                  <a:ea typeface="+mn-ea"/>
                  <a:cs typeface="+mn-cs"/>
                </a:rPr>
                <a:t>VPN 网关对数据包加密、转换目标地址，实现远程访</a:t>
              </a:r>
              <a:br/>
              <a:r>
                <a:rPr lang="zh-CN" sz="1280" dirty="0">
                  <a:solidFill>
                    <a:srgbClr val="1F2937"/>
                  </a:solidFill>
                  <a:latin typeface="+mn-lt"/>
                  <a:ea typeface="+mn-ea"/>
                  <a:cs typeface="+mn-cs"/>
                </a:rPr>
                <a:t>问</a:t>
              </a:r>
            </a:p>
          </p:txBody>
        </p:sp>
      </p:grpSp>
      <p:grpSp>
        <p:nvGrpSpPr>
          <p:cNvPr id="71" name="c2-flow-2"/>
          <p:cNvGrpSpPr/>
          <p:nvPr/>
        </p:nvGrpSpPr>
        <p:grpSpPr>
          <a:xfrm>
            <a:off x="7432358" y="3428048"/>
            <a:ext cx="3908108" cy="1889760"/>
            <a:chOff x="7432358" y="3428048"/>
            <a:chExt cx="3908108" cy="1889760"/>
          </a:xfrm>
        </p:grpSpPr>
        <p:sp>
          <p:nvSpPr>
            <p:cNvPr id="57" name="Freeform 57"/>
            <p:cNvSpPr/>
            <p:nvPr/>
          </p:nvSpPr>
          <p:spPr>
            <a:xfrm>
              <a:off x="9385935" y="3739515"/>
              <a:ext cx="9525" cy="60960"/>
            </a:xfrm>
            <a:custGeom>
              <a:avLst/>
              <a:gdLst/>
              <a:ahLst/>
              <a:cxnLst/>
              <a:rect l="l" t="t" r="r" b="b"/>
              <a:pathLst>
                <a:path w="9525" h="60960">
                  <a:moveTo>
                    <a:pt x="0" y="60960"/>
                  </a:moveTo>
                  <a:lnTo>
                    <a:pt x="0" y="0"/>
                  </a:lnTo>
                </a:path>
              </a:pathLst>
            </a:custGeom>
            <a:noFill/>
            <a:ln w="15240">
              <a:solidFill>
                <a:srgbClr val="5B6475"/>
              </a:solidFill>
            </a:ln>
          </p:spPr>
        </p:sp>
        <p:sp>
          <p:nvSpPr>
            <p:cNvPr id="58" name="Freeform 58"/>
            <p:cNvSpPr/>
            <p:nvPr/>
          </p:nvSpPr>
          <p:spPr>
            <a:xfrm>
              <a:off x="9333548" y="3739515"/>
              <a:ext cx="104775" cy="104775"/>
            </a:xfrm>
            <a:custGeom>
              <a:avLst/>
              <a:gdLst/>
              <a:ahLst/>
              <a:cxnLst/>
              <a:rect l="l" t="t" r="r" b="b"/>
              <a:pathLst>
                <a:path w="104775" h="104775">
                  <a:moveTo>
                    <a:pt x="52388" y="104775"/>
                  </a:moveTo>
                  <a:lnTo>
                    <a:pt x="0" y="0"/>
                  </a:lnTo>
                  <a:lnTo>
                    <a:pt x="104775" y="0"/>
                  </a:lnTo>
                  <a:close/>
                </a:path>
              </a:pathLst>
            </a:custGeom>
            <a:solidFill>
              <a:srgbClr val="5B6475"/>
            </a:solidFill>
            <a:ln>
              <a:noFill/>
            </a:ln>
          </p:spPr>
        </p:sp>
        <p:sp>
          <p:nvSpPr>
            <p:cNvPr id="59" name="Freeform 59"/>
            <p:cNvSpPr/>
            <p:nvPr/>
          </p:nvSpPr>
          <p:spPr>
            <a:xfrm>
              <a:off x="9385935" y="4334828"/>
              <a:ext cx="9525" cy="60960"/>
            </a:xfrm>
            <a:custGeom>
              <a:avLst/>
              <a:gdLst/>
              <a:ahLst/>
              <a:cxnLst/>
              <a:rect l="l" t="t" r="r" b="b"/>
              <a:pathLst>
                <a:path w="9525" h="60960">
                  <a:moveTo>
                    <a:pt x="0" y="60960"/>
                  </a:moveTo>
                  <a:lnTo>
                    <a:pt x="0" y="0"/>
                  </a:lnTo>
                </a:path>
              </a:pathLst>
            </a:custGeom>
            <a:noFill/>
            <a:ln w="15240">
              <a:solidFill>
                <a:srgbClr val="5B6475"/>
              </a:solidFill>
            </a:ln>
          </p:spPr>
        </p:sp>
        <p:sp>
          <p:nvSpPr>
            <p:cNvPr id="60" name="Freeform 60"/>
            <p:cNvSpPr/>
            <p:nvPr/>
          </p:nvSpPr>
          <p:spPr>
            <a:xfrm>
              <a:off x="9333548" y="4334828"/>
              <a:ext cx="104775" cy="104775"/>
            </a:xfrm>
            <a:custGeom>
              <a:avLst/>
              <a:gdLst/>
              <a:ahLst/>
              <a:cxnLst/>
              <a:rect l="l" t="t" r="r" b="b"/>
              <a:pathLst>
                <a:path w="104775" h="104775">
                  <a:moveTo>
                    <a:pt x="52388" y="104775"/>
                  </a:moveTo>
                  <a:lnTo>
                    <a:pt x="0" y="0"/>
                  </a:lnTo>
                  <a:lnTo>
                    <a:pt x="104775" y="0"/>
                  </a:lnTo>
                  <a:close/>
                </a:path>
              </a:pathLst>
            </a:custGeom>
            <a:solidFill>
              <a:srgbClr val="5B6475"/>
            </a:solidFill>
            <a:ln>
              <a:noFill/>
            </a:ln>
          </p:spPr>
        </p:sp>
        <p:sp>
          <p:nvSpPr>
            <p:cNvPr id="61" name="Freeform 61"/>
            <p:cNvSpPr/>
            <p:nvPr/>
          </p:nvSpPr>
          <p:spPr>
            <a:xfrm>
              <a:off x="9385935" y="4812030"/>
              <a:ext cx="9525" cy="28575"/>
            </a:xfrm>
            <a:custGeom>
              <a:avLst/>
              <a:gdLst/>
              <a:ahLst/>
              <a:cxnLst/>
              <a:rect l="l" t="t" r="r" b="b"/>
              <a:pathLst>
                <a:path w="9525" h="28575">
                  <a:moveTo>
                    <a:pt x="0" y="0"/>
                  </a:moveTo>
                  <a:lnTo>
                    <a:pt x="0" y="28575"/>
                  </a:lnTo>
                </a:path>
              </a:pathLst>
            </a:custGeom>
            <a:noFill/>
            <a:ln w="15240">
              <a:solidFill>
                <a:srgbClr val="5B6475"/>
              </a:solidFill>
            </a:ln>
          </p:spPr>
        </p:sp>
        <p:sp>
          <p:nvSpPr>
            <p:cNvPr id="62" name="Freeform 62"/>
            <p:cNvSpPr/>
            <p:nvPr/>
          </p:nvSpPr>
          <p:spPr>
            <a:xfrm>
              <a:off x="9333548" y="4840605"/>
              <a:ext cx="104775" cy="104775"/>
            </a:xfrm>
            <a:custGeom>
              <a:avLst/>
              <a:gdLst/>
              <a:ahLst/>
              <a:cxnLst/>
              <a:rect l="l" t="t" r="r" b="b"/>
              <a:pathLst>
                <a:path w="104775" h="104775">
                  <a:moveTo>
                    <a:pt x="52388" y="104775"/>
                  </a:moveTo>
                  <a:lnTo>
                    <a:pt x="0" y="0"/>
                  </a:lnTo>
                  <a:lnTo>
                    <a:pt x="104775" y="0"/>
                  </a:lnTo>
                  <a:close/>
                </a:path>
              </a:pathLst>
            </a:custGeom>
            <a:solidFill>
              <a:srgbClr val="5B6475"/>
            </a:solidFill>
            <a:ln>
              <a:noFill/>
            </a:ln>
          </p:spPr>
        </p:sp>
        <p:sp>
          <p:nvSpPr>
            <p:cNvPr id="63" name="Freeform 63"/>
            <p:cNvSpPr/>
            <p:nvPr/>
          </p:nvSpPr>
          <p:spPr>
            <a:xfrm>
              <a:off x="7432358" y="3428048"/>
              <a:ext cx="3908107" cy="372428"/>
            </a:xfrm>
            <a:custGeom>
              <a:avLst/>
              <a:gdLst/>
              <a:ahLst/>
              <a:cxnLst/>
              <a:rect l="l" t="t" r="r" b="b"/>
              <a:pathLst>
                <a:path w="3908107" h="372428">
                  <a:moveTo>
                    <a:pt x="133350" y="0"/>
                  </a:moveTo>
                  <a:lnTo>
                    <a:pt x="3908107" y="0"/>
                  </a:lnTo>
                  <a:lnTo>
                    <a:pt x="3774757" y="372428"/>
                  </a:lnTo>
                  <a:lnTo>
                    <a:pt x="0" y="372428"/>
                  </a:lnTo>
                  <a:close/>
                </a:path>
              </a:pathLst>
            </a:custGeom>
            <a:solidFill>
              <a:srgbClr val="E7EDF3"/>
            </a:solidFill>
            <a:ln w="13335">
              <a:solidFill>
                <a:srgbClr val="334E68"/>
              </a:solidFill>
            </a:ln>
          </p:spPr>
        </p:sp>
        <p:sp>
          <p:nvSpPr>
            <p:cNvPr id="64" name="Rectangle 64"/>
            <p:cNvSpPr/>
            <p:nvPr/>
          </p:nvSpPr>
          <p:spPr>
            <a:xfrm>
              <a:off x="7432358" y="3844290"/>
              <a:ext cx="3908108" cy="551498"/>
            </a:xfrm>
            <a:prstGeom prst="roundRect">
              <a:avLst>
                <a:gd name="adj" fmla="val 17271"/>
              </a:avLst>
            </a:prstGeom>
            <a:solidFill>
              <a:srgbClr val="FFFFFF"/>
            </a:solidFill>
            <a:ln w="15240">
              <a:solidFill>
                <a:srgbClr val="334E68"/>
              </a:solidFill>
            </a:ln>
          </p:spPr>
        </p:sp>
        <p:sp>
          <p:nvSpPr>
            <p:cNvPr id="65" name="Rectangle 65"/>
            <p:cNvSpPr/>
            <p:nvPr/>
          </p:nvSpPr>
          <p:spPr>
            <a:xfrm>
              <a:off x="7432358" y="4439602"/>
              <a:ext cx="3908108" cy="372428"/>
            </a:xfrm>
            <a:prstGeom prst="roundRect">
              <a:avLst>
                <a:gd name="adj" fmla="val 25575"/>
              </a:avLst>
            </a:prstGeom>
            <a:solidFill>
              <a:srgbClr val="E7EDF3"/>
            </a:solidFill>
            <a:ln w="19050">
              <a:solidFill>
                <a:srgbClr val="334E68"/>
              </a:solidFill>
            </a:ln>
          </p:spPr>
        </p:sp>
        <p:sp>
          <p:nvSpPr>
            <p:cNvPr id="66" name="Rectangle 66"/>
            <p:cNvSpPr/>
            <p:nvPr/>
          </p:nvSpPr>
          <p:spPr>
            <a:xfrm>
              <a:off x="7432358" y="4945380"/>
              <a:ext cx="3908108" cy="372428"/>
            </a:xfrm>
            <a:prstGeom prst="roundRect">
              <a:avLst>
                <a:gd name="adj" fmla="val 25575"/>
              </a:avLst>
            </a:prstGeom>
            <a:solidFill>
              <a:srgbClr val="FFFFFF"/>
            </a:solidFill>
            <a:ln w="15240">
              <a:solidFill>
                <a:srgbClr val="334E68"/>
              </a:solidFill>
            </a:ln>
          </p:spPr>
        </p:sp>
        <p:sp>
          <p:nvSpPr>
            <p:cNvPr id="67" name="TextBox 67"/>
            <p:cNvSpPr txBox="1"/>
            <p:nvPr/>
          </p:nvSpPr>
          <p:spPr>
            <a:xfrm>
              <a:off x="9097899" y="3540443"/>
              <a:ext cx="576072" cy="205359"/>
            </a:xfrm>
            <a:prstGeom prst="rect">
              <a:avLst/>
            </a:prstGeom>
            <a:noFill/>
            <a:ln>
              <a:noFill/>
            </a:ln>
          </p:spPr>
          <p:txBody>
            <a:bodyPr wrap="none" lIns="0" tIns="0" rIns="0" bIns="0" anchor="t" anchorCtr="0">
              <a:spAutoFit/>
            </a:bodyPr>
            <a:lstStyle/>
            <a:p>
              <a:pPr algn="ctr"/>
              <a:r>
                <a:rPr lang="zh-CN" sz="1050" dirty="0">
                  <a:solidFill>
                    <a:srgbClr val="1F2937"/>
                  </a:solidFill>
                  <a:latin typeface="+mn-lt"/>
                  <a:ea typeface="+mn-ea"/>
                  <a:cs typeface="+mn-cs"/>
                </a:rPr>
                <a:t>外地员工</a:t>
              </a:r>
            </a:p>
          </p:txBody>
        </p:sp>
        <p:sp>
          <p:nvSpPr>
            <p:cNvPr id="68" name="TextBox 68"/>
            <p:cNvSpPr txBox="1"/>
            <p:nvPr/>
          </p:nvSpPr>
          <p:spPr>
            <a:xfrm>
              <a:off x="8980551" y="3956685"/>
              <a:ext cx="810768" cy="385382"/>
            </a:xfrm>
            <a:prstGeom prst="rect">
              <a:avLst/>
            </a:prstGeom>
            <a:noFill/>
            <a:ln>
              <a:noFill/>
            </a:ln>
          </p:spPr>
          <p:txBody>
            <a:bodyPr wrap="none" lIns="0" tIns="0" rIns="0" bIns="0" anchor="t" anchorCtr="0">
              <a:spAutoFit/>
            </a:bodyPr>
            <a:lstStyle/>
            <a:p>
              <a:pPr algn="ctr">
                <a:lnSpc>
                  <a:spcPts val="1418"/>
                </a:lnSpc>
              </a:pPr>
              <a:r>
                <a:rPr lang="zh-CN" sz="1050" dirty="0">
                  <a:solidFill>
                    <a:srgbClr val="1F2937"/>
                  </a:solidFill>
                  <a:latin typeface="+mn-lt"/>
                  <a:ea typeface="+mn-ea"/>
                  <a:cs typeface="+mn-cs"/>
                </a:rPr>
                <a:t>互联网</a:t>
              </a:r>
              <a:br/>
              <a:r>
                <a:rPr lang="zh-CN" sz="1050" dirty="0">
                  <a:solidFill>
                    <a:srgbClr val="1F2937"/>
                  </a:solidFill>
                  <a:latin typeface="+mn-lt"/>
                  <a:ea typeface="+mn-ea"/>
                  <a:cs typeface="+mn-cs"/>
                </a:rPr>
                <a:t>（加密隧道）</a:t>
              </a:r>
            </a:p>
          </p:txBody>
        </p:sp>
        <p:sp>
          <p:nvSpPr>
            <p:cNvPr id="69" name="TextBox 69"/>
            <p:cNvSpPr txBox="1"/>
            <p:nvPr/>
          </p:nvSpPr>
          <p:spPr>
            <a:xfrm>
              <a:off x="9022956" y="4552950"/>
              <a:ext cx="725957" cy="205359"/>
            </a:xfrm>
            <a:prstGeom prst="rect">
              <a:avLst/>
            </a:prstGeom>
            <a:noFill/>
            <a:ln>
              <a:noFill/>
            </a:ln>
          </p:spPr>
          <p:txBody>
            <a:bodyPr wrap="none" lIns="0" tIns="0" rIns="0" bIns="0" anchor="t" anchorCtr="0">
              <a:spAutoFit/>
            </a:bodyPr>
            <a:lstStyle/>
            <a:p>
              <a:pPr algn="ctr"/>
              <a:r>
                <a:rPr lang="zh-CN" sz="1050" dirty="0">
                  <a:solidFill>
                    <a:srgbClr val="1F2937"/>
                  </a:solidFill>
                  <a:latin typeface="+mn-lt"/>
                  <a:ea typeface="+mn-ea"/>
                  <a:cs typeface="+mn-cs"/>
                </a:rPr>
                <a:t>VPN 服务器</a:t>
              </a:r>
            </a:p>
          </p:txBody>
        </p:sp>
        <p:sp>
          <p:nvSpPr>
            <p:cNvPr id="70" name="TextBox 70"/>
            <p:cNvSpPr txBox="1"/>
            <p:nvPr/>
          </p:nvSpPr>
          <p:spPr>
            <a:xfrm>
              <a:off x="9097899" y="5058728"/>
              <a:ext cx="576072" cy="205359"/>
            </a:xfrm>
            <a:prstGeom prst="rect">
              <a:avLst/>
            </a:prstGeom>
            <a:noFill/>
            <a:ln>
              <a:noFill/>
            </a:ln>
          </p:spPr>
          <p:txBody>
            <a:bodyPr wrap="none" lIns="0" tIns="0" rIns="0" bIns="0" anchor="t" anchorCtr="0">
              <a:spAutoFit/>
            </a:bodyPr>
            <a:lstStyle/>
            <a:p>
              <a:pPr algn="ctr"/>
              <a:r>
                <a:rPr lang="zh-CN" sz="1050" dirty="0">
                  <a:solidFill>
                    <a:srgbClr val="1F2937"/>
                  </a:solidFill>
                  <a:latin typeface="+mn-lt"/>
                  <a:ea typeface="+mn-ea"/>
                  <a:cs typeface="+mn-cs"/>
                </a:rPr>
                <a:t>企业内网</a:t>
              </a:r>
            </a:p>
          </p:txBody>
        </p:sp>
      </p:grpSp>
      <p:grpSp>
        <p:nvGrpSpPr>
          <p:cNvPr id="78" name="c2-callout-3"/>
          <p:cNvGrpSpPr/>
          <p:nvPr/>
        </p:nvGrpSpPr>
        <p:grpSpPr>
          <a:xfrm>
            <a:off x="7114222" y="5549265"/>
            <a:ext cx="4544378" cy="702945"/>
            <a:chOff x="7114222" y="5549265"/>
            <a:chExt cx="4544378" cy="702945"/>
          </a:xfrm>
        </p:grpSpPr>
        <p:sp>
          <p:nvSpPr>
            <p:cNvPr id="72" name="Rectangle 72"/>
            <p:cNvSpPr/>
            <p:nvPr/>
          </p:nvSpPr>
          <p:spPr>
            <a:xfrm>
              <a:off x="7114222" y="5549265"/>
              <a:ext cx="4544378" cy="702945"/>
            </a:xfrm>
            <a:prstGeom prst="roundRect">
              <a:avLst>
                <a:gd name="adj" fmla="val 16260"/>
              </a:avLst>
            </a:prstGeom>
            <a:solidFill>
              <a:srgbClr val="FDEEE7"/>
            </a:solidFill>
            <a:ln>
              <a:noFill/>
            </a:ln>
          </p:spPr>
        </p:sp>
        <p:grpSp>
          <p:nvGrpSpPr>
            <p:cNvPr id="76" name="Group 76"/>
            <p:cNvGrpSpPr/>
            <p:nvPr/>
          </p:nvGrpSpPr>
          <p:grpSpPr>
            <a:xfrm>
              <a:off x="7319010" y="5800725"/>
              <a:ext cx="200026" cy="200025"/>
              <a:chOff x="7319010" y="5800725"/>
              <a:chExt cx="200026" cy="200025"/>
            </a:xfrm>
          </p:grpSpPr>
          <p:sp>
            <p:nvSpPr>
              <p:cNvPr id="73" name="Freeform 73"/>
              <p:cNvSpPr/>
              <p:nvPr/>
            </p:nvSpPr>
            <p:spPr>
              <a:xfrm>
                <a:off x="7319010" y="5800725"/>
                <a:ext cx="200026" cy="100013"/>
              </a:xfrm>
              <a:custGeom>
                <a:avLst/>
                <a:gdLst/>
                <a:ahLst/>
                <a:cxnLst/>
                <a:rect l="l" t="t" r="r" b="b"/>
                <a:pathLst>
                  <a:path w="200026" h="100013">
                    <a:moveTo>
                      <a:pt x="0" y="100013"/>
                    </a:moveTo>
                    <a:lnTo>
                      <a:pt x="11113" y="100013"/>
                    </a:lnTo>
                    <a:moveTo>
                      <a:pt x="100013" y="0"/>
                    </a:moveTo>
                    <a:lnTo>
                      <a:pt x="100013" y="11113"/>
                    </a:lnTo>
                    <a:moveTo>
                      <a:pt x="188913" y="100013"/>
                    </a:moveTo>
                    <a:lnTo>
                      <a:pt x="200026" y="100013"/>
                    </a:lnTo>
                    <a:moveTo>
                      <a:pt x="28893" y="28893"/>
                    </a:moveTo>
                    <a:lnTo>
                      <a:pt x="36671" y="36671"/>
                    </a:lnTo>
                    <a:moveTo>
                      <a:pt x="171133" y="28893"/>
                    </a:moveTo>
                    <a:lnTo>
                      <a:pt x="163354" y="36671"/>
                    </a:lnTo>
                  </a:path>
                </a:pathLst>
              </a:custGeom>
              <a:noFill/>
              <a:ln w="22225">
                <a:solidFill>
                  <a:srgbClr val="C2410C"/>
                </a:solidFill>
              </a:ln>
            </p:spPr>
          </p:sp>
          <p:sp>
            <p:nvSpPr>
              <p:cNvPr id="74" name="Freeform 74"/>
              <p:cNvSpPr/>
              <p:nvPr/>
            </p:nvSpPr>
            <p:spPr>
              <a:xfrm>
                <a:off x="7358749" y="5845175"/>
                <a:ext cx="120548" cy="155575"/>
              </a:xfrm>
              <a:custGeom>
                <a:avLst/>
                <a:gdLst/>
                <a:ahLst/>
                <a:cxnLst/>
                <a:rect l="l" t="t" r="r" b="b"/>
                <a:pathLst>
                  <a:path w="120548" h="155575">
                    <a:moveTo>
                      <a:pt x="26937" y="100013"/>
                    </a:moveTo>
                    <a:cubicBezTo>
                      <a:pt x="7804" y="85663"/>
                      <a:pt x="0" y="60681"/>
                      <a:pt x="7563" y="37992"/>
                    </a:cubicBezTo>
                    <a:cubicBezTo>
                      <a:pt x="15126" y="15304"/>
                      <a:pt x="36358" y="0"/>
                      <a:pt x="60274" y="0"/>
                    </a:cubicBezTo>
                    <a:cubicBezTo>
                      <a:pt x="84190" y="0"/>
                      <a:pt x="105423" y="15304"/>
                      <a:pt x="112986" y="37992"/>
                    </a:cubicBezTo>
                    <a:cubicBezTo>
                      <a:pt x="120548" y="60681"/>
                      <a:pt x="112745" y="85663"/>
                      <a:pt x="93612" y="100013"/>
                    </a:cubicBezTo>
                    <a:cubicBezTo>
                      <a:pt x="84812" y="108723"/>
                      <a:pt x="80686" y="121103"/>
                      <a:pt x="82499" y="133350"/>
                    </a:cubicBezTo>
                    <a:cubicBezTo>
                      <a:pt x="82499" y="145625"/>
                      <a:pt x="72549" y="155575"/>
                      <a:pt x="60274" y="155575"/>
                    </a:cubicBezTo>
                    <a:cubicBezTo>
                      <a:pt x="48000" y="155575"/>
                      <a:pt x="38049" y="145625"/>
                      <a:pt x="38049" y="133350"/>
                    </a:cubicBezTo>
                    <a:cubicBezTo>
                      <a:pt x="39862" y="121103"/>
                      <a:pt x="35736" y="108723"/>
                      <a:pt x="26937" y="100013"/>
                    </a:cubicBezTo>
                  </a:path>
                </a:pathLst>
              </a:custGeom>
              <a:noFill/>
              <a:ln w="22225">
                <a:solidFill>
                  <a:srgbClr val="C2410C"/>
                </a:solidFill>
              </a:ln>
            </p:spPr>
          </p:sp>
          <p:sp>
            <p:nvSpPr>
              <p:cNvPr id="75" name="Freeform 75"/>
              <p:cNvSpPr/>
              <p:nvPr/>
            </p:nvSpPr>
            <p:spPr>
              <a:xfrm>
                <a:off x="7393464" y="5956301"/>
                <a:ext cx="51118" cy="9525"/>
              </a:xfrm>
              <a:custGeom>
                <a:avLst/>
                <a:gdLst/>
                <a:ahLst/>
                <a:cxnLst/>
                <a:rect l="l" t="t" r="r" b="b"/>
                <a:pathLst>
                  <a:path w="51118" h="9525">
                    <a:moveTo>
                      <a:pt x="0" y="0"/>
                    </a:moveTo>
                    <a:lnTo>
                      <a:pt x="51118" y="0"/>
                    </a:lnTo>
                  </a:path>
                </a:pathLst>
              </a:custGeom>
              <a:noFill/>
              <a:ln w="22225">
                <a:solidFill>
                  <a:srgbClr val="C2410C"/>
                </a:solidFill>
              </a:ln>
            </p:spPr>
          </p:sp>
        </p:grpSp>
        <p:sp>
          <p:nvSpPr>
            <p:cNvPr id="77" name="TextBox 77"/>
            <p:cNvSpPr txBox="1"/>
            <p:nvPr/>
          </p:nvSpPr>
          <p:spPr>
            <a:xfrm>
              <a:off x="7622096" y="5694521"/>
              <a:ext cx="3589274" cy="483680"/>
            </a:xfrm>
            <a:prstGeom prst="rect">
              <a:avLst/>
            </a:prstGeom>
            <a:noFill/>
            <a:ln>
              <a:noFill/>
            </a:ln>
          </p:spPr>
          <p:txBody>
            <a:bodyPr wrap="none" lIns="0" tIns="0" rIns="0" bIns="0" anchor="t" anchorCtr="0">
              <a:spAutoFit/>
            </a:bodyPr>
            <a:lstStyle/>
            <a:p>
              <a:pPr algn="l">
                <a:lnSpc>
                  <a:spcPts val="1845"/>
                </a:lnSpc>
              </a:pPr>
              <a:r>
                <a:rPr lang="zh-CN" sz="1280" dirty="0">
                  <a:solidFill>
                    <a:srgbClr val="C2410C"/>
                  </a:solidFill>
                  <a:latin typeface="+mn-lt"/>
                  <a:ea typeface="+mn-ea"/>
                  <a:cs typeface="+mn-cs"/>
                </a:rPr>
                <a:t>实质是用加密技术在公网上封装出一条数据通信隧</a:t>
              </a:r>
              <a:br/>
              <a:r>
                <a:rPr lang="zh-CN" sz="1280" dirty="0">
                  <a:solidFill>
                    <a:srgbClr val="C2410C"/>
                  </a:solidFill>
                  <a:latin typeface="+mn-lt"/>
                  <a:ea typeface="+mn-ea"/>
                  <a:cs typeface="+mn-cs"/>
                </a:rPr>
                <a:t>道，走的仍是公用链路。</a:t>
              </a:r>
            </a:p>
          </p:txBody>
        </p:sp>
      </p:grpSp>
      <p:grpSp>
        <p:nvGrpSpPr>
          <p:cNvPr id="81" name="footer"/>
          <p:cNvGrpSpPr/>
          <p:nvPr/>
        </p:nvGrpSpPr>
        <p:grpSpPr>
          <a:xfrm>
            <a:off x="528447" y="6581299"/>
            <a:ext cx="11135106" cy="190690"/>
            <a:chOff x="528447" y="6581299"/>
            <a:chExt cx="11135106" cy="190690"/>
          </a:xfrm>
        </p:grpSpPr>
        <p:sp>
          <p:nvSpPr>
            <p:cNvPr id="79" name="TextBox 79"/>
            <p:cNvSpPr txBox="1"/>
            <p:nvPr/>
          </p:nvSpPr>
          <p:spPr>
            <a:xfrm>
              <a:off x="528447" y="6581299"/>
              <a:ext cx="2120748"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并行与分布式计算 · 第7章 体系结构</a:t>
              </a:r>
            </a:p>
          </p:txBody>
        </p:sp>
        <p:sp>
          <p:nvSpPr>
            <p:cNvPr id="80" name="TextBox 80"/>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54</a:t>
              </a:r>
            </a:p>
          </p:txBody>
        </p:sp>
      </p:grpSp>
    </p:spTree>
  </p:cSld>
  <p:clrMapOvr>
    <a:masterClrMapping/>
  </p:clrMapOvr>
  <p:transition xmlns:p14="http://schemas.microsoft.com/office/powerpoint/2010/main" p14:dur="400">
    <p:fade/>
  </p:transition>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5803522" cy="909257"/>
            <a:chOff x="520446" y="342900"/>
            <a:chExt cx="5803522" cy="909257"/>
          </a:xfrm>
        </p:grpSpPr>
        <p:sp>
          <p:nvSpPr>
            <p:cNvPr id="2" name="Rectangle 2"/>
            <p:cNvSpPr/>
            <p:nvPr/>
          </p:nvSpPr>
          <p:spPr>
            <a:xfrm>
              <a:off x="533400" y="342900"/>
              <a:ext cx="1987868" cy="266700"/>
            </a:xfrm>
            <a:prstGeom prst="roundRect">
              <a:avLst>
                <a:gd name="adj" fmla="val 50000"/>
              </a:avLst>
            </a:prstGeom>
            <a:solidFill>
              <a:srgbClr val="E7EDF3"/>
            </a:solidFill>
            <a:ln>
              <a:noFill/>
            </a:ln>
          </p:spPr>
        </p:sp>
        <p:sp>
          <p:nvSpPr>
            <p:cNvPr id="3" name="TextBox 3"/>
            <p:cNvSpPr txBox="1"/>
            <p:nvPr/>
          </p:nvSpPr>
          <p:spPr>
            <a:xfrm>
              <a:off x="608957" y="407194"/>
              <a:ext cx="1835800"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第7章 体系结构 · 互连结构</a:t>
              </a:r>
            </a:p>
          </p:txBody>
        </p:sp>
        <p:sp>
          <p:nvSpPr>
            <p:cNvPr id="4" name="TextBox 4"/>
            <p:cNvSpPr txBox="1"/>
            <p:nvPr/>
          </p:nvSpPr>
          <p:spPr>
            <a:xfrm>
              <a:off x="520446" y="753428"/>
              <a:ext cx="5803522"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SDN：把控制平面从转发设备里拿出来</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40" name="c1-graph-1"/>
          <p:cNvGrpSpPr/>
          <p:nvPr/>
        </p:nvGrpSpPr>
        <p:grpSpPr>
          <a:xfrm>
            <a:off x="824865" y="1781175"/>
            <a:ext cx="4286251" cy="3825717"/>
            <a:chOff x="824865" y="1781175"/>
            <a:chExt cx="4286251" cy="3825717"/>
          </a:xfrm>
        </p:grpSpPr>
        <p:sp>
          <p:nvSpPr>
            <p:cNvPr id="7" name="Freeform 7"/>
            <p:cNvSpPr/>
            <p:nvPr/>
          </p:nvSpPr>
          <p:spPr>
            <a:xfrm>
              <a:off x="2967990" y="2345055"/>
              <a:ext cx="9525" cy="995362"/>
            </a:xfrm>
            <a:custGeom>
              <a:avLst/>
              <a:gdLst/>
              <a:ahLst/>
              <a:cxnLst/>
              <a:rect l="l" t="t" r="r" b="b"/>
              <a:pathLst>
                <a:path w="9525" h="995362">
                  <a:moveTo>
                    <a:pt x="0" y="0"/>
                  </a:moveTo>
                  <a:lnTo>
                    <a:pt x="0" y="995362"/>
                  </a:lnTo>
                </a:path>
              </a:pathLst>
            </a:custGeom>
            <a:noFill/>
            <a:ln w="17145">
              <a:solidFill>
                <a:srgbClr val="1F2937"/>
              </a:solidFill>
            </a:ln>
          </p:spPr>
        </p:sp>
        <p:sp>
          <p:nvSpPr>
            <p:cNvPr id="8" name="Freeform 8"/>
            <p:cNvSpPr/>
            <p:nvPr/>
          </p:nvSpPr>
          <p:spPr>
            <a:xfrm>
              <a:off x="2920365" y="3340418"/>
              <a:ext cx="95250" cy="95250"/>
            </a:xfrm>
            <a:custGeom>
              <a:avLst/>
              <a:gdLst/>
              <a:ahLst/>
              <a:cxnLst/>
              <a:rect l="l" t="t" r="r" b="b"/>
              <a:pathLst>
                <a:path w="95250" h="95250">
                  <a:moveTo>
                    <a:pt x="47625" y="95250"/>
                  </a:moveTo>
                  <a:lnTo>
                    <a:pt x="0" y="0"/>
                  </a:lnTo>
                  <a:lnTo>
                    <a:pt x="95250" y="0"/>
                  </a:lnTo>
                  <a:close/>
                </a:path>
              </a:pathLst>
            </a:custGeom>
            <a:solidFill>
              <a:srgbClr val="1F2937"/>
            </a:solidFill>
            <a:ln>
              <a:noFill/>
            </a:ln>
          </p:spPr>
        </p:sp>
        <p:sp>
          <p:nvSpPr>
            <p:cNvPr id="9" name="Freeform 9"/>
            <p:cNvSpPr/>
            <p:nvPr/>
          </p:nvSpPr>
          <p:spPr>
            <a:xfrm>
              <a:off x="2920365" y="2249805"/>
              <a:ext cx="95250" cy="95250"/>
            </a:xfrm>
            <a:custGeom>
              <a:avLst/>
              <a:gdLst/>
              <a:ahLst/>
              <a:cxnLst/>
              <a:rect l="l" t="t" r="r" b="b"/>
              <a:pathLst>
                <a:path w="95250" h="95250">
                  <a:moveTo>
                    <a:pt x="47625" y="0"/>
                  </a:moveTo>
                  <a:lnTo>
                    <a:pt x="95250" y="95250"/>
                  </a:lnTo>
                  <a:lnTo>
                    <a:pt x="0" y="95250"/>
                  </a:lnTo>
                  <a:close/>
                </a:path>
              </a:pathLst>
            </a:custGeom>
            <a:solidFill>
              <a:srgbClr val="1F2937"/>
            </a:solidFill>
            <a:ln>
              <a:noFill/>
            </a:ln>
          </p:spPr>
        </p:sp>
        <p:sp>
          <p:nvSpPr>
            <p:cNvPr id="10" name="Freeform 10"/>
            <p:cNvSpPr/>
            <p:nvPr/>
          </p:nvSpPr>
          <p:spPr>
            <a:xfrm>
              <a:off x="1425892" y="3970972"/>
              <a:ext cx="1245870" cy="1270635"/>
            </a:xfrm>
            <a:custGeom>
              <a:avLst/>
              <a:gdLst/>
              <a:ahLst/>
              <a:cxnLst/>
              <a:rect l="l" t="t" r="r" b="b"/>
              <a:pathLst>
                <a:path w="1245870" h="1270635">
                  <a:moveTo>
                    <a:pt x="1245870" y="0"/>
                  </a:moveTo>
                  <a:lnTo>
                    <a:pt x="0" y="1270635"/>
                  </a:lnTo>
                </a:path>
              </a:pathLst>
            </a:custGeom>
            <a:noFill/>
            <a:ln w="17145">
              <a:solidFill>
                <a:srgbClr val="1F2937"/>
              </a:solidFill>
            </a:ln>
          </p:spPr>
        </p:sp>
        <p:sp>
          <p:nvSpPr>
            <p:cNvPr id="11" name="Freeform 11"/>
            <p:cNvSpPr/>
            <p:nvPr/>
          </p:nvSpPr>
          <p:spPr>
            <a:xfrm>
              <a:off x="1359218" y="5208270"/>
              <a:ext cx="100965" cy="100965"/>
            </a:xfrm>
            <a:custGeom>
              <a:avLst/>
              <a:gdLst/>
              <a:ahLst/>
              <a:cxnLst/>
              <a:rect l="l" t="t" r="r" b="b"/>
              <a:pathLst>
                <a:path w="100965" h="100965">
                  <a:moveTo>
                    <a:pt x="0" y="100965"/>
                  </a:moveTo>
                  <a:lnTo>
                    <a:pt x="33338" y="0"/>
                  </a:lnTo>
                  <a:lnTo>
                    <a:pt x="100965" y="66675"/>
                  </a:lnTo>
                  <a:close/>
                </a:path>
              </a:pathLst>
            </a:custGeom>
            <a:solidFill>
              <a:srgbClr val="1F2937"/>
            </a:solidFill>
            <a:ln>
              <a:noFill/>
            </a:ln>
          </p:spPr>
        </p:sp>
        <p:sp>
          <p:nvSpPr>
            <p:cNvPr id="12" name="Freeform 12"/>
            <p:cNvSpPr/>
            <p:nvPr/>
          </p:nvSpPr>
          <p:spPr>
            <a:xfrm>
              <a:off x="2637472" y="3903345"/>
              <a:ext cx="100965" cy="100965"/>
            </a:xfrm>
            <a:custGeom>
              <a:avLst/>
              <a:gdLst/>
              <a:ahLst/>
              <a:cxnLst/>
              <a:rect l="l" t="t" r="r" b="b"/>
              <a:pathLst>
                <a:path w="100965" h="100965">
                  <a:moveTo>
                    <a:pt x="100965" y="0"/>
                  </a:moveTo>
                  <a:lnTo>
                    <a:pt x="68580" y="100965"/>
                  </a:lnTo>
                  <a:lnTo>
                    <a:pt x="0" y="34290"/>
                  </a:lnTo>
                  <a:close/>
                </a:path>
              </a:pathLst>
            </a:custGeom>
            <a:solidFill>
              <a:srgbClr val="1F2937"/>
            </a:solidFill>
            <a:ln>
              <a:noFill/>
            </a:ln>
          </p:spPr>
        </p:sp>
        <p:sp>
          <p:nvSpPr>
            <p:cNvPr id="13" name="Freeform 13"/>
            <p:cNvSpPr/>
            <p:nvPr/>
          </p:nvSpPr>
          <p:spPr>
            <a:xfrm>
              <a:off x="2461260" y="3993832"/>
              <a:ext cx="401003" cy="1224915"/>
            </a:xfrm>
            <a:custGeom>
              <a:avLst/>
              <a:gdLst/>
              <a:ahLst/>
              <a:cxnLst/>
              <a:rect l="l" t="t" r="r" b="b"/>
              <a:pathLst>
                <a:path w="401003" h="1224915">
                  <a:moveTo>
                    <a:pt x="401003" y="0"/>
                  </a:moveTo>
                  <a:lnTo>
                    <a:pt x="0" y="1224915"/>
                  </a:lnTo>
                </a:path>
              </a:pathLst>
            </a:custGeom>
            <a:noFill/>
            <a:ln w="17145">
              <a:solidFill>
                <a:srgbClr val="1F2937"/>
              </a:solidFill>
            </a:ln>
          </p:spPr>
        </p:sp>
        <p:sp>
          <p:nvSpPr>
            <p:cNvPr id="14" name="Freeform 14"/>
            <p:cNvSpPr/>
            <p:nvPr/>
          </p:nvSpPr>
          <p:spPr>
            <a:xfrm>
              <a:off x="2416492" y="5204460"/>
              <a:ext cx="90488" cy="104775"/>
            </a:xfrm>
            <a:custGeom>
              <a:avLst/>
              <a:gdLst/>
              <a:ahLst/>
              <a:cxnLst/>
              <a:rect l="l" t="t" r="r" b="b"/>
              <a:pathLst>
                <a:path w="90488" h="104775">
                  <a:moveTo>
                    <a:pt x="15240" y="104775"/>
                  </a:moveTo>
                  <a:lnTo>
                    <a:pt x="0" y="0"/>
                  </a:lnTo>
                  <a:lnTo>
                    <a:pt x="90488" y="29528"/>
                  </a:lnTo>
                  <a:close/>
                </a:path>
              </a:pathLst>
            </a:custGeom>
            <a:solidFill>
              <a:srgbClr val="1F2937"/>
            </a:solidFill>
            <a:ln>
              <a:noFill/>
            </a:ln>
          </p:spPr>
        </p:sp>
        <p:sp>
          <p:nvSpPr>
            <p:cNvPr id="15" name="Freeform 15"/>
            <p:cNvSpPr/>
            <p:nvPr/>
          </p:nvSpPr>
          <p:spPr>
            <a:xfrm>
              <a:off x="2816542" y="3903345"/>
              <a:ext cx="90488" cy="105727"/>
            </a:xfrm>
            <a:custGeom>
              <a:avLst/>
              <a:gdLst/>
              <a:ahLst/>
              <a:cxnLst/>
              <a:rect l="l" t="t" r="r" b="b"/>
              <a:pathLst>
                <a:path w="90488" h="105727">
                  <a:moveTo>
                    <a:pt x="75248" y="0"/>
                  </a:moveTo>
                  <a:lnTo>
                    <a:pt x="90488" y="105727"/>
                  </a:lnTo>
                  <a:lnTo>
                    <a:pt x="0" y="75247"/>
                  </a:lnTo>
                  <a:close/>
                </a:path>
              </a:pathLst>
            </a:custGeom>
            <a:solidFill>
              <a:srgbClr val="1F2937"/>
            </a:solidFill>
            <a:ln>
              <a:noFill/>
            </a:ln>
          </p:spPr>
        </p:sp>
        <p:sp>
          <p:nvSpPr>
            <p:cNvPr id="16" name="Freeform 16"/>
            <p:cNvSpPr/>
            <p:nvPr/>
          </p:nvSpPr>
          <p:spPr>
            <a:xfrm>
              <a:off x="3073718" y="3993832"/>
              <a:ext cx="401003" cy="1224915"/>
            </a:xfrm>
            <a:custGeom>
              <a:avLst/>
              <a:gdLst/>
              <a:ahLst/>
              <a:cxnLst/>
              <a:rect l="l" t="t" r="r" b="b"/>
              <a:pathLst>
                <a:path w="401003" h="1224915">
                  <a:moveTo>
                    <a:pt x="0" y="0"/>
                  </a:moveTo>
                  <a:lnTo>
                    <a:pt x="401003" y="1224915"/>
                  </a:lnTo>
                </a:path>
              </a:pathLst>
            </a:custGeom>
            <a:noFill/>
            <a:ln w="17145">
              <a:solidFill>
                <a:srgbClr val="1F2937"/>
              </a:solidFill>
            </a:ln>
          </p:spPr>
        </p:sp>
        <p:sp>
          <p:nvSpPr>
            <p:cNvPr id="17" name="Freeform 17"/>
            <p:cNvSpPr/>
            <p:nvPr/>
          </p:nvSpPr>
          <p:spPr>
            <a:xfrm>
              <a:off x="3429000" y="5204460"/>
              <a:ext cx="90488" cy="104775"/>
            </a:xfrm>
            <a:custGeom>
              <a:avLst/>
              <a:gdLst/>
              <a:ahLst/>
              <a:cxnLst/>
              <a:rect l="l" t="t" r="r" b="b"/>
              <a:pathLst>
                <a:path w="90488" h="104775">
                  <a:moveTo>
                    <a:pt x="75247" y="104775"/>
                  </a:moveTo>
                  <a:lnTo>
                    <a:pt x="0" y="29528"/>
                  </a:lnTo>
                  <a:lnTo>
                    <a:pt x="90488" y="0"/>
                  </a:lnTo>
                  <a:close/>
                </a:path>
              </a:pathLst>
            </a:custGeom>
            <a:solidFill>
              <a:srgbClr val="1F2937"/>
            </a:solidFill>
            <a:ln>
              <a:noFill/>
            </a:ln>
          </p:spPr>
        </p:sp>
        <p:sp>
          <p:nvSpPr>
            <p:cNvPr id="18" name="Freeform 18"/>
            <p:cNvSpPr/>
            <p:nvPr/>
          </p:nvSpPr>
          <p:spPr>
            <a:xfrm>
              <a:off x="3028950" y="3903345"/>
              <a:ext cx="90488" cy="105727"/>
            </a:xfrm>
            <a:custGeom>
              <a:avLst/>
              <a:gdLst/>
              <a:ahLst/>
              <a:cxnLst/>
              <a:rect l="l" t="t" r="r" b="b"/>
              <a:pathLst>
                <a:path w="90488" h="105727">
                  <a:moveTo>
                    <a:pt x="15240" y="0"/>
                  </a:moveTo>
                  <a:lnTo>
                    <a:pt x="90488" y="75247"/>
                  </a:lnTo>
                  <a:lnTo>
                    <a:pt x="0" y="105727"/>
                  </a:lnTo>
                  <a:close/>
                </a:path>
              </a:pathLst>
            </a:custGeom>
            <a:solidFill>
              <a:srgbClr val="1F2937"/>
            </a:solidFill>
            <a:ln>
              <a:noFill/>
            </a:ln>
          </p:spPr>
        </p:sp>
        <p:sp>
          <p:nvSpPr>
            <p:cNvPr id="19" name="Freeform 19"/>
            <p:cNvSpPr/>
            <p:nvPr/>
          </p:nvSpPr>
          <p:spPr>
            <a:xfrm>
              <a:off x="3264218" y="3970972"/>
              <a:ext cx="1245870" cy="1270635"/>
            </a:xfrm>
            <a:custGeom>
              <a:avLst/>
              <a:gdLst/>
              <a:ahLst/>
              <a:cxnLst/>
              <a:rect l="l" t="t" r="r" b="b"/>
              <a:pathLst>
                <a:path w="1245870" h="1270635">
                  <a:moveTo>
                    <a:pt x="0" y="0"/>
                  </a:moveTo>
                  <a:lnTo>
                    <a:pt x="1245870" y="1270635"/>
                  </a:lnTo>
                </a:path>
              </a:pathLst>
            </a:custGeom>
            <a:noFill/>
            <a:ln w="17145">
              <a:solidFill>
                <a:srgbClr val="1F2937"/>
              </a:solidFill>
            </a:ln>
          </p:spPr>
        </p:sp>
        <p:sp>
          <p:nvSpPr>
            <p:cNvPr id="20" name="Freeform 20"/>
            <p:cNvSpPr/>
            <p:nvPr/>
          </p:nvSpPr>
          <p:spPr>
            <a:xfrm>
              <a:off x="4475798" y="5208270"/>
              <a:ext cx="100965" cy="100965"/>
            </a:xfrm>
            <a:custGeom>
              <a:avLst/>
              <a:gdLst/>
              <a:ahLst/>
              <a:cxnLst/>
              <a:rect l="l" t="t" r="r" b="b"/>
              <a:pathLst>
                <a:path w="100965" h="100965">
                  <a:moveTo>
                    <a:pt x="100965" y="100965"/>
                  </a:moveTo>
                  <a:lnTo>
                    <a:pt x="0" y="66675"/>
                  </a:lnTo>
                  <a:lnTo>
                    <a:pt x="67628" y="0"/>
                  </a:lnTo>
                  <a:close/>
                </a:path>
              </a:pathLst>
            </a:custGeom>
            <a:solidFill>
              <a:srgbClr val="1F2937"/>
            </a:solidFill>
            <a:ln>
              <a:noFill/>
            </a:ln>
          </p:spPr>
        </p:sp>
        <p:sp>
          <p:nvSpPr>
            <p:cNvPr id="21" name="Freeform 21"/>
            <p:cNvSpPr/>
            <p:nvPr/>
          </p:nvSpPr>
          <p:spPr>
            <a:xfrm>
              <a:off x="3197542" y="3903345"/>
              <a:ext cx="100965" cy="100965"/>
            </a:xfrm>
            <a:custGeom>
              <a:avLst/>
              <a:gdLst/>
              <a:ahLst/>
              <a:cxnLst/>
              <a:rect l="l" t="t" r="r" b="b"/>
              <a:pathLst>
                <a:path w="100965" h="100965">
                  <a:moveTo>
                    <a:pt x="0" y="0"/>
                  </a:moveTo>
                  <a:lnTo>
                    <a:pt x="100965" y="34290"/>
                  </a:lnTo>
                  <a:lnTo>
                    <a:pt x="32385" y="100965"/>
                  </a:lnTo>
                  <a:close/>
                </a:path>
              </a:pathLst>
            </a:custGeom>
            <a:solidFill>
              <a:srgbClr val="1F2937"/>
            </a:solidFill>
            <a:ln>
              <a:noFill/>
            </a:ln>
          </p:spPr>
        </p:sp>
        <p:sp>
          <p:nvSpPr>
            <p:cNvPr id="22" name="Rectangle 22"/>
            <p:cNvSpPr/>
            <p:nvPr/>
          </p:nvSpPr>
          <p:spPr>
            <a:xfrm>
              <a:off x="1234440" y="1781175"/>
              <a:ext cx="3467100" cy="467678"/>
            </a:xfrm>
            <a:prstGeom prst="roundRect">
              <a:avLst>
                <a:gd name="adj" fmla="val 20367"/>
              </a:avLst>
            </a:prstGeom>
            <a:solidFill>
              <a:srgbClr val="E7EDF3"/>
            </a:solidFill>
            <a:ln w="17145">
              <a:solidFill>
                <a:srgbClr val="334E68"/>
              </a:solidFill>
            </a:ln>
          </p:spPr>
        </p:sp>
        <p:sp>
          <p:nvSpPr>
            <p:cNvPr id="23" name="Rectangle 23"/>
            <p:cNvSpPr/>
            <p:nvPr/>
          </p:nvSpPr>
          <p:spPr>
            <a:xfrm>
              <a:off x="1234440" y="3435668"/>
              <a:ext cx="3467100" cy="467678"/>
            </a:xfrm>
            <a:prstGeom prst="roundRect">
              <a:avLst>
                <a:gd name="adj" fmla="val 20367"/>
              </a:avLst>
            </a:prstGeom>
            <a:solidFill>
              <a:srgbClr val="FDEEE7"/>
            </a:solidFill>
            <a:ln w="17145">
              <a:solidFill>
                <a:srgbClr val="F26B3A"/>
              </a:solidFill>
            </a:ln>
          </p:spPr>
        </p:sp>
        <p:sp>
          <p:nvSpPr>
            <p:cNvPr id="24" name="Rectangle 24"/>
            <p:cNvSpPr/>
            <p:nvPr/>
          </p:nvSpPr>
          <p:spPr>
            <a:xfrm>
              <a:off x="824865" y="5309235"/>
              <a:ext cx="780098" cy="294322"/>
            </a:xfrm>
            <a:prstGeom prst="roundRect">
              <a:avLst>
                <a:gd name="adj" fmla="val 32362"/>
              </a:avLst>
            </a:prstGeom>
            <a:solidFill>
              <a:srgbClr val="FFFFFF"/>
            </a:solidFill>
            <a:ln w="17145">
              <a:solidFill>
                <a:srgbClr val="334E68"/>
              </a:solidFill>
            </a:ln>
          </p:spPr>
        </p:sp>
        <p:sp>
          <p:nvSpPr>
            <p:cNvPr id="25" name="Rectangle 25"/>
            <p:cNvSpPr/>
            <p:nvPr/>
          </p:nvSpPr>
          <p:spPr>
            <a:xfrm>
              <a:off x="1993582" y="5309235"/>
              <a:ext cx="780098" cy="294322"/>
            </a:xfrm>
            <a:prstGeom prst="roundRect">
              <a:avLst>
                <a:gd name="adj" fmla="val 32362"/>
              </a:avLst>
            </a:prstGeom>
            <a:solidFill>
              <a:srgbClr val="FFFFFF"/>
            </a:solidFill>
            <a:ln w="17145">
              <a:solidFill>
                <a:srgbClr val="334E68"/>
              </a:solidFill>
            </a:ln>
          </p:spPr>
        </p:sp>
        <p:sp>
          <p:nvSpPr>
            <p:cNvPr id="26" name="Rectangle 26"/>
            <p:cNvSpPr/>
            <p:nvPr/>
          </p:nvSpPr>
          <p:spPr>
            <a:xfrm>
              <a:off x="3162300" y="5309235"/>
              <a:ext cx="780098" cy="294322"/>
            </a:xfrm>
            <a:prstGeom prst="roundRect">
              <a:avLst>
                <a:gd name="adj" fmla="val 32362"/>
              </a:avLst>
            </a:prstGeom>
            <a:solidFill>
              <a:srgbClr val="FFFFFF"/>
            </a:solidFill>
            <a:ln w="17145">
              <a:solidFill>
                <a:srgbClr val="334E68"/>
              </a:solidFill>
            </a:ln>
          </p:spPr>
        </p:sp>
        <p:sp>
          <p:nvSpPr>
            <p:cNvPr id="27" name="Rectangle 27"/>
            <p:cNvSpPr/>
            <p:nvPr/>
          </p:nvSpPr>
          <p:spPr>
            <a:xfrm>
              <a:off x="4331018" y="5309235"/>
              <a:ext cx="780098" cy="294322"/>
            </a:xfrm>
            <a:prstGeom prst="roundRect">
              <a:avLst>
                <a:gd name="adj" fmla="val 32362"/>
              </a:avLst>
            </a:prstGeom>
            <a:solidFill>
              <a:srgbClr val="FFFFFF"/>
            </a:solidFill>
            <a:ln w="17145">
              <a:solidFill>
                <a:srgbClr val="334E68"/>
              </a:solidFill>
            </a:ln>
          </p:spPr>
        </p:sp>
        <p:sp>
          <p:nvSpPr>
            <p:cNvPr id="28" name="TextBox 28"/>
            <p:cNvSpPr txBox="1"/>
            <p:nvPr/>
          </p:nvSpPr>
          <p:spPr>
            <a:xfrm>
              <a:off x="2283790" y="1855946"/>
              <a:ext cx="1368400" cy="220028"/>
            </a:xfrm>
            <a:prstGeom prst="rect">
              <a:avLst/>
            </a:prstGeom>
            <a:noFill/>
            <a:ln>
              <a:noFill/>
            </a:ln>
          </p:spPr>
          <p:txBody>
            <a:bodyPr wrap="none" lIns="0" tIns="0" rIns="0" bIns="0" anchor="t" anchorCtr="0">
              <a:spAutoFit/>
            </a:bodyPr>
            <a:lstStyle/>
            <a:p>
              <a:pPr algn="ctr"/>
              <a:r>
                <a:rPr lang="zh-CN" sz="1120" b="1" dirty="0">
                  <a:solidFill>
                    <a:srgbClr val="243B53"/>
                  </a:solidFill>
                  <a:latin typeface="+mn-lt"/>
                  <a:ea typeface="+mn-ea"/>
                  <a:cs typeface="+mn-cs"/>
                </a:rPr>
                <a:t>管理平面：网络应用</a:t>
              </a:r>
            </a:p>
          </p:txBody>
        </p:sp>
        <p:sp>
          <p:nvSpPr>
            <p:cNvPr id="29" name="TextBox 29"/>
            <p:cNvSpPr txBox="1"/>
            <p:nvPr/>
          </p:nvSpPr>
          <p:spPr>
            <a:xfrm>
              <a:off x="2133016" y="2035016"/>
              <a:ext cx="1669948" cy="220028"/>
            </a:xfrm>
            <a:prstGeom prst="rect">
              <a:avLst/>
            </a:prstGeom>
            <a:noFill/>
            <a:ln>
              <a:noFill/>
            </a:ln>
          </p:spPr>
          <p:txBody>
            <a:bodyPr wrap="none" lIns="0" tIns="0" rIns="0" bIns="0" anchor="t" anchorCtr="0">
              <a:spAutoFit/>
            </a:bodyPr>
            <a:lstStyle/>
            <a:p>
              <a:pPr algn="ctr"/>
              <a:r>
                <a:rPr lang="zh-CN" sz="1120" b="1" dirty="0">
                  <a:solidFill>
                    <a:srgbClr val="243B53"/>
                  </a:solidFill>
                  <a:latin typeface="+mn-lt"/>
                  <a:ea typeface="+mn-ea"/>
                  <a:cs typeface="+mn-cs"/>
                </a:rPr>
                <a:t>路由、负载均衡、防火墙</a:t>
              </a:r>
            </a:p>
          </p:txBody>
        </p:sp>
        <p:sp>
          <p:nvSpPr>
            <p:cNvPr id="30" name="TextBox 30"/>
            <p:cNvSpPr txBox="1"/>
            <p:nvPr/>
          </p:nvSpPr>
          <p:spPr>
            <a:xfrm>
              <a:off x="2196085" y="3510439"/>
              <a:ext cx="1543810" cy="220028"/>
            </a:xfrm>
            <a:prstGeom prst="rect">
              <a:avLst/>
            </a:prstGeom>
            <a:noFill/>
            <a:ln>
              <a:noFill/>
            </a:ln>
          </p:spPr>
          <p:txBody>
            <a:bodyPr wrap="none" lIns="0" tIns="0" rIns="0" bIns="0" anchor="t" anchorCtr="0">
              <a:spAutoFit/>
            </a:bodyPr>
            <a:lstStyle/>
            <a:p>
              <a:pPr algn="ctr"/>
              <a:r>
                <a:rPr lang="zh-CN" sz="1120" b="1" dirty="0">
                  <a:solidFill>
                    <a:srgbClr val="1F2937"/>
                  </a:solidFill>
                  <a:latin typeface="+mn-lt"/>
                  <a:ea typeface="+mn-ea"/>
                  <a:cs typeface="+mn-cs"/>
                </a:rPr>
                <a:t>控制平面：SDN 控制器</a:t>
              </a:r>
            </a:p>
          </p:txBody>
        </p:sp>
        <p:sp>
          <p:nvSpPr>
            <p:cNvPr id="31" name="TextBox 31"/>
            <p:cNvSpPr txBox="1"/>
            <p:nvPr/>
          </p:nvSpPr>
          <p:spPr>
            <a:xfrm>
              <a:off x="2133016" y="3688556"/>
              <a:ext cx="1669948" cy="220028"/>
            </a:xfrm>
            <a:prstGeom prst="rect">
              <a:avLst/>
            </a:prstGeom>
            <a:noFill/>
            <a:ln>
              <a:noFill/>
            </a:ln>
          </p:spPr>
          <p:txBody>
            <a:bodyPr wrap="none" lIns="0" tIns="0" rIns="0" bIns="0" anchor="t" anchorCtr="0">
              <a:spAutoFit/>
            </a:bodyPr>
            <a:lstStyle/>
            <a:p>
              <a:pPr algn="ctr"/>
              <a:r>
                <a:rPr lang="zh-CN" sz="1120" b="1" dirty="0">
                  <a:solidFill>
                    <a:srgbClr val="1F2937"/>
                  </a:solidFill>
                  <a:latin typeface="+mn-lt"/>
                  <a:ea typeface="+mn-ea"/>
                  <a:cs typeface="+mn-cs"/>
                </a:rPr>
                <a:t>逻辑集中，掌握全局视图</a:t>
              </a:r>
            </a:p>
          </p:txBody>
        </p:sp>
        <p:sp>
          <p:nvSpPr>
            <p:cNvPr id="32" name="TextBox 32"/>
            <p:cNvSpPr txBox="1"/>
            <p:nvPr/>
          </p:nvSpPr>
          <p:spPr>
            <a:xfrm>
              <a:off x="983513" y="5386864"/>
              <a:ext cx="463753" cy="220028"/>
            </a:xfrm>
            <a:prstGeom prst="rect">
              <a:avLst/>
            </a:prstGeom>
            <a:noFill/>
            <a:ln>
              <a:noFill/>
            </a:ln>
          </p:spPr>
          <p:txBody>
            <a:bodyPr wrap="none" lIns="0" tIns="0" rIns="0" bIns="0" anchor="t" anchorCtr="0">
              <a:spAutoFit/>
            </a:bodyPr>
            <a:lstStyle/>
            <a:p>
              <a:pPr algn="ctr"/>
              <a:r>
                <a:rPr lang="zh-CN" sz="1120" b="1" dirty="0">
                  <a:solidFill>
                    <a:srgbClr val="1F2937"/>
                  </a:solidFill>
                  <a:latin typeface="+mn-lt"/>
                  <a:ea typeface="+mn-ea"/>
                  <a:cs typeface="+mn-cs"/>
                </a:rPr>
                <a:t>交换机</a:t>
              </a:r>
            </a:p>
          </p:txBody>
        </p:sp>
        <p:sp>
          <p:nvSpPr>
            <p:cNvPr id="33" name="TextBox 33"/>
            <p:cNvSpPr txBox="1"/>
            <p:nvPr/>
          </p:nvSpPr>
          <p:spPr>
            <a:xfrm>
              <a:off x="2152231" y="5386864"/>
              <a:ext cx="463753" cy="220028"/>
            </a:xfrm>
            <a:prstGeom prst="rect">
              <a:avLst/>
            </a:prstGeom>
            <a:noFill/>
            <a:ln>
              <a:noFill/>
            </a:ln>
          </p:spPr>
          <p:txBody>
            <a:bodyPr wrap="none" lIns="0" tIns="0" rIns="0" bIns="0" anchor="t" anchorCtr="0">
              <a:spAutoFit/>
            </a:bodyPr>
            <a:lstStyle/>
            <a:p>
              <a:pPr algn="ctr"/>
              <a:r>
                <a:rPr lang="zh-CN" sz="1120" b="1" dirty="0">
                  <a:solidFill>
                    <a:srgbClr val="1F2937"/>
                  </a:solidFill>
                  <a:latin typeface="+mn-lt"/>
                  <a:ea typeface="+mn-ea"/>
                  <a:cs typeface="+mn-cs"/>
                </a:rPr>
                <a:t>交换机</a:t>
              </a:r>
            </a:p>
          </p:txBody>
        </p:sp>
        <p:sp>
          <p:nvSpPr>
            <p:cNvPr id="34" name="TextBox 34"/>
            <p:cNvSpPr txBox="1"/>
            <p:nvPr/>
          </p:nvSpPr>
          <p:spPr>
            <a:xfrm>
              <a:off x="3319996" y="5386864"/>
              <a:ext cx="463753" cy="220028"/>
            </a:xfrm>
            <a:prstGeom prst="rect">
              <a:avLst/>
            </a:prstGeom>
            <a:noFill/>
            <a:ln>
              <a:noFill/>
            </a:ln>
          </p:spPr>
          <p:txBody>
            <a:bodyPr wrap="none" lIns="0" tIns="0" rIns="0" bIns="0" anchor="t" anchorCtr="0">
              <a:spAutoFit/>
            </a:bodyPr>
            <a:lstStyle/>
            <a:p>
              <a:pPr algn="ctr"/>
              <a:r>
                <a:rPr lang="zh-CN" sz="1120" b="1" dirty="0">
                  <a:solidFill>
                    <a:srgbClr val="1F2937"/>
                  </a:solidFill>
                  <a:latin typeface="+mn-lt"/>
                  <a:ea typeface="+mn-ea"/>
                  <a:cs typeface="+mn-cs"/>
                </a:rPr>
                <a:t>交换机</a:t>
              </a:r>
            </a:p>
          </p:txBody>
        </p:sp>
        <p:sp>
          <p:nvSpPr>
            <p:cNvPr id="35" name="TextBox 35"/>
            <p:cNvSpPr txBox="1"/>
            <p:nvPr/>
          </p:nvSpPr>
          <p:spPr>
            <a:xfrm>
              <a:off x="4488713" y="5386864"/>
              <a:ext cx="463753" cy="220028"/>
            </a:xfrm>
            <a:prstGeom prst="rect">
              <a:avLst/>
            </a:prstGeom>
            <a:noFill/>
            <a:ln>
              <a:noFill/>
            </a:ln>
          </p:spPr>
          <p:txBody>
            <a:bodyPr wrap="none" lIns="0" tIns="0" rIns="0" bIns="0" anchor="t" anchorCtr="0">
              <a:spAutoFit/>
            </a:bodyPr>
            <a:lstStyle/>
            <a:p>
              <a:pPr algn="ctr"/>
              <a:r>
                <a:rPr lang="zh-CN" sz="1120" b="1" dirty="0">
                  <a:solidFill>
                    <a:srgbClr val="1F2937"/>
                  </a:solidFill>
                  <a:latin typeface="+mn-lt"/>
                  <a:ea typeface="+mn-ea"/>
                  <a:cs typeface="+mn-cs"/>
                </a:rPr>
                <a:t>交换机</a:t>
              </a:r>
            </a:p>
          </p:txBody>
        </p:sp>
        <p:sp>
          <p:nvSpPr>
            <p:cNvPr id="36" name="Rectangle 36"/>
            <p:cNvSpPr/>
            <p:nvPr/>
          </p:nvSpPr>
          <p:spPr>
            <a:xfrm>
              <a:off x="2721292" y="2764155"/>
              <a:ext cx="492442" cy="146685"/>
            </a:xfrm>
            <a:prstGeom prst="roundRect">
              <a:avLst>
                <a:gd name="adj" fmla="val 25974"/>
              </a:avLst>
            </a:prstGeom>
            <a:solidFill>
              <a:srgbClr val="FFFFFF"/>
            </a:solidFill>
            <a:ln>
              <a:noFill/>
            </a:ln>
          </p:spPr>
        </p:sp>
        <p:sp>
          <p:nvSpPr>
            <p:cNvPr id="37" name="TextBox 37"/>
            <p:cNvSpPr txBox="1"/>
            <p:nvPr/>
          </p:nvSpPr>
          <p:spPr>
            <a:xfrm>
              <a:off x="2742451" y="2793206"/>
              <a:ext cx="451079" cy="161925"/>
            </a:xfrm>
            <a:prstGeom prst="rect">
              <a:avLst/>
            </a:prstGeom>
            <a:noFill/>
            <a:ln>
              <a:noFill/>
            </a:ln>
          </p:spPr>
          <p:txBody>
            <a:bodyPr wrap="none" lIns="0" tIns="0" rIns="0" bIns="0" anchor="t" anchorCtr="0">
              <a:spAutoFit/>
            </a:bodyPr>
            <a:lstStyle/>
            <a:p>
              <a:pPr algn="ctr"/>
              <a:r>
                <a:rPr lang="zh-CN" sz="820" dirty="0">
                  <a:solidFill>
                    <a:srgbClr val="C2410C"/>
                  </a:solidFill>
                  <a:latin typeface="+mn-lt"/>
                  <a:ea typeface="+mn-ea"/>
                  <a:cs typeface="+mn-cs"/>
                </a:rPr>
                <a:t>北向接口</a:t>
              </a:r>
            </a:p>
          </p:txBody>
        </p:sp>
        <p:sp>
          <p:nvSpPr>
            <p:cNvPr id="38" name="Rectangle 38"/>
            <p:cNvSpPr/>
            <p:nvPr/>
          </p:nvSpPr>
          <p:spPr>
            <a:xfrm>
              <a:off x="2415540" y="4528185"/>
              <a:ext cx="492442" cy="146685"/>
            </a:xfrm>
            <a:prstGeom prst="roundRect">
              <a:avLst>
                <a:gd name="adj" fmla="val 25974"/>
              </a:avLst>
            </a:prstGeom>
            <a:solidFill>
              <a:srgbClr val="FFFFFF"/>
            </a:solidFill>
            <a:ln>
              <a:noFill/>
            </a:ln>
          </p:spPr>
        </p:sp>
        <p:sp>
          <p:nvSpPr>
            <p:cNvPr id="39" name="TextBox 39"/>
            <p:cNvSpPr txBox="1"/>
            <p:nvPr/>
          </p:nvSpPr>
          <p:spPr>
            <a:xfrm>
              <a:off x="2435746" y="4557236"/>
              <a:ext cx="451079" cy="161925"/>
            </a:xfrm>
            <a:prstGeom prst="rect">
              <a:avLst/>
            </a:prstGeom>
            <a:noFill/>
            <a:ln>
              <a:noFill/>
            </a:ln>
          </p:spPr>
          <p:txBody>
            <a:bodyPr wrap="none" lIns="0" tIns="0" rIns="0" bIns="0" anchor="t" anchorCtr="0">
              <a:spAutoFit/>
            </a:bodyPr>
            <a:lstStyle/>
            <a:p>
              <a:pPr algn="ctr"/>
              <a:r>
                <a:rPr lang="zh-CN" sz="820" dirty="0">
                  <a:solidFill>
                    <a:srgbClr val="C2410C"/>
                  </a:solidFill>
                  <a:latin typeface="+mn-lt"/>
                  <a:ea typeface="+mn-ea"/>
                  <a:cs typeface="+mn-cs"/>
                </a:rPr>
                <a:t>南向接口</a:t>
              </a:r>
            </a:p>
          </p:txBody>
        </p:sp>
      </p:grpSp>
      <p:grpSp>
        <p:nvGrpSpPr>
          <p:cNvPr id="42" name="c1-text-2"/>
          <p:cNvGrpSpPr/>
          <p:nvPr/>
        </p:nvGrpSpPr>
        <p:grpSpPr>
          <a:xfrm>
            <a:off x="527685" y="6186964"/>
            <a:ext cx="4082339" cy="220028"/>
            <a:chOff x="527685" y="6186964"/>
            <a:chExt cx="4082339" cy="220028"/>
          </a:xfrm>
        </p:grpSpPr>
        <p:sp>
          <p:nvSpPr>
            <p:cNvPr id="41" name="TextBox 41"/>
            <p:cNvSpPr txBox="1"/>
            <p:nvPr/>
          </p:nvSpPr>
          <p:spPr>
            <a:xfrm>
              <a:off x="527685" y="6186964"/>
              <a:ext cx="4082339" cy="220028"/>
            </a:xfrm>
            <a:prstGeom prst="rect">
              <a:avLst/>
            </a:prstGeom>
            <a:noFill/>
            <a:ln>
              <a:noFill/>
            </a:ln>
          </p:spPr>
          <p:txBody>
            <a:bodyPr wrap="none" lIns="0" tIns="0" rIns="0" bIns="0" anchor="t" anchorCtr="0">
              <a:spAutoFit/>
            </a:bodyPr>
            <a:lstStyle/>
            <a:p>
              <a:pPr algn="l"/>
              <a:r>
                <a:rPr lang="zh-CN" sz="1120" dirty="0">
                  <a:solidFill>
                    <a:srgbClr val="5B6475"/>
                  </a:solidFill>
                  <a:latin typeface="+mn-lt"/>
                  <a:ea typeface="+mn-ea"/>
                  <a:cs typeface="+mn-cs"/>
                </a:rPr>
                <a:t>最下一层交换机组成数据平面，只按控制器下发的规则转发。</a:t>
              </a:r>
            </a:p>
          </p:txBody>
        </p:sp>
      </p:grpSp>
      <p:grpSp>
        <p:nvGrpSpPr>
          <p:cNvPr id="67" name="c2-table-1"/>
          <p:cNvGrpSpPr/>
          <p:nvPr/>
        </p:nvGrpSpPr>
        <p:grpSpPr>
          <a:xfrm>
            <a:off x="5707380" y="1524000"/>
            <a:ext cx="5951220" cy="2828925"/>
            <a:chOff x="5707380" y="1524000"/>
            <a:chExt cx="5951220" cy="2828925"/>
          </a:xfrm>
        </p:grpSpPr>
        <p:sp>
          <p:nvSpPr>
            <p:cNvPr id="43" name="Rectangle 43"/>
            <p:cNvSpPr/>
            <p:nvPr/>
          </p:nvSpPr>
          <p:spPr>
            <a:xfrm>
              <a:off x="5707380" y="1524000"/>
              <a:ext cx="5951220" cy="405765"/>
            </a:xfrm>
            <a:prstGeom prst="rect">
              <a:avLst/>
            </a:prstGeom>
            <a:solidFill>
              <a:srgbClr val="334E68"/>
            </a:solidFill>
            <a:ln>
              <a:noFill/>
            </a:ln>
          </p:spPr>
        </p:sp>
        <p:sp>
          <p:nvSpPr>
            <p:cNvPr id="44" name="TextBox 44"/>
            <p:cNvSpPr txBox="1"/>
            <p:nvPr/>
          </p:nvSpPr>
          <p:spPr>
            <a:xfrm>
              <a:off x="6010808" y="1648301"/>
              <a:ext cx="463753"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对比项</a:t>
              </a:r>
            </a:p>
          </p:txBody>
        </p:sp>
        <p:sp>
          <p:nvSpPr>
            <p:cNvPr id="45" name="TextBox 45"/>
            <p:cNvSpPr txBox="1"/>
            <p:nvPr/>
          </p:nvSpPr>
          <p:spPr>
            <a:xfrm>
              <a:off x="7690879" y="1648301"/>
              <a:ext cx="614528"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传统网络</a:t>
              </a:r>
            </a:p>
          </p:txBody>
        </p:sp>
        <p:sp>
          <p:nvSpPr>
            <p:cNvPr id="46" name="TextBox 46"/>
            <p:cNvSpPr txBox="1"/>
            <p:nvPr/>
          </p:nvSpPr>
          <p:spPr>
            <a:xfrm>
              <a:off x="10294731" y="1648301"/>
              <a:ext cx="287432" cy="220028"/>
            </a:xfrm>
            <a:prstGeom prst="rect">
              <a:avLst/>
            </a:prstGeom>
            <a:noFill/>
            <a:ln>
              <a:noFill/>
            </a:ln>
          </p:spPr>
          <p:txBody>
            <a:bodyPr wrap="none" lIns="0" tIns="0" rIns="0" bIns="0" anchor="t" anchorCtr="0">
              <a:spAutoFit/>
            </a:bodyPr>
            <a:lstStyle/>
            <a:p>
              <a:pPr algn="ctr"/>
              <a:r>
                <a:rPr lang="en-US" sz="1120" b="1" dirty="0">
                  <a:solidFill>
                    <a:srgbClr val="FFFFFF"/>
                  </a:solidFill>
                  <a:latin typeface="+mn-lt"/>
                  <a:ea typeface="+mn-ea"/>
                  <a:cs typeface="+mn-cs"/>
                </a:rPr>
                <a:t>SDN</a:t>
              </a:r>
            </a:p>
          </p:txBody>
        </p:sp>
        <p:sp>
          <p:nvSpPr>
            <p:cNvPr id="47" name="TextBox 47"/>
            <p:cNvSpPr txBox="1"/>
            <p:nvPr/>
          </p:nvSpPr>
          <p:spPr>
            <a:xfrm>
              <a:off x="5807392" y="2154079"/>
              <a:ext cx="765302"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控制与转发</a:t>
              </a:r>
            </a:p>
          </p:txBody>
        </p:sp>
        <p:sp>
          <p:nvSpPr>
            <p:cNvPr id="48" name="TextBox 48"/>
            <p:cNvSpPr txBox="1"/>
            <p:nvPr/>
          </p:nvSpPr>
          <p:spPr>
            <a:xfrm>
              <a:off x="6878955" y="2054066"/>
              <a:ext cx="2002790" cy="420052"/>
            </a:xfrm>
            <a:prstGeom prst="rect">
              <a:avLst/>
            </a:prstGeom>
            <a:noFill/>
            <a:ln>
              <a:noFill/>
            </a:ln>
          </p:spPr>
          <p:txBody>
            <a:bodyPr wrap="none" lIns="0" tIns="0" rIns="0" bIns="0" anchor="t" anchorCtr="0">
              <a:spAutoFit/>
            </a:bodyPr>
            <a:lstStyle/>
            <a:p>
              <a:pPr algn="l">
                <a:lnSpc>
                  <a:spcPts val="1575"/>
                </a:lnSpc>
              </a:pPr>
              <a:r>
                <a:rPr lang="zh-CN" sz="1120" dirty="0">
                  <a:solidFill>
                    <a:srgbClr val="1F2937"/>
                  </a:solidFill>
                  <a:latin typeface="+mn-lt"/>
                  <a:ea typeface="+mn-ea"/>
                  <a:cs typeface="+mn-cs"/>
                </a:rPr>
                <a:t>紧耦合，嵌在同一台设备的硬件</a:t>
              </a:r>
              <a:br/>
              <a:r>
                <a:rPr lang="zh-CN" sz="1120" dirty="0">
                  <a:solidFill>
                    <a:srgbClr val="1F2937"/>
                  </a:solidFill>
                  <a:latin typeface="+mn-lt"/>
                  <a:ea typeface="+mn-ea"/>
                  <a:cs typeface="+mn-cs"/>
                </a:rPr>
                <a:t>里</a:t>
              </a:r>
            </a:p>
          </p:txBody>
        </p:sp>
        <p:sp>
          <p:nvSpPr>
            <p:cNvPr id="49" name="TextBox 49"/>
            <p:cNvSpPr txBox="1"/>
            <p:nvPr/>
          </p:nvSpPr>
          <p:spPr>
            <a:xfrm>
              <a:off x="9318308" y="2054066"/>
              <a:ext cx="2002790" cy="420052"/>
            </a:xfrm>
            <a:prstGeom prst="rect">
              <a:avLst/>
            </a:prstGeom>
            <a:noFill/>
            <a:ln>
              <a:noFill/>
            </a:ln>
          </p:spPr>
          <p:txBody>
            <a:bodyPr wrap="none" lIns="0" tIns="0" rIns="0" bIns="0" anchor="t" anchorCtr="0">
              <a:spAutoFit/>
            </a:bodyPr>
            <a:lstStyle/>
            <a:p>
              <a:pPr algn="l">
                <a:lnSpc>
                  <a:spcPts val="1575"/>
                </a:lnSpc>
              </a:pPr>
              <a:r>
                <a:rPr lang="zh-CN" sz="1120" dirty="0">
                  <a:solidFill>
                    <a:srgbClr val="1F2937"/>
                  </a:solidFill>
                  <a:latin typeface="+mn-lt"/>
                  <a:ea typeface="+mn-ea"/>
                  <a:cs typeface="+mn-cs"/>
                </a:rPr>
                <a:t>分离：设备只转发，控制逻辑集</a:t>
              </a:r>
              <a:br/>
              <a:r>
                <a:rPr lang="zh-CN" sz="1120" dirty="0">
                  <a:solidFill>
                    <a:srgbClr val="1F2937"/>
                  </a:solidFill>
                  <a:latin typeface="+mn-lt"/>
                  <a:ea typeface="+mn-ea"/>
                  <a:cs typeface="+mn-cs"/>
                </a:rPr>
                <a:t>中到控制器</a:t>
              </a:r>
            </a:p>
          </p:txBody>
        </p:sp>
        <p:sp>
          <p:nvSpPr>
            <p:cNvPr id="50" name="Rectangle 50"/>
            <p:cNvSpPr/>
            <p:nvPr/>
          </p:nvSpPr>
          <p:spPr>
            <a:xfrm>
              <a:off x="5707380" y="2530792"/>
              <a:ext cx="5951220" cy="9525"/>
            </a:xfrm>
            <a:prstGeom prst="rect">
              <a:avLst/>
            </a:prstGeom>
            <a:solidFill>
              <a:srgbClr val="D9DFEA"/>
            </a:solidFill>
            <a:ln>
              <a:noFill/>
            </a:ln>
          </p:spPr>
        </p:sp>
        <p:sp>
          <p:nvSpPr>
            <p:cNvPr id="51" name="Rectangle 51"/>
            <p:cNvSpPr/>
            <p:nvPr/>
          </p:nvSpPr>
          <p:spPr>
            <a:xfrm>
              <a:off x="5707380" y="2535555"/>
              <a:ext cx="5951220" cy="605790"/>
            </a:xfrm>
            <a:prstGeom prst="rect">
              <a:avLst/>
            </a:prstGeom>
            <a:solidFill>
              <a:srgbClr val="F4F6FB"/>
            </a:solidFill>
            <a:ln>
              <a:noFill/>
            </a:ln>
          </p:spPr>
        </p:sp>
        <p:sp>
          <p:nvSpPr>
            <p:cNvPr id="52" name="TextBox 52"/>
            <p:cNvSpPr txBox="1"/>
            <p:nvPr/>
          </p:nvSpPr>
          <p:spPr>
            <a:xfrm>
              <a:off x="5807392" y="2759869"/>
              <a:ext cx="614528"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网络信息</a:t>
              </a:r>
            </a:p>
          </p:txBody>
        </p:sp>
        <p:sp>
          <p:nvSpPr>
            <p:cNvPr id="53" name="TextBox 53"/>
            <p:cNvSpPr txBox="1"/>
            <p:nvPr/>
          </p:nvSpPr>
          <p:spPr>
            <a:xfrm>
              <a:off x="6878955" y="2659856"/>
              <a:ext cx="2002790" cy="420052"/>
            </a:xfrm>
            <a:prstGeom prst="rect">
              <a:avLst/>
            </a:prstGeom>
            <a:noFill/>
            <a:ln>
              <a:noFill/>
            </a:ln>
          </p:spPr>
          <p:txBody>
            <a:bodyPr wrap="none" lIns="0" tIns="0" rIns="0" bIns="0" anchor="t" anchorCtr="0">
              <a:spAutoFit/>
            </a:bodyPr>
            <a:lstStyle/>
            <a:p>
              <a:pPr algn="l">
                <a:lnSpc>
                  <a:spcPts val="1575"/>
                </a:lnSpc>
              </a:pPr>
              <a:r>
                <a:rPr lang="zh-CN" sz="1120" dirty="0">
                  <a:solidFill>
                    <a:srgbClr val="1F2937"/>
                  </a:solidFill>
                  <a:latin typeface="+mn-lt"/>
                  <a:ea typeface="+mn-ea"/>
                  <a:cs typeface="+mn-cs"/>
                </a:rPr>
                <a:t>每台设备只知道相邻网络的有限</a:t>
              </a:r>
              <a:br/>
              <a:r>
                <a:rPr lang="zh-CN" sz="1120" dirty="0">
                  <a:solidFill>
                    <a:srgbClr val="1F2937"/>
                  </a:solidFill>
                  <a:latin typeface="+mn-lt"/>
                  <a:ea typeface="+mn-ea"/>
                  <a:cs typeface="+mn-cs"/>
                </a:rPr>
                <a:t>信息，控制高度分散</a:t>
              </a:r>
            </a:p>
          </p:txBody>
        </p:sp>
        <p:sp>
          <p:nvSpPr>
            <p:cNvPr id="54" name="TextBox 54"/>
            <p:cNvSpPr txBox="1"/>
            <p:nvPr/>
          </p:nvSpPr>
          <p:spPr>
            <a:xfrm>
              <a:off x="9318308" y="2759869"/>
              <a:ext cx="1669948"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控制器掌握全局网络视图</a:t>
              </a:r>
            </a:p>
          </p:txBody>
        </p:sp>
        <p:sp>
          <p:nvSpPr>
            <p:cNvPr id="55" name="Rectangle 55"/>
            <p:cNvSpPr/>
            <p:nvPr/>
          </p:nvSpPr>
          <p:spPr>
            <a:xfrm>
              <a:off x="5707380" y="3136582"/>
              <a:ext cx="5951220" cy="9525"/>
            </a:xfrm>
            <a:prstGeom prst="rect">
              <a:avLst/>
            </a:prstGeom>
            <a:solidFill>
              <a:srgbClr val="D9DFEA"/>
            </a:solidFill>
            <a:ln>
              <a:noFill/>
            </a:ln>
          </p:spPr>
        </p:sp>
        <p:sp>
          <p:nvSpPr>
            <p:cNvPr id="56" name="TextBox 56"/>
            <p:cNvSpPr txBox="1"/>
            <p:nvPr/>
          </p:nvSpPr>
          <p:spPr>
            <a:xfrm>
              <a:off x="5807392" y="3365659"/>
              <a:ext cx="614528"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修改策略</a:t>
              </a:r>
            </a:p>
          </p:txBody>
        </p:sp>
        <p:sp>
          <p:nvSpPr>
            <p:cNvPr id="57" name="TextBox 57"/>
            <p:cNvSpPr txBox="1"/>
            <p:nvPr/>
          </p:nvSpPr>
          <p:spPr>
            <a:xfrm>
              <a:off x="6878955" y="3265646"/>
              <a:ext cx="2002790" cy="420052"/>
            </a:xfrm>
            <a:prstGeom prst="rect">
              <a:avLst/>
            </a:prstGeom>
            <a:noFill/>
            <a:ln>
              <a:noFill/>
            </a:ln>
          </p:spPr>
          <p:txBody>
            <a:bodyPr wrap="none" lIns="0" tIns="0" rIns="0" bIns="0" anchor="t" anchorCtr="0">
              <a:spAutoFit/>
            </a:bodyPr>
            <a:lstStyle/>
            <a:p>
              <a:pPr algn="l">
                <a:lnSpc>
                  <a:spcPts val="1575"/>
                </a:lnSpc>
              </a:pPr>
              <a:r>
                <a:rPr lang="zh-CN" sz="1120" dirty="0">
                  <a:solidFill>
                    <a:srgbClr val="1F2937"/>
                  </a:solidFill>
                  <a:latin typeface="+mn-lt"/>
                  <a:ea typeface="+mn-ea"/>
                  <a:cs typeface="+mn-cs"/>
                </a:rPr>
                <a:t>要对所有设备逐台重新配置，成</a:t>
              </a:r>
              <a:br/>
              <a:r>
                <a:rPr lang="zh-CN" sz="1120" dirty="0">
                  <a:solidFill>
                    <a:srgbClr val="1F2937"/>
                  </a:solidFill>
                  <a:latin typeface="+mn-lt"/>
                  <a:ea typeface="+mn-ea"/>
                  <a:cs typeface="+mn-cs"/>
                </a:rPr>
                <a:t>本高</a:t>
              </a:r>
            </a:p>
          </p:txBody>
        </p:sp>
        <p:sp>
          <p:nvSpPr>
            <p:cNvPr id="58" name="TextBox 58"/>
            <p:cNvSpPr txBox="1"/>
            <p:nvPr/>
          </p:nvSpPr>
          <p:spPr>
            <a:xfrm>
              <a:off x="9318308" y="3365659"/>
              <a:ext cx="1368400"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在控制器上编程下发</a:t>
              </a:r>
            </a:p>
          </p:txBody>
        </p:sp>
        <p:sp>
          <p:nvSpPr>
            <p:cNvPr id="59" name="Rectangle 59"/>
            <p:cNvSpPr/>
            <p:nvPr/>
          </p:nvSpPr>
          <p:spPr>
            <a:xfrm>
              <a:off x="5707380" y="3742372"/>
              <a:ext cx="5951220" cy="9525"/>
            </a:xfrm>
            <a:prstGeom prst="rect">
              <a:avLst/>
            </a:prstGeom>
            <a:solidFill>
              <a:srgbClr val="D9DFEA"/>
            </a:solidFill>
            <a:ln>
              <a:noFill/>
            </a:ln>
          </p:spPr>
        </p:sp>
        <p:sp>
          <p:nvSpPr>
            <p:cNvPr id="60" name="Rectangle 60"/>
            <p:cNvSpPr/>
            <p:nvPr/>
          </p:nvSpPr>
          <p:spPr>
            <a:xfrm>
              <a:off x="5707380" y="3747135"/>
              <a:ext cx="5951220" cy="605790"/>
            </a:xfrm>
            <a:prstGeom prst="rect">
              <a:avLst/>
            </a:prstGeom>
            <a:solidFill>
              <a:srgbClr val="F4F6FB"/>
            </a:solidFill>
            <a:ln>
              <a:noFill/>
            </a:ln>
          </p:spPr>
        </p:sp>
        <p:sp>
          <p:nvSpPr>
            <p:cNvPr id="61" name="TextBox 61"/>
            <p:cNvSpPr txBox="1"/>
            <p:nvPr/>
          </p:nvSpPr>
          <p:spPr>
            <a:xfrm>
              <a:off x="5807392" y="3971449"/>
              <a:ext cx="614528"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加新功能</a:t>
              </a:r>
            </a:p>
          </p:txBody>
        </p:sp>
        <p:sp>
          <p:nvSpPr>
            <p:cNvPr id="62" name="TextBox 62"/>
            <p:cNvSpPr txBox="1"/>
            <p:nvPr/>
          </p:nvSpPr>
          <p:spPr>
            <a:xfrm>
              <a:off x="6878955" y="3871436"/>
              <a:ext cx="2002790" cy="420052"/>
            </a:xfrm>
            <a:prstGeom prst="rect">
              <a:avLst/>
            </a:prstGeom>
            <a:noFill/>
            <a:ln>
              <a:noFill/>
            </a:ln>
          </p:spPr>
          <p:txBody>
            <a:bodyPr wrap="none" lIns="0" tIns="0" rIns="0" bIns="0" anchor="t" anchorCtr="0">
              <a:spAutoFit/>
            </a:bodyPr>
            <a:lstStyle/>
            <a:p>
              <a:pPr algn="l">
                <a:lnSpc>
                  <a:spcPts val="1575"/>
                </a:lnSpc>
              </a:pPr>
              <a:r>
                <a:rPr lang="zh-CN" sz="1120" dirty="0">
                  <a:solidFill>
                    <a:srgbClr val="1F2937"/>
                  </a:solidFill>
                  <a:latin typeface="+mn-lt"/>
                  <a:ea typeface="+mn-ea"/>
                  <a:cs typeface="+mn-cs"/>
                </a:rPr>
                <a:t>新路由算法、访问控制、负载平</a:t>
              </a:r>
              <a:br/>
              <a:r>
                <a:rPr lang="zh-CN" sz="1120" dirty="0">
                  <a:solidFill>
                    <a:srgbClr val="1F2937"/>
                  </a:solidFill>
                  <a:latin typeface="+mn-lt"/>
                  <a:ea typeface="+mn-ea"/>
                  <a:cs typeface="+mn-cs"/>
                </a:rPr>
                <a:t>衡、防火墙、入侵检测难以加入</a:t>
              </a:r>
            </a:p>
          </p:txBody>
        </p:sp>
        <p:sp>
          <p:nvSpPr>
            <p:cNvPr id="63" name="TextBox 63"/>
            <p:cNvSpPr txBox="1"/>
            <p:nvPr/>
          </p:nvSpPr>
          <p:spPr>
            <a:xfrm>
              <a:off x="9318308" y="3871436"/>
              <a:ext cx="1860550" cy="420052"/>
            </a:xfrm>
            <a:prstGeom prst="rect">
              <a:avLst/>
            </a:prstGeom>
            <a:noFill/>
            <a:ln>
              <a:noFill/>
            </a:ln>
          </p:spPr>
          <p:txBody>
            <a:bodyPr wrap="none" lIns="0" tIns="0" rIns="0" bIns="0" anchor="t" anchorCtr="0">
              <a:spAutoFit/>
            </a:bodyPr>
            <a:lstStyle/>
            <a:p>
              <a:pPr algn="l">
                <a:lnSpc>
                  <a:spcPts val="1575"/>
                </a:lnSpc>
              </a:pPr>
              <a:r>
                <a:rPr lang="zh-CN" sz="1120" dirty="0">
                  <a:solidFill>
                    <a:srgbClr val="1F2937"/>
                  </a:solidFill>
                  <a:latin typeface="+mn-lt"/>
                  <a:ea typeface="+mn-ea"/>
                  <a:cs typeface="+mn-cs"/>
                </a:rPr>
                <a:t>以网络应用的形式部署，更开</a:t>
              </a:r>
              <a:br/>
              <a:r>
                <a:rPr lang="zh-CN" sz="1120" dirty="0">
                  <a:solidFill>
                    <a:srgbClr val="1F2937"/>
                  </a:solidFill>
                  <a:latin typeface="+mn-lt"/>
                  <a:ea typeface="+mn-ea"/>
                  <a:cs typeface="+mn-cs"/>
                </a:rPr>
                <a:t>放、标准化</a:t>
              </a:r>
            </a:p>
          </p:txBody>
        </p:sp>
        <p:sp>
          <p:nvSpPr>
            <p:cNvPr id="64" name="Rectangle 64"/>
            <p:cNvSpPr/>
            <p:nvPr/>
          </p:nvSpPr>
          <p:spPr>
            <a:xfrm>
              <a:off x="5707380" y="1524000"/>
              <a:ext cx="5951220" cy="2828925"/>
            </a:xfrm>
            <a:prstGeom prst="rect">
              <a:avLst/>
            </a:prstGeom>
            <a:noFill/>
            <a:ln w="14288">
              <a:solidFill>
                <a:srgbClr val="D9DFEA"/>
              </a:solidFill>
            </a:ln>
          </p:spPr>
        </p:sp>
        <p:sp>
          <p:nvSpPr>
            <p:cNvPr id="65" name="Rectangle 65"/>
            <p:cNvSpPr/>
            <p:nvPr/>
          </p:nvSpPr>
          <p:spPr>
            <a:xfrm>
              <a:off x="6774180" y="1524000"/>
              <a:ext cx="9525" cy="2828925"/>
            </a:xfrm>
            <a:prstGeom prst="rect">
              <a:avLst/>
            </a:prstGeom>
            <a:solidFill>
              <a:srgbClr val="D9DFEA"/>
            </a:solidFill>
            <a:ln>
              <a:noFill/>
            </a:ln>
          </p:spPr>
        </p:sp>
        <p:sp>
          <p:nvSpPr>
            <p:cNvPr id="66" name="Rectangle 66"/>
            <p:cNvSpPr/>
            <p:nvPr/>
          </p:nvSpPr>
          <p:spPr>
            <a:xfrm>
              <a:off x="9213532" y="1524000"/>
              <a:ext cx="9525" cy="2828925"/>
            </a:xfrm>
            <a:prstGeom prst="rect">
              <a:avLst/>
            </a:prstGeom>
            <a:solidFill>
              <a:srgbClr val="D9DFEA"/>
            </a:solidFill>
            <a:ln>
              <a:noFill/>
            </a:ln>
          </p:spPr>
        </p:sp>
      </p:grpSp>
      <p:grpSp>
        <p:nvGrpSpPr>
          <p:cNvPr id="73" name="c2-card-2"/>
          <p:cNvGrpSpPr/>
          <p:nvPr/>
        </p:nvGrpSpPr>
        <p:grpSpPr>
          <a:xfrm>
            <a:off x="5707380" y="4528185"/>
            <a:ext cx="5951220" cy="1466850"/>
            <a:chOff x="5707380" y="4528185"/>
            <a:chExt cx="5951220" cy="1466850"/>
          </a:xfrm>
        </p:grpSpPr>
        <p:sp>
          <p:nvSpPr>
            <p:cNvPr id="68" name="Rectangle 68"/>
            <p:cNvSpPr/>
            <p:nvPr/>
          </p:nvSpPr>
          <p:spPr>
            <a:xfrm>
              <a:off x="5707380" y="4528185"/>
              <a:ext cx="5951220" cy="1466850"/>
            </a:xfrm>
            <a:prstGeom prst="roundRect">
              <a:avLst>
                <a:gd name="adj" fmla="val 9091"/>
              </a:avLst>
            </a:prstGeom>
            <a:solidFill>
              <a:srgbClr val="FFFFFF"/>
            </a:solidFill>
            <a:ln w="14288">
              <a:solidFill>
                <a:srgbClr val="D9DFEA"/>
              </a:solidFill>
            </a:ln>
          </p:spPr>
        </p:sp>
        <p:sp>
          <p:nvSpPr>
            <p:cNvPr id="69" name="Rectangle 69"/>
            <p:cNvSpPr/>
            <p:nvPr/>
          </p:nvSpPr>
          <p:spPr>
            <a:xfrm>
              <a:off x="5716905" y="4661535"/>
              <a:ext cx="47625" cy="1200150"/>
            </a:xfrm>
            <a:prstGeom prst="roundRect">
              <a:avLst>
                <a:gd name="adj" fmla="val 50000"/>
              </a:avLst>
            </a:prstGeom>
            <a:solidFill>
              <a:srgbClr val="5B6475"/>
            </a:solidFill>
            <a:ln>
              <a:noFill/>
            </a:ln>
          </p:spPr>
        </p:sp>
        <p:sp>
          <p:nvSpPr>
            <p:cNvPr id="70" name="Rectangle 70"/>
            <p:cNvSpPr/>
            <p:nvPr/>
          </p:nvSpPr>
          <p:spPr>
            <a:xfrm>
              <a:off x="5937885" y="4720590"/>
              <a:ext cx="1143000" cy="247650"/>
            </a:xfrm>
            <a:prstGeom prst="roundRect">
              <a:avLst>
                <a:gd name="adj" fmla="val 50000"/>
              </a:avLst>
            </a:prstGeom>
            <a:solidFill>
              <a:srgbClr val="F4F6FB"/>
            </a:solidFill>
            <a:ln>
              <a:noFill/>
            </a:ln>
          </p:spPr>
        </p:sp>
        <p:sp>
          <p:nvSpPr>
            <p:cNvPr id="71" name="TextBox 71"/>
            <p:cNvSpPr txBox="1"/>
            <p:nvPr/>
          </p:nvSpPr>
          <p:spPr>
            <a:xfrm>
              <a:off x="6009322" y="4754880"/>
              <a:ext cx="1000125" cy="205359"/>
            </a:xfrm>
            <a:prstGeom prst="rect">
              <a:avLst/>
            </a:prstGeom>
            <a:noFill/>
            <a:ln>
              <a:noFill/>
            </a:ln>
          </p:spPr>
          <p:txBody>
            <a:bodyPr wrap="none" lIns="0" tIns="0" rIns="0" bIns="0" anchor="t" anchorCtr="0">
              <a:spAutoFit/>
            </a:bodyPr>
            <a:lstStyle/>
            <a:p>
              <a:pPr algn="ctr"/>
              <a:r>
                <a:rPr lang="zh-CN" sz="1050" b="1" dirty="0">
                  <a:solidFill>
                    <a:srgbClr val="5B6475"/>
                  </a:solidFill>
                  <a:latin typeface="+mn-lt"/>
                  <a:ea typeface="+mn-ea"/>
                  <a:cs typeface="+mn-cs"/>
                </a:rPr>
                <a:t>分布式控制平面</a:t>
              </a:r>
            </a:p>
          </p:txBody>
        </p:sp>
        <p:sp>
          <p:nvSpPr>
            <p:cNvPr id="72" name="TextBox 72"/>
            <p:cNvSpPr txBox="1"/>
            <p:nvPr/>
          </p:nvSpPr>
          <p:spPr>
            <a:xfrm>
              <a:off x="5931027" y="5076825"/>
              <a:ext cx="5328666" cy="778383"/>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逻辑上集中不等于物理上集中，控制器也可以物理分散、逻辑集中。这</a:t>
              </a:r>
              <a:br/>
              <a:r>
                <a:rPr lang="zh-CN" sz="1350" dirty="0">
                  <a:solidFill>
                    <a:srgbClr val="1F2937"/>
                  </a:solidFill>
                  <a:latin typeface="+mn-lt"/>
                  <a:ea typeface="+mn-ea"/>
                  <a:cs typeface="+mn-cs"/>
                </a:rPr>
                <a:t>时要提供两项功能：分布式控制器之间的信息交换与协同；各控制器向</a:t>
              </a:r>
              <a:br/>
              <a:r>
                <a:rPr lang="zh-CN" sz="1350" dirty="0">
                  <a:solidFill>
                    <a:srgbClr val="1F2937"/>
                  </a:solidFill>
                  <a:latin typeface="+mn-lt"/>
                  <a:ea typeface="+mn-ea"/>
                  <a:cs typeface="+mn-cs"/>
                </a:rPr>
                <a:t>自己域内的转发设备下发控制命令。</a:t>
              </a:r>
            </a:p>
          </p:txBody>
        </p:sp>
      </p:grpSp>
      <p:grpSp>
        <p:nvGrpSpPr>
          <p:cNvPr id="76" name="footer"/>
          <p:cNvGrpSpPr/>
          <p:nvPr/>
        </p:nvGrpSpPr>
        <p:grpSpPr>
          <a:xfrm>
            <a:off x="528447" y="6581299"/>
            <a:ext cx="11135106" cy="190690"/>
            <a:chOff x="528447" y="6581299"/>
            <a:chExt cx="11135106" cy="190690"/>
          </a:xfrm>
        </p:grpSpPr>
        <p:sp>
          <p:nvSpPr>
            <p:cNvPr id="74" name="TextBox 74"/>
            <p:cNvSpPr txBox="1"/>
            <p:nvPr/>
          </p:nvSpPr>
          <p:spPr>
            <a:xfrm>
              <a:off x="528447" y="6581299"/>
              <a:ext cx="2120748"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并行与分布式计算 · 第7章 体系结构</a:t>
              </a:r>
            </a:p>
          </p:txBody>
        </p:sp>
        <p:sp>
          <p:nvSpPr>
            <p:cNvPr id="75" name="TextBox 75"/>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55</a:t>
              </a:r>
            </a:p>
          </p:txBody>
        </p:sp>
      </p:grpSp>
    </p:spTree>
  </p:cSld>
  <p:clrMapOvr>
    <a:masterClrMapping/>
  </p:clrMapOvr>
  <p:transition xmlns:p14="http://schemas.microsoft.com/office/powerpoint/2010/main" p14:dur="400">
    <p:fade/>
  </p:transition>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6838356" cy="909257"/>
            <a:chOff x="520446" y="342900"/>
            <a:chExt cx="6838356" cy="909257"/>
          </a:xfrm>
        </p:grpSpPr>
        <p:sp>
          <p:nvSpPr>
            <p:cNvPr id="2" name="Rectangle 2"/>
            <p:cNvSpPr/>
            <p:nvPr/>
          </p:nvSpPr>
          <p:spPr>
            <a:xfrm>
              <a:off x="533400" y="342900"/>
              <a:ext cx="1987868" cy="266700"/>
            </a:xfrm>
            <a:prstGeom prst="roundRect">
              <a:avLst>
                <a:gd name="adj" fmla="val 50000"/>
              </a:avLst>
            </a:prstGeom>
            <a:solidFill>
              <a:srgbClr val="E7EDF3"/>
            </a:solidFill>
            <a:ln>
              <a:noFill/>
            </a:ln>
          </p:spPr>
        </p:sp>
        <p:sp>
          <p:nvSpPr>
            <p:cNvPr id="3" name="TextBox 3"/>
            <p:cNvSpPr txBox="1"/>
            <p:nvPr/>
          </p:nvSpPr>
          <p:spPr>
            <a:xfrm>
              <a:off x="608957" y="407194"/>
              <a:ext cx="1835800"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第7章 体系结构 · 互连结构</a:t>
              </a:r>
            </a:p>
          </p:txBody>
        </p:sp>
        <p:sp>
          <p:nvSpPr>
            <p:cNvPr id="4" name="TextBox 4"/>
            <p:cNvSpPr txBox="1"/>
            <p:nvPr/>
          </p:nvSpPr>
          <p:spPr>
            <a:xfrm>
              <a:off x="520446" y="753428"/>
              <a:ext cx="6838356"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OpenFlow：控制器与交换机之间的南向接口</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46" name="c1-graph-1"/>
          <p:cNvGrpSpPr/>
          <p:nvPr/>
        </p:nvGrpSpPr>
        <p:grpSpPr>
          <a:xfrm>
            <a:off x="695325" y="1693545"/>
            <a:ext cx="5086350" cy="3778567"/>
            <a:chOff x="695325" y="1693545"/>
            <a:chExt cx="5086350" cy="3778567"/>
          </a:xfrm>
        </p:grpSpPr>
        <p:sp>
          <p:nvSpPr>
            <p:cNvPr id="7" name="Freeform 7"/>
            <p:cNvSpPr/>
            <p:nvPr/>
          </p:nvSpPr>
          <p:spPr>
            <a:xfrm>
              <a:off x="1955482" y="2031682"/>
              <a:ext cx="77152" cy="1096327"/>
            </a:xfrm>
            <a:custGeom>
              <a:avLst/>
              <a:gdLst/>
              <a:ahLst/>
              <a:cxnLst/>
              <a:rect l="l" t="t" r="r" b="b"/>
              <a:pathLst>
                <a:path w="77152" h="1096327">
                  <a:moveTo>
                    <a:pt x="77152" y="0"/>
                  </a:moveTo>
                  <a:lnTo>
                    <a:pt x="0" y="1096327"/>
                  </a:lnTo>
                </a:path>
              </a:pathLst>
            </a:custGeom>
            <a:noFill/>
            <a:ln w="17145">
              <a:solidFill>
                <a:srgbClr val="1F2937"/>
              </a:solidFill>
            </a:ln>
          </p:spPr>
        </p:sp>
        <p:sp>
          <p:nvSpPr>
            <p:cNvPr id="8" name="Freeform 8"/>
            <p:cNvSpPr/>
            <p:nvPr/>
          </p:nvSpPr>
          <p:spPr>
            <a:xfrm>
              <a:off x="1908810" y="3125152"/>
              <a:ext cx="94298" cy="98107"/>
            </a:xfrm>
            <a:custGeom>
              <a:avLst/>
              <a:gdLst/>
              <a:ahLst/>
              <a:cxnLst/>
              <a:rect l="l" t="t" r="r" b="b"/>
              <a:pathLst>
                <a:path w="94298" h="98107">
                  <a:moveTo>
                    <a:pt x="40005" y="98107"/>
                  </a:moveTo>
                  <a:lnTo>
                    <a:pt x="0" y="0"/>
                  </a:lnTo>
                  <a:lnTo>
                    <a:pt x="94298" y="6667"/>
                  </a:lnTo>
                  <a:close/>
                </a:path>
              </a:pathLst>
            </a:custGeom>
            <a:solidFill>
              <a:srgbClr val="1F2937"/>
            </a:solidFill>
            <a:ln>
              <a:noFill/>
            </a:ln>
          </p:spPr>
        </p:sp>
        <p:sp>
          <p:nvSpPr>
            <p:cNvPr id="9" name="Freeform 9"/>
            <p:cNvSpPr/>
            <p:nvPr/>
          </p:nvSpPr>
          <p:spPr>
            <a:xfrm>
              <a:off x="1985962" y="1936432"/>
              <a:ext cx="94298" cy="98107"/>
            </a:xfrm>
            <a:custGeom>
              <a:avLst/>
              <a:gdLst/>
              <a:ahLst/>
              <a:cxnLst/>
              <a:rect l="l" t="t" r="r" b="b"/>
              <a:pathLst>
                <a:path w="94298" h="98107">
                  <a:moveTo>
                    <a:pt x="53340" y="0"/>
                  </a:moveTo>
                  <a:lnTo>
                    <a:pt x="94298" y="98107"/>
                  </a:lnTo>
                  <a:lnTo>
                    <a:pt x="0" y="91440"/>
                  </a:lnTo>
                  <a:close/>
                </a:path>
              </a:pathLst>
            </a:custGeom>
            <a:solidFill>
              <a:srgbClr val="1F2937"/>
            </a:solidFill>
            <a:ln>
              <a:noFill/>
            </a:ln>
          </p:spPr>
        </p:sp>
        <p:sp>
          <p:nvSpPr>
            <p:cNvPr id="10" name="Freeform 10"/>
            <p:cNvSpPr/>
            <p:nvPr/>
          </p:nvSpPr>
          <p:spPr>
            <a:xfrm>
              <a:off x="2230755" y="1986915"/>
              <a:ext cx="1920240" cy="1185863"/>
            </a:xfrm>
            <a:custGeom>
              <a:avLst/>
              <a:gdLst/>
              <a:ahLst/>
              <a:cxnLst/>
              <a:rect l="l" t="t" r="r" b="b"/>
              <a:pathLst>
                <a:path w="1920240" h="1185863">
                  <a:moveTo>
                    <a:pt x="1920240" y="0"/>
                  </a:moveTo>
                  <a:lnTo>
                    <a:pt x="0" y="1185863"/>
                  </a:lnTo>
                </a:path>
              </a:pathLst>
            </a:custGeom>
            <a:noFill/>
            <a:ln w="17145">
              <a:solidFill>
                <a:srgbClr val="1F2937"/>
              </a:solidFill>
            </a:ln>
          </p:spPr>
        </p:sp>
        <p:sp>
          <p:nvSpPr>
            <p:cNvPr id="11" name="Freeform 11"/>
            <p:cNvSpPr/>
            <p:nvPr/>
          </p:nvSpPr>
          <p:spPr>
            <a:xfrm>
              <a:off x="2149792" y="3132772"/>
              <a:ext cx="105728" cy="90488"/>
            </a:xfrm>
            <a:custGeom>
              <a:avLst/>
              <a:gdLst/>
              <a:ahLst/>
              <a:cxnLst/>
              <a:rect l="l" t="t" r="r" b="b"/>
              <a:pathLst>
                <a:path w="105728" h="90488">
                  <a:moveTo>
                    <a:pt x="0" y="90488"/>
                  </a:moveTo>
                  <a:lnTo>
                    <a:pt x="56198" y="0"/>
                  </a:lnTo>
                  <a:lnTo>
                    <a:pt x="105728" y="80962"/>
                  </a:lnTo>
                  <a:close/>
                </a:path>
              </a:pathLst>
            </a:custGeom>
            <a:solidFill>
              <a:srgbClr val="1F2937"/>
            </a:solidFill>
            <a:ln>
              <a:noFill/>
            </a:ln>
          </p:spPr>
        </p:sp>
        <p:sp>
          <p:nvSpPr>
            <p:cNvPr id="12" name="Freeform 12"/>
            <p:cNvSpPr/>
            <p:nvPr/>
          </p:nvSpPr>
          <p:spPr>
            <a:xfrm>
              <a:off x="4126230" y="1936432"/>
              <a:ext cx="105728" cy="90488"/>
            </a:xfrm>
            <a:custGeom>
              <a:avLst/>
              <a:gdLst/>
              <a:ahLst/>
              <a:cxnLst/>
              <a:rect l="l" t="t" r="r" b="b"/>
              <a:pathLst>
                <a:path w="105728" h="90488">
                  <a:moveTo>
                    <a:pt x="105728" y="0"/>
                  </a:moveTo>
                  <a:lnTo>
                    <a:pt x="49530" y="90488"/>
                  </a:lnTo>
                  <a:lnTo>
                    <a:pt x="0" y="9525"/>
                  </a:lnTo>
                  <a:close/>
                </a:path>
              </a:pathLst>
            </a:custGeom>
            <a:solidFill>
              <a:srgbClr val="1F2937"/>
            </a:solidFill>
            <a:ln>
              <a:noFill/>
            </a:ln>
          </p:spPr>
        </p:sp>
        <p:sp>
          <p:nvSpPr>
            <p:cNvPr id="13" name="Freeform 13"/>
            <p:cNvSpPr/>
            <p:nvPr/>
          </p:nvSpPr>
          <p:spPr>
            <a:xfrm>
              <a:off x="1223010" y="4599622"/>
              <a:ext cx="421957" cy="9525"/>
            </a:xfrm>
            <a:custGeom>
              <a:avLst/>
              <a:gdLst/>
              <a:ahLst/>
              <a:cxnLst/>
              <a:rect l="l" t="t" r="r" b="b"/>
              <a:pathLst>
                <a:path w="421957" h="9525">
                  <a:moveTo>
                    <a:pt x="0" y="0"/>
                  </a:moveTo>
                  <a:lnTo>
                    <a:pt x="421957" y="0"/>
                  </a:lnTo>
                </a:path>
              </a:pathLst>
            </a:custGeom>
            <a:noFill/>
            <a:ln w="17145">
              <a:solidFill>
                <a:srgbClr val="1F2937"/>
              </a:solidFill>
            </a:ln>
          </p:spPr>
        </p:sp>
        <p:sp>
          <p:nvSpPr>
            <p:cNvPr id="14" name="Freeform 14"/>
            <p:cNvSpPr/>
            <p:nvPr/>
          </p:nvSpPr>
          <p:spPr>
            <a:xfrm>
              <a:off x="1644968" y="4551998"/>
              <a:ext cx="95250" cy="95250"/>
            </a:xfrm>
            <a:custGeom>
              <a:avLst/>
              <a:gdLst/>
              <a:ahLst/>
              <a:cxnLst/>
              <a:rect l="l" t="t" r="r" b="b"/>
              <a:pathLst>
                <a:path w="95250" h="95250">
                  <a:moveTo>
                    <a:pt x="95250" y="47625"/>
                  </a:moveTo>
                  <a:lnTo>
                    <a:pt x="0" y="95250"/>
                  </a:lnTo>
                  <a:lnTo>
                    <a:pt x="0" y="0"/>
                  </a:lnTo>
                  <a:close/>
                </a:path>
              </a:pathLst>
            </a:custGeom>
            <a:solidFill>
              <a:srgbClr val="1F2937"/>
            </a:solidFill>
            <a:ln>
              <a:noFill/>
            </a:ln>
          </p:spPr>
        </p:sp>
        <p:sp>
          <p:nvSpPr>
            <p:cNvPr id="15" name="Freeform 15"/>
            <p:cNvSpPr/>
            <p:nvPr/>
          </p:nvSpPr>
          <p:spPr>
            <a:xfrm>
              <a:off x="2355532" y="4599622"/>
              <a:ext cx="318135" cy="9525"/>
            </a:xfrm>
            <a:custGeom>
              <a:avLst/>
              <a:gdLst/>
              <a:ahLst/>
              <a:cxnLst/>
              <a:rect l="l" t="t" r="r" b="b"/>
              <a:pathLst>
                <a:path w="318135" h="9525">
                  <a:moveTo>
                    <a:pt x="0" y="0"/>
                  </a:moveTo>
                  <a:lnTo>
                    <a:pt x="318135" y="0"/>
                  </a:lnTo>
                </a:path>
              </a:pathLst>
            </a:custGeom>
            <a:noFill/>
            <a:ln w="17145">
              <a:solidFill>
                <a:srgbClr val="1F2937"/>
              </a:solidFill>
            </a:ln>
          </p:spPr>
        </p:sp>
        <p:sp>
          <p:nvSpPr>
            <p:cNvPr id="16" name="Freeform 16"/>
            <p:cNvSpPr/>
            <p:nvPr/>
          </p:nvSpPr>
          <p:spPr>
            <a:xfrm>
              <a:off x="2673668" y="4551998"/>
              <a:ext cx="95250" cy="95250"/>
            </a:xfrm>
            <a:custGeom>
              <a:avLst/>
              <a:gdLst/>
              <a:ahLst/>
              <a:cxnLst/>
              <a:rect l="l" t="t" r="r" b="b"/>
              <a:pathLst>
                <a:path w="95250" h="95250">
                  <a:moveTo>
                    <a:pt x="95250" y="47625"/>
                  </a:moveTo>
                  <a:lnTo>
                    <a:pt x="0" y="95250"/>
                  </a:lnTo>
                  <a:lnTo>
                    <a:pt x="0" y="0"/>
                  </a:lnTo>
                  <a:close/>
                </a:path>
              </a:pathLst>
            </a:custGeom>
            <a:solidFill>
              <a:srgbClr val="1F2937"/>
            </a:solidFill>
            <a:ln>
              <a:noFill/>
            </a:ln>
          </p:spPr>
        </p:sp>
        <p:sp>
          <p:nvSpPr>
            <p:cNvPr id="17" name="Freeform 17"/>
            <p:cNvSpPr/>
            <p:nvPr/>
          </p:nvSpPr>
          <p:spPr>
            <a:xfrm>
              <a:off x="3384232" y="4599622"/>
              <a:ext cx="803910" cy="9525"/>
            </a:xfrm>
            <a:custGeom>
              <a:avLst/>
              <a:gdLst/>
              <a:ahLst/>
              <a:cxnLst/>
              <a:rect l="l" t="t" r="r" b="b"/>
              <a:pathLst>
                <a:path w="803910" h="9525">
                  <a:moveTo>
                    <a:pt x="0" y="0"/>
                  </a:moveTo>
                  <a:lnTo>
                    <a:pt x="803910" y="0"/>
                  </a:lnTo>
                </a:path>
              </a:pathLst>
            </a:custGeom>
            <a:noFill/>
            <a:ln w="17145">
              <a:solidFill>
                <a:srgbClr val="1F2937"/>
              </a:solidFill>
            </a:ln>
          </p:spPr>
        </p:sp>
        <p:sp>
          <p:nvSpPr>
            <p:cNvPr id="18" name="Freeform 18"/>
            <p:cNvSpPr/>
            <p:nvPr/>
          </p:nvSpPr>
          <p:spPr>
            <a:xfrm>
              <a:off x="4188142" y="4551998"/>
              <a:ext cx="95250" cy="95250"/>
            </a:xfrm>
            <a:custGeom>
              <a:avLst/>
              <a:gdLst/>
              <a:ahLst/>
              <a:cxnLst/>
              <a:rect l="l" t="t" r="r" b="b"/>
              <a:pathLst>
                <a:path w="95250" h="95250">
                  <a:moveTo>
                    <a:pt x="95250" y="47625"/>
                  </a:moveTo>
                  <a:lnTo>
                    <a:pt x="0" y="95250"/>
                  </a:lnTo>
                  <a:lnTo>
                    <a:pt x="0" y="0"/>
                  </a:lnTo>
                  <a:close/>
                </a:path>
              </a:pathLst>
            </a:custGeom>
            <a:solidFill>
              <a:srgbClr val="1F2937"/>
            </a:solidFill>
            <a:ln>
              <a:noFill/>
            </a:ln>
          </p:spPr>
        </p:sp>
        <p:sp>
          <p:nvSpPr>
            <p:cNvPr id="19" name="Freeform 19"/>
            <p:cNvSpPr/>
            <p:nvPr/>
          </p:nvSpPr>
          <p:spPr>
            <a:xfrm>
              <a:off x="4898708" y="4599622"/>
              <a:ext cx="260033" cy="9525"/>
            </a:xfrm>
            <a:custGeom>
              <a:avLst/>
              <a:gdLst/>
              <a:ahLst/>
              <a:cxnLst/>
              <a:rect l="l" t="t" r="r" b="b"/>
              <a:pathLst>
                <a:path w="260033" h="9525">
                  <a:moveTo>
                    <a:pt x="0" y="0"/>
                  </a:moveTo>
                  <a:lnTo>
                    <a:pt x="260033" y="0"/>
                  </a:lnTo>
                </a:path>
              </a:pathLst>
            </a:custGeom>
            <a:noFill/>
            <a:ln w="17145">
              <a:solidFill>
                <a:srgbClr val="1F2937"/>
              </a:solidFill>
            </a:ln>
          </p:spPr>
        </p:sp>
        <p:sp>
          <p:nvSpPr>
            <p:cNvPr id="20" name="Freeform 20"/>
            <p:cNvSpPr/>
            <p:nvPr/>
          </p:nvSpPr>
          <p:spPr>
            <a:xfrm>
              <a:off x="5158740" y="4551998"/>
              <a:ext cx="95250" cy="95250"/>
            </a:xfrm>
            <a:custGeom>
              <a:avLst/>
              <a:gdLst/>
              <a:ahLst/>
              <a:cxnLst/>
              <a:rect l="l" t="t" r="r" b="b"/>
              <a:pathLst>
                <a:path w="95250" h="95250">
                  <a:moveTo>
                    <a:pt x="95250" y="47625"/>
                  </a:moveTo>
                  <a:lnTo>
                    <a:pt x="0" y="95250"/>
                  </a:lnTo>
                  <a:lnTo>
                    <a:pt x="0" y="0"/>
                  </a:lnTo>
                  <a:close/>
                </a:path>
              </a:pathLst>
            </a:custGeom>
            <a:solidFill>
              <a:srgbClr val="1F2937"/>
            </a:solidFill>
            <a:ln>
              <a:noFill/>
            </a:ln>
          </p:spPr>
        </p:sp>
        <p:sp>
          <p:nvSpPr>
            <p:cNvPr id="21" name="Freeform 21"/>
            <p:cNvSpPr/>
            <p:nvPr/>
          </p:nvSpPr>
          <p:spPr>
            <a:xfrm>
              <a:off x="695325" y="2728912"/>
              <a:ext cx="5086350" cy="2743200"/>
            </a:xfrm>
            <a:custGeom>
              <a:avLst/>
              <a:gdLst/>
              <a:ahLst/>
              <a:cxnLst/>
              <a:rect l="l" t="t" r="r" b="b"/>
              <a:pathLst>
                <a:path w="5086350" h="2743200">
                  <a:moveTo>
                    <a:pt x="38100" y="0"/>
                  </a:moveTo>
                  <a:lnTo>
                    <a:pt x="5086350" y="0"/>
                  </a:lnTo>
                  <a:lnTo>
                    <a:pt x="5086350" y="2743200"/>
                  </a:lnTo>
                  <a:lnTo>
                    <a:pt x="0" y="2743200"/>
                  </a:lnTo>
                  <a:lnTo>
                    <a:pt x="0" y="106680"/>
                  </a:lnTo>
                </a:path>
              </a:pathLst>
            </a:custGeom>
            <a:noFill/>
            <a:ln w="17145">
              <a:solidFill>
                <a:srgbClr val="1F2937"/>
              </a:solidFill>
              <a:custDash>
                <a:ds d="333333" sp="222222"/>
              </a:custDash>
            </a:ln>
          </p:spPr>
        </p:sp>
        <p:sp>
          <p:nvSpPr>
            <p:cNvPr id="22" name="Rectangle 22"/>
            <p:cNvSpPr/>
            <p:nvPr/>
          </p:nvSpPr>
          <p:spPr>
            <a:xfrm>
              <a:off x="1603058" y="1693545"/>
              <a:ext cx="890588" cy="242888"/>
            </a:xfrm>
            <a:prstGeom prst="roundRect">
              <a:avLst>
                <a:gd name="adj" fmla="val 39216"/>
              </a:avLst>
            </a:prstGeom>
            <a:solidFill>
              <a:srgbClr val="334E68"/>
            </a:solidFill>
            <a:ln w="17145">
              <a:solidFill>
                <a:srgbClr val="334E68"/>
              </a:solidFill>
            </a:ln>
          </p:spPr>
        </p:sp>
        <p:sp>
          <p:nvSpPr>
            <p:cNvPr id="23" name="Rectangle 23"/>
            <p:cNvSpPr/>
            <p:nvPr/>
          </p:nvSpPr>
          <p:spPr>
            <a:xfrm>
              <a:off x="3983355" y="1693545"/>
              <a:ext cx="890588" cy="242888"/>
            </a:xfrm>
            <a:prstGeom prst="roundRect">
              <a:avLst>
                <a:gd name="adj" fmla="val 39216"/>
              </a:avLst>
            </a:prstGeom>
            <a:solidFill>
              <a:srgbClr val="334E68"/>
            </a:solidFill>
            <a:ln w="17145">
              <a:solidFill>
                <a:srgbClr val="334E68"/>
              </a:solidFill>
            </a:ln>
          </p:spPr>
        </p:sp>
        <p:sp>
          <p:nvSpPr>
            <p:cNvPr id="24" name="Rectangle 24"/>
            <p:cNvSpPr/>
            <p:nvPr/>
          </p:nvSpPr>
          <p:spPr>
            <a:xfrm>
              <a:off x="1373505" y="3223260"/>
              <a:ext cx="1133475" cy="259080"/>
            </a:xfrm>
            <a:prstGeom prst="roundRect">
              <a:avLst>
                <a:gd name="adj" fmla="val 36765"/>
              </a:avLst>
            </a:prstGeom>
            <a:solidFill>
              <a:srgbClr val="E7EDF3"/>
            </a:solidFill>
            <a:ln w="17145">
              <a:solidFill>
                <a:srgbClr val="334E68"/>
              </a:solidFill>
            </a:ln>
          </p:spPr>
        </p:sp>
        <p:sp>
          <p:nvSpPr>
            <p:cNvPr id="25" name="Rectangle 25"/>
            <p:cNvSpPr/>
            <p:nvPr/>
          </p:nvSpPr>
          <p:spPr>
            <a:xfrm>
              <a:off x="3455670" y="3223260"/>
              <a:ext cx="647700" cy="259080"/>
            </a:xfrm>
            <a:prstGeom prst="roundRect">
              <a:avLst>
                <a:gd name="adj" fmla="val 36765"/>
              </a:avLst>
            </a:prstGeom>
            <a:solidFill>
              <a:srgbClr val="E7EDF3"/>
            </a:solidFill>
            <a:ln w="17145">
              <a:solidFill>
                <a:srgbClr val="334E68"/>
              </a:solidFill>
            </a:ln>
          </p:spPr>
        </p:sp>
        <p:sp>
          <p:nvSpPr>
            <p:cNvPr id="26" name="Rectangle 26"/>
            <p:cNvSpPr/>
            <p:nvPr/>
          </p:nvSpPr>
          <p:spPr>
            <a:xfrm>
              <a:off x="4699635" y="3223260"/>
              <a:ext cx="647700" cy="259080"/>
            </a:xfrm>
            <a:prstGeom prst="roundRect">
              <a:avLst>
                <a:gd name="adj" fmla="val 36765"/>
              </a:avLst>
            </a:prstGeom>
            <a:solidFill>
              <a:srgbClr val="E7EDF3"/>
            </a:solidFill>
            <a:ln w="17145">
              <a:solidFill>
                <a:srgbClr val="334E68"/>
              </a:solidFill>
            </a:ln>
          </p:spPr>
        </p:sp>
        <p:sp>
          <p:nvSpPr>
            <p:cNvPr id="27" name="Rectangle 27"/>
            <p:cNvSpPr/>
            <p:nvPr/>
          </p:nvSpPr>
          <p:spPr>
            <a:xfrm>
              <a:off x="818198" y="4470082"/>
              <a:ext cx="404812" cy="259080"/>
            </a:xfrm>
            <a:prstGeom prst="roundRect">
              <a:avLst>
                <a:gd name="adj" fmla="val 36765"/>
              </a:avLst>
            </a:prstGeom>
            <a:solidFill>
              <a:srgbClr val="FFFFFF"/>
            </a:solidFill>
            <a:ln w="17145">
              <a:solidFill>
                <a:srgbClr val="334E68"/>
              </a:solidFill>
            </a:ln>
          </p:spPr>
        </p:sp>
        <p:sp>
          <p:nvSpPr>
            <p:cNvPr id="28" name="Rectangle 28"/>
            <p:cNvSpPr/>
            <p:nvPr/>
          </p:nvSpPr>
          <p:spPr>
            <a:xfrm>
              <a:off x="1740218" y="4470082"/>
              <a:ext cx="615315" cy="259080"/>
            </a:xfrm>
            <a:prstGeom prst="roundRect">
              <a:avLst>
                <a:gd name="adj" fmla="val 36765"/>
              </a:avLst>
            </a:prstGeom>
            <a:solidFill>
              <a:srgbClr val="FDEEE7"/>
            </a:solidFill>
            <a:ln w="17145">
              <a:solidFill>
                <a:srgbClr val="F26B3A"/>
              </a:solidFill>
            </a:ln>
          </p:spPr>
        </p:sp>
        <p:sp>
          <p:nvSpPr>
            <p:cNvPr id="29" name="Rectangle 29"/>
            <p:cNvSpPr/>
            <p:nvPr/>
          </p:nvSpPr>
          <p:spPr>
            <a:xfrm>
              <a:off x="2768918" y="4470082"/>
              <a:ext cx="615315" cy="259080"/>
            </a:xfrm>
            <a:prstGeom prst="roundRect">
              <a:avLst>
                <a:gd name="adj" fmla="val 36765"/>
              </a:avLst>
            </a:prstGeom>
            <a:solidFill>
              <a:srgbClr val="FDEEE7"/>
            </a:solidFill>
            <a:ln w="17145">
              <a:solidFill>
                <a:srgbClr val="F26B3A"/>
              </a:solidFill>
            </a:ln>
          </p:spPr>
        </p:sp>
        <p:sp>
          <p:nvSpPr>
            <p:cNvPr id="30" name="Rectangle 30"/>
            <p:cNvSpPr/>
            <p:nvPr/>
          </p:nvSpPr>
          <p:spPr>
            <a:xfrm>
              <a:off x="4283392" y="4470082"/>
              <a:ext cx="615315" cy="259080"/>
            </a:xfrm>
            <a:prstGeom prst="roundRect">
              <a:avLst>
                <a:gd name="adj" fmla="val 36765"/>
              </a:avLst>
            </a:prstGeom>
            <a:solidFill>
              <a:srgbClr val="FDEEE7"/>
            </a:solidFill>
            <a:ln w="17145">
              <a:solidFill>
                <a:srgbClr val="F26B3A"/>
              </a:solidFill>
            </a:ln>
          </p:spPr>
        </p:sp>
        <p:sp>
          <p:nvSpPr>
            <p:cNvPr id="31" name="Rectangle 31"/>
            <p:cNvSpPr/>
            <p:nvPr/>
          </p:nvSpPr>
          <p:spPr>
            <a:xfrm>
              <a:off x="5253990" y="4470082"/>
              <a:ext cx="404812" cy="259080"/>
            </a:xfrm>
            <a:prstGeom prst="roundRect">
              <a:avLst>
                <a:gd name="adj" fmla="val 36765"/>
              </a:avLst>
            </a:prstGeom>
            <a:solidFill>
              <a:srgbClr val="FFFFFF"/>
            </a:solidFill>
            <a:ln w="17145">
              <a:solidFill>
                <a:srgbClr val="334E68"/>
              </a:solidFill>
            </a:ln>
          </p:spPr>
        </p:sp>
        <p:sp>
          <p:nvSpPr>
            <p:cNvPr id="32" name="TextBox 32"/>
            <p:cNvSpPr txBox="1"/>
            <p:nvPr/>
          </p:nvSpPr>
          <p:spPr>
            <a:xfrm>
              <a:off x="1830514" y="1749742"/>
              <a:ext cx="434721"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控制器</a:t>
              </a:r>
            </a:p>
          </p:txBody>
        </p:sp>
        <p:sp>
          <p:nvSpPr>
            <p:cNvPr id="33" name="TextBox 33"/>
            <p:cNvSpPr txBox="1"/>
            <p:nvPr/>
          </p:nvSpPr>
          <p:spPr>
            <a:xfrm>
              <a:off x="4211764" y="1749742"/>
              <a:ext cx="434721"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控制器</a:t>
              </a:r>
            </a:p>
          </p:txBody>
        </p:sp>
        <p:sp>
          <p:nvSpPr>
            <p:cNvPr id="34" name="TextBox 34"/>
            <p:cNvSpPr txBox="1"/>
            <p:nvPr/>
          </p:nvSpPr>
          <p:spPr>
            <a:xfrm>
              <a:off x="1428549" y="3287078"/>
              <a:ext cx="1023386" cy="205359"/>
            </a:xfrm>
            <a:prstGeom prst="rect">
              <a:avLst/>
            </a:prstGeom>
            <a:noFill/>
            <a:ln>
              <a:noFill/>
            </a:ln>
          </p:spPr>
          <p:txBody>
            <a:bodyPr wrap="none" lIns="0" tIns="0" rIns="0" bIns="0" anchor="t" anchorCtr="0">
              <a:spAutoFit/>
            </a:bodyPr>
            <a:lstStyle/>
            <a:p>
              <a:pPr algn="ctr"/>
              <a:r>
                <a:rPr lang="zh-CN" sz="1050" b="1" dirty="0">
                  <a:solidFill>
                    <a:srgbClr val="243B53"/>
                  </a:solidFill>
                  <a:latin typeface="+mn-lt"/>
                  <a:ea typeface="+mn-ea"/>
                  <a:cs typeface="+mn-cs"/>
                </a:rPr>
                <a:t>OpenFlow 通道</a:t>
              </a:r>
            </a:p>
          </p:txBody>
        </p:sp>
        <p:sp>
          <p:nvSpPr>
            <p:cNvPr id="35" name="TextBox 35"/>
            <p:cNvSpPr txBox="1"/>
            <p:nvPr/>
          </p:nvSpPr>
          <p:spPr>
            <a:xfrm>
              <a:off x="3632835" y="3287078"/>
              <a:ext cx="293370" cy="205359"/>
            </a:xfrm>
            <a:prstGeom prst="rect">
              <a:avLst/>
            </a:prstGeom>
            <a:noFill/>
            <a:ln>
              <a:noFill/>
            </a:ln>
          </p:spPr>
          <p:txBody>
            <a:bodyPr wrap="none" lIns="0" tIns="0" rIns="0" bIns="0" anchor="t" anchorCtr="0">
              <a:spAutoFit/>
            </a:bodyPr>
            <a:lstStyle/>
            <a:p>
              <a:pPr algn="ctr"/>
              <a:r>
                <a:rPr lang="zh-CN" sz="1050" b="1" dirty="0">
                  <a:solidFill>
                    <a:srgbClr val="243B53"/>
                  </a:solidFill>
                  <a:latin typeface="+mn-lt"/>
                  <a:ea typeface="+mn-ea"/>
                  <a:cs typeface="+mn-cs"/>
                </a:rPr>
                <a:t>组表</a:t>
              </a:r>
            </a:p>
          </p:txBody>
        </p:sp>
        <p:sp>
          <p:nvSpPr>
            <p:cNvPr id="36" name="TextBox 36"/>
            <p:cNvSpPr txBox="1"/>
            <p:nvPr/>
          </p:nvSpPr>
          <p:spPr>
            <a:xfrm>
              <a:off x="4806124" y="3287078"/>
              <a:ext cx="434721" cy="205359"/>
            </a:xfrm>
            <a:prstGeom prst="rect">
              <a:avLst/>
            </a:prstGeom>
            <a:noFill/>
            <a:ln>
              <a:noFill/>
            </a:ln>
          </p:spPr>
          <p:txBody>
            <a:bodyPr wrap="none" lIns="0" tIns="0" rIns="0" bIns="0" anchor="t" anchorCtr="0">
              <a:spAutoFit/>
            </a:bodyPr>
            <a:lstStyle/>
            <a:p>
              <a:pPr algn="ctr"/>
              <a:r>
                <a:rPr lang="zh-CN" sz="1050" b="1" dirty="0">
                  <a:solidFill>
                    <a:srgbClr val="243B53"/>
                  </a:solidFill>
                  <a:latin typeface="+mn-lt"/>
                  <a:ea typeface="+mn-ea"/>
                  <a:cs typeface="+mn-cs"/>
                </a:rPr>
                <a:t>计量表</a:t>
              </a:r>
            </a:p>
          </p:txBody>
        </p:sp>
        <p:sp>
          <p:nvSpPr>
            <p:cNvPr id="37" name="TextBox 37"/>
            <p:cNvSpPr txBox="1"/>
            <p:nvPr/>
          </p:nvSpPr>
          <p:spPr>
            <a:xfrm>
              <a:off x="873442" y="4533900"/>
              <a:ext cx="293370" cy="205359"/>
            </a:xfrm>
            <a:prstGeom prst="rect">
              <a:avLst/>
            </a:prstGeom>
            <a:noFill/>
            <a:ln>
              <a:noFill/>
            </a:ln>
          </p:spPr>
          <p:txBody>
            <a:bodyPr wrap="none" lIns="0" tIns="0" rIns="0" bIns="0" anchor="t" anchorCtr="0">
              <a:spAutoFit/>
            </a:bodyPr>
            <a:lstStyle/>
            <a:p>
              <a:pPr algn="ctr"/>
              <a:r>
                <a:rPr lang="zh-CN" sz="1050" b="1" dirty="0">
                  <a:solidFill>
                    <a:srgbClr val="1F2937"/>
                  </a:solidFill>
                  <a:latin typeface="+mn-lt"/>
                  <a:ea typeface="+mn-ea"/>
                  <a:cs typeface="+mn-cs"/>
                </a:rPr>
                <a:t>端口</a:t>
              </a:r>
            </a:p>
          </p:txBody>
        </p:sp>
        <p:sp>
          <p:nvSpPr>
            <p:cNvPr id="38" name="TextBox 38"/>
            <p:cNvSpPr txBox="1"/>
            <p:nvPr/>
          </p:nvSpPr>
          <p:spPr>
            <a:xfrm>
              <a:off x="1838112" y="4533900"/>
              <a:ext cx="419526" cy="205359"/>
            </a:xfrm>
            <a:prstGeom prst="rect">
              <a:avLst/>
            </a:prstGeom>
            <a:noFill/>
            <a:ln>
              <a:noFill/>
            </a:ln>
          </p:spPr>
          <p:txBody>
            <a:bodyPr wrap="none" lIns="0" tIns="0" rIns="0" bIns="0" anchor="t" anchorCtr="0">
              <a:spAutoFit/>
            </a:bodyPr>
            <a:lstStyle/>
            <a:p>
              <a:pPr algn="ctr"/>
              <a:r>
                <a:rPr lang="zh-CN" sz="1050" b="1" dirty="0">
                  <a:solidFill>
                    <a:srgbClr val="1F2937"/>
                  </a:solidFill>
                  <a:latin typeface="+mn-lt"/>
                  <a:ea typeface="+mn-ea"/>
                  <a:cs typeface="+mn-cs"/>
                </a:rPr>
                <a:t>流表 0</a:t>
              </a:r>
            </a:p>
          </p:txBody>
        </p:sp>
        <p:sp>
          <p:nvSpPr>
            <p:cNvPr id="39" name="TextBox 39"/>
            <p:cNvSpPr txBox="1"/>
            <p:nvPr/>
          </p:nvSpPr>
          <p:spPr>
            <a:xfrm>
              <a:off x="2866812" y="4533900"/>
              <a:ext cx="419526" cy="205359"/>
            </a:xfrm>
            <a:prstGeom prst="rect">
              <a:avLst/>
            </a:prstGeom>
            <a:noFill/>
            <a:ln>
              <a:noFill/>
            </a:ln>
          </p:spPr>
          <p:txBody>
            <a:bodyPr wrap="none" lIns="0" tIns="0" rIns="0" bIns="0" anchor="t" anchorCtr="0">
              <a:spAutoFit/>
            </a:bodyPr>
            <a:lstStyle/>
            <a:p>
              <a:pPr algn="ctr"/>
              <a:r>
                <a:rPr lang="zh-CN" sz="1050" b="1" dirty="0">
                  <a:solidFill>
                    <a:srgbClr val="1F2937"/>
                  </a:solidFill>
                  <a:latin typeface="+mn-lt"/>
                  <a:ea typeface="+mn-ea"/>
                  <a:cs typeface="+mn-cs"/>
                </a:rPr>
                <a:t>流表 1</a:t>
              </a:r>
            </a:p>
          </p:txBody>
        </p:sp>
        <p:sp>
          <p:nvSpPr>
            <p:cNvPr id="40" name="TextBox 40"/>
            <p:cNvSpPr txBox="1"/>
            <p:nvPr/>
          </p:nvSpPr>
          <p:spPr>
            <a:xfrm>
              <a:off x="3787663" y="4533900"/>
              <a:ext cx="92298" cy="205359"/>
            </a:xfrm>
            <a:prstGeom prst="rect">
              <a:avLst/>
            </a:prstGeom>
            <a:noFill/>
            <a:ln>
              <a:noFill/>
            </a:ln>
          </p:spPr>
          <p:txBody>
            <a:bodyPr wrap="none" lIns="0" tIns="0" rIns="0" bIns="0" anchor="t" anchorCtr="0">
              <a:spAutoFit/>
            </a:bodyPr>
            <a:lstStyle/>
            <a:p>
              <a:pPr algn="ctr"/>
              <a:r>
                <a:rPr lang="zh-CN" sz="1050" b="1" dirty="0">
                  <a:solidFill>
                    <a:srgbClr val="1F2937"/>
                  </a:solidFill>
                  <a:latin typeface="+mn-lt"/>
                  <a:ea typeface="+mn-ea"/>
                  <a:cs typeface="+mn-cs"/>
                </a:rPr>
                <a:t>…</a:t>
              </a:r>
            </a:p>
          </p:txBody>
        </p:sp>
        <p:sp>
          <p:nvSpPr>
            <p:cNvPr id="41" name="TextBox 41"/>
            <p:cNvSpPr txBox="1"/>
            <p:nvPr/>
          </p:nvSpPr>
          <p:spPr>
            <a:xfrm>
              <a:off x="4381287" y="4533900"/>
              <a:ext cx="419526" cy="205359"/>
            </a:xfrm>
            <a:prstGeom prst="rect">
              <a:avLst/>
            </a:prstGeom>
            <a:noFill/>
            <a:ln>
              <a:noFill/>
            </a:ln>
          </p:spPr>
          <p:txBody>
            <a:bodyPr wrap="none" lIns="0" tIns="0" rIns="0" bIns="0" anchor="t" anchorCtr="0">
              <a:spAutoFit/>
            </a:bodyPr>
            <a:lstStyle/>
            <a:p>
              <a:pPr algn="ctr"/>
              <a:r>
                <a:rPr lang="zh-CN" sz="1050" b="1" dirty="0">
                  <a:solidFill>
                    <a:srgbClr val="1F2937"/>
                  </a:solidFill>
                  <a:latin typeface="+mn-lt"/>
                  <a:ea typeface="+mn-ea"/>
                  <a:cs typeface="+mn-cs"/>
                </a:rPr>
                <a:t>流表 n</a:t>
              </a:r>
            </a:p>
          </p:txBody>
        </p:sp>
        <p:sp>
          <p:nvSpPr>
            <p:cNvPr id="42" name="TextBox 42"/>
            <p:cNvSpPr txBox="1"/>
            <p:nvPr/>
          </p:nvSpPr>
          <p:spPr>
            <a:xfrm>
              <a:off x="5310188" y="4533900"/>
              <a:ext cx="293370" cy="205359"/>
            </a:xfrm>
            <a:prstGeom prst="rect">
              <a:avLst/>
            </a:prstGeom>
            <a:noFill/>
            <a:ln>
              <a:noFill/>
            </a:ln>
          </p:spPr>
          <p:txBody>
            <a:bodyPr wrap="none" lIns="0" tIns="0" rIns="0" bIns="0" anchor="t" anchorCtr="0">
              <a:spAutoFit/>
            </a:bodyPr>
            <a:lstStyle/>
            <a:p>
              <a:pPr algn="ctr"/>
              <a:r>
                <a:rPr lang="zh-CN" sz="1050" b="1" dirty="0">
                  <a:solidFill>
                    <a:srgbClr val="1F2937"/>
                  </a:solidFill>
                  <a:latin typeface="+mn-lt"/>
                  <a:ea typeface="+mn-ea"/>
                  <a:cs typeface="+mn-cs"/>
                </a:rPr>
                <a:t>端口</a:t>
              </a:r>
            </a:p>
          </p:txBody>
        </p:sp>
        <p:sp>
          <p:nvSpPr>
            <p:cNvPr id="43" name="Rectangle 43"/>
            <p:cNvSpPr/>
            <p:nvPr/>
          </p:nvSpPr>
          <p:spPr>
            <a:xfrm>
              <a:off x="1599248" y="2501265"/>
              <a:ext cx="789622" cy="146685"/>
            </a:xfrm>
            <a:prstGeom prst="roundRect">
              <a:avLst>
                <a:gd name="adj" fmla="val 25974"/>
              </a:avLst>
            </a:prstGeom>
            <a:solidFill>
              <a:srgbClr val="FFFFFF"/>
            </a:solidFill>
            <a:ln>
              <a:noFill/>
            </a:ln>
          </p:spPr>
        </p:sp>
        <p:sp>
          <p:nvSpPr>
            <p:cNvPr id="44" name="TextBox 44"/>
            <p:cNvSpPr txBox="1"/>
            <p:nvPr/>
          </p:nvSpPr>
          <p:spPr>
            <a:xfrm>
              <a:off x="1607904" y="2530316"/>
              <a:ext cx="773262" cy="161925"/>
            </a:xfrm>
            <a:prstGeom prst="rect">
              <a:avLst/>
            </a:prstGeom>
            <a:noFill/>
            <a:ln>
              <a:noFill/>
            </a:ln>
          </p:spPr>
          <p:txBody>
            <a:bodyPr wrap="none" lIns="0" tIns="0" rIns="0" bIns="0" anchor="t" anchorCtr="0">
              <a:spAutoFit/>
            </a:bodyPr>
            <a:lstStyle/>
            <a:p>
              <a:pPr algn="ctr"/>
              <a:r>
                <a:rPr lang="zh-CN" sz="820" dirty="0">
                  <a:solidFill>
                    <a:srgbClr val="C2410C"/>
                  </a:solidFill>
                  <a:latin typeface="+mn-lt"/>
                  <a:ea typeface="+mn-ea"/>
                  <a:cs typeface="+mn-cs"/>
                </a:rPr>
                <a:t>OpenFlow 协议</a:t>
              </a:r>
            </a:p>
          </p:txBody>
        </p:sp>
        <p:sp>
          <p:nvSpPr>
            <p:cNvPr id="45" name="TextBox 45"/>
            <p:cNvSpPr txBox="1"/>
            <p:nvPr/>
          </p:nvSpPr>
          <p:spPr>
            <a:xfrm>
              <a:off x="2037433" y="5193030"/>
              <a:ext cx="2402134" cy="205359"/>
            </a:xfrm>
            <a:prstGeom prst="rect">
              <a:avLst/>
            </a:prstGeom>
            <a:noFill/>
            <a:ln>
              <a:noFill/>
            </a:ln>
          </p:spPr>
          <p:txBody>
            <a:bodyPr wrap="none" lIns="0" tIns="0" rIns="0" bIns="0" anchor="t" anchorCtr="0">
              <a:spAutoFit/>
            </a:bodyPr>
            <a:lstStyle/>
            <a:p>
              <a:pPr algn="ctr"/>
              <a:r>
                <a:rPr lang="zh-CN" sz="1050" dirty="0">
                  <a:solidFill>
                    <a:srgbClr val="5B6475"/>
                  </a:solidFill>
                  <a:latin typeface="+mn-lt"/>
                  <a:ea typeface="+mn-ea"/>
                  <a:cs typeface="+mn-cs"/>
                </a:rPr>
                <a:t>OpenFlow 交换机：流水线处理数据包</a:t>
              </a:r>
            </a:p>
          </p:txBody>
        </p:sp>
      </p:grpSp>
      <p:grpSp>
        <p:nvGrpSpPr>
          <p:cNvPr id="64" name="c2-kv-1"/>
          <p:cNvGrpSpPr/>
          <p:nvPr/>
        </p:nvGrpSpPr>
        <p:grpSpPr>
          <a:xfrm>
            <a:off x="6241923" y="1545431"/>
            <a:ext cx="5416677" cy="3318319"/>
            <a:chOff x="6241923" y="1545431"/>
            <a:chExt cx="5416677" cy="3318319"/>
          </a:xfrm>
        </p:grpSpPr>
        <p:sp>
          <p:nvSpPr>
            <p:cNvPr id="47" name="TextBox 47"/>
            <p:cNvSpPr txBox="1"/>
            <p:nvPr/>
          </p:nvSpPr>
          <p:spPr>
            <a:xfrm>
              <a:off x="6241923" y="1545431"/>
              <a:ext cx="529895" cy="249364"/>
            </a:xfrm>
            <a:prstGeom prst="rect">
              <a:avLst/>
            </a:prstGeom>
            <a:noFill/>
            <a:ln>
              <a:noFill/>
            </a:ln>
          </p:spPr>
          <p:txBody>
            <a:bodyPr wrap="none" lIns="0" tIns="0" rIns="0" bIns="0" anchor="t" anchorCtr="0">
              <a:spAutoFit/>
            </a:bodyPr>
            <a:lstStyle/>
            <a:p>
              <a:pPr algn="l"/>
              <a:r>
                <a:rPr lang="zh-CN" sz="1280" b="1" dirty="0">
                  <a:solidFill>
                    <a:srgbClr val="334E68"/>
                  </a:solidFill>
                  <a:latin typeface="+mn-lt"/>
                  <a:ea typeface="+mn-ea"/>
                  <a:cs typeface="+mn-cs"/>
                </a:rPr>
                <a:t>控制器</a:t>
              </a:r>
            </a:p>
          </p:txBody>
        </p:sp>
        <p:sp>
          <p:nvSpPr>
            <p:cNvPr id="48" name="TextBox 48"/>
            <p:cNvSpPr txBox="1"/>
            <p:nvPr/>
          </p:nvSpPr>
          <p:spPr>
            <a:xfrm>
              <a:off x="7648766" y="1545431"/>
              <a:ext cx="2942285"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控制网络设备转发行为的程序或服务器</a:t>
              </a:r>
            </a:p>
          </p:txBody>
        </p:sp>
        <p:sp>
          <p:nvSpPr>
            <p:cNvPr id="49" name="Rectangle 49"/>
            <p:cNvSpPr/>
            <p:nvPr/>
          </p:nvSpPr>
          <p:spPr>
            <a:xfrm>
              <a:off x="6248400" y="1817370"/>
              <a:ext cx="5410200" cy="9525"/>
            </a:xfrm>
            <a:prstGeom prst="rect">
              <a:avLst/>
            </a:prstGeom>
            <a:solidFill>
              <a:srgbClr val="D9DFEA"/>
            </a:solidFill>
            <a:ln>
              <a:noFill/>
            </a:ln>
          </p:spPr>
        </p:sp>
        <p:sp>
          <p:nvSpPr>
            <p:cNvPr id="50" name="TextBox 50"/>
            <p:cNvSpPr txBox="1"/>
            <p:nvPr/>
          </p:nvSpPr>
          <p:spPr>
            <a:xfrm>
              <a:off x="6241923" y="1918811"/>
              <a:ext cx="1247506" cy="249364"/>
            </a:xfrm>
            <a:prstGeom prst="rect">
              <a:avLst/>
            </a:prstGeom>
            <a:noFill/>
            <a:ln>
              <a:noFill/>
            </a:ln>
          </p:spPr>
          <p:txBody>
            <a:bodyPr wrap="none" lIns="0" tIns="0" rIns="0" bIns="0" anchor="t" anchorCtr="0">
              <a:spAutoFit/>
            </a:bodyPr>
            <a:lstStyle/>
            <a:p>
              <a:pPr algn="l"/>
              <a:r>
                <a:rPr lang="zh-CN" sz="1280" b="1" dirty="0">
                  <a:solidFill>
                    <a:srgbClr val="334E68"/>
                  </a:solidFill>
                  <a:latin typeface="+mn-lt"/>
                  <a:ea typeface="+mn-ea"/>
                  <a:cs typeface="+mn-cs"/>
                </a:rPr>
                <a:t>OpenFlow 通道</a:t>
              </a:r>
            </a:p>
          </p:txBody>
        </p:sp>
        <p:sp>
          <p:nvSpPr>
            <p:cNvPr id="51" name="TextBox 51"/>
            <p:cNvSpPr txBox="1"/>
            <p:nvPr/>
          </p:nvSpPr>
          <p:spPr>
            <a:xfrm>
              <a:off x="7648766" y="1918811"/>
              <a:ext cx="3803853"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控制器与转发设备之间稳定、安全的控制信息通道</a:t>
              </a:r>
            </a:p>
          </p:txBody>
        </p:sp>
        <p:sp>
          <p:nvSpPr>
            <p:cNvPr id="52" name="Rectangle 52"/>
            <p:cNvSpPr/>
            <p:nvPr/>
          </p:nvSpPr>
          <p:spPr>
            <a:xfrm>
              <a:off x="6248400" y="2190750"/>
              <a:ext cx="5410200" cy="9525"/>
            </a:xfrm>
            <a:prstGeom prst="rect">
              <a:avLst/>
            </a:prstGeom>
            <a:solidFill>
              <a:srgbClr val="D9DFEA"/>
            </a:solidFill>
            <a:ln>
              <a:noFill/>
            </a:ln>
          </p:spPr>
        </p:sp>
        <p:sp>
          <p:nvSpPr>
            <p:cNvPr id="53" name="TextBox 53"/>
            <p:cNvSpPr txBox="1"/>
            <p:nvPr/>
          </p:nvSpPr>
          <p:spPr>
            <a:xfrm>
              <a:off x="6241923" y="2293144"/>
              <a:ext cx="357581" cy="249364"/>
            </a:xfrm>
            <a:prstGeom prst="rect">
              <a:avLst/>
            </a:prstGeom>
            <a:noFill/>
            <a:ln>
              <a:noFill/>
            </a:ln>
          </p:spPr>
          <p:txBody>
            <a:bodyPr wrap="none" lIns="0" tIns="0" rIns="0" bIns="0" anchor="t" anchorCtr="0">
              <a:spAutoFit/>
            </a:bodyPr>
            <a:lstStyle/>
            <a:p>
              <a:pPr algn="l"/>
              <a:r>
                <a:rPr lang="zh-CN" sz="1280" b="1" dirty="0">
                  <a:solidFill>
                    <a:srgbClr val="334E68"/>
                  </a:solidFill>
                  <a:latin typeface="+mn-lt"/>
                  <a:ea typeface="+mn-ea"/>
                  <a:cs typeface="+mn-cs"/>
                </a:rPr>
                <a:t>端口</a:t>
              </a:r>
            </a:p>
          </p:txBody>
        </p:sp>
        <p:sp>
          <p:nvSpPr>
            <p:cNvPr id="54" name="TextBox 54"/>
            <p:cNvSpPr txBox="1"/>
            <p:nvPr/>
          </p:nvSpPr>
          <p:spPr>
            <a:xfrm>
              <a:off x="7648766" y="2293144"/>
              <a:ext cx="3451098" cy="729425"/>
            </a:xfrm>
            <a:prstGeom prst="rect">
              <a:avLst/>
            </a:prstGeom>
            <a:noFill/>
            <a:ln>
              <a:noFill/>
            </a:ln>
          </p:spPr>
          <p:txBody>
            <a:bodyPr wrap="none" lIns="0" tIns="0" rIns="0" bIns="0" anchor="t" anchorCtr="0">
              <a:spAutoFit/>
            </a:bodyPr>
            <a:lstStyle/>
            <a:p>
              <a:pPr algn="l">
                <a:lnSpc>
                  <a:spcPts val="1890"/>
                </a:lnSpc>
              </a:pPr>
              <a:r>
                <a:rPr lang="zh-CN" sz="1280" dirty="0">
                  <a:solidFill>
                    <a:srgbClr val="1F2937"/>
                  </a:solidFill>
                  <a:latin typeface="+mn-lt"/>
                  <a:ea typeface="+mn-ea"/>
                  <a:cs typeface="+mn-cs"/>
                </a:rPr>
                <a:t>物理端口（真实的转发端口）、逻辑端口（all、</a:t>
              </a:r>
              <a:br/>
              <a:r>
                <a:rPr lang="zh-CN" sz="1280" dirty="0">
                  <a:solidFill>
                    <a:srgbClr val="1F2937"/>
                  </a:solidFill>
                  <a:latin typeface="+mn-lt"/>
                  <a:ea typeface="+mn-ea"/>
                  <a:cs typeface="+mn-cs"/>
                </a:rPr>
                <a:t>group 等）、保留端口（如连控制器的</a:t>
              </a:r>
              <a:br/>
              <a:r>
                <a:rPr lang="zh-CN" sz="1280" dirty="0">
                  <a:solidFill>
                    <a:srgbClr val="1F2937"/>
                  </a:solidFill>
                  <a:latin typeface="+mn-lt"/>
                  <a:ea typeface="+mn-ea"/>
                  <a:cs typeface="+mn-cs"/>
                </a:rPr>
                <a:t>controller）</a:t>
              </a:r>
            </a:p>
          </p:txBody>
        </p:sp>
        <p:sp>
          <p:nvSpPr>
            <p:cNvPr id="55" name="Rectangle 55"/>
            <p:cNvSpPr/>
            <p:nvPr/>
          </p:nvSpPr>
          <p:spPr>
            <a:xfrm>
              <a:off x="6248400" y="3044190"/>
              <a:ext cx="5410200" cy="9525"/>
            </a:xfrm>
            <a:prstGeom prst="rect">
              <a:avLst/>
            </a:prstGeom>
            <a:solidFill>
              <a:srgbClr val="D9DFEA"/>
            </a:solidFill>
            <a:ln>
              <a:noFill/>
            </a:ln>
          </p:spPr>
        </p:sp>
        <p:sp>
          <p:nvSpPr>
            <p:cNvPr id="56" name="TextBox 56"/>
            <p:cNvSpPr txBox="1"/>
            <p:nvPr/>
          </p:nvSpPr>
          <p:spPr>
            <a:xfrm>
              <a:off x="6241923" y="3146584"/>
              <a:ext cx="357581" cy="249364"/>
            </a:xfrm>
            <a:prstGeom prst="rect">
              <a:avLst/>
            </a:prstGeom>
            <a:noFill/>
            <a:ln>
              <a:noFill/>
            </a:ln>
          </p:spPr>
          <p:txBody>
            <a:bodyPr wrap="none" lIns="0" tIns="0" rIns="0" bIns="0" anchor="t" anchorCtr="0">
              <a:spAutoFit/>
            </a:bodyPr>
            <a:lstStyle/>
            <a:p>
              <a:pPr algn="l"/>
              <a:r>
                <a:rPr lang="zh-CN" sz="1280" b="1" dirty="0">
                  <a:solidFill>
                    <a:srgbClr val="334E68"/>
                  </a:solidFill>
                  <a:latin typeface="+mn-lt"/>
                  <a:ea typeface="+mn-ea"/>
                  <a:cs typeface="+mn-cs"/>
                </a:rPr>
                <a:t>流表</a:t>
              </a:r>
            </a:p>
          </p:txBody>
        </p:sp>
        <p:sp>
          <p:nvSpPr>
            <p:cNvPr id="57" name="TextBox 57"/>
            <p:cNvSpPr txBox="1"/>
            <p:nvPr/>
          </p:nvSpPr>
          <p:spPr>
            <a:xfrm>
              <a:off x="7648766" y="3146584"/>
              <a:ext cx="3751834" cy="489394"/>
            </a:xfrm>
            <a:prstGeom prst="rect">
              <a:avLst/>
            </a:prstGeom>
            <a:noFill/>
            <a:ln>
              <a:noFill/>
            </a:ln>
          </p:spPr>
          <p:txBody>
            <a:bodyPr wrap="none" lIns="0" tIns="0" rIns="0" bIns="0" anchor="t" anchorCtr="0">
              <a:spAutoFit/>
            </a:bodyPr>
            <a:lstStyle/>
            <a:p>
              <a:pPr algn="l">
                <a:lnSpc>
                  <a:spcPts val="1890"/>
                </a:lnSpc>
              </a:pPr>
              <a:r>
                <a:rPr lang="zh-CN" sz="1280" dirty="0">
                  <a:solidFill>
                    <a:srgbClr val="1F2937"/>
                  </a:solidFill>
                  <a:latin typeface="+mn-lt"/>
                  <a:ea typeface="+mn-ea"/>
                  <a:cs typeface="+mn-cs"/>
                </a:rPr>
                <a:t>由控制器控制、转发设备管理；设备收到数据包后按</a:t>
              </a:r>
              <a:br/>
              <a:r>
                <a:rPr lang="zh-CN" sz="1280" dirty="0">
                  <a:solidFill>
                    <a:srgbClr val="1F2937"/>
                  </a:solidFill>
                  <a:latin typeface="+mn-lt"/>
                  <a:ea typeface="+mn-ea"/>
                  <a:cs typeface="+mn-cs"/>
                </a:rPr>
                <a:t>流表决定怎样转发</a:t>
              </a:r>
            </a:p>
          </p:txBody>
        </p:sp>
        <p:sp>
          <p:nvSpPr>
            <p:cNvPr id="58" name="Rectangle 58"/>
            <p:cNvSpPr/>
            <p:nvPr/>
          </p:nvSpPr>
          <p:spPr>
            <a:xfrm>
              <a:off x="6248400" y="3658552"/>
              <a:ext cx="5410200" cy="9525"/>
            </a:xfrm>
            <a:prstGeom prst="rect">
              <a:avLst/>
            </a:prstGeom>
            <a:solidFill>
              <a:srgbClr val="D9DFEA"/>
            </a:solidFill>
            <a:ln>
              <a:noFill/>
            </a:ln>
          </p:spPr>
        </p:sp>
        <p:sp>
          <p:nvSpPr>
            <p:cNvPr id="59" name="TextBox 59"/>
            <p:cNvSpPr txBox="1"/>
            <p:nvPr/>
          </p:nvSpPr>
          <p:spPr>
            <a:xfrm>
              <a:off x="6241923" y="3759994"/>
              <a:ext cx="357581" cy="249364"/>
            </a:xfrm>
            <a:prstGeom prst="rect">
              <a:avLst/>
            </a:prstGeom>
            <a:noFill/>
            <a:ln>
              <a:noFill/>
            </a:ln>
          </p:spPr>
          <p:txBody>
            <a:bodyPr wrap="none" lIns="0" tIns="0" rIns="0" bIns="0" anchor="t" anchorCtr="0">
              <a:spAutoFit/>
            </a:bodyPr>
            <a:lstStyle/>
            <a:p>
              <a:pPr algn="l"/>
              <a:r>
                <a:rPr lang="zh-CN" sz="1280" b="1" dirty="0">
                  <a:solidFill>
                    <a:srgbClr val="334E68"/>
                  </a:solidFill>
                  <a:latin typeface="+mn-lt"/>
                  <a:ea typeface="+mn-ea"/>
                  <a:cs typeface="+mn-cs"/>
                </a:rPr>
                <a:t>组表</a:t>
              </a:r>
            </a:p>
          </p:txBody>
        </p:sp>
        <p:sp>
          <p:nvSpPr>
            <p:cNvPr id="60" name="TextBox 60"/>
            <p:cNvSpPr txBox="1"/>
            <p:nvPr/>
          </p:nvSpPr>
          <p:spPr>
            <a:xfrm>
              <a:off x="7648766" y="3759994"/>
              <a:ext cx="3751834" cy="489394"/>
            </a:xfrm>
            <a:prstGeom prst="rect">
              <a:avLst/>
            </a:prstGeom>
            <a:noFill/>
            <a:ln>
              <a:noFill/>
            </a:ln>
          </p:spPr>
          <p:txBody>
            <a:bodyPr wrap="none" lIns="0" tIns="0" rIns="0" bIns="0" anchor="t" anchorCtr="0">
              <a:spAutoFit/>
            </a:bodyPr>
            <a:lstStyle/>
            <a:p>
              <a:pPr algn="l">
                <a:lnSpc>
                  <a:spcPts val="1890"/>
                </a:lnSpc>
              </a:pPr>
              <a:r>
                <a:rPr lang="zh-CN" sz="1280" dirty="0">
                  <a:solidFill>
                    <a:srgbClr val="1F2937"/>
                  </a:solidFill>
                  <a:latin typeface="+mn-lt"/>
                  <a:ea typeface="+mn-ea"/>
                  <a:cs typeface="+mn-cs"/>
                </a:rPr>
                <a:t>同一组标识的数据包执行同一组动作，适合广播、多</a:t>
              </a:r>
              <a:br/>
              <a:r>
                <a:rPr lang="zh-CN" sz="1280" dirty="0">
                  <a:solidFill>
                    <a:srgbClr val="1F2937"/>
                  </a:solidFill>
                  <a:latin typeface="+mn-lt"/>
                  <a:ea typeface="+mn-ea"/>
                  <a:cs typeface="+mn-cs"/>
                </a:rPr>
                <a:t>播</a:t>
              </a:r>
            </a:p>
          </p:txBody>
        </p:sp>
        <p:sp>
          <p:nvSpPr>
            <p:cNvPr id="61" name="Rectangle 61"/>
            <p:cNvSpPr/>
            <p:nvPr/>
          </p:nvSpPr>
          <p:spPr>
            <a:xfrm>
              <a:off x="6248400" y="4271962"/>
              <a:ext cx="5410200" cy="9525"/>
            </a:xfrm>
            <a:prstGeom prst="rect">
              <a:avLst/>
            </a:prstGeom>
            <a:solidFill>
              <a:srgbClr val="D9DFEA"/>
            </a:solidFill>
            <a:ln>
              <a:noFill/>
            </a:ln>
          </p:spPr>
        </p:sp>
        <p:sp>
          <p:nvSpPr>
            <p:cNvPr id="62" name="TextBox 62"/>
            <p:cNvSpPr txBox="1"/>
            <p:nvPr/>
          </p:nvSpPr>
          <p:spPr>
            <a:xfrm>
              <a:off x="6241923" y="4374356"/>
              <a:ext cx="529895" cy="249364"/>
            </a:xfrm>
            <a:prstGeom prst="rect">
              <a:avLst/>
            </a:prstGeom>
            <a:noFill/>
            <a:ln>
              <a:noFill/>
            </a:ln>
          </p:spPr>
          <p:txBody>
            <a:bodyPr wrap="none" lIns="0" tIns="0" rIns="0" bIns="0" anchor="t" anchorCtr="0">
              <a:spAutoFit/>
            </a:bodyPr>
            <a:lstStyle/>
            <a:p>
              <a:pPr algn="l"/>
              <a:r>
                <a:rPr lang="zh-CN" sz="1280" b="1" dirty="0">
                  <a:solidFill>
                    <a:srgbClr val="334E68"/>
                  </a:solidFill>
                  <a:latin typeface="+mn-lt"/>
                  <a:ea typeface="+mn-ea"/>
                  <a:cs typeface="+mn-cs"/>
                </a:rPr>
                <a:t>计量表</a:t>
              </a:r>
            </a:p>
          </p:txBody>
        </p:sp>
        <p:sp>
          <p:nvSpPr>
            <p:cNvPr id="63" name="TextBox 63"/>
            <p:cNvSpPr txBox="1"/>
            <p:nvPr/>
          </p:nvSpPr>
          <p:spPr>
            <a:xfrm>
              <a:off x="7648766" y="4374356"/>
              <a:ext cx="3751834" cy="489394"/>
            </a:xfrm>
            <a:prstGeom prst="rect">
              <a:avLst/>
            </a:prstGeom>
            <a:noFill/>
            <a:ln>
              <a:noFill/>
            </a:ln>
          </p:spPr>
          <p:txBody>
            <a:bodyPr wrap="none" lIns="0" tIns="0" rIns="0" bIns="0" anchor="t" anchorCtr="0">
              <a:spAutoFit/>
            </a:bodyPr>
            <a:lstStyle/>
            <a:p>
              <a:pPr algn="l">
                <a:lnSpc>
                  <a:spcPts val="1890"/>
                </a:lnSpc>
              </a:pPr>
              <a:r>
                <a:rPr lang="zh-CN" sz="1280" dirty="0">
                  <a:solidFill>
                    <a:srgbClr val="1F2937"/>
                  </a:solidFill>
                  <a:latin typeface="+mn-lt"/>
                  <a:ea typeface="+mn-ea"/>
                  <a:cs typeface="+mn-cs"/>
                </a:rPr>
                <a:t>对特定数据流做限速等约束，实现简单的服务质量保</a:t>
              </a:r>
              <a:br/>
              <a:r>
                <a:rPr lang="zh-CN" sz="1280" dirty="0">
                  <a:solidFill>
                    <a:srgbClr val="1F2937"/>
                  </a:solidFill>
                  <a:latin typeface="+mn-lt"/>
                  <a:ea typeface="+mn-ea"/>
                  <a:cs typeface="+mn-cs"/>
                </a:rPr>
                <a:t>障</a:t>
              </a:r>
            </a:p>
          </p:txBody>
        </p:sp>
      </p:grpSp>
      <p:grpSp>
        <p:nvGrpSpPr>
          <p:cNvPr id="70" name="c2-callout-2"/>
          <p:cNvGrpSpPr/>
          <p:nvPr/>
        </p:nvGrpSpPr>
        <p:grpSpPr>
          <a:xfrm>
            <a:off x="6248400" y="4977765"/>
            <a:ext cx="5410200" cy="702945"/>
            <a:chOff x="6248400" y="4977765"/>
            <a:chExt cx="5410200" cy="702945"/>
          </a:xfrm>
        </p:grpSpPr>
        <p:sp>
          <p:nvSpPr>
            <p:cNvPr id="65" name="Rectangle 65"/>
            <p:cNvSpPr/>
            <p:nvPr/>
          </p:nvSpPr>
          <p:spPr>
            <a:xfrm>
              <a:off x="6248400" y="4977765"/>
              <a:ext cx="5410200" cy="702945"/>
            </a:xfrm>
            <a:prstGeom prst="roundRect">
              <a:avLst>
                <a:gd name="adj" fmla="val 16260"/>
              </a:avLst>
            </a:prstGeom>
            <a:solidFill>
              <a:srgbClr val="334E68"/>
            </a:solidFill>
            <a:ln>
              <a:noFill/>
            </a:ln>
          </p:spPr>
        </p:sp>
        <p:grpSp>
          <p:nvGrpSpPr>
            <p:cNvPr id="68" name="Group 68"/>
            <p:cNvGrpSpPr/>
            <p:nvPr/>
          </p:nvGrpSpPr>
          <p:grpSpPr>
            <a:xfrm>
              <a:off x="6453188" y="5229227"/>
              <a:ext cx="200023" cy="200023"/>
              <a:chOff x="6453188" y="5229227"/>
              <a:chExt cx="200023" cy="200023"/>
            </a:xfrm>
          </p:grpSpPr>
          <p:sp>
            <p:nvSpPr>
              <p:cNvPr id="66" name="Freeform 66"/>
              <p:cNvSpPr/>
              <p:nvPr/>
            </p:nvSpPr>
            <p:spPr>
              <a:xfrm>
                <a:off x="6453188" y="5229227"/>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67" name="Freeform 67"/>
              <p:cNvSpPr/>
              <p:nvPr/>
            </p:nvSpPr>
            <p:spPr>
              <a:xfrm>
                <a:off x="6586538" y="5295900"/>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69" name="TextBox 69"/>
            <p:cNvSpPr txBox="1"/>
            <p:nvPr/>
          </p:nvSpPr>
          <p:spPr>
            <a:xfrm>
              <a:off x="6756273" y="5122069"/>
              <a:ext cx="4402074" cy="483680"/>
            </a:xfrm>
            <a:prstGeom prst="rect">
              <a:avLst/>
            </a:prstGeom>
            <a:noFill/>
            <a:ln>
              <a:noFill/>
            </a:ln>
          </p:spPr>
          <p:txBody>
            <a:bodyPr wrap="none" lIns="0" tIns="0" rIns="0" bIns="0" anchor="t" anchorCtr="0">
              <a:spAutoFit/>
            </a:bodyPr>
            <a:lstStyle/>
            <a:p>
              <a:pPr algn="l">
                <a:lnSpc>
                  <a:spcPts val="1845"/>
                </a:lnSpc>
              </a:pPr>
              <a:r>
                <a:rPr lang="zh-CN" sz="1280" dirty="0">
                  <a:solidFill>
                    <a:srgbClr val="FFFFFF"/>
                  </a:solidFill>
                  <a:latin typeface="+mn-lt"/>
                  <a:ea typeface="+mn-ea"/>
                  <a:cs typeface="+mn-cs"/>
                </a:rPr>
                <a:t>OpenFlow 是控制器与转发设备间通信的开放协议和工业事实</a:t>
              </a:r>
              <a:br/>
              <a:r>
                <a:rPr lang="zh-CN" sz="1280" dirty="0">
                  <a:solidFill>
                    <a:srgbClr val="FFFFFF"/>
                  </a:solidFill>
                  <a:latin typeface="+mn-lt"/>
                  <a:ea typeface="+mn-ea"/>
                  <a:cs typeface="+mn-cs"/>
                </a:rPr>
                <a:t>标准，重点规范转发设备的工作特征、消息格式和工作准则。</a:t>
              </a:r>
            </a:p>
          </p:txBody>
        </p:sp>
      </p:grpSp>
      <p:grpSp>
        <p:nvGrpSpPr>
          <p:cNvPr id="73" name="footer"/>
          <p:cNvGrpSpPr/>
          <p:nvPr/>
        </p:nvGrpSpPr>
        <p:grpSpPr>
          <a:xfrm>
            <a:off x="528447" y="6581299"/>
            <a:ext cx="11135106" cy="190690"/>
            <a:chOff x="528447" y="6581299"/>
            <a:chExt cx="11135106" cy="190690"/>
          </a:xfrm>
        </p:grpSpPr>
        <p:sp>
          <p:nvSpPr>
            <p:cNvPr id="71" name="TextBox 71"/>
            <p:cNvSpPr txBox="1"/>
            <p:nvPr/>
          </p:nvSpPr>
          <p:spPr>
            <a:xfrm>
              <a:off x="528447" y="6581299"/>
              <a:ext cx="2120748"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并行与分布式计算 · 第7章 体系结构</a:t>
              </a:r>
            </a:p>
          </p:txBody>
        </p:sp>
        <p:sp>
          <p:nvSpPr>
            <p:cNvPr id="72" name="TextBox 72"/>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56</a:t>
              </a:r>
            </a:p>
          </p:txBody>
        </p:sp>
      </p:grpSp>
    </p:spTree>
  </p:cSld>
  <p:clrMapOvr>
    <a:masterClrMapping/>
  </p:clrMapOvr>
  <p:transition xmlns:p14="http://schemas.microsoft.com/office/powerpoint/2010/main" p14:dur="400">
    <p:fade/>
  </p:transition>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ection-disc"/>
          <p:cNvSpPr/>
          <p:nvPr/>
        </p:nvSpPr>
        <p:spPr>
          <a:xfrm>
            <a:off x="7715250" y="571500"/>
            <a:ext cx="5715000" cy="5715000"/>
          </a:xfrm>
          <a:prstGeom prst="ellipse">
            <a:avLst/>
          </a:prstGeom>
          <a:solidFill>
            <a:srgbClr val="334E68"/>
          </a:solidFill>
          <a:ln>
            <a:noFill/>
          </a:ln>
        </p:spPr>
      </p:sp>
      <p:sp>
        <p:nvSpPr>
          <p:cNvPr id="3" name="section-ring"/>
          <p:cNvSpPr/>
          <p:nvPr/>
        </p:nvSpPr>
        <p:spPr>
          <a:xfrm>
            <a:off x="7334250" y="190500"/>
            <a:ext cx="6477000" cy="6477000"/>
          </a:xfrm>
          <a:prstGeom prst="ellipse">
            <a:avLst/>
          </a:prstGeom>
          <a:noFill/>
          <a:ln w="133350">
            <a:solidFill>
              <a:srgbClr val="E7EDF3"/>
            </a:solidFill>
          </a:ln>
        </p:spPr>
      </p:sp>
      <p:grpSp>
        <p:nvGrpSpPr>
          <p:cNvPr id="5" name="section-num"/>
          <p:cNvGrpSpPr/>
          <p:nvPr/>
        </p:nvGrpSpPr>
        <p:grpSpPr>
          <a:xfrm>
            <a:off x="8954033" y="2705100"/>
            <a:ext cx="1903933" cy="2305050"/>
            <a:chOff x="8954033" y="2705100"/>
            <a:chExt cx="1903933" cy="2305050"/>
          </a:xfrm>
        </p:grpSpPr>
        <p:sp>
          <p:nvSpPr>
            <p:cNvPr id="4" name="TextBox 4"/>
            <p:cNvSpPr txBox="1"/>
            <p:nvPr/>
          </p:nvSpPr>
          <p:spPr>
            <a:xfrm>
              <a:off x="8954033" y="2705100"/>
              <a:ext cx="1903933" cy="2305050"/>
            </a:xfrm>
            <a:prstGeom prst="rect">
              <a:avLst/>
            </a:prstGeom>
            <a:noFill/>
            <a:ln>
              <a:noFill/>
            </a:ln>
          </p:spPr>
          <p:txBody>
            <a:bodyPr wrap="none" lIns="0" tIns="0" rIns="0" bIns="0" anchor="t" anchorCtr="0">
              <a:spAutoFit/>
            </a:bodyPr>
            <a:lstStyle/>
            <a:p>
              <a:pPr algn="ctr"/>
              <a:r>
                <a:rPr lang="zh-CN" sz="12000" b="1" dirty="0">
                  <a:solidFill>
                    <a:srgbClr val="FFFFFF"/>
                  </a:solidFill>
                  <a:latin typeface="+mn-lt"/>
                  <a:ea typeface="+mn-ea"/>
                  <a:cs typeface="+mn-cs"/>
                </a:rPr>
                <a:t>04</a:t>
              </a:r>
            </a:p>
          </p:txBody>
        </p:sp>
      </p:grpSp>
      <p:grpSp>
        <p:nvGrpSpPr>
          <p:cNvPr id="20" name="section-title"/>
          <p:cNvGrpSpPr/>
          <p:nvPr/>
        </p:nvGrpSpPr>
        <p:grpSpPr>
          <a:xfrm>
            <a:off x="667512" y="1835468"/>
            <a:ext cx="4913376" cy="3706177"/>
            <a:chOff x="667512" y="1835468"/>
            <a:chExt cx="4913376" cy="3706177"/>
          </a:xfrm>
        </p:grpSpPr>
        <p:sp>
          <p:nvSpPr>
            <p:cNvPr id="6" name="TextBox 6"/>
            <p:cNvSpPr txBox="1"/>
            <p:nvPr/>
          </p:nvSpPr>
          <p:spPr>
            <a:xfrm>
              <a:off x="678942" y="1835468"/>
              <a:ext cx="740664" cy="264033"/>
            </a:xfrm>
            <a:prstGeom prst="rect">
              <a:avLst/>
            </a:prstGeom>
            <a:noFill/>
            <a:ln>
              <a:noFill/>
            </a:ln>
          </p:spPr>
          <p:txBody>
            <a:bodyPr wrap="none" lIns="0" tIns="0" rIns="0" bIns="0" anchor="t" anchorCtr="0">
              <a:spAutoFit/>
            </a:bodyPr>
            <a:lstStyle/>
            <a:p>
              <a:pPr algn="l"/>
              <a:r>
                <a:rPr lang="zh-CN" sz="1350" b="1" dirty="0">
                  <a:solidFill>
                    <a:srgbClr val="C2410C"/>
                  </a:solidFill>
                  <a:latin typeface="+mn-lt"/>
                  <a:ea typeface="+mn-ea"/>
                  <a:cs typeface="+mn-cs"/>
                </a:rPr>
                <a:t>第四部分</a:t>
              </a:r>
            </a:p>
          </p:txBody>
        </p:sp>
        <p:sp>
          <p:nvSpPr>
            <p:cNvPr id="7" name="TextBox 7"/>
            <p:cNvSpPr txBox="1"/>
            <p:nvPr/>
          </p:nvSpPr>
          <p:spPr>
            <a:xfrm>
              <a:off x="667512" y="2240280"/>
              <a:ext cx="1975104" cy="704088"/>
            </a:xfrm>
            <a:prstGeom prst="rect">
              <a:avLst/>
            </a:prstGeom>
            <a:noFill/>
            <a:ln>
              <a:noFill/>
            </a:ln>
          </p:spPr>
          <p:txBody>
            <a:bodyPr wrap="none" lIns="0" tIns="0" rIns="0" bIns="0" anchor="t" anchorCtr="0">
              <a:spAutoFit/>
            </a:bodyPr>
            <a:lstStyle/>
            <a:p>
              <a:pPr algn="l"/>
              <a:r>
                <a:rPr lang="zh-CN" sz="3600" b="1" dirty="0">
                  <a:solidFill>
                    <a:srgbClr val="1F2937"/>
                  </a:solidFill>
                  <a:latin typeface="+mn-lt"/>
                  <a:ea typeface="+mn-ea"/>
                  <a:cs typeface="+mn-cs"/>
                </a:rPr>
                <a:t>性能评测</a:t>
              </a:r>
            </a:p>
          </p:txBody>
        </p:sp>
        <p:sp>
          <p:nvSpPr>
            <p:cNvPr id="8" name="Rectangle 8"/>
            <p:cNvSpPr/>
            <p:nvPr/>
          </p:nvSpPr>
          <p:spPr>
            <a:xfrm>
              <a:off x="685800" y="3041332"/>
              <a:ext cx="762000" cy="47625"/>
            </a:xfrm>
            <a:prstGeom prst="roundRect">
              <a:avLst>
                <a:gd name="adj" fmla="val 50000"/>
              </a:avLst>
            </a:prstGeom>
            <a:solidFill>
              <a:srgbClr val="F26B3A"/>
            </a:solidFill>
            <a:ln>
              <a:noFill/>
            </a:ln>
          </p:spPr>
        </p:sp>
        <p:sp>
          <p:nvSpPr>
            <p:cNvPr id="9" name="TextBox 9"/>
            <p:cNvSpPr txBox="1"/>
            <p:nvPr/>
          </p:nvSpPr>
          <p:spPr>
            <a:xfrm>
              <a:off x="677418" y="3377565"/>
              <a:ext cx="4903470" cy="322707"/>
            </a:xfrm>
            <a:prstGeom prst="rect">
              <a:avLst/>
            </a:prstGeom>
            <a:noFill/>
            <a:ln>
              <a:noFill/>
            </a:ln>
          </p:spPr>
          <p:txBody>
            <a:bodyPr wrap="none" lIns="0" tIns="0" rIns="0" bIns="0" anchor="t" anchorCtr="0">
              <a:spAutoFit/>
            </a:bodyPr>
            <a:lstStyle/>
            <a:p>
              <a:pPr algn="l"/>
              <a:r>
                <a:rPr lang="zh-CN" sz="1650" dirty="0">
                  <a:solidFill>
                    <a:srgbClr val="5B6475"/>
                  </a:solidFill>
                  <a:latin typeface="+mn-lt"/>
                  <a:ea typeface="+mn-ea"/>
                  <a:cs typeface="+mn-cs"/>
                </a:rPr>
                <a:t>用哪些指标衡量多处理器，并行之后到底快了多少</a:t>
              </a:r>
            </a:p>
          </p:txBody>
        </p:sp>
        <p:sp>
          <p:nvSpPr>
            <p:cNvPr id="10" name="Ellipse 10"/>
            <p:cNvSpPr/>
            <p:nvPr/>
          </p:nvSpPr>
          <p:spPr>
            <a:xfrm>
              <a:off x="723900" y="3888105"/>
              <a:ext cx="76200" cy="76200"/>
            </a:xfrm>
            <a:prstGeom prst="ellipse">
              <a:avLst/>
            </a:prstGeom>
            <a:solidFill>
              <a:srgbClr val="334E68"/>
            </a:solidFill>
            <a:ln>
              <a:noFill/>
            </a:ln>
          </p:spPr>
        </p:sp>
        <p:sp>
          <p:nvSpPr>
            <p:cNvPr id="11" name="TextBox 11"/>
            <p:cNvSpPr txBox="1"/>
            <p:nvPr/>
          </p:nvSpPr>
          <p:spPr>
            <a:xfrm>
              <a:off x="906780" y="3830955"/>
              <a:ext cx="1216724"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7.4 性能评测</a:t>
              </a:r>
            </a:p>
          </p:txBody>
        </p:sp>
        <p:sp>
          <p:nvSpPr>
            <p:cNvPr id="12" name="Ellipse 12"/>
            <p:cNvSpPr/>
            <p:nvPr/>
          </p:nvSpPr>
          <p:spPr>
            <a:xfrm>
              <a:off x="723900" y="4242435"/>
              <a:ext cx="76200" cy="76200"/>
            </a:xfrm>
            <a:prstGeom prst="ellipse">
              <a:avLst/>
            </a:prstGeom>
            <a:solidFill>
              <a:srgbClr val="334E68"/>
            </a:solidFill>
            <a:ln>
              <a:noFill/>
            </a:ln>
          </p:spPr>
        </p:sp>
        <p:sp>
          <p:nvSpPr>
            <p:cNvPr id="13" name="TextBox 13"/>
            <p:cNvSpPr txBox="1"/>
            <p:nvPr/>
          </p:nvSpPr>
          <p:spPr>
            <a:xfrm>
              <a:off x="906780" y="4185285"/>
              <a:ext cx="264033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性能指标、峰值速度与利用率</a:t>
              </a:r>
            </a:p>
          </p:txBody>
        </p:sp>
        <p:sp>
          <p:nvSpPr>
            <p:cNvPr id="14" name="Ellipse 14"/>
            <p:cNvSpPr/>
            <p:nvPr/>
          </p:nvSpPr>
          <p:spPr>
            <a:xfrm>
              <a:off x="723900" y="4596765"/>
              <a:ext cx="76200" cy="76200"/>
            </a:xfrm>
            <a:prstGeom prst="ellipse">
              <a:avLst/>
            </a:prstGeom>
            <a:solidFill>
              <a:srgbClr val="334E68"/>
            </a:solidFill>
            <a:ln>
              <a:noFill/>
            </a:ln>
          </p:spPr>
        </p:sp>
        <p:sp>
          <p:nvSpPr>
            <p:cNvPr id="15" name="TextBox 15"/>
            <p:cNvSpPr txBox="1"/>
            <p:nvPr/>
          </p:nvSpPr>
          <p:spPr>
            <a:xfrm>
              <a:off x="906780" y="4539615"/>
              <a:ext cx="223647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并行执行时间与通信开销</a:t>
              </a:r>
            </a:p>
          </p:txBody>
        </p:sp>
        <p:sp>
          <p:nvSpPr>
            <p:cNvPr id="16" name="Ellipse 16"/>
            <p:cNvSpPr/>
            <p:nvPr/>
          </p:nvSpPr>
          <p:spPr>
            <a:xfrm>
              <a:off x="723900" y="4951095"/>
              <a:ext cx="76200" cy="76200"/>
            </a:xfrm>
            <a:prstGeom prst="ellipse">
              <a:avLst/>
            </a:prstGeom>
            <a:solidFill>
              <a:srgbClr val="334E68"/>
            </a:solidFill>
            <a:ln>
              <a:noFill/>
            </a:ln>
          </p:spPr>
        </p:sp>
        <p:sp>
          <p:nvSpPr>
            <p:cNvPr id="17" name="TextBox 17"/>
            <p:cNvSpPr txBox="1"/>
            <p:nvPr/>
          </p:nvSpPr>
          <p:spPr>
            <a:xfrm>
              <a:off x="906780" y="4893945"/>
              <a:ext cx="3586905"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Amdahl、Gustafson、Sun-Ni 三个定律</a:t>
              </a:r>
            </a:p>
          </p:txBody>
        </p:sp>
        <p:sp>
          <p:nvSpPr>
            <p:cNvPr id="18" name="Ellipse 18"/>
            <p:cNvSpPr/>
            <p:nvPr/>
          </p:nvSpPr>
          <p:spPr>
            <a:xfrm>
              <a:off x="723900" y="5305425"/>
              <a:ext cx="76200" cy="76200"/>
            </a:xfrm>
            <a:prstGeom prst="ellipse">
              <a:avLst/>
            </a:prstGeom>
            <a:solidFill>
              <a:srgbClr val="334E68"/>
            </a:solidFill>
            <a:ln>
              <a:noFill/>
            </a:ln>
          </p:spPr>
        </p:sp>
        <p:sp>
          <p:nvSpPr>
            <p:cNvPr id="19" name="TextBox 19"/>
            <p:cNvSpPr txBox="1"/>
            <p:nvPr/>
          </p:nvSpPr>
          <p:spPr>
            <a:xfrm>
              <a:off x="906780" y="5248275"/>
              <a:ext cx="203454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加速等级与超线性加速</a:t>
              </a:r>
            </a:p>
          </p:txBody>
        </p:sp>
      </p:grpSp>
      <p:grpSp>
        <p:nvGrpSpPr>
          <p:cNvPr id="23" name="footer"/>
          <p:cNvGrpSpPr/>
          <p:nvPr/>
        </p:nvGrpSpPr>
        <p:grpSpPr>
          <a:xfrm>
            <a:off x="528447" y="6581299"/>
            <a:ext cx="11135106" cy="190690"/>
            <a:chOff x="528447" y="6581299"/>
            <a:chExt cx="11135106" cy="190690"/>
          </a:xfrm>
        </p:grpSpPr>
        <p:sp>
          <p:nvSpPr>
            <p:cNvPr id="21" name="TextBox 21"/>
            <p:cNvSpPr txBox="1"/>
            <p:nvPr/>
          </p:nvSpPr>
          <p:spPr>
            <a:xfrm>
              <a:off x="528447" y="6581299"/>
              <a:ext cx="2120748"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并行与分布式计算 · 第7章 体系结构</a:t>
              </a:r>
            </a:p>
          </p:txBody>
        </p:sp>
        <p:sp>
          <p:nvSpPr>
            <p:cNvPr id="22" name="TextBox 22"/>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57</a:t>
              </a:r>
            </a:p>
          </p:txBody>
        </p:sp>
      </p:grpSp>
    </p:spTree>
  </p:cSld>
  <p:clrMapOvr>
    <a:masterClrMapping/>
  </p:clrMapOvr>
  <p:transition xmlns:p14="http://schemas.microsoft.com/office/powerpoint/2010/main" p14:dur="400">
    <p:fade/>
  </p:transition>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3801999" cy="909257"/>
            <a:chOff x="520446" y="342900"/>
            <a:chExt cx="3801999" cy="909257"/>
          </a:xfrm>
        </p:grpSpPr>
        <p:sp>
          <p:nvSpPr>
            <p:cNvPr id="2" name="Rectangle 2"/>
            <p:cNvSpPr/>
            <p:nvPr/>
          </p:nvSpPr>
          <p:spPr>
            <a:xfrm>
              <a:off x="533400" y="342900"/>
              <a:ext cx="1987868" cy="266700"/>
            </a:xfrm>
            <a:prstGeom prst="roundRect">
              <a:avLst>
                <a:gd name="adj" fmla="val 50000"/>
              </a:avLst>
            </a:prstGeom>
            <a:solidFill>
              <a:srgbClr val="E7EDF3"/>
            </a:solidFill>
            <a:ln>
              <a:noFill/>
            </a:ln>
          </p:spPr>
        </p:sp>
        <p:sp>
          <p:nvSpPr>
            <p:cNvPr id="3" name="TextBox 3"/>
            <p:cNvSpPr txBox="1"/>
            <p:nvPr/>
          </p:nvSpPr>
          <p:spPr>
            <a:xfrm>
              <a:off x="608957" y="407194"/>
              <a:ext cx="1835800"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第7章 体系结构 · 性能评测</a:t>
              </a:r>
            </a:p>
          </p:txBody>
        </p:sp>
        <p:sp>
          <p:nvSpPr>
            <p:cNvPr id="4" name="TextBox 4"/>
            <p:cNvSpPr txBox="1"/>
            <p:nvPr/>
          </p:nvSpPr>
          <p:spPr>
            <a:xfrm>
              <a:off x="520446" y="753428"/>
              <a:ext cx="3801999"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多处理器系统的性能指标</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45" name="c1-table-1"/>
          <p:cNvGrpSpPr/>
          <p:nvPr/>
        </p:nvGrpSpPr>
        <p:grpSpPr>
          <a:xfrm>
            <a:off x="527685" y="1524000"/>
            <a:ext cx="5415915" cy="4113372"/>
            <a:chOff x="527685" y="1524000"/>
            <a:chExt cx="5415915" cy="4113372"/>
          </a:xfrm>
        </p:grpSpPr>
        <p:sp>
          <p:nvSpPr>
            <p:cNvPr id="7" name="Rectangle 7"/>
            <p:cNvSpPr/>
            <p:nvPr/>
          </p:nvSpPr>
          <p:spPr>
            <a:xfrm>
              <a:off x="533400" y="1524000"/>
              <a:ext cx="5410200" cy="448628"/>
            </a:xfrm>
            <a:prstGeom prst="rect">
              <a:avLst/>
            </a:prstGeom>
            <a:solidFill>
              <a:srgbClr val="334E68"/>
            </a:solidFill>
            <a:ln>
              <a:noFill/>
            </a:ln>
          </p:spPr>
        </p:sp>
        <p:sp>
          <p:nvSpPr>
            <p:cNvPr id="8" name="TextBox 8"/>
            <p:cNvSpPr txBox="1"/>
            <p:nvPr/>
          </p:nvSpPr>
          <p:spPr>
            <a:xfrm>
              <a:off x="1004214" y="1659731"/>
              <a:ext cx="357581"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名称</a:t>
              </a:r>
            </a:p>
          </p:txBody>
        </p:sp>
        <p:sp>
          <p:nvSpPr>
            <p:cNvPr id="9" name="TextBox 9"/>
            <p:cNvSpPr txBox="1"/>
            <p:nvPr/>
          </p:nvSpPr>
          <p:spPr>
            <a:xfrm>
              <a:off x="2031962" y="1659731"/>
              <a:ext cx="357581"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符号</a:t>
              </a:r>
            </a:p>
          </p:txBody>
        </p:sp>
        <p:sp>
          <p:nvSpPr>
            <p:cNvPr id="10" name="TextBox 10"/>
            <p:cNvSpPr txBox="1"/>
            <p:nvPr/>
          </p:nvSpPr>
          <p:spPr>
            <a:xfrm>
              <a:off x="3742830" y="1659731"/>
              <a:ext cx="1046836"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含义（单位）</a:t>
              </a:r>
            </a:p>
          </p:txBody>
        </p:sp>
        <p:sp>
          <p:nvSpPr>
            <p:cNvPr id="11" name="TextBox 11"/>
            <p:cNvSpPr txBox="1"/>
            <p:nvPr/>
          </p:nvSpPr>
          <p:spPr>
            <a:xfrm>
              <a:off x="641223" y="2108359"/>
              <a:ext cx="702208"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机器规模</a:t>
              </a:r>
            </a:p>
          </p:txBody>
        </p:sp>
        <p:sp>
          <p:nvSpPr>
            <p:cNvPr id="12" name="TextBox 12"/>
            <p:cNvSpPr txBox="1"/>
            <p:nvPr/>
          </p:nvSpPr>
          <p:spPr>
            <a:xfrm>
              <a:off x="1939480" y="2108359"/>
              <a:ext cx="113091" cy="249364"/>
            </a:xfrm>
            <a:prstGeom prst="rect">
              <a:avLst/>
            </a:prstGeom>
            <a:noFill/>
            <a:ln>
              <a:noFill/>
            </a:ln>
          </p:spPr>
          <p:txBody>
            <a:bodyPr wrap="none" lIns="0" tIns="0" rIns="0" bIns="0" anchor="t" anchorCtr="0">
              <a:spAutoFit/>
            </a:bodyPr>
            <a:lstStyle/>
            <a:p>
              <a:pPr algn="l"/>
              <a:r>
                <a:rPr lang="en-US" sz="1280" dirty="0">
                  <a:solidFill>
                    <a:srgbClr val="1F2937"/>
                  </a:solidFill>
                  <a:latin typeface="+mn-lt"/>
                  <a:ea typeface="+mn-ea"/>
                  <a:cs typeface="+mn-cs"/>
                </a:rPr>
                <a:t>N</a:t>
              </a:r>
            </a:p>
          </p:txBody>
        </p:sp>
        <p:sp>
          <p:nvSpPr>
            <p:cNvPr id="13" name="TextBox 13"/>
            <p:cNvSpPr txBox="1"/>
            <p:nvPr/>
          </p:nvSpPr>
          <p:spPr>
            <a:xfrm>
              <a:off x="2696718" y="2108359"/>
              <a:ext cx="1736090"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处理器个数（无量纲）</a:t>
              </a:r>
            </a:p>
          </p:txBody>
        </p:sp>
        <p:sp>
          <p:nvSpPr>
            <p:cNvPr id="14" name="Rectangle 14"/>
            <p:cNvSpPr/>
            <p:nvPr/>
          </p:nvSpPr>
          <p:spPr>
            <a:xfrm>
              <a:off x="533400" y="2416492"/>
              <a:ext cx="5410200" cy="9525"/>
            </a:xfrm>
            <a:prstGeom prst="rect">
              <a:avLst/>
            </a:prstGeom>
            <a:solidFill>
              <a:srgbClr val="D9DFEA"/>
            </a:solidFill>
            <a:ln>
              <a:noFill/>
            </a:ln>
          </p:spPr>
        </p:sp>
        <p:sp>
          <p:nvSpPr>
            <p:cNvPr id="15" name="Rectangle 15"/>
            <p:cNvSpPr/>
            <p:nvPr/>
          </p:nvSpPr>
          <p:spPr>
            <a:xfrm>
              <a:off x="533400" y="2421255"/>
              <a:ext cx="5410200" cy="448628"/>
            </a:xfrm>
            <a:prstGeom prst="rect">
              <a:avLst/>
            </a:prstGeom>
            <a:solidFill>
              <a:srgbClr val="F4F6FB"/>
            </a:solidFill>
            <a:ln>
              <a:noFill/>
            </a:ln>
          </p:spPr>
        </p:sp>
        <p:sp>
          <p:nvSpPr>
            <p:cNvPr id="16" name="TextBox 16"/>
            <p:cNvSpPr txBox="1"/>
            <p:nvPr/>
          </p:nvSpPr>
          <p:spPr>
            <a:xfrm>
              <a:off x="641223" y="2556986"/>
              <a:ext cx="702208"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时钟速率</a:t>
              </a:r>
            </a:p>
          </p:txBody>
        </p:sp>
        <p:sp>
          <p:nvSpPr>
            <p:cNvPr id="17" name="TextBox 17"/>
            <p:cNvSpPr txBox="1"/>
            <p:nvPr/>
          </p:nvSpPr>
          <p:spPr>
            <a:xfrm>
              <a:off x="1939480" y="2556986"/>
              <a:ext cx="113091" cy="249364"/>
            </a:xfrm>
            <a:prstGeom prst="rect">
              <a:avLst/>
            </a:prstGeom>
            <a:noFill/>
            <a:ln>
              <a:noFill/>
            </a:ln>
          </p:spPr>
          <p:txBody>
            <a:bodyPr wrap="none" lIns="0" tIns="0" rIns="0" bIns="0" anchor="t" anchorCtr="0">
              <a:spAutoFit/>
            </a:bodyPr>
            <a:lstStyle/>
            <a:p>
              <a:pPr algn="l"/>
              <a:r>
                <a:rPr lang="en-US" sz="1280" dirty="0">
                  <a:solidFill>
                    <a:srgbClr val="1F2937"/>
                  </a:solidFill>
                  <a:latin typeface="+mn-lt"/>
                  <a:ea typeface="+mn-ea"/>
                  <a:cs typeface="+mn-cs"/>
                </a:rPr>
                <a:t>F</a:t>
              </a:r>
            </a:p>
          </p:txBody>
        </p:sp>
        <p:sp>
          <p:nvSpPr>
            <p:cNvPr id="18" name="TextBox 18"/>
            <p:cNvSpPr txBox="1"/>
            <p:nvPr/>
          </p:nvSpPr>
          <p:spPr>
            <a:xfrm>
              <a:off x="2696718" y="2556986"/>
              <a:ext cx="2239213"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时钟周期长度的倒数（MHz）</a:t>
              </a:r>
            </a:p>
          </p:txBody>
        </p:sp>
        <p:sp>
          <p:nvSpPr>
            <p:cNvPr id="19" name="Rectangle 19"/>
            <p:cNvSpPr/>
            <p:nvPr/>
          </p:nvSpPr>
          <p:spPr>
            <a:xfrm>
              <a:off x="533400" y="2866072"/>
              <a:ext cx="5410200" cy="9525"/>
            </a:xfrm>
            <a:prstGeom prst="rect">
              <a:avLst/>
            </a:prstGeom>
            <a:solidFill>
              <a:srgbClr val="D9DFEA"/>
            </a:solidFill>
            <a:ln>
              <a:noFill/>
            </a:ln>
          </p:spPr>
        </p:sp>
        <p:sp>
          <p:nvSpPr>
            <p:cNvPr id="20" name="TextBox 20"/>
            <p:cNvSpPr txBox="1"/>
            <p:nvPr/>
          </p:nvSpPr>
          <p:spPr>
            <a:xfrm>
              <a:off x="641223" y="3118961"/>
              <a:ext cx="702208"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工作负载</a:t>
              </a:r>
            </a:p>
          </p:txBody>
        </p:sp>
        <p:sp>
          <p:nvSpPr>
            <p:cNvPr id="21" name="TextBox 21"/>
            <p:cNvSpPr txBox="1"/>
            <p:nvPr/>
          </p:nvSpPr>
          <p:spPr>
            <a:xfrm>
              <a:off x="1939480" y="3118961"/>
              <a:ext cx="113091" cy="249364"/>
            </a:xfrm>
            <a:prstGeom prst="rect">
              <a:avLst/>
            </a:prstGeom>
            <a:noFill/>
            <a:ln>
              <a:noFill/>
            </a:ln>
          </p:spPr>
          <p:txBody>
            <a:bodyPr wrap="none" lIns="0" tIns="0" rIns="0" bIns="0" anchor="t" anchorCtr="0">
              <a:spAutoFit/>
            </a:bodyPr>
            <a:lstStyle/>
            <a:p>
              <a:pPr algn="l"/>
              <a:r>
                <a:rPr lang="en-US" sz="1280" dirty="0">
                  <a:solidFill>
                    <a:srgbClr val="1F2937"/>
                  </a:solidFill>
                  <a:latin typeface="+mn-lt"/>
                  <a:ea typeface="+mn-ea"/>
                  <a:cs typeface="+mn-cs"/>
                </a:rPr>
                <a:t>L</a:t>
              </a:r>
            </a:p>
          </p:txBody>
        </p:sp>
        <p:sp>
          <p:nvSpPr>
            <p:cNvPr id="22" name="TextBox 22"/>
            <p:cNvSpPr txBox="1"/>
            <p:nvPr/>
          </p:nvSpPr>
          <p:spPr>
            <a:xfrm>
              <a:off x="2696718" y="3005614"/>
              <a:ext cx="2817114" cy="476059"/>
            </a:xfrm>
            <a:prstGeom prst="rect">
              <a:avLst/>
            </a:prstGeom>
            <a:noFill/>
            <a:ln>
              <a:noFill/>
            </a:ln>
          </p:spPr>
          <p:txBody>
            <a:bodyPr wrap="none" lIns="0" tIns="0" rIns="0" bIns="0" anchor="t" anchorCtr="0">
              <a:spAutoFit/>
            </a:bodyPr>
            <a:lstStyle/>
            <a:p>
              <a:pPr algn="l">
                <a:lnSpc>
                  <a:spcPts val="1785"/>
                </a:lnSpc>
              </a:pPr>
              <a:r>
                <a:rPr lang="zh-CN" sz="1280" dirty="0">
                  <a:solidFill>
                    <a:srgbClr val="1F2937"/>
                  </a:solidFill>
                  <a:latin typeface="+mn-lt"/>
                  <a:ea typeface="+mn-ea"/>
                  <a:cs typeface="+mn-cs"/>
                </a:rPr>
                <a:t>正在使用和等待使用 CPU 的平均任务数</a:t>
              </a:r>
              <a:br/>
              <a:r>
                <a:rPr lang="zh-CN" sz="1280" dirty="0">
                  <a:solidFill>
                    <a:srgbClr val="1F2937"/>
                  </a:solidFill>
                  <a:latin typeface="+mn-lt"/>
                  <a:ea typeface="+mn-ea"/>
                  <a:cs typeface="+mn-cs"/>
                </a:rPr>
                <a:t>（个）</a:t>
              </a:r>
            </a:p>
          </p:txBody>
        </p:sp>
        <p:sp>
          <p:nvSpPr>
            <p:cNvPr id="23" name="Rectangle 23"/>
            <p:cNvSpPr/>
            <p:nvPr/>
          </p:nvSpPr>
          <p:spPr>
            <a:xfrm>
              <a:off x="533400" y="3541395"/>
              <a:ext cx="5410200" cy="9525"/>
            </a:xfrm>
            <a:prstGeom prst="rect">
              <a:avLst/>
            </a:prstGeom>
            <a:solidFill>
              <a:srgbClr val="D9DFEA"/>
            </a:solidFill>
            <a:ln>
              <a:noFill/>
            </a:ln>
          </p:spPr>
        </p:sp>
        <p:sp>
          <p:nvSpPr>
            <p:cNvPr id="24" name="Rectangle 24"/>
            <p:cNvSpPr/>
            <p:nvPr/>
          </p:nvSpPr>
          <p:spPr>
            <a:xfrm>
              <a:off x="533400" y="3546158"/>
              <a:ext cx="5410200" cy="448628"/>
            </a:xfrm>
            <a:prstGeom prst="rect">
              <a:avLst/>
            </a:prstGeom>
            <a:solidFill>
              <a:srgbClr val="F4F6FB"/>
            </a:solidFill>
            <a:ln>
              <a:noFill/>
            </a:ln>
          </p:spPr>
        </p:sp>
        <p:sp>
          <p:nvSpPr>
            <p:cNvPr id="25" name="TextBox 25"/>
            <p:cNvSpPr txBox="1"/>
            <p:nvPr/>
          </p:nvSpPr>
          <p:spPr>
            <a:xfrm>
              <a:off x="641223" y="3680936"/>
              <a:ext cx="1046836"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顺序执行时间</a:t>
              </a:r>
            </a:p>
          </p:txBody>
        </p:sp>
        <p:sp>
          <p:nvSpPr>
            <p:cNvPr id="26" name="TextBox 26"/>
            <p:cNvSpPr txBox="1"/>
            <p:nvPr/>
          </p:nvSpPr>
          <p:spPr>
            <a:xfrm>
              <a:off x="1939480" y="3680936"/>
              <a:ext cx="213228" cy="249364"/>
            </a:xfrm>
            <a:prstGeom prst="rect">
              <a:avLst/>
            </a:prstGeom>
            <a:noFill/>
            <a:ln>
              <a:noFill/>
            </a:ln>
          </p:spPr>
          <p:txBody>
            <a:bodyPr wrap="none" lIns="0" tIns="0" rIns="0" bIns="0" anchor="t" anchorCtr="0">
              <a:spAutoFit/>
            </a:bodyPr>
            <a:lstStyle/>
            <a:p>
              <a:pPr algn="l"/>
              <a:r>
                <a:rPr lang="en-US" sz="1280" dirty="0">
                  <a:solidFill>
                    <a:srgbClr val="1F2937"/>
                  </a:solidFill>
                  <a:latin typeface="+mn-lt"/>
                  <a:ea typeface="+mn-ea"/>
                  <a:cs typeface="+mn-cs"/>
                </a:rPr>
                <a:t>T₁</a:t>
              </a:r>
            </a:p>
          </p:txBody>
        </p:sp>
        <p:sp>
          <p:nvSpPr>
            <p:cNvPr id="27" name="TextBox 27"/>
            <p:cNvSpPr txBox="1"/>
            <p:nvPr/>
          </p:nvSpPr>
          <p:spPr>
            <a:xfrm>
              <a:off x="2696718" y="3680936"/>
              <a:ext cx="2692430"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程序在单处理机上的运行时间（s）</a:t>
              </a:r>
            </a:p>
          </p:txBody>
        </p:sp>
        <p:sp>
          <p:nvSpPr>
            <p:cNvPr id="28" name="Rectangle 28"/>
            <p:cNvSpPr/>
            <p:nvPr/>
          </p:nvSpPr>
          <p:spPr>
            <a:xfrm>
              <a:off x="533400" y="3990022"/>
              <a:ext cx="5410200" cy="9525"/>
            </a:xfrm>
            <a:prstGeom prst="rect">
              <a:avLst/>
            </a:prstGeom>
            <a:solidFill>
              <a:srgbClr val="D9DFEA"/>
            </a:solidFill>
            <a:ln>
              <a:noFill/>
            </a:ln>
          </p:spPr>
        </p:sp>
        <p:sp>
          <p:nvSpPr>
            <p:cNvPr id="29" name="TextBox 29"/>
            <p:cNvSpPr txBox="1"/>
            <p:nvPr/>
          </p:nvSpPr>
          <p:spPr>
            <a:xfrm>
              <a:off x="641223" y="4130516"/>
              <a:ext cx="1046836"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并行执行时间</a:t>
              </a:r>
            </a:p>
          </p:txBody>
        </p:sp>
        <p:sp>
          <p:nvSpPr>
            <p:cNvPr id="30" name="TextBox 30"/>
            <p:cNvSpPr txBox="1"/>
            <p:nvPr/>
          </p:nvSpPr>
          <p:spPr>
            <a:xfrm>
              <a:off x="1939480" y="4130516"/>
              <a:ext cx="213228" cy="249364"/>
            </a:xfrm>
            <a:prstGeom prst="rect">
              <a:avLst/>
            </a:prstGeom>
            <a:noFill/>
            <a:ln>
              <a:noFill/>
            </a:ln>
          </p:spPr>
          <p:txBody>
            <a:bodyPr wrap="none" lIns="0" tIns="0" rIns="0" bIns="0" anchor="t" anchorCtr="0">
              <a:spAutoFit/>
            </a:bodyPr>
            <a:lstStyle/>
            <a:p>
              <a:pPr algn="l"/>
              <a:r>
                <a:rPr lang="en-US" sz="1280" dirty="0">
                  <a:solidFill>
                    <a:srgbClr val="1F2937"/>
                  </a:solidFill>
                  <a:latin typeface="+mn-lt"/>
                  <a:ea typeface="+mn-ea"/>
                  <a:cs typeface="+mn-cs"/>
                </a:rPr>
                <a:t>Tₙ</a:t>
              </a:r>
            </a:p>
          </p:txBody>
        </p:sp>
        <p:sp>
          <p:nvSpPr>
            <p:cNvPr id="31" name="TextBox 31"/>
            <p:cNvSpPr txBox="1"/>
            <p:nvPr/>
          </p:nvSpPr>
          <p:spPr>
            <a:xfrm>
              <a:off x="2696718" y="4130516"/>
              <a:ext cx="2890591"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程序在 n 台处理机上的运行时间（s）</a:t>
              </a:r>
            </a:p>
          </p:txBody>
        </p:sp>
        <p:sp>
          <p:nvSpPr>
            <p:cNvPr id="32" name="Rectangle 32"/>
            <p:cNvSpPr/>
            <p:nvPr/>
          </p:nvSpPr>
          <p:spPr>
            <a:xfrm>
              <a:off x="533400" y="4438650"/>
              <a:ext cx="5410200" cy="9525"/>
            </a:xfrm>
            <a:prstGeom prst="rect">
              <a:avLst/>
            </a:prstGeom>
            <a:solidFill>
              <a:srgbClr val="D9DFEA"/>
            </a:solidFill>
            <a:ln>
              <a:noFill/>
            </a:ln>
          </p:spPr>
        </p:sp>
        <p:sp>
          <p:nvSpPr>
            <p:cNvPr id="33" name="Rectangle 33"/>
            <p:cNvSpPr/>
            <p:nvPr/>
          </p:nvSpPr>
          <p:spPr>
            <a:xfrm>
              <a:off x="533400" y="4443412"/>
              <a:ext cx="5410200" cy="448628"/>
            </a:xfrm>
            <a:prstGeom prst="rect">
              <a:avLst/>
            </a:prstGeom>
            <a:solidFill>
              <a:srgbClr val="F4F6FB"/>
            </a:solidFill>
            <a:ln>
              <a:noFill/>
            </a:ln>
          </p:spPr>
        </p:sp>
        <p:sp>
          <p:nvSpPr>
            <p:cNvPr id="34" name="TextBox 34"/>
            <p:cNvSpPr txBox="1"/>
            <p:nvPr/>
          </p:nvSpPr>
          <p:spPr>
            <a:xfrm>
              <a:off x="641223" y="4579144"/>
              <a:ext cx="357581"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速度</a:t>
              </a:r>
            </a:p>
          </p:txBody>
        </p:sp>
        <p:sp>
          <p:nvSpPr>
            <p:cNvPr id="35" name="TextBox 35"/>
            <p:cNvSpPr txBox="1"/>
            <p:nvPr/>
          </p:nvSpPr>
          <p:spPr>
            <a:xfrm>
              <a:off x="1939480" y="4579144"/>
              <a:ext cx="213228" cy="249364"/>
            </a:xfrm>
            <a:prstGeom prst="rect">
              <a:avLst/>
            </a:prstGeom>
            <a:noFill/>
            <a:ln>
              <a:noFill/>
            </a:ln>
          </p:spPr>
          <p:txBody>
            <a:bodyPr wrap="none" lIns="0" tIns="0" rIns="0" bIns="0" anchor="t" anchorCtr="0">
              <a:spAutoFit/>
            </a:bodyPr>
            <a:lstStyle/>
            <a:p>
              <a:pPr algn="l"/>
              <a:r>
                <a:rPr lang="en-US" sz="1280" dirty="0">
                  <a:solidFill>
                    <a:srgbClr val="1F2937"/>
                  </a:solidFill>
                  <a:latin typeface="+mn-lt"/>
                  <a:ea typeface="+mn-ea"/>
                  <a:cs typeface="+mn-cs"/>
                </a:rPr>
                <a:t>Rₙ</a:t>
              </a:r>
            </a:p>
          </p:txBody>
        </p:sp>
        <p:sp>
          <p:nvSpPr>
            <p:cNvPr id="36" name="TextBox 36"/>
            <p:cNvSpPr txBox="1"/>
            <p:nvPr/>
          </p:nvSpPr>
          <p:spPr>
            <a:xfrm>
              <a:off x="2696718" y="4579144"/>
              <a:ext cx="2582052"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每秒百万次浮点运算（MFLOPS）</a:t>
              </a:r>
            </a:p>
          </p:txBody>
        </p:sp>
        <p:sp>
          <p:nvSpPr>
            <p:cNvPr id="37" name="Rectangle 37"/>
            <p:cNvSpPr/>
            <p:nvPr/>
          </p:nvSpPr>
          <p:spPr>
            <a:xfrm>
              <a:off x="533400" y="4887278"/>
              <a:ext cx="5410200" cy="9525"/>
            </a:xfrm>
            <a:prstGeom prst="rect">
              <a:avLst/>
            </a:prstGeom>
            <a:solidFill>
              <a:srgbClr val="D9DFEA"/>
            </a:solidFill>
            <a:ln>
              <a:noFill/>
            </a:ln>
          </p:spPr>
        </p:sp>
        <p:sp>
          <p:nvSpPr>
            <p:cNvPr id="38" name="TextBox 38"/>
            <p:cNvSpPr txBox="1"/>
            <p:nvPr/>
          </p:nvSpPr>
          <p:spPr>
            <a:xfrm>
              <a:off x="641223" y="5027771"/>
              <a:ext cx="702208"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通信延迟</a:t>
              </a:r>
            </a:p>
          </p:txBody>
        </p:sp>
        <p:sp>
          <p:nvSpPr>
            <p:cNvPr id="39" name="TextBox 39"/>
            <p:cNvSpPr txBox="1"/>
            <p:nvPr/>
          </p:nvSpPr>
          <p:spPr>
            <a:xfrm>
              <a:off x="1939480" y="5027771"/>
              <a:ext cx="213228" cy="249364"/>
            </a:xfrm>
            <a:prstGeom prst="rect">
              <a:avLst/>
            </a:prstGeom>
            <a:noFill/>
            <a:ln>
              <a:noFill/>
            </a:ln>
          </p:spPr>
          <p:txBody>
            <a:bodyPr wrap="none" lIns="0" tIns="0" rIns="0" bIns="0" anchor="t" anchorCtr="0">
              <a:spAutoFit/>
            </a:bodyPr>
            <a:lstStyle/>
            <a:p>
              <a:pPr algn="l"/>
              <a:r>
                <a:rPr lang="en-US" sz="1280" dirty="0">
                  <a:solidFill>
                    <a:srgbClr val="1F2937"/>
                  </a:solidFill>
                  <a:latin typeface="+mn-lt"/>
                  <a:ea typeface="+mn-ea"/>
                  <a:cs typeface="+mn-cs"/>
                </a:rPr>
                <a:t>T₀</a:t>
              </a:r>
            </a:p>
          </p:txBody>
        </p:sp>
        <p:sp>
          <p:nvSpPr>
            <p:cNvPr id="40" name="TextBox 40"/>
            <p:cNvSpPr txBox="1"/>
            <p:nvPr/>
          </p:nvSpPr>
          <p:spPr>
            <a:xfrm>
              <a:off x="2696718" y="5027771"/>
              <a:ext cx="3131830"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传送单个字全过程所需的准备时间（μs）</a:t>
              </a:r>
            </a:p>
          </p:txBody>
        </p:sp>
        <p:sp>
          <p:nvSpPr>
            <p:cNvPr id="41" name="Rectangle 41"/>
            <p:cNvSpPr/>
            <p:nvPr/>
          </p:nvSpPr>
          <p:spPr>
            <a:xfrm>
              <a:off x="533400" y="1524000"/>
              <a:ext cx="5410200" cy="3817620"/>
            </a:xfrm>
            <a:prstGeom prst="rect">
              <a:avLst/>
            </a:prstGeom>
            <a:noFill/>
            <a:ln w="14288">
              <a:solidFill>
                <a:srgbClr val="D9DFEA"/>
              </a:solidFill>
            </a:ln>
          </p:spPr>
        </p:sp>
        <p:sp>
          <p:nvSpPr>
            <p:cNvPr id="42" name="Rectangle 42"/>
            <p:cNvSpPr/>
            <p:nvPr/>
          </p:nvSpPr>
          <p:spPr>
            <a:xfrm>
              <a:off x="1826895" y="1524000"/>
              <a:ext cx="9525" cy="3817620"/>
            </a:xfrm>
            <a:prstGeom prst="rect">
              <a:avLst/>
            </a:prstGeom>
            <a:solidFill>
              <a:srgbClr val="D9DFEA"/>
            </a:solidFill>
            <a:ln>
              <a:noFill/>
            </a:ln>
          </p:spPr>
        </p:sp>
        <p:sp>
          <p:nvSpPr>
            <p:cNvPr id="43" name="Rectangle 43"/>
            <p:cNvSpPr/>
            <p:nvPr/>
          </p:nvSpPr>
          <p:spPr>
            <a:xfrm>
              <a:off x="2584132" y="1524000"/>
              <a:ext cx="9525" cy="3817620"/>
            </a:xfrm>
            <a:prstGeom prst="rect">
              <a:avLst/>
            </a:prstGeom>
            <a:solidFill>
              <a:srgbClr val="D9DFEA"/>
            </a:solidFill>
            <a:ln>
              <a:noFill/>
            </a:ln>
          </p:spPr>
        </p:sp>
        <p:sp>
          <p:nvSpPr>
            <p:cNvPr id="44" name="TextBox 44"/>
            <p:cNvSpPr txBox="1"/>
            <p:nvPr/>
          </p:nvSpPr>
          <p:spPr>
            <a:xfrm>
              <a:off x="527685" y="5417344"/>
              <a:ext cx="463753" cy="220028"/>
            </a:xfrm>
            <a:prstGeom prst="rect">
              <a:avLst/>
            </a:prstGeom>
            <a:noFill/>
            <a:ln>
              <a:noFill/>
            </a:ln>
          </p:spPr>
          <p:txBody>
            <a:bodyPr wrap="none" lIns="0" tIns="0" rIns="0" bIns="0" anchor="t" anchorCtr="0">
              <a:spAutoFit/>
            </a:bodyPr>
            <a:lstStyle/>
            <a:p>
              <a:pPr algn="l"/>
              <a:r>
                <a:rPr lang="zh-CN" sz="1120" dirty="0">
                  <a:solidFill>
                    <a:srgbClr val="5B6475"/>
                  </a:solidFill>
                  <a:latin typeface="+mn-lt"/>
                  <a:ea typeface="+mn-ea"/>
                  <a:cs typeface="+mn-cs"/>
                </a:rPr>
                <a:t>基本量</a:t>
              </a:r>
            </a:p>
          </p:txBody>
        </p:sp>
      </p:grpSp>
      <p:grpSp>
        <p:nvGrpSpPr>
          <p:cNvPr id="83" name="c2-table-1"/>
          <p:cNvGrpSpPr/>
          <p:nvPr/>
        </p:nvGrpSpPr>
        <p:grpSpPr>
          <a:xfrm>
            <a:off x="6242685" y="1524000"/>
            <a:ext cx="5415915" cy="3663792"/>
            <a:chOff x="6242685" y="1524000"/>
            <a:chExt cx="5415915" cy="3663792"/>
          </a:xfrm>
        </p:grpSpPr>
        <p:sp>
          <p:nvSpPr>
            <p:cNvPr id="46" name="Rectangle 46"/>
            <p:cNvSpPr/>
            <p:nvPr/>
          </p:nvSpPr>
          <p:spPr>
            <a:xfrm>
              <a:off x="6248400" y="1524000"/>
              <a:ext cx="5410200" cy="448628"/>
            </a:xfrm>
            <a:prstGeom prst="rect">
              <a:avLst/>
            </a:prstGeom>
            <a:solidFill>
              <a:srgbClr val="334E68"/>
            </a:solidFill>
            <a:ln>
              <a:noFill/>
            </a:ln>
          </p:spPr>
        </p:sp>
        <p:sp>
          <p:nvSpPr>
            <p:cNvPr id="47" name="TextBox 47"/>
            <p:cNvSpPr txBox="1"/>
            <p:nvPr/>
          </p:nvSpPr>
          <p:spPr>
            <a:xfrm>
              <a:off x="6610629" y="1659731"/>
              <a:ext cx="357581"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名称</a:t>
              </a:r>
            </a:p>
          </p:txBody>
        </p:sp>
        <p:sp>
          <p:nvSpPr>
            <p:cNvPr id="48" name="TextBox 48"/>
            <p:cNvSpPr txBox="1"/>
            <p:nvPr/>
          </p:nvSpPr>
          <p:spPr>
            <a:xfrm>
              <a:off x="7963179" y="1659731"/>
              <a:ext cx="357581"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符号</a:t>
              </a:r>
            </a:p>
          </p:txBody>
        </p:sp>
        <p:sp>
          <p:nvSpPr>
            <p:cNvPr id="49" name="TextBox 49"/>
            <p:cNvSpPr txBox="1"/>
            <p:nvPr/>
          </p:nvSpPr>
          <p:spPr>
            <a:xfrm>
              <a:off x="9782632" y="1659731"/>
              <a:ext cx="1046836"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含义（单位）</a:t>
              </a:r>
            </a:p>
          </p:txBody>
        </p:sp>
        <p:sp>
          <p:nvSpPr>
            <p:cNvPr id="50" name="TextBox 50"/>
            <p:cNvSpPr txBox="1"/>
            <p:nvPr/>
          </p:nvSpPr>
          <p:spPr>
            <a:xfrm>
              <a:off x="6356223" y="2108359"/>
              <a:ext cx="529895"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加速比</a:t>
              </a:r>
            </a:p>
          </p:txBody>
        </p:sp>
        <p:sp>
          <p:nvSpPr>
            <p:cNvPr id="51" name="Rectangle 51"/>
            <p:cNvSpPr/>
            <p:nvPr/>
          </p:nvSpPr>
          <p:spPr>
            <a:xfrm>
              <a:off x="7339965" y="1982152"/>
              <a:ext cx="1604010" cy="429578"/>
            </a:xfrm>
            <a:prstGeom prst="rect">
              <a:avLst/>
            </a:prstGeom>
            <a:solidFill>
              <a:srgbClr val="FDEEE7"/>
            </a:solidFill>
            <a:ln>
              <a:noFill/>
            </a:ln>
          </p:spPr>
        </p:sp>
        <p:sp>
          <p:nvSpPr>
            <p:cNvPr id="52" name="TextBox 52"/>
            <p:cNvSpPr txBox="1"/>
            <p:nvPr/>
          </p:nvSpPr>
          <p:spPr>
            <a:xfrm>
              <a:off x="7438263" y="2108359"/>
              <a:ext cx="1032530" cy="249364"/>
            </a:xfrm>
            <a:prstGeom prst="rect">
              <a:avLst/>
            </a:prstGeom>
            <a:noFill/>
            <a:ln>
              <a:noFill/>
            </a:ln>
          </p:spPr>
          <p:txBody>
            <a:bodyPr wrap="none" lIns="0" tIns="0" rIns="0" bIns="0" anchor="t" anchorCtr="0">
              <a:spAutoFit/>
            </a:bodyPr>
            <a:lstStyle/>
            <a:p>
              <a:pPr algn="l"/>
              <a:r>
                <a:rPr lang="en-US" sz="1280" dirty="0">
                  <a:solidFill>
                    <a:srgbClr val="1F2937"/>
                  </a:solidFill>
                  <a:latin typeface="+mn-lt"/>
                  <a:ea typeface="+mn-ea"/>
                  <a:cs typeface="+mn-cs"/>
                </a:rPr>
                <a:t>Sₙ = T₁ / Tₙ</a:t>
              </a:r>
            </a:p>
          </p:txBody>
        </p:sp>
        <p:sp>
          <p:nvSpPr>
            <p:cNvPr id="53" name="TextBox 53"/>
            <p:cNvSpPr txBox="1"/>
            <p:nvPr/>
          </p:nvSpPr>
          <p:spPr>
            <a:xfrm>
              <a:off x="9061323" y="2108359"/>
              <a:ext cx="2253031"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多处理机超出单处理机的程度</a:t>
              </a:r>
            </a:p>
          </p:txBody>
        </p:sp>
        <p:sp>
          <p:nvSpPr>
            <p:cNvPr id="54" name="Rectangle 54"/>
            <p:cNvSpPr/>
            <p:nvPr/>
          </p:nvSpPr>
          <p:spPr>
            <a:xfrm>
              <a:off x="6248400" y="2416492"/>
              <a:ext cx="5410200" cy="9525"/>
            </a:xfrm>
            <a:prstGeom prst="rect">
              <a:avLst/>
            </a:prstGeom>
            <a:solidFill>
              <a:srgbClr val="D9DFEA"/>
            </a:solidFill>
            <a:ln>
              <a:noFill/>
            </a:ln>
          </p:spPr>
        </p:sp>
        <p:sp>
          <p:nvSpPr>
            <p:cNvPr id="55" name="Rectangle 55"/>
            <p:cNvSpPr/>
            <p:nvPr/>
          </p:nvSpPr>
          <p:spPr>
            <a:xfrm>
              <a:off x="6248400" y="2421255"/>
              <a:ext cx="5410200" cy="448628"/>
            </a:xfrm>
            <a:prstGeom prst="rect">
              <a:avLst/>
            </a:prstGeom>
            <a:solidFill>
              <a:srgbClr val="F4F6FB"/>
            </a:solidFill>
            <a:ln>
              <a:noFill/>
            </a:ln>
          </p:spPr>
        </p:sp>
        <p:sp>
          <p:nvSpPr>
            <p:cNvPr id="56" name="TextBox 56"/>
            <p:cNvSpPr txBox="1"/>
            <p:nvPr/>
          </p:nvSpPr>
          <p:spPr>
            <a:xfrm>
              <a:off x="6356223" y="2556986"/>
              <a:ext cx="357581"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效率</a:t>
              </a:r>
            </a:p>
          </p:txBody>
        </p:sp>
        <p:sp>
          <p:nvSpPr>
            <p:cNvPr id="57" name="Rectangle 57"/>
            <p:cNvSpPr/>
            <p:nvPr/>
          </p:nvSpPr>
          <p:spPr>
            <a:xfrm>
              <a:off x="7339965" y="2430780"/>
              <a:ext cx="1604010" cy="429578"/>
            </a:xfrm>
            <a:prstGeom prst="rect">
              <a:avLst/>
            </a:prstGeom>
            <a:solidFill>
              <a:srgbClr val="FDEEE7"/>
            </a:solidFill>
            <a:ln>
              <a:noFill/>
            </a:ln>
          </p:spPr>
        </p:sp>
        <p:sp>
          <p:nvSpPr>
            <p:cNvPr id="58" name="TextBox 58"/>
            <p:cNvSpPr txBox="1"/>
            <p:nvPr/>
          </p:nvSpPr>
          <p:spPr>
            <a:xfrm>
              <a:off x="7438263" y="2556986"/>
              <a:ext cx="915975" cy="249364"/>
            </a:xfrm>
            <a:prstGeom prst="rect">
              <a:avLst/>
            </a:prstGeom>
            <a:noFill/>
            <a:ln>
              <a:noFill/>
            </a:ln>
          </p:spPr>
          <p:txBody>
            <a:bodyPr wrap="none" lIns="0" tIns="0" rIns="0" bIns="0" anchor="t" anchorCtr="0">
              <a:spAutoFit/>
            </a:bodyPr>
            <a:lstStyle/>
            <a:p>
              <a:pPr algn="l"/>
              <a:r>
                <a:rPr lang="en-US" sz="1280" dirty="0">
                  <a:solidFill>
                    <a:srgbClr val="1F2937"/>
                  </a:solidFill>
                  <a:latin typeface="+mn-lt"/>
                  <a:ea typeface="+mn-ea"/>
                  <a:cs typeface="+mn-cs"/>
                </a:rPr>
                <a:t>Eₙ = Sₙ / n</a:t>
              </a:r>
            </a:p>
          </p:txBody>
        </p:sp>
        <p:sp>
          <p:nvSpPr>
            <p:cNvPr id="59" name="TextBox 59"/>
            <p:cNvSpPr txBox="1"/>
            <p:nvPr/>
          </p:nvSpPr>
          <p:spPr>
            <a:xfrm>
              <a:off x="9061323" y="2556986"/>
              <a:ext cx="1391463"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处理器的利用程度</a:t>
              </a:r>
            </a:p>
          </p:txBody>
        </p:sp>
        <p:sp>
          <p:nvSpPr>
            <p:cNvPr id="60" name="Rectangle 60"/>
            <p:cNvSpPr/>
            <p:nvPr/>
          </p:nvSpPr>
          <p:spPr>
            <a:xfrm>
              <a:off x="6248400" y="2866072"/>
              <a:ext cx="5410200" cy="9525"/>
            </a:xfrm>
            <a:prstGeom prst="rect">
              <a:avLst/>
            </a:prstGeom>
            <a:solidFill>
              <a:srgbClr val="D9DFEA"/>
            </a:solidFill>
            <a:ln>
              <a:noFill/>
            </a:ln>
          </p:spPr>
        </p:sp>
        <p:sp>
          <p:nvSpPr>
            <p:cNvPr id="61" name="TextBox 61"/>
            <p:cNvSpPr txBox="1"/>
            <p:nvPr/>
          </p:nvSpPr>
          <p:spPr>
            <a:xfrm>
              <a:off x="6356223" y="3118961"/>
              <a:ext cx="702208"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峰值速度</a:t>
              </a:r>
            </a:p>
          </p:txBody>
        </p:sp>
        <p:sp>
          <p:nvSpPr>
            <p:cNvPr id="62" name="TextBox 62"/>
            <p:cNvSpPr txBox="1"/>
            <p:nvPr/>
          </p:nvSpPr>
          <p:spPr>
            <a:xfrm>
              <a:off x="7438263" y="3118961"/>
              <a:ext cx="1023427" cy="249364"/>
            </a:xfrm>
            <a:prstGeom prst="rect">
              <a:avLst/>
            </a:prstGeom>
            <a:noFill/>
            <a:ln>
              <a:noFill/>
            </a:ln>
          </p:spPr>
          <p:txBody>
            <a:bodyPr wrap="none" lIns="0" tIns="0" rIns="0" bIns="0" anchor="t" anchorCtr="0">
              <a:spAutoFit/>
            </a:bodyPr>
            <a:lstStyle/>
            <a:p>
              <a:pPr algn="l"/>
              <a:r>
                <a:rPr lang="el-GR" sz="1280" dirty="0">
                  <a:solidFill>
                    <a:srgbClr val="1F2937"/>
                  </a:solidFill>
                  <a:latin typeface="+mn-lt"/>
                  <a:ea typeface="+mn-ea"/>
                  <a:cs typeface="+mn-cs"/>
                </a:rPr>
                <a:t>Rₚₑₐₖ = ΣR′</a:t>
              </a:r>
            </a:p>
          </p:txBody>
        </p:sp>
        <p:sp>
          <p:nvSpPr>
            <p:cNvPr id="63" name="TextBox 63"/>
            <p:cNvSpPr txBox="1"/>
            <p:nvPr/>
          </p:nvSpPr>
          <p:spPr>
            <a:xfrm>
              <a:off x="9061323" y="3005614"/>
              <a:ext cx="1475994" cy="476059"/>
            </a:xfrm>
            <a:prstGeom prst="rect">
              <a:avLst/>
            </a:prstGeom>
            <a:noFill/>
            <a:ln>
              <a:noFill/>
            </a:ln>
          </p:spPr>
          <p:txBody>
            <a:bodyPr wrap="none" lIns="0" tIns="0" rIns="0" bIns="0" anchor="t" anchorCtr="0">
              <a:spAutoFit/>
            </a:bodyPr>
            <a:lstStyle/>
            <a:p>
              <a:pPr algn="l">
                <a:lnSpc>
                  <a:spcPts val="1785"/>
                </a:lnSpc>
              </a:pPr>
              <a:r>
                <a:rPr lang="zh-CN" sz="1280" dirty="0">
                  <a:solidFill>
                    <a:srgbClr val="1F2937"/>
                  </a:solidFill>
                  <a:latin typeface="+mn-lt"/>
                  <a:ea typeface="+mn-ea"/>
                  <a:cs typeface="+mn-cs"/>
                </a:rPr>
                <a:t>所有处理器速度之和</a:t>
              </a:r>
              <a:br/>
              <a:r>
                <a:rPr lang="zh-CN" sz="1280" dirty="0">
                  <a:solidFill>
                    <a:srgbClr val="1F2937"/>
                  </a:solidFill>
                  <a:latin typeface="+mn-lt"/>
                  <a:ea typeface="+mn-ea"/>
                  <a:cs typeface="+mn-cs"/>
                </a:rPr>
                <a:t>（MFLOPS）</a:t>
              </a:r>
            </a:p>
          </p:txBody>
        </p:sp>
        <p:sp>
          <p:nvSpPr>
            <p:cNvPr id="64" name="Rectangle 64"/>
            <p:cNvSpPr/>
            <p:nvPr/>
          </p:nvSpPr>
          <p:spPr>
            <a:xfrm>
              <a:off x="6248400" y="3541395"/>
              <a:ext cx="5410200" cy="9525"/>
            </a:xfrm>
            <a:prstGeom prst="rect">
              <a:avLst/>
            </a:prstGeom>
            <a:solidFill>
              <a:srgbClr val="D9DFEA"/>
            </a:solidFill>
            <a:ln>
              <a:noFill/>
            </a:ln>
          </p:spPr>
        </p:sp>
        <p:sp>
          <p:nvSpPr>
            <p:cNvPr id="65" name="Rectangle 65"/>
            <p:cNvSpPr/>
            <p:nvPr/>
          </p:nvSpPr>
          <p:spPr>
            <a:xfrm>
              <a:off x="6248400" y="3546158"/>
              <a:ext cx="5410200" cy="448628"/>
            </a:xfrm>
            <a:prstGeom prst="rect">
              <a:avLst/>
            </a:prstGeom>
            <a:solidFill>
              <a:srgbClr val="F4F6FB"/>
            </a:solidFill>
            <a:ln>
              <a:noFill/>
            </a:ln>
          </p:spPr>
        </p:sp>
        <p:sp>
          <p:nvSpPr>
            <p:cNvPr id="66" name="TextBox 66"/>
            <p:cNvSpPr txBox="1"/>
            <p:nvPr/>
          </p:nvSpPr>
          <p:spPr>
            <a:xfrm>
              <a:off x="6356223" y="3680936"/>
              <a:ext cx="529895"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利用率</a:t>
              </a:r>
            </a:p>
          </p:txBody>
        </p:sp>
        <p:sp>
          <p:nvSpPr>
            <p:cNvPr id="67" name="Rectangle 67"/>
            <p:cNvSpPr/>
            <p:nvPr/>
          </p:nvSpPr>
          <p:spPr>
            <a:xfrm>
              <a:off x="7339965" y="3555682"/>
              <a:ext cx="1604010" cy="429578"/>
            </a:xfrm>
            <a:prstGeom prst="rect">
              <a:avLst/>
            </a:prstGeom>
            <a:solidFill>
              <a:srgbClr val="FDEEE7"/>
            </a:solidFill>
            <a:ln>
              <a:noFill/>
            </a:ln>
          </p:spPr>
        </p:sp>
        <p:sp>
          <p:nvSpPr>
            <p:cNvPr id="68" name="TextBox 68"/>
            <p:cNvSpPr txBox="1"/>
            <p:nvPr/>
          </p:nvSpPr>
          <p:spPr>
            <a:xfrm>
              <a:off x="7438263" y="3680936"/>
              <a:ext cx="1232804" cy="249364"/>
            </a:xfrm>
            <a:prstGeom prst="rect">
              <a:avLst/>
            </a:prstGeom>
            <a:noFill/>
            <a:ln>
              <a:noFill/>
            </a:ln>
          </p:spPr>
          <p:txBody>
            <a:bodyPr wrap="none" lIns="0" tIns="0" rIns="0" bIns="0" anchor="t" anchorCtr="0">
              <a:spAutoFit/>
            </a:bodyPr>
            <a:lstStyle/>
            <a:p>
              <a:pPr algn="l"/>
              <a:r>
                <a:rPr lang="en-US" sz="1280" dirty="0">
                  <a:solidFill>
                    <a:srgbClr val="1F2937"/>
                  </a:solidFill>
                  <a:latin typeface="+mn-lt"/>
                  <a:ea typeface="+mn-ea"/>
                  <a:cs typeface="+mn-cs"/>
                </a:rPr>
                <a:t>U = Rₙ / Rₚₑₐₖ</a:t>
              </a:r>
            </a:p>
          </p:txBody>
        </p:sp>
        <p:sp>
          <p:nvSpPr>
            <p:cNvPr id="69" name="TextBox 69"/>
            <p:cNvSpPr txBox="1"/>
            <p:nvPr/>
          </p:nvSpPr>
          <p:spPr>
            <a:xfrm>
              <a:off x="9061323" y="3680936"/>
              <a:ext cx="2253031"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实际可达速度与理论峰值之比</a:t>
              </a:r>
            </a:p>
          </p:txBody>
        </p:sp>
        <p:sp>
          <p:nvSpPr>
            <p:cNvPr id="70" name="Rectangle 70"/>
            <p:cNvSpPr/>
            <p:nvPr/>
          </p:nvSpPr>
          <p:spPr>
            <a:xfrm>
              <a:off x="6248400" y="3990022"/>
              <a:ext cx="5410200" cy="9525"/>
            </a:xfrm>
            <a:prstGeom prst="rect">
              <a:avLst/>
            </a:prstGeom>
            <a:solidFill>
              <a:srgbClr val="D9DFEA"/>
            </a:solidFill>
            <a:ln>
              <a:noFill/>
            </a:ln>
          </p:spPr>
        </p:sp>
        <p:sp>
          <p:nvSpPr>
            <p:cNvPr id="71" name="TextBox 71"/>
            <p:cNvSpPr txBox="1"/>
            <p:nvPr/>
          </p:nvSpPr>
          <p:spPr>
            <a:xfrm>
              <a:off x="6356223" y="4130516"/>
              <a:ext cx="702208"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通信带宽</a:t>
              </a:r>
            </a:p>
          </p:txBody>
        </p:sp>
        <p:sp>
          <p:nvSpPr>
            <p:cNvPr id="72" name="TextBox 72"/>
            <p:cNvSpPr txBox="1"/>
            <p:nvPr/>
          </p:nvSpPr>
          <p:spPr>
            <a:xfrm>
              <a:off x="7438263" y="4130516"/>
              <a:ext cx="113091" cy="249364"/>
            </a:xfrm>
            <a:prstGeom prst="rect">
              <a:avLst/>
            </a:prstGeom>
            <a:noFill/>
            <a:ln>
              <a:noFill/>
            </a:ln>
          </p:spPr>
          <p:txBody>
            <a:bodyPr wrap="none" lIns="0" tIns="0" rIns="0" bIns="0" anchor="t" anchorCtr="0">
              <a:spAutoFit/>
            </a:bodyPr>
            <a:lstStyle/>
            <a:p>
              <a:pPr algn="l"/>
              <a:r>
                <a:rPr lang="en-US" sz="1280" dirty="0">
                  <a:solidFill>
                    <a:srgbClr val="1F2937"/>
                  </a:solidFill>
                  <a:latin typeface="+mn-lt"/>
                  <a:ea typeface="+mn-ea"/>
                  <a:cs typeface="+mn-cs"/>
                </a:rPr>
                <a:t>B</a:t>
              </a:r>
            </a:p>
          </p:txBody>
        </p:sp>
        <p:sp>
          <p:nvSpPr>
            <p:cNvPr id="73" name="TextBox 73"/>
            <p:cNvSpPr txBox="1"/>
            <p:nvPr/>
          </p:nvSpPr>
          <p:spPr>
            <a:xfrm>
              <a:off x="9061323" y="4130516"/>
              <a:ext cx="2337562"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传送消息的通信速率（MB/s）</a:t>
              </a:r>
            </a:p>
          </p:txBody>
        </p:sp>
        <p:sp>
          <p:nvSpPr>
            <p:cNvPr id="74" name="Rectangle 74"/>
            <p:cNvSpPr/>
            <p:nvPr/>
          </p:nvSpPr>
          <p:spPr>
            <a:xfrm>
              <a:off x="6248400" y="4438650"/>
              <a:ext cx="5410200" cy="9525"/>
            </a:xfrm>
            <a:prstGeom prst="rect">
              <a:avLst/>
            </a:prstGeom>
            <a:solidFill>
              <a:srgbClr val="D9DFEA"/>
            </a:solidFill>
            <a:ln>
              <a:noFill/>
            </a:ln>
          </p:spPr>
        </p:sp>
        <p:sp>
          <p:nvSpPr>
            <p:cNvPr id="75" name="Rectangle 75"/>
            <p:cNvSpPr/>
            <p:nvPr/>
          </p:nvSpPr>
          <p:spPr>
            <a:xfrm>
              <a:off x="6248400" y="4443412"/>
              <a:ext cx="5410200" cy="448628"/>
            </a:xfrm>
            <a:prstGeom prst="rect">
              <a:avLst/>
            </a:prstGeom>
            <a:solidFill>
              <a:srgbClr val="F4F6FB"/>
            </a:solidFill>
            <a:ln>
              <a:noFill/>
            </a:ln>
          </p:spPr>
        </p:sp>
        <p:sp>
          <p:nvSpPr>
            <p:cNvPr id="76" name="TextBox 76"/>
            <p:cNvSpPr txBox="1"/>
            <p:nvPr/>
          </p:nvSpPr>
          <p:spPr>
            <a:xfrm>
              <a:off x="6356223" y="4579144"/>
              <a:ext cx="702208"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渐近带宽</a:t>
              </a:r>
            </a:p>
          </p:txBody>
        </p:sp>
        <p:sp>
          <p:nvSpPr>
            <p:cNvPr id="77" name="TextBox 77"/>
            <p:cNvSpPr txBox="1"/>
            <p:nvPr/>
          </p:nvSpPr>
          <p:spPr>
            <a:xfrm>
              <a:off x="7438263" y="4579144"/>
              <a:ext cx="213228" cy="249364"/>
            </a:xfrm>
            <a:prstGeom prst="rect">
              <a:avLst/>
            </a:prstGeom>
            <a:noFill/>
            <a:ln>
              <a:noFill/>
            </a:ln>
          </p:spPr>
          <p:txBody>
            <a:bodyPr wrap="none" lIns="0" tIns="0" rIns="0" bIns="0" anchor="t" anchorCtr="0">
              <a:spAutoFit/>
            </a:bodyPr>
            <a:lstStyle/>
            <a:p>
              <a:pPr algn="l"/>
              <a:r>
                <a:rPr lang="en-US" sz="1280" dirty="0">
                  <a:solidFill>
                    <a:srgbClr val="1F2937"/>
                  </a:solidFill>
                  <a:latin typeface="+mn-lt"/>
                  <a:ea typeface="+mn-ea"/>
                  <a:cs typeface="+mn-cs"/>
                </a:rPr>
                <a:t>B∞</a:t>
              </a:r>
            </a:p>
          </p:txBody>
        </p:sp>
        <p:sp>
          <p:nvSpPr>
            <p:cNvPr id="78" name="TextBox 78"/>
            <p:cNvSpPr txBox="1"/>
            <p:nvPr/>
          </p:nvSpPr>
          <p:spPr>
            <a:xfrm>
              <a:off x="9061323" y="4579144"/>
              <a:ext cx="2509876"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传送长消息的通信速率（MB/s）</a:t>
              </a:r>
            </a:p>
          </p:txBody>
        </p:sp>
        <p:sp>
          <p:nvSpPr>
            <p:cNvPr id="79" name="Rectangle 79"/>
            <p:cNvSpPr/>
            <p:nvPr/>
          </p:nvSpPr>
          <p:spPr>
            <a:xfrm>
              <a:off x="6248400" y="1524000"/>
              <a:ext cx="5410200" cy="3368040"/>
            </a:xfrm>
            <a:prstGeom prst="rect">
              <a:avLst/>
            </a:prstGeom>
            <a:noFill/>
            <a:ln w="14288">
              <a:solidFill>
                <a:srgbClr val="D9DFEA"/>
              </a:solidFill>
            </a:ln>
          </p:spPr>
        </p:sp>
        <p:sp>
          <p:nvSpPr>
            <p:cNvPr id="80" name="Rectangle 80"/>
            <p:cNvSpPr/>
            <p:nvPr/>
          </p:nvSpPr>
          <p:spPr>
            <a:xfrm>
              <a:off x="7325678" y="1524000"/>
              <a:ext cx="9525" cy="3368040"/>
            </a:xfrm>
            <a:prstGeom prst="rect">
              <a:avLst/>
            </a:prstGeom>
            <a:solidFill>
              <a:srgbClr val="D9DFEA"/>
            </a:solidFill>
            <a:ln>
              <a:noFill/>
            </a:ln>
          </p:spPr>
        </p:sp>
        <p:sp>
          <p:nvSpPr>
            <p:cNvPr id="81" name="Rectangle 81"/>
            <p:cNvSpPr/>
            <p:nvPr/>
          </p:nvSpPr>
          <p:spPr>
            <a:xfrm>
              <a:off x="8948738" y="1524000"/>
              <a:ext cx="9525" cy="3368040"/>
            </a:xfrm>
            <a:prstGeom prst="rect">
              <a:avLst/>
            </a:prstGeom>
            <a:solidFill>
              <a:srgbClr val="D9DFEA"/>
            </a:solidFill>
            <a:ln>
              <a:noFill/>
            </a:ln>
          </p:spPr>
        </p:sp>
        <p:sp>
          <p:nvSpPr>
            <p:cNvPr id="82" name="TextBox 82"/>
            <p:cNvSpPr txBox="1"/>
            <p:nvPr/>
          </p:nvSpPr>
          <p:spPr>
            <a:xfrm>
              <a:off x="6242685" y="4967764"/>
              <a:ext cx="1971497" cy="220028"/>
            </a:xfrm>
            <a:prstGeom prst="rect">
              <a:avLst/>
            </a:prstGeom>
            <a:noFill/>
            <a:ln>
              <a:noFill/>
            </a:ln>
          </p:spPr>
          <p:txBody>
            <a:bodyPr wrap="none" lIns="0" tIns="0" rIns="0" bIns="0" anchor="t" anchorCtr="0">
              <a:spAutoFit/>
            </a:bodyPr>
            <a:lstStyle/>
            <a:p>
              <a:pPr algn="l"/>
              <a:r>
                <a:rPr lang="zh-CN" sz="1120" dirty="0">
                  <a:solidFill>
                    <a:srgbClr val="5B6475"/>
                  </a:solidFill>
                  <a:latin typeface="+mn-lt"/>
                  <a:ea typeface="+mn-ea"/>
                  <a:cs typeface="+mn-cs"/>
                </a:rPr>
                <a:t>比值与带宽（前四项无量纲）</a:t>
              </a:r>
            </a:p>
          </p:txBody>
        </p:sp>
      </p:grpSp>
      <p:grpSp>
        <p:nvGrpSpPr>
          <p:cNvPr id="90" name="takeaway"/>
          <p:cNvGrpSpPr/>
          <p:nvPr/>
        </p:nvGrpSpPr>
        <p:grpSpPr>
          <a:xfrm>
            <a:off x="533400" y="5829300"/>
            <a:ext cx="11125200" cy="533400"/>
            <a:chOff x="533400" y="5829300"/>
            <a:chExt cx="11125200" cy="533400"/>
          </a:xfrm>
        </p:grpSpPr>
        <p:sp>
          <p:nvSpPr>
            <p:cNvPr id="84" name="Rectangle 84"/>
            <p:cNvSpPr/>
            <p:nvPr/>
          </p:nvSpPr>
          <p:spPr>
            <a:xfrm>
              <a:off x="533400" y="5829300"/>
              <a:ext cx="11125200" cy="533400"/>
            </a:xfrm>
            <a:prstGeom prst="roundRect">
              <a:avLst>
                <a:gd name="adj" fmla="val 21429"/>
              </a:avLst>
            </a:prstGeom>
            <a:solidFill>
              <a:srgbClr val="FDEEE7"/>
            </a:solidFill>
            <a:ln>
              <a:noFill/>
            </a:ln>
          </p:spPr>
        </p:sp>
        <p:grpSp>
          <p:nvGrpSpPr>
            <p:cNvPr id="88" name="Group 88"/>
            <p:cNvGrpSpPr/>
            <p:nvPr/>
          </p:nvGrpSpPr>
          <p:grpSpPr>
            <a:xfrm>
              <a:off x="738188" y="5995988"/>
              <a:ext cx="200026" cy="200025"/>
              <a:chOff x="738188" y="5995988"/>
              <a:chExt cx="200026" cy="200025"/>
            </a:xfrm>
          </p:grpSpPr>
          <p:sp>
            <p:nvSpPr>
              <p:cNvPr id="85" name="Freeform 85"/>
              <p:cNvSpPr/>
              <p:nvPr/>
            </p:nvSpPr>
            <p:spPr>
              <a:xfrm>
                <a:off x="738188" y="5995988"/>
                <a:ext cx="200026" cy="100013"/>
              </a:xfrm>
              <a:custGeom>
                <a:avLst/>
                <a:gdLst/>
                <a:ahLst/>
                <a:cxnLst/>
                <a:rect l="l" t="t" r="r" b="b"/>
                <a:pathLst>
                  <a:path w="200026" h="100013">
                    <a:moveTo>
                      <a:pt x="0" y="100013"/>
                    </a:moveTo>
                    <a:lnTo>
                      <a:pt x="11113" y="100013"/>
                    </a:lnTo>
                    <a:moveTo>
                      <a:pt x="100013" y="0"/>
                    </a:moveTo>
                    <a:lnTo>
                      <a:pt x="100013" y="11113"/>
                    </a:lnTo>
                    <a:moveTo>
                      <a:pt x="188913" y="100013"/>
                    </a:moveTo>
                    <a:lnTo>
                      <a:pt x="200026" y="100013"/>
                    </a:lnTo>
                    <a:moveTo>
                      <a:pt x="28893" y="28893"/>
                    </a:moveTo>
                    <a:lnTo>
                      <a:pt x="36671" y="36671"/>
                    </a:lnTo>
                    <a:moveTo>
                      <a:pt x="171133" y="28893"/>
                    </a:moveTo>
                    <a:lnTo>
                      <a:pt x="163354" y="36671"/>
                    </a:lnTo>
                  </a:path>
                </a:pathLst>
              </a:custGeom>
              <a:noFill/>
              <a:ln w="22225">
                <a:solidFill>
                  <a:srgbClr val="C2410C"/>
                </a:solidFill>
              </a:ln>
            </p:spPr>
          </p:sp>
          <p:sp>
            <p:nvSpPr>
              <p:cNvPr id="86" name="Freeform 86"/>
              <p:cNvSpPr/>
              <p:nvPr/>
            </p:nvSpPr>
            <p:spPr>
              <a:xfrm>
                <a:off x="777926" y="6040438"/>
                <a:ext cx="120548" cy="155575"/>
              </a:xfrm>
              <a:custGeom>
                <a:avLst/>
                <a:gdLst/>
                <a:ahLst/>
                <a:cxnLst/>
                <a:rect l="l" t="t" r="r" b="b"/>
                <a:pathLst>
                  <a:path w="120548" h="155575">
                    <a:moveTo>
                      <a:pt x="26937" y="100013"/>
                    </a:moveTo>
                    <a:cubicBezTo>
                      <a:pt x="7804" y="85663"/>
                      <a:pt x="0" y="60681"/>
                      <a:pt x="7563" y="37992"/>
                    </a:cubicBezTo>
                    <a:cubicBezTo>
                      <a:pt x="15126" y="15304"/>
                      <a:pt x="36358" y="0"/>
                      <a:pt x="60274" y="0"/>
                    </a:cubicBezTo>
                    <a:cubicBezTo>
                      <a:pt x="84190" y="0"/>
                      <a:pt x="105423" y="15304"/>
                      <a:pt x="112986" y="37992"/>
                    </a:cubicBezTo>
                    <a:cubicBezTo>
                      <a:pt x="120548" y="60681"/>
                      <a:pt x="112745" y="85663"/>
                      <a:pt x="93612" y="100013"/>
                    </a:cubicBezTo>
                    <a:cubicBezTo>
                      <a:pt x="84812" y="108723"/>
                      <a:pt x="80686" y="121103"/>
                      <a:pt x="82499" y="133350"/>
                    </a:cubicBezTo>
                    <a:cubicBezTo>
                      <a:pt x="82499" y="145625"/>
                      <a:pt x="72549" y="155575"/>
                      <a:pt x="60274" y="155575"/>
                    </a:cubicBezTo>
                    <a:cubicBezTo>
                      <a:pt x="48000" y="155575"/>
                      <a:pt x="38049" y="145625"/>
                      <a:pt x="38049" y="133350"/>
                    </a:cubicBezTo>
                    <a:cubicBezTo>
                      <a:pt x="39862" y="121103"/>
                      <a:pt x="35736" y="108723"/>
                      <a:pt x="26937" y="100013"/>
                    </a:cubicBezTo>
                  </a:path>
                </a:pathLst>
              </a:custGeom>
              <a:noFill/>
              <a:ln w="22225">
                <a:solidFill>
                  <a:srgbClr val="C2410C"/>
                </a:solidFill>
              </a:ln>
            </p:spPr>
          </p:sp>
          <p:sp>
            <p:nvSpPr>
              <p:cNvPr id="87" name="Freeform 87"/>
              <p:cNvSpPr/>
              <p:nvPr/>
            </p:nvSpPr>
            <p:spPr>
              <a:xfrm>
                <a:off x="812642" y="6151563"/>
                <a:ext cx="51118" cy="9525"/>
              </a:xfrm>
              <a:custGeom>
                <a:avLst/>
                <a:gdLst/>
                <a:ahLst/>
                <a:cxnLst/>
                <a:rect l="l" t="t" r="r" b="b"/>
                <a:pathLst>
                  <a:path w="51118" h="9525">
                    <a:moveTo>
                      <a:pt x="0" y="0"/>
                    </a:moveTo>
                    <a:lnTo>
                      <a:pt x="51118" y="0"/>
                    </a:lnTo>
                  </a:path>
                </a:pathLst>
              </a:custGeom>
              <a:noFill/>
              <a:ln w="22225">
                <a:solidFill>
                  <a:srgbClr val="C2410C"/>
                </a:solidFill>
              </a:ln>
            </p:spPr>
          </p:sp>
        </p:grpSp>
        <p:sp>
          <p:nvSpPr>
            <p:cNvPr id="89" name="TextBox 89"/>
            <p:cNvSpPr txBox="1"/>
            <p:nvPr/>
          </p:nvSpPr>
          <p:spPr>
            <a:xfrm>
              <a:off x="1040130" y="5991225"/>
              <a:ext cx="10476738" cy="293370"/>
            </a:xfrm>
            <a:prstGeom prst="rect">
              <a:avLst/>
            </a:prstGeom>
            <a:noFill/>
            <a:ln>
              <a:noFill/>
            </a:ln>
          </p:spPr>
          <p:txBody>
            <a:bodyPr wrap="none" lIns="0" tIns="0" rIns="0" bIns="0" anchor="t" anchorCtr="0">
              <a:spAutoFit/>
            </a:bodyPr>
            <a:lstStyle/>
            <a:p>
              <a:pPr algn="l"/>
              <a:r>
                <a:rPr lang="zh-CN" sz="1500" dirty="0">
                  <a:solidFill>
                    <a:srgbClr val="C2410C"/>
                  </a:solidFill>
                  <a:latin typeface="+mn-lt"/>
                  <a:ea typeface="+mn-ea"/>
                  <a:cs typeface="+mn-cs"/>
                </a:rPr>
                <a:t>区分三个比值：加速比 Sₙ 比的是时间，效率 Eₙ 是加速比平摊到每个处理器，利用率 U 比的是速度（实测对峰值）。</a:t>
              </a:r>
            </a:p>
          </p:txBody>
        </p:sp>
      </p:grpSp>
      <p:grpSp>
        <p:nvGrpSpPr>
          <p:cNvPr id="93" name="footer"/>
          <p:cNvGrpSpPr/>
          <p:nvPr/>
        </p:nvGrpSpPr>
        <p:grpSpPr>
          <a:xfrm>
            <a:off x="528447" y="6581299"/>
            <a:ext cx="11135106" cy="190690"/>
            <a:chOff x="528447" y="6581299"/>
            <a:chExt cx="11135106" cy="190690"/>
          </a:xfrm>
        </p:grpSpPr>
        <p:sp>
          <p:nvSpPr>
            <p:cNvPr id="91" name="TextBox 91"/>
            <p:cNvSpPr txBox="1"/>
            <p:nvPr/>
          </p:nvSpPr>
          <p:spPr>
            <a:xfrm>
              <a:off x="528447" y="6581299"/>
              <a:ext cx="2120748"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并行与分布式计算 · 第7章 体系结构</a:t>
              </a:r>
            </a:p>
          </p:txBody>
        </p:sp>
        <p:sp>
          <p:nvSpPr>
            <p:cNvPr id="92" name="TextBox 92"/>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58</a:t>
              </a:r>
            </a:p>
          </p:txBody>
        </p:sp>
      </p:grpSp>
    </p:spTree>
  </p:cSld>
  <p:clrMapOvr>
    <a:masterClrMapping/>
  </p:clrMapOvr>
  <p:transition xmlns:p14="http://schemas.microsoft.com/office/powerpoint/2010/main" p14:dur="400">
    <p:fade/>
  </p:transition>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3115437" cy="909257"/>
            <a:chOff x="520446" y="342900"/>
            <a:chExt cx="3115437" cy="909257"/>
          </a:xfrm>
        </p:grpSpPr>
        <p:sp>
          <p:nvSpPr>
            <p:cNvPr id="2" name="Rectangle 2"/>
            <p:cNvSpPr/>
            <p:nvPr/>
          </p:nvSpPr>
          <p:spPr>
            <a:xfrm>
              <a:off x="533400" y="342900"/>
              <a:ext cx="1987868" cy="266700"/>
            </a:xfrm>
            <a:prstGeom prst="roundRect">
              <a:avLst>
                <a:gd name="adj" fmla="val 50000"/>
              </a:avLst>
            </a:prstGeom>
            <a:solidFill>
              <a:srgbClr val="E7EDF3"/>
            </a:solidFill>
            <a:ln>
              <a:noFill/>
            </a:ln>
          </p:spPr>
        </p:sp>
        <p:sp>
          <p:nvSpPr>
            <p:cNvPr id="3" name="TextBox 3"/>
            <p:cNvSpPr txBox="1"/>
            <p:nvPr/>
          </p:nvSpPr>
          <p:spPr>
            <a:xfrm>
              <a:off x="608957" y="407194"/>
              <a:ext cx="1835800"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第7章 体系结构 · 性能评测</a:t>
              </a:r>
            </a:p>
          </p:txBody>
        </p:sp>
        <p:sp>
          <p:nvSpPr>
            <p:cNvPr id="4" name="TextBox 4"/>
            <p:cNvSpPr txBox="1"/>
            <p:nvPr/>
          </p:nvSpPr>
          <p:spPr>
            <a:xfrm>
              <a:off x="520446" y="753428"/>
              <a:ext cx="3115437"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工作负载与峰值速度</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12" name="c1-card-1"/>
          <p:cNvGrpSpPr/>
          <p:nvPr/>
        </p:nvGrpSpPr>
        <p:grpSpPr>
          <a:xfrm>
            <a:off x="533400" y="1524000"/>
            <a:ext cx="4977765" cy="1316355"/>
            <a:chOff x="533400" y="1524000"/>
            <a:chExt cx="4977765" cy="1316355"/>
          </a:xfrm>
        </p:grpSpPr>
        <p:sp>
          <p:nvSpPr>
            <p:cNvPr id="7" name="Rectangle 7"/>
            <p:cNvSpPr/>
            <p:nvPr/>
          </p:nvSpPr>
          <p:spPr>
            <a:xfrm>
              <a:off x="533400" y="1524000"/>
              <a:ext cx="4977765" cy="1316355"/>
            </a:xfrm>
            <a:prstGeom prst="roundRect">
              <a:avLst>
                <a:gd name="adj" fmla="val 10130"/>
              </a:avLst>
            </a:prstGeom>
            <a:solidFill>
              <a:srgbClr val="FFFFFF"/>
            </a:solidFill>
            <a:ln w="14288">
              <a:solidFill>
                <a:srgbClr val="D9DFEA"/>
              </a:solidFill>
            </a:ln>
          </p:spPr>
        </p:sp>
        <p:sp>
          <p:nvSpPr>
            <p:cNvPr id="8" name="Rectangle 8"/>
            <p:cNvSpPr/>
            <p:nvPr/>
          </p:nvSpPr>
          <p:spPr>
            <a:xfrm>
              <a:off x="542925" y="1657350"/>
              <a:ext cx="47625" cy="1049655"/>
            </a:xfrm>
            <a:prstGeom prst="roundRect">
              <a:avLst>
                <a:gd name="adj" fmla="val 50000"/>
              </a:avLst>
            </a:prstGeom>
            <a:solidFill>
              <a:srgbClr val="334E68"/>
            </a:solidFill>
            <a:ln>
              <a:noFill/>
            </a:ln>
          </p:spPr>
        </p:sp>
        <p:sp>
          <p:nvSpPr>
            <p:cNvPr id="9" name="Rectangle 9"/>
            <p:cNvSpPr/>
            <p:nvPr/>
          </p:nvSpPr>
          <p:spPr>
            <a:xfrm>
              <a:off x="781050" y="1733550"/>
              <a:ext cx="778192" cy="257175"/>
            </a:xfrm>
            <a:prstGeom prst="roundRect">
              <a:avLst>
                <a:gd name="adj" fmla="val 50000"/>
              </a:avLst>
            </a:prstGeom>
            <a:solidFill>
              <a:srgbClr val="E7EDF3"/>
            </a:solidFill>
            <a:ln>
              <a:noFill/>
            </a:ln>
          </p:spPr>
        </p:sp>
        <p:sp>
          <p:nvSpPr>
            <p:cNvPr id="10" name="TextBox 10"/>
            <p:cNvSpPr txBox="1"/>
            <p:nvPr/>
          </p:nvSpPr>
          <p:spPr>
            <a:xfrm>
              <a:off x="863359" y="1769269"/>
              <a:ext cx="614528"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工作负载</a:t>
              </a:r>
            </a:p>
          </p:txBody>
        </p:sp>
        <p:sp>
          <p:nvSpPr>
            <p:cNvPr id="11" name="TextBox 11"/>
            <p:cNvSpPr txBox="1"/>
            <p:nvPr/>
          </p:nvSpPr>
          <p:spPr>
            <a:xfrm>
              <a:off x="773430" y="2110740"/>
              <a:ext cx="4063365"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一段时间内正在使用和等待使用 CPU 的平均任务</a:t>
              </a:r>
              <a:br/>
              <a:r>
                <a:rPr lang="zh-CN" sz="1500" dirty="0">
                  <a:solidFill>
                    <a:srgbClr val="1F2937"/>
                  </a:solidFill>
                  <a:latin typeface="+mn-lt"/>
                  <a:ea typeface="+mn-ea"/>
                  <a:cs typeface="+mn-cs"/>
                </a:rPr>
                <a:t>数。CPU 使用率高，不代表负载一定大。</a:t>
              </a:r>
            </a:p>
          </p:txBody>
        </p:sp>
      </p:grpSp>
      <p:grpSp>
        <p:nvGrpSpPr>
          <p:cNvPr id="28" name="c1-table-2"/>
          <p:cNvGrpSpPr/>
          <p:nvPr/>
        </p:nvGrpSpPr>
        <p:grpSpPr>
          <a:xfrm>
            <a:off x="533400" y="3030855"/>
            <a:ext cx="4977765" cy="1346835"/>
            <a:chOff x="533400" y="3030855"/>
            <a:chExt cx="4977765" cy="1346835"/>
          </a:xfrm>
        </p:grpSpPr>
        <p:sp>
          <p:nvSpPr>
            <p:cNvPr id="13" name="Rectangle 13"/>
            <p:cNvSpPr/>
            <p:nvPr/>
          </p:nvSpPr>
          <p:spPr>
            <a:xfrm>
              <a:off x="533400" y="3030855"/>
              <a:ext cx="4977765" cy="448628"/>
            </a:xfrm>
            <a:prstGeom prst="rect">
              <a:avLst/>
            </a:prstGeom>
            <a:solidFill>
              <a:srgbClr val="334E68"/>
            </a:solidFill>
            <a:ln>
              <a:noFill/>
            </a:ln>
          </p:spPr>
        </p:sp>
        <p:sp>
          <p:nvSpPr>
            <p:cNvPr id="14" name="TextBox 14"/>
            <p:cNvSpPr txBox="1"/>
            <p:nvPr/>
          </p:nvSpPr>
          <p:spPr>
            <a:xfrm>
              <a:off x="1598574" y="3166586"/>
              <a:ext cx="357581"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情形</a:t>
              </a:r>
            </a:p>
          </p:txBody>
        </p:sp>
        <p:sp>
          <p:nvSpPr>
            <p:cNvPr id="15" name="TextBox 15"/>
            <p:cNvSpPr txBox="1"/>
            <p:nvPr/>
          </p:nvSpPr>
          <p:spPr>
            <a:xfrm>
              <a:off x="3192926" y="3166586"/>
              <a:ext cx="902677"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CPU 使用率</a:t>
              </a:r>
            </a:p>
          </p:txBody>
        </p:sp>
        <p:sp>
          <p:nvSpPr>
            <p:cNvPr id="16" name="TextBox 16"/>
            <p:cNvSpPr txBox="1"/>
            <p:nvPr/>
          </p:nvSpPr>
          <p:spPr>
            <a:xfrm>
              <a:off x="4537126" y="3166586"/>
              <a:ext cx="702208"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工作负载</a:t>
              </a:r>
            </a:p>
          </p:txBody>
        </p:sp>
        <p:sp>
          <p:nvSpPr>
            <p:cNvPr id="17" name="TextBox 17"/>
            <p:cNvSpPr txBox="1"/>
            <p:nvPr/>
          </p:nvSpPr>
          <p:spPr>
            <a:xfrm>
              <a:off x="641223" y="3615214"/>
              <a:ext cx="2166224"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一个程序一直占用 CPU 运算</a:t>
              </a:r>
            </a:p>
          </p:txBody>
        </p:sp>
        <p:sp>
          <p:nvSpPr>
            <p:cNvPr id="18" name="TextBox 18"/>
            <p:cNvSpPr txBox="1"/>
            <p:nvPr/>
          </p:nvSpPr>
          <p:spPr>
            <a:xfrm>
              <a:off x="3130106" y="3615214"/>
              <a:ext cx="650514"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约 100%</a:t>
              </a:r>
            </a:p>
          </p:txBody>
        </p:sp>
        <p:sp>
          <p:nvSpPr>
            <p:cNvPr id="19" name="TextBox 19"/>
            <p:cNvSpPr txBox="1"/>
            <p:nvPr/>
          </p:nvSpPr>
          <p:spPr>
            <a:xfrm>
              <a:off x="4374070" y="3615214"/>
              <a:ext cx="331734"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约 1</a:t>
              </a:r>
            </a:p>
          </p:txBody>
        </p:sp>
        <p:sp>
          <p:nvSpPr>
            <p:cNvPr id="20" name="Rectangle 20"/>
            <p:cNvSpPr/>
            <p:nvPr/>
          </p:nvSpPr>
          <p:spPr>
            <a:xfrm>
              <a:off x="533400" y="3923348"/>
              <a:ext cx="4977765" cy="9525"/>
            </a:xfrm>
            <a:prstGeom prst="rect">
              <a:avLst/>
            </a:prstGeom>
            <a:solidFill>
              <a:srgbClr val="D9DFEA"/>
            </a:solidFill>
            <a:ln>
              <a:noFill/>
            </a:ln>
          </p:spPr>
        </p:sp>
        <p:sp>
          <p:nvSpPr>
            <p:cNvPr id="21" name="Rectangle 21"/>
            <p:cNvSpPr/>
            <p:nvPr/>
          </p:nvSpPr>
          <p:spPr>
            <a:xfrm>
              <a:off x="533400" y="3928110"/>
              <a:ext cx="4977765" cy="448628"/>
            </a:xfrm>
            <a:prstGeom prst="rect">
              <a:avLst/>
            </a:prstGeom>
            <a:solidFill>
              <a:srgbClr val="F4F6FB"/>
            </a:solidFill>
            <a:ln>
              <a:noFill/>
            </a:ln>
          </p:spPr>
        </p:sp>
        <p:sp>
          <p:nvSpPr>
            <p:cNvPr id="22" name="TextBox 22"/>
            <p:cNvSpPr txBox="1"/>
            <p:nvPr/>
          </p:nvSpPr>
          <p:spPr>
            <a:xfrm>
              <a:off x="641223" y="4063841"/>
              <a:ext cx="1908404"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同时运行两个这样的程序</a:t>
              </a:r>
            </a:p>
          </p:txBody>
        </p:sp>
        <p:sp>
          <p:nvSpPr>
            <p:cNvPr id="23" name="TextBox 23"/>
            <p:cNvSpPr txBox="1"/>
            <p:nvPr/>
          </p:nvSpPr>
          <p:spPr>
            <a:xfrm>
              <a:off x="3130106" y="4063841"/>
              <a:ext cx="822828"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仍约 100%</a:t>
              </a:r>
            </a:p>
          </p:txBody>
        </p:sp>
        <p:sp>
          <p:nvSpPr>
            <p:cNvPr id="24" name="TextBox 24"/>
            <p:cNvSpPr txBox="1"/>
            <p:nvPr/>
          </p:nvSpPr>
          <p:spPr>
            <a:xfrm>
              <a:off x="4374070" y="4063841"/>
              <a:ext cx="331734"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约 2</a:t>
              </a:r>
            </a:p>
          </p:txBody>
        </p:sp>
        <p:sp>
          <p:nvSpPr>
            <p:cNvPr id="25" name="Rectangle 25"/>
            <p:cNvSpPr/>
            <p:nvPr/>
          </p:nvSpPr>
          <p:spPr>
            <a:xfrm>
              <a:off x="533400" y="3030855"/>
              <a:ext cx="4977765" cy="1346835"/>
            </a:xfrm>
            <a:prstGeom prst="rect">
              <a:avLst/>
            </a:prstGeom>
            <a:noFill/>
            <a:ln w="14288">
              <a:solidFill>
                <a:srgbClr val="D9DFEA"/>
              </a:solidFill>
            </a:ln>
          </p:spPr>
        </p:sp>
        <p:sp>
          <p:nvSpPr>
            <p:cNvPr id="26" name="Rectangle 26"/>
            <p:cNvSpPr/>
            <p:nvPr/>
          </p:nvSpPr>
          <p:spPr>
            <a:xfrm>
              <a:off x="3017520" y="3030855"/>
              <a:ext cx="9525" cy="1346835"/>
            </a:xfrm>
            <a:prstGeom prst="rect">
              <a:avLst/>
            </a:prstGeom>
            <a:solidFill>
              <a:srgbClr val="D9DFEA"/>
            </a:solidFill>
            <a:ln>
              <a:noFill/>
            </a:ln>
          </p:spPr>
        </p:sp>
        <p:sp>
          <p:nvSpPr>
            <p:cNvPr id="27" name="Rectangle 27"/>
            <p:cNvSpPr/>
            <p:nvPr/>
          </p:nvSpPr>
          <p:spPr>
            <a:xfrm>
              <a:off x="4261485" y="3030855"/>
              <a:ext cx="9525" cy="1346835"/>
            </a:xfrm>
            <a:prstGeom prst="rect">
              <a:avLst/>
            </a:prstGeom>
            <a:solidFill>
              <a:srgbClr val="D9DFEA"/>
            </a:solidFill>
            <a:ln>
              <a:noFill/>
            </a:ln>
          </p:spPr>
        </p:sp>
      </p:grpSp>
      <p:grpSp>
        <p:nvGrpSpPr>
          <p:cNvPr id="35" name="c1-callout-3"/>
          <p:cNvGrpSpPr/>
          <p:nvPr/>
        </p:nvGrpSpPr>
        <p:grpSpPr>
          <a:xfrm>
            <a:off x="533400" y="4568190"/>
            <a:ext cx="4977765" cy="1296352"/>
            <a:chOff x="533400" y="4568190"/>
            <a:chExt cx="4977765" cy="1296352"/>
          </a:xfrm>
        </p:grpSpPr>
        <p:sp>
          <p:nvSpPr>
            <p:cNvPr id="29" name="Rectangle 29"/>
            <p:cNvSpPr/>
            <p:nvPr/>
          </p:nvSpPr>
          <p:spPr>
            <a:xfrm>
              <a:off x="533400" y="4568190"/>
              <a:ext cx="4977765" cy="1296352"/>
            </a:xfrm>
            <a:prstGeom prst="roundRect">
              <a:avLst>
                <a:gd name="adj" fmla="val 8817"/>
              </a:avLst>
            </a:prstGeom>
            <a:solidFill>
              <a:srgbClr val="F4F6FB"/>
            </a:solidFill>
            <a:ln>
              <a:noFill/>
            </a:ln>
          </p:spPr>
        </p:sp>
        <p:grpSp>
          <p:nvGrpSpPr>
            <p:cNvPr id="33" name="Group 33"/>
            <p:cNvGrpSpPr/>
            <p:nvPr/>
          </p:nvGrpSpPr>
          <p:grpSpPr>
            <a:xfrm>
              <a:off x="738188" y="5115878"/>
              <a:ext cx="200026" cy="200026"/>
              <a:chOff x="738188" y="5115878"/>
              <a:chExt cx="200026" cy="200026"/>
            </a:xfrm>
          </p:grpSpPr>
          <p:sp>
            <p:nvSpPr>
              <p:cNvPr id="30" name="Freeform 30"/>
              <p:cNvSpPr/>
              <p:nvPr/>
            </p:nvSpPr>
            <p:spPr>
              <a:xfrm>
                <a:off x="738188" y="5115878"/>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1F2937"/>
                </a:solidFill>
              </a:ln>
            </p:spPr>
          </p:sp>
          <p:sp>
            <p:nvSpPr>
              <p:cNvPr id="31" name="Freeform 31"/>
              <p:cNvSpPr/>
              <p:nvPr/>
            </p:nvSpPr>
            <p:spPr>
              <a:xfrm>
                <a:off x="838200" y="5182553"/>
                <a:ext cx="9525" cy="9525"/>
              </a:xfrm>
              <a:custGeom>
                <a:avLst/>
                <a:gdLst/>
                <a:ahLst/>
                <a:cxnLst/>
                <a:rect l="l" t="t" r="r" b="b"/>
                <a:pathLst>
                  <a:path w="9525" h="9525">
                    <a:moveTo>
                      <a:pt x="0" y="0"/>
                    </a:moveTo>
                    <a:lnTo>
                      <a:pt x="111" y="0"/>
                    </a:lnTo>
                  </a:path>
                </a:pathLst>
              </a:custGeom>
              <a:noFill/>
              <a:ln w="22225">
                <a:solidFill>
                  <a:srgbClr val="1F2937"/>
                </a:solidFill>
              </a:ln>
            </p:spPr>
          </p:sp>
          <p:sp>
            <p:nvSpPr>
              <p:cNvPr id="32" name="Freeform 32"/>
              <p:cNvSpPr/>
              <p:nvPr/>
            </p:nvSpPr>
            <p:spPr>
              <a:xfrm>
                <a:off x="827088" y="5215890"/>
                <a:ext cx="22225" cy="44450"/>
              </a:xfrm>
              <a:custGeom>
                <a:avLst/>
                <a:gdLst/>
                <a:ahLst/>
                <a:cxnLst/>
                <a:rect l="l" t="t" r="r" b="b"/>
                <a:pathLst>
                  <a:path w="22225" h="44450">
                    <a:moveTo>
                      <a:pt x="0" y="0"/>
                    </a:moveTo>
                    <a:lnTo>
                      <a:pt x="11113" y="0"/>
                    </a:lnTo>
                    <a:lnTo>
                      <a:pt x="11113" y="44450"/>
                    </a:lnTo>
                    <a:lnTo>
                      <a:pt x="22225" y="44450"/>
                    </a:lnTo>
                  </a:path>
                </a:pathLst>
              </a:custGeom>
              <a:noFill/>
              <a:ln w="22225">
                <a:solidFill>
                  <a:srgbClr val="1F2937"/>
                </a:solidFill>
              </a:ln>
            </p:spPr>
          </p:sp>
        </p:grpSp>
        <p:sp>
          <p:nvSpPr>
            <p:cNvPr id="34" name="TextBox 34"/>
            <p:cNvSpPr txBox="1"/>
            <p:nvPr/>
          </p:nvSpPr>
          <p:spPr>
            <a:xfrm>
              <a:off x="1040130" y="4973002"/>
              <a:ext cx="4006215" cy="569595"/>
            </a:xfrm>
            <a:prstGeom prst="rect">
              <a:avLst/>
            </a:prstGeom>
            <a:noFill/>
            <a:ln>
              <a:noFill/>
            </a:ln>
          </p:spPr>
          <p:txBody>
            <a:bodyPr wrap="none" lIns="0" tIns="0" rIns="0" bIns="0" anchor="t" anchorCtr="0">
              <a:spAutoFit/>
            </a:bodyPr>
            <a:lstStyle/>
            <a:p>
              <a:pPr algn="l">
                <a:lnSpc>
                  <a:spcPts val="2175"/>
                </a:lnSpc>
              </a:pPr>
              <a:r>
                <a:rPr lang="zh-CN" sz="1500" dirty="0">
                  <a:solidFill>
                    <a:srgbClr val="1F2937"/>
                  </a:solidFill>
                  <a:latin typeface="+mn-lt"/>
                  <a:ea typeface="+mn-ea"/>
                  <a:cs typeface="+mn-cs"/>
                </a:rPr>
                <a:t>负载越大，CPU 要在不同任务之间做越频繁的上</a:t>
              </a:r>
              <a:br/>
              <a:r>
                <a:rPr lang="zh-CN" sz="1500" dirty="0">
                  <a:solidFill>
                    <a:srgbClr val="1F2937"/>
                  </a:solidFill>
                  <a:latin typeface="+mn-lt"/>
                  <a:ea typeface="+mn-ea"/>
                  <a:cs typeface="+mn-cs"/>
                </a:rPr>
                <a:t>下文切换。</a:t>
              </a:r>
            </a:p>
          </p:txBody>
        </p:sp>
      </p:grpSp>
      <p:grpSp>
        <p:nvGrpSpPr>
          <p:cNvPr id="42" name="c2-card-1"/>
          <p:cNvGrpSpPr/>
          <p:nvPr/>
        </p:nvGrpSpPr>
        <p:grpSpPr>
          <a:xfrm>
            <a:off x="5815965" y="1524000"/>
            <a:ext cx="5842635" cy="1847850"/>
            <a:chOff x="5815965" y="1524000"/>
            <a:chExt cx="5842635" cy="1847850"/>
          </a:xfrm>
        </p:grpSpPr>
        <p:sp>
          <p:nvSpPr>
            <p:cNvPr id="36" name="Rectangle 36"/>
            <p:cNvSpPr/>
            <p:nvPr/>
          </p:nvSpPr>
          <p:spPr>
            <a:xfrm>
              <a:off x="5815965" y="1524000"/>
              <a:ext cx="5842635" cy="1847850"/>
            </a:xfrm>
            <a:prstGeom prst="roundRect">
              <a:avLst>
                <a:gd name="adj" fmla="val 7216"/>
              </a:avLst>
            </a:prstGeom>
            <a:solidFill>
              <a:srgbClr val="FFFFFF"/>
            </a:solidFill>
            <a:ln w="14288">
              <a:solidFill>
                <a:srgbClr val="D9DFEA"/>
              </a:solidFill>
            </a:ln>
          </p:spPr>
        </p:sp>
        <p:sp>
          <p:nvSpPr>
            <p:cNvPr id="37" name="Rectangle 37"/>
            <p:cNvSpPr/>
            <p:nvPr/>
          </p:nvSpPr>
          <p:spPr>
            <a:xfrm>
              <a:off x="5825490" y="1657350"/>
              <a:ext cx="47625" cy="1581150"/>
            </a:xfrm>
            <a:prstGeom prst="roundRect">
              <a:avLst>
                <a:gd name="adj" fmla="val 50000"/>
              </a:avLst>
            </a:prstGeom>
            <a:solidFill>
              <a:srgbClr val="334E68"/>
            </a:solidFill>
            <a:ln>
              <a:noFill/>
            </a:ln>
          </p:spPr>
        </p:sp>
        <p:sp>
          <p:nvSpPr>
            <p:cNvPr id="38" name="Rectangle 38"/>
            <p:cNvSpPr/>
            <p:nvPr/>
          </p:nvSpPr>
          <p:spPr>
            <a:xfrm>
              <a:off x="6063615" y="1733550"/>
              <a:ext cx="1062990" cy="257175"/>
            </a:xfrm>
            <a:prstGeom prst="roundRect">
              <a:avLst>
                <a:gd name="adj" fmla="val 50000"/>
              </a:avLst>
            </a:prstGeom>
            <a:solidFill>
              <a:srgbClr val="E7EDF3"/>
            </a:solidFill>
            <a:ln>
              <a:noFill/>
            </a:ln>
          </p:spPr>
        </p:sp>
        <p:sp>
          <p:nvSpPr>
            <p:cNvPr id="39" name="TextBox 39"/>
            <p:cNvSpPr txBox="1"/>
            <p:nvPr/>
          </p:nvSpPr>
          <p:spPr>
            <a:xfrm>
              <a:off x="6137072" y="1769269"/>
              <a:ext cx="916076"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理论浮点峰值</a:t>
              </a:r>
            </a:p>
          </p:txBody>
        </p:sp>
        <p:sp>
          <p:nvSpPr>
            <p:cNvPr id="40" name="TextBox 40"/>
            <p:cNvSpPr txBox="1"/>
            <p:nvPr/>
          </p:nvSpPr>
          <p:spPr>
            <a:xfrm>
              <a:off x="6055995" y="2110740"/>
              <a:ext cx="5015865"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理论浮点峰值 = CPU 主频 × 每个时钟周期执行浮点运算的次</a:t>
              </a:r>
              <a:br/>
              <a:r>
                <a:rPr lang="zh-CN" sz="1500" dirty="0">
                  <a:solidFill>
                    <a:srgbClr val="1F2937"/>
                  </a:solidFill>
                  <a:latin typeface="+mn-lt"/>
                  <a:ea typeface="+mn-ea"/>
                  <a:cs typeface="+mn-cs"/>
                </a:rPr>
                <a:t>数 × 系统中 CPU 数</a:t>
              </a:r>
            </a:p>
          </p:txBody>
        </p:sp>
        <p:sp>
          <p:nvSpPr>
            <p:cNvPr id="41" name="TextBox 41"/>
            <p:cNvSpPr txBox="1"/>
            <p:nvPr/>
          </p:nvSpPr>
          <p:spPr>
            <a:xfrm>
              <a:off x="6057138" y="2728436"/>
              <a:ext cx="5052314" cy="483680"/>
            </a:xfrm>
            <a:prstGeom prst="rect">
              <a:avLst/>
            </a:prstGeom>
            <a:noFill/>
            <a:ln>
              <a:noFill/>
            </a:ln>
          </p:spPr>
          <p:txBody>
            <a:bodyPr wrap="none" lIns="0" tIns="0" rIns="0" bIns="0" anchor="t" anchorCtr="0">
              <a:spAutoFit/>
            </a:bodyPr>
            <a:lstStyle/>
            <a:p>
              <a:pPr algn="l">
                <a:lnSpc>
                  <a:spcPts val="1845"/>
                </a:lnSpc>
              </a:pPr>
              <a:r>
                <a:rPr lang="zh-CN" sz="1280" dirty="0">
                  <a:solidFill>
                    <a:srgbClr val="5B6475"/>
                  </a:solidFill>
                  <a:latin typeface="+mn-lt"/>
                  <a:ea typeface="+mn-ea"/>
                  <a:cs typeface="+mn-cs"/>
                </a:rPr>
                <a:t>每周期浮点运算次数由浮点运算单元的个数和每个单元每周期能处理几</a:t>
              </a:r>
              <a:br/>
              <a:r>
                <a:rPr lang="zh-CN" sz="1280" dirty="0">
                  <a:solidFill>
                    <a:srgbClr val="5B6475"/>
                  </a:solidFill>
                  <a:latin typeface="+mn-lt"/>
                  <a:ea typeface="+mn-ea"/>
                  <a:cs typeface="+mn-cs"/>
                </a:rPr>
                <a:t>条浮点运算决定；实测峰值用基准程序（如 Linpack）测得。</a:t>
              </a:r>
            </a:p>
          </p:txBody>
        </p:sp>
      </p:grpSp>
      <p:grpSp>
        <p:nvGrpSpPr>
          <p:cNvPr id="55" name="c2-card-2"/>
          <p:cNvGrpSpPr/>
          <p:nvPr/>
        </p:nvGrpSpPr>
        <p:grpSpPr>
          <a:xfrm>
            <a:off x="5815965" y="3562350"/>
            <a:ext cx="5842635" cy="2302192"/>
            <a:chOff x="5815965" y="3562350"/>
            <a:chExt cx="5842635" cy="2302192"/>
          </a:xfrm>
        </p:grpSpPr>
        <p:sp>
          <p:nvSpPr>
            <p:cNvPr id="43" name="Rectangle 43"/>
            <p:cNvSpPr/>
            <p:nvPr/>
          </p:nvSpPr>
          <p:spPr>
            <a:xfrm>
              <a:off x="5815965" y="3562350"/>
              <a:ext cx="5842635" cy="2302192"/>
            </a:xfrm>
            <a:prstGeom prst="roundRect">
              <a:avLst>
                <a:gd name="adj" fmla="val 5792"/>
              </a:avLst>
            </a:prstGeom>
            <a:solidFill>
              <a:srgbClr val="FFFFFF"/>
            </a:solidFill>
            <a:ln w="14288">
              <a:solidFill>
                <a:srgbClr val="D9DFEA"/>
              </a:solidFill>
            </a:ln>
          </p:spPr>
        </p:sp>
        <p:sp>
          <p:nvSpPr>
            <p:cNvPr id="44" name="Rectangle 44"/>
            <p:cNvSpPr/>
            <p:nvPr/>
          </p:nvSpPr>
          <p:spPr>
            <a:xfrm>
              <a:off x="5825490" y="3695700"/>
              <a:ext cx="47625" cy="2035492"/>
            </a:xfrm>
            <a:prstGeom prst="roundRect">
              <a:avLst>
                <a:gd name="adj" fmla="val 50000"/>
              </a:avLst>
            </a:prstGeom>
            <a:solidFill>
              <a:srgbClr val="14A38B"/>
            </a:solidFill>
            <a:ln>
              <a:noFill/>
            </a:ln>
          </p:spPr>
        </p:sp>
        <p:sp>
          <p:nvSpPr>
            <p:cNvPr id="45" name="Rectangle 45"/>
            <p:cNvSpPr/>
            <p:nvPr/>
          </p:nvSpPr>
          <p:spPr>
            <a:xfrm>
              <a:off x="6063615" y="3771900"/>
              <a:ext cx="494348" cy="257175"/>
            </a:xfrm>
            <a:prstGeom prst="roundRect">
              <a:avLst>
                <a:gd name="adj" fmla="val 50000"/>
              </a:avLst>
            </a:prstGeom>
            <a:solidFill>
              <a:srgbClr val="E3F5F1"/>
            </a:solidFill>
            <a:ln>
              <a:noFill/>
            </a:ln>
          </p:spPr>
        </p:sp>
        <p:sp>
          <p:nvSpPr>
            <p:cNvPr id="46" name="TextBox 46"/>
            <p:cNvSpPr txBox="1"/>
            <p:nvPr/>
          </p:nvSpPr>
          <p:spPr>
            <a:xfrm>
              <a:off x="6153823" y="3807619"/>
              <a:ext cx="312979" cy="220028"/>
            </a:xfrm>
            <a:prstGeom prst="rect">
              <a:avLst/>
            </a:prstGeom>
            <a:noFill/>
            <a:ln>
              <a:noFill/>
            </a:ln>
          </p:spPr>
          <p:txBody>
            <a:bodyPr wrap="none" lIns="0" tIns="0" rIns="0" bIns="0" anchor="t" anchorCtr="0">
              <a:spAutoFit/>
            </a:bodyPr>
            <a:lstStyle/>
            <a:p>
              <a:pPr algn="ctr"/>
              <a:r>
                <a:rPr lang="zh-CN" sz="1120" b="1" dirty="0">
                  <a:solidFill>
                    <a:srgbClr val="0F7A68"/>
                  </a:solidFill>
                  <a:latin typeface="+mn-lt"/>
                  <a:ea typeface="+mn-ea"/>
                  <a:cs typeface="+mn-cs"/>
                </a:rPr>
                <a:t>例题</a:t>
              </a:r>
            </a:p>
          </p:txBody>
        </p:sp>
        <p:sp>
          <p:nvSpPr>
            <p:cNvPr id="47" name="TextBox 47"/>
            <p:cNvSpPr txBox="1"/>
            <p:nvPr/>
          </p:nvSpPr>
          <p:spPr>
            <a:xfrm>
              <a:off x="6663690" y="3807142"/>
              <a:ext cx="1428750"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一台双路服务器</a:t>
              </a:r>
            </a:p>
          </p:txBody>
        </p:sp>
        <p:sp>
          <p:nvSpPr>
            <p:cNvPr id="48" name="Ellipse 48"/>
            <p:cNvSpPr/>
            <p:nvPr/>
          </p:nvSpPr>
          <p:spPr>
            <a:xfrm>
              <a:off x="6069330" y="4231005"/>
              <a:ext cx="64770" cy="64770"/>
            </a:xfrm>
            <a:prstGeom prst="ellipse">
              <a:avLst/>
            </a:prstGeom>
            <a:solidFill>
              <a:srgbClr val="334E68"/>
            </a:solidFill>
            <a:ln>
              <a:noFill/>
            </a:ln>
          </p:spPr>
        </p:sp>
        <p:sp>
          <p:nvSpPr>
            <p:cNvPr id="49" name="TextBox 49"/>
            <p:cNvSpPr txBox="1"/>
            <p:nvPr/>
          </p:nvSpPr>
          <p:spPr>
            <a:xfrm>
              <a:off x="6227445" y="4168140"/>
              <a:ext cx="4911090"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每路一颗 4 核 CPU，主频 3.0 GHz，每核每周期 16 次双精</a:t>
              </a:r>
              <a:br/>
              <a:r>
                <a:rPr lang="zh-CN" sz="1500" dirty="0">
                  <a:solidFill>
                    <a:srgbClr val="1F2937"/>
                  </a:solidFill>
                  <a:latin typeface="+mn-lt"/>
                  <a:ea typeface="+mn-ea"/>
                  <a:cs typeface="+mn-cs"/>
                </a:rPr>
                <a:t>度浮点运算</a:t>
              </a:r>
            </a:p>
          </p:txBody>
        </p:sp>
        <p:sp>
          <p:nvSpPr>
            <p:cNvPr id="50" name="Ellipse 50"/>
            <p:cNvSpPr/>
            <p:nvPr/>
          </p:nvSpPr>
          <p:spPr>
            <a:xfrm>
              <a:off x="6069330" y="4852035"/>
              <a:ext cx="64770" cy="64770"/>
            </a:xfrm>
            <a:prstGeom prst="ellipse">
              <a:avLst/>
            </a:prstGeom>
            <a:solidFill>
              <a:srgbClr val="334E68"/>
            </a:solidFill>
            <a:ln>
              <a:noFill/>
            </a:ln>
          </p:spPr>
        </p:sp>
        <p:sp>
          <p:nvSpPr>
            <p:cNvPr id="51" name="TextBox 51"/>
            <p:cNvSpPr txBox="1"/>
            <p:nvPr/>
          </p:nvSpPr>
          <p:spPr>
            <a:xfrm>
              <a:off x="6227445" y="4789170"/>
              <a:ext cx="4781931"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理论峰值 = 3.0 GHz × 16 × 4 核 × 2 路 = 384 GFlops</a:t>
              </a:r>
            </a:p>
          </p:txBody>
        </p:sp>
        <p:sp>
          <p:nvSpPr>
            <p:cNvPr id="52" name="Ellipse 52"/>
            <p:cNvSpPr/>
            <p:nvPr/>
          </p:nvSpPr>
          <p:spPr>
            <a:xfrm>
              <a:off x="6069330" y="5187315"/>
              <a:ext cx="64770" cy="64770"/>
            </a:xfrm>
            <a:prstGeom prst="ellipse">
              <a:avLst/>
            </a:prstGeom>
            <a:solidFill>
              <a:srgbClr val="334E68"/>
            </a:solidFill>
            <a:ln>
              <a:noFill/>
            </a:ln>
          </p:spPr>
        </p:sp>
        <p:sp>
          <p:nvSpPr>
            <p:cNvPr id="53" name="TextBox 53"/>
            <p:cNvSpPr txBox="1"/>
            <p:nvPr/>
          </p:nvSpPr>
          <p:spPr>
            <a:xfrm>
              <a:off x="6227445" y="5124450"/>
              <a:ext cx="5362085"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Linpack 实测 250 GFlops，利用率 U = 250 / 384 ≈ 65.1%</a:t>
              </a:r>
            </a:p>
          </p:txBody>
        </p:sp>
        <p:sp>
          <p:nvSpPr>
            <p:cNvPr id="54" name="TextBox 54"/>
            <p:cNvSpPr txBox="1"/>
            <p:nvPr/>
          </p:nvSpPr>
          <p:spPr>
            <a:xfrm>
              <a:off x="6057138" y="5455444"/>
              <a:ext cx="3806129" cy="249364"/>
            </a:xfrm>
            <a:prstGeom prst="rect">
              <a:avLst/>
            </a:prstGeom>
            <a:noFill/>
            <a:ln>
              <a:noFill/>
            </a:ln>
          </p:spPr>
          <p:txBody>
            <a:bodyPr wrap="none" lIns="0" tIns="0" rIns="0" bIns="0" anchor="t" anchorCtr="0">
              <a:spAutoFit/>
            </a:bodyPr>
            <a:lstStyle/>
            <a:p>
              <a:pPr algn="l"/>
              <a:r>
                <a:rPr lang="zh-CN" sz="1280" dirty="0">
                  <a:solidFill>
                    <a:srgbClr val="5B6475"/>
                  </a:solidFill>
                  <a:latin typeface="+mn-lt"/>
                  <a:ea typeface="+mn-ea"/>
                  <a:cs typeface="+mn-cs"/>
                </a:rPr>
                <a:t>神威·太湖之光的同类计算见第6页，U ≈ 74.2%。</a:t>
              </a:r>
            </a:p>
          </p:txBody>
        </p:sp>
      </p:grpSp>
      <p:grpSp>
        <p:nvGrpSpPr>
          <p:cNvPr id="58" name="footer"/>
          <p:cNvGrpSpPr/>
          <p:nvPr/>
        </p:nvGrpSpPr>
        <p:grpSpPr>
          <a:xfrm>
            <a:off x="528447" y="6581299"/>
            <a:ext cx="11135106" cy="190690"/>
            <a:chOff x="528447" y="6581299"/>
            <a:chExt cx="11135106" cy="190690"/>
          </a:xfrm>
        </p:grpSpPr>
        <p:sp>
          <p:nvSpPr>
            <p:cNvPr id="56" name="TextBox 56"/>
            <p:cNvSpPr txBox="1"/>
            <p:nvPr/>
          </p:nvSpPr>
          <p:spPr>
            <a:xfrm>
              <a:off x="528447" y="6581299"/>
              <a:ext cx="2120748"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并行与分布式计算 · 第7章 体系结构</a:t>
              </a:r>
            </a:p>
          </p:txBody>
        </p:sp>
        <p:sp>
          <p:nvSpPr>
            <p:cNvPr id="57" name="TextBox 57"/>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59</a:t>
              </a:r>
            </a:p>
          </p:txBody>
        </p:sp>
      </p:grpSp>
    </p:spTree>
  </p:cSld>
  <p:clrMapOvr>
    <a:masterClrMapping/>
  </p:clrMapOvr>
  <p:transition xmlns:p14="http://schemas.microsoft.com/office/powerpoint/2010/main" p14:dur="400">
    <p:fade/>
  </p:transition>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6075377" cy="909257"/>
            <a:chOff x="520446" y="342900"/>
            <a:chExt cx="6075377" cy="909257"/>
          </a:xfrm>
        </p:grpSpPr>
        <p:sp>
          <p:nvSpPr>
            <p:cNvPr id="2" name="Rectangle 2"/>
            <p:cNvSpPr/>
            <p:nvPr/>
          </p:nvSpPr>
          <p:spPr>
            <a:xfrm>
              <a:off x="533400" y="342900"/>
              <a:ext cx="1987868" cy="266700"/>
            </a:xfrm>
            <a:prstGeom prst="roundRect">
              <a:avLst>
                <a:gd name="adj" fmla="val 50000"/>
              </a:avLst>
            </a:prstGeom>
            <a:solidFill>
              <a:srgbClr val="E7EDF3"/>
            </a:solidFill>
            <a:ln>
              <a:noFill/>
            </a:ln>
          </p:spPr>
        </p:sp>
        <p:sp>
          <p:nvSpPr>
            <p:cNvPr id="3" name="TextBox 3"/>
            <p:cNvSpPr txBox="1"/>
            <p:nvPr/>
          </p:nvSpPr>
          <p:spPr>
            <a:xfrm>
              <a:off x="608957" y="407194"/>
              <a:ext cx="1835800"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第7章 体系结构 · 性能评测</a:t>
              </a:r>
            </a:p>
          </p:txBody>
        </p:sp>
        <p:sp>
          <p:nvSpPr>
            <p:cNvPr id="4" name="TextBox 4"/>
            <p:cNvSpPr txBox="1"/>
            <p:nvPr/>
          </p:nvSpPr>
          <p:spPr>
            <a:xfrm>
              <a:off x="520446" y="753428"/>
              <a:ext cx="6075377"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并行执行时间 = 计算 + 并行开销 + 通信</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mc:AlternateContent xmlns:mc="http://schemas.openxmlformats.org/markup-compatibility/2006">
        <mc:Choice xmlns:a14="http://schemas.microsoft.com/office/drawing/2010/main" Requires="a14">
          <p:sp>
            <p:nvSpPr>
              <p:cNvPr id="7" name="formula7"/>
              <p:cNvSpPr txBox="1">
                <a:spLocks noGrp="1"/>
              </p:cNvSpPr>
              <p:nvPr/>
            </p:nvSpPr>
            <p:spPr>
              <a:xfrm>
                <a:off x="533400" y="1524000"/>
                <a:ext cx="5626418" cy="457200"/>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sSub>
                        <m:e>
                          <m:r>
                            <a:rPr lang="zh-CN" sz="1800" dirty="0">
                              <a:solidFill>
                                <a:srgbClr val="1F2937"/>
                              </a:solidFill>
                              <a:latin typeface="Cambria Math"/>
                              <a:ea typeface="Cambria Math"/>
                              <a:cs typeface="Cambria Math"/>
                            </a:rPr>
                            <m:t>T</m:t>
                          </m:r>
                        </m:e>
                        <m:sub>
                          <m:r>
                            <a:rPr lang="zh-CN" sz="1800" dirty="0">
                              <a:solidFill>
                                <a:srgbClr val="1F2937"/>
                              </a:solidFill>
                              <a:latin typeface="Cambria Math"/>
                              <a:ea typeface="Cambria Math"/>
                              <a:cs typeface="Cambria Math"/>
                            </a:rPr>
                            <m:t>n</m:t>
                          </m:r>
                        </m:sub>
                      </m:sSub>
                      <m:r>
                        <m:rPr>
                          <m:sty m:val="p"/>
                        </m:rPr>
                        <a:rPr lang="zh-CN" sz="1800" dirty="0">
                          <a:solidFill>
                            <a:srgbClr val="1F2937"/>
                          </a:solidFill>
                          <a:latin typeface="Cambria Math"/>
                          <a:ea typeface="Cambria Math"/>
                          <a:cs typeface="Cambria Math"/>
                        </a:rPr>
                        <m:t>=</m:t>
                      </m:r>
                      <m:sSub>
                        <m:e>
                          <m:r>
                            <a:rPr lang="zh-CN" sz="1800" dirty="0">
                              <a:solidFill>
                                <a:srgbClr val="1F2937"/>
                              </a:solidFill>
                              <a:latin typeface="Cambria Math"/>
                              <a:ea typeface="Cambria Math"/>
                              <a:cs typeface="Cambria Math"/>
                            </a:rPr>
                            <m:t>T</m:t>
                          </m:r>
                        </m:e>
                        <m:sub>
                          <m:r>
                            <m:rPr>
                              <m:nor m:val="on"/>
                            </m:rPr>
                            <a:rPr lang="zh-CN" sz="1800" dirty="0">
                              <a:solidFill>
                                <a:srgbClr val="1F2937"/>
                              </a:solidFill>
                              <a:latin typeface="Cambria Math"/>
                              <a:ea typeface="Cambria Math"/>
                              <a:cs typeface="Cambria Math"/>
                            </a:rPr>
                            <m:t>comput</m:t>
                          </m:r>
                        </m:sub>
                      </m:sSub>
                      <m:r>
                        <m:rPr>
                          <m:sty m:val="p"/>
                        </m:rPr>
                        <a:rPr lang="zh-CN" sz="1800" dirty="0">
                          <a:solidFill>
                            <a:srgbClr val="1F2937"/>
                          </a:solidFill>
                          <a:latin typeface="Cambria Math"/>
                          <a:ea typeface="Cambria Math"/>
                          <a:cs typeface="Cambria Math"/>
                        </a:rPr>
                        <m:t>+</m:t>
                      </m:r>
                      <m:sSub>
                        <m:e>
                          <m:r>
                            <a:rPr lang="zh-CN" sz="1800" dirty="0">
                              <a:solidFill>
                                <a:srgbClr val="1F2937"/>
                              </a:solidFill>
                              <a:latin typeface="Cambria Math"/>
                              <a:ea typeface="Cambria Math"/>
                              <a:cs typeface="Cambria Math"/>
                            </a:rPr>
                            <m:t>T</m:t>
                          </m:r>
                        </m:e>
                        <m:sub>
                          <m:r>
                            <m:rPr>
                              <m:nor m:val="on"/>
                            </m:rPr>
                            <a:rPr lang="zh-CN" sz="1800" dirty="0">
                              <a:solidFill>
                                <a:srgbClr val="1F2937"/>
                              </a:solidFill>
                              <a:latin typeface="Cambria Math"/>
                              <a:ea typeface="Cambria Math"/>
                              <a:cs typeface="Cambria Math"/>
                            </a:rPr>
                            <m:t>paro</m:t>
                          </m:r>
                        </m:sub>
                      </m:sSub>
                      <m:r>
                        <m:rPr>
                          <m:sty m:val="p"/>
                        </m:rPr>
                        <a:rPr lang="zh-CN" sz="1800" dirty="0">
                          <a:solidFill>
                            <a:srgbClr val="1F2937"/>
                          </a:solidFill>
                          <a:latin typeface="Cambria Math"/>
                          <a:ea typeface="Cambria Math"/>
                          <a:cs typeface="Cambria Math"/>
                        </a:rPr>
                        <m:t>+</m:t>
                      </m:r>
                      <m:sSub>
                        <m:e>
                          <m:r>
                            <a:rPr lang="zh-CN" sz="1800" dirty="0">
                              <a:solidFill>
                                <a:srgbClr val="1F2937"/>
                              </a:solidFill>
                              <a:latin typeface="Cambria Math"/>
                              <a:ea typeface="Cambria Math"/>
                              <a:cs typeface="Cambria Math"/>
                            </a:rPr>
                            <m:t>T</m:t>
                          </m:r>
                        </m:e>
                        <m:sub>
                          <m:r>
                            <m:rPr>
                              <m:nor m:val="on"/>
                            </m:rPr>
                            <a:rPr lang="zh-CN" sz="1800" dirty="0">
                              <a:solidFill>
                                <a:srgbClr val="1F2937"/>
                              </a:solidFill>
                              <a:latin typeface="Cambria Math"/>
                              <a:ea typeface="Cambria Math"/>
                              <a:cs typeface="Cambria Math"/>
                            </a:rPr>
                            <m:t>comm</m:t>
                          </m:r>
                        </m:sub>
                      </m:sSub>
                    </m:oMath>
                  </m:oMathPara>
                </a14:m>
              </a:p>
            </p:txBody>
          </p:sp>
        </mc:Choice>
      </mc:AlternateContent>
      <p:grpSp>
        <p:nvGrpSpPr>
          <p:cNvPr id="22" name="c1-table-2"/>
          <p:cNvGrpSpPr/>
          <p:nvPr/>
        </p:nvGrpSpPr>
        <p:grpSpPr>
          <a:xfrm>
            <a:off x="533400" y="2156460"/>
            <a:ext cx="5626418" cy="2738438"/>
            <a:chOff x="533400" y="2156460"/>
            <a:chExt cx="5626418" cy="2738438"/>
          </a:xfrm>
        </p:grpSpPr>
        <p:sp>
          <p:nvSpPr>
            <p:cNvPr id="8" name="Rectangle 8"/>
            <p:cNvSpPr/>
            <p:nvPr/>
          </p:nvSpPr>
          <p:spPr>
            <a:xfrm>
              <a:off x="533400" y="2156460"/>
              <a:ext cx="5626418" cy="444818"/>
            </a:xfrm>
            <a:prstGeom prst="rect">
              <a:avLst/>
            </a:prstGeom>
            <a:solidFill>
              <a:srgbClr val="334E68"/>
            </a:solidFill>
            <a:ln>
              <a:noFill/>
            </a:ln>
          </p:spPr>
        </p:sp>
        <p:sp>
          <p:nvSpPr>
            <p:cNvPr id="9" name="TextBox 9"/>
            <p:cNvSpPr txBox="1"/>
            <p:nvPr/>
          </p:nvSpPr>
          <p:spPr>
            <a:xfrm>
              <a:off x="963930" y="2284095"/>
              <a:ext cx="377190"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组成</a:t>
              </a:r>
            </a:p>
          </p:txBody>
        </p:sp>
        <p:sp>
          <p:nvSpPr>
            <p:cNvPr id="10" name="TextBox 10"/>
            <p:cNvSpPr txBox="1"/>
            <p:nvPr/>
          </p:nvSpPr>
          <p:spPr>
            <a:xfrm>
              <a:off x="3776662" y="2284095"/>
              <a:ext cx="377190"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包括</a:t>
              </a:r>
            </a:p>
          </p:txBody>
        </p:sp>
        <p:sp>
          <p:nvSpPr>
            <p:cNvPr id="11" name="TextBox 11"/>
            <p:cNvSpPr txBox="1"/>
            <p:nvPr/>
          </p:nvSpPr>
          <p:spPr>
            <a:xfrm>
              <a:off x="632270" y="2728912"/>
              <a:ext cx="740664"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计算时间</a:t>
              </a:r>
            </a:p>
          </p:txBody>
        </p:sp>
        <p:sp>
          <p:nvSpPr>
            <p:cNvPr id="12" name="TextBox 12"/>
            <p:cNvSpPr txBox="1"/>
            <p:nvPr/>
          </p:nvSpPr>
          <p:spPr>
            <a:xfrm>
              <a:off x="1870520" y="2728912"/>
              <a:ext cx="1467612"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真正做运算的时间</a:t>
              </a:r>
            </a:p>
          </p:txBody>
        </p:sp>
        <p:sp>
          <p:nvSpPr>
            <p:cNvPr id="13" name="Rectangle 13"/>
            <p:cNvSpPr/>
            <p:nvPr/>
          </p:nvSpPr>
          <p:spPr>
            <a:xfrm>
              <a:off x="533400" y="3040380"/>
              <a:ext cx="5626418" cy="9525"/>
            </a:xfrm>
            <a:prstGeom prst="rect">
              <a:avLst/>
            </a:prstGeom>
            <a:solidFill>
              <a:srgbClr val="D9DFEA"/>
            </a:solidFill>
            <a:ln>
              <a:noFill/>
            </a:ln>
          </p:spPr>
        </p:sp>
        <p:sp>
          <p:nvSpPr>
            <p:cNvPr id="14" name="Rectangle 14"/>
            <p:cNvSpPr/>
            <p:nvPr/>
          </p:nvSpPr>
          <p:spPr>
            <a:xfrm>
              <a:off x="533400" y="3045142"/>
              <a:ext cx="5626418" cy="924878"/>
            </a:xfrm>
            <a:prstGeom prst="rect">
              <a:avLst/>
            </a:prstGeom>
            <a:solidFill>
              <a:srgbClr val="F4F6FB"/>
            </a:solidFill>
            <a:ln>
              <a:noFill/>
            </a:ln>
          </p:spPr>
        </p:sp>
        <p:sp>
          <p:nvSpPr>
            <p:cNvPr id="15" name="TextBox 15"/>
            <p:cNvSpPr txBox="1"/>
            <p:nvPr/>
          </p:nvSpPr>
          <p:spPr>
            <a:xfrm>
              <a:off x="632270" y="3413760"/>
              <a:ext cx="740664"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并行开销</a:t>
              </a:r>
            </a:p>
          </p:txBody>
        </p:sp>
        <p:sp>
          <p:nvSpPr>
            <p:cNvPr id="16" name="TextBox 16"/>
            <p:cNvSpPr txBox="1"/>
            <p:nvPr/>
          </p:nvSpPr>
          <p:spPr>
            <a:xfrm>
              <a:off x="1870520" y="3173730"/>
              <a:ext cx="3957066" cy="744093"/>
            </a:xfrm>
            <a:prstGeom prst="rect">
              <a:avLst/>
            </a:prstGeom>
            <a:noFill/>
            <a:ln>
              <a:noFill/>
            </a:ln>
          </p:spPr>
          <p:txBody>
            <a:bodyPr wrap="none" lIns="0" tIns="0" rIns="0" bIns="0" anchor="t" anchorCtr="0">
              <a:spAutoFit/>
            </a:bodyPr>
            <a:lstStyle/>
            <a:p>
              <a:pPr algn="l">
                <a:lnSpc>
                  <a:spcPts val="1890"/>
                </a:lnSpc>
              </a:pPr>
              <a:r>
                <a:rPr lang="zh-CN" sz="1350" dirty="0">
                  <a:solidFill>
                    <a:srgbClr val="1F2937"/>
                  </a:solidFill>
                  <a:latin typeface="+mn-lt"/>
                  <a:ea typeface="+mn-ea"/>
                  <a:cs typeface="+mn-cs"/>
                </a:rPr>
                <a:t>进程管理（生成、结束、切换）；组操作（进程组生</a:t>
              </a:r>
              <a:br/>
              <a:r>
                <a:rPr lang="zh-CN" sz="1350" dirty="0">
                  <a:solidFill>
                    <a:srgbClr val="1F2937"/>
                  </a:solidFill>
                  <a:latin typeface="+mn-lt"/>
                  <a:ea typeface="+mn-ea"/>
                  <a:cs typeface="+mn-cs"/>
                </a:rPr>
                <a:t>成、消亡）；进程查询（进程标识和等级、进程组标</a:t>
              </a:r>
              <a:br/>
              <a:r>
                <a:rPr lang="zh-CN" sz="1350" dirty="0">
                  <a:solidFill>
                    <a:srgbClr val="1F2937"/>
                  </a:solidFill>
                  <a:latin typeface="+mn-lt"/>
                  <a:ea typeface="+mn-ea"/>
                  <a:cs typeface="+mn-cs"/>
                </a:rPr>
                <a:t>识和大小）</a:t>
              </a:r>
            </a:p>
          </p:txBody>
        </p:sp>
        <p:sp>
          <p:nvSpPr>
            <p:cNvPr id="17" name="Rectangle 17"/>
            <p:cNvSpPr/>
            <p:nvPr/>
          </p:nvSpPr>
          <p:spPr>
            <a:xfrm>
              <a:off x="533400" y="3965258"/>
              <a:ext cx="5626418" cy="9525"/>
            </a:xfrm>
            <a:prstGeom prst="rect">
              <a:avLst/>
            </a:prstGeom>
            <a:solidFill>
              <a:srgbClr val="D9DFEA"/>
            </a:solidFill>
            <a:ln>
              <a:noFill/>
            </a:ln>
          </p:spPr>
        </p:sp>
        <p:sp>
          <p:nvSpPr>
            <p:cNvPr id="18" name="TextBox 18"/>
            <p:cNvSpPr txBox="1"/>
            <p:nvPr/>
          </p:nvSpPr>
          <p:spPr>
            <a:xfrm>
              <a:off x="632270" y="4338638"/>
              <a:ext cx="740664"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通信时间</a:t>
              </a:r>
            </a:p>
          </p:txBody>
        </p:sp>
        <p:sp>
          <p:nvSpPr>
            <p:cNvPr id="19" name="TextBox 19"/>
            <p:cNvSpPr txBox="1"/>
            <p:nvPr/>
          </p:nvSpPr>
          <p:spPr>
            <a:xfrm>
              <a:off x="1870520" y="4098608"/>
              <a:ext cx="3957066" cy="744093"/>
            </a:xfrm>
            <a:prstGeom prst="rect">
              <a:avLst/>
            </a:prstGeom>
            <a:noFill/>
            <a:ln>
              <a:noFill/>
            </a:ln>
          </p:spPr>
          <p:txBody>
            <a:bodyPr wrap="none" lIns="0" tIns="0" rIns="0" bIns="0" anchor="t" anchorCtr="0">
              <a:spAutoFit/>
            </a:bodyPr>
            <a:lstStyle/>
            <a:p>
              <a:pPr algn="l">
                <a:lnSpc>
                  <a:spcPts val="1890"/>
                </a:lnSpc>
              </a:pPr>
              <a:r>
                <a:rPr lang="zh-CN" sz="1350" dirty="0">
                  <a:solidFill>
                    <a:srgbClr val="1F2937"/>
                  </a:solidFill>
                  <a:latin typeface="+mn-lt"/>
                  <a:ea typeface="+mn-ea"/>
                  <a:cs typeface="+mn-cs"/>
                </a:rPr>
                <a:t>同步（路障与事件、锁与临界区）；通信（点到点消</a:t>
              </a:r>
              <a:br/>
              <a:r>
                <a:rPr lang="zh-CN" sz="1350" dirty="0">
                  <a:solidFill>
                    <a:srgbClr val="1F2937"/>
                  </a:solidFill>
                  <a:latin typeface="+mn-lt"/>
                  <a:ea typeface="+mn-ea"/>
                  <a:cs typeface="+mn-cs"/>
                </a:rPr>
                <a:t>息传递、共享变量读写）；聚合操作（规约、前缀运</a:t>
              </a:r>
              <a:br/>
              <a:r>
                <a:rPr lang="zh-CN" sz="1350" dirty="0">
                  <a:solidFill>
                    <a:srgbClr val="1F2937"/>
                  </a:solidFill>
                  <a:latin typeface="+mn-lt"/>
                  <a:ea typeface="+mn-ea"/>
                  <a:cs typeface="+mn-cs"/>
                </a:rPr>
                <a:t>算）</a:t>
              </a:r>
            </a:p>
          </p:txBody>
        </p:sp>
        <p:sp>
          <p:nvSpPr>
            <p:cNvPr id="20" name="Rectangle 20"/>
            <p:cNvSpPr/>
            <p:nvPr/>
          </p:nvSpPr>
          <p:spPr>
            <a:xfrm>
              <a:off x="533400" y="2156460"/>
              <a:ext cx="5626418" cy="2738438"/>
            </a:xfrm>
            <a:prstGeom prst="rect">
              <a:avLst/>
            </a:prstGeom>
            <a:noFill/>
            <a:ln w="14288">
              <a:solidFill>
                <a:srgbClr val="D9DFEA"/>
              </a:solidFill>
            </a:ln>
          </p:spPr>
        </p:sp>
        <p:sp>
          <p:nvSpPr>
            <p:cNvPr id="21" name="Rectangle 21"/>
            <p:cNvSpPr/>
            <p:nvPr/>
          </p:nvSpPr>
          <p:spPr>
            <a:xfrm>
              <a:off x="1766888" y="2156460"/>
              <a:ext cx="9525" cy="2738438"/>
            </a:xfrm>
            <a:prstGeom prst="rect">
              <a:avLst/>
            </a:prstGeom>
            <a:solidFill>
              <a:srgbClr val="D9DFEA"/>
            </a:solidFill>
            <a:ln>
              <a:noFill/>
            </a:ln>
          </p:spPr>
        </p:sp>
      </p:grpSp>
      <p:grpSp>
        <p:nvGrpSpPr>
          <p:cNvPr id="29" name="c1-callout-3"/>
          <p:cNvGrpSpPr/>
          <p:nvPr/>
        </p:nvGrpSpPr>
        <p:grpSpPr>
          <a:xfrm>
            <a:off x="533400" y="5070158"/>
            <a:ext cx="5626418" cy="1261110"/>
            <a:chOff x="533400" y="5070158"/>
            <a:chExt cx="5626418" cy="1261110"/>
          </a:xfrm>
        </p:grpSpPr>
        <p:sp>
          <p:nvSpPr>
            <p:cNvPr id="23" name="Rectangle 23"/>
            <p:cNvSpPr/>
            <p:nvPr/>
          </p:nvSpPr>
          <p:spPr>
            <a:xfrm>
              <a:off x="533400" y="5070158"/>
              <a:ext cx="5626418" cy="1261110"/>
            </a:xfrm>
            <a:prstGeom prst="roundRect">
              <a:avLst>
                <a:gd name="adj" fmla="val 9063"/>
              </a:avLst>
            </a:prstGeom>
            <a:solidFill>
              <a:srgbClr val="FDEEE7"/>
            </a:solidFill>
            <a:ln>
              <a:noFill/>
            </a:ln>
          </p:spPr>
        </p:sp>
        <p:grpSp>
          <p:nvGrpSpPr>
            <p:cNvPr id="27" name="Group 27"/>
            <p:cNvGrpSpPr/>
            <p:nvPr/>
          </p:nvGrpSpPr>
          <p:grpSpPr>
            <a:xfrm>
              <a:off x="738188" y="5600700"/>
              <a:ext cx="200026" cy="200025"/>
              <a:chOff x="738188" y="5600700"/>
              <a:chExt cx="200026" cy="200025"/>
            </a:xfrm>
          </p:grpSpPr>
          <p:sp>
            <p:nvSpPr>
              <p:cNvPr id="24" name="Freeform 24"/>
              <p:cNvSpPr/>
              <p:nvPr/>
            </p:nvSpPr>
            <p:spPr>
              <a:xfrm>
                <a:off x="738188" y="5600700"/>
                <a:ext cx="200026" cy="100013"/>
              </a:xfrm>
              <a:custGeom>
                <a:avLst/>
                <a:gdLst/>
                <a:ahLst/>
                <a:cxnLst/>
                <a:rect l="l" t="t" r="r" b="b"/>
                <a:pathLst>
                  <a:path w="200026" h="100013">
                    <a:moveTo>
                      <a:pt x="0" y="100013"/>
                    </a:moveTo>
                    <a:lnTo>
                      <a:pt x="11113" y="100013"/>
                    </a:lnTo>
                    <a:moveTo>
                      <a:pt x="100013" y="0"/>
                    </a:moveTo>
                    <a:lnTo>
                      <a:pt x="100013" y="11113"/>
                    </a:lnTo>
                    <a:moveTo>
                      <a:pt x="188913" y="100013"/>
                    </a:moveTo>
                    <a:lnTo>
                      <a:pt x="200026" y="100013"/>
                    </a:lnTo>
                    <a:moveTo>
                      <a:pt x="28893" y="28893"/>
                    </a:moveTo>
                    <a:lnTo>
                      <a:pt x="36671" y="36671"/>
                    </a:lnTo>
                    <a:moveTo>
                      <a:pt x="171133" y="28893"/>
                    </a:moveTo>
                    <a:lnTo>
                      <a:pt x="163354" y="36671"/>
                    </a:lnTo>
                  </a:path>
                </a:pathLst>
              </a:custGeom>
              <a:noFill/>
              <a:ln w="22225">
                <a:solidFill>
                  <a:srgbClr val="C2410C"/>
                </a:solidFill>
              </a:ln>
            </p:spPr>
          </p:sp>
          <p:sp>
            <p:nvSpPr>
              <p:cNvPr id="25" name="Freeform 25"/>
              <p:cNvSpPr/>
              <p:nvPr/>
            </p:nvSpPr>
            <p:spPr>
              <a:xfrm>
                <a:off x="777926" y="5645150"/>
                <a:ext cx="120548" cy="155575"/>
              </a:xfrm>
              <a:custGeom>
                <a:avLst/>
                <a:gdLst/>
                <a:ahLst/>
                <a:cxnLst/>
                <a:rect l="l" t="t" r="r" b="b"/>
                <a:pathLst>
                  <a:path w="120548" h="155575">
                    <a:moveTo>
                      <a:pt x="26937" y="100013"/>
                    </a:moveTo>
                    <a:cubicBezTo>
                      <a:pt x="7804" y="85663"/>
                      <a:pt x="0" y="60681"/>
                      <a:pt x="7563" y="37992"/>
                    </a:cubicBezTo>
                    <a:cubicBezTo>
                      <a:pt x="15126" y="15304"/>
                      <a:pt x="36358" y="0"/>
                      <a:pt x="60274" y="0"/>
                    </a:cubicBezTo>
                    <a:cubicBezTo>
                      <a:pt x="84190" y="0"/>
                      <a:pt x="105423" y="15304"/>
                      <a:pt x="112986" y="37992"/>
                    </a:cubicBezTo>
                    <a:cubicBezTo>
                      <a:pt x="120548" y="60681"/>
                      <a:pt x="112745" y="85663"/>
                      <a:pt x="93612" y="100013"/>
                    </a:cubicBezTo>
                    <a:cubicBezTo>
                      <a:pt x="84812" y="108723"/>
                      <a:pt x="80686" y="121103"/>
                      <a:pt x="82499" y="133350"/>
                    </a:cubicBezTo>
                    <a:cubicBezTo>
                      <a:pt x="82499" y="145625"/>
                      <a:pt x="72549" y="155575"/>
                      <a:pt x="60274" y="155575"/>
                    </a:cubicBezTo>
                    <a:cubicBezTo>
                      <a:pt x="48000" y="155575"/>
                      <a:pt x="38049" y="145625"/>
                      <a:pt x="38049" y="133350"/>
                    </a:cubicBezTo>
                    <a:cubicBezTo>
                      <a:pt x="39862" y="121103"/>
                      <a:pt x="35736" y="108723"/>
                      <a:pt x="26937" y="100013"/>
                    </a:cubicBezTo>
                  </a:path>
                </a:pathLst>
              </a:custGeom>
              <a:noFill/>
              <a:ln w="22225">
                <a:solidFill>
                  <a:srgbClr val="C2410C"/>
                </a:solidFill>
              </a:ln>
            </p:spPr>
          </p:sp>
          <p:sp>
            <p:nvSpPr>
              <p:cNvPr id="26" name="Freeform 26"/>
              <p:cNvSpPr/>
              <p:nvPr/>
            </p:nvSpPr>
            <p:spPr>
              <a:xfrm>
                <a:off x="812642" y="5756276"/>
                <a:ext cx="51118" cy="9525"/>
              </a:xfrm>
              <a:custGeom>
                <a:avLst/>
                <a:gdLst/>
                <a:ahLst/>
                <a:cxnLst/>
                <a:rect l="l" t="t" r="r" b="b"/>
                <a:pathLst>
                  <a:path w="51118" h="9525">
                    <a:moveTo>
                      <a:pt x="0" y="0"/>
                    </a:moveTo>
                    <a:lnTo>
                      <a:pt x="51118" y="0"/>
                    </a:lnTo>
                  </a:path>
                </a:pathLst>
              </a:custGeom>
              <a:noFill/>
              <a:ln w="22225">
                <a:solidFill>
                  <a:srgbClr val="C2410C"/>
                </a:solidFill>
              </a:ln>
            </p:spPr>
          </p:sp>
        </p:grpSp>
        <p:sp>
          <p:nvSpPr>
            <p:cNvPr id="28" name="TextBox 28"/>
            <p:cNvSpPr txBox="1"/>
            <p:nvPr/>
          </p:nvSpPr>
          <p:spPr>
            <a:xfrm>
              <a:off x="1040892" y="5481638"/>
              <a:ext cx="4642866" cy="512636"/>
            </a:xfrm>
            <a:prstGeom prst="rect">
              <a:avLst/>
            </a:prstGeom>
            <a:noFill/>
            <a:ln>
              <a:noFill/>
            </a:ln>
          </p:spPr>
          <p:txBody>
            <a:bodyPr wrap="none" lIns="0" tIns="0" rIns="0" bIns="0" anchor="t" anchorCtr="0">
              <a:spAutoFit/>
            </a:bodyPr>
            <a:lstStyle/>
            <a:p>
              <a:pPr algn="l">
                <a:lnSpc>
                  <a:spcPts val="1958"/>
                </a:lnSpc>
              </a:pPr>
              <a:r>
                <a:rPr lang="zh-CN" sz="1350" dirty="0">
                  <a:solidFill>
                    <a:srgbClr val="C2410C"/>
                  </a:solidFill>
                  <a:latin typeface="+mn-lt"/>
                  <a:ea typeface="+mn-ea"/>
                  <a:cs typeface="+mn-cs"/>
                </a:rPr>
                <a:t>串行程序只有第一项。后两项都是并行化带来的额外开销，是</a:t>
              </a:r>
              <a:br/>
              <a:r>
                <a:rPr lang="zh-CN" sz="1350" dirty="0">
                  <a:solidFill>
                    <a:srgbClr val="C2410C"/>
                  </a:solidFill>
                  <a:latin typeface="+mn-lt"/>
                  <a:ea typeface="+mn-ea"/>
                  <a:cs typeface="+mn-cs"/>
                </a:rPr>
                <a:t>实际加速比达不到处理器数的重要原因。</a:t>
              </a:r>
            </a:p>
          </p:txBody>
        </p:sp>
      </p:grpSp>
      <p:grpSp>
        <p:nvGrpSpPr>
          <p:cNvPr id="31" name="c2-text-1"/>
          <p:cNvGrpSpPr/>
          <p:nvPr/>
        </p:nvGrpSpPr>
        <p:grpSpPr>
          <a:xfrm>
            <a:off x="6458902" y="1542574"/>
            <a:ext cx="3275696" cy="220028"/>
            <a:chOff x="6458902" y="1542574"/>
            <a:chExt cx="3275696" cy="220028"/>
          </a:xfrm>
        </p:grpSpPr>
        <p:sp>
          <p:nvSpPr>
            <p:cNvPr id="30" name="TextBox 30"/>
            <p:cNvSpPr txBox="1"/>
            <p:nvPr/>
          </p:nvSpPr>
          <p:spPr>
            <a:xfrm>
              <a:off x="6458902" y="1542574"/>
              <a:ext cx="3275696" cy="220028"/>
            </a:xfrm>
            <a:prstGeom prst="rect">
              <a:avLst/>
            </a:prstGeom>
            <a:noFill/>
            <a:ln>
              <a:noFill/>
            </a:ln>
          </p:spPr>
          <p:txBody>
            <a:bodyPr wrap="none" lIns="0" tIns="0" rIns="0" bIns="0" anchor="t" anchorCtr="0">
              <a:spAutoFit/>
            </a:bodyPr>
            <a:lstStyle/>
            <a:p>
              <a:pPr algn="l"/>
              <a:r>
                <a:rPr lang="zh-CN" sz="1120" dirty="0">
                  <a:solidFill>
                    <a:srgbClr val="5B6475"/>
                  </a:solidFill>
                  <a:latin typeface="+mn-lt"/>
                  <a:ea typeface="+mn-ea"/>
                  <a:cs typeface="+mn-cs"/>
                </a:rPr>
                <a:t>存储器性能：层次化存储结构（原课件第149页）</a:t>
              </a:r>
            </a:p>
          </p:txBody>
        </p:sp>
      </p:grpSp>
      <p:grpSp>
        <p:nvGrpSpPr>
          <p:cNvPr id="66" name="c2-flow-2"/>
          <p:cNvGrpSpPr/>
          <p:nvPr/>
        </p:nvGrpSpPr>
        <p:grpSpPr>
          <a:xfrm>
            <a:off x="6597968" y="2040255"/>
            <a:ext cx="4927282" cy="1786891"/>
            <a:chOff x="6597968" y="2040255"/>
            <a:chExt cx="4927282" cy="1786891"/>
          </a:xfrm>
        </p:grpSpPr>
        <p:sp>
          <p:nvSpPr>
            <p:cNvPr id="32" name="Freeform 32"/>
            <p:cNvSpPr/>
            <p:nvPr/>
          </p:nvSpPr>
          <p:spPr>
            <a:xfrm>
              <a:off x="7629525" y="2240280"/>
              <a:ext cx="161925" cy="9525"/>
            </a:xfrm>
            <a:custGeom>
              <a:avLst/>
              <a:gdLst/>
              <a:ahLst/>
              <a:cxnLst/>
              <a:rect l="l" t="t" r="r" b="b"/>
              <a:pathLst>
                <a:path w="161925" h="9525">
                  <a:moveTo>
                    <a:pt x="0" y="0"/>
                  </a:moveTo>
                  <a:lnTo>
                    <a:pt x="161925" y="0"/>
                  </a:lnTo>
                </a:path>
              </a:pathLst>
            </a:custGeom>
            <a:noFill/>
            <a:ln w="15240">
              <a:solidFill>
                <a:srgbClr val="5B6475"/>
              </a:solidFill>
            </a:ln>
          </p:spPr>
        </p:sp>
        <p:sp>
          <p:nvSpPr>
            <p:cNvPr id="33" name="Freeform 33"/>
            <p:cNvSpPr/>
            <p:nvPr/>
          </p:nvSpPr>
          <p:spPr>
            <a:xfrm>
              <a:off x="7791450" y="2187892"/>
              <a:ext cx="104775" cy="104775"/>
            </a:xfrm>
            <a:custGeom>
              <a:avLst/>
              <a:gdLst/>
              <a:ahLst/>
              <a:cxnLst/>
              <a:rect l="l" t="t" r="r" b="b"/>
              <a:pathLst>
                <a:path w="104775" h="104775">
                  <a:moveTo>
                    <a:pt x="104775" y="52388"/>
                  </a:moveTo>
                  <a:lnTo>
                    <a:pt x="0" y="104775"/>
                  </a:lnTo>
                  <a:lnTo>
                    <a:pt x="0" y="0"/>
                  </a:lnTo>
                  <a:close/>
                </a:path>
              </a:pathLst>
            </a:custGeom>
            <a:solidFill>
              <a:srgbClr val="5B6475"/>
            </a:solidFill>
            <a:ln>
              <a:noFill/>
            </a:ln>
          </p:spPr>
        </p:sp>
        <p:sp>
          <p:nvSpPr>
            <p:cNvPr id="34" name="Freeform 34"/>
            <p:cNvSpPr/>
            <p:nvPr/>
          </p:nvSpPr>
          <p:spPr>
            <a:xfrm>
              <a:off x="8928735" y="2240280"/>
              <a:ext cx="161925" cy="9525"/>
            </a:xfrm>
            <a:custGeom>
              <a:avLst/>
              <a:gdLst/>
              <a:ahLst/>
              <a:cxnLst/>
              <a:rect l="l" t="t" r="r" b="b"/>
              <a:pathLst>
                <a:path w="161925" h="9525">
                  <a:moveTo>
                    <a:pt x="0" y="0"/>
                  </a:moveTo>
                  <a:lnTo>
                    <a:pt x="161925" y="0"/>
                  </a:lnTo>
                </a:path>
              </a:pathLst>
            </a:custGeom>
            <a:noFill/>
            <a:ln w="15240">
              <a:solidFill>
                <a:srgbClr val="5B6475"/>
              </a:solidFill>
            </a:ln>
          </p:spPr>
        </p:sp>
        <p:sp>
          <p:nvSpPr>
            <p:cNvPr id="35" name="Freeform 35"/>
            <p:cNvSpPr/>
            <p:nvPr/>
          </p:nvSpPr>
          <p:spPr>
            <a:xfrm>
              <a:off x="9090660" y="2187892"/>
              <a:ext cx="104775" cy="104775"/>
            </a:xfrm>
            <a:custGeom>
              <a:avLst/>
              <a:gdLst/>
              <a:ahLst/>
              <a:cxnLst/>
              <a:rect l="l" t="t" r="r" b="b"/>
              <a:pathLst>
                <a:path w="104775" h="104775">
                  <a:moveTo>
                    <a:pt x="104775" y="52388"/>
                  </a:moveTo>
                  <a:lnTo>
                    <a:pt x="0" y="104775"/>
                  </a:lnTo>
                  <a:lnTo>
                    <a:pt x="0" y="0"/>
                  </a:lnTo>
                  <a:close/>
                </a:path>
              </a:pathLst>
            </a:custGeom>
            <a:solidFill>
              <a:srgbClr val="5B6475"/>
            </a:solidFill>
            <a:ln>
              <a:noFill/>
            </a:ln>
          </p:spPr>
        </p:sp>
        <p:sp>
          <p:nvSpPr>
            <p:cNvPr id="36" name="Freeform 36"/>
            <p:cNvSpPr/>
            <p:nvPr/>
          </p:nvSpPr>
          <p:spPr>
            <a:xfrm>
              <a:off x="10226992" y="2240280"/>
              <a:ext cx="161925" cy="9525"/>
            </a:xfrm>
            <a:custGeom>
              <a:avLst/>
              <a:gdLst/>
              <a:ahLst/>
              <a:cxnLst/>
              <a:rect l="l" t="t" r="r" b="b"/>
              <a:pathLst>
                <a:path w="161925" h="9525">
                  <a:moveTo>
                    <a:pt x="0" y="0"/>
                  </a:moveTo>
                  <a:lnTo>
                    <a:pt x="161925" y="0"/>
                  </a:lnTo>
                </a:path>
              </a:pathLst>
            </a:custGeom>
            <a:noFill/>
            <a:ln w="15240">
              <a:solidFill>
                <a:srgbClr val="5B6475"/>
              </a:solidFill>
            </a:ln>
          </p:spPr>
        </p:sp>
        <p:sp>
          <p:nvSpPr>
            <p:cNvPr id="37" name="Freeform 37"/>
            <p:cNvSpPr/>
            <p:nvPr/>
          </p:nvSpPr>
          <p:spPr>
            <a:xfrm>
              <a:off x="10388918" y="2187892"/>
              <a:ext cx="104775" cy="104775"/>
            </a:xfrm>
            <a:custGeom>
              <a:avLst/>
              <a:gdLst/>
              <a:ahLst/>
              <a:cxnLst/>
              <a:rect l="l" t="t" r="r" b="b"/>
              <a:pathLst>
                <a:path w="104775" h="104775">
                  <a:moveTo>
                    <a:pt x="104775" y="52388"/>
                  </a:moveTo>
                  <a:lnTo>
                    <a:pt x="0" y="104775"/>
                  </a:lnTo>
                  <a:lnTo>
                    <a:pt x="0" y="0"/>
                  </a:lnTo>
                  <a:close/>
                </a:path>
              </a:pathLst>
            </a:custGeom>
            <a:solidFill>
              <a:srgbClr val="5B6475"/>
            </a:solidFill>
            <a:ln>
              <a:noFill/>
            </a:ln>
          </p:spPr>
        </p:sp>
        <p:sp>
          <p:nvSpPr>
            <p:cNvPr id="38" name="Freeform 38"/>
            <p:cNvSpPr/>
            <p:nvPr/>
          </p:nvSpPr>
          <p:spPr>
            <a:xfrm>
              <a:off x="11008995" y="2439352"/>
              <a:ext cx="9525" cy="189547"/>
            </a:xfrm>
            <a:custGeom>
              <a:avLst/>
              <a:gdLst/>
              <a:ahLst/>
              <a:cxnLst/>
              <a:rect l="l" t="t" r="r" b="b"/>
              <a:pathLst>
                <a:path w="9525" h="189547">
                  <a:moveTo>
                    <a:pt x="0" y="0"/>
                  </a:moveTo>
                  <a:lnTo>
                    <a:pt x="0" y="189547"/>
                  </a:lnTo>
                </a:path>
              </a:pathLst>
            </a:custGeom>
            <a:noFill/>
            <a:ln w="15240">
              <a:solidFill>
                <a:srgbClr val="5B6475"/>
              </a:solidFill>
            </a:ln>
          </p:spPr>
        </p:sp>
        <p:sp>
          <p:nvSpPr>
            <p:cNvPr id="39" name="Freeform 39"/>
            <p:cNvSpPr/>
            <p:nvPr/>
          </p:nvSpPr>
          <p:spPr>
            <a:xfrm>
              <a:off x="10956608" y="2628900"/>
              <a:ext cx="104775" cy="104775"/>
            </a:xfrm>
            <a:custGeom>
              <a:avLst/>
              <a:gdLst/>
              <a:ahLst/>
              <a:cxnLst/>
              <a:rect l="l" t="t" r="r" b="b"/>
              <a:pathLst>
                <a:path w="104775" h="104775">
                  <a:moveTo>
                    <a:pt x="52388" y="104775"/>
                  </a:moveTo>
                  <a:lnTo>
                    <a:pt x="0" y="0"/>
                  </a:lnTo>
                  <a:lnTo>
                    <a:pt x="104775" y="0"/>
                  </a:lnTo>
                  <a:close/>
                </a:path>
              </a:pathLst>
            </a:custGeom>
            <a:solidFill>
              <a:srgbClr val="5B6475"/>
            </a:solidFill>
            <a:ln>
              <a:noFill/>
            </a:ln>
          </p:spPr>
        </p:sp>
        <p:sp>
          <p:nvSpPr>
            <p:cNvPr id="40" name="Freeform 40"/>
            <p:cNvSpPr/>
            <p:nvPr/>
          </p:nvSpPr>
          <p:spPr>
            <a:xfrm>
              <a:off x="10331768" y="2933700"/>
              <a:ext cx="161925" cy="9525"/>
            </a:xfrm>
            <a:custGeom>
              <a:avLst/>
              <a:gdLst/>
              <a:ahLst/>
              <a:cxnLst/>
              <a:rect l="l" t="t" r="r" b="b"/>
              <a:pathLst>
                <a:path w="161925" h="9525">
                  <a:moveTo>
                    <a:pt x="161925" y="0"/>
                  </a:moveTo>
                  <a:lnTo>
                    <a:pt x="0" y="0"/>
                  </a:lnTo>
                </a:path>
              </a:pathLst>
            </a:custGeom>
            <a:noFill/>
            <a:ln w="15240">
              <a:solidFill>
                <a:srgbClr val="5B6475"/>
              </a:solidFill>
            </a:ln>
          </p:spPr>
        </p:sp>
        <p:sp>
          <p:nvSpPr>
            <p:cNvPr id="41" name="Freeform 41"/>
            <p:cNvSpPr/>
            <p:nvPr/>
          </p:nvSpPr>
          <p:spPr>
            <a:xfrm>
              <a:off x="10226992" y="2881312"/>
              <a:ext cx="104775" cy="104775"/>
            </a:xfrm>
            <a:custGeom>
              <a:avLst/>
              <a:gdLst/>
              <a:ahLst/>
              <a:cxnLst/>
              <a:rect l="l" t="t" r="r" b="b"/>
              <a:pathLst>
                <a:path w="104775" h="104775">
                  <a:moveTo>
                    <a:pt x="0" y="52388"/>
                  </a:moveTo>
                  <a:lnTo>
                    <a:pt x="104775" y="0"/>
                  </a:lnTo>
                  <a:lnTo>
                    <a:pt x="104775" y="104775"/>
                  </a:lnTo>
                  <a:close/>
                </a:path>
              </a:pathLst>
            </a:custGeom>
            <a:solidFill>
              <a:srgbClr val="5B6475"/>
            </a:solidFill>
            <a:ln>
              <a:noFill/>
            </a:ln>
          </p:spPr>
        </p:sp>
        <p:sp>
          <p:nvSpPr>
            <p:cNvPr id="42" name="Freeform 42"/>
            <p:cNvSpPr/>
            <p:nvPr/>
          </p:nvSpPr>
          <p:spPr>
            <a:xfrm>
              <a:off x="9033510" y="2933700"/>
              <a:ext cx="161925" cy="9525"/>
            </a:xfrm>
            <a:custGeom>
              <a:avLst/>
              <a:gdLst/>
              <a:ahLst/>
              <a:cxnLst/>
              <a:rect l="l" t="t" r="r" b="b"/>
              <a:pathLst>
                <a:path w="161925" h="9525">
                  <a:moveTo>
                    <a:pt x="161925" y="0"/>
                  </a:moveTo>
                  <a:lnTo>
                    <a:pt x="0" y="0"/>
                  </a:lnTo>
                </a:path>
              </a:pathLst>
            </a:custGeom>
            <a:noFill/>
            <a:ln w="15240">
              <a:solidFill>
                <a:srgbClr val="5B6475"/>
              </a:solidFill>
            </a:ln>
          </p:spPr>
        </p:sp>
        <p:sp>
          <p:nvSpPr>
            <p:cNvPr id="43" name="Freeform 43"/>
            <p:cNvSpPr/>
            <p:nvPr/>
          </p:nvSpPr>
          <p:spPr>
            <a:xfrm>
              <a:off x="8928735" y="2881312"/>
              <a:ext cx="104775" cy="104775"/>
            </a:xfrm>
            <a:custGeom>
              <a:avLst/>
              <a:gdLst/>
              <a:ahLst/>
              <a:cxnLst/>
              <a:rect l="l" t="t" r="r" b="b"/>
              <a:pathLst>
                <a:path w="104775" h="104775">
                  <a:moveTo>
                    <a:pt x="0" y="52388"/>
                  </a:moveTo>
                  <a:lnTo>
                    <a:pt x="104775" y="0"/>
                  </a:lnTo>
                  <a:lnTo>
                    <a:pt x="104775" y="104775"/>
                  </a:lnTo>
                  <a:close/>
                </a:path>
              </a:pathLst>
            </a:custGeom>
            <a:solidFill>
              <a:srgbClr val="5B6475"/>
            </a:solidFill>
            <a:ln>
              <a:noFill/>
            </a:ln>
          </p:spPr>
        </p:sp>
        <p:sp>
          <p:nvSpPr>
            <p:cNvPr id="44" name="Freeform 44"/>
            <p:cNvSpPr/>
            <p:nvPr/>
          </p:nvSpPr>
          <p:spPr>
            <a:xfrm>
              <a:off x="9710738" y="3132772"/>
              <a:ext cx="9525" cy="190500"/>
            </a:xfrm>
            <a:custGeom>
              <a:avLst/>
              <a:gdLst/>
              <a:ahLst/>
              <a:cxnLst/>
              <a:rect l="l" t="t" r="r" b="b"/>
              <a:pathLst>
                <a:path w="9525" h="190500">
                  <a:moveTo>
                    <a:pt x="0" y="0"/>
                  </a:moveTo>
                  <a:lnTo>
                    <a:pt x="0" y="190500"/>
                  </a:lnTo>
                </a:path>
              </a:pathLst>
            </a:custGeom>
            <a:noFill/>
            <a:ln w="15240">
              <a:solidFill>
                <a:srgbClr val="5B6475"/>
              </a:solidFill>
            </a:ln>
          </p:spPr>
        </p:sp>
        <p:sp>
          <p:nvSpPr>
            <p:cNvPr id="45" name="Freeform 45"/>
            <p:cNvSpPr/>
            <p:nvPr/>
          </p:nvSpPr>
          <p:spPr>
            <a:xfrm>
              <a:off x="9658350" y="3323272"/>
              <a:ext cx="104775" cy="104775"/>
            </a:xfrm>
            <a:custGeom>
              <a:avLst/>
              <a:gdLst/>
              <a:ahLst/>
              <a:cxnLst/>
              <a:rect l="l" t="t" r="r" b="b"/>
              <a:pathLst>
                <a:path w="104775" h="104775">
                  <a:moveTo>
                    <a:pt x="52388" y="104775"/>
                  </a:moveTo>
                  <a:lnTo>
                    <a:pt x="0" y="0"/>
                  </a:lnTo>
                  <a:lnTo>
                    <a:pt x="104775" y="0"/>
                  </a:lnTo>
                  <a:close/>
                </a:path>
              </a:pathLst>
            </a:custGeom>
            <a:solidFill>
              <a:srgbClr val="5B6475"/>
            </a:solidFill>
            <a:ln>
              <a:noFill/>
            </a:ln>
          </p:spPr>
        </p:sp>
        <p:sp>
          <p:nvSpPr>
            <p:cNvPr id="46" name="Freeform 46"/>
            <p:cNvSpPr/>
            <p:nvPr/>
          </p:nvSpPr>
          <p:spPr>
            <a:xfrm>
              <a:off x="8412480" y="3132772"/>
              <a:ext cx="9525" cy="190500"/>
            </a:xfrm>
            <a:custGeom>
              <a:avLst/>
              <a:gdLst/>
              <a:ahLst/>
              <a:cxnLst/>
              <a:rect l="l" t="t" r="r" b="b"/>
              <a:pathLst>
                <a:path w="9525" h="190500">
                  <a:moveTo>
                    <a:pt x="0" y="0"/>
                  </a:moveTo>
                  <a:lnTo>
                    <a:pt x="0" y="190500"/>
                  </a:lnTo>
                </a:path>
              </a:pathLst>
            </a:custGeom>
            <a:noFill/>
            <a:ln w="15240">
              <a:solidFill>
                <a:srgbClr val="5B6475"/>
              </a:solidFill>
            </a:ln>
          </p:spPr>
        </p:sp>
        <p:sp>
          <p:nvSpPr>
            <p:cNvPr id="47" name="Freeform 47"/>
            <p:cNvSpPr/>
            <p:nvPr/>
          </p:nvSpPr>
          <p:spPr>
            <a:xfrm>
              <a:off x="8360092" y="3323272"/>
              <a:ext cx="104775" cy="104775"/>
            </a:xfrm>
            <a:custGeom>
              <a:avLst/>
              <a:gdLst/>
              <a:ahLst/>
              <a:cxnLst/>
              <a:rect l="l" t="t" r="r" b="b"/>
              <a:pathLst>
                <a:path w="104775" h="104775">
                  <a:moveTo>
                    <a:pt x="52388" y="104775"/>
                  </a:moveTo>
                  <a:lnTo>
                    <a:pt x="0" y="0"/>
                  </a:lnTo>
                  <a:lnTo>
                    <a:pt x="104775" y="0"/>
                  </a:lnTo>
                  <a:close/>
                </a:path>
              </a:pathLst>
            </a:custGeom>
            <a:solidFill>
              <a:srgbClr val="5B6475"/>
            </a:solidFill>
            <a:ln>
              <a:noFill/>
            </a:ln>
          </p:spPr>
        </p:sp>
        <p:sp>
          <p:nvSpPr>
            <p:cNvPr id="48" name="Rectangle 48"/>
            <p:cNvSpPr/>
            <p:nvPr/>
          </p:nvSpPr>
          <p:spPr>
            <a:xfrm>
              <a:off x="6597968" y="2040255"/>
              <a:ext cx="1031558" cy="399098"/>
            </a:xfrm>
            <a:prstGeom prst="roundRect">
              <a:avLst>
                <a:gd name="adj" fmla="val 23866"/>
              </a:avLst>
            </a:prstGeom>
            <a:solidFill>
              <a:srgbClr val="E7EDF3"/>
            </a:solidFill>
            <a:ln w="19050">
              <a:solidFill>
                <a:srgbClr val="334E68"/>
              </a:solidFill>
            </a:ln>
          </p:spPr>
        </p:sp>
        <p:sp>
          <p:nvSpPr>
            <p:cNvPr id="49" name="Rectangle 49"/>
            <p:cNvSpPr/>
            <p:nvPr/>
          </p:nvSpPr>
          <p:spPr>
            <a:xfrm>
              <a:off x="7896225" y="2040255"/>
              <a:ext cx="1031558" cy="399098"/>
            </a:xfrm>
            <a:prstGeom prst="roundRect">
              <a:avLst>
                <a:gd name="adj" fmla="val 23866"/>
              </a:avLst>
            </a:prstGeom>
            <a:solidFill>
              <a:srgbClr val="FFFFFF"/>
            </a:solidFill>
            <a:ln w="15240">
              <a:solidFill>
                <a:srgbClr val="334E68"/>
              </a:solidFill>
            </a:ln>
          </p:spPr>
        </p:sp>
        <p:sp>
          <p:nvSpPr>
            <p:cNvPr id="50" name="Rectangle 50"/>
            <p:cNvSpPr/>
            <p:nvPr/>
          </p:nvSpPr>
          <p:spPr>
            <a:xfrm>
              <a:off x="9195435" y="2040255"/>
              <a:ext cx="1031558" cy="399098"/>
            </a:xfrm>
            <a:prstGeom prst="roundRect">
              <a:avLst>
                <a:gd name="adj" fmla="val 23866"/>
              </a:avLst>
            </a:prstGeom>
            <a:solidFill>
              <a:srgbClr val="FFFFFF"/>
            </a:solidFill>
            <a:ln w="15240">
              <a:solidFill>
                <a:srgbClr val="334E68"/>
              </a:solidFill>
            </a:ln>
          </p:spPr>
        </p:sp>
        <p:sp>
          <p:nvSpPr>
            <p:cNvPr id="51" name="Rectangle 51"/>
            <p:cNvSpPr/>
            <p:nvPr/>
          </p:nvSpPr>
          <p:spPr>
            <a:xfrm>
              <a:off x="10493692" y="2040255"/>
              <a:ext cx="1031558" cy="399098"/>
            </a:xfrm>
            <a:prstGeom prst="roundRect">
              <a:avLst>
                <a:gd name="adj" fmla="val 23866"/>
              </a:avLst>
            </a:prstGeom>
            <a:solidFill>
              <a:srgbClr val="FFFFFF"/>
            </a:solidFill>
            <a:ln w="15240">
              <a:solidFill>
                <a:srgbClr val="334E68"/>
              </a:solidFill>
            </a:ln>
          </p:spPr>
        </p:sp>
        <p:sp>
          <p:nvSpPr>
            <p:cNvPr id="52" name="Rectangle 52"/>
            <p:cNvSpPr/>
            <p:nvPr/>
          </p:nvSpPr>
          <p:spPr>
            <a:xfrm>
              <a:off x="10493692" y="2733675"/>
              <a:ext cx="1031558" cy="399098"/>
            </a:xfrm>
            <a:prstGeom prst="roundRect">
              <a:avLst>
                <a:gd name="adj" fmla="val 23866"/>
              </a:avLst>
            </a:prstGeom>
            <a:solidFill>
              <a:srgbClr val="FFFFFF"/>
            </a:solidFill>
            <a:ln w="15240">
              <a:solidFill>
                <a:srgbClr val="334E68"/>
              </a:solidFill>
            </a:ln>
          </p:spPr>
        </p:sp>
        <p:sp>
          <p:nvSpPr>
            <p:cNvPr id="53" name="Rectangle 53"/>
            <p:cNvSpPr/>
            <p:nvPr/>
          </p:nvSpPr>
          <p:spPr>
            <a:xfrm>
              <a:off x="9195435" y="2733675"/>
              <a:ext cx="1031558" cy="399098"/>
            </a:xfrm>
            <a:prstGeom prst="roundRect">
              <a:avLst>
                <a:gd name="adj" fmla="val 23866"/>
              </a:avLst>
            </a:prstGeom>
            <a:solidFill>
              <a:srgbClr val="FFFFFF"/>
            </a:solidFill>
            <a:ln w="15240">
              <a:solidFill>
                <a:srgbClr val="334E68"/>
              </a:solidFill>
            </a:ln>
          </p:spPr>
        </p:sp>
        <p:sp>
          <p:nvSpPr>
            <p:cNvPr id="54" name="Rectangle 54"/>
            <p:cNvSpPr/>
            <p:nvPr/>
          </p:nvSpPr>
          <p:spPr>
            <a:xfrm>
              <a:off x="7896225" y="2733675"/>
              <a:ext cx="1031558" cy="399098"/>
            </a:xfrm>
            <a:prstGeom prst="roundRect">
              <a:avLst>
                <a:gd name="adj" fmla="val 23866"/>
              </a:avLst>
            </a:prstGeom>
            <a:solidFill>
              <a:srgbClr val="FFFFFF"/>
            </a:solidFill>
            <a:ln w="15240">
              <a:solidFill>
                <a:srgbClr val="334E68"/>
              </a:solidFill>
            </a:ln>
          </p:spPr>
        </p:sp>
        <p:sp>
          <p:nvSpPr>
            <p:cNvPr id="55" name="Rectangle 55"/>
            <p:cNvSpPr/>
            <p:nvPr/>
          </p:nvSpPr>
          <p:spPr>
            <a:xfrm>
              <a:off x="9195435" y="3428048"/>
              <a:ext cx="1031558" cy="399098"/>
            </a:xfrm>
            <a:prstGeom prst="roundRect">
              <a:avLst>
                <a:gd name="adj" fmla="val 23866"/>
              </a:avLst>
            </a:prstGeom>
            <a:solidFill>
              <a:srgbClr val="F4F6FB"/>
            </a:solidFill>
            <a:ln w="13335">
              <a:solidFill>
                <a:srgbClr val="D9DFEA"/>
              </a:solidFill>
            </a:ln>
          </p:spPr>
        </p:sp>
        <p:sp>
          <p:nvSpPr>
            <p:cNvPr id="56" name="Rectangle 56"/>
            <p:cNvSpPr/>
            <p:nvPr/>
          </p:nvSpPr>
          <p:spPr>
            <a:xfrm>
              <a:off x="7896225" y="3428048"/>
              <a:ext cx="1031558" cy="399098"/>
            </a:xfrm>
            <a:prstGeom prst="roundRect">
              <a:avLst>
                <a:gd name="adj" fmla="val 23866"/>
              </a:avLst>
            </a:prstGeom>
            <a:solidFill>
              <a:srgbClr val="F4F6FB"/>
            </a:solidFill>
            <a:ln w="13335">
              <a:solidFill>
                <a:srgbClr val="D9DFEA"/>
              </a:solidFill>
            </a:ln>
          </p:spPr>
        </p:sp>
        <p:sp>
          <p:nvSpPr>
            <p:cNvPr id="57" name="TextBox 57"/>
            <p:cNvSpPr txBox="1"/>
            <p:nvPr/>
          </p:nvSpPr>
          <p:spPr>
            <a:xfrm>
              <a:off x="6814640" y="2161699"/>
              <a:ext cx="59916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寄存器 R</a:t>
              </a:r>
            </a:p>
          </p:txBody>
        </p:sp>
        <p:sp>
          <p:nvSpPr>
            <p:cNvPr id="58" name="TextBox 58"/>
            <p:cNvSpPr txBox="1"/>
            <p:nvPr/>
          </p:nvSpPr>
          <p:spPr>
            <a:xfrm>
              <a:off x="8100665" y="2161699"/>
              <a:ext cx="623631"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LSU 缓冲</a:t>
              </a:r>
            </a:p>
          </p:txBody>
        </p:sp>
        <p:sp>
          <p:nvSpPr>
            <p:cNvPr id="59" name="TextBox 59"/>
            <p:cNvSpPr txBox="1"/>
            <p:nvPr/>
          </p:nvSpPr>
          <p:spPr>
            <a:xfrm>
              <a:off x="9386263" y="2161699"/>
              <a:ext cx="6489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L1 Cache</a:t>
              </a:r>
            </a:p>
          </p:txBody>
        </p:sp>
        <p:sp>
          <p:nvSpPr>
            <p:cNvPr id="60" name="TextBox 60"/>
            <p:cNvSpPr txBox="1"/>
            <p:nvPr/>
          </p:nvSpPr>
          <p:spPr>
            <a:xfrm>
              <a:off x="10684520" y="2161699"/>
              <a:ext cx="6489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L2 Cache</a:t>
              </a:r>
            </a:p>
          </p:txBody>
        </p:sp>
        <p:sp>
          <p:nvSpPr>
            <p:cNvPr id="61" name="TextBox 61"/>
            <p:cNvSpPr txBox="1"/>
            <p:nvPr/>
          </p:nvSpPr>
          <p:spPr>
            <a:xfrm>
              <a:off x="10684520" y="2855119"/>
              <a:ext cx="6489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L3 Cache</a:t>
              </a:r>
            </a:p>
          </p:txBody>
        </p:sp>
        <p:sp>
          <p:nvSpPr>
            <p:cNvPr id="62" name="TextBox 62"/>
            <p:cNvSpPr txBox="1"/>
            <p:nvPr/>
          </p:nvSpPr>
          <p:spPr>
            <a:xfrm>
              <a:off x="9403474" y="2855119"/>
              <a:ext cx="614528"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本地内存</a:t>
              </a:r>
            </a:p>
          </p:txBody>
        </p:sp>
        <p:sp>
          <p:nvSpPr>
            <p:cNvPr id="63" name="TextBox 63"/>
            <p:cNvSpPr txBox="1"/>
            <p:nvPr/>
          </p:nvSpPr>
          <p:spPr>
            <a:xfrm>
              <a:off x="8105216" y="2855119"/>
              <a:ext cx="614528"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本地磁盘</a:t>
              </a:r>
            </a:p>
          </p:txBody>
        </p:sp>
        <p:sp>
          <p:nvSpPr>
            <p:cNvPr id="64" name="TextBox 64"/>
            <p:cNvSpPr txBox="1"/>
            <p:nvPr/>
          </p:nvSpPr>
          <p:spPr>
            <a:xfrm>
              <a:off x="9403474" y="3548539"/>
              <a:ext cx="614528"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远程内存</a:t>
              </a:r>
            </a:p>
          </p:txBody>
        </p:sp>
        <p:sp>
          <p:nvSpPr>
            <p:cNvPr id="65" name="TextBox 65"/>
            <p:cNvSpPr txBox="1"/>
            <p:nvPr/>
          </p:nvSpPr>
          <p:spPr>
            <a:xfrm>
              <a:off x="8105216" y="3548539"/>
              <a:ext cx="614528"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远程磁盘</a:t>
              </a:r>
            </a:p>
          </p:txBody>
        </p:sp>
      </p:grpSp>
      <p:grpSp>
        <p:nvGrpSpPr>
          <p:cNvPr id="75" name="c2-kv-3"/>
          <p:cNvGrpSpPr/>
          <p:nvPr/>
        </p:nvGrpSpPr>
        <p:grpSpPr>
          <a:xfrm>
            <a:off x="6457760" y="4170998"/>
            <a:ext cx="5200840" cy="1059370"/>
            <a:chOff x="6457760" y="4170998"/>
            <a:chExt cx="5200840" cy="1059370"/>
          </a:xfrm>
        </p:grpSpPr>
        <p:sp>
          <p:nvSpPr>
            <p:cNvPr id="67" name="TextBox 67"/>
            <p:cNvSpPr txBox="1"/>
            <p:nvPr/>
          </p:nvSpPr>
          <p:spPr>
            <a:xfrm>
              <a:off x="6457760" y="4170998"/>
              <a:ext cx="548571" cy="264033"/>
            </a:xfrm>
            <a:prstGeom prst="rect">
              <a:avLst/>
            </a:prstGeom>
            <a:noFill/>
            <a:ln>
              <a:noFill/>
            </a:ln>
          </p:spPr>
          <p:txBody>
            <a:bodyPr wrap="none" lIns="0" tIns="0" rIns="0" bIns="0" anchor="t" anchorCtr="0">
              <a:spAutoFit/>
            </a:bodyPr>
            <a:lstStyle/>
            <a:p>
              <a:pPr algn="l"/>
              <a:r>
                <a:rPr lang="zh-CN" sz="1350" b="1" dirty="0">
                  <a:solidFill>
                    <a:srgbClr val="334E68"/>
                  </a:solidFill>
                  <a:latin typeface="+mn-lt"/>
                  <a:ea typeface="+mn-ea"/>
                  <a:cs typeface="+mn-cs"/>
                </a:rPr>
                <a:t>容量 C</a:t>
              </a:r>
            </a:p>
          </p:txBody>
        </p:sp>
        <p:sp>
          <p:nvSpPr>
            <p:cNvPr id="68" name="TextBox 68"/>
            <p:cNvSpPr txBox="1"/>
            <p:nvPr/>
          </p:nvSpPr>
          <p:spPr>
            <a:xfrm>
              <a:off x="7222617" y="4170998"/>
              <a:ext cx="2539517"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存储字节总量，单位 B（字节）</a:t>
              </a:r>
            </a:p>
          </p:txBody>
        </p:sp>
        <p:sp>
          <p:nvSpPr>
            <p:cNvPr id="69" name="Rectangle 69"/>
            <p:cNvSpPr/>
            <p:nvPr/>
          </p:nvSpPr>
          <p:spPr>
            <a:xfrm>
              <a:off x="6464618" y="4459605"/>
              <a:ext cx="5193982" cy="9525"/>
            </a:xfrm>
            <a:prstGeom prst="rect">
              <a:avLst/>
            </a:prstGeom>
            <a:solidFill>
              <a:srgbClr val="D9DFEA"/>
            </a:solidFill>
            <a:ln>
              <a:noFill/>
            </a:ln>
          </p:spPr>
        </p:sp>
        <p:sp>
          <p:nvSpPr>
            <p:cNvPr id="70" name="TextBox 70"/>
            <p:cNvSpPr txBox="1"/>
            <p:nvPr/>
          </p:nvSpPr>
          <p:spPr>
            <a:xfrm>
              <a:off x="6457760" y="4569142"/>
              <a:ext cx="548571" cy="264033"/>
            </a:xfrm>
            <a:prstGeom prst="rect">
              <a:avLst/>
            </a:prstGeom>
            <a:noFill/>
            <a:ln>
              <a:noFill/>
            </a:ln>
          </p:spPr>
          <p:txBody>
            <a:bodyPr wrap="none" lIns="0" tIns="0" rIns="0" bIns="0" anchor="t" anchorCtr="0">
              <a:spAutoFit/>
            </a:bodyPr>
            <a:lstStyle/>
            <a:p>
              <a:pPr algn="l"/>
              <a:r>
                <a:rPr lang="zh-CN" sz="1350" b="1" dirty="0">
                  <a:solidFill>
                    <a:srgbClr val="334E68"/>
                  </a:solidFill>
                  <a:latin typeface="+mn-lt"/>
                  <a:ea typeface="+mn-ea"/>
                  <a:cs typeface="+mn-cs"/>
                </a:rPr>
                <a:t>延迟 D</a:t>
              </a:r>
            </a:p>
          </p:txBody>
        </p:sp>
        <p:sp>
          <p:nvSpPr>
            <p:cNvPr id="71" name="TextBox 71"/>
            <p:cNvSpPr txBox="1"/>
            <p:nvPr/>
          </p:nvSpPr>
          <p:spPr>
            <a:xfrm>
              <a:off x="7222617" y="4569142"/>
              <a:ext cx="2894247"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读取一个字所需的全部时间，单位 s</a:t>
              </a:r>
            </a:p>
          </p:txBody>
        </p:sp>
        <p:sp>
          <p:nvSpPr>
            <p:cNvPr id="72" name="Rectangle 72"/>
            <p:cNvSpPr/>
            <p:nvPr/>
          </p:nvSpPr>
          <p:spPr>
            <a:xfrm>
              <a:off x="6464618" y="4857750"/>
              <a:ext cx="5193982" cy="9525"/>
            </a:xfrm>
            <a:prstGeom prst="rect">
              <a:avLst/>
            </a:prstGeom>
            <a:solidFill>
              <a:srgbClr val="D9DFEA"/>
            </a:solidFill>
            <a:ln>
              <a:noFill/>
            </a:ln>
          </p:spPr>
        </p:sp>
        <p:sp>
          <p:nvSpPr>
            <p:cNvPr id="73" name="TextBox 73"/>
            <p:cNvSpPr txBox="1"/>
            <p:nvPr/>
          </p:nvSpPr>
          <p:spPr>
            <a:xfrm>
              <a:off x="6457760" y="4966335"/>
              <a:ext cx="548571" cy="264033"/>
            </a:xfrm>
            <a:prstGeom prst="rect">
              <a:avLst/>
            </a:prstGeom>
            <a:noFill/>
            <a:ln>
              <a:noFill/>
            </a:ln>
          </p:spPr>
          <p:txBody>
            <a:bodyPr wrap="none" lIns="0" tIns="0" rIns="0" bIns="0" anchor="t" anchorCtr="0">
              <a:spAutoFit/>
            </a:bodyPr>
            <a:lstStyle/>
            <a:p>
              <a:pPr algn="l"/>
              <a:r>
                <a:rPr lang="zh-CN" sz="1350" b="1" dirty="0">
                  <a:solidFill>
                    <a:srgbClr val="334E68"/>
                  </a:solidFill>
                  <a:latin typeface="+mn-lt"/>
                  <a:ea typeface="+mn-ea"/>
                  <a:cs typeface="+mn-cs"/>
                </a:rPr>
                <a:t>带宽 B</a:t>
              </a:r>
            </a:p>
          </p:txBody>
        </p:sp>
        <p:sp>
          <p:nvSpPr>
            <p:cNvPr id="74" name="TextBox 74"/>
            <p:cNvSpPr txBox="1"/>
            <p:nvPr/>
          </p:nvSpPr>
          <p:spPr>
            <a:xfrm>
              <a:off x="7222617" y="4966335"/>
              <a:ext cx="4194610"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相邻层次的存储器件之间传输数据的速度，单位 B/s</a:t>
              </a:r>
            </a:p>
          </p:txBody>
        </p:sp>
      </p:grpSp>
      <p:grpSp>
        <p:nvGrpSpPr>
          <p:cNvPr id="82" name="c2-callout-4"/>
          <p:cNvGrpSpPr/>
          <p:nvPr/>
        </p:nvGrpSpPr>
        <p:grpSpPr>
          <a:xfrm>
            <a:off x="6464618" y="5353050"/>
            <a:ext cx="5193982" cy="978218"/>
            <a:chOff x="6464618" y="5353050"/>
            <a:chExt cx="5193982" cy="978218"/>
          </a:xfrm>
        </p:grpSpPr>
        <p:sp>
          <p:nvSpPr>
            <p:cNvPr id="76" name="Rectangle 76"/>
            <p:cNvSpPr/>
            <p:nvPr/>
          </p:nvSpPr>
          <p:spPr>
            <a:xfrm>
              <a:off x="6464618" y="5353050"/>
              <a:ext cx="5193982" cy="978218"/>
            </a:xfrm>
            <a:prstGeom prst="roundRect">
              <a:avLst>
                <a:gd name="adj" fmla="val 11685"/>
              </a:avLst>
            </a:prstGeom>
            <a:solidFill>
              <a:srgbClr val="F4F6FB"/>
            </a:solidFill>
            <a:ln>
              <a:noFill/>
            </a:ln>
          </p:spPr>
        </p:sp>
        <p:grpSp>
          <p:nvGrpSpPr>
            <p:cNvPr id="80" name="Group 80"/>
            <p:cNvGrpSpPr/>
            <p:nvPr/>
          </p:nvGrpSpPr>
          <p:grpSpPr>
            <a:xfrm>
              <a:off x="6669405" y="5741670"/>
              <a:ext cx="200026" cy="200026"/>
              <a:chOff x="6669405" y="5741670"/>
              <a:chExt cx="200026" cy="200026"/>
            </a:xfrm>
          </p:grpSpPr>
          <p:sp>
            <p:nvSpPr>
              <p:cNvPr id="77" name="Freeform 77"/>
              <p:cNvSpPr/>
              <p:nvPr/>
            </p:nvSpPr>
            <p:spPr>
              <a:xfrm>
                <a:off x="6669405" y="5741670"/>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1F2937"/>
                </a:solidFill>
              </a:ln>
            </p:spPr>
          </p:sp>
          <p:sp>
            <p:nvSpPr>
              <p:cNvPr id="78" name="Freeform 78"/>
              <p:cNvSpPr/>
              <p:nvPr/>
            </p:nvSpPr>
            <p:spPr>
              <a:xfrm>
                <a:off x="6769418" y="5808345"/>
                <a:ext cx="9525" cy="9525"/>
              </a:xfrm>
              <a:custGeom>
                <a:avLst/>
                <a:gdLst/>
                <a:ahLst/>
                <a:cxnLst/>
                <a:rect l="l" t="t" r="r" b="b"/>
                <a:pathLst>
                  <a:path w="9525" h="9525">
                    <a:moveTo>
                      <a:pt x="0" y="0"/>
                    </a:moveTo>
                    <a:lnTo>
                      <a:pt x="111" y="0"/>
                    </a:lnTo>
                  </a:path>
                </a:pathLst>
              </a:custGeom>
              <a:noFill/>
              <a:ln w="22225">
                <a:solidFill>
                  <a:srgbClr val="1F2937"/>
                </a:solidFill>
              </a:ln>
            </p:spPr>
          </p:sp>
          <p:sp>
            <p:nvSpPr>
              <p:cNvPr id="79" name="Freeform 79"/>
              <p:cNvSpPr/>
              <p:nvPr/>
            </p:nvSpPr>
            <p:spPr>
              <a:xfrm>
                <a:off x="6758305" y="5841683"/>
                <a:ext cx="22225" cy="44450"/>
              </a:xfrm>
              <a:custGeom>
                <a:avLst/>
                <a:gdLst/>
                <a:ahLst/>
                <a:cxnLst/>
                <a:rect l="l" t="t" r="r" b="b"/>
                <a:pathLst>
                  <a:path w="22225" h="44450">
                    <a:moveTo>
                      <a:pt x="0" y="0"/>
                    </a:moveTo>
                    <a:lnTo>
                      <a:pt x="11113" y="0"/>
                    </a:lnTo>
                    <a:lnTo>
                      <a:pt x="11113" y="44450"/>
                    </a:lnTo>
                    <a:lnTo>
                      <a:pt x="22225" y="44450"/>
                    </a:lnTo>
                  </a:path>
                </a:pathLst>
              </a:custGeom>
              <a:noFill/>
              <a:ln w="22225">
                <a:solidFill>
                  <a:srgbClr val="1F2937"/>
                </a:solidFill>
              </a:ln>
            </p:spPr>
          </p:sp>
        </p:grpSp>
        <p:sp>
          <p:nvSpPr>
            <p:cNvPr id="81" name="TextBox 81"/>
            <p:cNvSpPr txBox="1"/>
            <p:nvPr/>
          </p:nvSpPr>
          <p:spPr>
            <a:xfrm>
              <a:off x="6972110" y="5498783"/>
              <a:ext cx="4299966" cy="761238"/>
            </a:xfrm>
            <a:prstGeom prst="rect">
              <a:avLst/>
            </a:prstGeom>
            <a:noFill/>
            <a:ln>
              <a:noFill/>
            </a:ln>
          </p:spPr>
          <p:txBody>
            <a:bodyPr wrap="none" lIns="0" tIns="0" rIns="0" bIns="0" anchor="t" anchorCtr="0">
              <a:spAutoFit/>
            </a:bodyPr>
            <a:lstStyle/>
            <a:p>
              <a:pPr algn="l">
                <a:lnSpc>
                  <a:spcPts val="1958"/>
                </a:lnSpc>
              </a:pPr>
              <a:r>
                <a:rPr lang="zh-CN" sz="1350" dirty="0">
                  <a:solidFill>
                    <a:srgbClr val="1F2937"/>
                  </a:solidFill>
                  <a:latin typeface="+mn-lt"/>
                  <a:ea typeface="+mn-ea"/>
                  <a:cs typeface="+mn-cs"/>
                </a:rPr>
                <a:t>每一层都用这三个参数刻画。越往下容量越大、延迟越</a:t>
              </a:r>
              <a:br/>
              <a:r>
                <a:rPr lang="zh-CN" sz="1350" dirty="0">
                  <a:solidFill>
                    <a:srgbClr val="1F2937"/>
                  </a:solidFill>
                  <a:latin typeface="+mn-lt"/>
                  <a:ea typeface="+mn-ea"/>
                  <a:cs typeface="+mn-cs"/>
                </a:rPr>
                <a:t>长、带宽越低；本地内存、磁盘之外还能访问远程节点的</a:t>
              </a:r>
              <a:br/>
              <a:r>
                <a:rPr lang="zh-CN" sz="1350" dirty="0">
                  <a:solidFill>
                    <a:srgbClr val="1F2937"/>
                  </a:solidFill>
                  <a:latin typeface="+mn-lt"/>
                  <a:ea typeface="+mn-ea"/>
                  <a:cs typeface="+mn-cs"/>
                </a:rPr>
                <a:t>内存和磁盘。</a:t>
              </a:r>
            </a:p>
          </p:txBody>
        </p:sp>
      </p:grpSp>
      <p:grpSp>
        <p:nvGrpSpPr>
          <p:cNvPr id="85" name="footer"/>
          <p:cNvGrpSpPr/>
          <p:nvPr/>
        </p:nvGrpSpPr>
        <p:grpSpPr>
          <a:xfrm>
            <a:off x="528447" y="6581299"/>
            <a:ext cx="11135106" cy="190690"/>
            <a:chOff x="528447" y="6581299"/>
            <a:chExt cx="11135106" cy="190690"/>
          </a:xfrm>
        </p:grpSpPr>
        <p:sp>
          <p:nvSpPr>
            <p:cNvPr id="83" name="TextBox 83"/>
            <p:cNvSpPr txBox="1"/>
            <p:nvPr/>
          </p:nvSpPr>
          <p:spPr>
            <a:xfrm>
              <a:off x="528447" y="6581299"/>
              <a:ext cx="2120748"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并行与分布式计算 · 第7章 体系结构</a:t>
              </a:r>
            </a:p>
          </p:txBody>
        </p:sp>
        <p:sp>
          <p:nvSpPr>
            <p:cNvPr id="84" name="TextBox 84"/>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60</a:t>
              </a:r>
            </a:p>
          </p:txBody>
        </p:sp>
      </p:grpSp>
    </p:spTree>
  </p:cSld>
  <p:clrMapOvr>
    <a:masterClrMapping/>
  </p:clrMapOvr>
  <p:transition xmlns:p14="http://schemas.microsoft.com/office/powerpoint/2010/main" p14:dur="400">
    <p:fade/>
  </p:transition>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8798046" cy="909257"/>
            <a:chOff x="520446" y="342900"/>
            <a:chExt cx="8798046" cy="909257"/>
          </a:xfrm>
        </p:grpSpPr>
        <p:sp>
          <p:nvSpPr>
            <p:cNvPr id="2" name="Rectangle 2"/>
            <p:cNvSpPr/>
            <p:nvPr/>
          </p:nvSpPr>
          <p:spPr>
            <a:xfrm>
              <a:off x="533400" y="342900"/>
              <a:ext cx="1987868" cy="266700"/>
            </a:xfrm>
            <a:prstGeom prst="roundRect">
              <a:avLst>
                <a:gd name="adj" fmla="val 50000"/>
              </a:avLst>
            </a:prstGeom>
            <a:solidFill>
              <a:srgbClr val="E7EDF3"/>
            </a:solidFill>
            <a:ln>
              <a:noFill/>
            </a:ln>
          </p:spPr>
        </p:sp>
        <p:sp>
          <p:nvSpPr>
            <p:cNvPr id="3" name="TextBox 3"/>
            <p:cNvSpPr txBox="1"/>
            <p:nvPr/>
          </p:nvSpPr>
          <p:spPr>
            <a:xfrm>
              <a:off x="608957" y="407194"/>
              <a:ext cx="1835800"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第7章 体系结构 · 性能评测</a:t>
              </a:r>
            </a:p>
          </p:txBody>
        </p:sp>
        <p:sp>
          <p:nvSpPr>
            <p:cNvPr id="4" name="TextBox 4"/>
            <p:cNvSpPr txBox="1"/>
            <p:nvPr/>
          </p:nvSpPr>
          <p:spPr>
            <a:xfrm>
              <a:off x="520446" y="753428"/>
              <a:ext cx="8798046"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通信开销：先测往返时间，再用 T(m) = T₀ + m/R∞ 建模</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10" name="c1-code-1"/>
          <p:cNvGrpSpPr/>
          <p:nvPr/>
        </p:nvGrpSpPr>
        <p:grpSpPr>
          <a:xfrm>
            <a:off x="533400" y="1524000"/>
            <a:ext cx="5410200" cy="2967990"/>
            <a:chOff x="533400" y="1524000"/>
            <a:chExt cx="5410200" cy="2967990"/>
          </a:xfrm>
        </p:grpSpPr>
        <p:sp>
          <p:nvSpPr>
            <p:cNvPr id="7" name="Rectangle 7"/>
            <p:cNvSpPr/>
            <p:nvPr/>
          </p:nvSpPr>
          <p:spPr>
            <a:xfrm>
              <a:off x="533400" y="1524000"/>
              <a:ext cx="5410200" cy="2967990"/>
            </a:xfrm>
            <a:prstGeom prst="roundRect">
              <a:avLst>
                <a:gd name="adj" fmla="val 3209"/>
              </a:avLst>
            </a:prstGeom>
            <a:solidFill>
              <a:srgbClr val="F6F8FA"/>
            </a:solidFill>
            <a:ln w="11430">
              <a:solidFill>
                <a:srgbClr val="D9DFEA"/>
              </a:solidFill>
            </a:ln>
          </p:spPr>
        </p:sp>
        <p:sp>
          <p:nvSpPr>
            <p:cNvPr id="8" name="TextBox 8"/>
            <p:cNvSpPr txBox="1"/>
            <p:nvPr/>
          </p:nvSpPr>
          <p:spPr>
            <a:xfrm>
              <a:off x="661797" y="1675924"/>
              <a:ext cx="3347083" cy="190690"/>
            </a:xfrm>
            <a:prstGeom prst="rect">
              <a:avLst/>
            </a:prstGeom>
            <a:noFill/>
            <a:ln>
              <a:noFill/>
            </a:ln>
          </p:spPr>
          <p:txBody>
            <a:bodyPr wrap="none" lIns="0" tIns="0" rIns="0" bIns="0" anchor="t" anchorCtr="0">
              <a:spAutoFit/>
            </a:bodyPr>
            <a:lstStyle/>
            <a:p>
              <a:pPr algn="l"/>
              <a:r>
                <a:rPr lang="zh-CN" sz="980" b="1" dirty="0">
                  <a:solidFill>
                    <a:srgbClr val="5B6475"/>
                  </a:solidFill>
                  <a:latin typeface="+mn-lt"/>
                  <a:ea typeface="+mn-ea"/>
                  <a:cs typeface="+mn-cs"/>
                </a:rPr>
                <a:t>测量法（ping-pong）伪代码：K 个节点两两互发 m 字节</a:t>
              </a:r>
            </a:p>
          </p:txBody>
        </p:sp>
        <p:sp>
          <p:nvSpPr>
            <p:cNvPr id="9" name="TextBox 9"/>
            <p:cNvSpPr txBox="1"/>
            <p:nvPr/>
          </p:nvSpPr>
          <p:spPr>
            <a:xfrm>
              <a:off x="661797" y="1935956"/>
              <a:ext cx="3426333" cy="2481453"/>
            </a:xfrm>
            <a:prstGeom prst="rect">
              <a:avLst/>
            </a:prstGeom>
            <a:noFill/>
            <a:ln>
              <a:noFill/>
            </a:ln>
          </p:spPr>
          <p:txBody>
            <a:bodyPr wrap="none" lIns="0" tIns="0" rIns="0" bIns="0" anchor="t" anchorCtr="0">
              <a:spAutoFit/>
            </a:bodyPr>
            <a:lstStyle/>
            <a:p>
              <a:pPr algn="l">
                <a:lnSpc>
                  <a:spcPts val="1388"/>
                </a:lnSpc>
              </a:pPr>
              <a:r>
                <a:rPr lang="en-US" sz="980" b="1" dirty="0">
                  <a:solidFill>
                    <a:srgbClr val="334E68"/>
                  </a:solidFill>
                  <a:latin typeface="Consolas"/>
                  <a:ea typeface="Consolas"/>
                  <a:cs typeface="Consolas"/>
                </a:rPr>
                <a:t>for</a:t>
              </a:r>
              <a:r>
                <a:rPr lang="en-US" sz="980" dirty="0">
                  <a:solidFill>
                    <a:srgbClr val="1F2937"/>
                  </a:solidFill>
                  <a:latin typeface="Consolas"/>
                  <a:ea typeface="Consolas"/>
                  <a:cs typeface="Consolas"/>
                </a:rPr>
                <a:t xml:space="preserve"> (i = 0; i &lt; K; i++)</a:t>
              </a:r>
              <a:br/>
              <a:r>
                <a:rPr lang="zh-CN" sz="980" dirty="0">
                  <a:solidFill>
                    <a:srgbClr val="1F2937"/>
                  </a:solidFill>
                  <a:latin typeface="Consolas"/>
                  <a:ea typeface="Consolas"/>
                  <a:cs typeface="Consolas"/>
                </a:rPr>
                <a:t xml:space="preserve">  </a:t>
              </a:r>
              <a:r>
                <a:rPr lang="en-US" sz="980" b="1" dirty="0">
                  <a:solidFill>
                    <a:srgbClr val="334E68"/>
                  </a:solidFill>
                  <a:latin typeface="Consolas"/>
                  <a:ea typeface="Consolas"/>
                  <a:cs typeface="Consolas"/>
                </a:rPr>
                <a:t>for</a:t>
              </a:r>
              <a:r>
                <a:rPr lang="en-US" sz="980" dirty="0">
                  <a:solidFill>
                    <a:srgbClr val="1F2937"/>
                  </a:solidFill>
                  <a:latin typeface="Consolas"/>
                  <a:ea typeface="Consolas"/>
                  <a:cs typeface="Consolas"/>
                </a:rPr>
                <a:t xml:space="preserve"> (j = 0; j &lt; K; j++) {</a:t>
              </a:r>
              <a:br/>
              <a:r>
                <a:rPr lang="zh-CN" sz="980" dirty="0">
                  <a:solidFill>
                    <a:srgbClr val="1F2937"/>
                  </a:solidFill>
                  <a:latin typeface="Consolas"/>
                  <a:ea typeface="Consolas"/>
                  <a:cs typeface="Consolas"/>
                </a:rPr>
                <a:t xml:space="preserve">    </a:t>
              </a:r>
              <a:r>
                <a:rPr lang="en-US" sz="980" b="1" dirty="0">
                  <a:solidFill>
                    <a:srgbClr val="334E68"/>
                  </a:solidFill>
                  <a:latin typeface="Consolas"/>
                  <a:ea typeface="Consolas"/>
                  <a:cs typeface="Consolas"/>
                </a:rPr>
                <a:t>if</a:t>
              </a:r>
              <a:r>
                <a:rPr lang="en-US" sz="980" dirty="0">
                  <a:solidFill>
                    <a:srgbClr val="1F2937"/>
                  </a:solidFill>
                  <a:latin typeface="Consolas"/>
                  <a:ea typeface="Consolas"/>
                  <a:cs typeface="Consolas"/>
                </a:rPr>
                <a:t xml:space="preserve"> (i == j) </a:t>
              </a:r>
              <a:r>
                <a:rPr lang="en-US" sz="980" b="1" dirty="0">
                  <a:solidFill>
                    <a:srgbClr val="334E68"/>
                  </a:solidFill>
                  <a:latin typeface="Consolas"/>
                  <a:ea typeface="Consolas"/>
                  <a:cs typeface="Consolas"/>
                </a:rPr>
                <a:t>continue</a:t>
              </a:r>
              <a:r>
                <a:rPr lang="zh-CN" sz="980" dirty="0">
                  <a:solidFill>
                    <a:srgbClr val="1F2937"/>
                  </a:solidFill>
                  <a:latin typeface="Consolas"/>
                  <a:ea typeface="Consolas"/>
                  <a:cs typeface="Consolas"/>
                </a:rPr>
                <a:t xml:space="preserve">;        </a:t>
              </a:r>
              <a:r>
                <a:rPr lang="zh-CN" sz="980" dirty="0">
                  <a:solidFill>
                    <a:srgbClr val="0F7A68"/>
                  </a:solidFill>
                  <a:latin typeface="Consolas"/>
                  <a:ea typeface="Microsoft YaHei"/>
                  <a:cs typeface="Consolas"/>
                </a:rPr>
                <a:t>/* 自己不测自己 */</a:t>
              </a:r>
              <a:br/>
              <a:r>
                <a:rPr lang="zh-CN" sz="980" dirty="0">
                  <a:solidFill>
                    <a:srgbClr val="1F2937"/>
                  </a:solidFill>
                  <a:latin typeface="Consolas"/>
                  <a:ea typeface="Consolas"/>
                  <a:cs typeface="Consolas"/>
                </a:rPr>
                <a:t xml:space="preserve">    </a:t>
              </a:r>
              <a:r>
                <a:rPr lang="en-US" sz="980" b="1" dirty="0">
                  <a:solidFill>
                    <a:srgbClr val="334E68"/>
                  </a:solidFill>
                  <a:latin typeface="Consolas"/>
                  <a:ea typeface="Consolas"/>
                  <a:cs typeface="Consolas"/>
                </a:rPr>
                <a:t>if</a:t>
              </a:r>
              <a:r>
                <a:rPr lang="en-US" sz="980" dirty="0">
                  <a:solidFill>
                    <a:srgbClr val="1F2937"/>
                  </a:solidFill>
                  <a:latin typeface="Consolas"/>
                  <a:ea typeface="Consolas"/>
                  <a:cs typeface="Consolas"/>
                </a:rPr>
                <a:t xml:space="preserve"> (my_id == i) {</a:t>
              </a:r>
              <a:br/>
              <a:r>
                <a:rPr lang="en-US" sz="980" dirty="0">
                  <a:solidFill>
                    <a:srgbClr val="1F2937"/>
                  </a:solidFill>
                  <a:latin typeface="Consolas"/>
                  <a:ea typeface="Consolas"/>
                  <a:cs typeface="Consolas"/>
                </a:rPr>
                <a:t xml:space="preserve">      start = now();</a:t>
              </a:r>
              <a:br/>
              <a:r>
                <a:rPr lang="en-US" sz="980" dirty="0">
                  <a:solidFill>
                    <a:srgbClr val="1F2937"/>
                  </a:solidFill>
                  <a:latin typeface="Consolas"/>
                  <a:ea typeface="Consolas"/>
                  <a:cs typeface="Consolas"/>
                </a:rPr>
                <a:t xml:space="preserve">      send(j, m_bytes);</a:t>
              </a:r>
              <a:br/>
              <a:r>
                <a:rPr lang="en-US" sz="980" dirty="0">
                  <a:solidFill>
                    <a:srgbClr val="1F2937"/>
                  </a:solidFill>
                  <a:latin typeface="Consolas"/>
                  <a:ea typeface="Consolas"/>
                  <a:cs typeface="Consolas"/>
                </a:rPr>
                <a:t xml:space="preserve">      recv(j, m_bytes);</a:t>
              </a:r>
              <a:br/>
              <a:r>
                <a:rPr lang="en-US" sz="980" dirty="0">
                  <a:solidFill>
                    <a:srgbClr val="1F2937"/>
                  </a:solidFill>
                  <a:latin typeface="Consolas"/>
                  <a:ea typeface="Consolas"/>
                  <a:cs typeface="Consolas"/>
                </a:rPr>
                <a:t xml:space="preserve">      M[i][j] = now() - start;   </a:t>
              </a:r>
              <a:r>
                <a:rPr lang="zh-CN" sz="980" dirty="0">
                  <a:solidFill>
                    <a:srgbClr val="0F7A68"/>
                  </a:solidFill>
                  <a:latin typeface="Consolas"/>
                  <a:ea typeface="Microsoft YaHei"/>
                  <a:cs typeface="Consolas"/>
                </a:rPr>
                <a:t>/* 往返时间 */</a:t>
              </a:r>
              <a:br/>
              <a:r>
                <a:rPr lang="zh-CN" sz="980" dirty="0">
                  <a:solidFill>
                    <a:srgbClr val="1F2937"/>
                  </a:solidFill>
                  <a:latin typeface="Consolas"/>
                  <a:ea typeface="Consolas"/>
                  <a:cs typeface="Consolas"/>
                </a:rPr>
                <a:t xml:space="preserve">    }</a:t>
              </a:r>
              <a:br/>
              <a:r>
                <a:rPr lang="zh-CN" sz="980" dirty="0">
                  <a:solidFill>
                    <a:srgbClr val="1F2937"/>
                  </a:solidFill>
                  <a:latin typeface="Consolas"/>
                  <a:ea typeface="Consolas"/>
                  <a:cs typeface="Consolas"/>
                </a:rPr>
                <a:t xml:space="preserve">    </a:t>
              </a:r>
              <a:r>
                <a:rPr lang="en-US" sz="980" b="1" dirty="0">
                  <a:solidFill>
                    <a:srgbClr val="334E68"/>
                  </a:solidFill>
                  <a:latin typeface="Consolas"/>
                  <a:ea typeface="Consolas"/>
                  <a:cs typeface="Consolas"/>
                </a:rPr>
                <a:t>if</a:t>
              </a:r>
              <a:r>
                <a:rPr lang="en-US" sz="980" dirty="0">
                  <a:solidFill>
                    <a:srgbClr val="1F2937"/>
                  </a:solidFill>
                  <a:latin typeface="Consolas"/>
                  <a:ea typeface="Consolas"/>
                  <a:cs typeface="Consolas"/>
                </a:rPr>
                <a:t xml:space="preserve"> (my_id == j) {</a:t>
              </a:r>
              <a:br/>
              <a:r>
                <a:rPr lang="en-US" sz="980" dirty="0">
                  <a:solidFill>
                    <a:srgbClr val="1F2937"/>
                  </a:solidFill>
                  <a:latin typeface="Consolas"/>
                  <a:ea typeface="Consolas"/>
                  <a:cs typeface="Consolas"/>
                </a:rPr>
                <a:t xml:space="preserve">      recv(i, m_bytes);</a:t>
              </a:r>
              <a:br/>
              <a:r>
                <a:rPr lang="en-US" sz="980" dirty="0">
                  <a:solidFill>
                    <a:srgbClr val="1F2937"/>
                  </a:solidFill>
                  <a:latin typeface="Consolas"/>
                  <a:ea typeface="Consolas"/>
                  <a:cs typeface="Consolas"/>
                </a:rPr>
                <a:t xml:space="preserve">      send(i, m_bytes);</a:t>
              </a:r>
              <a:br/>
              <a:r>
                <a:rPr lang="zh-CN" sz="980" dirty="0">
                  <a:solidFill>
                    <a:srgbClr val="1F2937"/>
                  </a:solidFill>
                  <a:latin typeface="Consolas"/>
                  <a:ea typeface="Consolas"/>
                  <a:cs typeface="Consolas"/>
                </a:rPr>
                <a:t xml:space="preserve">    }</a:t>
              </a:r>
              <a:br/>
              <a:r>
                <a:rPr lang="zh-CN" sz="980" dirty="0">
                  <a:solidFill>
                    <a:srgbClr val="1F2937"/>
                  </a:solidFill>
                  <a:latin typeface="Consolas"/>
                  <a:ea typeface="Consolas"/>
                  <a:cs typeface="Consolas"/>
                </a:rPr>
                <a:t xml:space="preserve">  }</a:t>
              </a:r>
            </a:p>
          </p:txBody>
        </p:sp>
      </p:grpSp>
      <p:grpSp>
        <p:nvGrpSpPr>
          <p:cNvPr id="16" name="c1-card-2"/>
          <p:cNvGrpSpPr/>
          <p:nvPr/>
        </p:nvGrpSpPr>
        <p:grpSpPr>
          <a:xfrm>
            <a:off x="533400" y="4661535"/>
            <a:ext cx="5410200" cy="1617345"/>
            <a:chOff x="533400" y="4661535"/>
            <a:chExt cx="5410200" cy="1617345"/>
          </a:xfrm>
        </p:grpSpPr>
        <p:sp>
          <p:nvSpPr>
            <p:cNvPr id="11" name="Rectangle 11"/>
            <p:cNvSpPr/>
            <p:nvPr/>
          </p:nvSpPr>
          <p:spPr>
            <a:xfrm>
              <a:off x="533400" y="4661535"/>
              <a:ext cx="5410200" cy="1617345"/>
            </a:xfrm>
            <a:prstGeom prst="roundRect">
              <a:avLst>
                <a:gd name="adj" fmla="val 8245"/>
              </a:avLst>
            </a:prstGeom>
            <a:solidFill>
              <a:srgbClr val="FFFFFF"/>
            </a:solidFill>
            <a:ln w="14288">
              <a:solidFill>
                <a:srgbClr val="D9DFEA"/>
              </a:solidFill>
            </a:ln>
          </p:spPr>
        </p:sp>
        <p:sp>
          <p:nvSpPr>
            <p:cNvPr id="12" name="Rectangle 12"/>
            <p:cNvSpPr/>
            <p:nvPr/>
          </p:nvSpPr>
          <p:spPr>
            <a:xfrm>
              <a:off x="542925" y="4794885"/>
              <a:ext cx="47625" cy="1350645"/>
            </a:xfrm>
            <a:prstGeom prst="roundRect">
              <a:avLst>
                <a:gd name="adj" fmla="val 50000"/>
              </a:avLst>
            </a:prstGeom>
            <a:solidFill>
              <a:srgbClr val="5B6475"/>
            </a:solidFill>
            <a:ln>
              <a:noFill/>
            </a:ln>
          </p:spPr>
        </p:sp>
        <p:sp>
          <p:nvSpPr>
            <p:cNvPr id="13" name="Rectangle 13"/>
            <p:cNvSpPr/>
            <p:nvPr/>
          </p:nvSpPr>
          <p:spPr>
            <a:xfrm>
              <a:off x="758190" y="4848225"/>
              <a:ext cx="458152" cy="238125"/>
            </a:xfrm>
            <a:prstGeom prst="roundRect">
              <a:avLst>
                <a:gd name="adj" fmla="val 50000"/>
              </a:avLst>
            </a:prstGeom>
            <a:solidFill>
              <a:srgbClr val="F4F6FB"/>
            </a:solidFill>
            <a:ln>
              <a:noFill/>
            </a:ln>
          </p:spPr>
        </p:sp>
        <p:sp>
          <p:nvSpPr>
            <p:cNvPr id="14" name="TextBox 14"/>
            <p:cNvSpPr txBox="1"/>
            <p:nvPr/>
          </p:nvSpPr>
          <p:spPr>
            <a:xfrm>
              <a:off x="850862" y="4881086"/>
              <a:ext cx="273761" cy="190690"/>
            </a:xfrm>
            <a:prstGeom prst="rect">
              <a:avLst/>
            </a:prstGeom>
            <a:noFill/>
            <a:ln>
              <a:noFill/>
            </a:ln>
          </p:spPr>
          <p:txBody>
            <a:bodyPr wrap="none" lIns="0" tIns="0" rIns="0" bIns="0" anchor="t" anchorCtr="0">
              <a:spAutoFit/>
            </a:bodyPr>
            <a:lstStyle/>
            <a:p>
              <a:pPr algn="ctr"/>
              <a:r>
                <a:rPr lang="zh-CN" sz="980" b="1" dirty="0">
                  <a:solidFill>
                    <a:srgbClr val="5B6475"/>
                  </a:solidFill>
                  <a:latin typeface="+mn-lt"/>
                  <a:ea typeface="+mn-ea"/>
                  <a:cs typeface="+mn-cs"/>
                </a:rPr>
                <a:t>更正</a:t>
              </a:r>
            </a:p>
          </p:txBody>
        </p:sp>
        <p:sp>
          <p:nvSpPr>
            <p:cNvPr id="15" name="TextBox 15"/>
            <p:cNvSpPr txBox="1"/>
            <p:nvPr/>
          </p:nvSpPr>
          <p:spPr>
            <a:xfrm>
              <a:off x="751332" y="5193030"/>
              <a:ext cx="4754308" cy="778383"/>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原课件伪代码写作 For (i=0,i&lt;K,i++) 和 If (my_id = i)：循环</a:t>
              </a:r>
              <a:br/>
              <a:r>
                <a:rPr lang="zh-CN" sz="1350" dirty="0">
                  <a:solidFill>
                    <a:srgbClr val="1F2937"/>
                  </a:solidFill>
                  <a:latin typeface="+mn-lt"/>
                  <a:ea typeface="+mn-ea"/>
                  <a:cs typeface="+mn-cs"/>
                </a:rPr>
                <a:t xml:space="preserve">头应以分号分隔，判断相等应写 </a:t>
              </a:r>
              <a:r>
                <a:rPr lang="zh-CN" sz="1350" dirty="0">
                  <a:solidFill>
                    <a:srgbClr val="243B53"/>
                  </a:solidFill>
                  <a:latin typeface="+mn-lt"/>
                  <a:ea typeface="+mn-ea"/>
                  <a:cs typeface="+mn-cs"/>
                </a:rPr>
                <a:t>==</a:t>
              </a:r>
              <a:r>
                <a:rPr lang="zh-CN" sz="1350" dirty="0">
                  <a:solidFill>
                    <a:srgbClr val="1F2937"/>
                  </a:solidFill>
                  <a:latin typeface="+mn-lt"/>
                  <a:ea typeface="+mn-ea"/>
                  <a:cs typeface="+mn-cs"/>
                </a:rPr>
                <a:t>；还应跳过 i 等于 j 的情</a:t>
              </a:r>
              <a:br/>
              <a:r>
                <a:rPr lang="zh-CN" sz="1350" dirty="0">
                  <a:solidFill>
                    <a:srgbClr val="1F2937"/>
                  </a:solidFill>
                  <a:latin typeface="+mn-lt"/>
                  <a:ea typeface="+mn-ea"/>
                  <a:cs typeface="+mn-cs"/>
                </a:rPr>
                <a:t>况。测得的 M[i][j] 是往返时间，单程约为一半。</a:t>
              </a:r>
            </a:p>
          </p:txBody>
        </p:sp>
      </p:grpSp>
      <mc:AlternateContent xmlns:mc="http://schemas.openxmlformats.org/markup-compatibility/2006">
        <mc:Choice xmlns:a14="http://schemas.microsoft.com/office/drawing/2010/main" Requires="a14">
          <p:sp>
            <p:nvSpPr>
              <p:cNvPr id="17" name="formula13"/>
              <p:cNvSpPr txBox="1">
                <a:spLocks noGrp="1"/>
              </p:cNvSpPr>
              <p:nvPr/>
            </p:nvSpPr>
            <p:spPr>
              <a:xfrm>
                <a:off x="6248400" y="1524000"/>
                <a:ext cx="5410200" cy="591502"/>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r>
                        <a:rPr lang="zh-CN" sz="1720" dirty="0">
                          <a:solidFill>
                            <a:srgbClr val="1F2937"/>
                          </a:solidFill>
                          <a:latin typeface="Cambria Math"/>
                          <a:ea typeface="Cambria Math"/>
                          <a:cs typeface="Cambria Math"/>
                        </a:rPr>
                        <m:t>T</m:t>
                      </m:r>
                      <m:d>
                        <m:dPr>
                          <m:begChr m:val="("/>
                          <m:sepChr m:val=""/>
                          <m:endChr m:val=")"/>
                          <m:grow m:val="on"/>
                          <m:ctrlPr>
                            <a:rPr lang="zh-CN" sz="1720" dirty="0">
                              <a:solidFill>
                                <a:srgbClr val="1F2937"/>
                              </a:solidFill>
                              <a:latin typeface="Cambria Math"/>
                              <a:ea typeface="Cambria Math"/>
                              <a:cs typeface="Cambria Math"/>
                            </a:rPr>
                          </m:ctrlPr>
                        </m:dPr>
                        <m:e>
                          <m:r>
                            <a:rPr lang="zh-CN" sz="1720" dirty="0">
                              <a:solidFill>
                                <a:srgbClr val="1F2937"/>
                              </a:solidFill>
                              <a:latin typeface="Cambria Math"/>
                              <a:ea typeface="Cambria Math"/>
                              <a:cs typeface="Cambria Math"/>
                            </a:rPr>
                            <m:t>m</m:t>
                          </m:r>
                        </m:e>
                      </m:d>
                      <m:r>
                        <m:rPr>
                          <m:sty m:val="p"/>
                        </m:rPr>
                        <a:rPr lang="zh-CN" sz="1720" dirty="0">
                          <a:solidFill>
                            <a:srgbClr val="1F2937"/>
                          </a:solidFill>
                          <a:latin typeface="Cambria Math"/>
                          <a:ea typeface="Cambria Math"/>
                          <a:cs typeface="Cambria Math"/>
                        </a:rPr>
                        <m:t>=</m:t>
                      </m:r>
                      <m:sSub>
                        <m:e>
                          <m:r>
                            <a:rPr lang="zh-CN" sz="1720" dirty="0">
                              <a:solidFill>
                                <a:srgbClr val="1F2937"/>
                              </a:solidFill>
                              <a:latin typeface="Cambria Math"/>
                              <a:ea typeface="Cambria Math"/>
                              <a:cs typeface="Cambria Math"/>
                            </a:rPr>
                            <m:t>T</m:t>
                          </m:r>
                        </m:e>
                        <m:sub>
                          <m:r>
                            <a:rPr lang="zh-CN" sz="1720" dirty="0">
                              <a:solidFill>
                                <a:srgbClr val="1F2937"/>
                              </a:solidFill>
                              <a:latin typeface="Cambria Math"/>
                              <a:ea typeface="Cambria Math"/>
                              <a:cs typeface="Cambria Math"/>
                            </a:rPr>
                            <m:t>0</m:t>
                          </m:r>
                        </m:sub>
                      </m:sSub>
                      <m:r>
                        <m:rPr>
                          <m:sty m:val="p"/>
                        </m:rPr>
                        <a:rPr lang="zh-CN" sz="1720" dirty="0">
                          <a:solidFill>
                            <a:srgbClr val="1F2937"/>
                          </a:solidFill>
                          <a:latin typeface="Cambria Math"/>
                          <a:ea typeface="Cambria Math"/>
                          <a:cs typeface="Cambria Math"/>
                        </a:rPr>
                        <m:t>+</m:t>
                      </m:r>
                      <m:f>
                        <m:fPr>
                          <m:type m:val="bar"/>
                          <m:ctrlPr>
                            <a:rPr lang="zh-CN" sz="1720" dirty="0">
                              <a:solidFill>
                                <a:srgbClr val="1F2937"/>
                              </a:solidFill>
                              <a:latin typeface="Cambria Math"/>
                              <a:ea typeface="Cambria Math"/>
                              <a:cs typeface="Cambria Math"/>
                            </a:rPr>
                          </m:ctrlPr>
                        </m:fPr>
                        <m:num>
                          <m:r>
                            <a:rPr lang="zh-CN" sz="1720" dirty="0">
                              <a:solidFill>
                                <a:srgbClr val="1F2937"/>
                              </a:solidFill>
                              <a:latin typeface="Cambria Math"/>
                              <a:ea typeface="Cambria Math"/>
                              <a:cs typeface="Cambria Math"/>
                            </a:rPr>
                            <m:t>m</m:t>
                          </m:r>
                        </m:num>
                        <m:den>
                          <m:sSub>
                            <m:e>
                              <m:r>
                                <a:rPr lang="zh-CN" sz="1720" dirty="0">
                                  <a:solidFill>
                                    <a:srgbClr val="1F2937"/>
                                  </a:solidFill>
                                  <a:latin typeface="Cambria Math"/>
                                  <a:ea typeface="Cambria Math"/>
                                  <a:cs typeface="Cambria Math"/>
                                </a:rPr>
                                <m:t>R</m:t>
                              </m:r>
                            </m:e>
                            <m:sub>
                              <m:r>
                                <m:rPr>
                                  <m:sty m:val="p"/>
                                </m:rPr>
                                <a:rPr lang="zh-CN" sz="1720" dirty="0">
                                  <a:solidFill>
                                    <a:srgbClr val="1F2937"/>
                                  </a:solidFill>
                                  <a:latin typeface="Cambria Math"/>
                                  <a:ea typeface="Cambria Math"/>
                                  <a:cs typeface="Cambria Math"/>
                                </a:rPr>
                                <m:t>∞</m:t>
                              </m:r>
                            </m:sub>
                          </m:sSub>
                        </m:den>
                      </m:f>
                    </m:oMath>
                  </m:oMathPara>
                </a14:m>
              </a:p>
            </p:txBody>
          </p:sp>
        </mc:Choice>
      </mc:AlternateContent>
      <p:grpSp>
        <p:nvGrpSpPr>
          <p:cNvPr id="23" name="c2-kv-2"/>
          <p:cNvGrpSpPr/>
          <p:nvPr/>
        </p:nvGrpSpPr>
        <p:grpSpPr>
          <a:xfrm>
            <a:off x="6241542" y="2307908"/>
            <a:ext cx="5417058" cy="656463"/>
            <a:chOff x="6241542" y="2307908"/>
            <a:chExt cx="5417058" cy="656463"/>
          </a:xfrm>
        </p:grpSpPr>
        <p:sp>
          <p:nvSpPr>
            <p:cNvPr id="18" name="TextBox 18"/>
            <p:cNvSpPr txBox="1"/>
            <p:nvPr/>
          </p:nvSpPr>
          <p:spPr>
            <a:xfrm>
              <a:off x="6241542" y="2307908"/>
              <a:ext cx="235504" cy="264033"/>
            </a:xfrm>
            <a:prstGeom prst="rect">
              <a:avLst/>
            </a:prstGeom>
            <a:noFill/>
            <a:ln>
              <a:noFill/>
            </a:ln>
          </p:spPr>
          <p:txBody>
            <a:bodyPr wrap="none" lIns="0" tIns="0" rIns="0" bIns="0" anchor="t" anchorCtr="0">
              <a:spAutoFit/>
            </a:bodyPr>
            <a:lstStyle/>
            <a:p>
              <a:pPr algn="l"/>
              <a:r>
                <a:rPr lang="en-US" sz="1350" b="1" dirty="0">
                  <a:solidFill>
                    <a:srgbClr val="334E68"/>
                  </a:solidFill>
                  <a:latin typeface="+mn-lt"/>
                  <a:ea typeface="+mn-ea"/>
                  <a:cs typeface="+mn-cs"/>
                </a:rPr>
                <a:t>T₀</a:t>
              </a:r>
            </a:p>
          </p:txBody>
        </p:sp>
        <p:sp>
          <p:nvSpPr>
            <p:cNvPr id="19" name="TextBox 19"/>
            <p:cNvSpPr txBox="1"/>
            <p:nvPr/>
          </p:nvSpPr>
          <p:spPr>
            <a:xfrm>
              <a:off x="6757797" y="2307908"/>
              <a:ext cx="4557141"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通信延迟（启动时间），打通通路期间第一个字节还没到</a:t>
              </a:r>
            </a:p>
          </p:txBody>
        </p:sp>
        <p:sp>
          <p:nvSpPr>
            <p:cNvPr id="20" name="Rectangle 20"/>
            <p:cNvSpPr/>
            <p:nvPr/>
          </p:nvSpPr>
          <p:spPr>
            <a:xfrm>
              <a:off x="6248400" y="2593658"/>
              <a:ext cx="5410200" cy="9525"/>
            </a:xfrm>
            <a:prstGeom prst="rect">
              <a:avLst/>
            </a:prstGeom>
            <a:solidFill>
              <a:srgbClr val="D9DFEA"/>
            </a:solidFill>
            <a:ln>
              <a:noFill/>
            </a:ln>
          </p:spPr>
        </p:sp>
        <p:sp>
          <p:nvSpPr>
            <p:cNvPr id="21" name="TextBox 21"/>
            <p:cNvSpPr txBox="1"/>
            <p:nvPr/>
          </p:nvSpPr>
          <p:spPr>
            <a:xfrm>
              <a:off x="6241542" y="2700338"/>
              <a:ext cx="235504" cy="264033"/>
            </a:xfrm>
            <a:prstGeom prst="rect">
              <a:avLst/>
            </a:prstGeom>
            <a:noFill/>
            <a:ln>
              <a:noFill/>
            </a:ln>
          </p:spPr>
          <p:txBody>
            <a:bodyPr wrap="none" lIns="0" tIns="0" rIns="0" bIns="0" anchor="t" anchorCtr="0">
              <a:spAutoFit/>
            </a:bodyPr>
            <a:lstStyle/>
            <a:p>
              <a:pPr algn="l"/>
              <a:r>
                <a:rPr lang="en-US" sz="1350" b="1" dirty="0">
                  <a:solidFill>
                    <a:srgbClr val="334E68"/>
                  </a:solidFill>
                  <a:latin typeface="+mn-lt"/>
                  <a:ea typeface="+mn-ea"/>
                  <a:cs typeface="+mn-cs"/>
                </a:rPr>
                <a:t>R∞</a:t>
              </a:r>
            </a:p>
          </p:txBody>
        </p:sp>
        <p:sp>
          <p:nvSpPr>
            <p:cNvPr id="22" name="TextBox 22"/>
            <p:cNvSpPr txBox="1"/>
            <p:nvPr/>
          </p:nvSpPr>
          <p:spPr>
            <a:xfrm>
              <a:off x="6757797" y="2700338"/>
              <a:ext cx="4367860"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渐近带宽，T₀ 之后每隔固定时间到一个字节（即 B∞）</a:t>
              </a:r>
            </a:p>
          </p:txBody>
        </p:sp>
      </p:grpSp>
      <p:grpSp>
        <p:nvGrpSpPr>
          <p:cNvPr id="55" name="c2-card-3"/>
          <p:cNvGrpSpPr/>
          <p:nvPr/>
        </p:nvGrpSpPr>
        <p:grpSpPr>
          <a:xfrm>
            <a:off x="6248400" y="3081338"/>
            <a:ext cx="5410200" cy="3197542"/>
            <a:chOff x="6248400" y="3081338"/>
            <a:chExt cx="5410200" cy="3197542"/>
          </a:xfrm>
        </p:grpSpPr>
        <p:sp>
          <p:nvSpPr>
            <p:cNvPr id="24" name="Rectangle 24"/>
            <p:cNvSpPr/>
            <p:nvPr/>
          </p:nvSpPr>
          <p:spPr>
            <a:xfrm>
              <a:off x="6248400" y="3081338"/>
              <a:ext cx="5410200" cy="3197542"/>
            </a:xfrm>
            <a:prstGeom prst="roundRect">
              <a:avLst>
                <a:gd name="adj" fmla="val 4170"/>
              </a:avLst>
            </a:prstGeom>
            <a:solidFill>
              <a:srgbClr val="FFFFFF"/>
            </a:solidFill>
            <a:ln w="14288">
              <a:solidFill>
                <a:srgbClr val="D9DFEA"/>
              </a:solidFill>
            </a:ln>
          </p:spPr>
        </p:sp>
        <p:sp>
          <p:nvSpPr>
            <p:cNvPr id="25" name="Rectangle 25"/>
            <p:cNvSpPr/>
            <p:nvPr/>
          </p:nvSpPr>
          <p:spPr>
            <a:xfrm>
              <a:off x="6257925" y="3214688"/>
              <a:ext cx="47625" cy="2930842"/>
            </a:xfrm>
            <a:prstGeom prst="roundRect">
              <a:avLst>
                <a:gd name="adj" fmla="val 50000"/>
              </a:avLst>
            </a:prstGeom>
            <a:solidFill>
              <a:srgbClr val="14A38B"/>
            </a:solidFill>
            <a:ln>
              <a:noFill/>
            </a:ln>
          </p:spPr>
        </p:sp>
        <p:sp>
          <p:nvSpPr>
            <p:cNvPr id="26" name="Rectangle 26"/>
            <p:cNvSpPr/>
            <p:nvPr/>
          </p:nvSpPr>
          <p:spPr>
            <a:xfrm>
              <a:off x="6473190" y="3268028"/>
              <a:ext cx="458152" cy="238125"/>
            </a:xfrm>
            <a:prstGeom prst="roundRect">
              <a:avLst>
                <a:gd name="adj" fmla="val 50000"/>
              </a:avLst>
            </a:prstGeom>
            <a:solidFill>
              <a:srgbClr val="E3F5F1"/>
            </a:solidFill>
            <a:ln>
              <a:noFill/>
            </a:ln>
          </p:spPr>
        </p:sp>
        <p:sp>
          <p:nvSpPr>
            <p:cNvPr id="27" name="TextBox 27"/>
            <p:cNvSpPr txBox="1"/>
            <p:nvPr/>
          </p:nvSpPr>
          <p:spPr>
            <a:xfrm>
              <a:off x="6565862" y="3300889"/>
              <a:ext cx="273761" cy="190690"/>
            </a:xfrm>
            <a:prstGeom prst="rect">
              <a:avLst/>
            </a:prstGeom>
            <a:noFill/>
            <a:ln>
              <a:noFill/>
            </a:ln>
          </p:spPr>
          <p:txBody>
            <a:bodyPr wrap="none" lIns="0" tIns="0" rIns="0" bIns="0" anchor="t" anchorCtr="0">
              <a:spAutoFit/>
            </a:bodyPr>
            <a:lstStyle/>
            <a:p>
              <a:pPr algn="ctr"/>
              <a:r>
                <a:rPr lang="zh-CN" sz="980" b="1" dirty="0">
                  <a:solidFill>
                    <a:srgbClr val="0F7A68"/>
                  </a:solidFill>
                  <a:latin typeface="+mn-lt"/>
                  <a:ea typeface="+mn-ea"/>
                  <a:cs typeface="+mn-cs"/>
                </a:rPr>
                <a:t>例题</a:t>
              </a:r>
            </a:p>
          </p:txBody>
        </p:sp>
        <p:sp>
          <p:nvSpPr>
            <p:cNvPr id="28" name="TextBox 28"/>
            <p:cNvSpPr txBox="1"/>
            <p:nvPr/>
          </p:nvSpPr>
          <p:spPr>
            <a:xfrm>
              <a:off x="7038784" y="3302318"/>
              <a:ext cx="3876877"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T₀ = 5 μs，R∞ = 1000 MB/s（= 1000 B/μs）</a:t>
              </a:r>
            </a:p>
          </p:txBody>
        </p:sp>
        <p:sp>
          <p:nvSpPr>
            <p:cNvPr id="29" name="Rectangle 29"/>
            <p:cNvSpPr/>
            <p:nvPr/>
          </p:nvSpPr>
          <p:spPr>
            <a:xfrm>
              <a:off x="6473190" y="3606165"/>
              <a:ext cx="4998720" cy="400050"/>
            </a:xfrm>
            <a:prstGeom prst="rect">
              <a:avLst/>
            </a:prstGeom>
            <a:solidFill>
              <a:srgbClr val="334E68"/>
            </a:solidFill>
            <a:ln>
              <a:noFill/>
            </a:ln>
          </p:spPr>
        </p:sp>
        <p:sp>
          <p:nvSpPr>
            <p:cNvPr id="30" name="TextBox 30"/>
            <p:cNvSpPr txBox="1"/>
            <p:nvPr/>
          </p:nvSpPr>
          <p:spPr>
            <a:xfrm>
              <a:off x="6872434" y="3727609"/>
              <a:ext cx="780756"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消息长度 m</a:t>
              </a:r>
            </a:p>
          </p:txBody>
        </p:sp>
        <p:sp>
          <p:nvSpPr>
            <p:cNvPr id="31" name="TextBox 31"/>
            <p:cNvSpPr txBox="1"/>
            <p:nvPr/>
          </p:nvSpPr>
          <p:spPr>
            <a:xfrm>
              <a:off x="8506688" y="3727609"/>
              <a:ext cx="402135" cy="220028"/>
            </a:xfrm>
            <a:prstGeom prst="rect">
              <a:avLst/>
            </a:prstGeom>
            <a:noFill/>
            <a:ln>
              <a:noFill/>
            </a:ln>
          </p:spPr>
          <p:txBody>
            <a:bodyPr wrap="none" lIns="0" tIns="0" rIns="0" bIns="0" anchor="t" anchorCtr="0">
              <a:spAutoFit/>
            </a:bodyPr>
            <a:lstStyle/>
            <a:p>
              <a:pPr algn="ctr"/>
              <a:r>
                <a:rPr lang="en-US" sz="1120" b="1" dirty="0">
                  <a:solidFill>
                    <a:srgbClr val="FFFFFF"/>
                  </a:solidFill>
                  <a:latin typeface="+mn-lt"/>
                  <a:ea typeface="+mn-ea"/>
                  <a:cs typeface="+mn-cs"/>
                </a:rPr>
                <a:t>T(m)</a:t>
              </a:r>
            </a:p>
          </p:txBody>
        </p:sp>
        <p:sp>
          <p:nvSpPr>
            <p:cNvPr id="32" name="TextBox 32"/>
            <p:cNvSpPr txBox="1"/>
            <p:nvPr/>
          </p:nvSpPr>
          <p:spPr>
            <a:xfrm>
              <a:off x="9738286" y="3727609"/>
              <a:ext cx="1356508"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有效带宽 m / T(m)</a:t>
              </a:r>
            </a:p>
          </p:txBody>
        </p:sp>
        <p:sp>
          <p:nvSpPr>
            <p:cNvPr id="33" name="TextBox 33"/>
            <p:cNvSpPr txBox="1"/>
            <p:nvPr/>
          </p:nvSpPr>
          <p:spPr>
            <a:xfrm>
              <a:off x="7525664" y="4127659"/>
              <a:ext cx="429616" cy="220028"/>
            </a:xfrm>
            <a:prstGeom prst="rect">
              <a:avLst/>
            </a:prstGeom>
            <a:noFill/>
            <a:ln>
              <a:noFill/>
            </a:ln>
          </p:spPr>
          <p:txBody>
            <a:bodyPr wrap="none" lIns="0" tIns="0" rIns="0" bIns="0" anchor="t" anchorCtr="0">
              <a:spAutoFit/>
            </a:bodyPr>
            <a:lstStyle/>
            <a:p>
              <a:pPr algn="r"/>
              <a:r>
                <a:rPr lang="en-US" sz="1120" b="1" dirty="0">
                  <a:solidFill>
                    <a:srgbClr val="1F2937"/>
                  </a:solidFill>
                  <a:latin typeface="+mn-lt"/>
                  <a:ea typeface="+mn-ea"/>
                  <a:cs typeface="+mn-cs"/>
                </a:rPr>
                <a:t>100 B</a:t>
              </a:r>
            </a:p>
          </p:txBody>
        </p:sp>
        <p:sp>
          <p:nvSpPr>
            <p:cNvPr id="34" name="TextBox 34"/>
            <p:cNvSpPr txBox="1"/>
            <p:nvPr/>
          </p:nvSpPr>
          <p:spPr>
            <a:xfrm>
              <a:off x="8793676" y="4127659"/>
              <a:ext cx="471292" cy="220028"/>
            </a:xfrm>
            <a:prstGeom prst="rect">
              <a:avLst/>
            </a:prstGeom>
            <a:noFill/>
            <a:ln>
              <a:noFill/>
            </a:ln>
          </p:spPr>
          <p:txBody>
            <a:bodyPr wrap="none" lIns="0" tIns="0" rIns="0" bIns="0" anchor="t" anchorCtr="0">
              <a:spAutoFit/>
            </a:bodyPr>
            <a:lstStyle/>
            <a:p>
              <a:pPr algn="r"/>
              <a:r>
                <a:rPr lang="el-GR" sz="1120" dirty="0">
                  <a:solidFill>
                    <a:srgbClr val="1F2937"/>
                  </a:solidFill>
                  <a:latin typeface="+mn-lt"/>
                  <a:ea typeface="+mn-ea"/>
                  <a:cs typeface="+mn-cs"/>
                </a:rPr>
                <a:t>5.1 μs</a:t>
              </a:r>
            </a:p>
          </p:txBody>
        </p:sp>
        <p:sp>
          <p:nvSpPr>
            <p:cNvPr id="35" name="TextBox 35"/>
            <p:cNvSpPr txBox="1"/>
            <p:nvPr/>
          </p:nvSpPr>
          <p:spPr>
            <a:xfrm>
              <a:off x="10596651" y="4127659"/>
              <a:ext cx="778104" cy="220028"/>
            </a:xfrm>
            <a:prstGeom prst="rect">
              <a:avLst/>
            </a:prstGeom>
            <a:noFill/>
            <a:ln>
              <a:noFill/>
            </a:ln>
          </p:spPr>
          <p:txBody>
            <a:bodyPr wrap="none" lIns="0" tIns="0" rIns="0" bIns="0" anchor="t" anchorCtr="0">
              <a:spAutoFit/>
            </a:bodyPr>
            <a:lstStyle/>
            <a:p>
              <a:pPr algn="r"/>
              <a:r>
                <a:rPr lang="en-US" sz="1120" dirty="0">
                  <a:solidFill>
                    <a:srgbClr val="1F2937"/>
                  </a:solidFill>
                  <a:latin typeface="+mn-lt"/>
                  <a:ea typeface="+mn-ea"/>
                  <a:cs typeface="+mn-cs"/>
                </a:rPr>
                <a:t>19.6 MB/s</a:t>
              </a:r>
            </a:p>
          </p:txBody>
        </p:sp>
        <p:sp>
          <p:nvSpPr>
            <p:cNvPr id="36" name="Rectangle 36"/>
            <p:cNvSpPr/>
            <p:nvPr/>
          </p:nvSpPr>
          <p:spPr>
            <a:xfrm>
              <a:off x="6473190" y="4401502"/>
              <a:ext cx="4998720" cy="9525"/>
            </a:xfrm>
            <a:prstGeom prst="rect">
              <a:avLst/>
            </a:prstGeom>
            <a:solidFill>
              <a:srgbClr val="D9DFEA"/>
            </a:solidFill>
            <a:ln>
              <a:noFill/>
            </a:ln>
          </p:spPr>
        </p:sp>
        <p:sp>
          <p:nvSpPr>
            <p:cNvPr id="37" name="Rectangle 37"/>
            <p:cNvSpPr/>
            <p:nvPr/>
          </p:nvSpPr>
          <p:spPr>
            <a:xfrm>
              <a:off x="6473190" y="4406265"/>
              <a:ext cx="4998720" cy="400050"/>
            </a:xfrm>
            <a:prstGeom prst="rect">
              <a:avLst/>
            </a:prstGeom>
            <a:solidFill>
              <a:srgbClr val="F4F6FB"/>
            </a:solidFill>
            <a:ln>
              <a:noFill/>
            </a:ln>
          </p:spPr>
        </p:sp>
        <p:sp>
          <p:nvSpPr>
            <p:cNvPr id="38" name="TextBox 38"/>
            <p:cNvSpPr txBox="1"/>
            <p:nvPr/>
          </p:nvSpPr>
          <p:spPr>
            <a:xfrm>
              <a:off x="7433664" y="4527709"/>
              <a:ext cx="521616" cy="220028"/>
            </a:xfrm>
            <a:prstGeom prst="rect">
              <a:avLst/>
            </a:prstGeom>
            <a:noFill/>
            <a:ln>
              <a:noFill/>
            </a:ln>
          </p:spPr>
          <p:txBody>
            <a:bodyPr wrap="none" lIns="0" tIns="0" rIns="0" bIns="0" anchor="t" anchorCtr="0">
              <a:spAutoFit/>
            </a:bodyPr>
            <a:lstStyle/>
            <a:p>
              <a:pPr algn="r"/>
              <a:r>
                <a:rPr lang="en-US" sz="1120" b="1" dirty="0">
                  <a:solidFill>
                    <a:srgbClr val="1F2937"/>
                  </a:solidFill>
                  <a:latin typeface="+mn-lt"/>
                  <a:ea typeface="+mn-ea"/>
                  <a:cs typeface="+mn-cs"/>
                </a:rPr>
                <a:t>1000 B</a:t>
              </a:r>
            </a:p>
          </p:txBody>
        </p:sp>
        <p:sp>
          <p:nvSpPr>
            <p:cNvPr id="39" name="TextBox 39"/>
            <p:cNvSpPr txBox="1"/>
            <p:nvPr/>
          </p:nvSpPr>
          <p:spPr>
            <a:xfrm>
              <a:off x="8959527" y="4527709"/>
              <a:ext cx="305440" cy="220028"/>
            </a:xfrm>
            <a:prstGeom prst="rect">
              <a:avLst/>
            </a:prstGeom>
            <a:noFill/>
            <a:ln>
              <a:noFill/>
            </a:ln>
          </p:spPr>
          <p:txBody>
            <a:bodyPr wrap="none" lIns="0" tIns="0" rIns="0" bIns="0" anchor="t" anchorCtr="0">
              <a:spAutoFit/>
            </a:bodyPr>
            <a:lstStyle/>
            <a:p>
              <a:pPr algn="r"/>
              <a:r>
                <a:rPr lang="el-GR" sz="1120" dirty="0">
                  <a:solidFill>
                    <a:srgbClr val="1F2937"/>
                  </a:solidFill>
                  <a:latin typeface="+mn-lt"/>
                  <a:ea typeface="+mn-ea"/>
                  <a:cs typeface="+mn-cs"/>
                </a:rPr>
                <a:t>6 μs</a:t>
              </a:r>
            </a:p>
          </p:txBody>
        </p:sp>
        <p:sp>
          <p:nvSpPr>
            <p:cNvPr id="40" name="TextBox 40"/>
            <p:cNvSpPr txBox="1"/>
            <p:nvPr/>
          </p:nvSpPr>
          <p:spPr>
            <a:xfrm>
              <a:off x="10510596" y="4527709"/>
              <a:ext cx="864159" cy="220028"/>
            </a:xfrm>
            <a:prstGeom prst="rect">
              <a:avLst/>
            </a:prstGeom>
            <a:noFill/>
            <a:ln>
              <a:noFill/>
            </a:ln>
          </p:spPr>
          <p:txBody>
            <a:bodyPr wrap="none" lIns="0" tIns="0" rIns="0" bIns="0" anchor="t" anchorCtr="0">
              <a:spAutoFit/>
            </a:bodyPr>
            <a:lstStyle/>
            <a:p>
              <a:pPr algn="r"/>
              <a:r>
                <a:rPr lang="en-US" sz="1120" dirty="0">
                  <a:solidFill>
                    <a:srgbClr val="1F2937"/>
                  </a:solidFill>
                  <a:latin typeface="+mn-lt"/>
                  <a:ea typeface="+mn-ea"/>
                  <a:cs typeface="+mn-cs"/>
                </a:rPr>
                <a:t>166.7 MB/s</a:t>
              </a:r>
            </a:p>
          </p:txBody>
        </p:sp>
        <p:sp>
          <p:nvSpPr>
            <p:cNvPr id="41" name="Rectangle 41"/>
            <p:cNvSpPr/>
            <p:nvPr/>
          </p:nvSpPr>
          <p:spPr>
            <a:xfrm>
              <a:off x="6473190" y="4801552"/>
              <a:ext cx="4998720" cy="9525"/>
            </a:xfrm>
            <a:prstGeom prst="rect">
              <a:avLst/>
            </a:prstGeom>
            <a:solidFill>
              <a:srgbClr val="D9DFEA"/>
            </a:solidFill>
            <a:ln>
              <a:noFill/>
            </a:ln>
          </p:spPr>
        </p:sp>
        <p:sp>
          <p:nvSpPr>
            <p:cNvPr id="42" name="TextBox 42"/>
            <p:cNvSpPr txBox="1"/>
            <p:nvPr/>
          </p:nvSpPr>
          <p:spPr>
            <a:xfrm>
              <a:off x="7433664" y="4927759"/>
              <a:ext cx="521616" cy="220028"/>
            </a:xfrm>
            <a:prstGeom prst="rect">
              <a:avLst/>
            </a:prstGeom>
            <a:noFill/>
            <a:ln>
              <a:noFill/>
            </a:ln>
          </p:spPr>
          <p:txBody>
            <a:bodyPr wrap="none" lIns="0" tIns="0" rIns="0" bIns="0" anchor="t" anchorCtr="0">
              <a:spAutoFit/>
            </a:bodyPr>
            <a:lstStyle/>
            <a:p>
              <a:pPr algn="r"/>
              <a:r>
                <a:rPr lang="en-US" sz="1120" b="1" dirty="0">
                  <a:solidFill>
                    <a:srgbClr val="1F2937"/>
                  </a:solidFill>
                  <a:latin typeface="+mn-lt"/>
                  <a:ea typeface="+mn-ea"/>
                  <a:cs typeface="+mn-cs"/>
                </a:rPr>
                <a:t>5000 B</a:t>
              </a:r>
            </a:p>
          </p:txBody>
        </p:sp>
        <p:sp>
          <p:nvSpPr>
            <p:cNvPr id="43" name="TextBox 43"/>
            <p:cNvSpPr txBox="1"/>
            <p:nvPr/>
          </p:nvSpPr>
          <p:spPr>
            <a:xfrm>
              <a:off x="8876602" y="4927759"/>
              <a:ext cx="388366" cy="220028"/>
            </a:xfrm>
            <a:prstGeom prst="rect">
              <a:avLst/>
            </a:prstGeom>
            <a:noFill/>
            <a:ln>
              <a:noFill/>
            </a:ln>
          </p:spPr>
          <p:txBody>
            <a:bodyPr wrap="none" lIns="0" tIns="0" rIns="0" bIns="0" anchor="t" anchorCtr="0">
              <a:spAutoFit/>
            </a:bodyPr>
            <a:lstStyle/>
            <a:p>
              <a:pPr algn="r"/>
              <a:r>
                <a:rPr lang="el-GR" sz="1120" dirty="0">
                  <a:solidFill>
                    <a:srgbClr val="1F2937"/>
                  </a:solidFill>
                  <a:latin typeface="+mn-lt"/>
                  <a:ea typeface="+mn-ea"/>
                  <a:cs typeface="+mn-cs"/>
                </a:rPr>
                <a:t>10 μs</a:t>
              </a:r>
            </a:p>
          </p:txBody>
        </p:sp>
        <p:sp>
          <p:nvSpPr>
            <p:cNvPr id="44" name="Rectangle 44"/>
            <p:cNvSpPr/>
            <p:nvPr/>
          </p:nvSpPr>
          <p:spPr>
            <a:xfrm>
              <a:off x="9371648" y="4815840"/>
              <a:ext cx="2090738" cy="381000"/>
            </a:xfrm>
            <a:prstGeom prst="rect">
              <a:avLst/>
            </a:prstGeom>
            <a:solidFill>
              <a:srgbClr val="FDEEE7"/>
            </a:solidFill>
            <a:ln>
              <a:noFill/>
            </a:ln>
          </p:spPr>
        </p:sp>
        <p:sp>
          <p:nvSpPr>
            <p:cNvPr id="45" name="TextBox 45"/>
            <p:cNvSpPr txBox="1"/>
            <p:nvPr/>
          </p:nvSpPr>
          <p:spPr>
            <a:xfrm>
              <a:off x="10682707" y="4927759"/>
              <a:ext cx="692048" cy="220028"/>
            </a:xfrm>
            <a:prstGeom prst="rect">
              <a:avLst/>
            </a:prstGeom>
            <a:noFill/>
            <a:ln>
              <a:noFill/>
            </a:ln>
          </p:spPr>
          <p:txBody>
            <a:bodyPr wrap="none" lIns="0" tIns="0" rIns="0" bIns="0" anchor="t" anchorCtr="0">
              <a:spAutoFit/>
            </a:bodyPr>
            <a:lstStyle/>
            <a:p>
              <a:pPr algn="r"/>
              <a:r>
                <a:rPr lang="en-US" sz="1120" dirty="0">
                  <a:solidFill>
                    <a:srgbClr val="1F2937"/>
                  </a:solidFill>
                  <a:latin typeface="+mn-lt"/>
                  <a:ea typeface="+mn-ea"/>
                  <a:cs typeface="+mn-cs"/>
                </a:rPr>
                <a:t>500 MB/s</a:t>
              </a:r>
            </a:p>
          </p:txBody>
        </p:sp>
        <p:sp>
          <p:nvSpPr>
            <p:cNvPr id="46" name="Rectangle 46"/>
            <p:cNvSpPr/>
            <p:nvPr/>
          </p:nvSpPr>
          <p:spPr>
            <a:xfrm>
              <a:off x="6473190" y="5201602"/>
              <a:ext cx="4998720" cy="9525"/>
            </a:xfrm>
            <a:prstGeom prst="rect">
              <a:avLst/>
            </a:prstGeom>
            <a:solidFill>
              <a:srgbClr val="D9DFEA"/>
            </a:solidFill>
            <a:ln>
              <a:noFill/>
            </a:ln>
          </p:spPr>
        </p:sp>
        <p:sp>
          <p:nvSpPr>
            <p:cNvPr id="47" name="Rectangle 47"/>
            <p:cNvSpPr/>
            <p:nvPr/>
          </p:nvSpPr>
          <p:spPr>
            <a:xfrm>
              <a:off x="6473190" y="5206365"/>
              <a:ext cx="4998720" cy="400050"/>
            </a:xfrm>
            <a:prstGeom prst="rect">
              <a:avLst/>
            </a:prstGeom>
            <a:solidFill>
              <a:srgbClr val="F4F6FB"/>
            </a:solidFill>
            <a:ln>
              <a:noFill/>
            </a:ln>
          </p:spPr>
        </p:sp>
        <p:sp>
          <p:nvSpPr>
            <p:cNvPr id="48" name="TextBox 48"/>
            <p:cNvSpPr txBox="1"/>
            <p:nvPr/>
          </p:nvSpPr>
          <p:spPr>
            <a:xfrm>
              <a:off x="7249662" y="5327809"/>
              <a:ext cx="705618" cy="220028"/>
            </a:xfrm>
            <a:prstGeom prst="rect">
              <a:avLst/>
            </a:prstGeom>
            <a:noFill/>
            <a:ln>
              <a:noFill/>
            </a:ln>
          </p:spPr>
          <p:txBody>
            <a:bodyPr wrap="none" lIns="0" tIns="0" rIns="0" bIns="0" anchor="t" anchorCtr="0">
              <a:spAutoFit/>
            </a:bodyPr>
            <a:lstStyle/>
            <a:p>
              <a:pPr algn="r"/>
              <a:r>
                <a:rPr lang="en-US" sz="1120" b="1" dirty="0">
                  <a:solidFill>
                    <a:srgbClr val="1F2937"/>
                  </a:solidFill>
                  <a:latin typeface="+mn-lt"/>
                  <a:ea typeface="+mn-ea"/>
                  <a:cs typeface="+mn-cs"/>
                </a:rPr>
                <a:t>100000 B</a:t>
              </a:r>
            </a:p>
          </p:txBody>
        </p:sp>
        <p:sp>
          <p:nvSpPr>
            <p:cNvPr id="49" name="TextBox 49"/>
            <p:cNvSpPr txBox="1"/>
            <p:nvPr/>
          </p:nvSpPr>
          <p:spPr>
            <a:xfrm>
              <a:off x="8793676" y="5327809"/>
              <a:ext cx="471292" cy="220028"/>
            </a:xfrm>
            <a:prstGeom prst="rect">
              <a:avLst/>
            </a:prstGeom>
            <a:noFill/>
            <a:ln>
              <a:noFill/>
            </a:ln>
          </p:spPr>
          <p:txBody>
            <a:bodyPr wrap="none" lIns="0" tIns="0" rIns="0" bIns="0" anchor="t" anchorCtr="0">
              <a:spAutoFit/>
            </a:bodyPr>
            <a:lstStyle/>
            <a:p>
              <a:pPr algn="r"/>
              <a:r>
                <a:rPr lang="el-GR" sz="1120" dirty="0">
                  <a:solidFill>
                    <a:srgbClr val="1F2937"/>
                  </a:solidFill>
                  <a:latin typeface="+mn-lt"/>
                  <a:ea typeface="+mn-ea"/>
                  <a:cs typeface="+mn-cs"/>
                </a:rPr>
                <a:t>105 μs</a:t>
              </a:r>
            </a:p>
          </p:txBody>
        </p:sp>
        <p:sp>
          <p:nvSpPr>
            <p:cNvPr id="50" name="TextBox 50"/>
            <p:cNvSpPr txBox="1"/>
            <p:nvPr/>
          </p:nvSpPr>
          <p:spPr>
            <a:xfrm>
              <a:off x="10510596" y="5327809"/>
              <a:ext cx="864159" cy="220028"/>
            </a:xfrm>
            <a:prstGeom prst="rect">
              <a:avLst/>
            </a:prstGeom>
            <a:noFill/>
            <a:ln>
              <a:noFill/>
            </a:ln>
          </p:spPr>
          <p:txBody>
            <a:bodyPr wrap="none" lIns="0" tIns="0" rIns="0" bIns="0" anchor="t" anchorCtr="0">
              <a:spAutoFit/>
            </a:bodyPr>
            <a:lstStyle/>
            <a:p>
              <a:pPr algn="r"/>
              <a:r>
                <a:rPr lang="en-US" sz="1120" dirty="0">
                  <a:solidFill>
                    <a:srgbClr val="1F2937"/>
                  </a:solidFill>
                  <a:latin typeface="+mn-lt"/>
                  <a:ea typeface="+mn-ea"/>
                  <a:cs typeface="+mn-cs"/>
                </a:rPr>
                <a:t>952.4 MB/s</a:t>
              </a:r>
            </a:p>
          </p:txBody>
        </p:sp>
        <p:sp>
          <p:nvSpPr>
            <p:cNvPr id="51" name="Rectangle 51"/>
            <p:cNvSpPr/>
            <p:nvPr/>
          </p:nvSpPr>
          <p:spPr>
            <a:xfrm>
              <a:off x="6473190" y="3606165"/>
              <a:ext cx="4998720" cy="2000250"/>
            </a:xfrm>
            <a:prstGeom prst="rect">
              <a:avLst/>
            </a:prstGeom>
            <a:noFill/>
            <a:ln w="14288">
              <a:solidFill>
                <a:srgbClr val="D9DFEA"/>
              </a:solidFill>
            </a:ln>
          </p:spPr>
        </p:sp>
        <p:sp>
          <p:nvSpPr>
            <p:cNvPr id="52" name="Rectangle 52"/>
            <p:cNvSpPr/>
            <p:nvPr/>
          </p:nvSpPr>
          <p:spPr>
            <a:xfrm>
              <a:off x="8047672" y="3606165"/>
              <a:ext cx="9525" cy="2000250"/>
            </a:xfrm>
            <a:prstGeom prst="rect">
              <a:avLst/>
            </a:prstGeom>
            <a:solidFill>
              <a:srgbClr val="D9DFEA"/>
            </a:solidFill>
            <a:ln>
              <a:noFill/>
            </a:ln>
          </p:spPr>
        </p:sp>
        <p:sp>
          <p:nvSpPr>
            <p:cNvPr id="53" name="Rectangle 53"/>
            <p:cNvSpPr/>
            <p:nvPr/>
          </p:nvSpPr>
          <p:spPr>
            <a:xfrm>
              <a:off x="9357360" y="3606165"/>
              <a:ext cx="9525" cy="2000250"/>
            </a:xfrm>
            <a:prstGeom prst="rect">
              <a:avLst/>
            </a:prstGeom>
            <a:solidFill>
              <a:srgbClr val="D9DFEA"/>
            </a:solidFill>
            <a:ln>
              <a:noFill/>
            </a:ln>
          </p:spPr>
        </p:sp>
        <p:sp>
          <p:nvSpPr>
            <p:cNvPr id="54" name="TextBox 54"/>
            <p:cNvSpPr txBox="1"/>
            <p:nvPr/>
          </p:nvSpPr>
          <p:spPr>
            <a:xfrm>
              <a:off x="6467475" y="5708809"/>
              <a:ext cx="4627118" cy="427672"/>
            </a:xfrm>
            <a:prstGeom prst="rect">
              <a:avLst/>
            </a:prstGeom>
            <a:noFill/>
            <a:ln>
              <a:noFill/>
            </a:ln>
          </p:spPr>
          <p:txBody>
            <a:bodyPr wrap="none" lIns="0" tIns="0" rIns="0" bIns="0" anchor="t" anchorCtr="0">
              <a:spAutoFit/>
            </a:bodyPr>
            <a:lstStyle/>
            <a:p>
              <a:pPr algn="l">
                <a:lnSpc>
                  <a:spcPts val="1635"/>
                </a:lnSpc>
              </a:pPr>
              <a:r>
                <a:rPr lang="zh-CN" sz="1120" dirty="0">
                  <a:solidFill>
                    <a:srgbClr val="5B6475"/>
                  </a:solidFill>
                  <a:latin typeface="+mn-lt"/>
                  <a:ea typeface="+mn-ea"/>
                  <a:cs typeface="+mn-cs"/>
                </a:rPr>
                <a:t>有效带宽达到 R∞ 一半时 m = T₀ × R∞ = 5000 B。短消息的时间几乎全是启</a:t>
              </a:r>
              <a:br/>
              <a:r>
                <a:rPr lang="zh-CN" sz="1120" dirty="0">
                  <a:solidFill>
                    <a:srgbClr val="5B6475"/>
                  </a:solidFill>
                  <a:latin typeface="+mn-lt"/>
                  <a:ea typeface="+mn-ea"/>
                  <a:cs typeface="+mn-cs"/>
                </a:rPr>
                <a:t>动延迟，所以要把小消息攒成大消息再发。</a:t>
              </a:r>
            </a:p>
          </p:txBody>
        </p:sp>
      </p:grpSp>
      <p:grpSp>
        <p:nvGrpSpPr>
          <p:cNvPr id="58" name="footer"/>
          <p:cNvGrpSpPr/>
          <p:nvPr/>
        </p:nvGrpSpPr>
        <p:grpSpPr>
          <a:xfrm>
            <a:off x="528447" y="6581299"/>
            <a:ext cx="11135106" cy="190690"/>
            <a:chOff x="528447" y="6581299"/>
            <a:chExt cx="11135106" cy="190690"/>
          </a:xfrm>
        </p:grpSpPr>
        <p:sp>
          <p:nvSpPr>
            <p:cNvPr id="56" name="TextBox 56"/>
            <p:cNvSpPr txBox="1"/>
            <p:nvPr/>
          </p:nvSpPr>
          <p:spPr>
            <a:xfrm>
              <a:off x="528447" y="6581299"/>
              <a:ext cx="2120748"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并行与分布式计算 · 第7章 体系结构</a:t>
              </a:r>
            </a:p>
          </p:txBody>
        </p:sp>
        <p:sp>
          <p:nvSpPr>
            <p:cNvPr id="57" name="TextBox 57"/>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61</a:t>
              </a:r>
            </a:p>
          </p:txBody>
        </p:sp>
      </p:grpSp>
    </p:spTree>
  </p:cSld>
  <p:clrMapOvr>
    <a:masterClrMapping/>
  </p:clrMapOvr>
  <p:transition xmlns:p14="http://schemas.microsoft.com/office/powerpoint/2010/main" p14:dur="400">
    <p:fade/>
  </p:transition>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4831842" cy="909257"/>
            <a:chOff x="520446" y="342900"/>
            <a:chExt cx="4831842" cy="909257"/>
          </a:xfrm>
        </p:grpSpPr>
        <p:sp>
          <p:nvSpPr>
            <p:cNvPr id="2" name="Rectangle 2"/>
            <p:cNvSpPr/>
            <p:nvPr/>
          </p:nvSpPr>
          <p:spPr>
            <a:xfrm>
              <a:off x="533400" y="342900"/>
              <a:ext cx="1987868" cy="266700"/>
            </a:xfrm>
            <a:prstGeom prst="roundRect">
              <a:avLst>
                <a:gd name="adj" fmla="val 50000"/>
              </a:avLst>
            </a:prstGeom>
            <a:solidFill>
              <a:srgbClr val="E7EDF3"/>
            </a:solidFill>
            <a:ln>
              <a:noFill/>
            </a:ln>
          </p:spPr>
        </p:sp>
        <p:sp>
          <p:nvSpPr>
            <p:cNvPr id="3" name="TextBox 3"/>
            <p:cNvSpPr txBox="1"/>
            <p:nvPr/>
          </p:nvSpPr>
          <p:spPr>
            <a:xfrm>
              <a:off x="608957" y="407194"/>
              <a:ext cx="1835800"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第7章 体系结构 · 性能评测</a:t>
              </a:r>
            </a:p>
          </p:txBody>
        </p:sp>
        <p:sp>
          <p:nvSpPr>
            <p:cNvPr id="4" name="TextBox 4"/>
            <p:cNvSpPr txBox="1"/>
            <p:nvPr/>
          </p:nvSpPr>
          <p:spPr>
            <a:xfrm>
              <a:off x="520446" y="753428"/>
              <a:ext cx="4831842"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整体通信的数据量与性能价格比</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50" name="c1-table-1"/>
          <p:cNvGrpSpPr/>
          <p:nvPr/>
        </p:nvGrpSpPr>
        <p:grpSpPr>
          <a:xfrm>
            <a:off x="528066" y="1524000"/>
            <a:ext cx="6281356" cy="2914269"/>
            <a:chOff x="528066" y="1524000"/>
            <a:chExt cx="6281356" cy="2914269"/>
          </a:xfrm>
        </p:grpSpPr>
        <p:sp>
          <p:nvSpPr>
            <p:cNvPr id="7" name="Rectangle 7"/>
            <p:cNvSpPr/>
            <p:nvPr/>
          </p:nvSpPr>
          <p:spPr>
            <a:xfrm>
              <a:off x="533400" y="1524000"/>
              <a:ext cx="6276022" cy="405765"/>
            </a:xfrm>
            <a:prstGeom prst="rect">
              <a:avLst/>
            </a:prstGeom>
            <a:solidFill>
              <a:srgbClr val="334E68"/>
            </a:solidFill>
            <a:ln>
              <a:noFill/>
            </a:ln>
          </p:spPr>
        </p:sp>
        <p:sp>
          <p:nvSpPr>
            <p:cNvPr id="8" name="TextBox 8"/>
            <p:cNvSpPr txBox="1"/>
            <p:nvPr/>
          </p:nvSpPr>
          <p:spPr>
            <a:xfrm>
              <a:off x="1380846" y="1648301"/>
              <a:ext cx="312979"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操作</a:t>
              </a:r>
            </a:p>
          </p:txBody>
        </p:sp>
        <p:sp>
          <p:nvSpPr>
            <p:cNvPr id="9" name="TextBox 9"/>
            <p:cNvSpPr txBox="1"/>
            <p:nvPr/>
          </p:nvSpPr>
          <p:spPr>
            <a:xfrm>
              <a:off x="2774493" y="1648301"/>
              <a:ext cx="162204"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从</a:t>
              </a:r>
            </a:p>
          </p:txBody>
        </p:sp>
        <p:sp>
          <p:nvSpPr>
            <p:cNvPr id="10" name="TextBox 10"/>
            <p:cNvSpPr txBox="1"/>
            <p:nvPr/>
          </p:nvSpPr>
          <p:spPr>
            <a:xfrm>
              <a:off x="3402190" y="1648301"/>
              <a:ext cx="162204"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到</a:t>
              </a:r>
            </a:p>
          </p:txBody>
        </p:sp>
        <p:sp>
          <p:nvSpPr>
            <p:cNvPr id="11" name="TextBox 11"/>
            <p:cNvSpPr txBox="1"/>
            <p:nvPr/>
          </p:nvSpPr>
          <p:spPr>
            <a:xfrm>
              <a:off x="4142143" y="1648301"/>
              <a:ext cx="312979"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消息</a:t>
              </a:r>
            </a:p>
          </p:txBody>
        </p:sp>
        <p:sp>
          <p:nvSpPr>
            <p:cNvPr id="12" name="TextBox 12"/>
            <p:cNvSpPr txBox="1"/>
            <p:nvPr/>
          </p:nvSpPr>
          <p:spPr>
            <a:xfrm>
              <a:off x="5498224" y="1648301"/>
              <a:ext cx="614528"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总传输量</a:t>
              </a:r>
            </a:p>
          </p:txBody>
        </p:sp>
        <p:sp>
          <p:nvSpPr>
            <p:cNvPr id="13" name="TextBox 13"/>
            <p:cNvSpPr txBox="1"/>
            <p:nvPr/>
          </p:nvSpPr>
          <p:spPr>
            <a:xfrm>
              <a:off x="633412" y="2154079"/>
              <a:ext cx="1149350"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播送 Broadcast</a:t>
              </a:r>
            </a:p>
          </p:txBody>
        </p:sp>
        <p:sp>
          <p:nvSpPr>
            <p:cNvPr id="14" name="TextBox 14"/>
            <p:cNvSpPr txBox="1"/>
            <p:nvPr/>
          </p:nvSpPr>
          <p:spPr>
            <a:xfrm>
              <a:off x="2808417" y="2154079"/>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1</a:t>
              </a:r>
            </a:p>
          </p:txBody>
        </p:sp>
        <p:sp>
          <p:nvSpPr>
            <p:cNvPr id="15" name="TextBox 15"/>
            <p:cNvSpPr txBox="1"/>
            <p:nvPr/>
          </p:nvSpPr>
          <p:spPr>
            <a:xfrm>
              <a:off x="3433768" y="2154079"/>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N</a:t>
              </a:r>
            </a:p>
          </p:txBody>
        </p:sp>
        <p:sp>
          <p:nvSpPr>
            <p:cNvPr id="16" name="TextBox 16"/>
            <p:cNvSpPr txBox="1"/>
            <p:nvPr/>
          </p:nvSpPr>
          <p:spPr>
            <a:xfrm>
              <a:off x="3896677" y="2154079"/>
              <a:ext cx="463753"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同一个</a:t>
              </a:r>
            </a:p>
          </p:txBody>
        </p:sp>
        <p:sp>
          <p:nvSpPr>
            <p:cNvPr id="17" name="TextBox 17"/>
            <p:cNvSpPr txBox="1"/>
            <p:nvPr/>
          </p:nvSpPr>
          <p:spPr>
            <a:xfrm>
              <a:off x="4900612" y="2054066"/>
              <a:ext cx="1682750" cy="420052"/>
            </a:xfrm>
            <a:prstGeom prst="rect">
              <a:avLst/>
            </a:prstGeom>
            <a:noFill/>
            <a:ln>
              <a:noFill/>
            </a:ln>
          </p:spPr>
          <p:txBody>
            <a:bodyPr wrap="none" lIns="0" tIns="0" rIns="0" bIns="0" anchor="t" anchorCtr="0">
              <a:spAutoFit/>
            </a:bodyPr>
            <a:lstStyle/>
            <a:p>
              <a:pPr algn="l">
                <a:lnSpc>
                  <a:spcPts val="1575"/>
                </a:lnSpc>
              </a:pPr>
              <a:r>
                <a:rPr lang="zh-CN" sz="1120" dirty="0">
                  <a:solidFill>
                    <a:srgbClr val="1F2937"/>
                  </a:solidFill>
                  <a:latin typeface="+mn-lt"/>
                  <a:ea typeface="+mn-ea"/>
                  <a:cs typeface="+mn-cs"/>
                </a:rPr>
                <a:t>M（每个节点都收一份则为</a:t>
              </a:r>
              <a:br/>
              <a:r>
                <a:rPr lang="zh-CN" sz="1120" dirty="0">
                  <a:solidFill>
                    <a:srgbClr val="1F2937"/>
                  </a:solidFill>
                  <a:latin typeface="+mn-lt"/>
                  <a:ea typeface="+mn-ea"/>
                  <a:cs typeface="+mn-cs"/>
                </a:rPr>
                <a:t>M × N）</a:t>
              </a:r>
            </a:p>
          </p:txBody>
        </p:sp>
        <p:sp>
          <p:nvSpPr>
            <p:cNvPr id="18" name="Rectangle 18"/>
            <p:cNvSpPr/>
            <p:nvPr/>
          </p:nvSpPr>
          <p:spPr>
            <a:xfrm>
              <a:off x="533400" y="2530792"/>
              <a:ext cx="6276022" cy="9525"/>
            </a:xfrm>
            <a:prstGeom prst="rect">
              <a:avLst/>
            </a:prstGeom>
            <a:solidFill>
              <a:srgbClr val="D9DFEA"/>
            </a:solidFill>
            <a:ln>
              <a:noFill/>
            </a:ln>
          </p:spPr>
        </p:sp>
        <p:sp>
          <p:nvSpPr>
            <p:cNvPr id="19" name="Rectangle 19"/>
            <p:cNvSpPr/>
            <p:nvPr/>
          </p:nvSpPr>
          <p:spPr>
            <a:xfrm>
              <a:off x="533400" y="2535555"/>
              <a:ext cx="6276022" cy="405765"/>
            </a:xfrm>
            <a:prstGeom prst="rect">
              <a:avLst/>
            </a:prstGeom>
            <a:solidFill>
              <a:srgbClr val="F4F6FB"/>
            </a:solidFill>
            <a:ln>
              <a:noFill/>
            </a:ln>
          </p:spPr>
        </p:sp>
        <p:sp>
          <p:nvSpPr>
            <p:cNvPr id="20" name="TextBox 20"/>
            <p:cNvSpPr txBox="1"/>
            <p:nvPr/>
          </p:nvSpPr>
          <p:spPr>
            <a:xfrm>
              <a:off x="633412" y="2659856"/>
              <a:ext cx="888283"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收集 Gather</a:t>
              </a:r>
            </a:p>
          </p:txBody>
        </p:sp>
        <p:sp>
          <p:nvSpPr>
            <p:cNvPr id="21" name="TextBox 21"/>
            <p:cNvSpPr txBox="1"/>
            <p:nvPr/>
          </p:nvSpPr>
          <p:spPr>
            <a:xfrm>
              <a:off x="2806070" y="2659856"/>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N</a:t>
              </a:r>
            </a:p>
          </p:txBody>
        </p:sp>
        <p:sp>
          <p:nvSpPr>
            <p:cNvPr id="22" name="TextBox 22"/>
            <p:cNvSpPr txBox="1"/>
            <p:nvPr/>
          </p:nvSpPr>
          <p:spPr>
            <a:xfrm>
              <a:off x="3436115" y="2659856"/>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1</a:t>
              </a:r>
            </a:p>
          </p:txBody>
        </p:sp>
        <p:sp>
          <p:nvSpPr>
            <p:cNvPr id="23" name="TextBox 23"/>
            <p:cNvSpPr txBox="1"/>
            <p:nvPr/>
          </p:nvSpPr>
          <p:spPr>
            <a:xfrm>
              <a:off x="3896677" y="2659856"/>
              <a:ext cx="614528"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各不相同</a:t>
              </a:r>
            </a:p>
          </p:txBody>
        </p:sp>
        <p:sp>
          <p:nvSpPr>
            <p:cNvPr id="24" name="TextBox 24"/>
            <p:cNvSpPr txBox="1"/>
            <p:nvPr/>
          </p:nvSpPr>
          <p:spPr>
            <a:xfrm>
              <a:off x="4900612" y="2659856"/>
              <a:ext cx="401737" cy="220028"/>
            </a:xfrm>
            <a:prstGeom prst="rect">
              <a:avLst/>
            </a:prstGeom>
            <a:noFill/>
            <a:ln>
              <a:noFill/>
            </a:ln>
          </p:spPr>
          <p:txBody>
            <a:bodyPr wrap="none" lIns="0" tIns="0" rIns="0" bIns="0" anchor="t" anchorCtr="0">
              <a:spAutoFit/>
            </a:bodyPr>
            <a:lstStyle/>
            <a:p>
              <a:pPr algn="l"/>
              <a:r>
                <a:rPr lang="en-US" sz="1120" dirty="0">
                  <a:solidFill>
                    <a:srgbClr val="1F2937"/>
                  </a:solidFill>
                  <a:latin typeface="+mn-lt"/>
                  <a:ea typeface="+mn-ea"/>
                  <a:cs typeface="+mn-cs"/>
                </a:rPr>
                <a:t>M × N</a:t>
              </a:r>
            </a:p>
          </p:txBody>
        </p:sp>
        <p:sp>
          <p:nvSpPr>
            <p:cNvPr id="25" name="Rectangle 25"/>
            <p:cNvSpPr/>
            <p:nvPr/>
          </p:nvSpPr>
          <p:spPr>
            <a:xfrm>
              <a:off x="533400" y="2936558"/>
              <a:ext cx="6276022" cy="9525"/>
            </a:xfrm>
            <a:prstGeom prst="rect">
              <a:avLst/>
            </a:prstGeom>
            <a:solidFill>
              <a:srgbClr val="D9DFEA"/>
            </a:solidFill>
            <a:ln>
              <a:noFill/>
            </a:ln>
          </p:spPr>
        </p:sp>
        <p:sp>
          <p:nvSpPr>
            <p:cNvPr id="26" name="TextBox 26"/>
            <p:cNvSpPr txBox="1"/>
            <p:nvPr/>
          </p:nvSpPr>
          <p:spPr>
            <a:xfrm>
              <a:off x="633412" y="3065621"/>
              <a:ext cx="975291"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散射 Scatter</a:t>
              </a:r>
            </a:p>
          </p:txBody>
        </p:sp>
        <p:sp>
          <p:nvSpPr>
            <p:cNvPr id="27" name="TextBox 27"/>
            <p:cNvSpPr txBox="1"/>
            <p:nvPr/>
          </p:nvSpPr>
          <p:spPr>
            <a:xfrm>
              <a:off x="2808417" y="3065621"/>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1</a:t>
              </a:r>
            </a:p>
          </p:txBody>
        </p:sp>
        <p:sp>
          <p:nvSpPr>
            <p:cNvPr id="28" name="TextBox 28"/>
            <p:cNvSpPr txBox="1"/>
            <p:nvPr/>
          </p:nvSpPr>
          <p:spPr>
            <a:xfrm>
              <a:off x="3433768" y="3065621"/>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N</a:t>
              </a:r>
            </a:p>
          </p:txBody>
        </p:sp>
        <p:sp>
          <p:nvSpPr>
            <p:cNvPr id="29" name="TextBox 29"/>
            <p:cNvSpPr txBox="1"/>
            <p:nvPr/>
          </p:nvSpPr>
          <p:spPr>
            <a:xfrm>
              <a:off x="3896677" y="3065621"/>
              <a:ext cx="614528"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各不相同</a:t>
              </a:r>
            </a:p>
          </p:txBody>
        </p:sp>
        <p:sp>
          <p:nvSpPr>
            <p:cNvPr id="30" name="TextBox 30"/>
            <p:cNvSpPr txBox="1"/>
            <p:nvPr/>
          </p:nvSpPr>
          <p:spPr>
            <a:xfrm>
              <a:off x="4900612" y="3065621"/>
              <a:ext cx="401737" cy="220028"/>
            </a:xfrm>
            <a:prstGeom prst="rect">
              <a:avLst/>
            </a:prstGeom>
            <a:noFill/>
            <a:ln>
              <a:noFill/>
            </a:ln>
          </p:spPr>
          <p:txBody>
            <a:bodyPr wrap="none" lIns="0" tIns="0" rIns="0" bIns="0" anchor="t" anchorCtr="0">
              <a:spAutoFit/>
            </a:bodyPr>
            <a:lstStyle/>
            <a:p>
              <a:pPr algn="l"/>
              <a:r>
                <a:rPr lang="en-US" sz="1120" dirty="0">
                  <a:solidFill>
                    <a:srgbClr val="1F2937"/>
                  </a:solidFill>
                  <a:latin typeface="+mn-lt"/>
                  <a:ea typeface="+mn-ea"/>
                  <a:cs typeface="+mn-cs"/>
                </a:rPr>
                <a:t>M × N</a:t>
              </a:r>
            </a:p>
          </p:txBody>
        </p:sp>
        <p:sp>
          <p:nvSpPr>
            <p:cNvPr id="31" name="Rectangle 31"/>
            <p:cNvSpPr/>
            <p:nvPr/>
          </p:nvSpPr>
          <p:spPr>
            <a:xfrm>
              <a:off x="533400" y="3342322"/>
              <a:ext cx="6276022" cy="9525"/>
            </a:xfrm>
            <a:prstGeom prst="rect">
              <a:avLst/>
            </a:prstGeom>
            <a:solidFill>
              <a:srgbClr val="D9DFEA"/>
            </a:solidFill>
            <a:ln>
              <a:noFill/>
            </a:ln>
          </p:spPr>
        </p:sp>
        <p:sp>
          <p:nvSpPr>
            <p:cNvPr id="32" name="Rectangle 32"/>
            <p:cNvSpPr/>
            <p:nvPr/>
          </p:nvSpPr>
          <p:spPr>
            <a:xfrm>
              <a:off x="533400" y="3347085"/>
              <a:ext cx="6276022" cy="405765"/>
            </a:xfrm>
            <a:prstGeom prst="rect">
              <a:avLst/>
            </a:prstGeom>
            <a:solidFill>
              <a:srgbClr val="F4F6FB"/>
            </a:solidFill>
            <a:ln>
              <a:noFill/>
            </a:ln>
          </p:spPr>
        </p:sp>
        <p:sp>
          <p:nvSpPr>
            <p:cNvPr id="33" name="TextBox 33"/>
            <p:cNvSpPr txBox="1"/>
            <p:nvPr/>
          </p:nvSpPr>
          <p:spPr>
            <a:xfrm>
              <a:off x="633412" y="3471386"/>
              <a:ext cx="1661441"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全交换 Total Exchange</a:t>
              </a:r>
            </a:p>
          </p:txBody>
        </p:sp>
        <p:sp>
          <p:nvSpPr>
            <p:cNvPr id="34" name="TextBox 34"/>
            <p:cNvSpPr txBox="1"/>
            <p:nvPr/>
          </p:nvSpPr>
          <p:spPr>
            <a:xfrm>
              <a:off x="2806070" y="3471386"/>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N</a:t>
              </a:r>
            </a:p>
          </p:txBody>
        </p:sp>
        <p:sp>
          <p:nvSpPr>
            <p:cNvPr id="35" name="TextBox 35"/>
            <p:cNvSpPr txBox="1"/>
            <p:nvPr/>
          </p:nvSpPr>
          <p:spPr>
            <a:xfrm>
              <a:off x="3433768" y="3471386"/>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N</a:t>
              </a:r>
            </a:p>
          </p:txBody>
        </p:sp>
        <p:sp>
          <p:nvSpPr>
            <p:cNvPr id="36" name="TextBox 36"/>
            <p:cNvSpPr txBox="1"/>
            <p:nvPr/>
          </p:nvSpPr>
          <p:spPr>
            <a:xfrm>
              <a:off x="3896677" y="3471386"/>
              <a:ext cx="614528"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各不相同</a:t>
              </a:r>
            </a:p>
          </p:txBody>
        </p:sp>
        <p:sp>
          <p:nvSpPr>
            <p:cNvPr id="37" name="TextBox 37"/>
            <p:cNvSpPr txBox="1"/>
            <p:nvPr/>
          </p:nvSpPr>
          <p:spPr>
            <a:xfrm>
              <a:off x="4900612" y="3471386"/>
              <a:ext cx="672562" cy="220028"/>
            </a:xfrm>
            <a:prstGeom prst="rect">
              <a:avLst/>
            </a:prstGeom>
            <a:noFill/>
            <a:ln>
              <a:noFill/>
            </a:ln>
          </p:spPr>
          <p:txBody>
            <a:bodyPr wrap="none" lIns="0" tIns="0" rIns="0" bIns="0" anchor="t" anchorCtr="0">
              <a:spAutoFit/>
            </a:bodyPr>
            <a:lstStyle/>
            <a:p>
              <a:pPr algn="l"/>
              <a:r>
                <a:rPr lang="en-US" sz="1120" dirty="0">
                  <a:solidFill>
                    <a:srgbClr val="1F2937"/>
                  </a:solidFill>
                  <a:latin typeface="+mn-lt"/>
                  <a:ea typeface="+mn-ea"/>
                  <a:cs typeface="+mn-cs"/>
                </a:rPr>
                <a:t>M × N × N</a:t>
              </a:r>
            </a:p>
          </p:txBody>
        </p:sp>
        <p:sp>
          <p:nvSpPr>
            <p:cNvPr id="38" name="Rectangle 38"/>
            <p:cNvSpPr/>
            <p:nvPr/>
          </p:nvSpPr>
          <p:spPr>
            <a:xfrm>
              <a:off x="533400" y="3748088"/>
              <a:ext cx="6276022" cy="9525"/>
            </a:xfrm>
            <a:prstGeom prst="rect">
              <a:avLst/>
            </a:prstGeom>
            <a:solidFill>
              <a:srgbClr val="D9DFEA"/>
            </a:solidFill>
            <a:ln>
              <a:noFill/>
            </a:ln>
          </p:spPr>
        </p:sp>
        <p:sp>
          <p:nvSpPr>
            <p:cNvPr id="39" name="TextBox 39"/>
            <p:cNvSpPr txBox="1"/>
            <p:nvPr/>
          </p:nvSpPr>
          <p:spPr>
            <a:xfrm>
              <a:off x="633412" y="3877151"/>
              <a:ext cx="1767295"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循环移位 Circular-shift</a:t>
              </a:r>
            </a:p>
          </p:txBody>
        </p:sp>
        <p:sp>
          <p:nvSpPr>
            <p:cNvPr id="40" name="TextBox 40"/>
            <p:cNvSpPr txBox="1"/>
            <p:nvPr/>
          </p:nvSpPr>
          <p:spPr>
            <a:xfrm>
              <a:off x="2762260" y="3877151"/>
              <a:ext cx="18667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Pᵢ</a:t>
              </a:r>
            </a:p>
          </p:txBody>
        </p:sp>
        <p:sp>
          <p:nvSpPr>
            <p:cNvPr id="41" name="TextBox 41"/>
            <p:cNvSpPr txBox="1"/>
            <p:nvPr/>
          </p:nvSpPr>
          <p:spPr>
            <a:xfrm>
              <a:off x="3302338" y="3877151"/>
              <a:ext cx="361909"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Pᵢ₊₁</a:t>
              </a:r>
            </a:p>
          </p:txBody>
        </p:sp>
        <p:sp>
          <p:nvSpPr>
            <p:cNvPr id="42" name="TextBox 42"/>
            <p:cNvSpPr txBox="1"/>
            <p:nvPr/>
          </p:nvSpPr>
          <p:spPr>
            <a:xfrm>
              <a:off x="3896677" y="3877151"/>
              <a:ext cx="614528"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各不相同</a:t>
              </a:r>
            </a:p>
          </p:txBody>
        </p:sp>
        <p:sp>
          <p:nvSpPr>
            <p:cNvPr id="43" name="TextBox 43"/>
            <p:cNvSpPr txBox="1"/>
            <p:nvPr/>
          </p:nvSpPr>
          <p:spPr>
            <a:xfrm>
              <a:off x="4900612" y="3877151"/>
              <a:ext cx="401737" cy="220028"/>
            </a:xfrm>
            <a:prstGeom prst="rect">
              <a:avLst/>
            </a:prstGeom>
            <a:noFill/>
            <a:ln>
              <a:noFill/>
            </a:ln>
          </p:spPr>
          <p:txBody>
            <a:bodyPr wrap="none" lIns="0" tIns="0" rIns="0" bIns="0" anchor="t" anchorCtr="0">
              <a:spAutoFit/>
            </a:bodyPr>
            <a:lstStyle/>
            <a:p>
              <a:pPr algn="l"/>
              <a:r>
                <a:rPr lang="en-US" sz="1120" dirty="0">
                  <a:solidFill>
                    <a:srgbClr val="1F2937"/>
                  </a:solidFill>
                  <a:latin typeface="+mn-lt"/>
                  <a:ea typeface="+mn-ea"/>
                  <a:cs typeface="+mn-cs"/>
                </a:rPr>
                <a:t>M × N</a:t>
              </a:r>
            </a:p>
          </p:txBody>
        </p:sp>
        <p:sp>
          <p:nvSpPr>
            <p:cNvPr id="44" name="Rectangle 44"/>
            <p:cNvSpPr/>
            <p:nvPr/>
          </p:nvSpPr>
          <p:spPr>
            <a:xfrm>
              <a:off x="533400" y="1524000"/>
              <a:ext cx="6276022" cy="2634615"/>
            </a:xfrm>
            <a:prstGeom prst="rect">
              <a:avLst/>
            </a:prstGeom>
            <a:noFill/>
            <a:ln w="14288">
              <a:solidFill>
                <a:srgbClr val="D9DFEA"/>
              </a:solidFill>
            </a:ln>
          </p:spPr>
        </p:sp>
        <p:sp>
          <p:nvSpPr>
            <p:cNvPr id="45" name="Rectangle 45"/>
            <p:cNvSpPr/>
            <p:nvPr/>
          </p:nvSpPr>
          <p:spPr>
            <a:xfrm>
              <a:off x="2536508" y="1524000"/>
              <a:ext cx="9525" cy="2634615"/>
            </a:xfrm>
            <a:prstGeom prst="rect">
              <a:avLst/>
            </a:prstGeom>
            <a:solidFill>
              <a:srgbClr val="D9DFEA"/>
            </a:solidFill>
            <a:ln>
              <a:noFill/>
            </a:ln>
          </p:spPr>
        </p:sp>
        <p:sp>
          <p:nvSpPr>
            <p:cNvPr id="46" name="Rectangle 46"/>
            <p:cNvSpPr/>
            <p:nvPr/>
          </p:nvSpPr>
          <p:spPr>
            <a:xfrm>
              <a:off x="3164205" y="1524000"/>
              <a:ext cx="9525" cy="2634615"/>
            </a:xfrm>
            <a:prstGeom prst="rect">
              <a:avLst/>
            </a:prstGeom>
            <a:solidFill>
              <a:srgbClr val="D9DFEA"/>
            </a:solidFill>
            <a:ln>
              <a:noFill/>
            </a:ln>
          </p:spPr>
        </p:sp>
        <p:sp>
          <p:nvSpPr>
            <p:cNvPr id="47" name="Rectangle 47"/>
            <p:cNvSpPr/>
            <p:nvPr/>
          </p:nvSpPr>
          <p:spPr>
            <a:xfrm>
              <a:off x="3791902" y="1524000"/>
              <a:ext cx="9525" cy="2634615"/>
            </a:xfrm>
            <a:prstGeom prst="rect">
              <a:avLst/>
            </a:prstGeom>
            <a:solidFill>
              <a:srgbClr val="D9DFEA"/>
            </a:solidFill>
            <a:ln>
              <a:noFill/>
            </a:ln>
          </p:spPr>
        </p:sp>
        <p:sp>
          <p:nvSpPr>
            <p:cNvPr id="48" name="Rectangle 48"/>
            <p:cNvSpPr/>
            <p:nvPr/>
          </p:nvSpPr>
          <p:spPr>
            <a:xfrm>
              <a:off x="4795838" y="1524000"/>
              <a:ext cx="9525" cy="2634615"/>
            </a:xfrm>
            <a:prstGeom prst="rect">
              <a:avLst/>
            </a:prstGeom>
            <a:solidFill>
              <a:srgbClr val="D9DFEA"/>
            </a:solidFill>
            <a:ln>
              <a:noFill/>
            </a:ln>
          </p:spPr>
        </p:sp>
        <p:sp>
          <p:nvSpPr>
            <p:cNvPr id="49" name="TextBox 49"/>
            <p:cNvSpPr txBox="1"/>
            <p:nvPr/>
          </p:nvSpPr>
          <p:spPr>
            <a:xfrm>
              <a:off x="528066" y="4232910"/>
              <a:ext cx="5412943" cy="205359"/>
            </a:xfrm>
            <a:prstGeom prst="rect">
              <a:avLst/>
            </a:prstGeom>
            <a:noFill/>
            <a:ln>
              <a:noFill/>
            </a:ln>
          </p:spPr>
          <p:txBody>
            <a:bodyPr wrap="none" lIns="0" tIns="0" rIns="0" bIns="0" anchor="t" anchorCtr="0">
              <a:spAutoFit/>
            </a:bodyPr>
            <a:lstStyle/>
            <a:p>
              <a:pPr algn="l"/>
              <a:r>
                <a:rPr lang="zh-CN" sz="1050" dirty="0">
                  <a:solidFill>
                    <a:srgbClr val="5B6475"/>
                  </a:solidFill>
                  <a:latin typeface="+mn-lt"/>
                  <a:ea typeface="+mn-ea"/>
                  <a:cs typeface="+mn-cs"/>
                </a:rPr>
                <a:t>M 为每条消息的字节数，传输量单位为字节；播送只发一份相同的数据，原课件记为 M</a:t>
              </a:r>
            </a:p>
          </p:txBody>
        </p:sp>
      </p:grpSp>
      <p:grpSp>
        <p:nvGrpSpPr>
          <p:cNvPr id="57" name="c1-callout-2"/>
          <p:cNvGrpSpPr/>
          <p:nvPr/>
        </p:nvGrpSpPr>
        <p:grpSpPr>
          <a:xfrm>
            <a:off x="533400" y="4572000"/>
            <a:ext cx="6276022" cy="1624012"/>
            <a:chOff x="533400" y="4572000"/>
            <a:chExt cx="6276022" cy="1624012"/>
          </a:xfrm>
        </p:grpSpPr>
        <p:sp>
          <p:nvSpPr>
            <p:cNvPr id="51" name="Rectangle 51"/>
            <p:cNvSpPr/>
            <p:nvPr/>
          </p:nvSpPr>
          <p:spPr>
            <a:xfrm>
              <a:off x="533400" y="4572000"/>
              <a:ext cx="6276022" cy="1624012"/>
            </a:xfrm>
            <a:prstGeom prst="roundRect">
              <a:avLst>
                <a:gd name="adj" fmla="val 7038"/>
              </a:avLst>
            </a:prstGeom>
            <a:solidFill>
              <a:srgbClr val="FDEEE7"/>
            </a:solidFill>
            <a:ln>
              <a:noFill/>
            </a:ln>
          </p:spPr>
        </p:sp>
        <p:grpSp>
          <p:nvGrpSpPr>
            <p:cNvPr id="55" name="Group 55"/>
            <p:cNvGrpSpPr/>
            <p:nvPr/>
          </p:nvGrpSpPr>
          <p:grpSpPr>
            <a:xfrm>
              <a:off x="738188" y="5284470"/>
              <a:ext cx="200026" cy="200025"/>
              <a:chOff x="738188" y="5284470"/>
              <a:chExt cx="200026" cy="200025"/>
            </a:xfrm>
          </p:grpSpPr>
          <p:sp>
            <p:nvSpPr>
              <p:cNvPr id="52" name="Freeform 52"/>
              <p:cNvSpPr/>
              <p:nvPr/>
            </p:nvSpPr>
            <p:spPr>
              <a:xfrm>
                <a:off x="738188" y="5284470"/>
                <a:ext cx="200026" cy="100013"/>
              </a:xfrm>
              <a:custGeom>
                <a:avLst/>
                <a:gdLst/>
                <a:ahLst/>
                <a:cxnLst/>
                <a:rect l="l" t="t" r="r" b="b"/>
                <a:pathLst>
                  <a:path w="200026" h="100013">
                    <a:moveTo>
                      <a:pt x="0" y="100013"/>
                    </a:moveTo>
                    <a:lnTo>
                      <a:pt x="11113" y="100013"/>
                    </a:lnTo>
                    <a:moveTo>
                      <a:pt x="100013" y="0"/>
                    </a:moveTo>
                    <a:lnTo>
                      <a:pt x="100013" y="11113"/>
                    </a:lnTo>
                    <a:moveTo>
                      <a:pt x="188913" y="100013"/>
                    </a:moveTo>
                    <a:lnTo>
                      <a:pt x="200026" y="100013"/>
                    </a:lnTo>
                    <a:moveTo>
                      <a:pt x="28893" y="28893"/>
                    </a:moveTo>
                    <a:lnTo>
                      <a:pt x="36671" y="36671"/>
                    </a:lnTo>
                    <a:moveTo>
                      <a:pt x="171133" y="28893"/>
                    </a:moveTo>
                    <a:lnTo>
                      <a:pt x="163354" y="36671"/>
                    </a:lnTo>
                  </a:path>
                </a:pathLst>
              </a:custGeom>
              <a:noFill/>
              <a:ln w="22225">
                <a:solidFill>
                  <a:srgbClr val="C2410C"/>
                </a:solidFill>
              </a:ln>
            </p:spPr>
          </p:sp>
          <p:sp>
            <p:nvSpPr>
              <p:cNvPr id="53" name="Freeform 53"/>
              <p:cNvSpPr/>
              <p:nvPr/>
            </p:nvSpPr>
            <p:spPr>
              <a:xfrm>
                <a:off x="777926" y="5328920"/>
                <a:ext cx="120548" cy="155575"/>
              </a:xfrm>
              <a:custGeom>
                <a:avLst/>
                <a:gdLst/>
                <a:ahLst/>
                <a:cxnLst/>
                <a:rect l="l" t="t" r="r" b="b"/>
                <a:pathLst>
                  <a:path w="120548" h="155575">
                    <a:moveTo>
                      <a:pt x="26937" y="100013"/>
                    </a:moveTo>
                    <a:cubicBezTo>
                      <a:pt x="7804" y="85663"/>
                      <a:pt x="0" y="60681"/>
                      <a:pt x="7563" y="37992"/>
                    </a:cubicBezTo>
                    <a:cubicBezTo>
                      <a:pt x="15126" y="15304"/>
                      <a:pt x="36358" y="0"/>
                      <a:pt x="60274" y="0"/>
                    </a:cubicBezTo>
                    <a:cubicBezTo>
                      <a:pt x="84190" y="0"/>
                      <a:pt x="105423" y="15304"/>
                      <a:pt x="112986" y="37992"/>
                    </a:cubicBezTo>
                    <a:cubicBezTo>
                      <a:pt x="120548" y="60681"/>
                      <a:pt x="112745" y="85663"/>
                      <a:pt x="93612" y="100013"/>
                    </a:cubicBezTo>
                    <a:cubicBezTo>
                      <a:pt x="84812" y="108723"/>
                      <a:pt x="80686" y="121103"/>
                      <a:pt x="82499" y="133350"/>
                    </a:cubicBezTo>
                    <a:cubicBezTo>
                      <a:pt x="82499" y="145625"/>
                      <a:pt x="72549" y="155575"/>
                      <a:pt x="60274" y="155575"/>
                    </a:cubicBezTo>
                    <a:cubicBezTo>
                      <a:pt x="48000" y="155575"/>
                      <a:pt x="38049" y="145625"/>
                      <a:pt x="38049" y="133350"/>
                    </a:cubicBezTo>
                    <a:cubicBezTo>
                      <a:pt x="39862" y="121103"/>
                      <a:pt x="35736" y="108723"/>
                      <a:pt x="26937" y="100013"/>
                    </a:cubicBezTo>
                  </a:path>
                </a:pathLst>
              </a:custGeom>
              <a:noFill/>
              <a:ln w="22225">
                <a:solidFill>
                  <a:srgbClr val="C2410C"/>
                </a:solidFill>
              </a:ln>
            </p:spPr>
          </p:sp>
          <p:sp>
            <p:nvSpPr>
              <p:cNvPr id="54" name="Freeform 54"/>
              <p:cNvSpPr/>
              <p:nvPr/>
            </p:nvSpPr>
            <p:spPr>
              <a:xfrm>
                <a:off x="812642" y="5440046"/>
                <a:ext cx="51118" cy="9525"/>
              </a:xfrm>
              <a:custGeom>
                <a:avLst/>
                <a:gdLst/>
                <a:ahLst/>
                <a:cxnLst/>
                <a:rect l="l" t="t" r="r" b="b"/>
                <a:pathLst>
                  <a:path w="51118" h="9525">
                    <a:moveTo>
                      <a:pt x="0" y="0"/>
                    </a:moveTo>
                    <a:lnTo>
                      <a:pt x="51118" y="0"/>
                    </a:lnTo>
                  </a:path>
                </a:pathLst>
              </a:custGeom>
              <a:noFill/>
              <a:ln w="22225">
                <a:solidFill>
                  <a:srgbClr val="C2410C"/>
                </a:solidFill>
              </a:ln>
            </p:spPr>
          </p:sp>
        </p:grpSp>
        <p:sp>
          <p:nvSpPr>
            <p:cNvPr id="56" name="TextBox 56"/>
            <p:cNvSpPr txBox="1"/>
            <p:nvPr/>
          </p:nvSpPr>
          <p:spPr>
            <a:xfrm>
              <a:off x="1040892" y="5041583"/>
              <a:ext cx="5277231" cy="761238"/>
            </a:xfrm>
            <a:prstGeom prst="rect">
              <a:avLst/>
            </a:prstGeom>
            <a:noFill/>
            <a:ln>
              <a:noFill/>
            </a:ln>
          </p:spPr>
          <p:txBody>
            <a:bodyPr wrap="none" lIns="0" tIns="0" rIns="0" bIns="0" anchor="t" anchorCtr="0">
              <a:spAutoFit/>
            </a:bodyPr>
            <a:lstStyle/>
            <a:p>
              <a:pPr algn="l">
                <a:lnSpc>
                  <a:spcPts val="1958"/>
                </a:lnSpc>
              </a:pPr>
              <a:r>
                <a:rPr lang="zh-CN" sz="1350" dirty="0">
                  <a:solidFill>
                    <a:srgbClr val="C2410C"/>
                  </a:solidFill>
                  <a:latin typeface="+mn-lt"/>
                  <a:ea typeface="+mn-ea"/>
                  <a:cs typeface="+mn-cs"/>
                </a:rPr>
                <a:t>这几种操作对应 MPI 的 MPI_Bcast、MPI_Gather、MPI_Scatter、</a:t>
              </a:r>
              <a:br/>
              <a:r>
                <a:rPr lang="zh-CN" sz="1350" dirty="0">
                  <a:solidFill>
                    <a:srgbClr val="C2410C"/>
                  </a:solidFill>
                  <a:latin typeface="+mn-lt"/>
                  <a:ea typeface="+mn-ea"/>
                  <a:cs typeface="+mn-cs"/>
                </a:rPr>
                <a:t>MPI_Alltoall（MPI 见第3章）。全交换的数据量按 N² 增长，是最贵的</a:t>
              </a:r>
              <a:br/>
              <a:r>
                <a:rPr lang="zh-CN" sz="1350" dirty="0">
                  <a:solidFill>
                    <a:srgbClr val="C2410C"/>
                  </a:solidFill>
                  <a:latin typeface="+mn-lt"/>
                  <a:ea typeface="+mn-ea"/>
                  <a:cs typeface="+mn-cs"/>
                </a:rPr>
                <a:t>一种。</a:t>
              </a:r>
            </a:p>
          </p:txBody>
        </p:sp>
      </p:grpSp>
      <p:grpSp>
        <p:nvGrpSpPr>
          <p:cNvPr id="67" name="c2-card-1"/>
          <p:cNvGrpSpPr/>
          <p:nvPr/>
        </p:nvGrpSpPr>
        <p:grpSpPr>
          <a:xfrm>
            <a:off x="7114222" y="1524000"/>
            <a:ext cx="4544378" cy="1272540"/>
            <a:chOff x="7114222" y="1524000"/>
            <a:chExt cx="4544378" cy="1272540"/>
          </a:xfrm>
        </p:grpSpPr>
        <p:sp>
          <p:nvSpPr>
            <p:cNvPr id="58" name="Rectangle 58"/>
            <p:cNvSpPr/>
            <p:nvPr/>
          </p:nvSpPr>
          <p:spPr>
            <a:xfrm>
              <a:off x="7114222" y="1524000"/>
              <a:ext cx="4544378" cy="1272540"/>
            </a:xfrm>
            <a:prstGeom prst="roundRect">
              <a:avLst>
                <a:gd name="adj" fmla="val 10479"/>
              </a:avLst>
            </a:prstGeom>
            <a:solidFill>
              <a:srgbClr val="FFFFFF"/>
            </a:solidFill>
            <a:ln w="14288">
              <a:solidFill>
                <a:srgbClr val="D9DFEA"/>
              </a:solidFill>
            </a:ln>
          </p:spPr>
        </p:sp>
        <p:sp>
          <p:nvSpPr>
            <p:cNvPr id="59" name="Rectangle 59"/>
            <p:cNvSpPr/>
            <p:nvPr/>
          </p:nvSpPr>
          <p:spPr>
            <a:xfrm>
              <a:off x="7123748" y="1657350"/>
              <a:ext cx="47625" cy="1005840"/>
            </a:xfrm>
            <a:prstGeom prst="roundRect">
              <a:avLst>
                <a:gd name="adj" fmla="val 50000"/>
              </a:avLst>
            </a:prstGeom>
            <a:solidFill>
              <a:srgbClr val="14A38B"/>
            </a:solidFill>
            <a:ln>
              <a:noFill/>
            </a:ln>
          </p:spPr>
        </p:sp>
        <p:sp>
          <p:nvSpPr>
            <p:cNvPr id="60" name="Rectangle 60"/>
            <p:cNvSpPr/>
            <p:nvPr/>
          </p:nvSpPr>
          <p:spPr>
            <a:xfrm>
              <a:off x="7344728" y="1716405"/>
              <a:ext cx="342900" cy="247650"/>
            </a:xfrm>
            <a:prstGeom prst="roundRect">
              <a:avLst>
                <a:gd name="adj" fmla="val 50000"/>
              </a:avLst>
            </a:prstGeom>
            <a:solidFill>
              <a:srgbClr val="E3F5F1"/>
            </a:solidFill>
            <a:ln>
              <a:noFill/>
            </a:ln>
          </p:spPr>
        </p:sp>
        <p:sp>
          <p:nvSpPr>
            <p:cNvPr id="61" name="TextBox 61"/>
            <p:cNvSpPr txBox="1"/>
            <p:nvPr/>
          </p:nvSpPr>
          <p:spPr>
            <a:xfrm>
              <a:off x="7440168" y="1750695"/>
              <a:ext cx="152019" cy="205359"/>
            </a:xfrm>
            <a:prstGeom prst="rect">
              <a:avLst/>
            </a:prstGeom>
            <a:noFill/>
            <a:ln>
              <a:noFill/>
            </a:ln>
          </p:spPr>
          <p:txBody>
            <a:bodyPr wrap="none" lIns="0" tIns="0" rIns="0" bIns="0" anchor="t" anchorCtr="0">
              <a:spAutoFit/>
            </a:bodyPr>
            <a:lstStyle/>
            <a:p>
              <a:pPr algn="ctr"/>
              <a:r>
                <a:rPr lang="zh-CN" sz="1050" b="1" dirty="0">
                  <a:solidFill>
                    <a:srgbClr val="0F7A68"/>
                  </a:solidFill>
                  <a:latin typeface="+mn-lt"/>
                  <a:ea typeface="+mn-ea"/>
                  <a:cs typeface="+mn-cs"/>
                </a:rPr>
                <a:t>例</a:t>
              </a:r>
            </a:p>
          </p:txBody>
        </p:sp>
        <p:sp>
          <p:nvSpPr>
            <p:cNvPr id="62" name="TextBox 62"/>
            <p:cNvSpPr txBox="1"/>
            <p:nvPr/>
          </p:nvSpPr>
          <p:spPr>
            <a:xfrm>
              <a:off x="7795070" y="1756410"/>
              <a:ext cx="2212802"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N = 8，每条消息 M = 1 KB</a:t>
              </a:r>
            </a:p>
          </p:txBody>
        </p:sp>
        <p:sp>
          <p:nvSpPr>
            <p:cNvPr id="63" name="Ellipse 63"/>
            <p:cNvSpPr/>
            <p:nvPr/>
          </p:nvSpPr>
          <p:spPr>
            <a:xfrm>
              <a:off x="7353300" y="2146935"/>
              <a:ext cx="59055" cy="59055"/>
            </a:xfrm>
            <a:prstGeom prst="ellipse">
              <a:avLst/>
            </a:prstGeom>
            <a:solidFill>
              <a:srgbClr val="334E68"/>
            </a:solidFill>
            <a:ln>
              <a:noFill/>
            </a:ln>
          </p:spPr>
        </p:sp>
        <p:sp>
          <p:nvSpPr>
            <p:cNvPr id="64" name="TextBox 64"/>
            <p:cNvSpPr txBox="1"/>
            <p:nvPr/>
          </p:nvSpPr>
          <p:spPr>
            <a:xfrm>
              <a:off x="7509320" y="2090738"/>
              <a:ext cx="2400300"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收集、散射：8 × 1 KB = 8 KB</a:t>
              </a:r>
            </a:p>
          </p:txBody>
        </p:sp>
        <p:sp>
          <p:nvSpPr>
            <p:cNvPr id="65" name="Ellipse 65"/>
            <p:cNvSpPr/>
            <p:nvPr/>
          </p:nvSpPr>
          <p:spPr>
            <a:xfrm>
              <a:off x="7353300" y="2448877"/>
              <a:ext cx="59055" cy="59055"/>
            </a:xfrm>
            <a:prstGeom prst="ellipse">
              <a:avLst/>
            </a:prstGeom>
            <a:solidFill>
              <a:srgbClr val="334E68"/>
            </a:solidFill>
            <a:ln>
              <a:noFill/>
            </a:ln>
          </p:spPr>
        </p:sp>
        <p:sp>
          <p:nvSpPr>
            <p:cNvPr id="66" name="TextBox 66"/>
            <p:cNvSpPr txBox="1"/>
            <p:nvPr/>
          </p:nvSpPr>
          <p:spPr>
            <a:xfrm>
              <a:off x="7509320" y="2392680"/>
              <a:ext cx="3768300"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全交换：8 × 8 × 1 KB = 64 KB，是收集的 8 倍</a:t>
              </a:r>
            </a:p>
          </p:txBody>
        </p:sp>
      </p:grpSp>
      <p:grpSp>
        <p:nvGrpSpPr>
          <p:cNvPr id="78" name="c2-card-2"/>
          <p:cNvGrpSpPr/>
          <p:nvPr/>
        </p:nvGrpSpPr>
        <p:grpSpPr>
          <a:xfrm>
            <a:off x="7114222" y="2970848"/>
            <a:ext cx="4544378" cy="2071688"/>
            <a:chOff x="7114222" y="2970848"/>
            <a:chExt cx="4544378" cy="2071688"/>
          </a:xfrm>
        </p:grpSpPr>
        <p:sp>
          <p:nvSpPr>
            <p:cNvPr id="68" name="Rectangle 68"/>
            <p:cNvSpPr/>
            <p:nvPr/>
          </p:nvSpPr>
          <p:spPr>
            <a:xfrm>
              <a:off x="7114222" y="2970848"/>
              <a:ext cx="4544378" cy="2071688"/>
            </a:xfrm>
            <a:prstGeom prst="roundRect">
              <a:avLst>
                <a:gd name="adj" fmla="val 6437"/>
              </a:avLst>
            </a:prstGeom>
            <a:solidFill>
              <a:srgbClr val="FFFFFF"/>
            </a:solidFill>
            <a:ln w="14288">
              <a:solidFill>
                <a:srgbClr val="D9DFEA"/>
              </a:solidFill>
            </a:ln>
          </p:spPr>
        </p:sp>
        <p:sp>
          <p:nvSpPr>
            <p:cNvPr id="69" name="Rectangle 69"/>
            <p:cNvSpPr/>
            <p:nvPr/>
          </p:nvSpPr>
          <p:spPr>
            <a:xfrm>
              <a:off x="7123748" y="3104198"/>
              <a:ext cx="47625" cy="1804988"/>
            </a:xfrm>
            <a:prstGeom prst="roundRect">
              <a:avLst>
                <a:gd name="adj" fmla="val 50000"/>
              </a:avLst>
            </a:prstGeom>
            <a:solidFill>
              <a:srgbClr val="334E68"/>
            </a:solidFill>
            <a:ln>
              <a:noFill/>
            </a:ln>
          </p:spPr>
        </p:sp>
        <p:sp>
          <p:nvSpPr>
            <p:cNvPr id="70" name="Rectangle 70"/>
            <p:cNvSpPr/>
            <p:nvPr/>
          </p:nvSpPr>
          <p:spPr>
            <a:xfrm>
              <a:off x="7344728" y="3163252"/>
              <a:ext cx="876300" cy="247650"/>
            </a:xfrm>
            <a:prstGeom prst="roundRect">
              <a:avLst>
                <a:gd name="adj" fmla="val 50000"/>
              </a:avLst>
            </a:prstGeom>
            <a:solidFill>
              <a:srgbClr val="E7EDF3"/>
            </a:solidFill>
            <a:ln>
              <a:noFill/>
            </a:ln>
          </p:spPr>
        </p:sp>
        <p:sp>
          <p:nvSpPr>
            <p:cNvPr id="71" name="TextBox 71"/>
            <p:cNvSpPr txBox="1"/>
            <p:nvPr/>
          </p:nvSpPr>
          <p:spPr>
            <a:xfrm>
              <a:off x="7424166" y="3197543"/>
              <a:ext cx="717423" cy="205359"/>
            </a:xfrm>
            <a:prstGeom prst="rect">
              <a:avLst/>
            </a:prstGeom>
            <a:noFill/>
            <a:ln>
              <a:noFill/>
            </a:ln>
          </p:spPr>
          <p:txBody>
            <a:bodyPr wrap="none" lIns="0" tIns="0" rIns="0" bIns="0" anchor="t" anchorCtr="0">
              <a:spAutoFit/>
            </a:bodyPr>
            <a:lstStyle/>
            <a:p>
              <a:pPr algn="ctr"/>
              <a:r>
                <a:rPr lang="zh-CN" sz="1050" b="1" dirty="0">
                  <a:solidFill>
                    <a:srgbClr val="334E68"/>
                  </a:solidFill>
                  <a:latin typeface="+mn-lt"/>
                  <a:ea typeface="+mn-ea"/>
                  <a:cs typeface="+mn-cs"/>
                </a:rPr>
                <a:t>性能价格比</a:t>
              </a:r>
            </a:p>
          </p:txBody>
        </p:sp>
        <p:sp>
          <p:nvSpPr>
            <p:cNvPr id="72" name="Ellipse 72"/>
            <p:cNvSpPr/>
            <p:nvPr/>
          </p:nvSpPr>
          <p:spPr>
            <a:xfrm>
              <a:off x="7353300" y="3576638"/>
              <a:ext cx="59055" cy="59055"/>
            </a:xfrm>
            <a:prstGeom prst="ellipse">
              <a:avLst/>
            </a:prstGeom>
            <a:solidFill>
              <a:srgbClr val="334E68"/>
            </a:solidFill>
            <a:ln>
              <a:noFill/>
            </a:ln>
          </p:spPr>
        </p:sp>
        <p:sp>
          <p:nvSpPr>
            <p:cNvPr id="73" name="TextBox 73"/>
            <p:cNvSpPr txBox="1"/>
            <p:nvPr/>
          </p:nvSpPr>
          <p:spPr>
            <a:xfrm>
              <a:off x="7509320" y="3520440"/>
              <a:ext cx="3394024"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价格 = 原料成本 + 直接成本 + 毛利 + 折扣</a:t>
              </a:r>
            </a:p>
          </p:txBody>
        </p:sp>
        <p:sp>
          <p:nvSpPr>
            <p:cNvPr id="74" name="Ellipse 74"/>
            <p:cNvSpPr/>
            <p:nvPr/>
          </p:nvSpPr>
          <p:spPr>
            <a:xfrm>
              <a:off x="7353300" y="3878580"/>
              <a:ext cx="59055" cy="59055"/>
            </a:xfrm>
            <a:prstGeom prst="ellipse">
              <a:avLst/>
            </a:prstGeom>
            <a:solidFill>
              <a:srgbClr val="334E68"/>
            </a:solidFill>
            <a:ln>
              <a:noFill/>
            </a:ln>
          </p:spPr>
        </p:sp>
        <p:sp>
          <p:nvSpPr>
            <p:cNvPr id="75" name="TextBox 75"/>
            <p:cNvSpPr txBox="1"/>
            <p:nvPr/>
          </p:nvSpPr>
          <p:spPr>
            <a:xfrm>
              <a:off x="7509320" y="3822382"/>
              <a:ext cx="3785616"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性能价格比：用单位代价（通常以百万美元计）获</a:t>
              </a:r>
              <a:br/>
              <a:r>
                <a:rPr lang="zh-CN" sz="1350" dirty="0">
                  <a:solidFill>
                    <a:srgbClr val="1F2937"/>
                  </a:solidFill>
                  <a:latin typeface="+mn-lt"/>
                  <a:ea typeface="+mn-ea"/>
                  <a:cs typeface="+mn-cs"/>
                </a:rPr>
                <a:t>得的性能（通常以 MIPS 或 MFLOPS 计）</a:t>
              </a:r>
            </a:p>
          </p:txBody>
        </p:sp>
        <p:sp>
          <p:nvSpPr>
            <p:cNvPr id="76" name="Ellipse 76"/>
            <p:cNvSpPr/>
            <p:nvPr/>
          </p:nvSpPr>
          <p:spPr>
            <a:xfrm>
              <a:off x="7353300" y="4438650"/>
              <a:ext cx="59055" cy="59055"/>
            </a:xfrm>
            <a:prstGeom prst="ellipse">
              <a:avLst/>
            </a:prstGeom>
            <a:solidFill>
              <a:srgbClr val="334E68"/>
            </a:solidFill>
            <a:ln>
              <a:noFill/>
            </a:ln>
          </p:spPr>
        </p:sp>
        <p:sp>
          <p:nvSpPr>
            <p:cNvPr id="77" name="TextBox 77"/>
            <p:cNvSpPr txBox="1"/>
            <p:nvPr/>
          </p:nvSpPr>
          <p:spPr>
            <a:xfrm>
              <a:off x="7509320" y="4382452"/>
              <a:ext cx="3785616"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高性价比说明成本有效，成本的有效性可以用利用</a:t>
              </a:r>
              <a:br/>
              <a:r>
                <a:rPr lang="zh-CN" sz="1350" dirty="0">
                  <a:solidFill>
                    <a:srgbClr val="1F2937"/>
                  </a:solidFill>
                  <a:latin typeface="+mn-lt"/>
                  <a:ea typeface="+mn-ea"/>
                  <a:cs typeface="+mn-cs"/>
                </a:rPr>
                <a:t>率（可达速度 / 峰值速度）衡量</a:t>
              </a:r>
            </a:p>
          </p:txBody>
        </p:sp>
      </p:grpSp>
      <p:grpSp>
        <p:nvGrpSpPr>
          <p:cNvPr id="84" name="c2-callout-3"/>
          <p:cNvGrpSpPr/>
          <p:nvPr/>
        </p:nvGrpSpPr>
        <p:grpSpPr>
          <a:xfrm>
            <a:off x="7114222" y="5217795"/>
            <a:ext cx="4544378" cy="978218"/>
            <a:chOff x="7114222" y="5217795"/>
            <a:chExt cx="4544378" cy="978218"/>
          </a:xfrm>
        </p:grpSpPr>
        <p:sp>
          <p:nvSpPr>
            <p:cNvPr id="79" name="Rectangle 79"/>
            <p:cNvSpPr/>
            <p:nvPr/>
          </p:nvSpPr>
          <p:spPr>
            <a:xfrm>
              <a:off x="7114222" y="5217795"/>
              <a:ext cx="4544378" cy="978218"/>
            </a:xfrm>
            <a:prstGeom prst="roundRect">
              <a:avLst>
                <a:gd name="adj" fmla="val 11685"/>
              </a:avLst>
            </a:prstGeom>
            <a:solidFill>
              <a:srgbClr val="334E68"/>
            </a:solidFill>
            <a:ln>
              <a:noFill/>
            </a:ln>
          </p:spPr>
        </p:sp>
        <p:grpSp>
          <p:nvGrpSpPr>
            <p:cNvPr id="82" name="Group 82"/>
            <p:cNvGrpSpPr/>
            <p:nvPr/>
          </p:nvGrpSpPr>
          <p:grpSpPr>
            <a:xfrm>
              <a:off x="7319010" y="5607370"/>
              <a:ext cx="200023" cy="200023"/>
              <a:chOff x="7319010" y="5607370"/>
              <a:chExt cx="200023" cy="200023"/>
            </a:xfrm>
          </p:grpSpPr>
          <p:sp>
            <p:nvSpPr>
              <p:cNvPr id="80" name="Freeform 80"/>
              <p:cNvSpPr/>
              <p:nvPr/>
            </p:nvSpPr>
            <p:spPr>
              <a:xfrm>
                <a:off x="7319010" y="5607370"/>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81" name="Freeform 81"/>
              <p:cNvSpPr/>
              <p:nvPr/>
            </p:nvSpPr>
            <p:spPr>
              <a:xfrm>
                <a:off x="7452360" y="5674043"/>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83" name="TextBox 83"/>
            <p:cNvSpPr txBox="1"/>
            <p:nvPr/>
          </p:nvSpPr>
          <p:spPr>
            <a:xfrm>
              <a:off x="7621714" y="5364480"/>
              <a:ext cx="3614166" cy="761238"/>
            </a:xfrm>
            <a:prstGeom prst="rect">
              <a:avLst/>
            </a:prstGeom>
            <a:noFill/>
            <a:ln>
              <a:noFill/>
            </a:ln>
          </p:spPr>
          <p:txBody>
            <a:bodyPr wrap="none" lIns="0" tIns="0" rIns="0" bIns="0" anchor="t" anchorCtr="0">
              <a:spAutoFit/>
            </a:bodyPr>
            <a:lstStyle/>
            <a:p>
              <a:pPr algn="l">
                <a:lnSpc>
                  <a:spcPts val="1958"/>
                </a:lnSpc>
              </a:pPr>
              <a:r>
                <a:rPr lang="zh-CN" sz="1350" dirty="0">
                  <a:solidFill>
                    <a:srgbClr val="FFFFFF"/>
                  </a:solidFill>
                  <a:latin typeface="+mn-lt"/>
                  <a:ea typeface="+mn-ea"/>
                  <a:cs typeface="+mn-cs"/>
                </a:rPr>
                <a:t>性价比决定技术选型：同样的预算买专用超算还</a:t>
              </a:r>
              <a:br/>
              <a:r>
                <a:rPr lang="zh-CN" sz="1350" dirty="0">
                  <a:solidFill>
                    <a:srgbClr val="FFFFFF"/>
                  </a:solidFill>
                  <a:latin typeface="+mn-lt"/>
                  <a:ea typeface="+mn-ea"/>
                  <a:cs typeface="+mn-cs"/>
                </a:rPr>
                <a:t>是搭工作站集群，要看应用在哪边跑出更高的实</a:t>
              </a:r>
              <a:br/>
              <a:r>
                <a:rPr lang="zh-CN" sz="1350" dirty="0">
                  <a:solidFill>
                    <a:srgbClr val="FFFFFF"/>
                  </a:solidFill>
                  <a:latin typeface="+mn-lt"/>
                  <a:ea typeface="+mn-ea"/>
                  <a:cs typeface="+mn-cs"/>
                </a:rPr>
                <a:t>际速度。</a:t>
              </a:r>
            </a:p>
          </p:txBody>
        </p:sp>
      </p:grpSp>
      <p:grpSp>
        <p:nvGrpSpPr>
          <p:cNvPr id="87" name="footer"/>
          <p:cNvGrpSpPr/>
          <p:nvPr/>
        </p:nvGrpSpPr>
        <p:grpSpPr>
          <a:xfrm>
            <a:off x="528447" y="6581299"/>
            <a:ext cx="11135106" cy="190690"/>
            <a:chOff x="528447" y="6581299"/>
            <a:chExt cx="11135106" cy="190690"/>
          </a:xfrm>
        </p:grpSpPr>
        <p:sp>
          <p:nvSpPr>
            <p:cNvPr id="85" name="TextBox 85"/>
            <p:cNvSpPr txBox="1"/>
            <p:nvPr/>
          </p:nvSpPr>
          <p:spPr>
            <a:xfrm>
              <a:off x="528447" y="6581299"/>
              <a:ext cx="2120748"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并行与分布式计算 · 第7章 体系结构</a:t>
              </a:r>
            </a:p>
          </p:txBody>
        </p:sp>
        <p:sp>
          <p:nvSpPr>
            <p:cNvPr id="86" name="TextBox 86"/>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62</a:t>
              </a:r>
            </a:p>
          </p:txBody>
        </p:sp>
      </p:grpSp>
    </p:spTree>
  </p:cSld>
  <p:clrMapOvr>
    <a:masterClrMapping/>
  </p:clrMapOvr>
  <p:transition xmlns:p14="http://schemas.microsoft.com/office/powerpoint/2010/main" p14:dur="400">
    <p:fade/>
  </p:transition>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7921371" cy="909257"/>
            <a:chOff x="520446" y="342900"/>
            <a:chExt cx="7921371" cy="909257"/>
          </a:xfrm>
        </p:grpSpPr>
        <p:sp>
          <p:nvSpPr>
            <p:cNvPr id="2" name="Rectangle 2"/>
            <p:cNvSpPr/>
            <p:nvPr/>
          </p:nvSpPr>
          <p:spPr>
            <a:xfrm>
              <a:off x="533400" y="342900"/>
              <a:ext cx="1987868" cy="266700"/>
            </a:xfrm>
            <a:prstGeom prst="roundRect">
              <a:avLst>
                <a:gd name="adj" fmla="val 50000"/>
              </a:avLst>
            </a:prstGeom>
            <a:solidFill>
              <a:srgbClr val="E7EDF3"/>
            </a:solidFill>
            <a:ln>
              <a:noFill/>
            </a:ln>
          </p:spPr>
        </p:sp>
        <p:sp>
          <p:nvSpPr>
            <p:cNvPr id="3" name="TextBox 3"/>
            <p:cNvSpPr txBox="1"/>
            <p:nvPr/>
          </p:nvSpPr>
          <p:spPr>
            <a:xfrm>
              <a:off x="608957" y="407194"/>
              <a:ext cx="1835800"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第7章 体系结构 · 性能评测</a:t>
              </a:r>
            </a:p>
          </p:txBody>
        </p:sp>
        <p:sp>
          <p:nvSpPr>
            <p:cNvPr id="4" name="TextBox 4"/>
            <p:cNvSpPr txBox="1"/>
            <p:nvPr/>
          </p:nvSpPr>
          <p:spPr>
            <a:xfrm>
              <a:off x="520446" y="753428"/>
              <a:ext cx="7921371"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三个加速比定律：固定负载、固定时间、受存储限制</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12" name="c1-card-1"/>
          <p:cNvGrpSpPr/>
          <p:nvPr/>
        </p:nvGrpSpPr>
        <p:grpSpPr>
          <a:xfrm>
            <a:off x="533400" y="1524000"/>
            <a:ext cx="6059805" cy="1316355"/>
            <a:chOff x="533400" y="1524000"/>
            <a:chExt cx="6059805" cy="1316355"/>
          </a:xfrm>
        </p:grpSpPr>
        <p:sp>
          <p:nvSpPr>
            <p:cNvPr id="7" name="Rectangle 7"/>
            <p:cNvSpPr/>
            <p:nvPr/>
          </p:nvSpPr>
          <p:spPr>
            <a:xfrm>
              <a:off x="533400" y="1524000"/>
              <a:ext cx="6059805" cy="1316355"/>
            </a:xfrm>
            <a:prstGeom prst="roundRect">
              <a:avLst>
                <a:gd name="adj" fmla="val 10130"/>
              </a:avLst>
            </a:prstGeom>
            <a:solidFill>
              <a:srgbClr val="FFFFFF"/>
            </a:solidFill>
            <a:ln w="14288">
              <a:solidFill>
                <a:srgbClr val="D9DFEA"/>
              </a:solidFill>
            </a:ln>
          </p:spPr>
        </p:sp>
        <p:sp>
          <p:nvSpPr>
            <p:cNvPr id="8" name="Rectangle 8"/>
            <p:cNvSpPr/>
            <p:nvPr/>
          </p:nvSpPr>
          <p:spPr>
            <a:xfrm>
              <a:off x="542925" y="1657350"/>
              <a:ext cx="47625" cy="1049655"/>
            </a:xfrm>
            <a:prstGeom prst="roundRect">
              <a:avLst>
                <a:gd name="adj" fmla="val 50000"/>
              </a:avLst>
            </a:prstGeom>
            <a:solidFill>
              <a:srgbClr val="334E68"/>
            </a:solidFill>
            <a:ln>
              <a:noFill/>
            </a:ln>
          </p:spPr>
        </p:sp>
        <p:sp>
          <p:nvSpPr>
            <p:cNvPr id="9" name="Rectangle 9"/>
            <p:cNvSpPr/>
            <p:nvPr/>
          </p:nvSpPr>
          <p:spPr>
            <a:xfrm>
              <a:off x="781050" y="1733550"/>
              <a:ext cx="1631632" cy="257175"/>
            </a:xfrm>
            <a:prstGeom prst="roundRect">
              <a:avLst>
                <a:gd name="adj" fmla="val 50000"/>
              </a:avLst>
            </a:prstGeom>
            <a:solidFill>
              <a:srgbClr val="E7EDF3"/>
            </a:solidFill>
            <a:ln>
              <a:noFill/>
            </a:ln>
          </p:spPr>
        </p:sp>
        <p:sp>
          <p:nvSpPr>
            <p:cNvPr id="10" name="TextBox 10"/>
            <p:cNvSpPr txBox="1"/>
            <p:nvPr/>
          </p:nvSpPr>
          <p:spPr>
            <a:xfrm>
              <a:off x="837755" y="1769269"/>
              <a:ext cx="1519174"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多处理器系统的加速比</a:t>
              </a:r>
            </a:p>
          </p:txBody>
        </p:sp>
        <p:sp>
          <p:nvSpPr>
            <p:cNvPr id="11" name="TextBox 11"/>
            <p:cNvSpPr txBox="1"/>
            <p:nvPr/>
          </p:nvSpPr>
          <p:spPr>
            <a:xfrm>
              <a:off x="773430" y="2110740"/>
              <a:ext cx="5349240"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对一个给定的应用，并行算法（并行程序）的执行速度相对串行</a:t>
              </a:r>
              <a:br/>
              <a:r>
                <a:rPr lang="zh-CN" sz="1500" dirty="0">
                  <a:solidFill>
                    <a:srgbClr val="1F2937"/>
                  </a:solidFill>
                  <a:latin typeface="+mn-lt"/>
                  <a:ea typeface="+mn-ea"/>
                  <a:cs typeface="+mn-cs"/>
                </a:rPr>
                <a:t>算法（串行程序）加快了多少倍。</a:t>
              </a:r>
            </a:p>
          </p:txBody>
        </p:sp>
      </p:grpSp>
      <p:grpSp>
        <p:nvGrpSpPr>
          <p:cNvPr id="37" name="c1-table-2"/>
          <p:cNvGrpSpPr/>
          <p:nvPr/>
        </p:nvGrpSpPr>
        <p:grpSpPr>
          <a:xfrm>
            <a:off x="533400" y="3030855"/>
            <a:ext cx="6059805" cy="2750820"/>
            <a:chOff x="533400" y="3030855"/>
            <a:chExt cx="6059805" cy="2750820"/>
          </a:xfrm>
        </p:grpSpPr>
        <p:sp>
          <p:nvSpPr>
            <p:cNvPr id="13" name="Rectangle 13"/>
            <p:cNvSpPr/>
            <p:nvPr/>
          </p:nvSpPr>
          <p:spPr>
            <a:xfrm>
              <a:off x="533400" y="3030855"/>
              <a:ext cx="6059805" cy="487680"/>
            </a:xfrm>
            <a:prstGeom prst="rect">
              <a:avLst/>
            </a:prstGeom>
            <a:solidFill>
              <a:srgbClr val="334E68"/>
            </a:solidFill>
            <a:ln>
              <a:noFill/>
            </a:ln>
          </p:spPr>
        </p:sp>
        <p:sp>
          <p:nvSpPr>
            <p:cNvPr id="14" name="TextBox 14"/>
            <p:cNvSpPr txBox="1"/>
            <p:nvPr/>
          </p:nvSpPr>
          <p:spPr>
            <a:xfrm>
              <a:off x="1081088" y="3169920"/>
              <a:ext cx="419100" cy="293370"/>
            </a:xfrm>
            <a:prstGeom prst="rect">
              <a:avLst/>
            </a:prstGeom>
            <a:noFill/>
            <a:ln>
              <a:noFill/>
            </a:ln>
          </p:spPr>
          <p:txBody>
            <a:bodyPr wrap="none" lIns="0" tIns="0" rIns="0" bIns="0" anchor="t" anchorCtr="0">
              <a:spAutoFit/>
            </a:bodyPr>
            <a:lstStyle/>
            <a:p>
              <a:pPr algn="ctr"/>
              <a:r>
                <a:rPr lang="zh-CN" sz="1500" b="1" dirty="0">
                  <a:solidFill>
                    <a:srgbClr val="FFFFFF"/>
                  </a:solidFill>
                  <a:latin typeface="+mn-lt"/>
                  <a:ea typeface="+mn-ea"/>
                  <a:cs typeface="+mn-cs"/>
                </a:rPr>
                <a:t>定律</a:t>
              </a:r>
            </a:p>
          </p:txBody>
        </p:sp>
        <p:sp>
          <p:nvSpPr>
            <p:cNvPr id="15" name="TextBox 15"/>
            <p:cNvSpPr txBox="1"/>
            <p:nvPr/>
          </p:nvSpPr>
          <p:spPr>
            <a:xfrm>
              <a:off x="2575560" y="3169920"/>
              <a:ext cx="822960" cy="293370"/>
            </a:xfrm>
            <a:prstGeom prst="rect">
              <a:avLst/>
            </a:prstGeom>
            <a:noFill/>
            <a:ln>
              <a:noFill/>
            </a:ln>
          </p:spPr>
          <p:txBody>
            <a:bodyPr wrap="none" lIns="0" tIns="0" rIns="0" bIns="0" anchor="t" anchorCtr="0">
              <a:spAutoFit/>
            </a:bodyPr>
            <a:lstStyle/>
            <a:p>
              <a:pPr algn="ctr"/>
              <a:r>
                <a:rPr lang="zh-CN" sz="1500" b="1" dirty="0">
                  <a:solidFill>
                    <a:srgbClr val="FFFFFF"/>
                  </a:solidFill>
                  <a:latin typeface="+mn-lt"/>
                  <a:ea typeface="+mn-ea"/>
                  <a:cs typeface="+mn-cs"/>
                </a:rPr>
                <a:t>适用条件</a:t>
              </a:r>
            </a:p>
          </p:txBody>
        </p:sp>
        <p:sp>
          <p:nvSpPr>
            <p:cNvPr id="16" name="TextBox 16"/>
            <p:cNvSpPr txBox="1"/>
            <p:nvPr/>
          </p:nvSpPr>
          <p:spPr>
            <a:xfrm>
              <a:off x="4121468" y="3169920"/>
              <a:ext cx="822960" cy="293370"/>
            </a:xfrm>
            <a:prstGeom prst="rect">
              <a:avLst/>
            </a:prstGeom>
            <a:noFill/>
            <a:ln>
              <a:noFill/>
            </a:ln>
          </p:spPr>
          <p:txBody>
            <a:bodyPr wrap="none" lIns="0" tIns="0" rIns="0" bIns="0" anchor="t" anchorCtr="0">
              <a:spAutoFit/>
            </a:bodyPr>
            <a:lstStyle/>
            <a:p>
              <a:pPr algn="ctr"/>
              <a:r>
                <a:rPr lang="zh-CN" sz="1500" b="1" dirty="0">
                  <a:solidFill>
                    <a:srgbClr val="FFFFFF"/>
                  </a:solidFill>
                  <a:latin typeface="+mn-lt"/>
                  <a:ea typeface="+mn-ea"/>
                  <a:cs typeface="+mn-cs"/>
                </a:rPr>
                <a:t>固定什么</a:t>
              </a:r>
            </a:p>
          </p:txBody>
        </p:sp>
        <p:sp>
          <p:nvSpPr>
            <p:cNvPr id="17" name="TextBox 17"/>
            <p:cNvSpPr txBox="1"/>
            <p:nvPr/>
          </p:nvSpPr>
          <p:spPr>
            <a:xfrm>
              <a:off x="5257838" y="3169920"/>
              <a:ext cx="1215314" cy="293370"/>
            </a:xfrm>
            <a:prstGeom prst="rect">
              <a:avLst/>
            </a:prstGeom>
            <a:noFill/>
            <a:ln>
              <a:noFill/>
            </a:ln>
          </p:spPr>
          <p:txBody>
            <a:bodyPr wrap="none" lIns="0" tIns="0" rIns="0" bIns="0" anchor="t" anchorCtr="0">
              <a:spAutoFit/>
            </a:bodyPr>
            <a:lstStyle/>
            <a:p>
              <a:pPr algn="ctr"/>
              <a:r>
                <a:rPr lang="zh-CN" sz="1500" b="1" dirty="0">
                  <a:solidFill>
                    <a:srgbClr val="FFFFFF"/>
                  </a:solidFill>
                  <a:latin typeface="+mn-lt"/>
                  <a:ea typeface="+mn-ea"/>
                  <a:cs typeface="+mn-cs"/>
                </a:rPr>
                <a:t>问题规模随 N</a:t>
              </a:r>
            </a:p>
          </p:txBody>
        </p:sp>
        <p:sp>
          <p:nvSpPr>
            <p:cNvPr id="18" name="TextBox 18"/>
            <p:cNvSpPr txBox="1"/>
            <p:nvPr/>
          </p:nvSpPr>
          <p:spPr>
            <a:xfrm>
              <a:off x="640080" y="3790950"/>
              <a:ext cx="1178895"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Amdahl 定律</a:t>
              </a:r>
            </a:p>
          </p:txBody>
        </p:sp>
        <p:sp>
          <p:nvSpPr>
            <p:cNvPr id="19" name="TextBox 19"/>
            <p:cNvSpPr txBox="1"/>
            <p:nvPr/>
          </p:nvSpPr>
          <p:spPr>
            <a:xfrm>
              <a:off x="2154555" y="3657600"/>
              <a:ext cx="1539240" cy="560070"/>
            </a:xfrm>
            <a:prstGeom prst="rect">
              <a:avLst/>
            </a:prstGeom>
            <a:noFill/>
            <a:ln>
              <a:noFill/>
            </a:ln>
          </p:spPr>
          <p:txBody>
            <a:bodyPr wrap="none" lIns="0" tIns="0" rIns="0" bIns="0" anchor="t" anchorCtr="0">
              <a:spAutoFit/>
            </a:bodyPr>
            <a:lstStyle/>
            <a:p>
              <a:pPr algn="l">
                <a:lnSpc>
                  <a:spcPts val="2100"/>
                </a:lnSpc>
              </a:pPr>
              <a:r>
                <a:rPr lang="zh-CN" sz="1500" dirty="0">
                  <a:solidFill>
                    <a:srgbClr val="1F2937"/>
                  </a:solidFill>
                  <a:latin typeface="+mn-lt"/>
                  <a:ea typeface="+mn-ea"/>
                  <a:cs typeface="+mn-cs"/>
                </a:rPr>
                <a:t>计算负载固定（实</a:t>
              </a:r>
              <a:br/>
              <a:r>
                <a:rPr lang="zh-CN" sz="1500" dirty="0">
                  <a:solidFill>
                    <a:srgbClr val="1F2937"/>
                  </a:solidFill>
                  <a:latin typeface="+mn-lt"/>
                  <a:ea typeface="+mn-ea"/>
                  <a:cs typeface="+mn-cs"/>
                </a:rPr>
                <a:t>时性要求高）</a:t>
              </a:r>
            </a:p>
          </p:txBody>
        </p:sp>
        <p:sp>
          <p:nvSpPr>
            <p:cNvPr id="20" name="TextBox 20"/>
            <p:cNvSpPr txBox="1"/>
            <p:nvPr/>
          </p:nvSpPr>
          <p:spPr>
            <a:xfrm>
              <a:off x="4032885" y="3790950"/>
              <a:ext cx="82296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问题规模</a:t>
              </a:r>
            </a:p>
          </p:txBody>
        </p:sp>
        <p:sp>
          <p:nvSpPr>
            <p:cNvPr id="21" name="TextBox 21"/>
            <p:cNvSpPr txBox="1"/>
            <p:nvPr/>
          </p:nvSpPr>
          <p:spPr>
            <a:xfrm>
              <a:off x="5245418" y="3790950"/>
              <a:ext cx="41910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不变</a:t>
              </a:r>
            </a:p>
          </p:txBody>
        </p:sp>
        <p:sp>
          <p:nvSpPr>
            <p:cNvPr id="22" name="Rectangle 22"/>
            <p:cNvSpPr/>
            <p:nvPr/>
          </p:nvSpPr>
          <p:spPr>
            <a:xfrm>
              <a:off x="533400" y="4268152"/>
              <a:ext cx="6059805" cy="9525"/>
            </a:xfrm>
            <a:prstGeom prst="rect">
              <a:avLst/>
            </a:prstGeom>
            <a:solidFill>
              <a:srgbClr val="D9DFEA"/>
            </a:solidFill>
            <a:ln>
              <a:noFill/>
            </a:ln>
          </p:spPr>
        </p:sp>
        <p:sp>
          <p:nvSpPr>
            <p:cNvPr id="23" name="Rectangle 23"/>
            <p:cNvSpPr/>
            <p:nvPr/>
          </p:nvSpPr>
          <p:spPr>
            <a:xfrm>
              <a:off x="533400" y="4272915"/>
              <a:ext cx="6059805" cy="754380"/>
            </a:xfrm>
            <a:prstGeom prst="rect">
              <a:avLst/>
            </a:prstGeom>
            <a:solidFill>
              <a:srgbClr val="F4F6FB"/>
            </a:solidFill>
            <a:ln>
              <a:noFill/>
            </a:ln>
          </p:spPr>
        </p:sp>
        <p:sp>
          <p:nvSpPr>
            <p:cNvPr id="24" name="TextBox 24"/>
            <p:cNvSpPr txBox="1"/>
            <p:nvPr/>
          </p:nvSpPr>
          <p:spPr>
            <a:xfrm>
              <a:off x="640080" y="4411980"/>
              <a:ext cx="1217295" cy="560070"/>
            </a:xfrm>
            <a:prstGeom prst="rect">
              <a:avLst/>
            </a:prstGeom>
            <a:noFill/>
            <a:ln>
              <a:noFill/>
            </a:ln>
          </p:spPr>
          <p:txBody>
            <a:bodyPr wrap="none" lIns="0" tIns="0" rIns="0" bIns="0" anchor="t" anchorCtr="0">
              <a:spAutoFit/>
            </a:bodyPr>
            <a:lstStyle/>
            <a:p>
              <a:pPr algn="l">
                <a:lnSpc>
                  <a:spcPts val="2100"/>
                </a:lnSpc>
              </a:pPr>
              <a:r>
                <a:rPr lang="en-US" sz="1500" b="1" dirty="0">
                  <a:solidFill>
                    <a:srgbClr val="1F2937"/>
                  </a:solidFill>
                  <a:latin typeface="+mn-lt"/>
                  <a:ea typeface="+mn-ea"/>
                  <a:cs typeface="+mn-cs"/>
                </a:rPr>
                <a:t>Gustafson</a:t>
              </a:r>
              <a:br/>
              <a:r>
                <a:rPr lang="zh-CN" sz="1500" b="1" dirty="0">
                  <a:solidFill>
                    <a:srgbClr val="1F2937"/>
                  </a:solidFill>
                  <a:latin typeface="+mn-lt"/>
                  <a:ea typeface="+mn-ea"/>
                  <a:cs typeface="+mn-cs"/>
                </a:rPr>
                <a:t>定律（1988）</a:t>
              </a:r>
            </a:p>
          </p:txBody>
        </p:sp>
        <p:sp>
          <p:nvSpPr>
            <p:cNvPr id="25" name="TextBox 25"/>
            <p:cNvSpPr txBox="1"/>
            <p:nvPr/>
          </p:nvSpPr>
          <p:spPr>
            <a:xfrm>
              <a:off x="2154555" y="4411980"/>
              <a:ext cx="1539240" cy="560070"/>
            </a:xfrm>
            <a:prstGeom prst="rect">
              <a:avLst/>
            </a:prstGeom>
            <a:noFill/>
            <a:ln>
              <a:noFill/>
            </a:ln>
          </p:spPr>
          <p:txBody>
            <a:bodyPr wrap="none" lIns="0" tIns="0" rIns="0" bIns="0" anchor="t" anchorCtr="0">
              <a:spAutoFit/>
            </a:bodyPr>
            <a:lstStyle/>
            <a:p>
              <a:pPr algn="l">
                <a:lnSpc>
                  <a:spcPts val="2100"/>
                </a:lnSpc>
              </a:pPr>
              <a:r>
                <a:rPr lang="zh-CN" sz="1500" dirty="0">
                  <a:solidFill>
                    <a:srgbClr val="1F2937"/>
                  </a:solidFill>
                  <a:latin typeface="+mn-lt"/>
                  <a:ea typeface="+mn-ea"/>
                  <a:cs typeface="+mn-cs"/>
                </a:rPr>
                <a:t>问题可扩放（精度</a:t>
              </a:r>
              <a:br/>
              <a:r>
                <a:rPr lang="zh-CN" sz="1500" dirty="0">
                  <a:solidFill>
                    <a:srgbClr val="1F2937"/>
                  </a:solidFill>
                  <a:latin typeface="+mn-lt"/>
                  <a:ea typeface="+mn-ea"/>
                  <a:cs typeface="+mn-cs"/>
                </a:rPr>
                <a:t>要求高）</a:t>
              </a:r>
            </a:p>
          </p:txBody>
        </p:sp>
        <p:sp>
          <p:nvSpPr>
            <p:cNvPr id="26" name="TextBox 26"/>
            <p:cNvSpPr txBox="1"/>
            <p:nvPr/>
          </p:nvSpPr>
          <p:spPr>
            <a:xfrm>
              <a:off x="4032885" y="4545330"/>
              <a:ext cx="82296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执行时间</a:t>
              </a:r>
            </a:p>
          </p:txBody>
        </p:sp>
        <p:sp>
          <p:nvSpPr>
            <p:cNvPr id="27" name="TextBox 27"/>
            <p:cNvSpPr txBox="1"/>
            <p:nvPr/>
          </p:nvSpPr>
          <p:spPr>
            <a:xfrm>
              <a:off x="5245418" y="4545330"/>
              <a:ext cx="1068324"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按 N 倍放大</a:t>
              </a:r>
            </a:p>
          </p:txBody>
        </p:sp>
        <p:sp>
          <p:nvSpPr>
            <p:cNvPr id="28" name="Rectangle 28"/>
            <p:cNvSpPr/>
            <p:nvPr/>
          </p:nvSpPr>
          <p:spPr>
            <a:xfrm>
              <a:off x="533400" y="5022532"/>
              <a:ext cx="6059805" cy="9525"/>
            </a:xfrm>
            <a:prstGeom prst="rect">
              <a:avLst/>
            </a:prstGeom>
            <a:solidFill>
              <a:srgbClr val="D9DFEA"/>
            </a:solidFill>
            <a:ln>
              <a:noFill/>
            </a:ln>
          </p:spPr>
        </p:sp>
        <p:sp>
          <p:nvSpPr>
            <p:cNvPr id="29" name="TextBox 29"/>
            <p:cNvSpPr txBox="1"/>
            <p:nvPr/>
          </p:nvSpPr>
          <p:spPr>
            <a:xfrm>
              <a:off x="640080" y="5166360"/>
              <a:ext cx="1186339" cy="560070"/>
            </a:xfrm>
            <a:prstGeom prst="rect">
              <a:avLst/>
            </a:prstGeom>
            <a:noFill/>
            <a:ln>
              <a:noFill/>
            </a:ln>
          </p:spPr>
          <p:txBody>
            <a:bodyPr wrap="none" lIns="0" tIns="0" rIns="0" bIns="0" anchor="t" anchorCtr="0">
              <a:spAutoFit/>
            </a:bodyPr>
            <a:lstStyle/>
            <a:p>
              <a:pPr algn="l">
                <a:lnSpc>
                  <a:spcPts val="2100"/>
                </a:lnSpc>
              </a:pPr>
              <a:r>
                <a:rPr lang="zh-CN" sz="1500" b="1" dirty="0">
                  <a:solidFill>
                    <a:srgbClr val="1F2937"/>
                  </a:solidFill>
                  <a:latin typeface="+mn-lt"/>
                  <a:ea typeface="+mn-ea"/>
                  <a:cs typeface="+mn-cs"/>
                </a:rPr>
                <a:t>Sun &amp; Ni 定律</a:t>
              </a:r>
              <a:br/>
              <a:r>
                <a:rPr lang="zh-CN" sz="1500" b="1" dirty="0">
                  <a:solidFill>
                    <a:srgbClr val="1F2937"/>
                  </a:solidFill>
                  <a:latin typeface="+mn-lt"/>
                  <a:ea typeface="+mn-ea"/>
                  <a:cs typeface="+mn-cs"/>
                </a:rPr>
                <a:t>（1993）</a:t>
              </a:r>
            </a:p>
          </p:txBody>
        </p:sp>
        <p:sp>
          <p:nvSpPr>
            <p:cNvPr id="30" name="TextBox 30"/>
            <p:cNvSpPr txBox="1"/>
            <p:nvPr/>
          </p:nvSpPr>
          <p:spPr>
            <a:xfrm>
              <a:off x="2154555" y="5299710"/>
              <a:ext cx="122682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存储容量受限</a:t>
              </a:r>
            </a:p>
          </p:txBody>
        </p:sp>
        <p:sp>
          <p:nvSpPr>
            <p:cNvPr id="31" name="TextBox 31"/>
            <p:cNvSpPr txBox="1"/>
            <p:nvPr/>
          </p:nvSpPr>
          <p:spPr>
            <a:xfrm>
              <a:off x="4032885" y="5166360"/>
              <a:ext cx="777240" cy="560070"/>
            </a:xfrm>
            <a:prstGeom prst="rect">
              <a:avLst/>
            </a:prstGeom>
            <a:noFill/>
            <a:ln>
              <a:noFill/>
            </a:ln>
          </p:spPr>
          <p:txBody>
            <a:bodyPr wrap="none" lIns="0" tIns="0" rIns="0" bIns="0" anchor="t" anchorCtr="0">
              <a:spAutoFit/>
            </a:bodyPr>
            <a:lstStyle/>
            <a:p>
              <a:pPr algn="l">
                <a:lnSpc>
                  <a:spcPts val="2100"/>
                </a:lnSpc>
              </a:pPr>
              <a:r>
                <a:rPr lang="zh-CN" sz="1500" dirty="0">
                  <a:solidFill>
                    <a:srgbClr val="1F2937"/>
                  </a:solidFill>
                  <a:latin typeface="+mn-lt"/>
                  <a:ea typeface="+mn-ea"/>
                  <a:cs typeface="+mn-cs"/>
                </a:rPr>
                <a:t>每节点存</a:t>
              </a:r>
              <a:br/>
              <a:r>
                <a:rPr lang="zh-CN" sz="1500" dirty="0">
                  <a:solidFill>
                    <a:srgbClr val="1F2937"/>
                  </a:solidFill>
                  <a:latin typeface="+mn-lt"/>
                  <a:ea typeface="+mn-ea"/>
                  <a:cs typeface="+mn-cs"/>
                </a:rPr>
                <a:t>储用满</a:t>
              </a:r>
            </a:p>
          </p:txBody>
        </p:sp>
        <p:sp>
          <p:nvSpPr>
            <p:cNvPr id="32" name="TextBox 32"/>
            <p:cNvSpPr txBox="1"/>
            <p:nvPr/>
          </p:nvSpPr>
          <p:spPr>
            <a:xfrm>
              <a:off x="5245418" y="5299710"/>
              <a:ext cx="1218438"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按 G(N) 放大</a:t>
              </a:r>
            </a:p>
          </p:txBody>
        </p:sp>
        <p:sp>
          <p:nvSpPr>
            <p:cNvPr id="33" name="Rectangle 33"/>
            <p:cNvSpPr/>
            <p:nvPr/>
          </p:nvSpPr>
          <p:spPr>
            <a:xfrm>
              <a:off x="533400" y="3030855"/>
              <a:ext cx="6059805" cy="2750820"/>
            </a:xfrm>
            <a:prstGeom prst="rect">
              <a:avLst/>
            </a:prstGeom>
            <a:noFill/>
            <a:ln w="14288">
              <a:solidFill>
                <a:srgbClr val="D9DFEA"/>
              </a:solidFill>
            </a:ln>
          </p:spPr>
        </p:sp>
        <p:sp>
          <p:nvSpPr>
            <p:cNvPr id="34" name="Rectangle 34"/>
            <p:cNvSpPr/>
            <p:nvPr/>
          </p:nvSpPr>
          <p:spPr>
            <a:xfrm>
              <a:off x="2043112" y="3030855"/>
              <a:ext cx="9525" cy="2750820"/>
            </a:xfrm>
            <a:prstGeom prst="rect">
              <a:avLst/>
            </a:prstGeom>
            <a:solidFill>
              <a:srgbClr val="D9DFEA"/>
            </a:solidFill>
            <a:ln>
              <a:noFill/>
            </a:ln>
          </p:spPr>
        </p:sp>
        <p:sp>
          <p:nvSpPr>
            <p:cNvPr id="35" name="Rectangle 35"/>
            <p:cNvSpPr/>
            <p:nvPr/>
          </p:nvSpPr>
          <p:spPr>
            <a:xfrm>
              <a:off x="3921442" y="3030855"/>
              <a:ext cx="9525" cy="2750820"/>
            </a:xfrm>
            <a:prstGeom prst="rect">
              <a:avLst/>
            </a:prstGeom>
            <a:solidFill>
              <a:srgbClr val="D9DFEA"/>
            </a:solidFill>
            <a:ln>
              <a:noFill/>
            </a:ln>
          </p:spPr>
        </p:sp>
        <p:sp>
          <p:nvSpPr>
            <p:cNvPr id="36" name="Rectangle 36"/>
            <p:cNvSpPr/>
            <p:nvPr/>
          </p:nvSpPr>
          <p:spPr>
            <a:xfrm>
              <a:off x="5133975" y="3030855"/>
              <a:ext cx="9525" cy="2750820"/>
            </a:xfrm>
            <a:prstGeom prst="rect">
              <a:avLst/>
            </a:prstGeom>
            <a:solidFill>
              <a:srgbClr val="D9DFEA"/>
            </a:solidFill>
            <a:ln>
              <a:noFill/>
            </a:ln>
          </p:spPr>
        </p:sp>
      </p:grpSp>
      <p:grpSp>
        <p:nvGrpSpPr>
          <p:cNvPr id="73" name="c2-table-1"/>
          <p:cNvGrpSpPr/>
          <p:nvPr/>
        </p:nvGrpSpPr>
        <p:grpSpPr>
          <a:xfrm>
            <a:off x="6892290" y="1524000"/>
            <a:ext cx="4766310" cy="3863816"/>
            <a:chOff x="6892290" y="1524000"/>
            <a:chExt cx="4766310" cy="3863816"/>
          </a:xfrm>
        </p:grpSpPr>
        <p:sp>
          <p:nvSpPr>
            <p:cNvPr id="38" name="Rectangle 38"/>
            <p:cNvSpPr/>
            <p:nvPr/>
          </p:nvSpPr>
          <p:spPr>
            <a:xfrm>
              <a:off x="6898005" y="1524000"/>
              <a:ext cx="4760595" cy="448628"/>
            </a:xfrm>
            <a:prstGeom prst="rect">
              <a:avLst/>
            </a:prstGeom>
            <a:solidFill>
              <a:srgbClr val="334E68"/>
            </a:solidFill>
            <a:ln>
              <a:noFill/>
            </a:ln>
          </p:spPr>
        </p:sp>
        <p:sp>
          <p:nvSpPr>
            <p:cNvPr id="39" name="TextBox 39"/>
            <p:cNvSpPr txBox="1"/>
            <p:nvPr/>
          </p:nvSpPr>
          <p:spPr>
            <a:xfrm>
              <a:off x="7117448" y="1659731"/>
              <a:ext cx="702208"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本讲记号</a:t>
              </a:r>
            </a:p>
          </p:txBody>
        </p:sp>
        <p:sp>
          <p:nvSpPr>
            <p:cNvPr id="40" name="TextBox 40"/>
            <p:cNvSpPr txBox="1"/>
            <p:nvPr/>
          </p:nvSpPr>
          <p:spPr>
            <a:xfrm>
              <a:off x="8174292" y="1659731"/>
              <a:ext cx="874522"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原课件记号</a:t>
              </a:r>
            </a:p>
          </p:txBody>
        </p:sp>
        <p:sp>
          <p:nvSpPr>
            <p:cNvPr id="41" name="TextBox 41"/>
            <p:cNvSpPr txBox="1"/>
            <p:nvPr/>
          </p:nvSpPr>
          <p:spPr>
            <a:xfrm>
              <a:off x="10241559" y="1659731"/>
              <a:ext cx="357581"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含义</a:t>
              </a:r>
            </a:p>
          </p:txBody>
        </p:sp>
        <p:sp>
          <p:nvSpPr>
            <p:cNvPr id="42" name="TextBox 42"/>
            <p:cNvSpPr txBox="1"/>
            <p:nvPr/>
          </p:nvSpPr>
          <p:spPr>
            <a:xfrm>
              <a:off x="7005828" y="2108359"/>
              <a:ext cx="118098" cy="249364"/>
            </a:xfrm>
            <a:prstGeom prst="rect">
              <a:avLst/>
            </a:prstGeom>
            <a:noFill/>
            <a:ln>
              <a:noFill/>
            </a:ln>
          </p:spPr>
          <p:txBody>
            <a:bodyPr wrap="none" lIns="0" tIns="0" rIns="0" bIns="0" anchor="t" anchorCtr="0">
              <a:spAutoFit/>
            </a:bodyPr>
            <a:lstStyle/>
            <a:p>
              <a:pPr algn="l"/>
              <a:r>
                <a:rPr lang="en-US" sz="1280" b="1" dirty="0">
                  <a:solidFill>
                    <a:srgbClr val="1F2937"/>
                  </a:solidFill>
                  <a:latin typeface="+mn-lt"/>
                  <a:ea typeface="+mn-ea"/>
                  <a:cs typeface="+mn-cs"/>
                </a:rPr>
                <a:t>N</a:t>
              </a:r>
            </a:p>
          </p:txBody>
        </p:sp>
        <p:sp>
          <p:nvSpPr>
            <p:cNvPr id="43" name="TextBox 43"/>
            <p:cNvSpPr txBox="1"/>
            <p:nvPr/>
          </p:nvSpPr>
          <p:spPr>
            <a:xfrm>
              <a:off x="8147876" y="2108359"/>
              <a:ext cx="113091" cy="249364"/>
            </a:xfrm>
            <a:prstGeom prst="rect">
              <a:avLst/>
            </a:prstGeom>
            <a:noFill/>
            <a:ln>
              <a:noFill/>
            </a:ln>
          </p:spPr>
          <p:txBody>
            <a:bodyPr wrap="none" lIns="0" tIns="0" rIns="0" bIns="0" anchor="t" anchorCtr="0">
              <a:spAutoFit/>
            </a:bodyPr>
            <a:lstStyle/>
            <a:p>
              <a:pPr algn="l"/>
              <a:r>
                <a:rPr lang="en-US" sz="1280" dirty="0">
                  <a:solidFill>
                    <a:srgbClr val="1F2937"/>
                  </a:solidFill>
                  <a:latin typeface="+mn-lt"/>
                  <a:ea typeface="+mn-ea"/>
                  <a:cs typeface="+mn-cs"/>
                </a:rPr>
                <a:t>P</a:t>
              </a:r>
            </a:p>
          </p:txBody>
        </p:sp>
        <p:sp>
          <p:nvSpPr>
            <p:cNvPr id="44" name="TextBox 44"/>
            <p:cNvSpPr txBox="1"/>
            <p:nvPr/>
          </p:nvSpPr>
          <p:spPr>
            <a:xfrm>
              <a:off x="9290876" y="2108359"/>
              <a:ext cx="702208"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处理器数</a:t>
              </a:r>
            </a:p>
          </p:txBody>
        </p:sp>
        <p:sp>
          <p:nvSpPr>
            <p:cNvPr id="45" name="Rectangle 45"/>
            <p:cNvSpPr/>
            <p:nvPr/>
          </p:nvSpPr>
          <p:spPr>
            <a:xfrm>
              <a:off x="6898005" y="2416492"/>
              <a:ext cx="4760595" cy="9525"/>
            </a:xfrm>
            <a:prstGeom prst="rect">
              <a:avLst/>
            </a:prstGeom>
            <a:solidFill>
              <a:srgbClr val="D9DFEA"/>
            </a:solidFill>
            <a:ln>
              <a:noFill/>
            </a:ln>
          </p:spPr>
        </p:sp>
        <p:sp>
          <p:nvSpPr>
            <p:cNvPr id="46" name="Rectangle 46"/>
            <p:cNvSpPr/>
            <p:nvPr/>
          </p:nvSpPr>
          <p:spPr>
            <a:xfrm>
              <a:off x="6898005" y="2421255"/>
              <a:ext cx="4760595" cy="448628"/>
            </a:xfrm>
            <a:prstGeom prst="rect">
              <a:avLst/>
            </a:prstGeom>
            <a:solidFill>
              <a:srgbClr val="F4F6FB"/>
            </a:solidFill>
            <a:ln>
              <a:noFill/>
            </a:ln>
          </p:spPr>
        </p:sp>
        <p:sp>
          <p:nvSpPr>
            <p:cNvPr id="47" name="TextBox 47"/>
            <p:cNvSpPr txBox="1"/>
            <p:nvPr/>
          </p:nvSpPr>
          <p:spPr>
            <a:xfrm>
              <a:off x="7005828" y="2556986"/>
              <a:ext cx="156332" cy="249364"/>
            </a:xfrm>
            <a:prstGeom prst="rect">
              <a:avLst/>
            </a:prstGeom>
            <a:noFill/>
            <a:ln>
              <a:noFill/>
            </a:ln>
          </p:spPr>
          <p:txBody>
            <a:bodyPr wrap="none" lIns="0" tIns="0" rIns="0" bIns="0" anchor="t" anchorCtr="0">
              <a:spAutoFit/>
            </a:bodyPr>
            <a:lstStyle/>
            <a:p>
              <a:pPr algn="l"/>
              <a:r>
                <a:rPr lang="en-US" sz="1280" b="1" dirty="0">
                  <a:solidFill>
                    <a:srgbClr val="1F2937"/>
                  </a:solidFill>
                  <a:latin typeface="+mn-lt"/>
                  <a:ea typeface="+mn-ea"/>
                  <a:cs typeface="+mn-cs"/>
                </a:rPr>
                <a:t>W</a:t>
              </a:r>
            </a:p>
          </p:txBody>
        </p:sp>
        <p:sp>
          <p:nvSpPr>
            <p:cNvPr id="48" name="TextBox 48"/>
            <p:cNvSpPr txBox="1"/>
            <p:nvPr/>
          </p:nvSpPr>
          <p:spPr>
            <a:xfrm>
              <a:off x="8147876" y="2556986"/>
              <a:ext cx="149504" cy="249364"/>
            </a:xfrm>
            <a:prstGeom prst="rect">
              <a:avLst/>
            </a:prstGeom>
            <a:noFill/>
            <a:ln>
              <a:noFill/>
            </a:ln>
          </p:spPr>
          <p:txBody>
            <a:bodyPr wrap="none" lIns="0" tIns="0" rIns="0" bIns="0" anchor="t" anchorCtr="0">
              <a:spAutoFit/>
            </a:bodyPr>
            <a:lstStyle/>
            <a:p>
              <a:pPr algn="l"/>
              <a:r>
                <a:rPr lang="en-US" sz="1280" dirty="0">
                  <a:solidFill>
                    <a:srgbClr val="1F2937"/>
                  </a:solidFill>
                  <a:latin typeface="+mn-lt"/>
                  <a:ea typeface="+mn-ea"/>
                  <a:cs typeface="+mn-cs"/>
                </a:rPr>
                <a:t>W</a:t>
              </a:r>
            </a:p>
          </p:txBody>
        </p:sp>
        <p:sp>
          <p:nvSpPr>
            <p:cNvPr id="49" name="TextBox 49"/>
            <p:cNvSpPr txBox="1"/>
            <p:nvPr/>
          </p:nvSpPr>
          <p:spPr>
            <a:xfrm>
              <a:off x="9290876" y="2556986"/>
              <a:ext cx="2080717"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问题规模（计算负载总量）</a:t>
              </a:r>
            </a:p>
          </p:txBody>
        </p:sp>
        <p:sp>
          <p:nvSpPr>
            <p:cNvPr id="50" name="Rectangle 50"/>
            <p:cNvSpPr/>
            <p:nvPr/>
          </p:nvSpPr>
          <p:spPr>
            <a:xfrm>
              <a:off x="6898005" y="2866072"/>
              <a:ext cx="4760595" cy="9525"/>
            </a:xfrm>
            <a:prstGeom prst="rect">
              <a:avLst/>
            </a:prstGeom>
            <a:solidFill>
              <a:srgbClr val="D9DFEA"/>
            </a:solidFill>
            <a:ln>
              <a:noFill/>
            </a:ln>
          </p:spPr>
        </p:sp>
        <p:sp>
          <p:nvSpPr>
            <p:cNvPr id="51" name="TextBox 51"/>
            <p:cNvSpPr txBox="1"/>
            <p:nvPr/>
          </p:nvSpPr>
          <p:spPr>
            <a:xfrm>
              <a:off x="7005828" y="3005614"/>
              <a:ext cx="682311"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Wₛ、Wₚ</a:t>
              </a:r>
            </a:p>
          </p:txBody>
        </p:sp>
        <p:sp>
          <p:nvSpPr>
            <p:cNvPr id="52" name="TextBox 52"/>
            <p:cNvSpPr txBox="1"/>
            <p:nvPr/>
          </p:nvSpPr>
          <p:spPr>
            <a:xfrm>
              <a:off x="8147876" y="3005614"/>
              <a:ext cx="645963"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Ws、Wp</a:t>
              </a:r>
            </a:p>
          </p:txBody>
        </p:sp>
        <p:sp>
          <p:nvSpPr>
            <p:cNvPr id="53" name="TextBox 53"/>
            <p:cNvSpPr txBox="1"/>
            <p:nvPr/>
          </p:nvSpPr>
          <p:spPr>
            <a:xfrm>
              <a:off x="9290876" y="3005614"/>
              <a:ext cx="1908404"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可串行分量、可并行分量</a:t>
              </a:r>
            </a:p>
          </p:txBody>
        </p:sp>
        <p:sp>
          <p:nvSpPr>
            <p:cNvPr id="54" name="Rectangle 54"/>
            <p:cNvSpPr/>
            <p:nvPr/>
          </p:nvSpPr>
          <p:spPr>
            <a:xfrm>
              <a:off x="6898005" y="3314700"/>
              <a:ext cx="4760595" cy="9525"/>
            </a:xfrm>
            <a:prstGeom prst="rect">
              <a:avLst/>
            </a:prstGeom>
            <a:solidFill>
              <a:srgbClr val="D9DFEA"/>
            </a:solidFill>
            <a:ln>
              <a:noFill/>
            </a:ln>
          </p:spPr>
        </p:sp>
        <p:sp>
          <p:nvSpPr>
            <p:cNvPr id="55" name="Rectangle 55"/>
            <p:cNvSpPr/>
            <p:nvPr/>
          </p:nvSpPr>
          <p:spPr>
            <a:xfrm>
              <a:off x="6898005" y="3319462"/>
              <a:ext cx="4760595" cy="675322"/>
            </a:xfrm>
            <a:prstGeom prst="rect">
              <a:avLst/>
            </a:prstGeom>
            <a:solidFill>
              <a:srgbClr val="F4F6FB"/>
            </a:solidFill>
            <a:ln>
              <a:noFill/>
            </a:ln>
          </p:spPr>
        </p:sp>
        <p:sp>
          <p:nvSpPr>
            <p:cNvPr id="56" name="Rectangle 56"/>
            <p:cNvSpPr/>
            <p:nvPr/>
          </p:nvSpPr>
          <p:spPr>
            <a:xfrm>
              <a:off x="6907530" y="3328988"/>
              <a:ext cx="1123950" cy="656272"/>
            </a:xfrm>
            <a:prstGeom prst="rect">
              <a:avLst/>
            </a:prstGeom>
            <a:solidFill>
              <a:srgbClr val="FDEEE7"/>
            </a:solidFill>
            <a:ln>
              <a:noFill/>
            </a:ln>
          </p:spPr>
        </p:sp>
        <p:sp>
          <p:nvSpPr>
            <p:cNvPr id="57" name="TextBox 57"/>
            <p:cNvSpPr txBox="1"/>
            <p:nvPr/>
          </p:nvSpPr>
          <p:spPr>
            <a:xfrm>
              <a:off x="7005828" y="3567589"/>
              <a:ext cx="211976" cy="249364"/>
            </a:xfrm>
            <a:prstGeom prst="rect">
              <a:avLst/>
            </a:prstGeom>
            <a:noFill/>
            <a:ln>
              <a:noFill/>
            </a:ln>
          </p:spPr>
          <p:txBody>
            <a:bodyPr wrap="none" lIns="0" tIns="0" rIns="0" bIns="0" anchor="t" anchorCtr="0">
              <a:spAutoFit/>
            </a:bodyPr>
            <a:lstStyle/>
            <a:p>
              <a:pPr algn="l"/>
              <a:r>
                <a:rPr lang="en-US" sz="1280" b="1" dirty="0">
                  <a:solidFill>
                    <a:srgbClr val="1F2937"/>
                  </a:solidFill>
                  <a:latin typeface="+mn-lt"/>
                  <a:ea typeface="+mn-ea"/>
                  <a:cs typeface="+mn-cs"/>
                </a:rPr>
                <a:t>rₛ</a:t>
              </a:r>
            </a:p>
          </p:txBody>
        </p:sp>
        <p:sp>
          <p:nvSpPr>
            <p:cNvPr id="58" name="TextBox 58"/>
            <p:cNvSpPr txBox="1"/>
            <p:nvPr/>
          </p:nvSpPr>
          <p:spPr>
            <a:xfrm>
              <a:off x="8147876" y="3567589"/>
              <a:ext cx="107726" cy="249364"/>
            </a:xfrm>
            <a:prstGeom prst="rect">
              <a:avLst/>
            </a:prstGeom>
            <a:noFill/>
            <a:ln>
              <a:noFill/>
            </a:ln>
          </p:spPr>
          <p:txBody>
            <a:bodyPr wrap="none" lIns="0" tIns="0" rIns="0" bIns="0" anchor="t" anchorCtr="0">
              <a:spAutoFit/>
            </a:bodyPr>
            <a:lstStyle/>
            <a:p>
              <a:pPr algn="l"/>
              <a:r>
                <a:rPr lang="en-US" sz="1280" dirty="0">
                  <a:solidFill>
                    <a:srgbClr val="1F2937"/>
                  </a:solidFill>
                  <a:latin typeface="+mn-lt"/>
                  <a:ea typeface="+mn-ea"/>
                  <a:cs typeface="+mn-cs"/>
                </a:rPr>
                <a:t>f</a:t>
              </a:r>
            </a:p>
          </p:txBody>
        </p:sp>
        <p:sp>
          <p:nvSpPr>
            <p:cNvPr id="59" name="TextBox 59"/>
            <p:cNvSpPr txBox="1"/>
            <p:nvPr/>
          </p:nvSpPr>
          <p:spPr>
            <a:xfrm>
              <a:off x="9290876" y="3454241"/>
              <a:ext cx="2142490" cy="476059"/>
            </a:xfrm>
            <a:prstGeom prst="rect">
              <a:avLst/>
            </a:prstGeom>
            <a:noFill/>
            <a:ln>
              <a:noFill/>
            </a:ln>
          </p:spPr>
          <p:txBody>
            <a:bodyPr wrap="none" lIns="0" tIns="0" rIns="0" bIns="0" anchor="t" anchorCtr="0">
              <a:spAutoFit/>
            </a:bodyPr>
            <a:lstStyle/>
            <a:p>
              <a:pPr algn="l">
                <a:lnSpc>
                  <a:spcPts val="1785"/>
                </a:lnSpc>
              </a:pPr>
              <a:r>
                <a:rPr lang="zh-CN" sz="1280" dirty="0">
                  <a:solidFill>
                    <a:srgbClr val="1F2937"/>
                  </a:solidFill>
                  <a:latin typeface="+mn-lt"/>
                  <a:ea typeface="+mn-ea"/>
                  <a:cs typeface="+mn-cs"/>
                </a:rPr>
                <a:t>可串行分量的比例，1 − rₛ 为</a:t>
              </a:r>
              <a:br/>
              <a:r>
                <a:rPr lang="zh-CN" sz="1280" dirty="0">
                  <a:solidFill>
                    <a:srgbClr val="1F2937"/>
                  </a:solidFill>
                  <a:latin typeface="+mn-lt"/>
                  <a:ea typeface="+mn-ea"/>
                  <a:cs typeface="+mn-cs"/>
                </a:rPr>
                <a:t>可并行比例</a:t>
              </a:r>
            </a:p>
          </p:txBody>
        </p:sp>
        <p:sp>
          <p:nvSpPr>
            <p:cNvPr id="60" name="Rectangle 60"/>
            <p:cNvSpPr/>
            <p:nvPr/>
          </p:nvSpPr>
          <p:spPr>
            <a:xfrm>
              <a:off x="6898005" y="3990022"/>
              <a:ext cx="4760595" cy="9525"/>
            </a:xfrm>
            <a:prstGeom prst="rect">
              <a:avLst/>
            </a:prstGeom>
            <a:solidFill>
              <a:srgbClr val="D9DFEA"/>
            </a:solidFill>
            <a:ln>
              <a:noFill/>
            </a:ln>
          </p:spPr>
        </p:sp>
        <p:sp>
          <p:nvSpPr>
            <p:cNvPr id="61" name="TextBox 61"/>
            <p:cNvSpPr txBox="1"/>
            <p:nvPr/>
          </p:nvSpPr>
          <p:spPr>
            <a:xfrm>
              <a:off x="7005828" y="4130516"/>
              <a:ext cx="605843"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Tₛ、Tₚ</a:t>
              </a:r>
            </a:p>
          </p:txBody>
        </p:sp>
        <p:sp>
          <p:nvSpPr>
            <p:cNvPr id="62" name="TextBox 62"/>
            <p:cNvSpPr txBox="1"/>
            <p:nvPr/>
          </p:nvSpPr>
          <p:spPr>
            <a:xfrm>
              <a:off x="8147876" y="4130516"/>
              <a:ext cx="575086"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Ts、Tp</a:t>
              </a:r>
            </a:p>
          </p:txBody>
        </p:sp>
        <p:sp>
          <p:nvSpPr>
            <p:cNvPr id="63" name="TextBox 63"/>
            <p:cNvSpPr txBox="1"/>
            <p:nvPr/>
          </p:nvSpPr>
          <p:spPr>
            <a:xfrm>
              <a:off x="9290876" y="4130516"/>
              <a:ext cx="1563776"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串行、并行执行时间</a:t>
              </a:r>
            </a:p>
          </p:txBody>
        </p:sp>
        <p:sp>
          <p:nvSpPr>
            <p:cNvPr id="64" name="Rectangle 64"/>
            <p:cNvSpPr/>
            <p:nvPr/>
          </p:nvSpPr>
          <p:spPr>
            <a:xfrm>
              <a:off x="6898005" y="4438650"/>
              <a:ext cx="4760595" cy="9525"/>
            </a:xfrm>
            <a:prstGeom prst="rect">
              <a:avLst/>
            </a:prstGeom>
            <a:solidFill>
              <a:srgbClr val="D9DFEA"/>
            </a:solidFill>
            <a:ln>
              <a:noFill/>
            </a:ln>
          </p:spPr>
        </p:sp>
        <p:sp>
          <p:nvSpPr>
            <p:cNvPr id="65" name="Rectangle 65"/>
            <p:cNvSpPr/>
            <p:nvPr/>
          </p:nvSpPr>
          <p:spPr>
            <a:xfrm>
              <a:off x="6898005" y="4443412"/>
              <a:ext cx="4760595" cy="448628"/>
            </a:xfrm>
            <a:prstGeom prst="rect">
              <a:avLst/>
            </a:prstGeom>
            <a:solidFill>
              <a:srgbClr val="F4F6FB"/>
            </a:solidFill>
            <a:ln>
              <a:noFill/>
            </a:ln>
          </p:spPr>
        </p:sp>
        <p:sp>
          <p:nvSpPr>
            <p:cNvPr id="66" name="TextBox 66"/>
            <p:cNvSpPr txBox="1"/>
            <p:nvPr/>
          </p:nvSpPr>
          <p:spPr>
            <a:xfrm>
              <a:off x="7005828" y="4579144"/>
              <a:ext cx="395555"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S、E</a:t>
              </a:r>
            </a:p>
          </p:txBody>
        </p:sp>
        <p:sp>
          <p:nvSpPr>
            <p:cNvPr id="67" name="TextBox 67"/>
            <p:cNvSpPr txBox="1"/>
            <p:nvPr/>
          </p:nvSpPr>
          <p:spPr>
            <a:xfrm>
              <a:off x="8147876" y="4579144"/>
              <a:ext cx="385542"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S、E</a:t>
              </a:r>
            </a:p>
          </p:txBody>
        </p:sp>
        <p:sp>
          <p:nvSpPr>
            <p:cNvPr id="68" name="TextBox 68"/>
            <p:cNvSpPr txBox="1"/>
            <p:nvPr/>
          </p:nvSpPr>
          <p:spPr>
            <a:xfrm>
              <a:off x="9290876" y="4579144"/>
              <a:ext cx="1046836"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加速比、效率</a:t>
              </a:r>
            </a:p>
          </p:txBody>
        </p:sp>
        <p:sp>
          <p:nvSpPr>
            <p:cNvPr id="69" name="Rectangle 69"/>
            <p:cNvSpPr/>
            <p:nvPr/>
          </p:nvSpPr>
          <p:spPr>
            <a:xfrm>
              <a:off x="6898005" y="1524000"/>
              <a:ext cx="4760595" cy="3368040"/>
            </a:xfrm>
            <a:prstGeom prst="rect">
              <a:avLst/>
            </a:prstGeom>
            <a:noFill/>
            <a:ln w="14288">
              <a:solidFill>
                <a:srgbClr val="D9DFEA"/>
              </a:solidFill>
            </a:ln>
          </p:spPr>
        </p:sp>
        <p:sp>
          <p:nvSpPr>
            <p:cNvPr id="70" name="Rectangle 70"/>
            <p:cNvSpPr/>
            <p:nvPr/>
          </p:nvSpPr>
          <p:spPr>
            <a:xfrm>
              <a:off x="8035290" y="1524000"/>
              <a:ext cx="9525" cy="3368040"/>
            </a:xfrm>
            <a:prstGeom prst="rect">
              <a:avLst/>
            </a:prstGeom>
            <a:solidFill>
              <a:srgbClr val="D9DFEA"/>
            </a:solidFill>
            <a:ln>
              <a:noFill/>
            </a:ln>
          </p:spPr>
        </p:sp>
        <p:sp>
          <p:nvSpPr>
            <p:cNvPr id="71" name="Rectangle 71"/>
            <p:cNvSpPr/>
            <p:nvPr/>
          </p:nvSpPr>
          <p:spPr>
            <a:xfrm>
              <a:off x="9178290" y="1524000"/>
              <a:ext cx="9525" cy="3368040"/>
            </a:xfrm>
            <a:prstGeom prst="rect">
              <a:avLst/>
            </a:prstGeom>
            <a:solidFill>
              <a:srgbClr val="D9DFEA"/>
            </a:solidFill>
            <a:ln>
              <a:noFill/>
            </a:ln>
          </p:spPr>
        </p:sp>
        <p:sp>
          <p:nvSpPr>
            <p:cNvPr id="72" name="TextBox 72"/>
            <p:cNvSpPr txBox="1"/>
            <p:nvPr/>
          </p:nvSpPr>
          <p:spPr>
            <a:xfrm>
              <a:off x="6892290" y="4967764"/>
              <a:ext cx="4513326" cy="420052"/>
            </a:xfrm>
            <a:prstGeom prst="rect">
              <a:avLst/>
            </a:prstGeom>
            <a:noFill/>
            <a:ln>
              <a:noFill/>
            </a:ln>
          </p:spPr>
          <p:txBody>
            <a:bodyPr wrap="none" lIns="0" tIns="0" rIns="0" bIns="0" anchor="t" anchorCtr="0">
              <a:spAutoFit/>
            </a:bodyPr>
            <a:lstStyle/>
            <a:p>
              <a:pPr algn="l">
                <a:lnSpc>
                  <a:spcPts val="1575"/>
                </a:lnSpc>
              </a:pPr>
              <a:r>
                <a:rPr lang="zh-CN" sz="1120" dirty="0">
                  <a:solidFill>
                    <a:srgbClr val="5B6475"/>
                  </a:solidFill>
                  <a:latin typeface="+mn-lt"/>
                  <a:ea typeface="+mn-ea"/>
                  <a:cs typeface="+mn-cs"/>
                </a:rPr>
                <a:t>沿用第1章 Amdahl 定律一页的记号：rₛ 为不可加速（串行）比例，N 为</a:t>
              </a:r>
              <a:br/>
              <a:r>
                <a:rPr lang="zh-CN" sz="1120" dirty="0">
                  <a:solidFill>
                    <a:srgbClr val="5B6475"/>
                  </a:solidFill>
                  <a:latin typeface="+mn-lt"/>
                  <a:ea typeface="+mn-ea"/>
                  <a:cs typeface="+mn-cs"/>
                </a:rPr>
                <a:t>处理器数</a:t>
              </a:r>
            </a:p>
          </p:txBody>
        </p:sp>
      </p:grpSp>
      <p:grpSp>
        <p:nvGrpSpPr>
          <p:cNvPr id="76" name="footer"/>
          <p:cNvGrpSpPr/>
          <p:nvPr/>
        </p:nvGrpSpPr>
        <p:grpSpPr>
          <a:xfrm>
            <a:off x="528447" y="6581299"/>
            <a:ext cx="11135106" cy="190690"/>
            <a:chOff x="528447" y="6581299"/>
            <a:chExt cx="11135106" cy="190690"/>
          </a:xfrm>
        </p:grpSpPr>
        <p:sp>
          <p:nvSpPr>
            <p:cNvPr id="74" name="TextBox 74"/>
            <p:cNvSpPr txBox="1"/>
            <p:nvPr/>
          </p:nvSpPr>
          <p:spPr>
            <a:xfrm>
              <a:off x="528447" y="6581299"/>
              <a:ext cx="2120748"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并行与分布式计算 · 第7章 体系结构</a:t>
              </a:r>
            </a:p>
          </p:txBody>
        </p:sp>
        <p:sp>
          <p:nvSpPr>
            <p:cNvPr id="75" name="TextBox 75"/>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63</a:t>
              </a:r>
            </a:p>
          </p:txBody>
        </p:sp>
      </p:grpSp>
    </p:spTree>
  </p:cSld>
  <p:clrMapOvr>
    <a:masterClrMapping/>
  </p:clrMapOvr>
  <p:transition xmlns:p14="http://schemas.microsoft.com/office/powerpoint/2010/main" p14:dur="400">
    <p:fade/>
  </p:transition>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6123493" cy="909257"/>
            <a:chOff x="520446" y="342900"/>
            <a:chExt cx="6123493" cy="909257"/>
          </a:xfrm>
        </p:grpSpPr>
        <p:sp>
          <p:nvSpPr>
            <p:cNvPr id="2" name="Rectangle 2"/>
            <p:cNvSpPr/>
            <p:nvPr/>
          </p:nvSpPr>
          <p:spPr>
            <a:xfrm>
              <a:off x="533400" y="342900"/>
              <a:ext cx="1987868" cy="266700"/>
            </a:xfrm>
            <a:prstGeom prst="roundRect">
              <a:avLst>
                <a:gd name="adj" fmla="val 50000"/>
              </a:avLst>
            </a:prstGeom>
            <a:solidFill>
              <a:srgbClr val="E7EDF3"/>
            </a:solidFill>
            <a:ln>
              <a:noFill/>
            </a:ln>
          </p:spPr>
        </p:sp>
        <p:sp>
          <p:nvSpPr>
            <p:cNvPr id="3" name="TextBox 3"/>
            <p:cNvSpPr txBox="1"/>
            <p:nvPr/>
          </p:nvSpPr>
          <p:spPr>
            <a:xfrm>
              <a:off x="608957" y="407194"/>
              <a:ext cx="1835800"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第7章 体系结构 · 性能评测</a:t>
              </a:r>
            </a:p>
          </p:txBody>
        </p:sp>
        <p:sp>
          <p:nvSpPr>
            <p:cNvPr id="4" name="TextBox 4"/>
            <p:cNvSpPr txBox="1"/>
            <p:nvPr/>
          </p:nvSpPr>
          <p:spPr>
            <a:xfrm>
              <a:off x="520446" y="753428"/>
              <a:ext cx="6123493"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Amdahl 定律：串行部分给加速比封了顶</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mc:AlternateContent xmlns:mc="http://schemas.openxmlformats.org/markup-compatibility/2006">
        <mc:Choice xmlns:a14="http://schemas.microsoft.com/office/drawing/2010/main" Requires="a14">
          <p:sp>
            <p:nvSpPr>
              <p:cNvPr id="7" name="formula24"/>
              <p:cNvSpPr txBox="1">
                <a:spLocks noGrp="1"/>
              </p:cNvSpPr>
              <p:nvPr/>
            </p:nvSpPr>
            <p:spPr>
              <a:xfrm>
                <a:off x="533400" y="1524000"/>
                <a:ext cx="5842635" cy="591502"/>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r>
                        <a:rPr lang="zh-CN" sz="1720" dirty="0">
                          <a:solidFill>
                            <a:srgbClr val="1F2937"/>
                          </a:solidFill>
                          <a:latin typeface="Cambria Math"/>
                          <a:ea typeface="Cambria Math"/>
                          <a:cs typeface="Cambria Math"/>
                        </a:rPr>
                        <m:t>S</m:t>
                      </m:r>
                      <m:r>
                        <m:rPr>
                          <m:sty m:val="p"/>
                        </m:rPr>
                        <a:rPr lang="zh-CN" sz="1720" dirty="0">
                          <a:solidFill>
                            <a:srgbClr val="1F2937"/>
                          </a:solidFill>
                          <a:latin typeface="Cambria Math"/>
                          <a:ea typeface="Cambria Math"/>
                          <a:cs typeface="Cambria Math"/>
                        </a:rPr>
                        <m:t>=</m:t>
                      </m:r>
                      <m:f>
                        <m:fPr>
                          <m:type m:val="bar"/>
                          <m:ctrlPr>
                            <a:rPr lang="zh-CN" sz="1720" dirty="0">
                              <a:solidFill>
                                <a:srgbClr val="1F2937"/>
                              </a:solidFill>
                              <a:latin typeface="Cambria Math"/>
                              <a:ea typeface="Cambria Math"/>
                              <a:cs typeface="Cambria Math"/>
                            </a:rPr>
                          </m:ctrlPr>
                        </m:fPr>
                        <m:num>
                          <m:sSub>
                            <m:e>
                              <m:r>
                                <a:rPr lang="zh-CN" sz="1720" dirty="0">
                                  <a:solidFill>
                                    <a:srgbClr val="1F2937"/>
                                  </a:solidFill>
                                  <a:latin typeface="Cambria Math"/>
                                  <a:ea typeface="Cambria Math"/>
                                  <a:cs typeface="Cambria Math"/>
                                </a:rPr>
                                <m:t>W</m:t>
                              </m:r>
                            </m:e>
                            <m:sub>
                              <m:r>
                                <a:rPr lang="zh-CN" sz="1720" dirty="0">
                                  <a:solidFill>
                                    <a:srgbClr val="1F2937"/>
                                  </a:solidFill>
                                  <a:latin typeface="Cambria Math"/>
                                  <a:ea typeface="Cambria Math"/>
                                  <a:cs typeface="Cambria Math"/>
                                </a:rPr>
                                <m:t>s</m:t>
                              </m:r>
                            </m:sub>
                          </m:sSub>
                          <m:r>
                            <m:rPr>
                              <m:sty m:val="p"/>
                            </m:rPr>
                            <a:rPr lang="zh-CN" sz="1720" dirty="0">
                              <a:solidFill>
                                <a:srgbClr val="1F2937"/>
                              </a:solidFill>
                              <a:latin typeface="Cambria Math"/>
                              <a:ea typeface="Cambria Math"/>
                              <a:cs typeface="Cambria Math"/>
                            </a:rPr>
                            <m:t>+</m:t>
                          </m:r>
                          <m:sSub>
                            <m:e>
                              <m:r>
                                <a:rPr lang="zh-CN" sz="1720" dirty="0">
                                  <a:solidFill>
                                    <a:srgbClr val="1F2937"/>
                                  </a:solidFill>
                                  <a:latin typeface="Cambria Math"/>
                                  <a:ea typeface="Cambria Math"/>
                                  <a:cs typeface="Cambria Math"/>
                                </a:rPr>
                                <m:t>W</m:t>
                              </m:r>
                            </m:e>
                            <m:sub>
                              <m:r>
                                <a:rPr lang="zh-CN" sz="1720" dirty="0">
                                  <a:solidFill>
                                    <a:srgbClr val="1F2937"/>
                                  </a:solidFill>
                                  <a:latin typeface="Cambria Math"/>
                                  <a:ea typeface="Cambria Math"/>
                                  <a:cs typeface="Cambria Math"/>
                                </a:rPr>
                                <m:t>p</m:t>
                              </m:r>
                            </m:sub>
                          </m:sSub>
                        </m:num>
                        <m:den>
                          <m:sSub>
                            <m:e>
                              <m:r>
                                <a:rPr lang="zh-CN" sz="1720" dirty="0">
                                  <a:solidFill>
                                    <a:srgbClr val="1F2937"/>
                                  </a:solidFill>
                                  <a:latin typeface="Cambria Math"/>
                                  <a:ea typeface="Cambria Math"/>
                                  <a:cs typeface="Cambria Math"/>
                                </a:rPr>
                                <m:t>W</m:t>
                              </m:r>
                            </m:e>
                            <m:sub>
                              <m:r>
                                <a:rPr lang="zh-CN" sz="1720" dirty="0">
                                  <a:solidFill>
                                    <a:srgbClr val="1F2937"/>
                                  </a:solidFill>
                                  <a:latin typeface="Cambria Math"/>
                                  <a:ea typeface="Cambria Math"/>
                                  <a:cs typeface="Cambria Math"/>
                                </a:rPr>
                                <m:t>s</m:t>
                              </m:r>
                            </m:sub>
                          </m:sSub>
                          <m:r>
                            <m:rPr>
                              <m:sty m:val="p"/>
                            </m:rPr>
                            <a:rPr lang="zh-CN" sz="1720" dirty="0">
                              <a:solidFill>
                                <a:srgbClr val="1F2937"/>
                              </a:solidFill>
                              <a:latin typeface="Cambria Math"/>
                              <a:ea typeface="Cambria Math"/>
                              <a:cs typeface="Cambria Math"/>
                            </a:rPr>
                            <m:t>+</m:t>
                          </m:r>
                          <m:sSub>
                            <m:e>
                              <m:r>
                                <a:rPr lang="zh-CN" sz="1720" dirty="0">
                                  <a:solidFill>
                                    <a:srgbClr val="1F2937"/>
                                  </a:solidFill>
                                  <a:latin typeface="Cambria Math"/>
                                  <a:ea typeface="Cambria Math"/>
                                  <a:cs typeface="Cambria Math"/>
                                </a:rPr>
                                <m:t>W</m:t>
                              </m:r>
                            </m:e>
                            <m:sub>
                              <m:r>
                                <a:rPr lang="zh-CN" sz="1720" dirty="0">
                                  <a:solidFill>
                                    <a:srgbClr val="1F2937"/>
                                  </a:solidFill>
                                  <a:latin typeface="Cambria Math"/>
                                  <a:ea typeface="Cambria Math"/>
                                  <a:cs typeface="Cambria Math"/>
                                </a:rPr>
                                <m:t>p</m:t>
                              </m:r>
                            </m:sub>
                          </m:sSub>
                          <m:r>
                            <m:rPr>
                              <m:sty m:val="p"/>
                            </m:rPr>
                            <a:rPr lang="zh-CN" sz="1720" dirty="0">
                              <a:solidFill>
                                <a:srgbClr val="1F2937"/>
                              </a:solidFill>
                              <a:latin typeface="Cambria Math"/>
                              <a:ea typeface="Cambria Math"/>
                              <a:cs typeface="Cambria Math"/>
                            </a:rPr>
                            <m:t>/</m:t>
                          </m:r>
                          <m:r>
                            <a:rPr lang="zh-CN" sz="1720" dirty="0">
                              <a:solidFill>
                                <a:srgbClr val="1F2937"/>
                              </a:solidFill>
                              <a:latin typeface="Cambria Math"/>
                              <a:ea typeface="Cambria Math"/>
                              <a:cs typeface="Cambria Math"/>
                            </a:rPr>
                            <m:t>N</m:t>
                          </m:r>
                        </m:den>
                      </m:f>
                      <m:r>
                        <m:rPr>
                          <m:sty m:val="p"/>
                        </m:rPr>
                        <a:rPr lang="zh-CN" sz="1720" dirty="0">
                          <a:solidFill>
                            <a:srgbClr val="1F2937"/>
                          </a:solidFill>
                          <a:latin typeface="Cambria Math"/>
                          <a:ea typeface="Cambria Math"/>
                          <a:cs typeface="Cambria Math"/>
                        </a:rPr>
                        <m:t>=</m:t>
                      </m:r>
                      <m:f>
                        <m:fPr>
                          <m:type m:val="bar"/>
                          <m:ctrlPr>
                            <a:rPr lang="zh-CN" sz="1720" dirty="0">
                              <a:solidFill>
                                <a:srgbClr val="1F2937"/>
                              </a:solidFill>
                              <a:latin typeface="Cambria Math"/>
                              <a:ea typeface="Cambria Math"/>
                              <a:cs typeface="Cambria Math"/>
                            </a:rPr>
                          </m:ctrlPr>
                        </m:fPr>
                        <m:num>
                          <m:r>
                            <a:rPr lang="zh-CN" sz="1720" dirty="0">
                              <a:solidFill>
                                <a:srgbClr val="1F2937"/>
                              </a:solidFill>
                              <a:latin typeface="Cambria Math"/>
                              <a:ea typeface="Cambria Math"/>
                              <a:cs typeface="Cambria Math"/>
                            </a:rPr>
                            <m:t>1</m:t>
                          </m:r>
                        </m:num>
                        <m:den>
                          <m:sSub>
                            <m:e>
                              <m:r>
                                <a:rPr lang="zh-CN" sz="1720" dirty="0">
                                  <a:solidFill>
                                    <a:srgbClr val="1F2937"/>
                                  </a:solidFill>
                                  <a:latin typeface="Cambria Math"/>
                                  <a:ea typeface="Cambria Math"/>
                                  <a:cs typeface="Cambria Math"/>
                                </a:rPr>
                                <m:t>r</m:t>
                              </m:r>
                            </m:e>
                            <m:sub>
                              <m:r>
                                <a:rPr lang="zh-CN" sz="1720" dirty="0">
                                  <a:solidFill>
                                    <a:srgbClr val="1F2937"/>
                                  </a:solidFill>
                                  <a:latin typeface="Cambria Math"/>
                                  <a:ea typeface="Cambria Math"/>
                                  <a:cs typeface="Cambria Math"/>
                                </a:rPr>
                                <m:t>s</m:t>
                              </m:r>
                            </m:sub>
                          </m:sSub>
                          <m:r>
                            <m:rPr>
                              <m:sty m:val="p"/>
                            </m:rPr>
                            <a:rPr lang="zh-CN" sz="1720" dirty="0">
                              <a:solidFill>
                                <a:srgbClr val="1F2937"/>
                              </a:solidFill>
                              <a:latin typeface="Cambria Math"/>
                              <a:ea typeface="Cambria Math"/>
                              <a:cs typeface="Cambria Math"/>
                            </a:rPr>
                            <m:t>+</m:t>
                          </m:r>
                          <m:d>
                            <m:dPr>
                              <m:begChr m:val="("/>
                              <m:sepChr m:val=""/>
                              <m:endChr m:val=")"/>
                              <m:grow m:val="on"/>
                              <m:ctrlPr>
                                <a:rPr lang="zh-CN" sz="1720" dirty="0">
                                  <a:solidFill>
                                    <a:srgbClr val="1F2937"/>
                                  </a:solidFill>
                                  <a:latin typeface="Cambria Math"/>
                                  <a:ea typeface="Cambria Math"/>
                                  <a:cs typeface="Cambria Math"/>
                                </a:rPr>
                              </m:ctrlPr>
                            </m:dPr>
                            <m:e>
                              <m:r>
                                <a:rPr lang="zh-CN" sz="1720" dirty="0">
                                  <a:solidFill>
                                    <a:srgbClr val="1F2937"/>
                                  </a:solidFill>
                                  <a:latin typeface="Cambria Math"/>
                                  <a:ea typeface="Cambria Math"/>
                                  <a:cs typeface="Cambria Math"/>
                                </a:rPr>
                                <m:t>1</m:t>
                              </m:r>
                              <m:r>
                                <m:rPr>
                                  <m:sty m:val="p"/>
                                </m:rPr>
                                <a:rPr lang="zh-CN" sz="1720" dirty="0">
                                  <a:solidFill>
                                    <a:srgbClr val="1F2937"/>
                                  </a:solidFill>
                                  <a:latin typeface="Cambria Math"/>
                                  <a:ea typeface="Cambria Math"/>
                                  <a:cs typeface="Cambria Math"/>
                                </a:rPr>
                                <m:t>−</m:t>
                              </m:r>
                              <m:sSub>
                                <m:e>
                                  <m:r>
                                    <a:rPr lang="zh-CN" sz="1720" dirty="0">
                                      <a:solidFill>
                                        <a:srgbClr val="1F2937"/>
                                      </a:solidFill>
                                      <a:latin typeface="Cambria Math"/>
                                      <a:ea typeface="Cambria Math"/>
                                      <a:cs typeface="Cambria Math"/>
                                    </a:rPr>
                                    <m:t>r</m:t>
                                  </m:r>
                                </m:e>
                                <m:sub>
                                  <m:r>
                                    <a:rPr lang="zh-CN" sz="1720" dirty="0">
                                      <a:solidFill>
                                        <a:srgbClr val="1F2937"/>
                                      </a:solidFill>
                                      <a:latin typeface="Cambria Math"/>
                                      <a:ea typeface="Cambria Math"/>
                                      <a:cs typeface="Cambria Math"/>
                                    </a:rPr>
                                    <m:t>s</m:t>
                                  </m:r>
                                </m:sub>
                              </m:sSub>
                            </m:e>
                          </m:d>
                          <m:r>
                            <m:rPr>
                              <m:sty m:val="p"/>
                            </m:rPr>
                            <a:rPr lang="zh-CN" sz="1720" dirty="0">
                              <a:solidFill>
                                <a:srgbClr val="1F2937"/>
                              </a:solidFill>
                              <a:latin typeface="Cambria Math"/>
                              <a:ea typeface="Cambria Math"/>
                              <a:cs typeface="Cambria Math"/>
                            </a:rPr>
                            <m:t>/</m:t>
                          </m:r>
                          <m:r>
                            <a:rPr lang="zh-CN" sz="1720" dirty="0">
                              <a:solidFill>
                                <a:srgbClr val="1F2937"/>
                              </a:solidFill>
                              <a:latin typeface="Cambria Math"/>
                              <a:ea typeface="Cambria Math"/>
                              <a:cs typeface="Cambria Math"/>
                            </a:rPr>
                            <m:t>N</m:t>
                          </m:r>
                        </m:den>
                      </m:f>
                      <m:r>
                        <m:rPr>
                          <m:sty m:val="p"/>
                        </m:rPr>
                        <a:rPr lang="zh-CN" sz="1720" dirty="0">
                          <a:solidFill>
                            <a:srgbClr val="1F2937"/>
                          </a:solidFill>
                          <a:latin typeface="Cambria Math"/>
                          <a:ea typeface="Cambria Math"/>
                          <a:cs typeface="Cambria Math"/>
                        </a:rPr>
                        <m:t>=</m:t>
                      </m:r>
                      <m:f>
                        <m:fPr>
                          <m:type m:val="bar"/>
                          <m:ctrlPr>
                            <a:rPr lang="zh-CN" sz="1720" dirty="0">
                              <a:solidFill>
                                <a:srgbClr val="1F2937"/>
                              </a:solidFill>
                              <a:latin typeface="Cambria Math"/>
                              <a:ea typeface="Cambria Math"/>
                              <a:cs typeface="Cambria Math"/>
                            </a:rPr>
                          </m:ctrlPr>
                        </m:fPr>
                        <m:num>
                          <m:r>
                            <a:rPr lang="zh-CN" sz="1720" dirty="0">
                              <a:solidFill>
                                <a:srgbClr val="1F2937"/>
                              </a:solidFill>
                              <a:latin typeface="Cambria Math"/>
                              <a:ea typeface="Cambria Math"/>
                              <a:cs typeface="Cambria Math"/>
                            </a:rPr>
                            <m:t>N</m:t>
                          </m:r>
                        </m:num>
                        <m:den>
                          <m:r>
                            <a:rPr lang="zh-CN" sz="1720" dirty="0">
                              <a:solidFill>
                                <a:srgbClr val="1F2937"/>
                              </a:solidFill>
                              <a:latin typeface="Cambria Math"/>
                              <a:ea typeface="Cambria Math"/>
                              <a:cs typeface="Cambria Math"/>
                            </a:rPr>
                            <m:t>1</m:t>
                          </m:r>
                          <m:r>
                            <m:rPr>
                              <m:sty m:val="p"/>
                            </m:rPr>
                            <a:rPr lang="zh-CN" sz="1720" dirty="0">
                              <a:solidFill>
                                <a:srgbClr val="1F2937"/>
                              </a:solidFill>
                              <a:latin typeface="Cambria Math"/>
                              <a:ea typeface="Cambria Math"/>
                              <a:cs typeface="Cambria Math"/>
                            </a:rPr>
                            <m:t>+</m:t>
                          </m:r>
                          <m:sSub>
                            <m:e>
                              <m:r>
                                <a:rPr lang="zh-CN" sz="1720" dirty="0">
                                  <a:solidFill>
                                    <a:srgbClr val="1F2937"/>
                                  </a:solidFill>
                                  <a:latin typeface="Cambria Math"/>
                                  <a:ea typeface="Cambria Math"/>
                                  <a:cs typeface="Cambria Math"/>
                                </a:rPr>
                                <m:t>r</m:t>
                              </m:r>
                            </m:e>
                            <m:sub>
                              <m:r>
                                <a:rPr lang="zh-CN" sz="1720" dirty="0">
                                  <a:solidFill>
                                    <a:srgbClr val="1F2937"/>
                                  </a:solidFill>
                                  <a:latin typeface="Cambria Math"/>
                                  <a:ea typeface="Cambria Math"/>
                                  <a:cs typeface="Cambria Math"/>
                                </a:rPr>
                                <m:t>s</m:t>
                              </m:r>
                            </m:sub>
                          </m:sSub>
                          <m:d>
                            <m:dPr>
                              <m:begChr m:val="("/>
                              <m:sepChr m:val=""/>
                              <m:endChr m:val=")"/>
                              <m:grow m:val="on"/>
                              <m:ctrlPr>
                                <a:rPr lang="zh-CN" sz="1720" dirty="0">
                                  <a:solidFill>
                                    <a:srgbClr val="1F2937"/>
                                  </a:solidFill>
                                  <a:latin typeface="Cambria Math"/>
                                  <a:ea typeface="Cambria Math"/>
                                  <a:cs typeface="Cambria Math"/>
                                </a:rPr>
                              </m:ctrlPr>
                            </m:dPr>
                            <m:e>
                              <m:r>
                                <a:rPr lang="zh-CN" sz="1720" dirty="0">
                                  <a:solidFill>
                                    <a:srgbClr val="1F2937"/>
                                  </a:solidFill>
                                  <a:latin typeface="Cambria Math"/>
                                  <a:ea typeface="Cambria Math"/>
                                  <a:cs typeface="Cambria Math"/>
                                </a:rPr>
                                <m:t>N</m:t>
                              </m:r>
                              <m:r>
                                <m:rPr>
                                  <m:sty m:val="p"/>
                                </m:rPr>
                                <a:rPr lang="zh-CN" sz="1720" dirty="0">
                                  <a:solidFill>
                                    <a:srgbClr val="1F2937"/>
                                  </a:solidFill>
                                  <a:latin typeface="Cambria Math"/>
                                  <a:ea typeface="Cambria Math"/>
                                  <a:cs typeface="Cambria Math"/>
                                </a:rPr>
                                <m:t>−</m:t>
                              </m:r>
                              <m:r>
                                <a:rPr lang="zh-CN" sz="1720" dirty="0">
                                  <a:solidFill>
                                    <a:srgbClr val="1F2937"/>
                                  </a:solidFill>
                                  <a:latin typeface="Cambria Math"/>
                                  <a:ea typeface="Cambria Math"/>
                                  <a:cs typeface="Cambria Math"/>
                                </a:rPr>
                                <m:t>1</m:t>
                              </m:r>
                            </m:e>
                          </m:d>
                        </m:den>
                      </m:f>
                    </m:oMath>
                  </m:oMathPara>
                </a14:m>
              </a:p>
            </p:txBody>
          </p:sp>
        </mc:Choice>
      </mc:AlternateContent>
      <mc:AlternateContent xmlns:mc="http://schemas.openxmlformats.org/markup-compatibility/2006">
        <mc:Choice xmlns:a14="http://schemas.microsoft.com/office/drawing/2010/main" Requires="a14">
          <p:sp>
            <p:nvSpPr>
              <p:cNvPr id="8" name="formula25"/>
              <p:cNvSpPr txBox="1">
                <a:spLocks noGrp="1"/>
              </p:cNvSpPr>
              <p:nvPr/>
            </p:nvSpPr>
            <p:spPr>
              <a:xfrm>
                <a:off x="533400" y="2285048"/>
                <a:ext cx="5842635" cy="591502"/>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r>
                        <a:rPr lang="zh-CN" sz="1720" dirty="0">
                          <a:solidFill>
                            <a:srgbClr val="1F2937"/>
                          </a:solidFill>
                          <a:latin typeface="Cambria Math"/>
                          <a:ea typeface="Cambria Math"/>
                          <a:cs typeface="Cambria Math"/>
                        </a:rPr>
                        <m:t>S</m:t>
                      </m:r>
                      <m:r>
                        <m:rPr>
                          <m:sty m:val="p"/>
                        </m:rPr>
                        <a:rPr lang="zh-CN" sz="1720" dirty="0">
                          <a:solidFill>
                            <a:srgbClr val="1F2937"/>
                          </a:solidFill>
                          <a:latin typeface="Cambria Math"/>
                          <a:ea typeface="Cambria Math"/>
                          <a:cs typeface="Cambria Math"/>
                        </a:rPr>
                        <m:t>→</m:t>
                      </m:r>
                      <m:f>
                        <m:fPr>
                          <m:type m:val="bar"/>
                          <m:ctrlPr>
                            <a:rPr lang="zh-CN" sz="1720" dirty="0">
                              <a:solidFill>
                                <a:srgbClr val="1F2937"/>
                              </a:solidFill>
                              <a:latin typeface="Cambria Math"/>
                              <a:ea typeface="Cambria Math"/>
                              <a:cs typeface="Cambria Math"/>
                            </a:rPr>
                          </m:ctrlPr>
                        </m:fPr>
                        <m:num>
                          <m:r>
                            <a:rPr lang="zh-CN" sz="1720" dirty="0">
                              <a:solidFill>
                                <a:srgbClr val="1F2937"/>
                              </a:solidFill>
                              <a:latin typeface="Cambria Math"/>
                              <a:ea typeface="Cambria Math"/>
                              <a:cs typeface="Cambria Math"/>
                            </a:rPr>
                            <m:t>1</m:t>
                          </m:r>
                        </m:num>
                        <m:den>
                          <m:sSub>
                            <m:e>
                              <m:r>
                                <a:rPr lang="zh-CN" sz="1720" dirty="0">
                                  <a:solidFill>
                                    <a:srgbClr val="1F2937"/>
                                  </a:solidFill>
                                  <a:latin typeface="Cambria Math"/>
                                  <a:ea typeface="Cambria Math"/>
                                  <a:cs typeface="Cambria Math"/>
                                </a:rPr>
                                <m:t>r</m:t>
                              </m:r>
                            </m:e>
                            <m:sub>
                              <m:r>
                                <a:rPr lang="zh-CN" sz="1720" dirty="0">
                                  <a:solidFill>
                                    <a:srgbClr val="1F2937"/>
                                  </a:solidFill>
                                  <a:latin typeface="Cambria Math"/>
                                  <a:ea typeface="Cambria Math"/>
                                  <a:cs typeface="Cambria Math"/>
                                </a:rPr>
                                <m:t>s</m:t>
                              </m:r>
                            </m:sub>
                          </m:sSub>
                        </m:den>
                      </m:f>
                      <m:r>
                        <a:rPr lang="zh-CN" sz="1720" dirty="0">
                          <a:solidFill>
                            <a:srgbClr val="1F2937"/>
                          </a:solidFill>
                          <a:latin typeface="Cambria Math"/>
                          <a:ea typeface="Cambria Math"/>
                          <a:cs typeface="Cambria Math"/>
                        </a:rPr>
                        <m:t xml:space="preserve"> </m:t>
                      </m:r>
                      <m:d>
                        <m:dPr>
                          <m:begChr m:val="("/>
                          <m:sepChr m:val=""/>
                          <m:endChr m:val=")"/>
                          <m:grow m:val="on"/>
                          <m:ctrlPr>
                            <a:rPr lang="zh-CN" sz="1720" dirty="0">
                              <a:solidFill>
                                <a:srgbClr val="1F2937"/>
                              </a:solidFill>
                              <a:latin typeface="Cambria Math"/>
                              <a:ea typeface="Cambria Math"/>
                              <a:cs typeface="Cambria Math"/>
                            </a:rPr>
                          </m:ctrlPr>
                        </m:dPr>
                        <m:e>
                          <m:r>
                            <a:rPr lang="zh-CN" sz="1720" dirty="0">
                              <a:solidFill>
                                <a:srgbClr val="1F2937"/>
                              </a:solidFill>
                              <a:latin typeface="Cambria Math"/>
                              <a:ea typeface="Cambria Math"/>
                              <a:cs typeface="Cambria Math"/>
                            </a:rPr>
                            <m:t>N</m:t>
                          </m:r>
                          <m:r>
                            <m:rPr>
                              <m:sty m:val="p"/>
                            </m:rPr>
                            <a:rPr lang="zh-CN" sz="1720" dirty="0">
                              <a:solidFill>
                                <a:srgbClr val="1F2937"/>
                              </a:solidFill>
                              <a:latin typeface="Cambria Math"/>
                              <a:ea typeface="Cambria Math"/>
                              <a:cs typeface="Cambria Math"/>
                            </a:rPr>
                            <m:t>→∞</m:t>
                          </m:r>
                        </m:e>
                      </m:d>
                    </m:oMath>
                  </m:oMathPara>
                </a14:m>
              </a:p>
            </p:txBody>
          </p:sp>
        </mc:Choice>
      </mc:AlternateContent>
      <p:grpSp>
        <p:nvGrpSpPr>
          <p:cNvPr id="19" name="c1-card-3"/>
          <p:cNvGrpSpPr/>
          <p:nvPr/>
        </p:nvGrpSpPr>
        <p:grpSpPr>
          <a:xfrm>
            <a:off x="533400" y="3047048"/>
            <a:ext cx="5842635" cy="2632710"/>
            <a:chOff x="533400" y="3047048"/>
            <a:chExt cx="5842635" cy="2632710"/>
          </a:xfrm>
        </p:grpSpPr>
        <p:sp>
          <p:nvSpPr>
            <p:cNvPr id="9" name="Rectangle 9"/>
            <p:cNvSpPr/>
            <p:nvPr/>
          </p:nvSpPr>
          <p:spPr>
            <a:xfrm>
              <a:off x="533400" y="3047048"/>
              <a:ext cx="5842635" cy="2632710"/>
            </a:xfrm>
            <a:prstGeom prst="roundRect">
              <a:avLst>
                <a:gd name="adj" fmla="val 5065"/>
              </a:avLst>
            </a:prstGeom>
            <a:solidFill>
              <a:srgbClr val="FFFFFF"/>
            </a:solidFill>
            <a:ln w="14288">
              <a:solidFill>
                <a:srgbClr val="D9DFEA"/>
              </a:solidFill>
            </a:ln>
          </p:spPr>
        </p:sp>
        <p:sp>
          <p:nvSpPr>
            <p:cNvPr id="10" name="Rectangle 10"/>
            <p:cNvSpPr/>
            <p:nvPr/>
          </p:nvSpPr>
          <p:spPr>
            <a:xfrm>
              <a:off x="542925" y="3180398"/>
              <a:ext cx="47625" cy="2366010"/>
            </a:xfrm>
            <a:prstGeom prst="roundRect">
              <a:avLst>
                <a:gd name="adj" fmla="val 50000"/>
              </a:avLst>
            </a:prstGeom>
            <a:solidFill>
              <a:srgbClr val="334E68"/>
            </a:solidFill>
            <a:ln>
              <a:noFill/>
            </a:ln>
          </p:spPr>
        </p:sp>
        <p:sp>
          <p:nvSpPr>
            <p:cNvPr id="11" name="Rectangle 11"/>
            <p:cNvSpPr/>
            <p:nvPr/>
          </p:nvSpPr>
          <p:spPr>
            <a:xfrm>
              <a:off x="758190" y="3233738"/>
              <a:ext cx="582930" cy="238125"/>
            </a:xfrm>
            <a:prstGeom prst="roundRect">
              <a:avLst>
                <a:gd name="adj" fmla="val 50000"/>
              </a:avLst>
            </a:prstGeom>
            <a:solidFill>
              <a:srgbClr val="E7EDF3"/>
            </a:solidFill>
            <a:ln>
              <a:noFill/>
            </a:ln>
          </p:spPr>
        </p:sp>
        <p:sp>
          <p:nvSpPr>
            <p:cNvPr id="12" name="TextBox 12"/>
            <p:cNvSpPr txBox="1"/>
            <p:nvPr/>
          </p:nvSpPr>
          <p:spPr>
            <a:xfrm>
              <a:off x="846811" y="3266599"/>
              <a:ext cx="405689" cy="190690"/>
            </a:xfrm>
            <a:prstGeom prst="rect">
              <a:avLst/>
            </a:prstGeom>
            <a:noFill/>
            <a:ln>
              <a:noFill/>
            </a:ln>
          </p:spPr>
          <p:txBody>
            <a:bodyPr wrap="none" lIns="0" tIns="0" rIns="0" bIns="0" anchor="t" anchorCtr="0">
              <a:spAutoFit/>
            </a:bodyPr>
            <a:lstStyle/>
            <a:p>
              <a:pPr algn="ctr"/>
              <a:r>
                <a:rPr lang="zh-CN" sz="980" b="1" dirty="0">
                  <a:solidFill>
                    <a:srgbClr val="334E68"/>
                  </a:solidFill>
                  <a:latin typeface="+mn-lt"/>
                  <a:ea typeface="+mn-ea"/>
                  <a:cs typeface="+mn-cs"/>
                </a:rPr>
                <a:t>出发点</a:t>
              </a:r>
            </a:p>
          </p:txBody>
        </p:sp>
        <p:sp>
          <p:nvSpPr>
            <p:cNvPr id="13" name="Ellipse 13"/>
            <p:cNvSpPr/>
            <p:nvPr/>
          </p:nvSpPr>
          <p:spPr>
            <a:xfrm>
              <a:off x="766762" y="3633788"/>
              <a:ext cx="59055" cy="59055"/>
            </a:xfrm>
            <a:prstGeom prst="ellipse">
              <a:avLst/>
            </a:prstGeom>
            <a:solidFill>
              <a:srgbClr val="334E68"/>
            </a:solidFill>
            <a:ln>
              <a:noFill/>
            </a:ln>
          </p:spPr>
        </p:sp>
        <p:sp>
          <p:nvSpPr>
            <p:cNvPr id="14" name="TextBox 14"/>
            <p:cNvSpPr txBox="1"/>
            <p:nvPr/>
          </p:nvSpPr>
          <p:spPr>
            <a:xfrm>
              <a:off x="922782" y="3577590"/>
              <a:ext cx="4985766"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实时性要求高的应用，计算负载固定不变，把它分到多个处理器上</a:t>
              </a:r>
              <a:br/>
              <a:r>
                <a:rPr lang="zh-CN" sz="1350" dirty="0">
                  <a:solidFill>
                    <a:srgbClr val="1F2937"/>
                  </a:solidFill>
                  <a:latin typeface="+mn-lt"/>
                  <a:ea typeface="+mn-ea"/>
                  <a:cs typeface="+mn-cs"/>
                </a:rPr>
                <a:t>以加快执行</a:t>
              </a:r>
            </a:p>
          </p:txBody>
        </p:sp>
        <p:sp>
          <p:nvSpPr>
            <p:cNvPr id="15" name="Ellipse 15"/>
            <p:cNvSpPr/>
            <p:nvPr/>
          </p:nvSpPr>
          <p:spPr>
            <a:xfrm>
              <a:off x="766762" y="4191000"/>
              <a:ext cx="59055" cy="59055"/>
            </a:xfrm>
            <a:prstGeom prst="ellipse">
              <a:avLst/>
            </a:prstGeom>
            <a:solidFill>
              <a:srgbClr val="334E68"/>
            </a:solidFill>
            <a:ln>
              <a:noFill/>
            </a:ln>
          </p:spPr>
        </p:sp>
        <p:sp>
          <p:nvSpPr>
            <p:cNvPr id="16" name="TextBox 16"/>
            <p:cNvSpPr txBox="1"/>
            <p:nvPr/>
          </p:nvSpPr>
          <p:spPr>
            <a:xfrm>
              <a:off x="922782" y="4134802"/>
              <a:ext cx="4985766"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侧重缩短固定规模问题的执行时间；问题中的顺序部分限制了增加</a:t>
              </a:r>
              <a:br/>
              <a:r>
                <a:rPr lang="zh-CN" sz="1350" dirty="0">
                  <a:solidFill>
                    <a:srgbClr val="1F2937"/>
                  </a:solidFill>
                  <a:latin typeface="+mn-lt"/>
                  <a:ea typeface="+mn-ea"/>
                  <a:cs typeface="+mn-cs"/>
                </a:rPr>
                <a:t>资源所能得到的总加速</a:t>
              </a:r>
            </a:p>
          </p:txBody>
        </p:sp>
        <p:sp>
          <p:nvSpPr>
            <p:cNvPr id="17" name="Ellipse 17"/>
            <p:cNvSpPr/>
            <p:nvPr/>
          </p:nvSpPr>
          <p:spPr>
            <a:xfrm>
              <a:off x="766762" y="4749165"/>
              <a:ext cx="59055" cy="59055"/>
            </a:xfrm>
            <a:prstGeom prst="ellipse">
              <a:avLst/>
            </a:prstGeom>
            <a:solidFill>
              <a:srgbClr val="334E68"/>
            </a:solidFill>
            <a:ln>
              <a:noFill/>
            </a:ln>
          </p:spPr>
        </p:sp>
        <p:sp>
          <p:nvSpPr>
            <p:cNvPr id="18" name="TextBox 18"/>
            <p:cNvSpPr txBox="1"/>
            <p:nvPr/>
          </p:nvSpPr>
          <p:spPr>
            <a:xfrm>
              <a:off x="922782" y="4692968"/>
              <a:ext cx="5028629"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几何意义（原课件第158页图 (a)(b)）：负载固定，处理器增多时</a:t>
              </a:r>
              <a:br/>
              <a:r>
                <a:rPr lang="zh-CN" sz="1350" dirty="0">
                  <a:solidFill>
                    <a:srgbClr val="1F2937"/>
                  </a:solidFill>
                  <a:latin typeface="+mn-lt"/>
                  <a:ea typeface="+mn-ea"/>
                  <a:cs typeface="+mn-cs"/>
                </a:rPr>
                <a:t>Tₚ 部分缩短，Tₛ 部分不变</a:t>
              </a:r>
            </a:p>
          </p:txBody>
        </p:sp>
      </p:grpSp>
      <p:grpSp>
        <p:nvGrpSpPr>
          <p:cNvPr id="45" name="c2-table-1"/>
          <p:cNvGrpSpPr/>
          <p:nvPr/>
        </p:nvGrpSpPr>
        <p:grpSpPr>
          <a:xfrm>
            <a:off x="6680835" y="1524000"/>
            <a:ext cx="4977765" cy="2800350"/>
            <a:chOff x="6680835" y="1524000"/>
            <a:chExt cx="4977765" cy="2800350"/>
          </a:xfrm>
        </p:grpSpPr>
        <p:sp>
          <p:nvSpPr>
            <p:cNvPr id="20" name="Rectangle 20"/>
            <p:cNvSpPr/>
            <p:nvPr/>
          </p:nvSpPr>
          <p:spPr>
            <a:xfrm>
              <a:off x="6680835" y="1524000"/>
              <a:ext cx="4977765" cy="400050"/>
            </a:xfrm>
            <a:prstGeom prst="rect">
              <a:avLst/>
            </a:prstGeom>
            <a:solidFill>
              <a:srgbClr val="334E68"/>
            </a:solidFill>
            <a:ln>
              <a:noFill/>
            </a:ln>
          </p:spPr>
        </p:sp>
        <p:sp>
          <p:nvSpPr>
            <p:cNvPr id="21" name="TextBox 21"/>
            <p:cNvSpPr txBox="1"/>
            <p:nvPr/>
          </p:nvSpPr>
          <p:spPr>
            <a:xfrm>
              <a:off x="7109525" y="1645444"/>
              <a:ext cx="836166"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串行比例 rₛ</a:t>
              </a:r>
            </a:p>
          </p:txBody>
        </p:sp>
        <p:sp>
          <p:nvSpPr>
            <p:cNvPr id="22" name="TextBox 22"/>
            <p:cNvSpPr txBox="1"/>
            <p:nvPr/>
          </p:nvSpPr>
          <p:spPr>
            <a:xfrm>
              <a:off x="8677209" y="1645444"/>
              <a:ext cx="267856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N = 1024：S = 1024 / (1 + 1023 rₛ)</a:t>
              </a:r>
            </a:p>
          </p:txBody>
        </p:sp>
        <p:sp>
          <p:nvSpPr>
            <p:cNvPr id="23" name="TextBox 23"/>
            <p:cNvSpPr txBox="1"/>
            <p:nvPr/>
          </p:nvSpPr>
          <p:spPr>
            <a:xfrm>
              <a:off x="7478356" y="2045494"/>
              <a:ext cx="98502" cy="220028"/>
            </a:xfrm>
            <a:prstGeom prst="rect">
              <a:avLst/>
            </a:prstGeom>
            <a:noFill/>
            <a:ln>
              <a:noFill/>
            </a:ln>
          </p:spPr>
          <p:txBody>
            <a:bodyPr wrap="none" lIns="0" tIns="0" rIns="0" bIns="0" anchor="t" anchorCtr="0">
              <a:spAutoFit/>
            </a:bodyPr>
            <a:lstStyle/>
            <a:p>
              <a:pPr algn="ctr"/>
              <a:r>
                <a:rPr lang="zh-CN" sz="1120" b="1" dirty="0">
                  <a:solidFill>
                    <a:srgbClr val="1F2937"/>
                  </a:solidFill>
                  <a:latin typeface="+mn-lt"/>
                  <a:ea typeface="+mn-ea"/>
                  <a:cs typeface="+mn-cs"/>
                </a:rPr>
                <a:t>0</a:t>
              </a:r>
            </a:p>
          </p:txBody>
        </p:sp>
        <p:sp>
          <p:nvSpPr>
            <p:cNvPr id="24" name="TextBox 24"/>
            <p:cNvSpPr txBox="1"/>
            <p:nvPr/>
          </p:nvSpPr>
          <p:spPr>
            <a:xfrm>
              <a:off x="11218311" y="2045494"/>
              <a:ext cx="343134" cy="220028"/>
            </a:xfrm>
            <a:prstGeom prst="rect">
              <a:avLst/>
            </a:prstGeom>
            <a:noFill/>
            <a:ln>
              <a:noFill/>
            </a:ln>
          </p:spPr>
          <p:txBody>
            <a:bodyPr wrap="none" lIns="0" tIns="0" rIns="0" bIns="0" anchor="t" anchorCtr="0">
              <a:spAutoFit/>
            </a:bodyPr>
            <a:lstStyle/>
            <a:p>
              <a:pPr algn="r"/>
              <a:r>
                <a:rPr lang="zh-CN" sz="1120" dirty="0">
                  <a:solidFill>
                    <a:srgbClr val="1F2937"/>
                  </a:solidFill>
                  <a:latin typeface="+mn-lt"/>
                  <a:ea typeface="+mn-ea"/>
                  <a:cs typeface="+mn-cs"/>
                </a:rPr>
                <a:t>1024</a:t>
              </a:r>
            </a:p>
          </p:txBody>
        </p:sp>
        <p:sp>
          <p:nvSpPr>
            <p:cNvPr id="25" name="Rectangle 25"/>
            <p:cNvSpPr/>
            <p:nvPr/>
          </p:nvSpPr>
          <p:spPr>
            <a:xfrm>
              <a:off x="6680835" y="2319338"/>
              <a:ext cx="4977765" cy="9525"/>
            </a:xfrm>
            <a:prstGeom prst="rect">
              <a:avLst/>
            </a:prstGeom>
            <a:solidFill>
              <a:srgbClr val="D9DFEA"/>
            </a:solidFill>
            <a:ln>
              <a:noFill/>
            </a:ln>
          </p:spPr>
        </p:sp>
        <p:sp>
          <p:nvSpPr>
            <p:cNvPr id="26" name="Rectangle 26"/>
            <p:cNvSpPr/>
            <p:nvPr/>
          </p:nvSpPr>
          <p:spPr>
            <a:xfrm>
              <a:off x="6680835" y="2324100"/>
              <a:ext cx="4977765" cy="400050"/>
            </a:xfrm>
            <a:prstGeom prst="rect">
              <a:avLst/>
            </a:prstGeom>
            <a:solidFill>
              <a:srgbClr val="F4F6FB"/>
            </a:solidFill>
            <a:ln>
              <a:noFill/>
            </a:ln>
          </p:spPr>
        </p:sp>
        <p:sp>
          <p:nvSpPr>
            <p:cNvPr id="27" name="TextBox 27"/>
            <p:cNvSpPr txBox="1"/>
            <p:nvPr/>
          </p:nvSpPr>
          <p:spPr>
            <a:xfrm>
              <a:off x="7418989" y="2445544"/>
              <a:ext cx="217237" cy="220028"/>
            </a:xfrm>
            <a:prstGeom prst="rect">
              <a:avLst/>
            </a:prstGeom>
            <a:noFill/>
            <a:ln>
              <a:noFill/>
            </a:ln>
          </p:spPr>
          <p:txBody>
            <a:bodyPr wrap="none" lIns="0" tIns="0" rIns="0" bIns="0" anchor="t" anchorCtr="0">
              <a:spAutoFit/>
            </a:bodyPr>
            <a:lstStyle/>
            <a:p>
              <a:pPr algn="ctr"/>
              <a:r>
                <a:rPr lang="zh-CN" sz="1120" b="1" dirty="0">
                  <a:solidFill>
                    <a:srgbClr val="1F2937"/>
                  </a:solidFill>
                  <a:latin typeface="+mn-lt"/>
                  <a:ea typeface="+mn-ea"/>
                  <a:cs typeface="+mn-cs"/>
                </a:rPr>
                <a:t>1%</a:t>
              </a:r>
            </a:p>
          </p:txBody>
        </p:sp>
        <p:sp>
          <p:nvSpPr>
            <p:cNvPr id="28" name="TextBox 28"/>
            <p:cNvSpPr txBox="1"/>
            <p:nvPr/>
          </p:nvSpPr>
          <p:spPr>
            <a:xfrm>
              <a:off x="11218311" y="2445544"/>
              <a:ext cx="343134" cy="220028"/>
            </a:xfrm>
            <a:prstGeom prst="rect">
              <a:avLst/>
            </a:prstGeom>
            <a:noFill/>
            <a:ln>
              <a:noFill/>
            </a:ln>
          </p:spPr>
          <p:txBody>
            <a:bodyPr wrap="none" lIns="0" tIns="0" rIns="0" bIns="0" anchor="t" anchorCtr="0">
              <a:spAutoFit/>
            </a:bodyPr>
            <a:lstStyle/>
            <a:p>
              <a:pPr algn="r"/>
              <a:r>
                <a:rPr lang="zh-CN" sz="1120" dirty="0">
                  <a:solidFill>
                    <a:srgbClr val="1F2937"/>
                  </a:solidFill>
                  <a:latin typeface="+mn-lt"/>
                  <a:ea typeface="+mn-ea"/>
                  <a:cs typeface="+mn-cs"/>
                </a:rPr>
                <a:t>91.2</a:t>
              </a:r>
            </a:p>
          </p:txBody>
        </p:sp>
        <p:sp>
          <p:nvSpPr>
            <p:cNvPr id="29" name="Rectangle 29"/>
            <p:cNvSpPr/>
            <p:nvPr/>
          </p:nvSpPr>
          <p:spPr>
            <a:xfrm>
              <a:off x="6680835" y="2719388"/>
              <a:ext cx="4977765" cy="9525"/>
            </a:xfrm>
            <a:prstGeom prst="rect">
              <a:avLst/>
            </a:prstGeom>
            <a:solidFill>
              <a:srgbClr val="D9DFEA"/>
            </a:solidFill>
            <a:ln>
              <a:noFill/>
            </a:ln>
          </p:spPr>
        </p:sp>
        <p:sp>
          <p:nvSpPr>
            <p:cNvPr id="30" name="TextBox 30"/>
            <p:cNvSpPr txBox="1"/>
            <p:nvPr/>
          </p:nvSpPr>
          <p:spPr>
            <a:xfrm>
              <a:off x="7418989" y="2845594"/>
              <a:ext cx="217237" cy="220028"/>
            </a:xfrm>
            <a:prstGeom prst="rect">
              <a:avLst/>
            </a:prstGeom>
            <a:noFill/>
            <a:ln>
              <a:noFill/>
            </a:ln>
          </p:spPr>
          <p:txBody>
            <a:bodyPr wrap="none" lIns="0" tIns="0" rIns="0" bIns="0" anchor="t" anchorCtr="0">
              <a:spAutoFit/>
            </a:bodyPr>
            <a:lstStyle/>
            <a:p>
              <a:pPr algn="ctr"/>
              <a:r>
                <a:rPr lang="zh-CN" sz="1120" b="1" dirty="0">
                  <a:solidFill>
                    <a:srgbClr val="1F2937"/>
                  </a:solidFill>
                  <a:latin typeface="+mn-lt"/>
                  <a:ea typeface="+mn-ea"/>
                  <a:cs typeface="+mn-cs"/>
                </a:rPr>
                <a:t>2%</a:t>
              </a:r>
            </a:p>
          </p:txBody>
        </p:sp>
        <p:sp>
          <p:nvSpPr>
            <p:cNvPr id="31" name="TextBox 31"/>
            <p:cNvSpPr txBox="1"/>
            <p:nvPr/>
          </p:nvSpPr>
          <p:spPr>
            <a:xfrm>
              <a:off x="11218311" y="2845594"/>
              <a:ext cx="343134" cy="220028"/>
            </a:xfrm>
            <a:prstGeom prst="rect">
              <a:avLst/>
            </a:prstGeom>
            <a:noFill/>
            <a:ln>
              <a:noFill/>
            </a:ln>
          </p:spPr>
          <p:txBody>
            <a:bodyPr wrap="none" lIns="0" tIns="0" rIns="0" bIns="0" anchor="t" anchorCtr="0">
              <a:spAutoFit/>
            </a:bodyPr>
            <a:lstStyle/>
            <a:p>
              <a:pPr algn="r"/>
              <a:r>
                <a:rPr lang="zh-CN" sz="1120" dirty="0">
                  <a:solidFill>
                    <a:srgbClr val="1F2937"/>
                  </a:solidFill>
                  <a:latin typeface="+mn-lt"/>
                  <a:ea typeface="+mn-ea"/>
                  <a:cs typeface="+mn-cs"/>
                </a:rPr>
                <a:t>47.7</a:t>
              </a:r>
            </a:p>
          </p:txBody>
        </p:sp>
        <p:sp>
          <p:nvSpPr>
            <p:cNvPr id="32" name="Rectangle 32"/>
            <p:cNvSpPr/>
            <p:nvPr/>
          </p:nvSpPr>
          <p:spPr>
            <a:xfrm>
              <a:off x="6680835" y="3119438"/>
              <a:ext cx="4977765" cy="9525"/>
            </a:xfrm>
            <a:prstGeom prst="rect">
              <a:avLst/>
            </a:prstGeom>
            <a:solidFill>
              <a:srgbClr val="D9DFEA"/>
            </a:solidFill>
            <a:ln>
              <a:noFill/>
            </a:ln>
          </p:spPr>
        </p:sp>
        <p:sp>
          <p:nvSpPr>
            <p:cNvPr id="33" name="Rectangle 33"/>
            <p:cNvSpPr/>
            <p:nvPr/>
          </p:nvSpPr>
          <p:spPr>
            <a:xfrm>
              <a:off x="6680835" y="3124200"/>
              <a:ext cx="4977765" cy="400050"/>
            </a:xfrm>
            <a:prstGeom prst="rect">
              <a:avLst/>
            </a:prstGeom>
            <a:solidFill>
              <a:srgbClr val="F4F6FB"/>
            </a:solidFill>
            <a:ln>
              <a:noFill/>
            </a:ln>
          </p:spPr>
        </p:sp>
        <p:sp>
          <p:nvSpPr>
            <p:cNvPr id="34" name="TextBox 34"/>
            <p:cNvSpPr txBox="1"/>
            <p:nvPr/>
          </p:nvSpPr>
          <p:spPr>
            <a:xfrm>
              <a:off x="7418989" y="3245644"/>
              <a:ext cx="217237" cy="220028"/>
            </a:xfrm>
            <a:prstGeom prst="rect">
              <a:avLst/>
            </a:prstGeom>
            <a:noFill/>
            <a:ln>
              <a:noFill/>
            </a:ln>
          </p:spPr>
          <p:txBody>
            <a:bodyPr wrap="none" lIns="0" tIns="0" rIns="0" bIns="0" anchor="t" anchorCtr="0">
              <a:spAutoFit/>
            </a:bodyPr>
            <a:lstStyle/>
            <a:p>
              <a:pPr algn="ctr"/>
              <a:r>
                <a:rPr lang="zh-CN" sz="1120" b="1" dirty="0">
                  <a:solidFill>
                    <a:srgbClr val="1F2937"/>
                  </a:solidFill>
                  <a:latin typeface="+mn-lt"/>
                  <a:ea typeface="+mn-ea"/>
                  <a:cs typeface="+mn-cs"/>
                </a:rPr>
                <a:t>3%</a:t>
              </a:r>
            </a:p>
          </p:txBody>
        </p:sp>
        <p:sp>
          <p:nvSpPr>
            <p:cNvPr id="35" name="TextBox 35"/>
            <p:cNvSpPr txBox="1"/>
            <p:nvPr/>
          </p:nvSpPr>
          <p:spPr>
            <a:xfrm>
              <a:off x="11201726" y="3245644"/>
              <a:ext cx="359719" cy="220028"/>
            </a:xfrm>
            <a:prstGeom prst="rect">
              <a:avLst/>
            </a:prstGeom>
            <a:noFill/>
            <a:ln>
              <a:noFill/>
            </a:ln>
          </p:spPr>
          <p:txBody>
            <a:bodyPr wrap="none" lIns="0" tIns="0" rIns="0" bIns="0" anchor="t" anchorCtr="0">
              <a:spAutoFit/>
            </a:bodyPr>
            <a:lstStyle/>
            <a:p>
              <a:pPr algn="r"/>
              <a:r>
                <a:rPr lang="zh-CN" sz="1120" b="1" dirty="0">
                  <a:solidFill>
                    <a:srgbClr val="C2410C"/>
                  </a:solidFill>
                  <a:latin typeface="+mn-lt"/>
                  <a:ea typeface="+mn-ea"/>
                  <a:cs typeface="+mn-cs"/>
                </a:rPr>
                <a:t>32.3</a:t>
              </a:r>
            </a:p>
          </p:txBody>
        </p:sp>
        <p:sp>
          <p:nvSpPr>
            <p:cNvPr id="36" name="Rectangle 36"/>
            <p:cNvSpPr/>
            <p:nvPr/>
          </p:nvSpPr>
          <p:spPr>
            <a:xfrm>
              <a:off x="6680835" y="3519488"/>
              <a:ext cx="4977765" cy="9525"/>
            </a:xfrm>
            <a:prstGeom prst="rect">
              <a:avLst/>
            </a:prstGeom>
            <a:solidFill>
              <a:srgbClr val="D9DFEA"/>
            </a:solidFill>
            <a:ln>
              <a:noFill/>
            </a:ln>
          </p:spPr>
        </p:sp>
        <p:sp>
          <p:nvSpPr>
            <p:cNvPr id="37" name="TextBox 37"/>
            <p:cNvSpPr txBox="1"/>
            <p:nvPr/>
          </p:nvSpPr>
          <p:spPr>
            <a:xfrm>
              <a:off x="7418989" y="3645694"/>
              <a:ext cx="217237" cy="220028"/>
            </a:xfrm>
            <a:prstGeom prst="rect">
              <a:avLst/>
            </a:prstGeom>
            <a:noFill/>
            <a:ln>
              <a:noFill/>
            </a:ln>
          </p:spPr>
          <p:txBody>
            <a:bodyPr wrap="none" lIns="0" tIns="0" rIns="0" bIns="0" anchor="t" anchorCtr="0">
              <a:spAutoFit/>
            </a:bodyPr>
            <a:lstStyle/>
            <a:p>
              <a:pPr algn="ctr"/>
              <a:r>
                <a:rPr lang="zh-CN" sz="1120" b="1" dirty="0">
                  <a:solidFill>
                    <a:srgbClr val="1F2937"/>
                  </a:solidFill>
                  <a:latin typeface="+mn-lt"/>
                  <a:ea typeface="+mn-ea"/>
                  <a:cs typeface="+mn-cs"/>
                </a:rPr>
                <a:t>4%</a:t>
              </a:r>
            </a:p>
          </p:txBody>
        </p:sp>
        <p:sp>
          <p:nvSpPr>
            <p:cNvPr id="38" name="TextBox 38"/>
            <p:cNvSpPr txBox="1"/>
            <p:nvPr/>
          </p:nvSpPr>
          <p:spPr>
            <a:xfrm>
              <a:off x="11218311" y="3645694"/>
              <a:ext cx="343134" cy="220028"/>
            </a:xfrm>
            <a:prstGeom prst="rect">
              <a:avLst/>
            </a:prstGeom>
            <a:noFill/>
            <a:ln>
              <a:noFill/>
            </a:ln>
          </p:spPr>
          <p:txBody>
            <a:bodyPr wrap="none" lIns="0" tIns="0" rIns="0" bIns="0" anchor="t" anchorCtr="0">
              <a:spAutoFit/>
            </a:bodyPr>
            <a:lstStyle/>
            <a:p>
              <a:pPr algn="r"/>
              <a:r>
                <a:rPr lang="zh-CN" sz="1120" dirty="0">
                  <a:solidFill>
                    <a:srgbClr val="1F2937"/>
                  </a:solidFill>
                  <a:latin typeface="+mn-lt"/>
                  <a:ea typeface="+mn-ea"/>
                  <a:cs typeface="+mn-cs"/>
                </a:rPr>
                <a:t>24.4</a:t>
              </a:r>
            </a:p>
          </p:txBody>
        </p:sp>
        <p:sp>
          <p:nvSpPr>
            <p:cNvPr id="39" name="Rectangle 39"/>
            <p:cNvSpPr/>
            <p:nvPr/>
          </p:nvSpPr>
          <p:spPr>
            <a:xfrm>
              <a:off x="6680835" y="3919538"/>
              <a:ext cx="4977765" cy="9525"/>
            </a:xfrm>
            <a:prstGeom prst="rect">
              <a:avLst/>
            </a:prstGeom>
            <a:solidFill>
              <a:srgbClr val="D9DFEA"/>
            </a:solidFill>
            <a:ln>
              <a:noFill/>
            </a:ln>
          </p:spPr>
        </p:sp>
        <p:sp>
          <p:nvSpPr>
            <p:cNvPr id="40" name="Rectangle 40"/>
            <p:cNvSpPr/>
            <p:nvPr/>
          </p:nvSpPr>
          <p:spPr>
            <a:xfrm>
              <a:off x="6680835" y="3924300"/>
              <a:ext cx="4977765" cy="400050"/>
            </a:xfrm>
            <a:prstGeom prst="rect">
              <a:avLst/>
            </a:prstGeom>
            <a:solidFill>
              <a:srgbClr val="F4F6FB"/>
            </a:solidFill>
            <a:ln>
              <a:noFill/>
            </a:ln>
          </p:spPr>
        </p:sp>
        <p:sp>
          <p:nvSpPr>
            <p:cNvPr id="41" name="TextBox 41"/>
            <p:cNvSpPr txBox="1"/>
            <p:nvPr/>
          </p:nvSpPr>
          <p:spPr>
            <a:xfrm>
              <a:off x="7331917" y="4045744"/>
              <a:ext cx="391381" cy="220028"/>
            </a:xfrm>
            <a:prstGeom prst="rect">
              <a:avLst/>
            </a:prstGeom>
            <a:noFill/>
            <a:ln>
              <a:noFill/>
            </a:ln>
          </p:spPr>
          <p:txBody>
            <a:bodyPr wrap="none" lIns="0" tIns="0" rIns="0" bIns="0" anchor="t" anchorCtr="0">
              <a:spAutoFit/>
            </a:bodyPr>
            <a:lstStyle/>
            <a:p>
              <a:pPr algn="ctr"/>
              <a:r>
                <a:rPr lang="zh-CN" sz="1120" b="1" dirty="0">
                  <a:solidFill>
                    <a:srgbClr val="1F2937"/>
                  </a:solidFill>
                  <a:latin typeface="+mn-lt"/>
                  <a:ea typeface="+mn-ea"/>
                  <a:cs typeface="+mn-cs"/>
                </a:rPr>
                <a:t>100%</a:t>
              </a:r>
            </a:p>
          </p:txBody>
        </p:sp>
        <p:sp>
          <p:nvSpPr>
            <p:cNvPr id="42" name="TextBox 42"/>
            <p:cNvSpPr txBox="1"/>
            <p:nvPr/>
          </p:nvSpPr>
          <p:spPr>
            <a:xfrm>
              <a:off x="11467089" y="4045744"/>
              <a:ext cx="94356" cy="220028"/>
            </a:xfrm>
            <a:prstGeom prst="rect">
              <a:avLst/>
            </a:prstGeom>
            <a:noFill/>
            <a:ln>
              <a:noFill/>
            </a:ln>
          </p:spPr>
          <p:txBody>
            <a:bodyPr wrap="none" lIns="0" tIns="0" rIns="0" bIns="0" anchor="t" anchorCtr="0">
              <a:spAutoFit/>
            </a:bodyPr>
            <a:lstStyle/>
            <a:p>
              <a:pPr algn="r"/>
              <a:r>
                <a:rPr lang="zh-CN" sz="1120" dirty="0">
                  <a:solidFill>
                    <a:srgbClr val="1F2937"/>
                  </a:solidFill>
                  <a:latin typeface="+mn-lt"/>
                  <a:ea typeface="+mn-ea"/>
                  <a:cs typeface="+mn-cs"/>
                </a:rPr>
                <a:t>1</a:t>
              </a:r>
            </a:p>
          </p:txBody>
        </p:sp>
        <p:sp>
          <p:nvSpPr>
            <p:cNvPr id="43" name="Rectangle 43"/>
            <p:cNvSpPr/>
            <p:nvPr/>
          </p:nvSpPr>
          <p:spPr>
            <a:xfrm>
              <a:off x="6680835" y="1524000"/>
              <a:ext cx="4977765" cy="2800350"/>
            </a:xfrm>
            <a:prstGeom prst="rect">
              <a:avLst/>
            </a:prstGeom>
            <a:noFill/>
            <a:ln w="14288">
              <a:solidFill>
                <a:srgbClr val="D9DFEA"/>
              </a:solidFill>
            </a:ln>
          </p:spPr>
        </p:sp>
        <p:sp>
          <p:nvSpPr>
            <p:cNvPr id="44" name="Rectangle 44"/>
            <p:cNvSpPr/>
            <p:nvPr/>
          </p:nvSpPr>
          <p:spPr>
            <a:xfrm>
              <a:off x="8368665" y="1524000"/>
              <a:ext cx="9525" cy="2800350"/>
            </a:xfrm>
            <a:prstGeom prst="rect">
              <a:avLst/>
            </a:prstGeom>
            <a:solidFill>
              <a:srgbClr val="D9DFEA"/>
            </a:solidFill>
            <a:ln>
              <a:noFill/>
            </a:ln>
          </p:spPr>
        </p:sp>
      </p:grpSp>
      <p:grpSp>
        <p:nvGrpSpPr>
          <p:cNvPr id="51" name="c2-card-2"/>
          <p:cNvGrpSpPr/>
          <p:nvPr/>
        </p:nvGrpSpPr>
        <p:grpSpPr>
          <a:xfrm>
            <a:off x="6680835" y="4493895"/>
            <a:ext cx="4977765" cy="1185862"/>
            <a:chOff x="6680835" y="4493895"/>
            <a:chExt cx="4977765" cy="1185862"/>
          </a:xfrm>
        </p:grpSpPr>
        <p:sp>
          <p:nvSpPr>
            <p:cNvPr id="46" name="Rectangle 46"/>
            <p:cNvSpPr/>
            <p:nvPr/>
          </p:nvSpPr>
          <p:spPr>
            <a:xfrm>
              <a:off x="6680835" y="4493895"/>
              <a:ext cx="4977765" cy="1185862"/>
            </a:xfrm>
            <a:prstGeom prst="roundRect">
              <a:avLst>
                <a:gd name="adj" fmla="val 11245"/>
              </a:avLst>
            </a:prstGeom>
            <a:solidFill>
              <a:srgbClr val="FFFFFF"/>
            </a:solidFill>
            <a:ln w="14288">
              <a:solidFill>
                <a:srgbClr val="D9DFEA"/>
              </a:solidFill>
            </a:ln>
          </p:spPr>
        </p:sp>
        <p:sp>
          <p:nvSpPr>
            <p:cNvPr id="47" name="Rectangle 47"/>
            <p:cNvSpPr/>
            <p:nvPr/>
          </p:nvSpPr>
          <p:spPr>
            <a:xfrm>
              <a:off x="6690360" y="4627245"/>
              <a:ext cx="47625" cy="919162"/>
            </a:xfrm>
            <a:prstGeom prst="roundRect">
              <a:avLst>
                <a:gd name="adj" fmla="val 50000"/>
              </a:avLst>
            </a:prstGeom>
            <a:solidFill>
              <a:srgbClr val="5B6475"/>
            </a:solidFill>
            <a:ln>
              <a:noFill/>
            </a:ln>
          </p:spPr>
        </p:sp>
        <p:sp>
          <p:nvSpPr>
            <p:cNvPr id="48" name="Rectangle 48"/>
            <p:cNvSpPr/>
            <p:nvPr/>
          </p:nvSpPr>
          <p:spPr>
            <a:xfrm>
              <a:off x="6905625" y="4680585"/>
              <a:ext cx="458152" cy="238125"/>
            </a:xfrm>
            <a:prstGeom prst="roundRect">
              <a:avLst>
                <a:gd name="adj" fmla="val 50000"/>
              </a:avLst>
            </a:prstGeom>
            <a:solidFill>
              <a:srgbClr val="F4F6FB"/>
            </a:solidFill>
            <a:ln>
              <a:noFill/>
            </a:ln>
          </p:spPr>
        </p:sp>
        <p:sp>
          <p:nvSpPr>
            <p:cNvPr id="49" name="TextBox 49"/>
            <p:cNvSpPr txBox="1"/>
            <p:nvPr/>
          </p:nvSpPr>
          <p:spPr>
            <a:xfrm>
              <a:off x="6998297" y="4713446"/>
              <a:ext cx="273761" cy="190690"/>
            </a:xfrm>
            <a:prstGeom prst="rect">
              <a:avLst/>
            </a:prstGeom>
            <a:noFill/>
            <a:ln>
              <a:noFill/>
            </a:ln>
          </p:spPr>
          <p:txBody>
            <a:bodyPr wrap="none" lIns="0" tIns="0" rIns="0" bIns="0" anchor="t" anchorCtr="0">
              <a:spAutoFit/>
            </a:bodyPr>
            <a:lstStyle/>
            <a:p>
              <a:pPr algn="ctr"/>
              <a:r>
                <a:rPr lang="zh-CN" sz="980" b="1" dirty="0">
                  <a:solidFill>
                    <a:srgbClr val="5B6475"/>
                  </a:solidFill>
                  <a:latin typeface="+mn-lt"/>
                  <a:ea typeface="+mn-ea"/>
                  <a:cs typeface="+mn-cs"/>
                </a:rPr>
                <a:t>更正</a:t>
              </a:r>
            </a:p>
          </p:txBody>
        </p:sp>
        <p:sp>
          <p:nvSpPr>
            <p:cNvPr id="50" name="TextBox 50"/>
            <p:cNvSpPr txBox="1"/>
            <p:nvPr/>
          </p:nvSpPr>
          <p:spPr>
            <a:xfrm>
              <a:off x="6898767" y="5025390"/>
              <a:ext cx="3965638"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原课件第158页图 (c) 在 3% 处标 31x。1024 / (1 +</a:t>
              </a:r>
              <a:br/>
              <a:r>
                <a:rPr lang="zh-CN" sz="1350" dirty="0">
                  <a:solidFill>
                    <a:srgbClr val="1F2937"/>
                  </a:solidFill>
                  <a:latin typeface="+mn-lt"/>
                  <a:ea typeface="+mn-ea"/>
                  <a:cs typeface="+mn-cs"/>
                </a:rPr>
                <a:t>0.03 × 1023) = 1024 / 31.69 ≈ 32.3，应为 32x。</a:t>
              </a:r>
            </a:p>
          </p:txBody>
        </p:sp>
      </p:grpSp>
      <p:grpSp>
        <p:nvGrpSpPr>
          <p:cNvPr id="57" name="takeaway"/>
          <p:cNvGrpSpPr/>
          <p:nvPr/>
        </p:nvGrpSpPr>
        <p:grpSpPr>
          <a:xfrm>
            <a:off x="533400" y="5881688"/>
            <a:ext cx="11125200" cy="481012"/>
            <a:chOff x="533400" y="5881688"/>
            <a:chExt cx="11125200" cy="481012"/>
          </a:xfrm>
        </p:grpSpPr>
        <p:sp>
          <p:nvSpPr>
            <p:cNvPr id="52" name="Rectangle 52"/>
            <p:cNvSpPr/>
            <p:nvPr/>
          </p:nvSpPr>
          <p:spPr>
            <a:xfrm>
              <a:off x="533400" y="5881688"/>
              <a:ext cx="11125200" cy="481012"/>
            </a:xfrm>
            <a:prstGeom prst="roundRect">
              <a:avLst>
                <a:gd name="adj" fmla="val 23762"/>
              </a:avLst>
            </a:prstGeom>
            <a:solidFill>
              <a:srgbClr val="334E68"/>
            </a:solidFill>
            <a:ln>
              <a:noFill/>
            </a:ln>
          </p:spPr>
        </p:sp>
        <p:grpSp>
          <p:nvGrpSpPr>
            <p:cNvPr id="55" name="Group 55"/>
            <p:cNvGrpSpPr/>
            <p:nvPr/>
          </p:nvGrpSpPr>
          <p:grpSpPr>
            <a:xfrm>
              <a:off x="738188" y="6022660"/>
              <a:ext cx="200023" cy="200023"/>
              <a:chOff x="738188" y="6022660"/>
              <a:chExt cx="200023" cy="200023"/>
            </a:xfrm>
          </p:grpSpPr>
          <p:sp>
            <p:nvSpPr>
              <p:cNvPr id="53" name="Freeform 53"/>
              <p:cNvSpPr/>
              <p:nvPr/>
            </p:nvSpPr>
            <p:spPr>
              <a:xfrm>
                <a:off x="738188" y="6022660"/>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54" name="Freeform 54"/>
              <p:cNvSpPr/>
              <p:nvPr/>
            </p:nvSpPr>
            <p:spPr>
              <a:xfrm>
                <a:off x="871538" y="6089333"/>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56" name="TextBox 56"/>
            <p:cNvSpPr txBox="1"/>
            <p:nvPr/>
          </p:nvSpPr>
          <p:spPr>
            <a:xfrm>
              <a:off x="1040892" y="6028373"/>
              <a:ext cx="8028318" cy="264033"/>
            </a:xfrm>
            <a:prstGeom prst="rect">
              <a:avLst/>
            </a:prstGeom>
            <a:noFill/>
            <a:ln>
              <a:noFill/>
            </a:ln>
          </p:spPr>
          <p:txBody>
            <a:bodyPr wrap="none" lIns="0" tIns="0" rIns="0" bIns="0" anchor="t" anchorCtr="0">
              <a:spAutoFit/>
            </a:bodyPr>
            <a:lstStyle/>
            <a:p>
              <a:pPr algn="l"/>
              <a:r>
                <a:rPr lang="zh-CN" sz="1350" dirty="0">
                  <a:solidFill>
                    <a:srgbClr val="FFFFFF"/>
                  </a:solidFill>
                  <a:latin typeface="+mn-lt"/>
                  <a:ea typeface="+mn-ea"/>
                  <a:cs typeface="+mn-cs"/>
                </a:rPr>
                <a:t>只要有 1% 的串行代码，1024 个处理器也只能快约 91 倍；想要大加速比，先想办法压缩串行部分。</a:t>
              </a:r>
            </a:p>
          </p:txBody>
        </p:sp>
      </p:grpSp>
      <p:grpSp>
        <p:nvGrpSpPr>
          <p:cNvPr id="60" name="footer"/>
          <p:cNvGrpSpPr/>
          <p:nvPr/>
        </p:nvGrpSpPr>
        <p:grpSpPr>
          <a:xfrm>
            <a:off x="528447" y="6581299"/>
            <a:ext cx="11135106" cy="190690"/>
            <a:chOff x="528447" y="6581299"/>
            <a:chExt cx="11135106" cy="190690"/>
          </a:xfrm>
        </p:grpSpPr>
        <p:sp>
          <p:nvSpPr>
            <p:cNvPr id="58" name="TextBox 58"/>
            <p:cNvSpPr txBox="1"/>
            <p:nvPr/>
          </p:nvSpPr>
          <p:spPr>
            <a:xfrm>
              <a:off x="528447" y="6581299"/>
              <a:ext cx="2120748"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并行与分布式计算 · 第7章 体系结构</a:t>
              </a:r>
            </a:p>
          </p:txBody>
        </p:sp>
        <p:sp>
          <p:nvSpPr>
            <p:cNvPr id="59" name="TextBox 59"/>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64</a:t>
              </a:r>
            </a:p>
          </p:txBody>
        </p:sp>
      </p:grpSp>
    </p:spTree>
  </p:cSld>
  <p:clrMapOvr>
    <a:masterClrMapping/>
  </p:clrMapOvr>
  <p:transition xmlns:p14="http://schemas.microsoft.com/office/powerpoint/2010/main" p14:dur="400">
    <p:fade/>
  </p:transition>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7422642" cy="909257"/>
            <a:chOff x="520446" y="342900"/>
            <a:chExt cx="7422642" cy="909257"/>
          </a:xfrm>
        </p:grpSpPr>
        <p:sp>
          <p:nvSpPr>
            <p:cNvPr id="2" name="Rectangle 2"/>
            <p:cNvSpPr/>
            <p:nvPr/>
          </p:nvSpPr>
          <p:spPr>
            <a:xfrm>
              <a:off x="533400" y="342900"/>
              <a:ext cx="1987868" cy="266700"/>
            </a:xfrm>
            <a:prstGeom prst="roundRect">
              <a:avLst>
                <a:gd name="adj" fmla="val 50000"/>
              </a:avLst>
            </a:prstGeom>
            <a:solidFill>
              <a:srgbClr val="E7EDF3"/>
            </a:solidFill>
            <a:ln>
              <a:noFill/>
            </a:ln>
          </p:spPr>
        </p:sp>
        <p:sp>
          <p:nvSpPr>
            <p:cNvPr id="3" name="TextBox 3"/>
            <p:cNvSpPr txBox="1"/>
            <p:nvPr/>
          </p:nvSpPr>
          <p:spPr>
            <a:xfrm>
              <a:off x="608957" y="407194"/>
              <a:ext cx="1835800"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第7章 体系结构 · 性能评测</a:t>
              </a:r>
            </a:p>
          </p:txBody>
        </p:sp>
        <p:sp>
          <p:nvSpPr>
            <p:cNvPr id="4" name="TextBox 4"/>
            <p:cNvSpPr txBox="1"/>
            <p:nvPr/>
          </p:nvSpPr>
          <p:spPr>
            <a:xfrm>
              <a:off x="520446" y="753428"/>
              <a:ext cx="7422642"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Gustafson 定律：问题规模跟着处理器一起放大</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mc:AlternateContent xmlns:mc="http://schemas.openxmlformats.org/markup-compatibility/2006">
        <mc:Choice xmlns:a14="http://schemas.microsoft.com/office/drawing/2010/main" Requires="a14">
          <p:sp>
            <p:nvSpPr>
              <p:cNvPr id="7" name="formula27"/>
              <p:cNvSpPr txBox="1">
                <a:spLocks noGrp="1"/>
              </p:cNvSpPr>
              <p:nvPr/>
            </p:nvSpPr>
            <p:spPr>
              <a:xfrm>
                <a:off x="533400" y="1524000"/>
                <a:ext cx="5842635" cy="668655"/>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r>
                        <a:rPr lang="zh-CN" sz="1950" dirty="0">
                          <a:solidFill>
                            <a:srgbClr val="1F2937"/>
                          </a:solidFill>
                          <a:latin typeface="Cambria Math"/>
                          <a:ea typeface="Cambria Math"/>
                          <a:cs typeface="Cambria Math"/>
                        </a:rPr>
                        <m:t>S'</m:t>
                      </m:r>
                      <m:r>
                        <m:rPr>
                          <m:sty m:val="p"/>
                        </m:rPr>
                        <a:rPr lang="zh-CN" sz="1950" dirty="0">
                          <a:solidFill>
                            <a:srgbClr val="1F2937"/>
                          </a:solidFill>
                          <a:latin typeface="Cambria Math"/>
                          <a:ea typeface="Cambria Math"/>
                          <a:cs typeface="Cambria Math"/>
                        </a:rPr>
                        <m:t>=</m:t>
                      </m:r>
                      <m:f>
                        <m:fPr>
                          <m:type m:val="bar"/>
                          <m:ctrlPr>
                            <a:rPr lang="zh-CN" sz="1950" dirty="0">
                              <a:solidFill>
                                <a:srgbClr val="1F2937"/>
                              </a:solidFill>
                              <a:latin typeface="Cambria Math"/>
                              <a:ea typeface="Cambria Math"/>
                              <a:cs typeface="Cambria Math"/>
                            </a:rPr>
                          </m:ctrlPr>
                        </m:fPr>
                        <m:num>
                          <m:sSub>
                            <m:e>
                              <m:r>
                                <a:rPr lang="zh-CN" sz="1950" dirty="0">
                                  <a:solidFill>
                                    <a:srgbClr val="1F2937"/>
                                  </a:solidFill>
                                  <a:latin typeface="Cambria Math"/>
                                  <a:ea typeface="Cambria Math"/>
                                  <a:cs typeface="Cambria Math"/>
                                </a:rPr>
                                <m:t>W</m:t>
                              </m:r>
                            </m:e>
                            <m:sub>
                              <m:r>
                                <a:rPr lang="zh-CN" sz="1950" dirty="0">
                                  <a:solidFill>
                                    <a:srgbClr val="1F2937"/>
                                  </a:solidFill>
                                  <a:latin typeface="Cambria Math"/>
                                  <a:ea typeface="Cambria Math"/>
                                  <a:cs typeface="Cambria Math"/>
                                </a:rPr>
                                <m:t>s</m:t>
                              </m:r>
                            </m:sub>
                          </m:sSub>
                          <m:r>
                            <m:rPr>
                              <m:sty m:val="p"/>
                            </m:rPr>
                            <a:rPr lang="zh-CN" sz="1950" dirty="0">
                              <a:solidFill>
                                <a:srgbClr val="1F2937"/>
                              </a:solidFill>
                              <a:latin typeface="Cambria Math"/>
                              <a:ea typeface="Cambria Math"/>
                              <a:cs typeface="Cambria Math"/>
                            </a:rPr>
                            <m:t>+</m:t>
                          </m:r>
                          <m:r>
                            <a:rPr lang="zh-CN" sz="1950" dirty="0">
                              <a:solidFill>
                                <a:srgbClr val="1F2937"/>
                              </a:solidFill>
                              <a:latin typeface="Cambria Math"/>
                              <a:ea typeface="Cambria Math"/>
                              <a:cs typeface="Cambria Math"/>
                            </a:rPr>
                            <m:t>N</m:t>
                          </m:r>
                          <m:sSub>
                            <m:e>
                              <m:r>
                                <a:rPr lang="zh-CN" sz="1950" dirty="0">
                                  <a:solidFill>
                                    <a:srgbClr val="1F2937"/>
                                  </a:solidFill>
                                  <a:latin typeface="Cambria Math"/>
                                  <a:ea typeface="Cambria Math"/>
                                  <a:cs typeface="Cambria Math"/>
                                </a:rPr>
                                <m:t>W</m:t>
                              </m:r>
                            </m:e>
                            <m:sub>
                              <m:r>
                                <a:rPr lang="zh-CN" sz="1950" dirty="0">
                                  <a:solidFill>
                                    <a:srgbClr val="1F2937"/>
                                  </a:solidFill>
                                  <a:latin typeface="Cambria Math"/>
                                  <a:ea typeface="Cambria Math"/>
                                  <a:cs typeface="Cambria Math"/>
                                </a:rPr>
                                <m:t>p</m:t>
                              </m:r>
                            </m:sub>
                          </m:sSub>
                        </m:num>
                        <m:den>
                          <m:sSub>
                            <m:e>
                              <m:r>
                                <a:rPr lang="zh-CN" sz="1950" dirty="0">
                                  <a:solidFill>
                                    <a:srgbClr val="1F2937"/>
                                  </a:solidFill>
                                  <a:latin typeface="Cambria Math"/>
                                  <a:ea typeface="Cambria Math"/>
                                  <a:cs typeface="Cambria Math"/>
                                </a:rPr>
                                <m:t>W</m:t>
                              </m:r>
                            </m:e>
                            <m:sub>
                              <m:r>
                                <a:rPr lang="zh-CN" sz="1950" dirty="0">
                                  <a:solidFill>
                                    <a:srgbClr val="1F2937"/>
                                  </a:solidFill>
                                  <a:latin typeface="Cambria Math"/>
                                  <a:ea typeface="Cambria Math"/>
                                  <a:cs typeface="Cambria Math"/>
                                </a:rPr>
                                <m:t>s</m:t>
                              </m:r>
                            </m:sub>
                          </m:sSub>
                          <m:r>
                            <m:rPr>
                              <m:sty m:val="p"/>
                            </m:rPr>
                            <a:rPr lang="zh-CN" sz="1950" dirty="0">
                              <a:solidFill>
                                <a:srgbClr val="1F2937"/>
                              </a:solidFill>
                              <a:latin typeface="Cambria Math"/>
                              <a:ea typeface="Cambria Math"/>
                              <a:cs typeface="Cambria Math"/>
                            </a:rPr>
                            <m:t>+</m:t>
                          </m:r>
                          <m:sSub>
                            <m:e>
                              <m:r>
                                <a:rPr lang="zh-CN" sz="1950" dirty="0">
                                  <a:solidFill>
                                    <a:srgbClr val="1F2937"/>
                                  </a:solidFill>
                                  <a:latin typeface="Cambria Math"/>
                                  <a:ea typeface="Cambria Math"/>
                                  <a:cs typeface="Cambria Math"/>
                                </a:rPr>
                                <m:t>W</m:t>
                              </m:r>
                            </m:e>
                            <m:sub>
                              <m:r>
                                <a:rPr lang="zh-CN" sz="1950" dirty="0">
                                  <a:solidFill>
                                    <a:srgbClr val="1F2937"/>
                                  </a:solidFill>
                                  <a:latin typeface="Cambria Math"/>
                                  <a:ea typeface="Cambria Math"/>
                                  <a:cs typeface="Cambria Math"/>
                                </a:rPr>
                                <m:t>p</m:t>
                              </m:r>
                            </m:sub>
                          </m:sSub>
                        </m:den>
                      </m:f>
                      <m:r>
                        <m:rPr>
                          <m:sty m:val="p"/>
                        </m:rPr>
                        <a:rPr lang="zh-CN" sz="1950" dirty="0">
                          <a:solidFill>
                            <a:srgbClr val="1F2937"/>
                          </a:solidFill>
                          <a:latin typeface="Cambria Math"/>
                          <a:ea typeface="Cambria Math"/>
                          <a:cs typeface="Cambria Math"/>
                        </a:rPr>
                        <m:t>=</m:t>
                      </m:r>
                      <m:sSub>
                        <m:e>
                          <m:r>
                            <a:rPr lang="zh-CN" sz="1950" dirty="0">
                              <a:solidFill>
                                <a:srgbClr val="1F2937"/>
                              </a:solidFill>
                              <a:latin typeface="Cambria Math"/>
                              <a:ea typeface="Cambria Math"/>
                              <a:cs typeface="Cambria Math"/>
                            </a:rPr>
                            <m:t>r</m:t>
                          </m:r>
                        </m:e>
                        <m:sub>
                          <m:r>
                            <a:rPr lang="zh-CN" sz="1950" dirty="0">
                              <a:solidFill>
                                <a:srgbClr val="1F2937"/>
                              </a:solidFill>
                              <a:latin typeface="Cambria Math"/>
                              <a:ea typeface="Cambria Math"/>
                              <a:cs typeface="Cambria Math"/>
                            </a:rPr>
                            <m:t>s</m:t>
                          </m:r>
                        </m:sub>
                      </m:sSub>
                      <m:r>
                        <m:rPr>
                          <m:sty m:val="p"/>
                        </m:rPr>
                        <a:rPr lang="zh-CN" sz="1950" dirty="0">
                          <a:solidFill>
                            <a:srgbClr val="1F2937"/>
                          </a:solidFill>
                          <a:latin typeface="Cambria Math"/>
                          <a:ea typeface="Cambria Math"/>
                          <a:cs typeface="Cambria Math"/>
                        </a:rPr>
                        <m:t>+</m:t>
                      </m:r>
                      <m:d>
                        <m:dPr>
                          <m:begChr m:val="("/>
                          <m:sepChr m:val=""/>
                          <m:endChr m:val=")"/>
                          <m:grow m:val="on"/>
                          <m:ctrlPr>
                            <a:rPr lang="zh-CN" sz="1950" dirty="0">
                              <a:solidFill>
                                <a:srgbClr val="1F2937"/>
                              </a:solidFill>
                              <a:latin typeface="Cambria Math"/>
                              <a:ea typeface="Cambria Math"/>
                              <a:cs typeface="Cambria Math"/>
                            </a:rPr>
                          </m:ctrlPr>
                        </m:dPr>
                        <m:e>
                          <m:r>
                            <a:rPr lang="zh-CN" sz="1950" dirty="0">
                              <a:solidFill>
                                <a:srgbClr val="1F2937"/>
                              </a:solidFill>
                              <a:latin typeface="Cambria Math"/>
                              <a:ea typeface="Cambria Math"/>
                              <a:cs typeface="Cambria Math"/>
                            </a:rPr>
                            <m:t>1</m:t>
                          </m:r>
                          <m:r>
                            <m:rPr>
                              <m:sty m:val="p"/>
                            </m:rPr>
                            <a:rPr lang="zh-CN" sz="1950" dirty="0">
                              <a:solidFill>
                                <a:srgbClr val="1F2937"/>
                              </a:solidFill>
                              <a:latin typeface="Cambria Math"/>
                              <a:ea typeface="Cambria Math"/>
                              <a:cs typeface="Cambria Math"/>
                            </a:rPr>
                            <m:t>−</m:t>
                          </m:r>
                          <m:sSub>
                            <m:e>
                              <m:r>
                                <a:rPr lang="zh-CN" sz="1950" dirty="0">
                                  <a:solidFill>
                                    <a:srgbClr val="1F2937"/>
                                  </a:solidFill>
                                  <a:latin typeface="Cambria Math"/>
                                  <a:ea typeface="Cambria Math"/>
                                  <a:cs typeface="Cambria Math"/>
                                </a:rPr>
                                <m:t>r</m:t>
                              </m:r>
                            </m:e>
                            <m:sub>
                              <m:r>
                                <a:rPr lang="zh-CN" sz="1950" dirty="0">
                                  <a:solidFill>
                                    <a:srgbClr val="1F2937"/>
                                  </a:solidFill>
                                  <a:latin typeface="Cambria Math"/>
                                  <a:ea typeface="Cambria Math"/>
                                  <a:cs typeface="Cambria Math"/>
                                </a:rPr>
                                <m:t>s</m:t>
                              </m:r>
                            </m:sub>
                          </m:sSub>
                        </m:e>
                      </m:d>
                      <m:r>
                        <a:rPr lang="zh-CN" sz="1950" dirty="0">
                          <a:solidFill>
                            <a:srgbClr val="1F2937"/>
                          </a:solidFill>
                          <a:latin typeface="Cambria Math"/>
                          <a:ea typeface="Cambria Math"/>
                          <a:cs typeface="Cambria Math"/>
                        </a:rPr>
                        <m:t>N</m:t>
                      </m:r>
                      <m:r>
                        <m:rPr>
                          <m:sty m:val="p"/>
                        </m:rPr>
                        <a:rPr lang="zh-CN" sz="1950" dirty="0">
                          <a:solidFill>
                            <a:srgbClr val="1F2937"/>
                          </a:solidFill>
                          <a:latin typeface="Cambria Math"/>
                          <a:ea typeface="Cambria Math"/>
                          <a:cs typeface="Cambria Math"/>
                        </a:rPr>
                        <m:t>=</m:t>
                      </m:r>
                      <m:r>
                        <a:rPr lang="zh-CN" sz="1950" dirty="0">
                          <a:solidFill>
                            <a:srgbClr val="1F2937"/>
                          </a:solidFill>
                          <a:latin typeface="Cambria Math"/>
                          <a:ea typeface="Cambria Math"/>
                          <a:cs typeface="Cambria Math"/>
                        </a:rPr>
                        <m:t>N</m:t>
                      </m:r>
                      <m:r>
                        <m:rPr>
                          <m:sty m:val="p"/>
                        </m:rPr>
                        <a:rPr lang="zh-CN" sz="1950" dirty="0">
                          <a:solidFill>
                            <a:srgbClr val="1F2937"/>
                          </a:solidFill>
                          <a:latin typeface="Cambria Math"/>
                          <a:ea typeface="Cambria Math"/>
                          <a:cs typeface="Cambria Math"/>
                        </a:rPr>
                        <m:t>−</m:t>
                      </m:r>
                      <m:sSub>
                        <m:e>
                          <m:r>
                            <a:rPr lang="zh-CN" sz="1950" dirty="0">
                              <a:solidFill>
                                <a:srgbClr val="1F2937"/>
                              </a:solidFill>
                              <a:latin typeface="Cambria Math"/>
                              <a:ea typeface="Cambria Math"/>
                              <a:cs typeface="Cambria Math"/>
                            </a:rPr>
                            <m:t>r</m:t>
                          </m:r>
                        </m:e>
                        <m:sub>
                          <m:r>
                            <a:rPr lang="zh-CN" sz="1950" dirty="0">
                              <a:solidFill>
                                <a:srgbClr val="1F2937"/>
                              </a:solidFill>
                              <a:latin typeface="Cambria Math"/>
                              <a:ea typeface="Cambria Math"/>
                              <a:cs typeface="Cambria Math"/>
                            </a:rPr>
                            <m:t>s</m:t>
                          </m:r>
                        </m:sub>
                      </m:sSub>
                      <m:d>
                        <m:dPr>
                          <m:begChr m:val="("/>
                          <m:sepChr m:val=""/>
                          <m:endChr m:val=")"/>
                          <m:grow m:val="on"/>
                          <m:ctrlPr>
                            <a:rPr lang="zh-CN" sz="1950" dirty="0">
                              <a:solidFill>
                                <a:srgbClr val="1F2937"/>
                              </a:solidFill>
                              <a:latin typeface="Cambria Math"/>
                              <a:ea typeface="Cambria Math"/>
                              <a:cs typeface="Cambria Math"/>
                            </a:rPr>
                          </m:ctrlPr>
                        </m:dPr>
                        <m:e>
                          <m:r>
                            <a:rPr lang="zh-CN" sz="1950" dirty="0">
                              <a:solidFill>
                                <a:srgbClr val="1F2937"/>
                              </a:solidFill>
                              <a:latin typeface="Cambria Math"/>
                              <a:ea typeface="Cambria Math"/>
                              <a:cs typeface="Cambria Math"/>
                            </a:rPr>
                            <m:t>N</m:t>
                          </m:r>
                          <m:r>
                            <m:rPr>
                              <m:sty m:val="p"/>
                            </m:rPr>
                            <a:rPr lang="zh-CN" sz="1950" dirty="0">
                              <a:solidFill>
                                <a:srgbClr val="1F2937"/>
                              </a:solidFill>
                              <a:latin typeface="Cambria Math"/>
                              <a:ea typeface="Cambria Math"/>
                              <a:cs typeface="Cambria Math"/>
                            </a:rPr>
                            <m:t>−</m:t>
                          </m:r>
                          <m:r>
                            <a:rPr lang="zh-CN" sz="1950" dirty="0">
                              <a:solidFill>
                                <a:srgbClr val="1F2937"/>
                              </a:solidFill>
                              <a:latin typeface="Cambria Math"/>
                              <a:ea typeface="Cambria Math"/>
                              <a:cs typeface="Cambria Math"/>
                            </a:rPr>
                            <m:t>1</m:t>
                          </m:r>
                        </m:e>
                      </m:d>
                    </m:oMath>
                  </m:oMathPara>
                </a14:m>
              </a:p>
            </p:txBody>
          </p:sp>
        </mc:Choice>
      </mc:AlternateContent>
      <p:grpSp>
        <p:nvGrpSpPr>
          <p:cNvPr id="13" name="c1-card-2"/>
          <p:cNvGrpSpPr/>
          <p:nvPr/>
        </p:nvGrpSpPr>
        <p:grpSpPr>
          <a:xfrm>
            <a:off x="533400" y="2383155"/>
            <a:ext cx="5842635" cy="1602105"/>
            <a:chOff x="533400" y="2383155"/>
            <a:chExt cx="5842635" cy="1602105"/>
          </a:xfrm>
        </p:grpSpPr>
        <p:sp>
          <p:nvSpPr>
            <p:cNvPr id="8" name="Rectangle 8"/>
            <p:cNvSpPr/>
            <p:nvPr/>
          </p:nvSpPr>
          <p:spPr>
            <a:xfrm>
              <a:off x="533400" y="2383155"/>
              <a:ext cx="5842635" cy="1602105"/>
            </a:xfrm>
            <a:prstGeom prst="roundRect">
              <a:avLst>
                <a:gd name="adj" fmla="val 8323"/>
              </a:avLst>
            </a:prstGeom>
            <a:solidFill>
              <a:srgbClr val="FFFFFF"/>
            </a:solidFill>
            <a:ln w="14288">
              <a:solidFill>
                <a:srgbClr val="D9DFEA"/>
              </a:solidFill>
            </a:ln>
          </p:spPr>
        </p:sp>
        <p:sp>
          <p:nvSpPr>
            <p:cNvPr id="9" name="Rectangle 9"/>
            <p:cNvSpPr/>
            <p:nvPr/>
          </p:nvSpPr>
          <p:spPr>
            <a:xfrm>
              <a:off x="542925" y="2516505"/>
              <a:ext cx="47625" cy="1335405"/>
            </a:xfrm>
            <a:prstGeom prst="roundRect">
              <a:avLst>
                <a:gd name="adj" fmla="val 50000"/>
              </a:avLst>
            </a:prstGeom>
            <a:solidFill>
              <a:srgbClr val="334E68"/>
            </a:solidFill>
            <a:ln>
              <a:noFill/>
            </a:ln>
          </p:spPr>
        </p:sp>
        <p:sp>
          <p:nvSpPr>
            <p:cNvPr id="10" name="Rectangle 10"/>
            <p:cNvSpPr/>
            <p:nvPr/>
          </p:nvSpPr>
          <p:spPr>
            <a:xfrm>
              <a:off x="781050" y="2592705"/>
              <a:ext cx="636270" cy="257175"/>
            </a:xfrm>
            <a:prstGeom prst="roundRect">
              <a:avLst>
                <a:gd name="adj" fmla="val 50000"/>
              </a:avLst>
            </a:prstGeom>
            <a:solidFill>
              <a:srgbClr val="E7EDF3"/>
            </a:solidFill>
            <a:ln>
              <a:noFill/>
            </a:ln>
          </p:spPr>
        </p:sp>
        <p:sp>
          <p:nvSpPr>
            <p:cNvPr id="11" name="TextBox 11"/>
            <p:cNvSpPr txBox="1"/>
            <p:nvPr/>
          </p:nvSpPr>
          <p:spPr>
            <a:xfrm>
              <a:off x="867308" y="2628424"/>
              <a:ext cx="463753"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出发点</a:t>
              </a:r>
            </a:p>
          </p:txBody>
        </p:sp>
        <p:sp>
          <p:nvSpPr>
            <p:cNvPr id="12" name="TextBox 12"/>
            <p:cNvSpPr txBox="1"/>
            <p:nvPr/>
          </p:nvSpPr>
          <p:spPr>
            <a:xfrm>
              <a:off x="773430" y="2969895"/>
              <a:ext cx="5158740" cy="86487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精度要求高的应用，要提高精度就得加大计算量，同时增加处</a:t>
              </a:r>
              <a:br/>
              <a:r>
                <a:rPr lang="zh-CN" sz="1500" dirty="0">
                  <a:solidFill>
                    <a:srgbClr val="1F2937"/>
                  </a:solidFill>
                  <a:latin typeface="+mn-lt"/>
                  <a:ea typeface="+mn-ea"/>
                  <a:cs typeface="+mn-cs"/>
                </a:rPr>
                <a:t>理器，使执行时间保持不变。通常先在小规模计算资源上跑粗</a:t>
              </a:r>
              <a:br/>
              <a:r>
                <a:rPr lang="zh-CN" sz="1500" dirty="0">
                  <a:solidFill>
                    <a:srgbClr val="1F2937"/>
                  </a:solidFill>
                  <a:latin typeface="+mn-lt"/>
                  <a:ea typeface="+mn-ea"/>
                  <a:cs typeface="+mn-cs"/>
                </a:rPr>
                <a:t>粒度版本调试，再在大规模资源上跑细粒度的正式版本。</a:t>
              </a:r>
            </a:p>
          </p:txBody>
        </p:sp>
      </p:grpSp>
      <p:grpSp>
        <p:nvGrpSpPr>
          <p:cNvPr id="19" name="c1-card-3"/>
          <p:cNvGrpSpPr/>
          <p:nvPr/>
        </p:nvGrpSpPr>
        <p:grpSpPr>
          <a:xfrm>
            <a:off x="533400" y="4175760"/>
            <a:ext cx="5842635" cy="1887855"/>
            <a:chOff x="533400" y="4175760"/>
            <a:chExt cx="5842635" cy="1887855"/>
          </a:xfrm>
        </p:grpSpPr>
        <p:sp>
          <p:nvSpPr>
            <p:cNvPr id="14" name="Rectangle 14"/>
            <p:cNvSpPr/>
            <p:nvPr/>
          </p:nvSpPr>
          <p:spPr>
            <a:xfrm>
              <a:off x="533400" y="4175760"/>
              <a:ext cx="5842635" cy="1887855"/>
            </a:xfrm>
            <a:prstGeom prst="roundRect">
              <a:avLst>
                <a:gd name="adj" fmla="val 7064"/>
              </a:avLst>
            </a:prstGeom>
            <a:solidFill>
              <a:srgbClr val="FFFFFF"/>
            </a:solidFill>
            <a:ln w="14288">
              <a:solidFill>
                <a:srgbClr val="D9DFEA"/>
              </a:solidFill>
            </a:ln>
          </p:spPr>
        </p:sp>
        <p:sp>
          <p:nvSpPr>
            <p:cNvPr id="15" name="Rectangle 15"/>
            <p:cNvSpPr/>
            <p:nvPr/>
          </p:nvSpPr>
          <p:spPr>
            <a:xfrm>
              <a:off x="542925" y="4309110"/>
              <a:ext cx="47625" cy="1621155"/>
            </a:xfrm>
            <a:prstGeom prst="roundRect">
              <a:avLst>
                <a:gd name="adj" fmla="val 50000"/>
              </a:avLst>
            </a:prstGeom>
            <a:solidFill>
              <a:srgbClr val="B42318"/>
            </a:solidFill>
            <a:ln>
              <a:noFill/>
            </a:ln>
          </p:spPr>
        </p:sp>
        <p:sp>
          <p:nvSpPr>
            <p:cNvPr id="16" name="Rectangle 16"/>
            <p:cNvSpPr/>
            <p:nvPr/>
          </p:nvSpPr>
          <p:spPr>
            <a:xfrm>
              <a:off x="781050" y="4385310"/>
              <a:ext cx="1129665" cy="257175"/>
            </a:xfrm>
            <a:prstGeom prst="roundRect">
              <a:avLst>
                <a:gd name="adj" fmla="val 50000"/>
              </a:avLst>
            </a:prstGeom>
            <a:solidFill>
              <a:srgbClr val="FDECEA"/>
            </a:solidFill>
            <a:ln>
              <a:noFill/>
            </a:ln>
          </p:spPr>
        </p:sp>
        <p:sp>
          <p:nvSpPr>
            <p:cNvPr id="17" name="TextBox 17"/>
            <p:cNvSpPr txBox="1"/>
            <p:nvPr/>
          </p:nvSpPr>
          <p:spPr>
            <a:xfrm>
              <a:off x="852412" y="4421029"/>
              <a:ext cx="986940" cy="220028"/>
            </a:xfrm>
            <a:prstGeom prst="rect">
              <a:avLst/>
            </a:prstGeom>
            <a:noFill/>
            <a:ln>
              <a:noFill/>
            </a:ln>
          </p:spPr>
          <p:txBody>
            <a:bodyPr wrap="none" lIns="0" tIns="0" rIns="0" bIns="0" anchor="t" anchorCtr="0">
              <a:spAutoFit/>
            </a:bodyPr>
            <a:lstStyle/>
            <a:p>
              <a:pPr algn="ctr"/>
              <a:r>
                <a:rPr lang="zh-CN" sz="1120" b="1" dirty="0">
                  <a:solidFill>
                    <a:srgbClr val="B42318"/>
                  </a:solidFill>
                  <a:latin typeface="+mn-lt"/>
                  <a:ea typeface="+mn-ea"/>
                  <a:cs typeface="+mn-cs"/>
                </a:rPr>
                <a:t>rₛ 的含义不同</a:t>
              </a:r>
            </a:p>
          </p:txBody>
        </p:sp>
        <p:sp>
          <p:nvSpPr>
            <p:cNvPr id="18" name="TextBox 18"/>
            <p:cNvSpPr txBox="1"/>
            <p:nvPr/>
          </p:nvSpPr>
          <p:spPr>
            <a:xfrm>
              <a:off x="773430" y="4762500"/>
              <a:ext cx="5177790" cy="11506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这里的 rₛ = Wₛ /（Wₛ + Wₚ）是在并行机上运行一次时串行</a:t>
              </a:r>
              <a:br/>
              <a:r>
                <a:rPr lang="zh-CN" sz="1500" dirty="0">
                  <a:solidFill>
                    <a:srgbClr val="1F2937"/>
                  </a:solidFill>
                  <a:latin typeface="+mn-lt"/>
                  <a:ea typeface="+mn-ea"/>
                  <a:cs typeface="+mn-cs"/>
                </a:rPr>
                <a:t>部分所占的比例，Amdahl 定律里的 rₛ 是串行程序中的比</a:t>
              </a:r>
              <a:br/>
              <a:r>
                <a:rPr lang="zh-CN" sz="1500" dirty="0">
                  <a:solidFill>
                    <a:srgbClr val="1F2937"/>
                  </a:solidFill>
                  <a:latin typeface="+mn-lt"/>
                  <a:ea typeface="+mn-ea"/>
                  <a:cs typeface="+mn-cs"/>
                </a:rPr>
                <a:t>例。把 Amdahl 的 rₛ 直接代入 Gustafson 公式，会得到过于</a:t>
              </a:r>
              <a:br/>
              <a:r>
                <a:rPr lang="zh-CN" sz="1500" dirty="0">
                  <a:solidFill>
                    <a:srgbClr val="1F2937"/>
                  </a:solidFill>
                  <a:latin typeface="+mn-lt"/>
                  <a:ea typeface="+mn-ea"/>
                  <a:cs typeface="+mn-cs"/>
                </a:rPr>
                <a:t>乐观的结果。</a:t>
              </a:r>
            </a:p>
          </p:txBody>
        </p:sp>
      </p:grpSp>
      <p:grpSp>
        <p:nvGrpSpPr>
          <p:cNvPr id="42" name="c2-table-1"/>
          <p:cNvGrpSpPr/>
          <p:nvPr/>
        </p:nvGrpSpPr>
        <p:grpSpPr>
          <a:xfrm>
            <a:off x="6675120" y="1524000"/>
            <a:ext cx="4983480" cy="3188493"/>
            <a:chOff x="6675120" y="1524000"/>
            <a:chExt cx="4983480" cy="3188493"/>
          </a:xfrm>
        </p:grpSpPr>
        <p:sp>
          <p:nvSpPr>
            <p:cNvPr id="20" name="Rectangle 20"/>
            <p:cNvSpPr/>
            <p:nvPr/>
          </p:nvSpPr>
          <p:spPr>
            <a:xfrm>
              <a:off x="6680835" y="1524000"/>
              <a:ext cx="4977765" cy="448628"/>
            </a:xfrm>
            <a:prstGeom prst="rect">
              <a:avLst/>
            </a:prstGeom>
            <a:solidFill>
              <a:srgbClr val="334E68"/>
            </a:solidFill>
            <a:ln>
              <a:noFill/>
            </a:ln>
          </p:spPr>
        </p:sp>
        <p:sp>
          <p:nvSpPr>
            <p:cNvPr id="21" name="TextBox 21"/>
            <p:cNvSpPr txBox="1"/>
            <p:nvPr/>
          </p:nvSpPr>
          <p:spPr>
            <a:xfrm>
              <a:off x="7287978" y="1659731"/>
              <a:ext cx="955509"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串行比例 rₛ</a:t>
              </a:r>
            </a:p>
          </p:txBody>
        </p:sp>
        <p:sp>
          <p:nvSpPr>
            <p:cNvPr id="22" name="TextBox 22"/>
            <p:cNvSpPr txBox="1"/>
            <p:nvPr/>
          </p:nvSpPr>
          <p:spPr>
            <a:xfrm>
              <a:off x="9414943" y="1659731"/>
              <a:ext cx="1677438"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N = 1024 时的加速比</a:t>
              </a:r>
            </a:p>
          </p:txBody>
        </p:sp>
        <p:sp>
          <p:nvSpPr>
            <p:cNvPr id="23" name="TextBox 23"/>
            <p:cNvSpPr txBox="1"/>
            <p:nvPr/>
          </p:nvSpPr>
          <p:spPr>
            <a:xfrm>
              <a:off x="7709500" y="2108359"/>
              <a:ext cx="112465" cy="249364"/>
            </a:xfrm>
            <a:prstGeom prst="rect">
              <a:avLst/>
            </a:prstGeom>
            <a:noFill/>
            <a:ln>
              <a:noFill/>
            </a:ln>
          </p:spPr>
          <p:txBody>
            <a:bodyPr wrap="none" lIns="0" tIns="0" rIns="0" bIns="0" anchor="t" anchorCtr="0">
              <a:spAutoFit/>
            </a:bodyPr>
            <a:lstStyle/>
            <a:p>
              <a:pPr algn="ctr"/>
              <a:r>
                <a:rPr lang="zh-CN" sz="1280" b="1" dirty="0">
                  <a:solidFill>
                    <a:srgbClr val="1F2937"/>
                  </a:solidFill>
                  <a:latin typeface="+mn-lt"/>
                  <a:ea typeface="+mn-ea"/>
                  <a:cs typeface="+mn-cs"/>
                </a:rPr>
                <a:t>0</a:t>
              </a:r>
            </a:p>
          </p:txBody>
        </p:sp>
        <p:sp>
          <p:nvSpPr>
            <p:cNvPr id="24" name="TextBox 24"/>
            <p:cNvSpPr txBox="1"/>
            <p:nvPr/>
          </p:nvSpPr>
          <p:spPr>
            <a:xfrm>
              <a:off x="11158733" y="2108359"/>
              <a:ext cx="392044" cy="249364"/>
            </a:xfrm>
            <a:prstGeom prst="rect">
              <a:avLst/>
            </a:prstGeom>
            <a:noFill/>
            <a:ln>
              <a:noFill/>
            </a:ln>
          </p:spPr>
          <p:txBody>
            <a:bodyPr wrap="none" lIns="0" tIns="0" rIns="0" bIns="0" anchor="t" anchorCtr="0">
              <a:spAutoFit/>
            </a:bodyPr>
            <a:lstStyle/>
            <a:p>
              <a:pPr algn="r"/>
              <a:r>
                <a:rPr lang="zh-CN" sz="1280" dirty="0">
                  <a:solidFill>
                    <a:srgbClr val="1F2937"/>
                  </a:solidFill>
                  <a:latin typeface="+mn-lt"/>
                  <a:ea typeface="+mn-ea"/>
                  <a:cs typeface="+mn-cs"/>
                </a:rPr>
                <a:t>1024</a:t>
              </a:r>
            </a:p>
          </p:txBody>
        </p:sp>
        <p:sp>
          <p:nvSpPr>
            <p:cNvPr id="25" name="Rectangle 25"/>
            <p:cNvSpPr/>
            <p:nvPr/>
          </p:nvSpPr>
          <p:spPr>
            <a:xfrm>
              <a:off x="6680835" y="2416492"/>
              <a:ext cx="4977765" cy="9525"/>
            </a:xfrm>
            <a:prstGeom prst="rect">
              <a:avLst/>
            </a:prstGeom>
            <a:solidFill>
              <a:srgbClr val="D9DFEA"/>
            </a:solidFill>
            <a:ln>
              <a:noFill/>
            </a:ln>
          </p:spPr>
        </p:sp>
        <p:sp>
          <p:nvSpPr>
            <p:cNvPr id="26" name="Rectangle 26"/>
            <p:cNvSpPr/>
            <p:nvPr/>
          </p:nvSpPr>
          <p:spPr>
            <a:xfrm>
              <a:off x="6680835" y="2421255"/>
              <a:ext cx="4977765" cy="448628"/>
            </a:xfrm>
            <a:prstGeom prst="rect">
              <a:avLst/>
            </a:prstGeom>
            <a:solidFill>
              <a:srgbClr val="F4F6FB"/>
            </a:solidFill>
            <a:ln>
              <a:noFill/>
            </a:ln>
          </p:spPr>
        </p:sp>
        <p:sp>
          <p:nvSpPr>
            <p:cNvPr id="27" name="TextBox 27"/>
            <p:cNvSpPr txBox="1"/>
            <p:nvPr/>
          </p:nvSpPr>
          <p:spPr>
            <a:xfrm>
              <a:off x="7641651" y="2556986"/>
              <a:ext cx="248162" cy="249364"/>
            </a:xfrm>
            <a:prstGeom prst="rect">
              <a:avLst/>
            </a:prstGeom>
            <a:noFill/>
            <a:ln>
              <a:noFill/>
            </a:ln>
          </p:spPr>
          <p:txBody>
            <a:bodyPr wrap="none" lIns="0" tIns="0" rIns="0" bIns="0" anchor="t" anchorCtr="0">
              <a:spAutoFit/>
            </a:bodyPr>
            <a:lstStyle/>
            <a:p>
              <a:pPr algn="ctr"/>
              <a:r>
                <a:rPr lang="zh-CN" sz="1280" b="1" dirty="0">
                  <a:solidFill>
                    <a:srgbClr val="1F2937"/>
                  </a:solidFill>
                  <a:latin typeface="+mn-lt"/>
                  <a:ea typeface="+mn-ea"/>
                  <a:cs typeface="+mn-cs"/>
                </a:rPr>
                <a:t>1%</a:t>
              </a:r>
            </a:p>
          </p:txBody>
        </p:sp>
        <p:sp>
          <p:nvSpPr>
            <p:cNvPr id="28" name="TextBox 28"/>
            <p:cNvSpPr txBox="1"/>
            <p:nvPr/>
          </p:nvSpPr>
          <p:spPr>
            <a:xfrm>
              <a:off x="10969188" y="2556986"/>
              <a:ext cx="581589" cy="249364"/>
            </a:xfrm>
            <a:prstGeom prst="rect">
              <a:avLst/>
            </a:prstGeom>
            <a:noFill/>
            <a:ln>
              <a:noFill/>
            </a:ln>
          </p:spPr>
          <p:txBody>
            <a:bodyPr wrap="none" lIns="0" tIns="0" rIns="0" bIns="0" anchor="t" anchorCtr="0">
              <a:spAutoFit/>
            </a:bodyPr>
            <a:lstStyle/>
            <a:p>
              <a:pPr algn="r"/>
              <a:r>
                <a:rPr lang="zh-CN" sz="1280" dirty="0">
                  <a:solidFill>
                    <a:srgbClr val="1F2937"/>
                  </a:solidFill>
                  <a:latin typeface="+mn-lt"/>
                  <a:ea typeface="+mn-ea"/>
                  <a:cs typeface="+mn-cs"/>
                </a:rPr>
                <a:t>1013.8</a:t>
              </a:r>
            </a:p>
          </p:txBody>
        </p:sp>
        <p:sp>
          <p:nvSpPr>
            <p:cNvPr id="29" name="Rectangle 29"/>
            <p:cNvSpPr/>
            <p:nvPr/>
          </p:nvSpPr>
          <p:spPr>
            <a:xfrm>
              <a:off x="6680835" y="2866072"/>
              <a:ext cx="4977765" cy="9525"/>
            </a:xfrm>
            <a:prstGeom prst="rect">
              <a:avLst/>
            </a:prstGeom>
            <a:solidFill>
              <a:srgbClr val="D9DFEA"/>
            </a:solidFill>
            <a:ln>
              <a:noFill/>
            </a:ln>
          </p:spPr>
        </p:sp>
        <p:sp>
          <p:nvSpPr>
            <p:cNvPr id="30" name="TextBox 30"/>
            <p:cNvSpPr txBox="1"/>
            <p:nvPr/>
          </p:nvSpPr>
          <p:spPr>
            <a:xfrm>
              <a:off x="7641651" y="3005614"/>
              <a:ext cx="248162" cy="249364"/>
            </a:xfrm>
            <a:prstGeom prst="rect">
              <a:avLst/>
            </a:prstGeom>
            <a:noFill/>
            <a:ln>
              <a:noFill/>
            </a:ln>
          </p:spPr>
          <p:txBody>
            <a:bodyPr wrap="none" lIns="0" tIns="0" rIns="0" bIns="0" anchor="t" anchorCtr="0">
              <a:spAutoFit/>
            </a:bodyPr>
            <a:lstStyle/>
            <a:p>
              <a:pPr algn="ctr"/>
              <a:r>
                <a:rPr lang="zh-CN" sz="1280" b="1" dirty="0">
                  <a:solidFill>
                    <a:srgbClr val="1F2937"/>
                  </a:solidFill>
                  <a:latin typeface="+mn-lt"/>
                  <a:ea typeface="+mn-ea"/>
                  <a:cs typeface="+mn-cs"/>
                </a:rPr>
                <a:t>2%</a:t>
              </a:r>
            </a:p>
          </p:txBody>
        </p:sp>
        <p:sp>
          <p:nvSpPr>
            <p:cNvPr id="31" name="TextBox 31"/>
            <p:cNvSpPr txBox="1"/>
            <p:nvPr/>
          </p:nvSpPr>
          <p:spPr>
            <a:xfrm>
              <a:off x="10969188" y="3005614"/>
              <a:ext cx="581589" cy="249364"/>
            </a:xfrm>
            <a:prstGeom prst="rect">
              <a:avLst/>
            </a:prstGeom>
            <a:noFill/>
            <a:ln>
              <a:noFill/>
            </a:ln>
          </p:spPr>
          <p:txBody>
            <a:bodyPr wrap="none" lIns="0" tIns="0" rIns="0" bIns="0" anchor="t" anchorCtr="0">
              <a:spAutoFit/>
            </a:bodyPr>
            <a:lstStyle/>
            <a:p>
              <a:pPr algn="r"/>
              <a:r>
                <a:rPr lang="zh-CN" sz="1280" dirty="0">
                  <a:solidFill>
                    <a:srgbClr val="1F2937"/>
                  </a:solidFill>
                  <a:latin typeface="+mn-lt"/>
                  <a:ea typeface="+mn-ea"/>
                  <a:cs typeface="+mn-cs"/>
                </a:rPr>
                <a:t>1003.5</a:t>
              </a:r>
            </a:p>
          </p:txBody>
        </p:sp>
        <p:sp>
          <p:nvSpPr>
            <p:cNvPr id="32" name="Rectangle 32"/>
            <p:cNvSpPr/>
            <p:nvPr/>
          </p:nvSpPr>
          <p:spPr>
            <a:xfrm>
              <a:off x="6680835" y="3314700"/>
              <a:ext cx="4977765" cy="9525"/>
            </a:xfrm>
            <a:prstGeom prst="rect">
              <a:avLst/>
            </a:prstGeom>
            <a:solidFill>
              <a:srgbClr val="D9DFEA"/>
            </a:solidFill>
            <a:ln>
              <a:noFill/>
            </a:ln>
          </p:spPr>
        </p:sp>
        <p:sp>
          <p:nvSpPr>
            <p:cNvPr id="33" name="Rectangle 33"/>
            <p:cNvSpPr/>
            <p:nvPr/>
          </p:nvSpPr>
          <p:spPr>
            <a:xfrm>
              <a:off x="6680835" y="3319462"/>
              <a:ext cx="4977765" cy="448628"/>
            </a:xfrm>
            <a:prstGeom prst="rect">
              <a:avLst/>
            </a:prstGeom>
            <a:solidFill>
              <a:srgbClr val="F4F6FB"/>
            </a:solidFill>
            <a:ln>
              <a:noFill/>
            </a:ln>
          </p:spPr>
        </p:sp>
        <p:sp>
          <p:nvSpPr>
            <p:cNvPr id="34" name="TextBox 34"/>
            <p:cNvSpPr txBox="1"/>
            <p:nvPr/>
          </p:nvSpPr>
          <p:spPr>
            <a:xfrm>
              <a:off x="7641651" y="3454241"/>
              <a:ext cx="248162" cy="249364"/>
            </a:xfrm>
            <a:prstGeom prst="rect">
              <a:avLst/>
            </a:prstGeom>
            <a:noFill/>
            <a:ln>
              <a:noFill/>
            </a:ln>
          </p:spPr>
          <p:txBody>
            <a:bodyPr wrap="none" lIns="0" tIns="0" rIns="0" bIns="0" anchor="t" anchorCtr="0">
              <a:spAutoFit/>
            </a:bodyPr>
            <a:lstStyle/>
            <a:p>
              <a:pPr algn="ctr"/>
              <a:r>
                <a:rPr lang="zh-CN" sz="1280" b="1" dirty="0">
                  <a:solidFill>
                    <a:srgbClr val="1F2937"/>
                  </a:solidFill>
                  <a:latin typeface="+mn-lt"/>
                  <a:ea typeface="+mn-ea"/>
                  <a:cs typeface="+mn-cs"/>
                </a:rPr>
                <a:t>3%</a:t>
              </a:r>
            </a:p>
          </p:txBody>
        </p:sp>
        <p:sp>
          <p:nvSpPr>
            <p:cNvPr id="35" name="TextBox 35"/>
            <p:cNvSpPr txBox="1"/>
            <p:nvPr/>
          </p:nvSpPr>
          <p:spPr>
            <a:xfrm>
              <a:off x="11063961" y="3454241"/>
              <a:ext cx="486816" cy="249364"/>
            </a:xfrm>
            <a:prstGeom prst="rect">
              <a:avLst/>
            </a:prstGeom>
            <a:noFill/>
            <a:ln>
              <a:noFill/>
            </a:ln>
          </p:spPr>
          <p:txBody>
            <a:bodyPr wrap="none" lIns="0" tIns="0" rIns="0" bIns="0" anchor="t" anchorCtr="0">
              <a:spAutoFit/>
            </a:bodyPr>
            <a:lstStyle/>
            <a:p>
              <a:pPr algn="r"/>
              <a:r>
                <a:rPr lang="zh-CN" sz="1280" dirty="0">
                  <a:solidFill>
                    <a:srgbClr val="1F2937"/>
                  </a:solidFill>
                  <a:latin typeface="+mn-lt"/>
                  <a:ea typeface="+mn-ea"/>
                  <a:cs typeface="+mn-cs"/>
                </a:rPr>
                <a:t>993.3</a:t>
              </a:r>
            </a:p>
          </p:txBody>
        </p:sp>
        <p:sp>
          <p:nvSpPr>
            <p:cNvPr id="36" name="Rectangle 36"/>
            <p:cNvSpPr/>
            <p:nvPr/>
          </p:nvSpPr>
          <p:spPr>
            <a:xfrm>
              <a:off x="6680835" y="3763328"/>
              <a:ext cx="4977765" cy="9525"/>
            </a:xfrm>
            <a:prstGeom prst="rect">
              <a:avLst/>
            </a:prstGeom>
            <a:solidFill>
              <a:srgbClr val="D9DFEA"/>
            </a:solidFill>
            <a:ln>
              <a:noFill/>
            </a:ln>
          </p:spPr>
        </p:sp>
        <p:sp>
          <p:nvSpPr>
            <p:cNvPr id="37" name="TextBox 37"/>
            <p:cNvSpPr txBox="1"/>
            <p:nvPr/>
          </p:nvSpPr>
          <p:spPr>
            <a:xfrm>
              <a:off x="7641651" y="3903821"/>
              <a:ext cx="248162" cy="249364"/>
            </a:xfrm>
            <a:prstGeom prst="rect">
              <a:avLst/>
            </a:prstGeom>
            <a:noFill/>
            <a:ln>
              <a:noFill/>
            </a:ln>
          </p:spPr>
          <p:txBody>
            <a:bodyPr wrap="none" lIns="0" tIns="0" rIns="0" bIns="0" anchor="t" anchorCtr="0">
              <a:spAutoFit/>
            </a:bodyPr>
            <a:lstStyle/>
            <a:p>
              <a:pPr algn="ctr"/>
              <a:r>
                <a:rPr lang="zh-CN" sz="1280" b="1" dirty="0">
                  <a:solidFill>
                    <a:srgbClr val="1F2937"/>
                  </a:solidFill>
                  <a:latin typeface="+mn-lt"/>
                  <a:ea typeface="+mn-ea"/>
                  <a:cs typeface="+mn-cs"/>
                </a:rPr>
                <a:t>4%</a:t>
              </a:r>
            </a:p>
          </p:txBody>
        </p:sp>
        <p:sp>
          <p:nvSpPr>
            <p:cNvPr id="38" name="TextBox 38"/>
            <p:cNvSpPr txBox="1"/>
            <p:nvPr/>
          </p:nvSpPr>
          <p:spPr>
            <a:xfrm>
              <a:off x="11063961" y="3903821"/>
              <a:ext cx="486816" cy="249364"/>
            </a:xfrm>
            <a:prstGeom prst="rect">
              <a:avLst/>
            </a:prstGeom>
            <a:noFill/>
            <a:ln>
              <a:noFill/>
            </a:ln>
          </p:spPr>
          <p:txBody>
            <a:bodyPr wrap="none" lIns="0" tIns="0" rIns="0" bIns="0" anchor="t" anchorCtr="0">
              <a:spAutoFit/>
            </a:bodyPr>
            <a:lstStyle/>
            <a:p>
              <a:pPr algn="r"/>
              <a:r>
                <a:rPr lang="zh-CN" sz="1280" dirty="0">
                  <a:solidFill>
                    <a:srgbClr val="1F2937"/>
                  </a:solidFill>
                  <a:latin typeface="+mn-lt"/>
                  <a:ea typeface="+mn-ea"/>
                  <a:cs typeface="+mn-cs"/>
                </a:rPr>
                <a:t>983.1</a:t>
              </a:r>
            </a:p>
          </p:txBody>
        </p:sp>
        <p:sp>
          <p:nvSpPr>
            <p:cNvPr id="39" name="Rectangle 39"/>
            <p:cNvSpPr/>
            <p:nvPr/>
          </p:nvSpPr>
          <p:spPr>
            <a:xfrm>
              <a:off x="6680835" y="1524000"/>
              <a:ext cx="4977765" cy="2692718"/>
            </a:xfrm>
            <a:prstGeom prst="rect">
              <a:avLst/>
            </a:prstGeom>
            <a:noFill/>
            <a:ln w="14288">
              <a:solidFill>
                <a:srgbClr val="D9DFEA"/>
              </a:solidFill>
            </a:ln>
          </p:spPr>
        </p:sp>
        <p:sp>
          <p:nvSpPr>
            <p:cNvPr id="40" name="Rectangle 40"/>
            <p:cNvSpPr/>
            <p:nvPr/>
          </p:nvSpPr>
          <p:spPr>
            <a:xfrm>
              <a:off x="8844915" y="1524000"/>
              <a:ext cx="9525" cy="2692718"/>
            </a:xfrm>
            <a:prstGeom prst="rect">
              <a:avLst/>
            </a:prstGeom>
            <a:solidFill>
              <a:srgbClr val="D9DFEA"/>
            </a:solidFill>
            <a:ln>
              <a:noFill/>
            </a:ln>
          </p:spPr>
        </p:sp>
        <p:sp>
          <p:nvSpPr>
            <p:cNvPr id="41" name="TextBox 41"/>
            <p:cNvSpPr txBox="1"/>
            <p:nvPr/>
          </p:nvSpPr>
          <p:spPr>
            <a:xfrm>
              <a:off x="6675120" y="4292441"/>
              <a:ext cx="4719574" cy="420052"/>
            </a:xfrm>
            <a:prstGeom prst="rect">
              <a:avLst/>
            </a:prstGeom>
            <a:noFill/>
            <a:ln>
              <a:noFill/>
            </a:ln>
          </p:spPr>
          <p:txBody>
            <a:bodyPr wrap="none" lIns="0" tIns="0" rIns="0" bIns="0" anchor="t" anchorCtr="0">
              <a:spAutoFit/>
            </a:bodyPr>
            <a:lstStyle/>
            <a:p>
              <a:pPr algn="l">
                <a:lnSpc>
                  <a:spcPts val="1575"/>
                </a:lnSpc>
              </a:pPr>
              <a:r>
                <a:rPr lang="zh-CN" sz="1120" dirty="0">
                  <a:solidFill>
                    <a:srgbClr val="5B6475"/>
                  </a:solidFill>
                  <a:latin typeface="+mn-lt"/>
                  <a:ea typeface="+mn-ea"/>
                  <a:cs typeface="+mn-cs"/>
                </a:rPr>
                <a:t>S′ = 1024 − 1023 rₛ，与原课件第161页图 (c) 的 1014x、1004x、993x、</a:t>
              </a:r>
              <a:br/>
              <a:r>
                <a:rPr lang="zh-CN" sz="1120" dirty="0">
                  <a:solidFill>
                    <a:srgbClr val="5B6475"/>
                  </a:solidFill>
                  <a:latin typeface="+mn-lt"/>
                  <a:ea typeface="+mn-ea"/>
                  <a:cs typeface="+mn-cs"/>
                </a:rPr>
                <a:t>983x 一致</a:t>
              </a:r>
            </a:p>
          </p:txBody>
        </p:sp>
      </p:grpSp>
      <p:grpSp>
        <p:nvGrpSpPr>
          <p:cNvPr id="49" name="c2-callout-2"/>
          <p:cNvGrpSpPr/>
          <p:nvPr/>
        </p:nvGrpSpPr>
        <p:grpSpPr>
          <a:xfrm>
            <a:off x="6680835" y="4858702"/>
            <a:ext cx="4977765" cy="1204912"/>
            <a:chOff x="6680835" y="4858702"/>
            <a:chExt cx="4977765" cy="1204912"/>
          </a:xfrm>
        </p:grpSpPr>
        <p:sp>
          <p:nvSpPr>
            <p:cNvPr id="43" name="Rectangle 43"/>
            <p:cNvSpPr/>
            <p:nvPr/>
          </p:nvSpPr>
          <p:spPr>
            <a:xfrm>
              <a:off x="6680835" y="4858702"/>
              <a:ext cx="4977765" cy="1204912"/>
            </a:xfrm>
            <a:prstGeom prst="roundRect">
              <a:avLst>
                <a:gd name="adj" fmla="val 9486"/>
              </a:avLst>
            </a:prstGeom>
            <a:solidFill>
              <a:srgbClr val="FDEEE7"/>
            </a:solidFill>
            <a:ln>
              <a:noFill/>
            </a:ln>
          </p:spPr>
        </p:sp>
        <p:grpSp>
          <p:nvGrpSpPr>
            <p:cNvPr id="47" name="Group 47"/>
            <p:cNvGrpSpPr/>
            <p:nvPr/>
          </p:nvGrpSpPr>
          <p:grpSpPr>
            <a:xfrm>
              <a:off x="6885623" y="5361623"/>
              <a:ext cx="200026" cy="200025"/>
              <a:chOff x="6885623" y="5361623"/>
              <a:chExt cx="200026" cy="200025"/>
            </a:xfrm>
          </p:grpSpPr>
          <p:sp>
            <p:nvSpPr>
              <p:cNvPr id="44" name="Freeform 44"/>
              <p:cNvSpPr/>
              <p:nvPr/>
            </p:nvSpPr>
            <p:spPr>
              <a:xfrm>
                <a:off x="6885623" y="5361623"/>
                <a:ext cx="200026" cy="100013"/>
              </a:xfrm>
              <a:custGeom>
                <a:avLst/>
                <a:gdLst/>
                <a:ahLst/>
                <a:cxnLst/>
                <a:rect l="l" t="t" r="r" b="b"/>
                <a:pathLst>
                  <a:path w="200026" h="100013">
                    <a:moveTo>
                      <a:pt x="0" y="100013"/>
                    </a:moveTo>
                    <a:lnTo>
                      <a:pt x="11113" y="100013"/>
                    </a:lnTo>
                    <a:moveTo>
                      <a:pt x="100013" y="0"/>
                    </a:moveTo>
                    <a:lnTo>
                      <a:pt x="100013" y="11113"/>
                    </a:lnTo>
                    <a:moveTo>
                      <a:pt x="188913" y="100013"/>
                    </a:moveTo>
                    <a:lnTo>
                      <a:pt x="200026" y="100013"/>
                    </a:lnTo>
                    <a:moveTo>
                      <a:pt x="28893" y="28893"/>
                    </a:moveTo>
                    <a:lnTo>
                      <a:pt x="36671" y="36671"/>
                    </a:lnTo>
                    <a:moveTo>
                      <a:pt x="171133" y="28893"/>
                    </a:moveTo>
                    <a:lnTo>
                      <a:pt x="163354" y="36671"/>
                    </a:lnTo>
                  </a:path>
                </a:pathLst>
              </a:custGeom>
              <a:noFill/>
              <a:ln w="22225">
                <a:solidFill>
                  <a:srgbClr val="C2410C"/>
                </a:solidFill>
              </a:ln>
            </p:spPr>
          </p:sp>
          <p:sp>
            <p:nvSpPr>
              <p:cNvPr id="45" name="Freeform 45"/>
              <p:cNvSpPr/>
              <p:nvPr/>
            </p:nvSpPr>
            <p:spPr>
              <a:xfrm>
                <a:off x="6925361" y="5406073"/>
                <a:ext cx="120548" cy="155575"/>
              </a:xfrm>
              <a:custGeom>
                <a:avLst/>
                <a:gdLst/>
                <a:ahLst/>
                <a:cxnLst/>
                <a:rect l="l" t="t" r="r" b="b"/>
                <a:pathLst>
                  <a:path w="120548" h="155575">
                    <a:moveTo>
                      <a:pt x="26937" y="100013"/>
                    </a:moveTo>
                    <a:cubicBezTo>
                      <a:pt x="7804" y="85663"/>
                      <a:pt x="0" y="60681"/>
                      <a:pt x="7563" y="37992"/>
                    </a:cubicBezTo>
                    <a:cubicBezTo>
                      <a:pt x="15126" y="15304"/>
                      <a:pt x="36358" y="0"/>
                      <a:pt x="60274" y="0"/>
                    </a:cubicBezTo>
                    <a:cubicBezTo>
                      <a:pt x="84190" y="0"/>
                      <a:pt x="105423" y="15304"/>
                      <a:pt x="112986" y="37992"/>
                    </a:cubicBezTo>
                    <a:cubicBezTo>
                      <a:pt x="120548" y="60681"/>
                      <a:pt x="112745" y="85663"/>
                      <a:pt x="93612" y="100013"/>
                    </a:cubicBezTo>
                    <a:cubicBezTo>
                      <a:pt x="84812" y="108723"/>
                      <a:pt x="80686" y="121103"/>
                      <a:pt x="82499" y="133350"/>
                    </a:cubicBezTo>
                    <a:cubicBezTo>
                      <a:pt x="82499" y="145625"/>
                      <a:pt x="72549" y="155575"/>
                      <a:pt x="60274" y="155575"/>
                    </a:cubicBezTo>
                    <a:cubicBezTo>
                      <a:pt x="48000" y="155575"/>
                      <a:pt x="38049" y="145625"/>
                      <a:pt x="38049" y="133350"/>
                    </a:cubicBezTo>
                    <a:cubicBezTo>
                      <a:pt x="39862" y="121103"/>
                      <a:pt x="35736" y="108723"/>
                      <a:pt x="26937" y="100013"/>
                    </a:cubicBezTo>
                  </a:path>
                </a:pathLst>
              </a:custGeom>
              <a:noFill/>
              <a:ln w="22225">
                <a:solidFill>
                  <a:srgbClr val="C2410C"/>
                </a:solidFill>
              </a:ln>
            </p:spPr>
          </p:sp>
          <p:sp>
            <p:nvSpPr>
              <p:cNvPr id="46" name="Freeform 46"/>
              <p:cNvSpPr/>
              <p:nvPr/>
            </p:nvSpPr>
            <p:spPr>
              <a:xfrm>
                <a:off x="6960077" y="5517198"/>
                <a:ext cx="51118" cy="9525"/>
              </a:xfrm>
              <a:custGeom>
                <a:avLst/>
                <a:gdLst/>
                <a:ahLst/>
                <a:cxnLst/>
                <a:rect l="l" t="t" r="r" b="b"/>
                <a:pathLst>
                  <a:path w="51118" h="9525">
                    <a:moveTo>
                      <a:pt x="0" y="0"/>
                    </a:moveTo>
                    <a:lnTo>
                      <a:pt x="51118" y="0"/>
                    </a:lnTo>
                  </a:path>
                </a:pathLst>
              </a:custGeom>
              <a:noFill/>
              <a:ln w="22225">
                <a:solidFill>
                  <a:srgbClr val="C2410C"/>
                </a:solidFill>
              </a:ln>
            </p:spPr>
          </p:sp>
        </p:grpSp>
        <p:sp>
          <p:nvSpPr>
            <p:cNvPr id="48" name="TextBox 48"/>
            <p:cNvSpPr txBox="1"/>
            <p:nvPr/>
          </p:nvSpPr>
          <p:spPr>
            <a:xfrm>
              <a:off x="7187565" y="5080635"/>
              <a:ext cx="4072890" cy="845820"/>
            </a:xfrm>
            <a:prstGeom prst="rect">
              <a:avLst/>
            </a:prstGeom>
            <a:noFill/>
            <a:ln>
              <a:noFill/>
            </a:ln>
          </p:spPr>
          <p:txBody>
            <a:bodyPr wrap="none" lIns="0" tIns="0" rIns="0" bIns="0" anchor="t" anchorCtr="0">
              <a:spAutoFit/>
            </a:bodyPr>
            <a:lstStyle/>
            <a:p>
              <a:pPr algn="l">
                <a:lnSpc>
                  <a:spcPts val="2175"/>
                </a:lnSpc>
              </a:pPr>
              <a:r>
                <a:rPr lang="zh-CN" sz="1500" dirty="0">
                  <a:solidFill>
                    <a:srgbClr val="C2410C"/>
                  </a:solidFill>
                  <a:latin typeface="+mn-lt"/>
                  <a:ea typeface="+mn-ea"/>
                  <a:cs typeface="+mn-cs"/>
                </a:rPr>
                <a:t>几何意义：处理器增多是为了增加计算量，执行</a:t>
              </a:r>
              <a:br/>
              <a:r>
                <a:rPr lang="zh-CN" sz="1500" dirty="0">
                  <a:solidFill>
                    <a:srgbClr val="C2410C"/>
                  </a:solidFill>
                  <a:latin typeface="+mn-lt"/>
                  <a:ea typeface="+mn-ea"/>
                  <a:cs typeface="+mn-cs"/>
                </a:rPr>
                <a:t>时间不变。当 N 充分大时，加速比与 N 几乎成线</a:t>
              </a:r>
              <a:br/>
              <a:r>
                <a:rPr lang="zh-CN" sz="1500" dirty="0">
                  <a:solidFill>
                    <a:srgbClr val="C2410C"/>
                  </a:solidFill>
                  <a:latin typeface="+mn-lt"/>
                  <a:ea typeface="+mn-ea"/>
                  <a:cs typeface="+mn-cs"/>
                </a:rPr>
                <a:t>性关系，rₛ 不再是瓶颈。</a:t>
              </a:r>
            </a:p>
          </p:txBody>
        </p:sp>
      </p:grpSp>
      <p:grpSp>
        <p:nvGrpSpPr>
          <p:cNvPr id="52" name="footer"/>
          <p:cNvGrpSpPr/>
          <p:nvPr/>
        </p:nvGrpSpPr>
        <p:grpSpPr>
          <a:xfrm>
            <a:off x="528447" y="6581299"/>
            <a:ext cx="11135106" cy="190690"/>
            <a:chOff x="528447" y="6581299"/>
            <a:chExt cx="11135106" cy="190690"/>
          </a:xfrm>
        </p:grpSpPr>
        <p:sp>
          <p:nvSpPr>
            <p:cNvPr id="50" name="TextBox 50"/>
            <p:cNvSpPr txBox="1"/>
            <p:nvPr/>
          </p:nvSpPr>
          <p:spPr>
            <a:xfrm>
              <a:off x="528447" y="6581299"/>
              <a:ext cx="2120748"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并行与分布式计算 · 第7章 体系结构</a:t>
              </a:r>
            </a:p>
          </p:txBody>
        </p:sp>
        <p:sp>
          <p:nvSpPr>
            <p:cNvPr id="51" name="TextBox 51"/>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65</a:t>
              </a:r>
            </a:p>
          </p:txBody>
        </p:sp>
      </p:grpSp>
    </p:spTree>
  </p:cSld>
  <p:clrMapOvr>
    <a:masterClrMapping/>
  </p:clrMapOvr>
  <p:transition xmlns:p14="http://schemas.microsoft.com/office/powerpoint/2010/main" p14:dur="400">
    <p:fade/>
  </p:transition>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7317679" cy="909257"/>
            <a:chOff x="520446" y="342900"/>
            <a:chExt cx="7317679" cy="909257"/>
          </a:xfrm>
        </p:grpSpPr>
        <p:sp>
          <p:nvSpPr>
            <p:cNvPr id="2" name="Rectangle 2"/>
            <p:cNvSpPr/>
            <p:nvPr/>
          </p:nvSpPr>
          <p:spPr>
            <a:xfrm>
              <a:off x="533400" y="342900"/>
              <a:ext cx="1987868" cy="266700"/>
            </a:xfrm>
            <a:prstGeom prst="roundRect">
              <a:avLst>
                <a:gd name="adj" fmla="val 50000"/>
              </a:avLst>
            </a:prstGeom>
            <a:solidFill>
              <a:srgbClr val="E7EDF3"/>
            </a:solidFill>
            <a:ln>
              <a:noFill/>
            </a:ln>
          </p:spPr>
        </p:sp>
        <p:sp>
          <p:nvSpPr>
            <p:cNvPr id="3" name="TextBox 3"/>
            <p:cNvSpPr txBox="1"/>
            <p:nvPr/>
          </p:nvSpPr>
          <p:spPr>
            <a:xfrm>
              <a:off x="608957" y="407194"/>
              <a:ext cx="1835800"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第7章 体系结构 · 性能评测</a:t>
              </a:r>
            </a:p>
          </p:txBody>
        </p:sp>
        <p:sp>
          <p:nvSpPr>
            <p:cNvPr id="4" name="TextBox 4"/>
            <p:cNvSpPr txBox="1"/>
            <p:nvPr/>
          </p:nvSpPr>
          <p:spPr>
            <a:xfrm>
              <a:off x="520446" y="753428"/>
              <a:ext cx="7317679"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Sun &amp; Ni 定律：存储能装多大，就把问题做多大</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17" name="c1-card-1"/>
          <p:cNvGrpSpPr/>
          <p:nvPr/>
        </p:nvGrpSpPr>
        <p:grpSpPr>
          <a:xfrm>
            <a:off x="533400" y="1524000"/>
            <a:ext cx="5842635" cy="3129915"/>
            <a:chOff x="533400" y="1524000"/>
            <a:chExt cx="5842635" cy="3129915"/>
          </a:xfrm>
        </p:grpSpPr>
        <p:sp>
          <p:nvSpPr>
            <p:cNvPr id="7" name="Rectangle 7"/>
            <p:cNvSpPr/>
            <p:nvPr/>
          </p:nvSpPr>
          <p:spPr>
            <a:xfrm>
              <a:off x="533400" y="1524000"/>
              <a:ext cx="5842635" cy="3129915"/>
            </a:xfrm>
            <a:prstGeom prst="roundRect">
              <a:avLst>
                <a:gd name="adj" fmla="val 4260"/>
              </a:avLst>
            </a:prstGeom>
            <a:solidFill>
              <a:srgbClr val="FFFFFF"/>
            </a:solidFill>
            <a:ln w="14288">
              <a:solidFill>
                <a:srgbClr val="D9DFEA"/>
              </a:solidFill>
            </a:ln>
          </p:spPr>
        </p:sp>
        <p:sp>
          <p:nvSpPr>
            <p:cNvPr id="8" name="Rectangle 8"/>
            <p:cNvSpPr/>
            <p:nvPr/>
          </p:nvSpPr>
          <p:spPr>
            <a:xfrm>
              <a:off x="542925" y="1657350"/>
              <a:ext cx="47625" cy="2863215"/>
            </a:xfrm>
            <a:prstGeom prst="roundRect">
              <a:avLst>
                <a:gd name="adj" fmla="val 50000"/>
              </a:avLst>
            </a:prstGeom>
            <a:solidFill>
              <a:srgbClr val="334E68"/>
            </a:solidFill>
            <a:ln>
              <a:noFill/>
            </a:ln>
          </p:spPr>
        </p:sp>
        <p:sp>
          <p:nvSpPr>
            <p:cNvPr id="9" name="Rectangle 9"/>
            <p:cNvSpPr/>
            <p:nvPr/>
          </p:nvSpPr>
          <p:spPr>
            <a:xfrm>
              <a:off x="781050" y="1733550"/>
              <a:ext cx="636270" cy="257175"/>
            </a:xfrm>
            <a:prstGeom prst="roundRect">
              <a:avLst>
                <a:gd name="adj" fmla="val 50000"/>
              </a:avLst>
            </a:prstGeom>
            <a:solidFill>
              <a:srgbClr val="E7EDF3"/>
            </a:solidFill>
            <a:ln>
              <a:noFill/>
            </a:ln>
          </p:spPr>
        </p:sp>
        <p:sp>
          <p:nvSpPr>
            <p:cNvPr id="10" name="TextBox 10"/>
            <p:cNvSpPr txBox="1"/>
            <p:nvPr/>
          </p:nvSpPr>
          <p:spPr>
            <a:xfrm>
              <a:off x="867308" y="1769269"/>
              <a:ext cx="463753"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出发点</a:t>
              </a:r>
            </a:p>
          </p:txBody>
        </p:sp>
        <p:sp>
          <p:nvSpPr>
            <p:cNvPr id="11" name="Ellipse 11"/>
            <p:cNvSpPr/>
            <p:nvPr/>
          </p:nvSpPr>
          <p:spPr>
            <a:xfrm>
              <a:off x="786765" y="2173605"/>
              <a:ext cx="64770" cy="64770"/>
            </a:xfrm>
            <a:prstGeom prst="ellipse">
              <a:avLst/>
            </a:prstGeom>
            <a:solidFill>
              <a:srgbClr val="334E68"/>
            </a:solidFill>
            <a:ln>
              <a:noFill/>
            </a:ln>
          </p:spPr>
        </p:sp>
        <p:sp>
          <p:nvSpPr>
            <p:cNvPr id="12" name="TextBox 12"/>
            <p:cNvSpPr txBox="1"/>
            <p:nvPr/>
          </p:nvSpPr>
          <p:spPr>
            <a:xfrm>
              <a:off x="944880" y="2110740"/>
              <a:ext cx="4987290"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Amdahl 与 Gustafson 代表两种极端，都没有限制处理器数</a:t>
              </a:r>
              <a:br/>
              <a:r>
                <a:rPr lang="zh-CN" sz="1500" dirty="0">
                  <a:solidFill>
                    <a:srgbClr val="1F2937"/>
                  </a:solidFill>
                  <a:latin typeface="+mn-lt"/>
                  <a:ea typeface="+mn-ea"/>
                  <a:cs typeface="+mn-cs"/>
                </a:rPr>
                <a:t>和存储容量；实际上可求解的问题规模受存储容量限制</a:t>
              </a:r>
            </a:p>
          </p:txBody>
        </p:sp>
        <p:sp>
          <p:nvSpPr>
            <p:cNvPr id="13" name="Ellipse 13"/>
            <p:cNvSpPr/>
            <p:nvPr/>
          </p:nvSpPr>
          <p:spPr>
            <a:xfrm>
              <a:off x="786765" y="2794635"/>
              <a:ext cx="64770" cy="64770"/>
            </a:xfrm>
            <a:prstGeom prst="ellipse">
              <a:avLst/>
            </a:prstGeom>
            <a:solidFill>
              <a:srgbClr val="334E68"/>
            </a:solidFill>
            <a:ln>
              <a:noFill/>
            </a:ln>
          </p:spPr>
        </p:sp>
        <p:sp>
          <p:nvSpPr>
            <p:cNvPr id="14" name="TextBox 14"/>
            <p:cNvSpPr txBox="1"/>
            <p:nvPr/>
          </p:nvSpPr>
          <p:spPr>
            <a:xfrm>
              <a:off x="944880" y="2731770"/>
              <a:ext cx="4968240" cy="86487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孙贤和（Xian-He Sun）与倪明选（Lionel Ni）1993 年提</a:t>
              </a:r>
              <a:br/>
              <a:r>
                <a:rPr lang="zh-CN" sz="1500" dirty="0">
                  <a:solidFill>
                    <a:srgbClr val="1F2937"/>
                  </a:solidFill>
                  <a:latin typeface="+mn-lt"/>
                  <a:ea typeface="+mn-ea"/>
                  <a:cs typeface="+mn-cs"/>
                </a:rPr>
                <a:t>出：只要存储空间允许，就尽量增大问题规模，求更好、更</a:t>
              </a:r>
              <a:br/>
              <a:r>
                <a:rPr lang="zh-CN" sz="1500" dirty="0">
                  <a:solidFill>
                    <a:srgbClr val="1F2937"/>
                  </a:solidFill>
                  <a:latin typeface="+mn-lt"/>
                  <a:ea typeface="+mn-ea"/>
                  <a:cs typeface="+mn-cs"/>
                </a:rPr>
                <a:t>精确的解（执行时间可能略有增加）</a:t>
              </a:r>
            </a:p>
          </p:txBody>
        </p:sp>
        <p:sp>
          <p:nvSpPr>
            <p:cNvPr id="15" name="Ellipse 15"/>
            <p:cNvSpPr/>
            <p:nvPr/>
          </p:nvSpPr>
          <p:spPr>
            <a:xfrm>
              <a:off x="786765" y="3701415"/>
              <a:ext cx="64770" cy="64770"/>
            </a:xfrm>
            <a:prstGeom prst="ellipse">
              <a:avLst/>
            </a:prstGeom>
            <a:solidFill>
              <a:srgbClr val="334E68"/>
            </a:solidFill>
            <a:ln>
              <a:noFill/>
            </a:ln>
          </p:spPr>
        </p:sp>
        <p:sp>
          <p:nvSpPr>
            <p:cNvPr id="16" name="TextBox 16"/>
            <p:cNvSpPr txBox="1"/>
            <p:nvPr/>
          </p:nvSpPr>
          <p:spPr>
            <a:xfrm>
              <a:off x="944880" y="3638550"/>
              <a:ext cx="5006340" cy="86487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N 个节点、每节点存储 M，共 N·M；存储需求增加 N 倍时，</a:t>
              </a:r>
              <a:br/>
              <a:r>
                <a:rPr lang="zh-CN" sz="1500" dirty="0">
                  <a:solidFill>
                    <a:srgbClr val="1F2937"/>
                  </a:solidFill>
                  <a:latin typeface="+mn-lt"/>
                  <a:ea typeface="+mn-ea"/>
                  <a:cs typeface="+mn-cs"/>
                </a:rPr>
                <a:t>并行部分计算量增加 G(N) 倍：W = rₛW + (1 − rₛ)W 变为</a:t>
              </a:r>
              <a:br/>
              <a:r>
                <a:rPr lang="en-US" sz="1500" dirty="0">
                  <a:solidFill>
                    <a:srgbClr val="1F2937"/>
                  </a:solidFill>
                  <a:latin typeface="+mn-lt"/>
                  <a:ea typeface="+mn-ea"/>
                  <a:cs typeface="+mn-cs"/>
                </a:rPr>
                <a:t>rₛW + (1 − rₛ)G(N)W</a:t>
              </a:r>
            </a:p>
          </p:txBody>
        </p:sp>
      </p:grpSp>
      <mc:AlternateContent xmlns:mc="http://schemas.openxmlformats.org/markup-compatibility/2006">
        <mc:Choice xmlns:a14="http://schemas.microsoft.com/office/drawing/2010/main" Requires="a14">
          <p:sp>
            <p:nvSpPr>
              <p:cNvPr id="18" name="formula29"/>
              <p:cNvSpPr txBox="1">
                <a:spLocks noGrp="1"/>
              </p:cNvSpPr>
              <p:nvPr/>
            </p:nvSpPr>
            <p:spPr>
              <a:xfrm>
                <a:off x="533400" y="4844415"/>
                <a:ext cx="5842635" cy="591502"/>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r>
                        <a:rPr lang="zh-CN" sz="1720" dirty="0">
                          <a:solidFill>
                            <a:srgbClr val="1F2937"/>
                          </a:solidFill>
                          <a:latin typeface="Cambria Math"/>
                          <a:ea typeface="Cambria Math"/>
                          <a:cs typeface="Cambria Math"/>
                        </a:rPr>
                        <m:t>S''</m:t>
                      </m:r>
                      <m:r>
                        <m:rPr>
                          <m:sty m:val="p"/>
                        </m:rPr>
                        <a:rPr lang="zh-CN" sz="1720" dirty="0">
                          <a:solidFill>
                            <a:srgbClr val="1F2937"/>
                          </a:solidFill>
                          <a:latin typeface="Cambria Math"/>
                          <a:ea typeface="Cambria Math"/>
                          <a:cs typeface="Cambria Math"/>
                        </a:rPr>
                        <m:t>=</m:t>
                      </m:r>
                      <m:f>
                        <m:fPr>
                          <m:type m:val="bar"/>
                          <m:ctrlPr>
                            <a:rPr lang="zh-CN" sz="1720" dirty="0">
                              <a:solidFill>
                                <a:srgbClr val="1F2937"/>
                              </a:solidFill>
                              <a:latin typeface="Cambria Math"/>
                              <a:ea typeface="Cambria Math"/>
                              <a:cs typeface="Cambria Math"/>
                            </a:rPr>
                          </m:ctrlPr>
                        </m:fPr>
                        <m:num>
                          <m:sSub>
                            <m:e>
                              <m:r>
                                <a:rPr lang="zh-CN" sz="1720" dirty="0">
                                  <a:solidFill>
                                    <a:srgbClr val="1F2937"/>
                                  </a:solidFill>
                                  <a:latin typeface="Cambria Math"/>
                                  <a:ea typeface="Cambria Math"/>
                                  <a:cs typeface="Cambria Math"/>
                                </a:rPr>
                                <m:t>r</m:t>
                              </m:r>
                            </m:e>
                            <m:sub>
                              <m:r>
                                <a:rPr lang="zh-CN" sz="1720" dirty="0">
                                  <a:solidFill>
                                    <a:srgbClr val="1F2937"/>
                                  </a:solidFill>
                                  <a:latin typeface="Cambria Math"/>
                                  <a:ea typeface="Cambria Math"/>
                                  <a:cs typeface="Cambria Math"/>
                                </a:rPr>
                                <m:t>s</m:t>
                              </m:r>
                            </m:sub>
                          </m:sSub>
                          <m:r>
                            <a:rPr lang="zh-CN" sz="1720" dirty="0">
                              <a:solidFill>
                                <a:srgbClr val="1F2937"/>
                              </a:solidFill>
                              <a:latin typeface="Cambria Math"/>
                              <a:ea typeface="Cambria Math"/>
                              <a:cs typeface="Cambria Math"/>
                            </a:rPr>
                            <m:t>W</m:t>
                          </m:r>
                          <m:r>
                            <m:rPr>
                              <m:sty m:val="p"/>
                            </m:rPr>
                            <a:rPr lang="zh-CN" sz="1720" dirty="0">
                              <a:solidFill>
                                <a:srgbClr val="1F2937"/>
                              </a:solidFill>
                              <a:latin typeface="Cambria Math"/>
                              <a:ea typeface="Cambria Math"/>
                              <a:cs typeface="Cambria Math"/>
                            </a:rPr>
                            <m:t>+</m:t>
                          </m:r>
                          <m:d>
                            <m:dPr>
                              <m:begChr m:val="("/>
                              <m:sepChr m:val=""/>
                              <m:endChr m:val=")"/>
                              <m:grow m:val="on"/>
                              <m:ctrlPr>
                                <a:rPr lang="zh-CN" sz="1720" dirty="0">
                                  <a:solidFill>
                                    <a:srgbClr val="1F2937"/>
                                  </a:solidFill>
                                  <a:latin typeface="Cambria Math"/>
                                  <a:ea typeface="Cambria Math"/>
                                  <a:cs typeface="Cambria Math"/>
                                </a:rPr>
                              </m:ctrlPr>
                            </m:dPr>
                            <m:e>
                              <m:r>
                                <a:rPr lang="zh-CN" sz="1720" dirty="0">
                                  <a:solidFill>
                                    <a:srgbClr val="1F2937"/>
                                  </a:solidFill>
                                  <a:latin typeface="Cambria Math"/>
                                  <a:ea typeface="Cambria Math"/>
                                  <a:cs typeface="Cambria Math"/>
                                </a:rPr>
                                <m:t>1</m:t>
                              </m:r>
                              <m:r>
                                <m:rPr>
                                  <m:sty m:val="p"/>
                                </m:rPr>
                                <a:rPr lang="zh-CN" sz="1720" dirty="0">
                                  <a:solidFill>
                                    <a:srgbClr val="1F2937"/>
                                  </a:solidFill>
                                  <a:latin typeface="Cambria Math"/>
                                  <a:ea typeface="Cambria Math"/>
                                  <a:cs typeface="Cambria Math"/>
                                </a:rPr>
                                <m:t>−</m:t>
                              </m:r>
                              <m:sSub>
                                <m:e>
                                  <m:r>
                                    <a:rPr lang="zh-CN" sz="1720" dirty="0">
                                      <a:solidFill>
                                        <a:srgbClr val="1F2937"/>
                                      </a:solidFill>
                                      <a:latin typeface="Cambria Math"/>
                                      <a:ea typeface="Cambria Math"/>
                                      <a:cs typeface="Cambria Math"/>
                                    </a:rPr>
                                    <m:t>r</m:t>
                                  </m:r>
                                </m:e>
                                <m:sub>
                                  <m:r>
                                    <a:rPr lang="zh-CN" sz="1720" dirty="0">
                                      <a:solidFill>
                                        <a:srgbClr val="1F2937"/>
                                      </a:solidFill>
                                      <a:latin typeface="Cambria Math"/>
                                      <a:ea typeface="Cambria Math"/>
                                      <a:cs typeface="Cambria Math"/>
                                    </a:rPr>
                                    <m:t>s</m:t>
                                  </m:r>
                                </m:sub>
                              </m:sSub>
                            </m:e>
                          </m:d>
                          <m:r>
                            <a:rPr lang="zh-CN" sz="1720" dirty="0">
                              <a:solidFill>
                                <a:srgbClr val="1F2937"/>
                              </a:solidFill>
                              <a:latin typeface="Cambria Math"/>
                              <a:ea typeface="Cambria Math"/>
                              <a:cs typeface="Cambria Math"/>
                            </a:rPr>
                            <m:t>G</m:t>
                          </m:r>
                          <m:d>
                            <m:dPr>
                              <m:begChr m:val="("/>
                              <m:sepChr m:val=""/>
                              <m:endChr m:val=")"/>
                              <m:grow m:val="on"/>
                              <m:ctrlPr>
                                <a:rPr lang="zh-CN" sz="1720" dirty="0">
                                  <a:solidFill>
                                    <a:srgbClr val="1F2937"/>
                                  </a:solidFill>
                                  <a:latin typeface="Cambria Math"/>
                                  <a:ea typeface="Cambria Math"/>
                                  <a:cs typeface="Cambria Math"/>
                                </a:rPr>
                              </m:ctrlPr>
                            </m:dPr>
                            <m:e>
                              <m:r>
                                <a:rPr lang="zh-CN" sz="1720" dirty="0">
                                  <a:solidFill>
                                    <a:srgbClr val="1F2937"/>
                                  </a:solidFill>
                                  <a:latin typeface="Cambria Math"/>
                                  <a:ea typeface="Cambria Math"/>
                                  <a:cs typeface="Cambria Math"/>
                                </a:rPr>
                                <m:t>N</m:t>
                              </m:r>
                            </m:e>
                          </m:d>
                          <m:r>
                            <a:rPr lang="zh-CN" sz="1720" dirty="0">
                              <a:solidFill>
                                <a:srgbClr val="1F2937"/>
                              </a:solidFill>
                              <a:latin typeface="Cambria Math"/>
                              <a:ea typeface="Cambria Math"/>
                              <a:cs typeface="Cambria Math"/>
                            </a:rPr>
                            <m:t>W</m:t>
                          </m:r>
                        </m:num>
                        <m:den>
                          <m:sSub>
                            <m:e>
                              <m:r>
                                <a:rPr lang="zh-CN" sz="1720" dirty="0">
                                  <a:solidFill>
                                    <a:srgbClr val="1F2937"/>
                                  </a:solidFill>
                                  <a:latin typeface="Cambria Math"/>
                                  <a:ea typeface="Cambria Math"/>
                                  <a:cs typeface="Cambria Math"/>
                                </a:rPr>
                                <m:t>r</m:t>
                              </m:r>
                            </m:e>
                            <m:sub>
                              <m:r>
                                <a:rPr lang="zh-CN" sz="1720" dirty="0">
                                  <a:solidFill>
                                    <a:srgbClr val="1F2937"/>
                                  </a:solidFill>
                                  <a:latin typeface="Cambria Math"/>
                                  <a:ea typeface="Cambria Math"/>
                                  <a:cs typeface="Cambria Math"/>
                                </a:rPr>
                                <m:t>s</m:t>
                              </m:r>
                            </m:sub>
                          </m:sSub>
                          <m:r>
                            <a:rPr lang="zh-CN" sz="1720" dirty="0">
                              <a:solidFill>
                                <a:srgbClr val="1F2937"/>
                              </a:solidFill>
                              <a:latin typeface="Cambria Math"/>
                              <a:ea typeface="Cambria Math"/>
                              <a:cs typeface="Cambria Math"/>
                            </a:rPr>
                            <m:t>W</m:t>
                          </m:r>
                          <m:r>
                            <m:rPr>
                              <m:sty m:val="p"/>
                            </m:rPr>
                            <a:rPr lang="zh-CN" sz="1720" dirty="0">
                              <a:solidFill>
                                <a:srgbClr val="1F2937"/>
                              </a:solidFill>
                              <a:latin typeface="Cambria Math"/>
                              <a:ea typeface="Cambria Math"/>
                              <a:cs typeface="Cambria Math"/>
                            </a:rPr>
                            <m:t>+</m:t>
                          </m:r>
                          <m:d>
                            <m:dPr>
                              <m:begChr m:val="("/>
                              <m:sepChr m:val=""/>
                              <m:endChr m:val=")"/>
                              <m:grow m:val="on"/>
                              <m:ctrlPr>
                                <a:rPr lang="zh-CN" sz="1720" dirty="0">
                                  <a:solidFill>
                                    <a:srgbClr val="1F2937"/>
                                  </a:solidFill>
                                  <a:latin typeface="Cambria Math"/>
                                  <a:ea typeface="Cambria Math"/>
                                  <a:cs typeface="Cambria Math"/>
                                </a:rPr>
                              </m:ctrlPr>
                            </m:dPr>
                            <m:e>
                              <m:r>
                                <a:rPr lang="zh-CN" sz="1720" dirty="0">
                                  <a:solidFill>
                                    <a:srgbClr val="1F2937"/>
                                  </a:solidFill>
                                  <a:latin typeface="Cambria Math"/>
                                  <a:ea typeface="Cambria Math"/>
                                  <a:cs typeface="Cambria Math"/>
                                </a:rPr>
                                <m:t>1</m:t>
                              </m:r>
                              <m:r>
                                <m:rPr>
                                  <m:sty m:val="p"/>
                                </m:rPr>
                                <a:rPr lang="zh-CN" sz="1720" dirty="0">
                                  <a:solidFill>
                                    <a:srgbClr val="1F2937"/>
                                  </a:solidFill>
                                  <a:latin typeface="Cambria Math"/>
                                  <a:ea typeface="Cambria Math"/>
                                  <a:cs typeface="Cambria Math"/>
                                </a:rPr>
                                <m:t>−</m:t>
                              </m:r>
                              <m:sSub>
                                <m:e>
                                  <m:r>
                                    <a:rPr lang="zh-CN" sz="1720" dirty="0">
                                      <a:solidFill>
                                        <a:srgbClr val="1F2937"/>
                                      </a:solidFill>
                                      <a:latin typeface="Cambria Math"/>
                                      <a:ea typeface="Cambria Math"/>
                                      <a:cs typeface="Cambria Math"/>
                                    </a:rPr>
                                    <m:t>r</m:t>
                                  </m:r>
                                </m:e>
                                <m:sub>
                                  <m:r>
                                    <a:rPr lang="zh-CN" sz="1720" dirty="0">
                                      <a:solidFill>
                                        <a:srgbClr val="1F2937"/>
                                      </a:solidFill>
                                      <a:latin typeface="Cambria Math"/>
                                      <a:ea typeface="Cambria Math"/>
                                      <a:cs typeface="Cambria Math"/>
                                    </a:rPr>
                                    <m:t>s</m:t>
                                  </m:r>
                                </m:sub>
                              </m:sSub>
                            </m:e>
                          </m:d>
                          <m:r>
                            <a:rPr lang="zh-CN" sz="1720" dirty="0">
                              <a:solidFill>
                                <a:srgbClr val="1F2937"/>
                              </a:solidFill>
                              <a:latin typeface="Cambria Math"/>
                              <a:ea typeface="Cambria Math"/>
                              <a:cs typeface="Cambria Math"/>
                            </a:rPr>
                            <m:t>G</m:t>
                          </m:r>
                          <m:d>
                            <m:dPr>
                              <m:begChr m:val="("/>
                              <m:sepChr m:val=""/>
                              <m:endChr m:val=")"/>
                              <m:grow m:val="on"/>
                              <m:ctrlPr>
                                <a:rPr lang="zh-CN" sz="1720" dirty="0">
                                  <a:solidFill>
                                    <a:srgbClr val="1F2937"/>
                                  </a:solidFill>
                                  <a:latin typeface="Cambria Math"/>
                                  <a:ea typeface="Cambria Math"/>
                                  <a:cs typeface="Cambria Math"/>
                                </a:rPr>
                              </m:ctrlPr>
                            </m:dPr>
                            <m:e>
                              <m:r>
                                <a:rPr lang="zh-CN" sz="1720" dirty="0">
                                  <a:solidFill>
                                    <a:srgbClr val="1F2937"/>
                                  </a:solidFill>
                                  <a:latin typeface="Cambria Math"/>
                                  <a:ea typeface="Cambria Math"/>
                                  <a:cs typeface="Cambria Math"/>
                                </a:rPr>
                                <m:t>N</m:t>
                              </m:r>
                            </m:e>
                          </m:d>
                          <m:r>
                            <a:rPr lang="zh-CN" sz="1720" dirty="0">
                              <a:solidFill>
                                <a:srgbClr val="1F2937"/>
                              </a:solidFill>
                              <a:latin typeface="Cambria Math"/>
                              <a:ea typeface="Cambria Math"/>
                              <a:cs typeface="Cambria Math"/>
                            </a:rPr>
                            <m:t>W</m:t>
                          </m:r>
                          <m:r>
                            <m:rPr>
                              <m:sty m:val="p"/>
                            </m:rPr>
                            <a:rPr lang="zh-CN" sz="1720" dirty="0">
                              <a:solidFill>
                                <a:srgbClr val="1F2937"/>
                              </a:solidFill>
                              <a:latin typeface="Cambria Math"/>
                              <a:ea typeface="Cambria Math"/>
                              <a:cs typeface="Cambria Math"/>
                            </a:rPr>
                            <m:t>/</m:t>
                          </m:r>
                          <m:r>
                            <a:rPr lang="zh-CN" sz="1720" dirty="0">
                              <a:solidFill>
                                <a:srgbClr val="1F2937"/>
                              </a:solidFill>
                              <a:latin typeface="Cambria Math"/>
                              <a:ea typeface="Cambria Math"/>
                              <a:cs typeface="Cambria Math"/>
                            </a:rPr>
                            <m:t>N</m:t>
                          </m:r>
                        </m:den>
                      </m:f>
                      <m:r>
                        <m:rPr>
                          <m:sty m:val="p"/>
                        </m:rPr>
                        <a:rPr lang="zh-CN" sz="1720" dirty="0">
                          <a:solidFill>
                            <a:srgbClr val="1F2937"/>
                          </a:solidFill>
                          <a:latin typeface="Cambria Math"/>
                          <a:ea typeface="Cambria Math"/>
                          <a:cs typeface="Cambria Math"/>
                        </a:rPr>
                        <m:t>=</m:t>
                      </m:r>
                      <m:f>
                        <m:fPr>
                          <m:type m:val="bar"/>
                          <m:ctrlPr>
                            <a:rPr lang="zh-CN" sz="1720" dirty="0">
                              <a:solidFill>
                                <a:srgbClr val="1F2937"/>
                              </a:solidFill>
                              <a:latin typeface="Cambria Math"/>
                              <a:ea typeface="Cambria Math"/>
                              <a:cs typeface="Cambria Math"/>
                            </a:rPr>
                          </m:ctrlPr>
                        </m:fPr>
                        <m:num>
                          <m:sSub>
                            <m:e>
                              <m:r>
                                <a:rPr lang="zh-CN" sz="1720" dirty="0">
                                  <a:solidFill>
                                    <a:srgbClr val="1F2937"/>
                                  </a:solidFill>
                                  <a:latin typeface="Cambria Math"/>
                                  <a:ea typeface="Cambria Math"/>
                                  <a:cs typeface="Cambria Math"/>
                                </a:rPr>
                                <m:t>r</m:t>
                              </m:r>
                            </m:e>
                            <m:sub>
                              <m:r>
                                <a:rPr lang="zh-CN" sz="1720" dirty="0">
                                  <a:solidFill>
                                    <a:srgbClr val="1F2937"/>
                                  </a:solidFill>
                                  <a:latin typeface="Cambria Math"/>
                                  <a:ea typeface="Cambria Math"/>
                                  <a:cs typeface="Cambria Math"/>
                                </a:rPr>
                                <m:t>s</m:t>
                              </m:r>
                            </m:sub>
                          </m:sSub>
                          <m:r>
                            <m:rPr>
                              <m:sty m:val="p"/>
                            </m:rPr>
                            <a:rPr lang="zh-CN" sz="1720" dirty="0">
                              <a:solidFill>
                                <a:srgbClr val="1F2937"/>
                              </a:solidFill>
                              <a:latin typeface="Cambria Math"/>
                              <a:ea typeface="Cambria Math"/>
                              <a:cs typeface="Cambria Math"/>
                            </a:rPr>
                            <m:t>+</m:t>
                          </m:r>
                          <m:d>
                            <m:dPr>
                              <m:begChr m:val="("/>
                              <m:sepChr m:val=""/>
                              <m:endChr m:val=")"/>
                              <m:grow m:val="on"/>
                              <m:ctrlPr>
                                <a:rPr lang="zh-CN" sz="1720" dirty="0">
                                  <a:solidFill>
                                    <a:srgbClr val="1F2937"/>
                                  </a:solidFill>
                                  <a:latin typeface="Cambria Math"/>
                                  <a:ea typeface="Cambria Math"/>
                                  <a:cs typeface="Cambria Math"/>
                                </a:rPr>
                              </m:ctrlPr>
                            </m:dPr>
                            <m:e>
                              <m:r>
                                <a:rPr lang="zh-CN" sz="1720" dirty="0">
                                  <a:solidFill>
                                    <a:srgbClr val="1F2937"/>
                                  </a:solidFill>
                                  <a:latin typeface="Cambria Math"/>
                                  <a:ea typeface="Cambria Math"/>
                                  <a:cs typeface="Cambria Math"/>
                                </a:rPr>
                                <m:t>1</m:t>
                              </m:r>
                              <m:r>
                                <m:rPr>
                                  <m:sty m:val="p"/>
                                </m:rPr>
                                <a:rPr lang="zh-CN" sz="1720" dirty="0">
                                  <a:solidFill>
                                    <a:srgbClr val="1F2937"/>
                                  </a:solidFill>
                                  <a:latin typeface="Cambria Math"/>
                                  <a:ea typeface="Cambria Math"/>
                                  <a:cs typeface="Cambria Math"/>
                                </a:rPr>
                                <m:t>−</m:t>
                              </m:r>
                              <m:sSub>
                                <m:e>
                                  <m:r>
                                    <a:rPr lang="zh-CN" sz="1720" dirty="0">
                                      <a:solidFill>
                                        <a:srgbClr val="1F2937"/>
                                      </a:solidFill>
                                      <a:latin typeface="Cambria Math"/>
                                      <a:ea typeface="Cambria Math"/>
                                      <a:cs typeface="Cambria Math"/>
                                    </a:rPr>
                                    <m:t>r</m:t>
                                  </m:r>
                                </m:e>
                                <m:sub>
                                  <m:r>
                                    <a:rPr lang="zh-CN" sz="1720" dirty="0">
                                      <a:solidFill>
                                        <a:srgbClr val="1F2937"/>
                                      </a:solidFill>
                                      <a:latin typeface="Cambria Math"/>
                                      <a:ea typeface="Cambria Math"/>
                                      <a:cs typeface="Cambria Math"/>
                                    </a:rPr>
                                    <m:t>s</m:t>
                                  </m:r>
                                </m:sub>
                              </m:sSub>
                            </m:e>
                          </m:d>
                          <m:r>
                            <a:rPr lang="zh-CN" sz="1720" dirty="0">
                              <a:solidFill>
                                <a:srgbClr val="1F2937"/>
                              </a:solidFill>
                              <a:latin typeface="Cambria Math"/>
                              <a:ea typeface="Cambria Math"/>
                              <a:cs typeface="Cambria Math"/>
                            </a:rPr>
                            <m:t>G</m:t>
                          </m:r>
                          <m:d>
                            <m:dPr>
                              <m:begChr m:val="("/>
                              <m:sepChr m:val=""/>
                              <m:endChr m:val=")"/>
                              <m:grow m:val="on"/>
                              <m:ctrlPr>
                                <a:rPr lang="zh-CN" sz="1720" dirty="0">
                                  <a:solidFill>
                                    <a:srgbClr val="1F2937"/>
                                  </a:solidFill>
                                  <a:latin typeface="Cambria Math"/>
                                  <a:ea typeface="Cambria Math"/>
                                  <a:cs typeface="Cambria Math"/>
                                </a:rPr>
                              </m:ctrlPr>
                            </m:dPr>
                            <m:e>
                              <m:r>
                                <a:rPr lang="zh-CN" sz="1720" dirty="0">
                                  <a:solidFill>
                                    <a:srgbClr val="1F2937"/>
                                  </a:solidFill>
                                  <a:latin typeface="Cambria Math"/>
                                  <a:ea typeface="Cambria Math"/>
                                  <a:cs typeface="Cambria Math"/>
                                </a:rPr>
                                <m:t>N</m:t>
                              </m:r>
                            </m:e>
                          </m:d>
                        </m:num>
                        <m:den>
                          <m:sSub>
                            <m:e>
                              <m:r>
                                <a:rPr lang="zh-CN" sz="1720" dirty="0">
                                  <a:solidFill>
                                    <a:srgbClr val="1F2937"/>
                                  </a:solidFill>
                                  <a:latin typeface="Cambria Math"/>
                                  <a:ea typeface="Cambria Math"/>
                                  <a:cs typeface="Cambria Math"/>
                                </a:rPr>
                                <m:t>r</m:t>
                              </m:r>
                            </m:e>
                            <m:sub>
                              <m:r>
                                <a:rPr lang="zh-CN" sz="1720" dirty="0">
                                  <a:solidFill>
                                    <a:srgbClr val="1F2937"/>
                                  </a:solidFill>
                                  <a:latin typeface="Cambria Math"/>
                                  <a:ea typeface="Cambria Math"/>
                                  <a:cs typeface="Cambria Math"/>
                                </a:rPr>
                                <m:t>s</m:t>
                              </m:r>
                            </m:sub>
                          </m:sSub>
                          <m:r>
                            <m:rPr>
                              <m:sty m:val="p"/>
                            </m:rPr>
                            <a:rPr lang="zh-CN" sz="1720" dirty="0">
                              <a:solidFill>
                                <a:srgbClr val="1F2937"/>
                              </a:solidFill>
                              <a:latin typeface="Cambria Math"/>
                              <a:ea typeface="Cambria Math"/>
                              <a:cs typeface="Cambria Math"/>
                            </a:rPr>
                            <m:t>+</m:t>
                          </m:r>
                          <m:d>
                            <m:dPr>
                              <m:begChr m:val="("/>
                              <m:sepChr m:val=""/>
                              <m:endChr m:val=")"/>
                              <m:grow m:val="on"/>
                              <m:ctrlPr>
                                <a:rPr lang="zh-CN" sz="1720" dirty="0">
                                  <a:solidFill>
                                    <a:srgbClr val="1F2937"/>
                                  </a:solidFill>
                                  <a:latin typeface="Cambria Math"/>
                                  <a:ea typeface="Cambria Math"/>
                                  <a:cs typeface="Cambria Math"/>
                                </a:rPr>
                              </m:ctrlPr>
                            </m:dPr>
                            <m:e>
                              <m:r>
                                <a:rPr lang="zh-CN" sz="1720" dirty="0">
                                  <a:solidFill>
                                    <a:srgbClr val="1F2937"/>
                                  </a:solidFill>
                                  <a:latin typeface="Cambria Math"/>
                                  <a:ea typeface="Cambria Math"/>
                                  <a:cs typeface="Cambria Math"/>
                                </a:rPr>
                                <m:t>1</m:t>
                              </m:r>
                              <m:r>
                                <m:rPr>
                                  <m:sty m:val="p"/>
                                </m:rPr>
                                <a:rPr lang="zh-CN" sz="1720" dirty="0">
                                  <a:solidFill>
                                    <a:srgbClr val="1F2937"/>
                                  </a:solidFill>
                                  <a:latin typeface="Cambria Math"/>
                                  <a:ea typeface="Cambria Math"/>
                                  <a:cs typeface="Cambria Math"/>
                                </a:rPr>
                                <m:t>−</m:t>
                              </m:r>
                              <m:sSub>
                                <m:e>
                                  <m:r>
                                    <a:rPr lang="zh-CN" sz="1720" dirty="0">
                                      <a:solidFill>
                                        <a:srgbClr val="1F2937"/>
                                      </a:solidFill>
                                      <a:latin typeface="Cambria Math"/>
                                      <a:ea typeface="Cambria Math"/>
                                      <a:cs typeface="Cambria Math"/>
                                    </a:rPr>
                                    <m:t>r</m:t>
                                  </m:r>
                                </m:e>
                                <m:sub>
                                  <m:r>
                                    <a:rPr lang="zh-CN" sz="1720" dirty="0">
                                      <a:solidFill>
                                        <a:srgbClr val="1F2937"/>
                                      </a:solidFill>
                                      <a:latin typeface="Cambria Math"/>
                                      <a:ea typeface="Cambria Math"/>
                                      <a:cs typeface="Cambria Math"/>
                                    </a:rPr>
                                    <m:t>s</m:t>
                                  </m:r>
                                </m:sub>
                              </m:sSub>
                            </m:e>
                          </m:d>
                          <m:r>
                            <a:rPr lang="zh-CN" sz="1720" dirty="0">
                              <a:solidFill>
                                <a:srgbClr val="1F2937"/>
                              </a:solidFill>
                              <a:latin typeface="Cambria Math"/>
                              <a:ea typeface="Cambria Math"/>
                              <a:cs typeface="Cambria Math"/>
                            </a:rPr>
                            <m:t>G</m:t>
                          </m:r>
                          <m:d>
                            <m:dPr>
                              <m:begChr m:val="("/>
                              <m:sepChr m:val=""/>
                              <m:endChr m:val=")"/>
                              <m:grow m:val="on"/>
                              <m:ctrlPr>
                                <a:rPr lang="zh-CN" sz="1720" dirty="0">
                                  <a:solidFill>
                                    <a:srgbClr val="1F2937"/>
                                  </a:solidFill>
                                  <a:latin typeface="Cambria Math"/>
                                  <a:ea typeface="Cambria Math"/>
                                  <a:cs typeface="Cambria Math"/>
                                </a:rPr>
                              </m:ctrlPr>
                            </m:dPr>
                            <m:e>
                              <m:r>
                                <a:rPr lang="zh-CN" sz="1720" dirty="0">
                                  <a:solidFill>
                                    <a:srgbClr val="1F2937"/>
                                  </a:solidFill>
                                  <a:latin typeface="Cambria Math"/>
                                  <a:ea typeface="Cambria Math"/>
                                  <a:cs typeface="Cambria Math"/>
                                </a:rPr>
                                <m:t>N</m:t>
                              </m:r>
                            </m:e>
                          </m:d>
                          <m:r>
                            <m:rPr>
                              <m:sty m:val="p"/>
                            </m:rPr>
                            <a:rPr lang="zh-CN" sz="1720" dirty="0">
                              <a:solidFill>
                                <a:srgbClr val="1F2937"/>
                              </a:solidFill>
                              <a:latin typeface="Cambria Math"/>
                              <a:ea typeface="Cambria Math"/>
                              <a:cs typeface="Cambria Math"/>
                            </a:rPr>
                            <m:t>/</m:t>
                          </m:r>
                          <m:r>
                            <a:rPr lang="zh-CN" sz="1720" dirty="0">
                              <a:solidFill>
                                <a:srgbClr val="1F2937"/>
                              </a:solidFill>
                              <a:latin typeface="Cambria Math"/>
                              <a:ea typeface="Cambria Math"/>
                              <a:cs typeface="Cambria Math"/>
                            </a:rPr>
                            <m:t>N</m:t>
                          </m:r>
                        </m:den>
                      </m:f>
                    </m:oMath>
                  </m:oMathPara>
                </a14:m>
              </a:p>
            </p:txBody>
          </p:sp>
        </mc:Choice>
      </mc:AlternateContent>
      <p:grpSp>
        <p:nvGrpSpPr>
          <p:cNvPr id="38" name="c2-table-1"/>
          <p:cNvGrpSpPr/>
          <p:nvPr/>
        </p:nvGrpSpPr>
        <p:grpSpPr>
          <a:xfrm>
            <a:off x="6680835" y="1524000"/>
            <a:ext cx="4977765" cy="2022158"/>
            <a:chOff x="6680835" y="1524000"/>
            <a:chExt cx="4977765" cy="2022158"/>
          </a:xfrm>
        </p:grpSpPr>
        <p:sp>
          <p:nvSpPr>
            <p:cNvPr id="19" name="Rectangle 19"/>
            <p:cNvSpPr/>
            <p:nvPr/>
          </p:nvSpPr>
          <p:spPr>
            <a:xfrm>
              <a:off x="6680835" y="1524000"/>
              <a:ext cx="4977765" cy="448628"/>
            </a:xfrm>
            <a:prstGeom prst="rect">
              <a:avLst/>
            </a:prstGeom>
            <a:solidFill>
              <a:srgbClr val="334E68"/>
            </a:solidFill>
            <a:ln>
              <a:noFill/>
            </a:ln>
          </p:spPr>
        </p:sp>
        <p:sp>
          <p:nvSpPr>
            <p:cNvPr id="20" name="TextBox 20"/>
            <p:cNvSpPr txBox="1"/>
            <p:nvPr/>
          </p:nvSpPr>
          <p:spPr>
            <a:xfrm>
              <a:off x="6912698" y="1659731"/>
              <a:ext cx="433529" cy="249364"/>
            </a:xfrm>
            <a:prstGeom prst="rect">
              <a:avLst/>
            </a:prstGeom>
            <a:noFill/>
            <a:ln>
              <a:noFill/>
            </a:ln>
          </p:spPr>
          <p:txBody>
            <a:bodyPr wrap="none" lIns="0" tIns="0" rIns="0" bIns="0" anchor="t" anchorCtr="0">
              <a:spAutoFit/>
            </a:bodyPr>
            <a:lstStyle/>
            <a:p>
              <a:pPr algn="ctr"/>
              <a:r>
                <a:rPr lang="en-US" sz="1280" b="1" dirty="0">
                  <a:solidFill>
                    <a:srgbClr val="FFFFFF"/>
                  </a:solidFill>
                  <a:latin typeface="+mn-lt"/>
                  <a:ea typeface="+mn-ea"/>
                  <a:cs typeface="+mn-cs"/>
                </a:rPr>
                <a:t>G(N)</a:t>
              </a:r>
            </a:p>
          </p:txBody>
        </p:sp>
        <p:sp>
          <p:nvSpPr>
            <p:cNvPr id="21" name="TextBox 21"/>
            <p:cNvSpPr txBox="1"/>
            <p:nvPr/>
          </p:nvSpPr>
          <p:spPr>
            <a:xfrm>
              <a:off x="8642312" y="1659731"/>
              <a:ext cx="357581"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含义</a:t>
              </a:r>
            </a:p>
          </p:txBody>
        </p:sp>
        <p:sp>
          <p:nvSpPr>
            <p:cNvPr id="22" name="TextBox 22"/>
            <p:cNvSpPr txBox="1"/>
            <p:nvPr/>
          </p:nvSpPr>
          <p:spPr>
            <a:xfrm>
              <a:off x="10597363" y="1659731"/>
              <a:ext cx="529895"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退化为</a:t>
              </a:r>
            </a:p>
          </p:txBody>
        </p:sp>
        <p:sp>
          <p:nvSpPr>
            <p:cNvPr id="23" name="TextBox 23"/>
            <p:cNvSpPr txBox="1"/>
            <p:nvPr/>
          </p:nvSpPr>
          <p:spPr>
            <a:xfrm>
              <a:off x="6788658" y="2108359"/>
              <a:ext cx="112465"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1</a:t>
              </a:r>
            </a:p>
          </p:txBody>
        </p:sp>
        <p:sp>
          <p:nvSpPr>
            <p:cNvPr id="24" name="TextBox 24"/>
            <p:cNvSpPr txBox="1"/>
            <p:nvPr/>
          </p:nvSpPr>
          <p:spPr>
            <a:xfrm>
              <a:off x="7684961" y="2108359"/>
              <a:ext cx="2117781"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存储增加 N 倍，计算量不变</a:t>
              </a:r>
            </a:p>
          </p:txBody>
        </p:sp>
        <p:sp>
          <p:nvSpPr>
            <p:cNvPr id="25" name="TextBox 25"/>
            <p:cNvSpPr txBox="1"/>
            <p:nvPr/>
          </p:nvSpPr>
          <p:spPr>
            <a:xfrm>
              <a:off x="10173843" y="2108359"/>
              <a:ext cx="975065"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Amdahl 定律</a:t>
              </a:r>
            </a:p>
          </p:txBody>
        </p:sp>
        <p:sp>
          <p:nvSpPr>
            <p:cNvPr id="26" name="Rectangle 26"/>
            <p:cNvSpPr/>
            <p:nvPr/>
          </p:nvSpPr>
          <p:spPr>
            <a:xfrm>
              <a:off x="6680835" y="2416492"/>
              <a:ext cx="4977765" cy="9525"/>
            </a:xfrm>
            <a:prstGeom prst="rect">
              <a:avLst/>
            </a:prstGeom>
            <a:solidFill>
              <a:srgbClr val="D9DFEA"/>
            </a:solidFill>
            <a:ln>
              <a:noFill/>
            </a:ln>
          </p:spPr>
        </p:sp>
        <p:sp>
          <p:nvSpPr>
            <p:cNvPr id="27" name="Rectangle 27"/>
            <p:cNvSpPr/>
            <p:nvPr/>
          </p:nvSpPr>
          <p:spPr>
            <a:xfrm>
              <a:off x="6680835" y="2421255"/>
              <a:ext cx="4977765" cy="448628"/>
            </a:xfrm>
            <a:prstGeom prst="rect">
              <a:avLst/>
            </a:prstGeom>
            <a:solidFill>
              <a:srgbClr val="F4F6FB"/>
            </a:solidFill>
            <a:ln>
              <a:noFill/>
            </a:ln>
          </p:spPr>
        </p:sp>
        <p:sp>
          <p:nvSpPr>
            <p:cNvPr id="28" name="TextBox 28"/>
            <p:cNvSpPr txBox="1"/>
            <p:nvPr/>
          </p:nvSpPr>
          <p:spPr>
            <a:xfrm>
              <a:off x="6788658" y="2556986"/>
              <a:ext cx="118098" cy="249364"/>
            </a:xfrm>
            <a:prstGeom prst="rect">
              <a:avLst/>
            </a:prstGeom>
            <a:noFill/>
            <a:ln>
              <a:noFill/>
            </a:ln>
          </p:spPr>
          <p:txBody>
            <a:bodyPr wrap="none" lIns="0" tIns="0" rIns="0" bIns="0" anchor="t" anchorCtr="0">
              <a:spAutoFit/>
            </a:bodyPr>
            <a:lstStyle/>
            <a:p>
              <a:pPr algn="l"/>
              <a:r>
                <a:rPr lang="en-US" sz="1280" b="1" dirty="0">
                  <a:solidFill>
                    <a:srgbClr val="1F2937"/>
                  </a:solidFill>
                  <a:latin typeface="+mn-lt"/>
                  <a:ea typeface="+mn-ea"/>
                  <a:cs typeface="+mn-cs"/>
                </a:rPr>
                <a:t>N</a:t>
              </a:r>
            </a:p>
          </p:txBody>
        </p:sp>
        <p:sp>
          <p:nvSpPr>
            <p:cNvPr id="29" name="TextBox 29"/>
            <p:cNvSpPr txBox="1"/>
            <p:nvPr/>
          </p:nvSpPr>
          <p:spPr>
            <a:xfrm>
              <a:off x="7684961" y="2556986"/>
              <a:ext cx="1945467"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存储和计算量都增加 N 倍</a:t>
              </a:r>
            </a:p>
          </p:txBody>
        </p:sp>
        <p:sp>
          <p:nvSpPr>
            <p:cNvPr id="30" name="TextBox 30"/>
            <p:cNvSpPr txBox="1"/>
            <p:nvPr/>
          </p:nvSpPr>
          <p:spPr>
            <a:xfrm>
              <a:off x="10173843" y="2556986"/>
              <a:ext cx="1267917"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Gustafson 定律</a:t>
              </a:r>
            </a:p>
          </p:txBody>
        </p:sp>
        <p:sp>
          <p:nvSpPr>
            <p:cNvPr id="31" name="Rectangle 31"/>
            <p:cNvSpPr/>
            <p:nvPr/>
          </p:nvSpPr>
          <p:spPr>
            <a:xfrm>
              <a:off x="6680835" y="2866072"/>
              <a:ext cx="4977765" cy="9525"/>
            </a:xfrm>
            <a:prstGeom prst="rect">
              <a:avLst/>
            </a:prstGeom>
            <a:solidFill>
              <a:srgbClr val="D9DFEA"/>
            </a:solidFill>
            <a:ln>
              <a:noFill/>
            </a:ln>
          </p:spPr>
        </p:sp>
        <p:sp>
          <p:nvSpPr>
            <p:cNvPr id="32" name="TextBox 32"/>
            <p:cNvSpPr txBox="1"/>
            <p:nvPr/>
          </p:nvSpPr>
          <p:spPr>
            <a:xfrm>
              <a:off x="6788658" y="3118961"/>
              <a:ext cx="280593" cy="249364"/>
            </a:xfrm>
            <a:prstGeom prst="rect">
              <a:avLst/>
            </a:prstGeom>
            <a:noFill/>
            <a:ln>
              <a:noFill/>
            </a:ln>
          </p:spPr>
          <p:txBody>
            <a:bodyPr wrap="none" lIns="0" tIns="0" rIns="0" bIns="0" anchor="t" anchorCtr="0">
              <a:spAutoFit/>
            </a:bodyPr>
            <a:lstStyle/>
            <a:p>
              <a:pPr algn="l"/>
              <a:r>
                <a:rPr lang="en-US" sz="1280" b="1" dirty="0">
                  <a:solidFill>
                    <a:srgbClr val="1F2937"/>
                  </a:solidFill>
                  <a:latin typeface="+mn-lt"/>
                  <a:ea typeface="+mn-ea"/>
                  <a:cs typeface="+mn-cs"/>
                </a:rPr>
                <a:t>&gt; N</a:t>
              </a:r>
            </a:p>
          </p:txBody>
        </p:sp>
        <p:sp>
          <p:nvSpPr>
            <p:cNvPr id="33" name="TextBox 33"/>
            <p:cNvSpPr txBox="1"/>
            <p:nvPr/>
          </p:nvSpPr>
          <p:spPr>
            <a:xfrm>
              <a:off x="7684961" y="3005614"/>
              <a:ext cx="2126234" cy="476059"/>
            </a:xfrm>
            <a:prstGeom prst="rect">
              <a:avLst/>
            </a:prstGeom>
            <a:noFill/>
            <a:ln>
              <a:noFill/>
            </a:ln>
          </p:spPr>
          <p:txBody>
            <a:bodyPr wrap="none" lIns="0" tIns="0" rIns="0" bIns="0" anchor="t" anchorCtr="0">
              <a:spAutoFit/>
            </a:bodyPr>
            <a:lstStyle/>
            <a:p>
              <a:pPr algn="l">
                <a:lnSpc>
                  <a:spcPts val="1785"/>
                </a:lnSpc>
              </a:pPr>
              <a:r>
                <a:rPr lang="zh-CN" sz="1280" dirty="0">
                  <a:solidFill>
                    <a:srgbClr val="1F2937"/>
                  </a:solidFill>
                  <a:latin typeface="+mn-lt"/>
                  <a:ea typeface="+mn-ea"/>
                  <a:cs typeface="+mn-cs"/>
                </a:rPr>
                <a:t>计算量比存储增长快（如矩阵</a:t>
              </a:r>
              <a:br/>
              <a:r>
                <a:rPr lang="zh-CN" sz="1280" dirty="0">
                  <a:solidFill>
                    <a:srgbClr val="1F2937"/>
                  </a:solidFill>
                  <a:latin typeface="+mn-lt"/>
                  <a:ea typeface="+mn-ea"/>
                  <a:cs typeface="+mn-cs"/>
                </a:rPr>
                <a:t>乘法）</a:t>
              </a:r>
            </a:p>
          </p:txBody>
        </p:sp>
        <p:sp>
          <p:nvSpPr>
            <p:cNvPr id="34" name="TextBox 34"/>
            <p:cNvSpPr txBox="1"/>
            <p:nvPr/>
          </p:nvSpPr>
          <p:spPr>
            <a:xfrm>
              <a:off x="10173843" y="3005614"/>
              <a:ext cx="825754" cy="476059"/>
            </a:xfrm>
            <a:prstGeom prst="rect">
              <a:avLst/>
            </a:prstGeom>
            <a:noFill/>
            <a:ln>
              <a:noFill/>
            </a:ln>
          </p:spPr>
          <p:txBody>
            <a:bodyPr wrap="none" lIns="0" tIns="0" rIns="0" bIns="0" anchor="t" anchorCtr="0">
              <a:spAutoFit/>
            </a:bodyPr>
            <a:lstStyle/>
            <a:p>
              <a:pPr algn="l">
                <a:lnSpc>
                  <a:spcPts val="1785"/>
                </a:lnSpc>
              </a:pPr>
              <a:r>
                <a:rPr lang="zh-CN" sz="1280" dirty="0">
                  <a:solidFill>
                    <a:srgbClr val="1F2937"/>
                  </a:solidFill>
                  <a:latin typeface="+mn-lt"/>
                  <a:ea typeface="+mn-ea"/>
                  <a:cs typeface="+mn-cs"/>
                </a:rPr>
                <a:t>加速比高于</a:t>
              </a:r>
              <a:br/>
              <a:r>
                <a:rPr lang="en-US" sz="1280" dirty="0">
                  <a:solidFill>
                    <a:srgbClr val="1F2937"/>
                  </a:solidFill>
                  <a:latin typeface="+mn-lt"/>
                  <a:ea typeface="+mn-ea"/>
                  <a:cs typeface="+mn-cs"/>
                </a:rPr>
                <a:t>Gustafson</a:t>
              </a:r>
            </a:p>
          </p:txBody>
        </p:sp>
        <p:sp>
          <p:nvSpPr>
            <p:cNvPr id="35" name="Rectangle 35"/>
            <p:cNvSpPr/>
            <p:nvPr/>
          </p:nvSpPr>
          <p:spPr>
            <a:xfrm>
              <a:off x="6680835" y="1524000"/>
              <a:ext cx="4977765" cy="2022158"/>
            </a:xfrm>
            <a:prstGeom prst="rect">
              <a:avLst/>
            </a:prstGeom>
            <a:noFill/>
            <a:ln w="14288">
              <a:solidFill>
                <a:srgbClr val="D9DFEA"/>
              </a:solidFill>
            </a:ln>
          </p:spPr>
        </p:sp>
        <p:sp>
          <p:nvSpPr>
            <p:cNvPr id="36" name="Rectangle 36"/>
            <p:cNvSpPr/>
            <p:nvPr/>
          </p:nvSpPr>
          <p:spPr>
            <a:xfrm>
              <a:off x="7572375" y="1524000"/>
              <a:ext cx="9525" cy="2022158"/>
            </a:xfrm>
            <a:prstGeom prst="rect">
              <a:avLst/>
            </a:prstGeom>
            <a:solidFill>
              <a:srgbClr val="D9DFEA"/>
            </a:solidFill>
            <a:ln>
              <a:noFill/>
            </a:ln>
          </p:spPr>
        </p:sp>
        <p:sp>
          <p:nvSpPr>
            <p:cNvPr id="37" name="Rectangle 37"/>
            <p:cNvSpPr/>
            <p:nvPr/>
          </p:nvSpPr>
          <p:spPr>
            <a:xfrm>
              <a:off x="10061258" y="1524000"/>
              <a:ext cx="9525" cy="2022158"/>
            </a:xfrm>
            <a:prstGeom prst="rect">
              <a:avLst/>
            </a:prstGeom>
            <a:solidFill>
              <a:srgbClr val="D9DFEA"/>
            </a:solidFill>
            <a:ln>
              <a:noFill/>
            </a:ln>
          </p:spPr>
        </p:sp>
      </p:grpSp>
      <p:grpSp>
        <p:nvGrpSpPr>
          <p:cNvPr id="44" name="c2-card-2"/>
          <p:cNvGrpSpPr/>
          <p:nvPr/>
        </p:nvGrpSpPr>
        <p:grpSpPr>
          <a:xfrm>
            <a:off x="6680835" y="3736658"/>
            <a:ext cx="4977765" cy="1602105"/>
            <a:chOff x="6680835" y="3736658"/>
            <a:chExt cx="4977765" cy="1602105"/>
          </a:xfrm>
        </p:grpSpPr>
        <p:sp>
          <p:nvSpPr>
            <p:cNvPr id="39" name="Rectangle 39"/>
            <p:cNvSpPr/>
            <p:nvPr/>
          </p:nvSpPr>
          <p:spPr>
            <a:xfrm>
              <a:off x="6680835" y="3736658"/>
              <a:ext cx="4977765" cy="1602105"/>
            </a:xfrm>
            <a:prstGeom prst="roundRect">
              <a:avLst>
                <a:gd name="adj" fmla="val 8323"/>
              </a:avLst>
            </a:prstGeom>
            <a:solidFill>
              <a:srgbClr val="FFFFFF"/>
            </a:solidFill>
            <a:ln w="14288">
              <a:solidFill>
                <a:srgbClr val="D9DFEA"/>
              </a:solidFill>
            </a:ln>
          </p:spPr>
        </p:sp>
        <p:sp>
          <p:nvSpPr>
            <p:cNvPr id="40" name="Rectangle 40"/>
            <p:cNvSpPr/>
            <p:nvPr/>
          </p:nvSpPr>
          <p:spPr>
            <a:xfrm>
              <a:off x="6690360" y="3870008"/>
              <a:ext cx="47625" cy="1335405"/>
            </a:xfrm>
            <a:prstGeom prst="roundRect">
              <a:avLst>
                <a:gd name="adj" fmla="val 50000"/>
              </a:avLst>
            </a:prstGeom>
            <a:solidFill>
              <a:srgbClr val="14A38B"/>
            </a:solidFill>
            <a:ln>
              <a:noFill/>
            </a:ln>
          </p:spPr>
        </p:sp>
        <p:sp>
          <p:nvSpPr>
            <p:cNvPr id="41" name="Rectangle 41"/>
            <p:cNvSpPr/>
            <p:nvPr/>
          </p:nvSpPr>
          <p:spPr>
            <a:xfrm>
              <a:off x="6928485" y="3946208"/>
              <a:ext cx="2046922" cy="257175"/>
            </a:xfrm>
            <a:prstGeom prst="roundRect">
              <a:avLst>
                <a:gd name="adj" fmla="val 50000"/>
              </a:avLst>
            </a:prstGeom>
            <a:solidFill>
              <a:srgbClr val="E3F5F1"/>
            </a:solidFill>
            <a:ln>
              <a:noFill/>
            </a:ln>
          </p:spPr>
        </p:sp>
        <p:sp>
          <p:nvSpPr>
            <p:cNvPr id="42" name="TextBox 42"/>
            <p:cNvSpPr txBox="1"/>
            <p:nvPr/>
          </p:nvSpPr>
          <p:spPr>
            <a:xfrm>
              <a:off x="6975720" y="3981926"/>
              <a:ext cx="1953404" cy="220028"/>
            </a:xfrm>
            <a:prstGeom prst="rect">
              <a:avLst/>
            </a:prstGeom>
            <a:noFill/>
            <a:ln>
              <a:noFill/>
            </a:ln>
          </p:spPr>
          <p:txBody>
            <a:bodyPr wrap="none" lIns="0" tIns="0" rIns="0" bIns="0" anchor="t" anchorCtr="0">
              <a:spAutoFit/>
            </a:bodyPr>
            <a:lstStyle/>
            <a:p>
              <a:pPr algn="ctr"/>
              <a:r>
                <a:rPr lang="zh-CN" sz="1120" b="1" dirty="0">
                  <a:solidFill>
                    <a:srgbClr val="0F7A68"/>
                  </a:solidFill>
                  <a:latin typeface="+mn-lt"/>
                  <a:ea typeface="+mn-ea"/>
                  <a:cs typeface="+mn-cs"/>
                </a:rPr>
                <a:t>为什么矩阵乘法 G(N) = N√N</a:t>
              </a:r>
            </a:p>
          </p:txBody>
        </p:sp>
        <p:sp>
          <p:nvSpPr>
            <p:cNvPr id="43" name="TextBox 43"/>
            <p:cNvSpPr txBox="1"/>
            <p:nvPr/>
          </p:nvSpPr>
          <p:spPr>
            <a:xfrm>
              <a:off x="6920865" y="4323398"/>
              <a:ext cx="4158615" cy="86487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n × n 矩阵乘法要存 3n² 个数，计算量约 2n³。存</a:t>
              </a:r>
              <a:br/>
              <a:r>
                <a:rPr lang="zh-CN" sz="1500" dirty="0">
                  <a:solidFill>
                    <a:srgbClr val="1F2937"/>
                  </a:solidFill>
                  <a:latin typeface="+mn-lt"/>
                  <a:ea typeface="+mn-ea"/>
                  <a:cs typeface="+mn-cs"/>
                </a:rPr>
                <a:t>储扩大 N 倍，n 扩大 √N 倍，计算量扩大 (√N)³ =</a:t>
              </a:r>
              <a:br/>
              <a:r>
                <a:rPr lang="zh-CN" sz="1500" dirty="0">
                  <a:solidFill>
                    <a:srgbClr val="1F2937"/>
                  </a:solidFill>
                  <a:latin typeface="+mn-lt"/>
                  <a:ea typeface="+mn-ea"/>
                  <a:cs typeface="+mn-cs"/>
                </a:rPr>
                <a:t>N√N 倍。</a:t>
              </a:r>
            </a:p>
          </p:txBody>
        </p:sp>
      </p:grpSp>
      <p:grpSp>
        <p:nvGrpSpPr>
          <p:cNvPr id="51" name="c2-callout-3"/>
          <p:cNvGrpSpPr/>
          <p:nvPr/>
        </p:nvGrpSpPr>
        <p:grpSpPr>
          <a:xfrm>
            <a:off x="6680835" y="5529262"/>
            <a:ext cx="4977765" cy="782955"/>
            <a:chOff x="6680835" y="5529262"/>
            <a:chExt cx="4977765" cy="782955"/>
          </a:xfrm>
        </p:grpSpPr>
        <p:sp>
          <p:nvSpPr>
            <p:cNvPr id="45" name="Rectangle 45"/>
            <p:cNvSpPr/>
            <p:nvPr/>
          </p:nvSpPr>
          <p:spPr>
            <a:xfrm>
              <a:off x="6680835" y="5529262"/>
              <a:ext cx="4977765" cy="782955"/>
            </a:xfrm>
            <a:prstGeom prst="roundRect">
              <a:avLst>
                <a:gd name="adj" fmla="val 14599"/>
              </a:avLst>
            </a:prstGeom>
            <a:solidFill>
              <a:srgbClr val="F4F6FB"/>
            </a:solidFill>
            <a:ln>
              <a:noFill/>
            </a:ln>
          </p:spPr>
        </p:sp>
        <p:grpSp>
          <p:nvGrpSpPr>
            <p:cNvPr id="49" name="Group 49"/>
            <p:cNvGrpSpPr/>
            <p:nvPr/>
          </p:nvGrpSpPr>
          <p:grpSpPr>
            <a:xfrm>
              <a:off x="6885623" y="5820728"/>
              <a:ext cx="200026" cy="200026"/>
              <a:chOff x="6885623" y="5820728"/>
              <a:chExt cx="200026" cy="200026"/>
            </a:xfrm>
          </p:grpSpPr>
          <p:sp>
            <p:nvSpPr>
              <p:cNvPr id="46" name="Freeform 46"/>
              <p:cNvSpPr/>
              <p:nvPr/>
            </p:nvSpPr>
            <p:spPr>
              <a:xfrm>
                <a:off x="6885623" y="5820728"/>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1F2937"/>
                </a:solidFill>
              </a:ln>
            </p:spPr>
          </p:sp>
          <p:sp>
            <p:nvSpPr>
              <p:cNvPr id="47" name="Freeform 47"/>
              <p:cNvSpPr/>
              <p:nvPr/>
            </p:nvSpPr>
            <p:spPr>
              <a:xfrm>
                <a:off x="6985635" y="5887403"/>
                <a:ext cx="9525" cy="9525"/>
              </a:xfrm>
              <a:custGeom>
                <a:avLst/>
                <a:gdLst/>
                <a:ahLst/>
                <a:cxnLst/>
                <a:rect l="l" t="t" r="r" b="b"/>
                <a:pathLst>
                  <a:path w="9525" h="9525">
                    <a:moveTo>
                      <a:pt x="0" y="0"/>
                    </a:moveTo>
                    <a:lnTo>
                      <a:pt x="111" y="0"/>
                    </a:lnTo>
                  </a:path>
                </a:pathLst>
              </a:custGeom>
              <a:noFill/>
              <a:ln w="22225">
                <a:solidFill>
                  <a:srgbClr val="1F2937"/>
                </a:solidFill>
              </a:ln>
            </p:spPr>
          </p:sp>
          <p:sp>
            <p:nvSpPr>
              <p:cNvPr id="48" name="Freeform 48"/>
              <p:cNvSpPr/>
              <p:nvPr/>
            </p:nvSpPr>
            <p:spPr>
              <a:xfrm>
                <a:off x="6974523" y="5920740"/>
                <a:ext cx="22225" cy="44450"/>
              </a:xfrm>
              <a:custGeom>
                <a:avLst/>
                <a:gdLst/>
                <a:ahLst/>
                <a:cxnLst/>
                <a:rect l="l" t="t" r="r" b="b"/>
                <a:pathLst>
                  <a:path w="22225" h="44450">
                    <a:moveTo>
                      <a:pt x="0" y="0"/>
                    </a:moveTo>
                    <a:lnTo>
                      <a:pt x="11113" y="0"/>
                    </a:lnTo>
                    <a:lnTo>
                      <a:pt x="11113" y="44450"/>
                    </a:lnTo>
                    <a:lnTo>
                      <a:pt x="22225" y="44450"/>
                    </a:lnTo>
                  </a:path>
                </a:pathLst>
              </a:custGeom>
              <a:noFill/>
              <a:ln w="22225">
                <a:solidFill>
                  <a:srgbClr val="1F2937"/>
                </a:solidFill>
              </a:ln>
            </p:spPr>
          </p:sp>
        </p:grpSp>
        <p:sp>
          <p:nvSpPr>
            <p:cNvPr id="50" name="TextBox 50"/>
            <p:cNvSpPr txBox="1"/>
            <p:nvPr/>
          </p:nvSpPr>
          <p:spPr>
            <a:xfrm>
              <a:off x="7187565" y="5677852"/>
              <a:ext cx="3949065" cy="569595"/>
            </a:xfrm>
            <a:prstGeom prst="rect">
              <a:avLst/>
            </a:prstGeom>
            <a:noFill/>
            <a:ln>
              <a:noFill/>
            </a:ln>
          </p:spPr>
          <p:txBody>
            <a:bodyPr wrap="none" lIns="0" tIns="0" rIns="0" bIns="0" anchor="t" anchorCtr="0">
              <a:spAutoFit/>
            </a:bodyPr>
            <a:lstStyle/>
            <a:p>
              <a:pPr algn="l">
                <a:lnSpc>
                  <a:spcPts val="2175"/>
                </a:lnSpc>
              </a:pPr>
              <a:r>
                <a:rPr lang="zh-CN" sz="1500" dirty="0">
                  <a:solidFill>
                    <a:srgbClr val="1F2937"/>
                  </a:solidFill>
                  <a:latin typeface="+mn-lt"/>
                  <a:ea typeface="+mn-ea"/>
                  <a:cs typeface="+mn-cs"/>
                </a:rPr>
                <a:t>几何意义（原课件第165页）：负载随处理器数</a:t>
              </a:r>
              <a:br/>
              <a:r>
                <a:rPr lang="zh-CN" sz="1500" dirty="0">
                  <a:solidFill>
                    <a:srgbClr val="1F2937"/>
                  </a:solidFill>
                  <a:latin typeface="+mn-lt"/>
                  <a:ea typeface="+mn-ea"/>
                  <a:cs typeface="+mn-cs"/>
                </a:rPr>
                <a:t>增加而增大，执行时间也相应增加。</a:t>
              </a:r>
            </a:p>
          </p:txBody>
        </p:sp>
      </p:grpSp>
      <p:grpSp>
        <p:nvGrpSpPr>
          <p:cNvPr id="54" name="footer"/>
          <p:cNvGrpSpPr/>
          <p:nvPr/>
        </p:nvGrpSpPr>
        <p:grpSpPr>
          <a:xfrm>
            <a:off x="528447" y="6581299"/>
            <a:ext cx="11135106" cy="190690"/>
            <a:chOff x="528447" y="6581299"/>
            <a:chExt cx="11135106" cy="190690"/>
          </a:xfrm>
        </p:grpSpPr>
        <p:sp>
          <p:nvSpPr>
            <p:cNvPr id="52" name="TextBox 52"/>
            <p:cNvSpPr txBox="1"/>
            <p:nvPr/>
          </p:nvSpPr>
          <p:spPr>
            <a:xfrm>
              <a:off x="528447" y="6581299"/>
              <a:ext cx="2120748"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并行与分布式计算 · 第7章 体系结构</a:t>
              </a:r>
            </a:p>
          </p:txBody>
        </p:sp>
        <p:sp>
          <p:nvSpPr>
            <p:cNvPr id="53" name="TextBox 53"/>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66</a:t>
              </a:r>
            </a:p>
          </p:txBody>
        </p:sp>
      </p:grpSp>
    </p:spTree>
  </p:cSld>
  <p:clrMapOvr>
    <a:masterClrMapping/>
  </p:clrMapOvr>
  <p:transition xmlns:p14="http://schemas.microsoft.com/office/powerpoint/2010/main" p14:dur="400">
    <p:fade/>
  </p:transition>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8207638" cy="909257"/>
            <a:chOff x="520446" y="342900"/>
            <a:chExt cx="8207638" cy="909257"/>
          </a:xfrm>
        </p:grpSpPr>
        <p:sp>
          <p:nvSpPr>
            <p:cNvPr id="2" name="Rectangle 2"/>
            <p:cNvSpPr/>
            <p:nvPr/>
          </p:nvSpPr>
          <p:spPr>
            <a:xfrm>
              <a:off x="533400" y="342900"/>
              <a:ext cx="1987868" cy="266700"/>
            </a:xfrm>
            <a:prstGeom prst="roundRect">
              <a:avLst>
                <a:gd name="adj" fmla="val 50000"/>
              </a:avLst>
            </a:prstGeom>
            <a:solidFill>
              <a:srgbClr val="E7EDF3"/>
            </a:solidFill>
            <a:ln>
              <a:noFill/>
            </a:ln>
          </p:spPr>
        </p:sp>
        <p:sp>
          <p:nvSpPr>
            <p:cNvPr id="3" name="TextBox 3"/>
            <p:cNvSpPr txBox="1"/>
            <p:nvPr/>
          </p:nvSpPr>
          <p:spPr>
            <a:xfrm>
              <a:off x="608957" y="407194"/>
              <a:ext cx="1835800"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第7章 体系结构 · 性能评测</a:t>
              </a:r>
            </a:p>
          </p:txBody>
        </p:sp>
        <p:sp>
          <p:nvSpPr>
            <p:cNvPr id="4" name="TextBox 4"/>
            <p:cNvSpPr txBox="1"/>
            <p:nvPr/>
          </p:nvSpPr>
          <p:spPr>
            <a:xfrm>
              <a:off x="520446" y="753428"/>
              <a:ext cx="8207638"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例题：rₛ = 5%、N = 64，三个定律各给出多少加速比</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20" name="c1-steps-1"/>
          <p:cNvGrpSpPr/>
          <p:nvPr/>
        </p:nvGrpSpPr>
        <p:grpSpPr>
          <a:xfrm>
            <a:off x="533400" y="1533525"/>
            <a:ext cx="5269865" cy="2347246"/>
            <a:chOff x="533400" y="1533525"/>
            <a:chExt cx="5269865" cy="2347246"/>
          </a:xfrm>
        </p:grpSpPr>
        <p:sp>
          <p:nvSpPr>
            <p:cNvPr id="7" name="Rectangle 7"/>
            <p:cNvSpPr/>
            <p:nvPr/>
          </p:nvSpPr>
          <p:spPr>
            <a:xfrm>
              <a:off x="666750" y="1676400"/>
              <a:ext cx="19050" cy="1536382"/>
            </a:xfrm>
            <a:prstGeom prst="rect">
              <a:avLst/>
            </a:prstGeom>
            <a:solidFill>
              <a:srgbClr val="D9DFEA"/>
            </a:solidFill>
            <a:ln>
              <a:noFill/>
            </a:ln>
          </p:spPr>
        </p:sp>
        <p:sp>
          <p:nvSpPr>
            <p:cNvPr id="8" name="Ellipse 8"/>
            <p:cNvSpPr/>
            <p:nvPr/>
          </p:nvSpPr>
          <p:spPr>
            <a:xfrm>
              <a:off x="533400" y="1533525"/>
              <a:ext cx="285750" cy="285750"/>
            </a:xfrm>
            <a:prstGeom prst="ellipse">
              <a:avLst/>
            </a:prstGeom>
            <a:solidFill>
              <a:srgbClr val="334E68"/>
            </a:solidFill>
            <a:ln>
              <a:noFill/>
            </a:ln>
          </p:spPr>
        </p:sp>
        <p:sp>
          <p:nvSpPr>
            <p:cNvPr id="9" name="TextBox 9"/>
            <p:cNvSpPr txBox="1"/>
            <p:nvPr/>
          </p:nvSpPr>
          <p:spPr>
            <a:xfrm>
              <a:off x="627024" y="1607344"/>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1</a:t>
              </a:r>
            </a:p>
          </p:txBody>
        </p:sp>
        <p:sp>
          <p:nvSpPr>
            <p:cNvPr id="10" name="Ellipse 10"/>
            <p:cNvSpPr/>
            <p:nvPr/>
          </p:nvSpPr>
          <p:spPr>
            <a:xfrm>
              <a:off x="533400" y="2419350"/>
              <a:ext cx="285750" cy="285750"/>
            </a:xfrm>
            <a:prstGeom prst="ellipse">
              <a:avLst/>
            </a:prstGeom>
            <a:solidFill>
              <a:srgbClr val="334E68"/>
            </a:solidFill>
            <a:ln>
              <a:noFill/>
            </a:ln>
          </p:spPr>
        </p:sp>
        <p:sp>
          <p:nvSpPr>
            <p:cNvPr id="11" name="TextBox 11"/>
            <p:cNvSpPr txBox="1"/>
            <p:nvPr/>
          </p:nvSpPr>
          <p:spPr>
            <a:xfrm>
              <a:off x="627024" y="2493169"/>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2</a:t>
              </a:r>
            </a:p>
          </p:txBody>
        </p:sp>
        <p:sp>
          <p:nvSpPr>
            <p:cNvPr id="12" name="Ellipse 12"/>
            <p:cNvSpPr/>
            <p:nvPr/>
          </p:nvSpPr>
          <p:spPr>
            <a:xfrm>
              <a:off x="533400" y="3069908"/>
              <a:ext cx="285750" cy="285750"/>
            </a:xfrm>
            <a:prstGeom prst="ellipse">
              <a:avLst/>
            </a:prstGeom>
            <a:solidFill>
              <a:srgbClr val="334E68"/>
            </a:solidFill>
            <a:ln>
              <a:noFill/>
            </a:ln>
          </p:spPr>
        </p:sp>
        <p:sp>
          <p:nvSpPr>
            <p:cNvPr id="13" name="TextBox 13"/>
            <p:cNvSpPr txBox="1"/>
            <p:nvPr/>
          </p:nvSpPr>
          <p:spPr>
            <a:xfrm>
              <a:off x="627024" y="3143726"/>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3</a:t>
              </a:r>
            </a:p>
          </p:txBody>
        </p:sp>
        <p:sp>
          <p:nvSpPr>
            <p:cNvPr id="14" name="TextBox 14"/>
            <p:cNvSpPr txBox="1"/>
            <p:nvPr/>
          </p:nvSpPr>
          <p:spPr>
            <a:xfrm>
              <a:off x="944880" y="1567815"/>
              <a:ext cx="710827" cy="293370"/>
            </a:xfrm>
            <a:prstGeom prst="rect">
              <a:avLst/>
            </a:prstGeom>
            <a:noFill/>
            <a:ln>
              <a:noFill/>
            </a:ln>
          </p:spPr>
          <p:txBody>
            <a:bodyPr wrap="none" lIns="0" tIns="0" rIns="0" bIns="0" anchor="t" anchorCtr="0">
              <a:spAutoFit/>
            </a:bodyPr>
            <a:lstStyle/>
            <a:p>
              <a:pPr algn="l"/>
              <a:r>
                <a:rPr lang="en-US" sz="1500" b="1" dirty="0">
                  <a:solidFill>
                    <a:srgbClr val="1F2937"/>
                  </a:solidFill>
                  <a:latin typeface="+mn-lt"/>
                  <a:ea typeface="+mn-ea"/>
                  <a:cs typeface="+mn-cs"/>
                </a:rPr>
                <a:t>Amdahl</a:t>
              </a:r>
            </a:p>
          </p:txBody>
        </p:sp>
        <p:sp>
          <p:nvSpPr>
            <p:cNvPr id="15" name="TextBox 15"/>
            <p:cNvSpPr txBox="1"/>
            <p:nvPr/>
          </p:nvSpPr>
          <p:spPr>
            <a:xfrm>
              <a:off x="946023" y="1861661"/>
              <a:ext cx="4857242" cy="483680"/>
            </a:xfrm>
            <a:prstGeom prst="rect">
              <a:avLst/>
            </a:prstGeom>
            <a:noFill/>
            <a:ln>
              <a:noFill/>
            </a:ln>
          </p:spPr>
          <p:txBody>
            <a:bodyPr wrap="none" lIns="0" tIns="0" rIns="0" bIns="0" anchor="t" anchorCtr="0">
              <a:spAutoFit/>
            </a:bodyPr>
            <a:lstStyle/>
            <a:p>
              <a:pPr algn="l">
                <a:lnSpc>
                  <a:spcPts val="1845"/>
                </a:lnSpc>
              </a:pPr>
              <a:r>
                <a:rPr lang="zh-CN" sz="1280" dirty="0">
                  <a:solidFill>
                    <a:srgbClr val="1F2937"/>
                  </a:solidFill>
                  <a:latin typeface="+mn-lt"/>
                  <a:ea typeface="+mn-ea"/>
                  <a:cs typeface="+mn-cs"/>
                </a:rPr>
                <a:t>S = 1 / (0.05 + 0.95/64) = 1 / 0.06484 ≈ 15.4，效率 E = 15.4 /</a:t>
              </a:r>
              <a:br/>
              <a:r>
                <a:rPr lang="zh-CN" sz="1280" dirty="0">
                  <a:solidFill>
                    <a:srgbClr val="1F2937"/>
                  </a:solidFill>
                  <a:latin typeface="+mn-lt"/>
                  <a:ea typeface="+mn-ea"/>
                  <a:cs typeface="+mn-cs"/>
                </a:rPr>
                <a:t>64 ≈ 24%</a:t>
              </a:r>
            </a:p>
          </p:txBody>
        </p:sp>
        <p:sp>
          <p:nvSpPr>
            <p:cNvPr id="16" name="TextBox 16"/>
            <p:cNvSpPr txBox="1"/>
            <p:nvPr/>
          </p:nvSpPr>
          <p:spPr>
            <a:xfrm>
              <a:off x="944880" y="2453640"/>
              <a:ext cx="1071372" cy="293370"/>
            </a:xfrm>
            <a:prstGeom prst="rect">
              <a:avLst/>
            </a:prstGeom>
            <a:noFill/>
            <a:ln>
              <a:noFill/>
            </a:ln>
          </p:spPr>
          <p:txBody>
            <a:bodyPr wrap="none" lIns="0" tIns="0" rIns="0" bIns="0" anchor="t" anchorCtr="0">
              <a:spAutoFit/>
            </a:bodyPr>
            <a:lstStyle/>
            <a:p>
              <a:pPr algn="l"/>
              <a:r>
                <a:rPr lang="en-US" sz="1500" b="1" dirty="0">
                  <a:solidFill>
                    <a:srgbClr val="1F2937"/>
                  </a:solidFill>
                  <a:latin typeface="+mn-lt"/>
                  <a:ea typeface="+mn-ea"/>
                  <a:cs typeface="+mn-cs"/>
                </a:rPr>
                <a:t>Gustafson</a:t>
              </a:r>
            </a:p>
          </p:txBody>
        </p:sp>
        <p:sp>
          <p:nvSpPr>
            <p:cNvPr id="17" name="TextBox 17"/>
            <p:cNvSpPr txBox="1"/>
            <p:nvPr/>
          </p:nvSpPr>
          <p:spPr>
            <a:xfrm>
              <a:off x="946023" y="2746534"/>
              <a:ext cx="3586673"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S′ = 0.05 + 0.95 × 64 = 60.85，效率 ≈ 95%</a:t>
              </a:r>
            </a:p>
          </p:txBody>
        </p:sp>
        <p:sp>
          <p:nvSpPr>
            <p:cNvPr id="18" name="TextBox 18"/>
            <p:cNvSpPr txBox="1"/>
            <p:nvPr/>
          </p:nvSpPr>
          <p:spPr>
            <a:xfrm>
              <a:off x="944880" y="3104198"/>
              <a:ext cx="806659" cy="293370"/>
            </a:xfrm>
            <a:prstGeom prst="rect">
              <a:avLst/>
            </a:prstGeom>
            <a:noFill/>
            <a:ln>
              <a:noFill/>
            </a:ln>
          </p:spPr>
          <p:txBody>
            <a:bodyPr wrap="none" lIns="0" tIns="0" rIns="0" bIns="0" anchor="t" anchorCtr="0">
              <a:spAutoFit/>
            </a:bodyPr>
            <a:lstStyle/>
            <a:p>
              <a:pPr algn="l"/>
              <a:r>
                <a:rPr lang="en-US" sz="1500" b="1" dirty="0">
                  <a:solidFill>
                    <a:srgbClr val="1F2937"/>
                  </a:solidFill>
                  <a:latin typeface="+mn-lt"/>
                  <a:ea typeface="+mn-ea"/>
                  <a:cs typeface="+mn-cs"/>
                </a:rPr>
                <a:t>Sun &amp; Ni</a:t>
              </a:r>
            </a:p>
          </p:txBody>
        </p:sp>
        <p:sp>
          <p:nvSpPr>
            <p:cNvPr id="19" name="TextBox 19"/>
            <p:cNvSpPr txBox="1"/>
            <p:nvPr/>
          </p:nvSpPr>
          <p:spPr>
            <a:xfrm>
              <a:off x="946023" y="3397091"/>
              <a:ext cx="4735322" cy="483680"/>
            </a:xfrm>
            <a:prstGeom prst="rect">
              <a:avLst/>
            </a:prstGeom>
            <a:noFill/>
            <a:ln>
              <a:noFill/>
            </a:ln>
          </p:spPr>
          <p:txBody>
            <a:bodyPr wrap="none" lIns="0" tIns="0" rIns="0" bIns="0" anchor="t" anchorCtr="0">
              <a:spAutoFit/>
            </a:bodyPr>
            <a:lstStyle/>
            <a:p>
              <a:pPr algn="l">
                <a:lnSpc>
                  <a:spcPts val="1845"/>
                </a:lnSpc>
              </a:pPr>
              <a:r>
                <a:rPr lang="zh-CN" sz="1280" dirty="0">
                  <a:solidFill>
                    <a:srgbClr val="1F2937"/>
                  </a:solidFill>
                  <a:latin typeface="+mn-lt"/>
                  <a:ea typeface="+mn-ea"/>
                  <a:cs typeface="+mn-cs"/>
                </a:rPr>
                <a:t>取 G(N) = N√N = 512：S″ = (0.05 + 0.95 × 512) / (0.05 + 0.95</a:t>
              </a:r>
              <a:br/>
              <a:r>
                <a:rPr lang="zh-CN" sz="1280" dirty="0">
                  <a:solidFill>
                    <a:srgbClr val="1F2937"/>
                  </a:solidFill>
                  <a:latin typeface="+mn-lt"/>
                  <a:ea typeface="+mn-ea"/>
                  <a:cs typeface="+mn-cs"/>
                </a:rPr>
                <a:t>× 8) = 486.45 / 7.65 ≈ 63.6，效率 ≈ 99%</a:t>
              </a:r>
            </a:p>
          </p:txBody>
        </p:sp>
      </p:grpSp>
      <p:grpSp>
        <p:nvGrpSpPr>
          <p:cNvPr id="49" name="c1-table-2"/>
          <p:cNvGrpSpPr/>
          <p:nvPr/>
        </p:nvGrpSpPr>
        <p:grpSpPr>
          <a:xfrm>
            <a:off x="527685" y="4060508"/>
            <a:ext cx="5632133" cy="1641634"/>
            <a:chOff x="527685" y="4060508"/>
            <a:chExt cx="5632133" cy="1641634"/>
          </a:xfrm>
        </p:grpSpPr>
        <p:sp>
          <p:nvSpPr>
            <p:cNvPr id="21" name="Rectangle 21"/>
            <p:cNvSpPr/>
            <p:nvPr/>
          </p:nvSpPr>
          <p:spPr>
            <a:xfrm>
              <a:off x="533400" y="4060508"/>
              <a:ext cx="5626418" cy="448628"/>
            </a:xfrm>
            <a:prstGeom prst="rect">
              <a:avLst/>
            </a:prstGeom>
            <a:solidFill>
              <a:srgbClr val="334E68"/>
            </a:solidFill>
            <a:ln>
              <a:noFill/>
            </a:ln>
          </p:spPr>
        </p:sp>
        <p:sp>
          <p:nvSpPr>
            <p:cNvPr id="22" name="TextBox 22"/>
            <p:cNvSpPr txBox="1"/>
            <p:nvPr/>
          </p:nvSpPr>
          <p:spPr>
            <a:xfrm>
              <a:off x="1255401" y="4195286"/>
              <a:ext cx="118098" cy="249364"/>
            </a:xfrm>
            <a:prstGeom prst="rect">
              <a:avLst/>
            </a:prstGeom>
            <a:noFill/>
            <a:ln>
              <a:noFill/>
            </a:ln>
          </p:spPr>
          <p:txBody>
            <a:bodyPr wrap="none" lIns="0" tIns="0" rIns="0" bIns="0" anchor="t" anchorCtr="0">
              <a:spAutoFit/>
            </a:bodyPr>
            <a:lstStyle/>
            <a:p>
              <a:pPr algn="ctr"/>
              <a:r>
                <a:rPr lang="en-US" sz="1280" b="1" dirty="0">
                  <a:solidFill>
                    <a:srgbClr val="FFFFFF"/>
                  </a:solidFill>
                  <a:latin typeface="+mn-lt"/>
                  <a:ea typeface="+mn-ea"/>
                  <a:cs typeface="+mn-cs"/>
                </a:rPr>
                <a:t>N</a:t>
              </a:r>
            </a:p>
          </p:txBody>
        </p:sp>
        <p:sp>
          <p:nvSpPr>
            <p:cNvPr id="23" name="TextBox 23"/>
            <p:cNvSpPr txBox="1"/>
            <p:nvPr/>
          </p:nvSpPr>
          <p:spPr>
            <a:xfrm>
              <a:off x="2461225" y="4195286"/>
              <a:ext cx="112465"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4</a:t>
              </a:r>
            </a:p>
          </p:txBody>
        </p:sp>
        <p:sp>
          <p:nvSpPr>
            <p:cNvPr id="24" name="TextBox 24"/>
            <p:cNvSpPr txBox="1"/>
            <p:nvPr/>
          </p:nvSpPr>
          <p:spPr>
            <a:xfrm>
              <a:off x="3254432" y="4195286"/>
              <a:ext cx="211976"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16</a:t>
              </a:r>
            </a:p>
          </p:txBody>
        </p:sp>
        <p:sp>
          <p:nvSpPr>
            <p:cNvPr id="25" name="TextBox 25"/>
            <p:cNvSpPr txBox="1"/>
            <p:nvPr/>
          </p:nvSpPr>
          <p:spPr>
            <a:xfrm>
              <a:off x="4098347" y="4195286"/>
              <a:ext cx="211976"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64</a:t>
              </a:r>
            </a:p>
          </p:txBody>
        </p:sp>
        <p:sp>
          <p:nvSpPr>
            <p:cNvPr id="26" name="TextBox 26"/>
            <p:cNvSpPr txBox="1"/>
            <p:nvPr/>
          </p:nvSpPr>
          <p:spPr>
            <a:xfrm>
              <a:off x="4909651" y="4195286"/>
              <a:ext cx="311487"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256</a:t>
              </a:r>
            </a:p>
          </p:txBody>
        </p:sp>
        <p:sp>
          <p:nvSpPr>
            <p:cNvPr id="27" name="TextBox 27"/>
            <p:cNvSpPr txBox="1"/>
            <p:nvPr/>
          </p:nvSpPr>
          <p:spPr>
            <a:xfrm>
              <a:off x="5775925" y="4195286"/>
              <a:ext cx="112465"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a:t>
              </a:r>
            </a:p>
          </p:txBody>
        </p:sp>
        <p:sp>
          <p:nvSpPr>
            <p:cNvPr id="28" name="TextBox 28"/>
            <p:cNvSpPr txBox="1"/>
            <p:nvPr/>
          </p:nvSpPr>
          <p:spPr>
            <a:xfrm>
              <a:off x="641223" y="4643914"/>
              <a:ext cx="1178253"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Amdahl 加速比</a:t>
              </a:r>
            </a:p>
          </p:txBody>
        </p:sp>
        <p:sp>
          <p:nvSpPr>
            <p:cNvPr id="29" name="TextBox 29"/>
            <p:cNvSpPr txBox="1"/>
            <p:nvPr/>
          </p:nvSpPr>
          <p:spPr>
            <a:xfrm>
              <a:off x="2438596" y="4643914"/>
              <a:ext cx="392044" cy="249364"/>
            </a:xfrm>
            <a:prstGeom prst="rect">
              <a:avLst/>
            </a:prstGeom>
            <a:noFill/>
            <a:ln>
              <a:noFill/>
            </a:ln>
          </p:spPr>
          <p:txBody>
            <a:bodyPr wrap="none" lIns="0" tIns="0" rIns="0" bIns="0" anchor="t" anchorCtr="0">
              <a:spAutoFit/>
            </a:bodyPr>
            <a:lstStyle/>
            <a:p>
              <a:pPr algn="r"/>
              <a:r>
                <a:rPr lang="zh-CN" sz="1280" dirty="0">
                  <a:solidFill>
                    <a:srgbClr val="1F2937"/>
                  </a:solidFill>
                  <a:latin typeface="+mn-lt"/>
                  <a:ea typeface="+mn-ea"/>
                  <a:cs typeface="+mn-cs"/>
                </a:rPr>
                <a:t>3.48</a:t>
              </a:r>
            </a:p>
          </p:txBody>
        </p:sp>
        <p:sp>
          <p:nvSpPr>
            <p:cNvPr id="30" name="TextBox 30"/>
            <p:cNvSpPr txBox="1"/>
            <p:nvPr/>
          </p:nvSpPr>
          <p:spPr>
            <a:xfrm>
              <a:off x="3282511" y="4643914"/>
              <a:ext cx="392044" cy="249364"/>
            </a:xfrm>
            <a:prstGeom prst="rect">
              <a:avLst/>
            </a:prstGeom>
            <a:noFill/>
            <a:ln>
              <a:noFill/>
            </a:ln>
          </p:spPr>
          <p:txBody>
            <a:bodyPr wrap="none" lIns="0" tIns="0" rIns="0" bIns="0" anchor="t" anchorCtr="0">
              <a:spAutoFit/>
            </a:bodyPr>
            <a:lstStyle/>
            <a:p>
              <a:pPr algn="r"/>
              <a:r>
                <a:rPr lang="zh-CN" sz="1280" dirty="0">
                  <a:solidFill>
                    <a:srgbClr val="1F2937"/>
                  </a:solidFill>
                  <a:latin typeface="+mn-lt"/>
                  <a:ea typeface="+mn-ea"/>
                  <a:cs typeface="+mn-cs"/>
                </a:rPr>
                <a:t>9.14</a:t>
              </a:r>
            </a:p>
          </p:txBody>
        </p:sp>
        <p:sp>
          <p:nvSpPr>
            <p:cNvPr id="31" name="TextBox 31"/>
            <p:cNvSpPr txBox="1"/>
            <p:nvPr/>
          </p:nvSpPr>
          <p:spPr>
            <a:xfrm>
              <a:off x="4126426" y="4643914"/>
              <a:ext cx="392044" cy="249364"/>
            </a:xfrm>
            <a:prstGeom prst="rect">
              <a:avLst/>
            </a:prstGeom>
            <a:noFill/>
            <a:ln>
              <a:noFill/>
            </a:ln>
          </p:spPr>
          <p:txBody>
            <a:bodyPr wrap="none" lIns="0" tIns="0" rIns="0" bIns="0" anchor="t" anchorCtr="0">
              <a:spAutoFit/>
            </a:bodyPr>
            <a:lstStyle/>
            <a:p>
              <a:pPr algn="r"/>
              <a:r>
                <a:rPr lang="zh-CN" sz="1280" dirty="0">
                  <a:solidFill>
                    <a:srgbClr val="1F2937"/>
                  </a:solidFill>
                  <a:latin typeface="+mn-lt"/>
                  <a:ea typeface="+mn-ea"/>
                  <a:cs typeface="+mn-cs"/>
                </a:rPr>
                <a:t>15.4</a:t>
              </a:r>
            </a:p>
          </p:txBody>
        </p:sp>
        <p:sp>
          <p:nvSpPr>
            <p:cNvPr id="32" name="TextBox 32"/>
            <p:cNvSpPr txBox="1"/>
            <p:nvPr/>
          </p:nvSpPr>
          <p:spPr>
            <a:xfrm>
              <a:off x="5004631" y="4643914"/>
              <a:ext cx="392044" cy="249364"/>
            </a:xfrm>
            <a:prstGeom prst="rect">
              <a:avLst/>
            </a:prstGeom>
            <a:noFill/>
            <a:ln>
              <a:noFill/>
            </a:ln>
          </p:spPr>
          <p:txBody>
            <a:bodyPr wrap="none" lIns="0" tIns="0" rIns="0" bIns="0" anchor="t" anchorCtr="0">
              <a:spAutoFit/>
            </a:bodyPr>
            <a:lstStyle/>
            <a:p>
              <a:pPr algn="r"/>
              <a:r>
                <a:rPr lang="zh-CN" sz="1280" dirty="0">
                  <a:solidFill>
                    <a:srgbClr val="1F2937"/>
                  </a:solidFill>
                  <a:latin typeface="+mn-lt"/>
                  <a:ea typeface="+mn-ea"/>
                  <a:cs typeface="+mn-cs"/>
                </a:rPr>
                <a:t>18.6</a:t>
              </a:r>
            </a:p>
          </p:txBody>
        </p:sp>
        <p:sp>
          <p:nvSpPr>
            <p:cNvPr id="33" name="TextBox 33"/>
            <p:cNvSpPr txBox="1"/>
            <p:nvPr/>
          </p:nvSpPr>
          <p:spPr>
            <a:xfrm>
              <a:off x="5849496" y="4643914"/>
              <a:ext cx="202499" cy="249364"/>
            </a:xfrm>
            <a:prstGeom prst="rect">
              <a:avLst/>
            </a:prstGeom>
            <a:noFill/>
            <a:ln>
              <a:noFill/>
            </a:ln>
          </p:spPr>
          <p:txBody>
            <a:bodyPr wrap="none" lIns="0" tIns="0" rIns="0" bIns="0" anchor="t" anchorCtr="0">
              <a:spAutoFit/>
            </a:bodyPr>
            <a:lstStyle/>
            <a:p>
              <a:pPr algn="r"/>
              <a:r>
                <a:rPr lang="zh-CN" sz="1280" dirty="0">
                  <a:solidFill>
                    <a:srgbClr val="1F2937"/>
                  </a:solidFill>
                  <a:latin typeface="+mn-lt"/>
                  <a:ea typeface="+mn-ea"/>
                  <a:cs typeface="+mn-cs"/>
                </a:rPr>
                <a:t>20</a:t>
              </a:r>
            </a:p>
          </p:txBody>
        </p:sp>
        <p:sp>
          <p:nvSpPr>
            <p:cNvPr id="34" name="Rectangle 34"/>
            <p:cNvSpPr/>
            <p:nvPr/>
          </p:nvSpPr>
          <p:spPr>
            <a:xfrm>
              <a:off x="533400" y="4953000"/>
              <a:ext cx="5626418" cy="9525"/>
            </a:xfrm>
            <a:prstGeom prst="rect">
              <a:avLst/>
            </a:prstGeom>
            <a:solidFill>
              <a:srgbClr val="D9DFEA"/>
            </a:solidFill>
            <a:ln>
              <a:noFill/>
            </a:ln>
          </p:spPr>
        </p:sp>
        <p:sp>
          <p:nvSpPr>
            <p:cNvPr id="35" name="Rectangle 35"/>
            <p:cNvSpPr/>
            <p:nvPr/>
          </p:nvSpPr>
          <p:spPr>
            <a:xfrm>
              <a:off x="533400" y="4957762"/>
              <a:ext cx="5626418" cy="448628"/>
            </a:xfrm>
            <a:prstGeom prst="rect">
              <a:avLst/>
            </a:prstGeom>
            <a:solidFill>
              <a:srgbClr val="F4F6FB"/>
            </a:solidFill>
            <a:ln>
              <a:noFill/>
            </a:ln>
          </p:spPr>
        </p:sp>
        <p:sp>
          <p:nvSpPr>
            <p:cNvPr id="36" name="TextBox 36"/>
            <p:cNvSpPr txBox="1"/>
            <p:nvPr/>
          </p:nvSpPr>
          <p:spPr>
            <a:xfrm>
              <a:off x="641223" y="5093494"/>
              <a:ext cx="357581"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效率</a:t>
              </a:r>
            </a:p>
          </p:txBody>
        </p:sp>
        <p:sp>
          <p:nvSpPr>
            <p:cNvPr id="37" name="TextBox 37"/>
            <p:cNvSpPr txBox="1"/>
            <p:nvPr/>
          </p:nvSpPr>
          <p:spPr>
            <a:xfrm>
              <a:off x="2498905" y="5093494"/>
              <a:ext cx="331734" cy="249364"/>
            </a:xfrm>
            <a:prstGeom prst="rect">
              <a:avLst/>
            </a:prstGeom>
            <a:noFill/>
            <a:ln>
              <a:noFill/>
            </a:ln>
          </p:spPr>
          <p:txBody>
            <a:bodyPr wrap="none" lIns="0" tIns="0" rIns="0" bIns="0" anchor="t" anchorCtr="0">
              <a:spAutoFit/>
            </a:bodyPr>
            <a:lstStyle/>
            <a:p>
              <a:pPr algn="r"/>
              <a:r>
                <a:rPr lang="zh-CN" sz="1280" dirty="0">
                  <a:solidFill>
                    <a:srgbClr val="1F2937"/>
                  </a:solidFill>
                  <a:latin typeface="+mn-lt"/>
                  <a:ea typeface="+mn-ea"/>
                  <a:cs typeface="+mn-cs"/>
                </a:rPr>
                <a:t>87%</a:t>
              </a:r>
            </a:p>
          </p:txBody>
        </p:sp>
        <p:sp>
          <p:nvSpPr>
            <p:cNvPr id="38" name="TextBox 38"/>
            <p:cNvSpPr txBox="1"/>
            <p:nvPr/>
          </p:nvSpPr>
          <p:spPr>
            <a:xfrm>
              <a:off x="3342820" y="5093494"/>
              <a:ext cx="331734" cy="249364"/>
            </a:xfrm>
            <a:prstGeom prst="rect">
              <a:avLst/>
            </a:prstGeom>
            <a:noFill/>
            <a:ln>
              <a:noFill/>
            </a:ln>
          </p:spPr>
          <p:txBody>
            <a:bodyPr wrap="none" lIns="0" tIns="0" rIns="0" bIns="0" anchor="t" anchorCtr="0">
              <a:spAutoFit/>
            </a:bodyPr>
            <a:lstStyle/>
            <a:p>
              <a:pPr algn="r"/>
              <a:r>
                <a:rPr lang="zh-CN" sz="1280" dirty="0">
                  <a:solidFill>
                    <a:srgbClr val="1F2937"/>
                  </a:solidFill>
                  <a:latin typeface="+mn-lt"/>
                  <a:ea typeface="+mn-ea"/>
                  <a:cs typeface="+mn-cs"/>
                </a:rPr>
                <a:t>57%</a:t>
              </a:r>
            </a:p>
          </p:txBody>
        </p:sp>
        <p:sp>
          <p:nvSpPr>
            <p:cNvPr id="39" name="TextBox 39"/>
            <p:cNvSpPr txBox="1"/>
            <p:nvPr/>
          </p:nvSpPr>
          <p:spPr>
            <a:xfrm>
              <a:off x="4186735" y="5093494"/>
              <a:ext cx="331734" cy="249364"/>
            </a:xfrm>
            <a:prstGeom prst="rect">
              <a:avLst/>
            </a:prstGeom>
            <a:noFill/>
            <a:ln>
              <a:noFill/>
            </a:ln>
          </p:spPr>
          <p:txBody>
            <a:bodyPr wrap="none" lIns="0" tIns="0" rIns="0" bIns="0" anchor="t" anchorCtr="0">
              <a:spAutoFit/>
            </a:bodyPr>
            <a:lstStyle/>
            <a:p>
              <a:pPr algn="r"/>
              <a:r>
                <a:rPr lang="zh-CN" sz="1280" dirty="0">
                  <a:solidFill>
                    <a:srgbClr val="1F2937"/>
                  </a:solidFill>
                  <a:latin typeface="+mn-lt"/>
                  <a:ea typeface="+mn-ea"/>
                  <a:cs typeface="+mn-cs"/>
                </a:rPr>
                <a:t>24%</a:t>
              </a:r>
            </a:p>
          </p:txBody>
        </p:sp>
        <p:sp>
          <p:nvSpPr>
            <p:cNvPr id="40" name="TextBox 40"/>
            <p:cNvSpPr txBox="1"/>
            <p:nvPr/>
          </p:nvSpPr>
          <p:spPr>
            <a:xfrm>
              <a:off x="4970168" y="5093494"/>
              <a:ext cx="426507" cy="249364"/>
            </a:xfrm>
            <a:prstGeom prst="rect">
              <a:avLst/>
            </a:prstGeom>
            <a:noFill/>
            <a:ln>
              <a:noFill/>
            </a:ln>
          </p:spPr>
          <p:txBody>
            <a:bodyPr wrap="none" lIns="0" tIns="0" rIns="0" bIns="0" anchor="t" anchorCtr="0">
              <a:spAutoFit/>
            </a:bodyPr>
            <a:lstStyle/>
            <a:p>
              <a:pPr algn="r"/>
              <a:r>
                <a:rPr lang="zh-CN" sz="1280" dirty="0">
                  <a:solidFill>
                    <a:srgbClr val="1F2937"/>
                  </a:solidFill>
                  <a:latin typeface="+mn-lt"/>
                  <a:ea typeface="+mn-ea"/>
                  <a:cs typeface="+mn-cs"/>
                </a:rPr>
                <a:t>7.3%</a:t>
              </a:r>
            </a:p>
          </p:txBody>
        </p:sp>
        <p:sp>
          <p:nvSpPr>
            <p:cNvPr id="41" name="TextBox 41"/>
            <p:cNvSpPr txBox="1"/>
            <p:nvPr/>
          </p:nvSpPr>
          <p:spPr>
            <a:xfrm>
              <a:off x="5944268" y="5093494"/>
              <a:ext cx="107726" cy="249364"/>
            </a:xfrm>
            <a:prstGeom prst="rect">
              <a:avLst/>
            </a:prstGeom>
            <a:noFill/>
            <a:ln>
              <a:noFill/>
            </a:ln>
          </p:spPr>
          <p:txBody>
            <a:bodyPr wrap="none" lIns="0" tIns="0" rIns="0" bIns="0" anchor="t" anchorCtr="0">
              <a:spAutoFit/>
            </a:bodyPr>
            <a:lstStyle/>
            <a:p>
              <a:pPr algn="r"/>
              <a:r>
                <a:rPr lang="zh-CN" sz="1280" dirty="0">
                  <a:solidFill>
                    <a:srgbClr val="1F2937"/>
                  </a:solidFill>
                  <a:latin typeface="+mn-lt"/>
                  <a:ea typeface="+mn-ea"/>
                  <a:cs typeface="+mn-cs"/>
                </a:rPr>
                <a:t>—</a:t>
              </a:r>
            </a:p>
          </p:txBody>
        </p:sp>
        <p:sp>
          <p:nvSpPr>
            <p:cNvPr id="42" name="Rectangle 42"/>
            <p:cNvSpPr/>
            <p:nvPr/>
          </p:nvSpPr>
          <p:spPr>
            <a:xfrm>
              <a:off x="533400" y="4060508"/>
              <a:ext cx="5626418" cy="1346835"/>
            </a:xfrm>
            <a:prstGeom prst="rect">
              <a:avLst/>
            </a:prstGeom>
            <a:noFill/>
            <a:ln w="14288">
              <a:solidFill>
                <a:srgbClr val="D9DFEA"/>
              </a:solidFill>
            </a:ln>
          </p:spPr>
        </p:sp>
        <p:sp>
          <p:nvSpPr>
            <p:cNvPr id="43" name="Rectangle 43"/>
            <p:cNvSpPr/>
            <p:nvPr/>
          </p:nvSpPr>
          <p:spPr>
            <a:xfrm>
              <a:off x="2090738" y="4060508"/>
              <a:ext cx="9525" cy="1346835"/>
            </a:xfrm>
            <a:prstGeom prst="rect">
              <a:avLst/>
            </a:prstGeom>
            <a:solidFill>
              <a:srgbClr val="D9DFEA"/>
            </a:solidFill>
            <a:ln>
              <a:noFill/>
            </a:ln>
          </p:spPr>
        </p:sp>
        <p:sp>
          <p:nvSpPr>
            <p:cNvPr id="44" name="Rectangle 44"/>
            <p:cNvSpPr/>
            <p:nvPr/>
          </p:nvSpPr>
          <p:spPr>
            <a:xfrm>
              <a:off x="2933700" y="4060508"/>
              <a:ext cx="9525" cy="1346835"/>
            </a:xfrm>
            <a:prstGeom prst="rect">
              <a:avLst/>
            </a:prstGeom>
            <a:solidFill>
              <a:srgbClr val="D9DFEA"/>
            </a:solidFill>
            <a:ln>
              <a:noFill/>
            </a:ln>
          </p:spPr>
        </p:sp>
        <p:sp>
          <p:nvSpPr>
            <p:cNvPr id="45" name="Rectangle 45"/>
            <p:cNvSpPr/>
            <p:nvPr/>
          </p:nvSpPr>
          <p:spPr>
            <a:xfrm>
              <a:off x="3777615" y="4060508"/>
              <a:ext cx="9525" cy="1346835"/>
            </a:xfrm>
            <a:prstGeom prst="rect">
              <a:avLst/>
            </a:prstGeom>
            <a:solidFill>
              <a:srgbClr val="D9DFEA"/>
            </a:solidFill>
            <a:ln>
              <a:noFill/>
            </a:ln>
          </p:spPr>
        </p:sp>
        <p:sp>
          <p:nvSpPr>
            <p:cNvPr id="46" name="Rectangle 46"/>
            <p:cNvSpPr/>
            <p:nvPr/>
          </p:nvSpPr>
          <p:spPr>
            <a:xfrm>
              <a:off x="4621530" y="4060508"/>
              <a:ext cx="9525" cy="1346835"/>
            </a:xfrm>
            <a:prstGeom prst="rect">
              <a:avLst/>
            </a:prstGeom>
            <a:solidFill>
              <a:srgbClr val="D9DFEA"/>
            </a:solidFill>
            <a:ln>
              <a:noFill/>
            </a:ln>
          </p:spPr>
        </p:sp>
        <p:sp>
          <p:nvSpPr>
            <p:cNvPr id="47" name="Rectangle 47"/>
            <p:cNvSpPr/>
            <p:nvPr/>
          </p:nvSpPr>
          <p:spPr>
            <a:xfrm>
              <a:off x="5499735" y="4060508"/>
              <a:ext cx="9525" cy="1346835"/>
            </a:xfrm>
            <a:prstGeom prst="rect">
              <a:avLst/>
            </a:prstGeom>
            <a:solidFill>
              <a:srgbClr val="D9DFEA"/>
            </a:solidFill>
            <a:ln>
              <a:noFill/>
            </a:ln>
          </p:spPr>
        </p:sp>
        <p:sp>
          <p:nvSpPr>
            <p:cNvPr id="48" name="TextBox 48"/>
            <p:cNvSpPr txBox="1"/>
            <p:nvPr/>
          </p:nvSpPr>
          <p:spPr>
            <a:xfrm>
              <a:off x="527685" y="5482114"/>
              <a:ext cx="5060310" cy="220028"/>
            </a:xfrm>
            <a:prstGeom prst="rect">
              <a:avLst/>
            </a:prstGeom>
            <a:noFill/>
            <a:ln>
              <a:noFill/>
            </a:ln>
          </p:spPr>
          <p:txBody>
            <a:bodyPr wrap="none" lIns="0" tIns="0" rIns="0" bIns="0" anchor="t" anchorCtr="0">
              <a:spAutoFit/>
            </a:bodyPr>
            <a:lstStyle/>
            <a:p>
              <a:pPr algn="l"/>
              <a:r>
                <a:rPr lang="zh-CN" sz="1120" dirty="0">
                  <a:solidFill>
                    <a:srgbClr val="5B6475"/>
                  </a:solidFill>
                  <a:latin typeface="+mn-lt"/>
                  <a:ea typeface="+mn-ea"/>
                  <a:cs typeface="+mn-cs"/>
                </a:rPr>
                <a:t>rₛ = 5% 时按 Amdahl 定律加处理器：加速比逼近 1/rₛ = 20，效率一路下滑</a:t>
              </a:r>
            </a:p>
          </p:txBody>
        </p:sp>
      </p:grpSp>
      <p:grpSp>
        <p:nvGrpSpPr>
          <p:cNvPr id="76" name="c2-table-1"/>
          <p:cNvGrpSpPr/>
          <p:nvPr/>
        </p:nvGrpSpPr>
        <p:grpSpPr>
          <a:xfrm>
            <a:off x="6464618" y="1524000"/>
            <a:ext cx="5193982" cy="1950720"/>
            <a:chOff x="6464618" y="1524000"/>
            <a:chExt cx="5193982" cy="1950720"/>
          </a:xfrm>
        </p:grpSpPr>
        <p:sp>
          <p:nvSpPr>
            <p:cNvPr id="50" name="Rectangle 50"/>
            <p:cNvSpPr/>
            <p:nvPr/>
          </p:nvSpPr>
          <p:spPr>
            <a:xfrm>
              <a:off x="6464618" y="1524000"/>
              <a:ext cx="5193982" cy="487680"/>
            </a:xfrm>
            <a:prstGeom prst="rect">
              <a:avLst/>
            </a:prstGeom>
            <a:solidFill>
              <a:srgbClr val="334E68"/>
            </a:solidFill>
            <a:ln>
              <a:noFill/>
            </a:ln>
          </p:spPr>
        </p:sp>
        <p:sp>
          <p:nvSpPr>
            <p:cNvPr id="51" name="TextBox 51"/>
            <p:cNvSpPr txBox="1"/>
            <p:nvPr/>
          </p:nvSpPr>
          <p:spPr>
            <a:xfrm>
              <a:off x="6930390" y="1663065"/>
              <a:ext cx="419100" cy="293370"/>
            </a:xfrm>
            <a:prstGeom prst="rect">
              <a:avLst/>
            </a:prstGeom>
            <a:noFill/>
            <a:ln>
              <a:noFill/>
            </a:ln>
          </p:spPr>
          <p:txBody>
            <a:bodyPr wrap="none" lIns="0" tIns="0" rIns="0" bIns="0" anchor="t" anchorCtr="0">
              <a:spAutoFit/>
            </a:bodyPr>
            <a:lstStyle/>
            <a:p>
              <a:pPr algn="ctr"/>
              <a:r>
                <a:rPr lang="zh-CN" sz="1500" b="1" dirty="0">
                  <a:solidFill>
                    <a:srgbClr val="FFFFFF"/>
                  </a:solidFill>
                  <a:latin typeface="+mn-lt"/>
                  <a:ea typeface="+mn-ea"/>
                  <a:cs typeface="+mn-cs"/>
                </a:rPr>
                <a:t>定律</a:t>
              </a:r>
            </a:p>
          </p:txBody>
        </p:sp>
        <p:sp>
          <p:nvSpPr>
            <p:cNvPr id="52" name="TextBox 52"/>
            <p:cNvSpPr txBox="1"/>
            <p:nvPr/>
          </p:nvSpPr>
          <p:spPr>
            <a:xfrm>
              <a:off x="8023860" y="1663065"/>
              <a:ext cx="621030" cy="293370"/>
            </a:xfrm>
            <a:prstGeom prst="rect">
              <a:avLst/>
            </a:prstGeom>
            <a:noFill/>
            <a:ln>
              <a:noFill/>
            </a:ln>
          </p:spPr>
          <p:txBody>
            <a:bodyPr wrap="none" lIns="0" tIns="0" rIns="0" bIns="0" anchor="t" anchorCtr="0">
              <a:spAutoFit/>
            </a:bodyPr>
            <a:lstStyle/>
            <a:p>
              <a:pPr algn="ctr"/>
              <a:r>
                <a:rPr lang="zh-CN" sz="1500" b="1" dirty="0">
                  <a:solidFill>
                    <a:srgbClr val="FFFFFF"/>
                  </a:solidFill>
                  <a:latin typeface="+mn-lt"/>
                  <a:ea typeface="+mn-ea"/>
                  <a:cs typeface="+mn-cs"/>
                </a:rPr>
                <a:t>加速比</a:t>
              </a:r>
            </a:p>
          </p:txBody>
        </p:sp>
        <p:sp>
          <p:nvSpPr>
            <p:cNvPr id="53" name="TextBox 53"/>
            <p:cNvSpPr txBox="1"/>
            <p:nvPr/>
          </p:nvSpPr>
          <p:spPr>
            <a:xfrm>
              <a:off x="9111615" y="1663065"/>
              <a:ext cx="419100" cy="293370"/>
            </a:xfrm>
            <a:prstGeom prst="rect">
              <a:avLst/>
            </a:prstGeom>
            <a:noFill/>
            <a:ln>
              <a:noFill/>
            </a:ln>
          </p:spPr>
          <p:txBody>
            <a:bodyPr wrap="none" lIns="0" tIns="0" rIns="0" bIns="0" anchor="t" anchorCtr="0">
              <a:spAutoFit/>
            </a:bodyPr>
            <a:lstStyle/>
            <a:p>
              <a:pPr algn="ctr"/>
              <a:r>
                <a:rPr lang="zh-CN" sz="1500" b="1" dirty="0">
                  <a:solidFill>
                    <a:srgbClr val="FFFFFF"/>
                  </a:solidFill>
                  <a:latin typeface="+mn-lt"/>
                  <a:ea typeface="+mn-ea"/>
                  <a:cs typeface="+mn-cs"/>
                </a:rPr>
                <a:t>效率</a:t>
              </a:r>
            </a:p>
          </p:txBody>
        </p:sp>
        <p:sp>
          <p:nvSpPr>
            <p:cNvPr id="54" name="TextBox 54"/>
            <p:cNvSpPr txBox="1"/>
            <p:nvPr/>
          </p:nvSpPr>
          <p:spPr>
            <a:xfrm>
              <a:off x="9907905" y="1663065"/>
              <a:ext cx="1630680" cy="293370"/>
            </a:xfrm>
            <a:prstGeom prst="rect">
              <a:avLst/>
            </a:prstGeom>
            <a:noFill/>
            <a:ln>
              <a:noFill/>
            </a:ln>
          </p:spPr>
          <p:txBody>
            <a:bodyPr wrap="none" lIns="0" tIns="0" rIns="0" bIns="0" anchor="t" anchorCtr="0">
              <a:spAutoFit/>
            </a:bodyPr>
            <a:lstStyle/>
            <a:p>
              <a:pPr algn="ctr"/>
              <a:r>
                <a:rPr lang="zh-CN" sz="1500" b="1" dirty="0">
                  <a:solidFill>
                    <a:srgbClr val="FFFFFF"/>
                  </a:solidFill>
                  <a:latin typeface="+mn-lt"/>
                  <a:ea typeface="+mn-ea"/>
                  <a:cs typeface="+mn-cs"/>
                </a:rPr>
                <a:t>并行部分的计算量</a:t>
              </a:r>
            </a:p>
          </p:txBody>
        </p:sp>
        <p:sp>
          <p:nvSpPr>
            <p:cNvPr id="55" name="TextBox 55"/>
            <p:cNvSpPr txBox="1"/>
            <p:nvPr/>
          </p:nvSpPr>
          <p:spPr>
            <a:xfrm>
              <a:off x="6571298" y="2150745"/>
              <a:ext cx="710827" cy="293370"/>
            </a:xfrm>
            <a:prstGeom prst="rect">
              <a:avLst/>
            </a:prstGeom>
            <a:noFill/>
            <a:ln>
              <a:noFill/>
            </a:ln>
          </p:spPr>
          <p:txBody>
            <a:bodyPr wrap="none" lIns="0" tIns="0" rIns="0" bIns="0" anchor="t" anchorCtr="0">
              <a:spAutoFit/>
            </a:bodyPr>
            <a:lstStyle/>
            <a:p>
              <a:pPr algn="l"/>
              <a:r>
                <a:rPr lang="en-US" sz="1500" b="1" dirty="0">
                  <a:solidFill>
                    <a:srgbClr val="1F2937"/>
                  </a:solidFill>
                  <a:latin typeface="+mn-lt"/>
                  <a:ea typeface="+mn-ea"/>
                  <a:cs typeface="+mn-cs"/>
                </a:rPr>
                <a:t>Amdahl</a:t>
              </a:r>
            </a:p>
          </p:txBody>
        </p:sp>
        <p:sp>
          <p:nvSpPr>
            <p:cNvPr id="56" name="Rectangle 56"/>
            <p:cNvSpPr/>
            <p:nvPr/>
          </p:nvSpPr>
          <p:spPr>
            <a:xfrm>
              <a:off x="7824788" y="2021205"/>
              <a:ext cx="1020128" cy="468630"/>
            </a:xfrm>
            <a:prstGeom prst="rect">
              <a:avLst/>
            </a:prstGeom>
            <a:solidFill>
              <a:srgbClr val="FDECEA"/>
            </a:solidFill>
            <a:ln>
              <a:noFill/>
            </a:ln>
          </p:spPr>
        </p:sp>
        <p:sp>
          <p:nvSpPr>
            <p:cNvPr id="57" name="TextBox 57"/>
            <p:cNvSpPr txBox="1"/>
            <p:nvPr/>
          </p:nvSpPr>
          <p:spPr>
            <a:xfrm>
              <a:off x="8287322" y="2150745"/>
              <a:ext cx="459486" cy="293370"/>
            </a:xfrm>
            <a:prstGeom prst="rect">
              <a:avLst/>
            </a:prstGeom>
            <a:noFill/>
            <a:ln>
              <a:noFill/>
            </a:ln>
          </p:spPr>
          <p:txBody>
            <a:bodyPr wrap="none" lIns="0" tIns="0" rIns="0" bIns="0" anchor="t" anchorCtr="0">
              <a:spAutoFit/>
            </a:bodyPr>
            <a:lstStyle/>
            <a:p>
              <a:pPr algn="r"/>
              <a:r>
                <a:rPr lang="zh-CN" sz="1500" dirty="0">
                  <a:solidFill>
                    <a:srgbClr val="1F2937"/>
                  </a:solidFill>
                  <a:latin typeface="+mn-lt"/>
                  <a:ea typeface="+mn-ea"/>
                  <a:cs typeface="+mn-cs"/>
                </a:rPr>
                <a:t>15.4</a:t>
              </a:r>
            </a:p>
          </p:txBody>
        </p:sp>
        <p:sp>
          <p:nvSpPr>
            <p:cNvPr id="58" name="TextBox 58"/>
            <p:cNvSpPr txBox="1"/>
            <p:nvPr/>
          </p:nvSpPr>
          <p:spPr>
            <a:xfrm>
              <a:off x="9293352" y="2150745"/>
              <a:ext cx="388810" cy="293370"/>
            </a:xfrm>
            <a:prstGeom prst="rect">
              <a:avLst/>
            </a:prstGeom>
            <a:noFill/>
            <a:ln>
              <a:noFill/>
            </a:ln>
          </p:spPr>
          <p:txBody>
            <a:bodyPr wrap="none" lIns="0" tIns="0" rIns="0" bIns="0" anchor="t" anchorCtr="0">
              <a:spAutoFit/>
            </a:bodyPr>
            <a:lstStyle/>
            <a:p>
              <a:pPr algn="r"/>
              <a:r>
                <a:rPr lang="zh-CN" sz="1500" dirty="0">
                  <a:solidFill>
                    <a:srgbClr val="1F2937"/>
                  </a:solidFill>
                  <a:latin typeface="+mn-lt"/>
                  <a:ea typeface="+mn-ea"/>
                  <a:cs typeface="+mn-cs"/>
                </a:rPr>
                <a:t>24%</a:t>
              </a:r>
            </a:p>
          </p:txBody>
        </p:sp>
        <p:sp>
          <p:nvSpPr>
            <p:cNvPr id="59" name="TextBox 59"/>
            <p:cNvSpPr txBox="1"/>
            <p:nvPr/>
          </p:nvSpPr>
          <p:spPr>
            <a:xfrm>
              <a:off x="9895522" y="2150745"/>
              <a:ext cx="41910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不变</a:t>
              </a:r>
            </a:p>
          </p:txBody>
        </p:sp>
        <p:sp>
          <p:nvSpPr>
            <p:cNvPr id="60" name="Rectangle 60"/>
            <p:cNvSpPr/>
            <p:nvPr/>
          </p:nvSpPr>
          <p:spPr>
            <a:xfrm>
              <a:off x="6464618" y="2494598"/>
              <a:ext cx="5193982" cy="9525"/>
            </a:xfrm>
            <a:prstGeom prst="rect">
              <a:avLst/>
            </a:prstGeom>
            <a:solidFill>
              <a:srgbClr val="D9DFEA"/>
            </a:solidFill>
            <a:ln>
              <a:noFill/>
            </a:ln>
          </p:spPr>
        </p:sp>
        <p:sp>
          <p:nvSpPr>
            <p:cNvPr id="61" name="Rectangle 61"/>
            <p:cNvSpPr/>
            <p:nvPr/>
          </p:nvSpPr>
          <p:spPr>
            <a:xfrm>
              <a:off x="6464618" y="2499360"/>
              <a:ext cx="5193982" cy="487680"/>
            </a:xfrm>
            <a:prstGeom prst="rect">
              <a:avLst/>
            </a:prstGeom>
            <a:solidFill>
              <a:srgbClr val="F4F6FB"/>
            </a:solidFill>
            <a:ln>
              <a:noFill/>
            </a:ln>
          </p:spPr>
        </p:sp>
        <p:sp>
          <p:nvSpPr>
            <p:cNvPr id="62" name="TextBox 62"/>
            <p:cNvSpPr txBox="1"/>
            <p:nvPr/>
          </p:nvSpPr>
          <p:spPr>
            <a:xfrm>
              <a:off x="6571298" y="2638425"/>
              <a:ext cx="1071372" cy="293370"/>
            </a:xfrm>
            <a:prstGeom prst="rect">
              <a:avLst/>
            </a:prstGeom>
            <a:noFill/>
            <a:ln>
              <a:noFill/>
            </a:ln>
          </p:spPr>
          <p:txBody>
            <a:bodyPr wrap="none" lIns="0" tIns="0" rIns="0" bIns="0" anchor="t" anchorCtr="0">
              <a:spAutoFit/>
            </a:bodyPr>
            <a:lstStyle/>
            <a:p>
              <a:pPr algn="l"/>
              <a:r>
                <a:rPr lang="en-US" sz="1500" b="1" dirty="0">
                  <a:solidFill>
                    <a:srgbClr val="1F2937"/>
                  </a:solidFill>
                  <a:latin typeface="+mn-lt"/>
                  <a:ea typeface="+mn-ea"/>
                  <a:cs typeface="+mn-cs"/>
                </a:rPr>
                <a:t>Gustafson</a:t>
              </a:r>
            </a:p>
          </p:txBody>
        </p:sp>
        <p:sp>
          <p:nvSpPr>
            <p:cNvPr id="63" name="TextBox 63"/>
            <p:cNvSpPr txBox="1"/>
            <p:nvPr/>
          </p:nvSpPr>
          <p:spPr>
            <a:xfrm>
              <a:off x="8287322" y="2638425"/>
              <a:ext cx="459486" cy="293370"/>
            </a:xfrm>
            <a:prstGeom prst="rect">
              <a:avLst/>
            </a:prstGeom>
            <a:noFill/>
            <a:ln>
              <a:noFill/>
            </a:ln>
          </p:spPr>
          <p:txBody>
            <a:bodyPr wrap="none" lIns="0" tIns="0" rIns="0" bIns="0" anchor="t" anchorCtr="0">
              <a:spAutoFit/>
            </a:bodyPr>
            <a:lstStyle/>
            <a:p>
              <a:pPr algn="r"/>
              <a:r>
                <a:rPr lang="zh-CN" sz="1500" dirty="0">
                  <a:solidFill>
                    <a:srgbClr val="1F2937"/>
                  </a:solidFill>
                  <a:latin typeface="+mn-lt"/>
                  <a:ea typeface="+mn-ea"/>
                  <a:cs typeface="+mn-cs"/>
                </a:rPr>
                <a:t>60.9</a:t>
              </a:r>
            </a:p>
          </p:txBody>
        </p:sp>
        <p:sp>
          <p:nvSpPr>
            <p:cNvPr id="64" name="TextBox 64"/>
            <p:cNvSpPr txBox="1"/>
            <p:nvPr/>
          </p:nvSpPr>
          <p:spPr>
            <a:xfrm>
              <a:off x="9293352" y="2638425"/>
              <a:ext cx="388810" cy="293370"/>
            </a:xfrm>
            <a:prstGeom prst="rect">
              <a:avLst/>
            </a:prstGeom>
            <a:noFill/>
            <a:ln>
              <a:noFill/>
            </a:ln>
          </p:spPr>
          <p:txBody>
            <a:bodyPr wrap="none" lIns="0" tIns="0" rIns="0" bIns="0" anchor="t" anchorCtr="0">
              <a:spAutoFit/>
            </a:bodyPr>
            <a:lstStyle/>
            <a:p>
              <a:pPr algn="r"/>
              <a:r>
                <a:rPr lang="zh-CN" sz="1500" dirty="0">
                  <a:solidFill>
                    <a:srgbClr val="1F2937"/>
                  </a:solidFill>
                  <a:latin typeface="+mn-lt"/>
                  <a:ea typeface="+mn-ea"/>
                  <a:cs typeface="+mn-cs"/>
                </a:rPr>
                <a:t>95%</a:t>
              </a:r>
            </a:p>
          </p:txBody>
        </p:sp>
        <p:sp>
          <p:nvSpPr>
            <p:cNvPr id="65" name="TextBox 65"/>
            <p:cNvSpPr txBox="1"/>
            <p:nvPr/>
          </p:nvSpPr>
          <p:spPr>
            <a:xfrm>
              <a:off x="9895522" y="2638425"/>
              <a:ext cx="964311"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放大 64 倍</a:t>
              </a:r>
            </a:p>
          </p:txBody>
        </p:sp>
        <p:sp>
          <p:nvSpPr>
            <p:cNvPr id="66" name="Rectangle 66"/>
            <p:cNvSpPr/>
            <p:nvPr/>
          </p:nvSpPr>
          <p:spPr>
            <a:xfrm>
              <a:off x="6464618" y="2982278"/>
              <a:ext cx="5193982" cy="9525"/>
            </a:xfrm>
            <a:prstGeom prst="rect">
              <a:avLst/>
            </a:prstGeom>
            <a:solidFill>
              <a:srgbClr val="D9DFEA"/>
            </a:solidFill>
            <a:ln>
              <a:noFill/>
            </a:ln>
          </p:spPr>
        </p:sp>
        <p:sp>
          <p:nvSpPr>
            <p:cNvPr id="67" name="TextBox 67"/>
            <p:cNvSpPr txBox="1"/>
            <p:nvPr/>
          </p:nvSpPr>
          <p:spPr>
            <a:xfrm>
              <a:off x="6571298" y="3126105"/>
              <a:ext cx="806659" cy="293370"/>
            </a:xfrm>
            <a:prstGeom prst="rect">
              <a:avLst/>
            </a:prstGeom>
            <a:noFill/>
            <a:ln>
              <a:noFill/>
            </a:ln>
          </p:spPr>
          <p:txBody>
            <a:bodyPr wrap="none" lIns="0" tIns="0" rIns="0" bIns="0" anchor="t" anchorCtr="0">
              <a:spAutoFit/>
            </a:bodyPr>
            <a:lstStyle/>
            <a:p>
              <a:pPr algn="l"/>
              <a:r>
                <a:rPr lang="en-US" sz="1500" b="1" dirty="0">
                  <a:solidFill>
                    <a:srgbClr val="1F2937"/>
                  </a:solidFill>
                  <a:latin typeface="+mn-lt"/>
                  <a:ea typeface="+mn-ea"/>
                  <a:cs typeface="+mn-cs"/>
                </a:rPr>
                <a:t>Sun &amp; Ni</a:t>
              </a:r>
            </a:p>
          </p:txBody>
        </p:sp>
        <p:sp>
          <p:nvSpPr>
            <p:cNvPr id="68" name="Rectangle 68"/>
            <p:cNvSpPr/>
            <p:nvPr/>
          </p:nvSpPr>
          <p:spPr>
            <a:xfrm>
              <a:off x="7824788" y="2996565"/>
              <a:ext cx="1020128" cy="468630"/>
            </a:xfrm>
            <a:prstGeom prst="rect">
              <a:avLst/>
            </a:prstGeom>
            <a:solidFill>
              <a:srgbClr val="E3F5F1"/>
            </a:solidFill>
            <a:ln>
              <a:noFill/>
            </a:ln>
          </p:spPr>
        </p:sp>
        <p:sp>
          <p:nvSpPr>
            <p:cNvPr id="69" name="TextBox 69"/>
            <p:cNvSpPr txBox="1"/>
            <p:nvPr/>
          </p:nvSpPr>
          <p:spPr>
            <a:xfrm>
              <a:off x="8287322" y="3126105"/>
              <a:ext cx="459486" cy="293370"/>
            </a:xfrm>
            <a:prstGeom prst="rect">
              <a:avLst/>
            </a:prstGeom>
            <a:noFill/>
            <a:ln>
              <a:noFill/>
            </a:ln>
          </p:spPr>
          <p:txBody>
            <a:bodyPr wrap="none" lIns="0" tIns="0" rIns="0" bIns="0" anchor="t" anchorCtr="0">
              <a:spAutoFit/>
            </a:bodyPr>
            <a:lstStyle/>
            <a:p>
              <a:pPr algn="r"/>
              <a:r>
                <a:rPr lang="zh-CN" sz="1500" dirty="0">
                  <a:solidFill>
                    <a:srgbClr val="1F2937"/>
                  </a:solidFill>
                  <a:latin typeface="+mn-lt"/>
                  <a:ea typeface="+mn-ea"/>
                  <a:cs typeface="+mn-cs"/>
                </a:rPr>
                <a:t>63.6</a:t>
              </a:r>
            </a:p>
          </p:txBody>
        </p:sp>
        <p:sp>
          <p:nvSpPr>
            <p:cNvPr id="70" name="TextBox 70"/>
            <p:cNvSpPr txBox="1"/>
            <p:nvPr/>
          </p:nvSpPr>
          <p:spPr>
            <a:xfrm>
              <a:off x="9293352" y="3126105"/>
              <a:ext cx="388810" cy="293370"/>
            </a:xfrm>
            <a:prstGeom prst="rect">
              <a:avLst/>
            </a:prstGeom>
            <a:noFill/>
            <a:ln>
              <a:noFill/>
            </a:ln>
          </p:spPr>
          <p:txBody>
            <a:bodyPr wrap="none" lIns="0" tIns="0" rIns="0" bIns="0" anchor="t" anchorCtr="0">
              <a:spAutoFit/>
            </a:bodyPr>
            <a:lstStyle/>
            <a:p>
              <a:pPr algn="r"/>
              <a:r>
                <a:rPr lang="zh-CN" sz="1500" dirty="0">
                  <a:solidFill>
                    <a:srgbClr val="1F2937"/>
                  </a:solidFill>
                  <a:latin typeface="+mn-lt"/>
                  <a:ea typeface="+mn-ea"/>
                  <a:cs typeface="+mn-cs"/>
                </a:rPr>
                <a:t>99%</a:t>
              </a:r>
            </a:p>
          </p:txBody>
        </p:sp>
        <p:sp>
          <p:nvSpPr>
            <p:cNvPr id="71" name="TextBox 71"/>
            <p:cNvSpPr txBox="1"/>
            <p:nvPr/>
          </p:nvSpPr>
          <p:spPr>
            <a:xfrm>
              <a:off x="9895522" y="3126105"/>
              <a:ext cx="1075372"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放大 512 倍</a:t>
              </a:r>
            </a:p>
          </p:txBody>
        </p:sp>
        <p:sp>
          <p:nvSpPr>
            <p:cNvPr id="72" name="Rectangle 72"/>
            <p:cNvSpPr/>
            <p:nvPr/>
          </p:nvSpPr>
          <p:spPr>
            <a:xfrm>
              <a:off x="6464618" y="1524000"/>
              <a:ext cx="5193982" cy="1950720"/>
            </a:xfrm>
            <a:prstGeom prst="rect">
              <a:avLst/>
            </a:prstGeom>
            <a:noFill/>
            <a:ln w="14288">
              <a:solidFill>
                <a:srgbClr val="D9DFEA"/>
              </a:solidFill>
            </a:ln>
          </p:spPr>
        </p:sp>
        <p:sp>
          <p:nvSpPr>
            <p:cNvPr id="73" name="Rectangle 73"/>
            <p:cNvSpPr/>
            <p:nvPr/>
          </p:nvSpPr>
          <p:spPr>
            <a:xfrm>
              <a:off x="7810500" y="1524000"/>
              <a:ext cx="9525" cy="1950720"/>
            </a:xfrm>
            <a:prstGeom prst="rect">
              <a:avLst/>
            </a:prstGeom>
            <a:solidFill>
              <a:srgbClr val="D9DFEA"/>
            </a:solidFill>
            <a:ln>
              <a:noFill/>
            </a:ln>
          </p:spPr>
        </p:sp>
        <p:sp>
          <p:nvSpPr>
            <p:cNvPr id="74" name="Rectangle 74"/>
            <p:cNvSpPr/>
            <p:nvPr/>
          </p:nvSpPr>
          <p:spPr>
            <a:xfrm>
              <a:off x="8848725" y="1524000"/>
              <a:ext cx="9525" cy="1950720"/>
            </a:xfrm>
            <a:prstGeom prst="rect">
              <a:avLst/>
            </a:prstGeom>
            <a:solidFill>
              <a:srgbClr val="D9DFEA"/>
            </a:solidFill>
            <a:ln>
              <a:noFill/>
            </a:ln>
          </p:spPr>
        </p:sp>
        <p:sp>
          <p:nvSpPr>
            <p:cNvPr id="75" name="Rectangle 75"/>
            <p:cNvSpPr/>
            <p:nvPr/>
          </p:nvSpPr>
          <p:spPr>
            <a:xfrm>
              <a:off x="9784080" y="1524000"/>
              <a:ext cx="9525" cy="1950720"/>
            </a:xfrm>
            <a:prstGeom prst="rect">
              <a:avLst/>
            </a:prstGeom>
            <a:solidFill>
              <a:srgbClr val="D9DFEA"/>
            </a:solidFill>
            <a:ln>
              <a:noFill/>
            </a:ln>
          </p:spPr>
        </p:sp>
      </p:grpSp>
      <p:grpSp>
        <p:nvGrpSpPr>
          <p:cNvPr id="81" name="c2-card-2"/>
          <p:cNvGrpSpPr/>
          <p:nvPr/>
        </p:nvGrpSpPr>
        <p:grpSpPr>
          <a:xfrm>
            <a:off x="6464618" y="3665220"/>
            <a:ext cx="5193982" cy="1992630"/>
            <a:chOff x="6464618" y="3665220"/>
            <a:chExt cx="5193982" cy="1992630"/>
          </a:xfrm>
        </p:grpSpPr>
        <p:sp>
          <p:nvSpPr>
            <p:cNvPr id="77" name="Rectangle 77"/>
            <p:cNvSpPr/>
            <p:nvPr/>
          </p:nvSpPr>
          <p:spPr>
            <a:xfrm>
              <a:off x="6464618" y="3665220"/>
              <a:ext cx="5193982" cy="1992630"/>
            </a:xfrm>
            <a:prstGeom prst="roundRect">
              <a:avLst>
                <a:gd name="adj" fmla="val 6692"/>
              </a:avLst>
            </a:prstGeom>
            <a:solidFill>
              <a:srgbClr val="334E68"/>
            </a:solidFill>
            <a:ln>
              <a:noFill/>
            </a:ln>
          </p:spPr>
        </p:sp>
        <p:sp>
          <p:nvSpPr>
            <p:cNvPr id="78" name="Rectangle 78"/>
            <p:cNvSpPr/>
            <p:nvPr/>
          </p:nvSpPr>
          <p:spPr>
            <a:xfrm>
              <a:off x="6674168" y="3874770"/>
              <a:ext cx="778192" cy="257175"/>
            </a:xfrm>
            <a:prstGeom prst="roundRect">
              <a:avLst>
                <a:gd name="adj" fmla="val 50000"/>
              </a:avLst>
            </a:prstGeom>
            <a:solidFill>
              <a:srgbClr val="243B53"/>
            </a:solidFill>
            <a:ln>
              <a:noFill/>
            </a:ln>
          </p:spPr>
        </p:sp>
        <p:sp>
          <p:nvSpPr>
            <p:cNvPr id="79" name="TextBox 79"/>
            <p:cNvSpPr txBox="1"/>
            <p:nvPr/>
          </p:nvSpPr>
          <p:spPr>
            <a:xfrm>
              <a:off x="6756476" y="3910489"/>
              <a:ext cx="614528"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怎样理解</a:t>
              </a:r>
            </a:p>
          </p:txBody>
        </p:sp>
        <p:sp>
          <p:nvSpPr>
            <p:cNvPr id="80" name="TextBox 80"/>
            <p:cNvSpPr txBox="1"/>
            <p:nvPr/>
          </p:nvSpPr>
          <p:spPr>
            <a:xfrm>
              <a:off x="6666548" y="4251960"/>
              <a:ext cx="4587240" cy="864870"/>
            </a:xfrm>
            <a:prstGeom prst="rect">
              <a:avLst/>
            </a:prstGeom>
            <a:noFill/>
            <a:ln>
              <a:noFill/>
            </a:ln>
          </p:spPr>
          <p:txBody>
            <a:bodyPr wrap="none" lIns="0" tIns="0" rIns="0" bIns="0" anchor="t" anchorCtr="0">
              <a:spAutoFit/>
            </a:bodyPr>
            <a:lstStyle/>
            <a:p>
              <a:pPr algn="l">
                <a:lnSpc>
                  <a:spcPts val="2250"/>
                </a:lnSpc>
              </a:pPr>
              <a:r>
                <a:rPr lang="zh-CN" sz="1500" dirty="0">
                  <a:solidFill>
                    <a:srgbClr val="FFFFFF"/>
                  </a:solidFill>
                  <a:latin typeface="+mn-lt"/>
                  <a:ea typeface="+mn-ea"/>
                  <a:cs typeface="+mn-cs"/>
                </a:rPr>
                <a:t>三个数字回答的是不同问题：Amdahl 问同一道题快了</a:t>
              </a:r>
              <a:br/>
              <a:r>
                <a:rPr lang="zh-CN" sz="1500" dirty="0">
                  <a:solidFill>
                    <a:srgbClr val="FFFFFF"/>
                  </a:solidFill>
                  <a:latin typeface="+mn-lt"/>
                  <a:ea typeface="+mn-ea"/>
                  <a:cs typeface="+mn-cs"/>
                </a:rPr>
                <a:t>多少，后两个问同样时间或同样存储能做多大的题。做</a:t>
              </a:r>
              <a:br/>
              <a:r>
                <a:rPr lang="zh-CN" sz="1500" dirty="0">
                  <a:solidFill>
                    <a:srgbClr val="FFFFFF"/>
                  </a:solidFill>
                  <a:latin typeface="+mn-lt"/>
                  <a:ea typeface="+mn-ea"/>
                  <a:cs typeface="+mn-cs"/>
                </a:rPr>
                <a:t>题时先弄清题目固定的是什么，再选公式。</a:t>
              </a:r>
            </a:p>
          </p:txBody>
        </p:sp>
      </p:grpSp>
      <p:grpSp>
        <p:nvGrpSpPr>
          <p:cNvPr id="84" name="footer"/>
          <p:cNvGrpSpPr/>
          <p:nvPr/>
        </p:nvGrpSpPr>
        <p:grpSpPr>
          <a:xfrm>
            <a:off x="528447" y="6581299"/>
            <a:ext cx="11135106" cy="190690"/>
            <a:chOff x="528447" y="6581299"/>
            <a:chExt cx="11135106" cy="190690"/>
          </a:xfrm>
        </p:grpSpPr>
        <p:sp>
          <p:nvSpPr>
            <p:cNvPr id="82" name="TextBox 82"/>
            <p:cNvSpPr txBox="1"/>
            <p:nvPr/>
          </p:nvSpPr>
          <p:spPr>
            <a:xfrm>
              <a:off x="528447" y="6581299"/>
              <a:ext cx="2120748"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并行与分布式计算 · 第7章 体系结构</a:t>
              </a:r>
            </a:p>
          </p:txBody>
        </p:sp>
        <p:sp>
          <p:nvSpPr>
            <p:cNvPr id="83" name="TextBox 83"/>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67</a:t>
              </a:r>
            </a:p>
          </p:txBody>
        </p:sp>
      </p:grpSp>
    </p:spTree>
  </p:cSld>
  <p:clrMapOvr>
    <a:masterClrMapping/>
  </p:clrMapOvr>
  <p:transition xmlns:p14="http://schemas.microsoft.com/office/powerpoint/2010/main" p14:dur="400">
    <p:fade/>
  </p:transition>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6548247" cy="909257"/>
            <a:chOff x="520446" y="342900"/>
            <a:chExt cx="6548247" cy="909257"/>
          </a:xfrm>
        </p:grpSpPr>
        <p:sp>
          <p:nvSpPr>
            <p:cNvPr id="2" name="Rectangle 2"/>
            <p:cNvSpPr/>
            <p:nvPr/>
          </p:nvSpPr>
          <p:spPr>
            <a:xfrm>
              <a:off x="533400" y="342900"/>
              <a:ext cx="1987868" cy="266700"/>
            </a:xfrm>
            <a:prstGeom prst="roundRect">
              <a:avLst>
                <a:gd name="adj" fmla="val 50000"/>
              </a:avLst>
            </a:prstGeom>
            <a:solidFill>
              <a:srgbClr val="E7EDF3"/>
            </a:solidFill>
            <a:ln>
              <a:noFill/>
            </a:ln>
          </p:spPr>
        </p:sp>
        <p:sp>
          <p:nvSpPr>
            <p:cNvPr id="3" name="TextBox 3"/>
            <p:cNvSpPr txBox="1"/>
            <p:nvPr/>
          </p:nvSpPr>
          <p:spPr>
            <a:xfrm>
              <a:off x="608957" y="407194"/>
              <a:ext cx="1835800"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第7章 体系结构 · 性能评测</a:t>
              </a:r>
            </a:p>
          </p:txBody>
        </p:sp>
        <p:sp>
          <p:nvSpPr>
            <p:cNvPr id="4" name="TextBox 4"/>
            <p:cNvSpPr txBox="1"/>
            <p:nvPr/>
          </p:nvSpPr>
          <p:spPr>
            <a:xfrm>
              <a:off x="520446" y="753428"/>
              <a:ext cx="6548247"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加速等级、超线性加速与影响加速比的因素</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15" name="c1-kv-1"/>
          <p:cNvGrpSpPr/>
          <p:nvPr/>
        </p:nvGrpSpPr>
        <p:grpSpPr>
          <a:xfrm>
            <a:off x="526161" y="1547336"/>
            <a:ext cx="5417439" cy="1657922"/>
            <a:chOff x="526161" y="1547336"/>
            <a:chExt cx="5417439" cy="1657922"/>
          </a:xfrm>
        </p:grpSpPr>
        <p:sp>
          <p:nvSpPr>
            <p:cNvPr id="7" name="TextBox 7"/>
            <p:cNvSpPr txBox="1"/>
            <p:nvPr/>
          </p:nvSpPr>
          <p:spPr>
            <a:xfrm>
              <a:off x="526161" y="1547336"/>
              <a:ext cx="779120" cy="278702"/>
            </a:xfrm>
            <a:prstGeom prst="rect">
              <a:avLst/>
            </a:prstGeom>
            <a:noFill/>
            <a:ln>
              <a:noFill/>
            </a:ln>
          </p:spPr>
          <p:txBody>
            <a:bodyPr wrap="none" lIns="0" tIns="0" rIns="0" bIns="0" anchor="t" anchorCtr="0">
              <a:spAutoFit/>
            </a:bodyPr>
            <a:lstStyle/>
            <a:p>
              <a:pPr algn="l"/>
              <a:r>
                <a:rPr lang="zh-CN" sz="1420" b="1" dirty="0">
                  <a:solidFill>
                    <a:srgbClr val="334E68"/>
                  </a:solidFill>
                  <a:latin typeface="+mn-lt"/>
                  <a:ea typeface="+mn-ea"/>
                  <a:cs typeface="+mn-cs"/>
                </a:rPr>
                <a:t>绝对加速</a:t>
              </a:r>
            </a:p>
          </p:txBody>
        </p:sp>
        <p:sp>
          <p:nvSpPr>
            <p:cNvPr id="8" name="TextBox 8"/>
            <p:cNvSpPr txBox="1"/>
            <p:nvPr/>
          </p:nvSpPr>
          <p:spPr>
            <a:xfrm>
              <a:off x="1712976" y="1547336"/>
              <a:ext cx="3828669" cy="546354"/>
            </a:xfrm>
            <a:prstGeom prst="rect">
              <a:avLst/>
            </a:prstGeom>
            <a:noFill/>
            <a:ln>
              <a:noFill/>
            </a:ln>
          </p:spPr>
          <p:txBody>
            <a:bodyPr wrap="none" lIns="0" tIns="0" rIns="0" bIns="0" anchor="t" anchorCtr="0">
              <a:spAutoFit/>
            </a:bodyPr>
            <a:lstStyle/>
            <a:p>
              <a:pPr algn="l">
                <a:lnSpc>
                  <a:spcPts val="2108"/>
                </a:lnSpc>
              </a:pPr>
              <a:r>
                <a:rPr lang="zh-CN" sz="1420" dirty="0">
                  <a:solidFill>
                    <a:srgbClr val="1F2937"/>
                  </a:solidFill>
                  <a:latin typeface="+mn-lt"/>
                  <a:ea typeface="+mn-ea"/>
                  <a:cs typeface="+mn-cs"/>
                </a:rPr>
                <a:t>最佳串行算法所用时间 ÷ 同一问题并行算法所用</a:t>
              </a:r>
              <a:br/>
              <a:r>
                <a:rPr lang="zh-CN" sz="1420" dirty="0">
                  <a:solidFill>
                    <a:srgbClr val="1F2937"/>
                  </a:solidFill>
                  <a:latin typeface="+mn-lt"/>
                  <a:ea typeface="+mn-ea"/>
                  <a:cs typeface="+mn-cs"/>
                </a:rPr>
                <a:t>时间</a:t>
              </a:r>
            </a:p>
          </p:txBody>
        </p:sp>
        <p:sp>
          <p:nvSpPr>
            <p:cNvPr id="9" name="Rectangle 9"/>
            <p:cNvSpPr/>
            <p:nvPr/>
          </p:nvSpPr>
          <p:spPr>
            <a:xfrm>
              <a:off x="533400" y="2121218"/>
              <a:ext cx="5410200" cy="9525"/>
            </a:xfrm>
            <a:prstGeom prst="rect">
              <a:avLst/>
            </a:prstGeom>
            <a:solidFill>
              <a:srgbClr val="D9DFEA"/>
            </a:solidFill>
            <a:ln>
              <a:noFill/>
            </a:ln>
          </p:spPr>
        </p:sp>
        <p:sp>
          <p:nvSpPr>
            <p:cNvPr id="10" name="TextBox 10"/>
            <p:cNvSpPr txBox="1"/>
            <p:nvPr/>
          </p:nvSpPr>
          <p:spPr>
            <a:xfrm>
              <a:off x="526161" y="2236946"/>
              <a:ext cx="779120" cy="278702"/>
            </a:xfrm>
            <a:prstGeom prst="rect">
              <a:avLst/>
            </a:prstGeom>
            <a:noFill/>
            <a:ln>
              <a:noFill/>
            </a:ln>
          </p:spPr>
          <p:txBody>
            <a:bodyPr wrap="none" lIns="0" tIns="0" rIns="0" bIns="0" anchor="t" anchorCtr="0">
              <a:spAutoFit/>
            </a:bodyPr>
            <a:lstStyle/>
            <a:p>
              <a:pPr algn="l"/>
              <a:r>
                <a:rPr lang="zh-CN" sz="1420" b="1" dirty="0">
                  <a:solidFill>
                    <a:srgbClr val="334E68"/>
                  </a:solidFill>
                  <a:latin typeface="+mn-lt"/>
                  <a:ea typeface="+mn-ea"/>
                  <a:cs typeface="+mn-cs"/>
                </a:rPr>
                <a:t>相对加速</a:t>
              </a:r>
            </a:p>
          </p:txBody>
        </p:sp>
        <p:sp>
          <p:nvSpPr>
            <p:cNvPr id="11" name="TextBox 11"/>
            <p:cNvSpPr txBox="1"/>
            <p:nvPr/>
          </p:nvSpPr>
          <p:spPr>
            <a:xfrm>
              <a:off x="1712976" y="2236946"/>
              <a:ext cx="3828669" cy="546354"/>
            </a:xfrm>
            <a:prstGeom prst="rect">
              <a:avLst/>
            </a:prstGeom>
            <a:noFill/>
            <a:ln>
              <a:noFill/>
            </a:ln>
          </p:spPr>
          <p:txBody>
            <a:bodyPr wrap="none" lIns="0" tIns="0" rIns="0" bIns="0" anchor="t" anchorCtr="0">
              <a:spAutoFit/>
            </a:bodyPr>
            <a:lstStyle/>
            <a:p>
              <a:pPr algn="l">
                <a:lnSpc>
                  <a:spcPts val="2108"/>
                </a:lnSpc>
              </a:pPr>
              <a:r>
                <a:rPr lang="zh-CN" sz="1420" dirty="0">
                  <a:solidFill>
                    <a:srgbClr val="1F2937"/>
                  </a:solidFill>
                  <a:latin typeface="+mn-lt"/>
                  <a:ea typeface="+mn-ea"/>
                  <a:cs typeface="+mn-cs"/>
                </a:rPr>
                <a:t>同一算法在单处理机上的运行时间 ÷ 在多处理机</a:t>
              </a:r>
              <a:br/>
              <a:r>
                <a:rPr lang="zh-CN" sz="1420" dirty="0">
                  <a:solidFill>
                    <a:srgbClr val="1F2937"/>
                  </a:solidFill>
                  <a:latin typeface="+mn-lt"/>
                  <a:ea typeface="+mn-ea"/>
                  <a:cs typeface="+mn-cs"/>
                </a:rPr>
                <a:t>上的运行时间</a:t>
              </a:r>
            </a:p>
          </p:txBody>
        </p:sp>
        <p:sp>
          <p:nvSpPr>
            <p:cNvPr id="12" name="Rectangle 12"/>
            <p:cNvSpPr/>
            <p:nvPr/>
          </p:nvSpPr>
          <p:spPr>
            <a:xfrm>
              <a:off x="533400" y="2810828"/>
              <a:ext cx="5410200" cy="9525"/>
            </a:xfrm>
            <a:prstGeom prst="rect">
              <a:avLst/>
            </a:prstGeom>
            <a:solidFill>
              <a:srgbClr val="D9DFEA"/>
            </a:solidFill>
            <a:ln>
              <a:noFill/>
            </a:ln>
          </p:spPr>
        </p:sp>
        <p:sp>
          <p:nvSpPr>
            <p:cNvPr id="13" name="TextBox 13"/>
            <p:cNvSpPr txBox="1"/>
            <p:nvPr/>
          </p:nvSpPr>
          <p:spPr>
            <a:xfrm>
              <a:off x="526161" y="2926556"/>
              <a:ext cx="970280" cy="278702"/>
            </a:xfrm>
            <a:prstGeom prst="rect">
              <a:avLst/>
            </a:prstGeom>
            <a:noFill/>
            <a:ln>
              <a:noFill/>
            </a:ln>
          </p:spPr>
          <p:txBody>
            <a:bodyPr wrap="none" lIns="0" tIns="0" rIns="0" bIns="0" anchor="t" anchorCtr="0">
              <a:spAutoFit/>
            </a:bodyPr>
            <a:lstStyle/>
            <a:p>
              <a:pPr algn="l"/>
              <a:r>
                <a:rPr lang="zh-CN" sz="1420" b="1" dirty="0">
                  <a:solidFill>
                    <a:srgbClr val="334E68"/>
                  </a:solidFill>
                  <a:latin typeface="+mn-lt"/>
                  <a:ea typeface="+mn-ea"/>
                  <a:cs typeface="+mn-cs"/>
                </a:rPr>
                <a:t>超线性加速</a:t>
              </a:r>
            </a:p>
          </p:txBody>
        </p:sp>
        <p:sp>
          <p:nvSpPr>
            <p:cNvPr id="14" name="TextBox 14"/>
            <p:cNvSpPr txBox="1"/>
            <p:nvPr/>
          </p:nvSpPr>
          <p:spPr>
            <a:xfrm>
              <a:off x="1712976" y="2926556"/>
              <a:ext cx="3094685"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特殊条件下加速比 S 大于处理器数 N</a:t>
              </a:r>
            </a:p>
          </p:txBody>
        </p:sp>
      </p:grpSp>
      <p:grpSp>
        <p:nvGrpSpPr>
          <p:cNvPr id="24" name="c1-card-2"/>
          <p:cNvGrpSpPr/>
          <p:nvPr/>
        </p:nvGrpSpPr>
        <p:grpSpPr>
          <a:xfrm>
            <a:off x="533400" y="3334702"/>
            <a:ext cx="5410200" cy="2603182"/>
            <a:chOff x="533400" y="3334702"/>
            <a:chExt cx="5410200" cy="2603182"/>
          </a:xfrm>
        </p:grpSpPr>
        <p:sp>
          <p:nvSpPr>
            <p:cNvPr id="16" name="Rectangle 16"/>
            <p:cNvSpPr/>
            <p:nvPr/>
          </p:nvSpPr>
          <p:spPr>
            <a:xfrm>
              <a:off x="533400" y="3334702"/>
              <a:ext cx="5410200" cy="2603182"/>
            </a:xfrm>
            <a:prstGeom prst="roundRect">
              <a:avLst>
                <a:gd name="adj" fmla="val 5123"/>
              </a:avLst>
            </a:prstGeom>
            <a:solidFill>
              <a:srgbClr val="FFFFFF"/>
            </a:solidFill>
            <a:ln w="14288">
              <a:solidFill>
                <a:srgbClr val="D9DFEA"/>
              </a:solidFill>
            </a:ln>
          </p:spPr>
        </p:sp>
        <p:sp>
          <p:nvSpPr>
            <p:cNvPr id="17" name="Rectangle 17"/>
            <p:cNvSpPr/>
            <p:nvPr/>
          </p:nvSpPr>
          <p:spPr>
            <a:xfrm>
              <a:off x="542925" y="3468052"/>
              <a:ext cx="47625" cy="2336482"/>
            </a:xfrm>
            <a:prstGeom prst="roundRect">
              <a:avLst>
                <a:gd name="adj" fmla="val 50000"/>
              </a:avLst>
            </a:prstGeom>
            <a:solidFill>
              <a:srgbClr val="14A38B"/>
            </a:solidFill>
            <a:ln>
              <a:noFill/>
            </a:ln>
          </p:spPr>
        </p:sp>
        <p:sp>
          <p:nvSpPr>
            <p:cNvPr id="18" name="Rectangle 18"/>
            <p:cNvSpPr/>
            <p:nvPr/>
          </p:nvSpPr>
          <p:spPr>
            <a:xfrm>
              <a:off x="775335" y="3538538"/>
              <a:ext cx="1631632" cy="257175"/>
            </a:xfrm>
            <a:prstGeom prst="roundRect">
              <a:avLst>
                <a:gd name="adj" fmla="val 50000"/>
              </a:avLst>
            </a:prstGeom>
            <a:solidFill>
              <a:srgbClr val="E3F5F1"/>
            </a:solidFill>
            <a:ln>
              <a:noFill/>
            </a:ln>
          </p:spPr>
        </p:sp>
        <p:sp>
          <p:nvSpPr>
            <p:cNvPr id="19" name="TextBox 19"/>
            <p:cNvSpPr txBox="1"/>
            <p:nvPr/>
          </p:nvSpPr>
          <p:spPr>
            <a:xfrm>
              <a:off x="832040" y="3574256"/>
              <a:ext cx="1519174" cy="220028"/>
            </a:xfrm>
            <a:prstGeom prst="rect">
              <a:avLst/>
            </a:prstGeom>
            <a:noFill/>
            <a:ln>
              <a:noFill/>
            </a:ln>
          </p:spPr>
          <p:txBody>
            <a:bodyPr wrap="none" lIns="0" tIns="0" rIns="0" bIns="0" anchor="t" anchorCtr="0">
              <a:spAutoFit/>
            </a:bodyPr>
            <a:lstStyle/>
            <a:p>
              <a:pPr algn="ctr"/>
              <a:r>
                <a:rPr lang="zh-CN" sz="1120" b="1" dirty="0">
                  <a:solidFill>
                    <a:srgbClr val="0F7A68"/>
                  </a:solidFill>
                  <a:latin typeface="+mn-lt"/>
                  <a:ea typeface="+mn-ea"/>
                  <a:cs typeface="+mn-cs"/>
                </a:rPr>
                <a:t>超线性加速的两个例子</a:t>
              </a:r>
            </a:p>
          </p:txBody>
        </p:sp>
        <p:sp>
          <p:nvSpPr>
            <p:cNvPr id="20" name="Ellipse 20"/>
            <p:cNvSpPr/>
            <p:nvPr/>
          </p:nvSpPr>
          <p:spPr>
            <a:xfrm>
              <a:off x="782955" y="3971925"/>
              <a:ext cx="60960" cy="60960"/>
            </a:xfrm>
            <a:prstGeom prst="ellipse">
              <a:avLst/>
            </a:prstGeom>
            <a:solidFill>
              <a:srgbClr val="334E68"/>
            </a:solidFill>
            <a:ln>
              <a:noFill/>
            </a:ln>
          </p:spPr>
        </p:sp>
        <p:sp>
          <p:nvSpPr>
            <p:cNvPr id="21" name="TextBox 21"/>
            <p:cNvSpPr txBox="1"/>
            <p:nvPr/>
          </p:nvSpPr>
          <p:spPr>
            <a:xfrm>
              <a:off x="939546" y="3911441"/>
              <a:ext cx="4522978" cy="550164"/>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并行搜索：各处理器搜不同分支，一个处理器很快找到最</a:t>
              </a:r>
              <a:br/>
              <a:r>
                <a:rPr lang="zh-CN" sz="1420" dirty="0">
                  <a:solidFill>
                    <a:srgbClr val="1F2937"/>
                  </a:solidFill>
                  <a:latin typeface="+mn-lt"/>
                  <a:ea typeface="+mn-ea"/>
                  <a:cs typeface="+mn-cs"/>
                </a:rPr>
                <a:t>优解，马上通知其他处理器停止，总工作量比串行搜索少</a:t>
              </a:r>
            </a:p>
          </p:txBody>
        </p:sp>
        <p:sp>
          <p:nvSpPr>
            <p:cNvPr id="22" name="Ellipse 22"/>
            <p:cNvSpPr/>
            <p:nvPr/>
          </p:nvSpPr>
          <p:spPr>
            <a:xfrm>
              <a:off x="782955" y="4563428"/>
              <a:ext cx="60960" cy="60960"/>
            </a:xfrm>
            <a:prstGeom prst="ellipse">
              <a:avLst/>
            </a:prstGeom>
            <a:solidFill>
              <a:srgbClr val="334E68"/>
            </a:solidFill>
            <a:ln>
              <a:noFill/>
            </a:ln>
          </p:spPr>
        </p:sp>
        <p:sp>
          <p:nvSpPr>
            <p:cNvPr id="23" name="TextBox 23"/>
            <p:cNvSpPr txBox="1"/>
            <p:nvPr/>
          </p:nvSpPr>
          <p:spPr>
            <a:xfrm>
              <a:off x="939546" y="4502944"/>
              <a:ext cx="4595114" cy="1093089"/>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Cache 效应：单处理器的 Cache 远小于滑动时空窗口，频</a:t>
              </a:r>
              <a:br/>
              <a:r>
                <a:rPr lang="zh-CN" sz="1420" dirty="0">
                  <a:solidFill>
                    <a:srgbClr val="1F2937"/>
                  </a:solidFill>
                  <a:latin typeface="+mn-lt"/>
                  <a:ea typeface="+mn-ea"/>
                  <a:cs typeface="+mn-cs"/>
                </a:rPr>
                <a:t>繁访问内存甚至硬盘；分到多个处理器后各 Cache 合成一</a:t>
              </a:r>
              <a:br/>
              <a:r>
                <a:rPr lang="zh-CN" sz="1420" dirty="0">
                  <a:solidFill>
                    <a:srgbClr val="1F2937"/>
                  </a:solidFill>
                  <a:latin typeface="+mn-lt"/>
                  <a:ea typeface="+mn-ea"/>
                  <a:cs typeface="+mn-cs"/>
                </a:rPr>
                <a:t>个大的逻辑 Cache，装得下窗口，省下的访存时间超过多</a:t>
              </a:r>
              <a:br/>
              <a:r>
                <a:rPr lang="zh-CN" sz="1420" dirty="0">
                  <a:solidFill>
                    <a:srgbClr val="1F2937"/>
                  </a:solidFill>
                  <a:latin typeface="+mn-lt"/>
                  <a:ea typeface="+mn-ea"/>
                  <a:cs typeface="+mn-cs"/>
                </a:rPr>
                <a:t>出来的通信开销</a:t>
              </a:r>
            </a:p>
          </p:txBody>
        </p:sp>
      </p:grpSp>
      <p:grpSp>
        <p:nvGrpSpPr>
          <p:cNvPr id="35" name="c2-card-1"/>
          <p:cNvGrpSpPr/>
          <p:nvPr/>
        </p:nvGrpSpPr>
        <p:grpSpPr>
          <a:xfrm>
            <a:off x="6248400" y="1524000"/>
            <a:ext cx="5410200" cy="1643062"/>
            <a:chOff x="6248400" y="1524000"/>
            <a:chExt cx="5410200" cy="1643062"/>
          </a:xfrm>
        </p:grpSpPr>
        <p:sp>
          <p:nvSpPr>
            <p:cNvPr id="25" name="Rectangle 25"/>
            <p:cNvSpPr/>
            <p:nvPr/>
          </p:nvSpPr>
          <p:spPr>
            <a:xfrm>
              <a:off x="6248400" y="1524000"/>
              <a:ext cx="5410200" cy="1643062"/>
            </a:xfrm>
            <a:prstGeom prst="roundRect">
              <a:avLst>
                <a:gd name="adj" fmla="val 8116"/>
              </a:avLst>
            </a:prstGeom>
            <a:solidFill>
              <a:srgbClr val="FFFFFF"/>
            </a:solidFill>
            <a:ln w="14288">
              <a:solidFill>
                <a:srgbClr val="D9DFEA"/>
              </a:solidFill>
            </a:ln>
          </p:spPr>
        </p:sp>
        <p:sp>
          <p:nvSpPr>
            <p:cNvPr id="26" name="Rectangle 26"/>
            <p:cNvSpPr/>
            <p:nvPr/>
          </p:nvSpPr>
          <p:spPr>
            <a:xfrm>
              <a:off x="6257925" y="1657350"/>
              <a:ext cx="47625" cy="1376362"/>
            </a:xfrm>
            <a:prstGeom prst="roundRect">
              <a:avLst>
                <a:gd name="adj" fmla="val 50000"/>
              </a:avLst>
            </a:prstGeom>
            <a:solidFill>
              <a:srgbClr val="B42318"/>
            </a:solidFill>
            <a:ln>
              <a:noFill/>
            </a:ln>
          </p:spPr>
        </p:sp>
        <p:sp>
          <p:nvSpPr>
            <p:cNvPr id="27" name="Rectangle 27"/>
            <p:cNvSpPr/>
            <p:nvPr/>
          </p:nvSpPr>
          <p:spPr>
            <a:xfrm>
              <a:off x="6490335" y="1727835"/>
              <a:ext cx="1347788" cy="257175"/>
            </a:xfrm>
            <a:prstGeom prst="roundRect">
              <a:avLst>
                <a:gd name="adj" fmla="val 50000"/>
              </a:avLst>
            </a:prstGeom>
            <a:solidFill>
              <a:srgbClr val="FDECEA"/>
            </a:solidFill>
            <a:ln>
              <a:noFill/>
            </a:ln>
          </p:spPr>
        </p:sp>
        <p:sp>
          <p:nvSpPr>
            <p:cNvPr id="28" name="TextBox 28"/>
            <p:cNvSpPr txBox="1"/>
            <p:nvPr/>
          </p:nvSpPr>
          <p:spPr>
            <a:xfrm>
              <a:off x="6554940" y="1763554"/>
              <a:ext cx="1217625" cy="220028"/>
            </a:xfrm>
            <a:prstGeom prst="rect">
              <a:avLst/>
            </a:prstGeom>
            <a:noFill/>
            <a:ln>
              <a:noFill/>
            </a:ln>
          </p:spPr>
          <p:txBody>
            <a:bodyPr wrap="none" lIns="0" tIns="0" rIns="0" bIns="0" anchor="t" anchorCtr="0">
              <a:spAutoFit/>
            </a:bodyPr>
            <a:lstStyle/>
            <a:p>
              <a:pPr algn="ctr"/>
              <a:r>
                <a:rPr lang="zh-CN" sz="1120" b="1" dirty="0">
                  <a:solidFill>
                    <a:srgbClr val="B42318"/>
                  </a:solidFill>
                  <a:latin typeface="+mn-lt"/>
                  <a:ea typeface="+mn-ea"/>
                  <a:cs typeface="+mn-cs"/>
                </a:rPr>
                <a:t>限制加速比的因素</a:t>
              </a:r>
            </a:p>
          </p:txBody>
        </p:sp>
        <p:sp>
          <p:nvSpPr>
            <p:cNvPr id="29" name="Ellipse 29"/>
            <p:cNvSpPr/>
            <p:nvPr/>
          </p:nvSpPr>
          <p:spPr>
            <a:xfrm>
              <a:off x="6497955" y="2161222"/>
              <a:ext cx="60960" cy="60960"/>
            </a:xfrm>
            <a:prstGeom prst="ellipse">
              <a:avLst/>
            </a:prstGeom>
            <a:solidFill>
              <a:srgbClr val="334E68"/>
            </a:solidFill>
            <a:ln>
              <a:noFill/>
            </a:ln>
          </p:spPr>
        </p:sp>
        <p:sp>
          <p:nvSpPr>
            <p:cNvPr id="30" name="TextBox 30"/>
            <p:cNvSpPr txBox="1"/>
            <p:nvPr/>
          </p:nvSpPr>
          <p:spPr>
            <a:xfrm>
              <a:off x="6654546" y="2100739"/>
              <a:ext cx="1926082"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求解问题中的串行分量</a:t>
              </a:r>
            </a:p>
          </p:txBody>
        </p:sp>
        <p:sp>
          <p:nvSpPr>
            <p:cNvPr id="31" name="Ellipse 31"/>
            <p:cNvSpPr/>
            <p:nvPr/>
          </p:nvSpPr>
          <p:spPr>
            <a:xfrm>
              <a:off x="6497955" y="2481262"/>
              <a:ext cx="60960" cy="60960"/>
            </a:xfrm>
            <a:prstGeom prst="ellipse">
              <a:avLst/>
            </a:prstGeom>
            <a:solidFill>
              <a:srgbClr val="334E68"/>
            </a:solidFill>
            <a:ln>
              <a:noFill/>
            </a:ln>
          </p:spPr>
        </p:sp>
        <p:sp>
          <p:nvSpPr>
            <p:cNvPr id="32" name="TextBox 32"/>
            <p:cNvSpPr txBox="1"/>
            <p:nvPr/>
          </p:nvSpPr>
          <p:spPr>
            <a:xfrm>
              <a:off x="6654546" y="2420779"/>
              <a:ext cx="4220007"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并行处理引起的额外开销：通信、等待、冗余操作</a:t>
              </a:r>
            </a:p>
          </p:txBody>
        </p:sp>
        <p:sp>
          <p:nvSpPr>
            <p:cNvPr id="33" name="Ellipse 33"/>
            <p:cNvSpPr/>
            <p:nvPr/>
          </p:nvSpPr>
          <p:spPr>
            <a:xfrm>
              <a:off x="6497955" y="2801302"/>
              <a:ext cx="60960" cy="60960"/>
            </a:xfrm>
            <a:prstGeom prst="ellipse">
              <a:avLst/>
            </a:prstGeom>
            <a:solidFill>
              <a:srgbClr val="334E68"/>
            </a:solidFill>
            <a:ln>
              <a:noFill/>
            </a:ln>
          </p:spPr>
        </p:sp>
        <p:sp>
          <p:nvSpPr>
            <p:cNvPr id="34" name="TextBox 34"/>
            <p:cNvSpPr txBox="1"/>
            <p:nvPr/>
          </p:nvSpPr>
          <p:spPr>
            <a:xfrm>
              <a:off x="6654546" y="2740819"/>
              <a:ext cx="2881884"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处理器数超过了算法中的并发程度</a:t>
              </a:r>
            </a:p>
          </p:txBody>
        </p:sp>
      </p:grpSp>
      <p:grpSp>
        <p:nvGrpSpPr>
          <p:cNvPr id="46" name="c2-card-2"/>
          <p:cNvGrpSpPr/>
          <p:nvPr/>
        </p:nvGrpSpPr>
        <p:grpSpPr>
          <a:xfrm>
            <a:off x="6248400" y="3352800"/>
            <a:ext cx="5410200" cy="1643062"/>
            <a:chOff x="6248400" y="3352800"/>
            <a:chExt cx="5410200" cy="1643062"/>
          </a:xfrm>
        </p:grpSpPr>
        <p:sp>
          <p:nvSpPr>
            <p:cNvPr id="36" name="Rectangle 36"/>
            <p:cNvSpPr/>
            <p:nvPr/>
          </p:nvSpPr>
          <p:spPr>
            <a:xfrm>
              <a:off x="6248400" y="3352800"/>
              <a:ext cx="5410200" cy="1643062"/>
            </a:xfrm>
            <a:prstGeom prst="roundRect">
              <a:avLst>
                <a:gd name="adj" fmla="val 8116"/>
              </a:avLst>
            </a:prstGeom>
            <a:solidFill>
              <a:srgbClr val="FFFFFF"/>
            </a:solidFill>
            <a:ln w="14288">
              <a:solidFill>
                <a:srgbClr val="D9DFEA"/>
              </a:solidFill>
            </a:ln>
          </p:spPr>
        </p:sp>
        <p:sp>
          <p:nvSpPr>
            <p:cNvPr id="37" name="Rectangle 37"/>
            <p:cNvSpPr/>
            <p:nvPr/>
          </p:nvSpPr>
          <p:spPr>
            <a:xfrm>
              <a:off x="6257925" y="3486150"/>
              <a:ext cx="47625" cy="1376362"/>
            </a:xfrm>
            <a:prstGeom prst="roundRect">
              <a:avLst>
                <a:gd name="adj" fmla="val 50000"/>
              </a:avLst>
            </a:prstGeom>
            <a:solidFill>
              <a:srgbClr val="14A38B"/>
            </a:solidFill>
            <a:ln>
              <a:noFill/>
            </a:ln>
          </p:spPr>
        </p:sp>
        <p:sp>
          <p:nvSpPr>
            <p:cNvPr id="38" name="Rectangle 38"/>
            <p:cNvSpPr/>
            <p:nvPr/>
          </p:nvSpPr>
          <p:spPr>
            <a:xfrm>
              <a:off x="6490335" y="3556635"/>
              <a:ext cx="2201228" cy="257175"/>
            </a:xfrm>
            <a:prstGeom prst="roundRect">
              <a:avLst>
                <a:gd name="adj" fmla="val 50000"/>
              </a:avLst>
            </a:prstGeom>
            <a:solidFill>
              <a:srgbClr val="E3F5F1"/>
            </a:solidFill>
            <a:ln>
              <a:noFill/>
            </a:ln>
          </p:spPr>
        </p:sp>
        <p:sp>
          <p:nvSpPr>
            <p:cNvPr id="39" name="TextBox 39"/>
            <p:cNvSpPr txBox="1"/>
            <p:nvPr/>
          </p:nvSpPr>
          <p:spPr>
            <a:xfrm>
              <a:off x="6529337" y="3592354"/>
              <a:ext cx="2122272" cy="220028"/>
            </a:xfrm>
            <a:prstGeom prst="rect">
              <a:avLst/>
            </a:prstGeom>
            <a:noFill/>
            <a:ln>
              <a:noFill/>
            </a:ln>
          </p:spPr>
          <p:txBody>
            <a:bodyPr wrap="none" lIns="0" tIns="0" rIns="0" bIns="0" anchor="t" anchorCtr="0">
              <a:spAutoFit/>
            </a:bodyPr>
            <a:lstStyle/>
            <a:p>
              <a:pPr algn="ctr"/>
              <a:r>
                <a:rPr lang="zh-CN" sz="1120" b="1" dirty="0">
                  <a:solidFill>
                    <a:srgbClr val="0F7A68"/>
                  </a:solidFill>
                  <a:latin typeface="+mn-lt"/>
                  <a:ea typeface="+mn-ea"/>
                  <a:cs typeface="+mn-cs"/>
                </a:rPr>
                <a:t>增大问题规模有利于提高加速比</a:t>
              </a:r>
            </a:p>
          </p:txBody>
        </p:sp>
        <p:sp>
          <p:nvSpPr>
            <p:cNvPr id="40" name="Ellipse 40"/>
            <p:cNvSpPr/>
            <p:nvPr/>
          </p:nvSpPr>
          <p:spPr>
            <a:xfrm>
              <a:off x="6497955" y="3990023"/>
              <a:ext cx="60960" cy="60960"/>
            </a:xfrm>
            <a:prstGeom prst="ellipse">
              <a:avLst/>
            </a:prstGeom>
            <a:solidFill>
              <a:srgbClr val="334E68"/>
            </a:solidFill>
            <a:ln>
              <a:noFill/>
            </a:ln>
          </p:spPr>
        </p:sp>
        <p:sp>
          <p:nvSpPr>
            <p:cNvPr id="41" name="TextBox 41"/>
            <p:cNvSpPr txBox="1"/>
            <p:nvPr/>
          </p:nvSpPr>
          <p:spPr>
            <a:xfrm>
              <a:off x="6654546" y="3929539"/>
              <a:ext cx="2881884"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问题越大，能提供的并发程度越高</a:t>
              </a:r>
            </a:p>
          </p:txBody>
        </p:sp>
        <p:sp>
          <p:nvSpPr>
            <p:cNvPr id="42" name="Ellipse 42"/>
            <p:cNvSpPr/>
            <p:nvPr/>
          </p:nvSpPr>
          <p:spPr>
            <a:xfrm>
              <a:off x="6497955" y="4310062"/>
              <a:ext cx="60960" cy="60960"/>
            </a:xfrm>
            <a:prstGeom prst="ellipse">
              <a:avLst/>
            </a:prstGeom>
            <a:solidFill>
              <a:srgbClr val="334E68"/>
            </a:solidFill>
            <a:ln>
              <a:noFill/>
            </a:ln>
          </p:spPr>
        </p:sp>
        <p:sp>
          <p:nvSpPr>
            <p:cNvPr id="43" name="TextBox 43"/>
            <p:cNvSpPr txBox="1"/>
            <p:nvPr/>
          </p:nvSpPr>
          <p:spPr>
            <a:xfrm>
              <a:off x="6654546" y="4249579"/>
              <a:ext cx="3455365"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额外开销的增长可能慢于有效计算的增长</a:t>
              </a:r>
            </a:p>
          </p:txBody>
        </p:sp>
        <p:sp>
          <p:nvSpPr>
            <p:cNvPr id="44" name="Ellipse 44"/>
            <p:cNvSpPr/>
            <p:nvPr/>
          </p:nvSpPr>
          <p:spPr>
            <a:xfrm>
              <a:off x="6497955" y="4630102"/>
              <a:ext cx="60960" cy="60960"/>
            </a:xfrm>
            <a:prstGeom prst="ellipse">
              <a:avLst/>
            </a:prstGeom>
            <a:solidFill>
              <a:srgbClr val="334E68"/>
            </a:solidFill>
            <a:ln>
              <a:noFill/>
            </a:ln>
          </p:spPr>
        </p:sp>
        <p:sp>
          <p:nvSpPr>
            <p:cNvPr id="45" name="TextBox 45"/>
            <p:cNvSpPr txBox="1"/>
            <p:nvPr/>
          </p:nvSpPr>
          <p:spPr>
            <a:xfrm>
              <a:off x="6654546" y="4569619"/>
              <a:ext cx="4793488"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串行分量的比例不是固定的，可能随规模增大而相对缩小</a:t>
              </a:r>
            </a:p>
          </p:txBody>
        </p:sp>
      </p:grpSp>
      <p:grpSp>
        <p:nvGrpSpPr>
          <p:cNvPr id="52" name="c2-callout-3"/>
          <p:cNvGrpSpPr/>
          <p:nvPr/>
        </p:nvGrpSpPr>
        <p:grpSpPr>
          <a:xfrm>
            <a:off x="6248400" y="5181600"/>
            <a:ext cx="5410200" cy="756285"/>
            <a:chOff x="6248400" y="5181600"/>
            <a:chExt cx="5410200" cy="756285"/>
          </a:xfrm>
        </p:grpSpPr>
        <p:sp>
          <p:nvSpPr>
            <p:cNvPr id="47" name="Rectangle 47"/>
            <p:cNvSpPr/>
            <p:nvPr/>
          </p:nvSpPr>
          <p:spPr>
            <a:xfrm>
              <a:off x="6248400" y="5181600"/>
              <a:ext cx="5410200" cy="756285"/>
            </a:xfrm>
            <a:prstGeom prst="roundRect">
              <a:avLst>
                <a:gd name="adj" fmla="val 15113"/>
              </a:avLst>
            </a:prstGeom>
            <a:solidFill>
              <a:srgbClr val="334E68"/>
            </a:solidFill>
            <a:ln>
              <a:noFill/>
            </a:ln>
          </p:spPr>
        </p:sp>
        <p:grpSp>
          <p:nvGrpSpPr>
            <p:cNvPr id="50" name="Group 50"/>
            <p:cNvGrpSpPr/>
            <p:nvPr/>
          </p:nvGrpSpPr>
          <p:grpSpPr>
            <a:xfrm>
              <a:off x="6453188" y="5459732"/>
              <a:ext cx="200023" cy="200023"/>
              <a:chOff x="6453188" y="5459732"/>
              <a:chExt cx="200023" cy="200023"/>
            </a:xfrm>
          </p:grpSpPr>
          <p:sp>
            <p:nvSpPr>
              <p:cNvPr id="48" name="Freeform 48"/>
              <p:cNvSpPr/>
              <p:nvPr/>
            </p:nvSpPr>
            <p:spPr>
              <a:xfrm>
                <a:off x="6453188" y="5459732"/>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49" name="Freeform 49"/>
              <p:cNvSpPr/>
              <p:nvPr/>
            </p:nvSpPr>
            <p:spPr>
              <a:xfrm>
                <a:off x="6586538" y="5526405"/>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51" name="TextBox 51"/>
            <p:cNvSpPr txBox="1"/>
            <p:nvPr/>
          </p:nvSpPr>
          <p:spPr>
            <a:xfrm>
              <a:off x="6755511" y="5328761"/>
              <a:ext cx="4522978" cy="541592"/>
            </a:xfrm>
            <a:prstGeom prst="rect">
              <a:avLst/>
            </a:prstGeom>
            <a:noFill/>
            <a:ln>
              <a:noFill/>
            </a:ln>
          </p:spPr>
          <p:txBody>
            <a:bodyPr wrap="none" lIns="0" tIns="0" rIns="0" bIns="0" anchor="t" anchorCtr="0">
              <a:spAutoFit/>
            </a:bodyPr>
            <a:lstStyle/>
            <a:p>
              <a:pPr algn="l">
                <a:lnSpc>
                  <a:spcPts val="2070"/>
                </a:lnSpc>
              </a:pPr>
              <a:r>
                <a:rPr lang="zh-CN" sz="1420" dirty="0">
                  <a:solidFill>
                    <a:srgbClr val="FFFFFF"/>
                  </a:solidFill>
                  <a:latin typeface="+mn-lt"/>
                  <a:ea typeface="+mn-ea"/>
                  <a:cs typeface="+mn-cs"/>
                </a:rPr>
                <a:t>增加处理器会增大额外开销、降低利用率，一个特定的并</a:t>
              </a:r>
              <a:br/>
              <a:r>
                <a:rPr lang="zh-CN" sz="1420" dirty="0">
                  <a:solidFill>
                    <a:srgbClr val="FFFFFF"/>
                  </a:solidFill>
                  <a:latin typeface="+mn-lt"/>
                  <a:ea typeface="+mn-ea"/>
                  <a:cs typeface="+mn-cs"/>
                </a:rPr>
                <a:t>行应用能有效利用的处理器数是有限的。</a:t>
              </a:r>
            </a:p>
          </p:txBody>
        </p:sp>
      </p:grpSp>
      <p:grpSp>
        <p:nvGrpSpPr>
          <p:cNvPr id="55" name="footer"/>
          <p:cNvGrpSpPr/>
          <p:nvPr/>
        </p:nvGrpSpPr>
        <p:grpSpPr>
          <a:xfrm>
            <a:off x="528447" y="6581299"/>
            <a:ext cx="11135106" cy="190690"/>
            <a:chOff x="528447" y="6581299"/>
            <a:chExt cx="11135106" cy="190690"/>
          </a:xfrm>
        </p:grpSpPr>
        <p:sp>
          <p:nvSpPr>
            <p:cNvPr id="53" name="TextBox 53"/>
            <p:cNvSpPr txBox="1"/>
            <p:nvPr/>
          </p:nvSpPr>
          <p:spPr>
            <a:xfrm>
              <a:off x="528447" y="6581299"/>
              <a:ext cx="2120748"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并行与分布式计算 · 第7章 体系结构</a:t>
              </a:r>
            </a:p>
          </p:txBody>
        </p:sp>
        <p:sp>
          <p:nvSpPr>
            <p:cNvPr id="54" name="TextBox 54"/>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68</a:t>
              </a:r>
            </a:p>
          </p:txBody>
        </p:sp>
      </p:grpSp>
    </p:spTree>
  </p:cSld>
  <p:clrMapOvr>
    <a:masterClrMapping/>
  </p:clrMapOvr>
  <p:transition xmlns:p14="http://schemas.microsoft.com/office/powerpoint/2010/main" p14:dur="400">
    <p:fade/>
  </p:transition>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3458718" cy="909257"/>
            <a:chOff x="520446" y="342900"/>
            <a:chExt cx="3458718" cy="909257"/>
          </a:xfrm>
        </p:grpSpPr>
        <p:sp>
          <p:nvSpPr>
            <p:cNvPr id="2" name="Rectangle 2"/>
            <p:cNvSpPr/>
            <p:nvPr/>
          </p:nvSpPr>
          <p:spPr>
            <a:xfrm>
              <a:off x="533400" y="342900"/>
              <a:ext cx="551498" cy="266700"/>
            </a:xfrm>
            <a:prstGeom prst="roundRect">
              <a:avLst>
                <a:gd name="adj" fmla="val 50000"/>
              </a:avLst>
            </a:prstGeom>
            <a:solidFill>
              <a:srgbClr val="E7EDF3"/>
            </a:solidFill>
            <a:ln>
              <a:noFill/>
            </a:ln>
          </p:spPr>
        </p:sp>
        <p:sp>
          <p:nvSpPr>
            <p:cNvPr id="3" name="TextBox 3"/>
            <p:cNvSpPr txBox="1"/>
            <p:nvPr/>
          </p:nvSpPr>
          <p:spPr>
            <a:xfrm>
              <a:off x="652183" y="407194"/>
              <a:ext cx="312979"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自测</a:t>
              </a:r>
            </a:p>
          </p:txBody>
        </p:sp>
        <p:sp>
          <p:nvSpPr>
            <p:cNvPr id="4" name="TextBox 4"/>
            <p:cNvSpPr txBox="1"/>
            <p:nvPr/>
          </p:nvSpPr>
          <p:spPr>
            <a:xfrm>
              <a:off x="520446" y="753428"/>
              <a:ext cx="3458718"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自测题（一）概念辨析</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8" name="lead"/>
          <p:cNvGrpSpPr/>
          <p:nvPr/>
        </p:nvGrpSpPr>
        <p:grpSpPr>
          <a:xfrm>
            <a:off x="526542" y="1545907"/>
            <a:ext cx="2194560" cy="264033"/>
            <a:chOff x="526542" y="1545907"/>
            <a:chExt cx="2194560" cy="264033"/>
          </a:xfrm>
        </p:grpSpPr>
        <p:sp>
          <p:nvSpPr>
            <p:cNvPr id="7" name="TextBox 7"/>
            <p:cNvSpPr txBox="1"/>
            <p:nvPr/>
          </p:nvSpPr>
          <p:spPr>
            <a:xfrm>
              <a:off x="526542" y="1545907"/>
              <a:ext cx="2194560" cy="264033"/>
            </a:xfrm>
            <a:prstGeom prst="rect">
              <a:avLst/>
            </a:prstGeom>
            <a:noFill/>
            <a:ln>
              <a:noFill/>
            </a:ln>
          </p:spPr>
          <p:txBody>
            <a:bodyPr wrap="none" lIns="0" tIns="0" rIns="0" bIns="0" anchor="t" anchorCtr="0">
              <a:spAutoFit/>
            </a:bodyPr>
            <a:lstStyle/>
            <a:p>
              <a:pPr algn="l"/>
              <a:r>
                <a:rPr lang="zh-CN" sz="1350" dirty="0">
                  <a:solidFill>
                    <a:srgbClr val="5B6475"/>
                  </a:solidFill>
                  <a:latin typeface="+mn-lt"/>
                  <a:ea typeface="+mn-ea"/>
                  <a:cs typeface="+mn-cs"/>
                </a:rPr>
                <a:t>先自己写出答案，再对照。</a:t>
              </a:r>
            </a:p>
          </p:txBody>
        </p:sp>
      </p:grpSp>
      <p:grpSp>
        <p:nvGrpSpPr>
          <p:cNvPr id="14" name="c1-card-1"/>
          <p:cNvGrpSpPr/>
          <p:nvPr/>
        </p:nvGrpSpPr>
        <p:grpSpPr>
          <a:xfrm>
            <a:off x="533400" y="1928812"/>
            <a:ext cx="5410200" cy="1914525"/>
            <a:chOff x="533400" y="1928812"/>
            <a:chExt cx="5410200" cy="1914525"/>
          </a:xfrm>
        </p:grpSpPr>
        <p:sp>
          <p:nvSpPr>
            <p:cNvPr id="9" name="Rectangle 9"/>
            <p:cNvSpPr/>
            <p:nvPr/>
          </p:nvSpPr>
          <p:spPr>
            <a:xfrm>
              <a:off x="533400" y="1928812"/>
              <a:ext cx="5410200" cy="1914525"/>
            </a:xfrm>
            <a:prstGeom prst="roundRect">
              <a:avLst>
                <a:gd name="adj" fmla="val 6965"/>
              </a:avLst>
            </a:prstGeom>
            <a:solidFill>
              <a:srgbClr val="F4F6FB"/>
            </a:solidFill>
            <a:ln>
              <a:noFill/>
            </a:ln>
          </p:spPr>
        </p:sp>
        <p:sp>
          <p:nvSpPr>
            <p:cNvPr id="10" name="Rectangle 10"/>
            <p:cNvSpPr/>
            <p:nvPr/>
          </p:nvSpPr>
          <p:spPr>
            <a:xfrm>
              <a:off x="714375" y="2109788"/>
              <a:ext cx="379095" cy="238125"/>
            </a:xfrm>
            <a:prstGeom prst="roundRect">
              <a:avLst>
                <a:gd name="adj" fmla="val 50000"/>
              </a:avLst>
            </a:prstGeom>
            <a:solidFill>
              <a:srgbClr val="E7EDF3"/>
            </a:solidFill>
            <a:ln>
              <a:noFill/>
            </a:ln>
          </p:spPr>
        </p:sp>
        <p:sp>
          <p:nvSpPr>
            <p:cNvPr id="11" name="TextBox 11"/>
            <p:cNvSpPr txBox="1"/>
            <p:nvPr/>
          </p:nvSpPr>
          <p:spPr>
            <a:xfrm>
              <a:off x="803832" y="2142649"/>
              <a:ext cx="200180" cy="190690"/>
            </a:xfrm>
            <a:prstGeom prst="rect">
              <a:avLst/>
            </a:prstGeom>
            <a:noFill/>
            <a:ln>
              <a:noFill/>
            </a:ln>
          </p:spPr>
          <p:txBody>
            <a:bodyPr wrap="none" lIns="0" tIns="0" rIns="0" bIns="0" anchor="t" anchorCtr="0">
              <a:spAutoFit/>
            </a:bodyPr>
            <a:lstStyle/>
            <a:p>
              <a:pPr algn="ctr"/>
              <a:r>
                <a:rPr lang="en-US" sz="980" b="1" dirty="0">
                  <a:solidFill>
                    <a:srgbClr val="334E68"/>
                  </a:solidFill>
                  <a:latin typeface="+mn-lt"/>
                  <a:ea typeface="+mn-ea"/>
                  <a:cs typeface="+mn-cs"/>
                </a:rPr>
                <a:t>Q1</a:t>
              </a:r>
            </a:p>
          </p:txBody>
        </p:sp>
        <p:sp>
          <p:nvSpPr>
            <p:cNvPr id="12" name="TextBox 12"/>
            <p:cNvSpPr txBox="1"/>
            <p:nvPr/>
          </p:nvSpPr>
          <p:spPr>
            <a:xfrm>
              <a:off x="707898" y="2449354"/>
              <a:ext cx="4769053" cy="735140"/>
            </a:xfrm>
            <a:prstGeom prst="rect">
              <a:avLst/>
            </a:prstGeom>
            <a:noFill/>
            <a:ln>
              <a:noFill/>
            </a:ln>
          </p:spPr>
          <p:txBody>
            <a:bodyPr wrap="none" lIns="0" tIns="0" rIns="0" bIns="0" anchor="t" anchorCtr="0">
              <a:spAutoFit/>
            </a:bodyPr>
            <a:lstStyle/>
            <a:p>
              <a:pPr algn="l">
                <a:lnSpc>
                  <a:spcPts val="1912"/>
                </a:lnSpc>
              </a:pPr>
              <a:r>
                <a:rPr lang="zh-CN" sz="1280" b="1" dirty="0">
                  <a:solidFill>
                    <a:srgbClr val="1F2937"/>
                  </a:solidFill>
                  <a:latin typeface="+mn-lt"/>
                  <a:ea typeface="+mn-ea"/>
                  <a:cs typeface="+mn-cs"/>
                </a:rPr>
                <a:t>某机器所有处理器经互连网络访问统一编址的存储器，访问本节点</a:t>
              </a:r>
              <a:br/>
              <a:r>
                <a:rPr lang="zh-CN" sz="1280" b="1" dirty="0">
                  <a:solidFill>
                    <a:srgbClr val="1F2937"/>
                  </a:solidFill>
                  <a:latin typeface="+mn-lt"/>
                  <a:ea typeface="+mn-ea"/>
                  <a:cs typeface="+mn-cs"/>
                </a:rPr>
                <a:t>存储器比访问远程快得多。它是共享存储还是非共享存储？UMA 还</a:t>
              </a:r>
              <a:br/>
              <a:r>
                <a:rPr lang="zh-CN" sz="1280" b="1" dirty="0">
                  <a:solidFill>
                    <a:srgbClr val="1F2937"/>
                  </a:solidFill>
                  <a:latin typeface="+mn-lt"/>
                  <a:ea typeface="+mn-ea"/>
                  <a:cs typeface="+mn-cs"/>
                </a:rPr>
                <a:t>是 NUMA？要不要处理 Cache 一致性？</a:t>
              </a:r>
            </a:p>
          </p:txBody>
        </p:sp>
        <p:sp>
          <p:nvSpPr>
            <p:cNvPr id="13" name="TextBox 13"/>
            <p:cNvSpPr txBox="1"/>
            <p:nvPr/>
          </p:nvSpPr>
          <p:spPr>
            <a:xfrm>
              <a:off x="707898" y="3220879"/>
              <a:ext cx="4800346" cy="492252"/>
            </a:xfrm>
            <a:prstGeom prst="rect">
              <a:avLst/>
            </a:prstGeom>
            <a:noFill/>
            <a:ln>
              <a:noFill/>
            </a:ln>
          </p:spPr>
          <p:txBody>
            <a:bodyPr wrap="none" lIns="0" tIns="0" rIns="0" bIns="0" anchor="t" anchorCtr="0">
              <a:spAutoFit/>
            </a:bodyPr>
            <a:lstStyle/>
            <a:p>
              <a:pPr algn="l">
                <a:lnSpc>
                  <a:spcPts val="1912"/>
                </a:lnSpc>
              </a:pPr>
              <a:r>
                <a:rPr lang="zh-CN" sz="1280" b="1" dirty="0">
                  <a:solidFill>
                    <a:srgbClr val="0F7A68"/>
                  </a:solidFill>
                  <a:latin typeface="+mn-lt"/>
                  <a:ea typeface="+mn-ea"/>
                  <a:cs typeface="+mn-cs"/>
                </a:rPr>
                <a:t>答：</a:t>
              </a:r>
              <a:r>
                <a:rPr lang="zh-CN" sz="1280" dirty="0">
                  <a:solidFill>
                    <a:srgbClr val="1F2937"/>
                  </a:solidFill>
                  <a:latin typeface="+mn-lt"/>
                  <a:ea typeface="+mn-ea"/>
                  <a:cs typeface="+mn-cs"/>
                </a:rPr>
                <a:t>共享存储（统一编址），NUMA（访问时间不均匀）；有 Cache</a:t>
              </a:r>
              <a:br/>
              <a:r>
                <a:rPr lang="zh-CN" sz="1280" dirty="0">
                  <a:solidFill>
                    <a:srgbClr val="1F2937"/>
                  </a:solidFill>
                  <a:latin typeface="+mn-lt"/>
                  <a:ea typeface="+mn-ea"/>
                  <a:cs typeface="+mn-cs"/>
                </a:rPr>
                <a:t>一致性问题，通常用目录式协议。</a:t>
              </a:r>
            </a:p>
          </p:txBody>
        </p:sp>
      </p:grpSp>
      <p:grpSp>
        <p:nvGrpSpPr>
          <p:cNvPr id="20" name="c1-card-2"/>
          <p:cNvGrpSpPr/>
          <p:nvPr/>
        </p:nvGrpSpPr>
        <p:grpSpPr>
          <a:xfrm>
            <a:off x="533400" y="4008120"/>
            <a:ext cx="5410200" cy="1671638"/>
            <a:chOff x="533400" y="4008120"/>
            <a:chExt cx="5410200" cy="1671638"/>
          </a:xfrm>
        </p:grpSpPr>
        <p:sp>
          <p:nvSpPr>
            <p:cNvPr id="15" name="Rectangle 15"/>
            <p:cNvSpPr/>
            <p:nvPr/>
          </p:nvSpPr>
          <p:spPr>
            <a:xfrm>
              <a:off x="533400" y="4008120"/>
              <a:ext cx="5410200" cy="1671638"/>
            </a:xfrm>
            <a:prstGeom prst="roundRect">
              <a:avLst>
                <a:gd name="adj" fmla="val 7977"/>
              </a:avLst>
            </a:prstGeom>
            <a:solidFill>
              <a:srgbClr val="F4F6FB"/>
            </a:solidFill>
            <a:ln>
              <a:noFill/>
            </a:ln>
          </p:spPr>
        </p:sp>
        <p:sp>
          <p:nvSpPr>
            <p:cNvPr id="16" name="Rectangle 16"/>
            <p:cNvSpPr/>
            <p:nvPr/>
          </p:nvSpPr>
          <p:spPr>
            <a:xfrm>
              <a:off x="714375" y="4189095"/>
              <a:ext cx="379095" cy="238125"/>
            </a:xfrm>
            <a:prstGeom prst="roundRect">
              <a:avLst>
                <a:gd name="adj" fmla="val 50000"/>
              </a:avLst>
            </a:prstGeom>
            <a:solidFill>
              <a:srgbClr val="E7EDF3"/>
            </a:solidFill>
            <a:ln>
              <a:noFill/>
            </a:ln>
          </p:spPr>
        </p:sp>
        <p:sp>
          <p:nvSpPr>
            <p:cNvPr id="17" name="TextBox 17"/>
            <p:cNvSpPr txBox="1"/>
            <p:nvPr/>
          </p:nvSpPr>
          <p:spPr>
            <a:xfrm>
              <a:off x="803832" y="4221956"/>
              <a:ext cx="200180" cy="190690"/>
            </a:xfrm>
            <a:prstGeom prst="rect">
              <a:avLst/>
            </a:prstGeom>
            <a:noFill/>
            <a:ln>
              <a:noFill/>
            </a:ln>
          </p:spPr>
          <p:txBody>
            <a:bodyPr wrap="none" lIns="0" tIns="0" rIns="0" bIns="0" anchor="t" anchorCtr="0">
              <a:spAutoFit/>
            </a:bodyPr>
            <a:lstStyle/>
            <a:p>
              <a:pPr algn="ctr"/>
              <a:r>
                <a:rPr lang="en-US" sz="980" b="1" dirty="0">
                  <a:solidFill>
                    <a:srgbClr val="334E68"/>
                  </a:solidFill>
                  <a:latin typeface="+mn-lt"/>
                  <a:ea typeface="+mn-ea"/>
                  <a:cs typeface="+mn-cs"/>
                </a:rPr>
                <a:t>Q3</a:t>
              </a:r>
            </a:p>
          </p:txBody>
        </p:sp>
        <p:sp>
          <p:nvSpPr>
            <p:cNvPr id="18" name="TextBox 18"/>
            <p:cNvSpPr txBox="1"/>
            <p:nvPr/>
          </p:nvSpPr>
          <p:spPr>
            <a:xfrm>
              <a:off x="707898" y="4529614"/>
              <a:ext cx="4750359" cy="492252"/>
            </a:xfrm>
            <a:prstGeom prst="rect">
              <a:avLst/>
            </a:prstGeom>
            <a:noFill/>
            <a:ln>
              <a:noFill/>
            </a:ln>
          </p:spPr>
          <p:txBody>
            <a:bodyPr wrap="none" lIns="0" tIns="0" rIns="0" bIns="0" anchor="t" anchorCtr="0">
              <a:spAutoFit/>
            </a:bodyPr>
            <a:lstStyle/>
            <a:p>
              <a:pPr algn="l">
                <a:lnSpc>
                  <a:spcPts val="1912"/>
                </a:lnSpc>
              </a:pPr>
              <a:r>
                <a:rPr lang="zh-CN" sz="1280" b="1" dirty="0">
                  <a:solidFill>
                    <a:srgbClr val="1F2937"/>
                  </a:solidFill>
                  <a:latin typeface="+mn-lt"/>
                  <a:ea typeface="+mn-ea"/>
                  <a:cs typeface="+mn-cs"/>
                </a:rPr>
                <a:t>目录协议中，目录项为 E 时收到 A 的 RdMiss，要发哪些消息？最</a:t>
              </a:r>
              <a:br/>
              <a:r>
                <a:rPr lang="zh-CN" sz="1280" b="1" dirty="0">
                  <a:solidFill>
                    <a:srgbClr val="1F2937"/>
                  </a:solidFill>
                  <a:latin typeface="+mn-lt"/>
                  <a:ea typeface="+mn-ea"/>
                  <a:cs typeface="+mn-cs"/>
                </a:rPr>
                <a:t>后目录状态和共享集是什么？</a:t>
              </a:r>
            </a:p>
          </p:txBody>
        </p:sp>
        <p:sp>
          <p:nvSpPr>
            <p:cNvPr id="19" name="TextBox 19"/>
            <p:cNvSpPr txBox="1"/>
            <p:nvPr/>
          </p:nvSpPr>
          <p:spPr>
            <a:xfrm>
              <a:off x="707898" y="5057299"/>
              <a:ext cx="4670298" cy="492252"/>
            </a:xfrm>
            <a:prstGeom prst="rect">
              <a:avLst/>
            </a:prstGeom>
            <a:noFill/>
            <a:ln>
              <a:noFill/>
            </a:ln>
          </p:spPr>
          <p:txBody>
            <a:bodyPr wrap="none" lIns="0" tIns="0" rIns="0" bIns="0" anchor="t" anchorCtr="0">
              <a:spAutoFit/>
            </a:bodyPr>
            <a:lstStyle/>
            <a:p>
              <a:pPr algn="l">
                <a:lnSpc>
                  <a:spcPts val="1912"/>
                </a:lnSpc>
              </a:pPr>
              <a:r>
                <a:rPr lang="zh-CN" sz="1280" b="1" dirty="0">
                  <a:solidFill>
                    <a:srgbClr val="0F7A68"/>
                  </a:solidFill>
                  <a:latin typeface="+mn-lt"/>
                  <a:ea typeface="+mn-ea"/>
                  <a:cs typeface="+mn-cs"/>
                </a:rPr>
                <a:t>答：</a:t>
              </a:r>
              <a:r>
                <a:rPr lang="zh-CN" sz="1280" dirty="0">
                  <a:solidFill>
                    <a:srgbClr val="1F2937"/>
                  </a:solidFill>
                  <a:latin typeface="+mn-lt"/>
                  <a:ea typeface="+mn-ea"/>
                  <a:cs typeface="+mn-cs"/>
                </a:rPr>
                <a:t>B→C 发 FetchS，C→B 回 Update（C 变 S），B 更新存储器后</a:t>
              </a:r>
              <a:br/>
              <a:r>
                <a:rPr lang="zh-CN" sz="1280" dirty="0">
                  <a:solidFill>
                    <a:srgbClr val="1F2937"/>
                  </a:solidFill>
                  <a:latin typeface="+mn-lt"/>
                  <a:ea typeface="+mn-ea"/>
                  <a:cs typeface="+mn-cs"/>
                </a:rPr>
                <a:t>B→A 发 Data；目录变 S，G = {C, A}。</a:t>
              </a:r>
            </a:p>
          </p:txBody>
        </p:sp>
      </p:grpSp>
      <p:grpSp>
        <p:nvGrpSpPr>
          <p:cNvPr id="26" name="c2-card-1"/>
          <p:cNvGrpSpPr/>
          <p:nvPr/>
        </p:nvGrpSpPr>
        <p:grpSpPr>
          <a:xfrm>
            <a:off x="6248400" y="1928812"/>
            <a:ext cx="5410200" cy="1671638"/>
            <a:chOff x="6248400" y="1928812"/>
            <a:chExt cx="5410200" cy="1671638"/>
          </a:xfrm>
        </p:grpSpPr>
        <p:sp>
          <p:nvSpPr>
            <p:cNvPr id="21" name="Rectangle 21"/>
            <p:cNvSpPr/>
            <p:nvPr/>
          </p:nvSpPr>
          <p:spPr>
            <a:xfrm>
              <a:off x="6248400" y="1928812"/>
              <a:ext cx="5410200" cy="1671638"/>
            </a:xfrm>
            <a:prstGeom prst="roundRect">
              <a:avLst>
                <a:gd name="adj" fmla="val 7977"/>
              </a:avLst>
            </a:prstGeom>
            <a:solidFill>
              <a:srgbClr val="F4F6FB"/>
            </a:solidFill>
            <a:ln>
              <a:noFill/>
            </a:ln>
          </p:spPr>
        </p:sp>
        <p:sp>
          <p:nvSpPr>
            <p:cNvPr id="22" name="Rectangle 22"/>
            <p:cNvSpPr/>
            <p:nvPr/>
          </p:nvSpPr>
          <p:spPr>
            <a:xfrm>
              <a:off x="6429375" y="2109788"/>
              <a:ext cx="379095" cy="238125"/>
            </a:xfrm>
            <a:prstGeom prst="roundRect">
              <a:avLst>
                <a:gd name="adj" fmla="val 50000"/>
              </a:avLst>
            </a:prstGeom>
            <a:solidFill>
              <a:srgbClr val="E7EDF3"/>
            </a:solidFill>
            <a:ln>
              <a:noFill/>
            </a:ln>
          </p:spPr>
        </p:sp>
        <p:sp>
          <p:nvSpPr>
            <p:cNvPr id="23" name="TextBox 23"/>
            <p:cNvSpPr txBox="1"/>
            <p:nvPr/>
          </p:nvSpPr>
          <p:spPr>
            <a:xfrm>
              <a:off x="6518832" y="2142649"/>
              <a:ext cx="200180" cy="190690"/>
            </a:xfrm>
            <a:prstGeom prst="rect">
              <a:avLst/>
            </a:prstGeom>
            <a:noFill/>
            <a:ln>
              <a:noFill/>
            </a:ln>
          </p:spPr>
          <p:txBody>
            <a:bodyPr wrap="none" lIns="0" tIns="0" rIns="0" bIns="0" anchor="t" anchorCtr="0">
              <a:spAutoFit/>
            </a:bodyPr>
            <a:lstStyle/>
            <a:p>
              <a:pPr algn="ctr"/>
              <a:r>
                <a:rPr lang="en-US" sz="980" b="1" dirty="0">
                  <a:solidFill>
                    <a:srgbClr val="334E68"/>
                  </a:solidFill>
                  <a:latin typeface="+mn-lt"/>
                  <a:ea typeface="+mn-ea"/>
                  <a:cs typeface="+mn-cs"/>
                </a:rPr>
                <a:t>Q2</a:t>
              </a:r>
            </a:p>
          </p:txBody>
        </p:sp>
        <p:sp>
          <p:nvSpPr>
            <p:cNvPr id="24" name="TextBox 24"/>
            <p:cNvSpPr txBox="1"/>
            <p:nvPr/>
          </p:nvSpPr>
          <p:spPr>
            <a:xfrm>
              <a:off x="6422898" y="2449354"/>
              <a:ext cx="4297629" cy="492252"/>
            </a:xfrm>
            <a:prstGeom prst="rect">
              <a:avLst/>
            </a:prstGeom>
            <a:noFill/>
            <a:ln>
              <a:noFill/>
            </a:ln>
          </p:spPr>
          <p:txBody>
            <a:bodyPr wrap="none" lIns="0" tIns="0" rIns="0" bIns="0" anchor="t" anchorCtr="0">
              <a:spAutoFit/>
            </a:bodyPr>
            <a:lstStyle/>
            <a:p>
              <a:pPr algn="l">
                <a:lnSpc>
                  <a:spcPts val="1912"/>
                </a:lnSpc>
              </a:pPr>
              <a:r>
                <a:rPr lang="zh-CN" sz="1280" b="1" dirty="0">
                  <a:solidFill>
                    <a:srgbClr val="1F2937"/>
                  </a:solidFill>
                  <a:latin typeface="+mn-lt"/>
                  <a:ea typeface="+mn-ea"/>
                  <a:cs typeface="+mn-cs"/>
                </a:rPr>
                <a:t>MSI 监听协议中，P1 的块处于 S，总线上出现别人对这块的</a:t>
              </a:r>
              <a:br/>
              <a:r>
                <a:rPr lang="zh-CN" sz="1280" b="1" dirty="0">
                  <a:solidFill>
                    <a:srgbClr val="1F2937"/>
                  </a:solidFill>
                  <a:latin typeface="+mn-lt"/>
                  <a:ea typeface="+mn-ea"/>
                  <a:cs typeface="+mn-cs"/>
                </a:rPr>
                <a:t>WtMiss，P1 怎么做？如果 P1 处于 M 呢？</a:t>
              </a:r>
            </a:p>
          </p:txBody>
        </p:sp>
        <p:sp>
          <p:nvSpPr>
            <p:cNvPr id="25" name="TextBox 25"/>
            <p:cNvSpPr txBox="1"/>
            <p:nvPr/>
          </p:nvSpPr>
          <p:spPr>
            <a:xfrm>
              <a:off x="6422898" y="2977991"/>
              <a:ext cx="4710938" cy="492252"/>
            </a:xfrm>
            <a:prstGeom prst="rect">
              <a:avLst/>
            </a:prstGeom>
            <a:noFill/>
            <a:ln>
              <a:noFill/>
            </a:ln>
          </p:spPr>
          <p:txBody>
            <a:bodyPr wrap="none" lIns="0" tIns="0" rIns="0" bIns="0" anchor="t" anchorCtr="0">
              <a:spAutoFit/>
            </a:bodyPr>
            <a:lstStyle/>
            <a:p>
              <a:pPr algn="l">
                <a:lnSpc>
                  <a:spcPts val="1912"/>
                </a:lnSpc>
              </a:pPr>
              <a:r>
                <a:rPr lang="zh-CN" sz="1280" b="1" dirty="0">
                  <a:solidFill>
                    <a:srgbClr val="0F7A68"/>
                  </a:solidFill>
                  <a:latin typeface="+mn-lt"/>
                  <a:ea typeface="+mn-ea"/>
                  <a:cs typeface="+mn-cs"/>
                </a:rPr>
                <a:t>答：</a:t>
              </a:r>
              <a:r>
                <a:rPr lang="zh-CN" sz="1280" dirty="0">
                  <a:solidFill>
                    <a:srgbClr val="1F2937"/>
                  </a:solidFill>
                  <a:latin typeface="+mn-lt"/>
                  <a:ea typeface="+mn-ea"/>
                  <a:cs typeface="+mn-cs"/>
                </a:rPr>
                <a:t>S：竞争把块传给请求者，自己变 I。M：把块传给请求者（它</a:t>
              </a:r>
              <a:br/>
              <a:r>
                <a:rPr lang="zh-CN" sz="1280" dirty="0">
                  <a:solidFill>
                    <a:srgbClr val="1F2937"/>
                  </a:solidFill>
                  <a:latin typeface="+mn-lt"/>
                  <a:ea typeface="+mn-ea"/>
                  <a:cs typeface="+mn-cs"/>
                </a:rPr>
                <a:t>是唯一最新副本），自己变 I。</a:t>
              </a:r>
            </a:p>
          </p:txBody>
        </p:sp>
      </p:grpSp>
      <p:grpSp>
        <p:nvGrpSpPr>
          <p:cNvPr id="32" name="c2-card-2"/>
          <p:cNvGrpSpPr/>
          <p:nvPr/>
        </p:nvGrpSpPr>
        <p:grpSpPr>
          <a:xfrm>
            <a:off x="6248400" y="3765232"/>
            <a:ext cx="5410200" cy="1914525"/>
            <a:chOff x="6248400" y="3765232"/>
            <a:chExt cx="5410200" cy="1914525"/>
          </a:xfrm>
        </p:grpSpPr>
        <p:sp>
          <p:nvSpPr>
            <p:cNvPr id="27" name="Rectangle 27"/>
            <p:cNvSpPr/>
            <p:nvPr/>
          </p:nvSpPr>
          <p:spPr>
            <a:xfrm>
              <a:off x="6248400" y="3765232"/>
              <a:ext cx="5410200" cy="1914525"/>
            </a:xfrm>
            <a:prstGeom prst="roundRect">
              <a:avLst>
                <a:gd name="adj" fmla="val 6965"/>
              </a:avLst>
            </a:prstGeom>
            <a:solidFill>
              <a:srgbClr val="F4F6FB"/>
            </a:solidFill>
            <a:ln>
              <a:noFill/>
            </a:ln>
          </p:spPr>
        </p:sp>
        <p:sp>
          <p:nvSpPr>
            <p:cNvPr id="28" name="Rectangle 28"/>
            <p:cNvSpPr/>
            <p:nvPr/>
          </p:nvSpPr>
          <p:spPr>
            <a:xfrm>
              <a:off x="6429375" y="3946208"/>
              <a:ext cx="379095" cy="238125"/>
            </a:xfrm>
            <a:prstGeom prst="roundRect">
              <a:avLst>
                <a:gd name="adj" fmla="val 50000"/>
              </a:avLst>
            </a:prstGeom>
            <a:solidFill>
              <a:srgbClr val="E7EDF3"/>
            </a:solidFill>
            <a:ln>
              <a:noFill/>
            </a:ln>
          </p:spPr>
        </p:sp>
        <p:sp>
          <p:nvSpPr>
            <p:cNvPr id="29" name="TextBox 29"/>
            <p:cNvSpPr txBox="1"/>
            <p:nvPr/>
          </p:nvSpPr>
          <p:spPr>
            <a:xfrm>
              <a:off x="6518832" y="3979069"/>
              <a:ext cx="200180" cy="190690"/>
            </a:xfrm>
            <a:prstGeom prst="rect">
              <a:avLst/>
            </a:prstGeom>
            <a:noFill/>
            <a:ln>
              <a:noFill/>
            </a:ln>
          </p:spPr>
          <p:txBody>
            <a:bodyPr wrap="none" lIns="0" tIns="0" rIns="0" bIns="0" anchor="t" anchorCtr="0">
              <a:spAutoFit/>
            </a:bodyPr>
            <a:lstStyle/>
            <a:p>
              <a:pPr algn="ctr"/>
              <a:r>
                <a:rPr lang="en-US" sz="980" b="1" dirty="0">
                  <a:solidFill>
                    <a:srgbClr val="334E68"/>
                  </a:solidFill>
                  <a:latin typeface="+mn-lt"/>
                  <a:ea typeface="+mn-ea"/>
                  <a:cs typeface="+mn-cs"/>
                </a:rPr>
                <a:t>Q4</a:t>
              </a:r>
            </a:p>
          </p:txBody>
        </p:sp>
        <p:sp>
          <p:nvSpPr>
            <p:cNvPr id="30" name="TextBox 30"/>
            <p:cNvSpPr txBox="1"/>
            <p:nvPr/>
          </p:nvSpPr>
          <p:spPr>
            <a:xfrm>
              <a:off x="6422898" y="4286726"/>
              <a:ext cx="4727194" cy="492252"/>
            </a:xfrm>
            <a:prstGeom prst="rect">
              <a:avLst/>
            </a:prstGeom>
            <a:noFill/>
            <a:ln>
              <a:noFill/>
            </a:ln>
          </p:spPr>
          <p:txBody>
            <a:bodyPr wrap="none" lIns="0" tIns="0" rIns="0" bIns="0" anchor="t" anchorCtr="0">
              <a:spAutoFit/>
            </a:bodyPr>
            <a:lstStyle/>
            <a:p>
              <a:pPr algn="l">
                <a:lnSpc>
                  <a:spcPts val="1912"/>
                </a:lnSpc>
              </a:pPr>
              <a:r>
                <a:rPr lang="zh-CN" sz="1280" b="1" dirty="0">
                  <a:solidFill>
                    <a:srgbClr val="1F2937"/>
                  </a:solidFill>
                  <a:latin typeface="+mn-lt"/>
                  <a:ea typeface="+mn-ea"/>
                  <a:cs typeface="+mn-cs"/>
                </a:rPr>
                <a:t>为什么监听式协议可扩放性差，目录式却能用在上千个处理器的机</a:t>
              </a:r>
              <a:br/>
              <a:r>
                <a:rPr lang="zh-CN" sz="1280" b="1" dirty="0">
                  <a:solidFill>
                    <a:srgbClr val="1F2937"/>
                  </a:solidFill>
                  <a:latin typeface="+mn-lt"/>
                  <a:ea typeface="+mn-ea"/>
                  <a:cs typeface="+mn-cs"/>
                </a:rPr>
                <a:t>器上？代价是什么？</a:t>
              </a:r>
            </a:p>
          </p:txBody>
        </p:sp>
        <p:sp>
          <p:nvSpPr>
            <p:cNvPr id="31" name="TextBox 31"/>
            <p:cNvSpPr txBox="1"/>
            <p:nvPr/>
          </p:nvSpPr>
          <p:spPr>
            <a:xfrm>
              <a:off x="6422898" y="4814411"/>
              <a:ext cx="4727194" cy="735140"/>
            </a:xfrm>
            <a:prstGeom prst="rect">
              <a:avLst/>
            </a:prstGeom>
            <a:noFill/>
            <a:ln>
              <a:noFill/>
            </a:ln>
          </p:spPr>
          <p:txBody>
            <a:bodyPr wrap="none" lIns="0" tIns="0" rIns="0" bIns="0" anchor="t" anchorCtr="0">
              <a:spAutoFit/>
            </a:bodyPr>
            <a:lstStyle/>
            <a:p>
              <a:pPr algn="l">
                <a:lnSpc>
                  <a:spcPts val="1912"/>
                </a:lnSpc>
              </a:pPr>
              <a:r>
                <a:rPr lang="zh-CN" sz="1280" b="1" dirty="0">
                  <a:solidFill>
                    <a:srgbClr val="0F7A68"/>
                  </a:solidFill>
                  <a:latin typeface="+mn-lt"/>
                  <a:ea typeface="+mn-ea"/>
                  <a:cs typeface="+mn-cs"/>
                </a:rPr>
                <a:t>答：</a:t>
              </a:r>
              <a:r>
                <a:rPr lang="zh-CN" sz="1280" dirty="0">
                  <a:solidFill>
                    <a:srgbClr val="1F2937"/>
                  </a:solidFill>
                  <a:latin typeface="+mn-lt"/>
                  <a:ea typeface="+mn-ea"/>
                  <a:cs typeface="+mn-cs"/>
                </a:rPr>
                <a:t>监听依赖广播，每次缺失、作废都占用整条总线，处理器一多</a:t>
              </a:r>
              <a:br/>
              <a:r>
                <a:rPr lang="zh-CN" sz="1280" dirty="0">
                  <a:solidFill>
                    <a:srgbClr val="1F2937"/>
                  </a:solidFill>
                  <a:latin typeface="+mn-lt"/>
                  <a:ea typeface="+mn-ea"/>
                  <a:cs typeface="+mn-cs"/>
                </a:rPr>
                <a:t>总线就成瓶颈；目录只给有副本的节点发点对点消息。代价是目录</a:t>
              </a:r>
              <a:br/>
              <a:r>
                <a:rPr lang="zh-CN" sz="1280" dirty="0">
                  <a:solidFill>
                    <a:srgbClr val="1F2937"/>
                  </a:solidFill>
                  <a:latin typeface="+mn-lt"/>
                  <a:ea typeface="+mn-ea"/>
                  <a:cs typeface="+mn-cs"/>
                </a:rPr>
                <a:t>的存储开销（全映像为 O(N²)），一次缺失也可能要多条消息。</a:t>
              </a:r>
            </a:p>
          </p:txBody>
        </p:sp>
      </p:grpSp>
      <p:grpSp>
        <p:nvGrpSpPr>
          <p:cNvPr id="39" name="takeaway"/>
          <p:cNvGrpSpPr/>
          <p:nvPr/>
        </p:nvGrpSpPr>
        <p:grpSpPr>
          <a:xfrm>
            <a:off x="533400" y="5895022"/>
            <a:ext cx="11125200" cy="467678"/>
            <a:chOff x="533400" y="5895022"/>
            <a:chExt cx="11125200" cy="467678"/>
          </a:xfrm>
        </p:grpSpPr>
        <p:sp>
          <p:nvSpPr>
            <p:cNvPr id="33" name="Rectangle 33"/>
            <p:cNvSpPr/>
            <p:nvPr/>
          </p:nvSpPr>
          <p:spPr>
            <a:xfrm>
              <a:off x="533400" y="5895022"/>
              <a:ext cx="11125200" cy="467678"/>
            </a:xfrm>
            <a:prstGeom prst="roundRect">
              <a:avLst>
                <a:gd name="adj" fmla="val 24440"/>
              </a:avLst>
            </a:prstGeom>
            <a:solidFill>
              <a:srgbClr val="FDEEE7"/>
            </a:solidFill>
            <a:ln>
              <a:noFill/>
            </a:ln>
          </p:spPr>
        </p:sp>
        <p:grpSp>
          <p:nvGrpSpPr>
            <p:cNvPr id="37" name="Group 37"/>
            <p:cNvGrpSpPr/>
            <p:nvPr/>
          </p:nvGrpSpPr>
          <p:grpSpPr>
            <a:xfrm>
              <a:off x="738188" y="6028373"/>
              <a:ext cx="200026" cy="200025"/>
              <a:chOff x="738188" y="6028373"/>
              <a:chExt cx="200026" cy="200025"/>
            </a:xfrm>
          </p:grpSpPr>
          <p:sp>
            <p:nvSpPr>
              <p:cNvPr id="34" name="Freeform 34"/>
              <p:cNvSpPr/>
              <p:nvPr/>
            </p:nvSpPr>
            <p:spPr>
              <a:xfrm>
                <a:off x="738188" y="6028373"/>
                <a:ext cx="200026" cy="100013"/>
              </a:xfrm>
              <a:custGeom>
                <a:avLst/>
                <a:gdLst/>
                <a:ahLst/>
                <a:cxnLst/>
                <a:rect l="l" t="t" r="r" b="b"/>
                <a:pathLst>
                  <a:path w="200026" h="100013">
                    <a:moveTo>
                      <a:pt x="0" y="100013"/>
                    </a:moveTo>
                    <a:lnTo>
                      <a:pt x="11113" y="100013"/>
                    </a:lnTo>
                    <a:moveTo>
                      <a:pt x="100013" y="0"/>
                    </a:moveTo>
                    <a:lnTo>
                      <a:pt x="100013" y="11113"/>
                    </a:lnTo>
                    <a:moveTo>
                      <a:pt x="188913" y="100013"/>
                    </a:moveTo>
                    <a:lnTo>
                      <a:pt x="200026" y="100013"/>
                    </a:lnTo>
                    <a:moveTo>
                      <a:pt x="28893" y="28893"/>
                    </a:moveTo>
                    <a:lnTo>
                      <a:pt x="36671" y="36671"/>
                    </a:lnTo>
                    <a:moveTo>
                      <a:pt x="171133" y="28893"/>
                    </a:moveTo>
                    <a:lnTo>
                      <a:pt x="163354" y="36671"/>
                    </a:lnTo>
                  </a:path>
                </a:pathLst>
              </a:custGeom>
              <a:noFill/>
              <a:ln w="22225">
                <a:solidFill>
                  <a:srgbClr val="C2410C"/>
                </a:solidFill>
              </a:ln>
            </p:spPr>
          </p:sp>
          <p:sp>
            <p:nvSpPr>
              <p:cNvPr id="35" name="Freeform 35"/>
              <p:cNvSpPr/>
              <p:nvPr/>
            </p:nvSpPr>
            <p:spPr>
              <a:xfrm>
                <a:off x="777926" y="6072823"/>
                <a:ext cx="120548" cy="155575"/>
              </a:xfrm>
              <a:custGeom>
                <a:avLst/>
                <a:gdLst/>
                <a:ahLst/>
                <a:cxnLst/>
                <a:rect l="l" t="t" r="r" b="b"/>
                <a:pathLst>
                  <a:path w="120548" h="155575">
                    <a:moveTo>
                      <a:pt x="26937" y="100013"/>
                    </a:moveTo>
                    <a:cubicBezTo>
                      <a:pt x="7804" y="85663"/>
                      <a:pt x="0" y="60681"/>
                      <a:pt x="7563" y="37992"/>
                    </a:cubicBezTo>
                    <a:cubicBezTo>
                      <a:pt x="15126" y="15304"/>
                      <a:pt x="36358" y="0"/>
                      <a:pt x="60274" y="0"/>
                    </a:cubicBezTo>
                    <a:cubicBezTo>
                      <a:pt x="84190" y="0"/>
                      <a:pt x="105423" y="15304"/>
                      <a:pt x="112986" y="37992"/>
                    </a:cubicBezTo>
                    <a:cubicBezTo>
                      <a:pt x="120548" y="60681"/>
                      <a:pt x="112745" y="85663"/>
                      <a:pt x="93612" y="100013"/>
                    </a:cubicBezTo>
                    <a:cubicBezTo>
                      <a:pt x="84812" y="108723"/>
                      <a:pt x="80686" y="121103"/>
                      <a:pt x="82499" y="133350"/>
                    </a:cubicBezTo>
                    <a:cubicBezTo>
                      <a:pt x="82499" y="145625"/>
                      <a:pt x="72549" y="155575"/>
                      <a:pt x="60274" y="155575"/>
                    </a:cubicBezTo>
                    <a:cubicBezTo>
                      <a:pt x="48000" y="155575"/>
                      <a:pt x="38049" y="145625"/>
                      <a:pt x="38049" y="133350"/>
                    </a:cubicBezTo>
                    <a:cubicBezTo>
                      <a:pt x="39862" y="121103"/>
                      <a:pt x="35736" y="108723"/>
                      <a:pt x="26937" y="100013"/>
                    </a:cubicBezTo>
                  </a:path>
                </a:pathLst>
              </a:custGeom>
              <a:noFill/>
              <a:ln w="22225">
                <a:solidFill>
                  <a:srgbClr val="C2410C"/>
                </a:solidFill>
              </a:ln>
            </p:spPr>
          </p:sp>
          <p:sp>
            <p:nvSpPr>
              <p:cNvPr id="36" name="Freeform 36"/>
              <p:cNvSpPr/>
              <p:nvPr/>
            </p:nvSpPr>
            <p:spPr>
              <a:xfrm>
                <a:off x="812642" y="6183948"/>
                <a:ext cx="51118" cy="9525"/>
              </a:xfrm>
              <a:custGeom>
                <a:avLst/>
                <a:gdLst/>
                <a:ahLst/>
                <a:cxnLst/>
                <a:rect l="l" t="t" r="r" b="b"/>
                <a:pathLst>
                  <a:path w="51118" h="9525">
                    <a:moveTo>
                      <a:pt x="0" y="0"/>
                    </a:moveTo>
                    <a:lnTo>
                      <a:pt x="51118" y="0"/>
                    </a:lnTo>
                  </a:path>
                </a:pathLst>
              </a:custGeom>
              <a:noFill/>
              <a:ln w="22225">
                <a:solidFill>
                  <a:srgbClr val="C2410C"/>
                </a:solidFill>
              </a:ln>
            </p:spPr>
          </p:sp>
        </p:grpSp>
        <p:sp>
          <p:nvSpPr>
            <p:cNvPr id="38" name="TextBox 38"/>
            <p:cNvSpPr txBox="1"/>
            <p:nvPr/>
          </p:nvSpPr>
          <p:spPr>
            <a:xfrm>
              <a:off x="1041273" y="6039326"/>
              <a:ext cx="7112274" cy="249364"/>
            </a:xfrm>
            <a:prstGeom prst="rect">
              <a:avLst/>
            </a:prstGeom>
            <a:noFill/>
            <a:ln>
              <a:noFill/>
            </a:ln>
          </p:spPr>
          <p:txBody>
            <a:bodyPr wrap="none" lIns="0" tIns="0" rIns="0" bIns="0" anchor="t" anchorCtr="0">
              <a:spAutoFit/>
            </a:bodyPr>
            <a:lstStyle/>
            <a:p>
              <a:pPr algn="l"/>
              <a:r>
                <a:rPr lang="zh-CN" sz="1280" dirty="0">
                  <a:solidFill>
                    <a:srgbClr val="C2410C"/>
                  </a:solidFill>
                  <a:latin typeface="+mn-lt"/>
                  <a:ea typeface="+mn-ea"/>
                  <a:cs typeface="+mn-cs"/>
                </a:rPr>
                <a:t>状态题答不上时，回到第24、25、33–35页的表，按“当前状态 + 事件”查一行，不要凭印象。</a:t>
              </a:r>
            </a:p>
          </p:txBody>
        </p:sp>
      </p:grpSp>
      <p:grpSp>
        <p:nvGrpSpPr>
          <p:cNvPr id="42" name="footer"/>
          <p:cNvGrpSpPr/>
          <p:nvPr/>
        </p:nvGrpSpPr>
        <p:grpSpPr>
          <a:xfrm>
            <a:off x="528447" y="6581299"/>
            <a:ext cx="11135106" cy="190690"/>
            <a:chOff x="528447" y="6581299"/>
            <a:chExt cx="11135106" cy="190690"/>
          </a:xfrm>
        </p:grpSpPr>
        <p:sp>
          <p:nvSpPr>
            <p:cNvPr id="40" name="TextBox 40"/>
            <p:cNvSpPr txBox="1"/>
            <p:nvPr/>
          </p:nvSpPr>
          <p:spPr>
            <a:xfrm>
              <a:off x="528447" y="6581299"/>
              <a:ext cx="2120748"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并行与分布式计算 · 第7章 体系结构</a:t>
              </a:r>
            </a:p>
          </p:txBody>
        </p:sp>
        <p:sp>
          <p:nvSpPr>
            <p:cNvPr id="41" name="TextBox 41"/>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69</a:t>
              </a:r>
            </a:p>
          </p:txBody>
        </p:sp>
      </p:grpSp>
    </p:spTree>
  </p:cSld>
  <p:clrMapOvr>
    <a:masterClrMapping/>
  </p:clrMapOvr>
  <p:transition xmlns:p14="http://schemas.microsoft.com/office/powerpoint/2010/main" p14:dur="400">
    <p:fade/>
  </p:transition>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2772156" cy="909257"/>
            <a:chOff x="520446" y="342900"/>
            <a:chExt cx="2772156" cy="909257"/>
          </a:xfrm>
        </p:grpSpPr>
        <p:sp>
          <p:nvSpPr>
            <p:cNvPr id="2" name="Rectangle 2"/>
            <p:cNvSpPr/>
            <p:nvPr/>
          </p:nvSpPr>
          <p:spPr>
            <a:xfrm>
              <a:off x="533400" y="342900"/>
              <a:ext cx="551498" cy="266700"/>
            </a:xfrm>
            <a:prstGeom prst="roundRect">
              <a:avLst>
                <a:gd name="adj" fmla="val 50000"/>
              </a:avLst>
            </a:prstGeom>
            <a:solidFill>
              <a:srgbClr val="E7EDF3"/>
            </a:solidFill>
            <a:ln>
              <a:noFill/>
            </a:ln>
          </p:spPr>
        </p:sp>
        <p:sp>
          <p:nvSpPr>
            <p:cNvPr id="3" name="TextBox 3"/>
            <p:cNvSpPr txBox="1"/>
            <p:nvPr/>
          </p:nvSpPr>
          <p:spPr>
            <a:xfrm>
              <a:off x="652183" y="407194"/>
              <a:ext cx="312979"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自测</a:t>
              </a:r>
            </a:p>
          </p:txBody>
        </p:sp>
        <p:sp>
          <p:nvSpPr>
            <p:cNvPr id="4" name="TextBox 4"/>
            <p:cNvSpPr txBox="1"/>
            <p:nvPr/>
          </p:nvSpPr>
          <p:spPr>
            <a:xfrm>
              <a:off x="520446" y="753428"/>
              <a:ext cx="2772156"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自测题（二）计算</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8" name="lead"/>
          <p:cNvGrpSpPr/>
          <p:nvPr/>
        </p:nvGrpSpPr>
        <p:grpSpPr>
          <a:xfrm>
            <a:off x="526542" y="1545907"/>
            <a:ext cx="3284982" cy="264033"/>
            <a:chOff x="526542" y="1545907"/>
            <a:chExt cx="3284982" cy="264033"/>
          </a:xfrm>
        </p:grpSpPr>
        <p:sp>
          <p:nvSpPr>
            <p:cNvPr id="7" name="TextBox 7"/>
            <p:cNvSpPr txBox="1"/>
            <p:nvPr/>
          </p:nvSpPr>
          <p:spPr>
            <a:xfrm>
              <a:off x="526542" y="1545907"/>
              <a:ext cx="3284982" cy="264033"/>
            </a:xfrm>
            <a:prstGeom prst="rect">
              <a:avLst/>
            </a:prstGeom>
            <a:noFill/>
            <a:ln>
              <a:noFill/>
            </a:ln>
          </p:spPr>
          <p:txBody>
            <a:bodyPr wrap="none" lIns="0" tIns="0" rIns="0" bIns="0" anchor="t" anchorCtr="0">
              <a:spAutoFit/>
            </a:bodyPr>
            <a:lstStyle/>
            <a:p>
              <a:pPr algn="l"/>
              <a:r>
                <a:rPr lang="zh-CN" sz="1350" dirty="0">
                  <a:solidFill>
                    <a:srgbClr val="5B6475"/>
                  </a:solidFill>
                  <a:latin typeface="+mn-lt"/>
                  <a:ea typeface="+mn-ea"/>
                  <a:cs typeface="+mn-cs"/>
                </a:rPr>
                <a:t>带计算的题请把代入的每一步都写出来。</a:t>
              </a:r>
            </a:p>
          </p:txBody>
        </p:sp>
      </p:grpSp>
      <p:grpSp>
        <p:nvGrpSpPr>
          <p:cNvPr id="14" name="c1-card-1"/>
          <p:cNvGrpSpPr/>
          <p:nvPr/>
        </p:nvGrpSpPr>
        <p:grpSpPr>
          <a:xfrm>
            <a:off x="533400" y="1928812"/>
            <a:ext cx="5410200" cy="1671638"/>
            <a:chOff x="533400" y="1928812"/>
            <a:chExt cx="5410200" cy="1671638"/>
          </a:xfrm>
        </p:grpSpPr>
        <p:sp>
          <p:nvSpPr>
            <p:cNvPr id="9" name="Rectangle 9"/>
            <p:cNvSpPr/>
            <p:nvPr/>
          </p:nvSpPr>
          <p:spPr>
            <a:xfrm>
              <a:off x="533400" y="1928812"/>
              <a:ext cx="5410200" cy="1671638"/>
            </a:xfrm>
            <a:prstGeom prst="roundRect">
              <a:avLst>
                <a:gd name="adj" fmla="val 7977"/>
              </a:avLst>
            </a:prstGeom>
            <a:solidFill>
              <a:srgbClr val="F4F6FB"/>
            </a:solidFill>
            <a:ln>
              <a:noFill/>
            </a:ln>
          </p:spPr>
        </p:sp>
        <p:sp>
          <p:nvSpPr>
            <p:cNvPr id="10" name="Rectangle 10"/>
            <p:cNvSpPr/>
            <p:nvPr/>
          </p:nvSpPr>
          <p:spPr>
            <a:xfrm>
              <a:off x="714375" y="2109788"/>
              <a:ext cx="379095" cy="238125"/>
            </a:xfrm>
            <a:prstGeom prst="roundRect">
              <a:avLst>
                <a:gd name="adj" fmla="val 50000"/>
              </a:avLst>
            </a:prstGeom>
            <a:solidFill>
              <a:srgbClr val="E7EDF3"/>
            </a:solidFill>
            <a:ln>
              <a:noFill/>
            </a:ln>
          </p:spPr>
        </p:sp>
        <p:sp>
          <p:nvSpPr>
            <p:cNvPr id="11" name="TextBox 11"/>
            <p:cNvSpPr txBox="1"/>
            <p:nvPr/>
          </p:nvSpPr>
          <p:spPr>
            <a:xfrm>
              <a:off x="803832" y="2142649"/>
              <a:ext cx="200180" cy="190690"/>
            </a:xfrm>
            <a:prstGeom prst="rect">
              <a:avLst/>
            </a:prstGeom>
            <a:noFill/>
            <a:ln>
              <a:noFill/>
            </a:ln>
          </p:spPr>
          <p:txBody>
            <a:bodyPr wrap="none" lIns="0" tIns="0" rIns="0" bIns="0" anchor="t" anchorCtr="0">
              <a:spAutoFit/>
            </a:bodyPr>
            <a:lstStyle/>
            <a:p>
              <a:pPr algn="ctr"/>
              <a:r>
                <a:rPr lang="en-US" sz="980" b="1" dirty="0">
                  <a:solidFill>
                    <a:srgbClr val="334E68"/>
                  </a:solidFill>
                  <a:latin typeface="+mn-lt"/>
                  <a:ea typeface="+mn-ea"/>
                  <a:cs typeface="+mn-cs"/>
                </a:rPr>
                <a:t>Q1</a:t>
              </a:r>
            </a:p>
          </p:txBody>
        </p:sp>
        <p:sp>
          <p:nvSpPr>
            <p:cNvPr id="12" name="TextBox 12"/>
            <p:cNvSpPr txBox="1"/>
            <p:nvPr/>
          </p:nvSpPr>
          <p:spPr>
            <a:xfrm>
              <a:off x="707898" y="2449354"/>
              <a:ext cx="4680458" cy="492252"/>
            </a:xfrm>
            <a:prstGeom prst="rect">
              <a:avLst/>
            </a:prstGeom>
            <a:noFill/>
            <a:ln>
              <a:noFill/>
            </a:ln>
          </p:spPr>
          <p:txBody>
            <a:bodyPr wrap="none" lIns="0" tIns="0" rIns="0" bIns="0" anchor="t" anchorCtr="0">
              <a:spAutoFit/>
            </a:bodyPr>
            <a:lstStyle/>
            <a:p>
              <a:pPr algn="l">
                <a:lnSpc>
                  <a:spcPts val="1912"/>
                </a:lnSpc>
              </a:pPr>
              <a:r>
                <a:rPr lang="zh-CN" sz="1280" b="1" dirty="0">
                  <a:solidFill>
                    <a:srgbClr val="1F2937"/>
                  </a:solidFill>
                  <a:latin typeface="+mn-lt"/>
                  <a:ea typeface="+mn-ea"/>
                  <a:cs typeface="+mn-cs"/>
                </a:rPr>
                <a:t>4 × 4 Torus、4 × 4 二维网格、16 个节点的超立方，直径和对剖</a:t>
              </a:r>
              <a:br/>
              <a:r>
                <a:rPr lang="zh-CN" sz="1280" b="1" dirty="0">
                  <a:solidFill>
                    <a:srgbClr val="1F2937"/>
                  </a:solidFill>
                  <a:latin typeface="+mn-lt"/>
                  <a:ea typeface="+mn-ea"/>
                  <a:cs typeface="+mn-cs"/>
                </a:rPr>
                <a:t>宽度各是多少？</a:t>
              </a:r>
            </a:p>
          </p:txBody>
        </p:sp>
        <p:sp>
          <p:nvSpPr>
            <p:cNvPr id="13" name="TextBox 13"/>
            <p:cNvSpPr txBox="1"/>
            <p:nvPr/>
          </p:nvSpPr>
          <p:spPr>
            <a:xfrm>
              <a:off x="707898" y="2977991"/>
              <a:ext cx="4800346" cy="492252"/>
            </a:xfrm>
            <a:prstGeom prst="rect">
              <a:avLst/>
            </a:prstGeom>
            <a:noFill/>
            <a:ln>
              <a:noFill/>
            </a:ln>
          </p:spPr>
          <p:txBody>
            <a:bodyPr wrap="none" lIns="0" tIns="0" rIns="0" bIns="0" anchor="t" anchorCtr="0">
              <a:spAutoFit/>
            </a:bodyPr>
            <a:lstStyle/>
            <a:p>
              <a:pPr algn="l">
                <a:lnSpc>
                  <a:spcPts val="1912"/>
                </a:lnSpc>
              </a:pPr>
              <a:r>
                <a:rPr lang="zh-CN" sz="1280" b="1" dirty="0">
                  <a:solidFill>
                    <a:srgbClr val="0F7A68"/>
                  </a:solidFill>
                  <a:latin typeface="+mn-lt"/>
                  <a:ea typeface="+mn-ea"/>
                  <a:cs typeface="+mn-cs"/>
                </a:rPr>
                <a:t>答：</a:t>
              </a:r>
              <a:r>
                <a:rPr lang="zh-CN" sz="1280" dirty="0">
                  <a:solidFill>
                    <a:srgbClr val="1F2937"/>
                  </a:solidFill>
                  <a:latin typeface="+mn-lt"/>
                  <a:ea typeface="+mn-ea"/>
                  <a:cs typeface="+mn-cs"/>
                </a:rPr>
                <a:t>Torus 直径 4、对剖宽度 8；网格直径 6、对剖宽度 4；超立方</a:t>
              </a:r>
              <a:br/>
              <a:r>
                <a:rPr lang="zh-CN" sz="1280" dirty="0">
                  <a:solidFill>
                    <a:srgbClr val="1F2937"/>
                  </a:solidFill>
                  <a:latin typeface="+mn-lt"/>
                  <a:ea typeface="+mn-ea"/>
                  <a:cs typeface="+mn-cs"/>
                </a:rPr>
                <a:t>直径 4、对剖宽度 8。</a:t>
              </a:r>
            </a:p>
          </p:txBody>
        </p:sp>
      </p:grpSp>
      <p:grpSp>
        <p:nvGrpSpPr>
          <p:cNvPr id="20" name="c1-card-2"/>
          <p:cNvGrpSpPr/>
          <p:nvPr/>
        </p:nvGrpSpPr>
        <p:grpSpPr>
          <a:xfrm>
            <a:off x="533400" y="3765232"/>
            <a:ext cx="5410200" cy="1671638"/>
            <a:chOff x="533400" y="3765232"/>
            <a:chExt cx="5410200" cy="1671638"/>
          </a:xfrm>
        </p:grpSpPr>
        <p:sp>
          <p:nvSpPr>
            <p:cNvPr id="15" name="Rectangle 15"/>
            <p:cNvSpPr/>
            <p:nvPr/>
          </p:nvSpPr>
          <p:spPr>
            <a:xfrm>
              <a:off x="533400" y="3765232"/>
              <a:ext cx="5410200" cy="1671638"/>
            </a:xfrm>
            <a:prstGeom prst="roundRect">
              <a:avLst>
                <a:gd name="adj" fmla="val 7977"/>
              </a:avLst>
            </a:prstGeom>
            <a:solidFill>
              <a:srgbClr val="F4F6FB"/>
            </a:solidFill>
            <a:ln>
              <a:noFill/>
            </a:ln>
          </p:spPr>
        </p:sp>
        <p:sp>
          <p:nvSpPr>
            <p:cNvPr id="16" name="Rectangle 16"/>
            <p:cNvSpPr/>
            <p:nvPr/>
          </p:nvSpPr>
          <p:spPr>
            <a:xfrm>
              <a:off x="714375" y="3946208"/>
              <a:ext cx="379095" cy="238125"/>
            </a:xfrm>
            <a:prstGeom prst="roundRect">
              <a:avLst>
                <a:gd name="adj" fmla="val 50000"/>
              </a:avLst>
            </a:prstGeom>
            <a:solidFill>
              <a:srgbClr val="E7EDF3"/>
            </a:solidFill>
            <a:ln>
              <a:noFill/>
            </a:ln>
          </p:spPr>
        </p:sp>
        <p:sp>
          <p:nvSpPr>
            <p:cNvPr id="17" name="TextBox 17"/>
            <p:cNvSpPr txBox="1"/>
            <p:nvPr/>
          </p:nvSpPr>
          <p:spPr>
            <a:xfrm>
              <a:off x="803832" y="3979069"/>
              <a:ext cx="200180" cy="190690"/>
            </a:xfrm>
            <a:prstGeom prst="rect">
              <a:avLst/>
            </a:prstGeom>
            <a:noFill/>
            <a:ln>
              <a:noFill/>
            </a:ln>
          </p:spPr>
          <p:txBody>
            <a:bodyPr wrap="none" lIns="0" tIns="0" rIns="0" bIns="0" anchor="t" anchorCtr="0">
              <a:spAutoFit/>
            </a:bodyPr>
            <a:lstStyle/>
            <a:p>
              <a:pPr algn="ctr"/>
              <a:r>
                <a:rPr lang="en-US" sz="980" b="1" dirty="0">
                  <a:solidFill>
                    <a:srgbClr val="334E68"/>
                  </a:solidFill>
                  <a:latin typeface="+mn-lt"/>
                  <a:ea typeface="+mn-ea"/>
                  <a:cs typeface="+mn-cs"/>
                </a:rPr>
                <a:t>Q3</a:t>
              </a:r>
            </a:p>
          </p:txBody>
        </p:sp>
        <p:sp>
          <p:nvSpPr>
            <p:cNvPr id="18" name="TextBox 18"/>
            <p:cNvSpPr txBox="1"/>
            <p:nvPr/>
          </p:nvSpPr>
          <p:spPr>
            <a:xfrm>
              <a:off x="707898" y="4286726"/>
              <a:ext cx="4669079" cy="492252"/>
            </a:xfrm>
            <a:prstGeom prst="rect">
              <a:avLst/>
            </a:prstGeom>
            <a:noFill/>
            <a:ln>
              <a:noFill/>
            </a:ln>
          </p:spPr>
          <p:txBody>
            <a:bodyPr wrap="none" lIns="0" tIns="0" rIns="0" bIns="0" anchor="t" anchorCtr="0">
              <a:spAutoFit/>
            </a:bodyPr>
            <a:lstStyle/>
            <a:p>
              <a:pPr algn="l">
                <a:lnSpc>
                  <a:spcPts val="1912"/>
                </a:lnSpc>
              </a:pPr>
              <a:r>
                <a:rPr lang="zh-CN" sz="1280" b="1" dirty="0">
                  <a:solidFill>
                    <a:srgbClr val="1F2937"/>
                  </a:solidFill>
                  <a:latin typeface="+mn-lt"/>
                  <a:ea typeface="+mn-ea"/>
                  <a:cs typeface="+mn-cs"/>
                </a:rPr>
                <a:t>通信模型中 T₀ = 20 μs、R∞ = 500 MB/s，发送 10240 B 的消息</a:t>
              </a:r>
              <a:br/>
              <a:r>
                <a:rPr lang="zh-CN" sz="1280" b="1" dirty="0">
                  <a:solidFill>
                    <a:srgbClr val="1F2937"/>
                  </a:solidFill>
                  <a:latin typeface="+mn-lt"/>
                  <a:ea typeface="+mn-ea"/>
                  <a:cs typeface="+mn-cs"/>
                </a:rPr>
                <a:t>要多久？有效带宽达到一半时消息多长？</a:t>
              </a:r>
            </a:p>
          </p:txBody>
        </p:sp>
        <p:sp>
          <p:nvSpPr>
            <p:cNvPr id="19" name="TextBox 19"/>
            <p:cNvSpPr txBox="1"/>
            <p:nvPr/>
          </p:nvSpPr>
          <p:spPr>
            <a:xfrm>
              <a:off x="707898" y="4814411"/>
              <a:ext cx="4670298" cy="492252"/>
            </a:xfrm>
            <a:prstGeom prst="rect">
              <a:avLst/>
            </a:prstGeom>
            <a:noFill/>
            <a:ln>
              <a:noFill/>
            </a:ln>
          </p:spPr>
          <p:txBody>
            <a:bodyPr wrap="none" lIns="0" tIns="0" rIns="0" bIns="0" anchor="t" anchorCtr="0">
              <a:spAutoFit/>
            </a:bodyPr>
            <a:lstStyle/>
            <a:p>
              <a:pPr algn="l">
                <a:lnSpc>
                  <a:spcPts val="1912"/>
                </a:lnSpc>
              </a:pPr>
              <a:r>
                <a:rPr lang="zh-CN" sz="1280" b="1" dirty="0">
                  <a:solidFill>
                    <a:srgbClr val="0F7A68"/>
                  </a:solidFill>
                  <a:latin typeface="+mn-lt"/>
                  <a:ea typeface="+mn-ea"/>
                  <a:cs typeface="+mn-cs"/>
                </a:rPr>
                <a:t>答：</a:t>
              </a:r>
              <a:r>
                <a:rPr lang="zh-CN" sz="1280" dirty="0">
                  <a:solidFill>
                    <a:srgbClr val="1F2937"/>
                  </a:solidFill>
                  <a:latin typeface="+mn-lt"/>
                  <a:ea typeface="+mn-ea"/>
                  <a:cs typeface="+mn-cs"/>
                </a:rPr>
                <a:t>T = 20 + 10240 / 500 = 20 + 20.48 = 40.48 μs；m = T₀ × R</a:t>
              </a:r>
              <a:br/>
              <a:r>
                <a:rPr lang="zh-CN" sz="1280" dirty="0">
                  <a:solidFill>
                    <a:srgbClr val="1F2937"/>
                  </a:solidFill>
                  <a:latin typeface="+mn-lt"/>
                  <a:ea typeface="+mn-ea"/>
                  <a:cs typeface="+mn-cs"/>
                </a:rPr>
                <a:t>∞ = 20 × 500 = 10000 B。</a:t>
              </a:r>
            </a:p>
          </p:txBody>
        </p:sp>
      </p:grpSp>
      <p:grpSp>
        <p:nvGrpSpPr>
          <p:cNvPr id="26" name="c2-card-1"/>
          <p:cNvGrpSpPr/>
          <p:nvPr/>
        </p:nvGrpSpPr>
        <p:grpSpPr>
          <a:xfrm>
            <a:off x="6248400" y="1928812"/>
            <a:ext cx="5410200" cy="1671638"/>
            <a:chOff x="6248400" y="1928812"/>
            <a:chExt cx="5410200" cy="1671638"/>
          </a:xfrm>
        </p:grpSpPr>
        <p:sp>
          <p:nvSpPr>
            <p:cNvPr id="21" name="Rectangle 21"/>
            <p:cNvSpPr/>
            <p:nvPr/>
          </p:nvSpPr>
          <p:spPr>
            <a:xfrm>
              <a:off x="6248400" y="1928812"/>
              <a:ext cx="5410200" cy="1671638"/>
            </a:xfrm>
            <a:prstGeom prst="roundRect">
              <a:avLst>
                <a:gd name="adj" fmla="val 7977"/>
              </a:avLst>
            </a:prstGeom>
            <a:solidFill>
              <a:srgbClr val="F4F6FB"/>
            </a:solidFill>
            <a:ln>
              <a:noFill/>
            </a:ln>
          </p:spPr>
        </p:sp>
        <p:sp>
          <p:nvSpPr>
            <p:cNvPr id="22" name="Rectangle 22"/>
            <p:cNvSpPr/>
            <p:nvPr/>
          </p:nvSpPr>
          <p:spPr>
            <a:xfrm>
              <a:off x="6429375" y="2109788"/>
              <a:ext cx="379095" cy="238125"/>
            </a:xfrm>
            <a:prstGeom prst="roundRect">
              <a:avLst>
                <a:gd name="adj" fmla="val 50000"/>
              </a:avLst>
            </a:prstGeom>
            <a:solidFill>
              <a:srgbClr val="E7EDF3"/>
            </a:solidFill>
            <a:ln>
              <a:noFill/>
            </a:ln>
          </p:spPr>
        </p:sp>
        <p:sp>
          <p:nvSpPr>
            <p:cNvPr id="23" name="TextBox 23"/>
            <p:cNvSpPr txBox="1"/>
            <p:nvPr/>
          </p:nvSpPr>
          <p:spPr>
            <a:xfrm>
              <a:off x="6518832" y="2142649"/>
              <a:ext cx="200180" cy="190690"/>
            </a:xfrm>
            <a:prstGeom prst="rect">
              <a:avLst/>
            </a:prstGeom>
            <a:noFill/>
            <a:ln>
              <a:noFill/>
            </a:ln>
          </p:spPr>
          <p:txBody>
            <a:bodyPr wrap="none" lIns="0" tIns="0" rIns="0" bIns="0" anchor="t" anchorCtr="0">
              <a:spAutoFit/>
            </a:bodyPr>
            <a:lstStyle/>
            <a:p>
              <a:pPr algn="ctr"/>
              <a:r>
                <a:rPr lang="en-US" sz="980" b="1" dirty="0">
                  <a:solidFill>
                    <a:srgbClr val="334E68"/>
                  </a:solidFill>
                  <a:latin typeface="+mn-lt"/>
                  <a:ea typeface="+mn-ea"/>
                  <a:cs typeface="+mn-cs"/>
                </a:rPr>
                <a:t>Q2</a:t>
              </a:r>
            </a:p>
          </p:txBody>
        </p:sp>
        <p:sp>
          <p:nvSpPr>
            <p:cNvPr id="24" name="TextBox 24"/>
            <p:cNvSpPr txBox="1"/>
            <p:nvPr/>
          </p:nvSpPr>
          <p:spPr>
            <a:xfrm>
              <a:off x="6422898" y="2449354"/>
              <a:ext cx="4681271" cy="492252"/>
            </a:xfrm>
            <a:prstGeom prst="rect">
              <a:avLst/>
            </a:prstGeom>
            <a:noFill/>
            <a:ln>
              <a:noFill/>
            </a:ln>
          </p:spPr>
          <p:txBody>
            <a:bodyPr wrap="none" lIns="0" tIns="0" rIns="0" bIns="0" anchor="t" anchorCtr="0">
              <a:spAutoFit/>
            </a:bodyPr>
            <a:lstStyle/>
            <a:p>
              <a:pPr algn="l">
                <a:lnSpc>
                  <a:spcPts val="1912"/>
                </a:lnSpc>
              </a:pPr>
              <a:r>
                <a:rPr lang="zh-CN" sz="1280" b="1" dirty="0">
                  <a:solidFill>
                    <a:srgbClr val="1F2937"/>
                  </a:solidFill>
                  <a:latin typeface="+mn-lt"/>
                  <a:ea typeface="+mn-ea"/>
                  <a:cs typeface="+mn-cs"/>
                </a:rPr>
                <a:t>用 2×2 开关搭 64 × 64 的 Ω 网络，要几级、多少个开关？同样规</a:t>
              </a:r>
              <a:br/>
              <a:r>
                <a:rPr lang="zh-CN" sz="1280" b="1" dirty="0">
                  <a:solidFill>
                    <a:srgbClr val="1F2937"/>
                  </a:solidFill>
                  <a:latin typeface="+mn-lt"/>
                  <a:ea typeface="+mn-ea"/>
                  <a:cs typeface="+mn-cs"/>
                </a:rPr>
                <a:t>模的交叉开关要多少个交叉点？</a:t>
              </a:r>
            </a:p>
          </p:txBody>
        </p:sp>
        <p:sp>
          <p:nvSpPr>
            <p:cNvPr id="25" name="TextBox 25"/>
            <p:cNvSpPr txBox="1"/>
            <p:nvPr/>
          </p:nvSpPr>
          <p:spPr>
            <a:xfrm>
              <a:off x="6422898" y="2977991"/>
              <a:ext cx="4719066" cy="492252"/>
            </a:xfrm>
            <a:prstGeom prst="rect">
              <a:avLst/>
            </a:prstGeom>
            <a:noFill/>
            <a:ln>
              <a:noFill/>
            </a:ln>
          </p:spPr>
          <p:txBody>
            <a:bodyPr wrap="none" lIns="0" tIns="0" rIns="0" bIns="0" anchor="t" anchorCtr="0">
              <a:spAutoFit/>
            </a:bodyPr>
            <a:lstStyle/>
            <a:p>
              <a:pPr algn="l">
                <a:lnSpc>
                  <a:spcPts val="1912"/>
                </a:lnSpc>
              </a:pPr>
              <a:r>
                <a:rPr lang="zh-CN" sz="1280" b="1" dirty="0">
                  <a:solidFill>
                    <a:srgbClr val="0F7A68"/>
                  </a:solidFill>
                  <a:latin typeface="+mn-lt"/>
                  <a:ea typeface="+mn-ea"/>
                  <a:cs typeface="+mn-cs"/>
                </a:rPr>
                <a:t>答：</a:t>
              </a:r>
              <a:r>
                <a:rPr lang="zh-CN" sz="1280" dirty="0">
                  <a:solidFill>
                    <a:srgbClr val="1F2937"/>
                  </a:solidFill>
                  <a:latin typeface="+mn-lt"/>
                  <a:ea typeface="+mn-ea"/>
                  <a:cs typeface="+mn-cs"/>
                </a:rPr>
                <a:t>log₂64 = 6 级，每级 32 个，共 192 个开关；交叉开关要 64²</a:t>
              </a:r>
              <a:br/>
              <a:r>
                <a:rPr lang="zh-CN" sz="1280" dirty="0">
                  <a:solidFill>
                    <a:srgbClr val="1F2937"/>
                  </a:solidFill>
                  <a:latin typeface="+mn-lt"/>
                  <a:ea typeface="+mn-ea"/>
                  <a:cs typeface="+mn-cs"/>
                </a:rPr>
                <a:t>= 4096 个交叉点。</a:t>
              </a:r>
            </a:p>
          </p:txBody>
        </p:sp>
      </p:grpSp>
      <p:grpSp>
        <p:nvGrpSpPr>
          <p:cNvPr id="32" name="c2-card-2"/>
          <p:cNvGrpSpPr/>
          <p:nvPr/>
        </p:nvGrpSpPr>
        <p:grpSpPr>
          <a:xfrm>
            <a:off x="6248400" y="3765232"/>
            <a:ext cx="5410200" cy="1671638"/>
            <a:chOff x="6248400" y="3765232"/>
            <a:chExt cx="5410200" cy="1671638"/>
          </a:xfrm>
        </p:grpSpPr>
        <p:sp>
          <p:nvSpPr>
            <p:cNvPr id="27" name="Rectangle 27"/>
            <p:cNvSpPr/>
            <p:nvPr/>
          </p:nvSpPr>
          <p:spPr>
            <a:xfrm>
              <a:off x="6248400" y="3765232"/>
              <a:ext cx="5410200" cy="1671638"/>
            </a:xfrm>
            <a:prstGeom prst="roundRect">
              <a:avLst>
                <a:gd name="adj" fmla="val 7977"/>
              </a:avLst>
            </a:prstGeom>
            <a:solidFill>
              <a:srgbClr val="F4F6FB"/>
            </a:solidFill>
            <a:ln>
              <a:noFill/>
            </a:ln>
          </p:spPr>
        </p:sp>
        <p:sp>
          <p:nvSpPr>
            <p:cNvPr id="28" name="Rectangle 28"/>
            <p:cNvSpPr/>
            <p:nvPr/>
          </p:nvSpPr>
          <p:spPr>
            <a:xfrm>
              <a:off x="6429375" y="3946208"/>
              <a:ext cx="379095" cy="238125"/>
            </a:xfrm>
            <a:prstGeom prst="roundRect">
              <a:avLst>
                <a:gd name="adj" fmla="val 50000"/>
              </a:avLst>
            </a:prstGeom>
            <a:solidFill>
              <a:srgbClr val="E7EDF3"/>
            </a:solidFill>
            <a:ln>
              <a:noFill/>
            </a:ln>
          </p:spPr>
        </p:sp>
        <p:sp>
          <p:nvSpPr>
            <p:cNvPr id="29" name="TextBox 29"/>
            <p:cNvSpPr txBox="1"/>
            <p:nvPr/>
          </p:nvSpPr>
          <p:spPr>
            <a:xfrm>
              <a:off x="6518832" y="3979069"/>
              <a:ext cx="200180" cy="190690"/>
            </a:xfrm>
            <a:prstGeom prst="rect">
              <a:avLst/>
            </a:prstGeom>
            <a:noFill/>
            <a:ln>
              <a:noFill/>
            </a:ln>
          </p:spPr>
          <p:txBody>
            <a:bodyPr wrap="none" lIns="0" tIns="0" rIns="0" bIns="0" anchor="t" anchorCtr="0">
              <a:spAutoFit/>
            </a:bodyPr>
            <a:lstStyle/>
            <a:p>
              <a:pPr algn="ctr"/>
              <a:r>
                <a:rPr lang="en-US" sz="980" b="1" dirty="0">
                  <a:solidFill>
                    <a:srgbClr val="334E68"/>
                  </a:solidFill>
                  <a:latin typeface="+mn-lt"/>
                  <a:ea typeface="+mn-ea"/>
                  <a:cs typeface="+mn-cs"/>
                </a:rPr>
                <a:t>Q4</a:t>
              </a:r>
            </a:p>
          </p:txBody>
        </p:sp>
        <p:sp>
          <p:nvSpPr>
            <p:cNvPr id="30" name="TextBox 30"/>
            <p:cNvSpPr txBox="1"/>
            <p:nvPr/>
          </p:nvSpPr>
          <p:spPr>
            <a:xfrm>
              <a:off x="6422898" y="4286726"/>
              <a:ext cx="4738167" cy="492252"/>
            </a:xfrm>
            <a:prstGeom prst="rect">
              <a:avLst/>
            </a:prstGeom>
            <a:noFill/>
            <a:ln>
              <a:noFill/>
            </a:ln>
          </p:spPr>
          <p:txBody>
            <a:bodyPr wrap="none" lIns="0" tIns="0" rIns="0" bIns="0" anchor="t" anchorCtr="0">
              <a:spAutoFit/>
            </a:bodyPr>
            <a:lstStyle/>
            <a:p>
              <a:pPr algn="l">
                <a:lnSpc>
                  <a:spcPts val="1912"/>
                </a:lnSpc>
              </a:pPr>
              <a:r>
                <a:rPr lang="zh-CN" sz="1280" b="1" dirty="0">
                  <a:solidFill>
                    <a:srgbClr val="1F2937"/>
                  </a:solidFill>
                  <a:latin typeface="+mn-lt"/>
                  <a:ea typeface="+mn-ea"/>
                  <a:cs typeface="+mn-cs"/>
                </a:rPr>
                <a:t>串行比例 10%、N = 32，分别按 Amdahl 定律和 Gustafson 定律</a:t>
              </a:r>
              <a:br/>
              <a:r>
                <a:rPr lang="zh-CN" sz="1280" b="1" dirty="0">
                  <a:solidFill>
                    <a:srgbClr val="1F2937"/>
                  </a:solidFill>
                  <a:latin typeface="+mn-lt"/>
                  <a:ea typeface="+mn-ea"/>
                  <a:cs typeface="+mn-cs"/>
                </a:rPr>
                <a:t>求加速比与效率。</a:t>
              </a:r>
            </a:p>
          </p:txBody>
        </p:sp>
        <p:sp>
          <p:nvSpPr>
            <p:cNvPr id="31" name="TextBox 31"/>
            <p:cNvSpPr txBox="1"/>
            <p:nvPr/>
          </p:nvSpPr>
          <p:spPr>
            <a:xfrm>
              <a:off x="6422898" y="4814411"/>
              <a:ext cx="4686554" cy="492252"/>
            </a:xfrm>
            <a:prstGeom prst="rect">
              <a:avLst/>
            </a:prstGeom>
            <a:noFill/>
            <a:ln>
              <a:noFill/>
            </a:ln>
          </p:spPr>
          <p:txBody>
            <a:bodyPr wrap="none" lIns="0" tIns="0" rIns="0" bIns="0" anchor="t" anchorCtr="0">
              <a:spAutoFit/>
            </a:bodyPr>
            <a:lstStyle/>
            <a:p>
              <a:pPr algn="l">
                <a:lnSpc>
                  <a:spcPts val="1912"/>
                </a:lnSpc>
              </a:pPr>
              <a:r>
                <a:rPr lang="zh-CN" sz="1280" b="1" dirty="0">
                  <a:solidFill>
                    <a:srgbClr val="0F7A68"/>
                  </a:solidFill>
                  <a:latin typeface="+mn-lt"/>
                  <a:ea typeface="+mn-ea"/>
                  <a:cs typeface="+mn-cs"/>
                </a:rPr>
                <a:t>答：</a:t>
              </a:r>
              <a:r>
                <a:rPr lang="zh-CN" sz="1280" dirty="0">
                  <a:solidFill>
                    <a:srgbClr val="1F2937"/>
                  </a:solidFill>
                  <a:latin typeface="+mn-lt"/>
                  <a:ea typeface="+mn-ea"/>
                  <a:cs typeface="+mn-cs"/>
                </a:rPr>
                <a:t>Amdahl：1 / (0.1 + 0.9/32) = 1 / 0.128125 ≈ 7.80，效率</a:t>
              </a:r>
              <a:br/>
              <a:r>
                <a:rPr lang="zh-CN" sz="1280" dirty="0">
                  <a:solidFill>
                    <a:srgbClr val="1F2937"/>
                  </a:solidFill>
                  <a:latin typeface="+mn-lt"/>
                  <a:ea typeface="+mn-ea"/>
                  <a:cs typeface="+mn-cs"/>
                </a:rPr>
                <a:t>约 24%；Gustafson：0.1 + 0.9 × 32 = 28.9，效率约 90%。</a:t>
              </a:r>
            </a:p>
          </p:txBody>
        </p:sp>
      </p:grpSp>
      <p:grpSp>
        <p:nvGrpSpPr>
          <p:cNvPr id="39" name="takeaway"/>
          <p:cNvGrpSpPr/>
          <p:nvPr/>
        </p:nvGrpSpPr>
        <p:grpSpPr>
          <a:xfrm>
            <a:off x="533400" y="5895022"/>
            <a:ext cx="11125200" cy="467678"/>
            <a:chOff x="533400" y="5895022"/>
            <a:chExt cx="11125200" cy="467678"/>
          </a:xfrm>
        </p:grpSpPr>
        <p:sp>
          <p:nvSpPr>
            <p:cNvPr id="33" name="Rectangle 33"/>
            <p:cNvSpPr/>
            <p:nvPr/>
          </p:nvSpPr>
          <p:spPr>
            <a:xfrm>
              <a:off x="533400" y="5895022"/>
              <a:ext cx="11125200" cy="467678"/>
            </a:xfrm>
            <a:prstGeom prst="roundRect">
              <a:avLst>
                <a:gd name="adj" fmla="val 24440"/>
              </a:avLst>
            </a:prstGeom>
            <a:solidFill>
              <a:srgbClr val="FDEEE7"/>
            </a:solidFill>
            <a:ln>
              <a:noFill/>
            </a:ln>
          </p:spPr>
        </p:sp>
        <p:grpSp>
          <p:nvGrpSpPr>
            <p:cNvPr id="37" name="Group 37"/>
            <p:cNvGrpSpPr/>
            <p:nvPr/>
          </p:nvGrpSpPr>
          <p:grpSpPr>
            <a:xfrm>
              <a:off x="738188" y="6028373"/>
              <a:ext cx="200026" cy="200025"/>
              <a:chOff x="738188" y="6028373"/>
              <a:chExt cx="200026" cy="200025"/>
            </a:xfrm>
          </p:grpSpPr>
          <p:sp>
            <p:nvSpPr>
              <p:cNvPr id="34" name="Freeform 34"/>
              <p:cNvSpPr/>
              <p:nvPr/>
            </p:nvSpPr>
            <p:spPr>
              <a:xfrm>
                <a:off x="738188" y="6028373"/>
                <a:ext cx="200026" cy="100013"/>
              </a:xfrm>
              <a:custGeom>
                <a:avLst/>
                <a:gdLst/>
                <a:ahLst/>
                <a:cxnLst/>
                <a:rect l="l" t="t" r="r" b="b"/>
                <a:pathLst>
                  <a:path w="200026" h="100013">
                    <a:moveTo>
                      <a:pt x="0" y="100013"/>
                    </a:moveTo>
                    <a:lnTo>
                      <a:pt x="11113" y="100013"/>
                    </a:lnTo>
                    <a:moveTo>
                      <a:pt x="100013" y="0"/>
                    </a:moveTo>
                    <a:lnTo>
                      <a:pt x="100013" y="11113"/>
                    </a:lnTo>
                    <a:moveTo>
                      <a:pt x="188913" y="100013"/>
                    </a:moveTo>
                    <a:lnTo>
                      <a:pt x="200026" y="100013"/>
                    </a:lnTo>
                    <a:moveTo>
                      <a:pt x="28893" y="28893"/>
                    </a:moveTo>
                    <a:lnTo>
                      <a:pt x="36671" y="36671"/>
                    </a:lnTo>
                    <a:moveTo>
                      <a:pt x="171133" y="28893"/>
                    </a:moveTo>
                    <a:lnTo>
                      <a:pt x="163354" y="36671"/>
                    </a:lnTo>
                  </a:path>
                </a:pathLst>
              </a:custGeom>
              <a:noFill/>
              <a:ln w="22225">
                <a:solidFill>
                  <a:srgbClr val="C2410C"/>
                </a:solidFill>
              </a:ln>
            </p:spPr>
          </p:sp>
          <p:sp>
            <p:nvSpPr>
              <p:cNvPr id="35" name="Freeform 35"/>
              <p:cNvSpPr/>
              <p:nvPr/>
            </p:nvSpPr>
            <p:spPr>
              <a:xfrm>
                <a:off x="777926" y="6072823"/>
                <a:ext cx="120548" cy="155575"/>
              </a:xfrm>
              <a:custGeom>
                <a:avLst/>
                <a:gdLst/>
                <a:ahLst/>
                <a:cxnLst/>
                <a:rect l="l" t="t" r="r" b="b"/>
                <a:pathLst>
                  <a:path w="120548" h="155575">
                    <a:moveTo>
                      <a:pt x="26937" y="100013"/>
                    </a:moveTo>
                    <a:cubicBezTo>
                      <a:pt x="7804" y="85663"/>
                      <a:pt x="0" y="60681"/>
                      <a:pt x="7563" y="37992"/>
                    </a:cubicBezTo>
                    <a:cubicBezTo>
                      <a:pt x="15126" y="15304"/>
                      <a:pt x="36358" y="0"/>
                      <a:pt x="60274" y="0"/>
                    </a:cubicBezTo>
                    <a:cubicBezTo>
                      <a:pt x="84190" y="0"/>
                      <a:pt x="105423" y="15304"/>
                      <a:pt x="112986" y="37992"/>
                    </a:cubicBezTo>
                    <a:cubicBezTo>
                      <a:pt x="120548" y="60681"/>
                      <a:pt x="112745" y="85663"/>
                      <a:pt x="93612" y="100013"/>
                    </a:cubicBezTo>
                    <a:cubicBezTo>
                      <a:pt x="84812" y="108723"/>
                      <a:pt x="80686" y="121103"/>
                      <a:pt x="82499" y="133350"/>
                    </a:cubicBezTo>
                    <a:cubicBezTo>
                      <a:pt x="82499" y="145625"/>
                      <a:pt x="72549" y="155575"/>
                      <a:pt x="60274" y="155575"/>
                    </a:cubicBezTo>
                    <a:cubicBezTo>
                      <a:pt x="48000" y="155575"/>
                      <a:pt x="38049" y="145625"/>
                      <a:pt x="38049" y="133350"/>
                    </a:cubicBezTo>
                    <a:cubicBezTo>
                      <a:pt x="39862" y="121103"/>
                      <a:pt x="35736" y="108723"/>
                      <a:pt x="26937" y="100013"/>
                    </a:cubicBezTo>
                  </a:path>
                </a:pathLst>
              </a:custGeom>
              <a:noFill/>
              <a:ln w="22225">
                <a:solidFill>
                  <a:srgbClr val="C2410C"/>
                </a:solidFill>
              </a:ln>
            </p:spPr>
          </p:sp>
          <p:sp>
            <p:nvSpPr>
              <p:cNvPr id="36" name="Freeform 36"/>
              <p:cNvSpPr/>
              <p:nvPr/>
            </p:nvSpPr>
            <p:spPr>
              <a:xfrm>
                <a:off x="812642" y="6183948"/>
                <a:ext cx="51118" cy="9525"/>
              </a:xfrm>
              <a:custGeom>
                <a:avLst/>
                <a:gdLst/>
                <a:ahLst/>
                <a:cxnLst/>
                <a:rect l="l" t="t" r="r" b="b"/>
                <a:pathLst>
                  <a:path w="51118" h="9525">
                    <a:moveTo>
                      <a:pt x="0" y="0"/>
                    </a:moveTo>
                    <a:lnTo>
                      <a:pt x="51118" y="0"/>
                    </a:lnTo>
                  </a:path>
                </a:pathLst>
              </a:custGeom>
              <a:noFill/>
              <a:ln w="22225">
                <a:solidFill>
                  <a:srgbClr val="C2410C"/>
                </a:solidFill>
              </a:ln>
            </p:spPr>
          </p:sp>
        </p:grpSp>
        <p:sp>
          <p:nvSpPr>
            <p:cNvPr id="38" name="TextBox 38"/>
            <p:cNvSpPr txBox="1"/>
            <p:nvPr/>
          </p:nvSpPr>
          <p:spPr>
            <a:xfrm>
              <a:off x="1041273" y="6039326"/>
              <a:ext cx="7697815" cy="249364"/>
            </a:xfrm>
            <a:prstGeom prst="rect">
              <a:avLst/>
            </a:prstGeom>
            <a:noFill/>
            <a:ln>
              <a:noFill/>
            </a:ln>
          </p:spPr>
          <p:txBody>
            <a:bodyPr wrap="none" lIns="0" tIns="0" rIns="0" bIns="0" anchor="t" anchorCtr="0">
              <a:spAutoFit/>
            </a:bodyPr>
            <a:lstStyle/>
            <a:p>
              <a:pPr algn="l"/>
              <a:r>
                <a:rPr lang="zh-CN" sz="1280" dirty="0">
                  <a:solidFill>
                    <a:srgbClr val="C2410C"/>
                  </a:solidFill>
                  <a:latin typeface="+mn-lt"/>
                  <a:ea typeface="+mn-ea"/>
                  <a:cs typeface="+mn-cs"/>
                </a:rPr>
                <a:t>网络参数题先画出小规模实例数一数；加速比题先写出 rₛ 和 N，再判断题目固定的是负载还是时间。</a:t>
              </a:r>
            </a:p>
          </p:txBody>
        </p:sp>
      </p:grpSp>
      <p:grpSp>
        <p:nvGrpSpPr>
          <p:cNvPr id="42" name="footer"/>
          <p:cNvGrpSpPr/>
          <p:nvPr/>
        </p:nvGrpSpPr>
        <p:grpSpPr>
          <a:xfrm>
            <a:off x="528447" y="6581299"/>
            <a:ext cx="11135106" cy="190690"/>
            <a:chOff x="528447" y="6581299"/>
            <a:chExt cx="11135106" cy="190690"/>
          </a:xfrm>
        </p:grpSpPr>
        <p:sp>
          <p:nvSpPr>
            <p:cNvPr id="40" name="TextBox 40"/>
            <p:cNvSpPr txBox="1"/>
            <p:nvPr/>
          </p:nvSpPr>
          <p:spPr>
            <a:xfrm>
              <a:off x="528447" y="6581299"/>
              <a:ext cx="2120748"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并行与分布式计算 · 第7章 体系结构</a:t>
              </a:r>
            </a:p>
          </p:txBody>
        </p:sp>
        <p:sp>
          <p:nvSpPr>
            <p:cNvPr id="41" name="TextBox 41"/>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70</a:t>
              </a:r>
            </a:p>
          </p:txBody>
        </p:sp>
      </p:grpSp>
    </p:spTree>
  </p:cSld>
  <p:clrMapOvr>
    <a:masterClrMapping/>
  </p:clrMapOvr>
  <p:transition xmlns:p14="http://schemas.microsoft.com/office/powerpoint/2010/main" p14:dur="400">
    <p:fade/>
  </p:transition>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1399032" cy="909257"/>
            <a:chOff x="520446" y="342900"/>
            <a:chExt cx="1399032" cy="909257"/>
          </a:xfrm>
        </p:grpSpPr>
        <p:sp>
          <p:nvSpPr>
            <p:cNvPr id="2" name="Rectangle 2"/>
            <p:cNvSpPr/>
            <p:nvPr/>
          </p:nvSpPr>
          <p:spPr>
            <a:xfrm>
              <a:off x="533400" y="342900"/>
              <a:ext cx="1246822" cy="266700"/>
            </a:xfrm>
            <a:prstGeom prst="roundRect">
              <a:avLst>
                <a:gd name="adj" fmla="val 50000"/>
              </a:avLst>
            </a:prstGeom>
            <a:solidFill>
              <a:srgbClr val="E7EDF3"/>
            </a:solidFill>
            <a:ln>
              <a:noFill/>
            </a:ln>
          </p:spPr>
        </p:sp>
        <p:sp>
          <p:nvSpPr>
            <p:cNvPr id="3" name="TextBox 3"/>
            <p:cNvSpPr txBox="1"/>
            <p:nvPr/>
          </p:nvSpPr>
          <p:spPr>
            <a:xfrm>
              <a:off x="631966" y="407194"/>
              <a:ext cx="1050643"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第7章 体系结构</a:t>
              </a:r>
            </a:p>
          </p:txBody>
        </p:sp>
        <p:sp>
          <p:nvSpPr>
            <p:cNvPr id="4" name="TextBox 4"/>
            <p:cNvSpPr txBox="1"/>
            <p:nvPr/>
          </p:nvSpPr>
          <p:spPr>
            <a:xfrm>
              <a:off x="520446" y="753428"/>
              <a:ext cx="1399032"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本章小结</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28" name="c1-bullets-1"/>
          <p:cNvGrpSpPr/>
          <p:nvPr/>
        </p:nvGrpSpPr>
        <p:grpSpPr>
          <a:xfrm>
            <a:off x="533400" y="1532572"/>
            <a:ext cx="5142471" cy="1739837"/>
            <a:chOff x="533400" y="1532572"/>
            <a:chExt cx="5142471" cy="1739837"/>
          </a:xfrm>
        </p:grpSpPr>
        <p:sp>
          <p:nvSpPr>
            <p:cNvPr id="7" name="Ellipse 7"/>
            <p:cNvSpPr/>
            <p:nvPr/>
          </p:nvSpPr>
          <p:spPr>
            <a:xfrm>
              <a:off x="533400" y="1532572"/>
              <a:ext cx="148590" cy="148590"/>
            </a:xfrm>
            <a:prstGeom prst="ellipse">
              <a:avLst/>
            </a:prstGeom>
            <a:solidFill>
              <a:srgbClr val="334E68"/>
            </a:solidFill>
            <a:ln>
              <a:noFill/>
            </a:ln>
          </p:spPr>
        </p:sp>
        <p:sp>
          <p:nvSpPr>
            <p:cNvPr id="8" name="TextBox 8"/>
            <p:cNvSpPr txBox="1"/>
            <p:nvPr/>
          </p:nvSpPr>
          <p:spPr>
            <a:xfrm>
              <a:off x="575334" y="1561386"/>
              <a:ext cx="64723" cy="140494"/>
            </a:xfrm>
            <a:prstGeom prst="rect">
              <a:avLst/>
            </a:prstGeom>
            <a:noFill/>
            <a:ln>
              <a:noFill/>
            </a:ln>
          </p:spPr>
          <p:txBody>
            <a:bodyPr wrap="none" lIns="0" tIns="0" rIns="0" bIns="0" anchor="t" anchorCtr="0">
              <a:spAutoFit/>
            </a:bodyPr>
            <a:lstStyle/>
            <a:p>
              <a:pPr algn="ctr"/>
              <a:r>
                <a:rPr lang="zh-CN" sz="710" b="1" dirty="0">
                  <a:solidFill>
                    <a:srgbClr val="FFFFFF"/>
                  </a:solidFill>
                  <a:latin typeface="+mn-lt"/>
                  <a:ea typeface="+mn-ea"/>
                  <a:cs typeface="+mn-cs"/>
                </a:rPr>
                <a:t>1</a:t>
              </a:r>
            </a:p>
          </p:txBody>
        </p:sp>
        <p:sp>
          <p:nvSpPr>
            <p:cNvPr id="9" name="TextBox 9"/>
            <p:cNvSpPr txBox="1"/>
            <p:nvPr/>
          </p:nvSpPr>
          <p:spPr>
            <a:xfrm>
              <a:off x="772858" y="1541145"/>
              <a:ext cx="4903013"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非共享存储（COW、MPP）靠消息传递；共享存储（UMA、NUMA）要管一致性</a:t>
              </a:r>
            </a:p>
          </p:txBody>
        </p:sp>
        <p:sp>
          <p:nvSpPr>
            <p:cNvPr id="10" name="Ellipse 10"/>
            <p:cNvSpPr/>
            <p:nvPr/>
          </p:nvSpPr>
          <p:spPr>
            <a:xfrm>
              <a:off x="533400" y="1786890"/>
              <a:ext cx="148590" cy="148590"/>
            </a:xfrm>
            <a:prstGeom prst="ellipse">
              <a:avLst/>
            </a:prstGeom>
            <a:solidFill>
              <a:srgbClr val="334E68"/>
            </a:solidFill>
            <a:ln>
              <a:noFill/>
            </a:ln>
          </p:spPr>
        </p:sp>
        <p:sp>
          <p:nvSpPr>
            <p:cNvPr id="11" name="TextBox 11"/>
            <p:cNvSpPr txBox="1"/>
            <p:nvPr/>
          </p:nvSpPr>
          <p:spPr>
            <a:xfrm>
              <a:off x="575334" y="1815703"/>
              <a:ext cx="64723" cy="140494"/>
            </a:xfrm>
            <a:prstGeom prst="rect">
              <a:avLst/>
            </a:prstGeom>
            <a:noFill/>
            <a:ln>
              <a:noFill/>
            </a:ln>
          </p:spPr>
          <p:txBody>
            <a:bodyPr wrap="none" lIns="0" tIns="0" rIns="0" bIns="0" anchor="t" anchorCtr="0">
              <a:spAutoFit/>
            </a:bodyPr>
            <a:lstStyle/>
            <a:p>
              <a:pPr algn="ctr"/>
              <a:r>
                <a:rPr lang="zh-CN" sz="710" b="1" dirty="0">
                  <a:solidFill>
                    <a:srgbClr val="FFFFFF"/>
                  </a:solidFill>
                  <a:latin typeface="+mn-lt"/>
                  <a:ea typeface="+mn-ea"/>
                  <a:cs typeface="+mn-cs"/>
                </a:rPr>
                <a:t>2</a:t>
              </a:r>
            </a:p>
          </p:txBody>
        </p:sp>
        <p:sp>
          <p:nvSpPr>
            <p:cNvPr id="12" name="TextBox 12"/>
            <p:cNvSpPr txBox="1"/>
            <p:nvPr/>
          </p:nvSpPr>
          <p:spPr>
            <a:xfrm>
              <a:off x="772858" y="1795462"/>
              <a:ext cx="3728893"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多核的 Cache 组织：专用 L1、专用 L2、共享 L2、共享 L3</a:t>
              </a:r>
            </a:p>
          </p:txBody>
        </p:sp>
        <p:sp>
          <p:nvSpPr>
            <p:cNvPr id="13" name="Ellipse 13"/>
            <p:cNvSpPr/>
            <p:nvPr/>
          </p:nvSpPr>
          <p:spPr>
            <a:xfrm>
              <a:off x="533400" y="2041207"/>
              <a:ext cx="148590" cy="148590"/>
            </a:xfrm>
            <a:prstGeom prst="ellipse">
              <a:avLst/>
            </a:prstGeom>
            <a:solidFill>
              <a:srgbClr val="334E68"/>
            </a:solidFill>
            <a:ln>
              <a:noFill/>
            </a:ln>
          </p:spPr>
        </p:sp>
        <p:sp>
          <p:nvSpPr>
            <p:cNvPr id="14" name="TextBox 14"/>
            <p:cNvSpPr txBox="1"/>
            <p:nvPr/>
          </p:nvSpPr>
          <p:spPr>
            <a:xfrm>
              <a:off x="575334" y="2070021"/>
              <a:ext cx="64723" cy="140494"/>
            </a:xfrm>
            <a:prstGeom prst="rect">
              <a:avLst/>
            </a:prstGeom>
            <a:noFill/>
            <a:ln>
              <a:noFill/>
            </a:ln>
          </p:spPr>
          <p:txBody>
            <a:bodyPr wrap="none" lIns="0" tIns="0" rIns="0" bIns="0" anchor="t" anchorCtr="0">
              <a:spAutoFit/>
            </a:bodyPr>
            <a:lstStyle/>
            <a:p>
              <a:pPr algn="ctr"/>
              <a:r>
                <a:rPr lang="zh-CN" sz="710" b="1" dirty="0">
                  <a:solidFill>
                    <a:srgbClr val="FFFFFF"/>
                  </a:solidFill>
                  <a:latin typeface="+mn-lt"/>
                  <a:ea typeface="+mn-ea"/>
                  <a:cs typeface="+mn-cs"/>
                </a:rPr>
                <a:t>3</a:t>
              </a:r>
            </a:p>
          </p:txBody>
        </p:sp>
        <p:sp>
          <p:nvSpPr>
            <p:cNvPr id="15" name="TextBox 15"/>
            <p:cNvSpPr txBox="1"/>
            <p:nvPr/>
          </p:nvSpPr>
          <p:spPr>
            <a:xfrm>
              <a:off x="772858" y="2049780"/>
              <a:ext cx="3403092"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协议三选：作废或更新，写直达或写回，按写分配与否</a:t>
              </a:r>
            </a:p>
          </p:txBody>
        </p:sp>
        <p:sp>
          <p:nvSpPr>
            <p:cNvPr id="16" name="Ellipse 16"/>
            <p:cNvSpPr/>
            <p:nvPr/>
          </p:nvSpPr>
          <p:spPr>
            <a:xfrm>
              <a:off x="533400" y="2295525"/>
              <a:ext cx="148590" cy="148590"/>
            </a:xfrm>
            <a:prstGeom prst="ellipse">
              <a:avLst/>
            </a:prstGeom>
            <a:solidFill>
              <a:srgbClr val="334E68"/>
            </a:solidFill>
            <a:ln>
              <a:noFill/>
            </a:ln>
          </p:spPr>
        </p:sp>
        <p:sp>
          <p:nvSpPr>
            <p:cNvPr id="17" name="TextBox 17"/>
            <p:cNvSpPr txBox="1"/>
            <p:nvPr/>
          </p:nvSpPr>
          <p:spPr>
            <a:xfrm>
              <a:off x="575334" y="2324338"/>
              <a:ext cx="64723" cy="140494"/>
            </a:xfrm>
            <a:prstGeom prst="rect">
              <a:avLst/>
            </a:prstGeom>
            <a:noFill/>
            <a:ln>
              <a:noFill/>
            </a:ln>
          </p:spPr>
          <p:txBody>
            <a:bodyPr wrap="none" lIns="0" tIns="0" rIns="0" bIns="0" anchor="t" anchorCtr="0">
              <a:spAutoFit/>
            </a:bodyPr>
            <a:lstStyle/>
            <a:p>
              <a:pPr algn="ctr"/>
              <a:r>
                <a:rPr lang="zh-CN" sz="710" b="1" dirty="0">
                  <a:solidFill>
                    <a:srgbClr val="FFFFFF"/>
                  </a:solidFill>
                  <a:latin typeface="+mn-lt"/>
                  <a:ea typeface="+mn-ea"/>
                  <a:cs typeface="+mn-cs"/>
                </a:rPr>
                <a:t>4</a:t>
              </a:r>
            </a:p>
          </p:txBody>
        </p:sp>
        <p:sp>
          <p:nvSpPr>
            <p:cNvPr id="18" name="TextBox 18"/>
            <p:cNvSpPr txBox="1"/>
            <p:nvPr/>
          </p:nvSpPr>
          <p:spPr>
            <a:xfrm>
              <a:off x="772858" y="2304098"/>
              <a:ext cx="3445231"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监听式广播 + MSI；目录式点对点，U/S/E 对应 I/S/M</a:t>
              </a:r>
            </a:p>
          </p:txBody>
        </p:sp>
        <p:sp>
          <p:nvSpPr>
            <p:cNvPr id="19" name="Ellipse 19"/>
            <p:cNvSpPr/>
            <p:nvPr/>
          </p:nvSpPr>
          <p:spPr>
            <a:xfrm>
              <a:off x="533400" y="2548890"/>
              <a:ext cx="148590" cy="148590"/>
            </a:xfrm>
            <a:prstGeom prst="ellipse">
              <a:avLst/>
            </a:prstGeom>
            <a:solidFill>
              <a:srgbClr val="334E68"/>
            </a:solidFill>
            <a:ln>
              <a:noFill/>
            </a:ln>
          </p:spPr>
        </p:sp>
        <p:sp>
          <p:nvSpPr>
            <p:cNvPr id="20" name="TextBox 20"/>
            <p:cNvSpPr txBox="1"/>
            <p:nvPr/>
          </p:nvSpPr>
          <p:spPr>
            <a:xfrm>
              <a:off x="575334" y="2578656"/>
              <a:ext cx="64723" cy="140494"/>
            </a:xfrm>
            <a:prstGeom prst="rect">
              <a:avLst/>
            </a:prstGeom>
            <a:noFill/>
            <a:ln>
              <a:noFill/>
            </a:ln>
          </p:spPr>
          <p:txBody>
            <a:bodyPr wrap="none" lIns="0" tIns="0" rIns="0" bIns="0" anchor="t" anchorCtr="0">
              <a:spAutoFit/>
            </a:bodyPr>
            <a:lstStyle/>
            <a:p>
              <a:pPr algn="ctr"/>
              <a:r>
                <a:rPr lang="zh-CN" sz="710" b="1" dirty="0">
                  <a:solidFill>
                    <a:srgbClr val="FFFFFF"/>
                  </a:solidFill>
                  <a:latin typeface="+mn-lt"/>
                  <a:ea typeface="+mn-ea"/>
                  <a:cs typeface="+mn-cs"/>
                </a:rPr>
                <a:t>5</a:t>
              </a:r>
            </a:p>
          </p:txBody>
        </p:sp>
        <p:sp>
          <p:nvSpPr>
            <p:cNvPr id="21" name="TextBox 21"/>
            <p:cNvSpPr txBox="1"/>
            <p:nvPr/>
          </p:nvSpPr>
          <p:spPr>
            <a:xfrm>
              <a:off x="772858" y="2558415"/>
              <a:ext cx="3676406"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目录开销：全映像 O(N²)，有限映像与链式每块 O(log N)</a:t>
              </a:r>
            </a:p>
          </p:txBody>
        </p:sp>
        <p:sp>
          <p:nvSpPr>
            <p:cNvPr id="22" name="Ellipse 22"/>
            <p:cNvSpPr/>
            <p:nvPr/>
          </p:nvSpPr>
          <p:spPr>
            <a:xfrm>
              <a:off x="533400" y="2803208"/>
              <a:ext cx="148590" cy="148590"/>
            </a:xfrm>
            <a:prstGeom prst="ellipse">
              <a:avLst/>
            </a:prstGeom>
            <a:solidFill>
              <a:srgbClr val="334E68"/>
            </a:solidFill>
            <a:ln>
              <a:noFill/>
            </a:ln>
          </p:spPr>
        </p:sp>
        <p:sp>
          <p:nvSpPr>
            <p:cNvPr id="23" name="TextBox 23"/>
            <p:cNvSpPr txBox="1"/>
            <p:nvPr/>
          </p:nvSpPr>
          <p:spPr>
            <a:xfrm>
              <a:off x="575334" y="2832973"/>
              <a:ext cx="64723" cy="140494"/>
            </a:xfrm>
            <a:prstGeom prst="rect">
              <a:avLst/>
            </a:prstGeom>
            <a:noFill/>
            <a:ln>
              <a:noFill/>
            </a:ln>
          </p:spPr>
          <p:txBody>
            <a:bodyPr wrap="none" lIns="0" tIns="0" rIns="0" bIns="0" anchor="t" anchorCtr="0">
              <a:spAutoFit/>
            </a:bodyPr>
            <a:lstStyle/>
            <a:p>
              <a:pPr algn="ctr"/>
              <a:r>
                <a:rPr lang="zh-CN" sz="710" b="1" dirty="0">
                  <a:solidFill>
                    <a:srgbClr val="FFFFFF"/>
                  </a:solidFill>
                  <a:latin typeface="+mn-lt"/>
                  <a:ea typeface="+mn-ea"/>
                  <a:cs typeface="+mn-cs"/>
                </a:rPr>
                <a:t>6</a:t>
              </a:r>
            </a:p>
          </p:txBody>
        </p:sp>
        <p:sp>
          <p:nvSpPr>
            <p:cNvPr id="24" name="TextBox 24"/>
            <p:cNvSpPr txBox="1"/>
            <p:nvPr/>
          </p:nvSpPr>
          <p:spPr>
            <a:xfrm>
              <a:off x="772858" y="2812732"/>
              <a:ext cx="3216055"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交叉开关 N² 个交叉点，Ω 网络 (N/2)log₂N 个开关</a:t>
              </a:r>
            </a:p>
          </p:txBody>
        </p:sp>
        <p:sp>
          <p:nvSpPr>
            <p:cNvPr id="25" name="Ellipse 25"/>
            <p:cNvSpPr/>
            <p:nvPr/>
          </p:nvSpPr>
          <p:spPr>
            <a:xfrm>
              <a:off x="533400" y="3057525"/>
              <a:ext cx="148590" cy="148590"/>
            </a:xfrm>
            <a:prstGeom prst="ellipse">
              <a:avLst/>
            </a:prstGeom>
            <a:solidFill>
              <a:srgbClr val="334E68"/>
            </a:solidFill>
            <a:ln>
              <a:noFill/>
            </a:ln>
          </p:spPr>
        </p:sp>
        <p:sp>
          <p:nvSpPr>
            <p:cNvPr id="26" name="TextBox 26"/>
            <p:cNvSpPr txBox="1"/>
            <p:nvPr/>
          </p:nvSpPr>
          <p:spPr>
            <a:xfrm>
              <a:off x="575334" y="3087291"/>
              <a:ext cx="64723" cy="140494"/>
            </a:xfrm>
            <a:prstGeom prst="rect">
              <a:avLst/>
            </a:prstGeom>
            <a:noFill/>
            <a:ln>
              <a:noFill/>
            </a:ln>
          </p:spPr>
          <p:txBody>
            <a:bodyPr wrap="none" lIns="0" tIns="0" rIns="0" bIns="0" anchor="t" anchorCtr="0">
              <a:spAutoFit/>
            </a:bodyPr>
            <a:lstStyle/>
            <a:p>
              <a:pPr algn="ctr"/>
              <a:r>
                <a:rPr lang="zh-CN" sz="710" b="1" dirty="0">
                  <a:solidFill>
                    <a:srgbClr val="FFFFFF"/>
                  </a:solidFill>
                  <a:latin typeface="+mn-lt"/>
                  <a:ea typeface="+mn-ea"/>
                  <a:cs typeface="+mn-cs"/>
                </a:rPr>
                <a:t>7</a:t>
              </a:r>
            </a:p>
          </p:txBody>
        </p:sp>
        <p:sp>
          <p:nvSpPr>
            <p:cNvPr id="27" name="TextBox 27"/>
            <p:cNvSpPr txBox="1"/>
            <p:nvPr/>
          </p:nvSpPr>
          <p:spPr>
            <a:xfrm>
              <a:off x="772858" y="3067050"/>
              <a:ext cx="3955201"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Amdahl 固定负载，Gustafson 固定时间，Sun &amp; Ni 受存储限制</a:t>
              </a:r>
            </a:p>
          </p:txBody>
        </p:sp>
      </p:grpSp>
      <p:grpSp>
        <p:nvGrpSpPr>
          <p:cNvPr id="37" name="c1-card-2"/>
          <p:cNvGrpSpPr/>
          <p:nvPr/>
        </p:nvGrpSpPr>
        <p:grpSpPr>
          <a:xfrm>
            <a:off x="533400" y="3395662"/>
            <a:ext cx="6059805" cy="2157412"/>
            <a:chOff x="533400" y="3395662"/>
            <a:chExt cx="6059805" cy="2157412"/>
          </a:xfrm>
        </p:grpSpPr>
        <p:sp>
          <p:nvSpPr>
            <p:cNvPr id="29" name="Rectangle 29"/>
            <p:cNvSpPr/>
            <p:nvPr/>
          </p:nvSpPr>
          <p:spPr>
            <a:xfrm>
              <a:off x="533400" y="3395662"/>
              <a:ext cx="6059805" cy="2157412"/>
            </a:xfrm>
            <a:prstGeom prst="roundRect">
              <a:avLst>
                <a:gd name="adj" fmla="val 6181"/>
              </a:avLst>
            </a:prstGeom>
            <a:solidFill>
              <a:srgbClr val="FFFFFF"/>
            </a:solidFill>
            <a:ln w="14288">
              <a:solidFill>
                <a:srgbClr val="D9DFEA"/>
              </a:solidFill>
            </a:ln>
          </p:spPr>
        </p:sp>
        <p:sp>
          <p:nvSpPr>
            <p:cNvPr id="30" name="Rectangle 30"/>
            <p:cNvSpPr/>
            <p:nvPr/>
          </p:nvSpPr>
          <p:spPr>
            <a:xfrm>
              <a:off x="542925" y="3529012"/>
              <a:ext cx="47625" cy="1890712"/>
            </a:xfrm>
            <a:prstGeom prst="roundRect">
              <a:avLst>
                <a:gd name="adj" fmla="val 50000"/>
              </a:avLst>
            </a:prstGeom>
            <a:solidFill>
              <a:srgbClr val="5B6475"/>
            </a:solidFill>
            <a:ln>
              <a:noFill/>
            </a:ln>
          </p:spPr>
        </p:sp>
        <p:sp>
          <p:nvSpPr>
            <p:cNvPr id="31" name="Rectangle 31"/>
            <p:cNvSpPr/>
            <p:nvPr/>
          </p:nvSpPr>
          <p:spPr>
            <a:xfrm>
              <a:off x="752475" y="3576638"/>
              <a:ext cx="1454468" cy="238125"/>
            </a:xfrm>
            <a:prstGeom prst="roundRect">
              <a:avLst>
                <a:gd name="adj" fmla="val 50000"/>
              </a:avLst>
            </a:prstGeom>
            <a:solidFill>
              <a:srgbClr val="F4F6FB"/>
            </a:solidFill>
            <a:ln>
              <a:noFill/>
            </a:ln>
          </p:spPr>
        </p:sp>
        <p:sp>
          <p:nvSpPr>
            <p:cNvPr id="32" name="TextBox 32"/>
            <p:cNvSpPr txBox="1"/>
            <p:nvPr/>
          </p:nvSpPr>
          <p:spPr>
            <a:xfrm>
              <a:off x="814642" y="3609499"/>
              <a:ext cx="1329182" cy="190690"/>
            </a:xfrm>
            <a:prstGeom prst="rect">
              <a:avLst/>
            </a:prstGeom>
            <a:noFill/>
            <a:ln>
              <a:noFill/>
            </a:ln>
          </p:spPr>
          <p:txBody>
            <a:bodyPr wrap="none" lIns="0" tIns="0" rIns="0" bIns="0" anchor="t" anchorCtr="0">
              <a:spAutoFit/>
            </a:bodyPr>
            <a:lstStyle/>
            <a:p>
              <a:pPr algn="ctr"/>
              <a:r>
                <a:rPr lang="zh-CN" sz="980" b="1" dirty="0">
                  <a:solidFill>
                    <a:srgbClr val="5B6475"/>
                  </a:solidFill>
                  <a:latin typeface="+mn-lt"/>
                  <a:ea typeface="+mn-ea"/>
                  <a:cs typeface="+mn-cs"/>
                </a:rPr>
                <a:t>本讲义对原课件的更正</a:t>
              </a:r>
            </a:p>
          </p:txBody>
        </p:sp>
        <p:sp>
          <p:nvSpPr>
            <p:cNvPr id="33" name="Ellipse 33"/>
            <p:cNvSpPr/>
            <p:nvPr/>
          </p:nvSpPr>
          <p:spPr>
            <a:xfrm>
              <a:off x="762000" y="3969068"/>
              <a:ext cx="57150" cy="57150"/>
            </a:xfrm>
            <a:prstGeom prst="ellipse">
              <a:avLst/>
            </a:prstGeom>
            <a:solidFill>
              <a:srgbClr val="334E68"/>
            </a:solidFill>
            <a:ln>
              <a:noFill/>
            </a:ln>
          </p:spPr>
        </p:sp>
        <p:sp>
          <p:nvSpPr>
            <p:cNvPr id="34" name="TextBox 34"/>
            <p:cNvSpPr txBox="1"/>
            <p:nvPr/>
          </p:nvSpPr>
          <p:spPr>
            <a:xfrm>
              <a:off x="917448" y="3916204"/>
              <a:ext cx="5288026" cy="735140"/>
            </a:xfrm>
            <a:prstGeom prst="rect">
              <a:avLst/>
            </a:prstGeom>
            <a:noFill/>
            <a:ln>
              <a:noFill/>
            </a:ln>
          </p:spPr>
          <p:txBody>
            <a:bodyPr wrap="none" lIns="0" tIns="0" rIns="0" bIns="0" anchor="t" anchorCtr="0">
              <a:spAutoFit/>
            </a:bodyPr>
            <a:lstStyle/>
            <a:p>
              <a:pPr algn="l">
                <a:lnSpc>
                  <a:spcPts val="1912"/>
                </a:lnSpc>
              </a:pPr>
              <a:r>
                <a:rPr lang="zh-CN" sz="1280" dirty="0">
                  <a:solidFill>
                    <a:srgbClr val="1F2937"/>
                  </a:solidFill>
                  <a:latin typeface="+mn-lt"/>
                  <a:ea typeface="+mn-ea"/>
                  <a:cs typeface="+mn-cs"/>
                </a:rPr>
                <a:t>申威 256 位、64 位（第11页）；&amp; 为乘号（第13页）；写缺失发 WtMiss</a:t>
              </a:r>
              <a:br/>
              <a:r>
                <a:rPr lang="zh-CN" sz="1280" dirty="0">
                  <a:solidFill>
                    <a:srgbClr val="1F2937"/>
                  </a:solidFill>
                  <a:latin typeface="+mn-lt"/>
                  <a:ea typeface="+mn-ea"/>
                  <a:cs typeface="+mn-cs"/>
                </a:rPr>
                <a:t>（第33页）；目录态 E、作废先于改 G（第35页）；P4 为 0100（第39</a:t>
              </a:r>
              <a:br/>
              <a:r>
                <a:rPr lang="zh-CN" sz="1280" dirty="0">
                  <a:solidFill>
                    <a:srgbClr val="1F2937"/>
                  </a:solidFill>
                  <a:latin typeface="+mn-lt"/>
                  <a:ea typeface="+mn-ea"/>
                  <a:cs typeface="+mn-cs"/>
                </a:rPr>
                <a:t>页）</a:t>
              </a:r>
            </a:p>
          </p:txBody>
        </p:sp>
        <p:sp>
          <p:nvSpPr>
            <p:cNvPr id="35" name="Ellipse 35"/>
            <p:cNvSpPr/>
            <p:nvPr/>
          </p:nvSpPr>
          <p:spPr>
            <a:xfrm>
              <a:off x="762000" y="4739640"/>
              <a:ext cx="57150" cy="57150"/>
            </a:xfrm>
            <a:prstGeom prst="ellipse">
              <a:avLst/>
            </a:prstGeom>
            <a:solidFill>
              <a:srgbClr val="334E68"/>
            </a:solidFill>
            <a:ln>
              <a:noFill/>
            </a:ln>
          </p:spPr>
        </p:sp>
        <p:sp>
          <p:nvSpPr>
            <p:cNvPr id="36" name="TextBox 36"/>
            <p:cNvSpPr txBox="1"/>
            <p:nvPr/>
          </p:nvSpPr>
          <p:spPr>
            <a:xfrm>
              <a:off x="917448" y="4687729"/>
              <a:ext cx="5141722" cy="735140"/>
            </a:xfrm>
            <a:prstGeom prst="rect">
              <a:avLst/>
            </a:prstGeom>
            <a:noFill/>
            <a:ln>
              <a:noFill/>
            </a:ln>
          </p:spPr>
          <p:txBody>
            <a:bodyPr wrap="none" lIns="0" tIns="0" rIns="0" bIns="0" anchor="t" anchorCtr="0">
              <a:spAutoFit/>
            </a:bodyPr>
            <a:lstStyle/>
            <a:p>
              <a:pPr algn="l">
                <a:lnSpc>
                  <a:spcPts val="1912"/>
                </a:lnSpc>
              </a:pPr>
              <a:r>
                <a:rPr lang="zh-CN" sz="1280" dirty="0">
                  <a:solidFill>
                    <a:srgbClr val="1F2937"/>
                  </a:solidFill>
                  <a:latin typeface="+mn-lt"/>
                  <a:ea typeface="+mn-ea"/>
                  <a:cs typeface="+mn-cs"/>
                </a:rPr>
                <a:t>单向环直径（第43页）；循环移数直径（第44页）；网格度与 Torus 直</a:t>
              </a:r>
              <a:br/>
              <a:r>
                <a:rPr lang="zh-CN" sz="1280" dirty="0">
                  <a:solidFill>
                    <a:srgbClr val="1F2937"/>
                  </a:solidFill>
                  <a:latin typeface="+mn-lt"/>
                  <a:ea typeface="+mn-ea"/>
                  <a:cs typeface="+mn-cs"/>
                </a:rPr>
                <a:t>径（第45页）；Ω 开关数（第49页）；PCI（第52页）；伪代码（第61</a:t>
              </a:r>
              <a:br/>
              <a:r>
                <a:rPr lang="zh-CN" sz="1280" dirty="0">
                  <a:solidFill>
                    <a:srgbClr val="1F2937"/>
                  </a:solidFill>
                  <a:latin typeface="+mn-lt"/>
                  <a:ea typeface="+mn-ea"/>
                  <a:cs typeface="+mn-cs"/>
                </a:rPr>
                <a:t>页）；32x（第64页）</a:t>
              </a:r>
            </a:p>
          </p:txBody>
        </p:sp>
      </p:grpSp>
      <p:grpSp>
        <p:nvGrpSpPr>
          <p:cNvPr id="63" name="c2-table-1"/>
          <p:cNvGrpSpPr/>
          <p:nvPr/>
        </p:nvGrpSpPr>
        <p:grpSpPr>
          <a:xfrm>
            <a:off x="6898005" y="1524000"/>
            <a:ext cx="4760595" cy="2669858"/>
            <a:chOff x="6898005" y="1524000"/>
            <a:chExt cx="4760595" cy="2669858"/>
          </a:xfrm>
        </p:grpSpPr>
        <p:sp>
          <p:nvSpPr>
            <p:cNvPr id="38" name="Rectangle 38"/>
            <p:cNvSpPr/>
            <p:nvPr/>
          </p:nvSpPr>
          <p:spPr>
            <a:xfrm>
              <a:off x="6898005" y="1524000"/>
              <a:ext cx="4760595" cy="381000"/>
            </a:xfrm>
            <a:prstGeom prst="rect">
              <a:avLst/>
            </a:prstGeom>
            <a:solidFill>
              <a:srgbClr val="334E68"/>
            </a:solidFill>
            <a:ln>
              <a:noFill/>
            </a:ln>
          </p:spPr>
        </p:sp>
        <p:sp>
          <p:nvSpPr>
            <p:cNvPr id="39" name="TextBox 39"/>
            <p:cNvSpPr txBox="1"/>
            <p:nvPr/>
          </p:nvSpPr>
          <p:spPr>
            <a:xfrm>
              <a:off x="7464742" y="1641157"/>
              <a:ext cx="293370"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概念</a:t>
              </a:r>
            </a:p>
          </p:txBody>
        </p:sp>
        <p:sp>
          <p:nvSpPr>
            <p:cNvPr id="40" name="TextBox 40"/>
            <p:cNvSpPr txBox="1"/>
            <p:nvPr/>
          </p:nvSpPr>
          <p:spPr>
            <a:xfrm>
              <a:off x="9775317" y="1641157"/>
              <a:ext cx="434721"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一句话</a:t>
              </a:r>
            </a:p>
          </p:txBody>
        </p:sp>
        <p:sp>
          <p:nvSpPr>
            <p:cNvPr id="41" name="TextBox 41"/>
            <p:cNvSpPr txBox="1"/>
            <p:nvPr/>
          </p:nvSpPr>
          <p:spPr>
            <a:xfrm>
              <a:off x="6992684" y="2023110"/>
              <a:ext cx="857494" cy="205359"/>
            </a:xfrm>
            <a:prstGeom prst="rect">
              <a:avLst/>
            </a:prstGeom>
            <a:noFill/>
            <a:ln>
              <a:noFill/>
            </a:ln>
          </p:spPr>
          <p:txBody>
            <a:bodyPr wrap="none" lIns="0" tIns="0" rIns="0" bIns="0" anchor="t" anchorCtr="0">
              <a:spAutoFit/>
            </a:bodyPr>
            <a:lstStyle/>
            <a:p>
              <a:pPr algn="l"/>
              <a:r>
                <a:rPr lang="en-US" sz="1050" b="1" dirty="0">
                  <a:solidFill>
                    <a:srgbClr val="1F2937"/>
                  </a:solidFill>
                  <a:latin typeface="+mn-lt"/>
                  <a:ea typeface="+mn-ea"/>
                  <a:cs typeface="+mn-cs"/>
                </a:rPr>
                <a:t>UMA / NUMA</a:t>
              </a:r>
            </a:p>
          </p:txBody>
        </p:sp>
        <p:sp>
          <p:nvSpPr>
            <p:cNvPr id="42" name="TextBox 42"/>
            <p:cNvSpPr txBox="1"/>
            <p:nvPr/>
          </p:nvSpPr>
          <p:spPr>
            <a:xfrm>
              <a:off x="8420481" y="2023110"/>
              <a:ext cx="1445381"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访存时间均匀 / 不均匀</a:t>
              </a:r>
            </a:p>
          </p:txBody>
        </p:sp>
        <p:sp>
          <p:nvSpPr>
            <p:cNvPr id="43" name="Rectangle 43"/>
            <p:cNvSpPr/>
            <p:nvPr/>
          </p:nvSpPr>
          <p:spPr>
            <a:xfrm>
              <a:off x="6898005" y="2282190"/>
              <a:ext cx="4760595" cy="9525"/>
            </a:xfrm>
            <a:prstGeom prst="rect">
              <a:avLst/>
            </a:prstGeom>
            <a:solidFill>
              <a:srgbClr val="D9DFEA"/>
            </a:solidFill>
            <a:ln>
              <a:noFill/>
            </a:ln>
          </p:spPr>
        </p:sp>
        <p:sp>
          <p:nvSpPr>
            <p:cNvPr id="44" name="Rectangle 44"/>
            <p:cNvSpPr/>
            <p:nvPr/>
          </p:nvSpPr>
          <p:spPr>
            <a:xfrm>
              <a:off x="6898005" y="2286952"/>
              <a:ext cx="4760595" cy="381000"/>
            </a:xfrm>
            <a:prstGeom prst="rect">
              <a:avLst/>
            </a:prstGeom>
            <a:solidFill>
              <a:srgbClr val="F4F6FB"/>
            </a:solidFill>
            <a:ln>
              <a:noFill/>
            </a:ln>
          </p:spPr>
        </p:sp>
        <p:sp>
          <p:nvSpPr>
            <p:cNvPr id="45" name="TextBox 45"/>
            <p:cNvSpPr txBox="1"/>
            <p:nvPr/>
          </p:nvSpPr>
          <p:spPr>
            <a:xfrm>
              <a:off x="6992684" y="2404110"/>
              <a:ext cx="261579" cy="205359"/>
            </a:xfrm>
            <a:prstGeom prst="rect">
              <a:avLst/>
            </a:prstGeom>
            <a:noFill/>
            <a:ln>
              <a:noFill/>
            </a:ln>
          </p:spPr>
          <p:txBody>
            <a:bodyPr wrap="none" lIns="0" tIns="0" rIns="0" bIns="0" anchor="t" anchorCtr="0">
              <a:spAutoFit/>
            </a:bodyPr>
            <a:lstStyle/>
            <a:p>
              <a:pPr algn="l"/>
              <a:r>
                <a:rPr lang="en-US" sz="1050" b="1" dirty="0">
                  <a:solidFill>
                    <a:srgbClr val="1F2937"/>
                  </a:solidFill>
                  <a:latin typeface="+mn-lt"/>
                  <a:ea typeface="+mn-ea"/>
                  <a:cs typeface="+mn-cs"/>
                </a:rPr>
                <a:t>MSI</a:t>
              </a:r>
            </a:p>
          </p:txBody>
        </p:sp>
        <p:sp>
          <p:nvSpPr>
            <p:cNvPr id="46" name="TextBox 46"/>
            <p:cNvSpPr txBox="1"/>
            <p:nvPr/>
          </p:nvSpPr>
          <p:spPr>
            <a:xfrm>
              <a:off x="8420481" y="2404110"/>
              <a:ext cx="2696337"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无效、共享（只读）、修改（唯一脏副本）</a:t>
              </a:r>
            </a:p>
          </p:txBody>
        </p:sp>
        <p:sp>
          <p:nvSpPr>
            <p:cNvPr id="47" name="Rectangle 47"/>
            <p:cNvSpPr/>
            <p:nvPr/>
          </p:nvSpPr>
          <p:spPr>
            <a:xfrm>
              <a:off x="6898005" y="2663190"/>
              <a:ext cx="4760595" cy="9525"/>
            </a:xfrm>
            <a:prstGeom prst="rect">
              <a:avLst/>
            </a:prstGeom>
            <a:solidFill>
              <a:srgbClr val="D9DFEA"/>
            </a:solidFill>
            <a:ln>
              <a:noFill/>
            </a:ln>
          </p:spPr>
        </p:sp>
        <p:sp>
          <p:nvSpPr>
            <p:cNvPr id="48" name="TextBox 48"/>
            <p:cNvSpPr txBox="1"/>
            <p:nvPr/>
          </p:nvSpPr>
          <p:spPr>
            <a:xfrm>
              <a:off x="6992684" y="2785110"/>
              <a:ext cx="568018" cy="205359"/>
            </a:xfrm>
            <a:prstGeom prst="rect">
              <a:avLst/>
            </a:prstGeom>
            <a:noFill/>
            <a:ln>
              <a:noFill/>
            </a:ln>
          </p:spPr>
          <p:txBody>
            <a:bodyPr wrap="none" lIns="0" tIns="0" rIns="0" bIns="0" anchor="t" anchorCtr="0">
              <a:spAutoFit/>
            </a:bodyPr>
            <a:lstStyle/>
            <a:p>
              <a:pPr algn="l"/>
              <a:r>
                <a:rPr lang="zh-CN" sz="1050" b="1" dirty="0">
                  <a:solidFill>
                    <a:srgbClr val="1F2937"/>
                  </a:solidFill>
                  <a:latin typeface="+mn-lt"/>
                  <a:ea typeface="+mn-ea"/>
                  <a:cs typeface="+mn-cs"/>
                </a:rPr>
                <a:t>共享集 G</a:t>
              </a:r>
            </a:p>
          </p:txBody>
        </p:sp>
        <p:sp>
          <p:nvSpPr>
            <p:cNvPr id="49" name="TextBox 49"/>
            <p:cNvSpPr txBox="1"/>
            <p:nvPr/>
          </p:nvSpPr>
          <p:spPr>
            <a:xfrm>
              <a:off x="8420481" y="2785110"/>
              <a:ext cx="2130933"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目录里记录的持有副本的节点集合</a:t>
              </a:r>
            </a:p>
          </p:txBody>
        </p:sp>
        <p:sp>
          <p:nvSpPr>
            <p:cNvPr id="50" name="Rectangle 50"/>
            <p:cNvSpPr/>
            <p:nvPr/>
          </p:nvSpPr>
          <p:spPr>
            <a:xfrm>
              <a:off x="6898005" y="3045142"/>
              <a:ext cx="4760595" cy="9525"/>
            </a:xfrm>
            <a:prstGeom prst="rect">
              <a:avLst/>
            </a:prstGeom>
            <a:solidFill>
              <a:srgbClr val="D9DFEA"/>
            </a:solidFill>
            <a:ln>
              <a:noFill/>
            </a:ln>
          </p:spPr>
        </p:sp>
        <p:sp>
          <p:nvSpPr>
            <p:cNvPr id="51" name="Rectangle 51"/>
            <p:cNvSpPr/>
            <p:nvPr/>
          </p:nvSpPr>
          <p:spPr>
            <a:xfrm>
              <a:off x="6898005" y="3049905"/>
              <a:ext cx="4760595" cy="381000"/>
            </a:xfrm>
            <a:prstGeom prst="rect">
              <a:avLst/>
            </a:prstGeom>
            <a:solidFill>
              <a:srgbClr val="F4F6FB"/>
            </a:solidFill>
            <a:ln>
              <a:noFill/>
            </a:ln>
          </p:spPr>
        </p:sp>
        <p:sp>
          <p:nvSpPr>
            <p:cNvPr id="52" name="TextBox 52"/>
            <p:cNvSpPr txBox="1"/>
            <p:nvPr/>
          </p:nvSpPr>
          <p:spPr>
            <a:xfrm>
              <a:off x="6992684" y="3167062"/>
              <a:ext cx="576072" cy="205359"/>
            </a:xfrm>
            <a:prstGeom prst="rect">
              <a:avLst/>
            </a:prstGeom>
            <a:noFill/>
            <a:ln>
              <a:noFill/>
            </a:ln>
          </p:spPr>
          <p:txBody>
            <a:bodyPr wrap="none" lIns="0" tIns="0" rIns="0" bIns="0" anchor="t" anchorCtr="0">
              <a:spAutoFit/>
            </a:bodyPr>
            <a:lstStyle/>
            <a:p>
              <a:pPr algn="l"/>
              <a:r>
                <a:rPr lang="zh-CN" sz="1050" b="1" dirty="0">
                  <a:solidFill>
                    <a:srgbClr val="1F2937"/>
                  </a:solidFill>
                  <a:latin typeface="+mn-lt"/>
                  <a:ea typeface="+mn-ea"/>
                  <a:cs typeface="+mn-cs"/>
                </a:rPr>
                <a:t>对剖宽度</a:t>
              </a:r>
            </a:p>
          </p:txBody>
        </p:sp>
        <p:sp>
          <p:nvSpPr>
            <p:cNvPr id="53" name="TextBox 53"/>
            <p:cNvSpPr txBox="1"/>
            <p:nvPr/>
          </p:nvSpPr>
          <p:spPr>
            <a:xfrm>
              <a:off x="8420481" y="3167062"/>
              <a:ext cx="1565529"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切成两半最少要断的边数</a:t>
              </a:r>
            </a:p>
          </p:txBody>
        </p:sp>
        <p:sp>
          <p:nvSpPr>
            <p:cNvPr id="54" name="Rectangle 54"/>
            <p:cNvSpPr/>
            <p:nvPr/>
          </p:nvSpPr>
          <p:spPr>
            <a:xfrm>
              <a:off x="6898005" y="3426142"/>
              <a:ext cx="4760595" cy="9525"/>
            </a:xfrm>
            <a:prstGeom prst="rect">
              <a:avLst/>
            </a:prstGeom>
            <a:solidFill>
              <a:srgbClr val="D9DFEA"/>
            </a:solidFill>
            <a:ln>
              <a:noFill/>
            </a:ln>
          </p:spPr>
        </p:sp>
        <p:sp>
          <p:nvSpPr>
            <p:cNvPr id="55" name="TextBox 55"/>
            <p:cNvSpPr txBox="1"/>
            <p:nvPr/>
          </p:nvSpPr>
          <p:spPr>
            <a:xfrm>
              <a:off x="6992684" y="3548062"/>
              <a:ext cx="426667" cy="205359"/>
            </a:xfrm>
            <a:prstGeom prst="rect">
              <a:avLst/>
            </a:prstGeom>
            <a:noFill/>
            <a:ln>
              <a:noFill/>
            </a:ln>
          </p:spPr>
          <p:txBody>
            <a:bodyPr wrap="none" lIns="0" tIns="0" rIns="0" bIns="0" anchor="t" anchorCtr="0">
              <a:spAutoFit/>
            </a:bodyPr>
            <a:lstStyle/>
            <a:p>
              <a:pPr algn="l"/>
              <a:r>
                <a:rPr lang="zh-CN" sz="1050" b="1" dirty="0">
                  <a:solidFill>
                    <a:srgbClr val="1F2937"/>
                  </a:solidFill>
                  <a:latin typeface="+mn-lt"/>
                  <a:ea typeface="+mn-ea"/>
                  <a:cs typeface="+mn-cs"/>
                </a:rPr>
                <a:t>Ω 网络</a:t>
              </a:r>
            </a:p>
          </p:txBody>
        </p:sp>
        <p:sp>
          <p:nvSpPr>
            <p:cNvPr id="56" name="TextBox 56"/>
            <p:cNvSpPr txBox="1"/>
            <p:nvPr/>
          </p:nvSpPr>
          <p:spPr>
            <a:xfrm>
              <a:off x="8420481" y="3548062"/>
              <a:ext cx="2130933"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按目的地址逐位选出口的多级网络</a:t>
              </a:r>
            </a:p>
          </p:txBody>
        </p:sp>
        <p:sp>
          <p:nvSpPr>
            <p:cNvPr id="57" name="Rectangle 57"/>
            <p:cNvSpPr/>
            <p:nvPr/>
          </p:nvSpPr>
          <p:spPr>
            <a:xfrm>
              <a:off x="6898005" y="3807142"/>
              <a:ext cx="4760595" cy="9525"/>
            </a:xfrm>
            <a:prstGeom prst="rect">
              <a:avLst/>
            </a:prstGeom>
            <a:solidFill>
              <a:srgbClr val="D9DFEA"/>
            </a:solidFill>
            <a:ln>
              <a:noFill/>
            </a:ln>
          </p:spPr>
        </p:sp>
        <p:sp>
          <p:nvSpPr>
            <p:cNvPr id="58" name="Rectangle 58"/>
            <p:cNvSpPr/>
            <p:nvPr/>
          </p:nvSpPr>
          <p:spPr>
            <a:xfrm>
              <a:off x="6898005" y="3811905"/>
              <a:ext cx="4760595" cy="381000"/>
            </a:xfrm>
            <a:prstGeom prst="rect">
              <a:avLst/>
            </a:prstGeom>
            <a:solidFill>
              <a:srgbClr val="F4F6FB"/>
            </a:solidFill>
            <a:ln>
              <a:noFill/>
            </a:ln>
          </p:spPr>
        </p:sp>
        <p:sp>
          <p:nvSpPr>
            <p:cNvPr id="59" name="TextBox 59"/>
            <p:cNvSpPr txBox="1"/>
            <p:nvPr/>
          </p:nvSpPr>
          <p:spPr>
            <a:xfrm>
              <a:off x="6992684" y="3930015"/>
              <a:ext cx="717423" cy="205359"/>
            </a:xfrm>
            <a:prstGeom prst="rect">
              <a:avLst/>
            </a:prstGeom>
            <a:noFill/>
            <a:ln>
              <a:noFill/>
            </a:ln>
          </p:spPr>
          <p:txBody>
            <a:bodyPr wrap="none" lIns="0" tIns="0" rIns="0" bIns="0" anchor="t" anchorCtr="0">
              <a:spAutoFit/>
            </a:bodyPr>
            <a:lstStyle/>
            <a:p>
              <a:pPr algn="l"/>
              <a:r>
                <a:rPr lang="zh-CN" sz="1050" b="1" dirty="0">
                  <a:solidFill>
                    <a:srgbClr val="1F2937"/>
                  </a:solidFill>
                  <a:latin typeface="+mn-lt"/>
                  <a:ea typeface="+mn-ea"/>
                  <a:cs typeface="+mn-cs"/>
                </a:rPr>
                <a:t>超线性加速</a:t>
              </a:r>
            </a:p>
          </p:txBody>
        </p:sp>
        <p:sp>
          <p:nvSpPr>
            <p:cNvPr id="60" name="TextBox 60"/>
            <p:cNvSpPr txBox="1"/>
            <p:nvPr/>
          </p:nvSpPr>
          <p:spPr>
            <a:xfrm>
              <a:off x="8420481" y="3930015"/>
              <a:ext cx="1282827"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加速比超过处理器数</a:t>
              </a:r>
            </a:p>
          </p:txBody>
        </p:sp>
        <p:sp>
          <p:nvSpPr>
            <p:cNvPr id="61" name="Rectangle 61"/>
            <p:cNvSpPr/>
            <p:nvPr/>
          </p:nvSpPr>
          <p:spPr>
            <a:xfrm>
              <a:off x="6898005" y="1524000"/>
              <a:ext cx="4760595" cy="2669858"/>
            </a:xfrm>
            <a:prstGeom prst="rect">
              <a:avLst/>
            </a:prstGeom>
            <a:noFill/>
            <a:ln w="14288">
              <a:solidFill>
                <a:srgbClr val="D9DFEA"/>
              </a:solidFill>
            </a:ln>
          </p:spPr>
        </p:sp>
        <p:sp>
          <p:nvSpPr>
            <p:cNvPr id="62" name="Rectangle 62"/>
            <p:cNvSpPr/>
            <p:nvPr/>
          </p:nvSpPr>
          <p:spPr>
            <a:xfrm>
              <a:off x="8321040" y="1524000"/>
              <a:ext cx="9525" cy="2669858"/>
            </a:xfrm>
            <a:prstGeom prst="rect">
              <a:avLst/>
            </a:prstGeom>
            <a:solidFill>
              <a:srgbClr val="D9DFEA"/>
            </a:solidFill>
            <a:ln>
              <a:noFill/>
            </a:ln>
          </p:spPr>
        </p:sp>
      </p:grpSp>
      <p:grpSp>
        <p:nvGrpSpPr>
          <p:cNvPr id="68" name="c2-card-2"/>
          <p:cNvGrpSpPr/>
          <p:nvPr/>
        </p:nvGrpSpPr>
        <p:grpSpPr>
          <a:xfrm>
            <a:off x="6898005" y="4358640"/>
            <a:ext cx="4760595" cy="1194435"/>
            <a:chOff x="6898005" y="4358640"/>
            <a:chExt cx="4760595" cy="1194435"/>
          </a:xfrm>
        </p:grpSpPr>
        <p:sp>
          <p:nvSpPr>
            <p:cNvPr id="64" name="Rectangle 64"/>
            <p:cNvSpPr/>
            <p:nvPr/>
          </p:nvSpPr>
          <p:spPr>
            <a:xfrm>
              <a:off x="6898005" y="4358640"/>
              <a:ext cx="4760595" cy="1194435"/>
            </a:xfrm>
            <a:prstGeom prst="roundRect">
              <a:avLst>
                <a:gd name="adj" fmla="val 11164"/>
              </a:avLst>
            </a:prstGeom>
            <a:solidFill>
              <a:srgbClr val="334E68"/>
            </a:solidFill>
            <a:ln>
              <a:noFill/>
            </a:ln>
          </p:spPr>
        </p:sp>
        <p:sp>
          <p:nvSpPr>
            <p:cNvPr id="65" name="Rectangle 65"/>
            <p:cNvSpPr/>
            <p:nvPr/>
          </p:nvSpPr>
          <p:spPr>
            <a:xfrm>
              <a:off x="7078980" y="4539615"/>
              <a:ext cx="582930" cy="238125"/>
            </a:xfrm>
            <a:prstGeom prst="roundRect">
              <a:avLst>
                <a:gd name="adj" fmla="val 50000"/>
              </a:avLst>
            </a:prstGeom>
            <a:solidFill>
              <a:srgbClr val="243B53"/>
            </a:solidFill>
            <a:ln>
              <a:noFill/>
            </a:ln>
          </p:spPr>
        </p:sp>
        <p:sp>
          <p:nvSpPr>
            <p:cNvPr id="66" name="TextBox 66"/>
            <p:cNvSpPr txBox="1"/>
            <p:nvPr/>
          </p:nvSpPr>
          <p:spPr>
            <a:xfrm>
              <a:off x="7167601" y="4572476"/>
              <a:ext cx="405689" cy="190690"/>
            </a:xfrm>
            <a:prstGeom prst="rect">
              <a:avLst/>
            </a:prstGeom>
            <a:noFill/>
            <a:ln>
              <a:noFill/>
            </a:ln>
          </p:spPr>
          <p:txBody>
            <a:bodyPr wrap="none" lIns="0" tIns="0" rIns="0" bIns="0" anchor="t" anchorCtr="0">
              <a:spAutoFit/>
            </a:bodyPr>
            <a:lstStyle/>
            <a:p>
              <a:pPr algn="ctr"/>
              <a:r>
                <a:rPr lang="zh-CN" sz="980" b="1" dirty="0">
                  <a:solidFill>
                    <a:srgbClr val="FFFFFF"/>
                  </a:solidFill>
                  <a:latin typeface="+mn-lt"/>
                  <a:ea typeface="+mn-ea"/>
                  <a:cs typeface="+mn-cs"/>
                </a:rPr>
                <a:t>接下来</a:t>
              </a:r>
            </a:p>
          </p:txBody>
        </p:sp>
        <p:sp>
          <p:nvSpPr>
            <p:cNvPr id="67" name="TextBox 67"/>
            <p:cNvSpPr txBox="1"/>
            <p:nvPr/>
          </p:nvSpPr>
          <p:spPr>
            <a:xfrm>
              <a:off x="7072503" y="4879181"/>
              <a:ext cx="4166362" cy="492252"/>
            </a:xfrm>
            <a:prstGeom prst="rect">
              <a:avLst/>
            </a:prstGeom>
            <a:noFill/>
            <a:ln>
              <a:noFill/>
            </a:ln>
          </p:spPr>
          <p:txBody>
            <a:bodyPr wrap="none" lIns="0" tIns="0" rIns="0" bIns="0" anchor="t" anchorCtr="0">
              <a:spAutoFit/>
            </a:bodyPr>
            <a:lstStyle/>
            <a:p>
              <a:pPr algn="l">
                <a:lnSpc>
                  <a:spcPts val="1912"/>
                </a:lnSpc>
              </a:pPr>
              <a:r>
                <a:rPr lang="zh-CN" sz="1280" dirty="0">
                  <a:solidFill>
                    <a:srgbClr val="FFFFFF"/>
                  </a:solidFill>
                  <a:latin typeface="+mn-lt"/>
                  <a:ea typeface="+mn-ea"/>
                  <a:cs typeface="+mn-cs"/>
                </a:rPr>
                <a:t>第8章并行计算模型：在本章的硬件结构之上，抽象出分析</a:t>
              </a:r>
              <a:br/>
              <a:r>
                <a:rPr lang="zh-CN" sz="1280" dirty="0">
                  <a:solidFill>
                    <a:srgbClr val="FFFFFF"/>
                  </a:solidFill>
                  <a:latin typeface="+mn-lt"/>
                  <a:ea typeface="+mn-ea"/>
                  <a:cs typeface="+mn-cs"/>
                </a:rPr>
                <a:t>并行算法用的计算模型。</a:t>
              </a:r>
            </a:p>
          </p:txBody>
        </p:sp>
      </p:grpSp>
      <p:grpSp>
        <p:nvGrpSpPr>
          <p:cNvPr id="74" name="takeaway"/>
          <p:cNvGrpSpPr/>
          <p:nvPr/>
        </p:nvGrpSpPr>
        <p:grpSpPr>
          <a:xfrm>
            <a:off x="533400" y="5895022"/>
            <a:ext cx="11125200" cy="467678"/>
            <a:chOff x="533400" y="5895022"/>
            <a:chExt cx="11125200" cy="467678"/>
          </a:xfrm>
        </p:grpSpPr>
        <p:sp>
          <p:nvSpPr>
            <p:cNvPr id="69" name="Rectangle 69"/>
            <p:cNvSpPr/>
            <p:nvPr/>
          </p:nvSpPr>
          <p:spPr>
            <a:xfrm>
              <a:off x="533400" y="5895022"/>
              <a:ext cx="11125200" cy="467678"/>
            </a:xfrm>
            <a:prstGeom prst="roundRect">
              <a:avLst>
                <a:gd name="adj" fmla="val 24440"/>
              </a:avLst>
            </a:prstGeom>
            <a:solidFill>
              <a:srgbClr val="334E68"/>
            </a:solidFill>
            <a:ln>
              <a:noFill/>
            </a:ln>
          </p:spPr>
        </p:sp>
        <p:grpSp>
          <p:nvGrpSpPr>
            <p:cNvPr id="72" name="Group 72"/>
            <p:cNvGrpSpPr/>
            <p:nvPr/>
          </p:nvGrpSpPr>
          <p:grpSpPr>
            <a:xfrm>
              <a:off x="738188" y="6028375"/>
              <a:ext cx="200023" cy="200023"/>
              <a:chOff x="738188" y="6028375"/>
              <a:chExt cx="200023" cy="200023"/>
            </a:xfrm>
          </p:grpSpPr>
          <p:sp>
            <p:nvSpPr>
              <p:cNvPr id="70" name="Freeform 70"/>
              <p:cNvSpPr/>
              <p:nvPr/>
            </p:nvSpPr>
            <p:spPr>
              <a:xfrm>
                <a:off x="738188" y="6028375"/>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71" name="Freeform 71"/>
              <p:cNvSpPr/>
              <p:nvPr/>
            </p:nvSpPr>
            <p:spPr>
              <a:xfrm>
                <a:off x="871538" y="6095048"/>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73" name="TextBox 73"/>
            <p:cNvSpPr txBox="1"/>
            <p:nvPr/>
          </p:nvSpPr>
          <p:spPr>
            <a:xfrm>
              <a:off x="1041273" y="6039326"/>
              <a:ext cx="9890750" cy="249364"/>
            </a:xfrm>
            <a:prstGeom prst="rect">
              <a:avLst/>
            </a:prstGeom>
            <a:noFill/>
            <a:ln>
              <a:noFill/>
            </a:ln>
          </p:spPr>
          <p:txBody>
            <a:bodyPr wrap="none" lIns="0" tIns="0" rIns="0" bIns="0" anchor="t" anchorCtr="0">
              <a:spAutoFit/>
            </a:bodyPr>
            <a:lstStyle/>
            <a:p>
              <a:pPr algn="l"/>
              <a:r>
                <a:rPr lang="zh-CN" sz="1280" dirty="0">
                  <a:solidFill>
                    <a:srgbClr val="FFFFFF"/>
                  </a:solidFill>
                  <a:latin typeface="+mn-lt"/>
                  <a:ea typeface="+mn-ea"/>
                  <a:cs typeface="+mn-cs"/>
                </a:rPr>
                <a:t>复习时动手做三类题：按 MSI 或目录协议逐步跟踪状态与消息；算静态网络的度、直径、对剖宽度；用三个定律算加速比与效率。</a:t>
              </a:r>
            </a:p>
          </p:txBody>
        </p:sp>
      </p:grpSp>
      <p:grpSp>
        <p:nvGrpSpPr>
          <p:cNvPr id="77" name="footer"/>
          <p:cNvGrpSpPr/>
          <p:nvPr/>
        </p:nvGrpSpPr>
        <p:grpSpPr>
          <a:xfrm>
            <a:off x="528447" y="6581299"/>
            <a:ext cx="11135106" cy="190690"/>
            <a:chOff x="528447" y="6581299"/>
            <a:chExt cx="11135106" cy="190690"/>
          </a:xfrm>
        </p:grpSpPr>
        <p:sp>
          <p:nvSpPr>
            <p:cNvPr id="75" name="TextBox 75"/>
            <p:cNvSpPr txBox="1"/>
            <p:nvPr/>
          </p:nvSpPr>
          <p:spPr>
            <a:xfrm>
              <a:off x="528447" y="6581299"/>
              <a:ext cx="2120748"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并行与分布式计算 · 第7章 体系结构</a:t>
              </a:r>
            </a:p>
          </p:txBody>
        </p:sp>
        <p:sp>
          <p:nvSpPr>
            <p:cNvPr id="76" name="TextBox 76"/>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71</a:t>
              </a:r>
            </a:p>
          </p:txBody>
        </p:sp>
      </p:gr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pdc_ch07">
  <a:themeElements>
    <a:clrScheme name="pdc_ch07">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pdc_ch07">
      <a:majorFont>
        <a:latin typeface="Microsoft YaHei"/>
        <a:ea typeface="Microsoft YaHei"/>
        <a:cs typeface="Microsoft YaHei"/>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Microsoft YaHei"/>
        <a:ea typeface="Microsoft YaHei"/>
        <a:cs typeface="Microsoft YaHei"/>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dc_ch07">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71</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zh-CN</dc:language>
  <cp:lastModifiedBy/>
  <cp:revision>1</cp:revision>
  <dcterms:created xsi:type="dcterms:W3CDTF">2026-09-23T09:13:19Z</dcterms:created>
  <dcterms:modified xsi:type="dcterms:W3CDTF">2026-09-23T09:13:19Z</dcterms:modified>
  <cp:category/>
  <cp:contentStatus/>
</cp:coreProperties>
</file>