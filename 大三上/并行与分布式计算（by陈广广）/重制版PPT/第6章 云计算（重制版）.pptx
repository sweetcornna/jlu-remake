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dc_ch06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dc_ch06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3961444ffa0fce92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4e48e340176764c.png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fe4b99997f4ee96.png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389882" cy="3437763"/>
            <a:chOff x="666750" y="1619250"/>
            <a:chExt cx="4389882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139315" cy="3429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97463" y="1718310"/>
              <a:ext cx="19159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并行与分布式计算 · 第6章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173431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云计算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3799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把算力、存储和软件变成按量购买的服务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服务模式与可用性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虚拟机、容器与编排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网络与存储虚拟化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微服务、无状态与边缘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632846" cy="205359"/>
            <a:chOff x="680466" y="6192202"/>
            <a:chExt cx="4632846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6328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自学复习版｜据吉林大学《并行与分布式计算》第6章课件整理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0490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5916" y="407194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2351" y="1513999"/>
            <a:ext cx="6287071" cy="4711922"/>
            <a:chOff x="522351" y="1513999"/>
            <a:chExt cx="6287071" cy="4711922"/>
          </a:xfrm>
        </p:grpSpPr>
        <p:sp>
          <p:nvSpPr>
            <p:cNvPr id="7" name="TextBox 7"/>
            <p:cNvSpPr txBox="1"/>
            <p:nvPr/>
          </p:nvSpPr>
          <p:spPr>
            <a:xfrm>
              <a:off x="522351" y="1513999"/>
              <a:ext cx="361058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54989" y="1550194"/>
              <a:ext cx="12922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什么是云计算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56894" y="1853565"/>
              <a:ext cx="43110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按需付费、弹性计算、可用性的“几个 9”、IaaS/PaaS/SaaS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62990" y="2152650"/>
              <a:ext cx="574643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2351" y="2253139"/>
              <a:ext cx="361058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54989" y="2289334"/>
              <a:ext cx="65410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6894" y="2592705"/>
              <a:ext cx="54528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分区隔离封装、Hypervisor 两种类型、全虚拟化与半虚拟化、OpenStack、热迁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移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62990" y="3112770"/>
              <a:ext cx="574643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2351" y="3213259"/>
              <a:ext cx="361058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54989" y="3249454"/>
              <a:ext cx="195677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容器与 Kubernetes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56894" y="3552825"/>
              <a:ext cx="47721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chroot、LXC、Docker 镜像、K8s 组件、Deployment 与滚动更新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62990" y="3851910"/>
              <a:ext cx="574643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2351" y="3952399"/>
              <a:ext cx="361058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54989" y="3988594"/>
              <a:ext cx="171759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网络与存储虚拟化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56894" y="4291965"/>
              <a:ext cx="41768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VLAN、Overlay 与 VXLAN、存算分离、文件/块/对象存储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62990" y="4591050"/>
              <a:ext cx="574643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2351" y="4691539"/>
              <a:ext cx="361058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54989" y="4727734"/>
              <a:ext cx="171759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面向服务与云原生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56894" y="5031105"/>
              <a:ext cx="52928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SOA、电商网站的扩容之路、REST 与 gRPC、Service Mesh、CI/CD、无状态与</a:t>
              </a:r>
              <a:br/>
              <a:r>
                <a:rPr lang="en-US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FaaS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62990" y="5551170"/>
              <a:ext cx="574643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2351" y="5651659"/>
              <a:ext cx="361058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54989" y="5687854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边缘计算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56894" y="5991225"/>
              <a:ext cx="33631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边缘的定义、CDN、带宽与延迟、云边端一体化</a:t>
              </a:r>
            </a:p>
          </p:txBody>
        </p:sp>
      </p:grpSp>
      <p:grpSp>
        <p:nvGrpSpPr>
          <p:cNvPr id="47" name="c2-card-1"/>
          <p:cNvGrpSpPr/>
          <p:nvPr/>
        </p:nvGrpSpPr>
        <p:grpSpPr>
          <a:xfrm>
            <a:off x="7114222" y="1524000"/>
            <a:ext cx="4544378" cy="4654868"/>
            <a:chOff x="7114222" y="1524000"/>
            <a:chExt cx="4544378" cy="4654868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654868"/>
            </a:xfrm>
            <a:prstGeom prst="roundRect">
              <a:avLst>
                <a:gd name="adj" fmla="val 29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38816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56158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37514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3777" y="216122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0368" y="2100739"/>
              <a:ext cx="361226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用“几个 9”换算停机时间，会算串联和冗余系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统的可用性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3777" y="275272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0368" y="2692241"/>
              <a:ext cx="361226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 IaaS、PaaS、SaaS 各自由用户管理哪几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3777" y="334422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0368" y="3283744"/>
              <a:ext cx="34409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区分 Type 1 与 Type 2、全虚拟化与半虚拟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化、虚拟机与容器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3777" y="393573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0368" y="3875246"/>
              <a:ext cx="363029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读懂一份 Deployment 配置，写出滚动更新每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一步的 Pod 数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3777" y="452723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0368" y="4466749"/>
              <a:ext cx="370243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解释 Overlay 封装和 VXLAN 的 50 字节开销，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比较文件、块、对象三种存储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363777" y="511873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520368" y="5058251"/>
              <a:ext cx="360324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说明有状态服务为什么难扩容，给出 session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的三种处理办法，判断何时用 FaaS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247007" cy="3351847"/>
            <a:chOff x="667512" y="1835468"/>
            <a:chExt cx="4247007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什么是云计算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把服务器、存储和软件做成按量购买的服务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7412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原课件第3–21页 什么是云计算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成本低在规模和利用率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弹性计算与高可用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三种服务模式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71613" cy="909257"/>
            <a:chOff x="520446" y="342900"/>
            <a:chExt cx="55716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什么是云计算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716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“云”：只看整体，不关心里面的细节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4760595" cy="1701165"/>
            <a:chOff x="533400" y="1524000"/>
            <a:chExt cx="4760595" cy="17011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701165"/>
            </a:xfrm>
            <a:prstGeom prst="roundRect">
              <a:avLst>
                <a:gd name="adj" fmla="val 78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3446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08489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4252" y="1769269"/>
              <a:ext cx="9394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“云”这个比喻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飘在上空：看得见，但接触不到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50888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44602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大体上的：不知道云彩的具体组成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284416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278130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绵延成片：不是颗粒分明的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3415665"/>
            <a:ext cx="4760595" cy="2082165"/>
            <a:chOff x="533400" y="3415665"/>
            <a:chExt cx="4760595" cy="2082165"/>
          </a:xfrm>
        </p:grpSpPr>
        <p:sp>
          <p:nvSpPr>
            <p:cNvPr id="18" name="Rectangle 18"/>
            <p:cNvSpPr/>
            <p:nvPr/>
          </p:nvSpPr>
          <p:spPr>
            <a:xfrm>
              <a:off x="533400" y="3415665"/>
              <a:ext cx="4760595" cy="2082165"/>
            </a:xfrm>
            <a:prstGeom prst="roundRect">
              <a:avLst>
                <a:gd name="adj" fmla="val 64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3549015"/>
              <a:ext cx="47625" cy="18154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81050" y="362521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54507" y="366093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画图的老习惯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3430" y="4002405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网络拓扑图里常用一朵云代表互联网，而且这个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画法由来已久。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4573" y="4620101"/>
              <a:ext cx="4076954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意思是云里面的路由器、链路怎么连不关心，把它当成一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个整体。云计算沿用了这个意思：用户只看到服务，看不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到背后的机房。</a:t>
              </a:r>
            </a:p>
          </p:txBody>
        </p:sp>
      </p:grpSp>
      <p:grpSp>
        <p:nvGrpSpPr>
          <p:cNvPr id="49" name="c2-compare-1"/>
          <p:cNvGrpSpPr/>
          <p:nvPr/>
        </p:nvGrpSpPr>
        <p:grpSpPr>
          <a:xfrm>
            <a:off x="5598795" y="1524000"/>
            <a:ext cx="6059805" cy="2609850"/>
            <a:chOff x="5598795" y="1524000"/>
            <a:chExt cx="6059805" cy="2609850"/>
          </a:xfrm>
        </p:grpSpPr>
        <p:sp>
          <p:nvSpPr>
            <p:cNvPr id="25" name="Rectangle 25"/>
            <p:cNvSpPr/>
            <p:nvPr/>
          </p:nvSpPr>
          <p:spPr>
            <a:xfrm>
              <a:off x="5598795" y="1524000"/>
              <a:ext cx="2820352" cy="2609850"/>
            </a:xfrm>
            <a:prstGeom prst="roundRect">
              <a:avLst>
                <a:gd name="adj" fmla="val 51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608320" y="1657350"/>
              <a:ext cx="47625" cy="23431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838825" y="17583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二十年前搭一个网站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852160" y="217551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010275" y="21126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自己采购服务器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5852160" y="251079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010275" y="2447925"/>
              <a:ext cx="1948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购买网络服务，申请 IP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和域名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5852160" y="313182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010275" y="3068955"/>
              <a:ext cx="2110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腾出一个机房，配置软件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环境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5852160" y="375285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010275" y="36899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搭建网站，自己负责运维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838248" y="1524000"/>
              <a:ext cx="2820352" cy="2609850"/>
            </a:xfrm>
            <a:prstGeom prst="roundRect">
              <a:avLst>
                <a:gd name="adj" fmla="val 51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8847772" y="1657350"/>
              <a:ext cx="47625" cy="23431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078278" y="17583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现在搭一个网站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9091612" y="217551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249728" y="21126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选一个云服务商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9091612" y="251079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249728" y="2447925"/>
              <a:ext cx="19392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购买一个“实例”（云服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务器）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9091612" y="313182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249728" y="306895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在它提供的环境上搭网站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9091612" y="346710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249728" y="3404235"/>
              <a:ext cx="1967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把域名的 DNS 解析到实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例的 IP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8466772" y="266700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537113" y="276320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56" name="c2-callout-2"/>
          <p:cNvGrpSpPr/>
          <p:nvPr/>
        </p:nvGrpSpPr>
        <p:grpSpPr>
          <a:xfrm>
            <a:off x="5598795" y="4324350"/>
            <a:ext cx="6059805" cy="1173480"/>
            <a:chOff x="5598795" y="4324350"/>
            <a:chExt cx="6059805" cy="1173480"/>
          </a:xfrm>
        </p:grpSpPr>
        <p:sp>
          <p:nvSpPr>
            <p:cNvPr id="50" name="Rectangle 50"/>
            <p:cNvSpPr/>
            <p:nvPr/>
          </p:nvSpPr>
          <p:spPr>
            <a:xfrm>
              <a:off x="5598795" y="4324350"/>
              <a:ext cx="6059805" cy="1173480"/>
            </a:xfrm>
            <a:prstGeom prst="roundRect">
              <a:avLst>
                <a:gd name="adj" fmla="val 97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5803583" y="4811078"/>
              <a:ext cx="200026" cy="200025"/>
              <a:chOff x="5803583" y="4811078"/>
              <a:chExt cx="200026" cy="200025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5803583" y="481107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5843321" y="485552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5878037" y="496665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6105525" y="4668202"/>
              <a:ext cx="50730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原课件第6页是云服务商控制台的截图：选地域、选规格、选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系统镜像、付款，几分钟就能拿到一台可以登录的服务器。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什么是云计算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云计算：按需采购、按量付费，成本比自己搭更低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4869180" cy="2253615"/>
            <a:chOff x="533400" y="1524000"/>
            <a:chExt cx="4869180" cy="22536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869180" cy="2253615"/>
            </a:xfrm>
            <a:prstGeom prst="roundRect">
              <a:avLst>
                <a:gd name="adj" fmla="val 59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8691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25283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云计算（Cloud Computing）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18033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通过互联网（“云”）提供计算服务，包括服务器、存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储、数据库、网络、软件、分析和智能。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2955" y="2770823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9546" y="2711291"/>
              <a:ext cx="35127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用户在云服务商那里 </a:t>
              </a: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按需采购、按量付费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2955" y="309086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9546" y="3031331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不再关心实体硬件的购买、连接和维护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2955" y="341090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9546" y="3351371"/>
              <a:ext cx="23275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“云”为用户隐藏了所有细节</a:t>
              </a:r>
            </a:p>
          </p:txBody>
        </p:sp>
      </p:grpSp>
      <p:grpSp>
        <p:nvGrpSpPr>
          <p:cNvPr id="25" name="c1-callout-2"/>
          <p:cNvGrpSpPr/>
          <p:nvPr/>
        </p:nvGrpSpPr>
        <p:grpSpPr>
          <a:xfrm>
            <a:off x="533400" y="3962400"/>
            <a:ext cx="4869180" cy="2159318"/>
            <a:chOff x="533400" y="3962400"/>
            <a:chExt cx="4869180" cy="2159318"/>
          </a:xfrm>
        </p:grpSpPr>
        <p:sp>
          <p:nvSpPr>
            <p:cNvPr id="20" name="Rectangle 20"/>
            <p:cNvSpPr/>
            <p:nvPr/>
          </p:nvSpPr>
          <p:spPr>
            <a:xfrm>
              <a:off x="533400" y="3962400"/>
              <a:ext cx="4869180" cy="2159318"/>
            </a:xfrm>
            <a:prstGeom prst="roundRect">
              <a:avLst>
                <a:gd name="adj" fmla="val 5293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4942525"/>
              <a:ext cx="200023" cy="200023"/>
              <a:chOff x="738188" y="4942525"/>
              <a:chExt cx="200023" cy="200023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38188" y="494252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71538" y="50091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511" y="4681061"/>
              <a:ext cx="3936873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算一笔账：利用率从 15% 提到 50%，同一台服务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器做的有效工作变成 50 / 15 ≈ 3.3 倍，单位算力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的成本降到原来的 0.3 倍。</a:t>
              </a:r>
            </a:p>
          </p:txBody>
        </p:sp>
      </p:grpSp>
      <p:grpSp>
        <p:nvGrpSpPr>
          <p:cNvPr id="40" name="c2-table-1"/>
          <p:cNvGrpSpPr/>
          <p:nvPr/>
        </p:nvGrpSpPr>
        <p:grpSpPr>
          <a:xfrm>
            <a:off x="5707380" y="1524000"/>
            <a:ext cx="5951220" cy="2636520"/>
            <a:chOff x="5707380" y="1524000"/>
            <a:chExt cx="5951220" cy="2636520"/>
          </a:xfrm>
        </p:grpSpPr>
        <p:sp>
          <p:nvSpPr>
            <p:cNvPr id="26" name="Rectangle 26"/>
            <p:cNvSpPr/>
            <p:nvPr/>
          </p:nvSpPr>
          <p:spPr>
            <a:xfrm>
              <a:off x="5707380" y="1524000"/>
              <a:ext cx="5951220" cy="4686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900090" y="1658779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成本为什么低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258021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811584" y="212836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大规模采购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58444" y="2128361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服务商成批购买硬件、电力和带宽，构建成本降低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707380" y="245745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707380" y="2462212"/>
              <a:ext cx="5951220" cy="97536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811584" y="285035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利用率提高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58444" y="2596991"/>
              <a:ext cx="4027043" cy="7854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企业自建数据中心的利用时间往往只有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10%~20%；许多客户共用一个数据中心后，利用率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可以提高到 50% 以上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707380" y="343281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811584" y="369903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超额配置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58444" y="3572351"/>
              <a:ext cx="398195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大部分服务器不会同时处于峰值，所以卖出的配置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总和可以超过物理资源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707380" y="1524000"/>
              <a:ext cx="5951220" cy="26365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249478" y="1524000"/>
              <a:ext cx="9525" cy="26365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7" name="c2-card-2"/>
          <p:cNvGrpSpPr/>
          <p:nvPr/>
        </p:nvGrpSpPr>
        <p:grpSpPr>
          <a:xfrm>
            <a:off x="5707380" y="4345305"/>
            <a:ext cx="5951220" cy="1777365"/>
            <a:chOff x="5707380" y="4345305"/>
            <a:chExt cx="5951220" cy="1777365"/>
          </a:xfrm>
        </p:grpSpPr>
        <p:sp>
          <p:nvSpPr>
            <p:cNvPr id="41" name="Rectangle 41"/>
            <p:cNvSpPr/>
            <p:nvPr/>
          </p:nvSpPr>
          <p:spPr>
            <a:xfrm>
              <a:off x="5707380" y="4345305"/>
              <a:ext cx="5951220" cy="1777365"/>
            </a:xfrm>
            <a:prstGeom prst="roundRect">
              <a:avLst>
                <a:gd name="adj" fmla="val 75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5716905" y="4478655"/>
              <a:ext cx="47625" cy="151066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949315" y="454914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018822" y="458485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超额配置的例子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942076" y="4922044"/>
              <a:ext cx="529844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一台 64 核的宿主机卖出 32 台 4 核云服务器，合计 128 个 vCPU，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超配比为 2 比 1。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943219" y="5510212"/>
              <a:ext cx="52318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只要这些客户的平均 CPU 占用不到一半、峰值又错开，物理核就够用；各家同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时满载时才会互相拖慢。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什么是云计算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弹性计算：资源跟着负载涨落，不为闲置付费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4760595" cy="2844165"/>
            <a:chOff x="533400" y="1524000"/>
            <a:chExt cx="4760595" cy="28441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2844165"/>
            </a:xfrm>
            <a:prstGeom prst="roundRect">
              <a:avLst>
                <a:gd name="adj" fmla="val 468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57746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210026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8902" y="1769269"/>
              <a:ext cx="20255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弹性计算 Elastic Computing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015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快速扩展或缩减处理器、内存和存储资源，满足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不断变化的需求，不必为用量高峰做容量规划和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工程设计。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308038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3017520"/>
              <a:ext cx="39395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通常由 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系统监控工具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控制，不中断业务就能让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分配的资源与实际所需匹配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70141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638550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不为未用容量、闲置资源付费，也不必投钱购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买和维护额外设备</a:t>
              </a:r>
            </a:p>
          </p:txBody>
        </p:sp>
      </p:grpSp>
      <p:grpSp>
        <p:nvGrpSpPr>
          <p:cNvPr id="23" name="c1-callout-2"/>
          <p:cNvGrpSpPr/>
          <p:nvPr/>
        </p:nvGrpSpPr>
        <p:grpSpPr>
          <a:xfrm>
            <a:off x="533400" y="4558665"/>
            <a:ext cx="4760595" cy="1665922"/>
            <a:chOff x="533400" y="4558665"/>
            <a:chExt cx="4760595" cy="1665922"/>
          </a:xfrm>
        </p:grpSpPr>
        <p:sp>
          <p:nvSpPr>
            <p:cNvPr id="17" name="Rectangle 17"/>
            <p:cNvSpPr/>
            <p:nvPr/>
          </p:nvSpPr>
          <p:spPr>
            <a:xfrm>
              <a:off x="533400" y="4558665"/>
              <a:ext cx="4760595" cy="1665922"/>
            </a:xfrm>
            <a:prstGeom prst="roundRect">
              <a:avLst>
                <a:gd name="adj" fmla="val 686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8188" y="5291138"/>
              <a:ext cx="200026" cy="200026"/>
              <a:chOff x="738188" y="5291138"/>
              <a:chExt cx="200026" cy="20002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38188" y="52911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38200" y="53578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27088" y="539115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130" y="5010150"/>
              <a:ext cx="3825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弹性靠虚拟化实现：虚拟机和容器可以随时创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建、销毁、迁移，第二、三部分会讲它们怎样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做到。</a:t>
              </a:r>
            </a:p>
          </p:txBody>
        </p:sp>
      </p:grpSp>
      <p:grpSp>
        <p:nvGrpSpPr>
          <p:cNvPr id="48" name="c2-table-1"/>
          <p:cNvGrpSpPr/>
          <p:nvPr/>
        </p:nvGrpSpPr>
        <p:grpSpPr>
          <a:xfrm>
            <a:off x="5593080" y="1524000"/>
            <a:ext cx="6065520" cy="1193007"/>
            <a:chOff x="5593080" y="1524000"/>
            <a:chExt cx="6065520" cy="1193007"/>
          </a:xfrm>
        </p:grpSpPr>
        <p:sp>
          <p:nvSpPr>
            <p:cNvPr id="24" name="Rectangle 24"/>
            <p:cNvSpPr/>
            <p:nvPr/>
          </p:nvSpPr>
          <p:spPr>
            <a:xfrm>
              <a:off x="5598795" y="1524000"/>
              <a:ext cx="6059805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08865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时段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93785" y="1659731"/>
              <a:ext cx="5380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0–4 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55746" y="1659731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4–8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595601" y="1659731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8–12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28800" y="1659731"/>
              <a:ext cx="510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12–16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158428" y="1659731"/>
              <a:ext cx="510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16–20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988055" y="1659731"/>
              <a:ext cx="510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20–24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706618" y="210835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需要的服务器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61576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10241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699851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482806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0007918" y="1982152"/>
              <a:ext cx="810578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265047" y="210835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142061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598795" y="1524000"/>
              <a:ext cx="6059805" cy="8972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930390" y="152400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785735" y="152400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8428672" y="152400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9164002" y="152400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9993630" y="152400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10824210" y="152400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593080" y="2496979"/>
              <a:ext cx="44366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例：某网站一天中各时段需要的服务器台数，峰值出现在 16–20 时</a:t>
              </a:r>
            </a:p>
          </p:txBody>
        </p:sp>
      </p:grpSp>
      <p:grpSp>
        <p:nvGrpSpPr>
          <p:cNvPr id="62" name="c2-steps-2"/>
          <p:cNvGrpSpPr/>
          <p:nvPr/>
        </p:nvGrpSpPr>
        <p:grpSpPr>
          <a:xfrm>
            <a:off x="5598795" y="2872740"/>
            <a:ext cx="5773801" cy="2112931"/>
            <a:chOff x="5598795" y="2872740"/>
            <a:chExt cx="5773801" cy="2112931"/>
          </a:xfrm>
        </p:grpSpPr>
        <p:sp>
          <p:nvSpPr>
            <p:cNvPr id="49" name="Rectangle 49"/>
            <p:cNvSpPr/>
            <p:nvPr/>
          </p:nvSpPr>
          <p:spPr>
            <a:xfrm>
              <a:off x="5732145" y="3015615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5598795" y="287274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692419" y="29465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5598795" y="352425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692419" y="35980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5598795" y="417480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692419" y="42486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010275" y="2907030"/>
              <a:ext cx="21077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自建：按峰值买 100 台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011418" y="3200876"/>
              <a:ext cx="26148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全天开着，100 × 24 = 2400 台·时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010275" y="3558540"/>
              <a:ext cx="22783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弹性：每 4 小时按需调整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011418" y="3851434"/>
              <a:ext cx="45620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× (20 + 15 + 30 + 60 + 100 + 45) = 4 × 270 = 1080 台·时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010275" y="420909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011418" y="4501991"/>
              <a:ext cx="536117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弹性方案少用 1 − 1080 / 2400 = 55%；自建方案的平均利用率只有 1080 /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2400 = 45%</a:t>
              </a:r>
            </a:p>
          </p:txBody>
        </p:sp>
      </p:grpSp>
      <p:grpSp>
        <p:nvGrpSpPr>
          <p:cNvPr id="69" name="c2-callout-3"/>
          <p:cNvGrpSpPr/>
          <p:nvPr/>
        </p:nvGrpSpPr>
        <p:grpSpPr>
          <a:xfrm>
            <a:off x="5598795" y="5164455"/>
            <a:ext cx="6059805" cy="1059180"/>
            <a:chOff x="5598795" y="5164455"/>
            <a:chExt cx="6059805" cy="1059180"/>
          </a:xfrm>
        </p:grpSpPr>
        <p:sp>
          <p:nvSpPr>
            <p:cNvPr id="63" name="Rectangle 63"/>
            <p:cNvSpPr/>
            <p:nvPr/>
          </p:nvSpPr>
          <p:spPr>
            <a:xfrm>
              <a:off x="5598795" y="5164455"/>
              <a:ext cx="6059805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5803583" y="5594985"/>
              <a:ext cx="200026" cy="200025"/>
              <a:chOff x="5803583" y="5594985"/>
              <a:chExt cx="200026" cy="200025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5803583" y="559498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5843321" y="563943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5878037" y="575056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6105525" y="5313998"/>
              <a:ext cx="50444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云上按“台·时”计费：同样的钱，可以 1 台开 100 小时，也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可以 100 台开 1 小时。赶工的批处理任务开很多台同时算，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花费不变，时间缩短。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什么是云计算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容错、高可用、容灾：面对故障的三个层次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9402318" cy="293370"/>
            <a:chOff x="525780" y="1548765"/>
            <a:chExt cx="9402318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94023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大型集群里故障是常态。第5章的 Hadoop 就靠监控计算任务、失败时在其他节点上重放计算来容忍故障。</a:t>
              </a:r>
            </a:p>
          </p:txBody>
        </p:sp>
      </p:grpSp>
      <p:grpSp>
        <p:nvGrpSpPr>
          <p:cNvPr id="33" name="c1-table-1"/>
          <p:cNvGrpSpPr/>
          <p:nvPr/>
        </p:nvGrpSpPr>
        <p:grpSpPr>
          <a:xfrm>
            <a:off x="533400" y="1954530"/>
            <a:ext cx="11125200" cy="1910715"/>
            <a:chOff x="533400" y="1954530"/>
            <a:chExt cx="11125200" cy="191071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11125200" cy="42481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77265" y="208311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术语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486531" y="208311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追求什么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97549" y="208311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业务中断吗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28748" y="2083118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典型手段与场景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5889" y="26136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容错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59852" y="2506980"/>
              <a:ext cx="3669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部分组件出现一个或多个故障时，系统仍能继续正常运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行，性能可以下降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975604" y="26136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不中断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44384" y="261366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冗余部件、任务重放；多用于生命关键系统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01180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3016568"/>
              <a:ext cx="11125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5889" y="314515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高可用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59852" y="3145155"/>
              <a:ext cx="3889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让系统更久地保持一定运行水平，尽可能降低停机时间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975604" y="314515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允许短暂中断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44384" y="3145155"/>
              <a:ext cx="33965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多副本、故障自动切换；云服务用“几个 9”衡量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43662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5889" y="356997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容灾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59852" y="3569970"/>
              <a:ext cx="3889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发生灾难（机房断电、火灾、地震）后恢复业务的能力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975604" y="356997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会中断，事后恢复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44384" y="356997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灾备：把最关键的业务数据备份到异地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1954530"/>
              <a:ext cx="11125200" cy="19107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752600" y="1954530"/>
              <a:ext cx="9525" cy="19107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868352" y="1954530"/>
              <a:ext cx="9525" cy="19107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537132" y="1954530"/>
              <a:ext cx="9525" cy="19107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4" name="c1-compare-2"/>
          <p:cNvGrpSpPr/>
          <p:nvPr/>
        </p:nvGrpSpPr>
        <p:grpSpPr>
          <a:xfrm>
            <a:off x="533400" y="4046220"/>
            <a:ext cx="11125200" cy="1642110"/>
            <a:chOff x="533400" y="4046220"/>
            <a:chExt cx="11125200" cy="1642110"/>
          </a:xfrm>
        </p:grpSpPr>
        <p:sp>
          <p:nvSpPr>
            <p:cNvPr id="34" name="Rectangle 34"/>
            <p:cNvSpPr/>
            <p:nvPr/>
          </p:nvSpPr>
          <p:spPr>
            <a:xfrm>
              <a:off x="533400" y="4046220"/>
              <a:ext cx="5353050" cy="1642110"/>
            </a:xfrm>
            <a:prstGeom prst="roundRect">
              <a:avLst>
                <a:gd name="adj" fmla="val 81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2925" y="4179570"/>
              <a:ext cx="47625" cy="137541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381" y="426767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容易混淆的地方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77240" y="466344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33831" y="4602956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高可用不等于不出故障，只是停得短、恢复得快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77240" y="498062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33831" y="4921091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容灾关心的是数据还在不在、多久能恢复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77240" y="529875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33831" y="5238274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容错要求最高，成本也最高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305550" y="4046220"/>
              <a:ext cx="5353050" cy="1642110"/>
            </a:xfrm>
            <a:prstGeom prst="roundRect">
              <a:avLst>
                <a:gd name="adj" fmla="val 81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315075" y="4179570"/>
              <a:ext cx="47625" cy="137541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34531" y="4267676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云服务商谈的是哪一个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549390" y="466344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05981" y="4602956"/>
              <a:ext cx="28328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对外承诺的一般是可用性（SLA）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549390" y="498062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05981" y="4921091"/>
              <a:ext cx="33926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例：Amazon EC2 每个区域承诺 99.99%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549390" y="529875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05981" y="5238274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容灾往往要用户自己跨区域部署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5934075" y="4704398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010546" y="480583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61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55" name="Rectangle 55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38188" y="6011228"/>
              <a:ext cx="200026" cy="200025"/>
              <a:chOff x="738188" y="6011228"/>
              <a:chExt cx="200026" cy="20002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60112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77926" y="60556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12642" y="61668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40511" y="6011704"/>
              <a:ext cx="88269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区分三者先问“业务中断吗”：容错不中断，高可用允许短暂中断，容灾是中断之后把数据和业务找回来。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34710" cy="909257"/>
            <a:chOff x="520446" y="342900"/>
            <a:chExt cx="553471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什么是云计算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3471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可用性：“几个 9”对应一年能停多久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6" name="c1-table-1"/>
          <p:cNvGrpSpPr/>
          <p:nvPr/>
        </p:nvGrpSpPr>
        <p:grpSpPr>
          <a:xfrm>
            <a:off x="527685" y="1524000"/>
            <a:ext cx="6592733" cy="4047649"/>
            <a:chOff x="527685" y="1524000"/>
            <a:chExt cx="6592733" cy="404764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686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82420" y="165877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可用性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113735" y="165877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每年停机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32960" y="165877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每月停机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52185" y="165877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每天停机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7604" y="2128361"/>
              <a:ext cx="13210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90%（一个 9）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294309" y="2128361"/>
              <a:ext cx="78867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36.53 天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74761" y="2128361"/>
              <a:ext cx="9798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73.05 小时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151875" y="2128361"/>
              <a:ext cx="76956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2.4 小时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45745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462212"/>
              <a:ext cx="6492240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7604" y="2596991"/>
              <a:ext cx="13210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99%（两个 9）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399447" y="2596991"/>
              <a:ext cx="68353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3.65 天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79899" y="2596991"/>
              <a:ext cx="87470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7.31 小时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46737" y="2596991"/>
              <a:ext cx="87470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14.4 分钟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92608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7604" y="3065621"/>
              <a:ext cx="15418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99.9%（三个 9）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208287" y="3065621"/>
              <a:ext cx="87470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8.77 小时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74761" y="3065621"/>
              <a:ext cx="9798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43.83 分钟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46737" y="3065621"/>
              <a:ext cx="87470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1.44 分钟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39566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400425"/>
              <a:ext cx="6492240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7604" y="3535204"/>
              <a:ext cx="7169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99.95%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208287" y="3535204"/>
              <a:ext cx="87470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4.38 小时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79899" y="3535204"/>
              <a:ext cx="87470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21.9 分钟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37897" y="3535204"/>
              <a:ext cx="68353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43.2 秒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86429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42925" y="3878580"/>
              <a:ext cx="2267902" cy="4495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7604" y="4003834"/>
              <a:ext cx="16522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99.99%（四个 9）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2829878" y="3878580"/>
              <a:ext cx="1347788" cy="4495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208287" y="4003834"/>
              <a:ext cx="87470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52.6 分钟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679899" y="4003834"/>
              <a:ext cx="87470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4.38 分钟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37897" y="4003834"/>
              <a:ext cx="68353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8.64 秒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433292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3400" y="4337685"/>
              <a:ext cx="6492240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7604" y="4473416"/>
              <a:ext cx="17626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99.999%（五个 9）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208287" y="4473416"/>
              <a:ext cx="87470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5.26 分钟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871060" y="4473416"/>
              <a:ext cx="68353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26.3 秒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37897" y="4473416"/>
              <a:ext cx="68353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0.86 秒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480250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7604" y="4942046"/>
              <a:ext cx="187303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99.9999%（六个 9）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399447" y="4942046"/>
              <a:ext cx="68353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31.6 秒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871060" y="4942046"/>
              <a:ext cx="68353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2.63 秒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132759" y="4942046"/>
              <a:ext cx="78867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0.086 秒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1524000"/>
              <a:ext cx="6492240" cy="375189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2815590" y="1524000"/>
              <a:ext cx="9525" cy="37518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4182428" y="1524000"/>
              <a:ext cx="9525" cy="37518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654040" y="1524000"/>
              <a:ext cx="9525" cy="37518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27685" y="5351621"/>
              <a:ext cx="65927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按一年 365.25 天、每月为一年的 1/12 计算；原课件第13页的表还列了每季度、每周和七到九个 9</a:t>
              </a:r>
            </a:p>
          </p:txBody>
        </p:sp>
      </p:grpSp>
      <p:grpSp>
        <p:nvGrpSpPr>
          <p:cNvPr id="62" name="c2-card-1"/>
          <p:cNvGrpSpPr/>
          <p:nvPr/>
        </p:nvGrpSpPr>
        <p:grpSpPr>
          <a:xfrm>
            <a:off x="7330440" y="1524000"/>
            <a:ext cx="4328160" cy="1274445"/>
            <a:chOff x="7330440" y="1524000"/>
            <a:chExt cx="4328160" cy="1274445"/>
          </a:xfrm>
        </p:grpSpPr>
        <p:sp>
          <p:nvSpPr>
            <p:cNvPr id="57" name="Rectangle 57"/>
            <p:cNvSpPr/>
            <p:nvPr/>
          </p:nvSpPr>
          <p:spPr>
            <a:xfrm>
              <a:off x="7330440" y="1524000"/>
              <a:ext cx="4328160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7339965" y="1657350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7572375" y="1727835"/>
              <a:ext cx="76295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651359" y="1763554"/>
              <a:ext cx="605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可用性 A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565136" y="2100739"/>
              <a:ext cx="34409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给定时间内系统正常运行的时间所占的百分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比，一般用“几个 9”表示。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formula3"/>
              <p:cNvSpPr txBox="1">
                <a:spLocks noGrp="1"/>
              </p:cNvSpPr>
              <p:nvPr/>
            </p:nvSpPr>
            <p:spPr>
              <a:xfrm>
                <a:off x="7330440" y="2984182"/>
                <a:ext cx="4328160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 m:val="on"/>
                            </m:r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down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73" name="c2-steps-3"/>
          <p:cNvGrpSpPr/>
          <p:nvPr/>
        </p:nvGrpSpPr>
        <p:grpSpPr>
          <a:xfrm>
            <a:off x="7330440" y="3655695"/>
            <a:ext cx="3526536" cy="1390079"/>
            <a:chOff x="7330440" y="3655695"/>
            <a:chExt cx="3526536" cy="1390079"/>
          </a:xfrm>
        </p:grpSpPr>
        <p:sp>
          <p:nvSpPr>
            <p:cNvPr id="64" name="Rectangle 64"/>
            <p:cNvSpPr/>
            <p:nvPr/>
          </p:nvSpPr>
          <p:spPr>
            <a:xfrm>
              <a:off x="7463790" y="3798570"/>
              <a:ext cx="19050" cy="8420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7330440" y="365569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424064" y="37295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7330440" y="449675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424064" y="45705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742301" y="3688556"/>
              <a:ext cx="21153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例：99.99% 一年停多久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743444" y="3969068"/>
              <a:ext cx="31135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(1 − 0.9999) × 365.25 × 24 × 60 = 0.0001 ×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525960 ≈ 52.6 分钟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742301" y="453056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规律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743444" y="4811078"/>
              <a:ext cx="30572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每多一个 9，停机时间缩到原来的十分之一</a:t>
              </a:r>
            </a:p>
          </p:txBody>
        </p:sp>
      </p:grpSp>
      <p:grpSp>
        <p:nvGrpSpPr>
          <p:cNvPr id="80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74" name="Rectangle 74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1040511" y="6004084"/>
              <a:ext cx="83532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Amazon EC2 每个区域承诺 99.99% 的可用性，也就是“四个 9”：一年累计停机不超过约 53 分钟。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什么是云计算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例题：串联的部件拉低可用性，冗余再把它拉回来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490967" cy="308039"/>
            <a:chOff x="525399" y="1550194"/>
            <a:chExt cx="9490967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49096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网站由 Web 服务和数据库串联组成，两者可用性都是 99.9%，故障相互独立，一年按 8766 小时计。</a:t>
              </a:r>
            </a:p>
          </p:txBody>
        </p:sp>
      </p:grpSp>
      <p:grpSp>
        <p:nvGrpSpPr>
          <p:cNvPr id="26" name="c1-steps-1"/>
          <p:cNvGrpSpPr/>
          <p:nvPr/>
        </p:nvGrpSpPr>
        <p:grpSpPr>
          <a:xfrm>
            <a:off x="533400" y="1977390"/>
            <a:ext cx="5960745" cy="3233070"/>
            <a:chOff x="533400" y="1977390"/>
            <a:chExt cx="5960745" cy="3233070"/>
          </a:xfrm>
        </p:grpSpPr>
        <p:sp>
          <p:nvSpPr>
            <p:cNvPr id="9" name="Rectangle 9"/>
            <p:cNvSpPr/>
            <p:nvPr/>
          </p:nvSpPr>
          <p:spPr>
            <a:xfrm>
              <a:off x="666750" y="2120265"/>
              <a:ext cx="19050" cy="265652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7739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51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6226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360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74808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8219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63391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7077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01168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串联：两者都正常才可用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304574"/>
              <a:ext cx="519861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0.999 × 0.999 = 0.998001 ≈ 99.8%；每年停机 0.001999 × 8766 ≈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17.5 小时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2896552"/>
              <a:ext cx="18932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Web 做两个副本并联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190399"/>
              <a:ext cx="554812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至少一个正常即可：1 − 0.001 × 0.001 = 0.999999，Web 这一层每年只停约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0.53 分钟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782378"/>
              <a:ext cx="25638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双副本 Web 串联单个数据库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4076224"/>
              <a:ext cx="543433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0.999999 × 0.999 ≈ 0.998999；每年约 8.77 小时，几乎全是数据库贡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献的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4668202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数据库也做双副本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4961096"/>
              <a:ext cx="46608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0.999999 × 0.999999 ≈ 0.999998；每年约 1.05 分钟</a:t>
              </a:r>
            </a:p>
          </p:txBody>
        </p:sp>
      </p:grpSp>
      <p:grpSp>
        <p:nvGrpSpPr>
          <p:cNvPr id="33" name="c1-callout-2"/>
          <p:cNvGrpSpPr/>
          <p:nvPr/>
        </p:nvGrpSpPr>
        <p:grpSpPr>
          <a:xfrm>
            <a:off x="533400" y="5389245"/>
            <a:ext cx="6276022" cy="802005"/>
            <a:chOff x="533400" y="5389245"/>
            <a:chExt cx="6276022" cy="802005"/>
          </a:xfrm>
        </p:grpSpPr>
        <p:sp>
          <p:nvSpPr>
            <p:cNvPr id="27" name="Rectangle 27"/>
            <p:cNvSpPr/>
            <p:nvPr/>
          </p:nvSpPr>
          <p:spPr>
            <a:xfrm>
              <a:off x="533400" y="5389245"/>
              <a:ext cx="6276022" cy="802005"/>
            </a:xfrm>
            <a:prstGeom prst="roundRect">
              <a:avLst>
                <a:gd name="adj" fmla="val 1425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5690235"/>
              <a:ext cx="200026" cy="200026"/>
              <a:chOff x="738188" y="5690235"/>
              <a:chExt cx="200026" cy="200026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569023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38200" y="57569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27088" y="579024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130" y="5547360"/>
              <a:ext cx="48825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串联的部件越多，可用性越低：单个 99.9% 的部件每年停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8.77 小时，两个串起来停机时间差不多翻倍。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formula6"/>
              <p:cNvSpPr txBox="1">
                <a:spLocks noGrp="1"/>
              </p:cNvSpPr>
              <p:nvPr/>
            </p:nvSpPr>
            <p:spPr>
              <a:xfrm>
                <a:off x="7114222" y="1967865"/>
                <a:ext cx="4544378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m:rPr>
                              <m:nor m:val="on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串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sSub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⋯</m:t>
                      </m:r>
                      <m:sSub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formula7"/>
              <p:cNvSpPr txBox="1">
                <a:spLocks noGrp="1"/>
              </p:cNvSpPr>
              <p:nvPr/>
            </p:nvSpPr>
            <p:spPr>
              <a:xfrm>
                <a:off x="7114222" y="2653665"/>
                <a:ext cx="4544378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m:rPr>
                              <m:nor m:val="on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并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⋯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41" name="c2-callout-3"/>
          <p:cNvGrpSpPr/>
          <p:nvPr/>
        </p:nvGrpSpPr>
        <p:grpSpPr>
          <a:xfrm>
            <a:off x="7114222" y="3339465"/>
            <a:ext cx="4544378" cy="1059180"/>
            <a:chOff x="7114222" y="3339465"/>
            <a:chExt cx="4544378" cy="1059180"/>
          </a:xfrm>
        </p:grpSpPr>
        <p:sp>
          <p:nvSpPr>
            <p:cNvPr id="36" name="Rectangle 36"/>
            <p:cNvSpPr/>
            <p:nvPr/>
          </p:nvSpPr>
          <p:spPr>
            <a:xfrm>
              <a:off x="7114222" y="3339465"/>
              <a:ext cx="4544378" cy="1059180"/>
            </a:xfrm>
            <a:prstGeom prst="roundRect">
              <a:avLst>
                <a:gd name="adj" fmla="val 10791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319010" y="3769045"/>
              <a:ext cx="200023" cy="200023"/>
              <a:chOff x="7319010" y="3769045"/>
              <a:chExt cx="200023" cy="200023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19010" y="376904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452360" y="38357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7620952" y="3488055"/>
              <a:ext cx="36442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冗余要加在最薄弱的单点上。只给 Web 加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副本，停机从 17.5 小时降到 8.8 小时；数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据库也加副本，才降到 1 分钟左右。</a:t>
              </a:r>
            </a:p>
          </p:txBody>
        </p:sp>
      </p:grpSp>
      <p:grpSp>
        <p:nvGrpSpPr>
          <p:cNvPr id="47" name="c2-card-4"/>
          <p:cNvGrpSpPr/>
          <p:nvPr/>
        </p:nvGrpSpPr>
        <p:grpSpPr>
          <a:xfrm>
            <a:off x="7114222" y="4589145"/>
            <a:ext cx="4544378" cy="1602105"/>
            <a:chOff x="7114222" y="4589145"/>
            <a:chExt cx="4544378" cy="1602105"/>
          </a:xfrm>
        </p:grpSpPr>
        <p:sp>
          <p:nvSpPr>
            <p:cNvPr id="42" name="Rectangle 42"/>
            <p:cNvSpPr/>
            <p:nvPr/>
          </p:nvSpPr>
          <p:spPr>
            <a:xfrm>
              <a:off x="7114222" y="4589145"/>
              <a:ext cx="4544378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7123748" y="472249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361872" y="479869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452081" y="48344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前提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54252" y="5175885"/>
              <a:ext cx="3825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公式假设各副本的故障相互独立。两个副本放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在同一机房、同一电源下，一次断电会同时带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走两个，实际可用性远达不到计算值。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什么是云计算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三种服务模式：云服务商替你管到哪一层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6" name="c1-table-1"/>
          <p:cNvGrpSpPr/>
          <p:nvPr/>
        </p:nvGrpSpPr>
        <p:grpSpPr>
          <a:xfrm>
            <a:off x="527685" y="1524000"/>
            <a:ext cx="6281737" cy="4783932"/>
            <a:chOff x="527685" y="1524000"/>
            <a:chExt cx="6281737" cy="47839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8141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04741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自建机房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274587" y="1659731"/>
              <a:ext cx="3757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IaaS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177161" y="1659731"/>
              <a:ext cx="4222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PaaS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123946" y="1659731"/>
              <a:ext cx="4222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SaaS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1223" y="2108359"/>
              <a:ext cx="14755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 Applications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305886" y="210835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你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69829" y="210835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你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295659" y="210835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你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871210" y="1982152"/>
              <a:ext cx="928688" cy="429578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156287" y="21083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云商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41649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2421255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2556986"/>
              <a:ext cx="8163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 Data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05886" y="255698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你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369829" y="255698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你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95659" y="255698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你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871210" y="2430780"/>
              <a:ext cx="928688" cy="429578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156287" y="25569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云商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286607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1223" y="3005614"/>
              <a:ext cx="12777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运行时 Runtime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305886" y="300561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你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369829" y="300561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你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924425" y="2880360"/>
              <a:ext cx="928688" cy="429578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09502" y="30056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云商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871210" y="2880360"/>
              <a:ext cx="928688" cy="429578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156287" y="30056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云商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31470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3319462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41223" y="3454241"/>
              <a:ext cx="15670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中间件 Middleware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305886" y="345424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你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369829" y="345424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你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924425" y="3328988"/>
              <a:ext cx="928688" cy="429578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209502" y="34542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云商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871210" y="3328988"/>
              <a:ext cx="928688" cy="429578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156287" y="34542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云商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376332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41223" y="3903821"/>
              <a:ext cx="11132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操作系统 O/S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305886" y="390382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你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369829" y="390382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你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4924425" y="3777615"/>
              <a:ext cx="928688" cy="429578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209502" y="390382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云商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871210" y="3777615"/>
              <a:ext cx="928688" cy="429578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156287" y="390382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云商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421195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33400" y="4216718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41223" y="4352449"/>
              <a:ext cx="18015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虚拟化 Virtualization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305886" y="435244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你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4019550" y="4226242"/>
              <a:ext cx="885825" cy="429578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283672" y="435244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云商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4924425" y="4226242"/>
              <a:ext cx="928688" cy="429578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209502" y="435244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云商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871210" y="4226242"/>
              <a:ext cx="928688" cy="429578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156287" y="435244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云商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33400" y="466058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41223" y="4801076"/>
              <a:ext cx="12868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 Servers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3305886" y="480107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你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4019550" y="4674870"/>
              <a:ext cx="885825" cy="429578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4283672" y="480107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云商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4924425" y="4674870"/>
              <a:ext cx="928688" cy="429578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209502" y="480107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云商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5871210" y="4674870"/>
              <a:ext cx="928688" cy="429578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156287" y="480107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云商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33400" y="511016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533400" y="5114925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41223" y="5249704"/>
              <a:ext cx="11145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 Storage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3305886" y="524970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你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4019550" y="5124450"/>
              <a:ext cx="885825" cy="429578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4283672" y="524970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云商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4924425" y="5124450"/>
              <a:ext cx="928688" cy="429578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5209502" y="524970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云商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5871210" y="5124450"/>
              <a:ext cx="928688" cy="429578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156287" y="524970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云商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533400" y="555879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41223" y="5698331"/>
              <a:ext cx="1403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 Networking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3305886" y="569833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你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4019550" y="5573078"/>
              <a:ext cx="885825" cy="429578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4283672" y="56983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云商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4924425" y="5573078"/>
              <a:ext cx="928688" cy="429578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5209502" y="56983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云商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5871210" y="5573078"/>
              <a:ext cx="928688" cy="429578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156287" y="56983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云商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533400" y="1524000"/>
              <a:ext cx="6276022" cy="44881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1" name="Rectangle 91"/>
            <p:cNvSpPr/>
            <p:nvPr/>
          </p:nvSpPr>
          <p:spPr>
            <a:xfrm>
              <a:off x="2783205" y="1524000"/>
              <a:ext cx="9525" cy="44881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4005262" y="1524000"/>
              <a:ext cx="9525" cy="44881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4910138" y="1524000"/>
              <a:ext cx="9525" cy="44881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5856922" y="1524000"/>
              <a:ext cx="9525" cy="44881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527685" y="6087904"/>
              <a:ext cx="45497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据原课件第21页图：蓝底是云服务商管理的层，白底由用户自己管理</a:t>
              </a:r>
            </a:p>
          </p:txBody>
        </p:sp>
      </p:grpSp>
      <p:grpSp>
        <p:nvGrpSpPr>
          <p:cNvPr id="105" name="c2-kv-1"/>
          <p:cNvGrpSpPr/>
          <p:nvPr/>
        </p:nvGrpSpPr>
        <p:grpSpPr>
          <a:xfrm>
            <a:off x="7106602" y="1548765"/>
            <a:ext cx="4551998" cy="2583180"/>
            <a:chOff x="7106602" y="1548765"/>
            <a:chExt cx="4551998" cy="2583180"/>
          </a:xfrm>
        </p:grpSpPr>
        <p:sp>
          <p:nvSpPr>
            <p:cNvPr id="97" name="TextBox 97"/>
            <p:cNvSpPr txBox="1"/>
            <p:nvPr/>
          </p:nvSpPr>
          <p:spPr>
            <a:xfrm>
              <a:off x="7106602" y="1548765"/>
              <a:ext cx="1036796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IaaS 基础设</a:t>
              </a:r>
              <a:br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施即服务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8469630" y="1548765"/>
              <a:ext cx="287274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租到的是硬件：计算、存储、网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络；操作系统往上都自己装、自己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7114222" y="243268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7106602" y="2552700"/>
              <a:ext cx="1086802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PaaS 平台即</a:t>
              </a:r>
              <a:br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服务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8469630" y="2552700"/>
              <a:ext cx="287274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操作系统、中间件、数据库、运行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时都由云商准备好，用户只管应用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和数据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7114222" y="343662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7106602" y="3556635"/>
              <a:ext cx="1086802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SaaS 软件即</a:t>
              </a:r>
              <a:br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服务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8469630" y="3556635"/>
              <a:ext cx="2872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直接使用做好的应用程序，一般用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浏览器就能访问</a:t>
              </a:r>
            </a:p>
          </p:txBody>
        </p:sp>
      </p:grpSp>
      <p:grpSp>
        <p:nvGrpSpPr>
          <p:cNvPr id="122" name="c2-compare-2"/>
          <p:cNvGrpSpPr/>
          <p:nvPr/>
        </p:nvGrpSpPr>
        <p:grpSpPr>
          <a:xfrm>
            <a:off x="7114222" y="4263390"/>
            <a:ext cx="4544378" cy="2000250"/>
            <a:chOff x="7114222" y="4263390"/>
            <a:chExt cx="4544378" cy="2000250"/>
          </a:xfrm>
        </p:grpSpPr>
        <p:sp>
          <p:nvSpPr>
            <p:cNvPr id="106" name="Rectangle 106"/>
            <p:cNvSpPr/>
            <p:nvPr/>
          </p:nvSpPr>
          <p:spPr>
            <a:xfrm>
              <a:off x="7114222" y="4263390"/>
              <a:ext cx="2063115" cy="20002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7123748" y="4396740"/>
              <a:ext cx="47625" cy="17335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7354252" y="4497705"/>
              <a:ext cx="1029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往 SaaS 走</a:t>
              </a:r>
            </a:p>
          </p:txBody>
        </p:sp>
        <p:sp>
          <p:nvSpPr>
            <p:cNvPr id="109" name="Ellipse 109"/>
            <p:cNvSpPr/>
            <p:nvPr/>
          </p:nvSpPr>
          <p:spPr>
            <a:xfrm>
              <a:off x="7367588" y="491490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7525702" y="485203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易用性上升</a:t>
              </a:r>
            </a:p>
          </p:txBody>
        </p:sp>
        <p:sp>
          <p:nvSpPr>
            <p:cNvPr id="111" name="Ellipse 111"/>
            <p:cNvSpPr/>
            <p:nvPr/>
          </p:nvSpPr>
          <p:spPr>
            <a:xfrm>
              <a:off x="7367588" y="525018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7525702" y="5187315"/>
              <a:ext cx="134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要管的层越来越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</a:t>
              </a:r>
            </a:p>
          </p:txBody>
        </p:sp>
        <p:sp>
          <p:nvSpPr>
            <p:cNvPr id="113" name="Rectangle 113"/>
            <p:cNvSpPr/>
            <p:nvPr/>
          </p:nvSpPr>
          <p:spPr>
            <a:xfrm>
              <a:off x="9595485" y="4263390"/>
              <a:ext cx="2063115" cy="20002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4" name="Rectangle 114"/>
            <p:cNvSpPr/>
            <p:nvPr/>
          </p:nvSpPr>
          <p:spPr>
            <a:xfrm>
              <a:off x="9605010" y="4396740"/>
              <a:ext cx="47625" cy="17335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9835515" y="449770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往自建走</a:t>
              </a:r>
            </a:p>
          </p:txBody>
        </p:sp>
        <p:sp>
          <p:nvSpPr>
            <p:cNvPr id="116" name="Ellipse 116"/>
            <p:cNvSpPr/>
            <p:nvPr/>
          </p:nvSpPr>
          <p:spPr>
            <a:xfrm>
              <a:off x="9848850" y="491490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10006965" y="485203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自由度上升</a:t>
              </a:r>
            </a:p>
          </p:txBody>
        </p:sp>
        <p:sp>
          <p:nvSpPr>
            <p:cNvPr id="118" name="Ellipse 118"/>
            <p:cNvSpPr/>
            <p:nvPr/>
          </p:nvSpPr>
          <p:spPr>
            <a:xfrm>
              <a:off x="9848850" y="525018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10006965" y="5187315"/>
              <a:ext cx="134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能改的层越来越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</a:t>
              </a:r>
            </a:p>
          </p:txBody>
        </p:sp>
        <p:sp>
          <p:nvSpPr>
            <p:cNvPr id="120" name="Ellipse 120"/>
            <p:cNvSpPr/>
            <p:nvPr/>
          </p:nvSpPr>
          <p:spPr>
            <a:xfrm>
              <a:off x="9224010" y="510159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9294350" y="519779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12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3" name="TextBox 123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15289" cy="909257"/>
            <a:chOff x="520446" y="342900"/>
            <a:chExt cx="821528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什么是云计算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152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IaaS、PaaS、SaaS：各自提供什么，常见产品有哪些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ard-1"/>
          <p:cNvGrpSpPr/>
          <p:nvPr/>
        </p:nvGrpSpPr>
        <p:grpSpPr>
          <a:xfrm>
            <a:off x="533400" y="1524000"/>
            <a:ext cx="3505200" cy="3887152"/>
            <a:chOff x="533400" y="1524000"/>
            <a:chExt cx="3505200" cy="38871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3887152"/>
            </a:xfrm>
            <a:prstGeom prst="roundRect">
              <a:avLst>
                <a:gd name="adj" fmla="val 38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62045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14582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6524" y="1756410"/>
              <a:ext cx="13435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IaaS 基础设施即服务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271957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基础设施指一切物理级别的硬件资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源：计算核心（CPU、GPU、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FPGA）、存储、网络。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943701"/>
              <a:ext cx="2935986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把它们作为“服务”提供，用户按量购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买，像“组装”“选购”一样配出一台云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端的服务器。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3524" y="380047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常见产品：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7240" y="414337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3831" y="4082891"/>
              <a:ext cx="262039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弹性计算：Amazon EC2、阿里云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ECS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77240" y="473202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3831" y="4672489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块存储、对象存储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77240" y="505015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3831" y="4989671"/>
              <a:ext cx="14947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专有网络（VPC）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4343400" y="1524000"/>
            <a:ext cx="3505200" cy="3887152"/>
            <a:chOff x="4343400" y="1524000"/>
            <a:chExt cx="3505200" cy="3887152"/>
          </a:xfrm>
        </p:grpSpPr>
        <p:sp>
          <p:nvSpPr>
            <p:cNvPr id="21" name="Rectangle 21"/>
            <p:cNvSpPr/>
            <p:nvPr/>
          </p:nvSpPr>
          <p:spPr>
            <a:xfrm>
              <a:off x="4343400" y="1524000"/>
              <a:ext cx="3505200" cy="3887152"/>
            </a:xfrm>
            <a:prstGeom prst="roundRect">
              <a:avLst>
                <a:gd name="adj" fmla="val 38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352925" y="1657350"/>
              <a:ext cx="47625" cy="362045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4579620" y="1722120"/>
              <a:ext cx="122682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643545" y="1756410"/>
              <a:ext cx="10989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PaaS 平台即服务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72381" y="2082641"/>
              <a:ext cx="2899918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介于 IaaS 与 SaaS 之间：在 IaaS 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础上，把操作系统、中间件、数据库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等基础软件也作为服务，直接提供完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整的运行时环境。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4587240" y="327469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743831" y="3215164"/>
              <a:ext cx="2719578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aPaaS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（应用平台，PaaS 通常指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它）：减少代码量、降低开发门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槛，如低代码平台、无服务器计算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FaaS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4587240" y="440721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743831" y="4346734"/>
              <a:ext cx="271957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iPaaS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（集成平台）：把企业拥有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的各种云服务资源集成起来统一管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</a:t>
              </a:r>
            </a:p>
          </p:txBody>
        </p:sp>
      </p:grpSp>
      <p:grpSp>
        <p:nvGrpSpPr>
          <p:cNvPr id="43" name="c3-card-1"/>
          <p:cNvGrpSpPr/>
          <p:nvPr/>
        </p:nvGrpSpPr>
        <p:grpSpPr>
          <a:xfrm>
            <a:off x="8153400" y="1524000"/>
            <a:ext cx="3505200" cy="3887152"/>
            <a:chOff x="8153400" y="1524000"/>
            <a:chExt cx="3505200" cy="3887152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3887152"/>
            </a:xfrm>
            <a:prstGeom prst="roundRect">
              <a:avLst>
                <a:gd name="adj" fmla="val 38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8162925" y="1657350"/>
              <a:ext cx="47625" cy="362045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8389620" y="1722120"/>
              <a:ext cx="122682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453545" y="1756410"/>
              <a:ext cx="10989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SaaS 软件即服务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82381" y="2082641"/>
              <a:ext cx="28999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直接把应用程序本身通过网络提供，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一般通过浏览器即可访问，不用安装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和维护。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83524" y="293941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常见产品：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8397240" y="328231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553831" y="3222784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云办公（各种在线文档）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8397240" y="360045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553831" y="3539966"/>
              <a:ext cx="18770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ERP（企业资源计划）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8397240" y="391763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553831" y="385810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云游戏</a:t>
              </a:r>
            </a:p>
          </p:txBody>
        </p:sp>
      </p:grpSp>
      <p:grpSp>
        <p:nvGrpSpPr>
          <p:cNvPr id="50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44" name="Rectangle 44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5884545"/>
              <a:ext cx="200026" cy="200025"/>
              <a:chOff x="738188" y="5884545"/>
              <a:chExt cx="200026" cy="20002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58845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77926" y="59289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12642" y="60401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511" y="5753576"/>
              <a:ext cx="9888093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判断属于哪一类，看拿到手的是什么：能自己装系统的机器是 IaaS，能直接部署代码的运行环境是 PaaS，打开就能用的软件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是 SaaS。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024884" cy="3351847"/>
            <a:chOff x="667512" y="1835468"/>
            <a:chExt cx="402488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49047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虚拟机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在一台物理机上切出多台互相隔离的机器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6600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原课件第22–48页 虚拟化技术（虚拟机）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1519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Hypervisor 的两种类型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特权指令的三种处理办法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3411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OpenStack 编排与热迁移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虚拟机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虚拟化：用软件把一台物理机分给多个操作系统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0483215" cy="569595"/>
            <a:chOff x="525780" y="1548765"/>
            <a:chExt cx="10483215" cy="56959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4832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平常的 PC 由“物理硬件 + 操作系统”两层构成；虚拟机用软件模拟硬件功能，在宿主机之上同时运行多个虚拟的操作系统和应</a:t>
              </a:r>
              <a:br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用。</a:t>
              </a:r>
            </a:p>
          </p:txBody>
        </p:sp>
      </p:grpSp>
      <p:grpSp>
        <p:nvGrpSpPr>
          <p:cNvPr id="29" name="c1-graph-1"/>
          <p:cNvGrpSpPr/>
          <p:nvPr/>
        </p:nvGrpSpPr>
        <p:grpSpPr>
          <a:xfrm>
            <a:off x="795338" y="2445068"/>
            <a:ext cx="4135754" cy="3008947"/>
            <a:chOff x="795338" y="2445068"/>
            <a:chExt cx="4135754" cy="3008947"/>
          </a:xfrm>
        </p:grpSpPr>
        <p:sp>
          <p:nvSpPr>
            <p:cNvPr id="9" name="Rectangle 9"/>
            <p:cNvSpPr/>
            <p:nvPr/>
          </p:nvSpPr>
          <p:spPr>
            <a:xfrm>
              <a:off x="795338" y="3854768"/>
              <a:ext cx="1570672" cy="369570"/>
            </a:xfrm>
            <a:prstGeom prst="roundRect">
              <a:avLst>
                <a:gd name="adj" fmla="val 25773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795338" y="4469130"/>
              <a:ext cx="1570672" cy="369570"/>
            </a:xfrm>
            <a:prstGeom prst="roundRect">
              <a:avLst>
                <a:gd name="adj" fmla="val 25773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795338" y="5084445"/>
              <a:ext cx="1570672" cy="369570"/>
            </a:xfrm>
            <a:prstGeom prst="roundRect">
              <a:avLst>
                <a:gd name="adj" fmla="val 25773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993708" y="3239452"/>
              <a:ext cx="886778" cy="369570"/>
            </a:xfrm>
            <a:prstGeom prst="roundRect">
              <a:avLst>
                <a:gd name="adj" fmla="val 25773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041458" y="3239452"/>
              <a:ext cx="886778" cy="369570"/>
            </a:xfrm>
            <a:prstGeom prst="roundRect">
              <a:avLst>
                <a:gd name="adj" fmla="val 25773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2993708" y="3854768"/>
              <a:ext cx="886778" cy="369570"/>
            </a:xfrm>
            <a:prstGeom prst="roundRect">
              <a:avLst>
                <a:gd name="adj" fmla="val 25773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4041458" y="3854768"/>
              <a:ext cx="886778" cy="369570"/>
            </a:xfrm>
            <a:prstGeom prst="roundRect">
              <a:avLst>
                <a:gd name="adj" fmla="val 25773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2990850" y="4469130"/>
              <a:ext cx="1940242" cy="369570"/>
            </a:xfrm>
            <a:prstGeom prst="roundRect">
              <a:avLst>
                <a:gd name="adj" fmla="val 25773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2990850" y="5084445"/>
              <a:ext cx="1940242" cy="369570"/>
            </a:xfrm>
            <a:prstGeom prst="roundRect">
              <a:avLst>
                <a:gd name="adj" fmla="val 25773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332738" y="244506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实体机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13510" y="396430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51966" y="457962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操作系统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51966" y="51949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物理硬件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51492" y="244506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虚拟化之后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269932" y="334994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17682" y="334994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238812" y="3964305"/>
              <a:ext cx="3975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OS 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86562" y="3964305"/>
              <a:ext cx="3975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OS 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32263" y="457962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虚拟化层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632263" y="51949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物理硬件</a:t>
              </a:r>
            </a:p>
          </p:txBody>
        </p:sp>
      </p:grpSp>
      <p:grpSp>
        <p:nvGrpSpPr>
          <p:cNvPr id="48" name="c2-table-1"/>
          <p:cNvGrpSpPr/>
          <p:nvPr/>
        </p:nvGrpSpPr>
        <p:grpSpPr>
          <a:xfrm>
            <a:off x="5598795" y="2230755"/>
            <a:ext cx="6059805" cy="3105150"/>
            <a:chOff x="5598795" y="2230755"/>
            <a:chExt cx="6059805" cy="3105150"/>
          </a:xfrm>
        </p:grpSpPr>
        <p:sp>
          <p:nvSpPr>
            <p:cNvPr id="30" name="Rectangle 30"/>
            <p:cNvSpPr/>
            <p:nvPr/>
          </p:nvSpPr>
          <p:spPr>
            <a:xfrm>
              <a:off x="5598795" y="2230755"/>
              <a:ext cx="6059805" cy="4686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067146" y="236553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能力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714727" y="236553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具体做到什么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702998" y="296179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分区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36498" y="2835116"/>
              <a:ext cx="416229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一台物理机上运行多个操作系统；在虚拟机之间分配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系统资源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598795" y="341757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598795" y="3422332"/>
              <a:ext cx="6059805" cy="72199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702998" y="368379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隔离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36498" y="3557111"/>
              <a:ext cx="416229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在硬件级别进行故障和安全隔离；用高级资源控制功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能保证各自的性能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598795" y="413956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702998" y="440578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封装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036498" y="4279106"/>
              <a:ext cx="416229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虚拟机的完整状态保存在文件中，移动和复制虚拟机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就像移动和复制文件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598795" y="486251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598795" y="4867275"/>
              <a:ext cx="6059805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702998" y="500205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独立于硬件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36498" y="5002054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任意虚拟机都可以置备或迁移到任意物理服务器上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598795" y="2230755"/>
              <a:ext cx="6059805" cy="31051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927532" y="2230755"/>
              <a:ext cx="9525" cy="3105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c2-callout-2"/>
          <p:cNvGrpSpPr/>
          <p:nvPr/>
        </p:nvGrpSpPr>
        <p:grpSpPr>
          <a:xfrm>
            <a:off x="5598795" y="5521642"/>
            <a:ext cx="6059805" cy="756285"/>
            <a:chOff x="5598795" y="5521642"/>
            <a:chExt cx="6059805" cy="756285"/>
          </a:xfrm>
        </p:grpSpPr>
        <p:sp>
          <p:nvSpPr>
            <p:cNvPr id="49" name="Rectangle 49"/>
            <p:cNvSpPr/>
            <p:nvPr/>
          </p:nvSpPr>
          <p:spPr>
            <a:xfrm>
              <a:off x="5598795" y="5521642"/>
              <a:ext cx="6059805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5803583" y="5799773"/>
              <a:ext cx="200026" cy="200025"/>
              <a:chOff x="5803583" y="5799773"/>
              <a:chExt cx="200026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5803583" y="57997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5843321" y="58442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5878037" y="59553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105906" y="5668804"/>
              <a:ext cx="499186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这四个词后面反复用到：chroot 只做到了部分隔离，容器补上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了分区，Docker 镜像补上了封装。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84096" cy="909257"/>
            <a:chOff x="520446" y="342900"/>
            <a:chExt cx="788409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虚拟机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8409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例：一台 16 核 64GB 的服务器要跑三个租户的应用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949385" cy="308039"/>
            <a:chOff x="525399" y="1550194"/>
            <a:chExt cx="8949385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94938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三个应用来自三个租户：一个耗费大量计算资源，一个要求高实时性，一个有潜在的安全风险。</a:t>
              </a:r>
            </a:p>
          </p:txBody>
        </p:sp>
      </p:grpSp>
      <p:grpSp>
        <p:nvGrpSpPr>
          <p:cNvPr id="31" name="c1-compare-1"/>
          <p:cNvGrpSpPr/>
          <p:nvPr/>
        </p:nvGrpSpPr>
        <p:grpSpPr>
          <a:xfrm>
            <a:off x="533400" y="1967865"/>
            <a:ext cx="5193030" cy="3388995"/>
            <a:chOff x="533400" y="1967865"/>
            <a:chExt cx="5193030" cy="338899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2386965" cy="3388995"/>
            </a:xfrm>
            <a:prstGeom prst="roundRect">
              <a:avLst>
                <a:gd name="adj" fmla="val 55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312229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73430" y="220218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传统方法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61937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556510"/>
              <a:ext cx="1539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在同一个操作系统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里给三个应用设配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额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52615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46329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设置进程优先级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386143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3798570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严格划分各自的权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限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6765" y="448246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4880" y="4419600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依赖库版本冲突只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能自己协调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339465" y="1967865"/>
              <a:ext cx="2386965" cy="3388995"/>
            </a:xfrm>
            <a:prstGeom prst="roundRect">
              <a:avLst>
                <a:gd name="adj" fmla="val 55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348990" y="2101215"/>
              <a:ext cx="47625" cy="31222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579495" y="2202180"/>
              <a:ext cx="1729740" cy="5505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每个租户一台虚拟机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或容器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3592830" y="287655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750945" y="2813685"/>
              <a:ext cx="1539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建虚拟机时就分好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资源，不再互相抢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占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3592830" y="378333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750945" y="3720465"/>
              <a:ext cx="134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租户之间严格隔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离，安全有保障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3592830" y="440436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750945" y="4341495"/>
              <a:ext cx="1539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各应用单独配置运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行环境，顺带消除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依赖冲突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2967990" y="3500438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038330" y="359664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38" name="c1-callout-2"/>
          <p:cNvGrpSpPr/>
          <p:nvPr/>
        </p:nvGrpSpPr>
        <p:grpSpPr>
          <a:xfrm>
            <a:off x="533400" y="5547360"/>
            <a:ext cx="5193982" cy="782955"/>
            <a:chOff x="533400" y="5547360"/>
            <a:chExt cx="5193982" cy="782955"/>
          </a:xfrm>
        </p:grpSpPr>
        <p:sp>
          <p:nvSpPr>
            <p:cNvPr id="32" name="Rectangle 32"/>
            <p:cNvSpPr/>
            <p:nvPr/>
          </p:nvSpPr>
          <p:spPr>
            <a:xfrm>
              <a:off x="533400" y="5547360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26129" y="5835133"/>
              <a:ext cx="224134" cy="192560"/>
              <a:chOff x="726129" y="5835133"/>
              <a:chExt cx="224134" cy="19256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838200" y="590550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26129" y="583513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38200" y="59832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130" y="5695950"/>
              <a:ext cx="4225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原课件在传统方法上批注：“复杂且不安全”。一个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应用被攻破，同一系统里的其他两个都跟着暴露。</a:t>
              </a:r>
            </a:p>
          </p:txBody>
        </p:sp>
      </p:grpSp>
      <p:grpSp>
        <p:nvGrpSpPr>
          <p:cNvPr id="85" name="c2-cells-1"/>
          <p:cNvGrpSpPr/>
          <p:nvPr/>
        </p:nvGrpSpPr>
        <p:grpSpPr>
          <a:xfrm>
            <a:off x="6026467" y="1967865"/>
            <a:ext cx="5632133" cy="1009650"/>
            <a:chOff x="6026467" y="1967865"/>
            <a:chExt cx="5632133" cy="1009650"/>
          </a:xfrm>
        </p:grpSpPr>
        <p:sp>
          <p:nvSpPr>
            <p:cNvPr id="39" name="TextBox 39"/>
            <p:cNvSpPr txBox="1"/>
            <p:nvPr/>
          </p:nvSpPr>
          <p:spPr>
            <a:xfrm>
              <a:off x="6026467" y="2107406"/>
              <a:ext cx="383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16 核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517005" y="1967865"/>
              <a:ext cx="320992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25310" y="210740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837998" y="1967865"/>
              <a:ext cx="320992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947255" y="210740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158990" y="1967865"/>
              <a:ext cx="320992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268247" y="210740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480935" y="1967865"/>
              <a:ext cx="320992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590192" y="210740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801928" y="1967865"/>
              <a:ext cx="320992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911185" y="210740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123872" y="1967865"/>
              <a:ext cx="320992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232177" y="210740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444865" y="1967865"/>
              <a:ext cx="320992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554122" y="210740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765858" y="1967865"/>
              <a:ext cx="320992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875115" y="210740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9087802" y="1967865"/>
              <a:ext cx="32099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197060" y="210740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9408795" y="1967865"/>
              <a:ext cx="32099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518052" y="210740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9730740" y="1967865"/>
              <a:ext cx="320992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839045" y="210740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10051732" y="1967865"/>
              <a:ext cx="320992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0160990" y="210740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10372725" y="1967865"/>
              <a:ext cx="320992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0481982" y="210740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10694670" y="1967865"/>
              <a:ext cx="320992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0803927" y="210740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11015662" y="1967865"/>
              <a:ext cx="320992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11337608" y="1967865"/>
              <a:ext cx="320992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026467" y="2697956"/>
              <a:ext cx="379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64GB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517005" y="2558415"/>
              <a:ext cx="320992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625310" y="269795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837998" y="2558415"/>
              <a:ext cx="320992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947255" y="269795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7158990" y="2558415"/>
              <a:ext cx="320992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268247" y="269795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7480935" y="2558415"/>
              <a:ext cx="320992" cy="419100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590192" y="269795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7801928" y="2558415"/>
              <a:ext cx="32099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911185" y="269795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8123872" y="2558415"/>
              <a:ext cx="320992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8232177" y="269795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8444865" y="2558415"/>
              <a:ext cx="320992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84" name="Rectangle 84"/>
            <p:cNvSpPr/>
            <p:nvPr/>
          </p:nvSpPr>
          <p:spPr>
            <a:xfrm>
              <a:off x="8765858" y="2558415"/>
              <a:ext cx="320992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</p:grpSp>
      <p:grpSp>
        <p:nvGrpSpPr>
          <p:cNvPr id="87" name="c2-text-2"/>
          <p:cNvGrpSpPr/>
          <p:nvPr/>
        </p:nvGrpSpPr>
        <p:grpSpPr>
          <a:xfrm>
            <a:off x="6025706" y="3188494"/>
            <a:ext cx="4357045" cy="249364"/>
            <a:chOff x="6025706" y="3188494"/>
            <a:chExt cx="4357045" cy="249364"/>
          </a:xfrm>
        </p:grpSpPr>
        <p:sp>
          <p:nvSpPr>
            <p:cNvPr id="86" name="TextBox 86"/>
            <p:cNvSpPr txBox="1"/>
            <p:nvPr/>
          </p:nvSpPr>
          <p:spPr>
            <a:xfrm>
              <a:off x="6025706" y="3188494"/>
              <a:ext cx="43570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上行每格 1 个核，下行每格 8GB；灰格是没分出去的资源</a:t>
              </a:r>
            </a:p>
          </p:txBody>
        </p:sp>
      </p:grpSp>
      <p:grpSp>
        <p:nvGrpSpPr>
          <p:cNvPr id="114" name="c2-table-3"/>
          <p:cNvGrpSpPr/>
          <p:nvPr/>
        </p:nvGrpSpPr>
        <p:grpSpPr>
          <a:xfrm>
            <a:off x="6032182" y="3578542"/>
            <a:ext cx="5626418" cy="2244091"/>
            <a:chOff x="6032182" y="3578542"/>
            <a:chExt cx="5626418" cy="2244091"/>
          </a:xfrm>
        </p:grpSpPr>
        <p:sp>
          <p:nvSpPr>
            <p:cNvPr id="88" name="Rectangle 88"/>
            <p:cNvSpPr/>
            <p:nvPr/>
          </p:nvSpPr>
          <p:spPr>
            <a:xfrm>
              <a:off x="6032182" y="3578542"/>
              <a:ext cx="5626418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909714" y="371332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应用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691927" y="3713321"/>
              <a:ext cx="4278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vCPU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0484447" y="371332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内存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6140006" y="4162901"/>
              <a:ext cx="9796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A：计算密集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8852012" y="416290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0456487" y="4162901"/>
              <a:ext cx="4135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32GB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6032182" y="447103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6" name="Rectangle 96"/>
            <p:cNvSpPr/>
            <p:nvPr/>
          </p:nvSpPr>
          <p:spPr>
            <a:xfrm>
              <a:off x="6032182" y="4475798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6140006" y="4611529"/>
              <a:ext cx="9796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B：要求实时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8852012" y="461152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0506555" y="4611529"/>
              <a:ext cx="3133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8GB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6032182" y="491966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6140006" y="5060156"/>
              <a:ext cx="11519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C：有安全风险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8852012" y="506015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0506555" y="5060156"/>
              <a:ext cx="3133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8GB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6032182" y="536924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5" name="Rectangle 105"/>
            <p:cNvSpPr/>
            <p:nvPr/>
          </p:nvSpPr>
          <p:spPr>
            <a:xfrm>
              <a:off x="6032182" y="5374005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6140006" y="5508784"/>
              <a:ext cx="910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合计 / 剩余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8154352" y="5383530"/>
              <a:ext cx="1503045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8658159" y="5508784"/>
              <a:ext cx="4954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 / 2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9676448" y="5383530"/>
              <a:ext cx="1972628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10151524" y="5508784"/>
              <a:ext cx="10234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48GB / 16GB</a:t>
              </a:r>
            </a:p>
          </p:txBody>
        </p:sp>
        <p:sp>
          <p:nvSpPr>
            <p:cNvPr id="111" name="Rectangle 111"/>
            <p:cNvSpPr/>
            <p:nvPr/>
          </p:nvSpPr>
          <p:spPr>
            <a:xfrm>
              <a:off x="6032182" y="3578542"/>
              <a:ext cx="5626418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12" name="Rectangle 112"/>
            <p:cNvSpPr/>
            <p:nvPr/>
          </p:nvSpPr>
          <p:spPr>
            <a:xfrm>
              <a:off x="8140065" y="3578542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3" name="Rectangle 113"/>
            <p:cNvSpPr/>
            <p:nvPr/>
          </p:nvSpPr>
          <p:spPr>
            <a:xfrm>
              <a:off x="9662160" y="3578542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5" name="TextBox 115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虚拟机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资源池化：把整个数据中心的机器合成一个大池子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1" name="c1-graph-1"/>
          <p:cNvGrpSpPr/>
          <p:nvPr/>
        </p:nvGrpSpPr>
        <p:grpSpPr>
          <a:xfrm>
            <a:off x="802005" y="1741170"/>
            <a:ext cx="5522595" cy="2709291"/>
            <a:chOff x="802005" y="1741170"/>
            <a:chExt cx="5522595" cy="2709291"/>
          </a:xfrm>
        </p:grpSpPr>
        <p:sp>
          <p:nvSpPr>
            <p:cNvPr id="7" name="Freeform 7"/>
            <p:cNvSpPr/>
            <p:nvPr/>
          </p:nvSpPr>
          <p:spPr>
            <a:xfrm>
              <a:off x="1260158" y="3720465"/>
              <a:ext cx="9525" cy="409575"/>
            </a:xfrm>
            <a:custGeom>
              <a:avLst/>
              <a:gdLst/>
              <a:ahLst/>
              <a:cxnLst/>
              <a:rect l="l" t="t" r="r" b="b"/>
              <a:pathLst>
                <a:path w="9525" h="409575">
                  <a:moveTo>
                    <a:pt x="0" y="40957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775585" y="3720465"/>
              <a:ext cx="9525" cy="409575"/>
            </a:xfrm>
            <a:custGeom>
              <a:avLst/>
              <a:gdLst/>
              <a:ahLst/>
              <a:cxnLst/>
              <a:rect l="l" t="t" r="r" b="b"/>
              <a:pathLst>
                <a:path w="9525" h="409575">
                  <a:moveTo>
                    <a:pt x="0" y="40957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4351020" y="3720465"/>
              <a:ext cx="9525" cy="409575"/>
            </a:xfrm>
            <a:custGeom>
              <a:avLst/>
              <a:gdLst/>
              <a:ahLst/>
              <a:cxnLst/>
              <a:rect l="l" t="t" r="r" b="b"/>
              <a:pathLst>
                <a:path w="9525" h="409575">
                  <a:moveTo>
                    <a:pt x="0" y="40957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865495" y="3720465"/>
              <a:ext cx="9525" cy="409575"/>
            </a:xfrm>
            <a:custGeom>
              <a:avLst/>
              <a:gdLst/>
              <a:ahLst/>
              <a:cxnLst/>
              <a:rect l="l" t="t" r="r" b="b"/>
              <a:pathLst>
                <a:path w="9525" h="409575">
                  <a:moveTo>
                    <a:pt x="0" y="40957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139190" y="2156460"/>
              <a:ext cx="9525" cy="314325"/>
            </a:xfrm>
            <a:custGeom>
              <a:avLst/>
              <a:gdLst/>
              <a:ahLst/>
              <a:cxnLst/>
              <a:rect l="l" t="t" r="r" b="b"/>
              <a:pathLst>
                <a:path w="9525" h="314325">
                  <a:moveTo>
                    <a:pt x="0" y="31432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091565" y="206121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350770" y="2156460"/>
              <a:ext cx="9525" cy="314325"/>
            </a:xfrm>
            <a:custGeom>
              <a:avLst/>
              <a:gdLst/>
              <a:ahLst/>
              <a:cxnLst/>
              <a:rect l="l" t="t" r="r" b="b"/>
              <a:pathLst>
                <a:path w="9525" h="314325">
                  <a:moveTo>
                    <a:pt x="0" y="31432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303145" y="206121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563302" y="2156460"/>
              <a:ext cx="9525" cy="314325"/>
            </a:xfrm>
            <a:custGeom>
              <a:avLst/>
              <a:gdLst/>
              <a:ahLst/>
              <a:cxnLst/>
              <a:rect l="l" t="t" r="r" b="b"/>
              <a:pathLst>
                <a:path w="9525" h="314325">
                  <a:moveTo>
                    <a:pt x="0" y="31432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515678" y="206121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4774882" y="2156460"/>
              <a:ext cx="9525" cy="314325"/>
            </a:xfrm>
            <a:custGeom>
              <a:avLst/>
              <a:gdLst/>
              <a:ahLst/>
              <a:cxnLst/>
              <a:rect l="l" t="t" r="r" b="b"/>
              <a:pathLst>
                <a:path w="9525" h="314325">
                  <a:moveTo>
                    <a:pt x="0" y="31432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727258" y="206121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5986462" y="2156460"/>
              <a:ext cx="9525" cy="314325"/>
            </a:xfrm>
            <a:custGeom>
              <a:avLst/>
              <a:gdLst/>
              <a:ahLst/>
              <a:cxnLst/>
              <a:rect l="l" t="t" r="r" b="b"/>
              <a:pathLst>
                <a:path w="9525" h="314325">
                  <a:moveTo>
                    <a:pt x="0" y="31432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938838" y="206121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96302" y="2571750"/>
              <a:ext cx="5334000" cy="1047750"/>
            </a:xfrm>
            <a:prstGeom prst="roundRect">
              <a:avLst>
                <a:gd name="adj" fmla="val 9091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802005" y="4130040"/>
              <a:ext cx="917258" cy="320040"/>
            </a:xfrm>
            <a:prstGeom prst="roundRect">
              <a:avLst>
                <a:gd name="adj" fmla="val 297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2272665" y="4130040"/>
              <a:ext cx="1004888" cy="320040"/>
            </a:xfrm>
            <a:prstGeom prst="roundRect">
              <a:avLst>
                <a:gd name="adj" fmla="val 297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848100" y="4130040"/>
              <a:ext cx="1004888" cy="320040"/>
            </a:xfrm>
            <a:prstGeom prst="roundRect">
              <a:avLst>
                <a:gd name="adj" fmla="val 297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07342" y="4130040"/>
              <a:ext cx="917258" cy="320040"/>
            </a:xfrm>
            <a:prstGeom prst="roundRect">
              <a:avLst>
                <a:gd name="adj" fmla="val 297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848678" y="1741170"/>
              <a:ext cx="581025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016442" y="1741170"/>
              <a:ext cx="668655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272790" y="1741170"/>
              <a:ext cx="581025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4484370" y="1741170"/>
              <a:ext cx="581025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696902" y="1741170"/>
              <a:ext cx="581025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830259" y="302133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资源池（虚拟化层）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77172" y="4215765"/>
              <a:ext cx="7659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 核 16GB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345954" y="4215765"/>
              <a:ext cx="8592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 核 32GB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921389" y="4215765"/>
              <a:ext cx="8592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 核 64GB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482510" y="4215765"/>
              <a:ext cx="7659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 核 16GB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35949" y="1826895"/>
              <a:ext cx="40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1C1G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098243" y="1826895"/>
              <a:ext cx="5050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8C16G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360062" y="1826895"/>
              <a:ext cx="40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1C2G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571642" y="1826895"/>
              <a:ext cx="40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4C4G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783222" y="1826895"/>
              <a:ext cx="40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1C2G</a:t>
              </a:r>
            </a:p>
          </p:txBody>
        </p:sp>
      </p:grpSp>
      <p:grpSp>
        <p:nvGrpSpPr>
          <p:cNvPr id="43" name="c1-text-2"/>
          <p:cNvGrpSpPr/>
          <p:nvPr/>
        </p:nvGrpSpPr>
        <p:grpSpPr>
          <a:xfrm>
            <a:off x="526923" y="4879181"/>
            <a:ext cx="5840730" cy="500824"/>
            <a:chOff x="526923" y="4879181"/>
            <a:chExt cx="5840730" cy="500824"/>
          </a:xfrm>
        </p:grpSpPr>
        <p:sp>
          <p:nvSpPr>
            <p:cNvPr id="42" name="TextBox 42"/>
            <p:cNvSpPr txBox="1"/>
            <p:nvPr/>
          </p:nvSpPr>
          <p:spPr>
            <a:xfrm>
              <a:off x="526923" y="4879181"/>
              <a:ext cx="5840730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下排是配置各不相同的物理服务器，上排是用户按需选购的云服务器（C 为核数，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G 为内存 GB）</a:t>
              </a:r>
            </a:p>
          </p:txBody>
        </p:sp>
      </p:grpSp>
      <p:grpSp>
        <p:nvGrpSpPr>
          <p:cNvPr id="50" name="c2-bullets-1"/>
          <p:cNvGrpSpPr/>
          <p:nvPr/>
        </p:nvGrpSpPr>
        <p:grpSpPr>
          <a:xfrm>
            <a:off x="6903720" y="1548765"/>
            <a:ext cx="4573905" cy="1840230"/>
            <a:chOff x="6903720" y="1548765"/>
            <a:chExt cx="4573905" cy="1840230"/>
          </a:xfrm>
        </p:grpSpPr>
        <p:sp>
          <p:nvSpPr>
            <p:cNvPr id="44" name="Ellipse 44"/>
            <p:cNvSpPr/>
            <p:nvPr/>
          </p:nvSpPr>
          <p:spPr>
            <a:xfrm>
              <a:off x="6903720" y="161163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061835" y="1548765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云计算依托大型数据中心，里面有成千上万台高性能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903720" y="224218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061835" y="2179320"/>
              <a:ext cx="4415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虚拟化把所有机器的计算资源“池化”，同时提供良好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的隔离和迁移能力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903720" y="287274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061835" y="2809875"/>
              <a:ext cx="4415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用户在资源池里按需选购，组建自己的“云服务器”，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与其他租户高度隔离，还能方便地扩容、迁移</a:t>
              </a:r>
            </a:p>
          </p:txBody>
        </p:sp>
      </p:grpSp>
      <p:grpSp>
        <p:nvGrpSpPr>
          <p:cNvPr id="68" name="c2-tree-2"/>
          <p:cNvGrpSpPr/>
          <p:nvPr/>
        </p:nvGrpSpPr>
        <p:grpSpPr>
          <a:xfrm>
            <a:off x="6898005" y="3526155"/>
            <a:ext cx="4760595" cy="2264093"/>
            <a:chOff x="6898005" y="3526155"/>
            <a:chExt cx="4760595" cy="2264093"/>
          </a:xfrm>
        </p:grpSpPr>
        <p:sp>
          <p:nvSpPr>
            <p:cNvPr id="51" name="Freeform 51"/>
            <p:cNvSpPr/>
            <p:nvPr/>
          </p:nvSpPr>
          <p:spPr>
            <a:xfrm>
              <a:off x="9779318" y="3818572"/>
              <a:ext cx="419100" cy="297180"/>
            </a:xfrm>
            <a:custGeom>
              <a:avLst/>
              <a:gdLst/>
              <a:ahLst/>
              <a:cxnLst/>
              <a:rect l="l" t="t" r="r" b="b"/>
              <a:pathLst>
                <a:path w="419100" h="297180">
                  <a:moveTo>
                    <a:pt x="0" y="297180"/>
                  </a:moveTo>
                  <a:lnTo>
                    <a:pt x="209550" y="29718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9779318" y="4115752"/>
              <a:ext cx="419100" cy="298132"/>
            </a:xfrm>
            <a:custGeom>
              <a:avLst/>
              <a:gdLst/>
              <a:ahLst/>
              <a:cxnLst/>
              <a:rect l="l" t="t" r="r" b="b"/>
              <a:pathLst>
                <a:path w="419100" h="298132">
                  <a:moveTo>
                    <a:pt x="0" y="0"/>
                  </a:moveTo>
                  <a:lnTo>
                    <a:pt x="209550" y="0"/>
                  </a:lnTo>
                  <a:lnTo>
                    <a:pt x="209550" y="298132"/>
                  </a:lnTo>
                  <a:lnTo>
                    <a:pt x="419100" y="29813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7900988" y="4115752"/>
              <a:ext cx="419100" cy="743902"/>
            </a:xfrm>
            <a:custGeom>
              <a:avLst/>
              <a:gdLst/>
              <a:ahLst/>
              <a:cxnLst/>
              <a:rect l="l" t="t" r="r" b="b"/>
              <a:pathLst>
                <a:path w="419100" h="743902">
                  <a:moveTo>
                    <a:pt x="0" y="743902"/>
                  </a:moveTo>
                  <a:lnTo>
                    <a:pt x="209550" y="74390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7900988" y="4859655"/>
              <a:ext cx="419100" cy="149542"/>
            </a:xfrm>
            <a:custGeom>
              <a:avLst/>
              <a:gdLst/>
              <a:ahLst/>
              <a:cxnLst/>
              <a:rect l="l" t="t" r="r" b="b"/>
              <a:pathLst>
                <a:path w="419100" h="149542">
                  <a:moveTo>
                    <a:pt x="0" y="0"/>
                  </a:moveTo>
                  <a:lnTo>
                    <a:pt x="209550" y="0"/>
                  </a:lnTo>
                  <a:lnTo>
                    <a:pt x="209550" y="149542"/>
                  </a:lnTo>
                  <a:lnTo>
                    <a:pt x="419100" y="14954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7900988" y="4859655"/>
              <a:ext cx="419100" cy="744855"/>
            </a:xfrm>
            <a:custGeom>
              <a:avLst/>
              <a:gdLst/>
              <a:ahLst/>
              <a:cxnLst/>
              <a:rect l="l" t="t" r="r" b="b"/>
              <a:pathLst>
                <a:path w="419100" h="744855">
                  <a:moveTo>
                    <a:pt x="0" y="0"/>
                  </a:moveTo>
                  <a:lnTo>
                    <a:pt x="209550" y="0"/>
                  </a:lnTo>
                  <a:lnTo>
                    <a:pt x="209550" y="744855"/>
                  </a:lnTo>
                  <a:lnTo>
                    <a:pt x="419100" y="74485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10198418" y="3526155"/>
              <a:ext cx="1460182" cy="582930"/>
            </a:xfrm>
            <a:prstGeom prst="roundRect">
              <a:avLst>
                <a:gd name="adj" fmla="val 1634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10198418" y="4121468"/>
              <a:ext cx="1460182" cy="582930"/>
            </a:xfrm>
            <a:prstGeom prst="roundRect">
              <a:avLst>
                <a:gd name="adj" fmla="val 1634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8320088" y="3824288"/>
              <a:ext cx="1460182" cy="582930"/>
            </a:xfrm>
            <a:prstGeom prst="roundRect">
              <a:avLst>
                <a:gd name="adj" fmla="val 1634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8320088" y="4822508"/>
              <a:ext cx="146018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8320088" y="5417820"/>
              <a:ext cx="146018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898005" y="4568190"/>
              <a:ext cx="1002982" cy="582930"/>
            </a:xfrm>
            <a:prstGeom prst="roundRect">
              <a:avLst>
                <a:gd name="adj" fmla="val 1634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0287190" y="3623786"/>
              <a:ext cx="1150874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虚拟机：硬件虚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拟化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287190" y="4219099"/>
              <a:ext cx="1085850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容器：OS 级虚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拟化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408860" y="3921919"/>
              <a:ext cx="1150874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12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计算虚拟化（狭</a:t>
              </a:r>
              <a:br/>
              <a:r>
                <a:rPr lang="zh-CN" sz="12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义）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408860" y="491918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存储虚拟化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408860" y="551449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网络虚拟化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986778" y="4665821"/>
              <a:ext cx="663194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虚拟化技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术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00354" cy="909257"/>
            <a:chOff x="520446" y="342900"/>
            <a:chExt cx="650035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虚拟机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0035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虚拟机与 Hypervisor：裸金属型和托管型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4760595" cy="3129915"/>
            <a:chOff x="533400" y="1524000"/>
            <a:chExt cx="4760595" cy="31299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3129915"/>
            </a:xfrm>
            <a:prstGeom prst="roundRect">
              <a:avLst>
                <a:gd name="adj" fmla="val 42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86321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30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虚拟机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0728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在宿主机（host）上“模拟”物理硬件，作为客户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机（guest），提供一个虚拟化的软件（操作系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统）运行环境。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308038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3017520"/>
              <a:ext cx="39585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模拟的是硬件，所以一台宿主机上可以跑不同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内核的操作系统，如 Windows 和 Linux 同时运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98716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924300"/>
              <a:ext cx="3856196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核心部件是 </a:t>
              </a:r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Hypervisor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，也称 VMM（虚拟机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监视器），负责硬件资源的分配等工作</a:t>
              </a:r>
            </a:p>
          </p:txBody>
        </p:sp>
      </p:grpSp>
      <p:grpSp>
        <p:nvGrpSpPr>
          <p:cNvPr id="22" name="c1-kv-2"/>
          <p:cNvGrpSpPr/>
          <p:nvPr/>
        </p:nvGrpSpPr>
        <p:grpSpPr>
          <a:xfrm>
            <a:off x="525780" y="4869180"/>
            <a:ext cx="4768215" cy="1297305"/>
            <a:chOff x="525780" y="4869180"/>
            <a:chExt cx="4768215" cy="1297305"/>
          </a:xfrm>
        </p:grpSpPr>
        <p:sp>
          <p:nvSpPr>
            <p:cNvPr id="17" name="TextBox 17"/>
            <p:cNvSpPr txBox="1"/>
            <p:nvPr/>
          </p:nvSpPr>
          <p:spPr>
            <a:xfrm>
              <a:off x="525780" y="4869180"/>
              <a:ext cx="13413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Type 1 裸金属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66925" y="4869180"/>
              <a:ext cx="278701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Hypervisor 直接运行在物理硬件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上，如 ESXi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547116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5780" y="5591175"/>
              <a:ext cx="11394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Type 2 托管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66925" y="5591175"/>
              <a:ext cx="297751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Hypervisor 完全运行在宿主操作系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统之上，如 VirtualBox</a:t>
              </a:r>
            </a:p>
          </p:txBody>
        </p:sp>
      </p:grpSp>
      <p:grpSp>
        <p:nvGrpSpPr>
          <p:cNvPr id="57" name="c2-graph-1"/>
          <p:cNvGrpSpPr/>
          <p:nvPr/>
        </p:nvGrpSpPr>
        <p:grpSpPr>
          <a:xfrm>
            <a:off x="5839778" y="1621155"/>
            <a:ext cx="5507354" cy="2503170"/>
            <a:chOff x="5839778" y="1621155"/>
            <a:chExt cx="5507354" cy="2503170"/>
          </a:xfrm>
        </p:grpSpPr>
        <p:sp>
          <p:nvSpPr>
            <p:cNvPr id="23" name="Rectangle 23"/>
            <p:cNvSpPr/>
            <p:nvPr/>
          </p:nvSpPr>
          <p:spPr>
            <a:xfrm>
              <a:off x="5839778" y="2324100"/>
              <a:ext cx="609600" cy="342900"/>
            </a:xfrm>
            <a:prstGeom prst="roundRect">
              <a:avLst>
                <a:gd name="adj" fmla="val 27778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748462" y="2324100"/>
              <a:ext cx="609600" cy="342900"/>
            </a:xfrm>
            <a:prstGeom prst="roundRect">
              <a:avLst>
                <a:gd name="adj" fmla="val 27778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7657148" y="2324100"/>
              <a:ext cx="609600" cy="342900"/>
            </a:xfrm>
            <a:prstGeom prst="roundRect">
              <a:avLst>
                <a:gd name="adj" fmla="val 27778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839778" y="2809875"/>
              <a:ext cx="609600" cy="342900"/>
            </a:xfrm>
            <a:prstGeom prst="roundRect">
              <a:avLst>
                <a:gd name="adj" fmla="val 27778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748462" y="2809875"/>
              <a:ext cx="609600" cy="342900"/>
            </a:xfrm>
            <a:prstGeom prst="roundRect">
              <a:avLst>
                <a:gd name="adj" fmla="val 27778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657148" y="2809875"/>
              <a:ext cx="609600" cy="342900"/>
            </a:xfrm>
            <a:prstGeom prst="roundRect">
              <a:avLst>
                <a:gd name="adj" fmla="val 27778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910262" y="3295650"/>
              <a:ext cx="2286000" cy="342900"/>
            </a:xfrm>
            <a:prstGeom prst="roundRect">
              <a:avLst>
                <a:gd name="adj" fmla="val 27778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910262" y="3781425"/>
              <a:ext cx="2286000" cy="342900"/>
            </a:xfrm>
            <a:prstGeom prst="roundRect">
              <a:avLst>
                <a:gd name="adj" fmla="val 27778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9536430" y="1838325"/>
              <a:ext cx="609600" cy="342900"/>
            </a:xfrm>
            <a:prstGeom prst="roundRect">
              <a:avLst>
                <a:gd name="adj" fmla="val 27778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0445115" y="1838325"/>
              <a:ext cx="609600" cy="342900"/>
            </a:xfrm>
            <a:prstGeom prst="roundRect">
              <a:avLst>
                <a:gd name="adj" fmla="val 27778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9536430" y="2324100"/>
              <a:ext cx="609600" cy="342900"/>
            </a:xfrm>
            <a:prstGeom prst="roundRect">
              <a:avLst>
                <a:gd name="adj" fmla="val 27778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0445115" y="2324100"/>
              <a:ext cx="609600" cy="342900"/>
            </a:xfrm>
            <a:prstGeom prst="roundRect">
              <a:avLst>
                <a:gd name="adj" fmla="val 27778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9610725" y="2809875"/>
              <a:ext cx="1428750" cy="342900"/>
            </a:xfrm>
            <a:prstGeom prst="roundRect">
              <a:avLst>
                <a:gd name="adj" fmla="val 27778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8793480" y="2809875"/>
              <a:ext cx="762000" cy="342900"/>
            </a:xfrm>
            <a:prstGeom prst="roundRect">
              <a:avLst>
                <a:gd name="adj" fmla="val 27778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9061132" y="3295650"/>
              <a:ext cx="2286000" cy="342900"/>
            </a:xfrm>
            <a:prstGeom prst="roundRect">
              <a:avLst>
                <a:gd name="adj" fmla="val 27778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9061132" y="3781425"/>
              <a:ext cx="2286000" cy="342900"/>
            </a:xfrm>
            <a:prstGeom prst="roundRect">
              <a:avLst>
                <a:gd name="adj" fmla="val 27778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16714" y="1621155"/>
              <a:ext cx="10730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Type 1 裸金属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976938" y="242125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85622" y="242125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794308" y="242125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021987" y="2907030"/>
              <a:ext cx="2451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OS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30672" y="2907030"/>
              <a:ext cx="2451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OS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839357" y="2907030"/>
              <a:ext cx="2451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OS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99391" y="3392805"/>
              <a:ext cx="9077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Hypervisor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85622" y="387858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硬件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748356" y="1621155"/>
              <a:ext cx="9115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Type 2 托管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673590" y="193548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582275" y="193548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530212" y="2421255"/>
              <a:ext cx="6220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客户 OS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438897" y="2421255"/>
              <a:ext cx="6220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客户 OS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871228" y="2907030"/>
              <a:ext cx="9077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Hypervisor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845296" y="290703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宿主应用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713404" y="339280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宿主操作系统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036492" y="387858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硬件</a:t>
              </a:r>
            </a:p>
          </p:txBody>
        </p:sp>
      </p:grpSp>
      <p:grpSp>
        <p:nvGrpSpPr>
          <p:cNvPr id="64" name="c2-callout-2"/>
          <p:cNvGrpSpPr/>
          <p:nvPr/>
        </p:nvGrpSpPr>
        <p:grpSpPr>
          <a:xfrm>
            <a:off x="5598795" y="4572000"/>
            <a:ext cx="6059805" cy="1535430"/>
            <a:chOff x="5598795" y="4572000"/>
            <a:chExt cx="6059805" cy="1535430"/>
          </a:xfrm>
        </p:grpSpPr>
        <p:sp>
          <p:nvSpPr>
            <p:cNvPr id="58" name="Rectangle 58"/>
            <p:cNvSpPr/>
            <p:nvPr/>
          </p:nvSpPr>
          <p:spPr>
            <a:xfrm>
              <a:off x="5598795" y="4572000"/>
              <a:ext cx="6059805" cy="1535430"/>
            </a:xfrm>
            <a:prstGeom prst="roundRect">
              <a:avLst>
                <a:gd name="adj" fmla="val 744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5803583" y="5239703"/>
              <a:ext cx="200026" cy="200026"/>
              <a:chOff x="5803583" y="5239703"/>
              <a:chExt cx="200026" cy="200026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5803583" y="523970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5903595" y="53063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5892483" y="533971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6105525" y="4820602"/>
              <a:ext cx="5158740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这里的虚拟机用的仍是现有硬件，只是重新规划硬件资源，做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最低限度的转换。Android/iOS 模拟器要在一种架构上模拟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另一种架构的 CPU，每条指令都要软件翻译，效率低得多，不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属于这里讨论的虚拟化。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18487" cy="909257"/>
            <a:chOff x="520446" y="342900"/>
            <a:chExt cx="771848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虚拟机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184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 OS 需要 Ring 0：全虚拟化和半虚拟化两条路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1192828" cy="293370"/>
            <a:chOff x="525780" y="1548765"/>
            <a:chExt cx="11192828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11928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CPU 特权级分 Ring 0～3。虚拟机作为应用程序往往跑在用户态（高于 Ring 0），上面的客户 OS 却要 Ring 0 才能正常运行。</a:t>
              </a:r>
            </a:p>
          </p:txBody>
        </p:sp>
      </p:grpSp>
      <p:grpSp>
        <p:nvGrpSpPr>
          <p:cNvPr id="26" name="c1-graph-1"/>
          <p:cNvGrpSpPr/>
          <p:nvPr/>
        </p:nvGrpSpPr>
        <p:grpSpPr>
          <a:xfrm>
            <a:off x="1122998" y="2005489"/>
            <a:ext cx="4268152" cy="1955006"/>
            <a:chOff x="1122998" y="2005489"/>
            <a:chExt cx="4268152" cy="1955006"/>
          </a:xfrm>
        </p:grpSpPr>
        <p:sp>
          <p:nvSpPr>
            <p:cNvPr id="9" name="Rectangle 9"/>
            <p:cNvSpPr/>
            <p:nvPr/>
          </p:nvSpPr>
          <p:spPr>
            <a:xfrm>
              <a:off x="1122998" y="2406968"/>
              <a:ext cx="984885" cy="304800"/>
            </a:xfrm>
            <a:prstGeom prst="roundRect">
              <a:avLst>
                <a:gd name="adj" fmla="val 31250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2746058" y="2406968"/>
              <a:ext cx="984885" cy="304800"/>
            </a:xfrm>
            <a:prstGeom prst="roundRect">
              <a:avLst>
                <a:gd name="adj" fmla="val 31250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1122998" y="2778442"/>
              <a:ext cx="984885" cy="447675"/>
            </a:xfrm>
            <a:prstGeom prst="roundRect">
              <a:avLst>
                <a:gd name="adj" fmla="val 21277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746058" y="2778442"/>
              <a:ext cx="984885" cy="447675"/>
            </a:xfrm>
            <a:prstGeom prst="roundRect">
              <a:avLst>
                <a:gd name="adj" fmla="val 21277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764405" y="2485072"/>
              <a:ext cx="626745" cy="752475"/>
            </a:xfrm>
            <a:prstGeom prst="roundRect">
              <a:avLst>
                <a:gd name="adj" fmla="val 15198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358265" y="3312795"/>
              <a:ext cx="3760470" cy="304800"/>
            </a:xfrm>
            <a:prstGeom prst="roundRect">
              <a:avLst>
                <a:gd name="adj" fmla="val 31250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358265" y="3655695"/>
              <a:ext cx="3760470" cy="304800"/>
            </a:xfrm>
            <a:prstGeom prst="roundRect">
              <a:avLst>
                <a:gd name="adj" fmla="val 3125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931236" y="200548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全虚拟化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33116" y="2488406"/>
              <a:ext cx="364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Apps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056176" y="2488406"/>
              <a:ext cx="364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Apps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25131" y="2842736"/>
              <a:ext cx="5806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客户 OS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08176" y="30218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（原版）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948191" y="2842736"/>
              <a:ext cx="5806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客户 OS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31236" y="30218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（原版）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921288" y="2791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211763" y="3395186"/>
              <a:ext cx="20534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Hypervisor（捕获特权指令）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82011" y="373808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硬件</a:t>
              </a:r>
            </a:p>
          </p:txBody>
        </p:sp>
      </p:grpSp>
      <p:grpSp>
        <p:nvGrpSpPr>
          <p:cNvPr id="32" name="c1-card-2"/>
          <p:cNvGrpSpPr/>
          <p:nvPr/>
        </p:nvGrpSpPr>
        <p:grpSpPr>
          <a:xfrm>
            <a:off x="533400" y="4149090"/>
            <a:ext cx="5410200" cy="1522095"/>
            <a:chOff x="533400" y="4149090"/>
            <a:chExt cx="5410200" cy="1522095"/>
          </a:xfrm>
        </p:grpSpPr>
        <p:sp>
          <p:nvSpPr>
            <p:cNvPr id="27" name="Rectangle 27"/>
            <p:cNvSpPr/>
            <p:nvPr/>
          </p:nvSpPr>
          <p:spPr>
            <a:xfrm>
              <a:off x="533400" y="4149090"/>
              <a:ext cx="5410200" cy="1522095"/>
            </a:xfrm>
            <a:prstGeom prst="roundRect">
              <a:avLst>
                <a:gd name="adj" fmla="val 8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282440"/>
              <a:ext cx="47625" cy="125539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69620" y="434721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53059" y="43815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全虚拟化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381" y="4707731"/>
              <a:ext cx="4658233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 OS 不做修改，由 Hypervisor 捕获它发出的特权指令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并代为处理。能直接运行 Windows 这类不开放源码的系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统。</a:t>
              </a:r>
            </a:p>
          </p:txBody>
        </p:sp>
      </p:grpSp>
      <p:grpSp>
        <p:nvGrpSpPr>
          <p:cNvPr id="50" name="c2-graph-1"/>
          <p:cNvGrpSpPr/>
          <p:nvPr/>
        </p:nvGrpSpPr>
        <p:grpSpPr>
          <a:xfrm>
            <a:off x="6837998" y="2005489"/>
            <a:ext cx="4268152" cy="1955006"/>
            <a:chOff x="6837998" y="2005489"/>
            <a:chExt cx="4268152" cy="1955006"/>
          </a:xfrm>
        </p:grpSpPr>
        <p:sp>
          <p:nvSpPr>
            <p:cNvPr id="33" name="Rectangle 33"/>
            <p:cNvSpPr/>
            <p:nvPr/>
          </p:nvSpPr>
          <p:spPr>
            <a:xfrm>
              <a:off x="6837998" y="2406968"/>
              <a:ext cx="984885" cy="304800"/>
            </a:xfrm>
            <a:prstGeom prst="roundRect">
              <a:avLst>
                <a:gd name="adj" fmla="val 31250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8461058" y="2406968"/>
              <a:ext cx="984885" cy="304800"/>
            </a:xfrm>
            <a:prstGeom prst="roundRect">
              <a:avLst>
                <a:gd name="adj" fmla="val 31250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837998" y="2778442"/>
              <a:ext cx="984885" cy="447675"/>
            </a:xfrm>
            <a:prstGeom prst="roundRect">
              <a:avLst>
                <a:gd name="adj" fmla="val 21277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8461058" y="2778442"/>
              <a:ext cx="984885" cy="447675"/>
            </a:xfrm>
            <a:prstGeom prst="roundRect">
              <a:avLst>
                <a:gd name="adj" fmla="val 21277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10479405" y="2485072"/>
              <a:ext cx="626745" cy="752475"/>
            </a:xfrm>
            <a:prstGeom prst="roundRect">
              <a:avLst>
                <a:gd name="adj" fmla="val 15198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073265" y="3312795"/>
              <a:ext cx="3760470" cy="304800"/>
            </a:xfrm>
            <a:prstGeom prst="roundRect">
              <a:avLst>
                <a:gd name="adj" fmla="val 31250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073265" y="3655695"/>
              <a:ext cx="3760470" cy="304800"/>
            </a:xfrm>
            <a:prstGeom prst="roundRect">
              <a:avLst>
                <a:gd name="adj" fmla="val 3125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646236" y="200548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半虚拟化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48116" y="2488406"/>
              <a:ext cx="364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Apps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771176" y="2488406"/>
              <a:ext cx="364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Apps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023176" y="284273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修改过的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40131" y="3021806"/>
              <a:ext cx="5806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客户 OS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646236" y="284273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修改过的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663191" y="3021806"/>
              <a:ext cx="5806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客户 OS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636288" y="2791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管理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529861" y="3395186"/>
              <a:ext cx="8472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Hypervisor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797011" y="373808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硬件</a:t>
              </a:r>
            </a:p>
          </p:txBody>
        </p:sp>
      </p:grpSp>
      <p:grpSp>
        <p:nvGrpSpPr>
          <p:cNvPr id="56" name="c2-card-2"/>
          <p:cNvGrpSpPr/>
          <p:nvPr/>
        </p:nvGrpSpPr>
        <p:grpSpPr>
          <a:xfrm>
            <a:off x="6248400" y="4149090"/>
            <a:ext cx="5410200" cy="1522095"/>
            <a:chOff x="6248400" y="4149090"/>
            <a:chExt cx="5410200" cy="1522095"/>
          </a:xfrm>
        </p:grpSpPr>
        <p:sp>
          <p:nvSpPr>
            <p:cNvPr id="51" name="Rectangle 51"/>
            <p:cNvSpPr/>
            <p:nvPr/>
          </p:nvSpPr>
          <p:spPr>
            <a:xfrm>
              <a:off x="6248400" y="4149090"/>
              <a:ext cx="5410200" cy="1522095"/>
            </a:xfrm>
            <a:prstGeom prst="roundRect">
              <a:avLst>
                <a:gd name="adj" fmla="val 8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257925" y="4282440"/>
              <a:ext cx="47625" cy="125539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484620" y="434721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68059" y="43815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半虚拟化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77381" y="4707731"/>
              <a:ext cx="476643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修改客户 OS 的内核，不再使用特权指令，改为主动调用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Hypervisor 的接口。要能改内核源码，Linux 可以，闭源系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统不行。</a:t>
              </a:r>
            </a:p>
          </p:txBody>
        </p:sp>
      </p:grpSp>
      <p:grpSp>
        <p:nvGrpSpPr>
          <p:cNvPr id="63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57" name="Rectangle 57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6011228"/>
              <a:ext cx="200026" cy="200026"/>
              <a:chOff x="738188" y="6011228"/>
              <a:chExt cx="200026" cy="200026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38188" y="60112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38200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27088" y="61112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511" y="6011704"/>
              <a:ext cx="95189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图据原课件第39页。“管理”是创建、配置虚拟机的管理程序（Mgmt），和各台虚拟机并列跑在 Hypervisor 上。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虚拟机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全虚拟化怎样处理特权指令：软件辅助与硬件辅助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table-1"/>
          <p:cNvGrpSpPr/>
          <p:nvPr/>
        </p:nvGrpSpPr>
        <p:grpSpPr>
          <a:xfrm>
            <a:off x="533400" y="1524000"/>
            <a:ext cx="5410200" cy="3396615"/>
            <a:chOff x="533400" y="1524000"/>
            <a:chExt cx="5410200" cy="33966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686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4606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12327" y="1658779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特权指令谁来处理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49619" y="1658779"/>
              <a:ext cx="11820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客户 OS 改吗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7604" y="2255044"/>
              <a:ext cx="896791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全虚拟化 ·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软件辅助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35861" y="2128361"/>
              <a:ext cx="2358898" cy="7854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Hypervisor 捕获客户机的特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权指令，翻译为非特权指令执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40961" y="238172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不改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9641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968942"/>
              <a:ext cx="5410200" cy="122872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2978468"/>
              <a:ext cx="1279208" cy="120967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7604" y="3357086"/>
              <a:ext cx="896791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全虚拟化 ·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硬件辅助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35861" y="3103721"/>
              <a:ext cx="2286762" cy="10387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提供虚拟化模式，客户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OS 直接跑在 non-root 模式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 Ring 0，敏感操作由 CPU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自动交给 Hypervisor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40961" y="348376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不改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1929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7604" y="445912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半虚拟化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35861" y="4332446"/>
              <a:ext cx="2340864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 OS 自己不用特权指令，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改为调用 Hypervisor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40961" y="445912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要改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1524000"/>
              <a:ext cx="5410200" cy="33966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826895" y="1524000"/>
              <a:ext cx="9525" cy="33966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31995" y="1524000"/>
              <a:ext cx="9525" cy="33966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3" name="c1-callout-2"/>
          <p:cNvGrpSpPr/>
          <p:nvPr/>
        </p:nvGrpSpPr>
        <p:grpSpPr>
          <a:xfrm>
            <a:off x="533400" y="5105400"/>
            <a:ext cx="5410200" cy="1018222"/>
            <a:chOff x="533400" y="5105400"/>
            <a:chExt cx="5410200" cy="1018222"/>
          </a:xfrm>
        </p:grpSpPr>
        <p:sp>
          <p:nvSpPr>
            <p:cNvPr id="28" name="Rectangle 28"/>
            <p:cNvSpPr/>
            <p:nvPr/>
          </p:nvSpPr>
          <p:spPr>
            <a:xfrm>
              <a:off x="533400" y="5105400"/>
              <a:ext cx="5410200" cy="1018222"/>
            </a:xfrm>
            <a:prstGeom prst="roundRect">
              <a:avLst>
                <a:gd name="adj" fmla="val 11225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5514977"/>
              <a:ext cx="200023" cy="200023"/>
              <a:chOff x="738188" y="5514977"/>
              <a:chExt cx="200023" cy="200023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551497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71538" y="55816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511" y="5252561"/>
              <a:ext cx="4513961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硬件辅助虚拟化已被大部分 CPU 支持，如 Intel VT-x 和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AMD-V。使用虚拟机时应优先选择硬件辅助的全虚拟化方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案。</a:t>
              </a:r>
            </a:p>
          </p:txBody>
        </p:sp>
      </p:grpSp>
      <p:grpSp>
        <p:nvGrpSpPr>
          <p:cNvPr id="60" name="c2-cells-1"/>
          <p:cNvGrpSpPr/>
          <p:nvPr/>
        </p:nvGrpSpPr>
        <p:grpSpPr>
          <a:xfrm>
            <a:off x="6242685" y="1569720"/>
            <a:ext cx="5415915" cy="1555432"/>
            <a:chOff x="6242685" y="1569720"/>
            <a:chExt cx="5415915" cy="1555432"/>
          </a:xfrm>
        </p:grpSpPr>
        <p:sp>
          <p:nvSpPr>
            <p:cNvPr id="34" name="TextBox 34"/>
            <p:cNvSpPr txBox="1"/>
            <p:nvPr/>
          </p:nvSpPr>
          <p:spPr>
            <a:xfrm>
              <a:off x="6242685" y="1952149"/>
              <a:ext cx="7087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root 模式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039928" y="1819275"/>
              <a:ext cx="1154430" cy="406718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386653" y="1952149"/>
              <a:ext cx="4609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Ring 0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194358" y="1819275"/>
              <a:ext cx="115443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541083" y="1952149"/>
              <a:ext cx="4609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Ring 1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9348788" y="1819275"/>
              <a:ext cx="115443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696465" y="1952149"/>
              <a:ext cx="4609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Ring 2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0504170" y="1819275"/>
              <a:ext cx="115443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850895" y="1952149"/>
              <a:ext cx="4609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Ring 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276548" y="1569720"/>
              <a:ext cx="6811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Hypervisor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7579042" y="17240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713148" y="1569720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宿主上的程序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11043285" y="17240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242685" y="2525554"/>
              <a:ext cx="7080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non-root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039928" y="2391728"/>
              <a:ext cx="115443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386653" y="2525554"/>
              <a:ext cx="4609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Ring 0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194358" y="2391728"/>
              <a:ext cx="115443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541083" y="2525554"/>
              <a:ext cx="4609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Ring 1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348788" y="2391728"/>
              <a:ext cx="115443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696465" y="2525554"/>
              <a:ext cx="4609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Ring 2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10504170" y="2391728"/>
              <a:ext cx="115443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850895" y="2525554"/>
              <a:ext cx="4609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Ring 3</a:t>
              </a:r>
            </a:p>
          </p:txBody>
        </p:sp>
        <p:sp>
          <p:nvSpPr>
            <p:cNvPr id="56" name="Freeform 56"/>
            <p:cNvSpPr/>
            <p:nvPr/>
          </p:nvSpPr>
          <p:spPr>
            <a:xfrm>
              <a:off x="7579042" y="281749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242368" y="2948940"/>
              <a:ext cx="74954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客户 OS 内核</a:t>
              </a:r>
            </a:p>
          </p:txBody>
        </p:sp>
        <p:sp>
          <p:nvSpPr>
            <p:cNvPr id="58" name="Freeform 58"/>
            <p:cNvSpPr/>
            <p:nvPr/>
          </p:nvSpPr>
          <p:spPr>
            <a:xfrm>
              <a:off x="11043285" y="281749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773728" y="294894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客户机应用</a:t>
              </a:r>
            </a:p>
          </p:txBody>
        </p:sp>
      </p:grpSp>
      <p:grpSp>
        <p:nvGrpSpPr>
          <p:cNvPr id="67" name="c2-card-2"/>
          <p:cNvGrpSpPr/>
          <p:nvPr/>
        </p:nvGrpSpPr>
        <p:grpSpPr>
          <a:xfrm>
            <a:off x="6248400" y="3283268"/>
            <a:ext cx="5410200" cy="2841308"/>
            <a:chOff x="6248400" y="3283268"/>
            <a:chExt cx="5410200" cy="2841308"/>
          </a:xfrm>
        </p:grpSpPr>
        <p:sp>
          <p:nvSpPr>
            <p:cNvPr id="61" name="Rectangle 61"/>
            <p:cNvSpPr/>
            <p:nvPr/>
          </p:nvSpPr>
          <p:spPr>
            <a:xfrm>
              <a:off x="6248400" y="3283268"/>
              <a:ext cx="5410200" cy="2841308"/>
            </a:xfrm>
            <a:prstGeom prst="roundRect">
              <a:avLst>
                <a:gd name="adj" fmla="val 46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257925" y="3416618"/>
              <a:ext cx="47625" cy="257460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490335" y="348710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580543" y="352282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483096" y="3860006"/>
              <a:ext cx="45449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原课件写作“将 ring0 继续分为 root 与 non-root”。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484239" y="4176712"/>
              <a:ext cx="4782312" cy="6766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VT-x 新增的是 root 和 non-root 两种运行模式，每种模式都有完整的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Ring 0～3。客户 OS 仍在 Ring 0，只是处在 non-root 模式，执行敏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感指令时 CPU 自动退出到 root 模式交给 Hypervisor。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虚拟机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常见的虚拟机软件，以及怎样配置一台虚拟机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" name="c1-table-1"/>
          <p:cNvGrpSpPr/>
          <p:nvPr/>
        </p:nvGrpSpPr>
        <p:grpSpPr>
          <a:xfrm>
            <a:off x="527685" y="1524000"/>
            <a:ext cx="6497955" cy="4376262"/>
            <a:chOff x="527685" y="1524000"/>
            <a:chExt cx="6497955" cy="43762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686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4606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软件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50478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基础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288703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68951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7604" y="2255044"/>
              <a:ext cx="4068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KVM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35861" y="2255044"/>
              <a:ext cx="9381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Linux 内核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169348" y="2255044"/>
              <a:ext cx="6057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Type 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013264" y="2128361"/>
              <a:ext cx="2737612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 Linux 内核模块的形式存在，加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载后 Linux 本身成为 Hypervisor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1081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715578"/>
              <a:ext cx="6492240" cy="72199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7604" y="2977039"/>
              <a:ext cx="8018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Hyper-V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35861" y="2850356"/>
              <a:ext cx="970280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Windows 内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169348" y="2977039"/>
              <a:ext cx="6057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Type 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013264" y="2977039"/>
              <a:ext cx="122543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 Windows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43281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7604" y="3825716"/>
              <a:ext cx="3519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Xen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35861" y="3825716"/>
              <a:ext cx="9381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 Linux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169348" y="3825716"/>
              <a:ext cx="6057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Type 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013264" y="3572351"/>
              <a:ext cx="2710561" cy="7854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Xen 直接运行在硬件上，开机后引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导特权虚拟机 dom0（一般是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Linux）负责管理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40912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4413885"/>
              <a:ext cx="6492240" cy="72199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7604" y="4675346"/>
              <a:ext cx="42249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ESXi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35861" y="467534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自带内核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69348" y="4675346"/>
              <a:ext cx="6057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Type 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013264" y="4548664"/>
              <a:ext cx="271957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VMware 公司的商业软件，不需要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宿主操作系统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513111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7604" y="5270659"/>
              <a:ext cx="10294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VirtualBox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935861" y="5270659"/>
              <a:ext cx="7199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宿主 OS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169348" y="5270659"/>
              <a:ext cx="6057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Type 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013264" y="5270659"/>
              <a:ext cx="20376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Oracle 公司的开源软件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1524000"/>
              <a:ext cx="6492240" cy="40805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826895" y="1524000"/>
              <a:ext cx="9525" cy="40805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3060382" y="1524000"/>
              <a:ext cx="9525" cy="40805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3904298" y="1524000"/>
              <a:ext cx="9525" cy="40805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27685" y="568023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原课件第41页：表中五种都支持全虚拟化</a:t>
              </a:r>
            </a:p>
          </p:txBody>
        </p:sp>
      </p:grpSp>
      <p:grpSp>
        <p:nvGrpSpPr>
          <p:cNvPr id="53" name="c2-card-1"/>
          <p:cNvGrpSpPr/>
          <p:nvPr/>
        </p:nvGrpSpPr>
        <p:grpSpPr>
          <a:xfrm>
            <a:off x="7330440" y="1524000"/>
            <a:ext cx="4328160" cy="2368868"/>
            <a:chOff x="7330440" y="1524000"/>
            <a:chExt cx="4328160" cy="2368868"/>
          </a:xfrm>
        </p:grpSpPr>
        <p:sp>
          <p:nvSpPr>
            <p:cNvPr id="44" name="Rectangle 44"/>
            <p:cNvSpPr/>
            <p:nvPr/>
          </p:nvSpPr>
          <p:spPr>
            <a:xfrm>
              <a:off x="7330440" y="1524000"/>
              <a:ext cx="4328160" cy="2368868"/>
            </a:xfrm>
            <a:prstGeom prst="roundRect">
              <a:avLst>
                <a:gd name="adj" fmla="val 56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7339965" y="1657350"/>
              <a:ext cx="47625" cy="210216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572375" y="1727835"/>
              <a:ext cx="264604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589918" y="1763554"/>
              <a:ext cx="26109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用 VMware Workstation 配置虚拟机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579995" y="216122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736586" y="2100739"/>
              <a:ext cx="34409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配置处理器数量、内存大小、虚拟硬盘、网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络和各种外设，就创建出一台虚拟机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7579995" y="275272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736586" y="2692241"/>
              <a:ext cx="354914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虚拟硬盘在宿主机上以 </a:t>
              </a: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的形式存在，需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要手动创建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566279" y="3280410"/>
              <a:ext cx="36697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VMware Workstation 装在 Windows 或 Linux 桌面系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统上运行，属于 Type 2。</a:t>
              </a:r>
            </a:p>
          </p:txBody>
        </p:sp>
      </p:grpSp>
      <p:grpSp>
        <p:nvGrpSpPr>
          <p:cNvPr id="60" name="c2-callout-2"/>
          <p:cNvGrpSpPr/>
          <p:nvPr/>
        </p:nvGrpSpPr>
        <p:grpSpPr>
          <a:xfrm>
            <a:off x="7330440" y="4077652"/>
            <a:ext cx="4328160" cy="1778318"/>
            <a:chOff x="7330440" y="4077652"/>
            <a:chExt cx="4328160" cy="1778318"/>
          </a:xfrm>
        </p:grpSpPr>
        <p:sp>
          <p:nvSpPr>
            <p:cNvPr id="54" name="Rectangle 54"/>
            <p:cNvSpPr/>
            <p:nvPr/>
          </p:nvSpPr>
          <p:spPr>
            <a:xfrm>
              <a:off x="7330440" y="4077652"/>
              <a:ext cx="4328160" cy="1778318"/>
            </a:xfrm>
            <a:prstGeom prst="roundRect">
              <a:avLst>
                <a:gd name="adj" fmla="val 6427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535228" y="4867275"/>
              <a:ext cx="200026" cy="200025"/>
              <a:chOff x="7535228" y="4867275"/>
              <a:chExt cx="200026" cy="20002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535228" y="486727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574966" y="491172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609682" y="502285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7837551" y="4604861"/>
              <a:ext cx="3458972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虚拟硬盘就是宿主机上的一个文件，这正是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“封装”：拷走这个文件和配置，就等于搬走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了整台虚拟机。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41327" cy="909257"/>
            <a:chOff x="520446" y="342900"/>
            <a:chExt cx="774132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虚拟机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4132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OpenStack：在大型集群上管理成千上万台虚拟机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646670" cy="264033"/>
            <a:chOff x="526542" y="1545907"/>
            <a:chExt cx="764667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6466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一台机器上跑多台虚拟机的问题解决了，但云计算要在大型集群上按需运行成千上万台虚拟机。</a:t>
              </a:r>
            </a:p>
          </p:txBody>
        </p:sp>
      </p:grpSp>
      <p:grpSp>
        <p:nvGrpSpPr>
          <p:cNvPr id="18" name="c1-card-1"/>
          <p:cNvGrpSpPr/>
          <p:nvPr/>
        </p:nvGrpSpPr>
        <p:grpSpPr>
          <a:xfrm>
            <a:off x="533400" y="1928812"/>
            <a:ext cx="4544378" cy="1714500"/>
            <a:chOff x="533400" y="1928812"/>
            <a:chExt cx="4544378" cy="171450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4544378" cy="1714500"/>
            </a:xfrm>
            <a:prstGeom prst="roundRect">
              <a:avLst>
                <a:gd name="adj" fmla="val 77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44780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2475" y="2109788"/>
              <a:ext cx="882968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7343" y="2142649"/>
              <a:ext cx="7322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OpenStack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5998" y="2449354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一组为云基础设施提供通用服务的开源软件组件。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2000" y="2787015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17448" y="2735104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在大型集群上对虚拟机进行管理（编排）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62000" y="3071812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17448" y="3019901"/>
              <a:ext cx="37518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还提供存储虚拟化、网络虚拟化、监控、认证、镜像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管理等云计算必需的基础服务</a:t>
              </a:r>
            </a:p>
          </p:txBody>
        </p:sp>
      </p:grpSp>
      <p:grpSp>
        <p:nvGrpSpPr>
          <p:cNvPr id="25" name="c1-callout-2"/>
          <p:cNvGrpSpPr/>
          <p:nvPr/>
        </p:nvGrpSpPr>
        <p:grpSpPr>
          <a:xfrm>
            <a:off x="533400" y="3807142"/>
            <a:ext cx="4544378" cy="1968818"/>
            <a:chOff x="533400" y="3807142"/>
            <a:chExt cx="4544378" cy="1968818"/>
          </a:xfrm>
        </p:grpSpPr>
        <p:sp>
          <p:nvSpPr>
            <p:cNvPr id="19" name="Rectangle 19"/>
            <p:cNvSpPr/>
            <p:nvPr/>
          </p:nvSpPr>
          <p:spPr>
            <a:xfrm>
              <a:off x="533400" y="3807142"/>
              <a:ext cx="4544378" cy="1968818"/>
            </a:xfrm>
            <a:prstGeom prst="roundRect">
              <a:avLst>
                <a:gd name="adj" fmla="val 580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4692015"/>
              <a:ext cx="200026" cy="200026"/>
              <a:chOff x="738188" y="4692015"/>
              <a:chExt cx="200026" cy="20002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46920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38200" y="47586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27088" y="479202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1273" y="4467701"/>
              <a:ext cx="3662426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原课件第46页是 OpenStack 控制台（Horizon）的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截图：实例数、vCPU、内存、浮动 IP、安全组的配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额和用量一目了然。</a:t>
              </a:r>
            </a:p>
          </p:txBody>
        </p:sp>
      </p:grpSp>
      <p:grpSp>
        <p:nvGrpSpPr>
          <p:cNvPr id="60" name="c2-table-1"/>
          <p:cNvGrpSpPr/>
          <p:nvPr/>
        </p:nvGrpSpPr>
        <p:grpSpPr>
          <a:xfrm>
            <a:off x="5377624" y="1928812"/>
            <a:ext cx="6280976" cy="3885914"/>
            <a:chOff x="5377624" y="1928812"/>
            <a:chExt cx="6280976" cy="3885914"/>
          </a:xfrm>
        </p:grpSpPr>
        <p:sp>
          <p:nvSpPr>
            <p:cNvPr id="26" name="Rectangle 26"/>
            <p:cNvSpPr/>
            <p:nvPr/>
          </p:nvSpPr>
          <p:spPr>
            <a:xfrm>
              <a:off x="5382578" y="1928812"/>
              <a:ext cx="6276022" cy="420052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831484" y="204930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类别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49744" y="204930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87268" y="204930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负责什么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476113" y="258365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31508" y="2583656"/>
              <a:ext cx="3974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Nova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11680" y="2470309"/>
              <a:ext cx="309346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虚拟机的创建、调度和生命周期（Zun 管容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器）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82578" y="299085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82578" y="2995612"/>
              <a:ext cx="6276022" cy="42005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476113" y="311705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31508" y="3117056"/>
              <a:ext cx="681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Neutron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11680" y="3117056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虚拟网络、子网、路由、安全组（第四部分）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82578" y="341090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476113" y="365045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31508" y="3537109"/>
              <a:ext cx="112649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Cinder /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Swift / Manila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111680" y="3650456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块存储、对象存储、文件存储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82578" y="405860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382578" y="4063365"/>
              <a:ext cx="6276022" cy="6467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476113" y="429720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共享服务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731508" y="4183856"/>
              <a:ext cx="8663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Keystone /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Glance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111680" y="429720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身份认证；虚拟机镜像管理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82578" y="470535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476113" y="483060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界面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731508" y="4830604"/>
              <a:ext cx="6382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Horizon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111680" y="4830604"/>
              <a:ext cx="9073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Web 控制台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82578" y="512540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382578" y="5130165"/>
              <a:ext cx="6276022" cy="42005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476113" y="525160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运维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731508" y="5251609"/>
              <a:ext cx="9140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Ceilometer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111680" y="525160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监控与计量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382578" y="1928812"/>
              <a:ext cx="6276022" cy="36214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633210" y="1928812"/>
              <a:ext cx="9525" cy="36214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8013382" y="1928812"/>
              <a:ext cx="9525" cy="36214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377624" y="5624036"/>
              <a:ext cx="36936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据原课件第45页的 OpenStack 组件图整理，只列最常用的几个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虚拟机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虚拟机迁移：关机搬文件是冷迁移，开着机搬是热迁移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193982" cy="1274445"/>
            <a:chOff x="533400" y="1524000"/>
            <a:chExt cx="5193982" cy="12744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593" y="176355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冷迁移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3426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虚拟机独立于硬件，全部内容又都以文件形式存在磁盘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上，所以可以关机后把文件移到另一台宿主机再开机。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84182"/>
            <a:ext cx="5193982" cy="1545908"/>
            <a:chOff x="533400" y="2984182"/>
            <a:chExt cx="5193982" cy="1545908"/>
          </a:xfrm>
        </p:grpSpPr>
        <p:sp>
          <p:nvSpPr>
            <p:cNvPr id="13" name="Rectangle 13"/>
            <p:cNvSpPr/>
            <p:nvPr/>
          </p:nvSpPr>
          <p:spPr>
            <a:xfrm>
              <a:off x="533400" y="2984182"/>
              <a:ext cx="5193982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117532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75335" y="3188018"/>
              <a:ext cx="195167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17107" y="3223736"/>
              <a:ext cx="18671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热迁移（Live Migration）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8096" y="3560921"/>
              <a:ext cx="4568063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开机状态下迁移。难点在于运行中的虚拟机除了磁盘内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容，还有 CPU 寄存器、内存、设备状态等运行时信息，而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且一直在变。</a:t>
              </a:r>
            </a:p>
          </p:txBody>
        </p:sp>
      </p:grpSp>
      <p:grpSp>
        <p:nvGrpSpPr>
          <p:cNvPr id="25" name="c1-callout-3"/>
          <p:cNvGrpSpPr/>
          <p:nvPr/>
        </p:nvGrpSpPr>
        <p:grpSpPr>
          <a:xfrm>
            <a:off x="533400" y="4715828"/>
            <a:ext cx="5193982" cy="822960"/>
            <a:chOff x="533400" y="4715828"/>
            <a:chExt cx="5193982" cy="822960"/>
          </a:xfrm>
        </p:grpSpPr>
        <p:sp>
          <p:nvSpPr>
            <p:cNvPr id="19" name="Rectangle 19"/>
            <p:cNvSpPr/>
            <p:nvPr/>
          </p:nvSpPr>
          <p:spPr>
            <a:xfrm>
              <a:off x="533400" y="4715828"/>
              <a:ext cx="5193982" cy="822960"/>
            </a:xfrm>
            <a:prstGeom prst="roundRect">
              <a:avLst>
                <a:gd name="adj" fmla="val 1388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5027295"/>
              <a:ext cx="200026" cy="200025"/>
              <a:chOff x="738188" y="5027295"/>
              <a:chExt cx="200026" cy="20002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50272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77926" y="50717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12642" y="51828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511" y="4896326"/>
              <a:ext cx="416229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热迁移让云服务商可以在不打扰用户的情况下维修宿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主机、把负载从繁忙的机器挪走。</a:t>
              </a:r>
            </a:p>
          </p:txBody>
        </p:sp>
      </p:grpSp>
      <p:grpSp>
        <p:nvGrpSpPr>
          <p:cNvPr id="39" name="c2-steps-1"/>
          <p:cNvGrpSpPr/>
          <p:nvPr/>
        </p:nvGrpSpPr>
        <p:grpSpPr>
          <a:xfrm>
            <a:off x="6032182" y="1533525"/>
            <a:ext cx="5301996" cy="2011109"/>
            <a:chOff x="6032182" y="1533525"/>
            <a:chExt cx="5301996" cy="2011109"/>
          </a:xfrm>
        </p:grpSpPr>
        <p:sp>
          <p:nvSpPr>
            <p:cNvPr id="26" name="Rectangle 26"/>
            <p:cNvSpPr/>
            <p:nvPr/>
          </p:nvSpPr>
          <p:spPr>
            <a:xfrm>
              <a:off x="6165532" y="1676400"/>
              <a:ext cx="19050" cy="1463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6032182" y="153352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12580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032182" y="237553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125806" y="24493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032182" y="299656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125806" y="30703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44044" y="156638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准备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45186" y="1846898"/>
              <a:ext cx="48889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虚拟机的磁盘文件放在共享的网络存储上，源、目标主机都能访问，磁盘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不用搬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44044" y="240839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传状态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45186" y="2688907"/>
              <a:ext cx="3566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把虚拟机的内存和运行状态通过网络发给目标主机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44044" y="302942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切换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45186" y="3309938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源主机暂停虚拟机，目标主机恢复运行</a:t>
              </a:r>
            </a:p>
          </p:txBody>
        </p:sp>
      </p:grpSp>
      <p:grpSp>
        <p:nvGrpSpPr>
          <p:cNvPr id="45" name="c2-card-2"/>
          <p:cNvGrpSpPr/>
          <p:nvPr/>
        </p:nvGrpSpPr>
        <p:grpSpPr>
          <a:xfrm>
            <a:off x="6032182" y="3720465"/>
            <a:ext cx="5626418" cy="1817370"/>
            <a:chOff x="6032182" y="3720465"/>
            <a:chExt cx="5626418" cy="1817370"/>
          </a:xfrm>
        </p:grpSpPr>
        <p:sp>
          <p:nvSpPr>
            <p:cNvPr id="40" name="Rectangle 40"/>
            <p:cNvSpPr/>
            <p:nvPr/>
          </p:nvSpPr>
          <p:spPr>
            <a:xfrm>
              <a:off x="6032182" y="3720465"/>
              <a:ext cx="5626418" cy="1817370"/>
            </a:xfrm>
            <a:prstGeom prst="roundRect">
              <a:avLst>
                <a:gd name="adj" fmla="val 73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041708" y="3853815"/>
              <a:ext cx="47625" cy="155067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74118" y="392430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64326" y="39600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66879" y="4297204"/>
              <a:ext cx="4964811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原课件写“暂停并将 VM 状态打包发送”，这是最后的切换阶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段。KVM 实际用 </a:t>
              </a: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预拷贝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：虚拟机照常运行时先一轮轮拷内存，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只在剩下的脏页很少时才短暂暂停，所以停机只有毫秒级（下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一页的例题）。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6" name="Rectangle 46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0511" y="6004084"/>
              <a:ext cx="45096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KVM Live Migration 的具体操作步骤在实验课上做。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虚拟机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例题：预拷贝热迁移要拷几轮，停机多久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1288459" cy="293370"/>
            <a:chOff x="525780" y="1548765"/>
            <a:chExt cx="11288459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12884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虚拟机内存 4 GB，迁移网络可用带宽 1 GB/s，虚拟机运行中每秒弄脏 100 MB 内存；剩余脏页不到 5 MB 时暂停并一次拷完。</a:t>
              </a:r>
            </a:p>
          </p:txBody>
        </p:sp>
      </p:grpSp>
      <p:grpSp>
        <p:nvGrpSpPr>
          <p:cNvPr id="40" name="c1-table-1"/>
          <p:cNvGrpSpPr/>
          <p:nvPr/>
        </p:nvGrpSpPr>
        <p:grpSpPr>
          <a:xfrm>
            <a:off x="533400" y="1954530"/>
            <a:ext cx="6059805" cy="2345055"/>
            <a:chOff x="533400" y="1954530"/>
            <a:chExt cx="6059805" cy="234505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6059805" cy="4686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49413" y="208930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轮次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13355" y="2089309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要拷的数据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108806" y="208930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914544" y="2089309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这段时间新弄脏的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7604" y="2558891"/>
              <a:ext cx="17745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轮（全部内存）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47604" y="2558891"/>
              <a:ext cx="7820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4000 MB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94291" y="2558891"/>
              <a:ext cx="2821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818086" y="2558891"/>
              <a:ext cx="6709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400 MB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88798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892742"/>
              <a:ext cx="6059805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7604" y="3027521"/>
              <a:ext cx="6276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58693" y="3027521"/>
              <a:ext cx="6709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400 MB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84015" y="3027521"/>
              <a:ext cx="4923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 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929175" y="3027521"/>
              <a:ext cx="5598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 MB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35661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7604" y="3496151"/>
              <a:ext cx="6276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169783" y="3496151"/>
              <a:ext cx="5598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 MB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078877" y="3496151"/>
              <a:ext cx="5975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0.04 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40265" y="3496151"/>
              <a:ext cx="44873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MB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8261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3830955"/>
              <a:ext cx="6059805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7604" y="3965734"/>
              <a:ext cx="17976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停机拷贝（&lt; 5 MB）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280872" y="3965734"/>
              <a:ext cx="44873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MB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843338" y="3840480"/>
              <a:ext cx="927735" cy="4495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250921" y="3965734"/>
              <a:ext cx="4254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ms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327561" y="396573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虚拟机已暂停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1954530"/>
              <a:ext cx="6059805" cy="23450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2558415" y="1954530"/>
              <a:ext cx="9525" cy="23450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3829050" y="1954530"/>
              <a:ext cx="9525" cy="23450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4775835" y="1954530"/>
              <a:ext cx="9525" cy="23450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c1-steps-2"/>
          <p:cNvGrpSpPr/>
          <p:nvPr/>
        </p:nvGrpSpPr>
        <p:grpSpPr>
          <a:xfrm>
            <a:off x="533400" y="4494848"/>
            <a:ext cx="5247284" cy="1169098"/>
            <a:chOff x="533400" y="4494848"/>
            <a:chExt cx="5247284" cy="1169098"/>
          </a:xfrm>
        </p:grpSpPr>
        <p:sp>
          <p:nvSpPr>
            <p:cNvPr id="41" name="Rectangle 41"/>
            <p:cNvSpPr/>
            <p:nvPr/>
          </p:nvSpPr>
          <p:spPr>
            <a:xfrm>
              <a:off x="666750" y="4637722"/>
              <a:ext cx="19050" cy="6210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533400" y="449484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27024" y="45686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533400" y="511492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27024" y="51887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45261" y="4527709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总迁移时间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46404" y="4808220"/>
              <a:ext cx="24918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+ 0.4 + 0.04 + 0.004 = 4.444 s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45261" y="514873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停机时间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46404" y="5429250"/>
              <a:ext cx="4834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只有最后的 4 ms；如果一开始就暂停再拷，要停 4000 / 1000 = 4 s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formula10"/>
              <p:cNvSpPr txBox="1">
                <a:spLocks noGrp="1"/>
              </p:cNvSpPr>
              <p:nvPr/>
            </p:nvSpPr>
            <p:spPr>
              <a:xfrm>
                <a:off x="6898005" y="1954530"/>
                <a:ext cx="4760595" cy="6429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f>
                        <m:fPr>
                          <m:type m:val="bar"/>
                          <m:ctrl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num>
                        <m:den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60" name="c2-kv-2"/>
          <p:cNvGrpSpPr/>
          <p:nvPr/>
        </p:nvGrpSpPr>
        <p:grpSpPr>
          <a:xfrm>
            <a:off x="6890766" y="2806541"/>
            <a:ext cx="4767834" cy="1121665"/>
            <a:chOff x="6890766" y="2806541"/>
            <a:chExt cx="4767834" cy="1121665"/>
          </a:xfrm>
        </p:grpSpPr>
        <p:sp>
          <p:nvSpPr>
            <p:cNvPr id="52" name="TextBox 52"/>
            <p:cNvSpPr txBox="1"/>
            <p:nvPr/>
          </p:nvSpPr>
          <p:spPr>
            <a:xfrm>
              <a:off x="6890766" y="2806541"/>
              <a:ext cx="2477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Vₖ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354634" y="2806541"/>
              <a:ext cx="17635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k 轮要拷的数据量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898005" y="311181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890766" y="3227546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354634" y="3227546"/>
              <a:ext cx="24066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脏页产生速率（100 MB/s）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898005" y="353377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890766" y="3649504"/>
              <a:ext cx="1311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354634" y="3649504"/>
              <a:ext cx="176648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迁移带宽（1 GB/s）</a:t>
              </a:r>
            </a:p>
          </p:txBody>
        </p:sp>
      </p:grpSp>
      <p:grpSp>
        <p:nvGrpSpPr>
          <p:cNvPr id="66" name="c2-callout-3"/>
          <p:cNvGrpSpPr/>
          <p:nvPr/>
        </p:nvGrpSpPr>
        <p:grpSpPr>
          <a:xfrm>
            <a:off x="6898005" y="4057650"/>
            <a:ext cx="4760595" cy="1596390"/>
            <a:chOff x="6898005" y="4057650"/>
            <a:chExt cx="4760595" cy="1596390"/>
          </a:xfrm>
        </p:grpSpPr>
        <p:sp>
          <p:nvSpPr>
            <p:cNvPr id="61" name="Rectangle 61"/>
            <p:cNvSpPr/>
            <p:nvPr/>
          </p:nvSpPr>
          <p:spPr>
            <a:xfrm>
              <a:off x="6898005" y="4057650"/>
              <a:ext cx="4760595" cy="1596390"/>
            </a:xfrm>
            <a:prstGeom prst="roundRect">
              <a:avLst>
                <a:gd name="adj" fmla="val 7160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102793" y="4755835"/>
              <a:ext cx="200023" cy="200023"/>
              <a:chOff x="7102793" y="4755835"/>
              <a:chExt cx="200023" cy="200023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7102793" y="475583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236143" y="48225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7405116" y="4362926"/>
              <a:ext cx="3801618" cy="10673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每轮的数据量按 d / B = 0.1 的比例缩小，所以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几轮就收敛。如果 d ≥ B，脏页产生得比拷得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快，预拷贝永远收不拢，只能限速虚拟机或者直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接停机拷贝。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691253" cy="3351847"/>
            <a:chOff x="667512" y="1835468"/>
            <a:chExt cx="4691253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45858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容器与 Kubernetes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不再装一遍操作系统，也能隔出独立的运行环境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4581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原课件第49–67页 虚拟化技术（容器）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1777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chroot → LXC → Docker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36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K8s 组件与工作负载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192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Deployment 与滚动更新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66793" cy="909257"/>
            <a:chOff x="520446" y="342900"/>
            <a:chExt cx="766679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984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490" y="407194"/>
              <a:ext cx="24576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容器与 Kubernetes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6679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chroot 到 LXC：一步步把进程关进自己的环境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7685" y="1542574"/>
            <a:ext cx="4278630" cy="441008"/>
            <a:chOff x="527685" y="1542574"/>
            <a:chExt cx="4278630" cy="441008"/>
          </a:xfrm>
        </p:grpSpPr>
        <p:sp>
          <p:nvSpPr>
            <p:cNvPr id="7" name="TextBox 7"/>
            <p:cNvSpPr txBox="1"/>
            <p:nvPr/>
          </p:nvSpPr>
          <p:spPr>
            <a:xfrm>
              <a:off x="527685" y="1542574"/>
              <a:ext cx="4278630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虚拟机要为每台装一遍操作系统，占用空间。有时只想在宿主操作系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统上隔离出几个独立的运行环境。</a:t>
              </a:r>
            </a:p>
          </p:txBody>
        </p:sp>
      </p:grpSp>
      <p:grpSp>
        <p:nvGrpSpPr>
          <p:cNvPr id="12" name="c1-code-2"/>
          <p:cNvGrpSpPr/>
          <p:nvPr/>
        </p:nvGrpSpPr>
        <p:grpSpPr>
          <a:xfrm>
            <a:off x="533400" y="2114550"/>
            <a:ext cx="4544378" cy="1829752"/>
            <a:chOff x="533400" y="2114550"/>
            <a:chExt cx="4544378" cy="1829752"/>
          </a:xfrm>
        </p:grpSpPr>
        <p:sp>
          <p:nvSpPr>
            <p:cNvPr id="9" name="Rectangle 9"/>
            <p:cNvSpPr/>
            <p:nvPr/>
          </p:nvSpPr>
          <p:spPr>
            <a:xfrm>
              <a:off x="533400" y="2114550"/>
              <a:ext cx="4544378" cy="1829752"/>
            </a:xfrm>
            <a:prstGeom prst="roundRect">
              <a:avLst>
                <a:gd name="adj" fmla="val 520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266474"/>
              <a:ext cx="17559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chroot /usr/newroot 之后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416" y="2527935"/>
              <a:ext cx="2731008" cy="1342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├── bin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├── etc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├── usr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│   └── newroot      = 进程眼里的 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│       └── bin      = 进程眼里的 /bin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└── ...</a:t>
              </a:r>
            </a:p>
          </p:txBody>
        </p:sp>
      </p:grpSp>
      <p:grpSp>
        <p:nvGrpSpPr>
          <p:cNvPr id="19" name="c1-card-3"/>
          <p:cNvGrpSpPr/>
          <p:nvPr/>
        </p:nvGrpSpPr>
        <p:grpSpPr>
          <a:xfrm>
            <a:off x="533400" y="4119562"/>
            <a:ext cx="4544378" cy="2116455"/>
            <a:chOff x="533400" y="4119562"/>
            <a:chExt cx="4544378" cy="2116455"/>
          </a:xfrm>
        </p:grpSpPr>
        <p:sp>
          <p:nvSpPr>
            <p:cNvPr id="13" name="Rectangle 13"/>
            <p:cNvSpPr/>
            <p:nvPr/>
          </p:nvSpPr>
          <p:spPr>
            <a:xfrm>
              <a:off x="533400" y="4119562"/>
              <a:ext cx="4544378" cy="2116455"/>
            </a:xfrm>
            <a:prstGeom prst="roundRect">
              <a:avLst>
                <a:gd name="adj" fmla="val 63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4252912"/>
              <a:ext cx="47625" cy="184975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63905" y="4311968"/>
              <a:ext cx="1471612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25910" y="4346258"/>
              <a:ext cx="13485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chroot（早期方案）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7047" y="4668202"/>
              <a:ext cx="3879913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 Unix 系统中为当前进程及其子进程指定根目录的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操作，指定目录以外的内容对它们完全不可见。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8190" y="5224939"/>
              <a:ext cx="388747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1979 年出现在 Version 7 Unix 的开发中，1982 年加入 BSD；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原课件标注的 1982 年是后者。</a:t>
              </a:r>
            </a:p>
          </p:txBody>
        </p:sp>
      </p:grpSp>
      <p:grpSp>
        <p:nvGrpSpPr>
          <p:cNvPr id="45" name="c2-table-1"/>
          <p:cNvGrpSpPr/>
          <p:nvPr/>
        </p:nvGrpSpPr>
        <p:grpSpPr>
          <a:xfrm>
            <a:off x="5377244" y="1524000"/>
            <a:ext cx="6281356" cy="2308479"/>
            <a:chOff x="5377244" y="1524000"/>
            <a:chExt cx="6281356" cy="2308479"/>
          </a:xfrm>
        </p:grpSpPr>
        <p:sp>
          <p:nvSpPr>
            <p:cNvPr id="20" name="Rectangle 20"/>
            <p:cNvSpPr/>
            <p:nvPr/>
          </p:nvSpPr>
          <p:spPr>
            <a:xfrm>
              <a:off x="5382578" y="1524000"/>
              <a:ext cx="6276022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7567" y="164830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虚拟化的能力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525596" y="1648301"/>
              <a:ext cx="5338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chroot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248406" y="1648301"/>
              <a:ext cx="6391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LXC 容器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482590" y="205406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隔离文件系统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711425" y="205406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486885" y="205406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82578" y="233076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82578" y="2335530"/>
              <a:ext cx="627602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482590" y="2459831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隔离进程、网络等其他资源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711425" y="245983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486885" y="245983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82578" y="273653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482590" y="2865596"/>
              <a:ext cx="14936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分区：CPU、内存配额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711425" y="286559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486885" y="286559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82578" y="314229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382578" y="3147060"/>
              <a:ext cx="627602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482590" y="3271361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封装、独立于硬件：打包迁移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711425" y="327136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911382" y="3271361"/>
              <a:ext cx="13132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✗（Docker 补上）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82578" y="1524000"/>
              <a:ext cx="6276022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02918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9471660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377244" y="3627120"/>
              <a:ext cx="4863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LXC 靠下面两种内核机制，在单个 Linux 内核上提供多个 Linux 系统（容器）</a:t>
              </a:r>
            </a:p>
          </p:txBody>
        </p:sp>
      </p:grpSp>
      <p:grpSp>
        <p:nvGrpSpPr>
          <p:cNvPr id="51" name="c2-kv-2"/>
          <p:cNvGrpSpPr/>
          <p:nvPr/>
        </p:nvGrpSpPr>
        <p:grpSpPr>
          <a:xfrm>
            <a:off x="5375720" y="3989070"/>
            <a:ext cx="6282880" cy="914590"/>
            <a:chOff x="5375720" y="3989070"/>
            <a:chExt cx="6282880" cy="914590"/>
          </a:xfrm>
        </p:grpSpPr>
        <p:sp>
          <p:nvSpPr>
            <p:cNvPr id="46" name="TextBox 46"/>
            <p:cNvSpPr txBox="1"/>
            <p:nvPr/>
          </p:nvSpPr>
          <p:spPr>
            <a:xfrm>
              <a:off x="5375720" y="3989070"/>
              <a:ext cx="7483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cgroups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92074" y="3989070"/>
              <a:ext cx="39124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限制进程能 </a:t>
              </a: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用多少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资源：CPU、内存、IO、网络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82578" y="427767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375720" y="4386262"/>
              <a:ext cx="11014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namespaces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92074" y="4386262"/>
              <a:ext cx="433425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控制进程能 </a:t>
              </a: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看到什么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资源：mnt、pid、net、ipc 等，是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chroot 的进阶版</a:t>
              </a:r>
            </a:p>
          </p:txBody>
        </p:sp>
      </p:grpSp>
      <p:grpSp>
        <p:nvGrpSpPr>
          <p:cNvPr id="57" name="c2-card-3"/>
          <p:cNvGrpSpPr/>
          <p:nvPr/>
        </p:nvGrpSpPr>
        <p:grpSpPr>
          <a:xfrm>
            <a:off x="5382578" y="5026342"/>
            <a:ext cx="6276022" cy="1209675"/>
            <a:chOff x="5382578" y="5026342"/>
            <a:chExt cx="6276022" cy="1209675"/>
          </a:xfrm>
        </p:grpSpPr>
        <p:sp>
          <p:nvSpPr>
            <p:cNvPr id="52" name="Rectangle 52"/>
            <p:cNvSpPr/>
            <p:nvPr/>
          </p:nvSpPr>
          <p:spPr>
            <a:xfrm>
              <a:off x="5382578" y="5026342"/>
              <a:ext cx="6276022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5392102" y="5159692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613082" y="521874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704522" y="525303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606224" y="5574983"/>
              <a:ext cx="551726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 LXC 由“Linux 基金会”提出。LXC 是 2008 年前后由 IBM 等公司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的内核开发者发起的开源项目，现由 linuxcontainers.org 社区维护。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984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490" y="407194"/>
              <a:ext cx="24576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容器与 Kubernetes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容器：共享一个内核的轻量级虚拟化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626418" cy="1274445"/>
            <a:chOff x="533400" y="1524000"/>
            <a:chExt cx="5626418" cy="12744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容器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一种操作系统级虚拟化技术，在同一个内核上分隔出多个用户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空间实例。从应用程序的角度看，每个实例就是一台机器。</a:t>
              </a:r>
            </a:p>
          </p:txBody>
        </p:sp>
      </p:grpSp>
      <p:grpSp>
        <p:nvGrpSpPr>
          <p:cNvPr id="35" name="c1-graph-2"/>
          <p:cNvGrpSpPr/>
          <p:nvPr/>
        </p:nvGrpSpPr>
        <p:grpSpPr>
          <a:xfrm>
            <a:off x="765810" y="3088957"/>
            <a:ext cx="5161598" cy="2635567"/>
            <a:chOff x="765810" y="3088957"/>
            <a:chExt cx="5161598" cy="2635567"/>
          </a:xfrm>
        </p:grpSpPr>
        <p:sp>
          <p:nvSpPr>
            <p:cNvPr id="13" name="Rectangle 13"/>
            <p:cNvSpPr/>
            <p:nvPr/>
          </p:nvSpPr>
          <p:spPr>
            <a:xfrm>
              <a:off x="765810" y="3655695"/>
              <a:ext cx="998220" cy="332422"/>
            </a:xfrm>
            <a:prstGeom prst="roundRect">
              <a:avLst>
                <a:gd name="adj" fmla="val 28653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2004060" y="3655695"/>
              <a:ext cx="998220" cy="332422"/>
            </a:xfrm>
            <a:prstGeom prst="roundRect">
              <a:avLst>
                <a:gd name="adj" fmla="val 28653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765810" y="4194810"/>
              <a:ext cx="998220" cy="332422"/>
            </a:xfrm>
            <a:prstGeom prst="roundRect">
              <a:avLst>
                <a:gd name="adj" fmla="val 28653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2004060" y="4194810"/>
              <a:ext cx="998220" cy="332422"/>
            </a:xfrm>
            <a:prstGeom prst="roundRect">
              <a:avLst>
                <a:gd name="adj" fmla="val 28653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821055" y="4793932"/>
              <a:ext cx="2125028" cy="332422"/>
            </a:xfrm>
            <a:prstGeom prst="roundRect">
              <a:avLst>
                <a:gd name="adj" fmla="val 28653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821055" y="5392102"/>
              <a:ext cx="2125028" cy="332422"/>
            </a:xfrm>
            <a:prstGeom prst="roundRect">
              <a:avLst>
                <a:gd name="adj" fmla="val 28653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691890" y="4194810"/>
              <a:ext cx="998220" cy="332422"/>
            </a:xfrm>
            <a:prstGeom prst="roundRect">
              <a:avLst>
                <a:gd name="adj" fmla="val 28653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929188" y="4194810"/>
              <a:ext cx="998220" cy="332422"/>
            </a:xfrm>
            <a:prstGeom prst="roundRect">
              <a:avLst>
                <a:gd name="adj" fmla="val 28653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747135" y="4793932"/>
              <a:ext cx="2125028" cy="332422"/>
            </a:xfrm>
            <a:prstGeom prst="roundRect">
              <a:avLst>
                <a:gd name="adj" fmla="val 28653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747135" y="5392102"/>
              <a:ext cx="2125028" cy="332422"/>
            </a:xfrm>
            <a:prstGeom prst="roundRect">
              <a:avLst>
                <a:gd name="adj" fmla="val 28653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635633" y="3088957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虚拟机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5330" y="3748088"/>
              <a:ext cx="8191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App + 环境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93580" y="3748088"/>
              <a:ext cx="8191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App + 环境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53902" y="4286250"/>
              <a:ext cx="6220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客户 OS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92152" y="4286250"/>
              <a:ext cx="6220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客户 OS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91618" y="4885372"/>
              <a:ext cx="19848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Hypervisor（+ 宿主 OS）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716405" y="548354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硬件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41532" y="3088957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781410" y="4286250"/>
              <a:ext cx="8191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App + 环境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018707" y="4286250"/>
              <a:ext cx="8191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App + 环境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220912" y="4885372"/>
              <a:ext cx="11765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内核 + 容器引擎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641532" y="548354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硬件</a:t>
              </a:r>
            </a:p>
          </p:txBody>
        </p:sp>
      </p:grpSp>
      <p:grpSp>
        <p:nvGrpSpPr>
          <p:cNvPr id="38" name="c2-image-1"/>
          <p:cNvGrpSpPr/>
          <p:nvPr/>
        </p:nvGrpSpPr>
        <p:grpSpPr>
          <a:xfrm>
            <a:off x="6638290" y="1524000"/>
            <a:ext cx="4847590" cy="2355057"/>
            <a:chOff x="6638290" y="1524000"/>
            <a:chExt cx="4847590" cy="2355057"/>
          </a:xfrm>
        </p:grpSpPr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2"/>
            <a:srcRect l="16662" t="0" r="16663" b="0"/>
            <a:stretch>
              <a:fillRect/>
            </a:stretch>
          </p:blipFill>
          <p:spPr>
            <a:xfrm>
              <a:off x="7829550" y="1524000"/>
              <a:ext cx="2464118" cy="1847850"/>
            </a:xfrm>
            <a:prstGeom prst="roundRect">
              <a:avLst>
                <a:gd name="adj" fmla="val 7216"/>
              </a:avLst>
            </a:prstGeom>
          </p:spPr>
        </p:pic>
        <p:sp>
          <p:nvSpPr>
            <p:cNvPr id="37" name="TextBox 37"/>
            <p:cNvSpPr txBox="1"/>
            <p:nvPr/>
          </p:nvSpPr>
          <p:spPr>
            <a:xfrm>
              <a:off x="6638290" y="3466624"/>
              <a:ext cx="484759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虚拟机像独栋房子，各有地基和锅炉；容器像一栋楼里的公寓，共用地基和管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道，门各自上锁</a:t>
              </a:r>
            </a:p>
          </p:txBody>
        </p:sp>
      </p:grpSp>
      <p:grpSp>
        <p:nvGrpSpPr>
          <p:cNvPr id="63" name="c2-table-2"/>
          <p:cNvGrpSpPr/>
          <p:nvPr/>
        </p:nvGrpSpPr>
        <p:grpSpPr>
          <a:xfrm>
            <a:off x="6464618" y="4039552"/>
            <a:ext cx="5193982" cy="2150746"/>
            <a:chOff x="6464618" y="4039552"/>
            <a:chExt cx="5193982" cy="2150746"/>
          </a:xfrm>
        </p:grpSpPr>
        <p:sp>
          <p:nvSpPr>
            <p:cNvPr id="39" name="Rectangle 39"/>
            <p:cNvSpPr/>
            <p:nvPr/>
          </p:nvSpPr>
          <p:spPr>
            <a:xfrm>
              <a:off x="6464618" y="4039552"/>
              <a:ext cx="5193982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009448" y="417099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661273" y="417099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虚拟机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626090" y="417099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容器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69964" y="460057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每个实例带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18957" y="460057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完整操作系统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383774" y="460057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应用和依赖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64618" y="489489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64618" y="4899660"/>
              <a:ext cx="519398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69964" y="503110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能否跑不同内核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037538" y="5031105"/>
              <a:ext cx="17442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能（Windows + Linux）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060686" y="503110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不能，共用宿主内核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464618" y="532542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69964" y="54616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启动与占用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499729" y="54616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慢、占用大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383774" y="54616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快、占用小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464618" y="575500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464618" y="5759768"/>
              <a:ext cx="519398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569964" y="589121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隔离强度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418957" y="589121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强（硬件级）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222230" y="589121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较弱（内核级）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464618" y="4039552"/>
              <a:ext cx="5193982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7884795" y="4039552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9924098" y="4039552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32532" cy="909257"/>
            <a:chOff x="520446" y="342900"/>
            <a:chExt cx="60325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984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490" y="407194"/>
              <a:ext cx="24576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容器与 Kubernetes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325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Docker：把应用连同运行环境打成镜像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compare-1"/>
          <p:cNvGrpSpPr/>
          <p:nvPr/>
        </p:nvGrpSpPr>
        <p:grpSpPr>
          <a:xfrm>
            <a:off x="533400" y="1524000"/>
            <a:ext cx="5410200" cy="2667952"/>
            <a:chOff x="533400" y="1524000"/>
            <a:chExt cx="5410200" cy="26679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495550" cy="2667952"/>
            </a:xfrm>
            <a:prstGeom prst="roundRect">
              <a:avLst>
                <a:gd name="adj" fmla="val 53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40125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5998" y="172640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以前部署一个服务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62000" y="2079308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17448" y="2027396"/>
              <a:ext cx="1679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本地配好 JDK、Python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等环境和依赖库再开发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2000" y="2607945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17448" y="2555081"/>
              <a:ext cx="18011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到服务器上装一遍同样版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本的环境和依赖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2000" y="3135630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17448" y="3082766"/>
              <a:ext cx="1801114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服务器上已有别的服务用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着不同版本的 JRE 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tensorflow 时，冲突很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难处理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448050" y="1524000"/>
              <a:ext cx="2495550" cy="2667952"/>
            </a:xfrm>
            <a:prstGeom prst="roundRect">
              <a:avLst>
                <a:gd name="adj" fmla="val 53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457575" y="1657350"/>
              <a:ext cx="47625" cy="24012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660648" y="1726406"/>
              <a:ext cx="8427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Docker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3676650" y="2079308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832098" y="2027396"/>
              <a:ext cx="18011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本地建一个容器，配好环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境，放进代码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3676650" y="2607945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832098" y="2555081"/>
              <a:ext cx="15810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打包成“镜像”，上传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3676650" y="2892742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832098" y="2839879"/>
              <a:ext cx="180111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服务器装了 Docker 就能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直接运行镜像，不改服务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器系统里的任何内容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3076575" y="269557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159808" y="2802255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32" name="c1-bullets-2"/>
          <p:cNvGrpSpPr/>
          <p:nvPr/>
        </p:nvGrpSpPr>
        <p:grpSpPr>
          <a:xfrm>
            <a:off x="533400" y="4377214"/>
            <a:ext cx="4551490" cy="542734"/>
            <a:chOff x="533400" y="4377214"/>
            <a:chExt cx="4551490" cy="542734"/>
          </a:xfrm>
        </p:grpSpPr>
        <p:sp>
          <p:nvSpPr>
            <p:cNvPr id="28" name="Freeform 28"/>
            <p:cNvSpPr/>
            <p:nvPr/>
          </p:nvSpPr>
          <p:spPr>
            <a:xfrm>
              <a:off x="533400" y="4404360"/>
              <a:ext cx="122873" cy="99060"/>
            </a:xfrm>
            <a:custGeom>
              <a:avLst/>
              <a:gdLst/>
              <a:ahLst/>
              <a:cxnLst/>
              <a:rect l="l" t="t" r="r" b="b"/>
              <a:pathLst>
                <a:path w="122873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4096" y="4377214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迁移：在另一台服务器上打开同一个镜像即可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533400" y="4697730"/>
              <a:ext cx="122873" cy="99060"/>
            </a:xfrm>
            <a:custGeom>
              <a:avLst/>
              <a:gdLst/>
              <a:ahLst/>
              <a:cxnLst/>
              <a:rect l="l" t="t" r="r" b="b"/>
              <a:pathLst>
                <a:path w="122873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4096" y="4670584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扩容：在多台服务器上运行同一个镜像，增加服务吞吐量</a:t>
              </a:r>
            </a:p>
          </p:txBody>
        </p:sp>
      </p:grpSp>
      <p:grpSp>
        <p:nvGrpSpPr>
          <p:cNvPr id="36" name="c2-code-1"/>
          <p:cNvGrpSpPr/>
          <p:nvPr/>
        </p:nvGrpSpPr>
        <p:grpSpPr>
          <a:xfrm>
            <a:off x="6248400" y="1524000"/>
            <a:ext cx="5410200" cy="2616518"/>
            <a:chOff x="6248400" y="1524000"/>
            <a:chExt cx="5410200" cy="2616518"/>
          </a:xfrm>
        </p:grpSpPr>
        <p:sp>
          <p:nvSpPr>
            <p:cNvPr id="33" name="Rectangle 33"/>
            <p:cNvSpPr/>
            <p:nvPr/>
          </p:nvSpPr>
          <p:spPr>
            <a:xfrm>
              <a:off x="6248400" y="1524000"/>
              <a:ext cx="5410200" cy="2616518"/>
            </a:xfrm>
            <a:prstGeom prst="roundRect">
              <a:avLst>
                <a:gd name="adj" fmla="val 36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76797" y="1675924"/>
              <a:ext cx="29008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一个最小的 Dockerfile 与常用命令（补充示例）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76797" y="1935956"/>
              <a:ext cx="3868166" cy="2129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FROM python:3.11-slim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基础镜像：带好 Python 环境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WORKDIR /app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COPY requirements.txt .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RUN pip install -r requirements.txt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COPY . .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CMD [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"python"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"server.py"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]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容器启动时运行的命令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本地：按 Dockerfile 打包镜像，推到镜像仓库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docker build -t registry.example.com/shop:1.0 .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docker push registry.example.com/shop:1.0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服务器：拉取并运行，宿主 80 端口转到容器 8000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docker run -d -p 80:8000 registry.example.com/shop:1.0</a:t>
              </a:r>
            </a:p>
          </p:txBody>
        </p:sp>
      </p:grpSp>
      <p:grpSp>
        <p:nvGrpSpPr>
          <p:cNvPr id="42" name="c2-card-2"/>
          <p:cNvGrpSpPr/>
          <p:nvPr/>
        </p:nvGrpSpPr>
        <p:grpSpPr>
          <a:xfrm>
            <a:off x="6248400" y="4305300"/>
            <a:ext cx="5410200" cy="1386840"/>
            <a:chOff x="6248400" y="4305300"/>
            <a:chExt cx="5410200" cy="1386840"/>
          </a:xfrm>
        </p:grpSpPr>
        <p:sp>
          <p:nvSpPr>
            <p:cNvPr id="37" name="Rectangle 37"/>
            <p:cNvSpPr/>
            <p:nvPr/>
          </p:nvSpPr>
          <p:spPr>
            <a:xfrm>
              <a:off x="6248400" y="4305300"/>
              <a:ext cx="5410200" cy="138684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57925" y="4438650"/>
              <a:ext cx="47625" cy="112014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67475" y="4486275"/>
              <a:ext cx="1060132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42202" y="4519136"/>
              <a:ext cx="9116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镜像（image）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60998" y="4825841"/>
              <a:ext cx="45646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一个应用程序及其所有相关软件环境（操作系统内核除外）的打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包。复用宿主内核，又囊括了程序运行所需的一切，做到即开即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用。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3" name="Rectangle 4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1273" y="6039326"/>
              <a:ext cx="8647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 LXC 的分区、隔离之上，Docker 多了“打包成镜像”这一步，补上了封装与独立于硬件，这正是云计算需要的。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20819" cy="909257"/>
            <a:chOff x="520446" y="342900"/>
            <a:chExt cx="762081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984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490" y="407194"/>
              <a:ext cx="24576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容器与 Kubernetes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2081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单兵作战不够用：Kubernetes 在集群上编排容器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267482" cy="278702"/>
            <a:chOff x="526161" y="1547336"/>
            <a:chExt cx="7267482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2674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在云上用 Docker 部署了一个网页服务，接下来会遇到的问题，K8s 都有对应的功能。</a:t>
              </a:r>
            </a:p>
          </p:txBody>
        </p:sp>
      </p:grpSp>
      <p:grpSp>
        <p:nvGrpSpPr>
          <p:cNvPr id="37" name="c1-table-1"/>
          <p:cNvGrpSpPr/>
          <p:nvPr/>
        </p:nvGrpSpPr>
        <p:grpSpPr>
          <a:xfrm>
            <a:off x="533400" y="1941195"/>
            <a:ext cx="11125200" cy="3388042"/>
            <a:chOff x="533400" y="1941195"/>
            <a:chExt cx="11125200" cy="3388042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11125200" cy="44481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650111" y="206978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会遇到的问题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036052" y="2069782"/>
              <a:ext cx="16719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Kubernetes 的功能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95526" y="206978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它怎么做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2270" y="251460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一个服务器、一个容器的吞吐量不够了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969829" y="251460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服务发现与负载均衡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971984" y="2514600"/>
              <a:ext cx="52676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DNS 名称或自己的 IP 公开容器；流量大时把请求分给多个容器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260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830830"/>
              <a:ext cx="11125200" cy="6848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2270" y="307848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容器该放在哪台机器上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969829" y="307848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自动装箱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971984" y="2958465"/>
              <a:ext cx="5371529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按每个容器声明的 CPU 和内存需求，自动放到集群里合适的节点上，充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分利用资源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51091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2270" y="3763327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改了代码，要把所有旧容器换成新的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969829" y="3763327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自动部署和回滚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971984" y="3643312"/>
              <a:ext cx="5371529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描述期望状态（如 3 个副本变为 5 个、换新镜像），K8s 以受控的速率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把实际状态改成期望状态，出问题可以回滚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1957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4200525"/>
              <a:ext cx="11125200" cy="6848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2270" y="444817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容器或它所在的服务器崩溃了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969829" y="444817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自我修复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971984" y="4328160"/>
              <a:ext cx="532866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重启失败的容器、替换容器、杀死不响应健康检查的容器；准备好之前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不把它通告给客户端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8796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2270" y="501300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数据要存到哪里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969829" y="501300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存储编排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971984" y="5013008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自动挂载选定的存储系统，如本地存储、公共云提供商的存储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1941195"/>
              <a:ext cx="11125200" cy="338804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3866198" y="1941195"/>
              <a:ext cx="9525" cy="33880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868352" y="1941195"/>
              <a:ext cx="9525" cy="33880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4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8" name="Rectangle 38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0892" y="6023610"/>
              <a:ext cx="82018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类比着记：OpenStack 支持虚拟机在集群上部署，Kubernetes（简称 K8s）支持容器在集群上部署。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07381" cy="909257"/>
            <a:chOff x="520446" y="342900"/>
            <a:chExt cx="830738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984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490" y="407194"/>
              <a:ext cx="24576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容器与 Kubernetes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0738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Kubernetes 组件：控制平面发号施令，节点上跑容器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5" name="c1-graph-1"/>
          <p:cNvGrpSpPr/>
          <p:nvPr/>
        </p:nvGrpSpPr>
        <p:grpSpPr>
          <a:xfrm>
            <a:off x="659130" y="1650682"/>
            <a:ext cx="5978843" cy="3959542"/>
            <a:chOff x="659130" y="1650682"/>
            <a:chExt cx="5978843" cy="3959542"/>
          </a:xfrm>
        </p:grpSpPr>
        <p:sp>
          <p:nvSpPr>
            <p:cNvPr id="7" name="Freeform 7"/>
            <p:cNvSpPr/>
            <p:nvPr/>
          </p:nvSpPr>
          <p:spPr>
            <a:xfrm>
              <a:off x="659130" y="1650682"/>
              <a:ext cx="3011805" cy="3959542"/>
            </a:xfrm>
            <a:custGeom>
              <a:avLst/>
              <a:gdLst/>
              <a:ahLst/>
              <a:cxnLst/>
              <a:rect l="l" t="t" r="r" b="b"/>
              <a:pathLst>
                <a:path w="3011805" h="3959542">
                  <a:moveTo>
                    <a:pt x="38100" y="0"/>
                  </a:moveTo>
                  <a:lnTo>
                    <a:pt x="3011805" y="0"/>
                  </a:lnTo>
                  <a:lnTo>
                    <a:pt x="3011805" y="3959542"/>
                  </a:lnTo>
                  <a:lnTo>
                    <a:pt x="0" y="3959542"/>
                  </a:lnTo>
                  <a:lnTo>
                    <a:pt x="0" y="114300"/>
                  </a:lnTo>
                </a:path>
              </a:pathLst>
            </a:custGeom>
            <a:noFill/>
            <a:ln w="17145">
              <a:solidFill>
                <a:srgbClr val="334E68"/>
              </a:solidFill>
              <a:custDash>
                <a:ds d="333333" sp="222222"/>
              </a:custDash>
            </a:ln>
          </p:spPr>
        </p:sp>
        <p:sp>
          <p:nvSpPr>
            <p:cNvPr id="8" name="Freeform 8"/>
            <p:cNvSpPr/>
            <p:nvPr/>
          </p:nvSpPr>
          <p:spPr>
            <a:xfrm>
              <a:off x="1428750" y="3695700"/>
              <a:ext cx="643890" cy="1051560"/>
            </a:xfrm>
            <a:custGeom>
              <a:avLst/>
              <a:gdLst/>
              <a:ahLst/>
              <a:cxnLst/>
              <a:rect l="l" t="t" r="r" b="b"/>
              <a:pathLst>
                <a:path w="643890" h="1051560">
                  <a:moveTo>
                    <a:pt x="643890" y="0"/>
                  </a:moveTo>
                  <a:lnTo>
                    <a:pt x="0" y="10515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378268" y="4722495"/>
              <a:ext cx="90488" cy="105727"/>
            </a:xfrm>
            <a:custGeom>
              <a:avLst/>
              <a:gdLst/>
              <a:ahLst/>
              <a:cxnLst/>
              <a:rect l="l" t="t" r="r" b="b"/>
              <a:pathLst>
                <a:path w="90488" h="105727">
                  <a:moveTo>
                    <a:pt x="0" y="105727"/>
                  </a:moveTo>
                  <a:lnTo>
                    <a:pt x="9525" y="0"/>
                  </a:lnTo>
                  <a:lnTo>
                    <a:pt x="90488" y="4953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2257425" y="3695700"/>
              <a:ext cx="644842" cy="1051560"/>
            </a:xfrm>
            <a:custGeom>
              <a:avLst/>
              <a:gdLst/>
              <a:ahLst/>
              <a:cxnLst/>
              <a:rect l="l" t="t" r="r" b="b"/>
              <a:pathLst>
                <a:path w="644842" h="1051560">
                  <a:moveTo>
                    <a:pt x="0" y="0"/>
                  </a:moveTo>
                  <a:lnTo>
                    <a:pt x="644842" y="10515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861310" y="4722495"/>
              <a:ext cx="90488" cy="105727"/>
            </a:xfrm>
            <a:custGeom>
              <a:avLst/>
              <a:gdLst/>
              <a:ahLst/>
              <a:cxnLst/>
              <a:rect l="l" t="t" r="r" b="b"/>
              <a:pathLst>
                <a:path w="90488" h="105727">
                  <a:moveTo>
                    <a:pt x="90488" y="105727"/>
                  </a:moveTo>
                  <a:lnTo>
                    <a:pt x="0" y="49530"/>
                  </a:lnTo>
                  <a:lnTo>
                    <a:pt x="8096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1538288" y="2764155"/>
              <a:ext cx="506730" cy="631508"/>
            </a:xfrm>
            <a:custGeom>
              <a:avLst/>
              <a:gdLst/>
              <a:ahLst/>
              <a:cxnLst/>
              <a:rect l="l" t="t" r="r" b="b"/>
              <a:pathLst>
                <a:path w="506730" h="631508">
                  <a:moveTo>
                    <a:pt x="506730" y="63150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478280" y="2689860"/>
              <a:ext cx="97155" cy="104775"/>
            </a:xfrm>
            <a:custGeom>
              <a:avLst/>
              <a:gdLst/>
              <a:ahLst/>
              <a:cxnLst/>
              <a:rect l="l" t="t" r="r" b="b"/>
              <a:pathLst>
                <a:path w="97155" h="104775">
                  <a:moveTo>
                    <a:pt x="0" y="0"/>
                  </a:moveTo>
                  <a:lnTo>
                    <a:pt x="97155" y="44768"/>
                  </a:lnTo>
                  <a:lnTo>
                    <a:pt x="22860" y="10477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2285048" y="2764155"/>
              <a:ext cx="506730" cy="631508"/>
            </a:xfrm>
            <a:custGeom>
              <a:avLst/>
              <a:gdLst/>
              <a:ahLst/>
              <a:cxnLst/>
              <a:rect l="l" t="t" r="r" b="b"/>
              <a:pathLst>
                <a:path w="506730" h="631508">
                  <a:moveTo>
                    <a:pt x="0" y="631508"/>
                  </a:moveTo>
                  <a:lnTo>
                    <a:pt x="50673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5" name="Freeform 15"/>
            <p:cNvSpPr/>
            <p:nvPr/>
          </p:nvSpPr>
          <p:spPr>
            <a:xfrm>
              <a:off x="2754630" y="2689860"/>
              <a:ext cx="97155" cy="104775"/>
            </a:xfrm>
            <a:custGeom>
              <a:avLst/>
              <a:gdLst/>
              <a:ahLst/>
              <a:cxnLst/>
              <a:rect l="l" t="t" r="r" b="b"/>
              <a:pathLst>
                <a:path w="97155" h="104775">
                  <a:moveTo>
                    <a:pt x="97155" y="0"/>
                  </a:moveTo>
                  <a:lnTo>
                    <a:pt x="74295" y="104775"/>
                  </a:lnTo>
                  <a:lnTo>
                    <a:pt x="0" y="4476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3740468" y="1993582"/>
              <a:ext cx="1445895" cy="308610"/>
            </a:xfrm>
            <a:custGeom>
              <a:avLst/>
              <a:gdLst/>
              <a:ahLst/>
              <a:cxnLst/>
              <a:rect l="l" t="t" r="r" b="b"/>
              <a:pathLst>
                <a:path w="1445895" h="308610">
                  <a:moveTo>
                    <a:pt x="0" y="308610"/>
                  </a:moveTo>
                  <a:lnTo>
                    <a:pt x="144589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5175885" y="1946910"/>
              <a:ext cx="103822" cy="92392"/>
            </a:xfrm>
            <a:custGeom>
              <a:avLst/>
              <a:gdLst/>
              <a:ahLst/>
              <a:cxnLst/>
              <a:rect l="l" t="t" r="r" b="b"/>
              <a:pathLst>
                <a:path w="103822" h="92392">
                  <a:moveTo>
                    <a:pt x="103822" y="26670"/>
                  </a:moveTo>
                  <a:lnTo>
                    <a:pt x="20003" y="92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2747010" y="3259455"/>
              <a:ext cx="1724025" cy="214312"/>
            </a:xfrm>
            <a:custGeom>
              <a:avLst/>
              <a:gdLst/>
              <a:ahLst/>
              <a:cxnLst/>
              <a:rect l="l" t="t" r="r" b="b"/>
              <a:pathLst>
                <a:path w="1724025" h="214312">
                  <a:moveTo>
                    <a:pt x="1724025" y="0"/>
                  </a:moveTo>
                  <a:lnTo>
                    <a:pt x="0" y="21431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652712" y="3426142"/>
              <a:ext cx="100012" cy="94298"/>
            </a:xfrm>
            <a:custGeom>
              <a:avLst/>
              <a:gdLst/>
              <a:ahLst/>
              <a:cxnLst/>
              <a:rect l="l" t="t" r="r" b="b"/>
              <a:pathLst>
                <a:path w="100012" h="94298">
                  <a:moveTo>
                    <a:pt x="0" y="59055"/>
                  </a:moveTo>
                  <a:lnTo>
                    <a:pt x="88583" y="0"/>
                  </a:lnTo>
                  <a:lnTo>
                    <a:pt x="100012" y="9429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2747010" y="3647122"/>
              <a:ext cx="1945005" cy="339090"/>
            </a:xfrm>
            <a:custGeom>
              <a:avLst/>
              <a:gdLst/>
              <a:ahLst/>
              <a:cxnLst/>
              <a:rect l="l" t="t" r="r" b="b"/>
              <a:pathLst>
                <a:path w="1945005" h="339090">
                  <a:moveTo>
                    <a:pt x="1945005" y="33909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2652712" y="3600450"/>
              <a:ext cx="101917" cy="93345"/>
            </a:xfrm>
            <a:custGeom>
              <a:avLst/>
              <a:gdLst/>
              <a:ahLst/>
              <a:cxnLst/>
              <a:rect l="l" t="t" r="r" b="b"/>
              <a:pathLst>
                <a:path w="101917" h="93345">
                  <a:moveTo>
                    <a:pt x="0" y="30480"/>
                  </a:moveTo>
                  <a:lnTo>
                    <a:pt x="101917" y="0"/>
                  </a:lnTo>
                  <a:lnTo>
                    <a:pt x="85725" y="9334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2568892" y="3736658"/>
              <a:ext cx="2667952" cy="1260158"/>
            </a:xfrm>
            <a:custGeom>
              <a:avLst/>
              <a:gdLst/>
              <a:ahLst/>
              <a:cxnLst/>
              <a:rect l="l" t="t" r="r" b="b"/>
              <a:pathLst>
                <a:path w="2667952" h="1260158">
                  <a:moveTo>
                    <a:pt x="2667952" y="126015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2483168" y="3693795"/>
              <a:ext cx="105728" cy="85725"/>
            </a:xfrm>
            <a:custGeom>
              <a:avLst/>
              <a:gdLst/>
              <a:ahLst/>
              <a:cxnLst/>
              <a:rect l="l" t="t" r="r" b="b"/>
              <a:pathLst>
                <a:path w="105728" h="85725">
                  <a:moveTo>
                    <a:pt x="0" y="1905"/>
                  </a:moveTo>
                  <a:lnTo>
                    <a:pt x="105728" y="0"/>
                  </a:lnTo>
                  <a:lnTo>
                    <a:pt x="65723" y="8572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1677352" y="3395662"/>
              <a:ext cx="975360" cy="300038"/>
            </a:xfrm>
            <a:prstGeom prst="roundRect">
              <a:avLst>
                <a:gd name="adj" fmla="val 31746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007745" y="4828222"/>
              <a:ext cx="557212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578418" y="4828222"/>
              <a:ext cx="930592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799148" y="2211705"/>
              <a:ext cx="975360" cy="478155"/>
            </a:xfrm>
            <a:prstGeom prst="roundRect">
              <a:avLst>
                <a:gd name="adj" fmla="val 19920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346960" y="2211705"/>
              <a:ext cx="1393508" cy="478155"/>
            </a:xfrm>
            <a:prstGeom prst="roundRect">
              <a:avLst>
                <a:gd name="adj" fmla="val 19920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279708" y="1710690"/>
              <a:ext cx="1051560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471035" y="2974658"/>
              <a:ext cx="2166938" cy="300038"/>
            </a:xfrm>
            <a:prstGeom prst="roundRect">
              <a:avLst>
                <a:gd name="adj" fmla="val 31746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4471035" y="3986212"/>
              <a:ext cx="2166938" cy="300038"/>
            </a:xfrm>
            <a:prstGeom prst="roundRect">
              <a:avLst>
                <a:gd name="adj" fmla="val 31746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4471035" y="4996815"/>
              <a:ext cx="2166938" cy="300038"/>
            </a:xfrm>
            <a:prstGeom prst="roundRect">
              <a:avLst>
                <a:gd name="adj" fmla="val 31746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857769" y="179117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控制平面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753578" y="3476149"/>
              <a:ext cx="8229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API Server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06968" y="4908709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etcd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664099" y="4908709"/>
              <a:ext cx="760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Scheduler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83089" y="2291239"/>
              <a:ext cx="8074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Controller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57936" y="2470309"/>
              <a:ext cx="657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Manager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416394" y="2291239"/>
              <a:ext cx="12555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Cloud Controller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715299" y="2470309"/>
              <a:ext cx="657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Manager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356041" y="1791176"/>
              <a:ext cx="8988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云服务商 API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510796" y="3055144"/>
              <a:ext cx="20864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节点：kubelet · kube-proxy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510796" y="4065746"/>
              <a:ext cx="20864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节点：kubelet · kube-proxy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510796" y="5076349"/>
              <a:ext cx="20864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节点：kubelet · kube-proxy</a:t>
              </a:r>
            </a:p>
          </p:txBody>
        </p:sp>
      </p:grpSp>
      <p:grpSp>
        <p:nvGrpSpPr>
          <p:cNvPr id="66" name="c2-kv-1"/>
          <p:cNvGrpSpPr/>
          <p:nvPr/>
        </p:nvGrpSpPr>
        <p:grpSpPr>
          <a:xfrm>
            <a:off x="7107364" y="1545907"/>
            <a:ext cx="4551236" cy="4427411"/>
            <a:chOff x="7107364" y="1545907"/>
            <a:chExt cx="4551236" cy="4427411"/>
          </a:xfrm>
        </p:grpSpPr>
        <p:sp>
          <p:nvSpPr>
            <p:cNvPr id="46" name="TextBox 46"/>
            <p:cNvSpPr txBox="1"/>
            <p:nvPr/>
          </p:nvSpPr>
          <p:spPr>
            <a:xfrm>
              <a:off x="7107364" y="1545907"/>
              <a:ext cx="9918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API Server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742807" y="1545907"/>
              <a:ext cx="27569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集群的唯一入口，所有组件都通过它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读写集群状态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114222" y="208883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107364" y="2198370"/>
              <a:ext cx="433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etcd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742807" y="2198370"/>
              <a:ext cx="27569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键值数据库，持久保存集群的全部状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态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114222" y="274034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107364" y="2849880"/>
              <a:ext cx="9162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Scheduler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742807" y="2849880"/>
              <a:ext cx="20659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给新建的 Pod 挑一个节点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114222" y="313848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107364" y="3247072"/>
              <a:ext cx="913829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Controller</a:t>
              </a:r>
              <a:br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Manager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742807" y="3247072"/>
              <a:ext cx="27569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各种控制器，不停把实际状态拉向期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望状态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114222" y="378999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107364" y="3898582"/>
              <a:ext cx="913829" cy="7707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Cloud</a:t>
              </a:r>
              <a:br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Controller</a:t>
              </a:r>
              <a:br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Manager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742807" y="3898582"/>
              <a:ext cx="23392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对接云服务商的 API（可选）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7114222" y="469582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107364" y="4804410"/>
              <a:ext cx="7006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kubelet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742807" y="4804410"/>
              <a:ext cx="25854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每个节点上的代理，负责按要求启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动、监视本节点的容器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7114222" y="534733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107364" y="5455920"/>
              <a:ext cx="10632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kube-proxy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742807" y="5455920"/>
              <a:ext cx="22425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每个节点上的网络代理，实现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Service 的转发和负载均衡</a:t>
              </a:r>
            </a:p>
          </p:txBody>
        </p:sp>
      </p:grpSp>
      <p:grpSp>
        <p:nvGrpSpPr>
          <p:cNvPr id="68" name="c2-text-2"/>
          <p:cNvGrpSpPr/>
          <p:nvPr/>
        </p:nvGrpSpPr>
        <p:grpSpPr>
          <a:xfrm>
            <a:off x="7108508" y="6114574"/>
            <a:ext cx="3343544" cy="220028"/>
            <a:chOff x="7108508" y="6114574"/>
            <a:chExt cx="3343544" cy="220028"/>
          </a:xfrm>
        </p:grpSpPr>
        <p:sp>
          <p:nvSpPr>
            <p:cNvPr id="67" name="TextBox 67"/>
            <p:cNvSpPr txBox="1"/>
            <p:nvPr/>
          </p:nvSpPr>
          <p:spPr>
            <a:xfrm>
              <a:off x="7108508" y="6114574"/>
              <a:ext cx="3343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图据原课件第62页；各组件的作用是本讲义补充的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529570" cy="909257"/>
            <a:chOff x="520446" y="342900"/>
            <a:chExt cx="952957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984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490" y="407194"/>
              <a:ext cx="24576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容器与 Kubernetes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52957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Pod 与工作负载：K8s 里调度的是 Pod，管 Pod 的是工作负载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4328160" cy="2558415"/>
            <a:chOff x="533400" y="1524000"/>
            <a:chExt cx="4328160" cy="25584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328160" cy="2558415"/>
            </a:xfrm>
            <a:prstGeom prst="roundRect">
              <a:avLst>
                <a:gd name="adj" fmla="val 52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9171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562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910" y="1769269"/>
              <a:ext cx="277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Pod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3625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K8s 中创建和管理的、最小的可部署计算单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元，是一个容器运行环境。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79463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731770"/>
              <a:ext cx="3491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 Pod 里可以有多个容器，它们共享同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一套上下文（网络、存储卷）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41566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352800"/>
              <a:ext cx="34347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一般不手动创建 Pod，而是由工作负载自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动创建或销毁</a:t>
              </a:r>
            </a:p>
          </p:txBody>
        </p:sp>
      </p:grpSp>
      <p:grpSp>
        <p:nvGrpSpPr>
          <p:cNvPr id="37" name="c1-graph-2"/>
          <p:cNvGrpSpPr/>
          <p:nvPr/>
        </p:nvGrpSpPr>
        <p:grpSpPr>
          <a:xfrm>
            <a:off x="1152525" y="4351020"/>
            <a:ext cx="3089909" cy="1785938"/>
            <a:chOff x="1152525" y="4351020"/>
            <a:chExt cx="3089909" cy="1785938"/>
          </a:xfrm>
        </p:grpSpPr>
        <p:sp>
          <p:nvSpPr>
            <p:cNvPr id="17" name="Freeform 17"/>
            <p:cNvSpPr/>
            <p:nvPr/>
          </p:nvSpPr>
          <p:spPr>
            <a:xfrm>
              <a:off x="2697480" y="4671060"/>
              <a:ext cx="9525" cy="258128"/>
            </a:xfrm>
            <a:custGeom>
              <a:avLst/>
              <a:gdLst/>
              <a:ahLst/>
              <a:cxnLst/>
              <a:rect l="l" t="t" r="r" b="b"/>
              <a:pathLst>
                <a:path w="9525" h="258128">
                  <a:moveTo>
                    <a:pt x="0" y="0"/>
                  </a:moveTo>
                  <a:lnTo>
                    <a:pt x="0" y="25812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649855" y="492918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726882" y="5344478"/>
              <a:ext cx="708660" cy="432435"/>
            </a:xfrm>
            <a:custGeom>
              <a:avLst/>
              <a:gdLst/>
              <a:ahLst/>
              <a:cxnLst/>
              <a:rect l="l" t="t" r="r" b="b"/>
              <a:pathLst>
                <a:path w="708660" h="432435">
                  <a:moveTo>
                    <a:pt x="708660" y="0"/>
                  </a:moveTo>
                  <a:lnTo>
                    <a:pt x="0" y="43243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644968" y="5735955"/>
              <a:ext cx="106680" cy="90488"/>
            </a:xfrm>
            <a:custGeom>
              <a:avLst/>
              <a:gdLst/>
              <a:ahLst/>
              <a:cxnLst/>
              <a:rect l="l" t="t" r="r" b="b"/>
              <a:pathLst>
                <a:path w="106680" h="90488">
                  <a:moveTo>
                    <a:pt x="0" y="90488"/>
                  </a:moveTo>
                  <a:lnTo>
                    <a:pt x="57150" y="0"/>
                  </a:lnTo>
                  <a:lnTo>
                    <a:pt x="106680" y="8191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2697480" y="5344478"/>
              <a:ext cx="9525" cy="377190"/>
            </a:xfrm>
            <a:custGeom>
              <a:avLst/>
              <a:gdLst/>
              <a:ahLst/>
              <a:cxnLst/>
              <a:rect l="l" t="t" r="r" b="b"/>
              <a:pathLst>
                <a:path w="9525" h="377190">
                  <a:moveTo>
                    <a:pt x="0" y="0"/>
                  </a:moveTo>
                  <a:lnTo>
                    <a:pt x="0" y="37719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2649855" y="572166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2959418" y="5344478"/>
              <a:ext cx="708660" cy="432435"/>
            </a:xfrm>
            <a:custGeom>
              <a:avLst/>
              <a:gdLst/>
              <a:ahLst/>
              <a:cxnLst/>
              <a:rect l="l" t="t" r="r" b="b"/>
              <a:pathLst>
                <a:path w="708660" h="432435">
                  <a:moveTo>
                    <a:pt x="0" y="0"/>
                  </a:moveTo>
                  <a:lnTo>
                    <a:pt x="708660" y="43243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3643312" y="5735955"/>
              <a:ext cx="106680" cy="90488"/>
            </a:xfrm>
            <a:custGeom>
              <a:avLst/>
              <a:gdLst/>
              <a:ahLst/>
              <a:cxnLst/>
              <a:rect l="l" t="t" r="r" b="b"/>
              <a:pathLst>
                <a:path w="106680" h="90488">
                  <a:moveTo>
                    <a:pt x="106680" y="90488"/>
                  </a:moveTo>
                  <a:lnTo>
                    <a:pt x="0" y="81915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2146935" y="4351020"/>
              <a:ext cx="1101090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183130" y="5024438"/>
              <a:ext cx="1028700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152525" y="5816918"/>
              <a:ext cx="492442" cy="320040"/>
            </a:xfrm>
            <a:prstGeom prst="roundRect">
              <a:avLst>
                <a:gd name="adj" fmla="val 29762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450782" y="5816918"/>
              <a:ext cx="492442" cy="320040"/>
            </a:xfrm>
            <a:prstGeom prst="roundRect">
              <a:avLst>
                <a:gd name="adj" fmla="val 29762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3749992" y="5816918"/>
              <a:ext cx="492442" cy="320040"/>
            </a:xfrm>
            <a:prstGeom prst="roundRect">
              <a:avLst>
                <a:gd name="adj" fmla="val 29762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226550" y="4435792"/>
              <a:ext cx="9418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Deployment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262530" y="5109210"/>
              <a:ext cx="8698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ReplicaSet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50549" y="5901690"/>
              <a:ext cx="2973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Pod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548806" y="5901690"/>
              <a:ext cx="2973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Pod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847064" y="5901690"/>
              <a:ext cx="2973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Pod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534602" y="4754880"/>
              <a:ext cx="324802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560599" y="478964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创建</a:t>
              </a:r>
            </a:p>
          </p:txBody>
        </p:sp>
      </p:grpSp>
      <p:grpSp>
        <p:nvGrpSpPr>
          <p:cNvPr id="63" name="c2-table-1"/>
          <p:cNvGrpSpPr/>
          <p:nvPr/>
        </p:nvGrpSpPr>
        <p:grpSpPr>
          <a:xfrm>
            <a:off x="5160645" y="1524000"/>
            <a:ext cx="6497955" cy="3800952"/>
            <a:chOff x="5160645" y="1524000"/>
            <a:chExt cx="6497955" cy="3800952"/>
          </a:xfrm>
        </p:grpSpPr>
        <p:sp>
          <p:nvSpPr>
            <p:cNvPr id="38" name="Rectangle 38"/>
            <p:cNvSpPr/>
            <p:nvPr/>
          </p:nvSpPr>
          <p:spPr>
            <a:xfrm>
              <a:off x="5166360" y="1524000"/>
              <a:ext cx="6492240" cy="48768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728335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工作负载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67700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用途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540365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273040" y="2150745"/>
              <a:ext cx="1355884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Deployment 和</a:t>
              </a:r>
              <a:br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ReplicaSet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220902" y="2150745"/>
              <a:ext cx="229171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无状态应用，管理多个 Pod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副本，每个副本都等价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947910" y="2150745"/>
              <a:ext cx="14820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网页前端、API 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务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166360" y="276129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166360" y="2766060"/>
              <a:ext cx="649224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273040" y="3038475"/>
              <a:ext cx="1257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StatefulSet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220902" y="2905125"/>
              <a:ext cx="2301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以某种方式跟踪应用状态的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一组 Pod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947910" y="2905125"/>
              <a:ext cx="1348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数据库、消息队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166360" y="351567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273040" y="3792855"/>
              <a:ext cx="11209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DaemonSet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220902" y="3659505"/>
              <a:ext cx="2301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提供节点本地支撑设施，每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个节点各跑一个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947910" y="3659505"/>
              <a:ext cx="1348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日志收集、监控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代理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166360" y="427005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166360" y="4274820"/>
              <a:ext cx="649224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273040" y="4547235"/>
              <a:ext cx="15325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Job 和 CronJob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220902" y="4413885"/>
              <a:ext cx="2301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一次性任务和定期运行的任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务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947910" y="4413885"/>
              <a:ext cx="1348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数据迁移、每晚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备份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166360" y="1524000"/>
              <a:ext cx="6492240" cy="3505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7109460" y="1524000"/>
              <a:ext cx="9525" cy="3505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9836468" y="1524000"/>
              <a:ext cx="9525" cy="3505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160645" y="510492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“例子”一列是补充的典型用法</a:t>
              </a:r>
            </a:p>
          </p:txBody>
        </p:sp>
      </p:grpSp>
      <p:grpSp>
        <p:nvGrpSpPr>
          <p:cNvPr id="70" name="c2-callout-2"/>
          <p:cNvGrpSpPr/>
          <p:nvPr/>
        </p:nvGrpSpPr>
        <p:grpSpPr>
          <a:xfrm>
            <a:off x="5166360" y="5471160"/>
            <a:ext cx="6492240" cy="782955"/>
            <a:chOff x="5166360" y="5471160"/>
            <a:chExt cx="6492240" cy="782955"/>
          </a:xfrm>
        </p:grpSpPr>
        <p:sp>
          <p:nvSpPr>
            <p:cNvPr id="64" name="Rectangle 64"/>
            <p:cNvSpPr/>
            <p:nvPr/>
          </p:nvSpPr>
          <p:spPr>
            <a:xfrm>
              <a:off x="5166360" y="5471160"/>
              <a:ext cx="649224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5371148" y="5762625"/>
              <a:ext cx="200026" cy="200025"/>
              <a:chOff x="5371148" y="5762625"/>
              <a:chExt cx="200026" cy="200025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5371148" y="576262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5410886" y="580707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5445602" y="591820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5673090" y="5619750"/>
              <a:ext cx="54063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Deployment 用于无状态应用，这一点和后面的“云上优先无状态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设计”呼应：副本全都等价，才能随便增删。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32701" cy="909257"/>
            <a:chOff x="520446" y="342900"/>
            <a:chExt cx="703270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984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490" y="407194"/>
              <a:ext cx="24576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容器与 Kubernetes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3270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例：用一个 Deployment 启动三个 nginx Pod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ode-1"/>
          <p:cNvGrpSpPr/>
          <p:nvPr/>
        </p:nvGrpSpPr>
        <p:grpSpPr>
          <a:xfrm>
            <a:off x="533400" y="1524000"/>
            <a:ext cx="6492240" cy="4057650"/>
            <a:chOff x="533400" y="1524000"/>
            <a:chExt cx="6492240" cy="40576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057650"/>
            </a:xfrm>
            <a:prstGeom prst="roundRect">
              <a:avLst>
                <a:gd name="adj" fmla="val 234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5613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nginx-deployment.yaml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4195"/>
              <a:ext cx="6454140" cy="16954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590925"/>
              <a:ext cx="6454140" cy="16954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52450" y="4267200"/>
              <a:ext cx="6454140" cy="16954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988" y="1936194"/>
              <a:ext cx="3495421" cy="35742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35"/>
                </a:lnSpc>
              </a:pP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apiVersion: apps/v1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版本号，K8s 固定写法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kind: Deployment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负载类型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metadata:       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Deployment 的元数据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name: nginx-deployment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labels: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app: nginx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spec:           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Deployment 要达到的状态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replicas: 3   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副本数量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selector:     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怎样找到要管理的 Pod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matchLabels: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app: nginx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找带 app=nginx 标签的 Pod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template:     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Pod 模板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metadata: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labels: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app: nginx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新建的 Pod 都带这个标签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spec:       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Pod 的目标状态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containers: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每个 Pod 里开哪些容器</a:t>
              </a:r>
            </a:p>
            <a:p>
              <a:pPr algn="l">
                <a:lnSpc>
                  <a:spcPts val="1335"/>
                </a:lnSpc>
              </a:pP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- name: nginx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image: nginx:1.14.2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使用的 Docker 镜像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ports:</a:t>
              </a:r>
            </a:p>
            <a:p>
              <a:pPr algn="l">
                <a:lnSpc>
                  <a:spcPts val="1335"/>
                </a:lnSpc>
              </a:pP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- containerPort: 80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暴露容器的 80 端口</a:t>
              </a:r>
            </a:p>
          </p:txBody>
        </p:sp>
      </p:grpSp>
      <p:grpSp>
        <p:nvGrpSpPr>
          <p:cNvPr id="27" name="c2-steps-1"/>
          <p:cNvGrpSpPr/>
          <p:nvPr/>
        </p:nvGrpSpPr>
        <p:grpSpPr>
          <a:xfrm>
            <a:off x="7330440" y="1533525"/>
            <a:ext cx="4058793" cy="2112931"/>
            <a:chOff x="7330440" y="1533525"/>
            <a:chExt cx="4058793" cy="2112931"/>
          </a:xfrm>
        </p:grpSpPr>
        <p:sp>
          <p:nvSpPr>
            <p:cNvPr id="14" name="Rectangle 14"/>
            <p:cNvSpPr/>
            <p:nvPr/>
          </p:nvSpPr>
          <p:spPr>
            <a:xfrm>
              <a:off x="7463790" y="1676400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7330440" y="153352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2406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330440" y="218408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42406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330440" y="283464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42406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41920" y="1567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期望状态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43063" y="1861661"/>
              <a:ext cx="29744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spec.replicas: 3，要一直有 3 个 Pod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41920" y="2218372"/>
              <a:ext cx="10422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怎么认 Pod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43063" y="2512219"/>
              <a:ext cx="35861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selector 按标签 app=nginx 挑出归它管的 Pod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41920" y="2868930"/>
              <a:ext cx="12442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Pod 长什么样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43063" y="3162776"/>
              <a:ext cx="364617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template 描述新 Pod：标签必须和 selector 对得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上，里面跑 nginx:1.14.2 镜像</a:t>
              </a:r>
            </a:p>
          </p:txBody>
        </p:sp>
      </p:grpSp>
      <p:grpSp>
        <p:nvGrpSpPr>
          <p:cNvPr id="33" name="c2-card-2"/>
          <p:cNvGrpSpPr/>
          <p:nvPr/>
        </p:nvGrpSpPr>
        <p:grpSpPr>
          <a:xfrm>
            <a:off x="7330440" y="3825240"/>
            <a:ext cx="4328160" cy="1756410"/>
            <a:chOff x="7330440" y="3825240"/>
            <a:chExt cx="4328160" cy="1756410"/>
          </a:xfrm>
        </p:grpSpPr>
        <p:sp>
          <p:nvSpPr>
            <p:cNvPr id="28" name="Rectangle 28"/>
            <p:cNvSpPr/>
            <p:nvPr/>
          </p:nvSpPr>
          <p:spPr>
            <a:xfrm>
              <a:off x="7330440" y="3825240"/>
              <a:ext cx="4328160" cy="1756410"/>
            </a:xfrm>
            <a:prstGeom prst="roundRect">
              <a:avLst>
                <a:gd name="adj" fmla="val 75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39965" y="3958590"/>
              <a:ext cx="47625" cy="148971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578090" y="403479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68298" y="407050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70470" y="4411980"/>
              <a:ext cx="37109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template 里的标签和 selector 不一致时，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Deployment 认不出自己建的 Pod，K8s 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拒绝这个配置。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4" name="TextBox 34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63229" cy="909257"/>
            <a:chOff x="520446" y="342900"/>
            <a:chExt cx="896322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6984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490" y="407194"/>
              <a:ext cx="24576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容器与 Kubernetes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6322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kubectl apply 之后：三个副本一直在，升级时一个一个换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1644015"/>
            <a:chOff x="533400" y="1524000"/>
            <a:chExt cx="5626418" cy="16440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644015"/>
            </a:xfrm>
            <a:prstGeom prst="roundRect">
              <a:avLst>
                <a:gd name="adj" fmla="val 579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创建并查看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480"/>
              <a:ext cx="4410075" cy="11477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kubectl apply -f nginx-deployment.yaml</a:t>
              </a:r>
              <a:br/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kubectl get pods --show-labels</a:t>
              </a:r>
              <a:br/>
              <a:r>
                <a:rPr lang="zh-CN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NAME                                READY  STATUS   AGE  LABELS</a:t>
              </a:r>
              <a:br/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nginx-deployment-75675f5897-7ci7o   1/1    Running  18s  app=nginx,...</a:t>
              </a:r>
              <a:br/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nginx-deployment-75675f5897-kzszj   1/1    Running  18s  app=nginx,...</a:t>
              </a:r>
              <a:br/>
              <a:r>
                <a:rPr lang="en-US" sz="9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nginx-deployment-75675f5897-qqcnn   1/1    Running  18s  app=nginx,...</a:t>
              </a:r>
            </a:p>
          </p:txBody>
        </p:sp>
      </p:grpSp>
      <p:grpSp>
        <p:nvGrpSpPr>
          <p:cNvPr id="12" name="c1-text-2"/>
          <p:cNvGrpSpPr/>
          <p:nvPr/>
        </p:nvGrpSpPr>
        <p:grpSpPr>
          <a:xfrm>
            <a:off x="526923" y="3379946"/>
            <a:ext cx="5369306" cy="752284"/>
            <a:chOff x="526923" y="3379946"/>
            <a:chExt cx="5369306" cy="752284"/>
          </a:xfrm>
        </p:grpSpPr>
        <p:sp>
          <p:nvSpPr>
            <p:cNvPr id="11" name="TextBox 11"/>
            <p:cNvSpPr txBox="1"/>
            <p:nvPr/>
          </p:nvSpPr>
          <p:spPr>
            <a:xfrm>
              <a:off x="526923" y="3379946"/>
              <a:ext cx="5369306" cy="7522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Deployment 创建的 ReplicaSet 启动了三个带 app=nginx 标签的 Pod，并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保证以后总有三个这样的 Pod：删掉一个，马上补一个新的。输出据原课件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第67页，省略了 RESTARTS 列。</a:t>
              </a:r>
            </a:p>
          </p:txBody>
        </p:sp>
      </p:grpSp>
      <p:grpSp>
        <p:nvGrpSpPr>
          <p:cNvPr id="19" name="c1-callout-3"/>
          <p:cNvGrpSpPr/>
          <p:nvPr/>
        </p:nvGrpSpPr>
        <p:grpSpPr>
          <a:xfrm>
            <a:off x="533400" y="4271962"/>
            <a:ext cx="5626418" cy="1461135"/>
            <a:chOff x="533400" y="4271962"/>
            <a:chExt cx="5626418" cy="1461135"/>
          </a:xfrm>
        </p:grpSpPr>
        <p:sp>
          <p:nvSpPr>
            <p:cNvPr id="13" name="Rectangle 13"/>
            <p:cNvSpPr/>
            <p:nvPr/>
          </p:nvSpPr>
          <p:spPr>
            <a:xfrm>
              <a:off x="533400" y="4271962"/>
              <a:ext cx="5626418" cy="1461135"/>
            </a:xfrm>
            <a:prstGeom prst="roundRect">
              <a:avLst>
                <a:gd name="adj" fmla="val 782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4901565"/>
              <a:ext cx="200026" cy="200026"/>
              <a:chOff x="738188" y="4901565"/>
              <a:chExt cx="200026" cy="20002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8188" y="490156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38200" y="496824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27088" y="500157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130" y="4758690"/>
              <a:ext cx="46634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image 改成新版本再 apply 一次，就触发右边的滚动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更新；kubectl rollout undo 可以回滚到上一版。</a:t>
              </a:r>
            </a:p>
          </p:txBody>
        </p:sp>
      </p:grpSp>
      <p:grpSp>
        <p:nvGrpSpPr>
          <p:cNvPr id="79" name="c2-cells-1"/>
          <p:cNvGrpSpPr/>
          <p:nvPr/>
        </p:nvGrpSpPr>
        <p:grpSpPr>
          <a:xfrm>
            <a:off x="6458902" y="1524000"/>
            <a:ext cx="4111943" cy="3295650"/>
            <a:chOff x="6458902" y="1524000"/>
            <a:chExt cx="4111943" cy="3295650"/>
          </a:xfrm>
        </p:grpSpPr>
        <p:sp>
          <p:nvSpPr>
            <p:cNvPr id="20" name="TextBox 20"/>
            <p:cNvSpPr txBox="1"/>
            <p:nvPr/>
          </p:nvSpPr>
          <p:spPr>
            <a:xfrm>
              <a:off x="6458902" y="161591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初始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882765" y="1524000"/>
              <a:ext cx="922020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50988" y="161591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804785" y="1524000"/>
              <a:ext cx="922020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173008" y="161591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v1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726805" y="1524000"/>
              <a:ext cx="922020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095028" y="161591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v1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648825" y="1524000"/>
              <a:ext cx="922020" cy="32385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58902" y="21112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①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882765" y="2019300"/>
              <a:ext cx="922020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250988" y="211121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v1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804785" y="2019300"/>
              <a:ext cx="922020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173008" y="211121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v1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726805" y="2019300"/>
              <a:ext cx="922020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095028" y="211121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v1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648825" y="2019300"/>
              <a:ext cx="922020" cy="32385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017048" y="211121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58902" y="26065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②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882765" y="2514600"/>
              <a:ext cx="922020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250988" y="260651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v1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804785" y="2514600"/>
              <a:ext cx="922020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173008" y="260651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v1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726805" y="2514600"/>
              <a:ext cx="922020" cy="32385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095028" y="260651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v2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648825" y="2514600"/>
              <a:ext cx="922020" cy="32385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458902" y="31018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③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882765" y="3009900"/>
              <a:ext cx="922020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250988" y="310181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v1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804785" y="3009900"/>
              <a:ext cx="922020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173008" y="310181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v1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726805" y="3009900"/>
              <a:ext cx="922020" cy="32385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095028" y="310181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v2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648825" y="3009900"/>
              <a:ext cx="922020" cy="32385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017048" y="310181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58902" y="35971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④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882765" y="3505200"/>
              <a:ext cx="922020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250988" y="359711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v1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804785" y="3505200"/>
              <a:ext cx="922020" cy="32385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173008" y="359711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v2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8726805" y="3505200"/>
              <a:ext cx="922020" cy="32385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095028" y="359711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v2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9648825" y="3505200"/>
              <a:ext cx="922020" cy="32385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458902" y="40924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⑤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882765" y="4000500"/>
              <a:ext cx="922020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250988" y="409241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v1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804785" y="4000500"/>
              <a:ext cx="922020" cy="32385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173008" y="409241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v2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8726805" y="4000500"/>
              <a:ext cx="922020" cy="32385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095028" y="409241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v2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9648825" y="4000500"/>
              <a:ext cx="922020" cy="32385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0017048" y="409241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v2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458902" y="45877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⑥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6882765" y="4495800"/>
              <a:ext cx="922020" cy="32385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250988" y="458771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v2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7804785" y="4495800"/>
              <a:ext cx="922020" cy="32385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173008" y="458771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v2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8726805" y="4495800"/>
              <a:ext cx="922020" cy="32385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095028" y="458771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v2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9648825" y="4495800"/>
              <a:ext cx="922020" cy="32385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334E68"/>
              </a:solidFill>
            </a:ln>
          </p:spPr>
        </p:sp>
      </p:grpSp>
      <p:grpSp>
        <p:nvGrpSpPr>
          <p:cNvPr id="81" name="c2-text-2"/>
          <p:cNvGrpSpPr/>
          <p:nvPr/>
        </p:nvGrpSpPr>
        <p:grpSpPr>
          <a:xfrm>
            <a:off x="6458141" y="5031581"/>
            <a:ext cx="4840986" cy="752284"/>
            <a:chOff x="6458141" y="5031581"/>
            <a:chExt cx="4840986" cy="752284"/>
          </a:xfrm>
        </p:grpSpPr>
        <p:sp>
          <p:nvSpPr>
            <p:cNvPr id="80" name="TextBox 80"/>
            <p:cNvSpPr txBox="1"/>
            <p:nvPr/>
          </p:nvSpPr>
          <p:spPr>
            <a:xfrm>
              <a:off x="6458141" y="5031581"/>
              <a:ext cx="4840986" cy="7522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默认 maxSurge = maxUnavailable = 25%。3 个副本时多开 ⌈0.75⌉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1 个、最多少 ⌊0.75⌋ = 0 个：先起一个 v2（橙），就绪后删一个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v1，Pod 总数始终在 3～4 之间，可用的一直是 3 个。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469130" cy="3351847"/>
            <a:chOff x="667512" y="1835468"/>
            <a:chExt cx="4469130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网络与存储虚拟化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让网络和硬盘也能按需分配，并跟着虚拟机走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4581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原课件第68–88页 网络虚拟化与云存储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5851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VLAN 与 Overlay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409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存算分离与 SAN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文件、块、对象三种存储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98215" cy="909257"/>
            <a:chOff x="520446" y="342900"/>
            <a:chExt cx="589821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网络与存储虚拟化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9821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网络虚拟化：先看 VLAN 为什么不够用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409072" cy="264033"/>
            <a:chOff x="526542" y="1545907"/>
            <a:chExt cx="10409072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4090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虚拟机、容器和它们的编排基本实现了“计算即服务”。网络连着数据中心的所有节点，“网络即服务”同样需要，这靠网络虚拟化。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5410200" cy="1443038"/>
            <a:chOff x="533400" y="1928812"/>
            <a:chExt cx="5410200" cy="144303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8190" y="2115502"/>
              <a:ext cx="3191828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50693" y="2148364"/>
              <a:ext cx="32058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VLAN（Virtual Local Area Network，虚拟局域网）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1332" y="2459355"/>
              <a:ext cx="48143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在二层网络（数据链路层）上划分和隔离广播域的技术：同一台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交换机上的端口可以分属不同的虚拟局域网，彼此的广播互不可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见。</a:t>
              </a:r>
            </a:p>
          </p:txBody>
        </p:sp>
      </p:grpSp>
      <p:grpSp>
        <p:nvGrpSpPr>
          <p:cNvPr id="30" name="c1-cells-2"/>
          <p:cNvGrpSpPr/>
          <p:nvPr/>
        </p:nvGrpSpPr>
        <p:grpSpPr>
          <a:xfrm>
            <a:off x="528638" y="3541395"/>
            <a:ext cx="5414962" cy="679609"/>
            <a:chOff x="528638" y="3541395"/>
            <a:chExt cx="5414962" cy="679609"/>
          </a:xfrm>
        </p:grpSpPr>
        <p:sp>
          <p:nvSpPr>
            <p:cNvPr id="15" name="TextBox 15"/>
            <p:cNvSpPr txBox="1"/>
            <p:nvPr/>
          </p:nvSpPr>
          <p:spPr>
            <a:xfrm>
              <a:off x="528638" y="3669982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以太网帧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123950" y="3541395"/>
              <a:ext cx="80295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255486" y="3669982"/>
              <a:ext cx="5408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目的 MAC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926908" y="3541395"/>
              <a:ext cx="80295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119023" y="3669982"/>
              <a:ext cx="4196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 MAC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730818" y="3541395"/>
              <a:ext cx="802958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837878" y="3669982"/>
              <a:ext cx="5878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VLAN 标签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533775" y="3541395"/>
              <a:ext cx="80295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809809" y="3669982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336732" y="3541395"/>
              <a:ext cx="80295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612767" y="3669982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140642" y="3541395"/>
              <a:ext cx="80295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415724" y="3669982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校验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3093720" y="392906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694642" y="4059079"/>
              <a:ext cx="8743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含 12 位 VLAN ID</a:t>
              </a:r>
            </a:p>
          </p:txBody>
        </p:sp>
      </p:grpSp>
      <p:grpSp>
        <p:nvGrpSpPr>
          <p:cNvPr id="50" name="c1-cells-3"/>
          <p:cNvGrpSpPr/>
          <p:nvPr/>
        </p:nvGrpSpPr>
        <p:grpSpPr>
          <a:xfrm>
            <a:off x="528638" y="4390549"/>
            <a:ext cx="5414962" cy="610077"/>
            <a:chOff x="528638" y="4390549"/>
            <a:chExt cx="5414962" cy="610077"/>
          </a:xfrm>
        </p:grpSpPr>
        <p:sp>
          <p:nvSpPr>
            <p:cNvPr id="31" name="TextBox 31"/>
            <p:cNvSpPr txBox="1"/>
            <p:nvPr/>
          </p:nvSpPr>
          <p:spPr>
            <a:xfrm>
              <a:off x="528638" y="476059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交换机端口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238250" y="4632008"/>
              <a:ext cx="588645" cy="368618"/>
            </a:xfrm>
            <a:prstGeom prst="rect">
              <a:avLst/>
            </a:prstGeom>
            <a:solidFill>
              <a:srgbClr val="334E68"/>
            </a:solidFill>
            <a:ln w="15240">
              <a:solidFill>
                <a:srgbClr val="334E6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492826" y="476059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826895" y="4632008"/>
              <a:ext cx="588645" cy="368618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080518" y="476059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2414588" y="4632008"/>
              <a:ext cx="588645" cy="368618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669163" y="476059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002280" y="4632008"/>
              <a:ext cx="588645" cy="368618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256856" y="476059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590925" y="4632008"/>
              <a:ext cx="588645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845501" y="476059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179570" y="4632008"/>
              <a:ext cx="588645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433193" y="476059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4767262" y="4632008"/>
              <a:ext cx="588645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021838" y="476059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54955" y="4632008"/>
              <a:ext cx="588645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609531" y="476059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362227" y="4390549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发广播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1494472" y="453675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52" name="c1-text-4"/>
          <p:cNvGrpSpPr/>
          <p:nvPr/>
        </p:nvGrpSpPr>
        <p:grpSpPr>
          <a:xfrm>
            <a:off x="527685" y="5189696"/>
            <a:ext cx="5139182" cy="441008"/>
            <a:chOff x="527685" y="5189696"/>
            <a:chExt cx="5139182" cy="441008"/>
          </a:xfrm>
        </p:grpSpPr>
        <p:sp>
          <p:nvSpPr>
            <p:cNvPr id="51" name="TextBox 51"/>
            <p:cNvSpPr txBox="1"/>
            <p:nvPr/>
          </p:nvSpPr>
          <p:spPr>
            <a:xfrm>
              <a:off x="527685" y="5189696"/>
              <a:ext cx="5139182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例：端口 1～4 划入 VLAN 10，5～8 划入 VLAN 20（绿格）。端口 1 的广播只送到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2～4，同一台交换机上的 5～8 收不到。</a:t>
              </a:r>
            </a:p>
          </p:txBody>
        </p:sp>
      </p:grpSp>
      <p:grpSp>
        <p:nvGrpSpPr>
          <p:cNvPr id="61" name="c2-card-1"/>
          <p:cNvGrpSpPr/>
          <p:nvPr/>
        </p:nvGrpSpPr>
        <p:grpSpPr>
          <a:xfrm>
            <a:off x="6248400" y="1928812"/>
            <a:ext cx="5410200" cy="1743075"/>
            <a:chOff x="6248400" y="1928812"/>
            <a:chExt cx="5410200" cy="1743075"/>
          </a:xfrm>
        </p:grpSpPr>
        <p:sp>
          <p:nvSpPr>
            <p:cNvPr id="53" name="Rectangle 53"/>
            <p:cNvSpPr/>
            <p:nvPr/>
          </p:nvSpPr>
          <p:spPr>
            <a:xfrm>
              <a:off x="6248400" y="1928812"/>
              <a:ext cx="5410200" cy="1743075"/>
            </a:xfrm>
            <a:prstGeom prst="roundRect">
              <a:avLst>
                <a:gd name="adj" fmla="val 76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257925" y="2062162"/>
              <a:ext cx="47625" cy="147637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473190" y="2115502"/>
              <a:ext cx="2068830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06175" y="2148364"/>
              <a:ext cx="20028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云上一般不用 VLAN 做网络虚拟化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481762" y="251555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637782" y="2459355"/>
              <a:ext cx="455714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VLAN 只在大二层网络里有效，而云数据中心规模大，一般用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三层网络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481762" y="307276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637782" y="3016568"/>
              <a:ext cx="449713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VLAN ID 只有 12 位，去掉两个保留值只能分 4094 个网络，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不够给成千上万个租户各分一个（补充）</a:t>
              </a:r>
            </a:p>
          </p:txBody>
        </p:sp>
      </p:grpSp>
      <p:grpSp>
        <p:nvGrpSpPr>
          <p:cNvPr id="68" name="c2-callout-2"/>
          <p:cNvGrpSpPr/>
          <p:nvPr/>
        </p:nvGrpSpPr>
        <p:grpSpPr>
          <a:xfrm>
            <a:off x="6248400" y="3841432"/>
            <a:ext cx="5410200" cy="729615"/>
            <a:chOff x="6248400" y="3841432"/>
            <a:chExt cx="5410200" cy="729615"/>
          </a:xfrm>
        </p:grpSpPr>
        <p:sp>
          <p:nvSpPr>
            <p:cNvPr id="62" name="Rectangle 62"/>
            <p:cNvSpPr/>
            <p:nvPr/>
          </p:nvSpPr>
          <p:spPr>
            <a:xfrm>
              <a:off x="6248400" y="3841432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6453188" y="4106228"/>
              <a:ext cx="200026" cy="200025"/>
              <a:chOff x="6453188" y="4106228"/>
              <a:chExt cx="200026" cy="200025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6453188" y="41062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492926" y="41506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527642" y="42618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6755892" y="3988118"/>
              <a:ext cx="449713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后面的 Overlay 技术（如 VXLAN）把网络编号扩到 24 位，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约 1677 万个，同时能跨三层网络。</a:t>
              </a:r>
            </a:p>
          </p:txBody>
        </p:sp>
      </p:grpSp>
      <p:grpSp>
        <p:nvGrpSpPr>
          <p:cNvPr id="88" name="c2-table-3"/>
          <p:cNvGrpSpPr/>
          <p:nvPr/>
        </p:nvGrpSpPr>
        <p:grpSpPr>
          <a:xfrm>
            <a:off x="6248400" y="4740592"/>
            <a:ext cx="5410200" cy="1600200"/>
            <a:chOff x="6248400" y="4740592"/>
            <a:chExt cx="5410200" cy="1600200"/>
          </a:xfrm>
        </p:grpSpPr>
        <p:sp>
          <p:nvSpPr>
            <p:cNvPr id="69" name="Rectangle 69"/>
            <p:cNvSpPr/>
            <p:nvPr/>
          </p:nvSpPr>
          <p:spPr>
            <a:xfrm>
              <a:off x="6248400" y="4740592"/>
              <a:ext cx="5410200" cy="40005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005358" y="486203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618051" y="4862036"/>
              <a:ext cx="379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VLAN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363703" y="4862036"/>
              <a:ext cx="471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VXLAN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345555" y="526208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网络编号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621123" y="5262086"/>
              <a:ext cx="373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 位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412776" y="5262086"/>
              <a:ext cx="373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 位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6248400" y="553593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6248400" y="5540692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345555" y="566213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可分网络数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636201" y="566213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4094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231846" y="5662136"/>
              <a:ext cx="7351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1677 万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6248400" y="59359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345555" y="606218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能否跨三层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651278" y="606218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061443" y="6062186"/>
              <a:ext cx="10759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能（UDP 封装）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6248400" y="4740592"/>
              <a:ext cx="5410200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6" name="Rectangle 86"/>
            <p:cNvSpPr/>
            <p:nvPr/>
          </p:nvSpPr>
          <p:spPr>
            <a:xfrm>
              <a:off x="8069580" y="4740592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9536430" y="4740592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9" name="TextBox 8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网络与存储虚拟化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三层路由挡住了虚拟机迁移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7" name="c1-graph-1"/>
          <p:cNvGrpSpPr/>
          <p:nvPr/>
        </p:nvGrpSpPr>
        <p:grpSpPr>
          <a:xfrm>
            <a:off x="695896" y="1750695"/>
            <a:ext cx="5019104" cy="4288536"/>
            <a:chOff x="695896" y="1750695"/>
            <a:chExt cx="5019104" cy="4288536"/>
          </a:xfrm>
        </p:grpSpPr>
        <p:sp>
          <p:nvSpPr>
            <p:cNvPr id="7" name="Freeform 7"/>
            <p:cNvSpPr/>
            <p:nvPr/>
          </p:nvSpPr>
          <p:spPr>
            <a:xfrm>
              <a:off x="1461135" y="2070735"/>
              <a:ext cx="902017" cy="1035368"/>
            </a:xfrm>
            <a:custGeom>
              <a:avLst/>
              <a:gdLst/>
              <a:ahLst/>
              <a:cxnLst/>
              <a:rect l="l" t="t" r="r" b="b"/>
              <a:pathLst>
                <a:path w="902017" h="1035368">
                  <a:moveTo>
                    <a:pt x="902017" y="0"/>
                  </a:moveTo>
                  <a:lnTo>
                    <a:pt x="0" y="103536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522220" y="2070735"/>
              <a:ext cx="129540" cy="1035368"/>
            </a:xfrm>
            <a:custGeom>
              <a:avLst/>
              <a:gdLst/>
              <a:ahLst/>
              <a:cxnLst/>
              <a:rect l="l" t="t" r="r" b="b"/>
              <a:pathLst>
                <a:path w="129540" h="1035368">
                  <a:moveTo>
                    <a:pt x="0" y="0"/>
                  </a:moveTo>
                  <a:lnTo>
                    <a:pt x="129540" y="103536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682240" y="2070735"/>
              <a:ext cx="1160145" cy="1035368"/>
            </a:xfrm>
            <a:custGeom>
              <a:avLst/>
              <a:gdLst/>
              <a:ahLst/>
              <a:cxnLst/>
              <a:rect l="l" t="t" r="r" b="b"/>
              <a:pathLst>
                <a:path w="1160145" h="1035368">
                  <a:moveTo>
                    <a:pt x="0" y="0"/>
                  </a:moveTo>
                  <a:lnTo>
                    <a:pt x="1160145" y="103536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769870" y="2037398"/>
              <a:ext cx="2335530" cy="1102995"/>
            </a:xfrm>
            <a:custGeom>
              <a:avLst/>
              <a:gdLst/>
              <a:ahLst/>
              <a:cxnLst/>
              <a:rect l="l" t="t" r="r" b="b"/>
              <a:pathLst>
                <a:path w="2335530" h="1102995">
                  <a:moveTo>
                    <a:pt x="0" y="0"/>
                  </a:moveTo>
                  <a:lnTo>
                    <a:pt x="2335530" y="11029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587818" y="2037398"/>
              <a:ext cx="2336482" cy="1102995"/>
            </a:xfrm>
            <a:custGeom>
              <a:avLst/>
              <a:gdLst/>
              <a:ahLst/>
              <a:cxnLst/>
              <a:rect l="l" t="t" r="r" b="b"/>
              <a:pathLst>
                <a:path w="2336482" h="1102995">
                  <a:moveTo>
                    <a:pt x="2336482" y="0"/>
                  </a:moveTo>
                  <a:lnTo>
                    <a:pt x="0" y="11029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850832" y="2070735"/>
              <a:ext cx="1160145" cy="1035368"/>
            </a:xfrm>
            <a:custGeom>
              <a:avLst/>
              <a:gdLst/>
              <a:ahLst/>
              <a:cxnLst/>
              <a:rect l="l" t="t" r="r" b="b"/>
              <a:pathLst>
                <a:path w="1160145" h="1035368">
                  <a:moveTo>
                    <a:pt x="1160145" y="0"/>
                  </a:moveTo>
                  <a:lnTo>
                    <a:pt x="0" y="103536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041458" y="2070735"/>
              <a:ext cx="129540" cy="1035368"/>
            </a:xfrm>
            <a:custGeom>
              <a:avLst/>
              <a:gdLst/>
              <a:ahLst/>
              <a:cxnLst/>
              <a:rect l="l" t="t" r="r" b="b"/>
              <a:pathLst>
                <a:path w="129540" h="1035368">
                  <a:moveTo>
                    <a:pt x="129540" y="0"/>
                  </a:moveTo>
                  <a:lnTo>
                    <a:pt x="0" y="103536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330065" y="2070735"/>
              <a:ext cx="902970" cy="1035368"/>
            </a:xfrm>
            <a:custGeom>
              <a:avLst/>
              <a:gdLst/>
              <a:ahLst/>
              <a:cxnLst/>
              <a:rect l="l" t="t" r="r" b="b"/>
              <a:pathLst>
                <a:path w="902970" h="1035368">
                  <a:moveTo>
                    <a:pt x="0" y="0"/>
                  </a:moveTo>
                  <a:lnTo>
                    <a:pt x="902970" y="103536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321118" y="3426142"/>
              <a:ext cx="9525" cy="985838"/>
            </a:xfrm>
            <a:custGeom>
              <a:avLst/>
              <a:gdLst/>
              <a:ahLst/>
              <a:cxnLst/>
              <a:rect l="l" t="t" r="r" b="b"/>
              <a:pathLst>
                <a:path w="9525" h="985838">
                  <a:moveTo>
                    <a:pt x="0" y="0"/>
                  </a:moveTo>
                  <a:lnTo>
                    <a:pt x="0" y="98583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486852" y="3426142"/>
              <a:ext cx="1019175" cy="985838"/>
            </a:xfrm>
            <a:custGeom>
              <a:avLst/>
              <a:gdLst/>
              <a:ahLst/>
              <a:cxnLst/>
              <a:rect l="l" t="t" r="r" b="b"/>
              <a:pathLst>
                <a:path w="1019175" h="985838">
                  <a:moveTo>
                    <a:pt x="0" y="0"/>
                  </a:moveTo>
                  <a:lnTo>
                    <a:pt x="1019175" y="98583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486852" y="3426142"/>
              <a:ext cx="1019175" cy="985838"/>
            </a:xfrm>
            <a:custGeom>
              <a:avLst/>
              <a:gdLst/>
              <a:ahLst/>
              <a:cxnLst/>
              <a:rect l="l" t="t" r="r" b="b"/>
              <a:pathLst>
                <a:path w="1019175" h="985838">
                  <a:moveTo>
                    <a:pt x="1019175" y="0"/>
                  </a:moveTo>
                  <a:lnTo>
                    <a:pt x="0" y="98583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671762" y="3426142"/>
              <a:ext cx="9525" cy="985838"/>
            </a:xfrm>
            <a:custGeom>
              <a:avLst/>
              <a:gdLst/>
              <a:ahLst/>
              <a:cxnLst/>
              <a:rect l="l" t="t" r="r" b="b"/>
              <a:pathLst>
                <a:path w="9525" h="985838">
                  <a:moveTo>
                    <a:pt x="0" y="0"/>
                  </a:moveTo>
                  <a:lnTo>
                    <a:pt x="0" y="98583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4021455" y="3426142"/>
              <a:ext cx="9525" cy="985838"/>
            </a:xfrm>
            <a:custGeom>
              <a:avLst/>
              <a:gdLst/>
              <a:ahLst/>
              <a:cxnLst/>
              <a:rect l="l" t="t" r="r" b="b"/>
              <a:pathLst>
                <a:path w="9525" h="985838">
                  <a:moveTo>
                    <a:pt x="0" y="0"/>
                  </a:moveTo>
                  <a:lnTo>
                    <a:pt x="0" y="98583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187190" y="3426142"/>
              <a:ext cx="1020128" cy="985838"/>
            </a:xfrm>
            <a:custGeom>
              <a:avLst/>
              <a:gdLst/>
              <a:ahLst/>
              <a:cxnLst/>
              <a:rect l="l" t="t" r="r" b="b"/>
              <a:pathLst>
                <a:path w="1020128" h="985838">
                  <a:moveTo>
                    <a:pt x="0" y="0"/>
                  </a:moveTo>
                  <a:lnTo>
                    <a:pt x="1020128" y="98583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4187190" y="3426142"/>
              <a:ext cx="1020128" cy="985838"/>
            </a:xfrm>
            <a:custGeom>
              <a:avLst/>
              <a:gdLst/>
              <a:ahLst/>
              <a:cxnLst/>
              <a:rect l="l" t="t" r="r" b="b"/>
              <a:pathLst>
                <a:path w="1020128" h="985838">
                  <a:moveTo>
                    <a:pt x="1020128" y="0"/>
                  </a:moveTo>
                  <a:lnTo>
                    <a:pt x="0" y="98583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5372100" y="3426142"/>
              <a:ext cx="9525" cy="985838"/>
            </a:xfrm>
            <a:custGeom>
              <a:avLst/>
              <a:gdLst/>
              <a:ahLst/>
              <a:cxnLst/>
              <a:rect l="l" t="t" r="r" b="b"/>
              <a:pathLst>
                <a:path w="9525" h="985838">
                  <a:moveTo>
                    <a:pt x="0" y="0"/>
                  </a:moveTo>
                  <a:lnTo>
                    <a:pt x="0" y="98583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1321118" y="4732020"/>
              <a:ext cx="9525" cy="986790"/>
            </a:xfrm>
            <a:custGeom>
              <a:avLst/>
              <a:gdLst/>
              <a:ahLst/>
              <a:cxnLst/>
              <a:rect l="l" t="t" r="r" b="b"/>
              <a:pathLst>
                <a:path w="9525" h="986790">
                  <a:moveTo>
                    <a:pt x="0" y="0"/>
                  </a:moveTo>
                  <a:lnTo>
                    <a:pt x="0" y="98679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2671762" y="4732020"/>
              <a:ext cx="9525" cy="986790"/>
            </a:xfrm>
            <a:custGeom>
              <a:avLst/>
              <a:gdLst/>
              <a:ahLst/>
              <a:cxnLst/>
              <a:rect l="l" t="t" r="r" b="b"/>
              <a:pathLst>
                <a:path w="9525" h="986790">
                  <a:moveTo>
                    <a:pt x="0" y="0"/>
                  </a:moveTo>
                  <a:lnTo>
                    <a:pt x="0" y="98679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4021455" y="4732020"/>
              <a:ext cx="9525" cy="986790"/>
            </a:xfrm>
            <a:custGeom>
              <a:avLst/>
              <a:gdLst/>
              <a:ahLst/>
              <a:cxnLst/>
              <a:rect l="l" t="t" r="r" b="b"/>
              <a:pathLst>
                <a:path w="9525" h="986790">
                  <a:moveTo>
                    <a:pt x="0" y="0"/>
                  </a:moveTo>
                  <a:lnTo>
                    <a:pt x="0" y="98679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5372100" y="4732020"/>
              <a:ext cx="9525" cy="986790"/>
            </a:xfrm>
            <a:custGeom>
              <a:avLst/>
              <a:gdLst/>
              <a:ahLst/>
              <a:cxnLst/>
              <a:rect l="l" t="t" r="r" b="b"/>
              <a:pathLst>
                <a:path w="9525" h="986790">
                  <a:moveTo>
                    <a:pt x="0" y="0"/>
                  </a:moveTo>
                  <a:lnTo>
                    <a:pt x="0" y="98679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236470" y="1750695"/>
              <a:ext cx="533400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924300" y="1750695"/>
              <a:ext cx="533400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054418" y="3106102"/>
              <a:ext cx="533400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2405062" y="3106102"/>
              <a:ext cx="533400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3754755" y="3106102"/>
              <a:ext cx="533400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105400" y="3106102"/>
              <a:ext cx="533400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054418" y="4411980"/>
              <a:ext cx="5334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405062" y="4411980"/>
              <a:ext cx="5334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3754755" y="4411980"/>
              <a:ext cx="5334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105400" y="4411980"/>
              <a:ext cx="5334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978218" y="5718810"/>
              <a:ext cx="685800" cy="320040"/>
            </a:xfrm>
            <a:prstGeom prst="roundRect">
              <a:avLst>
                <a:gd name="adj" fmla="val 297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2328862" y="5718810"/>
              <a:ext cx="685800" cy="320040"/>
            </a:xfrm>
            <a:prstGeom prst="roundRect">
              <a:avLst>
                <a:gd name="adj" fmla="val 297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3678555" y="5718810"/>
              <a:ext cx="685800" cy="320040"/>
            </a:xfrm>
            <a:prstGeom prst="roundRect">
              <a:avLst>
                <a:gd name="adj" fmla="val 297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029200" y="5718810"/>
              <a:ext cx="685800" cy="320040"/>
            </a:xfrm>
            <a:prstGeom prst="roundRect">
              <a:avLst>
                <a:gd name="adj" fmla="val 297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335530" y="183642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核心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023360" y="183642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核心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3477" y="31908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汇聚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504123" y="31908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汇聚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853815" y="31908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汇聚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204460" y="31908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汇聚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3477" y="449770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接入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504123" y="449770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接入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853815" y="449770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接入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204460" y="449770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接入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72706" y="58045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服务器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423350" y="58045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服务器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773043" y="58045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服务器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123688" y="58045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服务器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95896" y="23622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三层路由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95896" y="38138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二层交换</a:t>
              </a:r>
            </a:p>
          </p:txBody>
        </p:sp>
      </p:grpSp>
      <p:grpSp>
        <p:nvGrpSpPr>
          <p:cNvPr id="64" name="c2-bullets-1"/>
          <p:cNvGrpSpPr/>
          <p:nvPr/>
        </p:nvGrpSpPr>
        <p:grpSpPr>
          <a:xfrm>
            <a:off x="6472238" y="1547336"/>
            <a:ext cx="4859909" cy="1752219"/>
            <a:chOff x="6472238" y="1547336"/>
            <a:chExt cx="4859909" cy="1752219"/>
          </a:xfrm>
        </p:grpSpPr>
        <p:sp>
          <p:nvSpPr>
            <p:cNvPr id="58" name="Ellipse 58"/>
            <p:cNvSpPr/>
            <p:nvPr/>
          </p:nvSpPr>
          <p:spPr>
            <a:xfrm>
              <a:off x="6472238" y="160782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628829" y="1547336"/>
              <a:ext cx="468528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经典的大型数据中心网络：基于二层交换的 </a:t>
              </a: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接入层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和 </a:t>
              </a: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汇聚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，加上基于三层路由的 </a:t>
              </a: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核心层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472238" y="220789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628829" y="2148364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云计算的一个重要特性是虚拟机可以动态迁移，这要求迁移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前后虚拟机的运行状态不变，包括 IP 地址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472238" y="2808923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628829" y="2749391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左右两个汇聚区在不同的二层域里，中间隔着三层路由；虚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拟机迁过去，原来的 IP 在新网段里不能用</a:t>
              </a:r>
            </a:p>
          </p:txBody>
        </p:sp>
      </p:grpSp>
      <p:grpSp>
        <p:nvGrpSpPr>
          <p:cNvPr id="77" name="c2-compare-2"/>
          <p:cNvGrpSpPr/>
          <p:nvPr/>
        </p:nvGrpSpPr>
        <p:grpSpPr>
          <a:xfrm>
            <a:off x="6464618" y="3428048"/>
            <a:ext cx="5193982" cy="1535430"/>
            <a:chOff x="6464618" y="3428048"/>
            <a:chExt cx="5193982" cy="1535430"/>
          </a:xfrm>
        </p:grpSpPr>
        <p:sp>
          <p:nvSpPr>
            <p:cNvPr id="65" name="Rectangle 65"/>
            <p:cNvSpPr/>
            <p:nvPr/>
          </p:nvSpPr>
          <p:spPr>
            <a:xfrm>
              <a:off x="6464618" y="3428048"/>
              <a:ext cx="2386965" cy="1535430"/>
            </a:xfrm>
            <a:prstGeom prst="roundRect">
              <a:avLst>
                <a:gd name="adj" fmla="val 868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6474142" y="3561398"/>
              <a:ext cx="47625" cy="12687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699314" y="365617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办法一：大二层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6714172" y="405479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870764" y="3994309"/>
              <a:ext cx="163753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硬件层面把整个数据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中心设计成一个二层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交换网络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9271635" y="3428048"/>
              <a:ext cx="2386965" cy="1535430"/>
            </a:xfrm>
            <a:prstGeom prst="roundRect">
              <a:avLst>
                <a:gd name="adj" fmla="val 868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9281160" y="3561398"/>
              <a:ext cx="47625" cy="126873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9506331" y="3656171"/>
              <a:ext cx="15480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办法二：Overlay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9521190" y="405479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677781" y="3994309"/>
              <a:ext cx="163753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不动物理网络，在上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面叠一层虚拟的二层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8900160" y="4033838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970500" y="4130993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84" name="c2-callout-3"/>
          <p:cNvGrpSpPr/>
          <p:nvPr/>
        </p:nvGrpSpPr>
        <p:grpSpPr>
          <a:xfrm>
            <a:off x="6464618" y="5149215"/>
            <a:ext cx="5193982" cy="756285"/>
            <a:chOff x="6464618" y="5149215"/>
            <a:chExt cx="5193982" cy="756285"/>
          </a:xfrm>
        </p:grpSpPr>
        <p:sp>
          <p:nvSpPr>
            <p:cNvPr id="78" name="Rectangle 78"/>
            <p:cNvSpPr/>
            <p:nvPr/>
          </p:nvSpPr>
          <p:spPr>
            <a:xfrm>
              <a:off x="6464618" y="5149215"/>
              <a:ext cx="5193982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2" name="Group 82"/>
            <p:cNvGrpSpPr/>
            <p:nvPr/>
          </p:nvGrpSpPr>
          <p:grpSpPr>
            <a:xfrm>
              <a:off x="6669405" y="5427345"/>
              <a:ext cx="200026" cy="200025"/>
              <a:chOff x="6669405" y="5427345"/>
              <a:chExt cx="200026" cy="200025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6669405" y="54273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6709144" y="54717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6743859" y="55829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3" name="TextBox 83"/>
            <p:cNvSpPr txBox="1"/>
            <p:nvPr/>
          </p:nvSpPr>
          <p:spPr>
            <a:xfrm>
              <a:off x="6971729" y="5296376"/>
              <a:ext cx="4234434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IP 为什么不能变：虚拟机上已建立的 TCP 连接、别的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服务记下的地址都绑在这个 IP 上，一变就全断了。</a:t>
              </a:r>
            </a:p>
          </p:txBody>
        </p:sp>
      </p:grpSp>
      <p:grpSp>
        <p:nvGrpSpPr>
          <p:cNvPr id="8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5" name="TextBox 85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9014" cy="909257"/>
            <a:chOff x="520446" y="342900"/>
            <a:chExt cx="79290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网络与存储虚拟化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90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Overlay：在承载网络上打隧道，给上层一个大二层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bullets-1"/>
          <p:cNvGrpSpPr/>
          <p:nvPr/>
        </p:nvGrpSpPr>
        <p:grpSpPr>
          <a:xfrm>
            <a:off x="539115" y="1548765"/>
            <a:ext cx="5183505" cy="1840230"/>
            <a:chOff x="539115" y="1548765"/>
            <a:chExt cx="5183505" cy="1840230"/>
          </a:xfrm>
        </p:grpSpPr>
        <p:sp>
          <p:nvSpPr>
            <p:cNvPr id="7" name="Ellipse 7"/>
            <p:cNvSpPr/>
            <p:nvPr/>
          </p:nvSpPr>
          <p:spPr>
            <a:xfrm>
              <a:off x="539115" y="161163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7230" y="1548765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就算一个数据中心用了大二层结构，要跨数据中心并网时，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每个数据中心总有一个出口路由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539115" y="224218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97230" y="2179320"/>
              <a:ext cx="49872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Overlay 把底层承载网络的复杂结构屏蔽，为上层提供一个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清晰简洁的网络模型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39115" y="287274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7230" y="2809875"/>
              <a:ext cx="50253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本质：在已有网络上建立 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隧道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，把原来的数据帧加上特定协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议头二次打包，再通过承载网络发出</a:t>
              </a:r>
            </a:p>
          </p:txBody>
        </p:sp>
      </p:grpSp>
      <p:grpSp>
        <p:nvGrpSpPr>
          <p:cNvPr id="19" name="c1-kv-2"/>
          <p:cNvGrpSpPr/>
          <p:nvPr/>
        </p:nvGrpSpPr>
        <p:grpSpPr>
          <a:xfrm>
            <a:off x="525780" y="3545205"/>
            <a:ext cx="5417820" cy="1579245"/>
            <a:chOff x="525780" y="3545205"/>
            <a:chExt cx="5417820" cy="1579245"/>
          </a:xfrm>
        </p:grpSpPr>
        <p:sp>
          <p:nvSpPr>
            <p:cNvPr id="14" name="TextBox 14"/>
            <p:cNvSpPr txBox="1"/>
            <p:nvPr/>
          </p:nvSpPr>
          <p:spPr>
            <a:xfrm>
              <a:off x="525780" y="3545205"/>
              <a:ext cx="1216342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属于 Overlay</a:t>
              </a:r>
              <a:br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的技术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40255" y="3545205"/>
              <a:ext cx="35394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VXLAN、GRE、GENEVE，以及 Kubernetes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常用的网络插件 flannel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414718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5780" y="4267200"/>
              <a:ext cx="1045369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OpenStack</a:t>
              </a:r>
              <a:br/>
              <a:r>
                <a:rPr lang="en-US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Neutron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40255" y="4267200"/>
              <a:ext cx="363474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 Overlay 提供“网络即服务”：给不同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项目建各自的私有虚拟网络、多个子网和路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由、安全组</a:t>
              </a:r>
            </a:p>
          </p:txBody>
        </p:sp>
      </p:grpSp>
      <p:grpSp>
        <p:nvGrpSpPr>
          <p:cNvPr id="25" name="c1-callout-3"/>
          <p:cNvGrpSpPr/>
          <p:nvPr/>
        </p:nvGrpSpPr>
        <p:grpSpPr>
          <a:xfrm>
            <a:off x="533400" y="5255895"/>
            <a:ext cx="5410200" cy="1059180"/>
            <a:chOff x="533400" y="5255895"/>
            <a:chExt cx="5410200" cy="1059180"/>
          </a:xfrm>
        </p:grpSpPr>
        <p:sp>
          <p:nvSpPr>
            <p:cNvPr id="20" name="Rectangle 20"/>
            <p:cNvSpPr/>
            <p:nvPr/>
          </p:nvSpPr>
          <p:spPr>
            <a:xfrm>
              <a:off x="533400" y="5255895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5685473"/>
              <a:ext cx="200026" cy="200026"/>
              <a:chOff x="738188" y="5685473"/>
              <a:chExt cx="200026" cy="200026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38188" y="56854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04863" y="576326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130" y="5404485"/>
              <a:ext cx="44253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回到上一页的问题：虚拟机迁到别的汇聚区，只是换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了一个隧道端点，它所在的虚拟二层网络没变，IP 地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址照用。</a:t>
              </a:r>
            </a:p>
          </p:txBody>
        </p:sp>
      </p:grpSp>
      <p:grpSp>
        <p:nvGrpSpPr>
          <p:cNvPr id="48" name="c2-flow-1"/>
          <p:cNvGrpSpPr/>
          <p:nvPr/>
        </p:nvGrpSpPr>
        <p:grpSpPr>
          <a:xfrm>
            <a:off x="6381750" y="1645920"/>
            <a:ext cx="5143500" cy="2479357"/>
            <a:chOff x="6381750" y="1645920"/>
            <a:chExt cx="5143500" cy="2479357"/>
          </a:xfrm>
        </p:grpSpPr>
        <p:sp>
          <p:nvSpPr>
            <p:cNvPr id="26" name="Freeform 26"/>
            <p:cNvSpPr/>
            <p:nvPr/>
          </p:nvSpPr>
          <p:spPr>
            <a:xfrm>
              <a:off x="7918132" y="228600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8080058" y="22336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8953500" y="2600325"/>
              <a:ext cx="9525" cy="790575"/>
            </a:xfrm>
            <a:custGeom>
              <a:avLst/>
              <a:gdLst/>
              <a:ahLst/>
              <a:cxnLst/>
              <a:rect l="l" t="t" r="r" b="b"/>
              <a:pathLst>
                <a:path w="9525" h="790575">
                  <a:moveTo>
                    <a:pt x="0" y="0"/>
                  </a:moveTo>
                  <a:lnTo>
                    <a:pt x="0" y="7905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8901112" y="33909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9722168" y="381000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9884092" y="37576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10756582" y="2609850"/>
              <a:ext cx="9525" cy="885825"/>
            </a:xfrm>
            <a:custGeom>
              <a:avLst/>
              <a:gdLst/>
              <a:ahLst/>
              <a:cxnLst/>
              <a:rect l="l" t="t" r="r" b="b"/>
              <a:pathLst>
                <a:path w="9525" h="885825">
                  <a:moveTo>
                    <a:pt x="0" y="88582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10704195" y="25050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7150418" y="1645920"/>
              <a:ext cx="3606165" cy="421005"/>
            </a:xfrm>
            <a:custGeom>
              <a:avLst/>
              <a:gdLst/>
              <a:ahLst/>
              <a:cxnLst/>
              <a:rect l="l" t="t" r="r" b="b"/>
              <a:pathLst>
                <a:path w="3606165" h="421005">
                  <a:moveTo>
                    <a:pt x="0" y="421005"/>
                  </a:moveTo>
                  <a:lnTo>
                    <a:pt x="0" y="211455"/>
                  </a:lnTo>
                  <a:lnTo>
                    <a:pt x="0" y="0"/>
                  </a:lnTo>
                  <a:lnTo>
                    <a:pt x="18097" y="0"/>
                  </a:lnTo>
                  <a:lnTo>
                    <a:pt x="3588068" y="0"/>
                  </a:lnTo>
                  <a:lnTo>
                    <a:pt x="3606165" y="0"/>
                  </a:lnTo>
                  <a:lnTo>
                    <a:pt x="3606165" y="211455"/>
                  </a:lnTo>
                  <a:lnTo>
                    <a:pt x="3606165" y="316230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35" name="Freeform 35"/>
            <p:cNvSpPr/>
            <p:nvPr/>
          </p:nvSpPr>
          <p:spPr>
            <a:xfrm>
              <a:off x="10704195" y="19621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381750" y="2066925"/>
              <a:ext cx="153638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8184832" y="1971675"/>
              <a:ext cx="1536382" cy="629602"/>
            </a:xfrm>
            <a:prstGeom prst="roundRect">
              <a:avLst>
                <a:gd name="adj" fmla="val 15129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8184832" y="3495675"/>
              <a:ext cx="1536382" cy="629602"/>
            </a:xfrm>
            <a:prstGeom prst="roundRect">
              <a:avLst>
                <a:gd name="adj" fmla="val 1512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9988868" y="3495675"/>
              <a:ext cx="1536382" cy="629602"/>
            </a:xfrm>
            <a:prstGeom prst="roundRect">
              <a:avLst>
                <a:gd name="adj" fmla="val 15129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9988868" y="2066925"/>
              <a:ext cx="153638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808092" y="2196941"/>
              <a:ext cx="6846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虚拟机 A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621903" y="2087404"/>
              <a:ext cx="66319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隧道端点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加外层头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59343" y="3611404"/>
              <a:ext cx="98831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承载网络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（三层路由）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424985" y="3611404"/>
              <a:ext cx="66319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隧道端点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拆外层头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414257" y="2196941"/>
              <a:ext cx="6846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虚拟机 B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039100" y="1679258"/>
              <a:ext cx="18288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029384" y="1705928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在它们看来同在一个二层网络</a:t>
              </a:r>
            </a:p>
          </p:txBody>
        </p:sp>
      </p:grpSp>
      <p:grpSp>
        <p:nvGrpSpPr>
          <p:cNvPr id="60" name="c2-cells-2"/>
          <p:cNvGrpSpPr/>
          <p:nvPr/>
        </p:nvGrpSpPr>
        <p:grpSpPr>
          <a:xfrm>
            <a:off x="6243447" y="4762500"/>
            <a:ext cx="5415153" cy="419100"/>
            <a:chOff x="6243447" y="4762500"/>
            <a:chExt cx="5415153" cy="419100"/>
          </a:xfrm>
        </p:grpSpPr>
        <p:sp>
          <p:nvSpPr>
            <p:cNvPr id="49" name="TextBox 49"/>
            <p:cNvSpPr txBox="1"/>
            <p:nvPr/>
          </p:nvSpPr>
          <p:spPr>
            <a:xfrm>
              <a:off x="6243447" y="491156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封装后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755130" y="4762500"/>
              <a:ext cx="98107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910896" y="491156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外层以太网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736205" y="4762500"/>
              <a:ext cx="98107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004750" y="4911566"/>
              <a:ext cx="4420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外层 IP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716328" y="4762500"/>
              <a:ext cx="981075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081161" y="4911566"/>
              <a:ext cx="2514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UDP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9697402" y="4762500"/>
              <a:ext cx="981075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981735" y="4911566"/>
              <a:ext cx="4124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VXLAN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10677525" y="4762500"/>
              <a:ext cx="981075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701363" y="4911566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原来的以太网帧</a:t>
              </a:r>
            </a:p>
          </p:txBody>
        </p:sp>
      </p:grpSp>
      <p:grpSp>
        <p:nvGrpSpPr>
          <p:cNvPr id="62" name="c2-text-3"/>
          <p:cNvGrpSpPr/>
          <p:nvPr/>
        </p:nvGrpSpPr>
        <p:grpSpPr>
          <a:xfrm>
            <a:off x="6241923" y="5393531"/>
            <a:ext cx="5157978" cy="500824"/>
            <a:chOff x="6241923" y="5393531"/>
            <a:chExt cx="5157978" cy="500824"/>
          </a:xfrm>
        </p:grpSpPr>
        <p:sp>
          <p:nvSpPr>
            <p:cNvPr id="61" name="TextBox 61"/>
            <p:cNvSpPr txBox="1"/>
            <p:nvPr/>
          </p:nvSpPr>
          <p:spPr>
            <a:xfrm>
              <a:off x="6241923" y="5393531"/>
              <a:ext cx="5157978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以 VXLAN 为例：原帧整个作为载荷，外面依次加 VXLAN 头、UDP 头、外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层 IP 头和外层以太网头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17051" cy="909257"/>
            <a:chOff x="520446" y="342900"/>
            <a:chExt cx="731705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网络与存储虚拟化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170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例：flannel 怎样把跨主机的 Pod 报文送到对面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1276609" cy="264033"/>
            <a:chOff x="526542" y="1545907"/>
            <a:chExt cx="1127660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12766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两台主机 192.168.0.100 和 192.168.0.200 上各有若干 Pod，Pod 地址分别在 10.1.15.0/24 和 10.1.20.0/24 网段（原课件第75页）。</a:t>
              </a:r>
            </a:p>
          </p:txBody>
        </p:sp>
      </p:grpSp>
      <p:grpSp>
        <p:nvGrpSpPr>
          <p:cNvPr id="26" name="c1-steps-1"/>
          <p:cNvGrpSpPr/>
          <p:nvPr/>
        </p:nvGrpSpPr>
        <p:grpSpPr>
          <a:xfrm>
            <a:off x="533400" y="1938338"/>
            <a:ext cx="5398237" cy="2682716"/>
            <a:chOff x="533400" y="1938338"/>
            <a:chExt cx="5398237" cy="2682716"/>
          </a:xfrm>
        </p:grpSpPr>
        <p:sp>
          <p:nvSpPr>
            <p:cNvPr id="9" name="Rectangle 9"/>
            <p:cNvSpPr/>
            <p:nvPr/>
          </p:nvSpPr>
          <p:spPr>
            <a:xfrm>
              <a:off x="666750" y="2081212"/>
              <a:ext cx="19050" cy="216312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3833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2796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017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51853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5923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10146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1752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196977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2237899"/>
              <a:ext cx="489737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Pod 10.1.15.2 给 10.1.20.3 发包，经 veth、docker0 网桥交给 flannel 设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276034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封装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3027521"/>
              <a:ext cx="479069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flanneld 查到 10.1.20.0/24 在主机 192.168.0.200 上，在原 IP 包外套上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UDP 和外层 IP 头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35499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承载网传输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3818096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外层是普通的主机到主机报文，路由器照常转发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642" y="413289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785" y="4401026"/>
              <a:ext cx="49848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对端 flanneld 去掉外层头，把内层包交给 docker0，送进 Pod 10.1.20.3</a:t>
              </a:r>
            </a:p>
          </p:txBody>
        </p:sp>
      </p:grpSp>
      <p:grpSp>
        <p:nvGrpSpPr>
          <p:cNvPr id="32" name="c1-card-2"/>
          <p:cNvGrpSpPr/>
          <p:nvPr/>
        </p:nvGrpSpPr>
        <p:grpSpPr>
          <a:xfrm>
            <a:off x="533400" y="4784408"/>
            <a:ext cx="5626418" cy="1443038"/>
            <a:chOff x="533400" y="4784408"/>
            <a:chExt cx="5626418" cy="1443038"/>
          </a:xfrm>
        </p:grpSpPr>
        <p:sp>
          <p:nvSpPr>
            <p:cNvPr id="27" name="Rectangle 27"/>
            <p:cNvSpPr/>
            <p:nvPr/>
          </p:nvSpPr>
          <p:spPr>
            <a:xfrm>
              <a:off x="533400" y="4784408"/>
              <a:ext cx="5626418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917758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58190" y="4971098"/>
              <a:ext cx="2127885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00677" y="5003959"/>
              <a:ext cx="20429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flanneld 怎么知道子网在哪台主机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1332" y="5314950"/>
              <a:ext cx="4925759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flannel 给每台主机分一个 /24 子网，并把“子网 → 主机 IP”的对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应关系存在 etcd（或 K8s API）里，各主机的 flanneld 读这张表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决定外层目的地址。</a:t>
              </a:r>
            </a:p>
          </p:txBody>
        </p:sp>
      </p:grpSp>
      <p:grpSp>
        <p:nvGrpSpPr>
          <p:cNvPr id="48" name="c2-cells-1"/>
          <p:cNvGrpSpPr/>
          <p:nvPr/>
        </p:nvGrpSpPr>
        <p:grpSpPr>
          <a:xfrm>
            <a:off x="6459855" y="1954054"/>
            <a:ext cx="5198745" cy="921067"/>
            <a:chOff x="6459855" y="1954054"/>
            <a:chExt cx="5198745" cy="921067"/>
          </a:xfrm>
        </p:grpSpPr>
        <p:sp>
          <p:nvSpPr>
            <p:cNvPr id="33" name="TextBox 33"/>
            <p:cNvSpPr txBox="1"/>
            <p:nvPr/>
          </p:nvSpPr>
          <p:spPr>
            <a:xfrm>
              <a:off x="6459855" y="232410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报文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826568" y="2195512"/>
              <a:ext cx="96678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180387" y="2324100"/>
              <a:ext cx="25819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MAC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793355" y="2195512"/>
              <a:ext cx="966788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073062" y="2324100"/>
              <a:ext cx="4064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外层 IP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759190" y="2195512"/>
              <a:ext cx="96678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127404" y="2324100"/>
              <a:ext cx="23131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UDP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725978" y="2195512"/>
              <a:ext cx="966788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005685" y="2324100"/>
              <a:ext cx="4064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内层 IP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0691812" y="2195512"/>
              <a:ext cx="966788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1049762" y="232410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载荷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62994" y="1954054"/>
              <a:ext cx="122655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192.168.0.100 → .200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8238172" y="210026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10170795" y="258318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563742" y="2713196"/>
              <a:ext cx="129030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10.1.15.2 → 10.1.20.3</a:t>
              </a:r>
            </a:p>
          </p:txBody>
        </p:sp>
      </p:grpSp>
      <p:grpSp>
        <p:nvGrpSpPr>
          <p:cNvPr id="64" name="c2-table-2"/>
          <p:cNvGrpSpPr/>
          <p:nvPr/>
        </p:nvGrpSpPr>
        <p:grpSpPr>
          <a:xfrm>
            <a:off x="6464618" y="3019425"/>
            <a:ext cx="5193982" cy="2276475"/>
            <a:chOff x="6464618" y="3019425"/>
            <a:chExt cx="5193982" cy="2276475"/>
          </a:xfrm>
        </p:grpSpPr>
        <p:sp>
          <p:nvSpPr>
            <p:cNvPr id="49" name="Rectangle 49"/>
            <p:cNvSpPr/>
            <p:nvPr/>
          </p:nvSpPr>
          <p:spPr>
            <a:xfrm>
              <a:off x="6464618" y="3019425"/>
              <a:ext cx="5193982" cy="679132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827711" y="3264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封装方式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563166" y="3264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额外头部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114955" y="3144202"/>
              <a:ext cx="1365171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890"/>
                </a:lnSpc>
              </a:pPr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承载网 MTU 1500</a:t>
              </a:r>
              <a:br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时内层包最大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560630" y="3823335"/>
              <a:ext cx="1193292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flannel UDP 后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端（图中）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098536" y="3943350"/>
              <a:ext cx="17419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IP 20 + UDP 8 = 28 B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963199" y="3943350"/>
              <a:ext cx="5993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1472 B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464618" y="437197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464618" y="4376738"/>
              <a:ext cx="5193982" cy="91916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560630" y="4742498"/>
              <a:ext cx="5681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VXLAN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197977" y="4502468"/>
              <a:ext cx="1642491" cy="7440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以太网 14 + IP 20 +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UDP 8 + VXLAN 8 = 50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963199" y="4742498"/>
              <a:ext cx="5993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1450 B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464618" y="3019425"/>
              <a:ext cx="5193982" cy="22764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7926705" y="3019425"/>
              <a:ext cx="9525" cy="22764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9931718" y="3019425"/>
              <a:ext cx="9525" cy="22764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0" name="c2-callout-3"/>
          <p:cNvGrpSpPr/>
          <p:nvPr/>
        </p:nvGrpSpPr>
        <p:grpSpPr>
          <a:xfrm>
            <a:off x="6464618" y="5466398"/>
            <a:ext cx="5193982" cy="761048"/>
            <a:chOff x="6464618" y="5466398"/>
            <a:chExt cx="5193982" cy="761048"/>
          </a:xfrm>
        </p:grpSpPr>
        <p:sp>
          <p:nvSpPr>
            <p:cNvPr id="65" name="Rectangle 65"/>
            <p:cNvSpPr/>
            <p:nvPr/>
          </p:nvSpPr>
          <p:spPr>
            <a:xfrm>
              <a:off x="6464618" y="5466398"/>
              <a:ext cx="5193982" cy="761048"/>
            </a:xfrm>
            <a:prstGeom prst="roundRect">
              <a:avLst>
                <a:gd name="adj" fmla="val 1501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6669405" y="5746435"/>
              <a:ext cx="200023" cy="200023"/>
              <a:chOff x="6669405" y="5746435"/>
              <a:chExt cx="200023" cy="200023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6669405" y="574643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6802755" y="58131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6972110" y="5628323"/>
              <a:ext cx="420566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隧道是有代价的：每个包多出几十字节，内层 MTU 要相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应调小，否则大包在承载网上会被分片或丢弃。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网络与存储虚拟化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网络已经够快：存储和计算可以分开放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table-1"/>
          <p:cNvGrpSpPr/>
          <p:nvPr/>
        </p:nvGrpSpPr>
        <p:grpSpPr>
          <a:xfrm>
            <a:off x="533400" y="1524000"/>
            <a:ext cx="5951220" cy="3201352"/>
            <a:chOff x="533400" y="1524000"/>
            <a:chExt cx="5951220" cy="32013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20052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028152" y="16454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003762" y="16454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带宽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6935" y="2065496"/>
              <a:ext cx="2805735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DDR4 内存（2133～3200 MT/s × 8 字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652068" y="2178844"/>
              <a:ext cx="17390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17 064～25 600 MB/s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58603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590800"/>
              <a:ext cx="5951220" cy="6467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6935" y="2825591"/>
              <a:ext cx="25978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PCIe 3.0 x16（每通道 8 GT/s）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44402" y="2712244"/>
              <a:ext cx="164668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15 750 MB/s（原始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16 000）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23373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6935" y="3472339"/>
              <a:ext cx="11073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PCIe 4.0 x16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44402" y="3358991"/>
              <a:ext cx="164668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31 500 MB/s（原始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32 000）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88048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885248"/>
              <a:ext cx="5951220" cy="42005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6935" y="4005739"/>
              <a:ext cx="22987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三星 PM9A1 1TB SSD 顺序读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448287" y="4005739"/>
              <a:ext cx="9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7 000 MB/s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30053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6935" y="4426744"/>
              <a:ext cx="29654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 / 100 Gbps 以太网（不计协议头）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890010" y="4314825"/>
              <a:ext cx="2585085" cy="40100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697260" y="4426744"/>
              <a:ext cx="16938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5 000 / 12 500 MB/s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1524000"/>
              <a:ext cx="5951220" cy="32013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875722" y="1524000"/>
              <a:ext cx="9525" cy="32013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5" name="c1-card-2"/>
          <p:cNvGrpSpPr/>
          <p:nvPr/>
        </p:nvGrpSpPr>
        <p:grpSpPr>
          <a:xfrm>
            <a:off x="533400" y="4890135"/>
            <a:ext cx="5951220" cy="1386840"/>
            <a:chOff x="533400" y="4890135"/>
            <a:chExt cx="5951220" cy="1386840"/>
          </a:xfrm>
        </p:grpSpPr>
        <p:sp>
          <p:nvSpPr>
            <p:cNvPr id="30" name="Rectangle 30"/>
            <p:cNvSpPr/>
            <p:nvPr/>
          </p:nvSpPr>
          <p:spPr>
            <a:xfrm>
              <a:off x="533400" y="4890135"/>
              <a:ext cx="5951220" cy="138684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42925" y="5023485"/>
              <a:ext cx="47625" cy="112014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52475" y="507111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5147" y="510397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5998" y="5411629"/>
              <a:ext cx="529615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 DDR4 带宽下限 17056 MB/s，2133 × 8 = 17064（按 2133.33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MT/s 算约 17067）；又写 PCIe 3.0 “时钟 8GHz”，应为每通道 8 GT/s 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传输速率，16000 MB/s 是未扣除 128b/130b 编码的原始值。</a:t>
              </a:r>
            </a:p>
          </p:txBody>
        </p:sp>
      </p:grpSp>
      <p:grpSp>
        <p:nvGrpSpPr>
          <p:cNvPr id="41" name="c2-callout-1"/>
          <p:cNvGrpSpPr/>
          <p:nvPr/>
        </p:nvGrpSpPr>
        <p:grpSpPr>
          <a:xfrm>
            <a:off x="6789420" y="1524000"/>
            <a:ext cx="4869180" cy="937260"/>
            <a:chOff x="6789420" y="1524000"/>
            <a:chExt cx="4869180" cy="937260"/>
          </a:xfrm>
        </p:grpSpPr>
        <p:sp>
          <p:nvSpPr>
            <p:cNvPr id="36" name="Rectangle 36"/>
            <p:cNvSpPr/>
            <p:nvPr/>
          </p:nvSpPr>
          <p:spPr>
            <a:xfrm>
              <a:off x="6789420" y="1524000"/>
              <a:ext cx="4869180" cy="937260"/>
            </a:xfrm>
            <a:prstGeom prst="roundRect">
              <a:avLst>
                <a:gd name="adj" fmla="val 12195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6994208" y="1892620"/>
              <a:ext cx="200023" cy="200023"/>
              <a:chOff x="6994208" y="1892620"/>
              <a:chExt cx="200023" cy="200023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6994208" y="189262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127558" y="19592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7297293" y="1669256"/>
              <a:ext cx="3914394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100G 以太网约 12.5 GB/s，是高速 SSD 的 1.8 倍，与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PCIe 3.0 x16 同一量级。数据放在网络另一端也不算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慢，于是集群可以按存算分离来设计。</a:t>
              </a:r>
            </a:p>
          </p:txBody>
        </p:sp>
      </p:grpSp>
      <p:grpSp>
        <p:nvGrpSpPr>
          <p:cNvPr id="53" name="c2-flow-2"/>
          <p:cNvGrpSpPr/>
          <p:nvPr/>
        </p:nvGrpSpPr>
        <p:grpSpPr>
          <a:xfrm>
            <a:off x="6959918" y="3235642"/>
            <a:ext cx="4528185" cy="1965008"/>
            <a:chOff x="6959918" y="3235642"/>
            <a:chExt cx="4528185" cy="1965008"/>
          </a:xfrm>
        </p:grpSpPr>
        <p:sp>
          <p:nvSpPr>
            <p:cNvPr id="42" name="Freeform 42"/>
            <p:cNvSpPr/>
            <p:nvPr/>
          </p:nvSpPr>
          <p:spPr>
            <a:xfrm>
              <a:off x="8006715" y="3608070"/>
              <a:ext cx="9525" cy="1220152"/>
            </a:xfrm>
            <a:custGeom>
              <a:avLst/>
              <a:gdLst/>
              <a:ahLst/>
              <a:cxnLst/>
              <a:rect l="l" t="t" r="r" b="b"/>
              <a:pathLst>
                <a:path w="9525" h="1220152">
                  <a:moveTo>
                    <a:pt x="0" y="0"/>
                  </a:moveTo>
                  <a:lnTo>
                    <a:pt x="0" y="122015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9053512" y="5013960"/>
              <a:ext cx="340995" cy="9525"/>
            </a:xfrm>
            <a:custGeom>
              <a:avLst/>
              <a:gdLst/>
              <a:ahLst/>
              <a:cxnLst/>
              <a:rect l="l" t="t" r="r" b="b"/>
              <a:pathLst>
                <a:path w="340995" h="9525">
                  <a:moveTo>
                    <a:pt x="0" y="0"/>
                  </a:moveTo>
                  <a:lnTo>
                    <a:pt x="34099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10441305" y="3608070"/>
              <a:ext cx="9525" cy="1220152"/>
            </a:xfrm>
            <a:custGeom>
              <a:avLst/>
              <a:gdLst/>
              <a:ahLst/>
              <a:cxnLst/>
              <a:rect l="l" t="t" r="r" b="b"/>
              <a:pathLst>
                <a:path w="9525" h="1220152">
                  <a:moveTo>
                    <a:pt x="0" y="1220152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959918" y="3235642"/>
              <a:ext cx="209359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959918" y="4828222"/>
              <a:ext cx="209359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9394508" y="4828222"/>
              <a:ext cx="2093595" cy="372428"/>
            </a:xfrm>
            <a:prstGeom prst="roundRect">
              <a:avLst>
                <a:gd name="adj" fmla="val 25575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9394508" y="3235642"/>
              <a:ext cx="2093595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718679" y="334899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计算网络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648004" y="494061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计算服务器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153269" y="494061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存储网络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082594" y="334899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存储服务器</a:t>
              </a:r>
            </a:p>
          </p:txBody>
        </p:sp>
      </p:grpSp>
      <p:grpSp>
        <p:nvGrpSpPr>
          <p:cNvPr id="55" name="c2-text-3"/>
          <p:cNvGrpSpPr/>
          <p:nvPr/>
        </p:nvGrpSpPr>
        <p:grpSpPr>
          <a:xfrm>
            <a:off x="6784086" y="5992178"/>
            <a:ext cx="4557903" cy="412052"/>
            <a:chOff x="6784086" y="5992178"/>
            <a:chExt cx="4557903" cy="412052"/>
          </a:xfrm>
        </p:grpSpPr>
        <p:sp>
          <p:nvSpPr>
            <p:cNvPr id="54" name="TextBox 54"/>
            <p:cNvSpPr txBox="1"/>
            <p:nvPr/>
          </p:nvSpPr>
          <p:spPr>
            <a:xfrm>
              <a:off x="6784086" y="5992178"/>
              <a:ext cx="4557903" cy="412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28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原课件第79页：计算服务器挂在计算网络上，存储单独组网，两边通过数据中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心互联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201371" cy="909257"/>
            <a:chOff x="520446" y="342900"/>
            <a:chExt cx="420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网络与存储虚拟化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20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SAN 与云上的三种存储服务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4328160" cy="2200275"/>
            <a:chOff x="533400" y="1524000"/>
            <a:chExt cx="4328160" cy="22002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328160" cy="2200275"/>
            </a:xfrm>
            <a:prstGeom prst="roundRect">
              <a:avLst>
                <a:gd name="adj" fmla="val 60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3357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1211580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4823" y="1737836"/>
              <a:ext cx="10868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SAN 存储区域网络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37518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一种专用的高速网络（也可以建在传统以太网上），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提供对存储的 </a:t>
              </a: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块级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网络访问。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2000" y="2625090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17448" y="2573179"/>
              <a:ext cx="35892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把存储设备呈现给主机，看起来就像本地连接的硬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盘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2000" y="3153728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17448" y="3100864"/>
              <a:ext cx="34267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用它实现存算分离，作为云上各类存储服务的底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座，实现“存储即服务”</a:t>
              </a:r>
            </a:p>
          </p:txBody>
        </p:sp>
      </p:grpSp>
      <p:grpSp>
        <p:nvGrpSpPr>
          <p:cNvPr id="34" name="c1-graph-2"/>
          <p:cNvGrpSpPr/>
          <p:nvPr/>
        </p:nvGrpSpPr>
        <p:grpSpPr>
          <a:xfrm>
            <a:off x="998220" y="4046220"/>
            <a:ext cx="3398520" cy="1812607"/>
            <a:chOff x="998220" y="4046220"/>
            <a:chExt cx="3398520" cy="1812607"/>
          </a:xfrm>
        </p:grpSpPr>
        <p:sp>
          <p:nvSpPr>
            <p:cNvPr id="17" name="Freeform 17"/>
            <p:cNvSpPr/>
            <p:nvPr/>
          </p:nvSpPr>
          <p:spPr>
            <a:xfrm>
              <a:off x="1312545" y="4326255"/>
              <a:ext cx="9525" cy="392430"/>
            </a:xfrm>
            <a:custGeom>
              <a:avLst/>
              <a:gdLst/>
              <a:ahLst/>
              <a:cxnLst/>
              <a:rect l="l" t="t" r="r" b="b"/>
              <a:pathLst>
                <a:path w="9525" h="392430">
                  <a:moveTo>
                    <a:pt x="0" y="0"/>
                  </a:moveTo>
                  <a:lnTo>
                    <a:pt x="0" y="39243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697480" y="4326255"/>
              <a:ext cx="9525" cy="392430"/>
            </a:xfrm>
            <a:custGeom>
              <a:avLst/>
              <a:gdLst/>
              <a:ahLst/>
              <a:cxnLst/>
              <a:rect l="l" t="t" r="r" b="b"/>
              <a:pathLst>
                <a:path w="9525" h="392430">
                  <a:moveTo>
                    <a:pt x="0" y="0"/>
                  </a:moveTo>
                  <a:lnTo>
                    <a:pt x="0" y="39243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4082415" y="4326255"/>
              <a:ext cx="9525" cy="392430"/>
            </a:xfrm>
            <a:custGeom>
              <a:avLst/>
              <a:gdLst/>
              <a:ahLst/>
              <a:cxnLst/>
              <a:rect l="l" t="t" r="r" b="b"/>
              <a:pathLst>
                <a:path w="9525" h="392430">
                  <a:moveTo>
                    <a:pt x="0" y="0"/>
                  </a:moveTo>
                  <a:lnTo>
                    <a:pt x="0" y="39243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831658" y="5187315"/>
              <a:ext cx="9525" cy="391478"/>
            </a:xfrm>
            <a:custGeom>
              <a:avLst/>
              <a:gdLst/>
              <a:ahLst/>
              <a:cxnLst/>
              <a:rect l="l" t="t" r="r" b="b"/>
              <a:pathLst>
                <a:path w="9525" h="391478">
                  <a:moveTo>
                    <a:pt x="0" y="0"/>
                  </a:moveTo>
                  <a:lnTo>
                    <a:pt x="0" y="39147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3563302" y="5187315"/>
              <a:ext cx="9525" cy="391478"/>
            </a:xfrm>
            <a:custGeom>
              <a:avLst/>
              <a:gdLst/>
              <a:ahLst/>
              <a:cxnLst/>
              <a:rect l="l" t="t" r="r" b="b"/>
              <a:pathLst>
                <a:path w="9525" h="391478">
                  <a:moveTo>
                    <a:pt x="0" y="0"/>
                  </a:moveTo>
                  <a:lnTo>
                    <a:pt x="0" y="39147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998220" y="4046220"/>
              <a:ext cx="628650" cy="280035"/>
            </a:xfrm>
            <a:prstGeom prst="roundRect">
              <a:avLst>
                <a:gd name="adj" fmla="val 34014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2383155" y="4046220"/>
              <a:ext cx="628650" cy="280035"/>
            </a:xfrm>
            <a:prstGeom prst="roundRect">
              <a:avLst>
                <a:gd name="adj" fmla="val 34014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768090" y="4046220"/>
              <a:ext cx="628650" cy="280035"/>
            </a:xfrm>
            <a:prstGeom prst="roundRect">
              <a:avLst>
                <a:gd name="adj" fmla="val 34014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240155" y="4812982"/>
              <a:ext cx="2914650" cy="280035"/>
            </a:xfrm>
            <a:prstGeom prst="roundRect">
              <a:avLst>
                <a:gd name="adj" fmla="val 34014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450658" y="5578792"/>
              <a:ext cx="762000" cy="280035"/>
            </a:xfrm>
            <a:prstGeom prst="roundRect">
              <a:avLst>
                <a:gd name="adj" fmla="val 34014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3182302" y="5578792"/>
              <a:ext cx="762000" cy="280035"/>
            </a:xfrm>
            <a:prstGeom prst="roundRect">
              <a:avLst>
                <a:gd name="adj" fmla="val 34014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95184" y="412146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服务器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480120" y="412146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服务器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865055" y="412146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服务器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256545" y="4887278"/>
              <a:ext cx="8818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SAN 交换网络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543622" y="565308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磁盘阵列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275266" y="565308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磁盘阵列</a:t>
              </a:r>
            </a:p>
          </p:txBody>
        </p:sp>
      </p:grpSp>
      <p:grpSp>
        <p:nvGrpSpPr>
          <p:cNvPr id="36" name="c1-text-3"/>
          <p:cNvGrpSpPr/>
          <p:nvPr/>
        </p:nvGrpSpPr>
        <p:grpSpPr>
          <a:xfrm>
            <a:off x="528066" y="6198870"/>
            <a:ext cx="3714064" cy="205359"/>
            <a:chOff x="528066" y="6198870"/>
            <a:chExt cx="3714064" cy="205359"/>
          </a:xfrm>
        </p:grpSpPr>
        <p:sp>
          <p:nvSpPr>
            <p:cNvPr id="35" name="TextBox 35"/>
            <p:cNvSpPr txBox="1"/>
            <p:nvPr/>
          </p:nvSpPr>
          <p:spPr>
            <a:xfrm>
              <a:off x="528066" y="6198870"/>
              <a:ext cx="37140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原课件把“存储即服务”误写作“存储及服务”，这里已改正。</a:t>
              </a:r>
            </a:p>
          </p:txBody>
        </p:sp>
      </p:grpSp>
      <p:grpSp>
        <p:nvGrpSpPr>
          <p:cNvPr id="81" name="c2-table-1"/>
          <p:cNvGrpSpPr/>
          <p:nvPr/>
        </p:nvGrpSpPr>
        <p:grpSpPr>
          <a:xfrm>
            <a:off x="5166360" y="1524000"/>
            <a:ext cx="6492240" cy="3394710"/>
            <a:chOff x="5166360" y="1524000"/>
            <a:chExt cx="6492240" cy="3394710"/>
          </a:xfrm>
        </p:grpSpPr>
        <p:sp>
          <p:nvSpPr>
            <p:cNvPr id="37" name="Rectangle 37"/>
            <p:cNvSpPr/>
            <p:nvPr/>
          </p:nvSpPr>
          <p:spPr>
            <a:xfrm>
              <a:off x="5166360" y="1524000"/>
              <a:ext cx="6492240" cy="420052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506682" y="16454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63118" y="16454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文件存储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666645" y="16454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块存储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398811" y="16454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对象存储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259896" y="206549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操作对象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99073" y="206549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文件和目录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116443" y="206549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磁盘（块设备）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934766" y="2065496"/>
              <a:ext cx="15384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对象（Key → 数据）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166360" y="235934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166360" y="2364105"/>
              <a:ext cx="6492240" cy="42005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259896" y="248554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组织方式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299073" y="248554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目录树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116443" y="248554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连续编号的块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934766" y="248554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扁平，没有目录层级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166360" y="278034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259896" y="301894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访问协议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299073" y="3018949"/>
              <a:ext cx="8225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SMB、NFS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116443" y="2905601"/>
              <a:ext cx="107772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iSCSI 等（常经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SAN）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934766" y="2905601"/>
              <a:ext cx="128092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HTTP RESTful API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（如 S3）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166360" y="342709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5166360" y="3431858"/>
              <a:ext cx="6492240" cy="42005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259896" y="355234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面向谁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215062" y="3441382"/>
              <a:ext cx="1798320" cy="401002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299073" y="355234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032432" y="3441382"/>
              <a:ext cx="1798320" cy="401002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116443" y="355234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文件系统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9850755" y="3441382"/>
              <a:ext cx="1798320" cy="401002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9934766" y="355234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应用程序（代码）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166360" y="384714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259896" y="408670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典型形态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299073" y="4086701"/>
              <a:ext cx="13472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NAS、局域网共享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116443" y="408670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云硬盘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934766" y="3973354"/>
              <a:ext cx="14759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图片、视频等非结构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化数据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166360" y="449389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5166360" y="4498658"/>
              <a:ext cx="6492240" cy="42005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259896" y="462010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扩容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299073" y="462010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116443" y="462010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934766" y="462010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十分容易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5166360" y="1524000"/>
              <a:ext cx="6492240" cy="33947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6200775" y="1524000"/>
              <a:ext cx="9525" cy="33947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8018145" y="1524000"/>
              <a:ext cx="9525" cy="33947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9836468" y="1524000"/>
              <a:ext cx="9525" cy="33947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8" name="c2-callout-2"/>
          <p:cNvGrpSpPr/>
          <p:nvPr/>
        </p:nvGrpSpPr>
        <p:grpSpPr>
          <a:xfrm>
            <a:off x="5166360" y="5083492"/>
            <a:ext cx="6492240" cy="702945"/>
            <a:chOff x="5166360" y="5083492"/>
            <a:chExt cx="6492240" cy="702945"/>
          </a:xfrm>
        </p:grpSpPr>
        <p:sp>
          <p:nvSpPr>
            <p:cNvPr id="82" name="Rectangle 82"/>
            <p:cNvSpPr/>
            <p:nvPr/>
          </p:nvSpPr>
          <p:spPr>
            <a:xfrm>
              <a:off x="5166360" y="5083492"/>
              <a:ext cx="6492240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6" name="Group 86"/>
            <p:cNvGrpSpPr/>
            <p:nvPr/>
          </p:nvGrpSpPr>
          <p:grpSpPr>
            <a:xfrm>
              <a:off x="5371148" y="5334953"/>
              <a:ext cx="200026" cy="200025"/>
              <a:chOff x="5371148" y="5334953"/>
              <a:chExt cx="200026" cy="200025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5371148" y="533495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5410886" y="537940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5445602" y="549052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7" name="TextBox 87"/>
            <p:cNvSpPr txBox="1"/>
            <p:nvPr/>
          </p:nvSpPr>
          <p:spPr>
            <a:xfrm>
              <a:off x="5674233" y="5228749"/>
              <a:ext cx="555625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记“面向谁”这一行最省事：给人用的是文件存储，给文件系统用的是块存储，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给程序用的是对象存储。</a:t>
              </a:r>
            </a:p>
          </p:txBody>
        </p:sp>
      </p:grpSp>
      <p:grpSp>
        <p:nvGrpSpPr>
          <p:cNvPr id="9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9" name="TextBox 8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网络与存储虚拟化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文件存储与块存储：一个共享目录，一个共享硬盘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flow-1"/>
          <p:cNvGrpSpPr/>
          <p:nvPr/>
        </p:nvGrpSpPr>
        <p:grpSpPr>
          <a:xfrm>
            <a:off x="722948" y="1658302"/>
            <a:ext cx="5031105" cy="804864"/>
            <a:chOff x="722948" y="1658302"/>
            <a:chExt cx="5031105" cy="804864"/>
          </a:xfrm>
        </p:grpSpPr>
        <p:sp>
          <p:nvSpPr>
            <p:cNvPr id="7" name="Freeform 7"/>
            <p:cNvSpPr/>
            <p:nvPr/>
          </p:nvSpPr>
          <p:spPr>
            <a:xfrm>
              <a:off x="3048952" y="2173605"/>
              <a:ext cx="274320" cy="9525"/>
            </a:xfrm>
            <a:custGeom>
              <a:avLst/>
              <a:gdLst/>
              <a:ahLst/>
              <a:cxnLst/>
              <a:rect l="l" t="t" r="r" b="b"/>
              <a:pathLst>
                <a:path w="274320" h="9525">
                  <a:moveTo>
                    <a:pt x="0" y="0"/>
                  </a:moveTo>
                  <a:lnTo>
                    <a:pt x="27432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323272" y="21221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1435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22948" y="1884998"/>
              <a:ext cx="2326005" cy="578168"/>
            </a:xfrm>
            <a:prstGeom prst="roundRect">
              <a:avLst>
                <a:gd name="adj" fmla="val 16474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3428048" y="1884998"/>
              <a:ext cx="2326005" cy="578168"/>
            </a:xfrm>
            <a:prstGeom prst="roundRect">
              <a:avLst>
                <a:gd name="adj" fmla="val 16474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410843" y="1998821"/>
              <a:ext cx="950214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用户电脑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看到 foo、bar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251071" y="1998821"/>
              <a:ext cx="679958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NAS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/foo /bar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901315" y="1658302"/>
              <a:ext cx="674370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909453" y="1682591"/>
              <a:ext cx="658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SMB / NFS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2999422"/>
            <a:ext cx="5410200" cy="2328862"/>
            <a:chOff x="533400" y="2999422"/>
            <a:chExt cx="5410200" cy="2328862"/>
          </a:xfrm>
        </p:grpSpPr>
        <p:sp>
          <p:nvSpPr>
            <p:cNvPr id="16" name="Rectangle 16"/>
            <p:cNvSpPr/>
            <p:nvPr/>
          </p:nvSpPr>
          <p:spPr>
            <a:xfrm>
              <a:off x="533400" y="2999422"/>
              <a:ext cx="5410200" cy="2328862"/>
            </a:xfrm>
            <a:prstGeom prst="roundRect">
              <a:avLst>
                <a:gd name="adj" fmla="val 57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132772"/>
              <a:ext cx="47625" cy="206216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3905" y="3191828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7344" y="322611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文件存储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7047" y="3548062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通过网络，以目录的组织形式提供对文件的存储。操作网络上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的文件和操作本地文件系统几乎一样。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72478" y="416433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28497" y="4108132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局域网文件共享就属于这类，服务器一般叫 NAS（Network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Attached Storage）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72478" y="472344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28497" y="4667250"/>
              <a:ext cx="460857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常用协议 SMB、NFS；操作对象是文件和目录，面向的用户一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般是人</a:t>
              </a:r>
            </a:p>
          </p:txBody>
        </p:sp>
      </p:grpSp>
      <p:grpSp>
        <p:nvGrpSpPr>
          <p:cNvPr id="34" name="c2-flow-1"/>
          <p:cNvGrpSpPr/>
          <p:nvPr/>
        </p:nvGrpSpPr>
        <p:grpSpPr>
          <a:xfrm>
            <a:off x="6437948" y="1884998"/>
            <a:ext cx="5031105" cy="578168"/>
            <a:chOff x="6437948" y="1884998"/>
            <a:chExt cx="5031105" cy="578168"/>
          </a:xfrm>
        </p:grpSpPr>
        <p:sp>
          <p:nvSpPr>
            <p:cNvPr id="26" name="Freeform 26"/>
            <p:cNvSpPr/>
            <p:nvPr/>
          </p:nvSpPr>
          <p:spPr>
            <a:xfrm>
              <a:off x="8868728" y="2173605"/>
              <a:ext cx="274320" cy="9525"/>
            </a:xfrm>
            <a:custGeom>
              <a:avLst/>
              <a:gdLst/>
              <a:ahLst/>
              <a:cxnLst/>
              <a:rect l="l" t="t" r="r" b="b"/>
              <a:pathLst>
                <a:path w="274320" h="9525">
                  <a:moveTo>
                    <a:pt x="27432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8763952" y="21221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1435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37948" y="1884998"/>
              <a:ext cx="2326005" cy="578168"/>
            </a:xfrm>
            <a:prstGeom prst="roundRect">
              <a:avLst>
                <a:gd name="adj" fmla="val 16474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9143048" y="1884998"/>
              <a:ext cx="2326005" cy="578168"/>
            </a:xfrm>
            <a:prstGeom prst="roundRect">
              <a:avLst>
                <a:gd name="adj" fmla="val 16474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965823" y="1998821"/>
              <a:ext cx="1270254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 A（客户端）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挂载为 /dev/sdb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57563" y="1998821"/>
              <a:ext cx="1696974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 B（块存储服务端）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提供块设备 X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765858" y="1967865"/>
              <a:ext cx="375285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93408" y="1993106"/>
              <a:ext cx="320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iSCSI</a:t>
              </a:r>
            </a:p>
          </p:txBody>
        </p:sp>
      </p:grpSp>
      <p:grpSp>
        <p:nvGrpSpPr>
          <p:cNvPr id="44" name="c2-card-2"/>
          <p:cNvGrpSpPr/>
          <p:nvPr/>
        </p:nvGrpSpPr>
        <p:grpSpPr>
          <a:xfrm>
            <a:off x="6248400" y="2999422"/>
            <a:ext cx="5410200" cy="2328862"/>
            <a:chOff x="6248400" y="2999422"/>
            <a:chExt cx="5410200" cy="2328862"/>
          </a:xfrm>
        </p:grpSpPr>
        <p:sp>
          <p:nvSpPr>
            <p:cNvPr id="35" name="Rectangle 35"/>
            <p:cNvSpPr/>
            <p:nvPr/>
          </p:nvSpPr>
          <p:spPr>
            <a:xfrm>
              <a:off x="6248400" y="2999422"/>
              <a:ext cx="5410200" cy="2328862"/>
            </a:xfrm>
            <a:prstGeom prst="roundRect">
              <a:avLst>
                <a:gd name="adj" fmla="val 57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57925" y="3132772"/>
              <a:ext cx="47625" cy="206216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78905" y="3191828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66345" y="322611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块存储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72047" y="3548062"/>
              <a:ext cx="472859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块（block）是硬盘组织存储空间的形式。块存储直接通过网络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（一般是 SAN）对外提供“块设备”，即硬盘。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487478" y="416433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43497" y="4108132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其他服务器直接挂载这块网络硬盘，以读写块的方式使用，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通常再在上面建自己的文件系统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487478" y="472344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43497" y="4667250"/>
              <a:ext cx="456571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常用协议 iSCSI；操作对象是磁盘，面向的用户一般是文件系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45" name="Rectangle 45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5897880"/>
              <a:ext cx="200026" cy="200025"/>
              <a:chOff x="738188" y="5897880"/>
              <a:chExt cx="200026" cy="20002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58978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77926" y="59423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12642" y="60534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892" y="5779770"/>
              <a:ext cx="1000067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两者的分界在文件系统放在哪一端：文件存储由 NAS 管文件系统，客户端直接看到目录；块存储只给出裸盘，文件系统由挂载它的服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务器自己建。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85447" cy="909257"/>
            <a:chOff x="520446" y="342900"/>
            <a:chExt cx="58854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网络与存储虚拟化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854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对象存储与 Ceph：用 Key 直接取数据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626418" cy="1999298"/>
            <a:chOff x="533400" y="1524000"/>
            <a:chExt cx="5626418" cy="199929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999298"/>
            </a:xfrm>
            <a:prstGeom prst="roundRect">
              <a:avLst>
                <a:gd name="adj" fmla="val 66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3259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7044" y="173783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对象存储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90601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以“对象”的形式提供对数据的访问，结构扁平，没有目录式的层级，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数据对象的唯一标识是一个 Key。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2000" y="2625090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17448" y="2573179"/>
              <a:ext cx="40516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一般通过 HTTP（RESTful）API 访问，如 Amazon S3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2000" y="2910840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17448" y="2857976"/>
              <a:ext cx="51472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适用于非结构化数据，本质上是一个大型 KV 数据库，十分易于扩容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62000" y="3195638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17448" y="3142774"/>
              <a:ext cx="36487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操作对象是“对象”，面向的用户一般是应用程序</a:t>
              </a:r>
            </a:p>
          </p:txBody>
        </p:sp>
      </p:grpSp>
      <p:grpSp>
        <p:nvGrpSpPr>
          <p:cNvPr id="29" name="c1-cells-2"/>
          <p:cNvGrpSpPr/>
          <p:nvPr/>
        </p:nvGrpSpPr>
        <p:grpSpPr>
          <a:xfrm>
            <a:off x="528447" y="3688080"/>
            <a:ext cx="3667316" cy="858203"/>
            <a:chOff x="528447" y="3688080"/>
            <a:chExt cx="3667316" cy="858203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3805714"/>
              <a:ext cx="2427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Key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915352" y="3688080"/>
              <a:ext cx="164020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616220" y="3805714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555558" y="3688080"/>
              <a:ext cx="164020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256425" y="3805714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8447" y="430768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数据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915352" y="4190048"/>
              <a:ext cx="1640205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466647" y="430768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一张图片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555558" y="4190048"/>
              <a:ext cx="1640205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72816" y="430768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一首歌</a:t>
              </a:r>
            </a:p>
          </p:txBody>
        </p:sp>
      </p:grpSp>
      <p:grpSp>
        <p:nvGrpSpPr>
          <p:cNvPr id="31" name="c1-text-3"/>
          <p:cNvGrpSpPr/>
          <p:nvPr/>
        </p:nvGrpSpPr>
        <p:grpSpPr>
          <a:xfrm>
            <a:off x="528066" y="4728210"/>
            <a:ext cx="2312022" cy="205359"/>
            <a:chOff x="528066" y="4728210"/>
            <a:chExt cx="2312022" cy="205359"/>
          </a:xfrm>
        </p:grpSpPr>
        <p:sp>
          <p:nvSpPr>
            <p:cNvPr id="30" name="TextBox 30"/>
            <p:cNvSpPr txBox="1"/>
            <p:nvPr/>
          </p:nvSpPr>
          <p:spPr>
            <a:xfrm>
              <a:off x="528066" y="4728210"/>
              <a:ext cx="23120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存储桶（Bucket）b01 里的两个对象</a:t>
              </a:r>
            </a:p>
          </p:txBody>
        </p:sp>
      </p:grpSp>
      <p:grpSp>
        <p:nvGrpSpPr>
          <p:cNvPr id="38" name="c1-callout-4"/>
          <p:cNvGrpSpPr/>
          <p:nvPr/>
        </p:nvGrpSpPr>
        <p:grpSpPr>
          <a:xfrm>
            <a:off x="533400" y="5056822"/>
            <a:ext cx="5626418" cy="956310"/>
            <a:chOff x="533400" y="5056822"/>
            <a:chExt cx="5626418" cy="956310"/>
          </a:xfrm>
        </p:grpSpPr>
        <p:sp>
          <p:nvSpPr>
            <p:cNvPr id="32" name="Rectangle 32"/>
            <p:cNvSpPr/>
            <p:nvPr/>
          </p:nvSpPr>
          <p:spPr>
            <a:xfrm>
              <a:off x="533400" y="5056822"/>
              <a:ext cx="5626418" cy="956310"/>
            </a:xfrm>
            <a:prstGeom prst="roundRect">
              <a:avLst>
                <a:gd name="adj" fmla="val 1195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5434965"/>
              <a:ext cx="200026" cy="200025"/>
              <a:chOff x="738188" y="5434965"/>
              <a:chExt cx="200026" cy="2000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543496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77926" y="547941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12642" y="559054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1273" y="5211604"/>
              <a:ext cx="4727194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对象一般整体读写：想改一张图片里的几个字节，也要把整个对象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重新上传。它适合“写一次、读多次”的图片、视频、备份，不适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合当数据库的硬盘。</a:t>
              </a:r>
            </a:p>
          </p:txBody>
        </p:sp>
      </p:grpSp>
      <p:grpSp>
        <p:nvGrpSpPr>
          <p:cNvPr id="42" name="c2-code-1"/>
          <p:cNvGrpSpPr/>
          <p:nvPr/>
        </p:nvGrpSpPr>
        <p:grpSpPr>
          <a:xfrm>
            <a:off x="6464618" y="1524000"/>
            <a:ext cx="5193982" cy="1384935"/>
            <a:chOff x="6464618" y="1524000"/>
            <a:chExt cx="5193982" cy="1384935"/>
          </a:xfrm>
        </p:grpSpPr>
        <p:sp>
          <p:nvSpPr>
            <p:cNvPr id="39" name="Rectangle 39"/>
            <p:cNvSpPr/>
            <p:nvPr/>
          </p:nvSpPr>
          <p:spPr>
            <a:xfrm>
              <a:off x="6464618" y="1524000"/>
              <a:ext cx="5193982" cy="1384935"/>
            </a:xfrm>
            <a:prstGeom prst="roundRect">
              <a:avLst>
                <a:gd name="adj" fmla="val 687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93015" y="167592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程序或网页取对象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93015" y="1935956"/>
              <a:ext cx="1995043" cy="8955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Request: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GET b01.s3.someserver.com/001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Response: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（001 对应的数据：一首歌）</a:t>
              </a:r>
            </a:p>
          </p:txBody>
        </p:sp>
      </p:grpSp>
      <p:grpSp>
        <p:nvGrpSpPr>
          <p:cNvPr id="48" name="c2-card-2"/>
          <p:cNvGrpSpPr/>
          <p:nvPr/>
        </p:nvGrpSpPr>
        <p:grpSpPr>
          <a:xfrm>
            <a:off x="6464618" y="3073718"/>
            <a:ext cx="5193982" cy="1143952"/>
            <a:chOff x="6464618" y="3073718"/>
            <a:chExt cx="5193982" cy="1143952"/>
          </a:xfrm>
        </p:grpSpPr>
        <p:sp>
          <p:nvSpPr>
            <p:cNvPr id="43" name="Rectangle 43"/>
            <p:cNvSpPr/>
            <p:nvPr/>
          </p:nvSpPr>
          <p:spPr>
            <a:xfrm>
              <a:off x="6464618" y="3073718"/>
              <a:ext cx="5193982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74142" y="3207068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683692" y="325469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76364" y="328755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77216" y="3595211"/>
              <a:ext cx="45646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原课件第87页的图把请求 001 的响应画成了“the picture”，按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图中的表 001 对应的是 a song，000 才是图片。</a:t>
              </a:r>
            </a:p>
          </p:txBody>
        </p:sp>
      </p:grpSp>
      <p:grpSp>
        <p:nvGrpSpPr>
          <p:cNvPr id="54" name="c2-card-3"/>
          <p:cNvGrpSpPr/>
          <p:nvPr/>
        </p:nvGrpSpPr>
        <p:grpSpPr>
          <a:xfrm>
            <a:off x="6464618" y="4383405"/>
            <a:ext cx="5193982" cy="1629728"/>
            <a:chOff x="6464618" y="4383405"/>
            <a:chExt cx="5193982" cy="1629728"/>
          </a:xfrm>
        </p:grpSpPr>
        <p:sp>
          <p:nvSpPr>
            <p:cNvPr id="49" name="Rectangle 49"/>
            <p:cNvSpPr/>
            <p:nvPr/>
          </p:nvSpPr>
          <p:spPr>
            <a:xfrm>
              <a:off x="6464618" y="4383405"/>
              <a:ext cx="5193982" cy="1629728"/>
            </a:xfrm>
            <a:prstGeom prst="roundRect">
              <a:avLst>
                <a:gd name="adj" fmla="val 81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74142" y="4516755"/>
              <a:ext cx="47625" cy="136302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683692" y="4564380"/>
              <a:ext cx="49720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772809" y="4597241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Ceph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677216" y="4903946"/>
              <a:ext cx="4540250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开源的一站式集群存储方案，在一个统一的存储系统中同时提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供：文件存储 CephFS（兼容 POSIX）、块存储 RBD（RADOS 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设备）、对象存储（兼容 S3）。OpenStack 中也有提供类似功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能的组件。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135499" cy="3351847"/>
            <a:chOff x="667512" y="1835468"/>
            <a:chExt cx="5135499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面向服务与云原生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把应用拆成能单独扩容的服务，再让它们尽量无状态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3672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原课件第89–146页 面向服务和云原生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一个电商网站的扩容之路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5732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服务间通信与 Service Mesh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7459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无状态设计与 FaaS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964102" cy="909257"/>
            <a:chOff x="520446" y="342900"/>
            <a:chExt cx="496410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面向服务与云原生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96410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云原生从哪里开始：服务与 SOA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0313670" cy="293370"/>
            <a:chOff x="525780" y="1548765"/>
            <a:chExt cx="1031367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3136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程序已能打包成容器、由编排工具自动扩缩容和容错；云原生再往前一步，问怎样以微服务的方式开发和部署程序。</a:t>
              </a:r>
            </a:p>
          </p:txBody>
        </p:sp>
      </p:grpSp>
      <p:grpSp>
        <p:nvGrpSpPr>
          <p:cNvPr id="20" name="c1-card-1"/>
          <p:cNvGrpSpPr/>
          <p:nvPr/>
        </p:nvGrpSpPr>
        <p:grpSpPr>
          <a:xfrm>
            <a:off x="533400" y="1954530"/>
            <a:ext cx="5193982" cy="2506028"/>
            <a:chOff x="533400" y="1954530"/>
            <a:chExt cx="5193982" cy="2506028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193982" cy="2506028"/>
            </a:xfrm>
            <a:prstGeom prst="roundRect">
              <a:avLst>
                <a:gd name="adj" fmla="val 53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87880"/>
              <a:ext cx="47625" cy="223932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75335" y="21583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5543" y="21940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服务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8096" y="2531269"/>
              <a:ext cx="452297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履行职务，为一定的对象工作。这里服务方是计算机（服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务程序），被服务方是人或计算机（应用程序），提供的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是信息层面的服务，而且往往一对多。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2955" y="345471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9546" y="3394234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数据库服务器：格式化数据的存取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2955" y="377475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9546" y="3714274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购物网站：信息展示、多方信息交换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2955" y="409479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9546" y="4034314"/>
              <a:ext cx="25088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Linux X Server：图形化界面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4646295"/>
            <a:ext cx="5193982" cy="1642110"/>
            <a:chOff x="533400" y="4646295"/>
            <a:chExt cx="5193982" cy="1642110"/>
          </a:xfrm>
        </p:grpSpPr>
        <p:sp>
          <p:nvSpPr>
            <p:cNvPr id="21" name="Rectangle 21"/>
            <p:cNvSpPr/>
            <p:nvPr/>
          </p:nvSpPr>
          <p:spPr>
            <a:xfrm>
              <a:off x="533400" y="4646295"/>
              <a:ext cx="5193982" cy="1642110"/>
            </a:xfrm>
            <a:prstGeom prst="roundRect">
              <a:avLst>
                <a:gd name="adj" fmla="val 81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4779645"/>
              <a:ext cx="47625" cy="137541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75335" y="4850130"/>
              <a:ext cx="138398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29944" y="4885849"/>
              <a:ext cx="12757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SOA 面向服务架构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8096" y="5223034"/>
              <a:ext cx="4450842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把服务的思想引入软件架构：系统由许多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独立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的功能单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元（服务）组成，服务之间相互依赖，通过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通信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互相调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用。</a:t>
              </a:r>
            </a:p>
          </p:txBody>
        </p:sp>
      </p:grpSp>
      <p:grpSp>
        <p:nvGrpSpPr>
          <p:cNvPr id="43" name="c2-card-1"/>
          <p:cNvGrpSpPr/>
          <p:nvPr/>
        </p:nvGrpSpPr>
        <p:grpSpPr>
          <a:xfrm>
            <a:off x="6032182" y="1954530"/>
            <a:ext cx="5626418" cy="1963102"/>
            <a:chOff x="6032182" y="1954530"/>
            <a:chExt cx="5626418" cy="1963102"/>
          </a:xfrm>
        </p:grpSpPr>
        <p:sp>
          <p:nvSpPr>
            <p:cNvPr id="27" name="Rectangle 27"/>
            <p:cNvSpPr/>
            <p:nvPr/>
          </p:nvSpPr>
          <p:spPr>
            <a:xfrm>
              <a:off x="6032182" y="1954530"/>
              <a:ext cx="5626418" cy="1963102"/>
            </a:xfrm>
            <a:prstGeom prst="roundRect">
              <a:avLst>
                <a:gd name="adj" fmla="val 67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041708" y="2087880"/>
              <a:ext cx="47625" cy="169640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74118" y="2158365"/>
              <a:ext cx="166878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19875" y="2194084"/>
              <a:ext cx="1577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SOA 中服务的四个特征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274117" y="2519362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32462" y="255874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65011" y="2531269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逻辑上表示一个有特定结果的、可重复的业务活动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274117" y="2839402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32462" y="287878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65011" y="285130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是独立的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274117" y="3159442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32462" y="319882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65011" y="3171349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对被服务者来说是黑盒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274117" y="3479482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32462" y="351886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65011" y="3491389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可能由其他服务组成</a:t>
              </a:r>
            </a:p>
          </p:txBody>
        </p:sp>
      </p:grpSp>
      <p:grpSp>
        <p:nvGrpSpPr>
          <p:cNvPr id="59" name="c2-table-2"/>
          <p:cNvGrpSpPr/>
          <p:nvPr/>
        </p:nvGrpSpPr>
        <p:grpSpPr>
          <a:xfrm>
            <a:off x="6026467" y="4103370"/>
            <a:ext cx="5632133" cy="2229327"/>
            <a:chOff x="6026467" y="4103370"/>
            <a:chExt cx="5632133" cy="2229327"/>
          </a:xfrm>
        </p:grpSpPr>
        <p:sp>
          <p:nvSpPr>
            <p:cNvPr id="44" name="Rectangle 44"/>
            <p:cNvSpPr/>
            <p:nvPr/>
          </p:nvSpPr>
          <p:spPr>
            <a:xfrm>
              <a:off x="6032182" y="4103370"/>
              <a:ext cx="5626418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47129" y="423481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拆分的粒度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399270" y="423481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各部分怎样交互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137529" y="4664392"/>
              <a:ext cx="11337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程序拆成函数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388286" y="466439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函数调用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032182" y="495871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032182" y="4963478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137529" y="509492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大工程拆成模块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388286" y="509492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模块之间调用接口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032182" y="538924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137529" y="5632132"/>
              <a:ext cx="16361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系统拆成服务（SOA）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388286" y="5525452"/>
              <a:ext cx="2907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服务可能是单独的进程、跑在多台机器上，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靠通信交互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032182" y="4103370"/>
              <a:ext cx="5626418" cy="19335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8278178" y="4103370"/>
              <a:ext cx="9525" cy="19335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026467" y="6112669"/>
              <a:ext cx="39725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拆的目的都是解耦合、复用，SOA 只是在更宏观的层面上拆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面向服务与云原生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电商网站的扩容之路（一）：拆出数据库，再分库分表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4749673" cy="3468339"/>
            <a:chOff x="533400" y="1533525"/>
            <a:chExt cx="4749673" cy="3468339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65652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41935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30422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3780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419004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42638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15678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起步：一台服务器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1861661"/>
              <a:ext cx="433705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网页服务（Java + Tomcat，只有简单静态页）和 MySQL 都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装在同一台机器上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45364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访问量变大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746534"/>
              <a:ext cx="410133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多买几台服务器。只有一个出口 IP，先搭一台网关分发请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求；整机复制不行，各台的数据库会不同步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3338512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找瓶颈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632359"/>
              <a:ext cx="42395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瓶颈在网页服务，数据库还游刃有余：把数据库拆到单独的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服务器，其余每台跑一份网页服务副本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4224338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数据库也到瓶颈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4518184"/>
              <a:ext cx="42395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数据库做副本很难保证同步；按数据内容分库分表，建多个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数据库，扩展吞吐能力</a:t>
              </a:r>
            </a:p>
          </p:txBody>
        </p:sp>
      </p:grpSp>
      <p:grpSp>
        <p:nvGrpSpPr>
          <p:cNvPr id="30" name="c1-callout-2"/>
          <p:cNvGrpSpPr/>
          <p:nvPr/>
        </p:nvGrpSpPr>
        <p:grpSpPr>
          <a:xfrm>
            <a:off x="533400" y="5180648"/>
            <a:ext cx="4977765" cy="782955"/>
            <a:chOff x="533400" y="5180648"/>
            <a:chExt cx="4977765" cy="782955"/>
          </a:xfrm>
        </p:grpSpPr>
        <p:sp>
          <p:nvSpPr>
            <p:cNvPr id="25" name="Rectangle 25"/>
            <p:cNvSpPr/>
            <p:nvPr/>
          </p:nvSpPr>
          <p:spPr>
            <a:xfrm>
              <a:off x="533400" y="5180648"/>
              <a:ext cx="4977765" cy="782955"/>
            </a:xfrm>
            <a:prstGeom prst="roundRect">
              <a:avLst>
                <a:gd name="adj" fmla="val 1459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38188" y="5472115"/>
              <a:ext cx="200023" cy="200023"/>
              <a:chOff x="738188" y="5472115"/>
              <a:chExt cx="200023" cy="200023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547211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71538" y="55387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0130" y="5329238"/>
              <a:ext cx="4015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每一步都是同一个套路：先找瓶颈，再把瓶颈拆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出去单独扩容。后面两页还会用到它。</a:t>
              </a:r>
            </a:p>
          </p:txBody>
        </p:sp>
      </p:grpSp>
      <p:grpSp>
        <p:nvGrpSpPr>
          <p:cNvPr id="67" name="c2-graph-1"/>
          <p:cNvGrpSpPr/>
          <p:nvPr/>
        </p:nvGrpSpPr>
        <p:grpSpPr>
          <a:xfrm>
            <a:off x="6448425" y="1482090"/>
            <a:ext cx="4577715" cy="3315081"/>
            <a:chOff x="6448425" y="1482090"/>
            <a:chExt cx="4577715" cy="3315081"/>
          </a:xfrm>
        </p:grpSpPr>
        <p:sp>
          <p:nvSpPr>
            <p:cNvPr id="31" name="Freeform 31"/>
            <p:cNvSpPr/>
            <p:nvPr/>
          </p:nvSpPr>
          <p:spPr>
            <a:xfrm>
              <a:off x="8737282" y="1986915"/>
              <a:ext cx="9525" cy="241935"/>
            </a:xfrm>
            <a:custGeom>
              <a:avLst/>
              <a:gdLst/>
              <a:ahLst/>
              <a:cxnLst/>
              <a:rect l="l" t="t" r="r" b="b"/>
              <a:pathLst>
                <a:path w="9525" h="241935">
                  <a:moveTo>
                    <a:pt x="0" y="0"/>
                  </a:moveTo>
                  <a:lnTo>
                    <a:pt x="0" y="24193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8689658" y="22288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7276148" y="2616518"/>
              <a:ext cx="1194435" cy="591503"/>
            </a:xfrm>
            <a:custGeom>
              <a:avLst/>
              <a:gdLst/>
              <a:ahLst/>
              <a:cxnLst/>
              <a:rect l="l" t="t" r="r" b="b"/>
              <a:pathLst>
                <a:path w="1194435" h="591503">
                  <a:moveTo>
                    <a:pt x="1194435" y="0"/>
                  </a:moveTo>
                  <a:lnTo>
                    <a:pt x="0" y="59150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7190422" y="3165158"/>
              <a:ext cx="106680" cy="84772"/>
            </a:xfrm>
            <a:custGeom>
              <a:avLst/>
              <a:gdLst/>
              <a:ahLst/>
              <a:cxnLst/>
              <a:rect l="l" t="t" r="r" b="b"/>
              <a:pathLst>
                <a:path w="106680" h="84772">
                  <a:moveTo>
                    <a:pt x="0" y="84772"/>
                  </a:moveTo>
                  <a:lnTo>
                    <a:pt x="64770" y="0"/>
                  </a:lnTo>
                  <a:lnTo>
                    <a:pt x="106680" y="8477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8737282" y="2644140"/>
              <a:ext cx="9525" cy="510540"/>
            </a:xfrm>
            <a:custGeom>
              <a:avLst/>
              <a:gdLst/>
              <a:ahLst/>
              <a:cxnLst/>
              <a:rect l="l" t="t" r="r" b="b"/>
              <a:pathLst>
                <a:path w="9525" h="510540">
                  <a:moveTo>
                    <a:pt x="0" y="0"/>
                  </a:moveTo>
                  <a:lnTo>
                    <a:pt x="0" y="51054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8689658" y="31546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9003982" y="2616518"/>
              <a:ext cx="1194435" cy="591503"/>
            </a:xfrm>
            <a:custGeom>
              <a:avLst/>
              <a:gdLst/>
              <a:ahLst/>
              <a:cxnLst/>
              <a:rect l="l" t="t" r="r" b="b"/>
              <a:pathLst>
                <a:path w="1194435" h="591503">
                  <a:moveTo>
                    <a:pt x="0" y="0"/>
                  </a:moveTo>
                  <a:lnTo>
                    <a:pt x="1194435" y="59150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10177462" y="3165158"/>
              <a:ext cx="106680" cy="84772"/>
            </a:xfrm>
            <a:custGeom>
              <a:avLst/>
              <a:gdLst/>
              <a:ahLst/>
              <a:cxnLst/>
              <a:rect l="l" t="t" r="r" b="b"/>
              <a:pathLst>
                <a:path w="106680" h="84772">
                  <a:moveTo>
                    <a:pt x="106680" y="84772"/>
                  </a:moveTo>
                  <a:lnTo>
                    <a:pt x="0" y="84772"/>
                  </a:lnTo>
                  <a:lnTo>
                    <a:pt x="4191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6966585" y="3569970"/>
              <a:ext cx="393383" cy="635317"/>
            </a:xfrm>
            <a:custGeom>
              <a:avLst/>
              <a:gdLst/>
              <a:ahLst/>
              <a:cxnLst/>
              <a:rect l="l" t="t" r="r" b="b"/>
              <a:pathLst>
                <a:path w="393383" h="635317">
                  <a:moveTo>
                    <a:pt x="0" y="0"/>
                  </a:moveTo>
                  <a:lnTo>
                    <a:pt x="393383" y="6353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7319962" y="4180522"/>
              <a:ext cx="90488" cy="105728"/>
            </a:xfrm>
            <a:custGeom>
              <a:avLst/>
              <a:gdLst/>
              <a:ahLst/>
              <a:cxnLst/>
              <a:rect l="l" t="t" r="r" b="b"/>
              <a:pathLst>
                <a:path w="90488" h="105728">
                  <a:moveTo>
                    <a:pt x="90488" y="105728"/>
                  </a:moveTo>
                  <a:lnTo>
                    <a:pt x="0" y="49530"/>
                  </a:lnTo>
                  <a:lnTo>
                    <a:pt x="8096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7286625" y="3566160"/>
              <a:ext cx="1918335" cy="714375"/>
            </a:xfrm>
            <a:custGeom>
              <a:avLst/>
              <a:gdLst/>
              <a:ahLst/>
              <a:cxnLst/>
              <a:rect l="l" t="t" r="r" b="b"/>
              <a:pathLst>
                <a:path w="1918335" h="714375">
                  <a:moveTo>
                    <a:pt x="0" y="0"/>
                  </a:moveTo>
                  <a:lnTo>
                    <a:pt x="1918335" y="7143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9188768" y="4235768"/>
              <a:ext cx="105727" cy="89535"/>
            </a:xfrm>
            <a:custGeom>
              <a:avLst/>
              <a:gdLst/>
              <a:ahLst/>
              <a:cxnLst/>
              <a:rect l="l" t="t" r="r" b="b"/>
              <a:pathLst>
                <a:path w="105727" h="89535">
                  <a:moveTo>
                    <a:pt x="105727" y="78105"/>
                  </a:moveTo>
                  <a:lnTo>
                    <a:pt x="0" y="89535"/>
                  </a:lnTo>
                  <a:lnTo>
                    <a:pt x="3333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7900988" y="3569970"/>
              <a:ext cx="670560" cy="649605"/>
            </a:xfrm>
            <a:custGeom>
              <a:avLst/>
              <a:gdLst/>
              <a:ahLst/>
              <a:cxnLst/>
              <a:rect l="l" t="t" r="r" b="b"/>
              <a:pathLst>
                <a:path w="670560" h="649605">
                  <a:moveTo>
                    <a:pt x="670560" y="0"/>
                  </a:moveTo>
                  <a:lnTo>
                    <a:pt x="0" y="6496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7832408" y="4186238"/>
              <a:ext cx="100965" cy="100012"/>
            </a:xfrm>
            <a:custGeom>
              <a:avLst/>
              <a:gdLst/>
              <a:ahLst/>
              <a:cxnLst/>
              <a:rect l="l" t="t" r="r" b="b"/>
              <a:pathLst>
                <a:path w="100965" h="100012">
                  <a:moveTo>
                    <a:pt x="0" y="100012"/>
                  </a:moveTo>
                  <a:lnTo>
                    <a:pt x="35243" y="0"/>
                  </a:lnTo>
                  <a:lnTo>
                    <a:pt x="100965" y="6762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8902065" y="3569970"/>
              <a:ext cx="671512" cy="649605"/>
            </a:xfrm>
            <a:custGeom>
              <a:avLst/>
              <a:gdLst/>
              <a:ahLst/>
              <a:cxnLst/>
              <a:rect l="l" t="t" r="r" b="b"/>
              <a:pathLst>
                <a:path w="671512" h="649605">
                  <a:moveTo>
                    <a:pt x="0" y="0"/>
                  </a:moveTo>
                  <a:lnTo>
                    <a:pt x="671512" y="6496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9540240" y="4186238"/>
              <a:ext cx="101917" cy="100012"/>
            </a:xfrm>
            <a:custGeom>
              <a:avLst/>
              <a:gdLst/>
              <a:ahLst/>
              <a:cxnLst/>
              <a:rect l="l" t="t" r="r" b="b"/>
              <a:pathLst>
                <a:path w="101917" h="100012">
                  <a:moveTo>
                    <a:pt x="101917" y="100012"/>
                  </a:moveTo>
                  <a:lnTo>
                    <a:pt x="0" y="67628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8268652" y="3566160"/>
              <a:ext cx="1919287" cy="714375"/>
            </a:xfrm>
            <a:custGeom>
              <a:avLst/>
              <a:gdLst/>
              <a:ahLst/>
              <a:cxnLst/>
              <a:rect l="l" t="t" r="r" b="b"/>
              <a:pathLst>
                <a:path w="1919287" h="714375">
                  <a:moveTo>
                    <a:pt x="1919287" y="0"/>
                  </a:moveTo>
                  <a:lnTo>
                    <a:pt x="0" y="7143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8180070" y="4235768"/>
              <a:ext cx="105728" cy="89535"/>
            </a:xfrm>
            <a:custGeom>
              <a:avLst/>
              <a:gdLst/>
              <a:ahLst/>
              <a:cxnLst/>
              <a:rect l="l" t="t" r="r" b="b"/>
              <a:pathLst>
                <a:path w="105728" h="89535">
                  <a:moveTo>
                    <a:pt x="0" y="78105"/>
                  </a:moveTo>
                  <a:lnTo>
                    <a:pt x="72390" y="0"/>
                  </a:lnTo>
                  <a:lnTo>
                    <a:pt x="105728" y="8953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10113645" y="3569970"/>
              <a:ext cx="394335" cy="635317"/>
            </a:xfrm>
            <a:custGeom>
              <a:avLst/>
              <a:gdLst/>
              <a:ahLst/>
              <a:cxnLst/>
              <a:rect l="l" t="t" r="r" b="b"/>
              <a:pathLst>
                <a:path w="394335" h="635317">
                  <a:moveTo>
                    <a:pt x="394335" y="0"/>
                  </a:moveTo>
                  <a:lnTo>
                    <a:pt x="0" y="6353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10064115" y="4180522"/>
              <a:ext cx="90488" cy="105728"/>
            </a:xfrm>
            <a:custGeom>
              <a:avLst/>
              <a:gdLst/>
              <a:ahLst/>
              <a:cxnLst/>
              <a:rect l="l" t="t" r="r" b="b"/>
              <a:pathLst>
                <a:path w="90488" h="105728">
                  <a:moveTo>
                    <a:pt x="0" y="105728"/>
                  </a:moveTo>
                  <a:lnTo>
                    <a:pt x="9525" y="0"/>
                  </a:lnTo>
                  <a:lnTo>
                    <a:pt x="90488" y="4953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8489632" y="1482090"/>
              <a:ext cx="495300" cy="4953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8470582" y="2324100"/>
              <a:ext cx="533400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448425" y="3249930"/>
              <a:ext cx="838200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8318182" y="3249930"/>
              <a:ext cx="838200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10187940" y="3249930"/>
              <a:ext cx="838200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957060" y="4286250"/>
              <a:ext cx="1223010" cy="510540"/>
            </a:xfrm>
            <a:prstGeom prst="roundRect">
              <a:avLst>
                <a:gd name="adj" fmla="val 18657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9294495" y="4286250"/>
              <a:ext cx="1223010" cy="510540"/>
            </a:xfrm>
            <a:prstGeom prst="roundRect">
              <a:avLst>
                <a:gd name="adj" fmla="val 18657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569642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569642" y="240982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网关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538341" y="333565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网页服务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408098" y="333565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网页服务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277856" y="333565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网页服务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248064" y="4371975"/>
              <a:ext cx="6410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数据库 1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028673" y="4562475"/>
              <a:ext cx="10797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用户 ID 为奇数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585499" y="4371975"/>
              <a:ext cx="6410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数据库 2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366108" y="4562475"/>
              <a:ext cx="10797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用户 ID 为偶数</a:t>
              </a:r>
            </a:p>
          </p:txBody>
        </p:sp>
      </p:grpSp>
      <p:grpSp>
        <p:nvGrpSpPr>
          <p:cNvPr id="69" name="c2-text-2"/>
          <p:cNvGrpSpPr/>
          <p:nvPr/>
        </p:nvGrpSpPr>
        <p:grpSpPr>
          <a:xfrm>
            <a:off x="5809488" y="5164931"/>
            <a:ext cx="4757105" cy="249364"/>
            <a:chOff x="5809488" y="5164931"/>
            <a:chExt cx="4757105" cy="249364"/>
          </a:xfrm>
        </p:grpSpPr>
        <p:sp>
          <p:nvSpPr>
            <p:cNvPr id="68" name="TextBox 68"/>
            <p:cNvSpPr txBox="1"/>
            <p:nvPr/>
          </p:nvSpPr>
          <p:spPr>
            <a:xfrm>
              <a:off x="5809488" y="5164931"/>
              <a:ext cx="47571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第四步之后的结构。按用户 ID 奇偶分库是补充的一种切分方式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61142" cy="909257"/>
            <a:chOff x="520446" y="342900"/>
            <a:chExt cx="86611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面向服务与云原生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611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电商网站的扩容之路（二）：加了登录，服务有了“状态”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bullets-1"/>
          <p:cNvGrpSpPr/>
          <p:nvPr/>
        </p:nvGrpSpPr>
        <p:grpSpPr>
          <a:xfrm>
            <a:off x="541972" y="1545907"/>
            <a:ext cx="5440109" cy="1144144"/>
            <a:chOff x="541972" y="1545907"/>
            <a:chExt cx="5440109" cy="1144144"/>
          </a:xfrm>
        </p:grpSpPr>
        <p:sp>
          <p:nvSpPr>
            <p:cNvPr id="7" name="Ellipse 7"/>
            <p:cNvSpPr/>
            <p:nvPr/>
          </p:nvSpPr>
          <p:spPr>
            <a:xfrm>
              <a:off x="541972" y="160210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7992" y="1545907"/>
              <a:ext cx="52840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原来的网站没有登录功能，客户点开商品页面、填表提交就能购买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541972" y="191357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97992" y="1857375"/>
              <a:ext cx="503720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加入账户功能后，网站有了 </a:t>
              </a: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：每个人看到的购物车、个人信息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都不一样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41972" y="248221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7992" y="2426018"/>
              <a:ext cx="33940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登录状态（session）一般保存在服务器上</a:t>
              </a:r>
            </a:p>
          </p:txBody>
        </p:sp>
      </p:grpSp>
      <p:grpSp>
        <p:nvGrpSpPr>
          <p:cNvPr id="27" name="c1-steps-2"/>
          <p:cNvGrpSpPr/>
          <p:nvPr/>
        </p:nvGrpSpPr>
        <p:grpSpPr>
          <a:xfrm>
            <a:off x="533400" y="2821305"/>
            <a:ext cx="4831695" cy="1693069"/>
            <a:chOff x="533400" y="2821305"/>
            <a:chExt cx="4831695" cy="1693069"/>
          </a:xfrm>
        </p:grpSpPr>
        <p:sp>
          <p:nvSpPr>
            <p:cNvPr id="14" name="Rectangle 14"/>
            <p:cNvSpPr/>
            <p:nvPr/>
          </p:nvSpPr>
          <p:spPr>
            <a:xfrm>
              <a:off x="666750" y="2964180"/>
              <a:ext cx="19050" cy="1173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282130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28951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40804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34818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399478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40686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5642" y="285273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第一次访问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785" y="3120866"/>
              <a:ext cx="44183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 A 被网关发到服务器 X，登录成功，session 存在 X 的内存里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5642" y="344043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第二次访问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785" y="3707606"/>
              <a:ext cx="37998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网关把 A 的请求发给了服务器 Y，Y 上没有 A 的 session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5642" y="402717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785" y="4294346"/>
              <a:ext cx="33131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发现自己白登录了，前面做的横向扩展出了问题</a:t>
              </a:r>
            </a:p>
          </p:txBody>
        </p:sp>
      </p:grpSp>
      <p:grpSp>
        <p:nvGrpSpPr>
          <p:cNvPr id="33" name="c1-card-3"/>
          <p:cNvGrpSpPr/>
          <p:nvPr/>
        </p:nvGrpSpPr>
        <p:grpSpPr>
          <a:xfrm>
            <a:off x="533400" y="4683442"/>
            <a:ext cx="5410200" cy="1209675"/>
            <a:chOff x="533400" y="4683442"/>
            <a:chExt cx="5410200" cy="1209675"/>
          </a:xfrm>
        </p:grpSpPr>
        <p:sp>
          <p:nvSpPr>
            <p:cNvPr id="28" name="Rectangle 28"/>
            <p:cNvSpPr/>
            <p:nvPr/>
          </p:nvSpPr>
          <p:spPr>
            <a:xfrm>
              <a:off x="533400" y="4683442"/>
              <a:ext cx="5410200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925" y="4816792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63905" y="4875848"/>
              <a:ext cx="1799272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92322" y="4910138"/>
              <a:ext cx="17433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JWT（JSON Web Token）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7047" y="5232083"/>
              <a:ext cx="46685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服务器把用户 ID、过期时间等信息签名后交给浏览器保存；之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后每次请求都带上，服务器只验证签名，不必查 session。</a:t>
              </a:r>
            </a:p>
          </p:txBody>
        </p:sp>
      </p:grpSp>
      <p:grpSp>
        <p:nvGrpSpPr>
          <p:cNvPr id="54" name="c2-table-1"/>
          <p:cNvGrpSpPr/>
          <p:nvPr/>
        </p:nvGrpSpPr>
        <p:grpSpPr>
          <a:xfrm>
            <a:off x="6243066" y="1524000"/>
            <a:ext cx="5415534" cy="3498151"/>
            <a:chOff x="6243066" y="1524000"/>
            <a:chExt cx="5415534" cy="3498151"/>
          </a:xfrm>
        </p:grpSpPr>
        <p:sp>
          <p:nvSpPr>
            <p:cNvPr id="34" name="Rectangle 34"/>
            <p:cNvSpPr/>
            <p:nvPr/>
          </p:nvSpPr>
          <p:spPr>
            <a:xfrm>
              <a:off x="6248400" y="1524000"/>
              <a:ext cx="5410200" cy="44481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55117" y="165163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办法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85810" y="165163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496550" y="165163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47270" y="233648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粘性会话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37894" y="2216468"/>
              <a:ext cx="189966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网关始终把同一用户的请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求发到同一台服务器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809607" y="2096452"/>
              <a:ext cx="1556766" cy="7440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那台服务器宕机，上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面用户的登录全丢；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负载可能不均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48400" y="28889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48400" y="2893695"/>
              <a:ext cx="5410200" cy="92487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47270" y="3141345"/>
              <a:ext cx="887254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session 池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537894" y="3021330"/>
              <a:ext cx="1933956" cy="7440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所有服务器把 session 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进同一个缓存（如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Redis）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809607" y="3141345"/>
              <a:ext cx="155676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多了一个要保证高可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用的组件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48400" y="38128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47270" y="4186238"/>
              <a:ext cx="3867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JWT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537894" y="3946208"/>
              <a:ext cx="1899666" cy="7440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服务器不存 session，把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签过名的令牌交给用户自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己保存，每次请求带上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809607" y="4066222"/>
              <a:ext cx="155676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令牌发出后难以提前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作废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248400" y="1524000"/>
              <a:ext cx="5410200" cy="321849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434262" y="1524000"/>
              <a:ext cx="9525" cy="32184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9705975" y="1524000"/>
              <a:ext cx="9525" cy="32184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243066" y="4816792"/>
              <a:ext cx="41623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原课件给出这三种思路，选了最省事的 JWT；“代价”一列是补充的</a:t>
              </a:r>
            </a:p>
          </p:txBody>
        </p:sp>
      </p:grpSp>
      <p:grpSp>
        <p:nvGrpSpPr>
          <p:cNvPr id="60" name="c2-callout-2"/>
          <p:cNvGrpSpPr/>
          <p:nvPr/>
        </p:nvGrpSpPr>
        <p:grpSpPr>
          <a:xfrm>
            <a:off x="6248400" y="5155882"/>
            <a:ext cx="5410200" cy="736282"/>
            <a:chOff x="6248400" y="5155882"/>
            <a:chExt cx="5410200" cy="736282"/>
          </a:xfrm>
        </p:grpSpPr>
        <p:sp>
          <p:nvSpPr>
            <p:cNvPr id="55" name="Rectangle 55"/>
            <p:cNvSpPr/>
            <p:nvPr/>
          </p:nvSpPr>
          <p:spPr>
            <a:xfrm>
              <a:off x="6248400" y="5155882"/>
              <a:ext cx="5410200" cy="736282"/>
            </a:xfrm>
            <a:prstGeom prst="roundRect">
              <a:avLst>
                <a:gd name="adj" fmla="val 15524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6453188" y="5424490"/>
              <a:ext cx="200023" cy="200023"/>
              <a:chOff x="6453188" y="5424490"/>
              <a:chExt cx="200023" cy="200023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6453188" y="54244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586538" y="54911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6755892" y="5306378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三种办法的共同点：让任何一台网页服务器都能处理任何一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个请求，服务器之间重新变得等价。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面向服务与云原生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电商网站的扩容之路（三）：按业务拆成微服务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4652137" cy="2582514"/>
            <a:chOff x="533400" y="1533525"/>
            <a:chExt cx="4652137" cy="2582514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7706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41935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30422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3780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4880" y="1567815"/>
              <a:ext cx="18639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找到最“贪婪”的功能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023" y="1861661"/>
              <a:ext cx="42395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分析发现大部分带宽和计算时间被图片评论占了：上传图片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耗带宽，服务器端压缩图片耗 CPU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245364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拆出去单独扩容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2746534"/>
              <a:ext cx="40769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把图片评论拆成独立进程（服务），放到几台独立的机器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上；其他服务不再卡顿，只需单独给它扩容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333851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一步到位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3632359"/>
              <a:ext cx="42395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每个业务都拆成一个进程，彼此通过通信互相调用，形成许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多高内聚、低耦合的微服务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4294822"/>
            <a:ext cx="4977765" cy="1887855"/>
            <a:chOff x="533400" y="4294822"/>
            <a:chExt cx="4977765" cy="1887855"/>
          </a:xfrm>
        </p:grpSpPr>
        <p:sp>
          <p:nvSpPr>
            <p:cNvPr id="21" name="Rectangle 21"/>
            <p:cNvSpPr/>
            <p:nvPr/>
          </p:nvSpPr>
          <p:spPr>
            <a:xfrm>
              <a:off x="533400" y="4294822"/>
              <a:ext cx="4977765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4428172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81050" y="4504372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67308" y="454009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微服务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3430" y="4881562"/>
              <a:ext cx="42062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一种软件架构风格：以专注于单一责任和功能的小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型功能区块为基础，用模块化的方式组合出复杂的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大型应用，各区块用与语言无关的 API 互相通信。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它是 SOA 的进化。</a:t>
              </a:r>
            </a:p>
          </p:txBody>
        </p:sp>
      </p:grpSp>
      <p:grpSp>
        <p:nvGrpSpPr>
          <p:cNvPr id="61" name="c2-graph-1"/>
          <p:cNvGrpSpPr/>
          <p:nvPr/>
        </p:nvGrpSpPr>
        <p:grpSpPr>
          <a:xfrm>
            <a:off x="6035040" y="1695450"/>
            <a:ext cx="5166360" cy="2419731"/>
            <a:chOff x="6035040" y="1695450"/>
            <a:chExt cx="5166360" cy="2419731"/>
          </a:xfrm>
        </p:grpSpPr>
        <p:sp>
          <p:nvSpPr>
            <p:cNvPr id="27" name="Freeform 27"/>
            <p:cNvSpPr/>
            <p:nvPr/>
          </p:nvSpPr>
          <p:spPr>
            <a:xfrm>
              <a:off x="6539865" y="2905125"/>
              <a:ext cx="549592" cy="9525"/>
            </a:xfrm>
            <a:custGeom>
              <a:avLst/>
              <a:gdLst/>
              <a:ahLst/>
              <a:cxnLst/>
              <a:rect l="l" t="t" r="r" b="b"/>
              <a:pathLst>
                <a:path w="549592" h="9525">
                  <a:moveTo>
                    <a:pt x="0" y="0"/>
                  </a:moveTo>
                  <a:lnTo>
                    <a:pt x="54959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7089458" y="2857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7692390" y="2067878"/>
              <a:ext cx="1017270" cy="677228"/>
            </a:xfrm>
            <a:custGeom>
              <a:avLst/>
              <a:gdLst/>
              <a:ahLst/>
              <a:cxnLst/>
              <a:rect l="l" t="t" r="r" b="b"/>
              <a:pathLst>
                <a:path w="1017270" h="677228">
                  <a:moveTo>
                    <a:pt x="0" y="677228"/>
                  </a:moveTo>
                  <a:lnTo>
                    <a:pt x="101727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8682990" y="2015490"/>
              <a:ext cx="105728" cy="92393"/>
            </a:xfrm>
            <a:custGeom>
              <a:avLst/>
              <a:gdLst/>
              <a:ahLst/>
              <a:cxnLst/>
              <a:rect l="l" t="t" r="r" b="b"/>
              <a:pathLst>
                <a:path w="105728" h="92393">
                  <a:moveTo>
                    <a:pt x="105728" y="0"/>
                  </a:moveTo>
                  <a:lnTo>
                    <a:pt x="52388" y="92393"/>
                  </a:lnTo>
                  <a:lnTo>
                    <a:pt x="0" y="1333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7718108" y="2905125"/>
              <a:ext cx="797243" cy="9525"/>
            </a:xfrm>
            <a:custGeom>
              <a:avLst/>
              <a:gdLst/>
              <a:ahLst/>
              <a:cxnLst/>
              <a:rect l="l" t="t" r="r" b="b"/>
              <a:pathLst>
                <a:path w="797243" h="9525">
                  <a:moveTo>
                    <a:pt x="0" y="0"/>
                  </a:moveTo>
                  <a:lnTo>
                    <a:pt x="79724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8515350" y="2857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7692390" y="3065145"/>
              <a:ext cx="1017270" cy="677227"/>
            </a:xfrm>
            <a:custGeom>
              <a:avLst/>
              <a:gdLst/>
              <a:ahLst/>
              <a:cxnLst/>
              <a:rect l="l" t="t" r="r" b="b"/>
              <a:pathLst>
                <a:path w="1017270" h="677227">
                  <a:moveTo>
                    <a:pt x="0" y="0"/>
                  </a:moveTo>
                  <a:lnTo>
                    <a:pt x="1017270" y="67722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8682990" y="3702368"/>
              <a:ext cx="105728" cy="92392"/>
            </a:xfrm>
            <a:custGeom>
              <a:avLst/>
              <a:gdLst/>
              <a:ahLst/>
              <a:cxnLst/>
              <a:rect l="l" t="t" r="r" b="b"/>
              <a:pathLst>
                <a:path w="105728" h="92392">
                  <a:moveTo>
                    <a:pt x="105728" y="92392"/>
                  </a:moveTo>
                  <a:lnTo>
                    <a:pt x="0" y="79058"/>
                  </a:lnTo>
                  <a:lnTo>
                    <a:pt x="5238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9029700" y="2110740"/>
              <a:ext cx="9525" cy="634365"/>
            </a:xfrm>
            <a:custGeom>
              <a:avLst/>
              <a:gdLst/>
              <a:ahLst/>
              <a:cxnLst/>
              <a:rect l="l" t="t" r="r" b="b"/>
              <a:pathLst>
                <a:path w="9525" h="634365">
                  <a:moveTo>
                    <a:pt x="0" y="63436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8982075" y="20154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9029700" y="3065145"/>
              <a:ext cx="9525" cy="634365"/>
            </a:xfrm>
            <a:custGeom>
              <a:avLst/>
              <a:gdLst/>
              <a:ahLst/>
              <a:cxnLst/>
              <a:rect l="l" t="t" r="r" b="b"/>
              <a:pathLst>
                <a:path w="9525" h="634365">
                  <a:moveTo>
                    <a:pt x="0" y="0"/>
                  </a:moveTo>
                  <a:lnTo>
                    <a:pt x="0" y="6343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8982075" y="369951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9204008" y="2576512"/>
              <a:ext cx="1332548" cy="1218247"/>
            </a:xfrm>
            <a:custGeom>
              <a:avLst/>
              <a:gdLst/>
              <a:ahLst/>
              <a:cxnLst/>
              <a:rect l="l" t="t" r="r" b="b"/>
              <a:pathLst>
                <a:path w="1332548" h="1218247">
                  <a:moveTo>
                    <a:pt x="0" y="1218247"/>
                  </a:moveTo>
                  <a:lnTo>
                    <a:pt x="133254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10504170" y="2512695"/>
              <a:ext cx="102870" cy="99060"/>
            </a:xfrm>
            <a:custGeom>
              <a:avLst/>
              <a:gdLst/>
              <a:ahLst/>
              <a:cxnLst/>
              <a:rect l="l" t="t" r="r" b="b"/>
              <a:pathLst>
                <a:path w="102870" h="99060">
                  <a:moveTo>
                    <a:pt x="102870" y="0"/>
                  </a:moveTo>
                  <a:lnTo>
                    <a:pt x="64770" y="99060"/>
                  </a:lnTo>
                  <a:lnTo>
                    <a:pt x="0" y="2952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9198292" y="2015490"/>
              <a:ext cx="1344930" cy="1271588"/>
            </a:xfrm>
            <a:custGeom>
              <a:avLst/>
              <a:gdLst/>
              <a:ahLst/>
              <a:cxnLst/>
              <a:rect l="l" t="t" r="r" b="b"/>
              <a:pathLst>
                <a:path w="1344930" h="1271588">
                  <a:moveTo>
                    <a:pt x="0" y="0"/>
                  </a:moveTo>
                  <a:lnTo>
                    <a:pt x="1344930" y="127158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10510838" y="3252788"/>
              <a:ext cx="101918" cy="100012"/>
            </a:xfrm>
            <a:custGeom>
              <a:avLst/>
              <a:gdLst/>
              <a:ahLst/>
              <a:cxnLst/>
              <a:rect l="l" t="t" r="r" b="b"/>
              <a:pathLst>
                <a:path w="101918" h="100012">
                  <a:moveTo>
                    <a:pt x="101918" y="100012"/>
                  </a:moveTo>
                  <a:lnTo>
                    <a:pt x="0" y="69533"/>
                  </a:lnTo>
                  <a:lnTo>
                    <a:pt x="6572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9448800" y="3050858"/>
              <a:ext cx="823912" cy="285750"/>
            </a:xfrm>
            <a:custGeom>
              <a:avLst/>
              <a:gdLst/>
              <a:ahLst/>
              <a:cxnLst/>
              <a:rect l="l" t="t" r="r" b="b"/>
              <a:pathLst>
                <a:path w="823912" h="285750">
                  <a:moveTo>
                    <a:pt x="0" y="0"/>
                  </a:moveTo>
                  <a:lnTo>
                    <a:pt x="823912" y="2857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10257472" y="3290888"/>
              <a:ext cx="105727" cy="90488"/>
            </a:xfrm>
            <a:custGeom>
              <a:avLst/>
              <a:gdLst/>
              <a:ahLst/>
              <a:cxnLst/>
              <a:rect l="l" t="t" r="r" b="b"/>
              <a:pathLst>
                <a:path w="105727" h="90488">
                  <a:moveTo>
                    <a:pt x="105727" y="76200"/>
                  </a:moveTo>
                  <a:lnTo>
                    <a:pt x="0" y="90488"/>
                  </a:lnTo>
                  <a:lnTo>
                    <a:pt x="3143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9448800" y="3641408"/>
              <a:ext cx="822007" cy="207645"/>
            </a:xfrm>
            <a:custGeom>
              <a:avLst/>
              <a:gdLst/>
              <a:ahLst/>
              <a:cxnLst/>
              <a:rect l="l" t="t" r="r" b="b"/>
              <a:pathLst>
                <a:path w="822007" h="207645">
                  <a:moveTo>
                    <a:pt x="0" y="207645"/>
                  </a:moveTo>
                  <a:lnTo>
                    <a:pt x="82200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10259378" y="3595688"/>
              <a:ext cx="103823" cy="92392"/>
            </a:xfrm>
            <a:custGeom>
              <a:avLst/>
              <a:gdLst/>
              <a:ahLst/>
              <a:cxnLst/>
              <a:rect l="l" t="t" r="r" b="b"/>
              <a:pathLst>
                <a:path w="103823" h="92392">
                  <a:moveTo>
                    <a:pt x="103823" y="22860"/>
                  </a:moveTo>
                  <a:lnTo>
                    <a:pt x="22860" y="92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6035040" y="2657475"/>
              <a:ext cx="495300" cy="4953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184708" y="2745105"/>
              <a:ext cx="533400" cy="320040"/>
            </a:xfrm>
            <a:prstGeom prst="roundRect">
              <a:avLst>
                <a:gd name="adj" fmla="val 29762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8610600" y="1695450"/>
              <a:ext cx="838200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8610600" y="2745105"/>
              <a:ext cx="838200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8610600" y="3794760"/>
              <a:ext cx="838200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363200" y="2192655"/>
              <a:ext cx="838200" cy="320040"/>
            </a:xfrm>
            <a:prstGeom prst="roundRect">
              <a:avLst>
                <a:gd name="adj" fmla="val 29762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363200" y="3352800"/>
              <a:ext cx="838200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115050" y="283083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283767" y="283083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网关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700516" y="178117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用户账户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700516" y="283083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订单服务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700516" y="38804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商品信息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453116" y="227838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图片评论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453116" y="343852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数据接入</a:t>
              </a:r>
            </a:p>
          </p:txBody>
        </p:sp>
      </p:grpSp>
      <p:grpSp>
        <p:nvGrpSpPr>
          <p:cNvPr id="68" name="c2-callout-2"/>
          <p:cNvGrpSpPr/>
          <p:nvPr/>
        </p:nvGrpSpPr>
        <p:grpSpPr>
          <a:xfrm>
            <a:off x="5815965" y="4476750"/>
            <a:ext cx="5842635" cy="1705928"/>
            <a:chOff x="5815965" y="4476750"/>
            <a:chExt cx="5842635" cy="1705928"/>
          </a:xfrm>
        </p:grpSpPr>
        <p:sp>
          <p:nvSpPr>
            <p:cNvPr id="62" name="Rectangle 62"/>
            <p:cNvSpPr/>
            <p:nvPr/>
          </p:nvSpPr>
          <p:spPr>
            <a:xfrm>
              <a:off x="5815965" y="4476750"/>
              <a:ext cx="5842635" cy="1705928"/>
            </a:xfrm>
            <a:prstGeom prst="roundRect">
              <a:avLst>
                <a:gd name="adj" fmla="val 670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6020753" y="5230178"/>
              <a:ext cx="200026" cy="200025"/>
              <a:chOff x="6020753" y="5230178"/>
              <a:chExt cx="200026" cy="200025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6020753" y="523017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060491" y="527462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095207" y="538575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6322695" y="4949190"/>
              <a:ext cx="49491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每个服务都是独立进程，可以单独弹性扩展、灰度发布、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做 A/B 测试。图据原课件第108页，图片评论服务是按上一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步补画的。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758208" cy="909257"/>
            <a:chOff x="520446" y="342900"/>
            <a:chExt cx="475820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面向服务与云原生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75820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服务间通信之一：RESTful API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1004310" cy="264033"/>
            <a:chOff x="526542" y="1545907"/>
            <a:chExt cx="1100431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10043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微服务可以直接写成独立进程，配合 gRPC、HTTP（RESTful）等方式通信；也可以用框架，如 Java 下的 Spring Boot / Spring Cloud。</a:t>
              </a:r>
            </a:p>
          </p:txBody>
        </p:sp>
      </p:grpSp>
      <p:grpSp>
        <p:nvGrpSpPr>
          <p:cNvPr id="20" name="c1-card-1"/>
          <p:cNvGrpSpPr/>
          <p:nvPr/>
        </p:nvGrpSpPr>
        <p:grpSpPr>
          <a:xfrm>
            <a:off x="533400" y="1928812"/>
            <a:ext cx="4977765" cy="1828800"/>
            <a:chOff x="533400" y="1928812"/>
            <a:chExt cx="4977765" cy="182880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4977765" cy="1828800"/>
            </a:xfrm>
            <a:prstGeom prst="roundRect">
              <a:avLst>
                <a:gd name="adj" fmla="val 72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56210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8190" y="2115502"/>
              <a:ext cx="902018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3088" y="2148364"/>
              <a:ext cx="7731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RESTful API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1332" y="2459355"/>
              <a:ext cx="44580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 HTTP 的接口规范，常用于 Web 服务之间的交互。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6762" y="281559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2782" y="2759392"/>
              <a:ext cx="44813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最关键的抽象是 </a:t>
              </a: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：用 URI 标识，一般用 JSON 承载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66762" y="311658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22782" y="3060382"/>
              <a:ext cx="4286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用统一的接口访问资源：GET、POST、PUT、DELETE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66762" y="341661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22782" y="336042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无状态：每个请求自带全部所需信息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3928110"/>
            <a:ext cx="4977765" cy="2348865"/>
            <a:chOff x="533400" y="3928110"/>
            <a:chExt cx="4977765" cy="2348865"/>
          </a:xfrm>
        </p:grpSpPr>
        <p:sp>
          <p:nvSpPr>
            <p:cNvPr id="21" name="Rectangle 21"/>
            <p:cNvSpPr/>
            <p:nvPr/>
          </p:nvSpPr>
          <p:spPr>
            <a:xfrm>
              <a:off x="533400" y="3928110"/>
              <a:ext cx="4977765" cy="2348865"/>
            </a:xfrm>
            <a:prstGeom prst="roundRect">
              <a:avLst>
                <a:gd name="adj" fmla="val 56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4061460"/>
              <a:ext cx="47625" cy="20821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58190" y="411480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50862" y="414766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1332" y="4458652"/>
              <a:ext cx="42999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原课件写“操作具有幂等性”。GET、PUT、DELETE 是幂等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的，重复执行结果相同；POST 不是，同一个“添加学生”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请求发两次会建两条记录。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2475" y="5269706"/>
              <a:ext cx="434975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原课件也提醒：REST 定义的约束很多，实现代价大，按项目实际情况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设计接口。</a:t>
              </a:r>
            </a:p>
          </p:txBody>
        </p:sp>
      </p:grpSp>
      <p:grpSp>
        <p:nvGrpSpPr>
          <p:cNvPr id="31" name="c2-code-1"/>
          <p:cNvGrpSpPr/>
          <p:nvPr/>
        </p:nvGrpSpPr>
        <p:grpSpPr>
          <a:xfrm>
            <a:off x="5815965" y="1928812"/>
            <a:ext cx="5842635" cy="1592580"/>
            <a:chOff x="5815965" y="1928812"/>
            <a:chExt cx="5842635" cy="1592580"/>
          </a:xfrm>
        </p:grpSpPr>
        <p:sp>
          <p:nvSpPr>
            <p:cNvPr id="28" name="Rectangle 28"/>
            <p:cNvSpPr/>
            <p:nvPr/>
          </p:nvSpPr>
          <p:spPr>
            <a:xfrm>
              <a:off x="5815965" y="1928812"/>
              <a:ext cx="5842635" cy="1592580"/>
            </a:xfrm>
            <a:prstGeom prst="roundRect">
              <a:avLst>
                <a:gd name="adj" fmla="val 59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944362" y="2080736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查询学生与添加学生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944552" y="2339435"/>
              <a:ext cx="3373501" cy="10934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GET http:</a:t>
              </a:r>
              <a:r>
                <a:rPr lang="en-US" sz="86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//www.example.com/students/123456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→ 200 OK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{ 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"id"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: 123456, 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"name"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: 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"xiaoming"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"gender"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: 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"male"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POST http:</a:t>
              </a:r>
              <a:r>
                <a:rPr lang="en-US" sz="86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//www.example.com/students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{ 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"id"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: 123457, 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"name"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: 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"xiaohong"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"gender"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: 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"female"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}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→ 201 Created</a:t>
              </a:r>
            </a:p>
          </p:txBody>
        </p:sp>
      </p:grpSp>
      <p:grpSp>
        <p:nvGrpSpPr>
          <p:cNvPr id="56" name="c2-table-2"/>
          <p:cNvGrpSpPr/>
          <p:nvPr/>
        </p:nvGrpSpPr>
        <p:grpSpPr>
          <a:xfrm>
            <a:off x="5815965" y="3690938"/>
            <a:ext cx="5842635" cy="2000250"/>
            <a:chOff x="5815965" y="3690938"/>
            <a:chExt cx="5842635" cy="2000250"/>
          </a:xfrm>
        </p:grpSpPr>
        <p:sp>
          <p:nvSpPr>
            <p:cNvPr id="32" name="Rectangle 32"/>
            <p:cNvSpPr/>
            <p:nvPr/>
          </p:nvSpPr>
          <p:spPr>
            <a:xfrm>
              <a:off x="5815965" y="3690938"/>
              <a:ext cx="5842635" cy="40005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942493" y="381238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64701" y="381238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003001" y="381238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幂等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913120" y="4212431"/>
              <a:ext cx="17395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 /students/123456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79155" y="421243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查询一个学生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078388" y="421243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815965" y="448627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815965" y="4491038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913120" y="4612481"/>
              <a:ext cx="1245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POST /students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79155" y="461248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新建一个学生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078388" y="461248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815965" y="488632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913120" y="5012531"/>
              <a:ext cx="17395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PUT /students/123456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79155" y="501253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整体替换这个学生的信息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078388" y="501253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815965" y="528637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815965" y="5291138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913120" y="5412581"/>
              <a:ext cx="20221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DELETE /students/123456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479155" y="541258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删除这个学生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078388" y="541258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815965" y="3690938"/>
              <a:ext cx="5842635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8377238" y="3690938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10655618" y="3690938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8" name="c2-text-3"/>
          <p:cNvGrpSpPr/>
          <p:nvPr/>
        </p:nvGrpSpPr>
        <p:grpSpPr>
          <a:xfrm>
            <a:off x="5810250" y="5880259"/>
            <a:ext cx="5501894" cy="441008"/>
            <a:chOff x="5810250" y="5880259"/>
            <a:chExt cx="5501894" cy="441008"/>
          </a:xfrm>
        </p:grpSpPr>
        <p:sp>
          <p:nvSpPr>
            <p:cNvPr id="57" name="TextBox 57"/>
            <p:cNvSpPr txBox="1"/>
            <p:nvPr/>
          </p:nvSpPr>
          <p:spPr>
            <a:xfrm>
              <a:off x="5810250" y="5880259"/>
              <a:ext cx="5501894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原课件第111页的 JSON 里有两处中文右引号（”xiaohong"），JSON 只认半角双引号，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这里已改正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78040" cy="909257"/>
            <a:chOff x="520446" y="342900"/>
            <a:chExt cx="687804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面向服务与云原生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7804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服务间通信之二：gRPC，与 RESTful 比一比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193982" cy="1756410"/>
            <a:chOff x="533400" y="1524000"/>
            <a:chExt cx="5193982" cy="17564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756410"/>
            </a:xfrm>
            <a:prstGeom prst="roundRect">
              <a:avLst>
                <a:gd name="adj" fmla="val 75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8971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9720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7279" y="1737836"/>
              <a:ext cx="3275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gRPC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9138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Google 开发的高性能、通用的开源 RPC（远程过程调用）框架。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2000" y="2382202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17448" y="2330291"/>
              <a:ext cx="36523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 HTTP/2 设计：二进制传输，支持多路复用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2000" y="2667952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17448" y="2615089"/>
              <a:ext cx="20929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ProtoBuf 对数据序列化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62000" y="2952750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17448" y="2899886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支持大多数流行的编程语言</a:t>
              </a:r>
            </a:p>
          </p:txBody>
        </p:sp>
      </p:grpSp>
      <p:grpSp>
        <p:nvGrpSpPr>
          <p:cNvPr id="22" name="c1-code-2"/>
          <p:cNvGrpSpPr/>
          <p:nvPr/>
        </p:nvGrpSpPr>
        <p:grpSpPr>
          <a:xfrm>
            <a:off x="533400" y="3445192"/>
            <a:ext cx="5193982" cy="1947862"/>
            <a:chOff x="533400" y="3445192"/>
            <a:chExt cx="5193982" cy="1947862"/>
          </a:xfrm>
        </p:grpSpPr>
        <p:sp>
          <p:nvSpPr>
            <p:cNvPr id="19" name="Rectangle 19"/>
            <p:cNvSpPr/>
            <p:nvPr/>
          </p:nvSpPr>
          <p:spPr>
            <a:xfrm>
              <a:off x="533400" y="3445192"/>
              <a:ext cx="5193982" cy="1947862"/>
            </a:xfrm>
            <a:prstGeom prst="roundRect">
              <a:avLst>
                <a:gd name="adj" fmla="val 489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1797" y="3597116"/>
              <a:ext cx="27154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先写好的约定：student.proto（补充示例）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1988" y="3855625"/>
              <a:ext cx="2635885" cy="14506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32"/>
                </a:lnSpc>
              </a:pPr>
              <a:r>
                <a:rPr lang="en-US" sz="8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syntax = </a:t>
              </a:r>
              <a:r>
                <a:rPr lang="en-US" sz="80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"proto3"</a:t>
              </a:r>
              <a:r>
                <a:rPr lang="zh-CN" sz="8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8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message StudentId { int64 id = 1; }</a:t>
              </a:r>
              <a:br/>
              <a:r>
                <a:rPr lang="en-US" sz="8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message Student {</a:t>
              </a:r>
              <a:br/>
              <a:r>
                <a:rPr lang="en-US" sz="8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int64  id     = 1;</a:t>
              </a:r>
              <a:br/>
              <a:r>
                <a:rPr lang="en-US" sz="8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string name   = 2;</a:t>
              </a:r>
              <a:br/>
              <a:r>
                <a:rPr lang="en-US" sz="8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string gender = 3;</a:t>
              </a:r>
              <a:br/>
              <a:r>
                <a:rPr lang="zh-CN" sz="8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8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service StudentService {</a:t>
              </a:r>
              <a:br/>
              <a:r>
                <a:rPr lang="en-US" sz="8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rpc GetStudent (StudentId) returns (Student);</a:t>
              </a:r>
              <a:br/>
              <a:r>
                <a:rPr lang="zh-CN" sz="8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9" name="c1-callout-3"/>
          <p:cNvGrpSpPr/>
          <p:nvPr/>
        </p:nvGrpSpPr>
        <p:grpSpPr>
          <a:xfrm>
            <a:off x="533400" y="5557838"/>
            <a:ext cx="5193982" cy="702945"/>
            <a:chOff x="533400" y="5557838"/>
            <a:chExt cx="5193982" cy="702945"/>
          </a:xfrm>
        </p:grpSpPr>
        <p:sp>
          <p:nvSpPr>
            <p:cNvPr id="23" name="Rectangle 23"/>
            <p:cNvSpPr/>
            <p:nvPr/>
          </p:nvSpPr>
          <p:spPr>
            <a:xfrm>
              <a:off x="533400" y="5557838"/>
              <a:ext cx="5193982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38188" y="5809298"/>
              <a:ext cx="200026" cy="200025"/>
              <a:chOff x="738188" y="5809298"/>
              <a:chExt cx="200026" cy="200025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580929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77926" y="585374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12642" y="596487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1273" y="5703094"/>
              <a:ext cx="40769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这个 .proto 文件就是表里说的“约定”：双方按它生成代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码，调用 GetStudent 就像调用本地函数。</a:t>
              </a:r>
            </a:p>
          </p:txBody>
        </p:sp>
      </p:grpSp>
      <p:grpSp>
        <p:nvGrpSpPr>
          <p:cNvPr id="59" name="c2-table-1"/>
          <p:cNvGrpSpPr/>
          <p:nvPr/>
        </p:nvGrpSpPr>
        <p:grpSpPr>
          <a:xfrm>
            <a:off x="6027230" y="1524000"/>
            <a:ext cx="5631370" cy="2785776"/>
            <a:chOff x="6027230" y="1524000"/>
            <a:chExt cx="5631370" cy="2785776"/>
          </a:xfrm>
        </p:grpSpPr>
        <p:sp>
          <p:nvSpPr>
            <p:cNvPr id="30" name="Rectangle 30"/>
            <p:cNvSpPr/>
            <p:nvPr/>
          </p:nvSpPr>
          <p:spPr>
            <a:xfrm>
              <a:off x="6032182" y="1524000"/>
              <a:ext cx="5626418" cy="420052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70624" y="16454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58552" y="1645444"/>
              <a:ext cx="4278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gRPC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111908" y="1645444"/>
              <a:ext cx="11121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HTTP + JSON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125718" y="206549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序列化方式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81569" y="2065496"/>
              <a:ext cx="7818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ProtoBuf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443042" y="2065496"/>
              <a:ext cx="4499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JSON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032182" y="235934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032182" y="2364105"/>
              <a:ext cx="5626418" cy="42005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125718" y="248554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编码格式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07553" y="248554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二进制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489209" y="248554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文本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032182" y="278034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125718" y="290560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底层协议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65612" y="2905601"/>
              <a:ext cx="61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HTTP/2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948616" y="2905601"/>
              <a:ext cx="14387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HTTP（多为 1.1）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032182" y="320040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032182" y="3205162"/>
              <a:ext cx="5626418" cy="42005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125718" y="332565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约定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738918" y="3325654"/>
              <a:ext cx="16671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需要（.proto 文件）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403053" y="332565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不需要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032182" y="362045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125718" y="37466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数据体积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479866" y="374665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489209" y="37466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较大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032182" y="1524000"/>
              <a:ext cx="5626418" cy="252126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461885" y="1524000"/>
              <a:ext cx="9525" cy="25212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9673590" y="1524000"/>
              <a:ext cx="9525" cy="25212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027230" y="4119086"/>
              <a:ext cx="30310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原课件第113页的表，最后一行原作“压缩：是 / 否”</a:t>
              </a:r>
            </a:p>
          </p:txBody>
        </p:sp>
      </p:grpSp>
      <p:grpSp>
        <p:nvGrpSpPr>
          <p:cNvPr id="65" name="c2-card-2"/>
          <p:cNvGrpSpPr/>
          <p:nvPr/>
        </p:nvGrpSpPr>
        <p:grpSpPr>
          <a:xfrm>
            <a:off x="6032182" y="4435792"/>
            <a:ext cx="5626418" cy="1824990"/>
            <a:chOff x="6032182" y="4435792"/>
            <a:chExt cx="5626418" cy="1824990"/>
          </a:xfrm>
        </p:grpSpPr>
        <p:sp>
          <p:nvSpPr>
            <p:cNvPr id="60" name="Rectangle 60"/>
            <p:cNvSpPr/>
            <p:nvPr/>
          </p:nvSpPr>
          <p:spPr>
            <a:xfrm>
              <a:off x="6032182" y="4435792"/>
              <a:ext cx="5626418" cy="1824990"/>
            </a:xfrm>
            <a:prstGeom prst="roundRect">
              <a:avLst>
                <a:gd name="adj" fmla="val 73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041708" y="4569142"/>
              <a:ext cx="47625" cy="155829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251258" y="461676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342977" y="464962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244780" y="4957286"/>
              <a:ext cx="500354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HTTP + JSON 同样可以用 gzip 压缩传输，gRPC 的压缩也是可选项。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两者真正的差别在编码：ProtoBuf 用字段编号和二进制存数据，不带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字段名，比同样内容的 JSON 小得多。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面向服务与云原生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通信代理：服务之间的杂事交给谁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10654538" cy="541592"/>
            <a:chOff x="526161" y="1547336"/>
            <a:chExt cx="10654538" cy="54159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065453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微服务完成自身功能的同时还要和其他服务通信，围绕通信产生了许多问题：服务间怎样找到彼此，多个相同服务间如何负载均衡，如</a:t>
              </a:r>
              <a:br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何从外部做健康检查、继而熔断。</a:t>
              </a:r>
            </a:p>
          </p:txBody>
        </p:sp>
      </p:grpSp>
      <p:grpSp>
        <p:nvGrpSpPr>
          <p:cNvPr id="29" name="c1-compare-1"/>
          <p:cNvGrpSpPr/>
          <p:nvPr/>
        </p:nvGrpSpPr>
        <p:grpSpPr>
          <a:xfrm>
            <a:off x="533400" y="2204085"/>
            <a:ext cx="5410200" cy="2057400"/>
            <a:chOff x="533400" y="2204085"/>
            <a:chExt cx="5410200" cy="2057400"/>
          </a:xfrm>
        </p:grpSpPr>
        <p:sp>
          <p:nvSpPr>
            <p:cNvPr id="9" name="Rectangle 9"/>
            <p:cNvSpPr/>
            <p:nvPr/>
          </p:nvSpPr>
          <p:spPr>
            <a:xfrm>
              <a:off x="533400" y="2204085"/>
              <a:ext cx="2495550" cy="2057400"/>
            </a:xfrm>
            <a:prstGeom prst="roundRect">
              <a:avLst>
                <a:gd name="adj" fmla="val 64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337435"/>
              <a:ext cx="47625" cy="17907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7047" y="241839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与业务代码耦合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2478" y="279463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8497" y="2738438"/>
              <a:ext cx="16330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代表：Spring Cloud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2478" y="309753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8497" y="3041332"/>
              <a:ext cx="1728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通信功能以库的形式编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进服务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72478" y="365664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28497" y="360045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各语言要各写一套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448050" y="2204085"/>
              <a:ext cx="2495550" cy="2057400"/>
            </a:xfrm>
            <a:prstGeom prst="roundRect">
              <a:avLst>
                <a:gd name="adj" fmla="val 64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457575" y="2337435"/>
              <a:ext cx="47625" cy="17907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671697" y="241839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与业务代码分离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3687127" y="279463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843147" y="2738438"/>
              <a:ext cx="17024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代表：Istio（Service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Mesh）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3687127" y="335470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843147" y="3298508"/>
              <a:ext cx="1556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通信功能放进旁边的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Sidecar 进程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3687127" y="391382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843147" y="385762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与语言无关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3076575" y="307086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3046" y="3172301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38" name="c1-card-2"/>
          <p:cNvGrpSpPr/>
          <p:nvPr/>
        </p:nvGrpSpPr>
        <p:grpSpPr>
          <a:xfrm>
            <a:off x="533400" y="4436745"/>
            <a:ext cx="5410200" cy="1768792"/>
            <a:chOff x="533400" y="4436745"/>
            <a:chExt cx="5410200" cy="1768792"/>
          </a:xfrm>
        </p:grpSpPr>
        <p:sp>
          <p:nvSpPr>
            <p:cNvPr id="30" name="Rectangle 30"/>
            <p:cNvSpPr/>
            <p:nvPr/>
          </p:nvSpPr>
          <p:spPr>
            <a:xfrm>
              <a:off x="533400" y="4436745"/>
              <a:ext cx="5410200" cy="1768792"/>
            </a:xfrm>
            <a:prstGeom prst="roundRect">
              <a:avLst>
                <a:gd name="adj" fmla="val 75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42925" y="4570095"/>
              <a:ext cx="47625" cy="150209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63905" y="4628198"/>
              <a:ext cx="181356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08097" y="4662488"/>
              <a:ext cx="17251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Service Mesh 与 Sidecar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72478" y="504158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28497" y="4985385"/>
              <a:ext cx="457685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Service Mesh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（服务网格）：一个基础设施层，解决微服务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化之后服务间的通信和治理问题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72478" y="560070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28497" y="5544502"/>
              <a:ext cx="4605147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Sidecar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（边三轮、跨斗）：一种设计模式，把熔断、服务发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现等配件放进 Sidecar，让业务代码和辅助功能解耦</a:t>
              </a:r>
            </a:p>
          </p:txBody>
        </p:sp>
      </p:grpSp>
      <p:grpSp>
        <p:nvGrpSpPr>
          <p:cNvPr id="41" name="c2-image-1"/>
          <p:cNvGrpSpPr/>
          <p:nvPr/>
        </p:nvGrpSpPr>
        <p:grpSpPr>
          <a:xfrm>
            <a:off x="6288710" y="2204085"/>
            <a:ext cx="5329580" cy="4181094"/>
            <a:chOff x="6288710" y="2204085"/>
            <a:chExt cx="5329580" cy="4181094"/>
          </a:xfrm>
        </p:grpSpPr>
        <p:pic>
          <p:nvPicPr>
            <p:cNvPr id="39" name="Image 39"/>
            <p:cNvPicPr>
              <a:picLocks noChangeAspect="1"/>
            </p:cNvPicPr>
            <p:nvPr/>
          </p:nvPicPr>
          <p:blipFill>
            <a:blip r:embed="rId2"/>
            <a:srcRect l="5561" t="0" r="5561" b="0"/>
            <a:stretch>
              <a:fillRect/>
            </a:stretch>
          </p:blipFill>
          <p:spPr>
            <a:xfrm>
              <a:off x="6365558" y="2204085"/>
              <a:ext cx="5175885" cy="3882390"/>
            </a:xfrm>
            <a:prstGeom prst="roundRect">
              <a:avLst>
                <a:gd name="adj" fmla="val 3434"/>
              </a:avLst>
            </a:prstGeom>
          </p:spPr>
        </p:pic>
        <p:sp>
          <p:nvSpPr>
            <p:cNvPr id="40" name="TextBox 40"/>
            <p:cNvSpPr txBox="1"/>
            <p:nvPr/>
          </p:nvSpPr>
          <p:spPr>
            <a:xfrm>
              <a:off x="6288710" y="6179820"/>
              <a:ext cx="53295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骑手只管开车（业务逻辑），看地图、打电话这些杂事交给挎斗里的助手（Sidecar）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78788" cy="909257"/>
            <a:chOff x="520446" y="342900"/>
            <a:chExt cx="727878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面向服务与云原生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7878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Sidecar 模式：通信功能从服务里搬到服务旁边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graph-1"/>
          <p:cNvGrpSpPr/>
          <p:nvPr/>
        </p:nvGrpSpPr>
        <p:grpSpPr>
          <a:xfrm>
            <a:off x="1022032" y="1583055"/>
            <a:ext cx="4432936" cy="2368296"/>
            <a:chOff x="1022032" y="1583055"/>
            <a:chExt cx="4432936" cy="2368296"/>
          </a:xfrm>
        </p:grpSpPr>
        <p:sp>
          <p:nvSpPr>
            <p:cNvPr id="7" name="Freeform 7"/>
            <p:cNvSpPr/>
            <p:nvPr/>
          </p:nvSpPr>
          <p:spPr>
            <a:xfrm>
              <a:off x="2736532" y="2590800"/>
              <a:ext cx="1003935" cy="9525"/>
            </a:xfrm>
            <a:custGeom>
              <a:avLst/>
              <a:gdLst/>
              <a:ahLst/>
              <a:cxnLst/>
              <a:rect l="l" t="t" r="r" b="b"/>
              <a:pathLst>
                <a:path w="1003935" h="9525">
                  <a:moveTo>
                    <a:pt x="0" y="0"/>
                  </a:moveTo>
                  <a:lnTo>
                    <a:pt x="100393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8" name="Freeform 8"/>
            <p:cNvSpPr/>
            <p:nvPr/>
          </p:nvSpPr>
          <p:spPr>
            <a:xfrm>
              <a:off x="3740468" y="25431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641282" y="25431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2641282" y="3790950"/>
              <a:ext cx="1194435" cy="9525"/>
            </a:xfrm>
            <a:custGeom>
              <a:avLst/>
              <a:gdLst/>
              <a:ahLst/>
              <a:cxnLst/>
              <a:rect l="l" t="t" r="r" b="b"/>
              <a:pathLst>
                <a:path w="1194435" h="9525">
                  <a:moveTo>
                    <a:pt x="0" y="0"/>
                  </a:moveTo>
                  <a:lnTo>
                    <a:pt x="119443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1022032" y="2162175"/>
              <a:ext cx="1619250" cy="857250"/>
            </a:xfrm>
            <a:prstGeom prst="roundRect">
              <a:avLst>
                <a:gd name="adj" fmla="val 11111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3835718" y="2162175"/>
              <a:ext cx="1619250" cy="857250"/>
            </a:xfrm>
            <a:prstGeom prst="roundRect">
              <a:avLst>
                <a:gd name="adj" fmla="val 11111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1022032" y="3630930"/>
              <a:ext cx="1619250" cy="320040"/>
            </a:xfrm>
            <a:prstGeom prst="roundRect">
              <a:avLst>
                <a:gd name="adj" fmla="val 297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835718" y="3630930"/>
              <a:ext cx="1619250" cy="320040"/>
            </a:xfrm>
            <a:prstGeom prst="roundRect">
              <a:avLst>
                <a:gd name="adj" fmla="val 297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909316" y="158305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传统方式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87848" y="2326005"/>
              <a:ext cx="4876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服务 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02474" y="251650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业务逻辑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07296" y="2707005"/>
              <a:ext cx="14487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+ 熔断、服务发现库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01533" y="2326005"/>
              <a:ext cx="4876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服务 B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16158" y="251650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业务逻辑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20981" y="2707005"/>
              <a:ext cx="14487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+ 熔断、服务发现库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21702" y="371665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网络协议栈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235386" y="371665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网络协议栈</a:t>
              </a:r>
            </a:p>
          </p:txBody>
        </p:sp>
      </p:grpSp>
      <p:grpSp>
        <p:nvGrpSpPr>
          <p:cNvPr id="26" name="c1-text-2"/>
          <p:cNvGrpSpPr/>
          <p:nvPr/>
        </p:nvGrpSpPr>
        <p:grpSpPr>
          <a:xfrm>
            <a:off x="526923" y="4402931"/>
            <a:ext cx="5052314" cy="500824"/>
            <a:chOff x="526923" y="4402931"/>
            <a:chExt cx="5052314" cy="500824"/>
          </a:xfrm>
        </p:grpSpPr>
        <p:sp>
          <p:nvSpPr>
            <p:cNvPr id="25" name="TextBox 25"/>
            <p:cNvSpPr txBox="1"/>
            <p:nvPr/>
          </p:nvSpPr>
          <p:spPr>
            <a:xfrm>
              <a:off x="526923" y="4402931"/>
              <a:ext cx="5052314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熔断、服务发现以库的形式编译进每个服务，换一种语言写服务就要换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一套库。</a:t>
              </a:r>
            </a:p>
          </p:txBody>
        </p:sp>
      </p:grpSp>
      <p:grpSp>
        <p:nvGrpSpPr>
          <p:cNvPr id="52" name="c2-graph-1"/>
          <p:cNvGrpSpPr/>
          <p:nvPr/>
        </p:nvGrpSpPr>
        <p:grpSpPr>
          <a:xfrm>
            <a:off x="6421755" y="1583055"/>
            <a:ext cx="5063490" cy="2368296"/>
            <a:chOff x="6421755" y="1583055"/>
            <a:chExt cx="5063490" cy="2368296"/>
          </a:xfrm>
        </p:grpSpPr>
        <p:sp>
          <p:nvSpPr>
            <p:cNvPr id="27" name="Freeform 27"/>
            <p:cNvSpPr/>
            <p:nvPr/>
          </p:nvSpPr>
          <p:spPr>
            <a:xfrm>
              <a:off x="7374255" y="2590800"/>
              <a:ext cx="400050" cy="9525"/>
            </a:xfrm>
            <a:custGeom>
              <a:avLst/>
              <a:gdLst/>
              <a:ahLst/>
              <a:cxnLst/>
              <a:rect l="l" t="t" r="r" b="b"/>
              <a:pathLst>
                <a:path w="400050" h="9525">
                  <a:moveTo>
                    <a:pt x="0" y="0"/>
                  </a:moveTo>
                  <a:lnTo>
                    <a:pt x="40005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28" name="Freeform 28"/>
            <p:cNvSpPr/>
            <p:nvPr/>
          </p:nvSpPr>
          <p:spPr>
            <a:xfrm>
              <a:off x="8822055" y="2590800"/>
              <a:ext cx="262890" cy="9525"/>
            </a:xfrm>
            <a:custGeom>
              <a:avLst/>
              <a:gdLst/>
              <a:ahLst/>
              <a:cxnLst/>
              <a:rect l="l" t="t" r="r" b="b"/>
              <a:pathLst>
                <a:path w="262890" h="9525">
                  <a:moveTo>
                    <a:pt x="0" y="0"/>
                  </a:moveTo>
                  <a:lnTo>
                    <a:pt x="26289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29" name="Freeform 29"/>
            <p:cNvSpPr/>
            <p:nvPr/>
          </p:nvSpPr>
          <p:spPr>
            <a:xfrm>
              <a:off x="9084945" y="25431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8726805" y="25431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10132695" y="2590800"/>
              <a:ext cx="400050" cy="9525"/>
            </a:xfrm>
            <a:custGeom>
              <a:avLst/>
              <a:gdLst/>
              <a:ahLst/>
              <a:cxnLst/>
              <a:rect l="l" t="t" r="r" b="b"/>
              <a:pathLst>
                <a:path w="400050" h="9525">
                  <a:moveTo>
                    <a:pt x="0" y="0"/>
                  </a:moveTo>
                  <a:lnTo>
                    <a:pt x="40005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32" name="Freeform 32"/>
            <p:cNvSpPr/>
            <p:nvPr/>
          </p:nvSpPr>
          <p:spPr>
            <a:xfrm>
              <a:off x="8261032" y="3790950"/>
              <a:ext cx="1384935" cy="9525"/>
            </a:xfrm>
            <a:custGeom>
              <a:avLst/>
              <a:gdLst/>
              <a:ahLst/>
              <a:cxnLst/>
              <a:rect l="l" t="t" r="r" b="b"/>
              <a:pathLst>
                <a:path w="1384935" h="9525">
                  <a:moveTo>
                    <a:pt x="0" y="0"/>
                  </a:moveTo>
                  <a:lnTo>
                    <a:pt x="138493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21755" y="2257425"/>
              <a:ext cx="952500" cy="666750"/>
            </a:xfrm>
            <a:prstGeom prst="roundRect">
              <a:avLst>
                <a:gd name="adj" fmla="val 14286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7774305" y="2257425"/>
              <a:ext cx="952500" cy="666750"/>
            </a:xfrm>
            <a:prstGeom prst="roundRect">
              <a:avLst>
                <a:gd name="adj" fmla="val 14286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9180195" y="2257425"/>
              <a:ext cx="952500" cy="666750"/>
            </a:xfrm>
            <a:prstGeom prst="roundRect">
              <a:avLst>
                <a:gd name="adj" fmla="val 14286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10532745" y="2257425"/>
              <a:ext cx="952500" cy="666750"/>
            </a:xfrm>
            <a:prstGeom prst="roundRect">
              <a:avLst>
                <a:gd name="adj" fmla="val 14286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832282" y="3630930"/>
              <a:ext cx="1428750" cy="320040"/>
            </a:xfrm>
            <a:prstGeom prst="roundRect">
              <a:avLst>
                <a:gd name="adj" fmla="val 297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9645968" y="3630930"/>
              <a:ext cx="1428750" cy="320040"/>
            </a:xfrm>
            <a:prstGeom prst="roundRect">
              <a:avLst>
                <a:gd name="adj" fmla="val 297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52424" y="1583055"/>
              <a:ext cx="10021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Sidecar 方式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54195" y="2421255"/>
              <a:ext cx="4876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服务 A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68821" y="261175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业务逻辑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936672" y="2326005"/>
              <a:ext cx="6277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Sidecar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082915" y="251650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熔断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921371" y="270700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服务发现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342562" y="2326005"/>
              <a:ext cx="6277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Sidecar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488805" y="251650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熔断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327261" y="270700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服务发现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765185" y="2421255"/>
              <a:ext cx="4876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服务 B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679811" y="261175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业务逻辑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136702" y="371665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网络协议栈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950386" y="371665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网络协议栈</a:t>
              </a:r>
            </a:p>
          </p:txBody>
        </p:sp>
      </p:grpSp>
      <p:grpSp>
        <p:nvGrpSpPr>
          <p:cNvPr id="54" name="c2-text-2"/>
          <p:cNvGrpSpPr/>
          <p:nvPr/>
        </p:nvGrpSpPr>
        <p:grpSpPr>
          <a:xfrm>
            <a:off x="6241923" y="4402931"/>
            <a:ext cx="4954778" cy="500824"/>
            <a:chOff x="6241923" y="4402931"/>
            <a:chExt cx="4954778" cy="500824"/>
          </a:xfrm>
        </p:grpSpPr>
        <p:sp>
          <p:nvSpPr>
            <p:cNvPr id="53" name="TextBox 53"/>
            <p:cNvSpPr txBox="1"/>
            <p:nvPr/>
          </p:nvSpPr>
          <p:spPr>
            <a:xfrm>
              <a:off x="6241923" y="4402931"/>
              <a:ext cx="4954778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服务只和本机的 Sidecar 打交道，服务之间的通信由两个 Sidecar 代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劳。每个 Pod 配一个 Sidecar，连起来就是一张服务网格。</a:t>
              </a:r>
            </a:p>
          </p:txBody>
        </p:sp>
      </p:grpSp>
      <p:grpSp>
        <p:nvGrpSpPr>
          <p:cNvPr id="60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55" name="Rectangle 55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5871212"/>
              <a:ext cx="200023" cy="200023"/>
              <a:chOff x="738188" y="5871212"/>
              <a:chExt cx="200023" cy="200023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58712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71538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130" y="5728335"/>
              <a:ext cx="100355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Service Mesh 把通信逻辑和业务代码解耦，屏蔽了通信的复杂性；它与语言无关，微服务可以用任何喜欢的语言写，还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能加上熔断、流量加密等功能。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面向服务与云原生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服务发现、负载均衡、流量控制：三种方案各用什么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table-1"/>
          <p:cNvGrpSpPr/>
          <p:nvPr/>
        </p:nvGrpSpPr>
        <p:grpSpPr>
          <a:xfrm>
            <a:off x="528447" y="1524000"/>
            <a:ext cx="6280975" cy="3304889"/>
            <a:chOff x="528447" y="1524000"/>
            <a:chExt cx="6280975" cy="330488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20052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95679" y="16454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03048" y="1645444"/>
              <a:ext cx="10822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Spring Cloud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854649" y="1645444"/>
              <a:ext cx="10136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Kubernetes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717938" y="1645444"/>
              <a:ext cx="4246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Istio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6935" y="2065496"/>
              <a:ext cx="14759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服务发现：服务们怎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样找到彼此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510028" y="2178844"/>
              <a:ext cx="5869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Eureka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64470" y="2178844"/>
              <a:ext cx="6382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Service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145596" y="2178844"/>
              <a:ext cx="4921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Envoy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58603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590800"/>
              <a:ext cx="6276022" cy="110013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6935" y="2712244"/>
              <a:ext cx="1509725" cy="929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负载均衡：B 有 3 个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副本，A 该访问哪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个；很多 A 时流量怎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510028" y="2938939"/>
              <a:ext cx="55753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Feign /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Ribbon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764470" y="2938939"/>
              <a:ext cx="76073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Service、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Ingress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145596" y="3052286"/>
              <a:ext cx="4921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Envoy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68712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6935" y="3812381"/>
              <a:ext cx="147599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流量控制：灰度发布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要按报文内容（如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HTTP 头）动态路由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510028" y="403907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764470" y="403907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45596" y="3925729"/>
              <a:ext cx="115900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VirtualService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（Envoy 执行）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1524000"/>
              <a:ext cx="6276022" cy="304133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411730" y="1524000"/>
              <a:ext cx="9525" cy="304133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3666172" y="1524000"/>
              <a:ext cx="9525" cy="304133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047298" y="1524000"/>
              <a:ext cx="9525" cy="304133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8447" y="4638199"/>
              <a:ext cx="43596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负载均衡是初步的流量控制；更精细的流量控制上 Service Mesh 更有优势</a:t>
              </a:r>
            </a:p>
          </p:txBody>
        </p:sp>
      </p:grpSp>
      <p:grpSp>
        <p:nvGrpSpPr>
          <p:cNvPr id="39" name="c1-callout-2"/>
          <p:cNvGrpSpPr/>
          <p:nvPr/>
        </p:nvGrpSpPr>
        <p:grpSpPr>
          <a:xfrm>
            <a:off x="533400" y="4955858"/>
            <a:ext cx="6276022" cy="1140142"/>
            <a:chOff x="533400" y="4955858"/>
            <a:chExt cx="6276022" cy="1140142"/>
          </a:xfrm>
        </p:grpSpPr>
        <p:sp>
          <p:nvSpPr>
            <p:cNvPr id="33" name="Rectangle 33"/>
            <p:cNvSpPr/>
            <p:nvPr/>
          </p:nvSpPr>
          <p:spPr>
            <a:xfrm>
              <a:off x="533400" y="4955858"/>
              <a:ext cx="6276022" cy="1140142"/>
            </a:xfrm>
            <a:prstGeom prst="roundRect">
              <a:avLst>
                <a:gd name="adj" fmla="val 100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5425440"/>
              <a:ext cx="200026" cy="200026"/>
              <a:chOff x="738188" y="5425440"/>
              <a:chExt cx="200026" cy="200026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542544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38200" y="549211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27088" y="552545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1273" y="5319236"/>
              <a:ext cx="527177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Envoy 是 Istio 放在每个 Pod 旁边的 Sidecar 代理，实际的发现、转发和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路由都由它完成。</a:t>
              </a:r>
            </a:p>
          </p:txBody>
        </p:sp>
      </p:grpSp>
      <p:grpSp>
        <p:nvGrpSpPr>
          <p:cNvPr id="62" name="c2-compare-1"/>
          <p:cNvGrpSpPr/>
          <p:nvPr/>
        </p:nvGrpSpPr>
        <p:grpSpPr>
          <a:xfrm>
            <a:off x="7114222" y="1524000"/>
            <a:ext cx="4544378" cy="2466975"/>
            <a:chOff x="7114222" y="1524000"/>
            <a:chExt cx="4544378" cy="2466975"/>
          </a:xfrm>
        </p:grpSpPr>
        <p:sp>
          <p:nvSpPr>
            <p:cNvPr id="40" name="Rectangle 40"/>
            <p:cNvSpPr/>
            <p:nvPr/>
          </p:nvSpPr>
          <p:spPr>
            <a:xfrm>
              <a:off x="7114222" y="1524000"/>
              <a:ext cx="2063115" cy="2466975"/>
            </a:xfrm>
            <a:prstGeom prst="roundRect">
              <a:avLst>
                <a:gd name="adj" fmla="val 64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123748" y="1657350"/>
              <a:ext cx="47625" cy="22002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326820" y="1726406"/>
              <a:ext cx="7203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K8s 原生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42822" y="2079308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498270" y="2027396"/>
              <a:ext cx="9883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每个节点一个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kube-proxy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342822" y="2607945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498270" y="2555081"/>
              <a:ext cx="13134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节点之间经 CNI 网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络通信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342822" y="3135630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498270" y="3082766"/>
              <a:ext cx="13108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只看到 IP 和端口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9595485" y="1524000"/>
              <a:ext cx="2063115" cy="2466975"/>
            </a:xfrm>
            <a:prstGeom prst="roundRect">
              <a:avLst>
                <a:gd name="adj" fmla="val 64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9605010" y="1657350"/>
              <a:ext cx="47625" cy="22002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808083" y="1726406"/>
              <a:ext cx="11645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Service Mesh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9824085" y="2079308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979533" y="2027396"/>
              <a:ext cx="10289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 Pod 一个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Sidecar 代理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9824085" y="2607945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979533" y="255508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代理之间直接通信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9824085" y="2892742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979533" y="2839879"/>
              <a:ext cx="128092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能看懂 HTTP 报文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9824085" y="3420428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979533" y="3367564"/>
              <a:ext cx="13134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控制平面统一下发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规则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9224010" y="2595562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307243" y="2701290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64" name="c2-text-2"/>
          <p:cNvGrpSpPr/>
          <p:nvPr/>
        </p:nvGrpSpPr>
        <p:grpSpPr>
          <a:xfrm>
            <a:off x="7108888" y="4172902"/>
            <a:ext cx="4284536" cy="412052"/>
            <a:chOff x="7108888" y="4172902"/>
            <a:chExt cx="4284536" cy="412052"/>
          </a:xfrm>
        </p:grpSpPr>
        <p:sp>
          <p:nvSpPr>
            <p:cNvPr id="63" name="TextBox 63"/>
            <p:cNvSpPr txBox="1"/>
            <p:nvPr/>
          </p:nvSpPr>
          <p:spPr>
            <a:xfrm>
              <a:off x="7108888" y="4172902"/>
              <a:ext cx="4284536" cy="412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28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CNI（Container Network Interface）是 K8s 的容器网络接口，flannel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就是一种 CNI 插件（原课件第122页）</a:t>
              </a:r>
            </a:p>
          </p:txBody>
        </p:sp>
      </p:grpSp>
      <p:grpSp>
        <p:nvGrpSpPr>
          <p:cNvPr id="70" name="c2-card-3"/>
          <p:cNvGrpSpPr/>
          <p:nvPr/>
        </p:nvGrpSpPr>
        <p:grpSpPr>
          <a:xfrm>
            <a:off x="7114222" y="4708208"/>
            <a:ext cx="4544378" cy="1386840"/>
            <a:chOff x="7114222" y="4708208"/>
            <a:chExt cx="4544378" cy="1386840"/>
          </a:xfrm>
        </p:grpSpPr>
        <p:sp>
          <p:nvSpPr>
            <p:cNvPr id="65" name="Rectangle 65"/>
            <p:cNvSpPr/>
            <p:nvPr/>
          </p:nvSpPr>
          <p:spPr>
            <a:xfrm>
              <a:off x="7114222" y="4708208"/>
              <a:ext cx="4544378" cy="138684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7123748" y="4841558"/>
              <a:ext cx="47625" cy="112014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7333298" y="488918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417867" y="492204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灰度发布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326820" y="5229701"/>
              <a:ext cx="391439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新版本先只给一小部分用户（按用户名、地区或 1% 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流量挑出来）用，观察没问题再逐步扩大，出问题只影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响这一小部分人。下一页是用 Istio 实现的例子。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00583" cy="909257"/>
            <a:chOff x="520446" y="342900"/>
            <a:chExt cx="690058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面向服务与云原生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0058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例：用 Istio 按请求头把一个用户导到新版本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ode-1"/>
          <p:cNvGrpSpPr/>
          <p:nvPr/>
        </p:nvGrpSpPr>
        <p:grpSpPr>
          <a:xfrm>
            <a:off x="533400" y="1524000"/>
            <a:ext cx="6059805" cy="4022408"/>
            <a:chOff x="533400" y="1524000"/>
            <a:chExt cx="6059805" cy="402240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022408"/>
            </a:xfrm>
            <a:prstGeom prst="roundRect">
              <a:avLst>
                <a:gd name="adj" fmla="val 236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9860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reviews 服务的 VirtualService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833812"/>
              <a:ext cx="602170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4536758"/>
              <a:ext cx="602170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52450" y="5239702"/>
              <a:ext cx="602170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1935956"/>
              <a:ext cx="2866263" cy="35387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apiVersion: networking.istio.io/v1alpha3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kind: VirtualService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metadata: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name: reviews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spec: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hosts:</a:t>
              </a:r>
            </a:p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- reviews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http:</a:t>
              </a:r>
            </a:p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- match: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匹配规则</a:t>
              </a:r>
            </a:p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- headers: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end-user: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exact: jason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route: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匹配成功的路由</a:t>
              </a:r>
            </a:p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- destination: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host: reviews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subset: v2</a:t>
              </a:r>
            </a:p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- route: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默认路由</a:t>
              </a:r>
            </a:p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- destination: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host: reviews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subset: v1</a:t>
              </a:r>
            </a:p>
          </p:txBody>
        </p:sp>
      </p:grpSp>
      <p:grpSp>
        <p:nvGrpSpPr>
          <p:cNvPr id="32" name="c2-flow-1"/>
          <p:cNvGrpSpPr/>
          <p:nvPr/>
        </p:nvGrpSpPr>
        <p:grpSpPr>
          <a:xfrm>
            <a:off x="7064692" y="1773555"/>
            <a:ext cx="4427220" cy="2310765"/>
            <a:chOff x="7064692" y="1773555"/>
            <a:chExt cx="4427220" cy="2310765"/>
          </a:xfrm>
        </p:grpSpPr>
        <p:sp>
          <p:nvSpPr>
            <p:cNvPr id="14" name="Freeform 14"/>
            <p:cNvSpPr/>
            <p:nvPr/>
          </p:nvSpPr>
          <p:spPr>
            <a:xfrm>
              <a:off x="8087678" y="2211705"/>
              <a:ext cx="9525" cy="93345"/>
            </a:xfrm>
            <a:custGeom>
              <a:avLst/>
              <a:gdLst/>
              <a:ahLst/>
              <a:cxnLst/>
              <a:rect l="l" t="t" r="r" b="b"/>
              <a:pathLst>
                <a:path w="9525" h="93345">
                  <a:moveTo>
                    <a:pt x="0" y="0"/>
                  </a:moveTo>
                  <a:lnTo>
                    <a:pt x="0" y="9334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8035290" y="23050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9111615" y="2928938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9340215" y="28765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8087678" y="3448050"/>
              <a:ext cx="9525" cy="93345"/>
            </a:xfrm>
            <a:custGeom>
              <a:avLst/>
              <a:gdLst/>
              <a:ahLst/>
              <a:cxnLst/>
              <a:rect l="l" t="t" r="r" b="b"/>
              <a:pathLst>
                <a:path w="9525" h="93345">
                  <a:moveTo>
                    <a:pt x="0" y="0"/>
                  </a:moveTo>
                  <a:lnTo>
                    <a:pt x="0" y="9334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8035290" y="35413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064692" y="1773555"/>
              <a:ext cx="2046922" cy="43815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7064692" y="2409825"/>
              <a:ext cx="2046922" cy="1038225"/>
            </a:xfrm>
            <a:custGeom>
              <a:avLst/>
              <a:gdLst/>
              <a:ahLst/>
              <a:cxnLst/>
              <a:rect l="l" t="t" r="r" b="b"/>
              <a:pathLst>
                <a:path w="2046922" h="1038225">
                  <a:moveTo>
                    <a:pt x="1022985" y="0"/>
                  </a:moveTo>
                  <a:lnTo>
                    <a:pt x="2046922" y="519112"/>
                  </a:lnTo>
                  <a:lnTo>
                    <a:pt x="1022985" y="1038225"/>
                  </a:lnTo>
                  <a:lnTo>
                    <a:pt x="0" y="519112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9444990" y="2709862"/>
              <a:ext cx="204692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7064692" y="3646170"/>
              <a:ext cx="204692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252372" y="1903571"/>
              <a:ext cx="16706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访问 reviews 的请求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09777" y="2621756"/>
              <a:ext cx="955802" cy="687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HTTP 头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end-user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等于 jason？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668855" y="2839879"/>
              <a:ext cx="15982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reviews v2（新版）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88558" y="3776186"/>
              <a:ext cx="15982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reviews v1（旧版）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9164002" y="2712720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202293" y="273939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9168765" y="3455670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211056" y="348234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</p:grpSp>
      <p:grpSp>
        <p:nvGrpSpPr>
          <p:cNvPr id="38" name="c2-callout-2"/>
          <p:cNvGrpSpPr/>
          <p:nvPr/>
        </p:nvGrpSpPr>
        <p:grpSpPr>
          <a:xfrm>
            <a:off x="6898005" y="4524375"/>
            <a:ext cx="4760595" cy="1059180"/>
            <a:chOff x="6898005" y="4524375"/>
            <a:chExt cx="4760595" cy="1059180"/>
          </a:xfrm>
        </p:grpSpPr>
        <p:sp>
          <p:nvSpPr>
            <p:cNvPr id="33" name="Rectangle 33"/>
            <p:cNvSpPr/>
            <p:nvPr/>
          </p:nvSpPr>
          <p:spPr>
            <a:xfrm>
              <a:off x="6898005" y="4524375"/>
              <a:ext cx="4760595" cy="1059180"/>
            </a:xfrm>
            <a:prstGeom prst="roundRect">
              <a:avLst>
                <a:gd name="adj" fmla="val 10791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102793" y="4953955"/>
              <a:ext cx="200023" cy="200023"/>
              <a:chOff x="7102793" y="4953955"/>
              <a:chExt cx="200023" cy="200023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102793" y="495395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236143" y="50206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7404735" y="4672965"/>
              <a:ext cx="39014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规则从上往下匹配，先命中的生效。灰度发布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就是先让一小部分用户走 v2，没问题再逐步放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大比例。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27242" cy="909257"/>
            <a:chOff x="520446" y="342900"/>
            <a:chExt cx="61272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面向服务与云原生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272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CI/CD：写完一个微服务到上线的流水线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10474198" cy="541592"/>
            <a:chOff x="526161" y="1547336"/>
            <a:chExt cx="10474198" cy="54159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047419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写完一个微服务，到它以容器的形式发布到生产集群，中间还有：构建、单元与集成测试、合并代码分支、打包成容器镜像并上传仓</a:t>
              </a:r>
              <a:br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库、部署到生产环境。</a:t>
              </a:r>
            </a:p>
          </p:txBody>
        </p:sp>
      </p:grpSp>
      <p:grpSp>
        <p:nvGrpSpPr>
          <p:cNvPr id="27" name="c1-flow-1"/>
          <p:cNvGrpSpPr/>
          <p:nvPr/>
        </p:nvGrpSpPr>
        <p:grpSpPr>
          <a:xfrm>
            <a:off x="689610" y="2565082"/>
            <a:ext cx="10813732" cy="578168"/>
            <a:chOff x="689610" y="2565082"/>
            <a:chExt cx="10813732" cy="578168"/>
          </a:xfrm>
        </p:grpSpPr>
        <p:sp>
          <p:nvSpPr>
            <p:cNvPr id="9" name="Freeform 9"/>
            <p:cNvSpPr/>
            <p:nvPr/>
          </p:nvSpPr>
          <p:spPr>
            <a:xfrm>
              <a:off x="2602230" y="2853690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809875" y="280130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827270" y="2853690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034915" y="280130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7052310" y="2853690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7259955" y="280130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9277350" y="2853690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9484995" y="280130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89610" y="2654618"/>
              <a:ext cx="1913572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914650" y="2654618"/>
              <a:ext cx="1913572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139690" y="2654618"/>
              <a:ext cx="1913572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7364730" y="2565082"/>
              <a:ext cx="1913572" cy="578168"/>
            </a:xfrm>
            <a:prstGeom prst="roundRect">
              <a:avLst>
                <a:gd name="adj" fmla="val 16474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9589770" y="2565082"/>
              <a:ext cx="1913572" cy="578168"/>
            </a:xfrm>
            <a:prstGeom prst="roundRect">
              <a:avLst>
                <a:gd name="adj" fmla="val 16474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295017" y="2775109"/>
              <a:ext cx="7018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构建 Build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523336" y="2775109"/>
              <a:ext cx="6952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测试 Test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691729" y="2775109"/>
              <a:ext cx="8085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 Merge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59725" y="2678906"/>
              <a:ext cx="72263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自动发布到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镜像仓库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184765" y="2678906"/>
              <a:ext cx="72263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自动部署到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生产环境</a:t>
              </a:r>
            </a:p>
          </p:txBody>
        </p:sp>
      </p:grpSp>
      <p:grpSp>
        <p:nvGrpSpPr>
          <p:cNvPr id="47" name="c1-table-2"/>
          <p:cNvGrpSpPr/>
          <p:nvPr/>
        </p:nvGrpSpPr>
        <p:grpSpPr>
          <a:xfrm>
            <a:off x="533400" y="3679508"/>
            <a:ext cx="11125200" cy="2018348"/>
            <a:chOff x="533400" y="3679508"/>
            <a:chExt cx="11125200" cy="2018348"/>
          </a:xfrm>
        </p:grpSpPr>
        <p:sp>
          <p:nvSpPr>
            <p:cNvPr id="28" name="Rectangle 28"/>
            <p:cNvSpPr/>
            <p:nvPr/>
          </p:nvSpPr>
          <p:spPr>
            <a:xfrm>
              <a:off x="533400" y="3679508"/>
              <a:ext cx="11125200" cy="44481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568768" y="38071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阶段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937950" y="38071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覆盖流水线的哪一段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58325" y="38071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最后一步谁来按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2270" y="4251960"/>
              <a:ext cx="972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持续集成 CI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080194" y="4251960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每次提交都自动构建、测试、合并，尽早发现冲突和错误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642794" y="4251960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456342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4568190"/>
              <a:ext cx="11125200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2270" y="4696778"/>
              <a:ext cx="21358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持续交付 CD（Delivery）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080194" y="4696778"/>
              <a:ext cx="44721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CI 之后自动把可发布的版本放进仓库，随时可以上线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642794" y="469677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人工确认后上线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500824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2270" y="5140642"/>
              <a:ext cx="1337739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持续部署 CD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（Deployment）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080194" y="526065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通过测试的版本自动部署到生产环境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642794" y="526065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全自动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3679508"/>
              <a:ext cx="11125200" cy="20183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2976562" y="3679508"/>
              <a:ext cx="9525" cy="20183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539162" y="3679508"/>
              <a:ext cx="9525" cy="20183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4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8" name="Rectangle 48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892" y="6023610"/>
              <a:ext cx="85478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CI/CD 让自动化和监控贯穿应用的整个生命周期。交付和部署的区别只在最后一步：上生产要不要人点头。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71613" cy="909257"/>
            <a:chOff x="520446" y="342900"/>
            <a:chExt cx="55716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面向服务与云原生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716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有状态与无状态：程序有没有“记忆”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3455365" cy="278702"/>
            <a:chOff x="526161" y="1547336"/>
            <a:chExt cx="3455365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考虑可扩展性时，状态是很重要的概念。</a:t>
              </a:r>
            </a:p>
          </p:txBody>
        </p:sp>
      </p:grpSp>
      <p:grpSp>
        <p:nvGrpSpPr>
          <p:cNvPr id="36" name="c1-table-1"/>
          <p:cNvGrpSpPr/>
          <p:nvPr/>
        </p:nvGrpSpPr>
        <p:grpSpPr>
          <a:xfrm>
            <a:off x="533400" y="1941195"/>
            <a:ext cx="5951220" cy="3628072"/>
            <a:chOff x="533400" y="1941195"/>
            <a:chExt cx="5951220" cy="3628072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951220" cy="44481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886522" y="2069782"/>
              <a:ext cx="15190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无状态 Stateless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98362" y="2069782"/>
              <a:ext cx="14141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有状态 Stateful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2270" y="263461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65707" y="2514600"/>
              <a:ext cx="224256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没有记忆，每次执行只和当前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输入有关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24122" y="2514600"/>
              <a:ext cx="224256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有记忆，每次执行可能对以后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产生“副作用”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306609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3070860"/>
              <a:ext cx="5951220" cy="6848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2270" y="331851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65707" y="3198495"/>
              <a:ext cx="224256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纯函数：只通过参数和返回值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与外界沟通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024122" y="3198495"/>
              <a:ext cx="224256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非纯函数：通过参数和返回值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以外的渠道与外界交换数据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75094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2270" y="400335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65707" y="4003358"/>
              <a:ext cx="5980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IP 协议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024122" y="3883342"/>
              <a:ext cx="2233994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TCP 协议（三次握手、四次挥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手，能画出状态机）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43579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4440555"/>
              <a:ext cx="5951220" cy="6848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2270" y="468820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网站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465707" y="468820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静态网站的服务器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024122" y="4568190"/>
              <a:ext cx="210540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要登录、要存 session 的动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态网站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511968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2270" y="525303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465707" y="525303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没有变量、只有方法的对象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024122" y="525303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有实例变量的对象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941195"/>
              <a:ext cx="5951220" cy="362807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362075" y="1941195"/>
              <a:ext cx="9525" cy="36280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3920490" y="1941195"/>
              <a:ext cx="9525" cy="36280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0" name="c2-code-1"/>
          <p:cNvGrpSpPr/>
          <p:nvPr/>
        </p:nvGrpSpPr>
        <p:grpSpPr>
          <a:xfrm>
            <a:off x="6789420" y="1941195"/>
            <a:ext cx="4869180" cy="2108835"/>
            <a:chOff x="6789420" y="1941195"/>
            <a:chExt cx="4869180" cy="2108835"/>
          </a:xfrm>
        </p:grpSpPr>
        <p:sp>
          <p:nvSpPr>
            <p:cNvPr id="37" name="Rectangle 37"/>
            <p:cNvSpPr/>
            <p:nvPr/>
          </p:nvSpPr>
          <p:spPr>
            <a:xfrm>
              <a:off x="6789420" y="1941195"/>
              <a:ext cx="4869180" cy="2108835"/>
            </a:xfrm>
            <a:prstGeom prst="roundRect">
              <a:avLst>
                <a:gd name="adj" fmla="val 45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917817" y="2093119"/>
              <a:ext cx="28749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同样的调用，两次结果是否相同（JDK 21 实测）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18008" y="2353342"/>
              <a:ext cx="2959989" cy="16135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add(</a:t>
              </a:r>
              <a:r>
                <a:rPr lang="en-US" sz="8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a, </a:t>
              </a:r>
              <a:r>
                <a:rPr lang="en-US" sz="8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b) {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无状态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 + b;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8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count = 0;</a:t>
              </a:r>
              <a:br/>
              <a:r>
                <a:rPr lang="en-US" sz="8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next() {   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有状态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334E6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++count;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main 中：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System.out.println(add(2, 3) + </a:t>
              </a:r>
              <a:r>
                <a:rPr lang="zh-CN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"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add(2, 3));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System.out.println(next() + </a:t>
              </a:r>
              <a:r>
                <a:rPr lang="zh-CN" sz="8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 "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next());</a:t>
              </a:r>
            </a:p>
          </p:txBody>
        </p:sp>
      </p:grpSp>
      <p:grpSp>
        <p:nvGrpSpPr>
          <p:cNvPr id="44" name="c2-code-2"/>
          <p:cNvGrpSpPr/>
          <p:nvPr/>
        </p:nvGrpSpPr>
        <p:grpSpPr>
          <a:xfrm>
            <a:off x="6789420" y="4225290"/>
            <a:ext cx="4869180" cy="882968"/>
            <a:chOff x="6789420" y="4225290"/>
            <a:chExt cx="4869180" cy="882968"/>
          </a:xfrm>
        </p:grpSpPr>
        <p:sp>
          <p:nvSpPr>
            <p:cNvPr id="41" name="Rectangle 41"/>
            <p:cNvSpPr/>
            <p:nvPr/>
          </p:nvSpPr>
          <p:spPr>
            <a:xfrm>
              <a:off x="6789420" y="4225290"/>
              <a:ext cx="4869180" cy="882968"/>
            </a:xfrm>
            <a:prstGeom prst="roundRect">
              <a:avLst>
                <a:gd name="adj" fmla="val 1078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917817" y="437721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17436" y="4638675"/>
              <a:ext cx="230696" cy="394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5 5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1 2</a:t>
              </a:r>
            </a:p>
          </p:txBody>
        </p:sp>
      </p:grpSp>
      <p:grpSp>
        <p:nvGrpSpPr>
          <p:cNvPr id="50" name="c2-callout-3"/>
          <p:cNvGrpSpPr/>
          <p:nvPr/>
        </p:nvGrpSpPr>
        <p:grpSpPr>
          <a:xfrm>
            <a:off x="6789420" y="5283518"/>
            <a:ext cx="4869180" cy="978218"/>
            <a:chOff x="6789420" y="5283518"/>
            <a:chExt cx="4869180" cy="978218"/>
          </a:xfrm>
        </p:grpSpPr>
        <p:sp>
          <p:nvSpPr>
            <p:cNvPr id="45" name="Rectangle 45"/>
            <p:cNvSpPr/>
            <p:nvPr/>
          </p:nvSpPr>
          <p:spPr>
            <a:xfrm>
              <a:off x="6789420" y="5283518"/>
              <a:ext cx="4869180" cy="978218"/>
            </a:xfrm>
            <a:prstGeom prst="roundRect">
              <a:avLst>
                <a:gd name="adj" fmla="val 11685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994208" y="5672138"/>
              <a:ext cx="200026" cy="200026"/>
              <a:chOff x="6994208" y="5672138"/>
              <a:chExt cx="200026" cy="200026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994208" y="56721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060883" y="574992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7296912" y="5429250"/>
              <a:ext cx="395706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云上优先无状态设计：天然线程安全；十分易于扩展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和收缩（弹性）；出了问题立即用副本顶上，几乎不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会造成大崩溃（容错、高可用）。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55777" cy="909257"/>
            <a:chOff x="520446" y="342900"/>
            <a:chExt cx="755577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面向服务与云原生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5577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服务器怎样“记住”你：session，以及把它挪出去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4561103" cy="2764440"/>
            <a:chOff x="533400" y="1533525"/>
            <a:chExt cx="4561103" cy="2764440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41935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06990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72046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7942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1567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创建会话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1861661"/>
              <a:ext cx="40606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浏览网站时服务器为你建一个 session，内容一直保存在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服务器内存里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45364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发编号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746534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服务器把 session id 发给你，由浏览器存在 cookie 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310419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带编号访问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397091"/>
              <a:ext cx="38641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以后每次访问，浏览器都把 session id 发给服务器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75475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查身份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4048601"/>
              <a:ext cx="36918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服务器用 id 到内存里找到 session，知道你是谁</a:t>
              </a:r>
            </a:p>
          </p:txBody>
        </p:sp>
      </p:grpSp>
      <p:grpSp>
        <p:nvGrpSpPr>
          <p:cNvPr id="31" name="c1-callout-2"/>
          <p:cNvGrpSpPr/>
          <p:nvPr/>
        </p:nvGrpSpPr>
        <p:grpSpPr>
          <a:xfrm>
            <a:off x="533400" y="4475798"/>
            <a:ext cx="4760595" cy="1412558"/>
            <a:chOff x="533400" y="4475798"/>
            <a:chExt cx="4760595" cy="1412558"/>
          </a:xfrm>
        </p:grpSpPr>
        <p:sp>
          <p:nvSpPr>
            <p:cNvPr id="25" name="Rectangle 25"/>
            <p:cNvSpPr/>
            <p:nvPr/>
          </p:nvSpPr>
          <p:spPr>
            <a:xfrm>
              <a:off x="533400" y="4475798"/>
              <a:ext cx="4760595" cy="1412558"/>
            </a:xfrm>
            <a:prstGeom prst="roundRect">
              <a:avLst>
                <a:gd name="adj" fmla="val 80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26129" y="5078848"/>
              <a:ext cx="224134" cy="192560"/>
              <a:chOff x="726129" y="5078848"/>
              <a:chExt cx="224134" cy="19256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838200" y="514921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26129" y="507884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38200" y="52270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130" y="4663440"/>
              <a:ext cx="3634740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服务器记住的其实是一个会话。它要记住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session，就保有了状态，也就失去了伸缩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性：请求被发到别的服务器，那里没有你的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session。</a:t>
              </a:r>
            </a:p>
          </p:txBody>
        </p:sp>
      </p:grpSp>
      <p:grpSp>
        <p:nvGrpSpPr>
          <p:cNvPr id="65" name="c2-graph-1"/>
          <p:cNvGrpSpPr/>
          <p:nvPr/>
        </p:nvGrpSpPr>
        <p:grpSpPr>
          <a:xfrm>
            <a:off x="5835968" y="1621155"/>
            <a:ext cx="5713094" cy="2465070"/>
            <a:chOff x="5835968" y="1621155"/>
            <a:chExt cx="5713094" cy="2465070"/>
          </a:xfrm>
        </p:grpSpPr>
        <p:sp>
          <p:nvSpPr>
            <p:cNvPr id="32" name="Freeform 32"/>
            <p:cNvSpPr/>
            <p:nvPr/>
          </p:nvSpPr>
          <p:spPr>
            <a:xfrm>
              <a:off x="6271260" y="2786062"/>
              <a:ext cx="601980" cy="567690"/>
            </a:xfrm>
            <a:custGeom>
              <a:avLst/>
              <a:gdLst/>
              <a:ahLst/>
              <a:cxnLst/>
              <a:rect l="l" t="t" r="r" b="b"/>
              <a:pathLst>
                <a:path w="601980" h="567690">
                  <a:moveTo>
                    <a:pt x="0" y="0"/>
                  </a:moveTo>
                  <a:lnTo>
                    <a:pt x="601980" y="56769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6840855" y="3319462"/>
              <a:ext cx="101917" cy="100012"/>
            </a:xfrm>
            <a:custGeom>
              <a:avLst/>
              <a:gdLst/>
              <a:ahLst/>
              <a:cxnLst/>
              <a:rect l="l" t="t" r="r" b="b"/>
              <a:pathLst>
                <a:path w="101917" h="100012">
                  <a:moveTo>
                    <a:pt x="101917" y="100012"/>
                  </a:moveTo>
                  <a:lnTo>
                    <a:pt x="0" y="69533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7437120" y="2857500"/>
              <a:ext cx="238125" cy="561975"/>
            </a:xfrm>
            <a:custGeom>
              <a:avLst/>
              <a:gdLst/>
              <a:ahLst/>
              <a:cxnLst/>
              <a:rect l="l" t="t" r="r" b="b"/>
              <a:pathLst>
                <a:path w="238125" h="561975">
                  <a:moveTo>
                    <a:pt x="0" y="561975"/>
                  </a:moveTo>
                  <a:lnTo>
                    <a:pt x="23812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7631430" y="2769870"/>
              <a:ext cx="87630" cy="106680"/>
            </a:xfrm>
            <a:custGeom>
              <a:avLst/>
              <a:gdLst/>
              <a:ahLst/>
              <a:cxnLst/>
              <a:rect l="l" t="t" r="r" b="b"/>
              <a:pathLst>
                <a:path w="87630" h="106680">
                  <a:moveTo>
                    <a:pt x="80962" y="0"/>
                  </a:moveTo>
                  <a:lnTo>
                    <a:pt x="87630" y="106680"/>
                  </a:lnTo>
                  <a:lnTo>
                    <a:pt x="0" y="6953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9266872" y="2816542"/>
              <a:ext cx="390525" cy="526733"/>
            </a:xfrm>
            <a:custGeom>
              <a:avLst/>
              <a:gdLst/>
              <a:ahLst/>
              <a:cxnLst/>
              <a:rect l="l" t="t" r="r" b="b"/>
              <a:pathLst>
                <a:path w="390525" h="526733">
                  <a:moveTo>
                    <a:pt x="0" y="0"/>
                  </a:moveTo>
                  <a:lnTo>
                    <a:pt x="390525" y="52673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9619298" y="3314700"/>
              <a:ext cx="95250" cy="104775"/>
            </a:xfrm>
            <a:custGeom>
              <a:avLst/>
              <a:gdLst/>
              <a:ahLst/>
              <a:cxnLst/>
              <a:rect l="l" t="t" r="r" b="b"/>
              <a:pathLst>
                <a:path w="95250" h="104775">
                  <a:moveTo>
                    <a:pt x="95250" y="104775"/>
                  </a:moveTo>
                  <a:lnTo>
                    <a:pt x="0" y="56197"/>
                  </a:lnTo>
                  <a:lnTo>
                    <a:pt x="7715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10103168" y="2857500"/>
              <a:ext cx="238125" cy="561975"/>
            </a:xfrm>
            <a:custGeom>
              <a:avLst/>
              <a:gdLst/>
              <a:ahLst/>
              <a:cxnLst/>
              <a:rect l="l" t="t" r="r" b="b"/>
              <a:pathLst>
                <a:path w="238125" h="561975">
                  <a:moveTo>
                    <a:pt x="0" y="561975"/>
                  </a:moveTo>
                  <a:lnTo>
                    <a:pt x="23812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10297478" y="2769870"/>
              <a:ext cx="87630" cy="106680"/>
            </a:xfrm>
            <a:custGeom>
              <a:avLst/>
              <a:gdLst/>
              <a:ahLst/>
              <a:cxnLst/>
              <a:rect l="l" t="t" r="r" b="b"/>
              <a:pathLst>
                <a:path w="87630" h="106680">
                  <a:moveTo>
                    <a:pt x="80962" y="0"/>
                  </a:moveTo>
                  <a:lnTo>
                    <a:pt x="87630" y="106680"/>
                  </a:lnTo>
                  <a:lnTo>
                    <a:pt x="0" y="6953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10668952" y="3365182"/>
              <a:ext cx="251460" cy="101917"/>
            </a:xfrm>
            <a:custGeom>
              <a:avLst/>
              <a:gdLst/>
              <a:ahLst/>
              <a:cxnLst/>
              <a:rect l="l" t="t" r="r" b="b"/>
              <a:pathLst>
                <a:path w="251460" h="101917">
                  <a:moveTo>
                    <a:pt x="251460" y="0"/>
                  </a:moveTo>
                  <a:lnTo>
                    <a:pt x="0" y="1019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10581322" y="3422332"/>
              <a:ext cx="105727" cy="88583"/>
            </a:xfrm>
            <a:custGeom>
              <a:avLst/>
              <a:gdLst/>
              <a:ahLst/>
              <a:cxnLst/>
              <a:rect l="l" t="t" r="r" b="b"/>
              <a:pathLst>
                <a:path w="105727" h="88583">
                  <a:moveTo>
                    <a:pt x="0" y="80010"/>
                  </a:moveTo>
                  <a:lnTo>
                    <a:pt x="70485" y="0"/>
                  </a:lnTo>
                  <a:lnTo>
                    <a:pt x="105727" y="8858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5835968" y="2362200"/>
              <a:ext cx="495300" cy="4953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38900" y="3419475"/>
              <a:ext cx="1714500" cy="666750"/>
            </a:xfrm>
            <a:prstGeom prst="roundRect">
              <a:avLst>
                <a:gd name="adj" fmla="val 14286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7514272" y="2449830"/>
              <a:ext cx="5334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8865870" y="2362200"/>
              <a:ext cx="495300" cy="4953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9343072" y="3419475"/>
              <a:ext cx="1238250" cy="666750"/>
            </a:xfrm>
            <a:prstGeom prst="roundRect">
              <a:avLst>
                <a:gd name="adj" fmla="val 14286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10180320" y="2449830"/>
              <a:ext cx="5334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10920412" y="3078480"/>
              <a:ext cx="628650" cy="320040"/>
            </a:xfrm>
            <a:prstGeom prst="roundRect">
              <a:avLst>
                <a:gd name="adj" fmla="val 29762"/>
              </a:avLst>
            </a:prstGeom>
            <a:solidFill>
              <a:srgbClr val="E7EDF3"/>
            </a:solidFill>
            <a:ln w="17145">
              <a:solidFill>
                <a:srgbClr val="334E6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865810" y="162115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有状态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915978" y="253555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942727" y="3583305"/>
              <a:ext cx="7068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Web 服务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36205" y="3773805"/>
              <a:ext cx="13198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内存里存 session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613332" y="253555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页面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895713" y="162115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无状态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945880" y="253555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608774" y="3678555"/>
              <a:ext cx="7068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Web 服务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279380" y="253555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页面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014215" y="3164205"/>
              <a:ext cx="4410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Redis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465570" y="3009900"/>
              <a:ext cx="28194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486586" y="3044666"/>
              <a:ext cx="2399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URL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9349740" y="3025140"/>
              <a:ext cx="28194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370756" y="3059906"/>
              <a:ext cx="2399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URL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10488930" y="3341370"/>
              <a:ext cx="523875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0508445" y="3376136"/>
              <a:ext cx="4848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session</a:t>
              </a:r>
            </a:p>
          </p:txBody>
        </p:sp>
      </p:grpSp>
      <p:grpSp>
        <p:nvGrpSpPr>
          <p:cNvPr id="70" name="c2-card-2"/>
          <p:cNvGrpSpPr/>
          <p:nvPr/>
        </p:nvGrpSpPr>
        <p:grpSpPr>
          <a:xfrm>
            <a:off x="5598795" y="4572000"/>
            <a:ext cx="6059805" cy="1316355"/>
            <a:chOff x="5598795" y="4572000"/>
            <a:chExt cx="6059805" cy="1316355"/>
          </a:xfrm>
        </p:grpSpPr>
        <p:sp>
          <p:nvSpPr>
            <p:cNvPr id="66" name="Rectangle 66"/>
            <p:cNvSpPr/>
            <p:nvPr/>
          </p:nvSpPr>
          <p:spPr>
            <a:xfrm>
              <a:off x="5598795" y="4572000"/>
              <a:ext cx="6059805" cy="1316355"/>
            </a:xfrm>
            <a:prstGeom prst="roundRect">
              <a:avLst>
                <a:gd name="adj" fmla="val 1013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5808345" y="4781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899506" y="4817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方案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800725" y="5158740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把有状态的 session 存进 Redis，剩下的网页服务就是无状态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的，可以随意扩容（原课件第136、137页）。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45020" cy="909257"/>
            <a:chOff x="520446" y="342900"/>
            <a:chExt cx="644502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面向服务与云原生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4502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代码无状态、数据有状态，于是有了 FaaS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bullets-1"/>
          <p:cNvGrpSpPr/>
          <p:nvPr/>
        </p:nvGrpSpPr>
        <p:grpSpPr>
          <a:xfrm>
            <a:off x="541972" y="1545907"/>
            <a:ext cx="5141786" cy="1658493"/>
            <a:chOff x="541972" y="1545907"/>
            <a:chExt cx="5141786" cy="1658493"/>
          </a:xfrm>
        </p:grpSpPr>
        <p:sp>
          <p:nvSpPr>
            <p:cNvPr id="7" name="Ellipse 7"/>
            <p:cNvSpPr/>
            <p:nvPr/>
          </p:nvSpPr>
          <p:spPr>
            <a:xfrm>
              <a:off x="541972" y="160210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7992" y="1545907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函数、程序本身运行时不会被改变，可以视为无状态，不需要常驻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541972" y="217074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97992" y="2114550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程序使用的数据会在运行时改变，而且影响以后对它的访问，所以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是有状态的；数据本身就是被当下和未来、自己和他人共享的状态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41972" y="273939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7992" y="2683192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函数只用局部作用域内的资源（含参数和返回值）时，对外界的影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响只限于参数和返回值；用了外部作用域的资源，就会有副作用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3326130"/>
            <a:ext cx="5410200" cy="978218"/>
            <a:chOff x="533400" y="3326130"/>
            <a:chExt cx="5410200" cy="978218"/>
          </a:xfrm>
        </p:grpSpPr>
        <p:sp>
          <p:nvSpPr>
            <p:cNvPr id="14" name="Rectangle 14"/>
            <p:cNvSpPr/>
            <p:nvPr/>
          </p:nvSpPr>
          <p:spPr>
            <a:xfrm>
              <a:off x="533400" y="3326130"/>
              <a:ext cx="5410200" cy="978218"/>
            </a:xfrm>
            <a:prstGeom prst="roundRect">
              <a:avLst>
                <a:gd name="adj" fmla="val 11685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3714752"/>
              <a:ext cx="200023" cy="200023"/>
              <a:chOff x="738188" y="3714752"/>
              <a:chExt cx="200023" cy="200023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38188" y="371475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71538" y="37814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892" y="3471862"/>
              <a:ext cx="447141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一个无状态服务除了调用别人、被别人调用，操作都局限在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局部作用域内。它没有需要被记住的状态，也就不必一直运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行，可以招之即来、挥之即去。</a:t>
              </a:r>
            </a:p>
          </p:txBody>
        </p:sp>
      </p:grpSp>
      <p:grpSp>
        <p:nvGrpSpPr>
          <p:cNvPr id="25" name="c1-card-3"/>
          <p:cNvGrpSpPr/>
          <p:nvPr/>
        </p:nvGrpSpPr>
        <p:grpSpPr>
          <a:xfrm>
            <a:off x="533400" y="4479608"/>
            <a:ext cx="5410200" cy="1466850"/>
            <a:chOff x="533400" y="4479608"/>
            <a:chExt cx="5410200" cy="1466850"/>
          </a:xfrm>
        </p:grpSpPr>
        <p:sp>
          <p:nvSpPr>
            <p:cNvPr id="20" name="Rectangle 20"/>
            <p:cNvSpPr/>
            <p:nvPr/>
          </p:nvSpPr>
          <p:spPr>
            <a:xfrm>
              <a:off x="533400" y="4479608"/>
              <a:ext cx="5410200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4612958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63905" y="4672012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47344" y="47063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状态放哪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7047" y="5028248"/>
              <a:ext cx="474573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函数每次被触发都可能在一个全新的环境里从零开始，要跨调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用保留的数据（订单、session、计数）必须放进数据库、缓存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或对象存储。</a:t>
              </a:r>
            </a:p>
          </p:txBody>
        </p:sp>
      </p:grpSp>
      <p:grpSp>
        <p:nvGrpSpPr>
          <p:cNvPr id="31" name="c2-card-1"/>
          <p:cNvGrpSpPr/>
          <p:nvPr/>
        </p:nvGrpSpPr>
        <p:grpSpPr>
          <a:xfrm>
            <a:off x="6248400" y="1524000"/>
            <a:ext cx="5410200" cy="1209675"/>
            <a:chOff x="6248400" y="1524000"/>
            <a:chExt cx="5410200" cy="1209675"/>
          </a:xfrm>
        </p:grpSpPr>
        <p:sp>
          <p:nvSpPr>
            <p:cNvPr id="26" name="Rectangle 26"/>
            <p:cNvSpPr/>
            <p:nvPr/>
          </p:nvSpPr>
          <p:spPr>
            <a:xfrm>
              <a:off x="6248400" y="1524000"/>
              <a:ext cx="5410200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57925" y="1657350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8905" y="1716405"/>
              <a:ext cx="2935605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86708" y="1750695"/>
              <a:ext cx="29199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FaaS 函数即服务（Function as a Service）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72047" y="2072640"/>
              <a:ext cx="473716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一种基于事件驱动模型的云服务模式。无状态服务可以“用后即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抛”，所以能设计成事件驱动型，不必做成资源驱动型。</a:t>
              </a:r>
            </a:p>
          </p:txBody>
        </p:sp>
      </p:grpSp>
      <p:grpSp>
        <p:nvGrpSpPr>
          <p:cNvPr id="48" name="c2-compare-2"/>
          <p:cNvGrpSpPr/>
          <p:nvPr/>
        </p:nvGrpSpPr>
        <p:grpSpPr>
          <a:xfrm>
            <a:off x="6248400" y="2908935"/>
            <a:ext cx="5410200" cy="1497330"/>
            <a:chOff x="6248400" y="2908935"/>
            <a:chExt cx="5410200" cy="1497330"/>
          </a:xfrm>
        </p:grpSpPr>
        <p:sp>
          <p:nvSpPr>
            <p:cNvPr id="32" name="Rectangle 32"/>
            <p:cNvSpPr/>
            <p:nvPr/>
          </p:nvSpPr>
          <p:spPr>
            <a:xfrm>
              <a:off x="6248400" y="2908935"/>
              <a:ext cx="2495550" cy="1497330"/>
            </a:xfrm>
            <a:prstGeom prst="roundRect">
              <a:avLst>
                <a:gd name="adj" fmla="val 890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57925" y="3042285"/>
              <a:ext cx="47625" cy="12306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72047" y="312324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资源驱动型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487478" y="349948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43497" y="344328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与计算资源锁死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487478" y="3801427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43497" y="3745230"/>
              <a:ext cx="1728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没有请求也一直占着机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9163050" y="2908935"/>
              <a:ext cx="2495550" cy="1497330"/>
            </a:xfrm>
            <a:prstGeom prst="roundRect">
              <a:avLst>
                <a:gd name="adj" fmla="val 890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9172575" y="3042285"/>
              <a:ext cx="47625" cy="123063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386697" y="312324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事件驱动型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9402128" y="349948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558147" y="3443288"/>
              <a:ext cx="1728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有事儿找我，没事儿没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我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9402128" y="405860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558147" y="400240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事件到来才启动函数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8791575" y="349567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868046" y="3597116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55" name="c2-bullets-3"/>
          <p:cNvGrpSpPr/>
          <p:nvPr/>
        </p:nvGrpSpPr>
        <p:grpSpPr>
          <a:xfrm>
            <a:off x="6248400" y="4603432"/>
            <a:ext cx="5157597" cy="1143191"/>
            <a:chOff x="6248400" y="4603432"/>
            <a:chExt cx="5157597" cy="1143191"/>
          </a:xfrm>
        </p:grpSpPr>
        <p:sp>
          <p:nvSpPr>
            <p:cNvPr id="49" name="Freeform 49"/>
            <p:cNvSpPr/>
            <p:nvPr/>
          </p:nvSpPr>
          <p:spPr>
            <a:xfrm>
              <a:off x="6248400" y="4632008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485382" y="4603432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不用预先购买、管理计算资源，只写代码并上传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6248400" y="4943475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485382" y="4914900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自动响应任何规模的请求，从每天十几个事件到每秒数十万个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6248400" y="5253990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6197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485382" y="5225415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只为实际使用的计算时间付费（按毫秒计），不用为峰值容量预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置基础设施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81351" cy="909257"/>
            <a:chOff x="520446" y="342900"/>
            <a:chExt cx="738135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面向服务与云原生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813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FaaS 的三个典型用法（以 AWS Lambda 为例）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flow-1"/>
          <p:cNvGrpSpPr/>
          <p:nvPr/>
        </p:nvGrpSpPr>
        <p:grpSpPr>
          <a:xfrm>
            <a:off x="689610" y="1685925"/>
            <a:ext cx="10813732" cy="629602"/>
            <a:chOff x="689610" y="1685925"/>
            <a:chExt cx="10813732" cy="629602"/>
          </a:xfrm>
        </p:grpSpPr>
        <p:sp>
          <p:nvSpPr>
            <p:cNvPr id="7" name="Freeform 7"/>
            <p:cNvSpPr/>
            <p:nvPr/>
          </p:nvSpPr>
          <p:spPr>
            <a:xfrm>
              <a:off x="2602230" y="2000250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809875" y="19478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4827270" y="2000250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034915" y="19478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7052310" y="2000250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7259955" y="19478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9277350" y="2000250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9484995" y="19478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89610" y="1781175"/>
              <a:ext cx="1913572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2914650" y="1685925"/>
              <a:ext cx="191357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139690" y="1781175"/>
              <a:ext cx="1913572" cy="438150"/>
            </a:xfrm>
            <a:prstGeom prst="roundRect">
              <a:avLst>
                <a:gd name="adj" fmla="val 21739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64730" y="1685925"/>
              <a:ext cx="191357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9589770" y="1685925"/>
              <a:ext cx="191357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94816" y="191119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拍下照片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06851" y="1801654"/>
              <a:ext cx="728218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上传到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S3 存储桶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586725" y="1911191"/>
              <a:ext cx="10185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触发 Lambda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08163" y="1801654"/>
              <a:ext cx="82575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运行缩放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图片的代码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889363" y="1801654"/>
              <a:ext cx="13134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生成网页、手机、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平板三种尺寸</a:t>
              </a:r>
            </a:p>
          </p:txBody>
        </p:sp>
      </p:grpSp>
      <p:grpSp>
        <p:nvGrpSpPr>
          <p:cNvPr id="27" name="c1-text-2"/>
          <p:cNvGrpSpPr/>
          <p:nvPr/>
        </p:nvGrpSpPr>
        <p:grpSpPr>
          <a:xfrm>
            <a:off x="526923" y="2688431"/>
            <a:ext cx="3778006" cy="249364"/>
            <a:chOff x="526923" y="2688431"/>
            <a:chExt cx="3778006" cy="249364"/>
          </a:xfrm>
        </p:grpSpPr>
        <p:sp>
          <p:nvSpPr>
            <p:cNvPr id="26" name="TextBox 26"/>
            <p:cNvSpPr txBox="1"/>
            <p:nvPr/>
          </p:nvSpPr>
          <p:spPr>
            <a:xfrm>
              <a:off x="526923" y="2688431"/>
              <a:ext cx="37780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① 图片处理：对象存储里来了新文件就是一个事件</a:t>
              </a:r>
            </a:p>
          </p:txBody>
        </p:sp>
      </p:grpSp>
      <p:grpSp>
        <p:nvGrpSpPr>
          <p:cNvPr id="46" name="c1-flow-3"/>
          <p:cNvGrpSpPr/>
          <p:nvPr/>
        </p:nvGrpSpPr>
        <p:grpSpPr>
          <a:xfrm>
            <a:off x="689610" y="3239452"/>
            <a:ext cx="10813732" cy="629602"/>
            <a:chOff x="689610" y="3239452"/>
            <a:chExt cx="10813732" cy="629602"/>
          </a:xfrm>
        </p:grpSpPr>
        <p:sp>
          <p:nvSpPr>
            <p:cNvPr id="28" name="Freeform 28"/>
            <p:cNvSpPr/>
            <p:nvPr/>
          </p:nvSpPr>
          <p:spPr>
            <a:xfrm>
              <a:off x="2602230" y="3553778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2809875" y="350139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4827270" y="3553778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5034915" y="350139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7052310" y="3553778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259955" y="350139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9277350" y="3553778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484995" y="350139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89610" y="3239452"/>
              <a:ext cx="191357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2914650" y="3334702"/>
              <a:ext cx="1913572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139690" y="3239452"/>
              <a:ext cx="191357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364730" y="3239452"/>
              <a:ext cx="191357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9589770" y="3239452"/>
              <a:ext cx="191357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314323" y="3355181"/>
              <a:ext cx="66319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前端代码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放在 S3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252770" y="3464719"/>
              <a:ext cx="12363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用户点“查天气”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536819" y="3355181"/>
              <a:ext cx="1118362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API Gateway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收到 REST 调用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843139" y="3355181"/>
              <a:ext cx="955802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Lambda 查询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并返回天气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133203" y="3355181"/>
              <a:ext cx="82575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DynamoDB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存天气数据</a:t>
              </a:r>
            </a:p>
          </p:txBody>
        </p:sp>
      </p:grpSp>
      <p:grpSp>
        <p:nvGrpSpPr>
          <p:cNvPr id="48" name="c1-text-4"/>
          <p:cNvGrpSpPr/>
          <p:nvPr/>
        </p:nvGrpSpPr>
        <p:grpSpPr>
          <a:xfrm>
            <a:off x="526923" y="4241959"/>
            <a:ext cx="5701904" cy="249364"/>
            <a:chOff x="526923" y="4241959"/>
            <a:chExt cx="5701904" cy="249364"/>
          </a:xfrm>
        </p:grpSpPr>
        <p:sp>
          <p:nvSpPr>
            <p:cNvPr id="47" name="TextBox 47"/>
            <p:cNvSpPr txBox="1"/>
            <p:nvPr/>
          </p:nvSpPr>
          <p:spPr>
            <a:xfrm>
              <a:off x="526923" y="4241959"/>
              <a:ext cx="57019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② Web 后端：一次 HTTP 请求就是一个事件，没人访问时不占任何计算资源</a:t>
              </a:r>
            </a:p>
          </p:txBody>
        </p:sp>
      </p:grpSp>
      <p:grpSp>
        <p:nvGrpSpPr>
          <p:cNvPr id="67" name="c1-flow-5"/>
          <p:cNvGrpSpPr/>
          <p:nvPr/>
        </p:nvGrpSpPr>
        <p:grpSpPr>
          <a:xfrm>
            <a:off x="689610" y="4792980"/>
            <a:ext cx="10813732" cy="629602"/>
            <a:chOff x="689610" y="4792980"/>
            <a:chExt cx="10813732" cy="629602"/>
          </a:xfrm>
        </p:grpSpPr>
        <p:sp>
          <p:nvSpPr>
            <p:cNvPr id="49" name="Freeform 49"/>
            <p:cNvSpPr/>
            <p:nvPr/>
          </p:nvSpPr>
          <p:spPr>
            <a:xfrm>
              <a:off x="2602230" y="5107305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2809875" y="505491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4827270" y="5107305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5034915" y="505491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7052310" y="5107305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7259955" y="505491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9277350" y="5107305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9484995" y="505491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89610" y="4888230"/>
              <a:ext cx="1913572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2914650" y="4792980"/>
              <a:ext cx="191357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5139690" y="4792980"/>
              <a:ext cx="191357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7364730" y="4792980"/>
              <a:ext cx="191357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9589770" y="4888230"/>
              <a:ext cx="191357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208659" y="501824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用户发动态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397123" y="4909661"/>
              <a:ext cx="94767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API Gateway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收到调用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536819" y="4909661"/>
              <a:ext cx="1118362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Lambda 查好友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列表并发通知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912227" y="4909661"/>
              <a:ext cx="817626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SNS 把通知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推给好友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022662" y="501824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好友收到提醒</a:t>
              </a:r>
            </a:p>
          </p:txBody>
        </p:sp>
      </p:grpSp>
      <p:grpSp>
        <p:nvGrpSpPr>
          <p:cNvPr id="69" name="c1-text-6"/>
          <p:cNvGrpSpPr/>
          <p:nvPr/>
        </p:nvGrpSpPr>
        <p:grpSpPr>
          <a:xfrm>
            <a:off x="526923" y="5795486"/>
            <a:ext cx="7809047" cy="249364"/>
            <a:chOff x="526923" y="5795486"/>
            <a:chExt cx="7809047" cy="249364"/>
          </a:xfrm>
        </p:grpSpPr>
        <p:sp>
          <p:nvSpPr>
            <p:cNvPr id="68" name="TextBox 68"/>
            <p:cNvSpPr txBox="1"/>
            <p:nvPr/>
          </p:nvSpPr>
          <p:spPr>
            <a:xfrm>
              <a:off x="526923" y="5795486"/>
              <a:ext cx="78090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③ 消息推送：据原课件第143–145页；S3 是对象存储，DynamoDB 是键值数据库，SNS 是消息推送服务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86057" cy="909257"/>
            <a:chOff x="520446" y="342900"/>
            <a:chExt cx="758605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面向服务与云原生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860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例题：按量付费的 FaaS 和包月虚拟机，哪个便宜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10564368" cy="541592"/>
            <a:chOff x="526161" y="1547336"/>
            <a:chExt cx="10564368" cy="54159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056436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价格为假设值：FaaS 每 GB·秒 0.0001 元，函数每次用 0.5 GB 内存、运行 200 ms；一台够用的虚拟机包月 150 元。一个月按 30 天</a:t>
              </a:r>
              <a:br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计。</a:t>
              </a:r>
            </a:p>
          </p:txBody>
        </p:sp>
      </p:grpSp>
      <p:grpSp>
        <p:nvGrpSpPr>
          <p:cNvPr id="26" name="c1-steps-1"/>
          <p:cNvGrpSpPr/>
          <p:nvPr/>
        </p:nvGrpSpPr>
        <p:grpSpPr>
          <a:xfrm>
            <a:off x="533400" y="2213610"/>
            <a:ext cx="4948047" cy="2279809"/>
            <a:chOff x="533400" y="2213610"/>
            <a:chExt cx="4948047" cy="2279809"/>
          </a:xfrm>
        </p:grpSpPr>
        <p:sp>
          <p:nvSpPr>
            <p:cNvPr id="9" name="Rectangle 9"/>
            <p:cNvSpPr/>
            <p:nvPr/>
          </p:nvSpPr>
          <p:spPr>
            <a:xfrm>
              <a:off x="666750" y="2356485"/>
              <a:ext cx="19050" cy="17611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221361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874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0035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74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38709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4609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97383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0486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22450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每次调用的费用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2513171"/>
              <a:ext cx="23032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0.0001 × 0.5 × 0.2 = 0.00001 元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2831782"/>
              <a:ext cx="10650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每天 10 万次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3099911"/>
              <a:ext cx="36677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10⁵ × 30 × 0.00001 = 30 元/月，比虚拟机便宜 120 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3419475"/>
              <a:ext cx="11700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每天 100 万次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3686651"/>
              <a:ext cx="3434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10⁶ × 30 × 0.00001 = 300 元/月，是虚拟机的 2 倍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642" y="400621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盈亏平衡点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785" y="4273391"/>
              <a:ext cx="4534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150 / 0.00001 = 1.5 × 10⁷ 次/月 = 50 万次/天，平均约 5.8 次/秒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formula19"/>
              <p:cNvSpPr txBox="1">
                <a:spLocks noGrp="1"/>
              </p:cNvSpPr>
              <p:nvPr/>
            </p:nvSpPr>
            <p:spPr>
              <a:xfrm>
                <a:off x="533400" y="4662488"/>
                <a:ext cx="6059805" cy="617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*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nor m:val="on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VM</m:t>
                              </m:r>
                            </m:sub>
                          </m:sSub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⋅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⋅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29" name="c1-text-3"/>
          <p:cNvGrpSpPr/>
          <p:nvPr/>
        </p:nvGrpSpPr>
        <p:grpSpPr>
          <a:xfrm>
            <a:off x="527685" y="5473541"/>
            <a:ext cx="5665470" cy="441008"/>
            <a:chOff x="527685" y="5473541"/>
            <a:chExt cx="5665470" cy="441008"/>
          </a:xfrm>
        </p:grpSpPr>
        <p:sp>
          <p:nvSpPr>
            <p:cNvPr id="28" name="TextBox 28"/>
            <p:cNvSpPr txBox="1"/>
            <p:nvPr/>
          </p:nvSpPr>
          <p:spPr>
            <a:xfrm>
              <a:off x="527685" y="5473541"/>
              <a:ext cx="5665470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N* 为每月盈亏平衡的调用次数；C 为虚拟机月费，p 为每 GB·秒单价，m 为内存（GB），t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为每次运行时间（秒）</a:t>
              </a:r>
            </a:p>
          </p:txBody>
        </p:sp>
      </p:grpSp>
      <p:grpSp>
        <p:nvGrpSpPr>
          <p:cNvPr id="51" name="c2-table-1"/>
          <p:cNvGrpSpPr/>
          <p:nvPr/>
        </p:nvGrpSpPr>
        <p:grpSpPr>
          <a:xfrm>
            <a:off x="6898005" y="2204085"/>
            <a:ext cx="4760595" cy="1778318"/>
            <a:chOff x="6898005" y="2204085"/>
            <a:chExt cx="4760595" cy="1778318"/>
          </a:xfrm>
        </p:grpSpPr>
        <p:sp>
          <p:nvSpPr>
            <p:cNvPr id="30" name="Rectangle 30"/>
            <p:cNvSpPr/>
            <p:nvPr/>
          </p:nvSpPr>
          <p:spPr>
            <a:xfrm>
              <a:off x="6898005" y="2204085"/>
              <a:ext cx="4760595" cy="44481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22058" y="233172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每天调用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973683" y="2331720"/>
              <a:ext cx="4454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FaaS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321100" y="233172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包月虚拟机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96874" y="2776538"/>
              <a:ext cx="6443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万次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497252" y="2658428"/>
              <a:ext cx="1399222" cy="42576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357246" y="2776538"/>
              <a:ext cx="449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 元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009890" y="2776538"/>
              <a:ext cx="549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150 元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898005" y="308800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898005" y="3093720"/>
              <a:ext cx="4760595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996874" y="3221355"/>
              <a:ext cx="6443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 万次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257290" y="3221355"/>
              <a:ext cx="549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150 元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009890" y="3221355"/>
              <a:ext cx="549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150 元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898005" y="353282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996874" y="3666172"/>
              <a:ext cx="749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 万次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257290" y="3666172"/>
              <a:ext cx="549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300 元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915525" y="3547110"/>
              <a:ext cx="1733550" cy="42576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1009890" y="3666172"/>
              <a:ext cx="549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150 元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898005" y="2204085"/>
              <a:ext cx="4760595" cy="17783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8482965" y="2204085"/>
              <a:ext cx="9525" cy="17783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9901238" y="2204085"/>
              <a:ext cx="9525" cy="17783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c2-callout-2"/>
          <p:cNvGrpSpPr/>
          <p:nvPr/>
        </p:nvGrpSpPr>
        <p:grpSpPr>
          <a:xfrm>
            <a:off x="6898005" y="4157662"/>
            <a:ext cx="4760595" cy="729615"/>
            <a:chOff x="6898005" y="4157662"/>
            <a:chExt cx="4760595" cy="729615"/>
          </a:xfrm>
        </p:grpSpPr>
        <p:sp>
          <p:nvSpPr>
            <p:cNvPr id="52" name="Rectangle 52"/>
            <p:cNvSpPr/>
            <p:nvPr/>
          </p:nvSpPr>
          <p:spPr>
            <a:xfrm>
              <a:off x="6898005" y="4157662"/>
              <a:ext cx="4760595" cy="729615"/>
            </a:xfrm>
            <a:prstGeom prst="roundRect">
              <a:avLst>
                <a:gd name="adj" fmla="val 15666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102793" y="4422460"/>
              <a:ext cx="200023" cy="200023"/>
              <a:chOff x="7102793" y="4422460"/>
              <a:chExt cx="200023" cy="20002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102793" y="44224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236143" y="44891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7405497" y="4303395"/>
              <a:ext cx="357987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请求少、忽高忽低时 FaaS 划算；请求多而平稳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时，一直开着的虚拟机更便宜。</a:t>
              </a:r>
            </a:p>
          </p:txBody>
        </p:sp>
      </p:grpSp>
      <p:grpSp>
        <p:nvGrpSpPr>
          <p:cNvPr id="63" name="c2-card-3"/>
          <p:cNvGrpSpPr/>
          <p:nvPr/>
        </p:nvGrpSpPr>
        <p:grpSpPr>
          <a:xfrm>
            <a:off x="6898005" y="5062538"/>
            <a:ext cx="4760595" cy="1209675"/>
            <a:chOff x="6898005" y="5062538"/>
            <a:chExt cx="4760595" cy="1209675"/>
          </a:xfrm>
        </p:grpSpPr>
        <p:sp>
          <p:nvSpPr>
            <p:cNvPr id="58" name="Rectangle 58"/>
            <p:cNvSpPr/>
            <p:nvPr/>
          </p:nvSpPr>
          <p:spPr>
            <a:xfrm>
              <a:off x="6898005" y="5062538"/>
              <a:ext cx="4760595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907530" y="5195888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7128510" y="5254942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207948" y="5289233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没算进去的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121652" y="5611178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函数冷启动的延迟、按调用次数另收的费用、虚拟机的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运维人力。真实价格以云服务商公布的为准。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面向服务与云原生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三高系统：高可用、高性能、高可信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322771" cy="278702"/>
            <a:chOff x="526161" y="1547336"/>
            <a:chExt cx="6322771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3227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原课件把前面这些技术归到三个系统目标下，每个目标还配了检验的办法。</a:t>
              </a:r>
            </a:p>
          </p:txBody>
        </p:sp>
      </p:grpSp>
      <p:grpSp>
        <p:nvGrpSpPr>
          <p:cNvPr id="28" name="c1-table-1"/>
          <p:cNvGrpSpPr/>
          <p:nvPr/>
        </p:nvGrpSpPr>
        <p:grpSpPr>
          <a:xfrm>
            <a:off x="533400" y="1941195"/>
            <a:ext cx="11125200" cy="2018348"/>
            <a:chOff x="533400" y="1941195"/>
            <a:chExt cx="11125200" cy="2018348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11125200" cy="44481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23950" y="206978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855654" y="206978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靠什么实现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730930" y="206978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怎样检验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2270" y="251460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高可用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189607" y="2514600"/>
              <a:ext cx="61927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结构鲁棒（多活实例）、数据可靠（热备与副本）、可重构系统（多点协同）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42794" y="251460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节点宕机与链路断路实验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260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830830"/>
              <a:ext cx="11125200" cy="6848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2270" y="307848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高性能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189607" y="2958465"/>
              <a:ext cx="5868734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负载均衡（反向代理）、弹性计算（Web 服务）、低延迟（消息队列、分布式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缓存）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642794" y="307848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峰值性能暴力测试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51091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2270" y="364331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高可信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189607" y="3643312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数据加密、身份认证、权限控制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642794" y="364331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1941195"/>
              <a:ext cx="11125200" cy="20183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085975" y="1941195"/>
              <a:ext cx="9525" cy="20183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8539162" y="1941195"/>
              <a:ext cx="9525" cy="20183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4" name="c1-table-2"/>
          <p:cNvGrpSpPr/>
          <p:nvPr/>
        </p:nvGrpSpPr>
        <p:grpSpPr>
          <a:xfrm>
            <a:off x="528066" y="4134802"/>
            <a:ext cx="11130534" cy="1903667"/>
            <a:chOff x="528066" y="4134802"/>
            <a:chExt cx="11130534" cy="1903667"/>
          </a:xfrm>
        </p:grpSpPr>
        <p:sp>
          <p:nvSpPr>
            <p:cNvPr id="29" name="Rectangle 29"/>
            <p:cNvSpPr/>
            <p:nvPr/>
          </p:nvSpPr>
          <p:spPr>
            <a:xfrm>
              <a:off x="533400" y="4134802"/>
              <a:ext cx="11125200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337535" y="425910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本章讲过的技术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900135" y="425910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服务于哪个目标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3412" y="4664869"/>
              <a:ext cx="35054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副本、热迁移、K8s 自我修复、session 挪进 Redis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08532" y="46648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高可用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94157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946332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3412" y="5070634"/>
              <a:ext cx="33850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弹性计算、负载均衡、按服务拆分单独扩容、FaaS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08532" y="507063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高性能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534733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3412" y="5476399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虚拟机和容器的隔离、租户私有网络、安全组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08532" y="547639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高可信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134802"/>
              <a:ext cx="11125200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7203758" y="4134802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28066" y="5833110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这张对照表是补充的，方便把前面各部分串起来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3580638" cy="3351847"/>
            <a:chOff x="667512" y="1835468"/>
            <a:chExt cx="3580638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边缘计算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把一部分计算挪到离用户更近的地方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6706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原课件第147–160页 边缘计算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边缘在哪里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带宽与延迟两大问题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云边端一体化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边缘计算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边缘计算：像脊髓一样，在离末端近的地方先处理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193982" cy="2777490"/>
            <a:chOff x="533400" y="1524000"/>
            <a:chExt cx="5193982" cy="27774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777490"/>
            </a:xfrm>
            <a:prstGeom prst="roundRect">
              <a:avLst>
                <a:gd name="adj" fmla="val 48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51079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5990" y="176355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动物神经结构的演化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2955" y="216122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39546" y="2100739"/>
              <a:ext cx="46214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“集权”式的神经集团（大脑）能演化出高度发达的智能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2955" y="248126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9546" y="2420779"/>
              <a:ext cx="43426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神经传递信号的速度有限，只靠中央操控整个身体，效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率不高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2955" y="307276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9546" y="3012281"/>
              <a:ext cx="436067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许多生物在远端还有保持一定“自治权”的神经集团，如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人的脊髓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2955" y="366426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9546" y="3603784"/>
              <a:ext cx="425246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章鱼更极端：约 2/3 的神经元在腕足上，只有 1/3 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脑部</a:t>
              </a:r>
            </a:p>
          </p:txBody>
        </p:sp>
      </p:grpSp>
      <p:grpSp>
        <p:nvGrpSpPr>
          <p:cNvPr id="26" name="c1-callout-2"/>
          <p:cNvGrpSpPr/>
          <p:nvPr/>
        </p:nvGrpSpPr>
        <p:grpSpPr>
          <a:xfrm>
            <a:off x="533400" y="4487228"/>
            <a:ext cx="5193982" cy="1727835"/>
            <a:chOff x="533400" y="4487228"/>
            <a:chExt cx="5193982" cy="1727835"/>
          </a:xfrm>
        </p:grpSpPr>
        <p:sp>
          <p:nvSpPr>
            <p:cNvPr id="20" name="Rectangle 20"/>
            <p:cNvSpPr/>
            <p:nvPr/>
          </p:nvSpPr>
          <p:spPr>
            <a:xfrm>
              <a:off x="533400" y="4487228"/>
              <a:ext cx="5193982" cy="1727835"/>
            </a:xfrm>
            <a:prstGeom prst="roundRect">
              <a:avLst>
                <a:gd name="adj" fmla="val 661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38188" y="5251133"/>
              <a:ext cx="200026" cy="200025"/>
              <a:chOff x="738188" y="5251133"/>
              <a:chExt cx="200026" cy="20002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38188" y="525113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77926" y="529558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12642" y="540670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511" y="4989671"/>
              <a:ext cx="416229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云计算像大脑，算力强、数据多，能做复杂业务、数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据挖掘、机器学习；但掌控一个庞大的体系时，单个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大体量的计算中心可能力有不逮。</a:t>
              </a:r>
            </a:p>
          </p:txBody>
        </p:sp>
      </p:grpSp>
      <p:grpSp>
        <p:nvGrpSpPr>
          <p:cNvPr id="41" name="c2-flow-1"/>
          <p:cNvGrpSpPr/>
          <p:nvPr/>
        </p:nvGrpSpPr>
        <p:grpSpPr>
          <a:xfrm>
            <a:off x="6165532" y="1905000"/>
            <a:ext cx="5359718" cy="809625"/>
            <a:chOff x="6165532" y="1905000"/>
            <a:chExt cx="5359718" cy="809625"/>
          </a:xfrm>
        </p:grpSpPr>
        <p:sp>
          <p:nvSpPr>
            <p:cNvPr id="27" name="Freeform 27"/>
            <p:cNvSpPr/>
            <p:nvPr/>
          </p:nvSpPr>
          <p:spPr>
            <a:xfrm>
              <a:off x="7305675" y="230886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7467600" y="225647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8711565" y="230886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8873490" y="225647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10118408" y="230886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10280332" y="225647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165532" y="2096452"/>
              <a:ext cx="1140142" cy="424815"/>
            </a:xfrm>
            <a:prstGeom prst="roundRect">
              <a:avLst>
                <a:gd name="adj" fmla="val 22422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7572375" y="2096452"/>
              <a:ext cx="1140142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8978265" y="1905000"/>
              <a:ext cx="1140142" cy="809625"/>
            </a:xfrm>
            <a:prstGeom prst="roundRect">
              <a:avLst>
                <a:gd name="adj" fmla="val 11765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10385108" y="2096452"/>
              <a:ext cx="1140142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405944" y="222504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终端设备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32014" y="222504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用户路由器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161716" y="2020252"/>
              <a:ext cx="774192" cy="6461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本地边缘服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务器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ISP 机房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545699" y="222504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云数据中心</a:t>
              </a:r>
            </a:p>
          </p:txBody>
        </p:sp>
      </p:grpSp>
      <p:grpSp>
        <p:nvGrpSpPr>
          <p:cNvPr id="47" name="c2-kv-2"/>
          <p:cNvGrpSpPr/>
          <p:nvPr/>
        </p:nvGrpSpPr>
        <p:grpSpPr>
          <a:xfrm>
            <a:off x="6024944" y="3303746"/>
            <a:ext cx="5633656" cy="1235964"/>
            <a:chOff x="6024944" y="3303746"/>
            <a:chExt cx="5633656" cy="1235964"/>
          </a:xfrm>
        </p:grpSpPr>
        <p:sp>
          <p:nvSpPr>
            <p:cNvPr id="42" name="TextBox 42"/>
            <p:cNvSpPr txBox="1"/>
            <p:nvPr/>
          </p:nvSpPr>
          <p:spPr>
            <a:xfrm>
              <a:off x="6024944" y="330374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广义的边缘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211758" y="3303746"/>
              <a:ext cx="416229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地理位置上更靠近用户侧的设备：用户的终端设备、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路由器、本地边缘服务器、ISP 等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032182" y="387762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024944" y="399335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狭义的边缘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211758" y="3993356"/>
              <a:ext cx="416229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从广义中排除用户的终端设备，只指介于用户终端与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云之间、靠近用户侧的设备</a:t>
              </a:r>
            </a:p>
          </p:txBody>
        </p:sp>
      </p:grpSp>
      <p:grpSp>
        <p:nvGrpSpPr>
          <p:cNvPr id="53" name="c2-card-3"/>
          <p:cNvGrpSpPr/>
          <p:nvPr/>
        </p:nvGrpSpPr>
        <p:grpSpPr>
          <a:xfrm>
            <a:off x="6032182" y="4669155"/>
            <a:ext cx="5626418" cy="1545908"/>
            <a:chOff x="6032182" y="4669155"/>
            <a:chExt cx="5626418" cy="1545908"/>
          </a:xfrm>
        </p:grpSpPr>
        <p:sp>
          <p:nvSpPr>
            <p:cNvPr id="48" name="Rectangle 48"/>
            <p:cNvSpPr/>
            <p:nvPr/>
          </p:nvSpPr>
          <p:spPr>
            <a:xfrm>
              <a:off x="6032182" y="4669155"/>
              <a:ext cx="5626418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041708" y="4802505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74118" y="4872990"/>
              <a:ext cx="159353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23594" y="4908709"/>
              <a:ext cx="14936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经典的边缘应用：CDN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66879" y="5245894"/>
              <a:ext cx="488365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内容分发网络是一组分布在不同地理位置的服务器，协同工作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以快速交付互联网内容：用户从最近的节点取网页、图片、视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频，不必每次回源站。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边缘计算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新场景把云逼到了极限：带宽和延迟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table-1"/>
          <p:cNvGrpSpPr/>
          <p:nvPr/>
        </p:nvGrpSpPr>
        <p:grpSpPr>
          <a:xfrm>
            <a:off x="533400" y="1524000"/>
            <a:ext cx="5410200" cy="1574483"/>
            <a:chOff x="533400" y="1524000"/>
            <a:chExt cx="5410200" cy="1574483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4481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72502" y="165163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新技术与新场景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859340" y="165163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带来的挑战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2270" y="2216468"/>
              <a:ext cx="16031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5G、IoT（物联网）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96350" y="2096452"/>
              <a:ext cx="275691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终端设备数量暴增，数据量与计算需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求快速上升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6489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653665"/>
              <a:ext cx="5410200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2270" y="2781300"/>
              <a:ext cx="19820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V2X（车联网）、云游戏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796350" y="278130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要求快速、即时的响应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1524000"/>
              <a:ext cx="5410200" cy="157353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2692718" y="1524000"/>
              <a:ext cx="9525" cy="1573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24" name="c1-kv-2"/>
          <p:cNvGrpSpPr/>
          <p:nvPr/>
        </p:nvGrpSpPr>
        <p:grpSpPr>
          <a:xfrm>
            <a:off x="526542" y="3295650"/>
            <a:ext cx="5417058" cy="661225"/>
            <a:chOff x="526542" y="3295650"/>
            <a:chExt cx="5417058" cy="661225"/>
          </a:xfrm>
        </p:grpSpPr>
        <p:sp>
          <p:nvSpPr>
            <p:cNvPr id="19" name="TextBox 19"/>
            <p:cNvSpPr txBox="1"/>
            <p:nvPr/>
          </p:nvSpPr>
          <p:spPr>
            <a:xfrm>
              <a:off x="526542" y="32956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主要问题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88567" y="329565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带宽、延迟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5842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6542" y="36928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其他问题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88567" y="36928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计算能力、数据安全性</a:t>
              </a:r>
            </a:p>
          </p:txBody>
        </p:sp>
      </p:grpSp>
      <p:grpSp>
        <p:nvGrpSpPr>
          <p:cNvPr id="38" name="c1-steps-3"/>
          <p:cNvGrpSpPr/>
          <p:nvPr/>
        </p:nvGrpSpPr>
        <p:grpSpPr>
          <a:xfrm>
            <a:off x="533400" y="4089082"/>
            <a:ext cx="5175631" cy="2107406"/>
            <a:chOff x="533400" y="4089082"/>
            <a:chExt cx="5175631" cy="2107406"/>
          </a:xfrm>
        </p:grpSpPr>
        <p:sp>
          <p:nvSpPr>
            <p:cNvPr id="25" name="Rectangle 25"/>
            <p:cNvSpPr/>
            <p:nvPr/>
          </p:nvSpPr>
          <p:spPr>
            <a:xfrm>
              <a:off x="666750" y="4231958"/>
              <a:ext cx="19050" cy="13811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533400" y="408908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7024" y="4162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33400" y="488251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7024" y="49563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533400" y="546925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7024" y="55430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5642" y="412051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延迟：光也要走路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6785" y="4387691"/>
              <a:ext cx="444220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光在光纤中约 2 × 10⁵ km/s。离云机房 1500 km，仅往返传播就要 2 ×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1500 / 200000 s = 15 ms；边缘节点在 50 km 内只要 0.5 ms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45642" y="49149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对比帧时间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46785" y="5182076"/>
              <a:ext cx="4700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 帧的游戏每帧只有 1000 / 60 ≈ 16.7 ms，远端云光传播就占掉一帧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45642" y="550164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带宽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46785" y="5768816"/>
              <a:ext cx="476224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 路摄像头各 4 Mbps，全部上传需要 4 Gbps；在边缘先分析，只上传告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警片段</a:t>
              </a:r>
            </a:p>
          </p:txBody>
        </p:sp>
      </p:grpSp>
      <p:grpSp>
        <p:nvGrpSpPr>
          <p:cNvPr id="65" name="c2-graph-1"/>
          <p:cNvGrpSpPr/>
          <p:nvPr/>
        </p:nvGrpSpPr>
        <p:grpSpPr>
          <a:xfrm>
            <a:off x="6533198" y="1546860"/>
            <a:ext cx="4841558" cy="1687830"/>
            <a:chOff x="6533198" y="1546860"/>
            <a:chExt cx="4841558" cy="1687830"/>
          </a:xfrm>
        </p:grpSpPr>
        <p:sp>
          <p:nvSpPr>
            <p:cNvPr id="39" name="Freeform 39"/>
            <p:cNvSpPr/>
            <p:nvPr/>
          </p:nvSpPr>
          <p:spPr>
            <a:xfrm>
              <a:off x="7045642" y="1856422"/>
              <a:ext cx="1531620" cy="428625"/>
            </a:xfrm>
            <a:custGeom>
              <a:avLst/>
              <a:gdLst/>
              <a:ahLst/>
              <a:cxnLst/>
              <a:rect l="l" t="t" r="r" b="b"/>
              <a:pathLst>
                <a:path w="1531620" h="428625">
                  <a:moveTo>
                    <a:pt x="0" y="0"/>
                  </a:moveTo>
                  <a:lnTo>
                    <a:pt x="1531620" y="4286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564880" y="2239328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104775" y="71438"/>
                  </a:moveTo>
                  <a:lnTo>
                    <a:pt x="0" y="91440"/>
                  </a:lnTo>
                  <a:lnTo>
                    <a:pt x="2571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8953500" y="1846898"/>
              <a:ext cx="9525" cy="153352"/>
            </a:xfrm>
            <a:custGeom>
              <a:avLst/>
              <a:gdLst/>
              <a:ahLst/>
              <a:cxnLst/>
              <a:rect l="l" t="t" r="r" b="b"/>
              <a:pathLst>
                <a:path w="9525" h="153352">
                  <a:moveTo>
                    <a:pt x="0" y="0"/>
                  </a:moveTo>
                  <a:lnTo>
                    <a:pt x="0" y="15335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8905875" y="20002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9329738" y="1856422"/>
              <a:ext cx="1531620" cy="428625"/>
            </a:xfrm>
            <a:custGeom>
              <a:avLst/>
              <a:gdLst/>
              <a:ahLst/>
              <a:cxnLst/>
              <a:rect l="l" t="t" r="r" b="b"/>
              <a:pathLst>
                <a:path w="1531620" h="428625">
                  <a:moveTo>
                    <a:pt x="1531620" y="0"/>
                  </a:moveTo>
                  <a:lnTo>
                    <a:pt x="0" y="4286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9237345" y="2239328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0" y="71438"/>
                  </a:moveTo>
                  <a:lnTo>
                    <a:pt x="79058" y="0"/>
                  </a:lnTo>
                  <a:lnTo>
                    <a:pt x="104775" y="9144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7045642" y="2496502"/>
              <a:ext cx="1531620" cy="428625"/>
            </a:xfrm>
            <a:custGeom>
              <a:avLst/>
              <a:gdLst/>
              <a:ahLst/>
              <a:cxnLst/>
              <a:rect l="l" t="t" r="r" b="b"/>
              <a:pathLst>
                <a:path w="1531620" h="428625">
                  <a:moveTo>
                    <a:pt x="0" y="428625"/>
                  </a:moveTo>
                  <a:lnTo>
                    <a:pt x="153162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8564880" y="2450782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104775" y="20002"/>
                  </a:moveTo>
                  <a:lnTo>
                    <a:pt x="25717" y="914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8953500" y="2781300"/>
              <a:ext cx="9525" cy="153353"/>
            </a:xfrm>
            <a:custGeom>
              <a:avLst/>
              <a:gdLst/>
              <a:ahLst/>
              <a:cxnLst/>
              <a:rect l="l" t="t" r="r" b="b"/>
              <a:pathLst>
                <a:path w="9525" h="153353">
                  <a:moveTo>
                    <a:pt x="0" y="153353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8905875" y="26860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9329738" y="2496502"/>
              <a:ext cx="1531620" cy="428625"/>
            </a:xfrm>
            <a:custGeom>
              <a:avLst/>
              <a:gdLst/>
              <a:ahLst/>
              <a:cxnLst/>
              <a:rect l="l" t="t" r="r" b="b"/>
              <a:pathLst>
                <a:path w="1531620" h="428625">
                  <a:moveTo>
                    <a:pt x="1531620" y="42862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9237345" y="2450782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0" y="20002"/>
                  </a:moveTo>
                  <a:lnTo>
                    <a:pt x="104775" y="0"/>
                  </a:lnTo>
                  <a:lnTo>
                    <a:pt x="79058" y="9144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8667750" y="2105025"/>
              <a:ext cx="571500" cy="571500"/>
            </a:xfrm>
            <a:prstGeom prst="ellipse">
              <a:avLst/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533198" y="1634490"/>
              <a:ext cx="513398" cy="300038"/>
            </a:xfrm>
            <a:prstGeom prst="roundRect">
              <a:avLst>
                <a:gd name="adj" fmla="val 3174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8697278" y="1546860"/>
              <a:ext cx="513398" cy="300038"/>
            </a:xfrm>
            <a:prstGeom prst="roundRect">
              <a:avLst>
                <a:gd name="adj" fmla="val 3174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10861358" y="1634490"/>
              <a:ext cx="513398" cy="300038"/>
            </a:xfrm>
            <a:prstGeom prst="roundRect">
              <a:avLst>
                <a:gd name="adj" fmla="val 3174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533198" y="2847022"/>
              <a:ext cx="513398" cy="300038"/>
            </a:xfrm>
            <a:prstGeom prst="roundRect">
              <a:avLst>
                <a:gd name="adj" fmla="val 3174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8697278" y="2934652"/>
              <a:ext cx="513398" cy="300038"/>
            </a:xfrm>
            <a:prstGeom prst="roundRect">
              <a:avLst>
                <a:gd name="adj" fmla="val 3174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10861358" y="2847022"/>
              <a:ext cx="513398" cy="300038"/>
            </a:xfrm>
            <a:prstGeom prst="roundRect">
              <a:avLst>
                <a:gd name="adj" fmla="val 3174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872398" y="232076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云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632931" y="171402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终端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797011" y="162734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终端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961091" y="171402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终端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632931" y="292750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终端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797011" y="301418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终端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961091" y="292750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终端</a:t>
              </a:r>
            </a:p>
          </p:txBody>
        </p:sp>
      </p:grpSp>
      <p:grpSp>
        <p:nvGrpSpPr>
          <p:cNvPr id="92" name="c2-graph-2"/>
          <p:cNvGrpSpPr/>
          <p:nvPr/>
        </p:nvGrpSpPr>
        <p:grpSpPr>
          <a:xfrm>
            <a:off x="6316028" y="3542348"/>
            <a:ext cx="5274945" cy="1513999"/>
            <a:chOff x="6316028" y="3542348"/>
            <a:chExt cx="5274945" cy="1513999"/>
          </a:xfrm>
        </p:grpSpPr>
        <p:sp>
          <p:nvSpPr>
            <p:cNvPr id="66" name="Freeform 66"/>
            <p:cNvSpPr/>
            <p:nvPr/>
          </p:nvSpPr>
          <p:spPr>
            <a:xfrm>
              <a:off x="6787515" y="3842385"/>
              <a:ext cx="359092" cy="252412"/>
            </a:xfrm>
            <a:custGeom>
              <a:avLst/>
              <a:gdLst/>
              <a:ahLst/>
              <a:cxnLst/>
              <a:rect l="l" t="t" r="r" b="b"/>
              <a:pathLst>
                <a:path w="359092" h="252412">
                  <a:moveTo>
                    <a:pt x="0" y="0"/>
                  </a:moveTo>
                  <a:lnTo>
                    <a:pt x="359092" y="25241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7118985" y="4055745"/>
              <a:ext cx="105728" cy="93345"/>
            </a:xfrm>
            <a:custGeom>
              <a:avLst/>
              <a:gdLst/>
              <a:ahLst/>
              <a:cxnLst/>
              <a:rect l="l" t="t" r="r" b="b"/>
              <a:pathLst>
                <a:path w="105728" h="93345">
                  <a:moveTo>
                    <a:pt x="105728" y="93345"/>
                  </a:moveTo>
                  <a:lnTo>
                    <a:pt x="0" y="78105"/>
                  </a:lnTo>
                  <a:lnTo>
                    <a:pt x="5524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8" name="Freeform 68"/>
            <p:cNvSpPr/>
            <p:nvPr/>
          </p:nvSpPr>
          <p:spPr>
            <a:xfrm>
              <a:off x="6787515" y="4504372"/>
              <a:ext cx="359092" cy="251460"/>
            </a:xfrm>
            <a:custGeom>
              <a:avLst/>
              <a:gdLst/>
              <a:ahLst/>
              <a:cxnLst/>
              <a:rect l="l" t="t" r="r" b="b"/>
              <a:pathLst>
                <a:path w="359092" h="251460">
                  <a:moveTo>
                    <a:pt x="0" y="251460"/>
                  </a:moveTo>
                  <a:lnTo>
                    <a:pt x="35909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9" name="Freeform 69"/>
            <p:cNvSpPr/>
            <p:nvPr/>
          </p:nvSpPr>
          <p:spPr>
            <a:xfrm>
              <a:off x="7118985" y="4449128"/>
              <a:ext cx="105728" cy="94297"/>
            </a:xfrm>
            <a:custGeom>
              <a:avLst/>
              <a:gdLst/>
              <a:ahLst/>
              <a:cxnLst/>
              <a:rect l="l" t="t" r="r" b="b"/>
              <a:pathLst>
                <a:path w="105728" h="94297">
                  <a:moveTo>
                    <a:pt x="105728" y="0"/>
                  </a:moveTo>
                  <a:lnTo>
                    <a:pt x="55245" y="94297"/>
                  </a:lnTo>
                  <a:lnTo>
                    <a:pt x="0" y="1619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0" name="Freeform 70"/>
            <p:cNvSpPr/>
            <p:nvPr/>
          </p:nvSpPr>
          <p:spPr>
            <a:xfrm>
              <a:off x="10760392" y="3842385"/>
              <a:ext cx="359093" cy="252412"/>
            </a:xfrm>
            <a:custGeom>
              <a:avLst/>
              <a:gdLst/>
              <a:ahLst/>
              <a:cxnLst/>
              <a:rect l="l" t="t" r="r" b="b"/>
              <a:pathLst>
                <a:path w="359093" h="252412">
                  <a:moveTo>
                    <a:pt x="359093" y="0"/>
                  </a:moveTo>
                  <a:lnTo>
                    <a:pt x="0" y="25241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10682288" y="4055745"/>
              <a:ext cx="105727" cy="93345"/>
            </a:xfrm>
            <a:custGeom>
              <a:avLst/>
              <a:gdLst/>
              <a:ahLst/>
              <a:cxnLst/>
              <a:rect l="l" t="t" r="r" b="b"/>
              <a:pathLst>
                <a:path w="105727" h="93345">
                  <a:moveTo>
                    <a:pt x="0" y="93345"/>
                  </a:moveTo>
                  <a:lnTo>
                    <a:pt x="50482" y="0"/>
                  </a:lnTo>
                  <a:lnTo>
                    <a:pt x="105727" y="7810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2" name="Freeform 72"/>
            <p:cNvSpPr/>
            <p:nvPr/>
          </p:nvSpPr>
          <p:spPr>
            <a:xfrm>
              <a:off x="10760392" y="4504372"/>
              <a:ext cx="359093" cy="251460"/>
            </a:xfrm>
            <a:custGeom>
              <a:avLst/>
              <a:gdLst/>
              <a:ahLst/>
              <a:cxnLst/>
              <a:rect l="l" t="t" r="r" b="b"/>
              <a:pathLst>
                <a:path w="359093" h="251460">
                  <a:moveTo>
                    <a:pt x="359093" y="25146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3" name="Freeform 73"/>
            <p:cNvSpPr/>
            <p:nvPr/>
          </p:nvSpPr>
          <p:spPr>
            <a:xfrm>
              <a:off x="10682288" y="4449128"/>
              <a:ext cx="105727" cy="94297"/>
            </a:xfrm>
            <a:custGeom>
              <a:avLst/>
              <a:gdLst/>
              <a:ahLst/>
              <a:cxnLst/>
              <a:rect l="l" t="t" r="r" b="b"/>
              <a:pathLst>
                <a:path w="105727" h="94297">
                  <a:moveTo>
                    <a:pt x="0" y="0"/>
                  </a:moveTo>
                  <a:lnTo>
                    <a:pt x="105727" y="16192"/>
                  </a:lnTo>
                  <a:lnTo>
                    <a:pt x="50482" y="9429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4" name="Freeform 74"/>
            <p:cNvSpPr/>
            <p:nvPr/>
          </p:nvSpPr>
          <p:spPr>
            <a:xfrm>
              <a:off x="7695248" y="4299585"/>
              <a:ext cx="867728" cy="9525"/>
            </a:xfrm>
            <a:custGeom>
              <a:avLst/>
              <a:gdLst/>
              <a:ahLst/>
              <a:cxnLst/>
              <a:rect l="l" t="t" r="r" b="b"/>
              <a:pathLst>
                <a:path w="867728" h="9525">
                  <a:moveTo>
                    <a:pt x="0" y="0"/>
                  </a:moveTo>
                  <a:lnTo>
                    <a:pt x="86772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75" name="Freeform 75"/>
            <p:cNvSpPr/>
            <p:nvPr/>
          </p:nvSpPr>
          <p:spPr>
            <a:xfrm>
              <a:off x="8562975" y="42519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6" name="Freeform 76"/>
            <p:cNvSpPr/>
            <p:nvPr/>
          </p:nvSpPr>
          <p:spPr>
            <a:xfrm>
              <a:off x="9344025" y="4299585"/>
              <a:ext cx="867727" cy="9525"/>
            </a:xfrm>
            <a:custGeom>
              <a:avLst/>
              <a:gdLst/>
              <a:ahLst/>
              <a:cxnLst/>
              <a:rect l="l" t="t" r="r" b="b"/>
              <a:pathLst>
                <a:path w="867727" h="9525">
                  <a:moveTo>
                    <a:pt x="867727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77" name="Freeform 77"/>
            <p:cNvSpPr/>
            <p:nvPr/>
          </p:nvSpPr>
          <p:spPr>
            <a:xfrm>
              <a:off x="9248775" y="42519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8" name="Ellipse 78"/>
            <p:cNvSpPr/>
            <p:nvPr/>
          </p:nvSpPr>
          <p:spPr>
            <a:xfrm>
              <a:off x="8667750" y="4013835"/>
              <a:ext cx="571500" cy="571500"/>
            </a:xfrm>
            <a:prstGeom prst="ellipse">
              <a:avLst/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7181850" y="4149090"/>
              <a:ext cx="513398" cy="300038"/>
            </a:xfrm>
            <a:prstGeom prst="roundRect">
              <a:avLst>
                <a:gd name="adj" fmla="val 31746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10211752" y="4149090"/>
              <a:ext cx="513398" cy="300038"/>
            </a:xfrm>
            <a:prstGeom prst="roundRect">
              <a:avLst>
                <a:gd name="adj" fmla="val 31746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6316028" y="3542348"/>
              <a:ext cx="513398" cy="300038"/>
            </a:xfrm>
            <a:prstGeom prst="roundRect">
              <a:avLst>
                <a:gd name="adj" fmla="val 3174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6316028" y="4755832"/>
              <a:ext cx="513398" cy="300038"/>
            </a:xfrm>
            <a:prstGeom prst="roundRect">
              <a:avLst>
                <a:gd name="adj" fmla="val 3174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83" name="Rectangle 83"/>
            <p:cNvSpPr/>
            <p:nvPr/>
          </p:nvSpPr>
          <p:spPr>
            <a:xfrm>
              <a:off x="11077575" y="3542348"/>
              <a:ext cx="513398" cy="300038"/>
            </a:xfrm>
            <a:prstGeom prst="roundRect">
              <a:avLst>
                <a:gd name="adj" fmla="val 3174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84" name="Rectangle 84"/>
            <p:cNvSpPr/>
            <p:nvPr/>
          </p:nvSpPr>
          <p:spPr>
            <a:xfrm>
              <a:off x="11077575" y="4755832"/>
              <a:ext cx="513398" cy="300038"/>
            </a:xfrm>
            <a:prstGeom prst="roundRect">
              <a:avLst>
                <a:gd name="adj" fmla="val 3174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8872398" y="422957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云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282536" y="422957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边缘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311486" y="422957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边缘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416713" y="36228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终端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416713" y="48363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终端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177308" y="36228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终端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177308" y="48363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终端</a:t>
              </a:r>
            </a:p>
          </p:txBody>
        </p:sp>
      </p:grpSp>
      <p:grpSp>
        <p:nvGrpSpPr>
          <p:cNvPr id="94" name="c2-text-3"/>
          <p:cNvGrpSpPr/>
          <p:nvPr/>
        </p:nvGrpSpPr>
        <p:grpSpPr>
          <a:xfrm>
            <a:off x="6242685" y="5360194"/>
            <a:ext cx="5132070" cy="441008"/>
            <a:chOff x="6242685" y="5360194"/>
            <a:chExt cx="5132070" cy="441008"/>
          </a:xfrm>
        </p:grpSpPr>
        <p:sp>
          <p:nvSpPr>
            <p:cNvPr id="93" name="TextBox 93"/>
            <p:cNvSpPr txBox="1"/>
            <p:nvPr/>
          </p:nvSpPr>
          <p:spPr>
            <a:xfrm>
              <a:off x="6242685" y="5360194"/>
              <a:ext cx="5132070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上：所有终端直连云；下：终端先连就近的边缘，边缘只把必要的数据交给云（原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课件第155、156页）</a:t>
              </a:r>
            </a:p>
          </p:txBody>
        </p:sp>
      </p:grpSp>
      <p:grpSp>
        <p:nvGrpSpPr>
          <p:cNvPr id="9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5" name="TextBox 95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 · 边缘计算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计算位置的变迁，与云边端一体化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33400" y="1524000"/>
            <a:ext cx="4977765" cy="2703196"/>
            <a:chOff x="533400" y="1524000"/>
            <a:chExt cx="4977765" cy="270319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44481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2022" y="165163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阶段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976562" y="165163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应用在哪里运行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2270" y="209645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早期计算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26704" y="2096452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集中式应用，只在一台孤立的计算机上运行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0887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13635"/>
              <a:ext cx="4977765" cy="6848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2270" y="266128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个人计算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26704" y="2541270"/>
              <a:ext cx="327126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去中心化应用，在各自的个人电脑上本地运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09276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2270" y="32261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云计算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26704" y="32261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集中式应用，在数据中心运行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53758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542348"/>
              <a:ext cx="4977765" cy="6848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3551872"/>
              <a:ext cx="1175385" cy="66579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2270" y="37909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边缘计算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26704" y="3670935"/>
              <a:ext cx="327126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集中式应用，在靠近用户的地方运行：设备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本身或网络边缘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1524000"/>
              <a:ext cx="4977765" cy="27031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723072" y="1524000"/>
              <a:ext cx="9525" cy="27031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5" name="c1-card-2"/>
          <p:cNvGrpSpPr/>
          <p:nvPr/>
        </p:nvGrpSpPr>
        <p:grpSpPr>
          <a:xfrm>
            <a:off x="533400" y="4402455"/>
            <a:ext cx="4977765" cy="1458278"/>
            <a:chOff x="533400" y="4402455"/>
            <a:chExt cx="4977765" cy="1458278"/>
          </a:xfrm>
        </p:grpSpPr>
        <p:sp>
          <p:nvSpPr>
            <p:cNvPr id="27" name="Rectangle 27"/>
            <p:cNvSpPr/>
            <p:nvPr/>
          </p:nvSpPr>
          <p:spPr>
            <a:xfrm>
              <a:off x="533400" y="4402455"/>
              <a:ext cx="4977765" cy="1458278"/>
            </a:xfrm>
            <a:prstGeom prst="roundRect">
              <a:avLst>
                <a:gd name="adj" fmla="val 91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535805"/>
              <a:ext cx="47625" cy="119157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63905" y="4594860"/>
              <a:ext cx="167640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19340" y="462915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边缘计算可能面临的问题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72478" y="500729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28497" y="4951095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成本高：节点多而分散，每个都要建设和维护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72478" y="531018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28497" y="5253990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易受攻击：设备放在机房之外，物理和网络上都更暴露</a:t>
              </a:r>
            </a:p>
          </p:txBody>
        </p:sp>
      </p:grpSp>
      <p:grpSp>
        <p:nvGrpSpPr>
          <p:cNvPr id="60" name="c2-table-1"/>
          <p:cNvGrpSpPr/>
          <p:nvPr/>
        </p:nvGrpSpPr>
        <p:grpSpPr>
          <a:xfrm>
            <a:off x="5815965" y="1524000"/>
            <a:ext cx="5842635" cy="3183256"/>
            <a:chOff x="5815965" y="1524000"/>
            <a:chExt cx="5842635" cy="3183256"/>
          </a:xfrm>
        </p:grpSpPr>
        <p:sp>
          <p:nvSpPr>
            <p:cNvPr id="36" name="Rectangle 36"/>
            <p:cNvSpPr/>
            <p:nvPr/>
          </p:nvSpPr>
          <p:spPr>
            <a:xfrm>
              <a:off x="5815965" y="1524000"/>
              <a:ext cx="5842635" cy="44481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32170" y="165163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谁接管谁的任务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14372" y="165163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294810" y="165163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得到什么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914834" y="22164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云接管终端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434072" y="2096452"/>
              <a:ext cx="2019681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Chromebook（接管了存储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和计算）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770554" y="22164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终端更省电、更轻薄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815965" y="264890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815965" y="2653665"/>
              <a:ext cx="5842635" cy="6848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914834" y="290131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边缘接管终端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434072" y="2781300"/>
              <a:ext cx="2011108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NAS（重在接管存储，现在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的很多 NAS 也能计算）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770554" y="290131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同上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815965" y="333279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914834" y="358616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边缘接管云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434072" y="3466148"/>
              <a:ext cx="189966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云游戏（大大降低操作延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迟）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770554" y="358616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延迟更低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815965" y="401764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815965" y="4022408"/>
              <a:ext cx="5842635" cy="6848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914834" y="427101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终端接管云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434072" y="4150995"/>
              <a:ext cx="189966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联邦学习（数据留在本地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训练模型）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770554" y="427101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数据更安全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815965" y="1524000"/>
              <a:ext cx="5842635" cy="31832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7330440" y="1524000"/>
              <a:ext cx="9525" cy="3183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9666922" y="1524000"/>
              <a:ext cx="9525" cy="3183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6" name="c2-callout-2"/>
          <p:cNvGrpSpPr/>
          <p:nvPr/>
        </p:nvGrpSpPr>
        <p:grpSpPr>
          <a:xfrm>
            <a:off x="5815965" y="4882515"/>
            <a:ext cx="5842635" cy="978218"/>
            <a:chOff x="5815965" y="4882515"/>
            <a:chExt cx="5842635" cy="978218"/>
          </a:xfrm>
        </p:grpSpPr>
        <p:sp>
          <p:nvSpPr>
            <p:cNvPr id="61" name="Rectangle 61"/>
            <p:cNvSpPr/>
            <p:nvPr/>
          </p:nvSpPr>
          <p:spPr>
            <a:xfrm>
              <a:off x="5815965" y="4882515"/>
              <a:ext cx="5842635" cy="978218"/>
            </a:xfrm>
            <a:prstGeom prst="roundRect">
              <a:avLst>
                <a:gd name="adj" fmla="val 11685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6020753" y="5271137"/>
              <a:ext cx="200023" cy="200023"/>
              <a:chOff x="6020753" y="5271137"/>
              <a:chExt cx="200023" cy="200023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6020753" y="527113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154103" y="53378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6323457" y="5028248"/>
              <a:ext cx="481431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两个方向：云和边接管终端上对算力、存储要求高的任务，减少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终端的功耗和体积；边和端接管云上对时延、隐私敏感的任务，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降低延迟、增强数据安全。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自测题（一）概念辨析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2194560" cy="264033"/>
            <a:chOff x="526542" y="1545907"/>
            <a:chExt cx="219456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先自己写出答案，再对照。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5410200" cy="1671638"/>
            <a:chOff x="533400" y="1928812"/>
            <a:chExt cx="5410200" cy="167163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7898" y="2449354"/>
              <a:ext cx="4776775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公司租了云主机，自己装数据库和 Tomcat 部署网站；另一家公司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直接用在线文档办公。各属于哪种服务模式？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7898" y="2977991"/>
              <a:ext cx="48491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前者是 IaaS（操作系统往上自己管）；后者是 SaaS（直接用做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好的应用）。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765232"/>
            <a:ext cx="5410200" cy="1914525"/>
            <a:chOff x="533400" y="3765232"/>
            <a:chExt cx="5410200" cy="1914525"/>
          </a:xfrm>
        </p:grpSpPr>
        <p:sp>
          <p:nvSpPr>
            <p:cNvPr id="15" name="Rectangle 15"/>
            <p:cNvSpPr/>
            <p:nvPr/>
          </p:nvSpPr>
          <p:spPr>
            <a:xfrm>
              <a:off x="533400" y="3765232"/>
              <a:ext cx="5410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4375" y="394620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3832" y="397906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7898" y="4286726"/>
              <a:ext cx="4689805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容器里能直接运行一个 Windows 程序吗（宿主是 Linux）？为什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么？虚拟机呢？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7898" y="4814411"/>
              <a:ext cx="458089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不能，容器共享宿主的 Linux 内核；虚拟机模拟的是整台硬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件，可以装 Windows 客户机。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928812"/>
            <a:ext cx="5410200" cy="1671638"/>
            <a:chOff x="6248400" y="1928812"/>
            <a:chExt cx="5410200" cy="1671638"/>
          </a:xfrm>
        </p:grpSpPr>
        <p:sp>
          <p:nvSpPr>
            <p:cNvPr id="21" name="Rectangle 21"/>
            <p:cNvSpPr/>
            <p:nvPr/>
          </p:nvSpPr>
          <p:spPr>
            <a:xfrm>
              <a:off x="6248400" y="1928812"/>
              <a:ext cx="5410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29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18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22898" y="2449354"/>
              <a:ext cx="472150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KVM 和 VirtualBox 各属于哪类 Hypervisor？硬件辅助虚拟化下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 OS 运行在什么模式和特权级？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22898" y="2977991"/>
              <a:ext cx="471093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KVM 是 Type 1（Linux 内核模块），VirtualBox 是 Type 2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（跑在宿主 OS 上）；客户 OS 运行在 non-root 模式的 Ring 0。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3765232"/>
            <a:ext cx="5410200" cy="1914525"/>
            <a:chOff x="6248400" y="3765232"/>
            <a:chExt cx="5410200" cy="1914525"/>
          </a:xfrm>
        </p:grpSpPr>
        <p:sp>
          <p:nvSpPr>
            <p:cNvPr id="27" name="Rectangle 27"/>
            <p:cNvSpPr/>
            <p:nvPr/>
          </p:nvSpPr>
          <p:spPr>
            <a:xfrm>
              <a:off x="6248400" y="3765232"/>
              <a:ext cx="5410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29375" y="394620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18832" y="397906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22898" y="4286726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用户登录后刷新页面又要求重新登录，网站有多台网页服务器。原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因是什么？给出两种解决办法。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22898" y="4814411"/>
              <a:ext cx="484911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session 存在第一台服务器的内存里，刷新时请求被发到另一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台。可用粘性会话、把 session 存进 Redis 共享，或改用 JWT 让客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户端保存令牌。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3" name="Rectangle 3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1273" y="6039326"/>
              <a:ext cx="78659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概念题先找判断依据：服务模式看谁管操作系统，虚拟化类型看 Hypervisor 下面是硬件还是宿主 OS。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自测题（二）计算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3284982" cy="264033"/>
            <a:chOff x="526542" y="1545907"/>
            <a:chExt cx="3284982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带计算的题请把代入的每一步都写出来。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5410200" cy="1671638"/>
            <a:chOff x="533400" y="1928812"/>
            <a:chExt cx="5410200" cy="167163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7898" y="2449354"/>
              <a:ext cx="474182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某服务承诺 99.95% 的可用性，一个 30 天的月最多能停机多少分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钟？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7898" y="2977991"/>
              <a:ext cx="454025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(1 − 0.9995) × 30 × 24 × 60 = 0.0005 × 43200 = 21.6 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钟。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765232"/>
            <a:ext cx="5410200" cy="1914525"/>
            <a:chOff x="533400" y="3765232"/>
            <a:chExt cx="5410200" cy="1914525"/>
          </a:xfrm>
        </p:grpSpPr>
        <p:sp>
          <p:nvSpPr>
            <p:cNvPr id="15" name="Rectangle 15"/>
            <p:cNvSpPr/>
            <p:nvPr/>
          </p:nvSpPr>
          <p:spPr>
            <a:xfrm>
              <a:off x="533400" y="3765232"/>
              <a:ext cx="5410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4375" y="394620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3832" y="397906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7898" y="4286726"/>
              <a:ext cx="455203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承载网 MTU 为 9000（巨帧）时，VXLAN 内层 IP 包最大多少字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7898" y="4814411"/>
              <a:ext cx="48491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9000 − 20（外层 IP）− 8（UDP）− 8（VXLAN）− 14（内层以太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网头）= 8950 字节。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928812"/>
            <a:ext cx="5410200" cy="1671638"/>
            <a:chOff x="6248400" y="1928812"/>
            <a:chExt cx="5410200" cy="1671638"/>
          </a:xfrm>
        </p:grpSpPr>
        <p:sp>
          <p:nvSpPr>
            <p:cNvPr id="21" name="Rectangle 21"/>
            <p:cNvSpPr/>
            <p:nvPr/>
          </p:nvSpPr>
          <p:spPr>
            <a:xfrm>
              <a:off x="6248400" y="1928812"/>
              <a:ext cx="5410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29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18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22898" y="2449354"/>
              <a:ext cx="48186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负载均衡器 99.99%，后面两台 99% 的网页服务器互为冗余，再串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 99.9% 的数据库。整体可用性是多少？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22898" y="2977991"/>
              <a:ext cx="425577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网页层 1 − 0.01² = 0.9999；整体 0.9999 × 0.9999 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0.999 ≈ 0.9988，约 99.88%。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3765232"/>
            <a:ext cx="5410200" cy="1914525"/>
            <a:chOff x="6248400" y="3765232"/>
            <a:chExt cx="5410200" cy="1914525"/>
          </a:xfrm>
        </p:grpSpPr>
        <p:sp>
          <p:nvSpPr>
            <p:cNvPr id="27" name="Rectangle 27"/>
            <p:cNvSpPr/>
            <p:nvPr/>
          </p:nvSpPr>
          <p:spPr>
            <a:xfrm>
              <a:off x="6248400" y="3765232"/>
              <a:ext cx="5410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29375" y="394620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18832" y="397906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22898" y="4286726"/>
              <a:ext cx="4722317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热迁移中内存 8 GB，带宽 2 GB/s，脏页速率 200 MB/s。第 2 轮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要拷多少？如果脏页速率涨到 3 GB/s 会怎样？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22898" y="4814411"/>
              <a:ext cx="480034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轮 8 GB 用 4 s，期间弄脏 0.8 GB，第 2 轮拷 800 MB。脏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页速率超过带宽时每轮越拷越多，预拷贝不收敛，只能限速或停机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拷贝。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3" name="Rectangle 3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1273" y="6039326"/>
              <a:ext cx="5897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可用性题先分清串联还是并联：串联相乘，并联用 1 减去各自不可用的乘积。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0490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5916" y="407194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第6章 云计算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bullets-1"/>
          <p:cNvGrpSpPr/>
          <p:nvPr/>
        </p:nvGrpSpPr>
        <p:grpSpPr>
          <a:xfrm>
            <a:off x="533400" y="1532572"/>
            <a:ext cx="4437578" cy="1863567"/>
            <a:chOff x="533400" y="1532572"/>
            <a:chExt cx="4437578" cy="1863567"/>
          </a:xfrm>
        </p:grpSpPr>
        <p:sp>
          <p:nvSpPr>
            <p:cNvPr id="7" name="Ellipse 7"/>
            <p:cNvSpPr/>
            <p:nvPr/>
          </p:nvSpPr>
          <p:spPr>
            <a:xfrm>
              <a:off x="533400" y="1532572"/>
              <a:ext cx="160020" cy="16002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79105" y="1564291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82955" y="1542574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按需采购、按量付费；成本低在规模、利用率和超额配置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04988"/>
              <a:ext cx="160020" cy="16002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79105" y="1836706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2955" y="1814989"/>
              <a:ext cx="41880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停机时间 = (1 − A) × T；串联相乘，冗余用 1 减不可用的乘积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077402"/>
              <a:ext cx="160020" cy="16002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79105" y="2109121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2955" y="2087404"/>
              <a:ext cx="37563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IaaS、PaaS、SaaS 依次多管几层，易用性升、自由度降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349818"/>
              <a:ext cx="160020" cy="16002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79105" y="2381536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82955" y="2359819"/>
              <a:ext cx="40192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虚拟机靠 Hypervisor；特权指令靠全虚拟化或半虚拟化处理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2622232"/>
              <a:ext cx="160020" cy="16002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79105" y="2653951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2955" y="2632234"/>
              <a:ext cx="35756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容器共享内核；Docker 镜像负责封装，K8s 负责编排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2893695"/>
              <a:ext cx="160020" cy="16002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79105" y="2926366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2955" y="2903696"/>
              <a:ext cx="40907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Overlay 打隧道，VXLAN 多 50 字节；网络够快才能存算分离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33400" y="3166110"/>
              <a:ext cx="160020" cy="16002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79105" y="3197828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2955" y="3176111"/>
              <a:ext cx="40176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服务尽量无状态，走到头是 FaaS；边缘计算把计算挪近用户</a:t>
              </a:r>
            </a:p>
          </p:txBody>
        </p:sp>
      </p:grpSp>
      <p:grpSp>
        <p:nvGrpSpPr>
          <p:cNvPr id="37" name="c1-card-2"/>
          <p:cNvGrpSpPr/>
          <p:nvPr/>
        </p:nvGrpSpPr>
        <p:grpSpPr>
          <a:xfrm>
            <a:off x="533400" y="3527108"/>
            <a:ext cx="5951220" cy="1815465"/>
            <a:chOff x="533400" y="3527108"/>
            <a:chExt cx="5951220" cy="1815465"/>
          </a:xfrm>
        </p:grpSpPr>
        <p:sp>
          <p:nvSpPr>
            <p:cNvPr id="29" name="Rectangle 29"/>
            <p:cNvSpPr/>
            <p:nvPr/>
          </p:nvSpPr>
          <p:spPr>
            <a:xfrm>
              <a:off x="533400" y="3527108"/>
              <a:ext cx="5951220" cy="1815465"/>
            </a:xfrm>
            <a:prstGeom prst="roundRect">
              <a:avLst>
                <a:gd name="adj" fmla="val 73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3660458"/>
              <a:ext cx="47625" cy="15487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63905" y="3719512"/>
              <a:ext cx="15430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23341" y="37538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72478" y="413289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28497" y="4076700"/>
              <a:ext cx="50114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VT-x 新增两种模式（第18页）；LXC 的来历（第24页）；DDR4 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PCIe 带宽（第37页）；存储即服务（第38页）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72478" y="469201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28497" y="4635818"/>
              <a:ext cx="508863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001 对应歌曲（第40页）；POST 不幂等（第46页）；HTTP + JSON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也能压缩（第47页）</a:t>
              </a:r>
            </a:p>
          </p:txBody>
        </p:sp>
      </p:grpSp>
      <p:grpSp>
        <p:nvGrpSpPr>
          <p:cNvPr id="59" name="c2-table-1"/>
          <p:cNvGrpSpPr/>
          <p:nvPr/>
        </p:nvGrpSpPr>
        <p:grpSpPr>
          <a:xfrm>
            <a:off x="6789420" y="1524000"/>
            <a:ext cx="4869180" cy="2434590"/>
            <a:chOff x="6789420" y="1524000"/>
            <a:chExt cx="4869180" cy="2434590"/>
          </a:xfrm>
        </p:grpSpPr>
        <p:sp>
          <p:nvSpPr>
            <p:cNvPr id="38" name="Rectangle 38"/>
            <p:cNvSpPr/>
            <p:nvPr/>
          </p:nvSpPr>
          <p:spPr>
            <a:xfrm>
              <a:off x="6789420" y="1524000"/>
              <a:ext cx="4869180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36349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722701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89432" y="205406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弹性计算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50567" y="205406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资源随负载伸缩，不为闲置付费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789420" y="233076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789420" y="2335530"/>
              <a:ext cx="486918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889432" y="245983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热迁移预拷贝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50567" y="2459831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边运行边拷内存，最后只停一小会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789420" y="273653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889432" y="28655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滚动更新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50567" y="2865596"/>
              <a:ext cx="1967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先起新 Pod，就绪后删旧 Pod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789420" y="314229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789420" y="3147060"/>
              <a:ext cx="486918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889432" y="3271361"/>
              <a:ext cx="5859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Sidecar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350567" y="3271361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通信杂事放进服务旁边的代理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789420" y="354806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889432" y="3677126"/>
              <a:ext cx="3695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FaaS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350567" y="3677126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事件驱动，按毫秒计费的无状态函数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789420" y="1524000"/>
              <a:ext cx="4869180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8245792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4" name="c2-card-2"/>
          <p:cNvGrpSpPr/>
          <p:nvPr/>
        </p:nvGrpSpPr>
        <p:grpSpPr>
          <a:xfrm>
            <a:off x="6789420" y="4133850"/>
            <a:ext cx="4869180" cy="1209675"/>
            <a:chOff x="6789420" y="4133850"/>
            <a:chExt cx="4869180" cy="1209675"/>
          </a:xfrm>
        </p:grpSpPr>
        <p:sp>
          <p:nvSpPr>
            <p:cNvPr id="60" name="Rectangle 60"/>
            <p:cNvSpPr/>
            <p:nvPr/>
          </p:nvSpPr>
          <p:spPr>
            <a:xfrm>
              <a:off x="6789420" y="4133850"/>
              <a:ext cx="4869180" cy="1209675"/>
            </a:xfrm>
            <a:prstGeom prst="roundRect">
              <a:avLst>
                <a:gd name="adj" fmla="val 11024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981825" y="432625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069265" y="436054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接下来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974967" y="4682490"/>
              <a:ext cx="422281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第7章体系结构：从处理器、存储和互连网络的角度看并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行计算机怎样组织。</a:t>
              </a:r>
            </a:p>
          </p:txBody>
        </p:sp>
      </p:grpSp>
      <p:grpSp>
        <p:nvGrpSpPr>
          <p:cNvPr id="70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65" name="Rectangle 65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38188" y="5897882"/>
              <a:ext cx="200023" cy="200023"/>
              <a:chOff x="738188" y="5897882"/>
              <a:chExt cx="200023" cy="200023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38188" y="589788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71538" y="5964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0892" y="5779770"/>
              <a:ext cx="988923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复习时动手算三类题：几个 9 与停机时间、串并联系统的可用性、封装开销与内层 MTU；再对着图说清 Type 1/2 与虚拟机/容器的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层次差别。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第6章 云计算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dc_ch06">
  <a:themeElements>
    <a:clrScheme name="pdc_ch0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dc_ch06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dc_ch0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2026-09-23T08:52:44Z</dcterms:created>
  <dcterms:modified xsi:type="dcterms:W3CDTF">2026-09-23T08:52:44Z</dcterms:modified>
  <cp:category/>
  <cp:contentStatus/>
</cp:coreProperties>
</file>