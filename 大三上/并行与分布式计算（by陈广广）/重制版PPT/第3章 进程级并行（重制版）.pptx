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dc_ch0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dc_ch0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d90c8dc60fe5fa1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1a3041921b8a050.png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97ed15599f4523e.png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8673" t="0" r="8673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983888" cy="3437763"/>
            <a:chOff x="666750" y="1619250"/>
            <a:chExt cx="3983888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139315" cy="3429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7463" y="1718310"/>
              <a:ext cx="19159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并行与分布式计算 · 第3章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8651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进程级并行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9739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进程各有内存，靠 MPI 收发消息协作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消息传递与两种工作模式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2872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MPI 点对点通信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集合通信与规约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单边通信与多机运行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632846" cy="205359"/>
            <a:chOff x="680466" y="6192202"/>
            <a:chExt cx="4632846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6328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自学复习版｜据吉林大学《并行与分布式计算》第3章课件整理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2351" y="1513999"/>
            <a:ext cx="6392982" cy="4490942"/>
            <a:chOff x="522351" y="1513999"/>
            <a:chExt cx="6392982" cy="4490942"/>
          </a:xfrm>
        </p:grpSpPr>
        <p:sp>
          <p:nvSpPr>
            <p:cNvPr id="7" name="TextBox 7"/>
            <p:cNvSpPr txBox="1"/>
            <p:nvPr/>
          </p:nvSpPr>
          <p:spPr>
            <a:xfrm>
              <a:off x="522351" y="1513999"/>
              <a:ext cx="361058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4989" y="1550194"/>
              <a:ext cx="21429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进程级并行与消息传递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56894" y="1853565"/>
              <a:ext cx="49686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独立地址空间、主从模式与 SPMD、IPC、send/receive、同步与异步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62990" y="2152650"/>
              <a:ext cx="574643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2351" y="2253139"/>
              <a:ext cx="361058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4989" y="2289334"/>
              <a:ext cx="88975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 基础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6894" y="2592705"/>
              <a:ext cx="5558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标准与实现、程序骨架、消息缓冲与信封、标签、数据类型、通信器、Status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62990" y="2891790"/>
              <a:ext cx="574643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2351" y="2992279"/>
              <a:ext cx="361058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54989" y="3028474"/>
              <a:ext cx="15048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阻塞点对点通信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6894" y="3331845"/>
              <a:ext cx="4103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Send/Recv 的语义，两个完整例子：一对一收发、令牌环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62990" y="3630930"/>
              <a:ext cx="574643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2351" y="3731419"/>
              <a:ext cx="361058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54989" y="3767614"/>
              <a:ext cx="17175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通信模式与非阻塞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56894" y="4070985"/>
              <a:ext cx="58584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同步、缓冲、标准、就绪四种模式，死锁，通信开销，Isend/Irecv 与 Wait/Test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62990" y="4370070"/>
              <a:ext cx="574643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2351" y="4470559"/>
              <a:ext cx="361058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4989" y="4506754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集合通信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56894" y="4810125"/>
              <a:ext cx="48356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Barrier、Bcast、Scatter、Gather、Allgather、Alltoall、Reduce、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Allreduce 及统计例子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62990" y="5330190"/>
              <a:ext cx="574643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2351" y="5430679"/>
              <a:ext cx="361058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54989" y="5466874"/>
              <a:ext cx="19302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单边通信与多机运行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56894" y="5770245"/>
              <a:ext cx="4646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窗口、Put/Get/Accumulate、fence 与 lock、RDMA、hostfile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7114222" y="1524000"/>
            <a:ext cx="4544378" cy="4433888"/>
            <a:chOff x="7114222" y="1524000"/>
            <a:chExt cx="4544378" cy="4433888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33888"/>
            </a:xfrm>
            <a:prstGeom prst="roundRect">
              <a:avLst>
                <a:gd name="adj" fmla="val 30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6718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56158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3751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3777" y="216122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0368" y="2100739"/>
              <a:ext cx="36212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说出进程级并行与线程级并行在地址空间和交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互方式上的区别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3777" y="275272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0368" y="2692241"/>
              <a:ext cx="302615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 MPI 程序骨架，读懂 MPI_Send /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MPI_Recv 每个参数的含义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3777" y="334422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0368" y="3283744"/>
              <a:ext cx="36212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区分四种点对点通信模式的返回时机，能判断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一段收发代码会不会死锁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3777" y="393573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0368" y="3875246"/>
              <a:ext cx="378358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Isend/Irecv 加 Wait 让计算和通信重叠，并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估算节省的时间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3777" y="452723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0368" y="4466749"/>
              <a:ext cx="373849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 Bcast、Scatter、Gather、Allgather、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Alltoall、Reduce 的数据走向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363777" y="511873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20368" y="5058251"/>
              <a:ext cx="36212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用启动延迟加传输时间的模型估算通信开销，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算出并行求和的加速比与效率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882896" cy="3351847"/>
            <a:chOff x="667512" y="1835468"/>
            <a:chExt cx="488289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进程级并行与消息传递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进程之间不共享内存，要合作只能互相发消息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40530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原课件第2–15页：进程、IPC 与消息传递模型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进程有独立的地址空间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主从模式与单控制流多数据流模式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同步通信与异步通信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进程级并行与消息传递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进程级并行：每个进程有自己的地址空间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085398" cy="1786890"/>
            <a:chOff x="533400" y="1524000"/>
            <a:chExt cx="5085398" cy="17868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085398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回顾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进程与线程（操作系统课）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2478" y="214693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8497" y="2090738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：一个正在执行的程序实例，包括程序计数器、寄存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器和变量的当前值；更独立，有独自的地址空间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2478" y="270605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8497" y="2649855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：轻量级进程，同一进程内的线程共享地址空间，但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各有一套栈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485198"/>
            <a:ext cx="5085398" cy="2535555"/>
            <a:chOff x="533400" y="3485198"/>
            <a:chExt cx="5085398" cy="2535555"/>
          </a:xfrm>
        </p:grpSpPr>
        <p:sp>
          <p:nvSpPr>
            <p:cNvPr id="17" name="Rectangle 17"/>
            <p:cNvSpPr/>
            <p:nvPr/>
          </p:nvSpPr>
          <p:spPr>
            <a:xfrm>
              <a:off x="533400" y="3485198"/>
              <a:ext cx="5085398" cy="2535555"/>
            </a:xfrm>
            <a:prstGeom prst="roundRect">
              <a:avLst>
                <a:gd name="adj" fmla="val 5259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25805" y="367760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7245" y="371189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8947" y="4034790"/>
              <a:ext cx="439426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第2章的线程级并行共享内存；本章的进程级并行每个进程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有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独立的地址空间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，内存不共享。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8947" y="4593908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进程之间只靠通信交换数据，所以天然适合在多个处理器甚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至多台机器上并行处理任务。</a:t>
              </a:r>
            </a:p>
          </p:txBody>
        </p:sp>
      </p:grpSp>
      <p:grpSp>
        <p:nvGrpSpPr>
          <p:cNvPr id="56" name="c2-table-1"/>
          <p:cNvGrpSpPr/>
          <p:nvPr/>
        </p:nvGrpSpPr>
        <p:grpSpPr>
          <a:xfrm>
            <a:off x="5923598" y="1524000"/>
            <a:ext cx="5735002" cy="3592830"/>
            <a:chOff x="5923598" y="1524000"/>
            <a:chExt cx="5735002" cy="3592830"/>
          </a:xfrm>
        </p:grpSpPr>
        <p:sp>
          <p:nvSpPr>
            <p:cNvPr id="23" name="Rectangle 23"/>
            <p:cNvSpPr/>
            <p:nvPr/>
          </p:nvSpPr>
          <p:spPr>
            <a:xfrm>
              <a:off x="5923598" y="1524000"/>
              <a:ext cx="5735002" cy="44481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74689" y="165163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26744" y="1651635"/>
              <a:ext cx="17543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线程级并行（第2章）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715690" y="165163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进程级并行（本章）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22467" y="209645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地址空间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84530" y="209645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同一进程内共享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21000" y="209645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每个进程独立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923598" y="2408872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923598" y="2413635"/>
              <a:ext cx="5735002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022467" y="254127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交换数据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84530" y="254127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读写共享变量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21000" y="254127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显式发送、接收消息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923598" y="2852738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22467" y="310610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主要麻烦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84530" y="310610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数据竞争，要加锁或同步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21000" y="2986088"/>
              <a:ext cx="18996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通信开销，要安排收发顺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923598" y="3537585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923598" y="3542348"/>
              <a:ext cx="5735002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022467" y="367093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运行范围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84530" y="367093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一台机器的多个核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521000" y="367093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一台或多台机器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923598" y="3982402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022467" y="41148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一个出错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84530" y="411480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可能拖垮整个进程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21000" y="411480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通常只影响自己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923598" y="4427220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923598" y="4431982"/>
              <a:ext cx="5735002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022467" y="467963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典型工具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84530" y="4559618"/>
              <a:ext cx="1745361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OpenMP、Pthreads、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Cilk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521000" y="4679632"/>
              <a:ext cx="3209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923598" y="1524000"/>
              <a:ext cx="5735002" cy="35928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180898" y="1524000"/>
              <a:ext cx="9525" cy="35928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9417368" y="1524000"/>
              <a:ext cx="9525" cy="35928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c2-callout-2"/>
          <p:cNvGrpSpPr/>
          <p:nvPr/>
        </p:nvGrpSpPr>
        <p:grpSpPr>
          <a:xfrm>
            <a:off x="5923598" y="5291138"/>
            <a:ext cx="5735002" cy="729615"/>
            <a:chOff x="5923598" y="5291138"/>
            <a:chExt cx="5735002" cy="729615"/>
          </a:xfrm>
        </p:grpSpPr>
        <p:sp>
          <p:nvSpPr>
            <p:cNvPr id="57" name="Rectangle 57"/>
            <p:cNvSpPr/>
            <p:nvPr/>
          </p:nvSpPr>
          <p:spPr>
            <a:xfrm>
              <a:off x="5923598" y="5291138"/>
              <a:ext cx="5735002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128385" y="5555933"/>
              <a:ext cx="200026" cy="200025"/>
              <a:chOff x="6128385" y="5555933"/>
              <a:chExt cx="200026" cy="20002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128385" y="555593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168124" y="560038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202839" y="571150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431089" y="5437823"/>
              <a:ext cx="48143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判断用哪种：数据能放进一台机器的内存、只想用满多核，用线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程；要跨机器扩展到成百上千个核，用进程加消息传递。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进程级并行与消息传递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多进程怎样分工：主从模式与单控制流多数据流模式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graph-1"/>
          <p:cNvGrpSpPr/>
          <p:nvPr/>
        </p:nvGrpSpPr>
        <p:grpSpPr>
          <a:xfrm>
            <a:off x="1007745" y="1616392"/>
            <a:ext cx="4461509" cy="1514000"/>
            <a:chOff x="1007745" y="1616392"/>
            <a:chExt cx="4461509" cy="1514000"/>
          </a:xfrm>
        </p:grpSpPr>
        <p:sp>
          <p:nvSpPr>
            <p:cNvPr id="7" name="Freeform 7"/>
            <p:cNvSpPr/>
            <p:nvPr/>
          </p:nvSpPr>
          <p:spPr>
            <a:xfrm>
              <a:off x="1705928" y="1968818"/>
              <a:ext cx="1225868" cy="808673"/>
            </a:xfrm>
            <a:custGeom>
              <a:avLst/>
              <a:gdLst/>
              <a:ahLst/>
              <a:cxnLst/>
              <a:rect l="l" t="t" r="r" b="b"/>
              <a:pathLst>
                <a:path w="1225868" h="808673">
                  <a:moveTo>
                    <a:pt x="1225868" y="0"/>
                  </a:moveTo>
                  <a:lnTo>
                    <a:pt x="0" y="8086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626870" y="2737485"/>
              <a:ext cx="105727" cy="92393"/>
            </a:xfrm>
            <a:custGeom>
              <a:avLst/>
              <a:gdLst/>
              <a:ahLst/>
              <a:cxnLst/>
              <a:rect l="l" t="t" r="r" b="b"/>
              <a:pathLst>
                <a:path w="105727" h="92393">
                  <a:moveTo>
                    <a:pt x="0" y="92393"/>
                  </a:moveTo>
                  <a:lnTo>
                    <a:pt x="52388" y="0"/>
                  </a:lnTo>
                  <a:lnTo>
                    <a:pt x="105727" y="8001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905125" y="1916430"/>
              <a:ext cx="105728" cy="92393"/>
            </a:xfrm>
            <a:custGeom>
              <a:avLst/>
              <a:gdLst/>
              <a:ahLst/>
              <a:cxnLst/>
              <a:rect l="l" t="t" r="r" b="b"/>
              <a:pathLst>
                <a:path w="105728" h="92393">
                  <a:moveTo>
                    <a:pt x="105728" y="0"/>
                  </a:moveTo>
                  <a:lnTo>
                    <a:pt x="52388" y="92393"/>
                  </a:lnTo>
                  <a:lnTo>
                    <a:pt x="0" y="133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3238500" y="2011680"/>
              <a:ext cx="9525" cy="722948"/>
            </a:xfrm>
            <a:custGeom>
              <a:avLst/>
              <a:gdLst/>
              <a:ahLst/>
              <a:cxnLst/>
              <a:rect l="l" t="t" r="r" b="b"/>
              <a:pathLst>
                <a:path w="9525" h="722948">
                  <a:moveTo>
                    <a:pt x="0" y="0"/>
                  </a:moveTo>
                  <a:lnTo>
                    <a:pt x="0" y="72294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190875" y="27346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3190875" y="19164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545205" y="1968818"/>
              <a:ext cx="1225868" cy="808673"/>
            </a:xfrm>
            <a:custGeom>
              <a:avLst/>
              <a:gdLst/>
              <a:ahLst/>
              <a:cxnLst/>
              <a:rect l="l" t="t" r="r" b="b"/>
              <a:pathLst>
                <a:path w="1225868" h="808673">
                  <a:moveTo>
                    <a:pt x="0" y="0"/>
                  </a:moveTo>
                  <a:lnTo>
                    <a:pt x="1225868" y="8086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744402" y="2737485"/>
              <a:ext cx="105727" cy="92393"/>
            </a:xfrm>
            <a:custGeom>
              <a:avLst/>
              <a:gdLst/>
              <a:ahLst/>
              <a:cxnLst/>
              <a:rect l="l" t="t" r="r" b="b"/>
              <a:pathLst>
                <a:path w="105727" h="92393">
                  <a:moveTo>
                    <a:pt x="105727" y="92393"/>
                  </a:moveTo>
                  <a:lnTo>
                    <a:pt x="0" y="80010"/>
                  </a:lnTo>
                  <a:lnTo>
                    <a:pt x="5334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466148" y="1916430"/>
              <a:ext cx="105728" cy="92393"/>
            </a:xfrm>
            <a:custGeom>
              <a:avLst/>
              <a:gdLst/>
              <a:ahLst/>
              <a:cxnLst/>
              <a:rect l="l" t="t" r="r" b="b"/>
              <a:pathLst>
                <a:path w="105728" h="92393">
                  <a:moveTo>
                    <a:pt x="0" y="0"/>
                  </a:moveTo>
                  <a:lnTo>
                    <a:pt x="105728" y="13335"/>
                  </a:lnTo>
                  <a:lnTo>
                    <a:pt x="53340" y="9239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626995" y="1616392"/>
              <a:ext cx="1223010" cy="300038"/>
            </a:xfrm>
            <a:prstGeom prst="roundRect">
              <a:avLst>
                <a:gd name="adj" fmla="val 31746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07745" y="2829878"/>
              <a:ext cx="782002" cy="300038"/>
            </a:xfrm>
            <a:prstGeom prst="roundRect">
              <a:avLst>
                <a:gd name="adj" fmla="val 31746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847022" y="2829878"/>
              <a:ext cx="782002" cy="300038"/>
            </a:xfrm>
            <a:prstGeom prst="roundRect">
              <a:avLst>
                <a:gd name="adj" fmla="val 31746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687252" y="2829878"/>
              <a:ext cx="782002" cy="300038"/>
            </a:xfrm>
            <a:prstGeom prst="roundRect">
              <a:avLst>
                <a:gd name="adj" fmla="val 31746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702991" y="1696879"/>
              <a:ext cx="10710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主进程 Master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00063" y="2910364"/>
              <a:ext cx="598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从进程 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39340" y="2910364"/>
              <a:ext cx="598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从进程 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78618" y="2910364"/>
              <a:ext cx="598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从进程 3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985962" y="2287905"/>
              <a:ext cx="66484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001641" y="2319338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派发 / 回收</a:t>
              </a:r>
            </a:p>
          </p:txBody>
        </p:sp>
      </p:grpSp>
      <p:grpSp>
        <p:nvGrpSpPr>
          <p:cNvPr id="41" name="c1-card-2"/>
          <p:cNvGrpSpPr/>
          <p:nvPr/>
        </p:nvGrpSpPr>
        <p:grpSpPr>
          <a:xfrm>
            <a:off x="533400" y="3432810"/>
            <a:ext cx="5410200" cy="2117408"/>
            <a:chOff x="533400" y="3432810"/>
            <a:chExt cx="5410200" cy="2117408"/>
          </a:xfrm>
        </p:grpSpPr>
        <p:sp>
          <p:nvSpPr>
            <p:cNvPr id="27" name="Rectangle 27"/>
            <p:cNvSpPr/>
            <p:nvPr/>
          </p:nvSpPr>
          <p:spPr>
            <a:xfrm>
              <a:off x="533400" y="3432810"/>
              <a:ext cx="5410200" cy="2117408"/>
            </a:xfrm>
            <a:prstGeom prst="roundRect">
              <a:avLst>
                <a:gd name="adj" fmla="val 62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3566160"/>
              <a:ext cx="47625" cy="185070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63905" y="362521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7344" y="365950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主从模式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7047" y="3981450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把待求解的任务分成一个主任务（主进程）和一些从任务（子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进程）。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63905" y="4529138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19583" y="456752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4702" y="454152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主进程分解任务、派发给各子进程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63905" y="483203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19583" y="487041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4702" y="4843462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子进程接收消息，并行完成各自计算，把结果发回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63905" y="5133975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19583" y="517236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4702" y="514635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主进程收集各子任务的结果，汇总得到最终解</a:t>
              </a:r>
            </a:p>
          </p:txBody>
        </p:sp>
      </p:grpSp>
      <p:grpSp>
        <p:nvGrpSpPr>
          <p:cNvPr id="52" name="c2-flow-1"/>
          <p:cNvGrpSpPr/>
          <p:nvPr/>
        </p:nvGrpSpPr>
        <p:grpSpPr>
          <a:xfrm>
            <a:off x="6627495" y="1613535"/>
            <a:ext cx="4652962" cy="1554481"/>
            <a:chOff x="6627495" y="1613535"/>
            <a:chExt cx="4652962" cy="1554481"/>
          </a:xfrm>
        </p:grpSpPr>
        <p:sp>
          <p:nvSpPr>
            <p:cNvPr id="42" name="Freeform 42"/>
            <p:cNvSpPr/>
            <p:nvPr/>
          </p:nvSpPr>
          <p:spPr>
            <a:xfrm>
              <a:off x="8953500" y="1997392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8901112" y="19973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8953500" y="2664142"/>
              <a:ext cx="9525" cy="15240"/>
            </a:xfrm>
            <a:custGeom>
              <a:avLst/>
              <a:gdLst/>
              <a:ahLst/>
              <a:cxnLst/>
              <a:rect l="l" t="t" r="r" b="b"/>
              <a:pathLst>
                <a:path w="9525" h="15240">
                  <a:moveTo>
                    <a:pt x="0" y="1524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901112" y="26641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27495" y="1613535"/>
              <a:ext cx="4652962" cy="399098"/>
            </a:xfrm>
            <a:prstGeom prst="roundRect">
              <a:avLst>
                <a:gd name="adj" fmla="val 23866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627495" y="2102168"/>
              <a:ext cx="4652962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627495" y="2768918"/>
              <a:ext cx="465296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193913" y="173402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预先把数据分给各进程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07705" y="2215991"/>
              <a:ext cx="129159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各进程并行计算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中途交换数据、同步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44687" y="289036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汇集各进程的结果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248400" y="3432810"/>
            <a:ext cx="5410200" cy="2117408"/>
            <a:chOff x="6248400" y="3432810"/>
            <a:chExt cx="5410200" cy="2117408"/>
          </a:xfrm>
        </p:grpSpPr>
        <p:sp>
          <p:nvSpPr>
            <p:cNvPr id="53" name="Rectangle 53"/>
            <p:cNvSpPr/>
            <p:nvPr/>
          </p:nvSpPr>
          <p:spPr>
            <a:xfrm>
              <a:off x="6248400" y="3432810"/>
              <a:ext cx="5410200" cy="2117408"/>
            </a:xfrm>
            <a:prstGeom prst="roundRect">
              <a:avLst>
                <a:gd name="adj" fmla="val 62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57925" y="3566160"/>
              <a:ext cx="47625" cy="185070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78905" y="3625215"/>
              <a:ext cx="1879282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17797" y="3659505"/>
              <a:ext cx="18005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单控制流多数据流（SPMD）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72047" y="3981450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所有进程运行同一份程序，处理不同的数据。计算过程中各进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程之间要交换数据，也就是施行通信同步。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73190" y="4537234"/>
              <a:ext cx="45631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本章的 MPI 例子几乎都是这种写法：同一个程序按进程号 rank 走不同分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支。主从模式也可以这样写出来，rank 0 当主进程即可。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0" name="Rectangle 6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892" y="6023610"/>
              <a:ext cx="88920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主从模式的瓶颈在主进程：从进程一多，派发和回收都挤在它身上。SPMD 没有中心，但数据划分要事先想好。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69176" cy="909257"/>
            <a:chOff x="520446" y="342900"/>
            <a:chExt cx="70691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进程级并行与消息传递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691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例：申威 26010 处理器在硬件上就是主从结构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graph-1"/>
          <p:cNvGrpSpPr/>
          <p:nvPr/>
        </p:nvGrpSpPr>
        <p:grpSpPr>
          <a:xfrm>
            <a:off x="879158" y="1882140"/>
            <a:ext cx="5894069" cy="3530250"/>
            <a:chOff x="879158" y="1882140"/>
            <a:chExt cx="5894069" cy="3530250"/>
          </a:xfrm>
        </p:grpSpPr>
        <p:sp>
          <p:nvSpPr>
            <p:cNvPr id="7" name="Freeform 7"/>
            <p:cNvSpPr/>
            <p:nvPr/>
          </p:nvSpPr>
          <p:spPr>
            <a:xfrm>
              <a:off x="1725930" y="2487930"/>
              <a:ext cx="9525" cy="505778"/>
            </a:xfrm>
            <a:custGeom>
              <a:avLst/>
              <a:gdLst/>
              <a:ahLst/>
              <a:cxnLst/>
              <a:rect l="l" t="t" r="r" b="b"/>
              <a:pathLst>
                <a:path w="9525" h="505778">
                  <a:moveTo>
                    <a:pt x="0" y="0"/>
                  </a:moveTo>
                  <a:lnTo>
                    <a:pt x="0" y="5057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678305" y="29937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678305" y="23926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4487228" y="2487930"/>
              <a:ext cx="9525" cy="505778"/>
            </a:xfrm>
            <a:custGeom>
              <a:avLst/>
              <a:gdLst/>
              <a:ahLst/>
              <a:cxnLst/>
              <a:rect l="l" t="t" r="r" b="b"/>
              <a:pathLst>
                <a:path w="9525" h="505778">
                  <a:moveTo>
                    <a:pt x="0" y="0"/>
                  </a:moveTo>
                  <a:lnTo>
                    <a:pt x="0" y="5057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439602" y="29937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4439602" y="23926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725930" y="3887152"/>
              <a:ext cx="9525" cy="505777"/>
            </a:xfrm>
            <a:custGeom>
              <a:avLst/>
              <a:gdLst/>
              <a:ahLst/>
              <a:cxnLst/>
              <a:rect l="l" t="t" r="r" b="b"/>
              <a:pathLst>
                <a:path w="9525" h="505777">
                  <a:moveTo>
                    <a:pt x="0" y="505777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678305" y="379190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678305" y="43929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4487228" y="3887152"/>
              <a:ext cx="9525" cy="505777"/>
            </a:xfrm>
            <a:custGeom>
              <a:avLst/>
              <a:gdLst/>
              <a:ahLst/>
              <a:cxnLst/>
              <a:rect l="l" t="t" r="r" b="b"/>
              <a:pathLst>
                <a:path w="9525" h="505777">
                  <a:moveTo>
                    <a:pt x="0" y="505777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439602" y="379190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4439602" y="43929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5201602" y="3440430"/>
              <a:ext cx="294322" cy="9525"/>
            </a:xfrm>
            <a:custGeom>
              <a:avLst/>
              <a:gdLst/>
              <a:ahLst/>
              <a:cxnLst/>
              <a:rect l="l" t="t" r="r" b="b"/>
              <a:pathLst>
                <a:path w="294322" h="9525">
                  <a:moveTo>
                    <a:pt x="0" y="0"/>
                  </a:moveTo>
                  <a:lnTo>
                    <a:pt x="29432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495925" y="33928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5106352" y="33928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79158" y="1882140"/>
              <a:ext cx="1692592" cy="510540"/>
            </a:xfrm>
            <a:prstGeom prst="roundRect">
              <a:avLst>
                <a:gd name="adj" fmla="val 18657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641408" y="1882140"/>
              <a:ext cx="1692592" cy="510540"/>
            </a:xfrm>
            <a:prstGeom prst="roundRect">
              <a:avLst>
                <a:gd name="adj" fmla="val 18657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79158" y="4488180"/>
              <a:ext cx="1692592" cy="510540"/>
            </a:xfrm>
            <a:prstGeom prst="roundRect">
              <a:avLst>
                <a:gd name="adj" fmla="val 18657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641408" y="4488180"/>
              <a:ext cx="1692592" cy="510540"/>
            </a:xfrm>
            <a:prstGeom prst="roundRect">
              <a:avLst>
                <a:gd name="adj" fmla="val 18657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105852" y="3230880"/>
              <a:ext cx="4000500" cy="419100"/>
            </a:xfrm>
            <a:prstGeom prst="roundRect">
              <a:avLst>
                <a:gd name="adj" fmla="val 22727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591175" y="3185160"/>
              <a:ext cx="1182052" cy="510540"/>
            </a:xfrm>
            <a:prstGeom prst="roundRect">
              <a:avLst>
                <a:gd name="adj" fmla="val 18657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486201" y="1966912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核组 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2289" y="2157412"/>
              <a:ext cx="15072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主核 + 8×8 从核阵列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247498" y="1966912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核组 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33587" y="2157412"/>
              <a:ext cx="15072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主核 + 8×8 从核阵列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86201" y="4573905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核组 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2289" y="4764405"/>
              <a:ext cx="15072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主核 + 8×8 从核阵列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47498" y="4573905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核组 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733587" y="4764405"/>
              <a:ext cx="15072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主核 + 8×8 从核阵列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615375" y="33661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片上互连网络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852541" y="32708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系统接口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659239" y="3461385"/>
              <a:ext cx="10449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PCIe / 以太网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55682" y="5163026"/>
              <a:ext cx="35008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每个核组经存储控制器 iMC 接一组 DDR3 内存</a:t>
              </a:r>
            </a:p>
          </p:txBody>
        </p:sp>
      </p:grpSp>
      <p:grpSp>
        <p:nvGrpSpPr>
          <p:cNvPr id="55" name="c2-kv-1"/>
          <p:cNvGrpSpPr/>
          <p:nvPr/>
        </p:nvGrpSpPr>
        <p:grpSpPr>
          <a:xfrm>
            <a:off x="7106602" y="1548765"/>
            <a:ext cx="4551998" cy="2617470"/>
            <a:chOff x="7106602" y="1548765"/>
            <a:chExt cx="4551998" cy="2617470"/>
          </a:xfrm>
        </p:grpSpPr>
        <p:sp>
          <p:nvSpPr>
            <p:cNvPr id="41" name="TextBox 41"/>
            <p:cNvSpPr txBox="1"/>
            <p:nvPr/>
          </p:nvSpPr>
          <p:spPr>
            <a:xfrm>
              <a:off x="7106602" y="15487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核组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47685" y="1548765"/>
              <a:ext cx="29489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个，每个含 1 个主核、64 个从核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（8×8 阵列）和一个存储控制器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114222" y="215074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06602" y="227076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总核数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147685" y="2270760"/>
              <a:ext cx="19739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× (1 + 64) = 260 个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114222" y="259080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106602" y="2710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主核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47685" y="271081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运行操作系统，负责管理、调度和派发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114222" y="303085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106602" y="315087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从核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147685" y="3150870"/>
              <a:ext cx="31394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 个排成阵列，承担大部分计算，阵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列内有行、列通信网络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114222" y="375285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106602" y="38728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片上网络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147685" y="387286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连接 4 个核组和系统接口</a:t>
              </a:r>
            </a:p>
          </p:txBody>
        </p:sp>
      </p:grpSp>
      <p:grpSp>
        <p:nvGrpSpPr>
          <p:cNvPr id="62" name="c2-callout-2"/>
          <p:cNvGrpSpPr/>
          <p:nvPr/>
        </p:nvGrpSpPr>
        <p:grpSpPr>
          <a:xfrm>
            <a:off x="7114222" y="4297680"/>
            <a:ext cx="4544378" cy="1059180"/>
            <a:chOff x="7114222" y="4297680"/>
            <a:chExt cx="4544378" cy="1059180"/>
          </a:xfrm>
        </p:grpSpPr>
        <p:sp>
          <p:nvSpPr>
            <p:cNvPr id="56" name="Rectangle 56"/>
            <p:cNvSpPr/>
            <p:nvPr/>
          </p:nvSpPr>
          <p:spPr>
            <a:xfrm>
              <a:off x="7114222" y="4297680"/>
              <a:ext cx="4544378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19010" y="4727258"/>
              <a:ext cx="200026" cy="200026"/>
              <a:chOff x="7319010" y="4727258"/>
              <a:chExt cx="200026" cy="200026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19010" y="47272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419023" y="47939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407910" y="48272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7620952" y="4446270"/>
              <a:ext cx="35585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神威·太湖之光超级计算机用的就是这款处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理器，2016 年登上 TOP500 第一。主核派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活、从核计算，正是主从模式。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63" name="Rectangle 63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5871210"/>
              <a:ext cx="200026" cy="200025"/>
              <a:chOff x="738188" y="5871210"/>
              <a:chExt cx="200026" cy="20002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5871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77926" y="5915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12642" y="6026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130" y="5728335"/>
              <a:ext cx="100260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每个从核只有 64 KB 局部存储，数据要用 DMA 从主存显式搬进搬出。内存不共享、数据靠显式传递，这与本章进程级并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行的思路一致。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进程级并行与消息传递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进程怎样交互：共享变量与消息传递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c1-graph-1"/>
          <p:cNvGrpSpPr/>
          <p:nvPr/>
        </p:nvGrpSpPr>
        <p:grpSpPr>
          <a:xfrm>
            <a:off x="776288" y="1687830"/>
            <a:ext cx="5275897" cy="2126361"/>
            <a:chOff x="776288" y="1687830"/>
            <a:chExt cx="5275897" cy="2126361"/>
          </a:xfrm>
        </p:grpSpPr>
        <p:sp>
          <p:nvSpPr>
            <p:cNvPr id="7" name="Freeform 7"/>
            <p:cNvSpPr/>
            <p:nvPr/>
          </p:nvSpPr>
          <p:spPr>
            <a:xfrm>
              <a:off x="1212532" y="2072640"/>
              <a:ext cx="454342" cy="917257"/>
            </a:xfrm>
            <a:custGeom>
              <a:avLst/>
              <a:gdLst/>
              <a:ahLst/>
              <a:cxnLst/>
              <a:rect l="l" t="t" r="r" b="b"/>
              <a:pathLst>
                <a:path w="454342" h="917257">
                  <a:moveTo>
                    <a:pt x="0" y="0"/>
                  </a:moveTo>
                  <a:lnTo>
                    <a:pt x="454342" y="91725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624012" y="2968942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84773" y="106680"/>
                  </a:moveTo>
                  <a:lnTo>
                    <a:pt x="0" y="41910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169670" y="1987868"/>
              <a:ext cx="85725" cy="105728"/>
            </a:xfrm>
            <a:custGeom>
              <a:avLst/>
              <a:gdLst/>
              <a:ahLst/>
              <a:cxnLst/>
              <a:rect l="l" t="t" r="r" b="b"/>
              <a:pathLst>
                <a:path w="85725" h="105728">
                  <a:moveTo>
                    <a:pt x="953" y="0"/>
                  </a:moveTo>
                  <a:lnTo>
                    <a:pt x="85725" y="63818"/>
                  </a:lnTo>
                  <a:lnTo>
                    <a:pt x="0" y="10572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987868" y="2072640"/>
              <a:ext cx="454342" cy="917257"/>
            </a:xfrm>
            <a:custGeom>
              <a:avLst/>
              <a:gdLst/>
              <a:ahLst/>
              <a:cxnLst/>
              <a:rect l="l" t="t" r="r" b="b"/>
              <a:pathLst>
                <a:path w="454342" h="917257">
                  <a:moveTo>
                    <a:pt x="454342" y="0"/>
                  </a:moveTo>
                  <a:lnTo>
                    <a:pt x="0" y="91725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945958" y="2968942"/>
              <a:ext cx="84772" cy="106680"/>
            </a:xfrm>
            <a:custGeom>
              <a:avLst/>
              <a:gdLst/>
              <a:ahLst/>
              <a:cxnLst/>
              <a:rect l="l" t="t" r="r" b="b"/>
              <a:pathLst>
                <a:path w="84772" h="106680">
                  <a:moveTo>
                    <a:pt x="0" y="106680"/>
                  </a:moveTo>
                  <a:lnTo>
                    <a:pt x="0" y="0"/>
                  </a:lnTo>
                  <a:lnTo>
                    <a:pt x="84772" y="4191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2399348" y="1987868"/>
              <a:ext cx="85725" cy="105728"/>
            </a:xfrm>
            <a:custGeom>
              <a:avLst/>
              <a:gdLst/>
              <a:ahLst/>
              <a:cxnLst/>
              <a:rect l="l" t="t" r="r" b="b"/>
              <a:pathLst>
                <a:path w="85725" h="105728">
                  <a:moveTo>
                    <a:pt x="85725" y="0"/>
                  </a:moveTo>
                  <a:lnTo>
                    <a:pt x="85725" y="105728"/>
                  </a:lnTo>
                  <a:lnTo>
                    <a:pt x="0" y="6381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247198" y="2083118"/>
              <a:ext cx="9525" cy="985838"/>
            </a:xfrm>
            <a:custGeom>
              <a:avLst/>
              <a:gdLst/>
              <a:ahLst/>
              <a:cxnLst/>
              <a:rect l="l" t="t" r="r" b="b"/>
              <a:pathLst>
                <a:path w="9525" h="985838">
                  <a:moveTo>
                    <a:pt x="0" y="0"/>
                  </a:moveTo>
                  <a:lnTo>
                    <a:pt x="0" y="9858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199572" y="30689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199572" y="19878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5710238" y="2083118"/>
              <a:ext cx="9525" cy="897255"/>
            </a:xfrm>
            <a:custGeom>
              <a:avLst/>
              <a:gdLst/>
              <a:ahLst/>
              <a:cxnLst/>
              <a:rect l="l" t="t" r="r" b="b"/>
              <a:pathLst>
                <a:path w="9525" h="897255">
                  <a:moveTo>
                    <a:pt x="0" y="0"/>
                  </a:moveTo>
                  <a:lnTo>
                    <a:pt x="0" y="8972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662612" y="298037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5662612" y="19878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567238" y="1837372"/>
              <a:ext cx="727710" cy="9525"/>
            </a:xfrm>
            <a:custGeom>
              <a:avLst/>
              <a:gdLst/>
              <a:ahLst/>
              <a:cxnLst/>
              <a:rect l="l" t="t" r="r" b="b"/>
              <a:pathLst>
                <a:path w="727710" h="9525">
                  <a:moveTo>
                    <a:pt x="0" y="0"/>
                  </a:moveTo>
                  <a:lnTo>
                    <a:pt x="7277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294948" y="17897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76288" y="1687830"/>
              <a:ext cx="640080" cy="300038"/>
            </a:xfrm>
            <a:prstGeom prst="roundRect">
              <a:avLst>
                <a:gd name="adj" fmla="val 31746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239328" y="1687830"/>
              <a:ext cx="640080" cy="300038"/>
            </a:xfrm>
            <a:prstGeom prst="roundRect">
              <a:avLst>
                <a:gd name="adj" fmla="val 31746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485900" y="3075622"/>
              <a:ext cx="683895" cy="478155"/>
            </a:xfrm>
            <a:prstGeom prst="roundRect">
              <a:avLst>
                <a:gd name="adj" fmla="val 1992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927158" y="1687830"/>
              <a:ext cx="640080" cy="300038"/>
            </a:xfrm>
            <a:prstGeom prst="roundRect">
              <a:avLst>
                <a:gd name="adj" fmla="val 31746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90198" y="1687830"/>
              <a:ext cx="640080" cy="300038"/>
            </a:xfrm>
            <a:prstGeom prst="roundRect">
              <a:avLst>
                <a:gd name="adj" fmla="val 31746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927158" y="3164205"/>
              <a:ext cx="640080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68290" y="3075622"/>
              <a:ext cx="683895" cy="478155"/>
            </a:xfrm>
            <a:prstGeom prst="roundRect">
              <a:avLst>
                <a:gd name="adj" fmla="val 1992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72555" y="176736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线程 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335595" y="176736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线程 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71358" y="31551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77972" y="3334226"/>
              <a:ext cx="4997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 x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23425" y="176736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 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86465" y="176736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 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023425" y="3244691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内存 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486465" y="3155156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 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460362" y="3334226"/>
              <a:ext cx="4997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 x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286828" y="2446020"/>
              <a:ext cx="3048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313307" y="247745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访存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063115" y="2446020"/>
              <a:ext cx="3048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089594" y="247745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访存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826318" y="1751648"/>
              <a:ext cx="3048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852797" y="178403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通信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498664" y="357949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共享变量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649534" y="357949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消息传递</a:t>
              </a:r>
            </a:p>
          </p:txBody>
        </p:sp>
      </p:grpSp>
      <p:grpSp>
        <p:nvGrpSpPr>
          <p:cNvPr id="51" name="c1-card-2"/>
          <p:cNvGrpSpPr/>
          <p:nvPr/>
        </p:nvGrpSpPr>
        <p:grpSpPr>
          <a:xfrm>
            <a:off x="533400" y="3942398"/>
            <a:ext cx="5626418" cy="2414588"/>
            <a:chOff x="533400" y="3942398"/>
            <a:chExt cx="5626418" cy="2414588"/>
          </a:xfrm>
        </p:grpSpPr>
        <p:sp>
          <p:nvSpPr>
            <p:cNvPr id="46" name="Rectangle 46"/>
            <p:cNvSpPr/>
            <p:nvPr/>
          </p:nvSpPr>
          <p:spPr>
            <a:xfrm>
              <a:off x="533400" y="3942398"/>
              <a:ext cx="5626418" cy="2414588"/>
            </a:xfrm>
            <a:prstGeom prst="roundRect">
              <a:avLst>
                <a:gd name="adj" fmla="val 55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542925" y="4075748"/>
              <a:ext cx="47625" cy="214788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69620" y="4140518"/>
              <a:ext cx="1114425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34824" y="4174808"/>
              <a:ext cx="984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进程间通信 IPC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2381" y="4501039"/>
              <a:ext cx="498284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Inter-Process Communication 让程序员协调不同的进程，使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它们能在操作系统里同时运行，并相互传递、交换信息。</a:t>
              </a:r>
            </a:p>
          </p:txBody>
        </p:sp>
      </p:grpSp>
      <p:grpSp>
        <p:nvGrpSpPr>
          <p:cNvPr id="73" name="c2-table-1"/>
          <p:cNvGrpSpPr/>
          <p:nvPr/>
        </p:nvGrpSpPr>
        <p:grpSpPr>
          <a:xfrm>
            <a:off x="6459284" y="1524000"/>
            <a:ext cx="5199316" cy="2893314"/>
            <a:chOff x="6459284" y="1524000"/>
            <a:chExt cx="5199316" cy="2893314"/>
          </a:xfrm>
        </p:grpSpPr>
        <p:sp>
          <p:nvSpPr>
            <p:cNvPr id="52" name="Rectangle 52"/>
            <p:cNvSpPr/>
            <p:nvPr/>
          </p:nvSpPr>
          <p:spPr>
            <a:xfrm>
              <a:off x="6464618" y="1524000"/>
              <a:ext cx="5193982" cy="4629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98945" y="16559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编程模型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463928" y="16559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交互方式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629621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565964" y="224647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隐式交互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812786" y="2119789"/>
              <a:ext cx="181787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完全由编译器实现，本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课不展开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097834" y="2119789"/>
              <a:ext cx="127685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自动并行化编译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64618" y="269938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464618" y="2704148"/>
              <a:ext cx="5193982" cy="7162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65964" y="296275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共享变量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812786" y="2836069"/>
              <a:ext cx="181787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多个线程读写同一块内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097834" y="2836069"/>
              <a:ext cx="1168654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Cilk、OpenMP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（第2章）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464618" y="341566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474142" y="3429952"/>
              <a:ext cx="1227772" cy="6972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565964" y="367903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消息传递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812786" y="3552349"/>
              <a:ext cx="181787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进程通过互相发消息交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换数据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097834" y="3679031"/>
              <a:ext cx="11022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MPI（本章）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464618" y="1524000"/>
              <a:ext cx="5193982" cy="26136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7706678" y="1524000"/>
              <a:ext cx="9525" cy="26136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9991725" y="1524000"/>
              <a:ext cx="9525" cy="26136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459284" y="4211955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按进程交互方式给并行编程模型分类</a:t>
              </a:r>
            </a:p>
          </p:txBody>
        </p:sp>
      </p:grpSp>
      <p:grpSp>
        <p:nvGrpSpPr>
          <p:cNvPr id="80" name="c2-card-2"/>
          <p:cNvGrpSpPr/>
          <p:nvPr/>
        </p:nvGrpSpPr>
        <p:grpSpPr>
          <a:xfrm>
            <a:off x="6464618" y="4555808"/>
            <a:ext cx="5193982" cy="1801178"/>
            <a:chOff x="6464618" y="4555808"/>
            <a:chExt cx="5193982" cy="1801178"/>
          </a:xfrm>
        </p:grpSpPr>
        <p:sp>
          <p:nvSpPr>
            <p:cNvPr id="74" name="Rectangle 74"/>
            <p:cNvSpPr/>
            <p:nvPr/>
          </p:nvSpPr>
          <p:spPr>
            <a:xfrm>
              <a:off x="6464618" y="4555808"/>
              <a:ext cx="5193982" cy="1801178"/>
            </a:xfrm>
            <a:prstGeom prst="roundRect">
              <a:avLst>
                <a:gd name="adj" fmla="val 74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6474142" y="4689158"/>
              <a:ext cx="47625" cy="153447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700838" y="4753928"/>
              <a:ext cx="2020252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746509" y="4788218"/>
              <a:ext cx="1929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共享变量的隐藏问题（第2章）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693598" y="5114449"/>
              <a:ext cx="45229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数据是被计算使用的资源。多个核心共用共享变量时，会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因为谁先谁后的竞争出现奇怪结果，归结起来就是：多个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线程访问同一个变量时会发生什么？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694742" y="5972175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消息传递没有共享变量，这类竞争换成了收发顺序问题。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66778" cy="909257"/>
            <a:chOff x="520446" y="342900"/>
            <a:chExt cx="83667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进程级并行与消息传递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667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send / receive：一切消息传递都能归结为这一对原语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graph-1"/>
          <p:cNvGrpSpPr/>
          <p:nvPr/>
        </p:nvGrpSpPr>
        <p:grpSpPr>
          <a:xfrm>
            <a:off x="721042" y="2078355"/>
            <a:ext cx="5266373" cy="510921"/>
            <a:chOff x="721042" y="2078355"/>
            <a:chExt cx="5266373" cy="510921"/>
          </a:xfrm>
        </p:grpSpPr>
        <p:sp>
          <p:nvSpPr>
            <p:cNvPr id="7" name="Freeform 7"/>
            <p:cNvSpPr/>
            <p:nvPr/>
          </p:nvSpPr>
          <p:spPr>
            <a:xfrm>
              <a:off x="1695450" y="2333625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266950" y="22860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331018" y="2333625"/>
              <a:ext cx="555308" cy="9525"/>
            </a:xfrm>
            <a:custGeom>
              <a:avLst/>
              <a:gdLst/>
              <a:ahLst/>
              <a:cxnLst/>
              <a:rect l="l" t="t" r="r" b="b"/>
              <a:pathLst>
                <a:path w="555308" h="9525">
                  <a:moveTo>
                    <a:pt x="0" y="0"/>
                  </a:moveTo>
                  <a:lnTo>
                    <a:pt x="55530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886325" y="22860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21042" y="2173605"/>
              <a:ext cx="974408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362200" y="2078355"/>
              <a:ext cx="1967865" cy="510540"/>
            </a:xfrm>
            <a:prstGeom prst="roundRect">
              <a:avLst>
                <a:gd name="adj" fmla="val 18657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981575" y="2173605"/>
              <a:ext cx="100584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3369" y="2259330"/>
              <a:ext cx="8107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发送进程 P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79445" y="21640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通道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18977" y="2354580"/>
              <a:ext cx="18562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管道 / 消息队列 / 套接字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61219" y="2259330"/>
              <a:ext cx="8465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接收进程 Q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854518" y="2240280"/>
              <a:ext cx="34956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878752" y="2275046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send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393882" y="2240280"/>
              <a:ext cx="523875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413397" y="2275046"/>
              <a:ext cx="4848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receive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3333750"/>
            <a:ext cx="5626418" cy="2468880"/>
            <a:chOff x="533400" y="3333750"/>
            <a:chExt cx="5626418" cy="2468880"/>
          </a:xfrm>
        </p:grpSpPr>
        <p:sp>
          <p:nvSpPr>
            <p:cNvPr id="23" name="Rectangle 23"/>
            <p:cNvSpPr/>
            <p:nvPr/>
          </p:nvSpPr>
          <p:spPr>
            <a:xfrm>
              <a:off x="533400" y="3333750"/>
              <a:ext cx="5626418" cy="2468880"/>
            </a:xfrm>
            <a:prstGeom prst="roundRect">
              <a:avLst>
                <a:gd name="adj" fmla="val 54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467100"/>
              <a:ext cx="47625" cy="220218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81050" y="354330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4507" y="357901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消息传递模型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3430" y="392049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并行进程通过相互传递消息来交换数据，子任务之间不能共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享内存。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3430" y="454152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管道、消息队列、套接字等 IPC 方式都属于消息传递。它是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进程级并行中最简单、最自然的交互方式。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4573" y="5159216"/>
              <a:ext cx="48897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和共享变量相比，没有多个线程抢写同一变量的数据竞争；代价是每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交换一次数据都要付一次通信开销。</a:t>
              </a:r>
            </a:p>
          </p:txBody>
        </p:sp>
      </p:grpSp>
      <p:grpSp>
        <p:nvGrpSpPr>
          <p:cNvPr id="57" name="c2-table-1"/>
          <p:cNvGrpSpPr/>
          <p:nvPr/>
        </p:nvGrpSpPr>
        <p:grpSpPr>
          <a:xfrm>
            <a:off x="6458902" y="1524000"/>
            <a:ext cx="5199698" cy="3267552"/>
            <a:chOff x="6458902" y="1524000"/>
            <a:chExt cx="5199698" cy="3267552"/>
          </a:xfrm>
        </p:grpSpPr>
        <p:sp>
          <p:nvSpPr>
            <p:cNvPr id="31" name="Rectangle 31"/>
            <p:cNvSpPr/>
            <p:nvPr/>
          </p:nvSpPr>
          <p:spPr>
            <a:xfrm>
              <a:off x="6464618" y="1524000"/>
              <a:ext cx="5193982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99999" y="1663065"/>
              <a:ext cx="7999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IPC 方式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956358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618470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71298" y="2150745"/>
              <a:ext cx="1417796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管道 Pipe（父子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41055" y="2284095"/>
              <a:ext cx="5604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write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103168" y="228409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read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64618" y="276129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64618" y="2766060"/>
              <a:ext cx="5193982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71298" y="2905125"/>
              <a:ext cx="1475422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消息队列</a:t>
              </a:r>
              <a:br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Message Queue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41055" y="3038475"/>
              <a:ext cx="7219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msgsnd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03168" y="3038475"/>
              <a:ext cx="7219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msgrcv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64618" y="351567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71298" y="3659505"/>
              <a:ext cx="13915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套接字 Socket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41055" y="365950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send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103168" y="365950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recv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64618" y="400335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64618" y="4008120"/>
              <a:ext cx="5193982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74142" y="4017645"/>
              <a:ext cx="1850708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71298" y="4147185"/>
              <a:ext cx="3736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41055" y="4147185"/>
              <a:ext cx="9220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MPI_Send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103168" y="4147185"/>
              <a:ext cx="9220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MPI_Recv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64618" y="1524000"/>
              <a:ext cx="5193982" cy="29718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329612" y="1524000"/>
              <a:ext cx="9525" cy="29718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9991725" y="1524000"/>
              <a:ext cx="9525" cy="29718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458902" y="4571524"/>
              <a:ext cx="43311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我们接触到的绝大多数消息传递方式都可以抽象为 send/receive</a:t>
              </a:r>
            </a:p>
          </p:txBody>
        </p:sp>
      </p:grpSp>
      <p:grpSp>
        <p:nvGrpSpPr>
          <p:cNvPr id="64" name="c2-callout-2"/>
          <p:cNvGrpSpPr/>
          <p:nvPr/>
        </p:nvGrpSpPr>
        <p:grpSpPr>
          <a:xfrm>
            <a:off x="6464618" y="4937760"/>
            <a:ext cx="5193982" cy="864870"/>
            <a:chOff x="6464618" y="4937760"/>
            <a:chExt cx="5193982" cy="864870"/>
          </a:xfrm>
        </p:grpSpPr>
        <p:sp>
          <p:nvSpPr>
            <p:cNvPr id="58" name="Rectangle 58"/>
            <p:cNvSpPr/>
            <p:nvPr/>
          </p:nvSpPr>
          <p:spPr>
            <a:xfrm>
              <a:off x="6464618" y="4937760"/>
              <a:ext cx="5193982" cy="864870"/>
            </a:xfrm>
            <a:prstGeom prst="roundRect">
              <a:avLst>
                <a:gd name="adj" fmla="val 1321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669405" y="5270183"/>
              <a:ext cx="200026" cy="200025"/>
              <a:chOff x="6669405" y="5270183"/>
              <a:chExt cx="200026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669405" y="52701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709144" y="53146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743859" y="54257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6971348" y="5127308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发送方只管把数据交出去，接收方只管从约定的地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方取。双方不需要知道对方的变量放在哪个地址。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进程级并行与消息传递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同步与异步：发送方要不要等对方响应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923" y="1545431"/>
            <a:ext cx="2425344" cy="249364"/>
            <a:chOff x="526923" y="1545431"/>
            <a:chExt cx="2425344" cy="249364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同步处理（每格是一个时间段）</a:t>
              </a:r>
            </a:p>
          </p:txBody>
        </p:sp>
      </p:grpSp>
      <p:grpSp>
        <p:nvGrpSpPr>
          <p:cNvPr id="29" name="c1-cells-2"/>
          <p:cNvGrpSpPr/>
          <p:nvPr/>
        </p:nvGrpSpPr>
        <p:grpSpPr>
          <a:xfrm>
            <a:off x="527685" y="1934528"/>
            <a:ext cx="5415915" cy="1009650"/>
            <a:chOff x="527685" y="1934528"/>
            <a:chExt cx="5415915" cy="1009650"/>
          </a:xfrm>
        </p:grpSpPr>
        <p:sp>
          <p:nvSpPr>
            <p:cNvPr id="9" name="TextBox 9"/>
            <p:cNvSpPr txBox="1"/>
            <p:nvPr/>
          </p:nvSpPr>
          <p:spPr>
            <a:xfrm>
              <a:off x="527685" y="2074069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进程 A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8230" y="1934528"/>
              <a:ext cx="973455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37377" y="2074069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 B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051685" y="1934528"/>
              <a:ext cx="973455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380971" y="20740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024188" y="1934528"/>
              <a:ext cx="973455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354426" y="20740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997642" y="1934528"/>
              <a:ext cx="97345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177106" y="20740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收到响应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970145" y="1934528"/>
              <a:ext cx="973455" cy="419100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149609" y="20740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继续工作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7685" y="2664619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进程 B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078230" y="2525078"/>
              <a:ext cx="97345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051685" y="2525078"/>
              <a:ext cx="97345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380971" y="26646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024188" y="2525078"/>
              <a:ext cx="97345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354426" y="26646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997642" y="2525078"/>
              <a:ext cx="97345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252493" y="266461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回响应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970145" y="2525078"/>
              <a:ext cx="97345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</p:grpSp>
      <p:grpSp>
        <p:nvGrpSpPr>
          <p:cNvPr id="36" name="c1-card-3"/>
          <p:cNvGrpSpPr/>
          <p:nvPr/>
        </p:nvGrpSpPr>
        <p:grpSpPr>
          <a:xfrm>
            <a:off x="533400" y="3134678"/>
            <a:ext cx="5410200" cy="1847850"/>
            <a:chOff x="533400" y="3134678"/>
            <a:chExt cx="5410200" cy="1847850"/>
          </a:xfrm>
        </p:grpSpPr>
        <p:sp>
          <p:nvSpPr>
            <p:cNvPr id="30" name="Rectangle 30"/>
            <p:cNvSpPr/>
            <p:nvPr/>
          </p:nvSpPr>
          <p:spPr>
            <a:xfrm>
              <a:off x="533400" y="3134678"/>
              <a:ext cx="5410200" cy="1847850"/>
            </a:xfrm>
            <a:prstGeom prst="roundRect">
              <a:avLst>
                <a:gd name="adj" fmla="val 72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2925" y="3268028"/>
              <a:ext cx="47625" cy="15811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81050" y="334422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1258" y="337994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同步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3430" y="3721418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消息发送方等待接收方完成接收并响应，然后才开始处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理其他工作。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4573" y="4339114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好处是返回时就知道对方已经处理完；代价是等待的这段时间什么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也做不了。</a:t>
              </a:r>
            </a:p>
          </p:txBody>
        </p:sp>
      </p:grpSp>
      <p:grpSp>
        <p:nvGrpSpPr>
          <p:cNvPr id="38" name="c2-text-1"/>
          <p:cNvGrpSpPr/>
          <p:nvPr/>
        </p:nvGrpSpPr>
        <p:grpSpPr>
          <a:xfrm>
            <a:off x="6241923" y="1545431"/>
            <a:ext cx="2425344" cy="249364"/>
            <a:chOff x="6241923" y="1545431"/>
            <a:chExt cx="2425344" cy="249364"/>
          </a:xfrm>
        </p:grpSpPr>
        <p:sp>
          <p:nvSpPr>
            <p:cNvPr id="37" name="TextBox 37"/>
            <p:cNvSpPr txBox="1"/>
            <p:nvPr/>
          </p:nvSpPr>
          <p:spPr>
            <a:xfrm>
              <a:off x="6241923" y="1545431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异步处理（每格是一个时间段）</a:t>
              </a:r>
            </a:p>
          </p:txBody>
        </p:sp>
      </p:grpSp>
      <p:grpSp>
        <p:nvGrpSpPr>
          <p:cNvPr id="59" name="c2-cells-2"/>
          <p:cNvGrpSpPr/>
          <p:nvPr/>
        </p:nvGrpSpPr>
        <p:grpSpPr>
          <a:xfrm>
            <a:off x="6242685" y="1934528"/>
            <a:ext cx="5415915" cy="1009650"/>
            <a:chOff x="6242685" y="1934528"/>
            <a:chExt cx="5415915" cy="1009650"/>
          </a:xfrm>
        </p:grpSpPr>
        <p:sp>
          <p:nvSpPr>
            <p:cNvPr id="39" name="TextBox 39"/>
            <p:cNvSpPr txBox="1"/>
            <p:nvPr/>
          </p:nvSpPr>
          <p:spPr>
            <a:xfrm>
              <a:off x="6242685" y="2074069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进程 A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793230" y="1934528"/>
              <a:ext cx="973455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52377" y="2074069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 B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766685" y="1934528"/>
              <a:ext cx="97345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020583" y="20740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做别的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739188" y="1934528"/>
              <a:ext cx="97345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994038" y="20740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做别的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712642" y="1934528"/>
              <a:ext cx="97345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967493" y="20740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取响应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0685145" y="1934528"/>
              <a:ext cx="973455" cy="419100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864609" y="20740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继续工作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42685" y="2664619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进程 B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793230" y="2525078"/>
              <a:ext cx="97345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766685" y="2525078"/>
              <a:ext cx="97345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095971" y="26646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739188" y="2525078"/>
              <a:ext cx="97345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069426" y="26646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712642" y="2525078"/>
              <a:ext cx="97345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967493" y="266461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回响应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0685145" y="2525078"/>
              <a:ext cx="97345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</p:grpSp>
      <p:grpSp>
        <p:nvGrpSpPr>
          <p:cNvPr id="66" name="c2-card-3"/>
          <p:cNvGrpSpPr/>
          <p:nvPr/>
        </p:nvGrpSpPr>
        <p:grpSpPr>
          <a:xfrm>
            <a:off x="6248400" y="3134678"/>
            <a:ext cx="5410200" cy="1847850"/>
            <a:chOff x="6248400" y="3134678"/>
            <a:chExt cx="5410200" cy="1847850"/>
          </a:xfrm>
        </p:grpSpPr>
        <p:sp>
          <p:nvSpPr>
            <p:cNvPr id="60" name="Rectangle 60"/>
            <p:cNvSpPr/>
            <p:nvPr/>
          </p:nvSpPr>
          <p:spPr>
            <a:xfrm>
              <a:off x="6248400" y="3134678"/>
              <a:ext cx="5410200" cy="1847850"/>
            </a:xfrm>
            <a:prstGeom prst="roundRect">
              <a:avLst>
                <a:gd name="adj" fmla="val 72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257925" y="3268028"/>
              <a:ext cx="47625" cy="15811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96050" y="334422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86258" y="337994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异步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88430" y="3721418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发送方发出消息后不等响应，直接开始处理其他工作，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响应到了再去取。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89573" y="4339114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好处是计算和通信能重叠；代价是要另外查询或等待「通信是否完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成」，第三部分的 MPI_Wait、MPI_Test 就干这个。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7" name="Rectangle 6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130" y="5991225"/>
              <a:ext cx="7082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同步和异步说的是发送方怎样对待这次通信，与两台机器的时钟是否同步无关。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904464" cy="3351847"/>
            <a:chOff x="667512" y="1835468"/>
            <a:chExt cx="590446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9044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 基础与阻塞点对点通信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一个标准、六个常用函数，就能写出能跑的并行程序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48780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原课件第16–39页：MPI 标准、程序结构与 Send/Recv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989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 = 消息缓冲 + 消息信封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1722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标签、数据类型、通信器与 Status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两个完整例子：一对一收发与令牌环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12171" cy="909257"/>
            <a:chOff x="520446" y="342900"/>
            <a:chExt cx="52121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707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264" y="407194"/>
              <a:ext cx="32193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MPI 基础与阻塞点对点通信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121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 是一套接口标准，有多种实现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626418" cy="1730692"/>
            <a:chOff x="533400" y="1524000"/>
            <a:chExt cx="5626418" cy="17306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730692"/>
            </a:xfrm>
            <a:prstGeom prst="roundRect">
              <a:avLst>
                <a:gd name="adj" fmla="val 77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6399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42299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MPI（Message Passing Interface，消息传递接口）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2000" y="211359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17448" y="2061686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跨语言的通信协议标准，实现进程间通信，用于编写并行程序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2000" y="2398395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17448" y="2346484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目前最重要的基于消息传递的并行编程工具：可移植、高效、灵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活，能运行在不同的操作系统和硬件平台上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2000" y="292703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17448" y="2874169"/>
              <a:ext cx="38051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 是标准，给出很多接口的定义，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不是编程语言</a:t>
              </a:r>
            </a:p>
          </p:txBody>
        </p:sp>
      </p:grpSp>
      <p:grpSp>
        <p:nvGrpSpPr>
          <p:cNvPr id="43" name="c1-table-2"/>
          <p:cNvGrpSpPr/>
          <p:nvPr/>
        </p:nvGrpSpPr>
        <p:grpSpPr>
          <a:xfrm>
            <a:off x="533400" y="3419475"/>
            <a:ext cx="5626418" cy="1906905"/>
            <a:chOff x="533400" y="3419475"/>
            <a:chExt cx="5626418" cy="1906905"/>
          </a:xfrm>
        </p:grpSpPr>
        <p:sp>
          <p:nvSpPr>
            <p:cNvPr id="19" name="Rectangle 19"/>
            <p:cNvSpPr/>
            <p:nvPr/>
          </p:nvSpPr>
          <p:spPr>
            <a:xfrm>
              <a:off x="533400" y="3419475"/>
              <a:ext cx="5626418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93445" y="353663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版本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93557" y="353663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年份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59161" y="353663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主要新增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8078" y="3917632"/>
              <a:ext cx="4340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MPI-1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40586" y="391763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428304" y="391763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点对点通信、集合通信、通信器、数据类型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17671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18147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8078" y="4299585"/>
              <a:ext cx="4340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MPI-2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40586" y="429958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1997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28304" y="4299585"/>
              <a:ext cx="25496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单边通信（RMA）、动态进程、并行 I/O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55866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8078" y="4680585"/>
              <a:ext cx="4340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MPI-3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640586" y="468058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428304" y="4680585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非阻塞集合通信、改进的单边通信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93966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4944428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8078" y="5061585"/>
              <a:ext cx="4340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MPI-4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640586" y="506158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428304" y="5061585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持久化集合通信、大计数接口等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3419475"/>
              <a:ext cx="5626418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541145" y="3419475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2328862" y="3419475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9" name="c2-table-1"/>
          <p:cNvGrpSpPr/>
          <p:nvPr/>
        </p:nvGrpSpPr>
        <p:grpSpPr>
          <a:xfrm>
            <a:off x="6464618" y="1524000"/>
            <a:ext cx="5193982" cy="2466975"/>
            <a:chOff x="6464618" y="1524000"/>
            <a:chExt cx="5193982" cy="2466975"/>
          </a:xfrm>
        </p:grpSpPr>
        <p:sp>
          <p:nvSpPr>
            <p:cNvPr id="44" name="Rectangle 44"/>
            <p:cNvSpPr/>
            <p:nvPr/>
          </p:nvSpPr>
          <p:spPr>
            <a:xfrm>
              <a:off x="6464618" y="1524000"/>
              <a:ext cx="5193982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89433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28482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开发者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52512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59296" y="2023110"/>
              <a:ext cx="4340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CHIMP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02296" y="202311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英国爱丁堡大学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779698" y="2023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早期实现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22821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64618" y="2286952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59296" y="2404110"/>
              <a:ext cx="3007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LAM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02296" y="240411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美国俄亥俄超级计算中心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779698" y="2404110"/>
              <a:ext cx="1769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Local Area Multicomputer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464618" y="26631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59296" y="2878455"/>
              <a:ext cx="4340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MPICH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702296" y="2785110"/>
              <a:ext cx="17442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阿贡国家实验室与密西西比州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立大学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779698" y="2785110"/>
              <a:ext cx="161753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可移植，PC、工作站、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SMP、MPP、COW 上都能装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464618" y="32318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464618" y="3236595"/>
              <a:ext cx="5193982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74142" y="3246120"/>
              <a:ext cx="1123950" cy="7353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59296" y="3540443"/>
              <a:ext cx="6695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Open MPI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702296" y="354044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开源社区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779698" y="3353752"/>
              <a:ext cx="1610868" cy="578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高性能消息传递库；支持多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种操作系统，C/C++、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Fortran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464618" y="1524000"/>
              <a:ext cx="5193982" cy="24669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7602855" y="1524000"/>
              <a:ext cx="9525" cy="24669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9680258" y="1524000"/>
              <a:ext cx="9525" cy="24669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6" name="c2-card-2"/>
          <p:cNvGrpSpPr/>
          <p:nvPr/>
        </p:nvGrpSpPr>
        <p:grpSpPr>
          <a:xfrm>
            <a:off x="6464618" y="4155758"/>
            <a:ext cx="5193982" cy="1633538"/>
            <a:chOff x="6464618" y="4155758"/>
            <a:chExt cx="5193982" cy="1633538"/>
          </a:xfrm>
        </p:grpSpPr>
        <p:sp>
          <p:nvSpPr>
            <p:cNvPr id="70" name="Rectangle 70"/>
            <p:cNvSpPr/>
            <p:nvPr/>
          </p:nvSpPr>
          <p:spPr>
            <a:xfrm>
              <a:off x="6464618" y="4155758"/>
              <a:ext cx="5193982" cy="1633538"/>
            </a:xfrm>
            <a:prstGeom prst="roundRect">
              <a:avLst>
                <a:gd name="adj" fmla="val 81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6474142" y="4289108"/>
              <a:ext cx="47625" cy="13668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683692" y="433673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776364" y="436959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677216" y="4677251"/>
              <a:ext cx="442645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原课件说 MPI“提供了与 C、Fortran 和 Java 语言的绑定”。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 标准只定义 C 和 Fortran 接口（MPI-2 加过 C++，MPI-3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又删掉），Java 接口是 Open MPI 等实现另外提供的。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678359" y="5443538"/>
              <a:ext cx="34259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原课件把 LAM 写成 LAN，Edinburgh 拼作 Edinburg。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67881" cy="909257"/>
            <a:chOff x="520446" y="342900"/>
            <a:chExt cx="80678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707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264" y="407194"/>
              <a:ext cx="32193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MPI 基础与阻塞点对点通信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678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 与 OpenMP：根本区别在有没有独立的地址空间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c1-table-1"/>
          <p:cNvGrpSpPr/>
          <p:nvPr/>
        </p:nvGrpSpPr>
        <p:grpSpPr>
          <a:xfrm>
            <a:off x="533400" y="1524000"/>
            <a:ext cx="5842635" cy="3789998"/>
            <a:chOff x="533400" y="1524000"/>
            <a:chExt cx="5842635" cy="37899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686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15720" y="165877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32082" y="1658779"/>
              <a:ext cx="3538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MPI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64925" y="1658779"/>
              <a:ext cx="7781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OpenMP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7604" y="212836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并行单位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90204" y="212836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多进程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35221" y="212836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多线程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5745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62212"/>
              <a:ext cx="5842635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7604" y="259699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交互方式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90204" y="259699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消息传递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35221" y="259699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共享内存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2608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604" y="319230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数据分配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90204" y="3065621"/>
              <a:ext cx="145719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显式（程序员写收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35221" y="3065621"/>
              <a:ext cx="163753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隐式（编译器与运行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库）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64902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653790"/>
              <a:ext cx="5842635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7604" y="378856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运行范围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390204" y="378856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单机或多机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35221" y="378856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单机多核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11765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7604" y="4257199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独立地址空间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295525" y="4131945"/>
              <a:ext cx="2025968" cy="4495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390204" y="4257199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35221" y="4257199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5862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591050"/>
              <a:ext cx="5842635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7604" y="485346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改造串行程序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390204" y="485346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往往要重写数据划分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435221" y="4726781"/>
              <a:ext cx="163753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加几行编译制导即可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起步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5842635" cy="378999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281238" y="1524000"/>
              <a:ext cx="9525" cy="37899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326255" y="1524000"/>
              <a:ext cx="9525" cy="37899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1-callout-2"/>
          <p:cNvGrpSpPr/>
          <p:nvPr/>
        </p:nvGrpSpPr>
        <p:grpSpPr>
          <a:xfrm>
            <a:off x="533400" y="5498782"/>
            <a:ext cx="5842635" cy="756285"/>
            <a:chOff x="533400" y="5498782"/>
            <a:chExt cx="5842635" cy="756285"/>
          </a:xfrm>
        </p:grpSpPr>
        <p:sp>
          <p:nvSpPr>
            <p:cNvPr id="42" name="Rectangle 42"/>
            <p:cNvSpPr/>
            <p:nvPr/>
          </p:nvSpPr>
          <p:spPr>
            <a:xfrm>
              <a:off x="533400" y="5498782"/>
              <a:ext cx="584263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5776913"/>
              <a:ext cx="200026" cy="200025"/>
              <a:chOff x="738188" y="5776913"/>
              <a:chExt cx="200026" cy="20002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577691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77926" y="582136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12642" y="593248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511" y="5646896"/>
              <a:ext cx="491972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大型集群上常把两者混用：节点之间用 MPI 传消息，节点内部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 OpenMP 开线程。</a:t>
              </a:r>
            </a:p>
          </p:txBody>
        </p:sp>
      </p:grpSp>
      <p:grpSp>
        <p:nvGrpSpPr>
          <p:cNvPr id="61" name="c2-card-1"/>
          <p:cNvGrpSpPr/>
          <p:nvPr/>
        </p:nvGrpSpPr>
        <p:grpSpPr>
          <a:xfrm>
            <a:off x="6680835" y="1524000"/>
            <a:ext cx="4977765" cy="1914525"/>
            <a:chOff x="6680835" y="1524000"/>
            <a:chExt cx="4977765" cy="1914525"/>
          </a:xfrm>
        </p:grpSpPr>
        <p:sp>
          <p:nvSpPr>
            <p:cNvPr id="49" name="Rectangle 49"/>
            <p:cNvSpPr/>
            <p:nvPr/>
          </p:nvSpPr>
          <p:spPr>
            <a:xfrm>
              <a:off x="6680835" y="1524000"/>
              <a:ext cx="4977765" cy="1914525"/>
            </a:xfrm>
            <a:prstGeom prst="roundRect">
              <a:avLst>
                <a:gd name="adj" fmla="val 6965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884670" y="172783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946041" y="1763554"/>
              <a:ext cx="1083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MPI 程序的特点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885622" y="2088832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943967" y="21282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175564" y="2100739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处理机之间的数据交换，必须由用户显式地发送和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接收消息来实现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885622" y="2680335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43967" y="271972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175564" y="2692241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每个并行进程都有自己独立的地址空间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885622" y="3000375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943967" y="303976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175564" y="3012281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并行计算粒度大，特别适合大规模可扩展并行算法</a:t>
              </a:r>
            </a:p>
          </p:txBody>
        </p:sp>
      </p:grpSp>
      <p:grpSp>
        <p:nvGrpSpPr>
          <p:cNvPr id="67" name="c2-card-2"/>
          <p:cNvGrpSpPr/>
          <p:nvPr/>
        </p:nvGrpSpPr>
        <p:grpSpPr>
          <a:xfrm>
            <a:off x="6680835" y="3624262"/>
            <a:ext cx="4977765" cy="2630805"/>
            <a:chOff x="6680835" y="3624262"/>
            <a:chExt cx="4977765" cy="2630805"/>
          </a:xfrm>
        </p:grpSpPr>
        <p:sp>
          <p:nvSpPr>
            <p:cNvPr id="62" name="Rectangle 62"/>
            <p:cNvSpPr/>
            <p:nvPr/>
          </p:nvSpPr>
          <p:spPr>
            <a:xfrm>
              <a:off x="6680835" y="3624262"/>
              <a:ext cx="4977765" cy="2630805"/>
            </a:xfrm>
            <a:prstGeom prst="roundRect">
              <a:avLst>
                <a:gd name="adj" fmla="val 50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690360" y="3757612"/>
              <a:ext cx="47625" cy="23641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922770" y="3828098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988327" y="386381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粒度大是什么意思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915531" y="4201001"/>
              <a:ext cx="432460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每发一次消息都有固定的启动开销（第30页）。所以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 程序倾向于让每个进程先独立算一大块，再集中交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换一次，而不是算一点就通信一点。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565644" cy="909257"/>
            <a:chOff x="520446" y="342900"/>
            <a:chExt cx="95656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707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264" y="407194"/>
              <a:ext cx="32193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MPI 基础与阻塞点对点通信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5656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 程序骨架：并行代码写在 MPI_Init 与 MPI_Finalize 之间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5626418" cy="2327910"/>
            <a:chOff x="533400" y="1524000"/>
            <a:chExt cx="5626418" cy="23279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327910"/>
            </a:xfrm>
            <a:prstGeom prst="roundRect">
              <a:avLst>
                <a:gd name="adj" fmla="val 40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程序结构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707005"/>
              <a:ext cx="5588318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112770"/>
              <a:ext cx="5588318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035" y="1937861"/>
              <a:ext cx="3396742" cy="1843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#include "mpi.h"            // 头文件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argc,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*argv[])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串行代码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MPI_Init(&amp;argc, &amp;argv);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MPI 程序开始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并行代码：MPI 程序主体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MPI_Finalize();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MPI 程序结束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串行代码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4042410"/>
            <a:ext cx="5626418" cy="1059180"/>
            <a:chOff x="533400" y="4042410"/>
            <a:chExt cx="5626418" cy="1059180"/>
          </a:xfrm>
        </p:grpSpPr>
        <p:sp>
          <p:nvSpPr>
            <p:cNvPr id="13" name="Rectangle 13"/>
            <p:cNvSpPr/>
            <p:nvPr/>
          </p:nvSpPr>
          <p:spPr>
            <a:xfrm>
              <a:off x="533400" y="4042410"/>
              <a:ext cx="5626418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4471988"/>
              <a:ext cx="200026" cy="200026"/>
              <a:chOff x="738188" y="4471988"/>
              <a:chExt cx="200026" cy="20002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4471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38200" y="4538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27088" y="4572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130" y="4191000"/>
              <a:ext cx="47015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mpirun 启动时，每个进程都从 main 开头执行同一份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程序，“串行代码”其实每个进程各跑一遍，只是它们之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间不能通信。</a:t>
              </a:r>
            </a:p>
          </p:txBody>
        </p:sp>
      </p:grpSp>
      <p:grpSp>
        <p:nvGrpSpPr>
          <p:cNvPr id="38" name="c1-cells-3"/>
          <p:cNvGrpSpPr/>
          <p:nvPr/>
        </p:nvGrpSpPr>
        <p:grpSpPr>
          <a:xfrm>
            <a:off x="528066" y="5292090"/>
            <a:ext cx="5631752" cy="1009650"/>
            <a:chOff x="528066" y="5292090"/>
            <a:chExt cx="5631752" cy="1009650"/>
          </a:xfrm>
        </p:grpSpPr>
        <p:sp>
          <p:nvSpPr>
            <p:cNvPr id="20" name="TextBox 20"/>
            <p:cNvSpPr txBox="1"/>
            <p:nvPr/>
          </p:nvSpPr>
          <p:spPr>
            <a:xfrm>
              <a:off x="528066" y="5435918"/>
              <a:ext cx="9086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mpirun -np 4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513522" y="5292090"/>
              <a:ext cx="1161098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862875" y="5435918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rank 0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675572" y="5292090"/>
              <a:ext cx="1161098" cy="419100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024925" y="5435918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rank 1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836670" y="5292090"/>
              <a:ext cx="1161098" cy="419100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186023" y="5435918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rank 2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998720" y="5292090"/>
              <a:ext cx="1161098" cy="419100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347120" y="5435918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rank 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8066" y="602646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各自执行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513522" y="5882640"/>
              <a:ext cx="116109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929664" y="6026468"/>
              <a:ext cx="3297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main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675572" y="5882640"/>
              <a:ext cx="116109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091714" y="6026468"/>
              <a:ext cx="3297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main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836670" y="5882640"/>
              <a:ext cx="116109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252811" y="6026468"/>
              <a:ext cx="3297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main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998720" y="5882640"/>
              <a:ext cx="116109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413909" y="6026468"/>
              <a:ext cx="3297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main</a:t>
              </a:r>
            </a:p>
          </p:txBody>
        </p:sp>
      </p:grpSp>
      <p:grpSp>
        <p:nvGrpSpPr>
          <p:cNvPr id="50" name="c2-kv-1"/>
          <p:cNvGrpSpPr/>
          <p:nvPr/>
        </p:nvGrpSpPr>
        <p:grpSpPr>
          <a:xfrm>
            <a:off x="6456998" y="1548765"/>
            <a:ext cx="5201602" cy="3023235"/>
            <a:chOff x="6456998" y="1548765"/>
            <a:chExt cx="5201602" cy="3023235"/>
          </a:xfrm>
        </p:grpSpPr>
        <p:sp>
          <p:nvSpPr>
            <p:cNvPr id="39" name="TextBox 39"/>
            <p:cNvSpPr txBox="1"/>
            <p:nvPr/>
          </p:nvSpPr>
          <p:spPr>
            <a:xfrm>
              <a:off x="6456998" y="1548765"/>
              <a:ext cx="24473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MPI_Init(&amp;argc, &amp;argv)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58288" y="1548765"/>
              <a:ext cx="23393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通知 MPI 系统完成所有初始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化；在它之前不应调用其他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 函数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64618" y="243268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56998" y="2552700"/>
              <a:ext cx="15083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MPI_Finalize()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158288" y="2552700"/>
              <a:ext cx="23393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清理 MPI 环境；调用之后不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能再调用任何 MPI 函数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64618" y="315468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56998" y="3274695"/>
              <a:ext cx="225552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MPI_Comm_rank(comm,</a:t>
              </a:r>
              <a:br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&amp;rank)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158288" y="3274695"/>
              <a:ext cx="2301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取得当前进程在通信器中的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编号 rank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64618" y="387667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56998" y="3996690"/>
              <a:ext cx="2205514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MPI_Comm_size(comm,</a:t>
              </a:r>
              <a:br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&amp;size)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58288" y="399669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取得通信器中的进程总数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6464618" y="4703445"/>
            <a:ext cx="5193982" cy="1602105"/>
            <a:chOff x="6464618" y="4703445"/>
            <a:chExt cx="5193982" cy="1602105"/>
          </a:xfrm>
        </p:grpSpPr>
        <p:sp>
          <p:nvSpPr>
            <p:cNvPr id="51" name="Rectangle 51"/>
            <p:cNvSpPr/>
            <p:nvPr/>
          </p:nvSpPr>
          <p:spPr>
            <a:xfrm>
              <a:off x="6464618" y="4703445"/>
              <a:ext cx="5193982" cy="1602105"/>
            </a:xfrm>
            <a:prstGeom prst="roundRect">
              <a:avLst>
                <a:gd name="adj" fmla="val 8323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674168" y="49129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65328" y="49487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66548" y="5290185"/>
              <a:ext cx="44824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E7EDF3"/>
                  </a:solidFill>
                  <a:latin typeface="+mn-lt"/>
                  <a:ea typeface="+mn-ea"/>
                  <a:cs typeface="+mn-cs"/>
                </a:rPr>
                <a:t>MPI_COMM_WORLD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包含启动时的全部进程；rank 取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 0 到 size − 1。程序靠 rank 决定“我该干哪一份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活”。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7218" cy="909257"/>
            <a:chOff x="520446" y="342900"/>
            <a:chExt cx="48372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707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264" y="407194"/>
              <a:ext cx="32193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MPI 基础与阻塞点对点通信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72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第一个 MPI 程序：Hello World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6059805" cy="2936558"/>
            <a:chOff x="533400" y="1524000"/>
            <a:chExt cx="6059805" cy="29365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936558"/>
            </a:xfrm>
            <a:prstGeom prst="roundRect">
              <a:avLst>
                <a:gd name="adj" fmla="val 324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4739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hello.c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301240"/>
              <a:ext cx="602170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035" y="1937861"/>
              <a:ext cx="3453638" cy="24517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#include &lt;stdio.h&gt;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#include "mpi.h"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argc,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*argv[])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myid, numproc;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MPI_Init(&amp;argc, &amp;argv);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MPI_Comm_size(MPI_COMM_WORLD, &amp;numproc);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MPI_Comm_rank(MPI_COMM_WORLD, &amp;myid);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printf(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"Hello world! I am %d of %d.\n"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myid, numproc);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MPI_Finalize();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0;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rd-2"/>
          <p:cNvGrpSpPr/>
          <p:nvPr/>
        </p:nvGrpSpPr>
        <p:grpSpPr>
          <a:xfrm>
            <a:off x="533400" y="4646295"/>
            <a:ext cx="6059805" cy="1615440"/>
            <a:chOff x="533400" y="4646295"/>
            <a:chExt cx="6059805" cy="1615440"/>
          </a:xfrm>
        </p:grpSpPr>
        <p:sp>
          <p:nvSpPr>
            <p:cNvPr id="12" name="Rectangle 12"/>
            <p:cNvSpPr/>
            <p:nvPr/>
          </p:nvSpPr>
          <p:spPr>
            <a:xfrm>
              <a:off x="533400" y="4646295"/>
              <a:ext cx="6059805" cy="1615440"/>
            </a:xfrm>
            <a:prstGeom prst="roundRect">
              <a:avLst>
                <a:gd name="adj" fmla="val 82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42925" y="4779645"/>
              <a:ext cx="47625" cy="13487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75335" y="485013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65543" y="48858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8096" y="5223034"/>
              <a:ext cx="539762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原课件写作 </a:t>
              </a:r>
              <a:r>
                <a:rPr lang="en-US" sz="142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int main(int argc, char *argv)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r>
                <a:rPr lang="en-US" sz="142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&amp;argv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的类型成了</a:t>
              </a:r>
              <a:br/>
              <a:r>
                <a:rPr lang="en-US" sz="142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char **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，与 MPI_Init 要的 </a:t>
              </a:r>
              <a:r>
                <a:rPr lang="en-US" sz="142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char ***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不符，编译器会报错。应写</a:t>
              </a:r>
              <a:br/>
              <a:r>
                <a:rPr lang="en-US" sz="142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char *argv[]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；原课件 #include 里的中文引号也要改成英文引号。</a:t>
              </a:r>
            </a:p>
          </p:txBody>
        </p:sp>
      </p:grpSp>
      <p:grpSp>
        <p:nvGrpSpPr>
          <p:cNvPr id="21" name="c2-code-1"/>
          <p:cNvGrpSpPr/>
          <p:nvPr/>
        </p:nvGrpSpPr>
        <p:grpSpPr>
          <a:xfrm>
            <a:off x="6898005" y="1524000"/>
            <a:ext cx="4760595" cy="907732"/>
            <a:chOff x="6898005" y="1524000"/>
            <a:chExt cx="4760595" cy="907732"/>
          </a:xfrm>
        </p:grpSpPr>
        <p:sp>
          <p:nvSpPr>
            <p:cNvPr id="18" name="Rectangle 18"/>
            <p:cNvSpPr/>
            <p:nvPr/>
          </p:nvSpPr>
          <p:spPr>
            <a:xfrm>
              <a:off x="6898005" y="1524000"/>
              <a:ext cx="4760595" cy="907732"/>
            </a:xfrm>
            <a:prstGeom prst="roundRect">
              <a:avLst>
                <a:gd name="adj" fmla="val 104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26402" y="16759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编译与运行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25640" y="1937861"/>
              <a:ext cx="1732534" cy="422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mpicc -o hello hello.c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mpirun -np 4 ./hello</a:t>
              </a:r>
            </a:p>
          </p:txBody>
        </p:sp>
      </p:grpSp>
      <p:grpSp>
        <p:nvGrpSpPr>
          <p:cNvPr id="27" name="c2-kv-2"/>
          <p:cNvGrpSpPr/>
          <p:nvPr/>
        </p:nvGrpSpPr>
        <p:grpSpPr>
          <a:xfrm>
            <a:off x="6890766" y="2640806"/>
            <a:ext cx="4767834" cy="1235964"/>
            <a:chOff x="6890766" y="2640806"/>
            <a:chExt cx="4767834" cy="1235964"/>
          </a:xfrm>
        </p:grpSpPr>
        <p:sp>
          <p:nvSpPr>
            <p:cNvPr id="22" name="TextBox 22"/>
            <p:cNvSpPr txBox="1"/>
            <p:nvPr/>
          </p:nvSpPr>
          <p:spPr>
            <a:xfrm>
              <a:off x="6890766" y="2640806"/>
              <a:ext cx="5564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mpicc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70864" y="2640806"/>
              <a:ext cx="3729482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编译器包装，自动加上 MPI 头文件和库；-o 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是输出的可执行文件名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898005" y="321373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90766" y="3330416"/>
              <a:ext cx="5162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-np 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70864" y="3330416"/>
              <a:ext cx="3639312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进程数（the number of processes），由用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户在运行时指定</a:t>
              </a:r>
            </a:p>
          </p:txBody>
        </p:sp>
      </p:grpSp>
      <p:grpSp>
        <p:nvGrpSpPr>
          <p:cNvPr id="31" name="c2-code-3"/>
          <p:cNvGrpSpPr/>
          <p:nvPr/>
        </p:nvGrpSpPr>
        <p:grpSpPr>
          <a:xfrm>
            <a:off x="6898005" y="4006215"/>
            <a:ext cx="4760595" cy="1313498"/>
            <a:chOff x="6898005" y="4006215"/>
            <a:chExt cx="4760595" cy="1313498"/>
          </a:xfrm>
        </p:grpSpPr>
        <p:sp>
          <p:nvSpPr>
            <p:cNvPr id="28" name="Rectangle 28"/>
            <p:cNvSpPr/>
            <p:nvPr/>
          </p:nvSpPr>
          <p:spPr>
            <a:xfrm>
              <a:off x="6898005" y="4006215"/>
              <a:ext cx="4760595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026402" y="4158139"/>
              <a:ext cx="21788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一次运行的输出（线程版 MPI 模拟）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25640" y="4420076"/>
              <a:ext cx="1967230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Hello world! I am 1 of 4.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Hello world! I am 0 of 4.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Hello world! I am 2 of 4.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Hello world! I am 3 of 4.</a:t>
              </a:r>
            </a:p>
          </p:txBody>
        </p:sp>
      </p:grpSp>
      <p:grpSp>
        <p:nvGrpSpPr>
          <p:cNvPr id="38" name="c2-callout-4"/>
          <p:cNvGrpSpPr/>
          <p:nvPr/>
        </p:nvGrpSpPr>
        <p:grpSpPr>
          <a:xfrm>
            <a:off x="6898005" y="5504498"/>
            <a:ext cx="4760595" cy="756285"/>
            <a:chOff x="6898005" y="5504498"/>
            <a:chExt cx="4760595" cy="756285"/>
          </a:xfrm>
        </p:grpSpPr>
        <p:sp>
          <p:nvSpPr>
            <p:cNvPr id="32" name="Rectangle 32"/>
            <p:cNvSpPr/>
            <p:nvPr/>
          </p:nvSpPr>
          <p:spPr>
            <a:xfrm>
              <a:off x="6898005" y="5504498"/>
              <a:ext cx="4760595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090734" y="5778936"/>
              <a:ext cx="224134" cy="192560"/>
              <a:chOff x="7090734" y="5778936"/>
              <a:chExt cx="224134" cy="19256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202805" y="58493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090734" y="57789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202805" y="59270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7405116" y="5652611"/>
              <a:ext cx="386473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进程相互独立，printf 的先后是随机的，每次运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行都可能不同，甚至不能保证一次输出一整行。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05844" cy="909257"/>
            <a:chOff x="520446" y="342900"/>
            <a:chExt cx="76058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707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264" y="407194"/>
              <a:ext cx="32193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MPI 基础与阻塞点对点通信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058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MPI_Send 与 MPI_Recv：六个参数说清一条消息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760595" cy="3533775"/>
            <a:chOff x="533400" y="1524000"/>
            <a:chExt cx="4760595" cy="35337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3533775"/>
            </a:xfrm>
            <a:prstGeom prst="roundRect">
              <a:avLst>
                <a:gd name="adj" fmla="val 26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函数原型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1990916" cy="30485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MPI_Send(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* data,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count,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MPI_Datatype datatype,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destination,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tag,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MPI_Comm communicator);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MPI_Recv(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* data,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count,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MPI_Datatype datatype,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source,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tag,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MPI_Comm communicator,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MPI_Status* status);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5237798"/>
            <a:ext cx="4760595" cy="1044892"/>
            <a:chOff x="533400" y="5237798"/>
            <a:chExt cx="4760595" cy="1044892"/>
          </a:xfrm>
        </p:grpSpPr>
        <p:sp>
          <p:nvSpPr>
            <p:cNvPr id="11" name="Rectangle 11"/>
            <p:cNvSpPr/>
            <p:nvPr/>
          </p:nvSpPr>
          <p:spPr>
            <a:xfrm>
              <a:off x="533400" y="5237798"/>
              <a:ext cx="4760595" cy="1044892"/>
            </a:xfrm>
            <a:prstGeom prst="roundRect">
              <a:avLst>
                <a:gd name="adj" fmla="val 1093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660708"/>
              <a:ext cx="200026" cy="200025"/>
              <a:chOff x="738188" y="5660708"/>
              <a:chExt cx="200026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6607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7926" y="57051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12642" y="58162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511" y="5398294"/>
              <a:ext cx="3828669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接收端可以用 MPI_ANY_SOURCE、MPI_ANY_TAG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表示“谁发来的、什么标签都收”；发送端不能用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通配。</a:t>
              </a:r>
            </a:p>
          </p:txBody>
        </p:sp>
      </p:grpSp>
      <p:grpSp>
        <p:nvGrpSpPr>
          <p:cNvPr id="46" name="c2-table-1"/>
          <p:cNvGrpSpPr/>
          <p:nvPr/>
        </p:nvGrpSpPr>
        <p:grpSpPr>
          <a:xfrm>
            <a:off x="5598795" y="1524000"/>
            <a:ext cx="6059805" cy="3822382"/>
            <a:chOff x="5598795" y="1524000"/>
            <a:chExt cx="6059805" cy="3822382"/>
          </a:xfrm>
        </p:grpSpPr>
        <p:sp>
          <p:nvSpPr>
            <p:cNvPr id="18" name="Rectangle 18"/>
            <p:cNvSpPr/>
            <p:nvPr/>
          </p:nvSpPr>
          <p:spPr>
            <a:xfrm>
              <a:off x="5598795" y="1524000"/>
              <a:ext cx="6059805" cy="4248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4079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6974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01284" y="2076450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19606" y="2076450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发送：要发的数据起始地址；接收：存放收到数据的地址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598795" y="236791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598795" y="2372678"/>
              <a:ext cx="605980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701284" y="2501265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count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19606" y="2501265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元素个数（不是字节数）；接收时是缓冲区最多能放几个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598795" y="279273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701284" y="2926080"/>
              <a:ext cx="7585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datatype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19606" y="2926080"/>
              <a:ext cx="27645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元素类型，如 MPI_INT、MPI_DOUBLE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598795" y="32165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598795" y="3221355"/>
              <a:ext cx="605980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701284" y="3349942"/>
              <a:ext cx="1036320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destination /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source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19606" y="3456622"/>
              <a:ext cx="17084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目标或来源进程的 rank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598795" y="385476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701284" y="3988118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19606" y="3988118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消息标签，由程序自己约定的整数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598795" y="427958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598795" y="4284345"/>
              <a:ext cx="605980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701284" y="4411980"/>
              <a:ext cx="11571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communicator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19606" y="4411980"/>
              <a:ext cx="34783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通信器（通信域），通常写 MPI_COMM_WORLD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598795" y="470344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701284" y="4943475"/>
              <a:ext cx="571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status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19606" y="4836795"/>
              <a:ext cx="2907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接收时带回来源、标签、长度；不需要可写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MPI_STATUS_IGNORE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598795" y="1524000"/>
              <a:ext cx="6059805" cy="382238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412355" y="1524000"/>
              <a:ext cx="9525" cy="3822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2-callout-2"/>
          <p:cNvGrpSpPr/>
          <p:nvPr/>
        </p:nvGrpSpPr>
        <p:grpSpPr>
          <a:xfrm>
            <a:off x="5598795" y="5526405"/>
            <a:ext cx="6059805" cy="756285"/>
            <a:chOff x="5598795" y="5526405"/>
            <a:chExt cx="6059805" cy="756285"/>
          </a:xfrm>
        </p:grpSpPr>
        <p:sp>
          <p:nvSpPr>
            <p:cNvPr id="47" name="Rectangle 47"/>
            <p:cNvSpPr/>
            <p:nvPr/>
          </p:nvSpPr>
          <p:spPr>
            <a:xfrm>
              <a:off x="5598795" y="5526405"/>
              <a:ext cx="6059805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5791524" y="5800843"/>
              <a:ext cx="224134" cy="192560"/>
              <a:chOff x="5791524" y="5800843"/>
              <a:chExt cx="224134" cy="19256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5903595" y="587121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5791524" y="580084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5903595" y="59489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6105906" y="5673566"/>
              <a:ext cx="50639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实际到达的消息比接收缓冲区长时是错误（截断错误）；比缓冲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区短没问题，真实长度用 MPI_Get_count 读。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707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264" y="407194"/>
              <a:ext cx="32193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MPI 基础与阻塞点对点通信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一条消息好比一封信：信的内容加信封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c1-image-1"/>
          <p:cNvGrpSpPr/>
          <p:nvPr/>
        </p:nvGrpSpPr>
        <p:grpSpPr>
          <a:xfrm>
            <a:off x="1006792" y="1524000"/>
            <a:ext cx="3813810" cy="3159061"/>
            <a:chOff x="1006792" y="1524000"/>
            <a:chExt cx="3813810" cy="3159061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5556" t="0" r="5555" b="0"/>
            <a:stretch>
              <a:fillRect/>
            </a:stretch>
          </p:blipFill>
          <p:spPr>
            <a:xfrm>
              <a:off x="1006792" y="1524000"/>
              <a:ext cx="3813810" cy="2860358"/>
            </a:xfrm>
            <a:prstGeom prst="roundRect">
              <a:avLst>
                <a:gd name="adj" fmla="val 4662"/>
              </a:avLst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353502" y="4477702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信纸是消息缓冲，信封上的地址和标签是消息信封</a:t>
              </a:r>
            </a:p>
          </p:txBody>
        </p:sp>
      </p:grpSp>
      <p:grpSp>
        <p:nvGrpSpPr>
          <p:cNvPr id="16" name="c1-callout-2"/>
          <p:cNvGrpSpPr/>
          <p:nvPr/>
        </p:nvGrpSpPr>
        <p:grpSpPr>
          <a:xfrm>
            <a:off x="533400" y="4835842"/>
            <a:ext cx="4760595" cy="1423988"/>
            <a:chOff x="533400" y="4835842"/>
            <a:chExt cx="4760595" cy="1423988"/>
          </a:xfrm>
        </p:grpSpPr>
        <p:sp>
          <p:nvSpPr>
            <p:cNvPr id="10" name="Rectangle 10"/>
            <p:cNvSpPr/>
            <p:nvPr/>
          </p:nvSpPr>
          <p:spPr>
            <a:xfrm>
              <a:off x="533400" y="4835842"/>
              <a:ext cx="4760595" cy="1423988"/>
            </a:xfrm>
            <a:prstGeom prst="roundRect">
              <a:avLst>
                <a:gd name="adj" fmla="val 802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188" y="5448300"/>
              <a:ext cx="200026" cy="200026"/>
              <a:chOff x="738188" y="5448300"/>
              <a:chExt cx="200026" cy="20002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738188" y="54483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38200" y="55149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27088" y="554831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0892" y="5205412"/>
              <a:ext cx="333127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原课件写“在 MPI 中成为消息封装(Message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Envelop)”，应为“称为消息信封（Message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Envelope）”。</a:t>
              </a:r>
            </a:p>
          </p:txBody>
        </p:sp>
      </p:grpSp>
      <p:grpSp>
        <p:nvGrpSpPr>
          <p:cNvPr id="34" name="c2-table-1"/>
          <p:cNvGrpSpPr/>
          <p:nvPr/>
        </p:nvGrpSpPr>
        <p:grpSpPr>
          <a:xfrm>
            <a:off x="5598795" y="1524000"/>
            <a:ext cx="6059805" cy="2294573"/>
            <a:chOff x="5598795" y="1524000"/>
            <a:chExt cx="6059805" cy="2294573"/>
          </a:xfrm>
        </p:grpSpPr>
        <p:sp>
          <p:nvSpPr>
            <p:cNvPr id="17" name="Rectangle 17"/>
            <p:cNvSpPr/>
            <p:nvPr/>
          </p:nvSpPr>
          <p:spPr>
            <a:xfrm>
              <a:off x="5598795" y="1524000"/>
              <a:ext cx="6059805" cy="44481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197917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52385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803702" y="165163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三元组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608320" y="1978342"/>
              <a:ext cx="1556385" cy="90582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697664" y="2096452"/>
              <a:ext cx="742807" cy="7440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消息缓冲</a:t>
              </a:r>
              <a:br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Message</a:t>
              </a:r>
              <a:br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73099" y="233648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信的内容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06600" y="2336482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〈起始地址，数据个数，数据类型〉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598795" y="288893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598795" y="2893695"/>
              <a:ext cx="6059805" cy="92487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608320" y="2903220"/>
              <a:ext cx="1556385" cy="90582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697664" y="3021330"/>
              <a:ext cx="760809" cy="7440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消息信封</a:t>
              </a:r>
              <a:br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Message</a:t>
              </a:r>
              <a:br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Envelope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73099" y="326136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信封上的地址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06600" y="3141345"/>
              <a:ext cx="2782634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〈源 / 目标进程，消息标签，通信域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〉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598795" y="1524000"/>
              <a:ext cx="6059805" cy="22936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69468" y="1524000"/>
              <a:ext cx="9525" cy="22936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502968" y="1524000"/>
              <a:ext cx="9525" cy="22936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2-code-2"/>
          <p:cNvGrpSpPr/>
          <p:nvPr/>
        </p:nvGrpSpPr>
        <p:grpSpPr>
          <a:xfrm>
            <a:off x="5598795" y="3992880"/>
            <a:ext cx="6059805" cy="882968"/>
            <a:chOff x="5598795" y="3992880"/>
            <a:chExt cx="6059805" cy="882968"/>
          </a:xfrm>
        </p:grpSpPr>
        <p:sp>
          <p:nvSpPr>
            <p:cNvPr id="35" name="Rectangle 35"/>
            <p:cNvSpPr/>
            <p:nvPr/>
          </p:nvSpPr>
          <p:spPr>
            <a:xfrm>
              <a:off x="5598795" y="3992880"/>
              <a:ext cx="6059805" cy="882968"/>
            </a:xfrm>
            <a:prstGeom prst="roundRect">
              <a:avLst>
                <a:gd name="adj" fmla="val 1078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727192" y="414480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同一个调用里的两部分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726811" y="4406265"/>
              <a:ext cx="3184398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MPI_Send(buf, count, datatype,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消息缓冲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dest, tag, comm);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消息信封</a:t>
              </a:r>
            </a:p>
          </p:txBody>
        </p:sp>
      </p:grpSp>
      <p:grpSp>
        <p:nvGrpSpPr>
          <p:cNvPr id="43" name="c2-card-3"/>
          <p:cNvGrpSpPr/>
          <p:nvPr/>
        </p:nvGrpSpPr>
        <p:grpSpPr>
          <a:xfrm>
            <a:off x="5598795" y="5051108"/>
            <a:ext cx="6059805" cy="1209675"/>
            <a:chOff x="5598795" y="5051108"/>
            <a:chExt cx="6059805" cy="1209675"/>
          </a:xfrm>
        </p:grpSpPr>
        <p:sp>
          <p:nvSpPr>
            <p:cNvPr id="39" name="Rectangle 39"/>
            <p:cNvSpPr/>
            <p:nvPr/>
          </p:nvSpPr>
          <p:spPr>
            <a:xfrm>
              <a:off x="5598795" y="5051108"/>
              <a:ext cx="6059805" cy="1209675"/>
            </a:xfrm>
            <a:prstGeom prst="roundRect">
              <a:avLst>
                <a:gd name="adj" fmla="val 11024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791200" y="524351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874639" y="52778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匹配规则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784342" y="5599748"/>
              <a:ext cx="5328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接收方按信封挑消息：来源、标签、通信器三项都对上才收。数据类型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和个数只决定怎样解释和存放内容。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34710" cy="909257"/>
            <a:chOff x="520446" y="342900"/>
            <a:chExt cx="55347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707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264" y="407194"/>
              <a:ext cx="32193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MPI 基础与阻塞点对点通信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347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消息标签 tag：接收方按用途挑消息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410200" cy="4830128"/>
            <a:chOff x="533400" y="1524000"/>
            <a:chExt cx="5410200" cy="48301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830128"/>
            </a:xfrm>
            <a:prstGeom prst="roundRect">
              <a:avLst>
                <a:gd name="adj" fmla="val 2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56342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058" y="17564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原课件的例子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76643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 P 连续给 Q 发两条同类型消息，打算让 A 的前 32 个字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节进 X，B 的前 16 个字节进 Y：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9620" y="2648902"/>
              <a:ext cx="4975860" cy="882968"/>
            </a:xfrm>
            <a:prstGeom prst="roundRect">
              <a:avLst>
                <a:gd name="adj" fmla="val 1078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8017" y="280082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文本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7636" y="3062288"/>
              <a:ext cx="2577656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P: send(A, 32, Q);   send(B, 16, Q)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Q: recv(X, 32, P);   recv(Y, 16, P)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381" y="3644741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没有标签时，接收者无法区分这两条消息。加上标签就明确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了：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9620" y="4210050"/>
              <a:ext cx="4975860" cy="882968"/>
            </a:xfrm>
            <a:prstGeom prst="roundRect">
              <a:avLst>
                <a:gd name="adj" fmla="val 1078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98017" y="436197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文本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7636" y="4623435"/>
              <a:ext cx="3311081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P: send(A, 32, Q, tag1); send(B, 16, Q, tag2)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Q: recv(X, 32, P, tag1); recv(Y, 16, P, tag2)</a:t>
              </a:r>
            </a:p>
          </p:txBody>
        </p:sp>
      </p:grpSp>
      <p:grpSp>
        <p:nvGrpSpPr>
          <p:cNvPr id="25" name="c2-card-1"/>
          <p:cNvGrpSpPr/>
          <p:nvPr/>
        </p:nvGrpSpPr>
        <p:grpSpPr>
          <a:xfrm>
            <a:off x="6248400" y="1524000"/>
            <a:ext cx="5410200" cy="2065020"/>
            <a:chOff x="6248400" y="1524000"/>
            <a:chExt cx="5410200" cy="2065020"/>
          </a:xfrm>
        </p:grpSpPr>
        <p:sp>
          <p:nvSpPr>
            <p:cNvPr id="20" name="Rectangle 20"/>
            <p:cNvSpPr/>
            <p:nvPr/>
          </p:nvSpPr>
          <p:spPr>
            <a:xfrm>
              <a:off x="6248400" y="1524000"/>
              <a:ext cx="5410200" cy="2065020"/>
            </a:xfrm>
            <a:prstGeom prst="roundRect">
              <a:avLst>
                <a:gd name="adj" fmla="val 64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57925" y="1657350"/>
              <a:ext cx="47625" cy="17983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84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76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77381" y="2082641"/>
              <a:ext cx="4784471" cy="1364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原课件说“B 虽然后发送，但可能先到达 Q，被第一个接收函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数收进 X”。这在不保证顺序的一般消息系统里会发生，在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 里不会：MPI 规定同一发送者发往同一接收者、同一通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信器的消息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不超车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，前一条没被收走，后一条就不会匹配同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一个接收。</a:t>
              </a:r>
            </a:p>
          </p:txBody>
        </p:sp>
      </p:grpSp>
      <p:grpSp>
        <p:nvGrpSpPr>
          <p:cNvPr id="35" name="c2-card-2"/>
          <p:cNvGrpSpPr/>
          <p:nvPr/>
        </p:nvGrpSpPr>
        <p:grpSpPr>
          <a:xfrm>
            <a:off x="6248400" y="3769995"/>
            <a:ext cx="5410200" cy="2584132"/>
            <a:chOff x="6248400" y="3769995"/>
            <a:chExt cx="5410200" cy="2584132"/>
          </a:xfrm>
        </p:grpSpPr>
        <p:sp>
          <p:nvSpPr>
            <p:cNvPr id="26" name="Rectangle 26"/>
            <p:cNvSpPr/>
            <p:nvPr/>
          </p:nvSpPr>
          <p:spPr>
            <a:xfrm>
              <a:off x="6248400" y="3769995"/>
              <a:ext cx="5410200" cy="2584132"/>
            </a:xfrm>
            <a:prstGeom prst="roundRect">
              <a:avLst>
                <a:gd name="adj" fmla="val 51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57925" y="3903345"/>
              <a:ext cx="47625" cy="23174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84620" y="3968115"/>
              <a:ext cx="1717358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29860" y="4002405"/>
              <a:ext cx="16278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标签在 MPI 里真正的用处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77381" y="4328636"/>
              <a:ext cx="467626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接收方可以不按发送顺序，按标签挑着收。模拟运行：P 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 A（tag 1）再发 B（tag 2），Q 先收 tag 2 再收 tag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1。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84620" y="5165408"/>
              <a:ext cx="4975860" cy="693420"/>
            </a:xfrm>
            <a:prstGeom prst="roundRect">
              <a:avLst>
                <a:gd name="adj" fmla="val 1373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13017" y="531733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文本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12636" y="5578792"/>
              <a:ext cx="36081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rank 1: X[0]=100 X[31]=131 Y[0]=200 Y[15]=215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78524" y="5968365"/>
              <a:ext cx="42278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的内容是 100–131，B 是 200–215，各进了该进的数组。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98091" cy="909257"/>
            <a:chOff x="520446" y="342900"/>
            <a:chExt cx="699809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707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264" y="407194"/>
              <a:ext cx="32193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MPI 基础与阻塞点对点通信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980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 数据类型：count 数的是元素，不是字节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5" name="c1-table-1"/>
          <p:cNvGrpSpPr/>
          <p:nvPr/>
        </p:nvGrpSpPr>
        <p:grpSpPr>
          <a:xfrm>
            <a:off x="528447" y="1524000"/>
            <a:ext cx="6280975" cy="3688746"/>
            <a:chOff x="528447" y="1524000"/>
            <a:chExt cx="6280975" cy="368874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15941" y="1641157"/>
              <a:ext cx="5913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MPI 类型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10829" y="1641157"/>
              <a:ext cx="426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 类型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91564" y="1641157"/>
              <a:ext cx="5913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MPI 类型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99824" y="1641157"/>
              <a:ext cx="426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 类型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8078" y="2023110"/>
              <a:ext cx="6928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MPI_CHAR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385441" y="202311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52241" y="2023110"/>
              <a:ext cx="13623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MPI_UNSIGNED_CHAR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711571" y="2023110"/>
              <a:ext cx="9506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unsigned char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28219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286952"/>
              <a:ext cx="6276022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8078" y="2497455"/>
              <a:ext cx="8104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MPI_SHORT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85441" y="249745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short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52241" y="2497455"/>
              <a:ext cx="14743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MPI_UNSIGNED_SHORT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11571" y="2404110"/>
              <a:ext cx="564070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unsigned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short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4988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8078" y="2971800"/>
              <a:ext cx="5673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MPI_INT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85441" y="2971800"/>
              <a:ext cx="208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52241" y="2971800"/>
              <a:ext cx="9515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MPI_UNSIGNED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11571" y="2971800"/>
              <a:ext cx="8375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unsigned int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23183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236595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3353752"/>
              <a:ext cx="7241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MPI_LONG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85441" y="3353752"/>
              <a:ext cx="2863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long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52241" y="3353752"/>
              <a:ext cx="13921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MPI_UNSIGNED_LONG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711571" y="3353752"/>
              <a:ext cx="9153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unsigned long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61283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8078" y="3828098"/>
              <a:ext cx="11868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MPI_LONG_LONG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385441" y="382809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long long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452241" y="3828098"/>
              <a:ext cx="18327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MPI_UNSIGNED_LONG_LONG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711571" y="3734752"/>
              <a:ext cx="86410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unsigned long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long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18052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4185285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8078" y="4303395"/>
              <a:ext cx="8104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MPI_FLOAT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385441" y="4303395"/>
              <a:ext cx="3640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float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452241" y="4303395"/>
              <a:ext cx="8545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MPI_DOUBLE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711571" y="4303395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double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56247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8078" y="4684395"/>
              <a:ext cx="13593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MPI_LONG_DOUBLE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385441" y="4684395"/>
              <a:ext cx="7598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long double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452241" y="4684395"/>
              <a:ext cx="6603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MPI_BYTE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626418" y="4576762"/>
              <a:ext cx="1173480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711571" y="468439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无（原始字节）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1524000"/>
              <a:ext cx="6276022" cy="34242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2286000" y="1524000"/>
              <a:ext cx="9525" cy="34242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3352800" y="1524000"/>
              <a:ext cx="9525" cy="34242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612130" y="1524000"/>
              <a:ext cx="9525" cy="34242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28447" y="5022056"/>
              <a:ext cx="26086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 类型列省略了 int，如 short 即 short int</a:t>
              </a:r>
            </a:p>
          </p:txBody>
        </p:sp>
      </p:grpSp>
      <p:grpSp>
        <p:nvGrpSpPr>
          <p:cNvPr id="62" name="c1-callout-2"/>
          <p:cNvGrpSpPr/>
          <p:nvPr/>
        </p:nvGrpSpPr>
        <p:grpSpPr>
          <a:xfrm>
            <a:off x="533400" y="5338762"/>
            <a:ext cx="6276022" cy="702945"/>
            <a:chOff x="533400" y="5338762"/>
            <a:chExt cx="6276022" cy="702945"/>
          </a:xfrm>
        </p:grpSpPr>
        <p:sp>
          <p:nvSpPr>
            <p:cNvPr id="56" name="Rectangle 56"/>
            <p:cNvSpPr/>
            <p:nvPr/>
          </p:nvSpPr>
          <p:spPr>
            <a:xfrm>
              <a:off x="533400" y="5338762"/>
              <a:ext cx="6276022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5590223"/>
              <a:ext cx="200026" cy="200025"/>
              <a:chOff x="738188" y="5590223"/>
              <a:chExt cx="200026" cy="20002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559022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77926" y="563467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12642" y="574579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1273" y="5484019"/>
              <a:ext cx="53205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en-US" sz="128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MPI_Send(a, 10, MPI_DOUBLE, …)</a:t>
              </a: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 xml:space="preserve"> 发 10 个 double，共 80 字节；count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误写成 80 就会发 640 字节，读到数组外面去。</a:t>
              </a:r>
            </a:p>
          </p:txBody>
        </p:sp>
      </p:grpSp>
      <p:grpSp>
        <p:nvGrpSpPr>
          <p:cNvPr id="69" name="c2-card-1"/>
          <p:cNvGrpSpPr/>
          <p:nvPr/>
        </p:nvGrpSpPr>
        <p:grpSpPr>
          <a:xfrm>
            <a:off x="7114222" y="1524000"/>
            <a:ext cx="4544378" cy="2069782"/>
            <a:chOff x="7114222" y="1524000"/>
            <a:chExt cx="4544378" cy="2069782"/>
          </a:xfrm>
        </p:grpSpPr>
        <p:sp>
          <p:nvSpPr>
            <p:cNvPr id="63" name="Rectangle 63"/>
            <p:cNvSpPr/>
            <p:nvPr/>
          </p:nvSpPr>
          <p:spPr>
            <a:xfrm>
              <a:off x="7114222" y="1524000"/>
              <a:ext cx="4544378" cy="2069782"/>
            </a:xfrm>
            <a:prstGeom prst="roundRect">
              <a:avLst>
                <a:gd name="adj" fmla="val 64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123748" y="1657350"/>
              <a:ext cx="47625" cy="180308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333298" y="1704975"/>
              <a:ext cx="2076450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377112" y="1737836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为什么每个通信函数都带数据类型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326820" y="2045494"/>
              <a:ext cx="3914394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为了在异构环境里通信：不同机器的字节存储顺序（大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小端）、基本类型长度可能不同。指定数据类型后，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 能在内部换算成相应的字节数并做必要转换，保证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通信正确。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327964" y="3054668"/>
              <a:ext cx="387115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还可以用 MPI_Type_contiguous、MPI_Type_vector 等构造自己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的数据类型。</a:t>
              </a:r>
            </a:p>
          </p:txBody>
        </p:sp>
      </p:grpSp>
      <p:grpSp>
        <p:nvGrpSpPr>
          <p:cNvPr id="75" name="c2-card-2"/>
          <p:cNvGrpSpPr/>
          <p:nvPr/>
        </p:nvGrpSpPr>
        <p:grpSpPr>
          <a:xfrm>
            <a:off x="7114222" y="3758565"/>
            <a:ext cx="4544378" cy="2283142"/>
            <a:chOff x="7114222" y="3758565"/>
            <a:chExt cx="4544378" cy="2283142"/>
          </a:xfrm>
        </p:grpSpPr>
        <p:sp>
          <p:nvSpPr>
            <p:cNvPr id="70" name="Rectangle 70"/>
            <p:cNvSpPr/>
            <p:nvPr/>
          </p:nvSpPr>
          <p:spPr>
            <a:xfrm>
              <a:off x="7114222" y="3758565"/>
              <a:ext cx="4544378" cy="2283142"/>
            </a:xfrm>
            <a:prstGeom prst="roundRect">
              <a:avLst>
                <a:gd name="adj" fmla="val 58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7123748" y="3891915"/>
              <a:ext cx="47625" cy="20164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7333298" y="393954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425017" y="397240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326820" y="4279106"/>
              <a:ext cx="393065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原课件表中把 MPI_BYTE 对应成 char。MPI_BYTE 是不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做任何转换的原始字节，没有对应的 C 类型；和 char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对应的是 MPI_CHAR（表中已补上）。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29665" cy="909257"/>
            <a:chOff x="520446" y="342900"/>
            <a:chExt cx="83296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707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264" y="407194"/>
              <a:ext cx="32193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MPI 基础与阻塞点对点通信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296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通信器圈定谁和谁通信，MPI_Status 带回消息的来历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4977765" cy="2117408"/>
            <a:chOff x="533400" y="1524000"/>
            <a:chExt cx="4977765" cy="21174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117408"/>
            </a:xfrm>
            <a:prstGeom prst="roundRect">
              <a:avLst>
                <a:gd name="adj" fmla="val 62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5070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159639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1564" y="1750695"/>
              <a:ext cx="1481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通信器 communicator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2478" y="212883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8497" y="207264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进程可以划分成组，每个组处理某项特定任务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2478" y="243173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497" y="2375535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每条消息都应在同样的上下文中发送和接收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2478" y="2734627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8497" y="267843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进程组加上消息传递上下文，合称通信器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2478" y="303657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8497" y="2980372"/>
              <a:ext cx="41199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MPI_COMM_WORLD 是默认通信器，含全部进程；没有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分组需求时直接用它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815715"/>
            <a:ext cx="4977765" cy="2488882"/>
            <a:chOff x="533400" y="3815715"/>
            <a:chExt cx="4977765" cy="2488882"/>
          </a:xfrm>
        </p:grpSpPr>
        <p:sp>
          <p:nvSpPr>
            <p:cNvPr id="20" name="Rectangle 20"/>
            <p:cNvSpPr/>
            <p:nvPr/>
          </p:nvSpPr>
          <p:spPr>
            <a:xfrm>
              <a:off x="533400" y="3815715"/>
              <a:ext cx="4977765" cy="2488882"/>
            </a:xfrm>
            <a:prstGeom prst="roundRect">
              <a:avLst>
                <a:gd name="adj" fmla="val 53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3949065"/>
              <a:ext cx="47625" cy="222218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63905" y="400812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9343" y="40424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分组有什么用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7047" y="4365308"/>
              <a:ext cx="42656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同一个进程在不同通信器里的 rank 可以不同。库函数用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自己的通信器收发，就不会误收用户程序的消息。</a:t>
              </a:r>
            </a:p>
          </p:txBody>
        </p:sp>
      </p:grpSp>
      <p:grpSp>
        <p:nvGrpSpPr>
          <p:cNvPr id="29" name="c2-code-1"/>
          <p:cNvGrpSpPr/>
          <p:nvPr/>
        </p:nvGrpSpPr>
        <p:grpSpPr>
          <a:xfrm>
            <a:off x="5815965" y="1524000"/>
            <a:ext cx="5842635" cy="1829752"/>
            <a:chOff x="5815965" y="1524000"/>
            <a:chExt cx="5842635" cy="1829752"/>
          </a:xfrm>
        </p:grpSpPr>
        <p:sp>
          <p:nvSpPr>
            <p:cNvPr id="26" name="Rectangle 26"/>
            <p:cNvSpPr/>
            <p:nvPr/>
          </p:nvSpPr>
          <p:spPr>
            <a:xfrm>
              <a:off x="5815965" y="1524000"/>
              <a:ext cx="5842635" cy="1829752"/>
            </a:xfrm>
            <a:prstGeom prst="roundRect">
              <a:avLst>
                <a:gd name="adj" fmla="val 52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44362" y="1675924"/>
              <a:ext cx="20917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接收任意来源的消息后查看 status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943981" y="1937385"/>
              <a:ext cx="3164396" cy="1342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buf[8], cnt;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MPI_Status st;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MPI_Recv(buf, 8, MPI_INT, MPI_ANY_SOURCE,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MPI_ANY_TAG, MPI_COMM_WORLD, &amp;st);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MPI_Get_count(&amp;st, MPI_INT, &amp;cnt);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printf(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"from %d, tag %d, count %d\n"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st.MPI_SOURCE, st.MPI_TAG, cnt);</a:t>
              </a:r>
            </a:p>
          </p:txBody>
        </p:sp>
      </p:grpSp>
      <p:grpSp>
        <p:nvGrpSpPr>
          <p:cNvPr id="44" name="c2-table-2"/>
          <p:cNvGrpSpPr/>
          <p:nvPr/>
        </p:nvGrpSpPr>
        <p:grpSpPr>
          <a:xfrm>
            <a:off x="5815965" y="3529012"/>
            <a:ext cx="5842635" cy="1623060"/>
            <a:chOff x="5815965" y="3529012"/>
            <a:chExt cx="5842635" cy="1623060"/>
          </a:xfrm>
        </p:grpSpPr>
        <p:sp>
          <p:nvSpPr>
            <p:cNvPr id="30" name="Rectangle 30"/>
            <p:cNvSpPr/>
            <p:nvPr/>
          </p:nvSpPr>
          <p:spPr>
            <a:xfrm>
              <a:off x="5815965" y="3529012"/>
              <a:ext cx="5842635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35648" y="365331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想知道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81579" y="365331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从哪里读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15978" y="4059079"/>
              <a:ext cx="8595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发送端 rank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19098" y="4059079"/>
              <a:ext cx="11630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st.MPI_SOURCE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815965" y="433578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815965" y="4340542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15978" y="44648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消息标签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19098" y="4464844"/>
              <a:ext cx="8680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st.MPI_TAG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815965" y="47415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15978" y="487060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消息长度（元素个数）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019098" y="4870609"/>
              <a:ext cx="29391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MPI_Get_count(&amp;st, datatype, &amp;count)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815965" y="3529012"/>
              <a:ext cx="5842635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914322" y="352901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c2-callout-3"/>
          <p:cNvGrpSpPr/>
          <p:nvPr/>
        </p:nvGrpSpPr>
        <p:grpSpPr>
          <a:xfrm>
            <a:off x="5815965" y="5326380"/>
            <a:ext cx="5842635" cy="978218"/>
            <a:chOff x="5815965" y="5326380"/>
            <a:chExt cx="5842635" cy="978218"/>
          </a:xfrm>
        </p:grpSpPr>
        <p:sp>
          <p:nvSpPr>
            <p:cNvPr id="45" name="Rectangle 45"/>
            <p:cNvSpPr/>
            <p:nvPr/>
          </p:nvSpPr>
          <p:spPr>
            <a:xfrm>
              <a:off x="5815965" y="5326380"/>
              <a:ext cx="5842635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020753" y="5715953"/>
              <a:ext cx="200026" cy="200026"/>
              <a:chOff x="6020753" y="5715953"/>
              <a:chExt cx="200026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020753" y="571595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120765" y="57826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109653" y="581596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323457" y="5473065"/>
              <a:ext cx="462572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模拟运行：rank 2 发 3 个 int（tag 7），rank 3 发 5 个 int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（tag 9），0 号进程依次打出“from 3, tag 9, count 5”和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“from 2, tag 7, count 3”，先到先收。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707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264" y="407194"/>
              <a:ext cx="32193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MPI 基础与阻塞点对点通信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点到点通信的过程与四种模式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flow-1"/>
          <p:cNvGrpSpPr/>
          <p:nvPr/>
        </p:nvGrpSpPr>
        <p:grpSpPr>
          <a:xfrm>
            <a:off x="689610" y="1945005"/>
            <a:ext cx="10813732" cy="372428"/>
            <a:chOff x="689610" y="1945005"/>
            <a:chExt cx="10813732" cy="372428"/>
          </a:xfrm>
        </p:grpSpPr>
        <p:sp>
          <p:nvSpPr>
            <p:cNvPr id="7" name="Freeform 7"/>
            <p:cNvSpPr/>
            <p:nvPr/>
          </p:nvSpPr>
          <p:spPr>
            <a:xfrm>
              <a:off x="2602230" y="2131695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809875" y="20783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3340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827270" y="2131695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034915" y="20783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3340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052310" y="2131695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7259955" y="20783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3340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9277350" y="2131695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9484995" y="20783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3340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89610" y="1945005"/>
              <a:ext cx="191357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914650" y="1945005"/>
              <a:ext cx="191357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139690" y="1945005"/>
              <a:ext cx="191357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64730" y="1945005"/>
              <a:ext cx="191357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9589770" y="1945005"/>
              <a:ext cx="191357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45858" y="20574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数据发送缓冲区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82924" y="20574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消息装配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07964" y="20574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消息传递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33004" y="20574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消息拆卸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046018" y="20574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数据接收缓冲区</a:t>
              </a:r>
            </a:p>
          </p:txBody>
        </p:sp>
      </p:grpSp>
      <p:grpSp>
        <p:nvGrpSpPr>
          <p:cNvPr id="56" name="c1-table-2"/>
          <p:cNvGrpSpPr/>
          <p:nvPr/>
        </p:nvGrpSpPr>
        <p:grpSpPr>
          <a:xfrm>
            <a:off x="533400" y="2903220"/>
            <a:ext cx="11125200" cy="2101215"/>
            <a:chOff x="533400" y="2903220"/>
            <a:chExt cx="11125200" cy="2101215"/>
          </a:xfrm>
        </p:grpSpPr>
        <p:sp>
          <p:nvSpPr>
            <p:cNvPr id="26" name="Rectangle 26"/>
            <p:cNvSpPr/>
            <p:nvPr/>
          </p:nvSpPr>
          <p:spPr>
            <a:xfrm>
              <a:off x="533400" y="2903220"/>
              <a:ext cx="11125200" cy="420052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406258" y="30246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通信模式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31298" y="30246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阻塞版本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47296" y="30246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非阻塞版本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57170" y="302466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6935" y="3444716"/>
              <a:ext cx="15039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标准（Standard）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074860" y="3444716"/>
              <a:ext cx="786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MPI_Send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077016" y="3444716"/>
              <a:ext cx="8368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MPI_Isend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79170" y="3444716"/>
              <a:ext cx="19643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缓不缓冲由 MPI 实现决定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7385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3743325"/>
              <a:ext cx="11125200" cy="42005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6935" y="3864769"/>
              <a:ext cx="13049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缓冲（Buffer）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074860" y="3864769"/>
              <a:ext cx="8811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MPI_Bsend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077016" y="3864769"/>
              <a:ext cx="9315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MPI_Ibsend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79170" y="3864769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拷进用户提供的缓冲区就返回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1595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6935" y="4284821"/>
              <a:ext cx="12053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就绪（Ready）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074860" y="4284821"/>
              <a:ext cx="8811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MPI_Rsend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077016" y="4284821"/>
              <a:ext cx="9315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MPI_Irsend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79170" y="428482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接收方必须已经在等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57962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33400" y="4584382"/>
              <a:ext cx="11125200" cy="42005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6935" y="4704874"/>
              <a:ext cx="1802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同步（Synchronous）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074860" y="4704874"/>
              <a:ext cx="8811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MPI_Ssend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077016" y="4704874"/>
              <a:ext cx="9315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MPI_Issend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79170" y="470487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对方开始接收才返回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2903220"/>
              <a:ext cx="11125200" cy="2101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2976562" y="2903220"/>
              <a:ext cx="9525" cy="2101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4978718" y="2903220"/>
              <a:ext cx="9525" cy="2101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980872" y="2903220"/>
              <a:ext cx="9525" cy="2101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c1-callout-3"/>
          <p:cNvGrpSpPr/>
          <p:nvPr/>
        </p:nvGrpSpPr>
        <p:grpSpPr>
          <a:xfrm>
            <a:off x="533400" y="5169218"/>
            <a:ext cx="11125200" cy="554355"/>
            <a:chOff x="533400" y="5169218"/>
            <a:chExt cx="11125200" cy="554355"/>
          </a:xfrm>
        </p:grpSpPr>
        <p:sp>
          <p:nvSpPr>
            <p:cNvPr id="57" name="Rectangle 57"/>
            <p:cNvSpPr/>
            <p:nvPr/>
          </p:nvSpPr>
          <p:spPr>
            <a:xfrm>
              <a:off x="533400" y="5169218"/>
              <a:ext cx="11125200" cy="554355"/>
            </a:xfrm>
            <a:prstGeom prst="roundRect">
              <a:avLst>
                <a:gd name="adj" fmla="val 2061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5346383"/>
              <a:ext cx="200026" cy="200025"/>
              <a:chOff x="738188" y="5346383"/>
              <a:chExt cx="200026" cy="20002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53463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77926" y="53908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12642" y="55019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1273" y="5357336"/>
              <a:ext cx="97501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接收只有 MPI_Recv 和 MPI_Irecv 两个，能接收任何一种模式发来的消息。模式只影响发送方什么时候返回、缓冲区由谁提供。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4" name="Rectangle 6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1273" y="6039326"/>
              <a:ext cx="86458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装配就是把数据和信封打包，拆卸是按信封匹配后把数据放进接收缓冲区。四种模式的差别都在“发送何时返回”。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707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264" y="407194"/>
              <a:ext cx="32193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MPI 基础与阻塞点对点通信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阻塞通信：函数返回后，缓冲区就能放心用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316355"/>
            <a:chOff x="533400" y="1524000"/>
            <a:chExt cx="5410200" cy="1316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阻塞发送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从参数指定的位置把数据复制走之前，发送函数不会返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回。所以调用之后改数据，不会影响已经发出的消息。</a:t>
              </a:r>
            </a:p>
          </p:txBody>
        </p:sp>
      </p:grpSp>
      <p:grpSp>
        <p:nvGrpSpPr>
          <p:cNvPr id="17" name="c1-code-2"/>
          <p:cNvGrpSpPr/>
          <p:nvPr/>
        </p:nvGrpSpPr>
        <p:grpSpPr>
          <a:xfrm>
            <a:off x="533400" y="3030855"/>
            <a:ext cx="5410200" cy="1313498"/>
            <a:chOff x="533400" y="3030855"/>
            <a:chExt cx="5410200" cy="1313498"/>
          </a:xfrm>
        </p:grpSpPr>
        <p:sp>
          <p:nvSpPr>
            <p:cNvPr id="13" name="Rectangle 13"/>
            <p:cNvSpPr/>
            <p:nvPr/>
          </p:nvSpPr>
          <p:spPr>
            <a:xfrm>
              <a:off x="533400" y="3030855"/>
              <a:ext cx="5410200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318277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52450" y="4010978"/>
              <a:ext cx="537210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1035" y="3444716"/>
              <a:ext cx="3012694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send_data = 1;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MPI_Send(&amp;send_data, 1, MPI_INT, 0, 0,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MPI_COMM_WORLD);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send_data = 2;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安全：对方收到的是 1</a:t>
              </a:r>
            </a:p>
          </p:txBody>
        </p:sp>
      </p:grpSp>
      <p:grpSp>
        <p:nvGrpSpPr>
          <p:cNvPr id="24" name="c1-callout-3"/>
          <p:cNvGrpSpPr/>
          <p:nvPr/>
        </p:nvGrpSpPr>
        <p:grpSpPr>
          <a:xfrm>
            <a:off x="533400" y="4534852"/>
            <a:ext cx="5410200" cy="985838"/>
            <a:chOff x="533400" y="4534852"/>
            <a:chExt cx="5410200" cy="985838"/>
          </a:xfrm>
        </p:grpSpPr>
        <p:sp>
          <p:nvSpPr>
            <p:cNvPr id="18" name="Rectangle 18"/>
            <p:cNvSpPr/>
            <p:nvPr/>
          </p:nvSpPr>
          <p:spPr>
            <a:xfrm>
              <a:off x="533400" y="4534852"/>
              <a:ext cx="5410200" cy="985838"/>
            </a:xfrm>
            <a:prstGeom prst="roundRect">
              <a:avLst>
                <a:gd name="adj" fmla="val 1159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26129" y="4924543"/>
              <a:ext cx="224134" cy="192560"/>
              <a:chOff x="726129" y="4924543"/>
              <a:chExt cx="224134" cy="19256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38200" y="499491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26129" y="492454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38200" y="50726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130" y="4785360"/>
              <a:ext cx="45015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换成非阻塞发送又不等完成，第4行可能在数据复制走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之前执行，接收方收到 2，不合目的。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316355"/>
            <a:chOff x="6248400" y="1524000"/>
            <a:chExt cx="5410200" cy="1316355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57925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96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78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阻塞接收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88430" y="211074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收到的数据全部存进参数指定的变量之前，接收函数不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会返回。所以调用之后可以直接使用数据。</a:t>
              </a:r>
            </a:p>
          </p:txBody>
        </p:sp>
      </p:grpSp>
      <p:grpSp>
        <p:nvGrpSpPr>
          <p:cNvPr id="35" name="c2-code-2"/>
          <p:cNvGrpSpPr/>
          <p:nvPr/>
        </p:nvGrpSpPr>
        <p:grpSpPr>
          <a:xfrm>
            <a:off x="6248400" y="3030855"/>
            <a:ext cx="5410200" cy="1516380"/>
            <a:chOff x="6248400" y="3030855"/>
            <a:chExt cx="5410200" cy="1516380"/>
          </a:xfrm>
        </p:grpSpPr>
        <p:sp>
          <p:nvSpPr>
            <p:cNvPr id="31" name="Rectangle 31"/>
            <p:cNvSpPr/>
            <p:nvPr/>
          </p:nvSpPr>
          <p:spPr>
            <a:xfrm>
              <a:off x="6248400" y="3030855"/>
              <a:ext cx="5410200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76797" y="318277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67450" y="4213860"/>
              <a:ext cx="537210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76035" y="3444716"/>
              <a:ext cx="3418078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recv_data = 1;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MPI_Recv(&amp;recv_data, 1, MPI_INT,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MPI_ANY_SOURCE, 0, MPI_COMM_WORLD,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MPI_STATUS_IGNORE);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printf(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"%d"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recv_data);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安全：是收到的值</a:t>
              </a:r>
            </a:p>
          </p:txBody>
        </p:sp>
      </p:grpSp>
      <p:grpSp>
        <p:nvGrpSpPr>
          <p:cNvPr id="42" name="c2-callout-3"/>
          <p:cNvGrpSpPr/>
          <p:nvPr/>
        </p:nvGrpSpPr>
        <p:grpSpPr>
          <a:xfrm>
            <a:off x="6248400" y="4737735"/>
            <a:ext cx="5410200" cy="782955"/>
            <a:chOff x="6248400" y="4737735"/>
            <a:chExt cx="5410200" cy="782955"/>
          </a:xfrm>
        </p:grpSpPr>
        <p:sp>
          <p:nvSpPr>
            <p:cNvPr id="36" name="Rectangle 36"/>
            <p:cNvSpPr/>
            <p:nvPr/>
          </p:nvSpPr>
          <p:spPr>
            <a:xfrm>
              <a:off x="6248400" y="473773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441129" y="5025508"/>
              <a:ext cx="224134" cy="192560"/>
              <a:chOff x="6441129" y="5025508"/>
              <a:chExt cx="224134" cy="19256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553200" y="509587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441129" y="502550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553200" y="5173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755130" y="4886325"/>
              <a:ext cx="42729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换成非阻塞接收又不等完成，printf 可能打出旧值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1，而不是实际收到的值。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35646" cy="909257"/>
            <a:chOff x="520446" y="342900"/>
            <a:chExt cx="513564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707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264" y="407194"/>
              <a:ext cx="32193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MPI 基础与阻塞点对点通信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356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例：0 号进程把 −1 发给 1 号进程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276022" cy="3342322"/>
            <a:chOff x="533400" y="1524000"/>
            <a:chExt cx="6276022" cy="33423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3342322"/>
            </a:xfrm>
            <a:prstGeom prst="roundRect">
              <a:avLst>
                <a:gd name="adj" fmla="val 285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3756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send_recv.c（主体）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112770"/>
              <a:ext cx="6237922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721418"/>
              <a:ext cx="6237922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035" y="1937861"/>
              <a:ext cx="3766566" cy="2857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world_rank, world_size;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MPI_Comm_rank(MPI_COMM_WORLD, &amp;world_rank);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MPI_Comm_size(MPI_COMM_WORLD, &amp;world_size);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number;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(world_rank == 0)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number = -1;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MPI_Send(&amp;number, 1, MPI_INT, 1, 0,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MPI_COMM_WORLD);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(world_rank == 1)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MPI_Recv(&amp;number, 1, MPI_INT, 0, 0,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MPI_COMM_WORLD, MPI_STATUS_IGNORE);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printf(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"Process 1 received number %d "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"from process 0\n"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number);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0" name="c2-steps-1"/>
          <p:cNvGrpSpPr/>
          <p:nvPr/>
        </p:nvGrpSpPr>
        <p:grpSpPr>
          <a:xfrm>
            <a:off x="7114222" y="1533525"/>
            <a:ext cx="3475529" cy="2529173"/>
            <a:chOff x="7114222" y="1533525"/>
            <a:chExt cx="3475529" cy="2529173"/>
          </a:xfrm>
        </p:grpSpPr>
        <p:sp>
          <p:nvSpPr>
            <p:cNvPr id="13" name="Rectangle 13"/>
            <p:cNvSpPr/>
            <p:nvPr/>
          </p:nvSpPr>
          <p:spPr>
            <a:xfrm>
              <a:off x="7247572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114222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0784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114222" y="218408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07846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114222" y="283464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07846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114222" y="348615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207846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25702" y="15678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先问自己是谁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26846" y="1861661"/>
              <a:ext cx="29078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每个进程取得自己的 rank 和进程总数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25702" y="2218372"/>
              <a:ext cx="8012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号进程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26846" y="2512219"/>
              <a:ext cx="30284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number 设为 −1，发给 1 号，标签 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25702" y="2868930"/>
              <a:ext cx="8012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号进程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26846" y="3162776"/>
              <a:ext cx="30629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0 号接收一个 int，标签 0，然后打印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25702" y="35204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其余进程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26846" y="381333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两个分支都不进，直接结束</a:t>
              </a:r>
            </a:p>
          </p:txBody>
        </p:sp>
      </p:grpSp>
      <p:grpSp>
        <p:nvGrpSpPr>
          <p:cNvPr id="34" name="c2-code-2"/>
          <p:cNvGrpSpPr/>
          <p:nvPr/>
        </p:nvGrpSpPr>
        <p:grpSpPr>
          <a:xfrm>
            <a:off x="7114222" y="4241482"/>
            <a:ext cx="4544378" cy="907732"/>
            <a:chOff x="7114222" y="4241482"/>
            <a:chExt cx="4544378" cy="907732"/>
          </a:xfrm>
        </p:grpSpPr>
        <p:sp>
          <p:nvSpPr>
            <p:cNvPr id="31" name="Rectangle 31"/>
            <p:cNvSpPr/>
            <p:nvPr/>
          </p:nvSpPr>
          <p:spPr>
            <a:xfrm>
              <a:off x="7114222" y="4241482"/>
              <a:ext cx="4544378" cy="907732"/>
            </a:xfrm>
            <a:prstGeom prst="roundRect">
              <a:avLst>
                <a:gd name="adj" fmla="val 104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242620" y="4393406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运行与输出（模拟运行）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41858" y="4655344"/>
              <a:ext cx="3375406" cy="422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mpirun -np 2 ./send_recv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Process 1 received number -1 from process 0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5" name="Rectangle 3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130" y="5991225"/>
              <a:ext cx="94049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收发双方的标签、通信器必须对上：0 号写 dest=1、tag=0，1 号就得写 source=0、tag=0（或通配）。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707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264" y="407194"/>
              <a:ext cx="32193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MPI 基础与阻塞点对点通信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例：令牌沿进程环传一圈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6276022" cy="3576638"/>
            <a:chOff x="533400" y="1524000"/>
            <a:chExt cx="6276022" cy="35766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3576638"/>
            </a:xfrm>
            <a:prstGeom prst="roundRect">
              <a:avLst>
                <a:gd name="adj" fmla="val 266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601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ring.c（主体）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434715"/>
              <a:ext cx="6237922" cy="1704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949" y="1936337"/>
              <a:ext cx="3949141" cy="30832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token;</a:t>
              </a:r>
              <a:br/>
              <a:r>
                <a:rPr lang="en-US" sz="94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(world_rank != 0)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MPI_Recv(&amp;token, 1, MPI_INT, world_rank - 1, 0,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MPI_COMM_WORLD, MPI_STATUS_IGNORE);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printf(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"Process %d received token %d from process %d\n"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world_rank, token, world_rank - 1);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94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token = -1;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0 号进程设定令牌的值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MPI_Send(&amp;token, 1, MPI_INT, (world_rank + 1) % world_size,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0, MPI_COMM_WORLD);</a:t>
              </a:r>
              <a:br/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0 号进程最后从末尾进程收回令牌</a:t>
              </a:r>
              <a:br/>
              <a:r>
                <a:rPr lang="en-US" sz="94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(world_rank == 0)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MPI_Recv(&amp;token, 1, MPI_INT, world_size - 1, 0,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MPI_COMM_WORLD, MPI_STATUS_IGNORE);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printf(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"Process %d received token %d from process %d\n"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world_rank, token, world_size - 1);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1-callout-2"/>
          <p:cNvGrpSpPr/>
          <p:nvPr/>
        </p:nvGrpSpPr>
        <p:grpSpPr>
          <a:xfrm>
            <a:off x="533400" y="5286375"/>
            <a:ext cx="6276022" cy="1018222"/>
            <a:chOff x="533400" y="5286375"/>
            <a:chExt cx="6276022" cy="1018222"/>
          </a:xfrm>
        </p:grpSpPr>
        <p:sp>
          <p:nvSpPr>
            <p:cNvPr id="12" name="Rectangle 12"/>
            <p:cNvSpPr/>
            <p:nvPr/>
          </p:nvSpPr>
          <p:spPr>
            <a:xfrm>
              <a:off x="533400" y="5286375"/>
              <a:ext cx="6276022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38188" y="5695950"/>
              <a:ext cx="200026" cy="200025"/>
              <a:chOff x="738188" y="5695950"/>
              <a:chExt cx="200026" cy="20002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38188" y="56959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77926" y="57404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12642" y="58515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40511" y="5433536"/>
              <a:ext cx="5316474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(world_rank + 1) % world_size 让末尾的 4 号发给 0 号，环就闭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合了。令牌一站一站往下传，各进程打印的先后也就被令牌定住了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（输出经 mpirun 转发，偶尔仍可能错位）。</a:t>
              </a:r>
            </a:p>
          </p:txBody>
        </p:sp>
      </p:grpSp>
      <p:grpSp>
        <p:nvGrpSpPr>
          <p:cNvPr id="39" name="c2-graph-1"/>
          <p:cNvGrpSpPr/>
          <p:nvPr/>
        </p:nvGrpSpPr>
        <p:grpSpPr>
          <a:xfrm>
            <a:off x="7598092" y="1582102"/>
            <a:ext cx="3576638" cy="1646301"/>
            <a:chOff x="7598092" y="1582102"/>
            <a:chExt cx="3576638" cy="1646301"/>
          </a:xfrm>
        </p:grpSpPr>
        <p:sp>
          <p:nvSpPr>
            <p:cNvPr id="19" name="Freeform 19"/>
            <p:cNvSpPr/>
            <p:nvPr/>
          </p:nvSpPr>
          <p:spPr>
            <a:xfrm>
              <a:off x="9541192" y="1781175"/>
              <a:ext cx="1234440" cy="371475"/>
            </a:xfrm>
            <a:custGeom>
              <a:avLst/>
              <a:gdLst/>
              <a:ahLst/>
              <a:cxnLst/>
              <a:rect l="l" t="t" r="r" b="b"/>
              <a:pathLst>
                <a:path w="1234440" h="371475">
                  <a:moveTo>
                    <a:pt x="0" y="0"/>
                  </a:moveTo>
                  <a:lnTo>
                    <a:pt x="1234440" y="3714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0762298" y="2106930"/>
              <a:ext cx="104775" cy="90488"/>
            </a:xfrm>
            <a:custGeom>
              <a:avLst/>
              <a:gdLst/>
              <a:ahLst/>
              <a:cxnLst/>
              <a:rect l="l" t="t" r="r" b="b"/>
              <a:pathLst>
                <a:path w="104775" h="90488">
                  <a:moveTo>
                    <a:pt x="104775" y="72390"/>
                  </a:moveTo>
                  <a:lnTo>
                    <a:pt x="0" y="90488"/>
                  </a:lnTo>
                  <a:lnTo>
                    <a:pt x="2762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0541318" y="2355532"/>
              <a:ext cx="383857" cy="507683"/>
            </a:xfrm>
            <a:custGeom>
              <a:avLst/>
              <a:gdLst/>
              <a:ahLst/>
              <a:cxnLst/>
              <a:rect l="l" t="t" r="r" b="b"/>
              <a:pathLst>
                <a:path w="383857" h="507683">
                  <a:moveTo>
                    <a:pt x="383857" y="0"/>
                  </a:moveTo>
                  <a:lnTo>
                    <a:pt x="0" y="50768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0484168" y="2834640"/>
              <a:ext cx="95250" cy="104775"/>
            </a:xfrm>
            <a:custGeom>
              <a:avLst/>
              <a:gdLst/>
              <a:ahLst/>
              <a:cxnLst/>
              <a:rect l="l" t="t" r="r" b="b"/>
              <a:pathLst>
                <a:path w="95250" h="104775">
                  <a:moveTo>
                    <a:pt x="0" y="104775"/>
                  </a:moveTo>
                  <a:lnTo>
                    <a:pt x="19050" y="0"/>
                  </a:lnTo>
                  <a:lnTo>
                    <a:pt x="95250" y="571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8643938" y="3068955"/>
              <a:ext cx="1580198" cy="9525"/>
            </a:xfrm>
            <a:custGeom>
              <a:avLst/>
              <a:gdLst/>
              <a:ahLst/>
              <a:cxnLst/>
              <a:rect l="l" t="t" r="r" b="b"/>
              <a:pathLst>
                <a:path w="1580198" h="9525">
                  <a:moveTo>
                    <a:pt x="1580198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8548688" y="30213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7904798" y="2431732"/>
              <a:ext cx="383858" cy="507683"/>
            </a:xfrm>
            <a:custGeom>
              <a:avLst/>
              <a:gdLst/>
              <a:ahLst/>
              <a:cxnLst/>
              <a:rect l="l" t="t" r="r" b="b"/>
              <a:pathLst>
                <a:path w="383858" h="507683">
                  <a:moveTo>
                    <a:pt x="383858" y="50768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847648" y="2355532"/>
              <a:ext cx="95250" cy="104775"/>
            </a:xfrm>
            <a:custGeom>
              <a:avLst/>
              <a:gdLst/>
              <a:ahLst/>
              <a:cxnLst/>
              <a:rect l="l" t="t" r="r" b="b"/>
              <a:pathLst>
                <a:path w="95250" h="104775">
                  <a:moveTo>
                    <a:pt x="0" y="0"/>
                  </a:moveTo>
                  <a:lnTo>
                    <a:pt x="95250" y="47625"/>
                  </a:lnTo>
                  <a:lnTo>
                    <a:pt x="20003" y="10477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7905750" y="1808798"/>
              <a:ext cx="1234440" cy="370523"/>
            </a:xfrm>
            <a:custGeom>
              <a:avLst/>
              <a:gdLst/>
              <a:ahLst/>
              <a:cxnLst/>
              <a:rect l="l" t="t" r="r" b="b"/>
              <a:pathLst>
                <a:path w="1234440" h="370523">
                  <a:moveTo>
                    <a:pt x="0" y="370523"/>
                  </a:moveTo>
                  <a:lnTo>
                    <a:pt x="12344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9125902" y="1763078"/>
              <a:ext cx="105728" cy="91440"/>
            </a:xfrm>
            <a:custGeom>
              <a:avLst/>
              <a:gdLst/>
              <a:ahLst/>
              <a:cxnLst/>
              <a:rect l="l" t="t" r="r" b="b"/>
              <a:pathLst>
                <a:path w="105728" h="91440">
                  <a:moveTo>
                    <a:pt x="105728" y="18098"/>
                  </a:moveTo>
                  <a:lnTo>
                    <a:pt x="27622" y="914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9233535" y="1582102"/>
              <a:ext cx="304800" cy="304800"/>
            </a:xfrm>
            <a:prstGeom prst="ellipse">
              <a:avLst/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10869930" y="207359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10233660" y="291655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234362" y="291655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7598092" y="207359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333193" y="166020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969588" y="215169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33318" y="299370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34021" y="299370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97751" y="215169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43" name="c2-code-2"/>
          <p:cNvGrpSpPr/>
          <p:nvPr/>
        </p:nvGrpSpPr>
        <p:grpSpPr>
          <a:xfrm>
            <a:off x="7114222" y="3465195"/>
            <a:ext cx="4544378" cy="1516380"/>
            <a:chOff x="7114222" y="3465195"/>
            <a:chExt cx="4544378" cy="1516380"/>
          </a:xfrm>
        </p:grpSpPr>
        <p:sp>
          <p:nvSpPr>
            <p:cNvPr id="40" name="Rectangle 40"/>
            <p:cNvSpPr/>
            <p:nvPr/>
          </p:nvSpPr>
          <p:spPr>
            <a:xfrm>
              <a:off x="7114222" y="3465195"/>
              <a:ext cx="4544378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242620" y="3617119"/>
              <a:ext cx="20768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mpirun -np 5 的输出（模拟运行）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41858" y="3879056"/>
              <a:ext cx="3297174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Process 1 received token -1 from process 0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Process 2 received token -1 from process 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Process 3 received token -1 from process 2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Process 4 received token -1 from process 3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Process 0 received token -1 from process 4</a:t>
              </a:r>
            </a:p>
          </p:txBody>
        </p:sp>
      </p:grpSp>
      <p:grpSp>
        <p:nvGrpSpPr>
          <p:cNvPr id="49" name="c2-callout-3"/>
          <p:cNvGrpSpPr/>
          <p:nvPr/>
        </p:nvGrpSpPr>
        <p:grpSpPr>
          <a:xfrm>
            <a:off x="7114222" y="5166360"/>
            <a:ext cx="4544378" cy="1138238"/>
            <a:chOff x="7114222" y="5166360"/>
            <a:chExt cx="4544378" cy="1138238"/>
          </a:xfrm>
        </p:grpSpPr>
        <p:sp>
          <p:nvSpPr>
            <p:cNvPr id="44" name="Rectangle 44"/>
            <p:cNvSpPr/>
            <p:nvPr/>
          </p:nvSpPr>
          <p:spPr>
            <a:xfrm>
              <a:off x="7114222" y="5166360"/>
              <a:ext cx="4544378" cy="1138238"/>
            </a:xfrm>
            <a:prstGeom prst="roundRect">
              <a:avLst>
                <a:gd name="adj" fmla="val 1004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19010" y="5635945"/>
              <a:ext cx="200023" cy="200023"/>
              <a:chOff x="7319010" y="5635945"/>
              <a:chExt cx="200023" cy="20002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19010" y="563594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452360" y="57026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7621334" y="5373529"/>
              <a:ext cx="3612261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 号先发后收，其余先收后发。若 0 号也先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收，所有进程都卡在 MPI_Recv 上，谁也等不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到消息。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023991" cy="3351847"/>
            <a:chOff x="667512" y="1835468"/>
            <a:chExt cx="6023991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通信模式与非阻塞通信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014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发送什么时候返回，决定了程序会不会死锁、能不能边算边传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48110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原课件第40–51页：四种点对点通信模式与非阻塞通信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同步、缓冲、标准、就绪的返回时机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死锁与通信开销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4767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Isend/Irecv 与 Wait/Test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通信模式与非阻塞通信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四种点对点通信模式：差别在缓冲管理和同步方式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table-1"/>
          <p:cNvGrpSpPr/>
          <p:nvPr/>
        </p:nvGrpSpPr>
        <p:grpSpPr>
          <a:xfrm>
            <a:off x="533400" y="1524000"/>
            <a:ext cx="11125200" cy="3183256"/>
            <a:chOff x="533400" y="1524000"/>
            <a:chExt cx="11125200" cy="318325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68484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5820" y="17716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68830" y="17716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函数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178302" y="1651635"/>
              <a:ext cx="13853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890"/>
                </a:lnSpc>
              </a:pPr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接收启动前能否开</a:t>
              </a:r>
              <a:br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始发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55374" y="17716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发送何时返回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53019" y="177165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缓冲区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155174" y="177165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要当心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2270" y="245649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33347" y="2456498"/>
              <a:ext cx="8298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MPI_Send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80194" y="245649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59464" y="2336482"/>
              <a:ext cx="22425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由实现决定：缓冲了就立即返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回，否则等匹配的接收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52207" y="2456498"/>
              <a:ext cx="7420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 系统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09544" y="2336482"/>
              <a:ext cx="20711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大消息时可能像同步模式一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8889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893695"/>
              <a:ext cx="11125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2270" y="302133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33347" y="3021330"/>
              <a:ext cx="9294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MPI_Ssend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80194" y="3021330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59464" y="302133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匹配的接收已经开始，才返回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52207" y="302133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不需要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309544" y="302133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双方都先发会死锁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3327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2270" y="358616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33347" y="3586162"/>
              <a:ext cx="9294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MPI_Bsend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80194" y="3586162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59464" y="3466148"/>
              <a:ext cx="24140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数据拷进用户缓冲区就返回，不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管接收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52207" y="3466148"/>
              <a:ext cx="6995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用户事先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attach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09544" y="358616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缓冲区不够时出错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01764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4022408"/>
              <a:ext cx="11125200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2270" y="427101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633347" y="4271010"/>
              <a:ext cx="9294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MPI_Rsend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080194" y="427101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不能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59464" y="427101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同标准模式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52207" y="427101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不需要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09544" y="4150995"/>
              <a:ext cx="20711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接收还没启动就发，是程序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错误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1524000"/>
              <a:ext cx="11125200" cy="31832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529715" y="1524000"/>
              <a:ext cx="9525" cy="3183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2976562" y="1524000"/>
              <a:ext cx="9525" cy="3183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4755832" y="1524000"/>
              <a:ext cx="9525" cy="3183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648575" y="1524000"/>
              <a:ext cx="9525" cy="3183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205912" y="1524000"/>
              <a:ext cx="9525" cy="3183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1-code-2"/>
          <p:cNvGrpSpPr/>
          <p:nvPr/>
        </p:nvGrpSpPr>
        <p:grpSpPr>
          <a:xfrm>
            <a:off x="533400" y="4882515"/>
            <a:ext cx="11125200" cy="693420"/>
            <a:chOff x="533400" y="4882515"/>
            <a:chExt cx="11125200" cy="693420"/>
          </a:xfrm>
        </p:grpSpPr>
        <p:sp>
          <p:nvSpPr>
            <p:cNvPr id="50" name="Rectangle 50"/>
            <p:cNvSpPr/>
            <p:nvPr/>
          </p:nvSpPr>
          <p:spPr>
            <a:xfrm>
              <a:off x="533400" y="4882515"/>
              <a:ext cx="11125200" cy="693420"/>
            </a:xfrm>
            <a:prstGeom prst="roundRect">
              <a:avLst>
                <a:gd name="adj" fmla="val 1373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1797" y="5034439"/>
              <a:ext cx="59882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四个函数的参数表完全相同，只有名字不同（MPI_Send / MPI_Ssend / MPI_Bsend / MPI_Rsend）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1416" y="5295900"/>
              <a:ext cx="77037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MPI_Send(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const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*buf,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count, MPI_Datatype datatype,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dest,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tag, MPI_Comm comm);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4" name="Rectangle 5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892" y="6023610"/>
              <a:ext cx="103591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通信模式（Communication Mode）指缓冲管理，以及发送方与接收方之间的同步方式。前两部分用的 MPI_Send 就是标准模式。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89046" cy="909257"/>
            <a:chOff x="520446" y="342900"/>
            <a:chExt cx="778904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通信模式与非阻塞通信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890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同步通信 MPI_Ssend：对方开始接收，发送才返回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923" y="1545431"/>
            <a:ext cx="4974935" cy="249364"/>
            <a:chOff x="526923" y="1545431"/>
            <a:chExt cx="4974935" cy="249364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49749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情形一：发送先到（S 为发送方，R 为接收方，每格一个时间段）</a:t>
              </a:r>
            </a:p>
          </p:txBody>
        </p:sp>
      </p:grpSp>
      <p:grpSp>
        <p:nvGrpSpPr>
          <p:cNvPr id="31" name="c1-cells-2"/>
          <p:cNvGrpSpPr/>
          <p:nvPr/>
        </p:nvGrpSpPr>
        <p:grpSpPr>
          <a:xfrm>
            <a:off x="528066" y="1934528"/>
            <a:ext cx="5848922" cy="1009650"/>
            <a:chOff x="528066" y="1934528"/>
            <a:chExt cx="5848922" cy="1009650"/>
          </a:xfrm>
        </p:grpSpPr>
        <p:sp>
          <p:nvSpPr>
            <p:cNvPr id="9" name="TextBox 9"/>
            <p:cNvSpPr txBox="1"/>
            <p:nvPr/>
          </p:nvSpPr>
          <p:spPr>
            <a:xfrm>
              <a:off x="528066" y="2079307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43902" y="1934528"/>
              <a:ext cx="1126808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1244" y="2079307"/>
              <a:ext cx="7511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 Ssend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870710" y="1934528"/>
              <a:ext cx="1126808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286952" y="207930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996565" y="1934528"/>
              <a:ext cx="1126808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413760" y="207930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123372" y="1934528"/>
              <a:ext cx="112680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468940" y="207930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传数据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250180" y="1934528"/>
              <a:ext cx="112680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666422" y="207930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返回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8066" y="266985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43902" y="2525078"/>
              <a:ext cx="11268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60145" y="266985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870710" y="2525078"/>
              <a:ext cx="11268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286952" y="266985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996565" y="2525078"/>
              <a:ext cx="1126808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225611" y="2669858"/>
              <a:ext cx="669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 Recv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123372" y="2525078"/>
              <a:ext cx="112680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468940" y="266985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收数据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250180" y="2525078"/>
              <a:ext cx="112680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666422" y="266985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返回</a:t>
              </a:r>
            </a:p>
          </p:txBody>
        </p:sp>
      </p:grpSp>
      <p:grpSp>
        <p:nvGrpSpPr>
          <p:cNvPr id="33" name="c1-text-3"/>
          <p:cNvGrpSpPr/>
          <p:nvPr/>
        </p:nvGrpSpPr>
        <p:grpSpPr>
          <a:xfrm>
            <a:off x="526923" y="3156109"/>
            <a:ext cx="1391463" cy="249364"/>
            <a:chOff x="526923" y="3156109"/>
            <a:chExt cx="1391463" cy="249364"/>
          </a:xfrm>
        </p:grpSpPr>
        <p:sp>
          <p:nvSpPr>
            <p:cNvPr id="32" name="TextBox 32"/>
            <p:cNvSpPr txBox="1"/>
            <p:nvPr/>
          </p:nvSpPr>
          <p:spPr>
            <a:xfrm>
              <a:off x="526923" y="315610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情形二：接收先到</a:t>
              </a:r>
            </a:p>
          </p:txBody>
        </p:sp>
      </p:grpSp>
      <p:grpSp>
        <p:nvGrpSpPr>
          <p:cNvPr id="56" name="c1-cells-4"/>
          <p:cNvGrpSpPr/>
          <p:nvPr/>
        </p:nvGrpSpPr>
        <p:grpSpPr>
          <a:xfrm>
            <a:off x="528066" y="3545205"/>
            <a:ext cx="5848922" cy="1009650"/>
            <a:chOff x="528066" y="3545205"/>
            <a:chExt cx="5848922" cy="1009650"/>
          </a:xfrm>
        </p:grpSpPr>
        <p:sp>
          <p:nvSpPr>
            <p:cNvPr id="34" name="TextBox 34"/>
            <p:cNvSpPr txBox="1"/>
            <p:nvPr/>
          </p:nvSpPr>
          <p:spPr>
            <a:xfrm>
              <a:off x="528066" y="368998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43902" y="3545205"/>
              <a:ext cx="11268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60145" y="368998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870710" y="3545205"/>
              <a:ext cx="112680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286952" y="368998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996565" y="3545205"/>
              <a:ext cx="1126808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184859" y="3689985"/>
              <a:ext cx="7511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 Ssend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123372" y="3545205"/>
              <a:ext cx="112680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468940" y="368998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传数据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250180" y="3545205"/>
              <a:ext cx="112680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666422" y="368998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返回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28066" y="428053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43902" y="4135755"/>
              <a:ext cx="1126808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71996" y="4280535"/>
              <a:ext cx="669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 Recv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870710" y="4135755"/>
              <a:ext cx="1126808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286952" y="42805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996565" y="4135755"/>
              <a:ext cx="1126808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413760" y="42805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123372" y="4135755"/>
              <a:ext cx="112680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468940" y="428053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收数据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250180" y="4135755"/>
              <a:ext cx="112680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666422" y="42805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返回</a:t>
              </a:r>
            </a:p>
          </p:txBody>
        </p:sp>
      </p:grpSp>
      <p:grpSp>
        <p:nvGrpSpPr>
          <p:cNvPr id="63" name="c1-callout-5"/>
          <p:cNvGrpSpPr/>
          <p:nvPr/>
        </p:nvGrpSpPr>
        <p:grpSpPr>
          <a:xfrm>
            <a:off x="533400" y="4745355"/>
            <a:ext cx="5842635" cy="1316355"/>
            <a:chOff x="533400" y="4745355"/>
            <a:chExt cx="5842635" cy="1316355"/>
          </a:xfrm>
        </p:grpSpPr>
        <p:sp>
          <p:nvSpPr>
            <p:cNvPr id="57" name="Rectangle 57"/>
            <p:cNvSpPr/>
            <p:nvPr/>
          </p:nvSpPr>
          <p:spPr>
            <a:xfrm>
              <a:off x="533400" y="4745355"/>
              <a:ext cx="5842635" cy="1316355"/>
            </a:xfrm>
            <a:prstGeom prst="roundRect">
              <a:avLst>
                <a:gd name="adj" fmla="val 868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5303520"/>
              <a:ext cx="200026" cy="200025"/>
              <a:chOff x="738188" y="5303520"/>
              <a:chExt cx="200026" cy="20002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530352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77926" y="534797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12642" y="545909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130" y="5160645"/>
              <a:ext cx="47872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两种情形里先到的一方都要等。Ssend 返回就说明对方已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经在收，相当于附带了一次握手。</a:t>
              </a:r>
            </a:p>
          </p:txBody>
        </p:sp>
      </p:grpSp>
      <p:grpSp>
        <p:nvGrpSpPr>
          <p:cNvPr id="74" name="c2-card-1"/>
          <p:cNvGrpSpPr/>
          <p:nvPr/>
        </p:nvGrpSpPr>
        <p:grpSpPr>
          <a:xfrm>
            <a:off x="6680835" y="1524000"/>
            <a:ext cx="4977765" cy="1986915"/>
            <a:chOff x="6680835" y="1524000"/>
            <a:chExt cx="4977765" cy="1986915"/>
          </a:xfrm>
        </p:grpSpPr>
        <p:sp>
          <p:nvSpPr>
            <p:cNvPr id="64" name="Rectangle 64"/>
            <p:cNvSpPr/>
            <p:nvPr/>
          </p:nvSpPr>
          <p:spPr>
            <a:xfrm>
              <a:off x="6680835" y="1524000"/>
              <a:ext cx="4977765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690360" y="1657350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92848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019646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语义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934200" y="21736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092315" y="211074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不管接收方是否已启动，发送都可以开始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6934200" y="250888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092315" y="244602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只有相应的接收已经启动，发送才正确返回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6934200" y="28441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092315" y="278130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返回后，发送缓冲区中的数据已全部被系统接走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并开始发送，缓冲区可以释放或重新使用</a:t>
              </a:r>
            </a:p>
          </p:txBody>
        </p:sp>
      </p:grpSp>
      <p:grpSp>
        <p:nvGrpSpPr>
          <p:cNvPr id="78" name="c2-code-2"/>
          <p:cNvGrpSpPr/>
          <p:nvPr/>
        </p:nvGrpSpPr>
        <p:grpSpPr>
          <a:xfrm>
            <a:off x="6680835" y="3701415"/>
            <a:ext cx="4977765" cy="1110615"/>
            <a:chOff x="6680835" y="3701415"/>
            <a:chExt cx="4977765" cy="1110615"/>
          </a:xfrm>
        </p:grpSpPr>
        <p:sp>
          <p:nvSpPr>
            <p:cNvPr id="75" name="Rectangle 75"/>
            <p:cNvSpPr/>
            <p:nvPr/>
          </p:nvSpPr>
          <p:spPr>
            <a:xfrm>
              <a:off x="6680835" y="3701415"/>
              <a:ext cx="4977765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809232" y="385333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808470" y="4116229"/>
              <a:ext cx="3218942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MPI_Ssend(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const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*buf,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count,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MPI_Datatype datatype,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dest,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tag, MPI_Comm comm);</a:t>
              </a:r>
            </a:p>
          </p:txBody>
        </p:sp>
      </p:grpSp>
      <p:grpSp>
        <p:nvGrpSpPr>
          <p:cNvPr id="84" name="c2-callout-3"/>
          <p:cNvGrpSpPr/>
          <p:nvPr/>
        </p:nvGrpSpPr>
        <p:grpSpPr>
          <a:xfrm>
            <a:off x="6680835" y="5002530"/>
            <a:ext cx="4977765" cy="1059180"/>
            <a:chOff x="6680835" y="5002530"/>
            <a:chExt cx="4977765" cy="1059180"/>
          </a:xfrm>
        </p:grpSpPr>
        <p:sp>
          <p:nvSpPr>
            <p:cNvPr id="79" name="Rectangle 79"/>
            <p:cNvSpPr/>
            <p:nvPr/>
          </p:nvSpPr>
          <p:spPr>
            <a:xfrm>
              <a:off x="6680835" y="5002530"/>
              <a:ext cx="4977765" cy="1059180"/>
            </a:xfrm>
            <a:prstGeom prst="roundRect">
              <a:avLst>
                <a:gd name="adj" fmla="val 10791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6885623" y="5432110"/>
              <a:ext cx="200023" cy="200023"/>
              <a:chOff x="6885623" y="5432110"/>
              <a:chExt cx="200023" cy="200023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6885623" y="54321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7018973" y="54987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7187565" y="5151120"/>
              <a:ext cx="40443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调试时把 MPI_Send 全换成 MPI_Ssend，能提前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暴露“靠系统缓冲才没死锁”的写法（见第29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页）。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75608" cy="909257"/>
            <a:chOff x="520446" y="342900"/>
            <a:chExt cx="84756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通信模式与非阻塞通信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756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缓冲通信 MPI_Bsend：用户自备缓冲区，拷进去就返回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8066" y="1541145"/>
            <a:ext cx="1565529" cy="205359"/>
            <a:chOff x="528066" y="1541145"/>
            <a:chExt cx="1565529" cy="205359"/>
          </a:xfrm>
        </p:grpSpPr>
        <p:sp>
          <p:nvSpPr>
            <p:cNvPr id="7" name="TextBox 7"/>
            <p:cNvSpPr txBox="1"/>
            <p:nvPr/>
          </p:nvSpPr>
          <p:spPr>
            <a:xfrm>
              <a:off x="528066" y="1541145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时序（每格一个时间段）</a:t>
              </a:r>
            </a:p>
          </p:txBody>
        </p:sp>
      </p:grpSp>
      <p:grpSp>
        <p:nvGrpSpPr>
          <p:cNvPr id="40" name="c1-cells-2"/>
          <p:cNvGrpSpPr/>
          <p:nvPr/>
        </p:nvGrpSpPr>
        <p:grpSpPr>
          <a:xfrm>
            <a:off x="528638" y="1869758"/>
            <a:ext cx="5414962" cy="1360169"/>
            <a:chOff x="528638" y="1869758"/>
            <a:chExt cx="5414962" cy="1360169"/>
          </a:xfrm>
        </p:grpSpPr>
        <p:sp>
          <p:nvSpPr>
            <p:cNvPr id="9" name="TextBox 9"/>
            <p:cNvSpPr txBox="1"/>
            <p:nvPr/>
          </p:nvSpPr>
          <p:spPr>
            <a:xfrm>
              <a:off x="528638" y="199263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09650" y="1869758"/>
              <a:ext cx="986790" cy="356235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80924" y="1992630"/>
              <a:ext cx="6442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 Bsend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996440" y="1869758"/>
              <a:ext cx="98679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242756" y="199263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拷进缓冲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983230" y="1869758"/>
              <a:ext cx="98679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350704" y="199263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返回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970020" y="1869758"/>
              <a:ext cx="986790" cy="356235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216336" y="199263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继续计算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956810" y="1869758"/>
              <a:ext cx="986790" cy="356235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03126" y="199263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继续计算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8638" y="2494598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缓冲区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009650" y="2371725"/>
              <a:ext cx="986790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996440" y="2371725"/>
              <a:ext cx="986790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242756" y="2494598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存着数据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983230" y="2371725"/>
              <a:ext cx="986790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229546" y="2494598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存着数据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970020" y="2371725"/>
              <a:ext cx="98679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337494" y="249459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发出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956810" y="2371725"/>
              <a:ext cx="986790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8638" y="299656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09650" y="2873692"/>
              <a:ext cx="98679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377125" y="299656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996440" y="2873692"/>
              <a:ext cx="98679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363914" y="299656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983230" y="2873692"/>
              <a:ext cx="98679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350704" y="299656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970020" y="2873692"/>
              <a:ext cx="986790" cy="356235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176224" y="2996565"/>
              <a:ext cx="5743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 Recv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956810" y="2873692"/>
              <a:ext cx="98679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324284" y="299656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收到</a:t>
              </a:r>
            </a:p>
          </p:txBody>
        </p:sp>
      </p:grpSp>
      <p:grpSp>
        <p:nvGrpSpPr>
          <p:cNvPr id="46" name="c1-card-3"/>
          <p:cNvGrpSpPr/>
          <p:nvPr/>
        </p:nvGrpSpPr>
        <p:grpSpPr>
          <a:xfrm>
            <a:off x="533400" y="3394710"/>
            <a:ext cx="5410200" cy="1386840"/>
            <a:chOff x="533400" y="3394710"/>
            <a:chExt cx="5410200" cy="1386840"/>
          </a:xfrm>
        </p:grpSpPr>
        <p:sp>
          <p:nvSpPr>
            <p:cNvPr id="41" name="Rectangle 41"/>
            <p:cNvSpPr/>
            <p:nvPr/>
          </p:nvSpPr>
          <p:spPr>
            <a:xfrm>
              <a:off x="533400" y="3394710"/>
              <a:ext cx="5410200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42925" y="3528060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52475" y="357568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45147" y="360854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语义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5998" y="3916204"/>
              <a:ext cx="47271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不管接收操作是否已经启动，发送都可以执行并很快返回；前提是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用户程序事先申请一块足够大的缓冲区，用 MPI_Buffer_attach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交给 MPI，用完后用 MPI_Buffer_detach 收回。</a:t>
              </a:r>
            </a:p>
          </p:txBody>
        </p:sp>
      </p:grpSp>
      <p:grpSp>
        <p:nvGrpSpPr>
          <p:cNvPr id="52" name="c1-card-4"/>
          <p:cNvGrpSpPr/>
          <p:nvPr/>
        </p:nvGrpSpPr>
        <p:grpSpPr>
          <a:xfrm>
            <a:off x="533400" y="4947285"/>
            <a:ext cx="5410200" cy="1143952"/>
            <a:chOff x="533400" y="4947285"/>
            <a:chExt cx="5410200" cy="1143952"/>
          </a:xfrm>
        </p:grpSpPr>
        <p:sp>
          <p:nvSpPr>
            <p:cNvPr id="47" name="Rectangle 47"/>
            <p:cNvSpPr/>
            <p:nvPr/>
          </p:nvSpPr>
          <p:spPr>
            <a:xfrm>
              <a:off x="533400" y="4947285"/>
              <a:ext cx="5410200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542925" y="5080635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52475" y="512826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45147" y="516112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45998" y="5467826"/>
              <a:ext cx="31097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 MPI_Buffer_attch，函数名是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MPI_Buffer_attach。</a:t>
              </a:r>
            </a:p>
          </p:txBody>
        </p:sp>
      </p:grpSp>
      <p:grpSp>
        <p:nvGrpSpPr>
          <p:cNvPr id="58" name="c2-code-1"/>
          <p:cNvGrpSpPr/>
          <p:nvPr/>
        </p:nvGrpSpPr>
        <p:grpSpPr>
          <a:xfrm>
            <a:off x="6248400" y="1524000"/>
            <a:ext cx="5410200" cy="2264092"/>
            <a:chOff x="6248400" y="1524000"/>
            <a:chExt cx="5410200" cy="2264092"/>
          </a:xfrm>
        </p:grpSpPr>
        <p:sp>
          <p:nvSpPr>
            <p:cNvPr id="53" name="Rectangle 53"/>
            <p:cNvSpPr/>
            <p:nvPr/>
          </p:nvSpPr>
          <p:spPr>
            <a:xfrm>
              <a:off x="6248400" y="1524000"/>
              <a:ext cx="5410200" cy="2264092"/>
            </a:xfrm>
            <a:prstGeom prst="roundRect">
              <a:avLst>
                <a:gd name="adj" fmla="val 42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76797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完整用法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267450" y="2250758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67450" y="3306128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76797" y="1935956"/>
              <a:ext cx="2268855" cy="1776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 = 1000;</a:t>
              </a:r>
              <a:br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size = n *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sizeof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+ MPI_BSEND_OVERHEAD;</a:t>
              </a:r>
              <a:br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*buf = malloc(size);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MPI_Buffer_attach(buf, size);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MPI_Bsend(data, n, MPI_INT, 1, 0,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MPI_COMM_WORLD);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…… 可以马上改 data ……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MPI_Buffer_detach(&amp;buf, &amp;size);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free(buf);</a:t>
              </a:r>
            </a:p>
          </p:txBody>
        </p:sp>
      </p:grpSp>
      <p:grpSp>
        <p:nvGrpSpPr>
          <p:cNvPr id="64" name="c2-kv-2"/>
          <p:cNvGrpSpPr/>
          <p:nvPr/>
        </p:nvGrpSpPr>
        <p:grpSpPr>
          <a:xfrm>
            <a:off x="6241923" y="3974306"/>
            <a:ext cx="5416677" cy="1102804"/>
            <a:chOff x="6241923" y="3974306"/>
            <a:chExt cx="5416677" cy="1102804"/>
          </a:xfrm>
        </p:grpSpPr>
        <p:sp>
          <p:nvSpPr>
            <p:cNvPr id="59" name="TextBox 59"/>
            <p:cNvSpPr txBox="1"/>
            <p:nvPr/>
          </p:nvSpPr>
          <p:spPr>
            <a:xfrm>
              <a:off x="6241923" y="3974306"/>
              <a:ext cx="1934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MPI_BSEND_OVERHEAD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76463" y="3974306"/>
              <a:ext cx="310159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每条缓冲消息额外占用的管理空间，算缓冲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区大小时要加上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248400" y="44862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241923" y="4587716"/>
              <a:ext cx="6100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detach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276463" y="4587716"/>
              <a:ext cx="310159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等缓冲区里的消息都发出去才返回，之后才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 free</a:t>
              </a:r>
            </a:p>
          </p:txBody>
        </p:sp>
      </p:grpSp>
      <p:grpSp>
        <p:nvGrpSpPr>
          <p:cNvPr id="71" name="c2-callout-3"/>
          <p:cNvGrpSpPr/>
          <p:nvPr/>
        </p:nvGrpSpPr>
        <p:grpSpPr>
          <a:xfrm>
            <a:off x="6248400" y="5191125"/>
            <a:ext cx="5410200" cy="899160"/>
            <a:chOff x="6248400" y="5191125"/>
            <a:chExt cx="5410200" cy="899160"/>
          </a:xfrm>
        </p:grpSpPr>
        <p:sp>
          <p:nvSpPr>
            <p:cNvPr id="65" name="Rectangle 65"/>
            <p:cNvSpPr/>
            <p:nvPr/>
          </p:nvSpPr>
          <p:spPr>
            <a:xfrm>
              <a:off x="6248400" y="5191125"/>
              <a:ext cx="5410200" cy="899160"/>
            </a:xfrm>
            <a:prstGeom prst="roundRect">
              <a:avLst>
                <a:gd name="adj" fmla="val 1271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6441129" y="5537953"/>
              <a:ext cx="224134" cy="192560"/>
              <a:chOff x="6441129" y="5537953"/>
              <a:chExt cx="224134" cy="19256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6553200" y="560832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441129" y="553795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553200" y="56861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6756273" y="5434489"/>
              <a:ext cx="44589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缓冲区装不下待发消息时 Bsend 直接报错，它不会退回去等接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收方。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通信模式与非阻塞通信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标准通信与就绪通信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74445"/>
            <a:chOff x="533400" y="1524000"/>
            <a:chExt cx="5410200" cy="12744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1472565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4370" y="1763554"/>
              <a:ext cx="13744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标准通信 MPI_Send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73938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是否对发送的数据进行缓冲，由 MPI 的实现决定，用户程序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控制不了。发送可能是缓冲的，也可能是同步的。</a:t>
              </a:r>
            </a:p>
          </p:txBody>
        </p:sp>
      </p:grpSp>
      <p:grpSp>
        <p:nvGrpSpPr>
          <p:cNvPr id="28" name="c1-table-2"/>
          <p:cNvGrpSpPr/>
          <p:nvPr/>
        </p:nvGrpSpPr>
        <p:grpSpPr>
          <a:xfrm>
            <a:off x="533400" y="2984182"/>
            <a:ext cx="5410200" cy="1913573"/>
            <a:chOff x="533400" y="2984182"/>
            <a:chExt cx="5410200" cy="1913573"/>
          </a:xfrm>
        </p:grpSpPr>
        <p:sp>
          <p:nvSpPr>
            <p:cNvPr id="13" name="Rectangle 13"/>
            <p:cNvSpPr/>
            <p:nvPr/>
          </p:nvSpPr>
          <p:spPr>
            <a:xfrm>
              <a:off x="533400" y="2984182"/>
              <a:ext cx="5410200" cy="4686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9153" y="311896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消息大小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29765" y="311896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常见实现的做法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17453" y="311896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7604" y="3715226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28228" y="3588544"/>
              <a:ext cx="181787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先把数据推到接收端的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系统缓冲区（eager）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92308" y="3588544"/>
              <a:ext cx="163753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像缓冲模式，立即返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1709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4175760"/>
              <a:ext cx="5410200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7604" y="44372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28228" y="4310539"/>
              <a:ext cx="181787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先握手，等对方准备好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再传（rendezvous）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992308" y="4310539"/>
              <a:ext cx="163753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像同步模式，要等接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984182"/>
              <a:ext cx="5410200" cy="191357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719262" y="2984182"/>
              <a:ext cx="9525" cy="19135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883342" y="2984182"/>
              <a:ext cx="9525" cy="19135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c1-callout-3"/>
          <p:cNvGrpSpPr/>
          <p:nvPr/>
        </p:nvGrpSpPr>
        <p:grpSpPr>
          <a:xfrm>
            <a:off x="533400" y="5083492"/>
            <a:ext cx="5410200" cy="995362"/>
            <a:chOff x="533400" y="5083492"/>
            <a:chExt cx="5410200" cy="995362"/>
          </a:xfrm>
        </p:grpSpPr>
        <p:sp>
          <p:nvSpPr>
            <p:cNvPr id="29" name="Rectangle 29"/>
            <p:cNvSpPr/>
            <p:nvPr/>
          </p:nvSpPr>
          <p:spPr>
            <a:xfrm>
              <a:off x="533400" y="5083492"/>
              <a:ext cx="5410200" cy="995362"/>
            </a:xfrm>
            <a:prstGeom prst="roundRect">
              <a:avLst>
                <a:gd name="adj" fmla="val 1148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26129" y="5477946"/>
              <a:ext cx="224134" cy="192560"/>
              <a:chOff x="726129" y="5477946"/>
              <a:chExt cx="224134" cy="19256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38200" y="554831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26129" y="547794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38200" y="56261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511" y="5350669"/>
              <a:ext cx="434263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分界的大小因实现和网络而异。程序的正确性不能依赖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“小消息会被缓冲”。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248400" y="1524000"/>
            <a:ext cx="5410200" cy="2185988"/>
            <a:chOff x="6248400" y="1524000"/>
            <a:chExt cx="5410200" cy="2185988"/>
          </a:xfrm>
        </p:grpSpPr>
        <p:sp>
          <p:nvSpPr>
            <p:cNvPr id="36" name="Rectangle 36"/>
            <p:cNvSpPr/>
            <p:nvPr/>
          </p:nvSpPr>
          <p:spPr>
            <a:xfrm>
              <a:off x="6248400" y="1524000"/>
              <a:ext cx="5410200" cy="2185988"/>
            </a:xfrm>
            <a:prstGeom prst="roundRect">
              <a:avLst>
                <a:gd name="adj" fmla="val 61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57925" y="1657350"/>
              <a:ext cx="47625" cy="191928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90335" y="1727835"/>
              <a:ext cx="155543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37048" y="1763554"/>
              <a:ext cx="14610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就绪通信 MPI_Rsend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497955" y="216122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54546" y="210073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只有接收进程相应的接收操作已经开始，发送操作才能启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97955" y="275272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54546" y="2692241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发送启动时相应的接收还没启动，这次发送是错误的，结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果未定义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497955" y="334422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54546" y="3283744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特殊之处：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接收操作必须先于发送操作启动</a:t>
              </a:r>
            </a:p>
          </p:txBody>
        </p:sp>
      </p:grpSp>
      <p:grpSp>
        <p:nvGrpSpPr>
          <p:cNvPr id="69" name="c2-cells-2"/>
          <p:cNvGrpSpPr/>
          <p:nvPr/>
        </p:nvGrpSpPr>
        <p:grpSpPr>
          <a:xfrm>
            <a:off x="6243066" y="3895725"/>
            <a:ext cx="5415534" cy="979171"/>
            <a:chOff x="6243066" y="3895725"/>
            <a:chExt cx="5415534" cy="979171"/>
          </a:xfrm>
        </p:grpSpPr>
        <p:sp>
          <p:nvSpPr>
            <p:cNvPr id="47" name="TextBox 47"/>
            <p:cNvSpPr txBox="1"/>
            <p:nvPr/>
          </p:nvSpPr>
          <p:spPr>
            <a:xfrm>
              <a:off x="6243066" y="403383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58902" y="3895725"/>
              <a:ext cx="104013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32283" y="403383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499032" y="3895725"/>
              <a:ext cx="104013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872412" y="403383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539162" y="3895725"/>
              <a:ext cx="1040130" cy="4067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82689" y="4033838"/>
              <a:ext cx="7511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 Rsend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578340" y="3895725"/>
              <a:ext cx="104013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881045" y="403383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传数据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0618470" y="3895725"/>
              <a:ext cx="104013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991850" y="403383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返回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43066" y="460629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58902" y="4468178"/>
              <a:ext cx="1040130" cy="4067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44134" y="4606290"/>
              <a:ext cx="669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 Recv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499032" y="4468178"/>
              <a:ext cx="104013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872412" y="46062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539162" y="4468178"/>
              <a:ext cx="104013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911590" y="46062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9578340" y="4468178"/>
              <a:ext cx="104013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881045" y="460629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收数据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10618470" y="4468178"/>
              <a:ext cx="104013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0991850" y="46062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返回</a:t>
              </a:r>
            </a:p>
          </p:txBody>
        </p:sp>
      </p:grpSp>
      <p:grpSp>
        <p:nvGrpSpPr>
          <p:cNvPr id="76" name="c2-callout-3"/>
          <p:cNvGrpSpPr/>
          <p:nvPr/>
        </p:nvGrpSpPr>
        <p:grpSpPr>
          <a:xfrm>
            <a:off x="6248400" y="5060632"/>
            <a:ext cx="5410200" cy="1018222"/>
            <a:chOff x="6248400" y="5060632"/>
            <a:chExt cx="5410200" cy="1018222"/>
          </a:xfrm>
        </p:grpSpPr>
        <p:sp>
          <p:nvSpPr>
            <p:cNvPr id="70" name="Rectangle 70"/>
            <p:cNvSpPr/>
            <p:nvPr/>
          </p:nvSpPr>
          <p:spPr>
            <a:xfrm>
              <a:off x="6248400" y="5060632"/>
              <a:ext cx="5410200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6453188" y="5470208"/>
              <a:ext cx="200026" cy="200025"/>
              <a:chOff x="6453188" y="5470208"/>
              <a:chExt cx="200026" cy="200025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6453188" y="54702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492926" y="55146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527642" y="56257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6755511" y="5207794"/>
              <a:ext cx="452297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就绪模式省掉了握手，只在程序能确定接收已经发出时使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用（比如对方先 Irecv 再发一条“我准备好了”的消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息）。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通信模式与非阻塞通信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死锁：两个进程都在等对方先收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410200" cy="1313498"/>
            <a:chOff x="533400" y="1524000"/>
            <a:chExt cx="5410200" cy="13134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会死锁</a:t>
              </a:r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：双方都先同步发送再接收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098358"/>
              <a:ext cx="537210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035" y="1937861"/>
              <a:ext cx="3531870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other = 1 - rank;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MPI_Ssend(&amp;mine, 1, MPI_INT, other, 0, comm);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MPI_Recv(&amp;got, 1, MPI_INT, other, 0, comm,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MPI_STATUS_IGNORE);</a:t>
              </a:r>
            </a:p>
          </p:txBody>
        </p:sp>
      </p:grpSp>
      <p:grpSp>
        <p:nvGrpSpPr>
          <p:cNvPr id="13" name="c1-text-2"/>
          <p:cNvGrpSpPr/>
          <p:nvPr/>
        </p:nvGrpSpPr>
        <p:grpSpPr>
          <a:xfrm>
            <a:off x="527304" y="3042285"/>
            <a:ext cx="5148072" cy="470916"/>
            <a:chOff x="527304" y="3042285"/>
            <a:chExt cx="5148072" cy="470916"/>
          </a:xfrm>
        </p:grpSpPr>
        <p:sp>
          <p:nvSpPr>
            <p:cNvPr id="12" name="TextBox 12"/>
            <p:cNvSpPr txBox="1"/>
            <p:nvPr/>
          </p:nvSpPr>
          <p:spPr>
            <a:xfrm>
              <a:off x="527304" y="3042285"/>
              <a:ext cx="514807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号的 Ssend 要等 1 号开始接收才返回，1 号的 Ssend 也在等 0 号接收，谁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都走不到 Recv 那一行。模拟运行 5 秒无输出。</a:t>
              </a:r>
            </a:p>
          </p:txBody>
        </p:sp>
      </p:grpSp>
      <p:grpSp>
        <p:nvGrpSpPr>
          <p:cNvPr id="17" name="c1-code-3"/>
          <p:cNvGrpSpPr/>
          <p:nvPr/>
        </p:nvGrpSpPr>
        <p:grpSpPr>
          <a:xfrm>
            <a:off x="533400" y="3651885"/>
            <a:ext cx="5410200" cy="1922145"/>
            <a:chOff x="533400" y="3651885"/>
            <a:chExt cx="5410200" cy="1922145"/>
          </a:xfrm>
        </p:grpSpPr>
        <p:sp>
          <p:nvSpPr>
            <p:cNvPr id="14" name="Rectangle 14"/>
            <p:cNvSpPr/>
            <p:nvPr/>
          </p:nvSpPr>
          <p:spPr>
            <a:xfrm>
              <a:off x="533400" y="3651885"/>
              <a:ext cx="5410200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1797" y="3803809"/>
              <a:ext cx="19809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不会死锁</a:t>
              </a:r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：按 rank 错开收发顺序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1035" y="4065746"/>
              <a:ext cx="3766566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(rank == 0)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MPI_Ssend(&amp;mine, 1, MPI_INT, 1, 0, comm);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MPI_Recv(&amp;got, 1, MPI_INT, 1, 0, comm, &amp;st);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MPI_Recv(&amp;got, 1, MPI_INT, 0, 0, comm, &amp;st);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MPI_Ssend(&amp;mine, 1, MPI_INT, 0, 0, comm);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text-4"/>
          <p:cNvGrpSpPr/>
          <p:nvPr/>
        </p:nvGrpSpPr>
        <p:grpSpPr>
          <a:xfrm>
            <a:off x="527304" y="5778817"/>
            <a:ext cx="3533851" cy="234696"/>
            <a:chOff x="527304" y="5778817"/>
            <a:chExt cx="3533851" cy="234696"/>
          </a:xfrm>
        </p:grpSpPr>
        <p:sp>
          <p:nvSpPr>
            <p:cNvPr id="18" name="TextBox 18"/>
            <p:cNvSpPr txBox="1"/>
            <p:nvPr/>
          </p:nvSpPr>
          <p:spPr>
            <a:xfrm>
              <a:off x="527304" y="5778817"/>
              <a:ext cx="35338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模拟运行输出：rank 0 got 20，rank 1 got 10。</a:t>
              </a:r>
            </a:p>
          </p:txBody>
        </p:sp>
      </p:grpSp>
      <p:grpSp>
        <p:nvGrpSpPr>
          <p:cNvPr id="39" name="c2-table-1"/>
          <p:cNvGrpSpPr/>
          <p:nvPr/>
        </p:nvGrpSpPr>
        <p:grpSpPr>
          <a:xfrm>
            <a:off x="6242685" y="1524000"/>
            <a:ext cx="5415915" cy="2640807"/>
            <a:chOff x="6242685" y="1524000"/>
            <a:chExt cx="5415915" cy="2640807"/>
          </a:xfrm>
        </p:grpSpPr>
        <p:sp>
          <p:nvSpPr>
            <p:cNvPr id="20" name="Rectangle 20"/>
            <p:cNvSpPr/>
            <p:nvPr/>
          </p:nvSpPr>
          <p:spPr>
            <a:xfrm>
              <a:off x="6248400" y="1524000"/>
              <a:ext cx="5410200" cy="4686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83362" y="1658779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双方都先发再收时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161943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52604" y="2128361"/>
              <a:ext cx="12789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MPI_Ssend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66288" y="212836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一定死锁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248400" y="24574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48400" y="2462212"/>
              <a:ext cx="541020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52604" y="2596991"/>
              <a:ext cx="19338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MPI_Send、消息小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166288" y="259699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常常能过（被系统缓冲）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48400" y="29260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52604" y="3065621"/>
              <a:ext cx="19338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MPI_Send、消息大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166288" y="30656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死锁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48400" y="33956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48400" y="3400425"/>
              <a:ext cx="541020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52604" y="3535204"/>
              <a:ext cx="24258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MPI_Bsend、缓冲区够大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66288" y="353520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不会死锁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1524000"/>
              <a:ext cx="5410200" cy="23450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057322" y="1524000"/>
              <a:ext cx="9525" cy="23450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42685" y="3944779"/>
              <a:ext cx="43989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“小消息能过”最危险：测试时一切正常，换成真实数据规模就卡住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6248400" y="4306252"/>
            <a:ext cx="5410200" cy="1660208"/>
            <a:chOff x="6248400" y="4306252"/>
            <a:chExt cx="5410200" cy="1660208"/>
          </a:xfrm>
        </p:grpSpPr>
        <p:sp>
          <p:nvSpPr>
            <p:cNvPr id="40" name="Rectangle 40"/>
            <p:cNvSpPr/>
            <p:nvPr/>
          </p:nvSpPr>
          <p:spPr>
            <a:xfrm>
              <a:off x="6248400" y="4306252"/>
              <a:ext cx="5410200" cy="1660208"/>
            </a:xfrm>
            <a:prstGeom prst="roundRect">
              <a:avLst>
                <a:gd name="adj" fmla="val 803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57925" y="4439602"/>
              <a:ext cx="47625" cy="13935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90335" y="451008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72644" y="45458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三种改法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490335" y="4870132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48680" y="491047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81229" y="4882991"/>
              <a:ext cx="47552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rank 错开：一方先发后收，另一方先收后发（左下）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490335" y="5190172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48680" y="523051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81229" y="5203031"/>
              <a:ext cx="34536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MPI_Sendrecv，一次调用同时发和收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490335" y="5510212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48680" y="555055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81229" y="5523071"/>
              <a:ext cx="45889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 MPI_Irecv、MPI_Isend，再 MPI_Wait 等两个请求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通信模式与非阻塞通信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通信开销怎么估：启动延迟加传输时间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7"/>
              <p:cNvSpPr txBox="1">
                <a:spLocks noGrp="1"/>
              </p:cNvSpPr>
              <p:nvPr/>
            </p:nvSpPr>
            <p:spPr>
              <a:xfrm>
                <a:off x="533400" y="1524000"/>
                <a:ext cx="5193982" cy="6686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num>
                        <m:den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6" name="c1-kv-2"/>
          <p:cNvGrpSpPr/>
          <p:nvPr/>
        </p:nvGrpSpPr>
        <p:grpSpPr>
          <a:xfrm>
            <a:off x="525780" y="2407920"/>
            <a:ext cx="5201602" cy="1455420"/>
            <a:chOff x="525780" y="2407920"/>
            <a:chExt cx="5201602" cy="1455420"/>
          </a:xfrm>
        </p:grpSpPr>
        <p:sp>
          <p:nvSpPr>
            <p:cNvPr id="8" name="TextBox 8"/>
            <p:cNvSpPr txBox="1"/>
            <p:nvPr/>
          </p:nvSpPr>
          <p:spPr>
            <a:xfrm>
              <a:off x="525780" y="240792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tₛ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02982" y="2407920"/>
              <a:ext cx="4396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启动延迟：软件准备、网卡处理、首字节在网络上走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的时间，与消息长短无关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33400" y="300990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5780" y="3129915"/>
              <a:ext cx="174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02982" y="31299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消息长度（字节）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344995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5780" y="356997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02982" y="3569970"/>
              <a:ext cx="1943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链路带宽（字节/秒）</a:t>
              </a:r>
            </a:p>
          </p:txBody>
        </p:sp>
      </p:grpSp>
      <p:grpSp>
        <p:nvGrpSpPr>
          <p:cNvPr id="23" name="c1-callout-3"/>
          <p:cNvGrpSpPr/>
          <p:nvPr/>
        </p:nvGrpSpPr>
        <p:grpSpPr>
          <a:xfrm>
            <a:off x="533400" y="3994785"/>
            <a:ext cx="5193982" cy="1733550"/>
            <a:chOff x="533400" y="3994785"/>
            <a:chExt cx="5193982" cy="1733550"/>
          </a:xfrm>
        </p:grpSpPr>
        <p:sp>
          <p:nvSpPr>
            <p:cNvPr id="17" name="Rectangle 17"/>
            <p:cNvSpPr/>
            <p:nvPr/>
          </p:nvSpPr>
          <p:spPr>
            <a:xfrm>
              <a:off x="533400" y="3994785"/>
              <a:ext cx="5193982" cy="1733550"/>
            </a:xfrm>
            <a:prstGeom prst="roundRect">
              <a:avLst>
                <a:gd name="adj" fmla="val 659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4761548"/>
              <a:ext cx="200026" cy="200026"/>
              <a:chOff x="738188" y="4761548"/>
              <a:chExt cx="200026" cy="20002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47615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38200" y="48282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27088" y="486156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130" y="4480560"/>
              <a:ext cx="43110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这是本课件以外补充的常用简化模型，沿用第1章的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记号 Tn 表示通信时间。真实网络还有拥塞、拓扑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等因素。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6032182" y="1524000"/>
            <a:ext cx="5626418" cy="3230880"/>
            <a:chOff x="6032182" y="1524000"/>
            <a:chExt cx="5626418" cy="3230880"/>
          </a:xfrm>
        </p:grpSpPr>
        <p:sp>
          <p:nvSpPr>
            <p:cNvPr id="24" name="Rectangle 24"/>
            <p:cNvSpPr/>
            <p:nvPr/>
          </p:nvSpPr>
          <p:spPr>
            <a:xfrm>
              <a:off x="6032182" y="1524000"/>
              <a:ext cx="5626418" cy="3230880"/>
            </a:xfrm>
            <a:prstGeom prst="roundRect">
              <a:avLst>
                <a:gd name="adj" fmla="val 41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41708" y="1657350"/>
              <a:ext cx="47625" cy="29641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79832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73990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37985" y="1768792"/>
              <a:ext cx="41703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tₛ = 5 μs，B = 10 GB/s，要发 8 MB 数据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79832" y="2105025"/>
              <a:ext cx="5169218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76377" y="22407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40432" y="22407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650182" y="22407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87656" y="2802731"/>
              <a:ext cx="12279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 8 MB 消息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38326" y="2689384"/>
              <a:ext cx="164668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μs + 8×10⁶ B ÷ 10¹⁰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B/s = 5 + 800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0217468" y="2563178"/>
              <a:ext cx="1222058" cy="65627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315766" y="2802731"/>
              <a:ext cx="538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805 μs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79832" y="3224212"/>
              <a:ext cx="51692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79832" y="3228975"/>
              <a:ext cx="51692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87656" y="3364706"/>
              <a:ext cx="120004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 条 8 KB 消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息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38326" y="3364706"/>
              <a:ext cx="182549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 × (5 + 8000 ÷ 10¹⁰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 10⁶) = 1000 × 5.8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217468" y="3238500"/>
              <a:ext cx="1222058" cy="656272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315766" y="3478054"/>
              <a:ext cx="6332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5800 μs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79832" y="2105025"/>
              <a:ext cx="5169218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825740" y="210502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203180" y="210502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272212" y="4025265"/>
              <a:ext cx="4739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拆成小消息慢了 5800 ÷ 805 ≈ 7.2 倍。8 KB 的消息里启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动延迟占 5 ÷ 5.8 ≈ 86%，8 MB 的消息里只占约 0.6%。</a:t>
              </a:r>
            </a:p>
          </p:txBody>
        </p:sp>
      </p:grpSp>
      <p:grpSp>
        <p:nvGrpSpPr>
          <p:cNvPr id="53" name="c2-callout-2"/>
          <p:cNvGrpSpPr/>
          <p:nvPr/>
        </p:nvGrpSpPr>
        <p:grpSpPr>
          <a:xfrm>
            <a:off x="6032182" y="4945380"/>
            <a:ext cx="5626418" cy="782955"/>
            <a:chOff x="6032182" y="4945380"/>
            <a:chExt cx="5626418" cy="782955"/>
          </a:xfrm>
        </p:grpSpPr>
        <p:sp>
          <p:nvSpPr>
            <p:cNvPr id="48" name="Rectangle 48"/>
            <p:cNvSpPr/>
            <p:nvPr/>
          </p:nvSpPr>
          <p:spPr>
            <a:xfrm>
              <a:off x="6032182" y="4945380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236970" y="5236847"/>
              <a:ext cx="200023" cy="200023"/>
              <a:chOff x="6236970" y="5236847"/>
              <a:chExt cx="200023" cy="20002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236970" y="52368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370320" y="53035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6538912" y="5093970"/>
              <a:ext cx="45396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能攒成一条就别拆成多条。这也是 MPI 程序“并行粒度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大”的原因：先各自算一大块，再一次性交换。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通信模式与非阻塞通信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阻塞与非阻塞：非阻塞调用立即返回，计算和通信可以重叠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4760595" cy="2004060"/>
            <a:chOff x="533400" y="1524000"/>
            <a:chExt cx="4760595" cy="20040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004060"/>
            </a:xfrm>
            <a:prstGeom prst="roundRect">
              <a:avLst>
                <a:gd name="adj" fmla="val 66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3736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4408" y="1743551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阻塞通信返回的条件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58190" y="204311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3868" y="208149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8987" y="20545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通信操作已经完成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58190" y="2343150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3868" y="23815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8987" y="2355532"/>
              <a:ext cx="37856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调用的缓冲区可用：发送时缓冲区可以被其他操作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更新；接收时缓冲区的数据已经完整，可以正确引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2475" y="3165634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传大量数据时，阻塞通信会拖慢执行速度。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698558"/>
            <a:ext cx="4760595" cy="1946910"/>
            <a:chOff x="533400" y="3698558"/>
            <a:chExt cx="4760595" cy="1946910"/>
          </a:xfrm>
        </p:grpSpPr>
        <p:sp>
          <p:nvSpPr>
            <p:cNvPr id="19" name="Rectangle 19"/>
            <p:cNvSpPr/>
            <p:nvPr/>
          </p:nvSpPr>
          <p:spPr>
            <a:xfrm>
              <a:off x="533400" y="3698558"/>
              <a:ext cx="4760595" cy="1946910"/>
            </a:xfrm>
            <a:prstGeom prst="roundRect">
              <a:avLst>
                <a:gd name="adj" fmla="val 68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3831908"/>
              <a:ext cx="47625" cy="168021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58190" y="388524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0862" y="391810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1332" y="4229100"/>
              <a:ext cx="406850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原课件把条件1解释为“消息已经发送或接收”。对阻塞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发送只保证条件2：数据可能还在系统缓冲区里，对方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未必收到（见第21页 send_data 的例子）。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5598795" y="1524000"/>
            <a:ext cx="6059805" cy="1185862"/>
            <a:chOff x="5598795" y="1524000"/>
            <a:chExt cx="6059805" cy="1185862"/>
          </a:xfrm>
        </p:grpSpPr>
        <p:sp>
          <p:nvSpPr>
            <p:cNvPr id="25" name="Rectangle 25"/>
            <p:cNvSpPr/>
            <p:nvPr/>
          </p:nvSpPr>
          <p:spPr>
            <a:xfrm>
              <a:off x="5598795" y="1524000"/>
              <a:ext cx="6059805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608320" y="165735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823585" y="171069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905056" y="174355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非阻塞通信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816727" y="2054542"/>
              <a:ext cx="5328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通信函数立即返回，但不能保证缓冲区等资源可以立即重新使用，要等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通信完成后才行。</a:t>
              </a:r>
            </a:p>
          </p:txBody>
        </p:sp>
      </p:grpSp>
      <p:grpSp>
        <p:nvGrpSpPr>
          <p:cNvPr id="79" name="c2-flow-2"/>
          <p:cNvGrpSpPr/>
          <p:nvPr/>
        </p:nvGrpSpPr>
        <p:grpSpPr>
          <a:xfrm>
            <a:off x="5732145" y="2963228"/>
            <a:ext cx="5793105" cy="2695575"/>
            <a:chOff x="5732145" y="2963228"/>
            <a:chExt cx="5793105" cy="2695575"/>
          </a:xfrm>
        </p:grpSpPr>
        <p:sp>
          <p:nvSpPr>
            <p:cNvPr id="31" name="Freeform 31"/>
            <p:cNvSpPr/>
            <p:nvPr/>
          </p:nvSpPr>
          <p:spPr>
            <a:xfrm>
              <a:off x="6356985" y="3315652"/>
              <a:ext cx="9525" cy="33338"/>
            </a:xfrm>
            <a:custGeom>
              <a:avLst/>
              <a:gdLst/>
              <a:ahLst/>
              <a:cxnLst/>
              <a:rect l="l" t="t" r="r" b="b"/>
              <a:pathLst>
                <a:path w="9525" h="33338">
                  <a:moveTo>
                    <a:pt x="0" y="3333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304598" y="331565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6356985" y="3965258"/>
              <a:ext cx="9525" cy="33338"/>
            </a:xfrm>
            <a:custGeom>
              <a:avLst/>
              <a:gdLst/>
              <a:ahLst/>
              <a:cxnLst/>
              <a:rect l="l" t="t" r="r" b="b"/>
              <a:pathLst>
                <a:path w="9525" h="33338">
                  <a:moveTo>
                    <a:pt x="0" y="3333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6304598" y="39652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6356985" y="4455795"/>
              <a:ext cx="9525" cy="62865"/>
            </a:xfrm>
            <a:custGeom>
              <a:avLst/>
              <a:gdLst/>
              <a:ahLst/>
              <a:cxnLst/>
              <a:rect l="l" t="t" r="r" b="b"/>
              <a:pathLst>
                <a:path w="9525" h="62865">
                  <a:moveTo>
                    <a:pt x="0" y="0"/>
                  </a:moveTo>
                  <a:lnTo>
                    <a:pt x="0" y="628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6304598" y="45186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6356985" y="4975860"/>
              <a:ext cx="9525" cy="32385"/>
            </a:xfrm>
            <a:custGeom>
              <a:avLst/>
              <a:gdLst/>
              <a:ahLst/>
              <a:cxnLst/>
              <a:rect l="l" t="t" r="r" b="b"/>
              <a:pathLst>
                <a:path w="9525" h="32385">
                  <a:moveTo>
                    <a:pt x="0" y="3238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6304598" y="49758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6356985" y="3965258"/>
              <a:ext cx="1514475" cy="68580"/>
            </a:xfrm>
            <a:custGeom>
              <a:avLst/>
              <a:gdLst/>
              <a:ahLst/>
              <a:cxnLst/>
              <a:rect l="l" t="t" r="r" b="b"/>
              <a:pathLst>
                <a:path w="1514475" h="68580">
                  <a:moveTo>
                    <a:pt x="0" y="33338"/>
                  </a:moveTo>
                  <a:lnTo>
                    <a:pt x="0" y="68580"/>
                  </a:lnTo>
                  <a:lnTo>
                    <a:pt x="1514475" y="68580"/>
                  </a:lnTo>
                  <a:lnTo>
                    <a:pt x="151447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40" name="Freeform 40"/>
            <p:cNvSpPr/>
            <p:nvPr/>
          </p:nvSpPr>
          <p:spPr>
            <a:xfrm>
              <a:off x="7819072" y="39652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6356985" y="4455795"/>
              <a:ext cx="1514475" cy="83820"/>
            </a:xfrm>
            <a:custGeom>
              <a:avLst/>
              <a:gdLst/>
              <a:ahLst/>
              <a:cxnLst/>
              <a:rect l="l" t="t" r="r" b="b"/>
              <a:pathLst>
                <a:path w="1514475" h="83820">
                  <a:moveTo>
                    <a:pt x="1514475" y="0"/>
                  </a:moveTo>
                  <a:lnTo>
                    <a:pt x="1514475" y="83820"/>
                  </a:lnTo>
                  <a:lnTo>
                    <a:pt x="0" y="83820"/>
                  </a:lnTo>
                  <a:lnTo>
                    <a:pt x="0" y="62865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42" name="Freeform 42"/>
            <p:cNvSpPr/>
            <p:nvPr/>
          </p:nvSpPr>
          <p:spPr>
            <a:xfrm>
              <a:off x="6304598" y="45186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9385935" y="3315652"/>
              <a:ext cx="9525" cy="33338"/>
            </a:xfrm>
            <a:custGeom>
              <a:avLst/>
              <a:gdLst/>
              <a:ahLst/>
              <a:cxnLst/>
              <a:rect l="l" t="t" r="r" b="b"/>
              <a:pathLst>
                <a:path w="9525" h="33338">
                  <a:moveTo>
                    <a:pt x="0" y="3333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333548" y="331565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9385935" y="3965258"/>
              <a:ext cx="9525" cy="33338"/>
            </a:xfrm>
            <a:custGeom>
              <a:avLst/>
              <a:gdLst/>
              <a:ahLst/>
              <a:cxnLst/>
              <a:rect l="l" t="t" r="r" b="b"/>
              <a:pathLst>
                <a:path w="9525" h="33338">
                  <a:moveTo>
                    <a:pt x="0" y="3333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333548" y="39652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9385935" y="4455795"/>
              <a:ext cx="9525" cy="62865"/>
            </a:xfrm>
            <a:custGeom>
              <a:avLst/>
              <a:gdLst/>
              <a:ahLst/>
              <a:cxnLst/>
              <a:rect l="l" t="t" r="r" b="b"/>
              <a:pathLst>
                <a:path w="9525" h="62865">
                  <a:moveTo>
                    <a:pt x="0" y="0"/>
                  </a:moveTo>
                  <a:lnTo>
                    <a:pt x="0" y="628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9333548" y="45186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9385935" y="5008245"/>
              <a:ext cx="9525" cy="62865"/>
            </a:xfrm>
            <a:custGeom>
              <a:avLst/>
              <a:gdLst/>
              <a:ahLst/>
              <a:cxnLst/>
              <a:rect l="l" t="t" r="r" b="b"/>
              <a:pathLst>
                <a:path w="9525" h="62865">
                  <a:moveTo>
                    <a:pt x="0" y="0"/>
                  </a:moveTo>
                  <a:lnTo>
                    <a:pt x="0" y="628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9333548" y="50711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9385935" y="3965258"/>
              <a:ext cx="1515428" cy="68580"/>
            </a:xfrm>
            <a:custGeom>
              <a:avLst/>
              <a:gdLst/>
              <a:ahLst/>
              <a:cxnLst/>
              <a:rect l="l" t="t" r="r" b="b"/>
              <a:pathLst>
                <a:path w="1515428" h="68580">
                  <a:moveTo>
                    <a:pt x="0" y="33338"/>
                  </a:moveTo>
                  <a:lnTo>
                    <a:pt x="0" y="68580"/>
                  </a:lnTo>
                  <a:lnTo>
                    <a:pt x="1515428" y="68580"/>
                  </a:lnTo>
                  <a:lnTo>
                    <a:pt x="151542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52" name="Freeform 52"/>
            <p:cNvSpPr/>
            <p:nvPr/>
          </p:nvSpPr>
          <p:spPr>
            <a:xfrm>
              <a:off x="10848975" y="39652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9385935" y="4455795"/>
              <a:ext cx="1515428" cy="83820"/>
            </a:xfrm>
            <a:custGeom>
              <a:avLst/>
              <a:gdLst/>
              <a:ahLst/>
              <a:cxnLst/>
              <a:rect l="l" t="t" r="r" b="b"/>
              <a:pathLst>
                <a:path w="1515428" h="83820">
                  <a:moveTo>
                    <a:pt x="1515428" y="0"/>
                  </a:moveTo>
                  <a:lnTo>
                    <a:pt x="1515428" y="83820"/>
                  </a:lnTo>
                  <a:lnTo>
                    <a:pt x="0" y="83820"/>
                  </a:lnTo>
                  <a:lnTo>
                    <a:pt x="0" y="62865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54" name="Freeform 54"/>
            <p:cNvSpPr/>
            <p:nvPr/>
          </p:nvSpPr>
          <p:spPr>
            <a:xfrm>
              <a:off x="9333548" y="45186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732145" y="2963228"/>
              <a:ext cx="1247775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5732145" y="3420428"/>
              <a:ext cx="1247775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5732145" y="4070032"/>
              <a:ext cx="1247775" cy="385762"/>
            </a:xfrm>
            <a:prstGeom prst="roundRect">
              <a:avLst>
                <a:gd name="adj" fmla="val 24691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247572" y="4070032"/>
              <a:ext cx="1247775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5732145" y="4623435"/>
              <a:ext cx="1247775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5732145" y="5080635"/>
              <a:ext cx="1247775" cy="578168"/>
            </a:xfrm>
            <a:prstGeom prst="roundRect">
              <a:avLst>
                <a:gd name="adj" fmla="val 16474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8762048" y="2963228"/>
              <a:ext cx="1247775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8762048" y="3420428"/>
              <a:ext cx="1247775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8762048" y="4070032"/>
              <a:ext cx="1247775" cy="385762"/>
            </a:xfrm>
            <a:prstGeom prst="roundRect">
              <a:avLst>
                <a:gd name="adj" fmla="val 24691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10277475" y="4070032"/>
              <a:ext cx="1247775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8762048" y="4623435"/>
              <a:ext cx="1247775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8762048" y="5175885"/>
              <a:ext cx="1247775" cy="385762"/>
            </a:xfrm>
            <a:prstGeom prst="roundRect">
              <a:avLst>
                <a:gd name="adj" fmla="val 24691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974334" y="307800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非阻塞发送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924550" y="3534251"/>
              <a:ext cx="86487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启动发送并立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即返回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200496" y="41838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413422" y="41838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后台发送消息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049721" y="473725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通信完成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924550" y="5194459"/>
              <a:ext cx="86487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释放发送缓冲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003284" y="307800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非阻塞接收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953500" y="3534251"/>
              <a:ext cx="86487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启动接收并立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即返回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229446" y="41838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443324" y="41838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后台接收消息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078671" y="473725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通信完成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927897" y="529066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引用接收数据</a:t>
              </a:r>
            </a:p>
          </p:txBody>
        </p:sp>
      </p:grpSp>
      <p:grpSp>
        <p:nvGrpSpPr>
          <p:cNvPr id="86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80" name="Rectangle 80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1040892" y="6028373"/>
              <a:ext cx="100274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中间一层就是“计算与通信重叠”：进程在算自己的，消息在后台走。通信完成之前，发送缓冲区不能改，接收缓冲区不能读。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514851" cy="909257"/>
            <a:chOff x="520446" y="342900"/>
            <a:chExt cx="105148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通信模式与非阻塞通信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148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MPI_Isend / MPI_Irecv 发起通信，MPI_Wait / MPI_Test 查结果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951220" cy="1561148"/>
            <a:chOff x="533400" y="1524000"/>
            <a:chExt cx="5951220" cy="15611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5195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非阻塞收发：函数名加 I，多一个 request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227197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MPI_Isend(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const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*buf,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count,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MPI_Datatype datatype,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dest,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tag,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MPI_Comm comm, MPI_Request *request);</a:t>
              </a:r>
              <a:br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MPI_Irecv(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*buf,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count,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MPI_Datatype datatype,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source,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tag,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MPI_Comm comm, MPI_Request *request);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3249930"/>
            <a:ext cx="5951220" cy="1209675"/>
            <a:chOff x="533400" y="3249930"/>
            <a:chExt cx="5951220" cy="1209675"/>
          </a:xfrm>
        </p:grpSpPr>
        <p:sp>
          <p:nvSpPr>
            <p:cNvPr id="11" name="Rectangle 11"/>
            <p:cNvSpPr/>
            <p:nvPr/>
          </p:nvSpPr>
          <p:spPr>
            <a:xfrm>
              <a:off x="533400" y="3249930"/>
              <a:ext cx="5951220" cy="1209675"/>
            </a:xfrm>
            <a:prstGeom prst="roundRect">
              <a:avLst>
                <a:gd name="adj" fmla="val 787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340185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检测完成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797" y="3662839"/>
              <a:ext cx="3090291" cy="719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MPI_Wait(MPI_Request *request,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MPI_Status *status);</a:t>
              </a:r>
              <a:br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MPI_Test(MPI_Request *request,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*flag,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MPI_Status *status);</a:t>
              </a:r>
            </a:p>
          </p:txBody>
        </p:sp>
      </p:grpSp>
      <p:grpSp>
        <p:nvGrpSpPr>
          <p:cNvPr id="21" name="c1-callout-3"/>
          <p:cNvGrpSpPr/>
          <p:nvPr/>
        </p:nvGrpSpPr>
        <p:grpSpPr>
          <a:xfrm>
            <a:off x="533400" y="4624388"/>
            <a:ext cx="5951220" cy="1714500"/>
            <a:chOff x="533400" y="4624388"/>
            <a:chExt cx="5951220" cy="1714500"/>
          </a:xfrm>
        </p:grpSpPr>
        <p:sp>
          <p:nvSpPr>
            <p:cNvPr id="15" name="Rectangle 15"/>
            <p:cNvSpPr/>
            <p:nvPr/>
          </p:nvSpPr>
          <p:spPr>
            <a:xfrm>
              <a:off x="533400" y="4624388"/>
              <a:ext cx="5951220" cy="171450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5381625"/>
              <a:ext cx="200026" cy="200026"/>
              <a:chOff x="738188" y="5381625"/>
              <a:chExt cx="200026" cy="20002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53816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38200" y="54483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27088" y="548163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1273" y="5274469"/>
              <a:ext cx="49629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非阻塞函数立即返回，不知道收发是否成功，所以要靠 request 这个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句柄（Handler）去查询状态。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6789420" y="1524000"/>
            <a:ext cx="4869180" cy="2521268"/>
            <a:chOff x="6789420" y="1524000"/>
            <a:chExt cx="4869180" cy="2521268"/>
          </a:xfrm>
        </p:grpSpPr>
        <p:sp>
          <p:nvSpPr>
            <p:cNvPr id="22" name="Rectangle 22"/>
            <p:cNvSpPr/>
            <p:nvPr/>
          </p:nvSpPr>
          <p:spPr>
            <a:xfrm>
              <a:off x="6789420" y="1524000"/>
              <a:ext cx="4869180" cy="420052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341197" y="16454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23299" y="16454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阻塞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541165" y="16454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非阻塞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82956" y="206549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44091" y="2065496"/>
              <a:ext cx="786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MPI_Send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048113" y="2065496"/>
              <a:ext cx="8368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MPI_Isend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789420" y="235934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789420" y="2364105"/>
              <a:ext cx="4869180" cy="42005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82956" y="248554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44091" y="2485549"/>
              <a:ext cx="8811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MPI_Bsend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048113" y="2485549"/>
              <a:ext cx="9315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MPI_Ibsend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789420" y="278034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82956" y="29056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44091" y="2905601"/>
              <a:ext cx="8811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MPI_Ssend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048113" y="2905601"/>
              <a:ext cx="9315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MPI_Issend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789420" y="320040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789420" y="3205162"/>
              <a:ext cx="4869180" cy="42005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82956" y="332565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44091" y="3325654"/>
              <a:ext cx="8811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MPI_Rsend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048113" y="3325654"/>
              <a:ext cx="9315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MPI_Irsend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789420" y="362045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82956" y="37466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44091" y="3746659"/>
              <a:ext cx="786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MPI_Recv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048113" y="3746659"/>
              <a:ext cx="8368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MPI_Irecv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789420" y="1524000"/>
              <a:ext cx="4869180" cy="252126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245792" y="1524000"/>
              <a:ext cx="9525" cy="25212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949815" y="1524000"/>
              <a:ext cx="9525" cy="25212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2-table-2"/>
          <p:cNvGrpSpPr/>
          <p:nvPr/>
        </p:nvGrpSpPr>
        <p:grpSpPr>
          <a:xfrm>
            <a:off x="6789420" y="4210050"/>
            <a:ext cx="4869180" cy="1261110"/>
            <a:chOff x="6789420" y="4210050"/>
            <a:chExt cx="4869180" cy="1261110"/>
          </a:xfrm>
        </p:grpSpPr>
        <p:sp>
          <p:nvSpPr>
            <p:cNvPr id="51" name="Rectangle 51"/>
            <p:cNvSpPr/>
            <p:nvPr/>
          </p:nvSpPr>
          <p:spPr>
            <a:xfrm>
              <a:off x="6789420" y="4210050"/>
              <a:ext cx="4869180" cy="420052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92619" y="433149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函数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727209" y="433149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行为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82956" y="4751546"/>
              <a:ext cx="8161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MPI_Wait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45983" y="4751546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一直等到这次收发结束才返回（阻塞）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789420" y="504634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789420" y="5051108"/>
              <a:ext cx="4869180" cy="42005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82956" y="5171599"/>
              <a:ext cx="8254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MPI_Test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245983" y="5171599"/>
              <a:ext cx="33299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立即返回，flag 为真表示已完成（非阻塞）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789420" y="4210050"/>
              <a:ext cx="4869180" cy="12611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8147685" y="4210050"/>
              <a:ext cx="9525" cy="1261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9" name="c2-callout-3"/>
          <p:cNvGrpSpPr/>
          <p:nvPr/>
        </p:nvGrpSpPr>
        <p:grpSpPr>
          <a:xfrm>
            <a:off x="6789420" y="5635942"/>
            <a:ext cx="4869180" cy="702945"/>
            <a:chOff x="6789420" y="5635942"/>
            <a:chExt cx="4869180" cy="702945"/>
          </a:xfrm>
        </p:grpSpPr>
        <p:sp>
          <p:nvSpPr>
            <p:cNvPr id="63" name="Rectangle 63"/>
            <p:cNvSpPr/>
            <p:nvPr/>
          </p:nvSpPr>
          <p:spPr>
            <a:xfrm>
              <a:off x="6789420" y="5635942"/>
              <a:ext cx="4869180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6994208" y="5887403"/>
              <a:ext cx="200026" cy="200025"/>
              <a:chOff x="6994208" y="5887403"/>
              <a:chExt cx="200026" cy="20002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6994208" y="588740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033946" y="593185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068662" y="604297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7297293" y="5780246"/>
              <a:ext cx="39062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 MPI_Test 可以一边轮询一边干别的：没完成就先算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一小块，再回来查。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通信模式与非阻塞通信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例：非阻塞收发，让发送和计算同时进行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059805" cy="2966085"/>
            <a:chOff x="533400" y="1524000"/>
            <a:chExt cx="6059805" cy="29660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966085"/>
            </a:xfrm>
            <a:prstGeom prst="roundRect">
              <a:avLst>
                <a:gd name="adj" fmla="val 32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更正后的写法（模拟运行）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33712"/>
              <a:ext cx="602170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980498"/>
              <a:ext cx="602170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416" y="1937385"/>
              <a:ext cx="3311081" cy="24799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MPI_Comm_rank(MPI_COMM_WORLD, &amp;myrank);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(myrank == 0)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 = 10;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MPI_Isend(&amp;x, 1, MPI_INT, 1, 0,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MPI_COMM_WORLD, &amp;req1);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compute();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与发送重叠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MPI_Wait(&amp;req1, &amp;status);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(myrank == 1)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MPI_Irecv(&amp;x, 1, MPI_INT, 0, MPI_ANY_TAG,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MPI_COMM_WORLD, &amp;req1);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MPI_Wait(&amp;req1, &amp;status);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4664392"/>
            <a:ext cx="6059805" cy="1466850"/>
            <a:chOff x="533400" y="4664392"/>
            <a:chExt cx="6059805" cy="1466850"/>
          </a:xfrm>
        </p:grpSpPr>
        <p:sp>
          <p:nvSpPr>
            <p:cNvPr id="13" name="Rectangle 13"/>
            <p:cNvSpPr/>
            <p:nvPr/>
          </p:nvSpPr>
          <p:spPr>
            <a:xfrm>
              <a:off x="533400" y="4664392"/>
              <a:ext cx="6059805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797742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3905" y="485679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5345" y="48910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7047" y="5213985"/>
              <a:ext cx="524294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MPI_Wait(&amp;req1, &amp;status) 写在 if 之外。进程数大于 2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时，其他进程的 req1 从没赋过值，对它 Wait 是未定义行为。已把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Wait 挪进各自分支（也可以先把 req1 置为 MPI_REQUEST_NULL）。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898005" y="1524000"/>
            <a:ext cx="4760595" cy="2815590"/>
            <a:chOff x="6898005" y="1524000"/>
            <a:chExt cx="4760595" cy="2815590"/>
          </a:xfrm>
        </p:grpSpPr>
        <p:sp>
          <p:nvSpPr>
            <p:cNvPr id="19" name="Rectangle 19"/>
            <p:cNvSpPr/>
            <p:nvPr/>
          </p:nvSpPr>
          <p:spPr>
            <a:xfrm>
              <a:off x="6898005" y="1524000"/>
              <a:ext cx="4760595" cy="2815590"/>
            </a:xfrm>
            <a:prstGeom prst="roundRect">
              <a:avLst>
                <a:gd name="adj" fmla="val 47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907530" y="1657350"/>
              <a:ext cx="47625" cy="25488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128510" y="171640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03948" y="175069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重叠能省多少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21652" y="2072640"/>
              <a:ext cx="32940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0 号进程计算要 8 ms，发送要 5 ms。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128510" y="2353628"/>
              <a:ext cx="4337685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229321" y="24779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99116" y="24779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28522" y="288369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阻塞：先发完再算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744075" y="2883694"/>
              <a:ext cx="931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+ 8 = 13 ms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128510" y="3160395"/>
              <a:ext cx="433768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128510" y="3165158"/>
              <a:ext cx="433768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228522" y="328945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非阻塞：边发边算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653588" y="3174682"/>
              <a:ext cx="1803082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744075" y="3289459"/>
              <a:ext cx="12477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max(8, 5) = 8 ms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128510" y="2353628"/>
              <a:ext cx="4337685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9639300" y="2353628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121652" y="3679508"/>
              <a:ext cx="38199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 13 ÷ 8 ≈ 1.63 倍。若计算只要 3 ms，重叠后是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max(3, 5) = 5 ms，瓶颈变成通信。</a:t>
              </a:r>
            </a:p>
          </p:txBody>
        </p:sp>
      </p:grpSp>
      <p:grpSp>
        <p:nvGrpSpPr>
          <p:cNvPr id="44" name="c2-callout-2"/>
          <p:cNvGrpSpPr/>
          <p:nvPr/>
        </p:nvGrpSpPr>
        <p:grpSpPr>
          <a:xfrm>
            <a:off x="6898005" y="4514850"/>
            <a:ext cx="4760595" cy="1616392"/>
            <a:chOff x="6898005" y="4514850"/>
            <a:chExt cx="4760595" cy="1616392"/>
          </a:xfrm>
        </p:grpSpPr>
        <p:sp>
          <p:nvSpPr>
            <p:cNvPr id="38" name="Rectangle 38"/>
            <p:cNvSpPr/>
            <p:nvPr/>
          </p:nvSpPr>
          <p:spPr>
            <a:xfrm>
              <a:off x="6898005" y="4514850"/>
              <a:ext cx="4760595" cy="1616392"/>
            </a:xfrm>
            <a:prstGeom prst="roundRect">
              <a:avLst>
                <a:gd name="adj" fmla="val 707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102793" y="5223510"/>
              <a:ext cx="200026" cy="200025"/>
              <a:chOff x="7102793" y="5223510"/>
              <a:chExt cx="200026" cy="20002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102793" y="52235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142531" y="52679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177247" y="53790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7405497" y="5104448"/>
              <a:ext cx="37856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重叠省下的是两者中较短的那一段。发起得越早、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Wait 得越晚，重叠的窗口越大。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691253" cy="3351847"/>
            <a:chOff x="667512" y="1835468"/>
            <a:chExt cx="4691253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集合通信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从一对一到组内全体：广播、分发、收集、规约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8014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原课件第52–67页：集合通信的分类与同步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广播、分发、收集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全局收集与全局交换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5958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规约、Allreduce 与统计例子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集合通信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集合通信：进程组里所有进程都参加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545908"/>
            <a:chOff x="533400" y="1524000"/>
            <a:chExt cx="5410200" cy="15459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群集通信（Collective Communications）是一个进程组中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所有进程都参加的全局通信操作。前面的都是一对一通信，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这里是 N 对 N。</a:t>
              </a:r>
            </a:p>
          </p:txBody>
        </p:sp>
      </p:grpSp>
      <p:grpSp>
        <p:nvGrpSpPr>
          <p:cNvPr id="32" name="c1-table-2"/>
          <p:cNvGrpSpPr/>
          <p:nvPr/>
        </p:nvGrpSpPr>
        <p:grpSpPr>
          <a:xfrm>
            <a:off x="533400" y="3255645"/>
            <a:ext cx="5410200" cy="2573655"/>
            <a:chOff x="533400" y="3255645"/>
            <a:chExt cx="5410200" cy="2573655"/>
          </a:xfrm>
        </p:grpSpPr>
        <p:sp>
          <p:nvSpPr>
            <p:cNvPr id="13" name="Rectangle 13"/>
            <p:cNvSpPr/>
            <p:nvPr/>
          </p:nvSpPr>
          <p:spPr>
            <a:xfrm>
              <a:off x="533400" y="3255645"/>
              <a:ext cx="5410200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0943" y="338709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功能分类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49068" y="338709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48213" y="33870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函数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8746" y="403002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12202" y="4030027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完成组内数据的传输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93452" y="3816668"/>
              <a:ext cx="149809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Bcast、Scatter、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Gather、Allgather、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Alltoall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5377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4542472"/>
              <a:ext cx="5410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8746" y="47805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12202" y="4673918"/>
              <a:ext cx="1993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在通信的基础上对数据做一定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的运算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993452" y="4780598"/>
              <a:ext cx="14352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Reduce、Allreduce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51816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8746" y="54244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12202" y="5317808"/>
              <a:ext cx="1993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让组内所有进程在执行进度上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取得一致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93452" y="5424488"/>
              <a:ext cx="5984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Barrier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255645"/>
              <a:ext cx="5410200" cy="25736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502092" y="3255645"/>
              <a:ext cx="9525" cy="25736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883342" y="3255645"/>
              <a:ext cx="9525" cy="25736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2-table-1"/>
          <p:cNvGrpSpPr/>
          <p:nvPr/>
        </p:nvGrpSpPr>
        <p:grpSpPr>
          <a:xfrm>
            <a:off x="6248400" y="1524000"/>
            <a:ext cx="5410200" cy="2360295"/>
            <a:chOff x="6248400" y="1524000"/>
            <a:chExt cx="5410200" cy="2360295"/>
          </a:xfrm>
        </p:grpSpPr>
        <p:sp>
          <p:nvSpPr>
            <p:cNvPr id="33" name="Rectangle 33"/>
            <p:cNvSpPr/>
            <p:nvPr/>
          </p:nvSpPr>
          <p:spPr>
            <a:xfrm>
              <a:off x="6248400" y="1524000"/>
              <a:ext cx="5410200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05944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方向分类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0676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625137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函数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53747" y="219170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一对多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27202" y="2085022"/>
              <a:ext cx="23286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一个进程（Root）向其他所有进程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发送消息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32302" y="2191702"/>
              <a:ext cx="12499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Bcast、Scatter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25927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48400" y="2597468"/>
              <a:ext cx="5410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53747" y="283559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多对一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27202" y="2728912"/>
              <a:ext cx="23286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一个进程（Root）从其他所有进程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接收消息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032302" y="2835592"/>
              <a:ext cx="12499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Gather、Reduce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32365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53747" y="347948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多对多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27202" y="3372802"/>
              <a:ext cx="2298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每个进程都向其他所有进程发送或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032302" y="3372802"/>
              <a:ext cx="13609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Allgather、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Alltoall、Allreduce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1524000"/>
              <a:ext cx="5410200" cy="2360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217092" y="1524000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922192" y="1524000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2-card-2"/>
          <p:cNvGrpSpPr/>
          <p:nvPr/>
        </p:nvGrpSpPr>
        <p:grpSpPr>
          <a:xfrm>
            <a:off x="6248400" y="4070032"/>
            <a:ext cx="5410200" cy="1914525"/>
            <a:chOff x="6248400" y="4070032"/>
            <a:chExt cx="5410200" cy="1914525"/>
          </a:xfrm>
        </p:grpSpPr>
        <p:sp>
          <p:nvSpPr>
            <p:cNvPr id="53" name="Rectangle 53"/>
            <p:cNvSpPr/>
            <p:nvPr/>
          </p:nvSpPr>
          <p:spPr>
            <a:xfrm>
              <a:off x="6248400" y="4070032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52235" y="4273868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25692" y="430958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写法上的约定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459855" y="470725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616446" y="4646771"/>
              <a:ext cx="461314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组内每个进程都要调用同一个集合函数，root 和通信器要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一致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459855" y="529875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16446" y="5238274"/>
              <a:ext cx="40056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没有 tag 参数，也不用自己写 Send/Recv 配对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459855" y="561879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616446" y="5558314"/>
              <a:ext cx="39237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只在某个 if 分支里调用，其他进程就会一直等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61909" cy="909257"/>
            <a:chOff x="520446" y="342900"/>
            <a:chExt cx="70619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集合通信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619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同步点与 MPI_Barrier：到齐了才一起往下走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1" name="c1-cells-1"/>
          <p:cNvGrpSpPr/>
          <p:nvPr/>
        </p:nvGrpSpPr>
        <p:grpSpPr>
          <a:xfrm>
            <a:off x="528066" y="1524000"/>
            <a:ext cx="5631751" cy="2125028"/>
            <a:chOff x="528066" y="1524000"/>
            <a:chExt cx="5631751" cy="2125028"/>
          </a:xfrm>
        </p:grpSpPr>
        <p:sp>
          <p:nvSpPr>
            <p:cNvPr id="7" name="TextBox 7"/>
            <p:cNvSpPr txBox="1"/>
            <p:nvPr/>
          </p:nvSpPr>
          <p:spPr>
            <a:xfrm>
              <a:off x="528066" y="166211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P0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21055" y="1524000"/>
              <a:ext cx="106775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07770" y="166211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888808" y="1524000"/>
              <a:ext cx="106775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275522" y="166211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956560" y="1524000"/>
              <a:ext cx="106775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343275" y="166211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024312" y="1524000"/>
              <a:ext cx="1067752" cy="4067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411980" y="166211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到达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092065" y="1524000"/>
              <a:ext cx="1067752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479733" y="166211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继续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8066" y="223456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21055" y="2096452"/>
              <a:ext cx="106775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07770" y="223456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888808" y="2096452"/>
              <a:ext cx="1067752" cy="4067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275522" y="223456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到达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956560" y="2096452"/>
              <a:ext cx="1067752" cy="4067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343275" y="223456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024312" y="2096452"/>
              <a:ext cx="1067752" cy="4067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411980" y="223456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092065" y="2096452"/>
              <a:ext cx="1067752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479733" y="223456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继续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8066" y="280797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21055" y="2669858"/>
              <a:ext cx="106775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207770" y="2807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888808" y="2669858"/>
              <a:ext cx="106775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275522" y="2807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956560" y="2669858"/>
              <a:ext cx="1067752" cy="4067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343275" y="2807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到达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024312" y="2669858"/>
              <a:ext cx="1067752" cy="4067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411980" y="2807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092065" y="2669858"/>
              <a:ext cx="1067752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479733" y="2807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继续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28066" y="3380423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21055" y="3242310"/>
              <a:ext cx="1067752" cy="4067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207770" y="33804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到达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888808" y="3242310"/>
              <a:ext cx="1067752" cy="4067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275522" y="33804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956560" y="3242310"/>
              <a:ext cx="1067752" cy="4067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343275" y="33804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024312" y="3242310"/>
              <a:ext cx="1067752" cy="4067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411980" y="33804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092065" y="3242310"/>
              <a:ext cx="1067752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479733" y="33804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继续</a:t>
              </a:r>
            </a:p>
          </p:txBody>
        </p:sp>
      </p:grpSp>
      <p:grpSp>
        <p:nvGrpSpPr>
          <p:cNvPr id="53" name="c1-text-2"/>
          <p:cNvGrpSpPr/>
          <p:nvPr/>
        </p:nvGrpSpPr>
        <p:grpSpPr>
          <a:xfrm>
            <a:off x="527304" y="3853815"/>
            <a:ext cx="5300472" cy="470916"/>
            <a:chOff x="527304" y="3853815"/>
            <a:chExt cx="5300472" cy="470916"/>
          </a:xfrm>
        </p:grpSpPr>
        <p:sp>
          <p:nvSpPr>
            <p:cNvPr id="52" name="TextBox 52"/>
            <p:cNvSpPr txBox="1"/>
            <p:nvPr/>
          </p:nvSpPr>
          <p:spPr>
            <a:xfrm>
              <a:off x="527304" y="3853815"/>
              <a:ext cx="530047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最慢的 P0 到达后，四个进程同时越过屏障。先到的进程白白等待，负载越不均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衡，等得越久。</a:t>
              </a:r>
            </a:p>
          </p:txBody>
        </p:sp>
      </p:grpSp>
      <p:grpSp>
        <p:nvGrpSpPr>
          <p:cNvPr id="57" name="c1-code-3"/>
          <p:cNvGrpSpPr/>
          <p:nvPr/>
        </p:nvGrpSpPr>
        <p:grpSpPr>
          <a:xfrm>
            <a:off x="533400" y="4463415"/>
            <a:ext cx="5626418" cy="1516380"/>
            <a:chOff x="533400" y="4463415"/>
            <a:chExt cx="5626418" cy="1516380"/>
          </a:xfrm>
        </p:grpSpPr>
        <p:sp>
          <p:nvSpPr>
            <p:cNvPr id="54" name="Rectangle 54"/>
            <p:cNvSpPr/>
            <p:nvPr/>
          </p:nvSpPr>
          <p:spPr>
            <a:xfrm>
              <a:off x="533400" y="4463415"/>
              <a:ext cx="5626418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1797" y="461533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常见用法：计时前先对齐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1035" y="4877276"/>
              <a:ext cx="2201926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MPI_Barrier(MPI_COMM_WORLD);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t0 = MPI_Wtime();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work();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MPI_Barrier(MPI_COMM_WORLD);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 = MPI_Wtime() - t0;</a:t>
              </a:r>
            </a:p>
          </p:txBody>
        </p:sp>
      </p:grpSp>
      <p:grpSp>
        <p:nvGrpSpPr>
          <p:cNvPr id="63" name="c2-card-1"/>
          <p:cNvGrpSpPr/>
          <p:nvPr/>
        </p:nvGrpSpPr>
        <p:grpSpPr>
          <a:xfrm>
            <a:off x="6464618" y="1524000"/>
            <a:ext cx="5193982" cy="1545908"/>
            <a:chOff x="6464618" y="1524000"/>
            <a:chExt cx="5193982" cy="1545908"/>
          </a:xfrm>
        </p:grpSpPr>
        <p:sp>
          <p:nvSpPr>
            <p:cNvPr id="58" name="Rectangle 58"/>
            <p:cNvSpPr/>
            <p:nvPr/>
          </p:nvSpPr>
          <p:spPr>
            <a:xfrm>
              <a:off x="6464618" y="1524000"/>
              <a:ext cx="5193982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474142" y="165735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706552" y="1727835"/>
              <a:ext cx="3324225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688736" y="1763554"/>
              <a:ext cx="33598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屏障 MPI_Barrier(MPI_Comm communicator)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99314" y="2100739"/>
              <a:ext cx="45229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所有进程执行代码时，必须都先到达这个同步点才能继续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执行后面的代码。调用返回后，可以保证组内所有进程都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已执行完调用之前的操作。</a:t>
              </a:r>
            </a:p>
          </p:txBody>
        </p:sp>
      </p:grpSp>
      <p:grpSp>
        <p:nvGrpSpPr>
          <p:cNvPr id="69" name="c2-card-2"/>
          <p:cNvGrpSpPr/>
          <p:nvPr/>
        </p:nvGrpSpPr>
        <p:grpSpPr>
          <a:xfrm>
            <a:off x="6464618" y="3255645"/>
            <a:ext cx="5193982" cy="2088832"/>
            <a:chOff x="6464618" y="3255645"/>
            <a:chExt cx="5193982" cy="2088832"/>
          </a:xfrm>
        </p:grpSpPr>
        <p:sp>
          <p:nvSpPr>
            <p:cNvPr id="64" name="Rectangle 64"/>
            <p:cNvSpPr/>
            <p:nvPr/>
          </p:nvSpPr>
          <p:spPr>
            <a:xfrm>
              <a:off x="6464618" y="3255645"/>
              <a:ext cx="5193982" cy="2088832"/>
            </a:xfrm>
            <a:prstGeom prst="roundRect">
              <a:avLst>
                <a:gd name="adj" fmla="val 63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474142" y="3388995"/>
              <a:ext cx="47625" cy="18221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706552" y="345948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797713" y="349519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699314" y="3832384"/>
              <a:ext cx="4531995" cy="1364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原课件说集合通信都在进程间引入同步点、返回后组内所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有进程都已执行完之前的操作。MPI 标准只对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MPI_Barrier 这样保证；其他集合函数返回只表示本进程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的缓冲区可以用了，比如 Bcast 的根进程可能在别人还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没开始接收时就已返回。</a:t>
              </a:r>
            </a:p>
          </p:txBody>
        </p:sp>
      </p:grpSp>
      <p:grpSp>
        <p:nvGrpSpPr>
          <p:cNvPr id="76" name="c2-callout-3"/>
          <p:cNvGrpSpPr/>
          <p:nvPr/>
        </p:nvGrpSpPr>
        <p:grpSpPr>
          <a:xfrm>
            <a:off x="6464618" y="5530215"/>
            <a:ext cx="5193982" cy="756285"/>
            <a:chOff x="6464618" y="5530215"/>
            <a:chExt cx="5193982" cy="756285"/>
          </a:xfrm>
        </p:grpSpPr>
        <p:sp>
          <p:nvSpPr>
            <p:cNvPr id="70" name="Rectangle 70"/>
            <p:cNvSpPr/>
            <p:nvPr/>
          </p:nvSpPr>
          <p:spPr>
            <a:xfrm>
              <a:off x="6464618" y="5530215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6657347" y="5804653"/>
              <a:ext cx="224134" cy="192560"/>
              <a:chOff x="6657347" y="5804653"/>
              <a:chExt cx="224134" cy="19256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6769418" y="587502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657347" y="580465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769418" y="59528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6971729" y="5677376"/>
              <a:ext cx="369341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需要“大家都到了”的效果，就显式调用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MPI_Barrier，不要拿 Bcast、Reduce 代替。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32327" cy="909257"/>
            <a:chOff x="520446" y="342900"/>
            <a:chExt cx="81323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集合通信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323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广播 MPI_Bcast：根进程的一份数据，人人一份拷贝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1922145"/>
            <a:chOff x="533400" y="1524000"/>
            <a:chExt cx="5410200" cy="19221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076702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MPI_Bcast(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* data,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根：要发送的数据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其他：接收数据的位置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count,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MPI_Datatype datatype,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root,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MPI_Comm communicator);</a:t>
              </a:r>
            </a:p>
          </p:txBody>
        </p:sp>
      </p:grpSp>
      <p:grpSp>
        <p:nvGrpSpPr>
          <p:cNvPr id="15" name="c1-card-2"/>
          <p:cNvGrpSpPr/>
          <p:nvPr/>
        </p:nvGrpSpPr>
        <p:grpSpPr>
          <a:xfrm>
            <a:off x="533400" y="3636645"/>
            <a:ext cx="5410200" cy="1602105"/>
            <a:chOff x="533400" y="3636645"/>
            <a:chExt cx="5410200" cy="1602105"/>
          </a:xfrm>
        </p:grpSpPr>
        <p:sp>
          <p:nvSpPr>
            <p:cNvPr id="11" name="Rectangle 11"/>
            <p:cNvSpPr/>
            <p:nvPr/>
          </p:nvSpPr>
          <p:spPr>
            <a:xfrm>
              <a:off x="533400" y="3636645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42950" y="38461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3158" y="38819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5330" y="4223385"/>
              <a:ext cx="46443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所有进程写同一行 </a:t>
              </a:r>
              <a:r>
                <a:rPr lang="en-US" sz="1500" dirty="0">
                  <a:solidFill>
                    <a:srgbClr val="E7EDF3"/>
                  </a:solidFill>
                  <a:latin typeface="+mn-lt"/>
                  <a:ea typeface="+mn-ea"/>
                  <a:cs typeface="+mn-cs"/>
                </a:rPr>
                <a:t>MPI_Bcast(&amp;data, 1, MPI_INT, 0,</a:t>
              </a:r>
              <a:br/>
              <a:r>
                <a:rPr lang="en-US" sz="1500" dirty="0">
                  <a:solidFill>
                    <a:srgbClr val="E7EDF3"/>
                  </a:solidFill>
                  <a:latin typeface="+mn-lt"/>
                  <a:ea typeface="+mn-ea"/>
                  <a:cs typeface="+mn-cs"/>
                </a:rPr>
                <a:t>MPI_COMM_WORLD)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。根进程执行时是“发”，其他进程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执行时是“收”，不用另写 MPI_Recv。</a:t>
              </a:r>
            </a:p>
          </p:txBody>
        </p:sp>
      </p:grpSp>
      <p:grpSp>
        <p:nvGrpSpPr>
          <p:cNvPr id="39" name="c2-graph-1"/>
          <p:cNvGrpSpPr/>
          <p:nvPr/>
        </p:nvGrpSpPr>
        <p:grpSpPr>
          <a:xfrm>
            <a:off x="6783004" y="1676400"/>
            <a:ext cx="4340992" cy="1752314"/>
            <a:chOff x="6783004" y="1676400"/>
            <a:chExt cx="4340992" cy="1752314"/>
          </a:xfrm>
        </p:grpSpPr>
        <p:sp>
          <p:nvSpPr>
            <p:cNvPr id="16" name="Freeform 16"/>
            <p:cNvSpPr/>
            <p:nvPr/>
          </p:nvSpPr>
          <p:spPr>
            <a:xfrm>
              <a:off x="7223760" y="1914525"/>
              <a:ext cx="1592580" cy="997267"/>
            </a:xfrm>
            <a:custGeom>
              <a:avLst/>
              <a:gdLst/>
              <a:ahLst/>
              <a:cxnLst/>
              <a:rect l="l" t="t" r="r" b="b"/>
              <a:pathLst>
                <a:path w="1592580" h="997267">
                  <a:moveTo>
                    <a:pt x="1592580" y="0"/>
                  </a:moveTo>
                  <a:lnTo>
                    <a:pt x="0" y="99726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142798" y="2870835"/>
              <a:ext cx="106680" cy="91440"/>
            </a:xfrm>
            <a:custGeom>
              <a:avLst/>
              <a:gdLst/>
              <a:ahLst/>
              <a:cxnLst/>
              <a:rect l="l" t="t" r="r" b="b"/>
              <a:pathLst>
                <a:path w="106680" h="91440">
                  <a:moveTo>
                    <a:pt x="0" y="91440"/>
                  </a:moveTo>
                  <a:lnTo>
                    <a:pt x="56197" y="0"/>
                  </a:lnTo>
                  <a:lnTo>
                    <a:pt x="106680" y="8096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8424862" y="1971675"/>
              <a:ext cx="452438" cy="849630"/>
            </a:xfrm>
            <a:custGeom>
              <a:avLst/>
              <a:gdLst/>
              <a:ahLst/>
              <a:cxnLst/>
              <a:rect l="l" t="t" r="r" b="b"/>
              <a:pathLst>
                <a:path w="452438" h="849630">
                  <a:moveTo>
                    <a:pt x="452438" y="0"/>
                  </a:moveTo>
                  <a:lnTo>
                    <a:pt x="0" y="8496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8380095" y="2798445"/>
              <a:ext cx="86678" cy="106680"/>
            </a:xfrm>
            <a:custGeom>
              <a:avLst/>
              <a:gdLst/>
              <a:ahLst/>
              <a:cxnLst/>
              <a:rect l="l" t="t" r="r" b="b"/>
              <a:pathLst>
                <a:path w="86678" h="106680">
                  <a:moveTo>
                    <a:pt x="0" y="106680"/>
                  </a:moveTo>
                  <a:lnTo>
                    <a:pt x="2858" y="0"/>
                  </a:lnTo>
                  <a:lnTo>
                    <a:pt x="86678" y="4476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9029700" y="1971675"/>
              <a:ext cx="452438" cy="849630"/>
            </a:xfrm>
            <a:custGeom>
              <a:avLst/>
              <a:gdLst/>
              <a:ahLst/>
              <a:cxnLst/>
              <a:rect l="l" t="t" r="r" b="b"/>
              <a:pathLst>
                <a:path w="452438" h="849630">
                  <a:moveTo>
                    <a:pt x="0" y="0"/>
                  </a:moveTo>
                  <a:lnTo>
                    <a:pt x="452438" y="8496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9440228" y="2798445"/>
              <a:ext cx="86678" cy="106680"/>
            </a:xfrm>
            <a:custGeom>
              <a:avLst/>
              <a:gdLst/>
              <a:ahLst/>
              <a:cxnLst/>
              <a:rect l="l" t="t" r="r" b="b"/>
              <a:pathLst>
                <a:path w="86678" h="106680">
                  <a:moveTo>
                    <a:pt x="86678" y="106680"/>
                  </a:moveTo>
                  <a:lnTo>
                    <a:pt x="0" y="44767"/>
                  </a:lnTo>
                  <a:lnTo>
                    <a:pt x="8382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9090660" y="1914525"/>
              <a:ext cx="1592580" cy="997267"/>
            </a:xfrm>
            <a:custGeom>
              <a:avLst/>
              <a:gdLst/>
              <a:ahLst/>
              <a:cxnLst/>
              <a:rect l="l" t="t" r="r" b="b"/>
              <a:pathLst>
                <a:path w="1592580" h="997267">
                  <a:moveTo>
                    <a:pt x="0" y="0"/>
                  </a:moveTo>
                  <a:lnTo>
                    <a:pt x="1592580" y="99726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0657522" y="2870835"/>
              <a:ext cx="106680" cy="91440"/>
            </a:xfrm>
            <a:custGeom>
              <a:avLst/>
              <a:gdLst/>
              <a:ahLst/>
              <a:cxnLst/>
              <a:rect l="l" t="t" r="r" b="b"/>
              <a:pathLst>
                <a:path w="106680" h="91440">
                  <a:moveTo>
                    <a:pt x="106680" y="91440"/>
                  </a:moveTo>
                  <a:lnTo>
                    <a:pt x="0" y="80962"/>
                  </a:lnTo>
                  <a:lnTo>
                    <a:pt x="5048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8801100" y="1676400"/>
              <a:ext cx="304800" cy="304800"/>
            </a:xfrm>
            <a:prstGeom prst="ellipse">
              <a:avLst/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6853238" y="28956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8151495" y="28956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9450705" y="28956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10748962" y="28956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900758" y="17545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158097" y="1768316"/>
              <a:ext cx="4452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data=1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52896" y="29737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83004" y="3238024"/>
              <a:ext cx="4452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data=1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51153" y="29737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81261" y="3238024"/>
              <a:ext cx="4452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data=1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50363" y="29737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380471" y="3238024"/>
              <a:ext cx="4452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data=1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848621" y="29737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678729" y="3238024"/>
              <a:ext cx="4452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data=1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6248400" y="3619500"/>
            <a:ext cx="5410200" cy="1619250"/>
            <a:chOff x="6248400" y="3619500"/>
            <a:chExt cx="5410200" cy="1619250"/>
          </a:xfrm>
        </p:grpSpPr>
        <p:sp>
          <p:nvSpPr>
            <p:cNvPr id="40" name="Rectangle 40"/>
            <p:cNvSpPr/>
            <p:nvPr/>
          </p:nvSpPr>
          <p:spPr>
            <a:xfrm>
              <a:off x="6248400" y="3619500"/>
              <a:ext cx="5410200" cy="1619250"/>
            </a:xfrm>
            <a:prstGeom prst="roundRect">
              <a:avLst>
                <a:gd name="adj" fmla="val 82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57925" y="3752850"/>
              <a:ext cx="47625" cy="13525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96050" y="3829050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52756" y="386476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为什么不自己写循环发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88430" y="4206240"/>
              <a:ext cx="47205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根进程用循环发 N − 1 次，要依次付 N − 1 次启动延迟。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 实现一般用树形转发：收到的进程接着转发，约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log₂N 轮就能传遍，N = 64 时 6 轮对 63 次。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6" name="Rectangle 4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130" y="5991225"/>
              <a:ext cx="82842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广播适合“人人都要同一份”的数据：问题规模 n、迭代次数、根进程读入的参数或初始向量。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83903" cy="909257"/>
            <a:chOff x="520446" y="342900"/>
            <a:chExt cx="818390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集合通信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839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分发 MPI_Scatter：把一组数据切块，每个进程一块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207895"/>
            <a:chOff x="533400" y="1524000"/>
            <a:chExt cx="5410200" cy="22078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07895"/>
            </a:xfrm>
            <a:prstGeom prst="roundRect">
              <a:avLst>
                <a:gd name="adj" fmla="val 43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2984373" cy="1721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MPI_Scatter(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* send_data,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要分发的全部数据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send_count,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每个进程分到几个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MPI_Datatype send_datatype,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* recv_data,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recv_count,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MPI_Datatype recv_datatype,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root,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MPI_Comm communicator);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3907155"/>
            <a:ext cx="5410200" cy="729615"/>
            <a:chOff x="533400" y="3907155"/>
            <a:chExt cx="5410200" cy="729615"/>
          </a:xfrm>
        </p:grpSpPr>
        <p:sp>
          <p:nvSpPr>
            <p:cNvPr id="11" name="Rectangle 11"/>
            <p:cNvSpPr/>
            <p:nvPr/>
          </p:nvSpPr>
          <p:spPr>
            <a:xfrm>
              <a:off x="533400" y="390715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4171950"/>
              <a:ext cx="200026" cy="200025"/>
              <a:chOff x="738188" y="4171950"/>
              <a:chExt cx="200026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41719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7926" y="42164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12642" y="43275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892" y="4053840"/>
              <a:ext cx="445427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send_data、send_count、send_datatype 只在根进程上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有意义；send_count 是每块的个数，不是总数。</a:t>
              </a:r>
            </a:p>
          </p:txBody>
        </p:sp>
      </p:grpSp>
      <p:grpSp>
        <p:nvGrpSpPr>
          <p:cNvPr id="23" name="c1-card-3"/>
          <p:cNvGrpSpPr/>
          <p:nvPr/>
        </p:nvGrpSpPr>
        <p:grpSpPr>
          <a:xfrm>
            <a:off x="533400" y="4812030"/>
            <a:ext cx="5410200" cy="1254442"/>
            <a:chOff x="533400" y="4812030"/>
            <a:chExt cx="5410200" cy="1254442"/>
          </a:xfrm>
        </p:grpSpPr>
        <p:sp>
          <p:nvSpPr>
            <p:cNvPr id="18" name="Rectangle 18"/>
            <p:cNvSpPr/>
            <p:nvPr/>
          </p:nvSpPr>
          <p:spPr>
            <a:xfrm>
              <a:off x="533400" y="481203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945380"/>
              <a:ext cx="47625" cy="9877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63905" y="500443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5345" y="503872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7047" y="5360670"/>
              <a:ext cx="473716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原课件的图里根 0 持有 1,2,3,4，只分给 1–4 号。根进程也属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于通信器，同样分到第 0 块，5 个进程要准备 5 块数据。</a:t>
              </a:r>
            </a:p>
          </p:txBody>
        </p:sp>
      </p:grpSp>
      <p:grpSp>
        <p:nvGrpSpPr>
          <p:cNvPr id="25" name="c2-text-1"/>
          <p:cNvGrpSpPr/>
          <p:nvPr/>
        </p:nvGrpSpPr>
        <p:grpSpPr>
          <a:xfrm>
            <a:off x="6242685" y="1542574"/>
            <a:ext cx="2408743" cy="220028"/>
            <a:chOff x="6242685" y="1542574"/>
            <a:chExt cx="2408743" cy="220028"/>
          </a:xfrm>
        </p:grpSpPr>
        <p:sp>
          <p:nvSpPr>
            <p:cNvPr id="24" name="TextBox 24"/>
            <p:cNvSpPr txBox="1"/>
            <p:nvPr/>
          </p:nvSpPr>
          <p:spPr>
            <a:xfrm>
              <a:off x="6242685" y="1542574"/>
              <a:ext cx="2408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 个进程、根为 0、send_count = 1</a:t>
              </a:r>
            </a:p>
          </p:txBody>
        </p:sp>
      </p:grpSp>
      <p:grpSp>
        <p:nvGrpSpPr>
          <p:cNvPr id="42" name="c2-cells-2"/>
          <p:cNvGrpSpPr/>
          <p:nvPr/>
        </p:nvGrpSpPr>
        <p:grpSpPr>
          <a:xfrm>
            <a:off x="6243066" y="1893570"/>
            <a:ext cx="5415534" cy="596741"/>
            <a:chOff x="6243066" y="1893570"/>
            <a:chExt cx="5415534" cy="596741"/>
          </a:xfrm>
        </p:grpSpPr>
        <p:sp>
          <p:nvSpPr>
            <p:cNvPr id="26" name="TextBox 26"/>
            <p:cNvSpPr txBox="1"/>
            <p:nvPr/>
          </p:nvSpPr>
          <p:spPr>
            <a:xfrm>
              <a:off x="6243066" y="2018348"/>
              <a:ext cx="12432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根 0 的 send_data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544752" y="1893570"/>
              <a:ext cx="822960" cy="3810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910083" y="201834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367712" y="1893570"/>
              <a:ext cx="82296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733043" y="201834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189720" y="1893570"/>
              <a:ext cx="82296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555051" y="201834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0012680" y="1893570"/>
              <a:ext cx="82296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378011" y="201834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0835640" y="1893570"/>
              <a:ext cx="82296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200971" y="201834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21113" y="23283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44073" y="23283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566081" y="23283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389041" y="23283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12001" y="23283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58" name="c2-cells-3"/>
          <p:cNvGrpSpPr/>
          <p:nvPr/>
        </p:nvGrpSpPr>
        <p:grpSpPr>
          <a:xfrm>
            <a:off x="6243066" y="2630805"/>
            <a:ext cx="1755076" cy="2530793"/>
            <a:chOff x="6243066" y="2630805"/>
            <a:chExt cx="1755076" cy="2530793"/>
          </a:xfrm>
        </p:grpSpPr>
        <p:sp>
          <p:nvSpPr>
            <p:cNvPr id="43" name="TextBox 43"/>
            <p:cNvSpPr txBox="1"/>
            <p:nvPr/>
          </p:nvSpPr>
          <p:spPr>
            <a:xfrm>
              <a:off x="6243066" y="2756535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进程 0 收到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076122" y="2630805"/>
              <a:ext cx="922020" cy="3810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490983" y="275653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43066" y="3293745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进程 1 收到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076122" y="3168015"/>
              <a:ext cx="92202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490983" y="32937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43066" y="3830955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进程 2 收到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076122" y="3705225"/>
              <a:ext cx="92202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490983" y="383095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43066" y="4368165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进程 3 收到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076122" y="4243388"/>
              <a:ext cx="92202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90983" y="43681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43066" y="4905375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进程 4 收到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076122" y="4780598"/>
              <a:ext cx="92202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490983" y="49053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</p:grpSp>
      <p:grpSp>
        <p:nvGrpSpPr>
          <p:cNvPr id="65" name="c2-callout-4"/>
          <p:cNvGrpSpPr/>
          <p:nvPr/>
        </p:nvGrpSpPr>
        <p:grpSpPr>
          <a:xfrm>
            <a:off x="6248400" y="5336858"/>
            <a:ext cx="5410200" cy="729615"/>
            <a:chOff x="6248400" y="5336858"/>
            <a:chExt cx="5410200" cy="729615"/>
          </a:xfrm>
        </p:grpSpPr>
        <p:sp>
          <p:nvSpPr>
            <p:cNvPr id="59" name="Rectangle 59"/>
            <p:cNvSpPr/>
            <p:nvPr/>
          </p:nvSpPr>
          <p:spPr>
            <a:xfrm>
              <a:off x="6248400" y="5336858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453188" y="5601653"/>
              <a:ext cx="200026" cy="200025"/>
              <a:chOff x="6453188" y="5601653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453188" y="56016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492926" y="56461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527642" y="57572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6755892" y="5482590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分发与广播的区别：广播人人拿到同一份，分发每人拿到不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同的一块。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95630" cy="909257"/>
            <a:chOff x="520446" y="342900"/>
            <a:chExt cx="899563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集合通信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956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收集 MPI_Gather：各进程的数据按 rank 顺序拼到根进程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327910"/>
            <a:chOff x="533400" y="1524000"/>
            <a:chExt cx="5410200" cy="23279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327910"/>
            </a:xfrm>
            <a:prstGeom prst="roundRect">
              <a:avLst>
                <a:gd name="adj" fmla="val 40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261614" cy="1843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MPI_Gather(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* send_data,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send_count,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MPI_Datatype send_datatype,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* recv_data,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只在根上有意义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recv_count,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从每个进程收几个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MPI_Datatype recv_datatype,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root,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MPI_Comm communicator);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4042410"/>
            <a:ext cx="5410200" cy="1059180"/>
            <a:chOff x="533400" y="4042410"/>
            <a:chExt cx="5410200" cy="1059180"/>
          </a:xfrm>
        </p:grpSpPr>
        <p:sp>
          <p:nvSpPr>
            <p:cNvPr id="11" name="Rectangle 11"/>
            <p:cNvSpPr/>
            <p:nvPr/>
          </p:nvSpPr>
          <p:spPr>
            <a:xfrm>
              <a:off x="533400" y="4042410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26129" y="4468296"/>
              <a:ext cx="224134" cy="192560"/>
              <a:chOff x="726129" y="4468296"/>
              <a:chExt cx="224134" cy="19256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38200" y="4538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26129" y="4468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38200" y="4616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4191000"/>
              <a:ext cx="44157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常见错误：把根进程的 recv_count 写成总数。它是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从每一个进程收的个数，根的接收缓冲区总长是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recv_count × 进程数。</a:t>
              </a:r>
            </a:p>
          </p:txBody>
        </p:sp>
      </p:grpSp>
      <p:grpSp>
        <p:nvGrpSpPr>
          <p:cNvPr id="24" name="c1-callout-3"/>
          <p:cNvGrpSpPr/>
          <p:nvPr/>
        </p:nvGrpSpPr>
        <p:grpSpPr>
          <a:xfrm>
            <a:off x="533400" y="5292090"/>
            <a:ext cx="5410200" cy="938212"/>
            <a:chOff x="533400" y="5292090"/>
            <a:chExt cx="5410200" cy="938212"/>
          </a:xfrm>
        </p:grpSpPr>
        <p:sp>
          <p:nvSpPr>
            <p:cNvPr id="18" name="Rectangle 18"/>
            <p:cNvSpPr/>
            <p:nvPr/>
          </p:nvSpPr>
          <p:spPr>
            <a:xfrm>
              <a:off x="533400" y="5292090"/>
              <a:ext cx="5410200" cy="938212"/>
            </a:xfrm>
            <a:prstGeom prst="roundRect">
              <a:avLst>
                <a:gd name="adj" fmla="val 1218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5661660"/>
              <a:ext cx="200026" cy="200026"/>
              <a:chOff x="738188" y="5661660"/>
              <a:chExt cx="200026" cy="20002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56616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38200" y="57283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27088" y="576167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130" y="5518785"/>
              <a:ext cx="44443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原课件的图里只画了 1–4 号的数据收到根上。根自己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的那份也会放进 recv_data 的第 0 块。</a:t>
              </a:r>
            </a:p>
          </p:txBody>
        </p:sp>
      </p:grpSp>
      <p:grpSp>
        <p:nvGrpSpPr>
          <p:cNvPr id="26" name="c2-text-1"/>
          <p:cNvGrpSpPr/>
          <p:nvPr/>
        </p:nvGrpSpPr>
        <p:grpSpPr>
          <a:xfrm>
            <a:off x="6241923" y="1545431"/>
            <a:ext cx="3235218" cy="249364"/>
            <a:chOff x="6241923" y="1545431"/>
            <a:chExt cx="3235218" cy="249364"/>
          </a:xfrm>
        </p:grpSpPr>
        <p:sp>
          <p:nvSpPr>
            <p:cNvPr id="25" name="TextBox 25"/>
            <p:cNvSpPr txBox="1"/>
            <p:nvPr/>
          </p:nvSpPr>
          <p:spPr>
            <a:xfrm>
              <a:off x="6241923" y="1545431"/>
              <a:ext cx="3235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与分发相反：5 个进程各出一个数，根为 0</a:t>
              </a:r>
            </a:p>
          </p:txBody>
        </p:sp>
      </p:grpSp>
      <p:grpSp>
        <p:nvGrpSpPr>
          <p:cNvPr id="42" name="c2-cells-2"/>
          <p:cNvGrpSpPr/>
          <p:nvPr/>
        </p:nvGrpSpPr>
        <p:grpSpPr>
          <a:xfrm>
            <a:off x="6242685" y="1934528"/>
            <a:ext cx="1802130" cy="2781300"/>
            <a:chOff x="6242685" y="1934528"/>
            <a:chExt cx="1802130" cy="2781300"/>
          </a:xfrm>
        </p:grpSpPr>
        <p:sp>
          <p:nvSpPr>
            <p:cNvPr id="27" name="TextBox 27"/>
            <p:cNvSpPr txBox="1"/>
            <p:nvPr/>
          </p:nvSpPr>
          <p:spPr>
            <a:xfrm>
              <a:off x="6242685" y="2074069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进程 0 发出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122795" y="1934528"/>
              <a:ext cx="922020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34554" y="20740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42685" y="2664619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进程 1 发出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122795" y="2525078"/>
              <a:ext cx="9220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34554" y="26646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42685" y="3255169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进程 2 发出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122795" y="3115628"/>
              <a:ext cx="9220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34554" y="3255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42685" y="3845719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进程 3 发出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122795" y="3706178"/>
              <a:ext cx="9220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34554" y="38457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42685" y="4436269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进程 4 发出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122795" y="4296728"/>
              <a:ext cx="9220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34554" y="44362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</p:grpSp>
      <p:grpSp>
        <p:nvGrpSpPr>
          <p:cNvPr id="59" name="c2-cells-3"/>
          <p:cNvGrpSpPr/>
          <p:nvPr/>
        </p:nvGrpSpPr>
        <p:grpSpPr>
          <a:xfrm>
            <a:off x="6242685" y="4906328"/>
            <a:ext cx="5415915" cy="634841"/>
            <a:chOff x="6242685" y="4906328"/>
            <a:chExt cx="5415915" cy="634841"/>
          </a:xfrm>
        </p:grpSpPr>
        <p:sp>
          <p:nvSpPr>
            <p:cNvPr id="43" name="TextBox 43"/>
            <p:cNvSpPr txBox="1"/>
            <p:nvPr/>
          </p:nvSpPr>
          <p:spPr>
            <a:xfrm>
              <a:off x="6242685" y="5045869"/>
              <a:ext cx="13261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根 0 的 recv_data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621905" y="4906328"/>
              <a:ext cx="807720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976514" y="50458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429625" y="4906328"/>
              <a:ext cx="8077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784234" y="50458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236392" y="4906328"/>
              <a:ext cx="8077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591001" y="50458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0044112" y="4906328"/>
              <a:ext cx="8077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398721" y="50458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0850880" y="4906328"/>
              <a:ext cx="8077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1205489" y="50458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990646" y="53792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798366" y="53792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605133" y="53792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412853" y="53792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219621" y="53792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66" name="c2-callout-4"/>
          <p:cNvGrpSpPr/>
          <p:nvPr/>
        </p:nvGrpSpPr>
        <p:grpSpPr>
          <a:xfrm>
            <a:off x="6248400" y="5696902"/>
            <a:ext cx="5410200" cy="533400"/>
            <a:chOff x="6248400" y="5696902"/>
            <a:chExt cx="5410200" cy="533400"/>
          </a:xfrm>
        </p:grpSpPr>
        <p:sp>
          <p:nvSpPr>
            <p:cNvPr id="60" name="Rectangle 60"/>
            <p:cNvSpPr/>
            <p:nvPr/>
          </p:nvSpPr>
          <p:spPr>
            <a:xfrm>
              <a:off x="6248400" y="5696902"/>
              <a:ext cx="5410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453188" y="5863590"/>
              <a:ext cx="200026" cy="200025"/>
              <a:chOff x="6453188" y="5863590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453188" y="58635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492926" y="59080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527642" y="60191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755130" y="5858828"/>
              <a:ext cx="44173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数据按 rank 顺序排放，与各进程谁先到达无关。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81228" cy="909257"/>
            <a:chOff x="520446" y="342900"/>
            <a:chExt cx="71812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集合通信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812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例：先 Scatter 分块求平均，再 Gather 汇总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059805" cy="2894648"/>
            <a:chOff x="533400" y="1524000"/>
            <a:chExt cx="6059805" cy="28946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894648"/>
            </a:xfrm>
            <a:prstGeom prst="roundRect">
              <a:avLst>
                <a:gd name="adj" fmla="val 329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原课件伪代码（合并两页）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411730"/>
              <a:ext cx="6021705" cy="1704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605212"/>
              <a:ext cx="6021705" cy="1704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949" y="1936337"/>
              <a:ext cx="4277436" cy="24012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(world_rank == 0)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生成一些随机数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rand_nums = create_rand_nums(elements_per_proc * world_size);</a:t>
              </a:r>
              <a:br/>
              <a:r>
                <a:rPr lang="en-US" sz="94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*sub_rand_nums = malloc(</a:t>
              </a:r>
              <a:r>
                <a:rPr lang="en-US" sz="94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sizeof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94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* elements_per_proc);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MPI_Scatter(rand_nums, elements_per_proc, MPI_FLOAT,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sub_rand_nums, elements_per_proc, MPI_FLOAT,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0, MPI_COMM_WORLD);</a:t>
              </a:r>
              <a:br/>
              <a:r>
                <a:rPr lang="en-US" sz="94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sub_avg = compute_avg(sub_rand_nums, elements_per_proc);</a:t>
              </a:r>
              <a:br/>
              <a:r>
                <a:rPr lang="en-US" sz="94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*sub_avgs = </a:t>
              </a:r>
              <a:r>
                <a:rPr lang="en-US" sz="94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94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(world_rank == 0)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sub_avgs = malloc(</a:t>
              </a:r>
              <a:r>
                <a:rPr lang="en-US" sz="94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sizeof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94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* world_size);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MPI_Gather(&amp;sub_avg, 1, MPI_FLOAT, sub_avgs, 1, MPI_FLOAT,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0, MPI_COMM_WORLD);</a:t>
              </a:r>
              <a:br/>
              <a:r>
                <a:rPr lang="en-US" sz="94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(world_rank == 0)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avg = compute_avg(sub_avgs, world_size);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4604385"/>
            <a:ext cx="6059805" cy="1650682"/>
            <a:chOff x="533400" y="4604385"/>
            <a:chExt cx="6059805" cy="1650682"/>
          </a:xfrm>
        </p:grpSpPr>
        <p:sp>
          <p:nvSpPr>
            <p:cNvPr id="13" name="Rectangle 13"/>
            <p:cNvSpPr/>
            <p:nvPr/>
          </p:nvSpPr>
          <p:spPr>
            <a:xfrm>
              <a:off x="533400" y="4604385"/>
              <a:ext cx="6059805" cy="1650682"/>
            </a:xfrm>
            <a:prstGeom prst="roundRect">
              <a:avLst>
                <a:gd name="adj" fmla="val 692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26129" y="5325546"/>
              <a:ext cx="224134" cy="192560"/>
              <a:chOff x="726129" y="5325546"/>
              <a:chExt cx="224134" cy="19256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38200" y="539591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26129" y="532554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38200" y="54737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511" y="5199221"/>
              <a:ext cx="508203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“平均数的平均数”等于总平均，前提是每块个数相同。块大小不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一时要改传各块的和与个数。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6898005" y="1524000"/>
            <a:ext cx="4760595" cy="3789045"/>
            <a:chOff x="6898005" y="1524000"/>
            <a:chExt cx="4760595" cy="3789045"/>
          </a:xfrm>
        </p:grpSpPr>
        <p:sp>
          <p:nvSpPr>
            <p:cNvPr id="20" name="Rectangle 20"/>
            <p:cNvSpPr/>
            <p:nvPr/>
          </p:nvSpPr>
          <p:spPr>
            <a:xfrm>
              <a:off x="6898005" y="1524000"/>
              <a:ext cx="4760595" cy="3789045"/>
            </a:xfrm>
            <a:prstGeom prst="roundRect">
              <a:avLst>
                <a:gd name="adj" fmla="val 35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907530" y="1657350"/>
              <a:ext cx="47625" cy="35223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139940" y="1727835"/>
              <a:ext cx="321087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48518" y="176355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代入数字（4 个进程，每个 2 个数，模拟运行）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139940" y="2077402"/>
              <a:ext cx="4314825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38098" y="220884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73502" y="220884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300141" y="2208848"/>
              <a:ext cx="665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sub_avg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52996" y="263842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77541" y="2638425"/>
              <a:ext cx="327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582237" y="263842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139940" y="2932748"/>
              <a:ext cx="43148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39940" y="2937510"/>
              <a:ext cx="431482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752996" y="30689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977541" y="3068955"/>
              <a:ext cx="327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6, 8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582237" y="306895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139940" y="3363278"/>
              <a:ext cx="43148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752996" y="34994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77541" y="3499485"/>
              <a:ext cx="327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582237" y="349948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139940" y="3792855"/>
              <a:ext cx="43148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139940" y="3797618"/>
              <a:ext cx="431482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752996" y="392906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77541" y="3929062"/>
              <a:ext cx="327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5, 9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582237" y="392906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139940" y="2077402"/>
              <a:ext cx="4314825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466772" y="2077402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806940" y="2077402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32701" y="4343876"/>
              <a:ext cx="397294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根进程收集到 3, 7, 2, 7，平均 (3 + 7 + 2 + 7) ÷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= 4.75，与 8 个数直接求平均 38 ÷ 8 = 4.75 相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同。</a:t>
              </a:r>
            </a:p>
          </p:txBody>
        </p:sp>
      </p:grpSp>
      <p:grpSp>
        <p:nvGrpSpPr>
          <p:cNvPr id="56" name="c2-callout-2"/>
          <p:cNvGrpSpPr/>
          <p:nvPr/>
        </p:nvGrpSpPr>
        <p:grpSpPr>
          <a:xfrm>
            <a:off x="6898005" y="5498782"/>
            <a:ext cx="4760595" cy="756285"/>
            <a:chOff x="6898005" y="5498782"/>
            <a:chExt cx="4760595" cy="756285"/>
          </a:xfrm>
        </p:grpSpPr>
        <p:sp>
          <p:nvSpPr>
            <p:cNvPr id="50" name="Rectangle 50"/>
            <p:cNvSpPr/>
            <p:nvPr/>
          </p:nvSpPr>
          <p:spPr>
            <a:xfrm>
              <a:off x="6898005" y="5498782"/>
              <a:ext cx="476059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102793" y="5776913"/>
              <a:ext cx="200026" cy="200025"/>
              <a:chOff x="7102793" y="5776913"/>
              <a:chExt cx="200026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102793" y="577691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142531" y="582136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177247" y="593248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7405116" y="5645944"/>
              <a:ext cx="385572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两次集合通信各传多少：Scatter 把 8 个数分出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去，Gather 只收回 4 个局部平均。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63339" cy="909257"/>
            <a:chOff x="520446" y="342900"/>
            <a:chExt cx="76633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集合通信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633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多对多：全局收集 Allgather 与全局交换 Alltoall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1313498"/>
            <a:chOff x="533400" y="1524000"/>
            <a:chExt cx="5410200" cy="13134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297174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MPI_Allgather(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const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*sendbuf,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sendcount, MPI_Datatype sendtype,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*recvbuf,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recvcount,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MPI_Datatype recvtype, MPI_Comm comm);</a:t>
              </a:r>
            </a:p>
          </p:txBody>
        </p:sp>
      </p:grpSp>
      <p:grpSp>
        <p:nvGrpSpPr>
          <p:cNvPr id="12" name="c1-text-2"/>
          <p:cNvGrpSpPr/>
          <p:nvPr/>
        </p:nvGrpSpPr>
        <p:grpSpPr>
          <a:xfrm>
            <a:off x="526923" y="3049429"/>
            <a:ext cx="5156515" cy="249364"/>
            <a:chOff x="526923" y="3049429"/>
            <a:chExt cx="5156515" cy="249364"/>
          </a:xfrm>
        </p:grpSpPr>
        <p:sp>
          <p:nvSpPr>
            <p:cNvPr id="11" name="TextBox 11"/>
            <p:cNvSpPr txBox="1"/>
            <p:nvPr/>
          </p:nvSpPr>
          <p:spPr>
            <a:xfrm>
              <a:off x="526923" y="3049429"/>
              <a:ext cx="51565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 个进程各出一个数（左：之前；右：之后），人人得到完整的一份</a:t>
              </a:r>
            </a:p>
          </p:txBody>
        </p:sp>
      </p:grpSp>
      <p:grpSp>
        <p:nvGrpSpPr>
          <p:cNvPr id="52" name="c1-cells-3"/>
          <p:cNvGrpSpPr/>
          <p:nvPr/>
        </p:nvGrpSpPr>
        <p:grpSpPr>
          <a:xfrm>
            <a:off x="527685" y="3438525"/>
            <a:ext cx="5415915" cy="1600200"/>
            <a:chOff x="527685" y="3438525"/>
            <a:chExt cx="5415915" cy="1600200"/>
          </a:xfrm>
        </p:grpSpPr>
        <p:sp>
          <p:nvSpPr>
            <p:cNvPr id="13" name="TextBox 13"/>
            <p:cNvSpPr txBox="1"/>
            <p:nvPr/>
          </p:nvSpPr>
          <p:spPr>
            <a:xfrm>
              <a:off x="527685" y="357806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P0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30580" y="3438525"/>
              <a:ext cx="730568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47089" y="3578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561148" y="3438525"/>
              <a:ext cx="73056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291715" y="3438525"/>
              <a:ext cx="73056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022282" y="3438525"/>
              <a:ext cx="73056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337839" y="3578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752850" y="3438525"/>
              <a:ext cx="730568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068406" y="3578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482465" y="3438525"/>
              <a:ext cx="73056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798974" y="3578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213032" y="3438525"/>
              <a:ext cx="73056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529541" y="3578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7685" y="416861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30580" y="4029075"/>
              <a:ext cx="73056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561148" y="4029075"/>
              <a:ext cx="73056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877656" y="41686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291715" y="4029075"/>
              <a:ext cx="73056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022282" y="4029075"/>
              <a:ext cx="73056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337839" y="41686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752850" y="4029075"/>
              <a:ext cx="730568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068406" y="41686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482465" y="4029075"/>
              <a:ext cx="73056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798974" y="41686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213032" y="4029075"/>
              <a:ext cx="73056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529541" y="41686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7685" y="475916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30580" y="4619625"/>
              <a:ext cx="73056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561148" y="4619625"/>
              <a:ext cx="73056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2291715" y="4619625"/>
              <a:ext cx="73056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607271" y="47591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022282" y="4619625"/>
              <a:ext cx="73056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337839" y="47591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3752850" y="4619625"/>
              <a:ext cx="730568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068406" y="47591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482465" y="4619625"/>
              <a:ext cx="73056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798974" y="47591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213032" y="4619625"/>
              <a:ext cx="73056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529541" y="47591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  <p:grpSp>
        <p:nvGrpSpPr>
          <p:cNvPr id="59" name="c1-callout-4"/>
          <p:cNvGrpSpPr/>
          <p:nvPr/>
        </p:nvGrpSpPr>
        <p:grpSpPr>
          <a:xfrm>
            <a:off x="533400" y="5229225"/>
            <a:ext cx="5410200" cy="782955"/>
            <a:chOff x="533400" y="5229225"/>
            <a:chExt cx="5410200" cy="782955"/>
          </a:xfrm>
        </p:grpSpPr>
        <p:sp>
          <p:nvSpPr>
            <p:cNvPr id="53" name="Rectangle 53"/>
            <p:cNvSpPr/>
            <p:nvPr/>
          </p:nvSpPr>
          <p:spPr>
            <a:xfrm>
              <a:off x="533400" y="522922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5520690"/>
              <a:ext cx="200026" cy="200025"/>
              <a:chOff x="738188" y="5520690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55206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77926" y="55651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12642" y="56762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130" y="5377815"/>
              <a:ext cx="44443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效果等于 Gather 到某个根再 Bcast 给所有人，所以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没有 root 参数。</a:t>
              </a:r>
            </a:p>
          </p:txBody>
        </p:sp>
      </p:grpSp>
      <p:grpSp>
        <p:nvGrpSpPr>
          <p:cNvPr id="63" name="c2-code-1"/>
          <p:cNvGrpSpPr/>
          <p:nvPr/>
        </p:nvGrpSpPr>
        <p:grpSpPr>
          <a:xfrm>
            <a:off x="6248400" y="1524000"/>
            <a:ext cx="5410200" cy="1313498"/>
            <a:chOff x="6248400" y="1524000"/>
            <a:chExt cx="5410200" cy="1313498"/>
          </a:xfrm>
        </p:grpSpPr>
        <p:sp>
          <p:nvSpPr>
            <p:cNvPr id="60" name="Rectangle 60"/>
            <p:cNvSpPr/>
            <p:nvPr/>
          </p:nvSpPr>
          <p:spPr>
            <a:xfrm>
              <a:off x="6248400" y="1524000"/>
              <a:ext cx="5410200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76797" y="16759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376035" y="1937861"/>
              <a:ext cx="3297174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MPI_Alltoall(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const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*sendbuf,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sendcount, MPI_Datatype sendtype,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*recvbuf,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recvcount,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MPI_Datatype recvtype, MPI_Comm comm);</a:t>
              </a:r>
            </a:p>
          </p:txBody>
        </p:sp>
      </p:grpSp>
      <p:grpSp>
        <p:nvGrpSpPr>
          <p:cNvPr id="65" name="c2-text-2"/>
          <p:cNvGrpSpPr/>
          <p:nvPr/>
        </p:nvGrpSpPr>
        <p:grpSpPr>
          <a:xfrm>
            <a:off x="6241923" y="3049429"/>
            <a:ext cx="5234056" cy="249364"/>
            <a:chOff x="6241923" y="3049429"/>
            <a:chExt cx="5234056" cy="249364"/>
          </a:xfrm>
        </p:grpSpPr>
        <p:sp>
          <p:nvSpPr>
            <p:cNvPr id="64" name="TextBox 64"/>
            <p:cNvSpPr txBox="1"/>
            <p:nvPr/>
          </p:nvSpPr>
          <p:spPr>
            <a:xfrm>
              <a:off x="6241923" y="3049429"/>
              <a:ext cx="52340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进程 i 的第 j 块发给进程 j，放进它的第 i 块（左：之前；右：之后）</a:t>
              </a:r>
            </a:p>
          </p:txBody>
        </p:sp>
      </p:grpSp>
      <p:grpSp>
        <p:nvGrpSpPr>
          <p:cNvPr id="111" name="c2-cells-3"/>
          <p:cNvGrpSpPr/>
          <p:nvPr/>
        </p:nvGrpSpPr>
        <p:grpSpPr>
          <a:xfrm>
            <a:off x="6242685" y="3438525"/>
            <a:ext cx="5415915" cy="1600200"/>
            <a:chOff x="6242685" y="3438525"/>
            <a:chExt cx="5415915" cy="1600200"/>
          </a:xfrm>
        </p:grpSpPr>
        <p:sp>
          <p:nvSpPr>
            <p:cNvPr id="66" name="TextBox 66"/>
            <p:cNvSpPr txBox="1"/>
            <p:nvPr/>
          </p:nvSpPr>
          <p:spPr>
            <a:xfrm>
              <a:off x="6242685" y="357806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P0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545580" y="3438525"/>
              <a:ext cx="730568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862089" y="3578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7276148" y="3438525"/>
              <a:ext cx="73056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592656" y="3578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8006715" y="3438525"/>
              <a:ext cx="73056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322271" y="3578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8737282" y="3438525"/>
              <a:ext cx="73056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052839" y="3578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9467850" y="3438525"/>
              <a:ext cx="730568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783406" y="3578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10197465" y="3438525"/>
              <a:ext cx="730568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0513974" y="3578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10928032" y="3438525"/>
              <a:ext cx="730568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1244541" y="3578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242685" y="416861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545580" y="4029075"/>
              <a:ext cx="730568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862089" y="41686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7276148" y="4029075"/>
              <a:ext cx="73056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592656" y="41686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8006715" y="4029075"/>
              <a:ext cx="73056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8322271" y="41686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8737282" y="4029075"/>
              <a:ext cx="73056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9052839" y="41686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9467850" y="4029075"/>
              <a:ext cx="73056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9783406" y="41686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10197465" y="4029075"/>
              <a:ext cx="73056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10513974" y="41686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10928032" y="4029075"/>
              <a:ext cx="73056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1244541" y="41686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6242685" y="475916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6545580" y="4619625"/>
              <a:ext cx="730568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862089" y="47591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7276148" y="4619625"/>
              <a:ext cx="73056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7592656" y="47591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8006715" y="4619625"/>
              <a:ext cx="73056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8322271" y="47591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8737282" y="4619625"/>
              <a:ext cx="73056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9052839" y="47591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9467850" y="4619625"/>
              <a:ext cx="73056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9783406" y="47591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10197465" y="4619625"/>
              <a:ext cx="73056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10513974" y="47591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10928032" y="4619625"/>
              <a:ext cx="730568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11244541" y="47591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  <p:grpSp>
        <p:nvGrpSpPr>
          <p:cNvPr id="117" name="c2-callout-4"/>
          <p:cNvGrpSpPr/>
          <p:nvPr/>
        </p:nvGrpSpPr>
        <p:grpSpPr>
          <a:xfrm>
            <a:off x="6248400" y="5229225"/>
            <a:ext cx="5410200" cy="782955"/>
            <a:chOff x="6248400" y="5229225"/>
            <a:chExt cx="5410200" cy="782955"/>
          </a:xfrm>
        </p:grpSpPr>
        <p:sp>
          <p:nvSpPr>
            <p:cNvPr id="112" name="Rectangle 112"/>
            <p:cNvSpPr/>
            <p:nvPr/>
          </p:nvSpPr>
          <p:spPr>
            <a:xfrm>
              <a:off x="6248400" y="522922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115" name="Group 115"/>
            <p:cNvGrpSpPr/>
            <p:nvPr/>
          </p:nvGrpSpPr>
          <p:grpSpPr>
            <a:xfrm>
              <a:off x="6453188" y="5520692"/>
              <a:ext cx="200023" cy="200023"/>
              <a:chOff x="6453188" y="5520692"/>
              <a:chExt cx="200023" cy="200023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6453188" y="552069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14" name="Freeform 114"/>
              <p:cNvSpPr/>
              <p:nvPr/>
            </p:nvSpPr>
            <p:spPr>
              <a:xfrm>
                <a:off x="6586538" y="55873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16" name="TextBox 116"/>
            <p:cNvSpPr txBox="1"/>
            <p:nvPr/>
          </p:nvSpPr>
          <p:spPr>
            <a:xfrm>
              <a:off x="6755130" y="5377815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把各进程的数据看成矩阵的行，全局交换就是矩阵转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置。以上两图的数值都已模拟运行核对。</a:t>
              </a:r>
            </a:p>
          </p:txBody>
        </p:sp>
      </p:grpSp>
      <p:grpSp>
        <p:nvGrpSpPr>
          <p:cNvPr id="12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8" name="TextBox 11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99822" cy="909257"/>
            <a:chOff x="520446" y="342900"/>
            <a:chExt cx="72998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集合通信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998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规约 MPI_Reduce：把各进程的数合成一个结果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977765" cy="1466850"/>
            <a:chOff x="533400" y="1524000"/>
            <a:chExt cx="4977765" cy="14668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规约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34282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函数式编程里的概念：接受一组数据，输出更小的一组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数，如 sum([1, 2, 3, 4]) = 10。MPI 提供函数在各进程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之间做规约。</a:t>
              </a:r>
            </a:p>
          </p:txBody>
        </p:sp>
      </p:grpSp>
      <p:grpSp>
        <p:nvGrpSpPr>
          <p:cNvPr id="17" name="c1-code-2"/>
          <p:cNvGrpSpPr/>
          <p:nvPr/>
        </p:nvGrpSpPr>
        <p:grpSpPr>
          <a:xfrm>
            <a:off x="533400" y="3166110"/>
            <a:ext cx="4977765" cy="2019300"/>
            <a:chOff x="533400" y="3166110"/>
            <a:chExt cx="4977765" cy="2019300"/>
          </a:xfrm>
        </p:grpSpPr>
        <p:sp>
          <p:nvSpPr>
            <p:cNvPr id="13" name="Rectangle 13"/>
            <p:cNvSpPr/>
            <p:nvPr/>
          </p:nvSpPr>
          <p:spPr>
            <a:xfrm>
              <a:off x="533400" y="3166110"/>
              <a:ext cx="4977765" cy="2019300"/>
            </a:xfrm>
            <a:prstGeom prst="roundRect">
              <a:avLst>
                <a:gd name="adj" fmla="val 47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331803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52450" y="4486275"/>
              <a:ext cx="493966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1416" y="3579495"/>
              <a:ext cx="3071051" cy="15321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MPI_Reduce(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const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*sendbuf,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*recvbuf,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只在根上有意义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count,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MPI_Datatype datatype,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MPI_Op op,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规约操作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root,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MPI_Comm comm);</a:t>
              </a:r>
            </a:p>
          </p:txBody>
        </p:sp>
      </p:grpSp>
      <p:grpSp>
        <p:nvGrpSpPr>
          <p:cNvPr id="24" name="c1-callout-3"/>
          <p:cNvGrpSpPr/>
          <p:nvPr/>
        </p:nvGrpSpPr>
        <p:grpSpPr>
          <a:xfrm>
            <a:off x="533400" y="5359718"/>
            <a:ext cx="4977765" cy="978218"/>
            <a:chOff x="533400" y="5359718"/>
            <a:chExt cx="4977765" cy="978218"/>
          </a:xfrm>
        </p:grpSpPr>
        <p:sp>
          <p:nvSpPr>
            <p:cNvPr id="18" name="Rectangle 18"/>
            <p:cNvSpPr/>
            <p:nvPr/>
          </p:nvSpPr>
          <p:spPr>
            <a:xfrm>
              <a:off x="533400" y="5359718"/>
              <a:ext cx="4977765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5748338"/>
              <a:ext cx="200026" cy="200025"/>
              <a:chOff x="738188" y="5748338"/>
              <a:chExt cx="200026" cy="2000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57483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77926" y="57927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12642" y="59039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892" y="5505450"/>
              <a:ext cx="397421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count &gt; 1 时是逐个位置规约，不是把所有数加成一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个。右图 5 + 2 + 7 + 4 = 18，1 + 3 + 8 + 2 = 14，已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模拟运行核对。</a:t>
              </a:r>
            </a:p>
          </p:txBody>
        </p:sp>
      </p:grpSp>
      <p:grpSp>
        <p:nvGrpSpPr>
          <p:cNvPr id="26" name="c2-text-1"/>
          <p:cNvGrpSpPr/>
          <p:nvPr/>
        </p:nvGrpSpPr>
        <p:grpSpPr>
          <a:xfrm>
            <a:off x="5810250" y="1542574"/>
            <a:ext cx="3433013" cy="220028"/>
            <a:chOff x="5810250" y="1542574"/>
            <a:chExt cx="3433013" cy="220028"/>
          </a:xfrm>
        </p:grpSpPr>
        <p:sp>
          <p:nvSpPr>
            <p:cNvPr id="25" name="TextBox 25"/>
            <p:cNvSpPr txBox="1"/>
            <p:nvPr/>
          </p:nvSpPr>
          <p:spPr>
            <a:xfrm>
              <a:off x="5810250" y="1542574"/>
              <a:ext cx="34330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count = 1：4 个进程各出一个数，MPI_SUM 到根 0</a:t>
              </a:r>
            </a:p>
          </p:txBody>
        </p:sp>
      </p:grpSp>
      <p:grpSp>
        <p:nvGrpSpPr>
          <p:cNvPr id="39" name="c2-cells-2"/>
          <p:cNvGrpSpPr/>
          <p:nvPr/>
        </p:nvGrpSpPr>
        <p:grpSpPr>
          <a:xfrm>
            <a:off x="5810631" y="1893570"/>
            <a:ext cx="4568761" cy="918210"/>
            <a:chOff x="5810631" y="1893570"/>
            <a:chExt cx="4568761" cy="918210"/>
          </a:xfrm>
        </p:grpSpPr>
        <p:sp>
          <p:nvSpPr>
            <p:cNvPr id="27" name="TextBox 27"/>
            <p:cNvSpPr txBox="1"/>
            <p:nvPr/>
          </p:nvSpPr>
          <p:spPr>
            <a:xfrm>
              <a:off x="5810631" y="2018348"/>
              <a:ext cx="7979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进程 0 1 2 3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691312" y="1893570"/>
              <a:ext cx="922020" cy="381000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06173" y="201834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13332" y="1893570"/>
              <a:ext cx="922020" cy="381000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28193" y="201834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535352" y="1893570"/>
              <a:ext cx="922020" cy="381000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950213" y="201834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457372" y="1893570"/>
              <a:ext cx="922020" cy="381000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872233" y="201834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810631" y="2556510"/>
              <a:ext cx="6054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根 0 得到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691312" y="2430780"/>
              <a:ext cx="92202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65358" y="25565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  <p:grpSp>
        <p:nvGrpSpPr>
          <p:cNvPr id="41" name="c2-text-3"/>
          <p:cNvGrpSpPr/>
          <p:nvPr/>
        </p:nvGrpSpPr>
        <p:grpSpPr>
          <a:xfrm>
            <a:off x="5810250" y="3005614"/>
            <a:ext cx="3245541" cy="220028"/>
            <a:chOff x="5810250" y="3005614"/>
            <a:chExt cx="3245541" cy="220028"/>
          </a:xfrm>
        </p:grpSpPr>
        <p:sp>
          <p:nvSpPr>
            <p:cNvPr id="40" name="TextBox 40"/>
            <p:cNvSpPr txBox="1"/>
            <p:nvPr/>
          </p:nvSpPr>
          <p:spPr>
            <a:xfrm>
              <a:off x="5810250" y="3005614"/>
              <a:ext cx="3245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count = 2：每个进程出两个数，按位置分别求和</a:t>
              </a:r>
            </a:p>
          </p:txBody>
        </p:sp>
      </p:grpSp>
      <p:grpSp>
        <p:nvGrpSpPr>
          <p:cNvPr id="67" name="c2-cells-4"/>
          <p:cNvGrpSpPr/>
          <p:nvPr/>
        </p:nvGrpSpPr>
        <p:grpSpPr>
          <a:xfrm>
            <a:off x="5810631" y="3356610"/>
            <a:ext cx="2543747" cy="2530792"/>
            <a:chOff x="5810631" y="3356610"/>
            <a:chExt cx="2543747" cy="2530792"/>
          </a:xfrm>
        </p:grpSpPr>
        <p:sp>
          <p:nvSpPr>
            <p:cNvPr id="42" name="TextBox 42"/>
            <p:cNvSpPr txBox="1"/>
            <p:nvPr/>
          </p:nvSpPr>
          <p:spPr>
            <a:xfrm>
              <a:off x="5810631" y="3482340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进程 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510338" y="3356610"/>
              <a:ext cx="92202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25198" y="34823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432358" y="3356610"/>
              <a:ext cx="92202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847218" y="34823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810631" y="4019550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进程 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510338" y="3893820"/>
              <a:ext cx="92202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25198" y="40195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432358" y="3893820"/>
              <a:ext cx="92202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847218" y="40195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810631" y="4556760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进程 2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510338" y="4431030"/>
              <a:ext cx="92202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25198" y="455676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432358" y="4431030"/>
              <a:ext cx="92202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847218" y="455676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810631" y="5093970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进程 3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510338" y="4969192"/>
              <a:ext cx="92202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925198" y="5093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432358" y="4969192"/>
              <a:ext cx="92202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847218" y="5093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810631" y="5631180"/>
              <a:ext cx="6054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根 0 得到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510338" y="5506402"/>
              <a:ext cx="92202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884383" y="563118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432358" y="5506402"/>
              <a:ext cx="92202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806403" y="563118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集合通信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预定义的规约操作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9" name="c1-table-1"/>
          <p:cNvGrpSpPr/>
          <p:nvPr/>
        </p:nvGrpSpPr>
        <p:grpSpPr>
          <a:xfrm>
            <a:off x="528447" y="1524000"/>
            <a:ext cx="6280975" cy="4459319"/>
            <a:chOff x="528447" y="1524000"/>
            <a:chExt cx="6280975" cy="445931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03007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399473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59552" y="1641157"/>
              <a:ext cx="14156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 5、2、7、4 的结果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023110"/>
              <a:ext cx="6379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MPI_MAX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259711" y="2023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最大元素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21009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28219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286952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078" y="2404110"/>
              <a:ext cx="5987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MPI_MIN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59711" y="2404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最小元素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21009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66319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785110"/>
              <a:ext cx="6379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MPI_SUM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259711" y="2785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21009" y="2785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04514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049905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3167062"/>
              <a:ext cx="7241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MPI_PROD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59711" y="316706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所有元素相乘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21009" y="316706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280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42614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3548062"/>
              <a:ext cx="6928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MPI_LAND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59711" y="35480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逻辑与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21009" y="3548062"/>
              <a:ext cx="7951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1（全非零）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80714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811905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8078" y="3930015"/>
              <a:ext cx="6379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MPI_LOR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259711" y="393001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逻辑或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021009" y="3930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18909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8078" y="4311015"/>
              <a:ext cx="6928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MPI_BAND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259711" y="431101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按位与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021009" y="4311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57009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574858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8078" y="4692015"/>
              <a:ext cx="6379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MPI_BOR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259711" y="469201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按位或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21009" y="4692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95204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8078" y="5073968"/>
              <a:ext cx="928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MPI_MAXLOC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259711" y="5073968"/>
              <a:ext cx="17775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最大值及其所在进程的 rank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021009" y="5073968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(7, 2)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533304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5337810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28078" y="5454968"/>
              <a:ext cx="8888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MPI_MINLOC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259711" y="5454968"/>
              <a:ext cx="17775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最小值及其所在进程的 rank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021009" y="5454968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(2, 1)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1524000"/>
              <a:ext cx="6276022" cy="41948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2160270" y="1524000"/>
              <a:ext cx="9525" cy="4194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4921568" y="1524000"/>
              <a:ext cx="9525" cy="4194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28447" y="5792629"/>
              <a:ext cx="37104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表中结果按进程 0–3 依次持有 5、2、7、4 计算，已用脚本复核</a:t>
              </a:r>
            </a:p>
          </p:txBody>
        </p:sp>
      </p:grpSp>
      <p:grpSp>
        <p:nvGrpSpPr>
          <p:cNvPr id="69" name="c2-card-1"/>
          <p:cNvGrpSpPr/>
          <p:nvPr/>
        </p:nvGrpSpPr>
        <p:grpSpPr>
          <a:xfrm>
            <a:off x="7114222" y="1524000"/>
            <a:ext cx="4544378" cy="1471612"/>
            <a:chOff x="7114222" y="1524000"/>
            <a:chExt cx="4544378" cy="1471612"/>
          </a:xfrm>
        </p:grpSpPr>
        <p:sp>
          <p:nvSpPr>
            <p:cNvPr id="60" name="Rectangle 60"/>
            <p:cNvSpPr/>
            <p:nvPr/>
          </p:nvSpPr>
          <p:spPr>
            <a:xfrm>
              <a:off x="7114222" y="1524000"/>
              <a:ext cx="4544378" cy="1471612"/>
            </a:xfrm>
            <a:prstGeom prst="roundRect">
              <a:avLst>
                <a:gd name="adj" fmla="val 90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123748" y="1657350"/>
              <a:ext cx="47625" cy="12049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333298" y="1704975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406665" y="173783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按位运算怎么算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26820" y="2045494"/>
              <a:ext cx="30112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= 101，2 = 010，7 = 111，4 = 100。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342822" y="238220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498270" y="233029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按位与：5 与 2 没有共同的 1 位，结果已是 0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342822" y="266795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498270" y="2615089"/>
              <a:ext cx="29078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按位或：各位都有 1 出现，得 111 = 7</a:t>
              </a:r>
            </a:p>
          </p:txBody>
        </p:sp>
      </p:grpSp>
      <p:grpSp>
        <p:nvGrpSpPr>
          <p:cNvPr id="80" name="c2-card-2"/>
          <p:cNvGrpSpPr/>
          <p:nvPr/>
        </p:nvGrpSpPr>
        <p:grpSpPr>
          <a:xfrm>
            <a:off x="7114222" y="3160395"/>
            <a:ext cx="4544378" cy="1957388"/>
            <a:chOff x="7114222" y="3160395"/>
            <a:chExt cx="4544378" cy="1957388"/>
          </a:xfrm>
        </p:grpSpPr>
        <p:sp>
          <p:nvSpPr>
            <p:cNvPr id="70" name="Rectangle 70"/>
            <p:cNvSpPr/>
            <p:nvPr/>
          </p:nvSpPr>
          <p:spPr>
            <a:xfrm>
              <a:off x="7114222" y="3160395"/>
              <a:ext cx="4544378" cy="1957388"/>
            </a:xfrm>
            <a:prstGeom prst="roundRect">
              <a:avLst>
                <a:gd name="adj" fmla="val 68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7123748" y="3293745"/>
              <a:ext cx="47625" cy="169068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7333298" y="334137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425017" y="337423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7342822" y="3733800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498270" y="3680936"/>
              <a:ext cx="38168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还有 MPI_LXOR、MPI_BXOR（逻辑、按位异或），本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BXOR 得 4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7342822" y="4261485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498270" y="4208621"/>
              <a:ext cx="37518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MAXLOC / MINLOC 要用成对的类型，如 MPI_2INT、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MPI_FLOAT_INT；最值相同时取 rank 小的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7342822" y="4789170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498270" y="4737259"/>
              <a:ext cx="32977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也可以用 MPI_Op_create 自定义规约操作</a:t>
              </a:r>
            </a:p>
          </p:txBody>
        </p:sp>
      </p:grpSp>
      <p:grpSp>
        <p:nvGrpSpPr>
          <p:cNvPr id="87" name="c2-callout-3"/>
          <p:cNvGrpSpPr/>
          <p:nvPr/>
        </p:nvGrpSpPr>
        <p:grpSpPr>
          <a:xfrm>
            <a:off x="7114222" y="5281612"/>
            <a:ext cx="4544378" cy="702945"/>
            <a:chOff x="7114222" y="5281612"/>
            <a:chExt cx="4544378" cy="702945"/>
          </a:xfrm>
        </p:grpSpPr>
        <p:sp>
          <p:nvSpPr>
            <p:cNvPr id="81" name="Rectangle 81"/>
            <p:cNvSpPr/>
            <p:nvPr/>
          </p:nvSpPr>
          <p:spPr>
            <a:xfrm>
              <a:off x="7114222" y="5281612"/>
              <a:ext cx="4544378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306952" y="5529381"/>
              <a:ext cx="224134" cy="192560"/>
              <a:chOff x="7306952" y="5529381"/>
              <a:chExt cx="224134" cy="192560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7419023" y="55997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7306952" y="55293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7419023" y="56775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7622096" y="5426869"/>
              <a:ext cx="35892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浮点数求和的结果可能随合并顺序、进程数略有差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异，比对结果时要留误差。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67244" cy="909257"/>
            <a:chOff x="520446" y="342900"/>
            <a:chExt cx="79672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集合通信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672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例：用 Reduce 求平均值，每个进程只交一个局部和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6276022" cy="2791778"/>
            <a:chOff x="533400" y="1524000"/>
            <a:chExt cx="6276022" cy="27917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原课件伪代码（合并两页）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306128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1935956"/>
              <a:ext cx="4253992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*rand_nums = create_rand_nums(num_elements_per_proc);</a:t>
              </a:r>
              <a:br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local_sum = 0;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本地求和</a:t>
              </a:r>
              <a:br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num_elements_per_proc; i++)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local_sum += rand_nums[i];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printf(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"Local sum for process %d - %f, avg = %f\n"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world_rank, local_sum,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local_sum / num_elements_per_proc);</a:t>
              </a:r>
              <a:br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global_sum;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规约成全局和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MPI_Reduce(&amp;local_sum, &amp;global_sum, 1, MPI_FLOAT,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MPI_SUM, 0, MPI_COMM_WORLD);</a:t>
              </a:r>
              <a:br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(world_rank == 0)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printf(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"Total sum = %f, avg = %f\n"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global_sum,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global_sum / (world_size * num_elements_per_proc));</a:t>
              </a:r>
            </a:p>
          </p:txBody>
        </p:sp>
      </p:grpSp>
      <p:grpSp>
        <p:nvGrpSpPr>
          <p:cNvPr id="18" name="c1-callout-2"/>
          <p:cNvGrpSpPr/>
          <p:nvPr/>
        </p:nvGrpSpPr>
        <p:grpSpPr>
          <a:xfrm>
            <a:off x="533400" y="4506278"/>
            <a:ext cx="6276022" cy="1646872"/>
            <a:chOff x="533400" y="4506278"/>
            <a:chExt cx="6276022" cy="1646872"/>
          </a:xfrm>
        </p:grpSpPr>
        <p:sp>
          <p:nvSpPr>
            <p:cNvPr id="12" name="Rectangle 12"/>
            <p:cNvSpPr/>
            <p:nvPr/>
          </p:nvSpPr>
          <p:spPr>
            <a:xfrm>
              <a:off x="533400" y="4506278"/>
              <a:ext cx="6276022" cy="1646872"/>
            </a:xfrm>
            <a:prstGeom prst="roundRect">
              <a:avLst>
                <a:gd name="adj" fmla="val 69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38188" y="5230178"/>
              <a:ext cx="200026" cy="200025"/>
              <a:chOff x="738188" y="5230178"/>
              <a:chExt cx="200026" cy="20002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38188" y="523017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77926" y="527462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12642" y="538575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40130" y="5087302"/>
              <a:ext cx="52063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和第40页相比，数据一开始就在各进程上，省掉了 Scatter；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交给根的是局部和，块大小不同也不会算错。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7114222" y="1524000"/>
            <a:ext cx="4544378" cy="3655695"/>
            <a:chOff x="7114222" y="1524000"/>
            <a:chExt cx="4544378" cy="3655695"/>
          </a:xfrm>
        </p:grpSpPr>
        <p:sp>
          <p:nvSpPr>
            <p:cNvPr id="19" name="Rectangle 19"/>
            <p:cNvSpPr/>
            <p:nvPr/>
          </p:nvSpPr>
          <p:spPr>
            <a:xfrm>
              <a:off x="7114222" y="1524000"/>
              <a:ext cx="4544378" cy="3655695"/>
            </a:xfrm>
            <a:prstGeom prst="roundRect">
              <a:avLst>
                <a:gd name="adj" fmla="val 36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123748" y="1657350"/>
              <a:ext cx="47625" cy="33889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361872" y="1733550"/>
              <a:ext cx="222313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00619" y="1769269"/>
              <a:ext cx="2145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代入第40页的数据（模拟运行）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361872" y="2085975"/>
              <a:ext cx="4087178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759344" y="22217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05723" y="222170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本地数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211335" y="2221706"/>
              <a:ext cx="8542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local_sum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81902" y="267033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996187" y="2670334"/>
              <a:ext cx="348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584609" y="267033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361872" y="2978468"/>
              <a:ext cx="40871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361872" y="2983230"/>
              <a:ext cx="40871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881902" y="311896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996187" y="3118961"/>
              <a:ext cx="348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6, 8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537223" y="311896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361872" y="3428048"/>
              <a:ext cx="40871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881902" y="356758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96187" y="3567589"/>
              <a:ext cx="348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584609" y="356758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361872" y="3876675"/>
              <a:ext cx="40871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361872" y="3881438"/>
              <a:ext cx="40871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881902" y="40162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996187" y="4016216"/>
              <a:ext cx="348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5, 9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537223" y="401621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361872" y="2085975"/>
              <a:ext cx="4087178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508682" y="208597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824085" y="208597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354252" y="4450080"/>
              <a:ext cx="3872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global_sum = 6 + 14 + 4 + 14 = 38，avg = 38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÷ (4 × 2) = 4.75。</a:t>
              </a:r>
            </a:p>
          </p:txBody>
        </p:sp>
      </p:grpSp>
      <p:grpSp>
        <p:nvGrpSpPr>
          <p:cNvPr id="55" name="c2-callout-2"/>
          <p:cNvGrpSpPr/>
          <p:nvPr/>
        </p:nvGrpSpPr>
        <p:grpSpPr>
          <a:xfrm>
            <a:off x="7114222" y="5370195"/>
            <a:ext cx="4544378" cy="782955"/>
            <a:chOff x="7114222" y="5370195"/>
            <a:chExt cx="4544378" cy="782955"/>
          </a:xfrm>
        </p:grpSpPr>
        <p:sp>
          <p:nvSpPr>
            <p:cNvPr id="49" name="Rectangle 49"/>
            <p:cNvSpPr/>
            <p:nvPr/>
          </p:nvSpPr>
          <p:spPr>
            <a:xfrm>
              <a:off x="7114222" y="5370195"/>
              <a:ext cx="4544378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19010" y="5661660"/>
              <a:ext cx="200026" cy="200026"/>
              <a:chOff x="7319010" y="5661660"/>
              <a:chExt cx="200026" cy="20002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19010" y="56616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419023" y="57283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407910" y="576167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7620952" y="5518785"/>
              <a:ext cx="36537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每个进程都会打印一行 Local sum，先后不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定；Total sum 那一行只由 0 号进程打印。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69103" cy="909257"/>
            <a:chOff x="520446" y="342900"/>
            <a:chExt cx="656910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集合通信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691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MPI_Allreduce：规约结果发给每一个进程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760595" cy="1922145"/>
            <a:chOff x="533400" y="1524000"/>
            <a:chExt cx="4760595" cy="19221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2799334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MPI_Allreduce(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const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*sendbuf,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*recvbuf,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count,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MPI_Datatype datatype,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MPI_Op op,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MPI_Comm comm);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没有 root</a:t>
              </a:r>
            </a:p>
          </p:txBody>
        </p:sp>
      </p:grpSp>
      <p:grpSp>
        <p:nvGrpSpPr>
          <p:cNvPr id="15" name="c1-card-2"/>
          <p:cNvGrpSpPr/>
          <p:nvPr/>
        </p:nvGrpSpPr>
        <p:grpSpPr>
          <a:xfrm>
            <a:off x="533400" y="3636645"/>
            <a:ext cx="4760595" cy="1713548"/>
            <a:chOff x="533400" y="3636645"/>
            <a:chExt cx="4760595" cy="1713548"/>
          </a:xfrm>
        </p:grpSpPr>
        <p:sp>
          <p:nvSpPr>
            <p:cNvPr id="11" name="Rectangle 11"/>
            <p:cNvSpPr/>
            <p:nvPr/>
          </p:nvSpPr>
          <p:spPr>
            <a:xfrm>
              <a:off x="533400" y="3636645"/>
              <a:ext cx="4760595" cy="1713548"/>
            </a:xfrm>
            <a:prstGeom prst="roundRect">
              <a:avLst>
                <a:gd name="adj" fmla="val 7782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42950" y="384619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5259" y="388191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等价写法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5330" y="4223385"/>
              <a:ext cx="40538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MPI_Allreduce ≈ MPI_Reduce 到某个根，再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MPI_Bcast 给所有人，但只调一次，实现可以做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得更快。</a:t>
              </a:r>
            </a:p>
          </p:txBody>
        </p:sp>
      </p:grpSp>
      <p:grpSp>
        <p:nvGrpSpPr>
          <p:cNvPr id="17" name="c2-text-1"/>
          <p:cNvGrpSpPr/>
          <p:nvPr/>
        </p:nvGrpSpPr>
        <p:grpSpPr>
          <a:xfrm>
            <a:off x="5592318" y="1545431"/>
            <a:ext cx="5824474" cy="500824"/>
            <a:chOff x="5592318" y="1545431"/>
            <a:chExt cx="5824474" cy="500824"/>
          </a:xfrm>
        </p:grpSpPr>
        <p:sp>
          <p:nvSpPr>
            <p:cNvPr id="16" name="TextBox 16"/>
            <p:cNvSpPr txBox="1"/>
            <p:nvPr/>
          </p:nvSpPr>
          <p:spPr>
            <a:xfrm>
              <a:off x="5592318" y="1545431"/>
              <a:ext cx="5824474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count = 2、MPI_SUM（左：各进程的 sendbuf；右：之后各进程的 recvbuf，模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拟运行）</a:t>
              </a:r>
            </a:p>
          </p:txBody>
        </p:sp>
      </p:grpSp>
      <p:grpSp>
        <p:nvGrpSpPr>
          <p:cNvPr id="62" name="c2-cells-2"/>
          <p:cNvGrpSpPr/>
          <p:nvPr/>
        </p:nvGrpSpPr>
        <p:grpSpPr>
          <a:xfrm>
            <a:off x="5593080" y="2185988"/>
            <a:ext cx="5160645" cy="2190750"/>
            <a:chOff x="5593080" y="2185988"/>
            <a:chExt cx="5160645" cy="2190750"/>
          </a:xfrm>
        </p:grpSpPr>
        <p:sp>
          <p:nvSpPr>
            <p:cNvPr id="18" name="TextBox 18"/>
            <p:cNvSpPr txBox="1"/>
            <p:nvPr/>
          </p:nvSpPr>
          <p:spPr>
            <a:xfrm>
              <a:off x="5593080" y="232552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进程 0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143625" y="2185988"/>
              <a:ext cx="9220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55384" y="23255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065645" y="2185988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77404" y="23255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987665" y="2185988"/>
              <a:ext cx="92202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99424" y="23255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909685" y="2185988"/>
              <a:ext cx="92202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277908" y="232552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831705" y="2185988"/>
              <a:ext cx="92202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199928" y="232552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93080" y="291607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进程 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143625" y="2776538"/>
              <a:ext cx="9220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55384" y="29160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065645" y="2776538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477404" y="29160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987665" y="2776538"/>
              <a:ext cx="92202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99424" y="29160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909685" y="2776538"/>
              <a:ext cx="92202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277908" y="291607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831705" y="2776538"/>
              <a:ext cx="92202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199928" y="291607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593080" y="350662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进程 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143625" y="3367088"/>
              <a:ext cx="9220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55384" y="35066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065645" y="3367088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77404" y="35066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987665" y="3367088"/>
              <a:ext cx="92202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399424" y="35066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909685" y="3367088"/>
              <a:ext cx="92202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277908" y="350662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831705" y="3367088"/>
              <a:ext cx="92202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199928" y="350662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593080" y="409717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进程 3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143625" y="3957638"/>
              <a:ext cx="9220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55384" y="40971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065645" y="3957638"/>
              <a:ext cx="92202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477404" y="40971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987665" y="3957638"/>
              <a:ext cx="92202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399424" y="40971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909685" y="3957638"/>
              <a:ext cx="92202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277908" y="409717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831705" y="3957638"/>
              <a:ext cx="92202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199928" y="409717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  <p:grpSp>
        <p:nvGrpSpPr>
          <p:cNvPr id="69" name="c2-callout-3"/>
          <p:cNvGrpSpPr/>
          <p:nvPr/>
        </p:nvGrpSpPr>
        <p:grpSpPr>
          <a:xfrm>
            <a:off x="5598795" y="4567238"/>
            <a:ext cx="6059805" cy="782955"/>
            <a:chOff x="5598795" y="4567238"/>
            <a:chExt cx="6059805" cy="782955"/>
          </a:xfrm>
        </p:grpSpPr>
        <p:sp>
          <p:nvSpPr>
            <p:cNvPr id="63" name="Rectangle 63"/>
            <p:cNvSpPr/>
            <p:nvPr/>
          </p:nvSpPr>
          <p:spPr>
            <a:xfrm>
              <a:off x="5598795" y="4567238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5803583" y="4858703"/>
              <a:ext cx="200026" cy="200025"/>
              <a:chOff x="5803583" y="4858703"/>
              <a:chExt cx="200026" cy="20002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5803583" y="485870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5843321" y="490315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5878037" y="501427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6105525" y="4715828"/>
              <a:ext cx="5158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和第42页的 Reduce 图对比：数据和运算完全相同，差别只在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结果留在根上还是人人一份。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0" name="Rectangle 7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0130" y="5991225"/>
              <a:ext cx="100672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什么时候用 Allreduce：后续计算每个进程都要用这个全局值，比如下一页先求均值、再让各进程用均值算偏差。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33695" cy="909257"/>
            <a:chOff x="520446" y="342900"/>
            <a:chExt cx="56336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集合通信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336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例：用 Allreduce 求标准差（代码）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708458" cy="3670935"/>
            <a:chOff x="533400" y="1524000"/>
            <a:chExt cx="6708458" cy="36709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708458" cy="3670935"/>
            </a:xfrm>
            <a:prstGeom prst="roundRect">
              <a:avLst>
                <a:gd name="adj" fmla="val 25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原课件伪代码（合并两页）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602230"/>
              <a:ext cx="6670358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833812"/>
              <a:ext cx="6670358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797" y="1935956"/>
              <a:ext cx="4596257" cy="31863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local_sum = 0;</a:t>
              </a:r>
              <a:br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0; i &lt; num_elements_per_proc; i++)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local_sum += rand_nums[i];</a:t>
              </a:r>
              <a:br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global_sum;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人人都要均值，用 Allreduce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MPI_Allreduce(&amp;local_sum, &amp;global_sum, 1, MPI_FLOAT,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MPI_SUM, MPI_COMM_WORLD);</a:t>
              </a:r>
              <a:br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mean = global_sum / (num_elements_per_proc * world_size);</a:t>
              </a:r>
              <a:br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local_sq_diff = 0;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本地偏差平方和</a:t>
              </a:r>
              <a:br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0; i &lt; num_elements_per_proc; i++)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local_sq_diff += (rand_nums[i] - mean) * (rand_nums[i] - mean);</a:t>
              </a:r>
              <a:br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global_sq_diff;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只有根要结果，用 Reduce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MPI_Reduce(&amp;local_sq_diff, &amp;global_sq_diff, 1, MPI_FLOAT,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MPI_SUM, 0, MPI_COMM_WORLD);</a:t>
              </a:r>
              <a:br/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(world_rank == 0)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stddev = sqrt(global_sq_diff 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  (num_elements_per_proc * world_size));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printf(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"Mean - %f, Standard deviation = %f\n"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mean, stddev);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5385435"/>
            <a:ext cx="6708458" cy="782955"/>
            <a:chOff x="533400" y="5385435"/>
            <a:chExt cx="6708458" cy="782955"/>
          </a:xfrm>
        </p:grpSpPr>
        <p:sp>
          <p:nvSpPr>
            <p:cNvPr id="13" name="Rectangle 13"/>
            <p:cNvSpPr/>
            <p:nvPr/>
          </p:nvSpPr>
          <p:spPr>
            <a:xfrm>
              <a:off x="533400" y="5385435"/>
              <a:ext cx="670845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5676900"/>
              <a:ext cx="200026" cy="200025"/>
              <a:chOff x="738188" y="5676900"/>
              <a:chExt cx="200026" cy="2000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567690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77926" y="572135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12642" y="583247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130" y="5534025"/>
              <a:ext cx="5730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和第44页对比：求平均一次 Reduce 就够；求标准差要先知道均值才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能算偏差，所以要两轮通信，第一轮每个进程都得拿到结果。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formula9"/>
              <p:cNvSpPr txBox="1">
                <a:spLocks noGrp="1"/>
              </p:cNvSpPr>
              <p:nvPr/>
            </p:nvSpPr>
            <p:spPr>
              <a:xfrm>
                <a:off x="7546658" y="1524000"/>
                <a:ext cx="4111942" cy="8172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σ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limLoc m:val="undOvr"/>
                                  <m:grow m:val="off"/>
                                  <m:subHide m:val="off"/>
                                  <m:supHide m:val="off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=</m:t>
                                  </m:r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p>
                                <m:e>
                                  <m:sSup>
                                    <m:e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e>
                                              <m:r>
                                                <a:rPr lang="zh-CN" sz="19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x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sz="19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i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9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zh-CN" sz="19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zh-CN" sz="19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x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den>
                          </m:f>
                        </m:e>
                      </m:rad>
                    </m:oMath>
                  </m:oMathPara>
                </a14:m>
              </a:p>
            </p:txBody>
          </p:sp>
        </mc:Choice>
      </mc:AlternateContent>
      <p:grpSp>
        <p:nvGrpSpPr>
          <p:cNvPr id="22" name="c2-text-2"/>
          <p:cNvGrpSpPr/>
          <p:nvPr/>
        </p:nvGrpSpPr>
        <p:grpSpPr>
          <a:xfrm>
            <a:off x="7540180" y="2553176"/>
            <a:ext cx="2571811" cy="249364"/>
            <a:chOff x="7540180" y="2553176"/>
            <a:chExt cx="2571811" cy="249364"/>
          </a:xfrm>
        </p:grpSpPr>
        <p:sp>
          <p:nvSpPr>
            <p:cNvPr id="21" name="TextBox 21"/>
            <p:cNvSpPr txBox="1"/>
            <p:nvPr/>
          </p:nvSpPr>
          <p:spPr>
            <a:xfrm>
              <a:off x="7540180" y="2553176"/>
              <a:ext cx="2571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总体标准差，n 为全部数据个数。</a:t>
              </a:r>
            </a:p>
          </p:txBody>
        </p:sp>
      </p:grpSp>
      <p:grpSp>
        <p:nvGrpSpPr>
          <p:cNvPr id="36" name="c2-steps-3"/>
          <p:cNvGrpSpPr/>
          <p:nvPr/>
        </p:nvGrpSpPr>
        <p:grpSpPr>
          <a:xfrm>
            <a:off x="7546658" y="2951798"/>
            <a:ext cx="3699534" cy="1878615"/>
            <a:chOff x="7546658" y="2951798"/>
            <a:chExt cx="3699534" cy="1878615"/>
          </a:xfrm>
        </p:grpSpPr>
        <p:sp>
          <p:nvSpPr>
            <p:cNvPr id="23" name="Rectangle 23"/>
            <p:cNvSpPr/>
            <p:nvPr/>
          </p:nvSpPr>
          <p:spPr>
            <a:xfrm>
              <a:off x="7680008" y="3094672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7546658" y="295179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40281" y="30256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546658" y="360235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40281" y="36761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546658" y="425386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40281" y="43276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58138" y="298608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第一次通信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59280" y="3279934"/>
              <a:ext cx="32489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Allreduce 求全局和，每个进程都算出均值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58138" y="36366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本地计算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59280" y="393049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各进程用均值算自己那几个数的偏差平方和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58138" y="42881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第二次通信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59280" y="4581049"/>
              <a:ext cx="32238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 把偏差平方和加到根，根开方输出</a:t>
              </a:r>
            </a:p>
          </p:txBody>
        </p:sp>
      </p:grpSp>
      <p:grpSp>
        <p:nvGrpSpPr>
          <p:cNvPr id="43" name="c2-callout-4"/>
          <p:cNvGrpSpPr/>
          <p:nvPr/>
        </p:nvGrpSpPr>
        <p:grpSpPr>
          <a:xfrm>
            <a:off x="7546658" y="5009198"/>
            <a:ext cx="4111942" cy="1159192"/>
            <a:chOff x="7546658" y="5009198"/>
            <a:chExt cx="4111942" cy="1159192"/>
          </a:xfrm>
        </p:grpSpPr>
        <p:sp>
          <p:nvSpPr>
            <p:cNvPr id="37" name="Rectangle 37"/>
            <p:cNvSpPr/>
            <p:nvPr/>
          </p:nvSpPr>
          <p:spPr>
            <a:xfrm>
              <a:off x="7546658" y="5009198"/>
              <a:ext cx="4111942" cy="1159192"/>
            </a:xfrm>
            <a:prstGeom prst="roundRect">
              <a:avLst>
                <a:gd name="adj" fmla="val 98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751445" y="5489258"/>
              <a:ext cx="200026" cy="200026"/>
              <a:chOff x="7751445" y="5489258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751445" y="54892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851458" y="55559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840345" y="55892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8053388" y="5346382"/>
              <a:ext cx="3082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sqrt 要 #include &lt;math.h&gt;，Linux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上用 mpicc 编译时末尾加 -lm。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集合通信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标准差例子代入数字走一遍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c1-table-1"/>
          <p:cNvGrpSpPr/>
          <p:nvPr/>
        </p:nvGrpSpPr>
        <p:grpSpPr>
          <a:xfrm>
            <a:off x="527685" y="1524000"/>
            <a:ext cx="6822757" cy="3000852"/>
            <a:chOff x="527685" y="1524000"/>
            <a:chExt cx="6822757" cy="30008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817042" cy="7543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7235" y="1663065"/>
              <a:ext cx="205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</a:t>
              </a:r>
              <a:br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58265" y="1663065"/>
              <a:ext cx="396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本地</a:t>
              </a:r>
              <a:br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12126" y="1796415"/>
              <a:ext cx="10011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local_sum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41458" y="17964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偏差平方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811850" y="1796415"/>
              <a:ext cx="13722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local_sq_diff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4178" y="241744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51883" y="2417445"/>
              <a:ext cx="4090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49557" y="24174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67088" y="2417445"/>
              <a:ext cx="15801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7.5625 + 0.5625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12681" y="2417445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8.125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761298"/>
              <a:ext cx="68170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766060"/>
              <a:ext cx="6817042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4178" y="29051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51883" y="2905125"/>
              <a:ext cx="4090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6, 8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94026" y="290512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367088" y="2905125"/>
              <a:ext cx="1691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1.5625 + 10.5625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157151" y="290512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12.125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248978"/>
              <a:ext cx="68170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74178" y="339280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51883" y="3392805"/>
              <a:ext cx="4090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49557" y="339280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67088" y="3392805"/>
              <a:ext cx="1691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14.0625 + 3.0625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157151" y="339280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17.125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736658"/>
              <a:ext cx="68170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741420"/>
              <a:ext cx="6817042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74178" y="388048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51883" y="3880485"/>
              <a:ext cx="4090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5, 9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494026" y="388048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367088" y="3880485"/>
              <a:ext cx="1691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0.0625 + 18.0625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57151" y="388048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18.125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6817042" cy="27051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142048" y="1524000"/>
              <a:ext cx="9525" cy="2705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1960245" y="1524000"/>
              <a:ext cx="9525" cy="2705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255645" y="1524000"/>
              <a:ext cx="9525" cy="2705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641658" y="1524000"/>
              <a:ext cx="9525" cy="2705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27685" y="4304824"/>
              <a:ext cx="54667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均值 4.75 由 Allreduce 得到，每个进程都有；偏差平方如 (2 − 4.75)² = 7.5625</a:t>
              </a:r>
            </a:p>
          </p:txBody>
        </p:sp>
      </p:grpSp>
      <p:grpSp>
        <p:nvGrpSpPr>
          <p:cNvPr id="48" name="c1-code-2"/>
          <p:cNvGrpSpPr/>
          <p:nvPr/>
        </p:nvGrpSpPr>
        <p:grpSpPr>
          <a:xfrm>
            <a:off x="533400" y="4671060"/>
            <a:ext cx="6817042" cy="704850"/>
            <a:chOff x="533400" y="4671060"/>
            <a:chExt cx="6817042" cy="704850"/>
          </a:xfrm>
        </p:grpSpPr>
        <p:sp>
          <p:nvSpPr>
            <p:cNvPr id="45" name="Rectangle 45"/>
            <p:cNvSpPr/>
            <p:nvPr/>
          </p:nvSpPr>
          <p:spPr>
            <a:xfrm>
              <a:off x="533400" y="4671060"/>
              <a:ext cx="6817042" cy="704850"/>
            </a:xfrm>
            <a:prstGeom prst="roundRect">
              <a:avLst>
                <a:gd name="adj" fmla="val 135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1797" y="482298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模拟运行的输出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1035" y="5084921"/>
              <a:ext cx="38465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Mean - 4.750000, Standard deviation = 2.633914</a:t>
              </a:r>
            </a:p>
          </p:txBody>
        </p:sp>
      </p:grpSp>
      <p:grpSp>
        <p:nvGrpSpPr>
          <p:cNvPr id="62" name="c2-steps-1"/>
          <p:cNvGrpSpPr/>
          <p:nvPr/>
        </p:nvGrpSpPr>
        <p:grpSpPr>
          <a:xfrm>
            <a:off x="7655242" y="1533525"/>
            <a:ext cx="3774314" cy="2348198"/>
            <a:chOff x="7655242" y="1533525"/>
            <a:chExt cx="3774314" cy="2348198"/>
          </a:xfrm>
        </p:grpSpPr>
        <p:sp>
          <p:nvSpPr>
            <p:cNvPr id="49" name="Rectangle 49"/>
            <p:cNvSpPr/>
            <p:nvPr/>
          </p:nvSpPr>
          <p:spPr>
            <a:xfrm>
              <a:off x="7788592" y="1676400"/>
              <a:ext cx="19050" cy="17706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7655242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74886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655242" y="241935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748866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655242" y="330422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748866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66723" y="1567815"/>
              <a:ext cx="964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Allreduce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067866" y="1861661"/>
              <a:ext cx="31991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global_sum = 6 + 14 + 4 + 14 = 38，mean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 ÷ 8 = 4.75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66723" y="2453640"/>
              <a:ext cx="7215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067866" y="2746534"/>
              <a:ext cx="33616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global_sq_diff = 8.125 + 12.125 + 17.125 +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18.125 = 55.5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066723" y="333851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根进程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67866" y="3632359"/>
              <a:ext cx="27958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= √(55.5 ÷ 8) = √6.9375 ≈ 2.634</a:t>
              </a:r>
            </a:p>
          </p:txBody>
        </p:sp>
      </p:grpSp>
      <p:grpSp>
        <p:nvGrpSpPr>
          <p:cNvPr id="68" name="c2-callout-2"/>
          <p:cNvGrpSpPr/>
          <p:nvPr/>
        </p:nvGrpSpPr>
        <p:grpSpPr>
          <a:xfrm>
            <a:off x="7655242" y="4060508"/>
            <a:ext cx="4003358" cy="1315402"/>
            <a:chOff x="7655242" y="4060508"/>
            <a:chExt cx="4003358" cy="1315402"/>
          </a:xfrm>
        </p:grpSpPr>
        <p:sp>
          <p:nvSpPr>
            <p:cNvPr id="63" name="Rectangle 63"/>
            <p:cNvSpPr/>
            <p:nvPr/>
          </p:nvSpPr>
          <p:spPr>
            <a:xfrm>
              <a:off x="7655242" y="4060508"/>
              <a:ext cx="4003358" cy="1315402"/>
            </a:xfrm>
            <a:prstGeom prst="roundRect">
              <a:avLst>
                <a:gd name="adj" fmla="val 868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860030" y="4617722"/>
              <a:ext cx="200023" cy="200023"/>
              <a:chOff x="7860030" y="4617722"/>
              <a:chExt cx="200023" cy="200023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860030" y="461772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993380" y="46843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8161973" y="4336732"/>
              <a:ext cx="31203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第一次必须用 Allreduce：若只用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Reduce，只有根知道均值，其他进程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算不了偏差，还得再 Bcast 一次。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9" name="Rectangle 6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0130" y="5991225"/>
              <a:ext cx="94129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核对：直接对 8 个数算 Σ(x − 4.75)² 也是 55.5。数据分给几个进程都不影响结果，浮点舍入误差除外。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集合通信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规约的代价：并行求和的加速比与效率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760595" cy="1724025"/>
            <a:chOff x="533400" y="1524000"/>
            <a:chExt cx="4760595" cy="17240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724025"/>
            </a:xfrm>
            <a:prstGeom prst="roundRect">
              <a:avLst>
                <a:gd name="adj" fmla="val 77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573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设定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11994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n = 10⁶ 个数求和，一次加法 1 ns，串行 T₁ = 1000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μs。N 个进程各加 n/N 个数（Tc），再用树形规约合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并，共 log₂N 轮，每轮按一次启动延迟 5 μs 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（Tn）。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formula14"/>
              <p:cNvSpPr txBox="1">
                <a:spLocks noGrp="1"/>
              </p:cNvSpPr>
              <p:nvPr/>
            </p:nvSpPr>
            <p:spPr>
              <a:xfrm>
                <a:off x="533400" y="3423285"/>
                <a:ext cx="4760595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20" name="c1-callout-3"/>
          <p:cNvGrpSpPr/>
          <p:nvPr/>
        </p:nvGrpSpPr>
        <p:grpSpPr>
          <a:xfrm>
            <a:off x="533400" y="4214812"/>
            <a:ext cx="4760595" cy="1412558"/>
            <a:chOff x="533400" y="4214812"/>
            <a:chExt cx="4760595" cy="1412558"/>
          </a:xfrm>
        </p:grpSpPr>
        <p:sp>
          <p:nvSpPr>
            <p:cNvPr id="14" name="Rectangle 14"/>
            <p:cNvSpPr/>
            <p:nvPr/>
          </p:nvSpPr>
          <p:spPr>
            <a:xfrm>
              <a:off x="533400" y="4214812"/>
              <a:ext cx="4760595" cy="1412558"/>
            </a:xfrm>
            <a:prstGeom prst="roundRect">
              <a:avLst>
                <a:gd name="adj" fmla="val 80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8188" y="4821555"/>
              <a:ext cx="200026" cy="200026"/>
              <a:chOff x="738188" y="4821555"/>
              <a:chExt cx="200026" cy="20002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482155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38200" y="48882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27088" y="492156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0892" y="4702492"/>
              <a:ext cx="376847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记号沿用第1章：N 为进程数，Tc 为计算时间，Tn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为通信时间；加速比 S，效率 E。</a:t>
              </a:r>
            </a:p>
          </p:txBody>
        </p:sp>
      </p:grpSp>
      <p:grpSp>
        <p:nvGrpSpPr>
          <p:cNvPr id="66" name="c2-table-1"/>
          <p:cNvGrpSpPr/>
          <p:nvPr/>
        </p:nvGrpSpPr>
        <p:grpSpPr>
          <a:xfrm>
            <a:off x="5593461" y="1524000"/>
            <a:ext cx="6065139" cy="2502789"/>
            <a:chOff x="5593461" y="1524000"/>
            <a:chExt cx="6065139" cy="2502789"/>
          </a:xfrm>
        </p:grpSpPr>
        <p:sp>
          <p:nvSpPr>
            <p:cNvPr id="21" name="Rectangle 21"/>
            <p:cNvSpPr/>
            <p:nvPr/>
          </p:nvSpPr>
          <p:spPr>
            <a:xfrm>
              <a:off x="5598795" y="1524000"/>
              <a:ext cx="6059805" cy="44481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57483" y="1651635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80328" y="1651635"/>
              <a:ext cx="8029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Tc（μs）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64273" y="1651635"/>
              <a:ext cx="8029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Tn（μs）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40699" y="1651635"/>
              <a:ext cx="1132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总时间（μs）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947563" y="1651635"/>
              <a:ext cx="7303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加速比 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964262" y="1651635"/>
              <a:ext cx="5485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效率 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860453" y="209645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25009" y="2096452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58932" y="2096452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50061" y="2096452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105949" y="2096452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3.85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0828020" y="1978342"/>
              <a:ext cx="821055" cy="42576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031779" y="2096452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0.96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598795" y="240887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598795" y="2413635"/>
              <a:ext cx="6059805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807976" y="2541270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75031" y="254127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62.5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758932" y="254127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00084" y="254127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82.5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055971" y="2541270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12.12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031779" y="254127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0.76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598795" y="28527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807976" y="298608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75031" y="298608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15.6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758932" y="298608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900084" y="298608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45.6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055971" y="298608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21.92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031779" y="298608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0.34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598795" y="329755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598795" y="3302318"/>
              <a:ext cx="6059805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755500" y="3430905"/>
              <a:ext cx="328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25009" y="3430905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3.9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58932" y="3430905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900084" y="3430905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43.9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055971" y="3430905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22.78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0828020" y="3311842"/>
              <a:ext cx="821055" cy="42576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1031779" y="3430905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0.09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598795" y="1524000"/>
              <a:ext cx="6059805" cy="22231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236018" y="1524000"/>
              <a:ext cx="9525" cy="22231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319010" y="1524000"/>
              <a:ext cx="9525" cy="22231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402002" y="1524000"/>
              <a:ext cx="9525" cy="22231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9802178" y="1524000"/>
              <a:ext cx="9525" cy="22231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10813732" y="1524000"/>
              <a:ext cx="9525" cy="22231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593461" y="382143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以上数值由脚本复算</a:t>
              </a:r>
            </a:p>
          </p:txBody>
        </p:sp>
      </p:grpSp>
      <p:grpSp>
        <p:nvGrpSpPr>
          <p:cNvPr id="72" name="c2-card-2"/>
          <p:cNvGrpSpPr/>
          <p:nvPr/>
        </p:nvGrpSpPr>
        <p:grpSpPr>
          <a:xfrm>
            <a:off x="5598795" y="4160520"/>
            <a:ext cx="6059805" cy="1466850"/>
            <a:chOff x="5598795" y="4160520"/>
            <a:chExt cx="6059805" cy="1466850"/>
          </a:xfrm>
        </p:grpSpPr>
        <p:sp>
          <p:nvSpPr>
            <p:cNvPr id="67" name="Rectangle 67"/>
            <p:cNvSpPr/>
            <p:nvPr/>
          </p:nvSpPr>
          <p:spPr>
            <a:xfrm>
              <a:off x="5598795" y="4160520"/>
              <a:ext cx="6059805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5608320" y="429387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5829300" y="4352925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892737" y="438721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换成根进程逐个接收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822442" y="4710112"/>
              <a:ext cx="507149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线性规约要 N − 1 轮：N = 64 时 Tn = 63 × 5 = 315 μs，加速比只有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 ÷ 330.6 ≈ 3.02；N = 256 时总时间比串行还长（加速比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0.78）。</a:t>
              </a:r>
            </a:p>
          </p:txBody>
        </p:sp>
      </p:grpSp>
      <p:grpSp>
        <p:nvGrpSpPr>
          <p:cNvPr id="7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3" name="Rectangle 7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40892" y="6023610"/>
              <a:ext cx="84418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进程加倍，Tc 减半而 Tn 只多一轮。Tc 降到和 Tn 同一量级后，再加进程几乎不再提速，效率急剧下降。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334597" cy="3351847"/>
            <a:chOff x="667512" y="1835468"/>
            <a:chExt cx="6334597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33459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单边通信、RDMA 与多机运行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一方就能读写远端内存，但同步仍要自己负责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5994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原课件第68–79页：单边通信与多机运行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窗口的创建与销毁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04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Put、Get、Accumulate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5264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同步与锁、RDMA、hostfile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25939" cy="909257"/>
            <a:chOff x="520446" y="342900"/>
            <a:chExt cx="86259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870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5514" y="407194"/>
              <a:ext cx="3342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单边通信、RDMA 与多机运行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259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单边通信（RMA）：把一块内存开放给其他进程直接读写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graph-1"/>
          <p:cNvGrpSpPr/>
          <p:nvPr/>
        </p:nvGrpSpPr>
        <p:grpSpPr>
          <a:xfrm>
            <a:off x="902018" y="1602105"/>
            <a:ext cx="4889182" cy="2358675"/>
            <a:chOff x="902018" y="1602105"/>
            <a:chExt cx="4889182" cy="2358675"/>
          </a:xfrm>
        </p:grpSpPr>
        <p:sp>
          <p:nvSpPr>
            <p:cNvPr id="7" name="Freeform 7"/>
            <p:cNvSpPr/>
            <p:nvPr/>
          </p:nvSpPr>
          <p:spPr>
            <a:xfrm>
              <a:off x="1560195" y="2785110"/>
              <a:ext cx="793432" cy="531495"/>
            </a:xfrm>
            <a:custGeom>
              <a:avLst/>
              <a:gdLst/>
              <a:ahLst/>
              <a:cxnLst/>
              <a:rect l="l" t="t" r="r" b="b"/>
              <a:pathLst>
                <a:path w="793432" h="531495">
                  <a:moveTo>
                    <a:pt x="0" y="531495"/>
                  </a:moveTo>
                  <a:lnTo>
                    <a:pt x="79343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8" name="Freeform 8"/>
            <p:cNvSpPr/>
            <p:nvPr/>
          </p:nvSpPr>
          <p:spPr>
            <a:xfrm>
              <a:off x="2326958" y="2731770"/>
              <a:ext cx="105727" cy="92392"/>
            </a:xfrm>
            <a:custGeom>
              <a:avLst/>
              <a:gdLst/>
              <a:ahLst/>
              <a:cxnLst/>
              <a:rect l="l" t="t" r="r" b="b"/>
              <a:pathLst>
                <a:path w="105727" h="92392">
                  <a:moveTo>
                    <a:pt x="105727" y="0"/>
                  </a:moveTo>
                  <a:lnTo>
                    <a:pt x="53340" y="92392"/>
                  </a:lnTo>
                  <a:lnTo>
                    <a:pt x="0" y="133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339590" y="2731770"/>
              <a:ext cx="793432" cy="531495"/>
            </a:xfrm>
            <a:custGeom>
              <a:avLst/>
              <a:gdLst/>
              <a:ahLst/>
              <a:cxnLst/>
              <a:rect l="l" t="t" r="r" b="b"/>
              <a:pathLst>
                <a:path w="793432" h="531495">
                  <a:moveTo>
                    <a:pt x="793432" y="0"/>
                  </a:moveTo>
                  <a:lnTo>
                    <a:pt x="0" y="531495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4260532" y="3224212"/>
              <a:ext cx="105727" cy="92392"/>
            </a:xfrm>
            <a:custGeom>
              <a:avLst/>
              <a:gdLst/>
              <a:ahLst/>
              <a:cxnLst/>
              <a:rect l="l" t="t" r="r" b="b"/>
              <a:pathLst>
                <a:path w="105727" h="92392">
                  <a:moveTo>
                    <a:pt x="0" y="92392"/>
                  </a:moveTo>
                  <a:lnTo>
                    <a:pt x="52388" y="0"/>
                  </a:lnTo>
                  <a:lnTo>
                    <a:pt x="105727" y="7905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986790" y="1602105"/>
              <a:ext cx="669608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336482" y="1602105"/>
              <a:ext cx="669608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3687128" y="1602105"/>
              <a:ext cx="669608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037772" y="1602105"/>
              <a:ext cx="669608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054418" y="2411730"/>
              <a:ext cx="53340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405062" y="2411730"/>
              <a:ext cx="53340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754755" y="2411730"/>
              <a:ext cx="53340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105400" y="2411730"/>
              <a:ext cx="53340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902018" y="3316605"/>
              <a:ext cx="83820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252662" y="3316605"/>
              <a:ext cx="83820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602355" y="3316605"/>
              <a:ext cx="83820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953000" y="3316605"/>
              <a:ext cx="83820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81388" y="168783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 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432033" y="168783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 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81726" y="168783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 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32371" y="168783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 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53477" y="249745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窗口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04123" y="249745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窗口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53815" y="249745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窗口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04460" y="249745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窗口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91933" y="340233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私有内存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342578" y="340233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私有内存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692271" y="340233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私有内存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042916" y="340233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私有内存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855470" y="2931795"/>
              <a:ext cx="28194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880593" y="2965609"/>
              <a:ext cx="2316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Put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556760" y="2931795"/>
              <a:ext cx="28194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580931" y="2965609"/>
              <a:ext cx="2316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Get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445158" y="3711416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各进程的窗口合起来像一块全局可访问的地址空间</a:t>
              </a:r>
            </a:p>
          </p:txBody>
        </p:sp>
      </p:grpSp>
      <p:grpSp>
        <p:nvGrpSpPr>
          <p:cNvPr id="56" name="c1-table-2"/>
          <p:cNvGrpSpPr/>
          <p:nvPr/>
        </p:nvGrpSpPr>
        <p:grpSpPr>
          <a:xfrm>
            <a:off x="533400" y="4095750"/>
            <a:ext cx="5626418" cy="1573530"/>
            <a:chOff x="533400" y="4095750"/>
            <a:chExt cx="5626418" cy="1573530"/>
          </a:xfrm>
        </p:grpSpPr>
        <p:sp>
          <p:nvSpPr>
            <p:cNvPr id="41" name="Rectangle 41"/>
            <p:cNvSpPr/>
            <p:nvPr/>
          </p:nvSpPr>
          <p:spPr>
            <a:xfrm>
              <a:off x="533400" y="4095750"/>
              <a:ext cx="5626418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73734" y="42314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154369" y="4231481"/>
              <a:ext cx="1427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点到点 / 集合通信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711433" y="42314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单边通信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1223" y="46801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谁要调用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879473" y="468010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发送方和接收方都要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073080" y="468010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只有发起方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49882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33400" y="4993005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41223" y="5128736"/>
              <a:ext cx="825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数据传递与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879473" y="524208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绑在一起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073080" y="524208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解耦，分开做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4095750"/>
              <a:ext cx="5626418" cy="15735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1766888" y="4095750"/>
              <a:ext cx="9525" cy="1573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3960495" y="4095750"/>
              <a:ext cx="9525" cy="1573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c2-image-1"/>
          <p:cNvGrpSpPr/>
          <p:nvPr/>
        </p:nvGrpSpPr>
        <p:grpSpPr>
          <a:xfrm>
            <a:off x="7020916" y="1524000"/>
            <a:ext cx="4082339" cy="2696052"/>
            <a:chOff x="7020916" y="1524000"/>
            <a:chExt cx="4082339" cy="2696052"/>
          </a:xfrm>
        </p:grpSpPr>
        <p:pic>
          <p:nvPicPr>
            <p:cNvPr id="57" name="Image 57"/>
            <p:cNvPicPr>
              <a:picLocks noChangeAspect="1"/>
            </p:cNvPicPr>
            <p:nvPr/>
          </p:nvPicPr>
          <p:blipFill>
            <a:blip r:embed="rId2"/>
            <a:srcRect l="16670" t="0" r="16670" b="0"/>
            <a:stretch>
              <a:fillRect/>
            </a:stretch>
          </p:blipFill>
          <p:spPr>
            <a:xfrm>
              <a:off x="7474268" y="1524000"/>
              <a:ext cx="3174682" cy="2381250"/>
            </a:xfrm>
            <a:prstGeom prst="roundRect">
              <a:avLst>
                <a:gd name="adj" fmla="val 5600"/>
              </a:avLst>
            </a:prstGeom>
          </p:spPr>
        </p:pic>
        <p:sp>
          <p:nvSpPr>
            <p:cNvPr id="58" name="TextBox 58"/>
            <p:cNvSpPr txBox="1"/>
            <p:nvPr/>
          </p:nvSpPr>
          <p:spPr>
            <a:xfrm>
              <a:off x="7020916" y="4000024"/>
              <a:ext cx="4082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每家在院墙上开一个柜子，邻居可以直接往里放东西或取东西</a:t>
              </a:r>
            </a:p>
          </p:txBody>
        </p:sp>
      </p:grpSp>
      <p:grpSp>
        <p:nvGrpSpPr>
          <p:cNvPr id="65" name="c2-card-2"/>
          <p:cNvGrpSpPr/>
          <p:nvPr/>
        </p:nvGrpSpPr>
        <p:grpSpPr>
          <a:xfrm>
            <a:off x="6464618" y="4385310"/>
            <a:ext cx="5193982" cy="1887855"/>
            <a:chOff x="6464618" y="4385310"/>
            <a:chExt cx="5193982" cy="1887855"/>
          </a:xfrm>
        </p:grpSpPr>
        <p:sp>
          <p:nvSpPr>
            <p:cNvPr id="60" name="Rectangle 60"/>
            <p:cNvSpPr/>
            <p:nvPr/>
          </p:nvSpPr>
          <p:spPr>
            <a:xfrm>
              <a:off x="6464618" y="4385310"/>
              <a:ext cx="5193982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474142" y="4518660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712268" y="459486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803428" y="46305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704648" y="4972050"/>
              <a:ext cx="44253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单边通信又称远端内存访问（Remote Memory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Access，RMA），MPI-2 引入。每个进程把一部分内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存暴露给其他进程，其他进程可以直接访问该区域，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目标进程不需要配合调用接收函数。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63136" cy="909257"/>
            <a:chOff x="520446" y="342900"/>
            <a:chExt cx="806313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870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5514" y="407194"/>
              <a:ext cx="3342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单边通信、RDMA 与多机运行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6313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窗口 MPI_Win：先创建窗口，再在窗口上做单边通信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193982" cy="2733675"/>
            <a:chOff x="533400" y="1524000"/>
            <a:chExt cx="5193982" cy="2733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733675"/>
            </a:xfrm>
            <a:prstGeom prst="roundRect">
              <a:avLst>
                <a:gd name="adj" fmla="val 348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创建与销毁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169158" cy="22488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在每个进程上创建窗口（集合调用）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MPI_Win_create(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*base,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窗口起始地址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MPI_Aint size,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窗口大小（字节）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disp_unit,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窗口中元素的大小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MPI_Info info,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其他信息，没有就写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MPI_INFO_NULL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MPI_Comm comm,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通信器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MPI_Win *win);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生成的窗口对象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销毁窗口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MPI_Win_free(MPI_Win *win);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4448175"/>
            <a:ext cx="5193982" cy="1797368"/>
            <a:chOff x="533400" y="4448175"/>
            <a:chExt cx="5193982" cy="1797368"/>
          </a:xfrm>
        </p:grpSpPr>
        <p:sp>
          <p:nvSpPr>
            <p:cNvPr id="11" name="Rectangle 11"/>
            <p:cNvSpPr/>
            <p:nvPr/>
          </p:nvSpPr>
          <p:spPr>
            <a:xfrm>
              <a:off x="533400" y="4448175"/>
              <a:ext cx="5193982" cy="1797368"/>
            </a:xfrm>
            <a:prstGeom prst="roundRect">
              <a:avLst>
                <a:gd name="adj" fmla="val 63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246370"/>
              <a:ext cx="200026" cy="200025"/>
              <a:chOff x="738188" y="5246370"/>
              <a:chExt cx="200026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24637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7926" y="529082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12642" y="540194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4965382"/>
              <a:ext cx="42538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创建窗口还可以用 MPI_Win_allocate（由 MPI 分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配内存）和 MPI_Win_create_dynamic（之后再挂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内存）等。</a:t>
              </a:r>
            </a:p>
          </p:txBody>
        </p:sp>
      </p:grpSp>
      <p:grpSp>
        <p:nvGrpSpPr>
          <p:cNvPr id="22" name="c2-code-1"/>
          <p:cNvGrpSpPr/>
          <p:nvPr/>
        </p:nvGrpSpPr>
        <p:grpSpPr>
          <a:xfrm>
            <a:off x="6032182" y="1524000"/>
            <a:ext cx="5626418" cy="3748088"/>
            <a:chOff x="6032182" y="1524000"/>
            <a:chExt cx="5626418" cy="3748088"/>
          </a:xfrm>
        </p:grpSpPr>
        <p:sp>
          <p:nvSpPr>
            <p:cNvPr id="18" name="Rectangle 18"/>
            <p:cNvSpPr/>
            <p:nvPr/>
          </p:nvSpPr>
          <p:spPr>
            <a:xfrm>
              <a:off x="6032182" y="1524000"/>
              <a:ext cx="5626418" cy="3748088"/>
            </a:xfrm>
            <a:prstGeom prst="roundRect">
              <a:avLst>
                <a:gd name="adj" fmla="val 254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160580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完整例子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51232" y="3518535"/>
              <a:ext cx="5588318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159817" y="1937861"/>
              <a:ext cx="3624326" cy="3263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argc,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**argv)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*a; MPI_Win win;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MPI_Init(&amp;argc, &amp;argv);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申请私有内存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MPI_Alloc_mem(1000 *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sizeof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MPI_INFO_NULL, &amp;a);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a[0] = 1; a[1] = 2;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照常使用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所有进程一起把它声明为可远程访问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MPI_Win_create(a, 1000 *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sizeof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),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sizeof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), MPI_INFO_NULL,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MPI_COMM_WORLD, &amp;win);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现在 MPI_COMM_WORLD 里的进程都能访问 a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MPI_Win_free(&amp;win);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MPI_Free_mem(a);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MPI_Finalize();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0;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9" name="c2-callout-2"/>
          <p:cNvGrpSpPr/>
          <p:nvPr/>
        </p:nvGrpSpPr>
        <p:grpSpPr>
          <a:xfrm>
            <a:off x="6032182" y="5462588"/>
            <a:ext cx="5626418" cy="782955"/>
            <a:chOff x="6032182" y="5462588"/>
            <a:chExt cx="5626418" cy="782955"/>
          </a:xfrm>
        </p:grpSpPr>
        <p:sp>
          <p:nvSpPr>
            <p:cNvPr id="23" name="Rectangle 23"/>
            <p:cNvSpPr/>
            <p:nvPr/>
          </p:nvSpPr>
          <p:spPr>
            <a:xfrm>
              <a:off x="6032182" y="5462588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236970" y="5754053"/>
              <a:ext cx="200026" cy="200026"/>
              <a:chOff x="6236970" y="5754053"/>
              <a:chExt cx="200026" cy="2000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236970" y="575405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336983" y="58207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325870" y="585406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538912" y="5611178"/>
              <a:ext cx="43776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disp_unit 取 sizeof(int)，之后 Put/Get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target_disp 就按“第几个 int”算，而不是按字节。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408078" cy="909257"/>
            <a:chOff x="520446" y="342900"/>
            <a:chExt cx="104080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870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5514" y="407194"/>
              <a:ext cx="3342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单边通信、RDMA 与多机运行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4080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三种单边操作：Put 写远端，Get 读远端，Accumulate 在远端合并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2966085"/>
            <a:chOff x="533400" y="1524000"/>
            <a:chExt cx="5842635" cy="29660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966085"/>
            </a:xfrm>
            <a:prstGeom prst="roundRect">
              <a:avLst>
                <a:gd name="adj" fmla="val 32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3971163" cy="24799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MPI_Put(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const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*origin_addr,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origin_count,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MPI_Datatype origin_datatype,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target_rank,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MPI_Aint target_disp,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target_count,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MPI_Datatype target_datatype, MPI_Win win);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MPI_Get(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*origin_addr,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origin_count,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MPI_Datatype origin_datatype,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target_rank,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MPI_Aint target_disp,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target_count,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MPI_Datatype target_datatype, MPI_Win win);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MPI_Accumulate(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const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*origin_addr,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origin_count, MPI_Datatype origin_datatype,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target_rank, MPI_Aint target_disp,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target_count, MPI_Datatype target_datatype,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MPI_Op op, MPI_Win win);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4664392"/>
            <a:ext cx="5842635" cy="1615440"/>
            <a:chOff x="533400" y="4664392"/>
            <a:chExt cx="5842635" cy="1615440"/>
          </a:xfrm>
        </p:grpSpPr>
        <p:sp>
          <p:nvSpPr>
            <p:cNvPr id="11" name="Rectangle 11"/>
            <p:cNvSpPr/>
            <p:nvPr/>
          </p:nvSpPr>
          <p:spPr>
            <a:xfrm>
              <a:off x="533400" y="4664392"/>
              <a:ext cx="5842635" cy="1615440"/>
            </a:xfrm>
            <a:prstGeom prst="roundRect">
              <a:avLst>
                <a:gd name="adj" fmla="val 707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373053"/>
              <a:ext cx="200026" cy="200026"/>
              <a:chOff x="738188" y="5373053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37305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8200" y="54397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27088" y="547306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892" y="5005388"/>
              <a:ext cx="4874324" cy="1009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Accumulate 叫“原子加法”。它按 op 把数据合并进目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标，op 取 MPI_SUM 时是加法，也可以是 MPI_MAX、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MPI_REPLACE 等；对同一位置的多次 Accumulate 按元素原子地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进行。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6680835" y="1524000"/>
            <a:ext cx="4977765" cy="3851910"/>
            <a:chOff x="6680835" y="1524000"/>
            <a:chExt cx="4977765" cy="3851910"/>
          </a:xfrm>
        </p:grpSpPr>
        <p:sp>
          <p:nvSpPr>
            <p:cNvPr id="18" name="Rectangle 18"/>
            <p:cNvSpPr/>
            <p:nvPr/>
          </p:nvSpPr>
          <p:spPr>
            <a:xfrm>
              <a:off x="6680835" y="1524000"/>
              <a:ext cx="4977765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2066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0859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80848" y="2054066"/>
              <a:ext cx="890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origin_addr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72525" y="205406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本进程（发起方）缓冲区的起始地址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680835" y="233076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680835" y="2335530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80848" y="2459831"/>
              <a:ext cx="977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origin_count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72525" y="2459831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本进程缓冲区中的元素个数（非负整数）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680835" y="273653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80848" y="2865596"/>
              <a:ext cx="12383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origin_datatype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72525" y="286559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本进程缓冲区中每个元素的类型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680835" y="314229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680835" y="3147060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80848" y="3271361"/>
              <a:ext cx="9692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target_rank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772525" y="3271361"/>
              <a:ext cx="20468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目标进程的 rank（非负整数）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680835" y="354806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80848" y="3777139"/>
              <a:ext cx="9296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target_disp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772525" y="3677126"/>
              <a:ext cx="21450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从窗口开头到目标位置的位移（按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disp_unit 计）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680835" y="415385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680835" y="4158615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80848" y="4282916"/>
              <a:ext cx="10562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target_count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772525" y="428291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目标缓冲区中的元素个数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680835" y="455961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80848" y="4688681"/>
              <a:ext cx="13175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target_datatype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72525" y="468868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目标缓冲区中每个元素的类型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680835" y="496538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80835" y="4970145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80848" y="5094446"/>
              <a:ext cx="2647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772525" y="509444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用于通信的窗口对象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680835" y="1524000"/>
              <a:ext cx="4977765" cy="38519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667750" y="1524000"/>
              <a:ext cx="9525" cy="38519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llout-2"/>
          <p:cNvGrpSpPr/>
          <p:nvPr/>
        </p:nvGrpSpPr>
        <p:grpSpPr>
          <a:xfrm>
            <a:off x="6680835" y="5551170"/>
            <a:ext cx="4977765" cy="729615"/>
            <a:chOff x="6680835" y="5551170"/>
            <a:chExt cx="4977765" cy="729615"/>
          </a:xfrm>
        </p:grpSpPr>
        <p:sp>
          <p:nvSpPr>
            <p:cNvPr id="51" name="Rectangle 51"/>
            <p:cNvSpPr/>
            <p:nvPr/>
          </p:nvSpPr>
          <p:spPr>
            <a:xfrm>
              <a:off x="6680835" y="5551170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885623" y="5815965"/>
              <a:ext cx="200026" cy="200025"/>
              <a:chOff x="6885623" y="5815965"/>
              <a:chExt cx="200026" cy="20002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885623" y="58159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925361" y="58604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960077" y="59715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7188327" y="5696902"/>
              <a:ext cx="402564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原课件 MPI_Get 原型里有一个中文逗号，照抄会编译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不过，这里已改成英文逗号。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369077" cy="909257"/>
            <a:chOff x="520446" y="342900"/>
            <a:chExt cx="53690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870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5514" y="407194"/>
              <a:ext cx="3342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单边通信、RDMA 与多机运行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3690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单边通信也要同步：fence 与 lock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193982" cy="2558415"/>
            <a:chOff x="533400" y="1524000"/>
            <a:chExt cx="5193982" cy="25584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558415"/>
            </a:xfrm>
            <a:prstGeom prst="roundRect">
              <a:avLst>
                <a:gd name="adj" fmla="val 52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917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320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 RMA 和第2章用共享变量实现的线程级并行十分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相似，共享变量编程要注意的问题它都有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31770"/>
              <a:ext cx="4301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单边通信不保证操作的顺序；多个 Put 写同一位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置，或 Get 与 Put 同时访问同一位置，结果未定义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4156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35280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接口不提供同步，不等于程序不需要同步，要在需要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的地方自己加上同步语句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4272915"/>
            <a:ext cx="5193982" cy="2002155"/>
            <a:chOff x="533400" y="4272915"/>
            <a:chExt cx="5193982" cy="2002155"/>
          </a:xfrm>
        </p:grpSpPr>
        <p:sp>
          <p:nvSpPr>
            <p:cNvPr id="18" name="Rectangle 18"/>
            <p:cNvSpPr/>
            <p:nvPr/>
          </p:nvSpPr>
          <p:spPr>
            <a:xfrm>
              <a:off x="533400" y="4272915"/>
              <a:ext cx="5193982" cy="2002155"/>
            </a:xfrm>
            <a:prstGeom prst="roundRect">
              <a:avLst>
                <a:gd name="adj" fmla="val 66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406265"/>
              <a:ext cx="47625" cy="17354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81050" y="44824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1258" y="45181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3430" y="4859655"/>
              <a:ext cx="4501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原课件写“和上一章通过共享变量方式实现的进程级并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行十分相似”。上一章（第2章）讲的是线程级并行。</a:t>
              </a:r>
            </a:p>
          </p:txBody>
        </p:sp>
      </p:grpSp>
      <p:grpSp>
        <p:nvGrpSpPr>
          <p:cNvPr id="29" name="c2-code-1"/>
          <p:cNvGrpSpPr/>
          <p:nvPr/>
        </p:nvGrpSpPr>
        <p:grpSpPr>
          <a:xfrm>
            <a:off x="6032182" y="1524000"/>
            <a:ext cx="5626418" cy="2733675"/>
            <a:chOff x="6032182" y="1524000"/>
            <a:chExt cx="5626418" cy="2733675"/>
          </a:xfrm>
        </p:grpSpPr>
        <p:sp>
          <p:nvSpPr>
            <p:cNvPr id="24" name="Rectangle 24"/>
            <p:cNvSpPr/>
            <p:nvPr/>
          </p:nvSpPr>
          <p:spPr>
            <a:xfrm>
              <a:off x="6032182" y="1524000"/>
              <a:ext cx="5626418" cy="2733675"/>
            </a:xfrm>
            <a:prstGeom prst="roundRect">
              <a:avLst>
                <a:gd name="adj" fmla="val 348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160580" y="16759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两种同步方式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051232" y="2707005"/>
              <a:ext cx="5588318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051232" y="3924300"/>
              <a:ext cx="5588318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159817" y="1937861"/>
              <a:ext cx="4001262" cy="22488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方式一：fence，组内进程一起调用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MPI_Win_fence(0, win);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(rank == 0)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MPI_Put(&amp;v, 1, MPI_INT, 1, 0, 1, MPI_INT, win);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MPI_Win_fence(0, win);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此后 1 号能读到 v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方式二：lock，目标进程不必参与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MPI_Win_lock(MPI_LOCK_EXCLUSIVE, 1, 0, win);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MPI_Accumulate(&amp;one, 1, MPI_INT, 1, 0, 1, MPI_INT,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MPI_SUM, win);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MPI_Win_unlock(1, win);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返回时操作已完成</a:t>
              </a:r>
            </a:p>
          </p:txBody>
        </p:sp>
      </p:grpSp>
      <p:grpSp>
        <p:nvGrpSpPr>
          <p:cNvPr id="35" name="c2-kv-2"/>
          <p:cNvGrpSpPr/>
          <p:nvPr/>
        </p:nvGrpSpPr>
        <p:grpSpPr>
          <a:xfrm>
            <a:off x="6024562" y="4472940"/>
            <a:ext cx="5634038" cy="1861185"/>
            <a:chOff x="6024562" y="4472940"/>
            <a:chExt cx="5634038" cy="1861185"/>
          </a:xfrm>
        </p:grpSpPr>
        <p:sp>
          <p:nvSpPr>
            <p:cNvPr id="30" name="TextBox 30"/>
            <p:cNvSpPr txBox="1"/>
            <p:nvPr/>
          </p:nvSpPr>
          <p:spPr>
            <a:xfrm>
              <a:off x="6024562" y="4472940"/>
              <a:ext cx="13704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MPI_Win_lock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03833" y="4472940"/>
              <a:ext cx="3596640" cy="11391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 (lock_type, rank, assert, win)：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 rank 号进程的窗口加锁，lock_type 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MPI_LOCK_EXCLUSIVE（独占）或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MPI_LOCK_SHARED（共享）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032182" y="56388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24562" y="5758815"/>
              <a:ext cx="16030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MPI_Win_unlock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03833" y="5758815"/>
              <a:ext cx="36442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 (rank, win)：解锁；返回时此前发起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的单边操作都已完成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45876" cy="909257"/>
            <a:chOff x="520446" y="342900"/>
            <a:chExt cx="57458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870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5514" y="407194"/>
              <a:ext cx="3342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单边通信、RDMA 与多机运行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458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RDMA：网卡直接读写远端主机的内存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graph-1"/>
          <p:cNvGrpSpPr/>
          <p:nvPr/>
        </p:nvGrpSpPr>
        <p:grpSpPr>
          <a:xfrm>
            <a:off x="823912" y="1851660"/>
            <a:ext cx="5262564" cy="2771108"/>
            <a:chOff x="823912" y="1851660"/>
            <a:chExt cx="5262564" cy="2771108"/>
          </a:xfrm>
        </p:grpSpPr>
        <p:sp>
          <p:nvSpPr>
            <p:cNvPr id="7" name="Freeform 7"/>
            <p:cNvSpPr/>
            <p:nvPr/>
          </p:nvSpPr>
          <p:spPr>
            <a:xfrm>
              <a:off x="2001202" y="2171700"/>
              <a:ext cx="549593" cy="1024890"/>
            </a:xfrm>
            <a:custGeom>
              <a:avLst/>
              <a:gdLst/>
              <a:ahLst/>
              <a:cxnLst/>
              <a:rect l="l" t="t" r="r" b="b"/>
              <a:pathLst>
                <a:path w="549593" h="1024890">
                  <a:moveTo>
                    <a:pt x="549593" y="0"/>
                  </a:moveTo>
                  <a:lnTo>
                    <a:pt x="0" y="102489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8" name="Freeform 8"/>
            <p:cNvSpPr/>
            <p:nvPr/>
          </p:nvSpPr>
          <p:spPr>
            <a:xfrm>
              <a:off x="1955482" y="3173730"/>
              <a:ext cx="87630" cy="106680"/>
            </a:xfrm>
            <a:custGeom>
              <a:avLst/>
              <a:gdLst/>
              <a:ahLst/>
              <a:cxnLst/>
              <a:rect l="l" t="t" r="r" b="b"/>
              <a:pathLst>
                <a:path w="87630" h="106680">
                  <a:moveTo>
                    <a:pt x="0" y="106680"/>
                  </a:moveTo>
                  <a:lnTo>
                    <a:pt x="3810" y="0"/>
                  </a:lnTo>
                  <a:lnTo>
                    <a:pt x="87630" y="4572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296352" y="2171700"/>
              <a:ext cx="390525" cy="1020128"/>
            </a:xfrm>
            <a:custGeom>
              <a:avLst/>
              <a:gdLst/>
              <a:ahLst/>
              <a:cxnLst/>
              <a:rect l="l" t="t" r="r" b="b"/>
              <a:pathLst>
                <a:path w="390525" h="1020128">
                  <a:moveTo>
                    <a:pt x="0" y="0"/>
                  </a:moveTo>
                  <a:lnTo>
                    <a:pt x="390525" y="102012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642110" y="3174682"/>
              <a:ext cx="89535" cy="105727"/>
            </a:xfrm>
            <a:custGeom>
              <a:avLst/>
              <a:gdLst/>
              <a:ahLst/>
              <a:cxnLst/>
              <a:rect l="l" t="t" r="r" b="b"/>
              <a:pathLst>
                <a:path w="89535" h="105727">
                  <a:moveTo>
                    <a:pt x="79057" y="105727"/>
                  </a:moveTo>
                  <a:lnTo>
                    <a:pt x="0" y="34290"/>
                  </a:lnTo>
                  <a:lnTo>
                    <a:pt x="8953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301240" y="3535680"/>
              <a:ext cx="2211705" cy="9525"/>
            </a:xfrm>
            <a:custGeom>
              <a:avLst/>
              <a:gdLst/>
              <a:ahLst/>
              <a:cxnLst/>
              <a:rect l="l" t="t" r="r" b="b"/>
              <a:pathLst>
                <a:path w="2211705" h="9525">
                  <a:moveTo>
                    <a:pt x="0" y="0"/>
                  </a:moveTo>
                  <a:lnTo>
                    <a:pt x="22117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512945" y="34880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5189220" y="2260282"/>
              <a:ext cx="390525" cy="1020127"/>
            </a:xfrm>
            <a:custGeom>
              <a:avLst/>
              <a:gdLst/>
              <a:ahLst/>
              <a:cxnLst/>
              <a:rect l="l" t="t" r="r" b="b"/>
              <a:pathLst>
                <a:path w="390525" h="1020127">
                  <a:moveTo>
                    <a:pt x="0" y="1020127"/>
                  </a:moveTo>
                  <a:lnTo>
                    <a:pt x="3905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534978" y="2171700"/>
              <a:ext cx="89535" cy="105727"/>
            </a:xfrm>
            <a:custGeom>
              <a:avLst/>
              <a:gdLst/>
              <a:ahLst/>
              <a:cxnLst/>
              <a:rect l="l" t="t" r="r" b="b"/>
              <a:pathLst>
                <a:path w="89535" h="105727">
                  <a:moveTo>
                    <a:pt x="79057" y="0"/>
                  </a:moveTo>
                  <a:lnTo>
                    <a:pt x="89535" y="105727"/>
                  </a:lnTo>
                  <a:lnTo>
                    <a:pt x="0" y="7143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403408" y="2255520"/>
              <a:ext cx="550545" cy="1024890"/>
            </a:xfrm>
            <a:custGeom>
              <a:avLst/>
              <a:gdLst/>
              <a:ahLst/>
              <a:cxnLst/>
              <a:rect l="l" t="t" r="r" b="b"/>
              <a:pathLst>
                <a:path w="550545" h="1024890">
                  <a:moveTo>
                    <a:pt x="550545" y="102489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4358640" y="2171700"/>
              <a:ext cx="87630" cy="106680"/>
            </a:xfrm>
            <a:custGeom>
              <a:avLst/>
              <a:gdLst/>
              <a:ahLst/>
              <a:cxnLst/>
              <a:rect l="l" t="t" r="r" b="b"/>
              <a:pathLst>
                <a:path w="87630" h="106680">
                  <a:moveTo>
                    <a:pt x="0" y="0"/>
                  </a:moveTo>
                  <a:lnTo>
                    <a:pt x="87630" y="60960"/>
                  </a:lnTo>
                  <a:lnTo>
                    <a:pt x="2857" y="10668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823912" y="1851660"/>
              <a:ext cx="822008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390775" y="1851660"/>
              <a:ext cx="492442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336358" y="3280410"/>
              <a:ext cx="965835" cy="510540"/>
            </a:xfrm>
            <a:prstGeom prst="roundRect">
              <a:avLst>
                <a:gd name="adj" fmla="val 18657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026218" y="1851660"/>
              <a:ext cx="492442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264468" y="1851660"/>
              <a:ext cx="822008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608195" y="3280410"/>
              <a:ext cx="965835" cy="510540"/>
            </a:xfrm>
            <a:prstGeom prst="roundRect">
              <a:avLst>
                <a:gd name="adj" fmla="val 18657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3939" y="1937385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缓冲区 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482566" y="1937385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51635" y="33661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网卡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09685" y="3556635"/>
              <a:ext cx="819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RDMA 引擎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118961" y="1937385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54494" y="1937385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缓冲区 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923472" y="33661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网卡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81522" y="3556635"/>
              <a:ext cx="819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RDMA 引擎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975485" y="2632710"/>
              <a:ext cx="55530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994701" y="2667476"/>
              <a:ext cx="5178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① 下指令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407795" y="2632710"/>
              <a:ext cx="20097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437843" y="266747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114675" y="3442335"/>
              <a:ext cx="680085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129840" y="3477101"/>
              <a:ext cx="6497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② 网络传输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00662" y="2632710"/>
              <a:ext cx="20097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330711" y="266747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316730" y="2632710"/>
              <a:ext cx="680085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331895" y="2667476"/>
              <a:ext cx="6497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③ 完成通知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559237" y="4373404"/>
              <a:ext cx="520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主机 A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831074" y="4373404"/>
              <a:ext cx="520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主机 B</a:t>
              </a:r>
            </a:p>
          </p:txBody>
        </p:sp>
      </p:grpSp>
      <p:grpSp>
        <p:nvGrpSpPr>
          <p:cNvPr id="50" name="c1-callout-2"/>
          <p:cNvGrpSpPr/>
          <p:nvPr/>
        </p:nvGrpSpPr>
        <p:grpSpPr>
          <a:xfrm>
            <a:off x="533400" y="4762500"/>
            <a:ext cx="5842635" cy="1295400"/>
            <a:chOff x="533400" y="4762500"/>
            <a:chExt cx="5842635" cy="1295400"/>
          </a:xfrm>
        </p:grpSpPr>
        <p:sp>
          <p:nvSpPr>
            <p:cNvPr id="44" name="Rectangle 44"/>
            <p:cNvSpPr/>
            <p:nvPr/>
          </p:nvSpPr>
          <p:spPr>
            <a:xfrm>
              <a:off x="533400" y="4762500"/>
              <a:ext cx="5842635" cy="1295400"/>
            </a:xfrm>
            <a:prstGeom prst="roundRect">
              <a:avLst>
                <a:gd name="adj" fmla="val 882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310188"/>
              <a:ext cx="200026" cy="200025"/>
              <a:chOff x="738188" y="5310188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3101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77926" y="53546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12642" y="54657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130" y="5029200"/>
              <a:ext cx="47682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CPU 只负责给网卡下指令，数据搬运全由网卡完成，不经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过操作系统内核、也不在内存里多拷一份。MPI 的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Put/Get 可以直接映射到 RDMA 上。</a:t>
              </a:r>
            </a:p>
          </p:txBody>
        </p:sp>
      </p:grpSp>
      <p:grpSp>
        <p:nvGrpSpPr>
          <p:cNvPr id="65" name="c2-table-1"/>
          <p:cNvGrpSpPr/>
          <p:nvPr/>
        </p:nvGrpSpPr>
        <p:grpSpPr>
          <a:xfrm>
            <a:off x="6680835" y="1524000"/>
            <a:ext cx="4977765" cy="3284220"/>
            <a:chOff x="6680835" y="1524000"/>
            <a:chExt cx="4977765" cy="3284220"/>
          </a:xfrm>
        </p:grpSpPr>
        <p:sp>
          <p:nvSpPr>
            <p:cNvPr id="51" name="Rectangle 51"/>
            <p:cNvSpPr/>
            <p:nvPr/>
          </p:nvSpPr>
          <p:spPr>
            <a:xfrm>
              <a:off x="6680835" y="1524000"/>
              <a:ext cx="4977765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43750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协议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63263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87515" y="2284095"/>
              <a:ext cx="10337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InfiniBand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131492" y="2150745"/>
              <a:ext cx="3253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新一代网络协议，需要支持该技术的网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卡和交换机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680835" y="276129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680835" y="2766060"/>
              <a:ext cx="4977765" cy="10210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87515" y="3171825"/>
              <a:ext cx="5015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RoCE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131492" y="2905125"/>
              <a:ext cx="3225165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RDMA over Converged Ethernet，由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IBTA 制定；在以太网上提供 RDMA 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义，不需要复杂低效的 TCP 传输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680835" y="378237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87515" y="4192905"/>
              <a:ext cx="6136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iWARP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31492" y="3926205"/>
              <a:ext cx="3244215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TCP 上执行 RDMA 的网络协议，能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用标准以太网交换机；IB 和 RoCE 的部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分功能在 iWARP 中不支持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680835" y="1524000"/>
              <a:ext cx="4977765" cy="32842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8020050" y="1524000"/>
              <a:ext cx="9525" cy="32842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2" name="c2-callout-2"/>
          <p:cNvGrpSpPr/>
          <p:nvPr/>
        </p:nvGrpSpPr>
        <p:grpSpPr>
          <a:xfrm>
            <a:off x="6680835" y="4998720"/>
            <a:ext cx="4977765" cy="1059180"/>
            <a:chOff x="6680835" y="4998720"/>
            <a:chExt cx="4977765" cy="1059180"/>
          </a:xfrm>
        </p:grpSpPr>
        <p:sp>
          <p:nvSpPr>
            <p:cNvPr id="66" name="Rectangle 66"/>
            <p:cNvSpPr/>
            <p:nvPr/>
          </p:nvSpPr>
          <p:spPr>
            <a:xfrm>
              <a:off x="6680835" y="4998720"/>
              <a:ext cx="4977765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6885623" y="5428298"/>
              <a:ext cx="200026" cy="200026"/>
              <a:chOff x="6885623" y="5428298"/>
              <a:chExt cx="200026" cy="200026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885623" y="542829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985635" y="54949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974523" y="552831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7187565" y="5147310"/>
              <a:ext cx="40252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三者的差别主要在底层网络：InfiniBand 要专用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硬件；RoCE 和 iWARP 走以太网，iWARP 依赖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TCP，RoCE 不需要。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82026" cy="909257"/>
            <a:chOff x="520446" y="342900"/>
            <a:chExt cx="528202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870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5514" y="407194"/>
              <a:ext cx="3342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 · 单边通信、RDMA 与多机运行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8202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在多台机器上运行 Open MPI 程序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4974336" cy="2011109"/>
            <a:chOff x="533400" y="1533525"/>
            <a:chExt cx="4974336" cy="201110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463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37553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493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99656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0703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261" y="1566386"/>
              <a:ext cx="7882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配置 ssh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404" y="1846898"/>
              <a:ext cx="45613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让各机器之间能免密码互相登录，Open MPI 用 ssh 在其他机器上启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动进程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2408396"/>
              <a:ext cx="10486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hostfile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2688907"/>
              <a:ext cx="44627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每行一个节点：主机名和 slot 数（该节点允许运行的进程数）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302942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3309938"/>
              <a:ext cx="27422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mpiexec 指定 hostfile 和总进程数</a:t>
              </a:r>
            </a:p>
          </p:txBody>
        </p:sp>
      </p:grpSp>
      <p:grpSp>
        <p:nvGrpSpPr>
          <p:cNvPr id="24" name="c1-code-2"/>
          <p:cNvGrpSpPr/>
          <p:nvPr/>
        </p:nvGrpSpPr>
        <p:grpSpPr>
          <a:xfrm>
            <a:off x="533400" y="3720465"/>
            <a:ext cx="5193982" cy="1313498"/>
            <a:chOff x="533400" y="3720465"/>
            <a:chExt cx="5193982" cy="1313498"/>
          </a:xfrm>
        </p:grpSpPr>
        <p:sp>
          <p:nvSpPr>
            <p:cNvPr id="21" name="Rectangle 21"/>
            <p:cNvSpPr/>
            <p:nvPr/>
          </p:nvSpPr>
          <p:spPr>
            <a:xfrm>
              <a:off x="533400" y="3720465"/>
              <a:ext cx="5193982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1797" y="3872389"/>
              <a:ext cx="13558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hosts 文件与启动命令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1035" y="4135279"/>
              <a:ext cx="3297174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node1 slots=4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node2 slots=2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mpiexec -hostfile hosts -np 6 ./helloworld</a:t>
              </a:r>
            </a:p>
          </p:txBody>
        </p:sp>
      </p:grpSp>
      <p:grpSp>
        <p:nvGrpSpPr>
          <p:cNvPr id="31" name="c1-callout-3"/>
          <p:cNvGrpSpPr/>
          <p:nvPr/>
        </p:nvGrpSpPr>
        <p:grpSpPr>
          <a:xfrm>
            <a:off x="533400" y="5219700"/>
            <a:ext cx="5193982" cy="1018222"/>
            <a:chOff x="533400" y="5219700"/>
            <a:chExt cx="5193982" cy="1018222"/>
          </a:xfrm>
        </p:grpSpPr>
        <p:sp>
          <p:nvSpPr>
            <p:cNvPr id="25" name="Rectangle 25"/>
            <p:cNvSpPr/>
            <p:nvPr/>
          </p:nvSpPr>
          <p:spPr>
            <a:xfrm>
              <a:off x="533400" y="5219700"/>
              <a:ext cx="5193982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5629275"/>
              <a:ext cx="200026" cy="200026"/>
              <a:chOff x="738188" y="5629275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62927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8200" y="5695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27088" y="572928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511" y="5366861"/>
              <a:ext cx="398195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mpiexec 是 MPI 标准建议的启动命令名，在 Open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 里与 mpirun 是同一个程序，前面例子里的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mpirun 换成 mpiexec 效果相同。</a:t>
              </a:r>
            </a:p>
          </p:txBody>
        </p:sp>
      </p:grpSp>
      <p:grpSp>
        <p:nvGrpSpPr>
          <p:cNvPr id="48" name="c2-table-1"/>
          <p:cNvGrpSpPr/>
          <p:nvPr/>
        </p:nvGrpSpPr>
        <p:grpSpPr>
          <a:xfrm>
            <a:off x="6026467" y="1524000"/>
            <a:ext cx="5632133" cy="1702594"/>
            <a:chOff x="6026467" y="1524000"/>
            <a:chExt cx="5632133" cy="1702594"/>
          </a:xfrm>
        </p:grpSpPr>
        <p:sp>
          <p:nvSpPr>
            <p:cNvPr id="32" name="Rectangle 32"/>
            <p:cNvSpPr/>
            <p:nvPr/>
          </p:nvSpPr>
          <p:spPr>
            <a:xfrm>
              <a:off x="6032182" y="1524000"/>
              <a:ext cx="5626418" cy="4686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36741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节点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60058" y="1658779"/>
              <a:ext cx="5162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slots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91932" y="1658779"/>
              <a:ext cx="14720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默认分到的 rank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51913" y="2128361"/>
              <a:ext cx="5664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node1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58387" y="2128361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66725" y="2128361"/>
              <a:ext cx="9224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0, 1, 2, 3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32182" y="245745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32182" y="2462212"/>
              <a:ext cx="5626418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51913" y="2596991"/>
              <a:ext cx="5664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node2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58387" y="2596991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34350" y="2596991"/>
              <a:ext cx="3872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4, 5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032182" y="1524000"/>
              <a:ext cx="5626418" cy="140684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633335" y="1524000"/>
              <a:ext cx="9525" cy="14068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192578" y="1524000"/>
              <a:ext cx="9525" cy="14068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026467" y="3006566"/>
              <a:ext cx="39916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Open MPI 默认按 slot 顺序填：先填满 node1，再到 node2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032182" y="3368040"/>
            <a:ext cx="5626418" cy="2869882"/>
            <a:chOff x="6032182" y="3368040"/>
            <a:chExt cx="5626418" cy="2869882"/>
          </a:xfrm>
        </p:grpSpPr>
        <p:sp>
          <p:nvSpPr>
            <p:cNvPr id="49" name="Rectangle 49"/>
            <p:cNvSpPr/>
            <p:nvPr/>
          </p:nvSpPr>
          <p:spPr>
            <a:xfrm>
              <a:off x="6032182" y="3368040"/>
              <a:ext cx="5626418" cy="2869882"/>
            </a:xfrm>
            <a:prstGeom prst="roundRect">
              <a:avLst>
                <a:gd name="adj" fmla="val 46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041708" y="3501390"/>
              <a:ext cx="47625" cy="260318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274118" y="357187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55474" y="36075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常见问题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281738" y="400526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438329" y="3944779"/>
              <a:ext cx="469430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-np 超过 slot 总数（这里是 6）时，Open MPI 默认报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“slot 不够”并拒绝启动，要加 --oversubscribe 才允许超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额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281738" y="486727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438329" y="4807744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各节点上可执行文件的路径要一致，最好放在共享目录里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281738" y="5188267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38329" y="5127784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同一个程序换到多机上不用改代码，rank 0 和 rank 5 通信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时会自动走网络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自测题（一）概念辨析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2194560" cy="264033"/>
            <a:chOff x="526542" y="1545907"/>
            <a:chExt cx="219456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先自己写出答案，再对照。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5410200" cy="1671638"/>
            <a:chOff x="533400" y="1928812"/>
            <a:chExt cx="5410200" cy="167163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4708093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MPI_Send 返回了，能否断定接收方已经收到数据？哪种模式的发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送返回时，能确定接收方已开始接收？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977991"/>
              <a:ext cx="42232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不能。标准模式可能只是把数据拷进了系统缓冲区；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MPI_Ssend（同步模式）返回才表示匹配的接收已经开始。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765232"/>
            <a:ext cx="5410200" cy="1914525"/>
            <a:chOff x="533400" y="3765232"/>
            <a:chExt cx="5410200" cy="1914525"/>
          </a:xfrm>
        </p:grpSpPr>
        <p:sp>
          <p:nvSpPr>
            <p:cNvPr id="15" name="Rectangle 15"/>
            <p:cNvSpPr/>
            <p:nvPr/>
          </p:nvSpPr>
          <p:spPr>
            <a:xfrm>
              <a:off x="533400" y="3765232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39462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39790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286726"/>
              <a:ext cx="48531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根进程的 MPI_Bcast 返回后，能否断定其他进程都已收到？要让所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有进程都到达某一点再继续，用哪个函数？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4814411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不能，集合函数返回只表示本进程的缓冲区可用了。要用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MPI_Barrier。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28812"/>
            <a:ext cx="5410200" cy="1671638"/>
            <a:chOff x="6248400" y="1928812"/>
            <a:chExt cx="5410200" cy="1671638"/>
          </a:xfrm>
        </p:grpSpPr>
        <p:sp>
          <p:nvSpPr>
            <p:cNvPr id="21" name="Rectangle 21"/>
            <p:cNvSpPr/>
            <p:nvPr/>
          </p:nvSpPr>
          <p:spPr>
            <a:xfrm>
              <a:off x="6248400" y="1928812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29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18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2898" y="2449354"/>
              <a:ext cx="4834077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两个进程都先 MPI_Ssend 给对方，再 MPI_Recv。会发生什么？给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出两种改法。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2898" y="2977991"/>
              <a:ext cx="48572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死锁，双方都在等对方开始接收。改法：按 rank 让一方先收后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发；或用 MPI_Sendrecv；或先 Irecv、Isend 再 Wait。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765232"/>
            <a:ext cx="5410200" cy="1914525"/>
            <a:chOff x="6248400" y="3765232"/>
            <a:chExt cx="5410200" cy="1914525"/>
          </a:xfrm>
        </p:grpSpPr>
        <p:sp>
          <p:nvSpPr>
            <p:cNvPr id="27" name="Rectangle 27"/>
            <p:cNvSpPr/>
            <p:nvPr/>
          </p:nvSpPr>
          <p:spPr>
            <a:xfrm>
              <a:off x="6248400" y="3765232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29375" y="39462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18832" y="39790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2898" y="4286726"/>
              <a:ext cx="479465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单边通信和点到点通信最大的区别是什么？进程 0 对进程 1 的窗口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Put 之后，1 号什么时候能安全读到？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2898" y="4814411"/>
              <a:ext cx="47271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单边通信只要发起方调用，目标进程不用调用接收函数。要等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同步完成：fence 方式在下一次 MPI_Win_fence 之后，lock 方式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MPI_Win_unlock 之后。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3" name="Rectangle 3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1273" y="6039326"/>
              <a:ext cx="60783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概念题的关键都是“什么时候返回、返回时保证了什么”，回到第25页的表对照。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自测题（二）计算与读程序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011930" cy="264033"/>
            <a:chOff x="526542" y="1545907"/>
            <a:chExt cx="401193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读程序题请把每个进程执行的语句按顺序写出来。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5410200" cy="1914525"/>
            <a:chOff x="533400" y="1928812"/>
            <a:chExt cx="5410200" cy="191452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475808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令牌环程序用 mpirun -np 4 运行，输出哪几行？若 0 号进程也先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 MPI_Recv 再发送，会怎样？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977991"/>
              <a:ext cx="484098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Process 1 received token -1 from process 0；2 from 1；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from 2；最后 Process 0 received token -1 from process 3。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号也先收会导致所有进程都在等，死锁。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008120"/>
            <a:ext cx="5410200" cy="1428750"/>
            <a:chOff x="533400" y="4008120"/>
            <a:chExt cx="5410200" cy="1428750"/>
          </a:xfrm>
        </p:grpSpPr>
        <p:sp>
          <p:nvSpPr>
            <p:cNvPr id="15" name="Rectangle 15"/>
            <p:cNvSpPr/>
            <p:nvPr/>
          </p:nvSpPr>
          <p:spPr>
            <a:xfrm>
              <a:off x="533400" y="4008120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529614"/>
              <a:ext cx="4797095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个进程的数据为 (5,1)、(2,3)、(7,8)、(4,2)，count = 2，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分别用 MPI_MAX、MPI_MIN 规约到根，结果是什么？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5057299"/>
              <a:ext cx="49277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MPI_MAX 得 (7, 8)；MPI_MIN 得 (2, 1)。逐个位置比较。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28812"/>
            <a:ext cx="5410200" cy="1428750"/>
            <a:chOff x="6248400" y="1928812"/>
            <a:chExt cx="5410200" cy="1428750"/>
          </a:xfrm>
        </p:grpSpPr>
        <p:sp>
          <p:nvSpPr>
            <p:cNvPr id="21" name="Rectangle 21"/>
            <p:cNvSpPr/>
            <p:nvPr/>
          </p:nvSpPr>
          <p:spPr>
            <a:xfrm>
              <a:off x="6248400" y="1928812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29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18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2898" y="2449354"/>
              <a:ext cx="455813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个进程，进程 i 的 sendbuf 为 3i+1, 3i+2, 3i+3，每块 1 个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数，调用 MPI_Alltoall 后进程 1 得到什么？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2898" y="2977991"/>
              <a:ext cx="49755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 j 的第 1 块依次是 2、5、8，所以进程 1 得到 2, 5, 8。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522345"/>
            <a:ext cx="5410200" cy="1914525"/>
            <a:chOff x="6248400" y="3522345"/>
            <a:chExt cx="5410200" cy="1914525"/>
          </a:xfrm>
        </p:grpSpPr>
        <p:sp>
          <p:nvSpPr>
            <p:cNvPr id="27" name="Rectangle 27"/>
            <p:cNvSpPr/>
            <p:nvPr/>
          </p:nvSpPr>
          <p:spPr>
            <a:xfrm>
              <a:off x="6248400" y="3522345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29375" y="370332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18832" y="373618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2898" y="4043839"/>
              <a:ext cx="4862525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第48页的求和问题取 N = 8，树形规约时加速比和效率各是多少？改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用线性规约呢？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2898" y="4571524"/>
              <a:ext cx="464591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Tc = 125 μs，Tn = 3 × 5 = 15 μs，S = 1000 ÷ 140 ≈ 7.14，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≈ 0.89；线性规约 Tn = 7 × 5 = 35 μs，S = 1000 ÷ 160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6.25。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3" name="Rectangle 3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1273" y="6039326"/>
              <a:ext cx="55653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Alltoall 题把数据排成矩阵转置；加速比题先分别写出 Tc 和 Tn 再相加。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402652" cy="909257"/>
            <a:chOff x="520446" y="342900"/>
            <a:chExt cx="1402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第3章 进程级并行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bullets-1"/>
          <p:cNvGrpSpPr/>
          <p:nvPr/>
        </p:nvGrpSpPr>
        <p:grpSpPr>
          <a:xfrm>
            <a:off x="533400" y="1532572"/>
            <a:ext cx="5338762" cy="1739837"/>
            <a:chOff x="533400" y="1532572"/>
            <a:chExt cx="5338762" cy="1739837"/>
          </a:xfrm>
        </p:grpSpPr>
        <p:sp>
          <p:nvSpPr>
            <p:cNvPr id="7" name="Ellipse 7"/>
            <p:cNvSpPr/>
            <p:nvPr/>
          </p:nvSpPr>
          <p:spPr>
            <a:xfrm>
              <a:off x="533400" y="1532572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75334" y="1561386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72858" y="1541145"/>
              <a:ext cx="46992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进程各有独立地址空间，只能靠消息交换数据；常用主从和 SPMD 两种模式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786890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75334" y="1815703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2858" y="1795462"/>
              <a:ext cx="37451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 是接口标准；程序在 Init 与 Finalize 之间按 rank 分工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041207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75334" y="2070021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2858" y="2049780"/>
              <a:ext cx="4894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 = 消息缓冲〈地址，个数，类型〉+ 消息信封〈源/目标，标签，通信器〉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295525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5334" y="2324338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2858" y="2304098"/>
              <a:ext cx="50993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四种发送模式差在返回时机：同步等接收开始，缓冲拷完即返，就绪要求接收先到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548890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5334" y="2578656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2858" y="2558415"/>
              <a:ext cx="43328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非阻塞通信立即返回，用 Wait/Test 确认完成，计算与通信可以重叠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2803208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75334" y="2832973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2858" y="2812732"/>
              <a:ext cx="27294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集合通信全员参加，只有 Barrier 保证同步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3400" y="3057525"/>
              <a:ext cx="148590" cy="14859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75334" y="3087291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2858" y="3067050"/>
              <a:ext cx="30638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单边通信只需发起方调用，同步靠 fence 或 lock</a:t>
              </a:r>
            </a:p>
          </p:txBody>
        </p:sp>
      </p:grpSp>
      <p:grpSp>
        <p:nvGrpSpPr>
          <p:cNvPr id="37" name="c1-card-2"/>
          <p:cNvGrpSpPr/>
          <p:nvPr/>
        </p:nvGrpSpPr>
        <p:grpSpPr>
          <a:xfrm>
            <a:off x="533400" y="3395662"/>
            <a:ext cx="6276022" cy="2165032"/>
            <a:chOff x="533400" y="3395662"/>
            <a:chExt cx="6276022" cy="2165032"/>
          </a:xfrm>
        </p:grpSpPr>
        <p:sp>
          <p:nvSpPr>
            <p:cNvPr id="29" name="Rectangle 29"/>
            <p:cNvSpPr/>
            <p:nvPr/>
          </p:nvSpPr>
          <p:spPr>
            <a:xfrm>
              <a:off x="533400" y="3395662"/>
              <a:ext cx="6276022" cy="2165032"/>
            </a:xfrm>
            <a:prstGeom prst="roundRect">
              <a:avLst>
                <a:gd name="adj" fmla="val 61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3529012"/>
              <a:ext cx="47625" cy="1898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3576638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14642" y="36094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2000" y="396906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7448" y="3916204"/>
              <a:ext cx="54099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绑定与 LAM（第11页）；char *argv[]（第14页）；消息不超车（第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17页）；MPI_BYTE（第18页）；Buffer_attach（第27页）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62000" y="449675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7448" y="4444841"/>
              <a:ext cx="54668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阻塞返回条件（第31页）；Wait 位置（第33页）；Barrier 才保证同步（第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36页）；根也分一块（第38、39页）；线程级并行（第53页）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7114222" y="1524000"/>
            <a:ext cx="4544378" cy="2287905"/>
            <a:chOff x="7114222" y="1524000"/>
            <a:chExt cx="4544378" cy="2287905"/>
          </a:xfrm>
        </p:grpSpPr>
        <p:sp>
          <p:nvSpPr>
            <p:cNvPr id="38" name="Rectangle 38"/>
            <p:cNvSpPr/>
            <p:nvPr/>
          </p:nvSpPr>
          <p:spPr>
            <a:xfrm>
              <a:off x="7114222" y="1524000"/>
              <a:ext cx="4544378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74001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942004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08901" y="2023110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tag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53856" y="202311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接收方按用途挑消息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114222" y="228219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114222" y="2286952"/>
              <a:ext cx="454437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208901" y="2404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753856" y="240411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双方都在等对方先接收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114222" y="266319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208901" y="27851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计算通信重叠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753856" y="2785110"/>
              <a:ext cx="17753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非阻塞发起后先算，再 Wait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114222" y="304514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114222" y="3049905"/>
              <a:ext cx="454437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08901" y="3167062"/>
              <a:ext cx="9744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Tn = tₛ + m/B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753856" y="316706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小消息被启动延迟主导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114222" y="342614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208901" y="3548062"/>
              <a:ext cx="675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Allreduce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753856" y="354806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规约结果人人一份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114222" y="1524000"/>
              <a:ext cx="4544378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8654415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card-2"/>
          <p:cNvGrpSpPr/>
          <p:nvPr/>
        </p:nvGrpSpPr>
        <p:grpSpPr>
          <a:xfrm>
            <a:off x="7114222" y="3976688"/>
            <a:ext cx="4544378" cy="1584008"/>
            <a:chOff x="7114222" y="3976688"/>
            <a:chExt cx="4544378" cy="1584008"/>
          </a:xfrm>
        </p:grpSpPr>
        <p:sp>
          <p:nvSpPr>
            <p:cNvPr id="60" name="Rectangle 60"/>
            <p:cNvSpPr/>
            <p:nvPr/>
          </p:nvSpPr>
          <p:spPr>
            <a:xfrm>
              <a:off x="7114222" y="3976688"/>
              <a:ext cx="4544378" cy="1584008"/>
            </a:xfrm>
            <a:prstGeom prst="roundRect">
              <a:avLst>
                <a:gd name="adj" fmla="val 8419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295198" y="415766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383818" y="41905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接下来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288720" y="4498181"/>
              <a:ext cx="39956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第4章数据级并行：GPU 上成千上万个线程对不同数据执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行同一条指令。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289864" y="5022533"/>
              <a:ext cx="3991166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MPI 管机器之间，OpenMP 管机器之内，GPU 管大规模数据并行，三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者常在一个程序里配合。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6" name="Rectangle 6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1273" y="6039326"/>
              <a:ext cx="88115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复习时动手做三件事：判断一段收发代码会不会死锁、画出各集合操作前后的数据、用 Tc + Tn 估算加速比和效率。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第3章 进程级并行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dc_ch03">
  <a:themeElements>
    <a:clrScheme name="pdc_ch0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dc_ch03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dc_ch0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2026-09-23T08:52:28Z</dcterms:created>
  <dcterms:modified xsi:type="dcterms:W3CDTF">2026-09-23T08:52:28Z</dcterms:modified>
  <cp:category/>
  <cp:contentStatus/>
</cp:coreProperties>
</file>