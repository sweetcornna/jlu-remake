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e41fefbb2808c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ba5070b2d74921e.png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05d340a044cc646.png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基本概念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为什么要并行，怎样分类，收益怎样算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算力需求与三面墙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00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Flynn 分类与并行范式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分布计算系统与透明性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057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Amdahl 定律与 CPU 性能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自学复习版｜据吉林大学《并行与分布式计算》第1章课件整理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1"/>
            <a:chOff x="521970" y="1515428"/>
            <a:chExt cx="6287453" cy="4696111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并行的必然性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算力需求、数据流动的三面墙、器件与体系结构的演进、非冯结构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给并行分类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19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Flynn 分类、同时性与并发性、两种角度的并行性等级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组织并行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提高并行性的三个基本思想、五种并行范式、内存墙、功耗墙、生态墙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定义、紧密与松散耦合、同构与异构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透明性与体系结构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七种透明性及其影响因素、四层组成、中间件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量化原理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279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经常性与局部性、Benchmark、Moore 与 Dennard 定律、Amdahl 定律、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 性能公式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说出冯·诺依曼结构与哈佛结构的区别，以及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冯·诺依曼瓶颈与内存墙的关系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Flynn 分类判断一种机器或技术属于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SISD、SIMD、MISD 还是 MIMD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区分同时性与并发性，说出提高并行性的三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个基本思想及例子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画出五种并行范式的结构，说出各自难在哪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列出分布计算系统的七种透明性并各举一例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49930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493014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Amdahl 定律和 CPU 性能公式算加速比、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和 MIPS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并行计算的必然性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需求涨得比单机快，单机提速的老路又越走越窄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数据、算法、算力互相推动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数据流动视角的三面墙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器件、制造工艺与体系结构的演进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非冯·诺依曼结构的尝试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数据、算法、算力互相推着往上涨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632133" cy="1193007"/>
            <a:chOff x="527685" y="1524000"/>
            <a:chExt cx="5632133" cy="119300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51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41473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66338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92156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1702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41886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2035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1142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全球数据量 ZB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4572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7058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901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388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136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2142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562641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2977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5464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8046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0532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019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2496979"/>
              <a:ext cx="4973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ZB（泽字节）= 10²¹ 字节。2018→2035 年均增长约 28%，17 年约 65 倍</a:t>
              </a:r>
            </a:p>
          </p:txBody>
        </p:sp>
      </p:grpSp>
      <p:grpSp>
        <p:nvGrpSpPr>
          <p:cNvPr id="42" name="c1-flow-2"/>
          <p:cNvGrpSpPr/>
          <p:nvPr/>
        </p:nvGrpSpPr>
        <p:grpSpPr>
          <a:xfrm>
            <a:off x="666750" y="3358515"/>
            <a:ext cx="5359717" cy="834962"/>
            <a:chOff x="666750" y="3358515"/>
            <a:chExt cx="5359717" cy="834962"/>
          </a:xfrm>
        </p:grpSpPr>
        <p:sp>
          <p:nvSpPr>
            <p:cNvPr id="28" name="Freeform 28"/>
            <p:cNvSpPr/>
            <p:nvPr/>
          </p:nvSpPr>
          <p:spPr>
            <a:xfrm>
              <a:off x="2275522" y="35775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437448" y="3525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150995" y="35775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312920" y="3525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471612" y="3796665"/>
              <a:ext cx="3750945" cy="381000"/>
            </a:xfrm>
            <a:custGeom>
              <a:avLst/>
              <a:gdLst/>
              <a:ahLst/>
              <a:cxnLst/>
              <a:rect l="l" t="t" r="r" b="b"/>
              <a:pathLst>
                <a:path w="3750945" h="381000">
                  <a:moveTo>
                    <a:pt x="3750945" y="0"/>
                  </a:moveTo>
                  <a:lnTo>
                    <a:pt x="3750945" y="209550"/>
                  </a:lnTo>
                  <a:lnTo>
                    <a:pt x="3750945" y="381000"/>
                  </a:lnTo>
                  <a:lnTo>
                    <a:pt x="1875472" y="381000"/>
                  </a:lnTo>
                  <a:lnTo>
                    <a:pt x="0" y="38100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419225" y="37966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" y="335851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42222" y="335851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17695" y="335851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20508" y="34885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数据积累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95981" y="34885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71453" y="34885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算力增加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94522" y="3961448"/>
              <a:ext cx="10287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08810" y="398811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更多数据可处理</a:t>
              </a:r>
            </a:p>
          </p:txBody>
        </p:sp>
      </p:grpSp>
      <p:grpSp>
        <p:nvGrpSpPr>
          <p:cNvPr id="49" name="c1-callout-3"/>
          <p:cNvGrpSpPr/>
          <p:nvPr/>
        </p:nvGrpSpPr>
        <p:grpSpPr>
          <a:xfrm>
            <a:off x="533400" y="4482465"/>
            <a:ext cx="5626418" cy="1809750"/>
            <a:chOff x="533400" y="4482465"/>
            <a:chExt cx="5626418" cy="1809750"/>
          </a:xfrm>
        </p:grpSpPr>
        <p:sp>
          <p:nvSpPr>
            <p:cNvPr id="43" name="Rectangle 43"/>
            <p:cNvSpPr/>
            <p:nvPr/>
          </p:nvSpPr>
          <p:spPr>
            <a:xfrm>
              <a:off x="533400" y="4482465"/>
              <a:ext cx="5626418" cy="1809750"/>
            </a:xfrm>
            <a:prstGeom prst="roundRect">
              <a:avLst>
                <a:gd name="adj" fmla="val 631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287328"/>
              <a:ext cx="200026" cy="200026"/>
              <a:chOff x="738188" y="528732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2873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354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3873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144452"/>
              <a:ext cx="4739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OpenAI CEO 提出的“新版摩尔定律”：宇宙中的智能数量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18 个月翻一倍。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458902" y="1524000"/>
            <a:ext cx="5199698" cy="2539842"/>
            <a:chOff x="6458902" y="1524000"/>
            <a:chExt cx="5199698" cy="2539842"/>
          </a:xfrm>
        </p:grpSpPr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24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3447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72441" y="2108359"/>
              <a:ext cx="1614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ResNet-50（图像）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34725" y="2108359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2600 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2441" y="2556986"/>
              <a:ext cx="167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BERT-large（语言）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29498" y="2556986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亿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2441" y="3005614"/>
              <a:ext cx="1227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GPT-2（语言）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24270" y="300561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亿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72441" y="3454241"/>
              <a:ext cx="1227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GPT-3（语言）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34725" y="3454241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1750 亿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3547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58902" y="3843814"/>
              <a:ext cx="467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原课件第14页图：图像模型参数量约每年 2 倍，语言模型约每年 20 倍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464618" y="4210050"/>
            <a:ext cx="5193982" cy="2082165"/>
            <a:chOff x="6464618" y="4210050"/>
            <a:chExt cx="5193982" cy="2082165"/>
          </a:xfrm>
        </p:grpSpPr>
        <p:sp>
          <p:nvSpPr>
            <p:cNvPr id="70" name="Rectangle 70"/>
            <p:cNvSpPr/>
            <p:nvPr/>
          </p:nvSpPr>
          <p:spPr>
            <a:xfrm>
              <a:off x="6464618" y="4210050"/>
              <a:ext cx="5193982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4343400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12268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03428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04648" y="479679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原课件写“过去十年，AI 训练算力需求增长了 30 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倍，3.4 个月翻一倍”。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05791" y="5414486"/>
              <a:ext cx="44508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 万倍约是 2¹⁸，按 3.4 个月翻一倍需要约 62 个月，也就是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年多，对应 OpenAI 统计的 2012–2017 年（AlexNet 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AlphaGo Zero），不是十年。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数据流动视角的三面墙：处理器等数据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flow-1"/>
          <p:cNvGrpSpPr/>
          <p:nvPr/>
        </p:nvGrpSpPr>
        <p:grpSpPr>
          <a:xfrm>
            <a:off x="727710" y="1666875"/>
            <a:ext cx="10735628" cy="830580"/>
            <a:chOff x="727710" y="1666875"/>
            <a:chExt cx="10735628" cy="830580"/>
          </a:xfrm>
        </p:grpSpPr>
        <p:sp>
          <p:nvSpPr>
            <p:cNvPr id="7" name="Freeform 7"/>
            <p:cNvSpPr/>
            <p:nvPr/>
          </p:nvSpPr>
          <p:spPr>
            <a:xfrm>
              <a:off x="3120390" y="21955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21955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2195512"/>
              <a:ext cx="388620" cy="9525"/>
            </a:xfrm>
            <a:custGeom>
              <a:avLst/>
              <a:gdLst/>
              <a:ahLst/>
              <a:cxnLst/>
              <a:rect l="l" t="t" r="r" b="b"/>
              <a:pathLst>
                <a:path w="388620" h="9525">
                  <a:moveTo>
                    <a:pt x="0" y="0"/>
                  </a:moveTo>
                  <a:lnTo>
                    <a:pt x="3886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7710" y="1893570"/>
              <a:ext cx="2391728" cy="603885"/>
            </a:xfrm>
            <a:prstGeom prst="roundRect">
              <a:avLst>
                <a:gd name="adj" fmla="val 15773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509010" y="1989772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90310" y="1989772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71610" y="1989772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52194" y="2008822"/>
              <a:ext cx="7437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存储设备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 / SSD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83278" y="2111692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/ 显存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9275" y="2111692"/>
              <a:ext cx="974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 / GPU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8766" y="21116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其他节点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80385" y="1666875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11856" y="16911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存储墙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61685" y="1762125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3156" y="17873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642985" y="1762125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74456" y="17873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通信墙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3047048"/>
            <a:ext cx="11125200" cy="2360295"/>
            <a:chOff x="533400" y="3047048"/>
            <a:chExt cx="11125200" cy="2360295"/>
          </a:xfrm>
        </p:grpSpPr>
        <p:sp>
          <p:nvSpPr>
            <p:cNvPr id="27" name="Rectangle 27"/>
            <p:cNvSpPr/>
            <p:nvPr/>
          </p:nvSpPr>
          <p:spPr>
            <a:xfrm>
              <a:off x="533400" y="3047048"/>
              <a:ext cx="11125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8283" y="317896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74378" y="31789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矛盾在哪里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80979" y="3178969"/>
              <a:ext cx="2146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原课件第15页图中的数据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746" y="36428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0151" y="36428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模型规模涨得比单卡显存快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2529" y="3642836"/>
              <a:ext cx="5653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Transformer 参数量每 2 年约 240 倍，AI 硬件显存每 2 年约 2 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690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73830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746" y="423243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0151" y="423243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链路带宽的提升远落后于算力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52529" y="4105751"/>
              <a:ext cx="546074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 FLOPS 20 年约 9 万倍（每 2 年约 3.1 倍）；DRAM 带宽和互连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 20 年约 30 倍（每 2 年约 1.4 倍）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853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746" y="494966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70151" y="4822984"/>
              <a:ext cx="30802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数据增长快于摩尔定律，存储设备速度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（带宽或 IOPS）落后于处理器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52529" y="4949666"/>
              <a:ext cx="51089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2010–2015 年数据量增长约 50 倍，同期按摩尔定律约 20 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047048"/>
              <a:ext cx="1112520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864042" y="3047048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46420" y="3047048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7" name="Rectangle 4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5753576"/>
              <a:ext cx="99241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核对倍率：3.1¹⁰ ≈ 8.2 万，1.4¹⁰ ≈ 29，与图注的 9 万倍、30 倍相符。算力每 2 年多涨 2 倍多，带宽只涨 0.4 倍，差距逐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年拉大。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应用的进化：需求是计算机技术发展的根本动力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316355"/>
            <a:chOff x="533400" y="1524000"/>
            <a:chExt cx="497776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根本动力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社会发展对先进计算工具的持续迫切需要，是计算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机技术产生和发展的根本动力。</a:t>
              </a:r>
            </a:p>
          </p:txBody>
        </p:sp>
      </p:grpSp>
      <p:grpSp>
        <p:nvGrpSpPr>
          <p:cNvPr id="27" name="c1-flow-2"/>
          <p:cNvGrpSpPr/>
          <p:nvPr/>
        </p:nvGrpSpPr>
        <p:grpSpPr>
          <a:xfrm>
            <a:off x="666750" y="3335655"/>
            <a:ext cx="4710113" cy="438150"/>
            <a:chOff x="666750" y="3335655"/>
            <a:chExt cx="4710113" cy="438150"/>
          </a:xfrm>
        </p:grpSpPr>
        <p:sp>
          <p:nvSpPr>
            <p:cNvPr id="13" name="Freeform 13"/>
            <p:cNvSpPr/>
            <p:nvPr/>
          </p:nvSpPr>
          <p:spPr>
            <a:xfrm>
              <a:off x="1644015" y="35547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05940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88932" y="35547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50858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132898" y="35547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94822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3335655"/>
              <a:ext cx="9772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10715" y="3335655"/>
              <a:ext cx="9772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155632" y="3335655"/>
              <a:ext cx="9772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99598" y="3335655"/>
              <a:ext cx="9772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435" y="34656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5353" y="34656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79318" y="34656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3283" y="34656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智能化</a:t>
              </a:r>
            </a:p>
          </p:txBody>
        </p:sp>
      </p:grpSp>
      <p:grpSp>
        <p:nvGrpSpPr>
          <p:cNvPr id="36" name="c1-kv-3"/>
          <p:cNvGrpSpPr/>
          <p:nvPr/>
        </p:nvGrpSpPr>
        <p:grpSpPr>
          <a:xfrm>
            <a:off x="525780" y="4293870"/>
            <a:ext cx="4985385" cy="1173480"/>
            <a:chOff x="525780" y="4293870"/>
            <a:chExt cx="4985385" cy="1173480"/>
          </a:xfrm>
        </p:grpSpPr>
        <p:sp>
          <p:nvSpPr>
            <p:cNvPr id="28" name="TextBox 28"/>
            <p:cNvSpPr txBox="1"/>
            <p:nvPr/>
          </p:nvSpPr>
          <p:spPr>
            <a:xfrm>
              <a:off x="525780" y="42938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大数据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66862" y="42938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提供生产资料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139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5780" y="4733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人工智能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66862" y="4733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提供生产力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0539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780" y="51739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区块链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6862" y="51739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重塑生产关系</a:t>
              </a:r>
            </a:p>
          </p:txBody>
        </p:sp>
      </p:grpSp>
      <p:grpSp>
        <p:nvGrpSpPr>
          <p:cNvPr id="38" name="c1-text-4"/>
          <p:cNvGrpSpPr/>
          <p:nvPr/>
        </p:nvGrpSpPr>
        <p:grpSpPr>
          <a:xfrm>
            <a:off x="526923" y="5620226"/>
            <a:ext cx="3114599" cy="249364"/>
            <a:chOff x="526923" y="5620226"/>
            <a:chExt cx="3114599" cy="249364"/>
          </a:xfrm>
        </p:grpSpPr>
        <p:sp>
          <p:nvSpPr>
            <p:cNvPr id="37" name="TextBox 37"/>
            <p:cNvSpPr txBox="1"/>
            <p:nvPr/>
          </p:nvSpPr>
          <p:spPr>
            <a:xfrm>
              <a:off x="526923" y="562022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以上是数字经济时代生产方式的三要素。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0250" y="1524000"/>
            <a:ext cx="5848350" cy="2544604"/>
            <a:chOff x="5810250" y="1524000"/>
            <a:chExt cx="5848350" cy="2544604"/>
          </a:xfrm>
        </p:grpSpPr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210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市场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7424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最看重什么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968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23788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桌面计算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1553" y="210835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销售额最大，对性能价格比要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求最苛刻、最敏感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46146" y="2221706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个人电脑、“电子宅”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15965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23788" y="28970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1553" y="289702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可用性、大容量、可扩展性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46146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企业级应用、云计算、边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缘计算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23788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嵌入式计算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1553" y="34590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与所解决的应用问题密切相关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46146" y="3459004"/>
              <a:ext cx="176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物联网、5G、移动计算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7896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43356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0250" y="384857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计算机技术和市场分化成三部分，各有不同的应用、需求和计算技术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815965" y="4214812"/>
            <a:ext cx="5842635" cy="1604010"/>
            <a:chOff x="5815965" y="4214812"/>
            <a:chExt cx="5842635" cy="1604010"/>
          </a:xfrm>
        </p:grpSpPr>
        <p:sp>
          <p:nvSpPr>
            <p:cNvPr id="60" name="Rectangle 60"/>
            <p:cNvSpPr/>
            <p:nvPr/>
          </p:nvSpPr>
          <p:spPr>
            <a:xfrm>
              <a:off x="5815965" y="4214812"/>
              <a:ext cx="5842635" cy="1604010"/>
            </a:xfrm>
            <a:prstGeom prst="roundRect">
              <a:avLst>
                <a:gd name="adj" fmla="val 71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4916805"/>
              <a:ext cx="200026" cy="200025"/>
              <a:chOff x="6020753" y="491680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49168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60491" y="49612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95207" y="50723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2695" y="4635818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三类市场都在要并行：服务器靠多机扩展容量，桌面和手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机靠多核与 GPU，嵌入式芯片也普遍是多核加专用加速单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器件工艺：从电子管、晶体管到超大规模集成电路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flow-1"/>
          <p:cNvGrpSpPr/>
          <p:nvPr/>
        </p:nvGrpSpPr>
        <p:grpSpPr>
          <a:xfrm>
            <a:off x="666750" y="1876425"/>
            <a:ext cx="5359717" cy="438150"/>
            <a:chOff x="666750" y="1876425"/>
            <a:chExt cx="5359717" cy="438150"/>
          </a:xfrm>
        </p:grpSpPr>
        <p:sp>
          <p:nvSpPr>
            <p:cNvPr id="7" name="Freeform 7"/>
            <p:cNvSpPr/>
            <p:nvPr/>
          </p:nvSpPr>
          <p:spPr>
            <a:xfrm>
              <a:off x="2275522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37448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50995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12920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87642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42222" y="187642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7695" y="187642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4352" y="20064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真空电子管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2138" y="20064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晶体管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1453" y="2006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集成电路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27685" y="2857500"/>
            <a:ext cx="5632133" cy="2539842"/>
            <a:chOff x="527685" y="2857500"/>
            <a:chExt cx="5632133" cy="2539842"/>
          </a:xfrm>
        </p:grpSpPr>
        <p:sp>
          <p:nvSpPr>
            <p:cNvPr id="18" name="Rectangle 18"/>
            <p:cNvSpPr/>
            <p:nvPr/>
          </p:nvSpPr>
          <p:spPr>
            <a:xfrm>
              <a:off x="533400" y="28575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5142" y="2993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01646" y="29932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英文全称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7112" y="2993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3441859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1336" y="3441859"/>
              <a:ext cx="19411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Small Scale Integration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9810" y="34418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小规模集成电路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499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547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890486"/>
              <a:ext cx="318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41336" y="3890486"/>
              <a:ext cx="2114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Medium Scale Integration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9810" y="38904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中规模集成电路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995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339114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1336" y="4339114"/>
              <a:ext cx="1993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Large Scale Integration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9810" y="4339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大规模集成电路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48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529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787741"/>
              <a:ext cx="38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VLSI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41336" y="4787741"/>
              <a:ext cx="24298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Very Large Scale Integration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79810" y="47877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超大规模集成电路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8575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28750" y="2857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467225" y="2857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177314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原课件把 circuits 拼作 circuites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464618" y="1524000"/>
            <a:ext cx="5193982" cy="2072640"/>
            <a:chOff x="6464618" y="1524000"/>
            <a:chExt cx="5193982" cy="2072640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2072640"/>
            </a:xfrm>
            <a:prstGeom prst="roundRect">
              <a:avLst>
                <a:gd name="adj" fmla="val 6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1657350"/>
              <a:ext cx="47625" cy="18059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122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06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电路的组成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0015" y="1768792"/>
              <a:ext cx="3371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电路 = 线性元件 + 非线性器件 + 导线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4648" y="2129790"/>
              <a:ext cx="1348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非线性（有源）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器件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09622" y="2129790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电子管、晶体管，晶体管用半导体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制成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12268" y="2731770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4648" y="2851785"/>
              <a:ext cx="1348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线性（无源）元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09622" y="2851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电阻、电容、电感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3787140"/>
            <a:ext cx="5193982" cy="2419350"/>
            <a:chOff x="6464618" y="3787140"/>
            <a:chExt cx="5193982" cy="2419350"/>
          </a:xfrm>
        </p:grpSpPr>
        <p:sp>
          <p:nvSpPr>
            <p:cNvPr id="55" name="Rectangle 55"/>
            <p:cNvSpPr/>
            <p:nvPr/>
          </p:nvSpPr>
          <p:spPr>
            <a:xfrm>
              <a:off x="6464618" y="3787140"/>
              <a:ext cx="5193982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3920490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12268" y="39966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3428" y="40324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4648" y="4373880"/>
              <a:ext cx="4501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原课件把“电阻 + 电容 + 电感”列为“非线性器件（导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体）”，理想的电阻、电容、电感都是线性元件；又把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“真空电子管 → 晶体管”放在“非线性器件（半导体）”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下，电子管不是半导体器件。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5791" y="556307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准确说法：非线性器件从电子管发展到半导体晶体管，再集成为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芯片。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芯片制造：前道工序做出晶体管，后道工序完成封装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6492240" cy="4754880"/>
            <a:chOff x="533400" y="1524000"/>
            <a:chExt cx="6492240" cy="4754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39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745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280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2454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电路设计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0316" y="202311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算术逻辑、记忆功能、浮点运算、数据传输、元件拓扑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2454" y="2404110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晶圆制造 wafer foundry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90316" y="240411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提纯溶解、拉单晶硅柱、切片、抛光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78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2454" y="28784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光刻与蚀刻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90316" y="2785110"/>
              <a:ext cx="34777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掩模上的设计图缩小投影到涂了光刻胶的晶圆上，再蚀刻掉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没被保护的部分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1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3659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53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2454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离子注入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0316" y="33537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注入杂质控制导电性，做出晶体管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12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34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42454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金属互连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90316" y="37347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在沟槽中填入铜形成连线，连接数亿个晶体管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93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9859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1167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42454" y="4116705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切割 die saw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90316" y="4116705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把晶圆切成一个个晶粒（die）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75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591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42454" y="4497705"/>
              <a:ext cx="15641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贴片 die bond、键合 wire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90316" y="459105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晶粒粘到框架上，用金属细线连到引脚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434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48238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5158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42454" y="5065395"/>
              <a:ext cx="127082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塑封 mold、切筋成形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trim/form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90316" y="515874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包上绝缘塑胶或陶瓷外壳，剪切并弯好引脚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5121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6340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42454" y="5634038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电镀 plating、印字 mark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90316" y="563403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引脚镀层；印上委托制造公司的标志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8931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897880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8078" y="60150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42454" y="6015038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 inspection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90316" y="601503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挑出不良品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6492240" cy="4754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43012" y="1524000"/>
              <a:ext cx="9525" cy="4754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190875" y="1524000"/>
              <a:ext cx="9525" cy="4754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1"/>
          <p:cNvGrpSpPr/>
          <p:nvPr/>
        </p:nvGrpSpPr>
        <p:grpSpPr>
          <a:xfrm>
            <a:off x="7330440" y="1524000"/>
            <a:ext cx="4328160" cy="1826895"/>
            <a:chOff x="7330440" y="1524000"/>
            <a:chExt cx="4328160" cy="1826895"/>
          </a:xfrm>
        </p:grpSpPr>
        <p:sp>
          <p:nvSpPr>
            <p:cNvPr id="59" name="Rectangle 59"/>
            <p:cNvSpPr/>
            <p:nvPr/>
          </p:nvSpPr>
          <p:spPr>
            <a:xfrm>
              <a:off x="7330440" y="1524000"/>
              <a:ext cx="4328160" cy="1826895"/>
            </a:xfrm>
            <a:prstGeom prst="roundRect">
              <a:avLst>
                <a:gd name="adj" fmla="val 7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9965" y="1657350"/>
              <a:ext cx="47625" cy="15601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4951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4218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43038" y="2045494"/>
              <a:ext cx="3719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原课件把光刻叫“缩印（die saw）”，把离子注入叫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“晶体管置入（die mount / die bond）”，把填铜连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线叫“压焊（wire bond）”。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44181" y="2811780"/>
              <a:ext cx="36644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die saw、die bond、wire bond 都是封装工序，分别是切割、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贴片、引线键合，表中已分开写。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7330440" y="3515678"/>
            <a:ext cx="4328160" cy="2764155"/>
            <a:chOff x="7330440" y="3515678"/>
            <a:chExt cx="4328160" cy="2764155"/>
          </a:xfrm>
        </p:grpSpPr>
        <p:sp>
          <p:nvSpPr>
            <p:cNvPr id="66" name="Rectangle 66"/>
            <p:cNvSpPr/>
            <p:nvPr/>
          </p:nvSpPr>
          <p:spPr>
            <a:xfrm>
              <a:off x="7330440" y="3515678"/>
              <a:ext cx="4328160" cy="2764155"/>
            </a:xfrm>
            <a:prstGeom prst="roundRect">
              <a:avLst>
                <a:gd name="adj" fmla="val 482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511415" y="369665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88834" y="37295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良率才是关键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04938" y="4036219"/>
              <a:ext cx="3694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28nm、14nm、7nm、5nm、3nm 制程是技术，能卖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出去的芯片数取决于良率。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04938" y="4563904"/>
              <a:ext cx="3743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一片晶圆切出 500 个晶粒：良率 80% 得 400 个合格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品，95% 得 475 个。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06081" y="5088255"/>
              <a:ext cx="37444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原课件：良率维持在八成左右已很困难，台积电、联电的制程良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率可达九成五以上。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3054" cy="909257"/>
            <a:chOff x="520446" y="342900"/>
            <a:chExt cx="74330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30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冯·诺依曼结构：程序和数据存在同一个存储器里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757238" y="1903095"/>
            <a:ext cx="5482970" cy="4152329"/>
            <a:chOff x="757238" y="1903095"/>
            <a:chExt cx="5482970" cy="4152329"/>
          </a:xfrm>
        </p:grpSpPr>
        <p:sp>
          <p:nvSpPr>
            <p:cNvPr id="7" name="Freeform 7"/>
            <p:cNvSpPr/>
            <p:nvPr/>
          </p:nvSpPr>
          <p:spPr>
            <a:xfrm>
              <a:off x="1595438" y="3769042"/>
              <a:ext cx="1264920" cy="9525"/>
            </a:xfrm>
            <a:custGeom>
              <a:avLst/>
              <a:gdLst/>
              <a:ahLst/>
              <a:cxnLst/>
              <a:rect l="l" t="t" r="r" b="b"/>
              <a:pathLst>
                <a:path w="1264920" h="9525">
                  <a:moveTo>
                    <a:pt x="0" y="0"/>
                  </a:moveTo>
                  <a:lnTo>
                    <a:pt x="12649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0358" y="37214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953828" y="3769042"/>
              <a:ext cx="1265872" cy="9525"/>
            </a:xfrm>
            <a:custGeom>
              <a:avLst/>
              <a:gdLst/>
              <a:ahLst/>
              <a:cxnLst/>
              <a:rect l="l" t="t" r="r" b="b"/>
              <a:pathLst>
                <a:path w="1265872" h="9525">
                  <a:moveTo>
                    <a:pt x="0" y="0"/>
                  </a:moveTo>
                  <a:lnTo>
                    <a:pt x="12658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19700" y="37214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4024312"/>
              <a:ext cx="9525" cy="1195388"/>
            </a:xfrm>
            <a:custGeom>
              <a:avLst/>
              <a:gdLst/>
              <a:ahLst/>
              <a:cxnLst/>
              <a:rect l="l" t="t" r="r" b="b"/>
              <a:pathLst>
                <a:path w="9525" h="1195388">
                  <a:moveTo>
                    <a:pt x="0" y="0"/>
                  </a:moveTo>
                  <a:lnTo>
                    <a:pt x="0" y="1195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07092" y="5219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07092" y="3929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935480" y="2063115"/>
              <a:ext cx="1176338" cy="3411855"/>
            </a:xfrm>
            <a:custGeom>
              <a:avLst/>
              <a:gdLst/>
              <a:ahLst/>
              <a:cxnLst/>
              <a:rect l="l" t="t" r="r" b="b"/>
              <a:pathLst>
                <a:path w="1176338" h="3411855">
                  <a:moveTo>
                    <a:pt x="1176338" y="3411855"/>
                  </a:moveTo>
                  <a:lnTo>
                    <a:pt x="0" y="3411855"/>
                  </a:lnTo>
                  <a:lnTo>
                    <a:pt x="0" y="0"/>
                  </a:lnTo>
                  <a:lnTo>
                    <a:pt x="10810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16568" y="20154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454718" y="2223135"/>
              <a:ext cx="9525" cy="1290637"/>
            </a:xfrm>
            <a:custGeom>
              <a:avLst/>
              <a:gdLst/>
              <a:ahLst/>
              <a:cxnLst/>
              <a:rect l="l" t="t" r="r" b="b"/>
              <a:pathLst>
                <a:path w="9525" h="1290637">
                  <a:moveTo>
                    <a:pt x="0" y="0"/>
                  </a:moveTo>
                  <a:lnTo>
                    <a:pt x="0" y="1290637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3407092" y="3513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76338" y="2063115"/>
              <a:ext cx="1935480" cy="1450657"/>
            </a:xfrm>
            <a:custGeom>
              <a:avLst/>
              <a:gdLst/>
              <a:ahLst/>
              <a:cxnLst/>
              <a:rect l="l" t="t" r="r" b="b"/>
              <a:pathLst>
                <a:path w="1935480" h="1450657">
                  <a:moveTo>
                    <a:pt x="1935480" y="0"/>
                  </a:moveTo>
                  <a:lnTo>
                    <a:pt x="0" y="0"/>
                  </a:lnTo>
                  <a:lnTo>
                    <a:pt x="0" y="1450657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128712" y="3513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797618" y="2063115"/>
              <a:ext cx="1936432" cy="1450657"/>
            </a:xfrm>
            <a:custGeom>
              <a:avLst/>
              <a:gdLst/>
              <a:ahLst/>
              <a:cxnLst/>
              <a:rect l="l" t="t" r="r" b="b"/>
              <a:pathLst>
                <a:path w="1936432" h="1450657">
                  <a:moveTo>
                    <a:pt x="0" y="0"/>
                  </a:moveTo>
                  <a:lnTo>
                    <a:pt x="1936432" y="0"/>
                  </a:lnTo>
                  <a:lnTo>
                    <a:pt x="1936432" y="1450657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5686425" y="3513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7238" y="3609022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55608" y="3609022"/>
              <a:ext cx="99822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14950" y="3609022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11818" y="1903095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11818" y="531495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7154" y="36947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输入设备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31564" y="3694748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运算器 ALU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4866" y="36947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输出设备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06306" y="19878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306" y="54006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112645" y="367665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38642" y="37104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71988" y="367665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97032" y="37104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29928" y="4529138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51873" y="45639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710690" y="4086225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32636" y="41200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40568" y="196977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2513" y="20045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控制流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2016" y="5614988"/>
              <a:ext cx="2298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实线：数据与指令；虚线：控制信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号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680835" y="1524000"/>
            <a:ext cx="4977765" cy="2826068"/>
            <a:chOff x="6680835" y="1524000"/>
            <a:chExt cx="4977765" cy="2826068"/>
          </a:xfrm>
        </p:grpSpPr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2826068"/>
            </a:xfrm>
            <a:prstGeom prst="roundRect">
              <a:avLst>
                <a:gd name="adj" fmla="val 47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1657350"/>
              <a:ext cx="47625" cy="255936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2277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5079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结构特点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30390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6981" y="21007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结构上以运算器为中心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30390" y="24812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6981" y="242077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指令由操作码和地址码组成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30390" y="28013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86981" y="274081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程序预先存放在存储器中，按程序指定的逻辑顺序执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行，由 PC 和分支指令控制顺序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30390" y="33928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86981" y="333232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指令和数据同等对待，都用二进制表示和运算，所以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程序本身可以被修改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30390" y="39843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86981" y="392382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存储单元大小固定，按顺序线性编址，按地址访问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4535805"/>
            <a:ext cx="4977765" cy="1545908"/>
            <a:chOff x="6680835" y="4535805"/>
            <a:chExt cx="4977765" cy="1545908"/>
          </a:xfrm>
        </p:grpSpPr>
        <p:sp>
          <p:nvSpPr>
            <p:cNvPr id="59" name="Rectangle 59"/>
            <p:cNvSpPr/>
            <p:nvPr/>
          </p:nvSpPr>
          <p:spPr>
            <a:xfrm>
              <a:off x="6680835" y="4535805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466915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22770" y="47396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13931" y="47753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5531" y="5112544"/>
              <a:ext cx="436067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原课件把第 4 条冠以“哈佛结构”。这一条是冯·诺依曼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“存储程序”的特点，哈佛结构恰好把指令和数据分开存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放，见下页。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76335" cy="909257"/>
            <a:chOff x="520446" y="342900"/>
            <a:chExt cx="77763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763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冯·诺依曼结构与哈佛结构：指令和数据分不分开放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951220" cy="2314575"/>
            <a:chOff x="533400" y="1524000"/>
            <a:chExt cx="5951220" cy="2314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66060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738312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冯·诺依曼结构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2478" y="211455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497" y="205835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指令和数据放在同一个存储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器，共用一条总线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746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1842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同一时刻只能取指令或读写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数据二选一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2337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177540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结构简单，程序可以像数据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一样被加载和修改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18560" y="1524000"/>
              <a:ext cx="2766060" cy="2314575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28085" y="1657350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42207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哈佛结构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57638" y="211455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13657" y="205835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指令存储器和数据存储器分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开，各有一套总线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57638" y="26746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13657" y="261842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同一周期可以既取指令又读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写数据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57638" y="32337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13657" y="3177540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常见于 DSP、单片机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347085" y="251936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23556" y="262080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28066" y="4013835"/>
            <a:ext cx="5956554" cy="1496949"/>
            <a:chOff x="528066" y="4013835"/>
            <a:chExt cx="5956554" cy="1496949"/>
          </a:xfrm>
        </p:grpSpPr>
        <p:sp>
          <p:nvSpPr>
            <p:cNvPr id="28" name="Rectangle 28"/>
            <p:cNvSpPr/>
            <p:nvPr/>
          </p:nvSpPr>
          <p:spPr>
            <a:xfrm>
              <a:off x="533400" y="4013835"/>
              <a:ext cx="595122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4128" y="4138136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现代 CPU 的层次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97922" y="413813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采用的做法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3412" y="45439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5585" y="4543901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指令和数据统一存放（冯·诺依曼）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8206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82536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949666"/>
              <a:ext cx="680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Cache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75585" y="4949666"/>
              <a:ext cx="2645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分成指令 Cache 和数据 Cache（哈佛）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013835"/>
              <a:ext cx="595122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670810" y="40138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530542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两者结合，常称为改进型哈佛结构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789420" y="1524000"/>
            <a:ext cx="4869180" cy="1983105"/>
            <a:chOff x="6789420" y="1524000"/>
            <a:chExt cx="4869180" cy="1983105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1657350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19925" y="1716405"/>
              <a:ext cx="108680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92648" y="1750695"/>
              <a:ext cx="940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冯·诺依曼瓶颈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3067" y="207264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处理器和存储器之间只有一条通路，每条指令都要经过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它取指令、取数据。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13067" y="263271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处理器越快，花在等这条通路上的时间占比越大。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14210" y="2931319"/>
              <a:ext cx="41506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1.2 节的“内存墙”就是这个瓶颈在今天的样子，多级 Cache、多体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存储器都是为缓解它而设计的。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789420" y="3682365"/>
            <a:ext cx="4869180" cy="1617345"/>
            <a:chOff x="6789420" y="3682365"/>
            <a:chExt cx="4869180" cy="1617345"/>
          </a:xfrm>
        </p:grpSpPr>
        <p:sp>
          <p:nvSpPr>
            <p:cNvPr id="49" name="Rectangle 49"/>
            <p:cNvSpPr/>
            <p:nvPr/>
          </p:nvSpPr>
          <p:spPr>
            <a:xfrm>
              <a:off x="6789420" y="3682365"/>
              <a:ext cx="486918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11175" y="38066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执行一条取数指令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1290" y="3806666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冯·诺依曼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623" y="38066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哈佛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89432" y="42124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50567" y="42124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用唯一的存储器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54590" y="42124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用指令存储器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44891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89420" y="4493895"/>
              <a:ext cx="4869180" cy="805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89432" y="48182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50567" y="4718209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再用同一个存储器，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要排在取指之后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54590" y="4618196"/>
              <a:ext cx="129159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用数据存储器，可与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下一条指令的取指同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时进行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3682365"/>
              <a:ext cx="4869180" cy="1617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245792" y="3682365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49815" y="3682365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llout-3"/>
          <p:cNvGrpSpPr/>
          <p:nvPr/>
        </p:nvGrpSpPr>
        <p:grpSpPr>
          <a:xfrm>
            <a:off x="6789420" y="5474018"/>
            <a:ext cx="4869180" cy="729615"/>
            <a:chOff x="6789420" y="5474018"/>
            <a:chExt cx="4869180" cy="729615"/>
          </a:xfrm>
        </p:grpSpPr>
        <p:sp>
          <p:nvSpPr>
            <p:cNvPr id="65" name="Rectangle 65"/>
            <p:cNvSpPr/>
            <p:nvPr/>
          </p:nvSpPr>
          <p:spPr>
            <a:xfrm>
              <a:off x="6789420" y="5474018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994208" y="5738813"/>
              <a:ext cx="200026" cy="200025"/>
              <a:chOff x="6994208" y="573881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994208" y="57388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033946" y="57832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68662" y="58943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296912" y="562070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记忆方法：看有几套存储器。一套放程序和数据是冯</a:t>
              </a:r>
            </a:p>
            <a:p>
              <a:pPr algn="l" marL="145732" indent="-145732">
                <a:lnSpc>
                  <a:spcPts val="1958"/>
                </a:lnSpc>
                <a:buClr>
                  <a:srgbClr val="C2410C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诺依曼，两套分开放是哈佛。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30067" cy="909257"/>
            <a:chOff x="520446" y="342900"/>
            <a:chExt cx="56300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300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指令集结构的进化：从 CISC 到 RISC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276022" cy="3141346"/>
            <a:chOff x="533400" y="1524000"/>
            <a:chExt cx="6276022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901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5207" y="1659731"/>
              <a:ext cx="1304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复杂指令集 CISC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3132" y="1659731"/>
              <a:ext cx="1304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精简指令集 RISC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指令条数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22348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多，包含复杂功能指令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9320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少，只保留常用的简单指令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指令格式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2348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9320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定长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寻址方式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2348" y="3005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多种灵活的寻址方式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9320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少而简单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2348" y="34542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运算指令也能直接访存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9320" y="3454241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load / store 访存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22348" y="390382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多用微程序控制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9320" y="390382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多用硬连线，便于流水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22348" y="435244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9320" y="4352449"/>
              <a:ext cx="1641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ARM、MIPS、RISC-V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0976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5673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ode-2"/>
          <p:cNvGrpSpPr/>
          <p:nvPr/>
        </p:nvGrpSpPr>
        <p:grpSpPr>
          <a:xfrm>
            <a:off x="533400" y="4855845"/>
            <a:ext cx="6276022" cy="1384935"/>
            <a:chOff x="533400" y="4855845"/>
            <a:chExt cx="6276022" cy="1384935"/>
          </a:xfrm>
        </p:grpSpPr>
        <p:sp>
          <p:nvSpPr>
            <p:cNvPr id="41" name="Rectangle 41"/>
            <p:cNvSpPr/>
            <p:nvPr/>
          </p:nvSpPr>
          <p:spPr>
            <a:xfrm>
              <a:off x="533400" y="4855845"/>
              <a:ext cx="627602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797" y="5007769"/>
              <a:ext cx="1939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同样做“t0 加上内存中的一个数”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" y="5268754"/>
              <a:ext cx="311518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; x86（CISC）：运算指令直接带内存操作数，一条完成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eax, dword ptr [ebx]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 RISC-V（RISC）：先 load 到寄存器，再做加法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t1, 0(t2)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t0, t0, t1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7114222" y="1524000"/>
            <a:ext cx="4544378" cy="1986915"/>
            <a:chOff x="7114222" y="1524000"/>
            <a:chExt cx="4544378" cy="1986915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3748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618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392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原课件要点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25702" y="211074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：CISC 与 RISC，RISC 是当代计算机设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计的基础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25702" y="27317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：变长指令集与定长指令集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25702" y="30670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地址空间与寻址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：多种灵活的寻址方式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7114222" y="3701415"/>
            <a:ext cx="4544378" cy="2540318"/>
            <a:chOff x="7114222" y="3701415"/>
            <a:chExt cx="4544378" cy="2540318"/>
          </a:xfrm>
        </p:grpSpPr>
        <p:sp>
          <p:nvSpPr>
            <p:cNvPr id="56" name="Rectangle 56"/>
            <p:cNvSpPr/>
            <p:nvPr/>
          </p:nvSpPr>
          <p:spPr>
            <a:xfrm>
              <a:off x="7114222" y="3701415"/>
              <a:ext cx="4544378" cy="2540318"/>
            </a:xfrm>
            <a:prstGeom prst="roundRect">
              <a:avLst>
                <a:gd name="adj" fmla="val 5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3834765"/>
              <a:ext cx="47625" cy="22736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61872" y="391096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30427" y="394668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两条路线的融合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54252" y="4288155"/>
              <a:ext cx="3872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 x86 处理器在内部把 CISC 指令译成类似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RISC 的微操作，再送进流水线和超标量执行部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55396" y="5191601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定长、简单的指令便于流水和多发射，这是 RISC 成为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设计基础的原因，也是指令级并行（第10章）的前提。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计算结构与存储结构的进化：频率到头，转向多核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666750" y="1801178"/>
            <a:ext cx="5143500" cy="399098"/>
            <a:chOff x="666750" y="1801178"/>
            <a:chExt cx="5143500" cy="399098"/>
          </a:xfrm>
        </p:grpSpPr>
        <p:sp>
          <p:nvSpPr>
            <p:cNvPr id="7" name="Freeform 7"/>
            <p:cNvSpPr/>
            <p:nvPr/>
          </p:nvSpPr>
          <p:spPr>
            <a:xfrm>
              <a:off x="175260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1452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0515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6707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45770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1962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1930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7185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72440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241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单级计算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496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多级计算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0751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35448" y="19216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2652712"/>
            <a:ext cx="5410200" cy="2840355"/>
            <a:chOff x="533400" y="2652712"/>
            <a:chExt cx="5410200" cy="2840355"/>
          </a:xfrm>
        </p:grpSpPr>
        <p:sp>
          <p:nvSpPr>
            <p:cNvPr id="22" name="Rectangle 22"/>
            <p:cNvSpPr/>
            <p:nvPr/>
          </p:nvSpPr>
          <p:spPr>
            <a:xfrm>
              <a:off x="533400" y="2652712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307" y="27770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计算结构的指标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8343" y="2777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趋势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3412" y="31827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指令字宽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06077" y="3182779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→ 16 → 32 → 64 位 → 向量指令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59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6424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588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工作频率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6077" y="3588544"/>
              <a:ext cx="18242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上升，现已基本停在几 GHz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652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9943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控制复杂度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6077" y="39943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710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7577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4000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单次运算能耗、价格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06077" y="44000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6767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8058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06077" y="4805839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 → 多核 → 众核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82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08730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52116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6077" y="52116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开始失效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2652712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01302" y="2652712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flow-1"/>
          <p:cNvGrpSpPr/>
          <p:nvPr/>
        </p:nvGrpSpPr>
        <p:grpSpPr>
          <a:xfrm>
            <a:off x="6381750" y="1801178"/>
            <a:ext cx="5143500" cy="399098"/>
            <a:chOff x="6381750" y="1801178"/>
            <a:chExt cx="5143500" cy="399098"/>
          </a:xfrm>
        </p:grpSpPr>
        <p:sp>
          <p:nvSpPr>
            <p:cNvPr id="48" name="Freeform 48"/>
            <p:cNvSpPr/>
            <p:nvPr/>
          </p:nvSpPr>
          <p:spPr>
            <a:xfrm>
              <a:off x="746760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62952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82015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98207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172700" y="200120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33462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8175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3430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8685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439400" y="1801178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1741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单级存储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996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多级存储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22511" y="1921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网络存储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50448" y="19216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云存储</a:t>
              </a:r>
            </a:p>
          </p:txBody>
        </p:sp>
      </p:grpSp>
      <p:grpSp>
        <p:nvGrpSpPr>
          <p:cNvPr id="88" name="c2-table-2"/>
          <p:cNvGrpSpPr/>
          <p:nvPr/>
        </p:nvGrpSpPr>
        <p:grpSpPr>
          <a:xfrm>
            <a:off x="6248400" y="2652712"/>
            <a:ext cx="5410200" cy="3040381"/>
            <a:chOff x="6248400" y="2652712"/>
            <a:chExt cx="5410200" cy="3040381"/>
          </a:xfrm>
        </p:grpSpPr>
        <p:sp>
          <p:nvSpPr>
            <p:cNvPr id="63" name="Rectangle 63"/>
            <p:cNvSpPr/>
            <p:nvPr/>
          </p:nvSpPr>
          <p:spPr>
            <a:xfrm>
              <a:off x="6248400" y="2652712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1307" y="27770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存储结构的指标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33343" y="2777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趋势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48412" y="31827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容量、速度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21078" y="3182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459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346424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8412" y="3588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能耗、价格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21078" y="3588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38652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8412" y="39943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容错性、持久性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21078" y="39943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42710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4275772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8412" y="4500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21078" y="4400074"/>
              <a:ext cx="25219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→ 多级 Cache → 主存 → 外存 → 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络存储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4876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48412" y="50058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访问方式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21078" y="5005864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本机直接访问 → 经网络访问共享存储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5282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528732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48412" y="5411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21078" y="541162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仍在延续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（容量按指数增长）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652712"/>
              <a:ext cx="5410200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516302" y="2652712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9" name="Rectangle 8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0892" y="6023610"/>
              <a:ext cx="10324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单核靠提高频率提速的路走不通了（原因见 1.4 节 Dennard 定律），晶体管只能拿去堆更多的核，程序要变快就得写成并行的。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7948" cy="909257"/>
            <a:chOff x="520446" y="342900"/>
            <a:chExt cx="73279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79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结构的进化：CPU 越来越少亲自管输入输出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533400" y="1747838"/>
            <a:ext cx="4544377" cy="4391977"/>
            <a:chOff x="533400" y="1747838"/>
            <a:chExt cx="4544377" cy="4391977"/>
          </a:xfrm>
        </p:grpSpPr>
        <p:sp>
          <p:nvSpPr>
            <p:cNvPr id="7" name="Freeform 7"/>
            <p:cNvSpPr/>
            <p:nvPr/>
          </p:nvSpPr>
          <p:spPr>
            <a:xfrm>
              <a:off x="3469005" y="1926908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403860"/>
                  </a:moveTo>
                  <a:lnTo>
                    <a:pt x="209550" y="4038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69005" y="2330768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0"/>
                  </a:moveTo>
                  <a:lnTo>
                    <a:pt x="209550" y="0"/>
                  </a:lnTo>
                  <a:lnTo>
                    <a:pt x="209550" y="402908"/>
                  </a:lnTo>
                  <a:lnTo>
                    <a:pt x="419100" y="4029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69005" y="3540442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402908"/>
                  </a:moveTo>
                  <a:lnTo>
                    <a:pt x="209550" y="4029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69005" y="3943350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0"/>
                  </a:moveTo>
                  <a:lnTo>
                    <a:pt x="209550" y="0"/>
                  </a:lnTo>
                  <a:lnTo>
                    <a:pt x="209550" y="402908"/>
                  </a:lnTo>
                  <a:lnTo>
                    <a:pt x="419100" y="4029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69005" y="5153025"/>
              <a:ext cx="419100" cy="402907"/>
            </a:xfrm>
            <a:custGeom>
              <a:avLst/>
              <a:gdLst/>
              <a:ahLst/>
              <a:cxnLst/>
              <a:rect l="l" t="t" r="r" b="b"/>
              <a:pathLst>
                <a:path w="419100" h="402907">
                  <a:moveTo>
                    <a:pt x="0" y="402907"/>
                  </a:moveTo>
                  <a:lnTo>
                    <a:pt x="209550" y="4029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69005" y="555593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75472" y="2330768"/>
              <a:ext cx="419100" cy="1612582"/>
            </a:xfrm>
            <a:custGeom>
              <a:avLst/>
              <a:gdLst/>
              <a:ahLst/>
              <a:cxnLst/>
              <a:rect l="l" t="t" r="r" b="b"/>
              <a:pathLst>
                <a:path w="419100" h="1612582">
                  <a:moveTo>
                    <a:pt x="0" y="1612582"/>
                  </a:moveTo>
                  <a:lnTo>
                    <a:pt x="209550" y="161258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75472" y="3943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75472" y="3943350"/>
              <a:ext cx="419100" cy="1612582"/>
            </a:xfrm>
            <a:custGeom>
              <a:avLst/>
              <a:gdLst/>
              <a:ahLst/>
              <a:cxnLst/>
              <a:rect l="l" t="t" r="r" b="b"/>
              <a:pathLst>
                <a:path w="419100" h="1612582">
                  <a:moveTo>
                    <a:pt x="0" y="0"/>
                  </a:moveTo>
                  <a:lnTo>
                    <a:pt x="209550" y="0"/>
                  </a:lnTo>
                  <a:lnTo>
                    <a:pt x="209550" y="1612582"/>
                  </a:lnTo>
                  <a:lnTo>
                    <a:pt x="419100" y="161258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888105" y="1747838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88105" y="2553652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94572" y="2150745"/>
              <a:ext cx="1174432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88105" y="3360420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88105" y="4167188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94572" y="3763328"/>
              <a:ext cx="1174432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88105" y="4973002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88105" y="5779770"/>
              <a:ext cx="118967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94572" y="5376862"/>
              <a:ext cx="1174432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63328"/>
              <a:ext cx="1342072" cy="360045"/>
            </a:xfrm>
            <a:prstGeom prst="roundRect">
              <a:avLst>
                <a:gd name="adj" fmla="val 264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77259" y="18430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程序等待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77259" y="26498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83726" y="22469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程序控制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77259" y="3456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成组传递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77259" y="42624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周期挪用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83726" y="3859530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DMA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7259" y="50692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77259" y="58759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外围处理机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83726" y="5472112"/>
              <a:ext cx="83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I/O 处理机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554" y="38595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输入输出方式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382578" y="1524000"/>
            <a:ext cx="6276022" cy="3651885"/>
            <a:chOff x="5382578" y="1524000"/>
            <a:chExt cx="6276022" cy="3651885"/>
          </a:xfrm>
        </p:grpSpPr>
        <p:sp>
          <p:nvSpPr>
            <p:cNvPr id="37" name="Rectangle 37"/>
            <p:cNvSpPr/>
            <p:nvPr/>
          </p:nvSpPr>
          <p:spPr>
            <a:xfrm>
              <a:off x="5382578" y="1524000"/>
              <a:ext cx="627602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550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9018" y="165544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参与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7073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87924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程序等待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69049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23492" y="2085022"/>
              <a:ext cx="2122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反复查询设备状态，忙等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23793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238410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7924" y="26222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69049" y="26222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每次传送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23492" y="2515552"/>
              <a:ext cx="3204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设备就绪后发中断，CPU 执行中断服务程序传一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个数据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30232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87924" y="3159442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成组传递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69049" y="31594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开始与结束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23492" y="3159442"/>
              <a:ext cx="2802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控制器占用总线，连续传完一整块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34528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82578" y="345757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87924" y="3695700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周期挪用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69049" y="3695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开始与结束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23492" y="3589020"/>
              <a:ext cx="3250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每传一个字挪用一个存储周期，其余时间 CPU 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常访存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40967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87924" y="4232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69049" y="4232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启动通道程序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23492" y="42329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通道执行通道程序，管理多台设备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45272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82578" y="453199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487924" y="476916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外围处理机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69049" y="476916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很少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23492" y="4662488"/>
              <a:ext cx="3212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独立的处理机，有自己的存储器，还能做格式转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换等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82578" y="1524000"/>
              <a:ext cx="6276022" cy="36509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58940" y="1524000"/>
              <a:ext cx="9525" cy="3650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13382" y="1524000"/>
              <a:ext cx="9525" cy="3650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llout-2"/>
          <p:cNvGrpSpPr/>
          <p:nvPr/>
        </p:nvGrpSpPr>
        <p:grpSpPr>
          <a:xfrm>
            <a:off x="5382578" y="5360670"/>
            <a:ext cx="6276022" cy="756285"/>
            <a:chOff x="5382578" y="5360670"/>
            <a:chExt cx="6276022" cy="756285"/>
          </a:xfrm>
        </p:grpSpPr>
        <p:sp>
          <p:nvSpPr>
            <p:cNvPr id="71" name="Rectangle 71"/>
            <p:cNvSpPr/>
            <p:nvPr/>
          </p:nvSpPr>
          <p:spPr>
            <a:xfrm>
              <a:off x="5382578" y="5360670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587365" y="5638800"/>
              <a:ext cx="200026" cy="200025"/>
              <a:chOff x="5587365" y="563880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587365" y="56388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627104" y="56832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661819" y="57943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5889688" y="5507831"/>
              <a:ext cx="522630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从上到下，I/O 与计算在时间上重叠得越来越多，这本身就是一种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非冯结构（一）：类脑芯片与人工神经元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95462"/>
            <a:chOff x="533400" y="1524000"/>
            <a:chExt cx="5410200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3334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TrueNorth（真北）神经突触芯片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块芯片板，每块装 16 个芯片，构成 64 芯片阵列，能装进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 4U 服务器。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707005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它不按“取指令、执行”的冯氏流程工作，计算和存储分散在大量“神经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元”和“突触”里。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3"/>
              <p:cNvSpPr txBox="1">
                <a:spLocks noGrp="1"/>
              </p:cNvSpPr>
              <p:nvPr/>
            </p:nvSpPr>
            <p:spPr>
              <a:xfrm>
                <a:off x="533400" y="3505200"/>
                <a:ext cx="5410200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0" name="c1-kv-3"/>
          <p:cNvGrpSpPr/>
          <p:nvPr/>
        </p:nvGrpSpPr>
        <p:grpSpPr>
          <a:xfrm>
            <a:off x="526161" y="4373404"/>
            <a:ext cx="5417439" cy="1965579"/>
            <a:chOff x="526161" y="4373404"/>
            <a:chExt cx="5417439" cy="1965579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437340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xⱼ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0034" y="4373404"/>
              <a:ext cx="19069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输入信号 input signal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6796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4795361"/>
              <a:ext cx="2754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0034" y="4795361"/>
              <a:ext cx="2413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突触权重 synaptic weights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1015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521731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0034" y="5217319"/>
              <a:ext cx="826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偏置 bias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522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5639276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0034" y="5639276"/>
              <a:ext cx="1945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局部感应域 local field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944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161" y="606028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0034" y="6060281"/>
              <a:ext cx="26429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激活函数 activation function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6509385" y="1680210"/>
            <a:ext cx="4931447" cy="1955482"/>
            <a:chOff x="6509385" y="1680210"/>
            <a:chExt cx="4931447" cy="1955482"/>
          </a:xfrm>
        </p:grpSpPr>
        <p:sp>
          <p:nvSpPr>
            <p:cNvPr id="31" name="Freeform 31"/>
            <p:cNvSpPr/>
            <p:nvPr/>
          </p:nvSpPr>
          <p:spPr>
            <a:xfrm>
              <a:off x="6852285" y="1998345"/>
              <a:ext cx="1659255" cy="566738"/>
            </a:xfrm>
            <a:custGeom>
              <a:avLst/>
              <a:gdLst/>
              <a:ahLst/>
              <a:cxnLst/>
              <a:rect l="l" t="t" r="r" b="b"/>
              <a:pathLst>
                <a:path w="1659255" h="566738">
                  <a:moveTo>
                    <a:pt x="0" y="0"/>
                  </a:moveTo>
                  <a:lnTo>
                    <a:pt x="1659255" y="5667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496300" y="252031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5247"/>
                  </a:moveTo>
                  <a:lnTo>
                    <a:pt x="0" y="89535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861810" y="2678430"/>
              <a:ext cx="1630680" cy="9525"/>
            </a:xfrm>
            <a:custGeom>
              <a:avLst/>
              <a:gdLst/>
              <a:ahLst/>
              <a:cxnLst/>
              <a:rect l="l" t="t" r="r" b="b"/>
              <a:pathLst>
                <a:path w="1630680" h="9525">
                  <a:moveTo>
                    <a:pt x="0" y="0"/>
                  </a:moveTo>
                  <a:lnTo>
                    <a:pt x="1630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92490" y="2630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851332" y="2799398"/>
              <a:ext cx="1663065" cy="602933"/>
            </a:xfrm>
            <a:custGeom>
              <a:avLst/>
              <a:gdLst/>
              <a:ahLst/>
              <a:cxnLst/>
              <a:rect l="l" t="t" r="r" b="b"/>
              <a:pathLst>
                <a:path w="1663065" h="602933">
                  <a:moveTo>
                    <a:pt x="0" y="602933"/>
                  </a:moveTo>
                  <a:lnTo>
                    <a:pt x="16630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98205" y="275463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2383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844915" y="1877378"/>
              <a:ext cx="9525" cy="448627"/>
            </a:xfrm>
            <a:custGeom>
              <a:avLst/>
              <a:gdLst/>
              <a:ahLst/>
              <a:cxnLst/>
              <a:rect l="l" t="t" r="r" b="b"/>
              <a:pathLst>
                <a:path w="9525" h="448627">
                  <a:moveTo>
                    <a:pt x="0" y="0"/>
                  </a:moveTo>
                  <a:lnTo>
                    <a:pt x="0" y="4486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97290" y="2326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102090" y="2678430"/>
              <a:ext cx="763905" cy="9525"/>
            </a:xfrm>
            <a:custGeom>
              <a:avLst/>
              <a:gdLst/>
              <a:ahLst/>
              <a:cxnLst/>
              <a:rect l="l" t="t" r="r" b="b"/>
              <a:pathLst>
                <a:path w="763905" h="9525">
                  <a:moveTo>
                    <a:pt x="0" y="0"/>
                  </a:moveTo>
                  <a:lnTo>
                    <a:pt x="763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65995" y="2630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542270" y="2678430"/>
              <a:ext cx="670560" cy="9525"/>
            </a:xfrm>
            <a:custGeom>
              <a:avLst/>
              <a:gdLst/>
              <a:ahLst/>
              <a:cxnLst/>
              <a:rect l="l" t="t" r="r" b="b"/>
              <a:pathLst>
                <a:path w="670560" h="9525">
                  <a:moveTo>
                    <a:pt x="0" y="0"/>
                  </a:moveTo>
                  <a:lnTo>
                    <a:pt x="6705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1212830" y="2630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09385" y="176879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509385" y="250698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509385" y="329279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597265" y="243078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61245" y="251841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1447" y="18649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81447" y="2604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81447" y="33899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89533" y="26041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53798" y="2604135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f(U)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35348" y="2604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92173" y="1680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08570" y="2204085"/>
              <a:ext cx="23812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36927" y="2238851"/>
              <a:ext cx="181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05712" y="2586038"/>
              <a:ext cx="23812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34069" y="2620804"/>
              <a:ext cx="181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08570" y="2991802"/>
              <a:ext cx="23812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36927" y="3026569"/>
              <a:ext cx="181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59278" y="258603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88381" y="262080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019550"/>
            <a:ext cx="5410200" cy="2264092"/>
            <a:chOff x="6248400" y="4019550"/>
            <a:chExt cx="5410200" cy="2264092"/>
          </a:xfrm>
        </p:grpSpPr>
        <p:sp>
          <p:nvSpPr>
            <p:cNvPr id="64" name="Rectangle 64"/>
            <p:cNvSpPr/>
            <p:nvPr/>
          </p:nvSpPr>
          <p:spPr>
            <a:xfrm>
              <a:off x="6248400" y="4019550"/>
              <a:ext cx="5410200" cy="2264092"/>
            </a:xfrm>
            <a:prstGeom prst="roundRect">
              <a:avLst>
                <a:gd name="adj" fmla="val 58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4152900"/>
              <a:ext cx="47625" cy="19973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90335" y="42233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76593" y="42591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算一个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83096" y="4596289"/>
              <a:ext cx="447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 0.5, −1)，w = (0.4, 0.6, 0.2)，b = −0.1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3096" y="4916329"/>
              <a:ext cx="2953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0.4 + 0.3 − 0.2 − 0.1 = 0.4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4239" y="5232082"/>
              <a:ext cx="4629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 取阶跃函数时 y = 1；取 sigmoid 时 y ≈ 0.599。多层这样的神经元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连成人工神经网络（输入层、若干神经元层、输出层）。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9455" cy="909257"/>
            <a:chOff x="520446" y="342900"/>
            <a:chExt cx="68894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并行计算的必然性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94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非冯结构（二）：TPU、DNA 计算与量子计算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3505200" cy="2485072"/>
            <a:chOff x="533400" y="1524000"/>
            <a:chExt cx="3505200" cy="24850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85072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1837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5631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035" y="1763554"/>
              <a:ext cx="822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Google TPU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8706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专做矩阵乘加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神经网络的主要计算是矩阵乘向量：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W[3×5] · X[5×1] = Z[3×1]。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305943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9239" y="3396615"/>
              <a:ext cx="29001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TPU 用大规模脉动阵列让成千上万个乘加单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元同时工作。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194810"/>
            <a:ext cx="3505200" cy="1865948"/>
            <a:chOff x="533400" y="4194810"/>
            <a:chExt cx="3505200" cy="1865948"/>
          </a:xfrm>
        </p:grpSpPr>
        <p:sp>
          <p:nvSpPr>
            <p:cNvPr id="16" name="Rectangle 16"/>
            <p:cNvSpPr/>
            <p:nvPr/>
          </p:nvSpPr>
          <p:spPr>
            <a:xfrm>
              <a:off x="533400" y="419481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32816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39864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445" y="44343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771549"/>
              <a:ext cx="28097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的三行 (1,0,2,1,0)、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(0,1,1,0,2)、(2,1,0,1,1)，X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(1,2,0,1,3)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5634514"/>
              <a:ext cx="2537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(2, 8, 8)，共 15 次乘加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4343400" y="1524000"/>
            <a:ext cx="3505200" cy="4536758"/>
            <a:chOff x="4343400" y="1524000"/>
            <a:chExt cx="3505200" cy="4536758"/>
          </a:xfrm>
        </p:grpSpPr>
        <p:sp>
          <p:nvSpPr>
            <p:cNvPr id="23" name="Rectangle 23"/>
            <p:cNvSpPr/>
            <p:nvPr/>
          </p:nvSpPr>
          <p:spPr>
            <a:xfrm>
              <a:off x="4343400" y="1524000"/>
              <a:ext cx="3505200" cy="4536758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52925" y="1657350"/>
              <a:ext cx="47625" cy="42700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85335" y="172783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58183" y="1763554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DNA 计算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77256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用分子反应做计算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8096" y="2119789"/>
              <a:ext cx="29450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DNA 链表示信号，靠链置换反应把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输入链变成输出链。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8096" y="271129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原课件的单反应模型：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9"/>
                <p:cNvSpPr txBox="1">
                  <a:spLocks noGrp="1"/>
                </p:cNvSpPr>
                <p:nvPr/>
              </p:nvSpPr>
              <p:spPr>
                <a:xfrm>
                  <a:off x="4585335" y="3007042"/>
                  <a:ext cx="30594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⇌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4579239" y="3481388"/>
              <a:ext cx="29077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是输入信号链，G 是辅助的门复合物，反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应放出输出链 Y 和副产物 H。海量分子同时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反应，并行度极高。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9239" y="4204335"/>
              <a:ext cx="2930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1994 年 Adleman 第一次用 DNA 分子在试管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里解出一个 7 个顶点的哈密顿路径问题。</a:t>
              </a:r>
            </a:p>
          </p:txBody>
        </p:sp>
      </p:grpSp>
      <p:grpSp>
        <p:nvGrpSpPr>
          <p:cNvPr id="43" name="c3-card-1"/>
          <p:cNvGrpSpPr/>
          <p:nvPr/>
        </p:nvGrpSpPr>
        <p:grpSpPr>
          <a:xfrm>
            <a:off x="8153400" y="1524000"/>
            <a:ext cx="3505200" cy="4536758"/>
            <a:chOff x="8153400" y="1524000"/>
            <a:chExt cx="3505200" cy="4536758"/>
          </a:xfrm>
        </p:grpSpPr>
        <p:sp>
          <p:nvSpPr>
            <p:cNvPr id="34" name="Rectangle 34"/>
            <p:cNvSpPr/>
            <p:nvPr/>
          </p:nvSpPr>
          <p:spPr>
            <a:xfrm>
              <a:off x="8153400" y="1524000"/>
              <a:ext cx="3505200" cy="4536758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62925" y="1657350"/>
              <a:ext cx="47625" cy="42700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9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7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量子计算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80588" y="17673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88096" y="21197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一个量子比特可以处在 |0⟩ 和 |1⟩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叠加态，在 Bloch 球面上用角 θ、φ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88096" y="2982754"/>
              <a:ext cx="22236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|ψ⟩ = cos(θ/2)·|0⟩ + eⁱᵠ·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sin(θ/2)·|1⟩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89239" y="3569970"/>
              <a:ext cx="2839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个量子比特可以同时处在 2ⁿ 个基态的叠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加中，一次操作作用在全部基态上。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89239" y="4071938"/>
              <a:ext cx="280111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例：3 个量子比特可以同时是 000 到 111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 8 个状态的叠加，经典的 3 位寄存器一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次只存其中一个。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247007" cy="3706177"/>
            <a:chOff x="667512" y="1835468"/>
            <a:chExt cx="4247007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先学会给并行分类，再看怎样组织并行程序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04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Flynn 分类与各类结构的汇合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并行性的定义与两种等级划分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提高并行性的三个基本思想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五种并行范式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内存墙、功耗墙、生态墙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2357" cy="909257"/>
            <a:chOff x="520446" y="342900"/>
            <a:chExt cx="68823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2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分类：数一数指令流和数据流各有几条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6065520" cy="2292192"/>
            <a:chOff x="527685" y="1524000"/>
            <a:chExt cx="6065520" cy="2292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89213" y="1663065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单数据流 SD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89970" y="1663065"/>
              <a:ext cx="11814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多数据流 MD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单指令流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1660" y="2150745"/>
              <a:ext cx="2015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SISD：传统冯·诺依曼单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5772" y="2150745"/>
              <a:ext cx="1948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SIMD：向量机、阵列处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理机、GPU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761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76606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0080" y="290512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多指令流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1660" y="2905125"/>
              <a:ext cx="1948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MISD：脉动阵列、流式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5772" y="2905125"/>
              <a:ext cx="17964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MIMD：多核、多处理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器、集群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1524000"/>
              <a:ext cx="6059805" cy="1996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40218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64330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3596164"/>
              <a:ext cx="52245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1966 年 Michael Flynn 提出，按指令流（IS）和数据流（DS）的多少分成四类</a:t>
              </a:r>
            </a:p>
          </p:txBody>
        </p:sp>
      </p:grpSp>
      <p:grpSp>
        <p:nvGrpSpPr>
          <p:cNvPr id="34" name="c1-kv-2"/>
          <p:cNvGrpSpPr/>
          <p:nvPr/>
        </p:nvGrpSpPr>
        <p:grpSpPr>
          <a:xfrm>
            <a:off x="525780" y="3987165"/>
            <a:ext cx="6067425" cy="1613535"/>
            <a:chOff x="525780" y="3987165"/>
            <a:chExt cx="6067425" cy="1613535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39871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39871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控制部件，负责取指令、译码、发控制信号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072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442722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PU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9280" y="44272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处理部件，执行运算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472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4867275"/>
              <a:ext cx="900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MM / SM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9280" y="48672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存储模块 / 共享存储器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873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5307330"/>
              <a:ext cx="1213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IS / CS / 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59280" y="5307330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 / 控制流 / 数据流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898005" y="1524000"/>
            <a:ext cx="4760595" cy="2924176"/>
            <a:chOff x="6898005" y="1524000"/>
            <a:chExt cx="4760595" cy="2924176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468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26667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利用的并行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644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实现手段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828" y="2221706"/>
              <a:ext cx="38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62126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81376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流水线、动态调度、前瞻执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行、超标量、多发射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8005" y="264795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5828" y="2783681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62126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数据级并行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81376" y="2783681"/>
              <a:ext cx="1519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向量体系结构、GPU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092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5828" y="3459004"/>
              <a:ext cx="462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62126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任务级并行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81376" y="3232309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线程级（多核共享存储）、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进程级（多处理器消息传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9947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8005" y="3999548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05828" y="4134326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2126" y="4134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流式计算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81376" y="413432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片内脉动阵列、流式集群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1524000"/>
              <a:ext cx="4760595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74954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36879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6898005" y="4638675"/>
            <a:ext cx="4760595" cy="1059180"/>
            <a:chOff x="6898005" y="4638675"/>
            <a:chExt cx="4760595" cy="1059180"/>
          </a:xfrm>
        </p:grpSpPr>
        <p:sp>
          <p:nvSpPr>
            <p:cNvPr id="60" name="Rectangle 60"/>
            <p:cNvSpPr/>
            <p:nvPr/>
          </p:nvSpPr>
          <p:spPr>
            <a:xfrm>
              <a:off x="6898005" y="4638675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102793" y="5068253"/>
              <a:ext cx="200026" cy="200025"/>
              <a:chOff x="7102793" y="506825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102793" y="50682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142531" y="51127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177247" y="52238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4735" y="4787265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判断方法：看有几个控制部件在各自发指令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（指令流），再看同一时刻有几份数据在被处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理（数据流）。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8231" cy="909257"/>
            <a:chOff x="520446" y="342900"/>
            <a:chExt cx="83382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82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 与 SIMD：一个控制部件，带一个或多个处理部件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980122" y="1625918"/>
            <a:ext cx="4331970" cy="1062418"/>
            <a:chOff x="980122" y="1625918"/>
            <a:chExt cx="4331970" cy="1062418"/>
          </a:xfrm>
        </p:grpSpPr>
        <p:sp>
          <p:nvSpPr>
            <p:cNvPr id="7" name="Freeform 7"/>
            <p:cNvSpPr/>
            <p:nvPr/>
          </p:nvSpPr>
          <p:spPr>
            <a:xfrm>
              <a:off x="1384935" y="2527935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32735" y="2480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28048" y="2527935"/>
              <a:ext cx="1320165" cy="9525"/>
            </a:xfrm>
            <a:custGeom>
              <a:avLst/>
              <a:gdLst/>
              <a:ahLst/>
              <a:cxnLst/>
              <a:rect l="l" t="t" r="r" b="b"/>
              <a:pathLst>
                <a:path w="1320165" h="9525">
                  <a:moveTo>
                    <a:pt x="0" y="0"/>
                  </a:moveTo>
                  <a:lnTo>
                    <a:pt x="1320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48212" y="2480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32798" y="2480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83005" y="1718310"/>
              <a:ext cx="3894773" cy="649605"/>
            </a:xfrm>
            <a:custGeom>
              <a:avLst/>
              <a:gdLst/>
              <a:ahLst/>
              <a:cxnLst/>
              <a:rect l="l" t="t" r="r" b="b"/>
              <a:pathLst>
                <a:path w="3894773" h="649605">
                  <a:moveTo>
                    <a:pt x="3894773" y="649605"/>
                  </a:moveTo>
                  <a:lnTo>
                    <a:pt x="3894773" y="0"/>
                  </a:lnTo>
                  <a:lnTo>
                    <a:pt x="0" y="0"/>
                  </a:lnTo>
                  <a:lnTo>
                    <a:pt x="0" y="5543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35380" y="22726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80122" y="2367915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927985" y="2367915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843462" y="2367915"/>
              <a:ext cx="46863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78337" y="245364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25247" y="245364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37265" y="2453640"/>
              <a:ext cx="281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49780" y="2434590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74840" y="2469356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81450" y="2434590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06510" y="2469356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39428" y="1625918"/>
              <a:ext cx="18192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65719" y="1659731"/>
              <a:ext cx="128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33750"/>
            <a:ext cx="5410200" cy="2463165"/>
            <a:chOff x="533400" y="3333750"/>
            <a:chExt cx="5410200" cy="2463165"/>
          </a:xfrm>
        </p:grpSpPr>
        <p:sp>
          <p:nvSpPr>
            <p:cNvPr id="27" name="Rectangle 27"/>
            <p:cNvSpPr/>
            <p:nvPr/>
          </p:nvSpPr>
          <p:spPr>
            <a:xfrm>
              <a:off x="533400" y="3333750"/>
              <a:ext cx="5410200" cy="2463165"/>
            </a:xfrm>
            <a:prstGeom prst="roundRect">
              <a:avLst>
                <a:gd name="adj" fmla="val 54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467100"/>
              <a:ext cx="47625" cy="2196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3543300"/>
              <a:ext cx="261937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7882" y="3579019"/>
              <a:ext cx="2585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SISD 单指令流单数据流（冯·诺依曼）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39833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392049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每条指令操作一个数据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4318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255770"/>
              <a:ext cx="2356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PU 独占 CU 和存储器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653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5910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利用指令级并行：流水线、动态调度、前瞻执行、超标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量、多发射</a:t>
              </a:r>
            </a:p>
          </p:txBody>
        </p:sp>
      </p:grpSp>
      <p:grpSp>
        <p:nvGrpSpPr>
          <p:cNvPr id="80" name="c2-graph-1"/>
          <p:cNvGrpSpPr/>
          <p:nvPr/>
        </p:nvGrpSpPr>
        <p:grpSpPr>
          <a:xfrm>
            <a:off x="6587490" y="1697355"/>
            <a:ext cx="4909185" cy="2173319"/>
            <a:chOff x="6587490" y="1697355"/>
            <a:chExt cx="4909185" cy="2173319"/>
          </a:xfrm>
        </p:grpSpPr>
        <p:sp>
          <p:nvSpPr>
            <p:cNvPr id="38" name="Freeform 38"/>
            <p:cNvSpPr/>
            <p:nvPr/>
          </p:nvSpPr>
          <p:spPr>
            <a:xfrm>
              <a:off x="6991350" y="2007870"/>
              <a:ext cx="1358265" cy="615315"/>
            </a:xfrm>
            <a:custGeom>
              <a:avLst/>
              <a:gdLst/>
              <a:ahLst/>
              <a:cxnLst/>
              <a:rect l="l" t="t" r="r" b="b"/>
              <a:pathLst>
                <a:path w="1358265" h="615315">
                  <a:moveTo>
                    <a:pt x="0" y="615315"/>
                  </a:moveTo>
                  <a:lnTo>
                    <a:pt x="13582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330565" y="1965008"/>
              <a:ext cx="105728" cy="86677"/>
            </a:xfrm>
            <a:custGeom>
              <a:avLst/>
              <a:gdLst/>
              <a:ahLst/>
              <a:cxnLst/>
              <a:rect l="l" t="t" r="r" b="b"/>
              <a:pathLst>
                <a:path w="105728" h="86677">
                  <a:moveTo>
                    <a:pt x="105728" y="3810"/>
                  </a:moveTo>
                  <a:lnTo>
                    <a:pt x="39053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991350" y="2636520"/>
              <a:ext cx="1350645" cy="67627"/>
            </a:xfrm>
            <a:custGeom>
              <a:avLst/>
              <a:gdLst/>
              <a:ahLst/>
              <a:cxnLst/>
              <a:rect l="l" t="t" r="r" b="b"/>
              <a:pathLst>
                <a:path w="1350645" h="67627">
                  <a:moveTo>
                    <a:pt x="0" y="67627"/>
                  </a:moveTo>
                  <a:lnTo>
                    <a:pt x="13506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339138" y="2588895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42862"/>
                  </a:moveTo>
                  <a:lnTo>
                    <a:pt x="4762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991350" y="2801302"/>
              <a:ext cx="1357312" cy="580072"/>
            </a:xfrm>
            <a:custGeom>
              <a:avLst/>
              <a:gdLst/>
              <a:ahLst/>
              <a:cxnLst/>
              <a:rect l="l" t="t" r="r" b="b"/>
              <a:pathLst>
                <a:path w="1357312" h="580072">
                  <a:moveTo>
                    <a:pt x="0" y="0"/>
                  </a:moveTo>
                  <a:lnTo>
                    <a:pt x="1357312" y="5800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330565" y="333756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0962"/>
                  </a:moveTo>
                  <a:lnTo>
                    <a:pt x="0" y="87630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024938" y="1857375"/>
              <a:ext cx="1394460" cy="9525"/>
            </a:xfrm>
            <a:custGeom>
              <a:avLst/>
              <a:gdLst/>
              <a:ahLst/>
              <a:cxnLst/>
              <a:rect l="l" t="t" r="r" b="b"/>
              <a:pathLst>
                <a:path w="1394460" h="9525">
                  <a:moveTo>
                    <a:pt x="0" y="0"/>
                  </a:moveTo>
                  <a:lnTo>
                    <a:pt x="13944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419398" y="1809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929688" y="1809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024938" y="2619375"/>
              <a:ext cx="1394460" cy="9525"/>
            </a:xfrm>
            <a:custGeom>
              <a:avLst/>
              <a:gdLst/>
              <a:ahLst/>
              <a:cxnLst/>
              <a:rect l="l" t="t" r="r" b="b"/>
              <a:pathLst>
                <a:path w="1394460" h="9525">
                  <a:moveTo>
                    <a:pt x="0" y="0"/>
                  </a:moveTo>
                  <a:lnTo>
                    <a:pt x="13944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419398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929688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024938" y="3524250"/>
              <a:ext cx="1394460" cy="9525"/>
            </a:xfrm>
            <a:custGeom>
              <a:avLst/>
              <a:gdLst/>
              <a:ahLst/>
              <a:cxnLst/>
              <a:rect l="l" t="t" r="r" b="b"/>
              <a:pathLst>
                <a:path w="1394460" h="9525">
                  <a:moveTo>
                    <a:pt x="0" y="0"/>
                  </a:moveTo>
                  <a:lnTo>
                    <a:pt x="13944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19398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929688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789420" y="2969895"/>
              <a:ext cx="4707255" cy="768667"/>
            </a:xfrm>
            <a:custGeom>
              <a:avLst/>
              <a:gdLst/>
              <a:ahLst/>
              <a:cxnLst/>
              <a:rect l="l" t="t" r="r" b="b"/>
              <a:pathLst>
                <a:path w="4707255" h="768667">
                  <a:moveTo>
                    <a:pt x="4281488" y="639127"/>
                  </a:moveTo>
                  <a:lnTo>
                    <a:pt x="4707255" y="768667"/>
                  </a:lnTo>
                  <a:lnTo>
                    <a:pt x="0" y="76866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741795" y="28746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87490" y="2554605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436292" y="1697355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436292" y="2459355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436292" y="336423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514648" y="1697355"/>
              <a:ext cx="55626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514648" y="2459355"/>
              <a:ext cx="55626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514648" y="3364230"/>
              <a:ext cx="55626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84752" y="264033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29036" y="17830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29036" y="25450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29036" y="344995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02979" y="1783080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MM₁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02979" y="2545080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MM₂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602979" y="3449955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MMₙ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30248" y="2973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07618" y="2203132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32677" y="223789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581198" y="176403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602213" y="179879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DS₁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581198" y="252603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602213" y="256079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DS₂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81198" y="3430905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602213" y="3465671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DSₙ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051608" y="3646170"/>
              <a:ext cx="18192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8852" y="3679984"/>
              <a:ext cx="128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248400" y="4095750"/>
            <a:ext cx="5410200" cy="1701165"/>
            <a:chOff x="6248400" y="4095750"/>
            <a:chExt cx="5410200" cy="1701165"/>
          </a:xfrm>
        </p:grpSpPr>
        <p:sp>
          <p:nvSpPr>
            <p:cNvPr id="81" name="Rectangle 81"/>
            <p:cNvSpPr/>
            <p:nvPr/>
          </p:nvSpPr>
          <p:spPr>
            <a:xfrm>
              <a:off x="6248400" y="409575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57925" y="422910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96050" y="4305300"/>
              <a:ext cx="327755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92320" y="4341019"/>
              <a:ext cx="3285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SIMD 单指令流多数据流（阵列处理机、向量机）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501765" y="47453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59880" y="46824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一条指令同时操作多条数据流，利用数据级并行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501765" y="5080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659880" y="5017770"/>
              <a:ext cx="3907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 PU 可以有私有存储，但共享同一个 CU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501765" y="5415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659880" y="5353050"/>
              <a:ext cx="3305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代表：向量体系结构、GPU（第4章）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0884" cy="909257"/>
            <a:chOff x="520446" y="342900"/>
            <a:chExt cx="64308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08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 与 MISD：多个控制部件各自发指令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graph-1"/>
          <p:cNvGrpSpPr/>
          <p:nvPr/>
        </p:nvGrpSpPr>
        <p:grpSpPr>
          <a:xfrm>
            <a:off x="837248" y="1677352"/>
            <a:ext cx="4639626" cy="1817371"/>
            <a:chOff x="837248" y="1677352"/>
            <a:chExt cx="4639626" cy="1817371"/>
          </a:xfrm>
        </p:grpSpPr>
        <p:sp>
          <p:nvSpPr>
            <p:cNvPr id="7" name="Freeform 7"/>
            <p:cNvSpPr/>
            <p:nvPr/>
          </p:nvSpPr>
          <p:spPr>
            <a:xfrm>
              <a:off x="1311592" y="1826895"/>
              <a:ext cx="1323975" cy="9525"/>
            </a:xfrm>
            <a:custGeom>
              <a:avLst/>
              <a:gdLst/>
              <a:ahLst/>
              <a:cxnLst/>
              <a:rect l="l" t="t" r="r" b="b"/>
              <a:pathLst>
                <a:path w="1323975" h="9525">
                  <a:moveTo>
                    <a:pt x="0" y="0"/>
                  </a:moveTo>
                  <a:lnTo>
                    <a:pt x="1323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35568" y="1779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11592" y="2520315"/>
              <a:ext cx="1323975" cy="9525"/>
            </a:xfrm>
            <a:custGeom>
              <a:avLst/>
              <a:gdLst/>
              <a:ahLst/>
              <a:cxnLst/>
              <a:rect l="l" t="t" r="r" b="b"/>
              <a:pathLst>
                <a:path w="1323975" h="9525">
                  <a:moveTo>
                    <a:pt x="0" y="0"/>
                  </a:moveTo>
                  <a:lnTo>
                    <a:pt x="1323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35568" y="2472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11592" y="3344228"/>
              <a:ext cx="1323975" cy="9525"/>
            </a:xfrm>
            <a:custGeom>
              <a:avLst/>
              <a:gdLst/>
              <a:ahLst/>
              <a:cxnLst/>
              <a:rect l="l" t="t" r="r" b="b"/>
              <a:pathLst>
                <a:path w="1323975" h="9525">
                  <a:moveTo>
                    <a:pt x="0" y="0"/>
                  </a:moveTo>
                  <a:lnTo>
                    <a:pt x="1323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35568" y="32966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94698" y="1945005"/>
              <a:ext cx="1294448" cy="464820"/>
            </a:xfrm>
            <a:custGeom>
              <a:avLst/>
              <a:gdLst/>
              <a:ahLst/>
              <a:cxnLst/>
              <a:rect l="l" t="t" r="r" b="b"/>
              <a:pathLst>
                <a:path w="1294448" h="464820">
                  <a:moveTo>
                    <a:pt x="0" y="0"/>
                  </a:moveTo>
                  <a:lnTo>
                    <a:pt x="1294448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73905" y="236505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7152"/>
                  </a:moveTo>
                  <a:lnTo>
                    <a:pt x="0" y="89535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05162" y="190023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12383"/>
                  </a:moveTo>
                  <a:lnTo>
                    <a:pt x="105728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00412" y="2530792"/>
              <a:ext cx="1283970" cy="40005"/>
            </a:xfrm>
            <a:custGeom>
              <a:avLst/>
              <a:gdLst/>
              <a:ahLst/>
              <a:cxnLst/>
              <a:rect l="l" t="t" r="r" b="b"/>
              <a:pathLst>
                <a:path w="1283970" h="40005">
                  <a:moveTo>
                    <a:pt x="0" y="0"/>
                  </a:moveTo>
                  <a:lnTo>
                    <a:pt x="1283970" y="40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582478" y="2523172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50483"/>
                  </a:moveTo>
                  <a:lnTo>
                    <a:pt x="0" y="95250"/>
                  </a:lnTo>
                  <a:lnTo>
                    <a:pt x="28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205162" y="2483168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0" y="44767"/>
                  </a:moveTo>
                  <a:lnTo>
                    <a:pt x="97155" y="0"/>
                  </a:lnTo>
                  <a:lnTo>
                    <a:pt x="94297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94698" y="2761298"/>
              <a:ext cx="1294448" cy="465773"/>
            </a:xfrm>
            <a:custGeom>
              <a:avLst/>
              <a:gdLst/>
              <a:ahLst/>
              <a:cxnLst/>
              <a:rect l="l" t="t" r="r" b="b"/>
              <a:pathLst>
                <a:path w="1294448" h="465773">
                  <a:moveTo>
                    <a:pt x="0" y="465773"/>
                  </a:moveTo>
                  <a:lnTo>
                    <a:pt x="12944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573905" y="271653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3"/>
                  </a:moveTo>
                  <a:lnTo>
                    <a:pt x="31433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205162" y="318135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77153"/>
                  </a:moveTo>
                  <a:lnTo>
                    <a:pt x="74295" y="0"/>
                  </a:lnTo>
                  <a:lnTo>
                    <a:pt x="105728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7248" y="167735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7248" y="237077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7248" y="3194685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30818" y="167735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30818" y="237077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730818" y="3194685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79632" y="1719262"/>
              <a:ext cx="797242" cy="1733550"/>
            </a:xfrm>
            <a:prstGeom prst="roundRect">
              <a:avLst>
                <a:gd name="adj" fmla="val 1194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0704" y="175688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0704" y="24503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0704" y="327421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24274" y="175688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24274" y="24503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24274" y="327421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0514" y="2426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共享存储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63334" y="260461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986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888808" y="174117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10829" y="177355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88808" y="243459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10829" y="246697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888808" y="3258502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910829" y="329088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CSₙ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810000" y="209169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32022" y="212407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0" y="2907982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32022" y="294036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DSₙ</a:t>
              </a:r>
            </a:p>
          </p:txBody>
        </p:sp>
      </p:grpSp>
      <p:grpSp>
        <p:nvGrpSpPr>
          <p:cNvPr id="59" name="c1-card-2"/>
          <p:cNvGrpSpPr/>
          <p:nvPr/>
        </p:nvGrpSpPr>
        <p:grpSpPr>
          <a:xfrm>
            <a:off x="533400" y="3866198"/>
            <a:ext cx="5410200" cy="2240280"/>
            <a:chOff x="533400" y="3866198"/>
            <a:chExt cx="5410200" cy="2240280"/>
          </a:xfrm>
        </p:grpSpPr>
        <p:sp>
          <p:nvSpPr>
            <p:cNvPr id="49" name="Rectangle 49"/>
            <p:cNvSpPr/>
            <p:nvPr/>
          </p:nvSpPr>
          <p:spPr>
            <a:xfrm>
              <a:off x="533400" y="3866198"/>
              <a:ext cx="5410200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3999548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3905" y="4058602"/>
              <a:ext cx="164782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9294" y="4092893"/>
              <a:ext cx="1557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MIMD 多指令流多数据流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72478" y="44710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8497" y="441483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每个处理器各自取指令，处理各自的数据，利用任务级并行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72478" y="47739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8497" y="4717732"/>
              <a:ext cx="4859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紧密耦合：线程级并行，多核，共享存储（第2章 OpenMP）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72478" y="50758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8497" y="5019675"/>
              <a:ext cx="4840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松散耦合：进程级并行，多处理器，消息传递（第3章 MPI）</a:t>
              </a:r>
            </a:p>
          </p:txBody>
        </p:sp>
      </p:grpSp>
      <p:grpSp>
        <p:nvGrpSpPr>
          <p:cNvPr id="102" name="c2-graph-1"/>
          <p:cNvGrpSpPr/>
          <p:nvPr/>
        </p:nvGrpSpPr>
        <p:grpSpPr>
          <a:xfrm>
            <a:off x="6659880" y="1677352"/>
            <a:ext cx="4390073" cy="1817371"/>
            <a:chOff x="6659880" y="1677352"/>
            <a:chExt cx="4390073" cy="1817371"/>
          </a:xfrm>
        </p:grpSpPr>
        <p:sp>
          <p:nvSpPr>
            <p:cNvPr id="60" name="Freeform 60"/>
            <p:cNvSpPr/>
            <p:nvPr/>
          </p:nvSpPr>
          <p:spPr>
            <a:xfrm>
              <a:off x="7135178" y="1826895"/>
              <a:ext cx="1268730" cy="9525"/>
            </a:xfrm>
            <a:custGeom>
              <a:avLst/>
              <a:gdLst/>
              <a:ahLst/>
              <a:cxnLst/>
              <a:rect l="l" t="t" r="r" b="b"/>
              <a:pathLst>
                <a:path w="1268730" h="9525">
                  <a:moveTo>
                    <a:pt x="0" y="0"/>
                  </a:moveTo>
                  <a:lnTo>
                    <a:pt x="1268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403908" y="1779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135178" y="2520315"/>
              <a:ext cx="1268730" cy="9525"/>
            </a:xfrm>
            <a:custGeom>
              <a:avLst/>
              <a:gdLst/>
              <a:ahLst/>
              <a:cxnLst/>
              <a:rect l="l" t="t" r="r" b="b"/>
              <a:pathLst>
                <a:path w="1268730" h="9525">
                  <a:moveTo>
                    <a:pt x="0" y="0"/>
                  </a:moveTo>
                  <a:lnTo>
                    <a:pt x="1268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403908" y="2472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7135178" y="3344228"/>
              <a:ext cx="1268730" cy="9525"/>
            </a:xfrm>
            <a:custGeom>
              <a:avLst/>
              <a:gdLst/>
              <a:ahLst/>
              <a:cxnLst/>
              <a:rect l="l" t="t" r="r" b="b"/>
              <a:pathLst>
                <a:path w="1268730" h="9525">
                  <a:moveTo>
                    <a:pt x="0" y="0"/>
                  </a:moveTo>
                  <a:lnTo>
                    <a:pt x="1268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403908" y="32966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068752" y="1883092"/>
              <a:ext cx="1467803" cy="247650"/>
            </a:xfrm>
            <a:custGeom>
              <a:avLst/>
              <a:gdLst/>
              <a:ahLst/>
              <a:cxnLst/>
              <a:rect l="l" t="t" r="r" b="b"/>
              <a:pathLst>
                <a:path w="1467803" h="247650">
                  <a:moveTo>
                    <a:pt x="1467803" y="2476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974455" y="1836420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0" y="31432"/>
                  </a:moveTo>
                  <a:lnTo>
                    <a:pt x="101917" y="0"/>
                  </a:lnTo>
                  <a:lnTo>
                    <a:pt x="8572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737282" y="1977390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0"/>
                  </a:moveTo>
                  <a:lnTo>
                    <a:pt x="0" y="2981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689658" y="22755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8737282" y="267081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71" name="Freeform 71"/>
            <p:cNvSpPr/>
            <p:nvPr/>
          </p:nvSpPr>
          <p:spPr>
            <a:xfrm>
              <a:off x="8689658" y="3099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974455" y="2508885"/>
              <a:ext cx="1818322" cy="835343"/>
            </a:xfrm>
            <a:custGeom>
              <a:avLst/>
              <a:gdLst/>
              <a:ahLst/>
              <a:cxnLst/>
              <a:rect l="l" t="t" r="r" b="b"/>
              <a:pathLst>
                <a:path w="1818322" h="835343">
                  <a:moveTo>
                    <a:pt x="0" y="835343"/>
                  </a:moveTo>
                  <a:lnTo>
                    <a:pt x="1818322" y="835343"/>
                  </a:lnTo>
                  <a:lnTo>
                    <a:pt x="18183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745152" y="24136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59880" y="167735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59880" y="237077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659880" y="3194685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499158" y="167735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499158" y="237077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499158" y="3194685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536555" y="1934528"/>
              <a:ext cx="513398" cy="478155"/>
            </a:xfrm>
            <a:prstGeom prst="roundRect">
              <a:avLst>
                <a:gd name="adj" fmla="val 1992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54289" y="175688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754289" y="24503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754289" y="327421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CUₙ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93566" y="175688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93566" y="24503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93566" y="327421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PUₙ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636288" y="2015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678334" y="219313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88031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684770" y="174117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706792" y="177355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CS₁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684770" y="243459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706792" y="246697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CS₂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684770" y="3258502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706792" y="329088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CSₙ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654540" y="191357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680334" y="1945005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636318" y="2087880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662111" y="2120265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783128" y="325850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08921" y="3290888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</p:grpSp>
      <p:grpSp>
        <p:nvGrpSpPr>
          <p:cNvPr id="112" name="c2-card-2"/>
          <p:cNvGrpSpPr/>
          <p:nvPr/>
        </p:nvGrpSpPr>
        <p:grpSpPr>
          <a:xfrm>
            <a:off x="6248400" y="3866198"/>
            <a:ext cx="5410200" cy="2240280"/>
            <a:chOff x="6248400" y="3866198"/>
            <a:chExt cx="5410200" cy="2240280"/>
          </a:xfrm>
        </p:grpSpPr>
        <p:sp>
          <p:nvSpPr>
            <p:cNvPr id="103" name="Rectangle 103"/>
            <p:cNvSpPr/>
            <p:nvPr/>
          </p:nvSpPr>
          <p:spPr>
            <a:xfrm>
              <a:off x="6248400" y="3866198"/>
              <a:ext cx="5410200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257925" y="3999548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478905" y="4058602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525688" y="4092893"/>
              <a:ext cx="152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MISD 多指令流单数据流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6487478" y="44710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643497" y="44148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一条数据流依次经过多个处理部件，每个部件执行各自的指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6487478" y="50311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643497" y="49749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紧密耦合：片内流式计算，脉动阵列；松散耦合：大数据工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作流，流式集群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473190" y="5530691"/>
              <a:ext cx="4669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很多教材认为 MISD 没有典型商用机，本课程把脉动阵列和流式计算归入此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8018" cy="909257"/>
            <a:chOff x="520446" y="342900"/>
            <a:chExt cx="7288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8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殊途同归，新技术从巨型机逐步“下移”到微型机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flow-1"/>
          <p:cNvGrpSpPr/>
          <p:nvPr/>
        </p:nvGrpSpPr>
        <p:grpSpPr>
          <a:xfrm>
            <a:off x="666750" y="1466850"/>
            <a:ext cx="5143500" cy="3080384"/>
            <a:chOff x="666750" y="1466850"/>
            <a:chExt cx="5143500" cy="3080384"/>
          </a:xfrm>
        </p:grpSpPr>
        <p:sp>
          <p:nvSpPr>
            <p:cNvPr id="7" name="Freeform 7"/>
            <p:cNvSpPr/>
            <p:nvPr/>
          </p:nvSpPr>
          <p:spPr>
            <a:xfrm>
              <a:off x="1435418" y="2633662"/>
              <a:ext cx="1803082" cy="100012"/>
            </a:xfrm>
            <a:custGeom>
              <a:avLst/>
              <a:gdLst/>
              <a:ahLst/>
              <a:cxnLst/>
              <a:rect l="l" t="t" r="r" b="b"/>
              <a:pathLst>
                <a:path w="1803082" h="100012">
                  <a:moveTo>
                    <a:pt x="0" y="100012"/>
                  </a:moveTo>
                  <a:lnTo>
                    <a:pt x="0" y="0"/>
                  </a:lnTo>
                  <a:lnTo>
                    <a:pt x="1803082" y="0"/>
                  </a:lnTo>
                  <a:lnTo>
                    <a:pt x="1803082" y="47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533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35418" y="3157538"/>
              <a:ext cx="1803082" cy="60008"/>
            </a:xfrm>
            <a:custGeom>
              <a:avLst/>
              <a:gdLst/>
              <a:ahLst/>
              <a:cxnLst/>
              <a:rect l="l" t="t" r="r" b="b"/>
              <a:pathLst>
                <a:path w="1803082" h="60008">
                  <a:moveTo>
                    <a:pt x="0" y="14288"/>
                  </a:moveTo>
                  <a:lnTo>
                    <a:pt x="0" y="60008"/>
                  </a:lnTo>
                  <a:lnTo>
                    <a:pt x="1803082" y="60008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3157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07168" y="2000250"/>
              <a:ext cx="161925" cy="952500"/>
            </a:xfrm>
            <a:custGeom>
              <a:avLst/>
              <a:gdLst/>
              <a:ahLst/>
              <a:cxnLst/>
              <a:rect l="l" t="t" r="r" b="b"/>
              <a:pathLst>
                <a:path w="161925" h="952500">
                  <a:moveTo>
                    <a:pt x="0" y="0"/>
                  </a:moveTo>
                  <a:lnTo>
                    <a:pt x="133350" y="0"/>
                  </a:lnTo>
                  <a:lnTo>
                    <a:pt x="133350" y="952500"/>
                  </a:lnTo>
                  <a:lnTo>
                    <a:pt x="161925" y="952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69092" y="29003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07168" y="2952750"/>
              <a:ext cx="161925" cy="952500"/>
            </a:xfrm>
            <a:custGeom>
              <a:avLst/>
              <a:gdLst/>
              <a:ahLst/>
              <a:cxnLst/>
              <a:rect l="l" t="t" r="r" b="b"/>
              <a:pathLst>
                <a:path w="161925" h="952500">
                  <a:moveTo>
                    <a:pt x="0" y="952500"/>
                  </a:moveTo>
                  <a:lnTo>
                    <a:pt x="133350" y="952500"/>
                  </a:lnTo>
                  <a:lnTo>
                    <a:pt x="133350" y="0"/>
                  </a:ln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69092" y="29003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273367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69832" y="1466850"/>
              <a:ext cx="1536382" cy="10668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69832" y="3262312"/>
              <a:ext cx="1536382" cy="1284922"/>
            </a:xfrm>
            <a:prstGeom prst="roundRect">
              <a:avLst>
                <a:gd name="adj" fmla="val 7413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73868" y="2201228"/>
              <a:ext cx="1536382" cy="1503998"/>
            </a:xfrm>
            <a:prstGeom prst="roundRect">
              <a:avLst>
                <a:gd name="adj" fmla="val 6333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78735" y="286369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67127" y="1583531"/>
              <a:ext cx="1142746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作主处理器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对称多核 CPU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Symmetric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Multi-Core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7127" y="3378994"/>
              <a:ext cx="1142746" cy="1125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作协处理器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主从式众核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GPGPU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Master-Slave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Many-Core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7426" y="2316956"/>
              <a:ext cx="988314" cy="1344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融合架构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Fusion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 APU、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Xeon Phi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Cell BE、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SW26010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572000"/>
            <a:ext cx="5410200" cy="912495"/>
            <a:chOff x="533400" y="4572000"/>
            <a:chExt cx="5410200" cy="912495"/>
          </a:xfrm>
        </p:grpSpPr>
        <p:sp>
          <p:nvSpPr>
            <p:cNvPr id="24" name="Rectangle 24"/>
            <p:cNvSpPr/>
            <p:nvPr/>
          </p:nvSpPr>
          <p:spPr>
            <a:xfrm>
              <a:off x="533400" y="4572000"/>
              <a:ext cx="5410200" cy="912495"/>
            </a:xfrm>
            <a:prstGeom prst="roundRect">
              <a:avLst>
                <a:gd name="adj" fmla="val 1252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928237"/>
              <a:ext cx="200023" cy="200023"/>
              <a:chOff x="738188" y="4928237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928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4994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785360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 roads lead to Rome. Nothing is for sure, but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Parallelism.（原课件第39页）</a:t>
              </a:r>
            </a:p>
          </p:txBody>
        </p:sp>
      </p:grpSp>
      <p:grpSp>
        <p:nvGrpSpPr>
          <p:cNvPr id="46" name="c2-graph-1"/>
          <p:cNvGrpSpPr/>
          <p:nvPr/>
        </p:nvGrpSpPr>
        <p:grpSpPr>
          <a:xfrm>
            <a:off x="6633210" y="1555909"/>
            <a:ext cx="4771745" cy="3066859"/>
            <a:chOff x="6633210" y="1555909"/>
            <a:chExt cx="4771745" cy="3066859"/>
          </a:xfrm>
        </p:grpSpPr>
        <p:sp>
          <p:nvSpPr>
            <p:cNvPr id="30" name="Freeform 30"/>
            <p:cNvSpPr/>
            <p:nvPr/>
          </p:nvSpPr>
          <p:spPr>
            <a:xfrm>
              <a:off x="6680835" y="1863090"/>
              <a:ext cx="9525" cy="2343150"/>
            </a:xfrm>
            <a:custGeom>
              <a:avLst/>
              <a:gdLst/>
              <a:ahLst/>
              <a:cxnLst/>
              <a:rect l="l" t="t" r="r" b="b"/>
              <a:pathLst>
                <a:path w="9525" h="2343150">
                  <a:moveTo>
                    <a:pt x="0" y="23431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633210" y="17678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18935" y="4328160"/>
              <a:ext cx="4590098" cy="9525"/>
            </a:xfrm>
            <a:custGeom>
              <a:avLst/>
              <a:gdLst/>
              <a:ahLst/>
              <a:cxnLst/>
              <a:rect l="l" t="t" r="r" b="b"/>
              <a:pathLst>
                <a:path w="4590098" h="9525">
                  <a:moveTo>
                    <a:pt x="0" y="0"/>
                  </a:moveTo>
                  <a:lnTo>
                    <a:pt x="45900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309032" y="42805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827520" y="1915478"/>
              <a:ext cx="2953703" cy="2021205"/>
            </a:xfrm>
            <a:custGeom>
              <a:avLst/>
              <a:gdLst/>
              <a:ahLst/>
              <a:cxnLst/>
              <a:rect l="l" t="t" r="r" b="b"/>
              <a:pathLst>
                <a:path w="2953703" h="2021205">
                  <a:moveTo>
                    <a:pt x="0" y="0"/>
                  </a:moveTo>
                  <a:lnTo>
                    <a:pt x="2953703" y="202120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7800975" y="1915478"/>
              <a:ext cx="2953702" cy="2021205"/>
            </a:xfrm>
            <a:custGeom>
              <a:avLst/>
              <a:gdLst/>
              <a:ahLst/>
              <a:cxnLst/>
              <a:rect l="l" t="t" r="r" b="b"/>
              <a:pathLst>
                <a:path w="2953702" h="2021205">
                  <a:moveTo>
                    <a:pt x="0" y="0"/>
                  </a:moveTo>
                  <a:lnTo>
                    <a:pt x="2953702" y="202120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9278302" y="2011680"/>
              <a:ext cx="9525" cy="2194560"/>
            </a:xfrm>
            <a:custGeom>
              <a:avLst/>
              <a:gdLst/>
              <a:ahLst/>
              <a:cxnLst/>
              <a:rect l="l" t="t" r="r" b="b"/>
              <a:pathLst>
                <a:path w="9525" h="2194560">
                  <a:moveTo>
                    <a:pt x="0" y="0"/>
                  </a:moveTo>
                  <a:lnTo>
                    <a:pt x="0" y="219456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44048" y="17521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巨型机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44048" y="22702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大型机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44048" y="2788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中型机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44048" y="33066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小型机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44048" y="38247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微型机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9161" y="15559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价格（对数）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7374" y="43734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24439" y="43734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1885" y="31542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虚线为等性能线</a:t>
              </a:r>
            </a:p>
          </p:txBody>
        </p:sp>
      </p:grpSp>
      <p:grpSp>
        <p:nvGrpSpPr>
          <p:cNvPr id="48" name="c2-text-2"/>
          <p:cNvGrpSpPr/>
          <p:nvPr/>
        </p:nvGrpSpPr>
        <p:grpSpPr>
          <a:xfrm>
            <a:off x="6241923" y="4783931"/>
            <a:ext cx="5052314" cy="752284"/>
            <a:chOff x="6241923" y="4783931"/>
            <a:chExt cx="5052314" cy="752284"/>
          </a:xfrm>
        </p:grpSpPr>
        <p:sp>
          <p:nvSpPr>
            <p:cNvPr id="47" name="TextBox 47"/>
            <p:cNvSpPr txBox="1"/>
            <p:nvPr/>
          </p:nvSpPr>
          <p:spPr>
            <a:xfrm>
              <a:off x="6241923" y="4783931"/>
              <a:ext cx="5052314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最新的体系结构技术通常先用在巨型机和大型机上，随时间逐渐下移到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微型机。沿一条等性能线往右下走，同样的性能越来越便宜，所以今天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的微型机性能早已超过历史上的巨型机。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并行性：同时性与并发性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631632"/>
            <a:chOff x="533400" y="1524000"/>
            <a:chExt cx="5193982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977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 parallelism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计算机系统在同一时刻或者同一时间间隔内进行多种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运算或操作。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只要在时间上相互重叠，就存在并行性。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5780" y="3370898"/>
            <a:ext cx="5201602" cy="1297304"/>
            <a:chOff x="525780" y="3370898"/>
            <a:chExt cx="5201602" cy="1297304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3370898"/>
              <a:ext cx="122539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同时性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simultaneity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4070" y="337089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两个或两个以上的事件在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同一时刻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9728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092892"/>
              <a:ext cx="122539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并发性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concurrency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4070" y="4092892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两个或两个以上的事件在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同一时间间隔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799648"/>
            <a:ext cx="5193982" cy="1362075"/>
            <a:chOff x="533400" y="4799648"/>
            <a:chExt cx="5193982" cy="1362075"/>
          </a:xfrm>
        </p:grpSpPr>
        <p:sp>
          <p:nvSpPr>
            <p:cNvPr id="21" name="Rectangle 21"/>
            <p:cNvSpPr/>
            <p:nvPr/>
          </p:nvSpPr>
          <p:spPr>
            <a:xfrm>
              <a:off x="533400" y="4799648"/>
              <a:ext cx="5193982" cy="1362075"/>
            </a:xfrm>
            <a:prstGeom prst="roundRect">
              <a:avLst>
                <a:gd name="adj" fmla="val 8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5376981"/>
              <a:ext cx="224134" cy="192560"/>
              <a:chOff x="726129" y="537698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4473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53769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5251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23779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同时性一定是并发性，并发性不一定是同时性。单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核分时运行两个程序只有并发性。</a:t>
              </a:r>
            </a:p>
          </p:txBody>
        </p:sp>
      </p:grpSp>
      <p:grpSp>
        <p:nvGrpSpPr>
          <p:cNvPr id="67" name="c2-cells-1"/>
          <p:cNvGrpSpPr/>
          <p:nvPr/>
        </p:nvGrpSpPr>
        <p:grpSpPr>
          <a:xfrm>
            <a:off x="6025706" y="1524000"/>
            <a:ext cx="5632894" cy="1600200"/>
            <a:chOff x="6025706" y="1524000"/>
            <a:chExt cx="5632894" cy="1600200"/>
          </a:xfrm>
        </p:grpSpPr>
        <p:sp>
          <p:nvSpPr>
            <p:cNvPr id="28" name="TextBox 28"/>
            <p:cNvSpPr txBox="1"/>
            <p:nvPr/>
          </p:nvSpPr>
          <p:spPr>
            <a:xfrm>
              <a:off x="6025706" y="1654016"/>
              <a:ext cx="72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双核·核1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40855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2809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43812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85766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46770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88724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249728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91681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052685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94639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855642" y="15240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197596" y="1654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5706" y="2244566"/>
              <a:ext cx="72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双核·核2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40855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2809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43812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85766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46770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88724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49728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91681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052685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394639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855642" y="211455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197596" y="22445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5706" y="2835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单核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40855" y="27051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82809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43812" y="270510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85766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446770" y="27051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788724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49728" y="270510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91681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052685" y="2705100"/>
              <a:ext cx="80295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394639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855642" y="2705100"/>
              <a:ext cx="8029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197596" y="28351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84" name="c2-table-2"/>
          <p:cNvGrpSpPr/>
          <p:nvPr/>
        </p:nvGrpSpPr>
        <p:grpSpPr>
          <a:xfrm>
            <a:off x="6026467" y="3314700"/>
            <a:ext cx="5632133" cy="1642587"/>
            <a:chOff x="6026467" y="3314700"/>
            <a:chExt cx="5632133" cy="1642587"/>
          </a:xfrm>
        </p:grpSpPr>
        <p:sp>
          <p:nvSpPr>
            <p:cNvPr id="68" name="Rectangle 68"/>
            <p:cNvSpPr/>
            <p:nvPr/>
          </p:nvSpPr>
          <p:spPr>
            <a:xfrm>
              <a:off x="6032182" y="33147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86917" y="3450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74365" y="3450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53573" y="3450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40006" y="38990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双核各跑一个程序（上两行）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46679" y="38990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25886" y="38990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32182" y="42071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32182" y="42119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140006" y="43476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单核轮流跑两个程序（第三行）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46679" y="43476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25886" y="43476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331470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094470" y="33147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374630" y="33147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026467" y="4737259"/>
              <a:ext cx="3059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每格是一个时间片，橙色格表示程序 A 在运行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6032182" y="5103495"/>
            <a:ext cx="5626418" cy="1059180"/>
            <a:chOff x="6032182" y="5103495"/>
            <a:chExt cx="5626418" cy="1059180"/>
          </a:xfrm>
        </p:grpSpPr>
        <p:sp>
          <p:nvSpPr>
            <p:cNvPr id="85" name="Rectangle 85"/>
            <p:cNvSpPr/>
            <p:nvPr/>
          </p:nvSpPr>
          <p:spPr>
            <a:xfrm>
              <a:off x="6032182" y="510349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236970" y="5533073"/>
              <a:ext cx="200026" cy="200025"/>
              <a:chOff x="6236970" y="5533073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236970" y="55330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276709" y="55775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311424" y="56886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538912" y="5252085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多核机器上可运行的线程数多于核数时，两者同时存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在：不同核上的线程同时执行，同一核上的线程交替执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并行性等级（一）：从处理数据的角度看一次处理几位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470786"/>
            <a:chOff x="533400" y="1524000"/>
            <a:chExt cx="6059805" cy="247078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3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93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1862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字串位串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4723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一个字的一位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82706" y="21083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无，最基本的串行方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字串位并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4723" y="27836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一个字的全部位，字与字之间串行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82706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开始出现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字并位串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4723" y="323230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许多字的同一位（称为位片）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82706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全并行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4723" y="36809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许多字的全部位或部分位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82706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6213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7012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table-2"/>
          <p:cNvGrpSpPr/>
          <p:nvPr/>
        </p:nvGrpSpPr>
        <p:grpSpPr>
          <a:xfrm>
            <a:off x="527685" y="4185285"/>
            <a:ext cx="6065520" cy="1642587"/>
            <a:chOff x="527685" y="4185285"/>
            <a:chExt cx="6065520" cy="1642587"/>
          </a:xfrm>
        </p:grpSpPr>
        <p:sp>
          <p:nvSpPr>
            <p:cNvPr id="32" name="Rectangle 32"/>
            <p:cNvSpPr/>
            <p:nvPr/>
          </p:nvSpPr>
          <p:spPr>
            <a:xfrm>
              <a:off x="533400" y="4185285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8180" y="4321016"/>
              <a:ext cx="1326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 m 个 n 位字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61628" y="43210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字串位串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87483" y="43210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字串位并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14291" y="43210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字并位串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46293" y="4321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全并行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223" y="4769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每步处理的位数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58869" y="47696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84724" y="47696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94300" y="4769644"/>
              <a:ext cx="142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93679" y="4769644"/>
              <a:ext cx="435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× 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0777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08254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5218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需要的步数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95171" y="5218271"/>
              <a:ext cx="435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× 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67493" y="5218271"/>
              <a:ext cx="142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11532" y="5218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7377" y="5218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185285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244090" y="41852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370898" y="41852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497705" y="41852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24512" y="41852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685" y="56078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从上到下并行性等级从低到高</a:t>
              </a:r>
            </a:p>
          </p:txBody>
        </p:sp>
      </p:grpSp>
      <p:grpSp>
        <p:nvGrpSpPr>
          <p:cNvPr id="84" name="c2-cells-1"/>
          <p:cNvGrpSpPr/>
          <p:nvPr/>
        </p:nvGrpSpPr>
        <p:grpSpPr>
          <a:xfrm>
            <a:off x="6892290" y="1524000"/>
            <a:ext cx="4766310" cy="1600200"/>
            <a:chOff x="6892290" y="1524000"/>
            <a:chExt cx="4766310" cy="1600200"/>
          </a:xfrm>
        </p:grpSpPr>
        <p:sp>
          <p:nvSpPr>
            <p:cNvPr id="57" name="TextBox 57"/>
            <p:cNvSpPr txBox="1"/>
            <p:nvPr/>
          </p:nvSpPr>
          <p:spPr>
            <a:xfrm>
              <a:off x="6892290" y="1663541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255192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805738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56282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906828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457372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006965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557510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108055" y="1524000"/>
              <a:ext cx="55054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92290" y="2254091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255192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805738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56282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906828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457372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006965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557510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1108055" y="211455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92290" y="2844641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55192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805738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356282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906828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457372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006965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557510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1108055" y="2705100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86" name="c2-text-2"/>
          <p:cNvGrpSpPr/>
          <p:nvPr/>
        </p:nvGrpSpPr>
        <p:grpSpPr>
          <a:xfrm>
            <a:off x="6891528" y="3336131"/>
            <a:ext cx="2718278" cy="249364"/>
            <a:chOff x="6891528" y="3336131"/>
            <a:chExt cx="2718278" cy="249364"/>
          </a:xfrm>
        </p:grpSpPr>
        <p:sp>
          <p:nvSpPr>
            <p:cNvPr id="85" name="TextBox 85"/>
            <p:cNvSpPr txBox="1"/>
            <p:nvPr/>
          </p:nvSpPr>
          <p:spPr>
            <a:xfrm>
              <a:off x="6891528" y="3336131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字串位并：一步处理字1的全部 8 位</a:t>
              </a:r>
            </a:p>
          </p:txBody>
        </p:sp>
      </p:grpSp>
      <p:grpSp>
        <p:nvGrpSpPr>
          <p:cNvPr id="114" name="c2-cells-3"/>
          <p:cNvGrpSpPr/>
          <p:nvPr/>
        </p:nvGrpSpPr>
        <p:grpSpPr>
          <a:xfrm>
            <a:off x="6892290" y="3725228"/>
            <a:ext cx="4766310" cy="1600200"/>
            <a:chOff x="6892290" y="3725228"/>
            <a:chExt cx="4766310" cy="1600200"/>
          </a:xfrm>
        </p:grpSpPr>
        <p:sp>
          <p:nvSpPr>
            <p:cNvPr id="87" name="TextBox 87"/>
            <p:cNvSpPr txBox="1"/>
            <p:nvPr/>
          </p:nvSpPr>
          <p:spPr>
            <a:xfrm>
              <a:off x="6892290" y="38647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255192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805738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8356282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8906828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9457372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006965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57510" y="37252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11108055" y="3725228"/>
              <a:ext cx="55054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92290" y="445531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255192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805738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8356282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906828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9457372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006965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0557510" y="431577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1108055" y="4315778"/>
              <a:ext cx="55054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892290" y="50458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字3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255192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805738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356282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906828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9457372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006965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557510" y="4906328"/>
              <a:ext cx="55054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1108055" y="4906328"/>
              <a:ext cx="55054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116" name="c2-text-4"/>
          <p:cNvGrpSpPr/>
          <p:nvPr/>
        </p:nvGrpSpPr>
        <p:grpSpPr>
          <a:xfrm>
            <a:off x="6891528" y="5537359"/>
            <a:ext cx="3803853" cy="249364"/>
            <a:chOff x="6891528" y="5537359"/>
            <a:chExt cx="3803853" cy="249364"/>
          </a:xfrm>
        </p:grpSpPr>
        <p:sp>
          <p:nvSpPr>
            <p:cNvPr id="115" name="TextBox 115"/>
            <p:cNvSpPr txBox="1"/>
            <p:nvPr/>
          </p:nvSpPr>
          <p:spPr>
            <a:xfrm>
              <a:off x="6891528" y="55373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字并位串：一步处理三个字的同一位（一个位片）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并行性等级（二）：从执行程序的角度看并行的单位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2907982"/>
            <a:chOff x="533400" y="1524000"/>
            <a:chExt cx="11125200" cy="29079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3556" y="16516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等级（从低到高）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16299" y="16516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并行执行的是什么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5218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调度单位与例子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6896" y="1651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本课程在哪讲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0964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指令内部并行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0194" y="209645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单条指令中各微操作之间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7754" y="20964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由硬件在一条指令内部完成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77247" y="209645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5412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0194" y="25412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两条或两条以上指令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7754" y="25412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流水线、超标量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77247" y="2541270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第10章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310610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线程级并行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0194" y="310610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两个或两个以上线程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7754" y="2986088"/>
              <a:ext cx="30998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通常以一个进程派生的多个线程为调度单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77247" y="3106102"/>
              <a:ext cx="1224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 OpenMP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375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42348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36709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任务级或过程级并行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0194" y="36709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两个或两个以上过程或任务（程序段）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7754" y="367093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以子程序或进程为调度单元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7247" y="3670935"/>
              <a:ext cx="841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第3章 MPI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82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41148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作业或程序级并行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0194" y="41148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两个或两个以上作业或程序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7754" y="41148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多道程序、集群作业调度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77247" y="4114800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第5、6章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29079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976562" y="1524000"/>
              <a:ext cx="9525" cy="29079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14122" y="1524000"/>
              <a:ext cx="9525" cy="29079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73615" y="1524000"/>
              <a:ext cx="9525" cy="29079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607242"/>
            <a:ext cx="11125200" cy="1095375"/>
            <a:chOff x="533400" y="4607242"/>
            <a:chExt cx="11125200" cy="1095375"/>
          </a:xfrm>
        </p:grpSpPr>
        <p:sp>
          <p:nvSpPr>
            <p:cNvPr id="43" name="Rectangle 43"/>
            <p:cNvSpPr/>
            <p:nvPr/>
          </p:nvSpPr>
          <p:spPr>
            <a:xfrm>
              <a:off x="533400" y="4607242"/>
              <a:ext cx="11125200" cy="1095375"/>
            </a:xfrm>
            <a:prstGeom prst="roundRect">
              <a:avLst>
                <a:gd name="adj" fmla="val 104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054918"/>
              <a:ext cx="200026" cy="200025"/>
              <a:chOff x="738188" y="505491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0549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0993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52104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060633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越往下并行单位越大（粒度越粗），单位之间交互越少，越适合放到松散耦合的多台机器上；越往上越依赖硬件在芯片内部完成。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811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数据级并行（SIMD、GPU）不在这张表里，它是从处理数据的角度划分的，见上一页，第4章专门讲。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并行计算按开销分类，以及适合并行的问题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4766310" cy="2442687"/>
            <a:chOff x="527685" y="1524000"/>
            <a:chExt cx="4766310" cy="24426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13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274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主要开销在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93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计算密集型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7496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208502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大型科学工程计算、数值模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476059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8355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数据密集型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7496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09544" y="272891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数据仓库、数据挖掘、计算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3728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通信密集型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7496" y="33728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进程间通信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9544" y="337280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协同计算、流媒体服务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760595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57388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99435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746659"/>
              <a:ext cx="4185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英文依次为 Computing-、Data-、Communication-Intensive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108132"/>
            <a:ext cx="4760595" cy="1203960"/>
            <a:chOff x="533400" y="4108132"/>
            <a:chExt cx="4760595" cy="1203960"/>
          </a:xfrm>
        </p:grpSpPr>
        <p:sp>
          <p:nvSpPr>
            <p:cNvPr id="28" name="Rectangle 28"/>
            <p:cNvSpPr/>
            <p:nvPr/>
          </p:nvSpPr>
          <p:spPr>
            <a:xfrm>
              <a:off x="533400" y="4108132"/>
              <a:ext cx="4760595" cy="1203960"/>
            </a:xfrm>
            <a:prstGeom prst="roundRect">
              <a:avLst>
                <a:gd name="adj" fmla="val 949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610100"/>
              <a:ext cx="200026" cy="200025"/>
              <a:chOff x="738188" y="461010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6101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46545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47656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4347686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分类决定优化方向：计算密集型加处理器，数据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密集型改善存储层次，通信密集型减少和隐藏通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信。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593080" y="1524000"/>
            <a:ext cx="6065520" cy="3832384"/>
            <a:chOff x="5593080" y="1524000"/>
            <a:chExt cx="6065520" cy="3832384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2176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问题类型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167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典型应用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02998" y="21283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高结构化的数值计算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7111" y="212836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气象模型、流体动力学、有限元分析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457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462212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2998" y="259699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非结构化的数值计算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27111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蒙特卡洛模拟、稀疏矩阵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29260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2998" y="30656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实时多因素问题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27111" y="30656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语音识别、图像处理、计算机视觉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3956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8795" y="3400425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2998" y="3535204"/>
              <a:ext cx="205412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大存储容量和 I/O 密集的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7111" y="3661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数据库系统、事务处理系统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41176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2998" y="425719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图形学和设计问题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27111" y="425719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计算机辅助设计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98795" y="45862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598795" y="4591050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02998" y="47267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人工智能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27111" y="472678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面向知识的系统、推理系统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98795" y="1524000"/>
              <a:ext cx="6059805" cy="3536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18145" y="1524000"/>
              <a:ext cx="9525" cy="3536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93080" y="51363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并行计算系统结构的应用领域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2" name="Rectangle 6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判断一个应用属于哪一类，看它的时间主要花在算、取数据还是等通信上。同一个应用换了数据规模或机器，所属类型也可能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提高并行性的三个基本思想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484120"/>
            <a:chOff x="533400" y="1524000"/>
            <a:chExt cx="11125200" cy="2484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34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937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引入的因素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0933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031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时间重叠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0302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77640" y="2150745"/>
              <a:ext cx="439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让多个处理过程在时间上相互错开，轮流重叠地使用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同一套硬件的各个部分，加快硬件周转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72538" y="22840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多部件流水线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资源重复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0302" y="3038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77640" y="30384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重复设置硬件资源，以数量取胜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72538" y="2905125"/>
              <a:ext cx="2491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多核、阵列处理机、大模型训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练用的 GPU 集群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659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资源共享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20302" y="36595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7640" y="36595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多个任务按一定时间顺序轮流使用同一套硬件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2538" y="36595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分时系统、云计算中的虚拟机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08860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66198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61095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4198620"/>
            <a:ext cx="11125200" cy="2164080"/>
            <a:chOff x="533400" y="4198620"/>
            <a:chExt cx="11125200" cy="2164080"/>
          </a:xfrm>
        </p:grpSpPr>
        <p:sp>
          <p:nvSpPr>
            <p:cNvPr id="32" name="Rectangle 32"/>
            <p:cNvSpPr/>
            <p:nvPr/>
          </p:nvSpPr>
          <p:spPr>
            <a:xfrm>
              <a:off x="533400" y="4198620"/>
              <a:ext cx="5314950" cy="2164080"/>
            </a:xfrm>
            <a:prstGeom prst="roundRect">
              <a:avLst>
                <a:gd name="adj" fmla="val 61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331970"/>
              <a:ext cx="47625" cy="18973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430" y="44329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时间重叠与资源重复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8501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7872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都是硬件手段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51854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51225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时间重叠不增加部件数，靠部件分工和错开时间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55206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5457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资源重复靠增加部件数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43650" y="4198620"/>
              <a:ext cx="5314950" cy="2164080"/>
            </a:xfrm>
            <a:prstGeom prst="roundRect">
              <a:avLst>
                <a:gd name="adj" fmla="val 61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53175" y="4331970"/>
              <a:ext cx="47625" cy="18973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3680" y="44329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资源共享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97015" y="48501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5130" y="47872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软件手段，硬件只有一套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97015" y="51854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5130" y="51225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多个任务分时轮流使用，得到的是并发性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97015" y="55206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55130" y="54578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每个用户都感觉自己独占一台机器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95975" y="50806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49315" y="52149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单处理机中的时间重叠：部件专用化加流水线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2341245"/>
            <a:chOff x="533400" y="1524000"/>
            <a:chExt cx="4977765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7698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3300" y="176926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单处理机发展中起主导作用的是时间重叠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基础：部件功能专用化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46507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把一件工作按功能分割为若干相互联系的部分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8003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把每一部分指定给专门的部件完成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1222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13563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把各部分的执行过程在时间上重叠起来，所有部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件依次分工完成一组共同的工作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1"/>
              <p:cNvSpPr txBox="1">
                <a:spLocks noGrp="1"/>
              </p:cNvSpPr>
              <p:nvPr/>
            </p:nvSpPr>
            <p:spPr>
              <a:xfrm>
                <a:off x="533400" y="4055745"/>
                <a:ext cx="497776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4" name="c1-text-3"/>
          <p:cNvGrpSpPr/>
          <p:nvPr/>
        </p:nvGrpSpPr>
        <p:grpSpPr>
          <a:xfrm>
            <a:off x="526923" y="4686776"/>
            <a:ext cx="4767834" cy="500824"/>
            <a:chOff x="526923" y="4686776"/>
            <a:chExt cx="4767834" cy="50082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4686776"/>
              <a:ext cx="476783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段流水线、每段 Δt，连续处理 n 个任务所需时间。不流水时要 k</a:t>
              </a:r>
            </a:p>
            <a:p>
              <a:pPr algn="l" marL="138176" indent="-138176">
                <a:lnSpc>
                  <a:spcPts val="1980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n·Δt。</a:t>
              </a:r>
            </a:p>
          </p:txBody>
        </p:sp>
      </p:grpSp>
      <p:grpSp>
        <p:nvGrpSpPr>
          <p:cNvPr id="81" name="c2-cells-1"/>
          <p:cNvGrpSpPr/>
          <p:nvPr/>
        </p:nvGrpSpPr>
        <p:grpSpPr>
          <a:xfrm>
            <a:off x="5810250" y="1524000"/>
            <a:ext cx="5848350" cy="2190750"/>
            <a:chOff x="5810250" y="1524000"/>
            <a:chExt cx="5848350" cy="2190750"/>
          </a:xfrm>
        </p:grpSpPr>
        <p:sp>
          <p:nvSpPr>
            <p:cNvPr id="25" name="TextBox 25"/>
            <p:cNvSpPr txBox="1"/>
            <p:nvPr/>
          </p:nvSpPr>
          <p:spPr>
            <a:xfrm>
              <a:off x="5810250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取指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33160" y="15240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299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11340" y="15240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0117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89520" y="15240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7935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67700" y="15240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5753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45880" y="15240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3571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24060" y="15240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302240" y="15240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980420" y="15240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10250" y="2254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译码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33160" y="21145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11340" y="21145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117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89520" y="21145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7935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267700" y="21145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5753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45880" y="21145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3571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624060" y="21145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91389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302240" y="21145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980420" y="21145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10250" y="28446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33160" y="27051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11340" y="27051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89520" y="27051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79359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267700" y="27051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57539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945880" y="27051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35719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624060" y="27051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13899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302240" y="270510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2079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980420" y="270510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10250" y="3435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33160" y="32956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11340" y="32956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589520" y="3295650"/>
              <a:ext cx="6781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267700" y="32956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57539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945880" y="32956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35719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624060" y="32956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913899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302240" y="32956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592079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980420" y="3295650"/>
              <a:ext cx="6781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270259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3" name="c2-text-2"/>
          <p:cNvGrpSpPr/>
          <p:nvPr/>
        </p:nvGrpSpPr>
        <p:grpSpPr>
          <a:xfrm>
            <a:off x="5809488" y="3926681"/>
            <a:ext cx="4088171" cy="249364"/>
            <a:chOff x="5809488" y="3926681"/>
            <a:chExt cx="4088171" cy="249364"/>
          </a:xfrm>
        </p:grpSpPr>
        <p:sp>
          <p:nvSpPr>
            <p:cNvPr id="82" name="TextBox 82"/>
            <p:cNvSpPr txBox="1"/>
            <p:nvPr/>
          </p:nvSpPr>
          <p:spPr>
            <a:xfrm>
              <a:off x="5809488" y="3926681"/>
              <a:ext cx="408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时空图：横轴是时钟拍（1–8），格中数字是指令编号</a:t>
              </a:r>
            </a:p>
          </p:txBody>
        </p:sp>
      </p:grpSp>
      <p:grpSp>
        <p:nvGrpSpPr>
          <p:cNvPr id="107" name="c2-table-3"/>
          <p:cNvGrpSpPr/>
          <p:nvPr/>
        </p:nvGrpSpPr>
        <p:grpSpPr>
          <a:xfrm>
            <a:off x="5810250" y="4315778"/>
            <a:ext cx="5848350" cy="2091214"/>
            <a:chOff x="5810250" y="4315778"/>
            <a:chExt cx="5848350" cy="2091214"/>
          </a:xfrm>
        </p:grpSpPr>
        <p:sp>
          <p:nvSpPr>
            <p:cNvPr id="84" name="Rectangle 84"/>
            <p:cNvSpPr/>
            <p:nvPr/>
          </p:nvSpPr>
          <p:spPr>
            <a:xfrm>
              <a:off x="5815965" y="4315778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260361" y="4451509"/>
              <a:ext cx="646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4 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92238" y="44515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不流水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330017" y="4451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792625" y="44515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923788" y="490013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条指令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43932" y="490013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拍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903541" y="4900136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+ 5 − 1 = 8 拍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908937" y="490013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815965" y="52092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815965" y="521398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923788" y="5348764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条指令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96545" y="534876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拍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248168" y="534876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 拍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861551" y="534876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3.88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815965" y="56578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923788" y="579739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∞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930476" y="579739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4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815965" y="4315778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346632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557260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10450830" y="43157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810250" y="6186964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指令越多，加速比越接近段数 k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单处理机中的资源重复与资源共享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951220" cy="2844165"/>
            <a:chOff x="533400" y="1524000"/>
            <a:chExt cx="5951220" cy="2844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资源重复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多体存储器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：几个存储体可同时访问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多操作部件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：通用部件分解成加法、乘法、除法、逻辑运算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等专用部件，同种部件也可设多个。只要所需部件空闲、操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作数已准备好，指令就能开始执行，这实现了指令级并行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阵列处理机（并行处理机）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：设置许多相同的处理单元，在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同一个控制器指挥下按同一条指令对向量或数组的各元素同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时做同一操作</a:t>
              </a:r>
            </a:p>
          </p:txBody>
        </p:sp>
      </p:grpSp>
      <p:grpSp>
        <p:nvGrpSpPr>
          <p:cNvPr id="36" name="c1-graph-2"/>
          <p:cNvGrpSpPr/>
          <p:nvPr/>
        </p:nvGrpSpPr>
        <p:grpSpPr>
          <a:xfrm>
            <a:off x="904875" y="5113020"/>
            <a:ext cx="5231129" cy="320421"/>
            <a:chOff x="904875" y="5113020"/>
            <a:chExt cx="5231129" cy="320421"/>
          </a:xfrm>
        </p:grpSpPr>
        <p:sp>
          <p:nvSpPr>
            <p:cNvPr id="21" name="Freeform 21"/>
            <p:cNvSpPr/>
            <p:nvPr/>
          </p:nvSpPr>
          <p:spPr>
            <a:xfrm>
              <a:off x="1590675" y="5273040"/>
              <a:ext cx="1101090" cy="9525"/>
            </a:xfrm>
            <a:custGeom>
              <a:avLst/>
              <a:gdLst/>
              <a:ahLst/>
              <a:cxnLst/>
              <a:rect l="l" t="t" r="r" b="b"/>
              <a:pathLst>
                <a:path w="1101090" h="9525">
                  <a:moveTo>
                    <a:pt x="0" y="0"/>
                  </a:moveTo>
                  <a:lnTo>
                    <a:pt x="11010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691765" y="5225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279458" y="5273040"/>
              <a:ext cx="578167" cy="9525"/>
            </a:xfrm>
            <a:custGeom>
              <a:avLst/>
              <a:gdLst/>
              <a:ahLst/>
              <a:cxnLst/>
              <a:rect l="l" t="t" r="r" b="b"/>
              <a:pathLst>
                <a:path w="578167" h="9525">
                  <a:moveTo>
                    <a:pt x="0" y="0"/>
                  </a:moveTo>
                  <a:lnTo>
                    <a:pt x="5781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4350068" y="5273040"/>
              <a:ext cx="1293495" cy="9525"/>
            </a:xfrm>
            <a:custGeom>
              <a:avLst/>
              <a:gdLst/>
              <a:ahLst/>
              <a:cxnLst/>
              <a:rect l="l" t="t" r="r" b="b"/>
              <a:pathLst>
                <a:path w="1293495" h="9525">
                  <a:moveTo>
                    <a:pt x="0" y="0"/>
                  </a:moveTo>
                  <a:lnTo>
                    <a:pt x="12934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4875" y="511302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87015" y="511302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57625" y="511302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43562" y="511302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9363" y="51987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78806" y="51987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50368" y="51987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4073" y="51987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35353" y="51987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39278" y="5180648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854073" y="521446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同一条指令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789420" y="1524000"/>
            <a:ext cx="4869180" cy="2223135"/>
            <a:chOff x="6789420" y="1524000"/>
            <a:chExt cx="4869180" cy="2223135"/>
          </a:xfrm>
        </p:grpSpPr>
        <p:sp>
          <p:nvSpPr>
            <p:cNvPr id="37" name="Rectangle 37"/>
            <p:cNvSpPr/>
            <p:nvPr/>
          </p:nvSpPr>
          <p:spPr>
            <a:xfrm>
              <a:off x="6789420" y="1524000"/>
              <a:ext cx="486918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3707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9772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资源共享（并发性）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94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在单处理机中，资源共享实质上是用单处理机模拟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多处理机的功能，形成虚拟机的概念。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9450" y="273177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分时系统中，一台物理机以分时方式模拟多台虚拟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机，每个虚拟机的用户都感觉自己独占一台处理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789420" y="3937635"/>
            <a:ext cx="4869180" cy="1795462"/>
            <a:chOff x="6789420" y="3937635"/>
            <a:chExt cx="4869180" cy="1795462"/>
          </a:xfrm>
        </p:grpSpPr>
        <p:sp>
          <p:nvSpPr>
            <p:cNvPr id="44" name="Rectangle 44"/>
            <p:cNvSpPr/>
            <p:nvPr/>
          </p:nvSpPr>
          <p:spPr>
            <a:xfrm>
              <a:off x="6789420" y="3937635"/>
              <a:ext cx="486918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41197" y="40733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8846" y="407336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单处理机中的体现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7243" y="45219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时间重叠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58378" y="452199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指令流水线、部件流水线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48301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89420" y="483489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7243" y="49706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资源重复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58378" y="497062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多体存储器、多操作部件、阵列处理机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89420" y="527970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97243" y="54192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资源共享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58378" y="541924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分时系统、虚拟机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3937635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245792" y="39376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多机系统：耦合度决定机器之间在哪一级交互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612582"/>
            <a:chOff x="533400" y="1524000"/>
            <a:chExt cx="6059805" cy="1612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耦合度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反映多机系统中各机器之间物理连接的紧密程度和交互作用能力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的强弱。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53719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软件设计讲“低耦合、高内聚”，这里借同一个词描述硬件之间的连接。</a:t>
              </a:r>
            </a:p>
          </p:txBody>
        </p:sp>
      </p:grpSp>
      <p:grpSp>
        <p:nvGrpSpPr>
          <p:cNvPr id="34" name="c1-compare-2"/>
          <p:cNvGrpSpPr/>
          <p:nvPr/>
        </p:nvGrpSpPr>
        <p:grpSpPr>
          <a:xfrm>
            <a:off x="533400" y="3327082"/>
            <a:ext cx="6059804" cy="2274570"/>
            <a:chOff x="533400" y="3327082"/>
            <a:chExt cx="6059804" cy="2274570"/>
          </a:xfrm>
        </p:grpSpPr>
        <p:sp>
          <p:nvSpPr>
            <p:cNvPr id="14" name="Rectangle 14"/>
            <p:cNvSpPr/>
            <p:nvPr/>
          </p:nvSpPr>
          <p:spPr>
            <a:xfrm>
              <a:off x="533400" y="3327082"/>
              <a:ext cx="2820352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0432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3430" y="356139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紧密耦合（直接耦合）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97859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15728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通过总线或高速开关互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连，连接频带高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59962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5367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可以共享主存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93490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87203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机器之间在变量一级交互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72852" y="3327082"/>
              <a:ext cx="2820352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82378" y="3460432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12882" y="356139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松散耦合（间接耦合）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026218" y="397859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4332" y="39157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通过通道或通信线路互连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026218" y="431387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84332" y="4251008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可以共享外存设备（磁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盘、磁带等）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026218" y="493490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84332" y="4872038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机器之间在文件或数据集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一级交互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401378" y="430244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71718" y="43995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898005" y="1524000"/>
            <a:ext cx="4760595" cy="2475548"/>
            <a:chOff x="6898005" y="1524000"/>
            <a:chExt cx="4760595" cy="2475548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0185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多机系统的目标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138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5828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3626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结构鲁棒性（多活实例）、数据可靠（热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备与副本）、可重构系统（多点协同）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647950"/>
              <a:ext cx="476059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5828" y="30103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3626" y="2783681"/>
              <a:ext cx="291465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负载均衡（反向代理）、弹性计算（Web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Service）、低延迟（消息队列、分布式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35461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5828" y="36856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33626" y="368569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数据加密、身份认证、权限控制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2104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6898005" y="4190048"/>
            <a:ext cx="4760595" cy="1411605"/>
            <a:chOff x="6898005" y="4190048"/>
            <a:chExt cx="4760595" cy="1411605"/>
          </a:xfrm>
        </p:grpSpPr>
        <p:sp>
          <p:nvSpPr>
            <p:cNvPr id="50" name="Rectangle 50"/>
            <p:cNvSpPr/>
            <p:nvPr/>
          </p:nvSpPr>
          <p:spPr>
            <a:xfrm>
              <a:off x="6898005" y="4190048"/>
              <a:ext cx="4760595" cy="1411605"/>
            </a:xfrm>
            <a:prstGeom prst="roundRect">
              <a:avLst>
                <a:gd name="adj" fmla="val 809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02793" y="4795838"/>
              <a:ext cx="200026" cy="200025"/>
              <a:chOff x="7102793" y="479583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102793" y="47958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42531" y="48402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77247" y="49514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04735" y="4514850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紧密耦合对应线程级并行（共享变量），松散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耦合对应进程级并行（传递消息），这正是第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2章和第3章的分工。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几种“计算”各自强调什么，什么时候值得并行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4983480" cy="3306604"/>
            <a:chOff x="527685" y="1524000"/>
            <a:chExt cx="4983480" cy="3306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0788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967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22207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 Parallel Computing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2299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3211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高性能计算 High Performance Computing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299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2069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超级计算 Super Computing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22992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2704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 Distributed Computing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2992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806190"/>
              <a:ext cx="193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网格计算 Grid Computing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22992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005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0527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235768"/>
              <a:ext cx="1864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 Cloud Computing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2992" y="42357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497776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1288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461057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并行计算就是在并行计算机上所做的计算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4972050"/>
            <a:ext cx="4977765" cy="1274445"/>
            <a:chOff x="533400" y="4972050"/>
            <a:chExt cx="4977765" cy="1274445"/>
          </a:xfrm>
        </p:grpSpPr>
        <p:sp>
          <p:nvSpPr>
            <p:cNvPr id="34" name="Rectangle 34"/>
            <p:cNvSpPr/>
            <p:nvPr/>
          </p:nvSpPr>
          <p:spPr>
            <a:xfrm>
              <a:off x="533400" y="4972050"/>
              <a:ext cx="497776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10540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5335" y="517588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9940" y="52116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并行计算研究什么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8096" y="554878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硬件结构、软件结构、交互时序、控制流程、时空复杂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5815965" y="1524000"/>
            <a:ext cx="5842635" cy="1643062"/>
            <a:chOff x="5815965" y="1524000"/>
            <a:chExt cx="5842635" cy="1643062"/>
          </a:xfrm>
        </p:grpSpPr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5490" y="1657350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57900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13653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用并行计算的三个条件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57900" y="20888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1624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7841" y="210073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计算任务能分成多个子任务，有助于同时求解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57900" y="240887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16245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7841" y="242077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同一时间有不同的执行部件可以同时执行多个子任务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57900" y="272891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16245" y="27682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7841" y="274081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多计算资源下解决问题的耗时少于单个计算资源下的耗时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5815965" y="3352800"/>
            <a:ext cx="5842635" cy="2893695"/>
            <a:chOff x="5815965" y="3352800"/>
            <a:chExt cx="5842635" cy="2893695"/>
          </a:xfrm>
        </p:grpSpPr>
        <p:sp>
          <p:nvSpPr>
            <p:cNvPr id="54" name="Rectangle 54"/>
            <p:cNvSpPr/>
            <p:nvPr/>
          </p:nvSpPr>
          <p:spPr>
            <a:xfrm>
              <a:off x="5815965" y="3352800"/>
              <a:ext cx="5842635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34861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57900" y="3556635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17200" y="359235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条件 3 不满足的例子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50661" y="3929539"/>
              <a:ext cx="51000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串行程序运行 10 s。分给 4 个核后每核只算 2.5 s，但核之间交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换数据和同步要 8 s。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50661" y="4521041"/>
              <a:ext cx="4000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并行版本总共 2.5 + 8 = 10.5 s，比串行还慢。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51804" y="4837748"/>
              <a:ext cx="5407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没有万灵丹，只有权衡（tradeoff）：拆得越细，通信和同步的开销越大。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并行计算的生存周期：从物理问题到最终结果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6750" y="1804988"/>
            <a:ext cx="6225540" cy="1928812"/>
            <a:chOff x="666750" y="1804988"/>
            <a:chExt cx="6225540" cy="1928812"/>
          </a:xfrm>
        </p:grpSpPr>
        <p:sp>
          <p:nvSpPr>
            <p:cNvPr id="7" name="Freeform 7"/>
            <p:cNvSpPr/>
            <p:nvPr/>
          </p:nvSpPr>
          <p:spPr>
            <a:xfrm>
              <a:off x="2023110" y="21193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85035" y="2066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46170" y="21193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08095" y="2066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269230" y="21193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31155" y="2066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214110" y="2338388"/>
              <a:ext cx="9525" cy="442912"/>
            </a:xfrm>
            <a:custGeom>
              <a:avLst/>
              <a:gdLst/>
              <a:ahLst/>
              <a:cxnLst/>
              <a:rect l="l" t="t" r="r" b="b"/>
              <a:pathLst>
                <a:path w="9525" h="442912">
                  <a:moveTo>
                    <a:pt x="0" y="0"/>
                  </a:moveTo>
                  <a:lnTo>
                    <a:pt x="0" y="4429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61722" y="2781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374005" y="33099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69230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750945" y="33099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46170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127885" y="33099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23110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1804988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89810" y="1804988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12870" y="1804988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535930" y="1900238"/>
              <a:ext cx="135636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35930" y="2886075"/>
              <a:ext cx="1356360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12870" y="2886075"/>
              <a:ext cx="1356360" cy="847725"/>
            </a:xfrm>
            <a:prstGeom prst="roundRect">
              <a:avLst>
                <a:gd name="adj" fmla="val 1123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9810" y="3090862"/>
              <a:ext cx="135636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" y="2995612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245" y="1920716"/>
              <a:ext cx="8013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物理模型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物理学家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7305" y="1920716"/>
              <a:ext cx="8013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数学模型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78173" y="192071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计算模型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离散化描述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89773" y="203025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并行算法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19953" y="3002756"/>
              <a:ext cx="98831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并行程序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按硬件结构编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6893" y="3002756"/>
              <a:ext cx="98831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性能优化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按程序行为规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43653" y="322087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⑦ 最终结果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0773" y="311134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交给数学家、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物理学家解释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33400" y="4095750"/>
            <a:ext cx="6492240" cy="2022158"/>
            <a:chOff x="533400" y="4095750"/>
            <a:chExt cx="6492240" cy="2022158"/>
          </a:xfrm>
        </p:grpSpPr>
        <p:sp>
          <p:nvSpPr>
            <p:cNvPr id="38" name="Rectangle 38"/>
            <p:cNvSpPr/>
            <p:nvPr/>
          </p:nvSpPr>
          <p:spPr>
            <a:xfrm>
              <a:off x="533400" y="409575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28064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4073" y="4231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由谁完成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73472" y="4231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本课程在哪讲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223" y="4680109"/>
              <a:ext cx="160360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计算模型、④ 并行算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89086" y="47934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计算机科学家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6916" y="4680109"/>
              <a:ext cx="2467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第8章并行计算模型、第9章算法设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2149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21970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535543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并行程序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89086" y="53554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计算机科学家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6916" y="5355431"/>
              <a:ext cx="2686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第2–4章 OpenMP、MPI、GPU 编程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6645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1223" y="580405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性能优化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89086" y="58040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计算机科学家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76916" y="5804059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第7章体系结构、1.4 节量化原理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095750"/>
              <a:ext cx="649224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476500" y="409575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164330" y="409575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rd-1"/>
          <p:cNvGrpSpPr/>
          <p:nvPr/>
        </p:nvGrpSpPr>
        <p:grpSpPr>
          <a:xfrm>
            <a:off x="7330440" y="1524000"/>
            <a:ext cx="4328160" cy="4593908"/>
            <a:chOff x="7330440" y="1524000"/>
            <a:chExt cx="4328160" cy="4593908"/>
          </a:xfrm>
        </p:grpSpPr>
        <p:sp>
          <p:nvSpPr>
            <p:cNvPr id="58" name="Rectangle 58"/>
            <p:cNvSpPr/>
            <p:nvPr/>
          </p:nvSpPr>
          <p:spPr>
            <a:xfrm>
              <a:off x="7330440" y="1524000"/>
              <a:ext cx="4328160" cy="4593908"/>
            </a:xfrm>
            <a:prstGeom prst="roundRect">
              <a:avLst>
                <a:gd name="adj" fmla="val 3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965" y="1657350"/>
              <a:ext cx="47625" cy="4327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7809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7320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36242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数值天气预报走一遍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78090" y="2116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3993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79080" y="212979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物理模型：大气的流动、热交换、水汽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578090" y="27374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3993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9080" y="27508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数学模型：一组偏微分方程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78090" y="30727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3993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79080" y="30861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计算模型：把大气划成三维网格，写成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差分方程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578090" y="36937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39939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9080" y="370713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并行算法：区域分解，每个进程算一块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网格，边界数据和邻居交换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578090" y="43148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39939" y="43571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79080" y="4328160"/>
              <a:ext cx="2100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并行程序：如 MPI 程序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578090" y="46501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639939" y="46923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79080" y="46634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性能优化：让边界通信和内部计算重叠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578090" y="49853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639939" y="50276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79080" y="49987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结果：预报图，交给气象学家解释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五种并行范式一览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868102"/>
            <a:chOff x="533400" y="1524000"/>
            <a:chExt cx="11125200" cy="3868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395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3862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2782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主要难点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75748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216468"/>
              <a:ext cx="1147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相并行 Phase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9607" y="2096452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程序由一系列超级步组成；每个超级步内各进程先独立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计算，再统一交互（通信、同步）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62572" y="2096452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计算与交互不能重叠，难以负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载平衡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32430" y="2216468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模型、迭代求解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89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53665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9013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分治并行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9607" y="2781300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前导进程切分负载交给子进程并行计算，后续进程归并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结果，自然导致递归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62572" y="29013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难以负载平衡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32430" y="2781300"/>
              <a:ext cx="192538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MapReduce、并行归并排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327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35861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流水线并行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9607" y="358616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各进程处在流水线的不同段，同时重叠地执行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2572" y="3466148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各段负载不同，产生流水线气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32430" y="358616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流水线并行训练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0176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22408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4271010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主-从并行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9607" y="4150995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主进程执行串行部分并分配任务，子进程完成后报告，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再领新任务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2572" y="42710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主进程易成为瓶颈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32430" y="42710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放牧式任务分发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02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49549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工作池并行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89607" y="4834890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空闲进程从池中取工作执行，执行中可能产生新工作放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回池中；池空则结束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62572" y="4834890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池是全局数据结构，访问要同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32430" y="49549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企业应用的消息队列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8681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085975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58940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28798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五种范式里有四种的难点都是负载平衡。选范式时先问：任务大小能否事先知道？知道就静态切分（相并行、分治），不知道就动态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领取（主从、工作池）。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相并行与分治并行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1307782" y="1602105"/>
            <a:ext cx="4371785" cy="2082546"/>
            <a:chOff x="1307782" y="1602105"/>
            <a:chExt cx="4371785" cy="2082546"/>
          </a:xfrm>
        </p:grpSpPr>
        <p:sp>
          <p:nvSpPr>
            <p:cNvPr id="7" name="Freeform 7"/>
            <p:cNvSpPr/>
            <p:nvPr/>
          </p:nvSpPr>
          <p:spPr>
            <a:xfrm>
              <a:off x="1697355" y="1833562"/>
              <a:ext cx="811530" cy="306705"/>
            </a:xfrm>
            <a:custGeom>
              <a:avLst/>
              <a:gdLst/>
              <a:ahLst/>
              <a:cxnLst/>
              <a:rect l="l" t="t" r="r" b="b"/>
              <a:pathLst>
                <a:path w="811530" h="306705">
                  <a:moveTo>
                    <a:pt x="0" y="0"/>
                  </a:moveTo>
                  <a:lnTo>
                    <a:pt x="811530" y="306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91740" y="2095500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78105"/>
                  </a:moveTo>
                  <a:lnTo>
                    <a:pt x="0" y="88583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66072" y="1922145"/>
              <a:ext cx="61912" cy="161925"/>
            </a:xfrm>
            <a:custGeom>
              <a:avLst/>
              <a:gdLst/>
              <a:ahLst/>
              <a:cxnLst/>
              <a:rect l="l" t="t" r="r" b="b"/>
              <a:pathLst>
                <a:path w="61912" h="161925">
                  <a:moveTo>
                    <a:pt x="0" y="0"/>
                  </a:moveTo>
                  <a:lnTo>
                    <a:pt x="61912" y="161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83218" y="2067878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8105" y="105727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35680" y="1833562"/>
              <a:ext cx="810578" cy="306705"/>
            </a:xfrm>
            <a:custGeom>
              <a:avLst/>
              <a:gdLst/>
              <a:ahLst/>
              <a:cxnLst/>
              <a:rect l="l" t="t" r="r" b="b"/>
              <a:pathLst>
                <a:path w="810578" h="306705">
                  <a:moveTo>
                    <a:pt x="810578" y="0"/>
                  </a:moveTo>
                  <a:lnTo>
                    <a:pt x="0" y="306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46145" y="2095500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78105"/>
                  </a:moveTo>
                  <a:lnTo>
                    <a:pt x="72390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85938" y="2493645"/>
              <a:ext cx="844867" cy="344805"/>
            </a:xfrm>
            <a:custGeom>
              <a:avLst/>
              <a:gdLst/>
              <a:ahLst/>
              <a:cxnLst/>
              <a:rect l="l" t="t" r="r" b="b"/>
              <a:pathLst>
                <a:path w="844867" h="344805">
                  <a:moveTo>
                    <a:pt x="844867" y="0"/>
                  </a:moveTo>
                  <a:lnTo>
                    <a:pt x="0" y="3448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97355" y="279463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0010"/>
                  </a:moveTo>
                  <a:lnTo>
                    <a:pt x="70485" y="0"/>
                  </a:lnTo>
                  <a:lnTo>
                    <a:pt x="10668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92742" y="2493645"/>
              <a:ext cx="73342" cy="209550"/>
            </a:xfrm>
            <a:custGeom>
              <a:avLst/>
              <a:gdLst/>
              <a:ahLst/>
              <a:cxnLst/>
              <a:rect l="l" t="t" r="r" b="b"/>
              <a:pathLst>
                <a:path w="73342" h="209550">
                  <a:moveTo>
                    <a:pt x="73342" y="0"/>
                  </a:moveTo>
                  <a:lnTo>
                    <a:pt x="0" y="2095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47975" y="2687002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13335" y="105727"/>
                  </a:moveTo>
                  <a:lnTo>
                    <a:pt x="0" y="0"/>
                  </a:lnTo>
                  <a:lnTo>
                    <a:pt x="90488" y="3143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13760" y="2493645"/>
              <a:ext cx="844868" cy="344805"/>
            </a:xfrm>
            <a:custGeom>
              <a:avLst/>
              <a:gdLst/>
              <a:ahLst/>
              <a:cxnLst/>
              <a:rect l="l" t="t" r="r" b="b"/>
              <a:pathLst>
                <a:path w="844868" h="344805">
                  <a:moveTo>
                    <a:pt x="0" y="0"/>
                  </a:moveTo>
                  <a:lnTo>
                    <a:pt x="844868" y="3448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40530" y="2794635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0010"/>
                  </a:moveTo>
                  <a:lnTo>
                    <a:pt x="0" y="88583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697355" y="3024188"/>
              <a:ext cx="811530" cy="306705"/>
            </a:xfrm>
            <a:custGeom>
              <a:avLst/>
              <a:gdLst/>
              <a:ahLst/>
              <a:cxnLst/>
              <a:rect l="l" t="t" r="r" b="b"/>
              <a:pathLst>
                <a:path w="811530" h="306705">
                  <a:moveTo>
                    <a:pt x="0" y="0"/>
                  </a:moveTo>
                  <a:lnTo>
                    <a:pt x="811530" y="306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491740" y="328612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78105"/>
                  </a:moveTo>
                  <a:lnTo>
                    <a:pt x="0" y="88583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66072" y="3112770"/>
              <a:ext cx="61912" cy="161925"/>
            </a:xfrm>
            <a:custGeom>
              <a:avLst/>
              <a:gdLst/>
              <a:ahLst/>
              <a:cxnLst/>
              <a:rect l="l" t="t" r="r" b="b"/>
              <a:pathLst>
                <a:path w="61912" h="161925">
                  <a:moveTo>
                    <a:pt x="0" y="0"/>
                  </a:moveTo>
                  <a:lnTo>
                    <a:pt x="61912" y="161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83218" y="3258502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8105" y="105727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535680" y="3024188"/>
              <a:ext cx="810578" cy="306705"/>
            </a:xfrm>
            <a:custGeom>
              <a:avLst/>
              <a:gdLst/>
              <a:ahLst/>
              <a:cxnLst/>
              <a:rect l="l" t="t" r="r" b="b"/>
              <a:pathLst>
                <a:path w="810578" h="306705">
                  <a:moveTo>
                    <a:pt x="810578" y="0"/>
                  </a:moveTo>
                  <a:lnTo>
                    <a:pt x="0" y="306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446145" y="328612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78105"/>
                  </a:moveTo>
                  <a:lnTo>
                    <a:pt x="72390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16355" y="160210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15565" y="160210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46258" y="160210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07782" y="2173605"/>
              <a:ext cx="3429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16355" y="279273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15565" y="279273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6258" y="279273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07782" y="3364230"/>
              <a:ext cx="3429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51473" y="16878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0683" y="16878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1375" y="16878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89239" y="225933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交互（通信、同步）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51473" y="28784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50683" y="28784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1375" y="28784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89239" y="344995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交互（通信、同步）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18193" y="16878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8193" y="28784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03206" y="191023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超级步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03206" y="310086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超级步 2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4095750"/>
            <a:ext cx="5410200" cy="1887855"/>
            <a:chOff x="533400" y="4095750"/>
            <a:chExt cx="5410200" cy="1887855"/>
          </a:xfrm>
        </p:grpSpPr>
        <p:sp>
          <p:nvSpPr>
            <p:cNvPr id="46" name="Rectangle 46"/>
            <p:cNvSpPr/>
            <p:nvPr/>
          </p:nvSpPr>
          <p:spPr>
            <a:xfrm>
              <a:off x="533400" y="409575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22910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1050" y="4305300"/>
              <a:ext cx="168211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1310" y="4341019"/>
              <a:ext cx="1581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相并行 Phase Parallel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3430" y="46824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也称松散同步并行。优点是方便查错和性能分析；缺点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是计算阶段和交互阶段不能重叠，最慢的进程决定每个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超级步的长度，难以维持负载平衡。</a:t>
              </a:r>
            </a:p>
          </p:txBody>
        </p:sp>
      </p:grpSp>
      <p:grpSp>
        <p:nvGrpSpPr>
          <p:cNvPr id="72" name="c2-tree-1"/>
          <p:cNvGrpSpPr/>
          <p:nvPr/>
        </p:nvGrpSpPr>
        <p:grpSpPr>
          <a:xfrm>
            <a:off x="6715125" y="1692592"/>
            <a:ext cx="4476750" cy="2025016"/>
            <a:chOff x="6715125" y="1692592"/>
            <a:chExt cx="4476750" cy="2025016"/>
          </a:xfrm>
        </p:grpSpPr>
        <p:sp>
          <p:nvSpPr>
            <p:cNvPr id="52" name="Freeform 52"/>
            <p:cNvSpPr/>
            <p:nvPr/>
          </p:nvSpPr>
          <p:spPr>
            <a:xfrm>
              <a:off x="6924675" y="2714625"/>
              <a:ext cx="676275" cy="793433"/>
            </a:xfrm>
            <a:custGeom>
              <a:avLst/>
              <a:gdLst/>
              <a:ahLst/>
              <a:cxnLst/>
              <a:rect l="l" t="t" r="r" b="b"/>
              <a:pathLst>
                <a:path w="676275" h="793433">
                  <a:moveTo>
                    <a:pt x="676275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600950" y="2714625"/>
              <a:ext cx="676275" cy="793433"/>
            </a:xfrm>
            <a:custGeom>
              <a:avLst/>
              <a:gdLst/>
              <a:ahLst/>
              <a:cxnLst/>
              <a:rect l="l" t="t" r="r" b="b"/>
              <a:pathLst>
                <a:path w="676275" h="793433">
                  <a:moveTo>
                    <a:pt x="0" y="0"/>
                  </a:moveTo>
                  <a:lnTo>
                    <a:pt x="676275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629775" y="2714625"/>
              <a:ext cx="676275" cy="793433"/>
            </a:xfrm>
            <a:custGeom>
              <a:avLst/>
              <a:gdLst/>
              <a:ahLst/>
              <a:cxnLst/>
              <a:rect l="l" t="t" r="r" b="b"/>
              <a:pathLst>
                <a:path w="676275" h="793433">
                  <a:moveTo>
                    <a:pt x="676275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306050" y="2714625"/>
              <a:ext cx="676275" cy="793433"/>
            </a:xfrm>
            <a:custGeom>
              <a:avLst/>
              <a:gdLst/>
              <a:ahLst/>
              <a:cxnLst/>
              <a:rect l="l" t="t" r="r" b="b"/>
              <a:pathLst>
                <a:path w="676275" h="793433">
                  <a:moveTo>
                    <a:pt x="0" y="0"/>
                  </a:moveTo>
                  <a:lnTo>
                    <a:pt x="676275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600950" y="1921192"/>
              <a:ext cx="1352550" cy="793433"/>
            </a:xfrm>
            <a:custGeom>
              <a:avLst/>
              <a:gdLst/>
              <a:ahLst/>
              <a:cxnLst/>
              <a:rect l="l" t="t" r="r" b="b"/>
              <a:pathLst>
                <a:path w="1352550" h="793433">
                  <a:moveTo>
                    <a:pt x="135255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53500" y="1921192"/>
              <a:ext cx="1352550" cy="793433"/>
            </a:xfrm>
            <a:custGeom>
              <a:avLst/>
              <a:gdLst/>
              <a:ahLst/>
              <a:cxnLst/>
              <a:rect l="l" t="t" r="r" b="b"/>
              <a:pathLst>
                <a:path w="1352550" h="793433">
                  <a:moveTo>
                    <a:pt x="0" y="0"/>
                  </a:moveTo>
                  <a:lnTo>
                    <a:pt x="135255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715125" y="329850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067675" y="329850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391400" y="25050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9420225" y="329850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0772775" y="329850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096500" y="25050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724900" y="1692592"/>
              <a:ext cx="457200" cy="4572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37807" y="34337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90357" y="34337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14082" y="26403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42907" y="34337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95457" y="34337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19182" y="26403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85860" y="1845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前导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248400" y="4095750"/>
            <a:ext cx="5410200" cy="1887855"/>
            <a:chOff x="6248400" y="4095750"/>
            <a:chExt cx="5410200" cy="1887855"/>
          </a:xfrm>
        </p:grpSpPr>
        <p:sp>
          <p:nvSpPr>
            <p:cNvPr id="73" name="Rectangle 73"/>
            <p:cNvSpPr/>
            <p:nvPr/>
          </p:nvSpPr>
          <p:spPr>
            <a:xfrm>
              <a:off x="6248400" y="409575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7925" y="422910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96050" y="4305300"/>
              <a:ext cx="215265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31718" y="4341019"/>
              <a:ext cx="20813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分治并行 Divide and Conquer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88430" y="4682490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前导进程把负载切成多个小负载指派给子进程并行计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算，再由后续进程归并结果，切分和归并自然形成递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归。缺点是难以维持负载平衡。前导和后续进程可以是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同一个进程，如 MapReduce。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流水线并行：最慢的一段决定吞吐率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flow-1"/>
          <p:cNvGrpSpPr/>
          <p:nvPr/>
        </p:nvGrpSpPr>
        <p:grpSpPr>
          <a:xfrm>
            <a:off x="836295" y="1702118"/>
            <a:ext cx="3722370" cy="2025014"/>
            <a:chOff x="836295" y="1702118"/>
            <a:chExt cx="3722370" cy="2025014"/>
          </a:xfrm>
        </p:grpSpPr>
        <p:sp>
          <p:nvSpPr>
            <p:cNvPr id="7" name="Freeform 7"/>
            <p:cNvSpPr/>
            <p:nvPr/>
          </p:nvSpPr>
          <p:spPr>
            <a:xfrm>
              <a:off x="2697480" y="214026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45092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97480" y="2933700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45092" y="31842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6295" y="1702118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6295" y="2495550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6295" y="3288982"/>
              <a:ext cx="37223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84440" y="1832134"/>
              <a:ext cx="826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 A 10 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4440" y="2625566"/>
              <a:ext cx="826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 B 30 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4440" y="3418999"/>
              <a:ext cx="826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 C 10 ns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95750"/>
            <a:ext cx="4328160" cy="1898332"/>
            <a:chOff x="533400" y="4095750"/>
            <a:chExt cx="4328160" cy="1898332"/>
          </a:xfrm>
        </p:grpSpPr>
        <p:sp>
          <p:nvSpPr>
            <p:cNvPr id="18" name="Rectangle 18"/>
            <p:cNvSpPr/>
            <p:nvPr/>
          </p:nvSpPr>
          <p:spPr>
            <a:xfrm>
              <a:off x="533400" y="4095750"/>
              <a:ext cx="4328160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2910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305300"/>
              <a:ext cx="210026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245" y="4341019"/>
              <a:ext cx="2024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流水线并行 Pipeline Parallel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68249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多个进程各自处在流水线的不同段，同时重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叠地执行。各段负载通常不同，负载不平衡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导致流水线气泡。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558593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解决：重复设置瓶颈段，或者细分瓶颈段。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160645" y="1524000"/>
            <a:ext cx="6497955" cy="2091214"/>
            <a:chOff x="5160645" y="1524000"/>
            <a:chExt cx="6497955" cy="2091214"/>
          </a:xfrm>
        </p:grpSpPr>
        <p:sp>
          <p:nvSpPr>
            <p:cNvPr id="25" name="Rectangle 25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3724" y="1659731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个任务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28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302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7418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不流水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11618" y="2108359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× (10 + 30 + 10)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166" y="2108359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 ns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6636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6636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418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三段流水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11618" y="255698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+ 99 × 30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369868" y="2430780"/>
              <a:ext cx="127920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68166" y="255698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3020 ns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183" y="3005614"/>
              <a:ext cx="1898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重复三份或细分成三段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1618" y="3005614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+ 99 × 10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369868" y="2880360"/>
              <a:ext cx="12792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68166" y="300561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1040 ns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1524000"/>
              <a:ext cx="649224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9903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35558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60645" y="3395186"/>
              <a:ext cx="4368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第一个任务要走完 50 ns，之后每隔“最慢一段”的时间出一个结果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5166360" y="3761422"/>
            <a:ext cx="6492240" cy="2232660"/>
            <a:chOff x="5166360" y="3761422"/>
            <a:chExt cx="6492240" cy="2232660"/>
          </a:xfrm>
        </p:grpSpPr>
        <p:sp>
          <p:nvSpPr>
            <p:cNvPr id="48" name="Rectangle 48"/>
            <p:cNvSpPr/>
            <p:nvPr/>
          </p:nvSpPr>
          <p:spPr>
            <a:xfrm>
              <a:off x="5166360" y="3761422"/>
              <a:ext cx="6492240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175885" y="3894772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14010" y="3970972"/>
              <a:ext cx="321849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23204" y="4006691"/>
              <a:ext cx="3201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深度学习中的流水线并行训练（原课件第65页）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06390" y="4348162"/>
              <a:ext cx="5663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模型按层切成 p 段放在 p 个设备上，一批数据切成 m 个微批次依次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流过；灰格是设备空等的气泡。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06390" y="4969192"/>
              <a:ext cx="5815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所有微批次先前向再反向的调度，气泡占比约 (p − 1)/(m + p − 1)：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4、m = 4 时为 3/7 ≈ 43%，m = 16 时降到 3/19 ≈ 16%。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主-从并行与工作池并行：谁来分配任务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1075372" y="1644968"/>
            <a:ext cx="4326256" cy="1478660"/>
            <a:chOff x="1075372" y="1644968"/>
            <a:chExt cx="4326256" cy="1478660"/>
          </a:xfrm>
        </p:grpSpPr>
        <p:sp>
          <p:nvSpPr>
            <p:cNvPr id="7" name="Freeform 7"/>
            <p:cNvSpPr/>
            <p:nvPr/>
          </p:nvSpPr>
          <p:spPr>
            <a:xfrm>
              <a:off x="1733550" y="2015490"/>
              <a:ext cx="1170622" cy="737235"/>
            </a:xfrm>
            <a:custGeom>
              <a:avLst/>
              <a:gdLst/>
              <a:ahLst/>
              <a:cxnLst/>
              <a:rect l="l" t="t" r="r" b="b"/>
              <a:pathLst>
                <a:path w="1170622" h="737235">
                  <a:moveTo>
                    <a:pt x="1170622" y="0"/>
                  </a:moveTo>
                  <a:lnTo>
                    <a:pt x="0" y="7372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53540" y="271272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90488"/>
                  </a:moveTo>
                  <a:lnTo>
                    <a:pt x="54293" y="0"/>
                  </a:lnTo>
                  <a:lnTo>
                    <a:pt x="105727" y="800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78455" y="196500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0"/>
                  </a:moveTo>
                  <a:lnTo>
                    <a:pt x="50483" y="90488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060258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90875" y="27079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190875" y="19650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72828" y="2015490"/>
              <a:ext cx="1170622" cy="737235"/>
            </a:xfrm>
            <a:custGeom>
              <a:avLst/>
              <a:gdLst/>
              <a:ahLst/>
              <a:cxnLst/>
              <a:rect l="l" t="t" r="r" b="b"/>
              <a:pathLst>
                <a:path w="1170622" h="737235">
                  <a:moveTo>
                    <a:pt x="0" y="0"/>
                  </a:moveTo>
                  <a:lnTo>
                    <a:pt x="1170622" y="7372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17732" y="271272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010"/>
                  </a:lnTo>
                  <a:lnTo>
                    <a:pt x="514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92818" y="196500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0"/>
                  </a:moveTo>
                  <a:lnTo>
                    <a:pt x="105728" y="10477"/>
                  </a:lnTo>
                  <a:lnTo>
                    <a:pt x="5524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5602" y="164496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75372" y="280320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15602" y="280320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54880" y="280320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51632" y="17297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2355" y="28889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1632" y="28889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0910" y="28889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465195"/>
            <a:ext cx="5410200" cy="1777365"/>
            <a:chOff x="533400" y="3465195"/>
            <a:chExt cx="5410200" cy="1777365"/>
          </a:xfrm>
        </p:grpSpPr>
        <p:sp>
          <p:nvSpPr>
            <p:cNvPr id="25" name="Rectangle 25"/>
            <p:cNvSpPr/>
            <p:nvPr/>
          </p:nvSpPr>
          <p:spPr>
            <a:xfrm>
              <a:off x="533400" y="3465195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598545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3669030"/>
              <a:ext cx="188404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8755" y="3704749"/>
              <a:ext cx="1797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主-从并行 Master-Slave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404193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主进程执行串行部分，生成可并行计算的子进程；子进程完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成后报告主进程，主进程再分配新任务。又称放牧式并行。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239" y="4629150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缺点：主进程负责全部协调，易成瓶颈。改成多主多从，又会引入多主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协同的数据一致性问题。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6598920" y="1574482"/>
            <a:ext cx="4709160" cy="1654493"/>
            <a:chOff x="6598920" y="1574482"/>
            <a:chExt cx="4709160" cy="1654493"/>
          </a:xfrm>
        </p:grpSpPr>
        <p:sp>
          <p:nvSpPr>
            <p:cNvPr id="32" name="Freeform 32"/>
            <p:cNvSpPr/>
            <p:nvPr/>
          </p:nvSpPr>
          <p:spPr>
            <a:xfrm>
              <a:off x="8353425" y="1939290"/>
              <a:ext cx="317182" cy="243840"/>
            </a:xfrm>
            <a:custGeom>
              <a:avLst/>
              <a:gdLst/>
              <a:ahLst/>
              <a:cxnLst/>
              <a:rect l="l" t="t" r="r" b="b"/>
              <a:pathLst>
                <a:path w="317182" h="243840">
                  <a:moveTo>
                    <a:pt x="317182" y="2438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278178" y="1881188"/>
              <a:ext cx="104775" cy="96202"/>
            </a:xfrm>
            <a:custGeom>
              <a:avLst/>
              <a:gdLst/>
              <a:ahLst/>
              <a:cxnLst/>
              <a:rect l="l" t="t" r="r" b="b"/>
              <a:pathLst>
                <a:path w="104775" h="96202">
                  <a:moveTo>
                    <a:pt x="0" y="0"/>
                  </a:moveTo>
                  <a:lnTo>
                    <a:pt x="104775" y="20955"/>
                  </a:lnTo>
                  <a:lnTo>
                    <a:pt x="46672" y="962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641080" y="214598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5247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236392" y="1939290"/>
              <a:ext cx="317182" cy="243840"/>
            </a:xfrm>
            <a:custGeom>
              <a:avLst/>
              <a:gdLst/>
              <a:ahLst/>
              <a:cxnLst/>
              <a:rect l="l" t="t" r="r" b="b"/>
              <a:pathLst>
                <a:path w="317182" h="243840">
                  <a:moveTo>
                    <a:pt x="0" y="243840"/>
                  </a:moveTo>
                  <a:lnTo>
                    <a:pt x="3171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524048" y="1881188"/>
              <a:ext cx="104775" cy="96202"/>
            </a:xfrm>
            <a:custGeom>
              <a:avLst/>
              <a:gdLst/>
              <a:ahLst/>
              <a:cxnLst/>
              <a:rect l="l" t="t" r="r" b="b"/>
              <a:pathLst>
                <a:path w="104775" h="96202">
                  <a:moveTo>
                    <a:pt x="104775" y="0"/>
                  </a:moveTo>
                  <a:lnTo>
                    <a:pt x="58103" y="96202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61145" y="214598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6673" y="0"/>
                  </a:lnTo>
                  <a:lnTo>
                    <a:pt x="104775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557385" y="2402205"/>
              <a:ext cx="1274445" cy="9525"/>
            </a:xfrm>
            <a:custGeom>
              <a:avLst/>
              <a:gdLst/>
              <a:ahLst/>
              <a:cxnLst/>
              <a:rect l="l" t="t" r="r" b="b"/>
              <a:pathLst>
                <a:path w="1274445" h="9525">
                  <a:moveTo>
                    <a:pt x="0" y="0"/>
                  </a:moveTo>
                  <a:lnTo>
                    <a:pt x="12744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831830" y="2354580"/>
              <a:ext cx="95250" cy="94298"/>
            </a:xfrm>
            <a:custGeom>
              <a:avLst/>
              <a:gdLst/>
              <a:ahLst/>
              <a:cxnLst/>
              <a:rect l="l" t="t" r="r" b="b"/>
              <a:pathLst>
                <a:path w="95250" h="94298">
                  <a:moveTo>
                    <a:pt x="95250" y="47625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462135" y="2354580"/>
              <a:ext cx="95250" cy="94298"/>
            </a:xfrm>
            <a:custGeom>
              <a:avLst/>
              <a:gdLst/>
              <a:ahLst/>
              <a:cxnLst/>
              <a:rect l="l" t="t" r="r" b="b"/>
              <a:pathLst>
                <a:path w="95250" h="94298">
                  <a:moveTo>
                    <a:pt x="0" y="47625"/>
                  </a:moveTo>
                  <a:lnTo>
                    <a:pt x="95250" y="0"/>
                  </a:lnTo>
                  <a:lnTo>
                    <a:pt x="95250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236392" y="2620328"/>
              <a:ext cx="317182" cy="243840"/>
            </a:xfrm>
            <a:custGeom>
              <a:avLst/>
              <a:gdLst/>
              <a:ahLst/>
              <a:cxnLst/>
              <a:rect l="l" t="t" r="r" b="b"/>
              <a:pathLst>
                <a:path w="317182" h="243840">
                  <a:moveTo>
                    <a:pt x="0" y="0"/>
                  </a:moveTo>
                  <a:lnTo>
                    <a:pt x="317182" y="2438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524048" y="282606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96203"/>
                  </a:moveTo>
                  <a:lnTo>
                    <a:pt x="0" y="75248"/>
                  </a:lnTo>
                  <a:lnTo>
                    <a:pt x="5810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161145" y="2561272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0"/>
                  </a:moveTo>
                  <a:lnTo>
                    <a:pt x="104775" y="20955"/>
                  </a:lnTo>
                  <a:lnTo>
                    <a:pt x="46673" y="962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353425" y="2620328"/>
              <a:ext cx="317182" cy="243840"/>
            </a:xfrm>
            <a:custGeom>
              <a:avLst/>
              <a:gdLst/>
              <a:ahLst/>
              <a:cxnLst/>
              <a:rect l="l" t="t" r="r" b="b"/>
              <a:pathLst>
                <a:path w="317182" h="243840">
                  <a:moveTo>
                    <a:pt x="317182" y="0"/>
                  </a:moveTo>
                  <a:lnTo>
                    <a:pt x="0" y="2438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278178" y="282606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96203"/>
                  </a:moveTo>
                  <a:lnTo>
                    <a:pt x="46672" y="0"/>
                  </a:lnTo>
                  <a:lnTo>
                    <a:pt x="104775" y="7524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641080" y="2561272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58102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075170" y="2402205"/>
              <a:ext cx="1274445" cy="9525"/>
            </a:xfrm>
            <a:custGeom>
              <a:avLst/>
              <a:gdLst/>
              <a:ahLst/>
              <a:cxnLst/>
              <a:rect l="l" t="t" r="r" b="b"/>
              <a:pathLst>
                <a:path w="1274445" h="9525">
                  <a:moveTo>
                    <a:pt x="12744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979920" y="2354580"/>
              <a:ext cx="95250" cy="94298"/>
            </a:xfrm>
            <a:custGeom>
              <a:avLst/>
              <a:gdLst/>
              <a:ahLst/>
              <a:cxnLst/>
              <a:rect l="l" t="t" r="r" b="b"/>
              <a:pathLst>
                <a:path w="95250" h="94298">
                  <a:moveTo>
                    <a:pt x="0" y="47625"/>
                  </a:moveTo>
                  <a:lnTo>
                    <a:pt x="95250" y="0"/>
                  </a:lnTo>
                  <a:lnTo>
                    <a:pt x="95250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349615" y="2354580"/>
              <a:ext cx="95250" cy="94298"/>
            </a:xfrm>
            <a:custGeom>
              <a:avLst/>
              <a:gdLst/>
              <a:ahLst/>
              <a:cxnLst/>
              <a:rect l="l" t="t" r="r" b="b"/>
              <a:pathLst>
                <a:path w="95250" h="94298">
                  <a:moveTo>
                    <a:pt x="95250" y="47625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444865" y="2241232"/>
              <a:ext cx="1016318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97178" y="1574482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628822" y="1574482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927080" y="2241232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28822" y="290893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97178" y="290893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598920" y="2241232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05088" y="232695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工作池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32295" y="166020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63940" y="166020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62198" y="232695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63940" y="29937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32295" y="29937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34038" y="232695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3465195"/>
            <a:ext cx="5410200" cy="1777365"/>
            <a:chOff x="6248400" y="3465195"/>
            <a:chExt cx="5410200" cy="1777365"/>
          </a:xfrm>
        </p:grpSpPr>
        <p:sp>
          <p:nvSpPr>
            <p:cNvPr id="65" name="Rectangle 65"/>
            <p:cNvSpPr/>
            <p:nvPr/>
          </p:nvSpPr>
          <p:spPr>
            <a:xfrm>
              <a:off x="6248400" y="3465195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3598545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90335" y="3669030"/>
              <a:ext cx="166020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9942" y="3704749"/>
              <a:ext cx="1560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工作池并行 Work Pool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3096" y="404193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开始时池中只有一件工作，任何空闲进程都可以取出执行，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执行中产生的新工作放回池中；池变空时程序结束。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4239" y="4629150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工作池是逻辑上的全局数据结构，可以是无序队列、有序队列、优先级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多队列等。企业应用中的消息队列就属此类。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2" name="Rectangle 7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5753576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主从是主进程把任务“推”给从进程；工作池是空闲进程自己去池里“拉”任务，没有中心协调者，但池要支持多个进程同时安全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地存取。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内存墙：处理器越来越快，内存跟不上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226820"/>
            <a:chOff x="533400" y="1524000"/>
            <a:chExt cx="605980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75355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625" y="1750695"/>
              <a:ext cx="1647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并行计算的主要问题（1）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24900" y="1756410"/>
              <a:ext cx="1755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内存墙 Memory Wall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存储器访问能力与处理部件计算能力不平衡，处理器处于“饥饿”状态，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处理器性能与数据访问带宽、延迟之间的差距越来越大。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2926080"/>
            <a:ext cx="6059805" cy="1623060"/>
            <a:chOff x="533400" y="2926080"/>
            <a:chExt cx="6059805" cy="1623060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605980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8352" y="3050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处理器年增速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2382" y="3050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存储器年增速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8342" y="3050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差距每年扩大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4235" y="345614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56702" y="3456146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6862" y="345614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 / 1.07 ≈ 1.40，约 40%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328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3761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4066" y="3861911"/>
              <a:ext cx="1684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52%（原课件第69页图）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56702" y="3861911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3195" y="386191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42%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38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44235" y="426767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56702" y="4267676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3195" y="426767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50%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926080"/>
              <a:ext cx="605980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54618" y="292608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55745" y="292608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3"/>
          <p:cNvGrpSpPr/>
          <p:nvPr/>
        </p:nvGrpSpPr>
        <p:grpSpPr>
          <a:xfrm>
            <a:off x="533400" y="4724400"/>
            <a:ext cx="6059805" cy="1466850"/>
            <a:chOff x="533400" y="4724400"/>
            <a:chExt cx="6059805" cy="1466850"/>
          </a:xfrm>
        </p:grpSpPr>
        <p:sp>
          <p:nvSpPr>
            <p:cNvPr id="34" name="Rectangle 34"/>
            <p:cNvSpPr/>
            <p:nvPr/>
          </p:nvSpPr>
          <p:spPr>
            <a:xfrm>
              <a:off x="533400" y="4724400"/>
              <a:ext cx="605980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8577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9168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49510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5273040"/>
              <a:ext cx="53801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原课件写“处理器速度每年提高 50%，存储器每年提高 7%，两者性能差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每年增长近 50%”。差距按比值算，每年约扩大 40%；“约 50%”对应处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理器每年提高 60% 左右的时期。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7833360" y="1524000"/>
            <a:ext cx="2888932" cy="2465641"/>
            <a:chOff x="7833360" y="1524000"/>
            <a:chExt cx="2888932" cy="2465641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560" t="0" r="5561" b="0"/>
            <a:stretch>
              <a:fillRect/>
            </a:stretch>
          </p:blipFill>
          <p:spPr>
            <a:xfrm>
              <a:off x="7833360" y="1524000"/>
              <a:ext cx="2888932" cy="2166938"/>
            </a:xfrm>
            <a:prstGeom prst="roundRect">
              <a:avLst>
                <a:gd name="adj" fmla="val 6153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8283512" y="378428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六只手的厨师空等一条慢传送带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898005" y="4142422"/>
            <a:ext cx="4760595" cy="1623060"/>
            <a:chOff x="6898005" y="4142422"/>
            <a:chExt cx="4760595" cy="1623060"/>
          </a:xfrm>
        </p:grpSpPr>
        <p:sp>
          <p:nvSpPr>
            <p:cNvPr id="43" name="Rectangle 43"/>
            <p:cNvSpPr/>
            <p:nvPr/>
          </p:nvSpPr>
          <p:spPr>
            <a:xfrm>
              <a:off x="6898005" y="4142422"/>
              <a:ext cx="476059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12063" y="42667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8975" y="4266724"/>
              <a:ext cx="1301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片上 Cache 的应对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98017" y="467248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40065" y="4672489"/>
              <a:ext cx="2391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486，首次集成片上 L1，8 KB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4949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4953952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8017" y="507825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0065" y="5078254"/>
              <a:ext cx="2350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Pro，同封装 L2，256 KB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5354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8017" y="548401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40065" y="5484019"/>
              <a:ext cx="1848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Itanium 2，片上 L3，6 MB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4142422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35290" y="414242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并行计算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功耗墙与生态墙：电撑不住，软件跟不上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86890"/>
            <a:chOff x="533400" y="1524000"/>
            <a:chExt cx="5410200" cy="1786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75355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625" y="1750695"/>
              <a:ext cx="1647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并行计算的主要问题（2）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24900" y="1756410"/>
              <a:ext cx="161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功耗墙 Power Wall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追求单个芯片的性能势必增加功耗；数以百万、千万计的处理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器阵列，占地数百至数千平方米的超大规模并行计算机，总功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耗越来越高。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90703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使用可再生能源实现绿色计算是出路。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85198"/>
            <a:ext cx="5410200" cy="1775460"/>
            <a:chOff x="533400" y="3485198"/>
            <a:chExt cx="5410200" cy="1775460"/>
          </a:xfrm>
        </p:grpSpPr>
        <p:sp>
          <p:nvSpPr>
            <p:cNvPr id="15" name="Rectangle 15"/>
            <p:cNvSpPr/>
            <p:nvPr/>
          </p:nvSpPr>
          <p:spPr>
            <a:xfrm>
              <a:off x="533400" y="3485198"/>
              <a:ext cx="5410200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18548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7760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344" y="37118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034790"/>
              <a:ext cx="4031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谷歌数据中心的能源消费达 2.6 亿瓦 = 260 MW。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336732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一座标准核电站约输出 1000 MW，260 / 1000 = 0.26，约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190" y="4893469"/>
              <a:ext cx="4933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单芯片功耗 P = αCfV²，频率不能再随意提高，见 1.4 节 Dennard 定律。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3737610"/>
            <a:chOff x="6248400" y="1524000"/>
            <a:chExt cx="5410200" cy="3737610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737610"/>
            </a:xfrm>
            <a:prstGeom prst="roundRect">
              <a:avLst>
                <a:gd name="adj" fmla="val 3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34709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8905" y="1716405"/>
              <a:ext cx="175355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1625" y="1750695"/>
              <a:ext cx="1647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并行计算的主要问题（3）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9899" y="1756410"/>
              <a:ext cx="2031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生态墙 Ecosystem Wall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2047" y="2090738"/>
              <a:ext cx="95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硬件“过硬”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87478" y="24488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3497" y="23926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并行计算机规模越来越大，同构与异构并存，数据共享模式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与消息通信模式交织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87478" y="30089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3497" y="29527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通过合理调度保持整个系统的资源利用率越来越难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3254692"/>
              <a:ext cx="95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软件“偏软”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36137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355758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还没有普遍认同的并行程序设计模型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391668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386048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并行语言、并行应用库、并行开发环境的进化周期明显慢于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硬件更新周期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7478" y="44757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3497" y="44196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算法和软件无法全方位地开发硬件的并行性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1" name="Rectangle 4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3610"/>
              <a:ext cx="10554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内存墙说数据送不进来，功耗墙说能量供不上、热散不出，生态墙说程序写不好。后面各章讲的技术，基本都在绕开其中某一面墙。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多台计算机连在一起，怎样让用户觉得只有一台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为什么需要分布计算系统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定义、紧密与松散耦合、同构与异构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七种透明性及影响透明性的因素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分层体系结构、中间件与设计问题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为什么需要分布计算系统：物理基础决定应用模式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7685" y="1524000"/>
            <a:ext cx="5415915" cy="3488532"/>
            <a:chOff x="527685" y="1524000"/>
            <a:chExt cx="5415915" cy="34885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10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78468" y="16630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人们使用计算机的方式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20681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50 年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54555" y="22840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预约上机，占用全部资源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7660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90512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4555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批处理技术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48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39280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年代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54555" y="33928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分时系统，多用户同时使用一台计算机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366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414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88048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年代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54555" y="38804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个人计算机，每个用户有专用计算机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4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4368165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 年代至今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54555" y="43681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通过计算机网络使用多台计算机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410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43112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685" y="4792504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推动变化的两大技术：计算机软硬件技术的发展，计算机网络技术的发展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5158740"/>
            <a:ext cx="5410200" cy="1059180"/>
            <a:chOff x="533400" y="5158740"/>
            <a:chExt cx="5410200" cy="1059180"/>
          </a:xfrm>
        </p:grpSpPr>
        <p:sp>
          <p:nvSpPr>
            <p:cNvPr id="30" name="Rectangle 30"/>
            <p:cNvSpPr/>
            <p:nvPr/>
          </p:nvSpPr>
          <p:spPr>
            <a:xfrm>
              <a:off x="533400" y="515874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588318"/>
              <a:ext cx="200026" cy="200025"/>
              <a:chOff x="738188" y="558831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5883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56327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57438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30733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物理基础决定应用模式：机器昂贵时人迁就机器（预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约、批处理），机器便宜、网络普及后，一个用户同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时用上多台机器。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365885"/>
            <a:chOff x="6248400" y="1524000"/>
            <a:chExt cx="5410200" cy="1365885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173355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3904" y="17692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多计算机环境带来的新问题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使用上：用户必须知道本地对象和远程对象的区别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24460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管理上：管理人员不能四处奔走去做文件备份等操作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080385"/>
            <a:ext cx="5410200" cy="1612582"/>
            <a:chOff x="6248400" y="3080385"/>
            <a:chExt cx="5410200" cy="1612582"/>
          </a:xfrm>
        </p:grpSpPr>
        <p:sp>
          <p:nvSpPr>
            <p:cNvPr id="46" name="Rectangle 46"/>
            <p:cNvSpPr/>
            <p:nvPr/>
          </p:nvSpPr>
          <p:spPr>
            <a:xfrm>
              <a:off x="6248400" y="3080385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57950" y="32899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0259" y="33256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解决办法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0330" y="366712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实现分布式操作系统。在分布计算系统中，多台计算机构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成一个完整的系统，其行为类似一个单机系统。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51473" y="428482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分布式操作系统是实现分布计算系统的核心。</a:t>
              </a:r>
            </a:p>
          </p:txBody>
        </p:sp>
      </p:grpSp>
      <p:grpSp>
        <p:nvGrpSpPr>
          <p:cNvPr id="57" name="c2-kv-3"/>
          <p:cNvGrpSpPr/>
          <p:nvPr/>
        </p:nvGrpSpPr>
        <p:grpSpPr>
          <a:xfrm>
            <a:off x="6240780" y="4908232"/>
            <a:ext cx="5417820" cy="1297306"/>
            <a:chOff x="6240780" y="4908232"/>
            <a:chExt cx="5417820" cy="1297306"/>
          </a:xfrm>
        </p:grpSpPr>
        <p:sp>
          <p:nvSpPr>
            <p:cNvPr id="52" name="TextBox 52"/>
            <p:cNvSpPr txBox="1"/>
            <p:nvPr/>
          </p:nvSpPr>
          <p:spPr>
            <a:xfrm>
              <a:off x="6240780" y="490823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网络操作系统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63840" y="4908232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用户知道有多台机器，要显式登录远程机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器或复制文件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5510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0780" y="563022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分布式操作系统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3840" y="5630228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用户看到的是一台虚拟的单机，不必关心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资源在哪台机器上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分布计算系统的定义：多台机器，用起来像一台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602105"/>
            <a:chOff x="533400" y="1524000"/>
            <a:chExt cx="497776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5065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909" y="1769269"/>
              <a:ext cx="1331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Tanenbaum 的定义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分布计算系统是由多个独立的计算机系统相互连接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而成的计算系统，从用户的角度来看它好像是一个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集中的单机系统。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16605"/>
            <a:ext cx="4977765" cy="2757488"/>
            <a:chOff x="533400" y="3316605"/>
            <a:chExt cx="4977765" cy="2757488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977765" cy="2757488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655" y="35618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本课程总结的定义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分布计算系统是由多个相互连接的处理资源组成的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计算系统，它们在整个系统的控制下可合作执行一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个共同的任务，最少依赖于集中的程序、数据和硬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509254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这些处理资源可以物理上相邻，也可以地理上分散。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5815965" y="1524000"/>
            <a:ext cx="5842635" cy="3826192"/>
            <a:chOff x="5815965" y="1524000"/>
            <a:chExt cx="5842635" cy="3826192"/>
          </a:xfrm>
        </p:grpSpPr>
        <p:sp>
          <p:nvSpPr>
            <p:cNvPr id="20" name="Rectangle 20"/>
            <p:cNvSpPr/>
            <p:nvPr/>
          </p:nvSpPr>
          <p:spPr>
            <a:xfrm>
              <a:off x="5815965" y="1524000"/>
              <a:ext cx="5842635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2848" y="1659731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定义的五点说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59532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23788" y="233505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组成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25868" y="233505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由多个处理器或计算机系统组成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647950"/>
              <a:ext cx="584263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3788" y="301037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两类结构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5868" y="2783681"/>
              <a:ext cx="39143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物理相邻、由总线或开关连接的处理器，共享主存通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信；或地理上分开、由远程网或局域网连接的计算机，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用报文（message）通信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35461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23788" y="379904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透明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5868" y="3685699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资源组成一个整体，用户使用任何资源时不必知道它在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42214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5965" y="422624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23788" y="436102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分散运行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5868" y="436102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一个程序可分散到各个计算资源上运行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46701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492394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地位平等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5868" y="4810601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除受全系统的操作系统控制外，不存在主从控制和集中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控制环节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13282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llout-2"/>
          <p:cNvGrpSpPr/>
          <p:nvPr/>
        </p:nvGrpSpPr>
        <p:grpSpPr>
          <a:xfrm>
            <a:off x="5815965" y="5540692"/>
            <a:ext cx="5842635" cy="533400"/>
            <a:chOff x="5815965" y="5540692"/>
            <a:chExt cx="5842635" cy="533400"/>
          </a:xfrm>
        </p:grpSpPr>
        <p:sp>
          <p:nvSpPr>
            <p:cNvPr id="42" name="Rectangle 42"/>
            <p:cNvSpPr/>
            <p:nvPr/>
          </p:nvSpPr>
          <p:spPr>
            <a:xfrm>
              <a:off x="5815965" y="5540692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020753" y="5707380"/>
              <a:ext cx="200026" cy="200025"/>
              <a:chOff x="6020753" y="570738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5707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60491" y="5751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95207" y="5862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322695" y="5702618"/>
              <a:ext cx="3838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 Flynn 分类，分布计算系统属于 MIMD。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紧密耦合与松散耦合分布计算系统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626418" cy="2971800"/>
            <a:chOff x="533400" y="1524000"/>
            <a:chExt cx="5626418" cy="2971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649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紧密耦合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5105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松散耦合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8330" y="215074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内部总线或机器内互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连网络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71938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通信网络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5626418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资源间距离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8330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物理上分散，相距很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1938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地理上分散，相距很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处理资源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8330" y="3659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71938" y="36595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多计算机系统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471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78330" y="41471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1938" y="41471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报文交换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626418" cy="2971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66888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60495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686300"/>
            <a:ext cx="5626418" cy="782955"/>
            <a:chOff x="533400" y="4686300"/>
            <a:chExt cx="5626418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468630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977765"/>
              <a:ext cx="200026" cy="200025"/>
              <a:chOff x="738188" y="497776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777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0222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1333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834890"/>
              <a:ext cx="4634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这和 1.2 节多机系统的耦合度是同一个概念：紧密耦合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在变量一级交互，松散耦合在文件或数据集一级交互。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823710" y="1866900"/>
            <a:ext cx="4476750" cy="2457831"/>
            <a:chOff x="6823710" y="1866900"/>
            <a:chExt cx="4476750" cy="2457831"/>
          </a:xfrm>
        </p:grpSpPr>
        <p:sp>
          <p:nvSpPr>
            <p:cNvPr id="39" name="Freeform 39"/>
            <p:cNvSpPr/>
            <p:nvPr/>
          </p:nvSpPr>
          <p:spPr>
            <a:xfrm>
              <a:off x="7088505" y="2186940"/>
              <a:ext cx="9525" cy="622935"/>
            </a:xfrm>
            <a:custGeom>
              <a:avLst/>
              <a:gdLst/>
              <a:ahLst/>
              <a:cxnLst/>
              <a:rect l="l" t="t" r="r" b="b"/>
              <a:pathLst>
                <a:path w="9525" h="622935">
                  <a:moveTo>
                    <a:pt x="0" y="6229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075295" y="2186940"/>
              <a:ext cx="9525" cy="622935"/>
            </a:xfrm>
            <a:custGeom>
              <a:avLst/>
              <a:gdLst/>
              <a:ahLst/>
              <a:cxnLst/>
              <a:rect l="l" t="t" r="r" b="b"/>
              <a:pathLst>
                <a:path w="9525" h="622935">
                  <a:moveTo>
                    <a:pt x="0" y="6229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62085" y="2186940"/>
              <a:ext cx="9525" cy="622935"/>
            </a:xfrm>
            <a:custGeom>
              <a:avLst/>
              <a:gdLst/>
              <a:ahLst/>
              <a:cxnLst/>
              <a:rect l="l" t="t" r="r" b="b"/>
              <a:pathLst>
                <a:path w="9525" h="622935">
                  <a:moveTo>
                    <a:pt x="0" y="6229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048875" y="2186940"/>
              <a:ext cx="9525" cy="622935"/>
            </a:xfrm>
            <a:custGeom>
              <a:avLst/>
              <a:gdLst/>
              <a:ahLst/>
              <a:cxnLst/>
              <a:rect l="l" t="t" r="r" b="b"/>
              <a:pathLst>
                <a:path w="9525" h="622935">
                  <a:moveTo>
                    <a:pt x="0" y="6229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1035665" y="2186940"/>
              <a:ext cx="9525" cy="622935"/>
            </a:xfrm>
            <a:custGeom>
              <a:avLst/>
              <a:gdLst/>
              <a:ahLst/>
              <a:cxnLst/>
              <a:rect l="l" t="t" r="r" b="b"/>
              <a:pathLst>
                <a:path w="9525" h="622935">
                  <a:moveTo>
                    <a:pt x="0" y="6229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088505" y="3129915"/>
              <a:ext cx="9525" cy="755332"/>
            </a:xfrm>
            <a:custGeom>
              <a:avLst/>
              <a:gdLst/>
              <a:ahLst/>
              <a:cxnLst/>
              <a:rect l="l" t="t" r="r" b="b"/>
              <a:pathLst>
                <a:path w="9525" h="755332">
                  <a:moveTo>
                    <a:pt x="0" y="0"/>
                  </a:moveTo>
                  <a:lnTo>
                    <a:pt x="0" y="755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075295" y="3129915"/>
              <a:ext cx="9525" cy="755332"/>
            </a:xfrm>
            <a:custGeom>
              <a:avLst/>
              <a:gdLst/>
              <a:ahLst/>
              <a:cxnLst/>
              <a:rect l="l" t="t" r="r" b="b"/>
              <a:pathLst>
                <a:path w="9525" h="755332">
                  <a:moveTo>
                    <a:pt x="0" y="0"/>
                  </a:moveTo>
                  <a:lnTo>
                    <a:pt x="0" y="755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62085" y="3129915"/>
              <a:ext cx="9525" cy="755332"/>
            </a:xfrm>
            <a:custGeom>
              <a:avLst/>
              <a:gdLst/>
              <a:ahLst/>
              <a:cxnLst/>
              <a:rect l="l" t="t" r="r" b="b"/>
              <a:pathLst>
                <a:path w="9525" h="755332">
                  <a:moveTo>
                    <a:pt x="0" y="0"/>
                  </a:moveTo>
                  <a:lnTo>
                    <a:pt x="0" y="755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048875" y="3129915"/>
              <a:ext cx="9525" cy="755332"/>
            </a:xfrm>
            <a:custGeom>
              <a:avLst/>
              <a:gdLst/>
              <a:ahLst/>
              <a:cxnLst/>
              <a:rect l="l" t="t" r="r" b="b"/>
              <a:pathLst>
                <a:path w="9525" h="755332">
                  <a:moveTo>
                    <a:pt x="0" y="0"/>
                  </a:moveTo>
                  <a:lnTo>
                    <a:pt x="0" y="755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035665" y="3129915"/>
              <a:ext cx="9525" cy="755332"/>
            </a:xfrm>
            <a:custGeom>
              <a:avLst/>
              <a:gdLst/>
              <a:ahLst/>
              <a:cxnLst/>
              <a:rect l="l" t="t" r="r" b="b"/>
              <a:pathLst>
                <a:path w="9525" h="755332">
                  <a:moveTo>
                    <a:pt x="0" y="0"/>
                  </a:moveTo>
                  <a:lnTo>
                    <a:pt x="0" y="755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186690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84795" y="186690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871585" y="186690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58375" y="186690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845165" y="186690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98005" y="280987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84795" y="280987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871585" y="280987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858375" y="280987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845165" y="2809875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23710" y="4004310"/>
              <a:ext cx="4476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15201" y="19526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1991" y="19526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88781" y="19526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75571" y="19526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62361" y="19526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33123" y="28956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19913" y="28956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06703" y="28956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93493" y="28956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80283" y="28956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32901" y="40900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通信网络</a:t>
              </a:r>
            </a:p>
          </p:txBody>
        </p:sp>
      </p:grpSp>
      <p:grpSp>
        <p:nvGrpSpPr>
          <p:cNvPr id="73" name="c2-text-2"/>
          <p:cNvGrpSpPr/>
          <p:nvPr/>
        </p:nvGrpSpPr>
        <p:grpSpPr>
          <a:xfrm>
            <a:off x="6458141" y="4879181"/>
            <a:ext cx="4922266" cy="500824"/>
            <a:chOff x="6458141" y="4879181"/>
            <a:chExt cx="4922266" cy="500824"/>
          </a:xfrm>
        </p:grpSpPr>
        <p:sp>
          <p:nvSpPr>
            <p:cNvPr id="72" name="TextBox 72"/>
            <p:cNvSpPr txBox="1"/>
            <p:nvPr/>
          </p:nvSpPr>
          <p:spPr>
            <a:xfrm>
              <a:off x="6458141" y="4879181"/>
              <a:ext cx="49222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松散耦合结构：每台处理机 P 有自己的主存 M，彼此只通过通信网络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交换报文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紧密耦合的三种结构：开关或总线把处理机连到存储器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973455" y="1708785"/>
            <a:ext cx="2735579" cy="1755458"/>
            <a:chOff x="973455" y="1708785"/>
            <a:chExt cx="2735579" cy="1755458"/>
          </a:xfrm>
        </p:grpSpPr>
        <p:sp>
          <p:nvSpPr>
            <p:cNvPr id="7" name="Freeform 7"/>
            <p:cNvSpPr/>
            <p:nvPr/>
          </p:nvSpPr>
          <p:spPr>
            <a:xfrm>
              <a:off x="1354455" y="2033588"/>
              <a:ext cx="893445" cy="9525"/>
            </a:xfrm>
            <a:custGeom>
              <a:avLst/>
              <a:gdLst/>
              <a:ahLst/>
              <a:cxnLst/>
              <a:rect l="l" t="t" r="r" b="b"/>
              <a:pathLst>
                <a:path w="893445" h="9525">
                  <a:moveTo>
                    <a:pt x="0" y="0"/>
                  </a:moveTo>
                  <a:lnTo>
                    <a:pt x="8934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54455" y="3139440"/>
              <a:ext cx="893445" cy="9525"/>
            </a:xfrm>
            <a:custGeom>
              <a:avLst/>
              <a:gdLst/>
              <a:ahLst/>
              <a:cxnLst/>
              <a:rect l="l" t="t" r="r" b="b"/>
              <a:pathLst>
                <a:path w="893445" h="9525">
                  <a:moveTo>
                    <a:pt x="0" y="0"/>
                  </a:moveTo>
                  <a:lnTo>
                    <a:pt x="8934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73455" y="1873568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73455" y="297942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65045" y="1708785"/>
              <a:ext cx="461962" cy="1755458"/>
            </a:xfrm>
            <a:prstGeom prst="roundRect">
              <a:avLst>
                <a:gd name="adj" fmla="val 206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247072" y="1708785"/>
              <a:ext cx="461962" cy="1755458"/>
            </a:xfrm>
            <a:prstGeom prst="roundRect">
              <a:avLst>
                <a:gd name="adj" fmla="val 20619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08573" y="1959293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8573" y="306419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9635" y="24164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09635" y="26069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04273" y="2511742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834765"/>
            <a:ext cx="3505200" cy="1817370"/>
            <a:chOff x="533400" y="3834765"/>
            <a:chExt cx="3505200" cy="1817370"/>
          </a:xfrm>
        </p:grpSpPr>
        <p:sp>
          <p:nvSpPr>
            <p:cNvPr id="19" name="Rectangle 19"/>
            <p:cNvSpPr/>
            <p:nvPr/>
          </p:nvSpPr>
          <p:spPr>
            <a:xfrm>
              <a:off x="533400" y="3834765"/>
              <a:ext cx="3505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96811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403860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9021" y="4074319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(a) 开关互连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41150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只有共享存储器，处理机之间通过它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4710112" y="1661160"/>
            <a:ext cx="2771775" cy="1850708"/>
            <a:chOff x="4710112" y="1661160"/>
            <a:chExt cx="2771775" cy="1850708"/>
          </a:xfrm>
        </p:grpSpPr>
        <p:sp>
          <p:nvSpPr>
            <p:cNvPr id="25" name="Freeform 25"/>
            <p:cNvSpPr/>
            <p:nvPr/>
          </p:nvSpPr>
          <p:spPr>
            <a:xfrm>
              <a:off x="5114925" y="1981200"/>
              <a:ext cx="9525" cy="483870"/>
            </a:xfrm>
            <a:custGeom>
              <a:avLst/>
              <a:gdLst/>
              <a:ahLst/>
              <a:cxnLst/>
              <a:rect l="l" t="t" r="r" b="b"/>
              <a:pathLst>
                <a:path w="9525" h="483870">
                  <a:moveTo>
                    <a:pt x="0" y="0"/>
                  </a:moveTo>
                  <a:lnTo>
                    <a:pt x="0" y="4838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7075" y="1981200"/>
              <a:ext cx="9525" cy="483870"/>
            </a:xfrm>
            <a:custGeom>
              <a:avLst/>
              <a:gdLst/>
              <a:ahLst/>
              <a:cxnLst/>
              <a:rect l="l" t="t" r="r" b="b"/>
              <a:pathLst>
                <a:path w="9525" h="483870">
                  <a:moveTo>
                    <a:pt x="0" y="0"/>
                  </a:moveTo>
                  <a:lnTo>
                    <a:pt x="0" y="4838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534978" y="2708910"/>
              <a:ext cx="9525" cy="482918"/>
            </a:xfrm>
            <a:custGeom>
              <a:avLst/>
              <a:gdLst/>
              <a:ahLst/>
              <a:cxnLst/>
              <a:rect l="l" t="t" r="r" b="b"/>
              <a:pathLst>
                <a:path w="9525" h="482918">
                  <a:moveTo>
                    <a:pt x="0" y="0"/>
                  </a:moveTo>
                  <a:lnTo>
                    <a:pt x="0" y="4829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657022" y="2708910"/>
              <a:ext cx="9525" cy="482918"/>
            </a:xfrm>
            <a:custGeom>
              <a:avLst/>
              <a:gdLst/>
              <a:ahLst/>
              <a:cxnLst/>
              <a:rect l="l" t="t" r="r" b="b"/>
              <a:pathLst>
                <a:path w="9525" h="482918">
                  <a:moveTo>
                    <a:pt x="0" y="0"/>
                  </a:moveTo>
                  <a:lnTo>
                    <a:pt x="0" y="4829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24425" y="166116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86575" y="166116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10112" y="2530792"/>
              <a:ext cx="2771775" cy="1104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44478" y="3191828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6522" y="3191828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59543" y="17468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1693" y="17468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61673" y="3276600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3718" y="3276600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28360" y="2265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4343400" y="3834765"/>
            <a:ext cx="3505200" cy="1817370"/>
            <a:chOff x="4343400" y="3834765"/>
            <a:chExt cx="3505200" cy="1817370"/>
          </a:xfrm>
        </p:grpSpPr>
        <p:sp>
          <p:nvSpPr>
            <p:cNvPr id="40" name="Rectangle 40"/>
            <p:cNvSpPr/>
            <p:nvPr/>
          </p:nvSpPr>
          <p:spPr>
            <a:xfrm>
              <a:off x="4343400" y="3834765"/>
              <a:ext cx="3505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2925" y="396811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85335" y="4038600"/>
              <a:ext cx="152590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44864" y="4074319"/>
              <a:ext cx="1406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(b) 总线互连 · 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78096" y="4411504"/>
              <a:ext cx="291795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M 挂在公共总线上，两台 P 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能访问，是共享存储器。原课件标作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“只有专用存储器”，与图和紧密耦合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“共享存储器通信”的特征都不符。</a:t>
              </a:r>
            </a:p>
          </p:txBody>
        </p:sp>
      </p:grpSp>
      <p:grpSp>
        <p:nvGrpSpPr>
          <p:cNvPr id="63" name="c3-graph-1"/>
          <p:cNvGrpSpPr/>
          <p:nvPr/>
        </p:nvGrpSpPr>
        <p:grpSpPr>
          <a:xfrm>
            <a:off x="8383905" y="1708785"/>
            <a:ext cx="3155632" cy="1755458"/>
            <a:chOff x="8383905" y="1708785"/>
            <a:chExt cx="3155632" cy="1755458"/>
          </a:xfrm>
        </p:grpSpPr>
        <p:sp>
          <p:nvSpPr>
            <p:cNvPr id="46" name="Freeform 46"/>
            <p:cNvSpPr/>
            <p:nvPr/>
          </p:nvSpPr>
          <p:spPr>
            <a:xfrm>
              <a:off x="8764905" y="2033588"/>
              <a:ext cx="529590" cy="9525"/>
            </a:xfrm>
            <a:custGeom>
              <a:avLst/>
              <a:gdLst/>
              <a:ahLst/>
              <a:cxnLst/>
              <a:rect l="l" t="t" r="r" b="b"/>
              <a:pathLst>
                <a:path w="529590" h="9525">
                  <a:moveTo>
                    <a:pt x="0" y="0"/>
                  </a:moveTo>
                  <a:lnTo>
                    <a:pt x="5295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764905" y="3139440"/>
              <a:ext cx="529590" cy="9525"/>
            </a:xfrm>
            <a:custGeom>
              <a:avLst/>
              <a:gdLst/>
              <a:ahLst/>
              <a:cxnLst/>
              <a:rect l="l" t="t" r="r" b="b"/>
              <a:pathLst>
                <a:path w="529590" h="9525">
                  <a:moveTo>
                    <a:pt x="0" y="0"/>
                  </a:moveTo>
                  <a:lnTo>
                    <a:pt x="5295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675495" y="2033588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675495" y="3139440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83905" y="1873568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83905" y="297942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94495" y="1873568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94495" y="2979420"/>
              <a:ext cx="38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35565" y="1708785"/>
              <a:ext cx="461962" cy="1755458"/>
            </a:xfrm>
            <a:prstGeom prst="roundRect">
              <a:avLst>
                <a:gd name="adj" fmla="val 206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77575" y="1708785"/>
              <a:ext cx="461962" cy="1755458"/>
            </a:xfrm>
            <a:prstGeom prst="roundRect">
              <a:avLst>
                <a:gd name="adj" fmla="val 20619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01101" y="1959293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01101" y="3064192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29613" y="1959293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29613" y="306419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80154" y="24164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80154" y="26069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34776" y="2511742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69" name="c3-card-2"/>
          <p:cNvGrpSpPr/>
          <p:nvPr/>
        </p:nvGrpSpPr>
        <p:grpSpPr>
          <a:xfrm>
            <a:off x="8153400" y="3834765"/>
            <a:ext cx="3505200" cy="1817370"/>
            <a:chOff x="8153400" y="3834765"/>
            <a:chExt cx="3505200" cy="1817370"/>
          </a:xfrm>
        </p:grpSpPr>
        <p:sp>
          <p:nvSpPr>
            <p:cNvPr id="64" name="Rectangle 64"/>
            <p:cNvSpPr/>
            <p:nvPr/>
          </p:nvSpPr>
          <p:spPr>
            <a:xfrm>
              <a:off x="8153400" y="3834765"/>
              <a:ext cx="3505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162925" y="396811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95335" y="403860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69021" y="4074319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(c) 开关互连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88096" y="441150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既有共享存储器，又有各处理机专用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的存储器。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84969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P：处理机；M：主存储器。三种结构都靠共享存储器通信，区别只在连接方式和有没有专用存储器。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同构与异构：异构性表现在哪些层面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895725" cy="1602105"/>
            <a:chOff x="533400" y="1524000"/>
            <a:chExt cx="389572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同构型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253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组成系统的计算机的硬件和软件相同或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非常相似，组成系统的计算机网络的硬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件和软件也相同或非常相似。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3895725" cy="1602105"/>
            <a:chOff x="533400" y="3316605"/>
            <a:chExt cx="3895725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389572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308" y="35618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异构型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3253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组成系统的计算机的硬件或软件不同，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或者组成系统的计算机网络的硬件或软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件不同。</a:t>
              </a:r>
            </a:p>
          </p:txBody>
        </p:sp>
      </p:grpSp>
      <p:grpSp>
        <p:nvGrpSpPr>
          <p:cNvPr id="24" name="c1-kv-3"/>
          <p:cNvGrpSpPr/>
          <p:nvPr/>
        </p:nvGrpSpPr>
        <p:grpSpPr>
          <a:xfrm>
            <a:off x="525780" y="5133975"/>
            <a:ext cx="3903345" cy="1015365"/>
            <a:chOff x="525780" y="5133975"/>
            <a:chExt cx="3903345" cy="1015365"/>
          </a:xfrm>
        </p:grpSpPr>
        <p:sp>
          <p:nvSpPr>
            <p:cNvPr id="19" name="TextBox 19"/>
            <p:cNvSpPr txBox="1"/>
            <p:nvPr/>
          </p:nvSpPr>
          <p:spPr>
            <a:xfrm>
              <a:off x="525780" y="5133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同构例子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8288" y="51339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同一型号服务器组成的集群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45401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55740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异构例子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38288" y="5574030"/>
              <a:ext cx="2520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节点加 GPU 节点，x86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 机器混用</a:t>
              </a:r>
            </a:p>
          </p:txBody>
        </p:sp>
      </p:grpSp>
      <p:grpSp>
        <p:nvGrpSpPr>
          <p:cNvPr id="72" name="c2-tree-1"/>
          <p:cNvGrpSpPr/>
          <p:nvPr/>
        </p:nvGrpSpPr>
        <p:grpSpPr>
          <a:xfrm>
            <a:off x="4733925" y="1606868"/>
            <a:ext cx="6924675" cy="4672965"/>
            <a:chOff x="4733925" y="1606868"/>
            <a:chExt cx="6924675" cy="4672965"/>
          </a:xfrm>
        </p:grpSpPr>
        <p:sp>
          <p:nvSpPr>
            <p:cNvPr id="25" name="Freeform 25"/>
            <p:cNvSpPr/>
            <p:nvPr/>
          </p:nvSpPr>
          <p:spPr>
            <a:xfrm>
              <a:off x="9822180" y="1792605"/>
              <a:ext cx="419100" cy="538162"/>
            </a:xfrm>
            <a:custGeom>
              <a:avLst/>
              <a:gdLst/>
              <a:ahLst/>
              <a:cxnLst/>
              <a:rect l="l" t="t" r="r" b="b"/>
              <a:pathLst>
                <a:path w="419100" h="538162">
                  <a:moveTo>
                    <a:pt x="0" y="538162"/>
                  </a:moveTo>
                  <a:lnTo>
                    <a:pt x="209550" y="5381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822180" y="233076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822180" y="2330768"/>
              <a:ext cx="419100" cy="537210"/>
            </a:xfrm>
            <a:custGeom>
              <a:avLst/>
              <a:gdLst/>
              <a:ahLst/>
              <a:cxnLst/>
              <a:rect l="l" t="t" r="r" b="b"/>
              <a:pathLst>
                <a:path w="419100" h="537210">
                  <a:moveTo>
                    <a:pt x="0" y="0"/>
                  </a:moveTo>
                  <a:lnTo>
                    <a:pt x="209550" y="0"/>
                  </a:lnTo>
                  <a:lnTo>
                    <a:pt x="209550" y="537210"/>
                  </a:lnTo>
                  <a:lnTo>
                    <a:pt x="419100" y="5372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22180" y="3406140"/>
              <a:ext cx="419100" cy="537210"/>
            </a:xfrm>
            <a:custGeom>
              <a:avLst/>
              <a:gdLst/>
              <a:ahLst/>
              <a:cxnLst/>
              <a:rect l="l" t="t" r="r" b="b"/>
              <a:pathLst>
                <a:path w="419100" h="537210">
                  <a:moveTo>
                    <a:pt x="0" y="537210"/>
                  </a:moveTo>
                  <a:lnTo>
                    <a:pt x="209550" y="53721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822180" y="3943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822180" y="3943350"/>
              <a:ext cx="419100" cy="537210"/>
            </a:xfrm>
            <a:custGeom>
              <a:avLst/>
              <a:gdLst/>
              <a:ahLst/>
              <a:cxnLst/>
              <a:rect l="l" t="t" r="r" b="b"/>
              <a:pathLst>
                <a:path w="419100" h="537210">
                  <a:moveTo>
                    <a:pt x="0" y="0"/>
                  </a:moveTo>
                  <a:lnTo>
                    <a:pt x="209550" y="0"/>
                  </a:lnTo>
                  <a:lnTo>
                    <a:pt x="209550" y="537210"/>
                  </a:lnTo>
                  <a:lnTo>
                    <a:pt x="419100" y="5372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986712" y="2330768"/>
              <a:ext cx="419100" cy="1343978"/>
            </a:xfrm>
            <a:custGeom>
              <a:avLst/>
              <a:gdLst/>
              <a:ahLst/>
              <a:cxnLst/>
              <a:rect l="l" t="t" r="r" b="b"/>
              <a:pathLst>
                <a:path w="419100" h="1343978">
                  <a:moveTo>
                    <a:pt x="0" y="1343978"/>
                  </a:moveTo>
                  <a:lnTo>
                    <a:pt x="209550" y="13439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986712" y="3674745"/>
              <a:ext cx="419100" cy="268605"/>
            </a:xfrm>
            <a:custGeom>
              <a:avLst/>
              <a:gdLst/>
              <a:ahLst/>
              <a:cxnLst/>
              <a:rect l="l" t="t" r="r" b="b"/>
              <a:pathLst>
                <a:path w="419100" h="268605">
                  <a:moveTo>
                    <a:pt x="0" y="0"/>
                  </a:moveTo>
                  <a:lnTo>
                    <a:pt x="209550" y="0"/>
                  </a:lnTo>
                  <a:lnTo>
                    <a:pt x="209550" y="268605"/>
                  </a:lnTo>
                  <a:lnTo>
                    <a:pt x="419100" y="2686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86712" y="3674745"/>
              <a:ext cx="419100" cy="1343977"/>
            </a:xfrm>
            <a:custGeom>
              <a:avLst/>
              <a:gdLst/>
              <a:ahLst/>
              <a:cxnLst/>
              <a:rect l="l" t="t" r="r" b="b"/>
              <a:pathLst>
                <a:path w="419100" h="1343977">
                  <a:moveTo>
                    <a:pt x="0" y="0"/>
                  </a:moveTo>
                  <a:lnTo>
                    <a:pt x="209550" y="0"/>
                  </a:lnTo>
                  <a:lnTo>
                    <a:pt x="209550" y="1343977"/>
                  </a:lnTo>
                  <a:lnTo>
                    <a:pt x="419100" y="134397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22180" y="555593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22180" y="60940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986712" y="5555932"/>
              <a:ext cx="419100" cy="269558"/>
            </a:xfrm>
            <a:custGeom>
              <a:avLst/>
              <a:gdLst/>
              <a:ahLst/>
              <a:cxnLst/>
              <a:rect l="l" t="t" r="r" b="b"/>
              <a:pathLst>
                <a:path w="419100" h="269558">
                  <a:moveTo>
                    <a:pt x="0" y="269558"/>
                  </a:moveTo>
                  <a:lnTo>
                    <a:pt x="209550" y="2695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86712" y="5825490"/>
              <a:ext cx="419100" cy="268605"/>
            </a:xfrm>
            <a:custGeom>
              <a:avLst/>
              <a:gdLst/>
              <a:ahLst/>
              <a:cxnLst/>
              <a:rect l="l" t="t" r="r" b="b"/>
              <a:pathLst>
                <a:path w="419100" h="268605">
                  <a:moveTo>
                    <a:pt x="0" y="0"/>
                  </a:moveTo>
                  <a:lnTo>
                    <a:pt x="209550" y="0"/>
                  </a:lnTo>
                  <a:lnTo>
                    <a:pt x="209550" y="268605"/>
                  </a:lnTo>
                  <a:lnTo>
                    <a:pt x="419100" y="2686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150292" y="3674745"/>
              <a:ext cx="419100" cy="1075372"/>
            </a:xfrm>
            <a:custGeom>
              <a:avLst/>
              <a:gdLst/>
              <a:ahLst/>
              <a:cxnLst/>
              <a:rect l="l" t="t" r="r" b="b"/>
              <a:pathLst>
                <a:path w="419100" h="1075372">
                  <a:moveTo>
                    <a:pt x="0" y="1075372"/>
                  </a:moveTo>
                  <a:lnTo>
                    <a:pt x="209550" y="10753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150292" y="4750118"/>
              <a:ext cx="419100" cy="1075373"/>
            </a:xfrm>
            <a:custGeom>
              <a:avLst/>
              <a:gdLst/>
              <a:ahLst/>
              <a:cxnLst/>
              <a:rect l="l" t="t" r="r" b="b"/>
              <a:pathLst>
                <a:path w="419100" h="1075373">
                  <a:moveTo>
                    <a:pt x="0" y="0"/>
                  </a:moveTo>
                  <a:lnTo>
                    <a:pt x="209550" y="0"/>
                  </a:lnTo>
                  <a:lnTo>
                    <a:pt x="209550" y="1075373"/>
                  </a:lnTo>
                  <a:lnTo>
                    <a:pt x="419100" y="10753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41280" y="1606868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241280" y="2039302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241280" y="2682240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05812" y="2144078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41280" y="3113722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41280" y="3756660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41280" y="4294822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05812" y="3756660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05812" y="4727258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69392" y="3383280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41280" y="5159692"/>
              <a:ext cx="1417320" cy="793432"/>
            </a:xfrm>
            <a:prstGeom prst="roundRect">
              <a:avLst>
                <a:gd name="adj" fmla="val 1200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05812" y="5370195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41280" y="5907405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05812" y="5907405"/>
              <a:ext cx="141732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69392" y="5533072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733925" y="4458652"/>
              <a:ext cx="1417320" cy="582930"/>
            </a:xfrm>
            <a:prstGeom prst="roundRect">
              <a:avLst>
                <a:gd name="adj" fmla="val 1634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30053" y="17035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指令系统不同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30053" y="2135981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数据表示方法不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30053" y="277891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机器的配置不同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94586" y="22417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硬件异构性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30053" y="321135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操作系统功能不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30053" y="38542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系统调用不同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30053" y="43915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文件系统不同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94586" y="38542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操作系统异构性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94586" y="4823936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程序设计语言的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58166" y="3479959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计算机系统的异</a:t>
              </a:r>
              <a:br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构性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30053" y="5256371"/>
              <a:ext cx="988314" cy="670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接口、连接方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通信方法不同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94586" y="54668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硬件异构性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30053" y="60050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通信协议不同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94586" y="60050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软件异构性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8166" y="563070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通信网络的异构</a:t>
              </a:r>
              <a:br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22698" y="4555331"/>
              <a:ext cx="9883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分布计算系统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的异构性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异构性为什么不可避免，以及它带来的麻烦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39817" cy="2582514"/>
            <a:chOff x="533400" y="1533525"/>
            <a:chExt cx="5139817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资源共享要求加入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系统资源越多，其他用户越希望加入共享，而新加入的系统往往与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原有软硬件不同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扩充时选新机型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硬件性能提高、价格下降，扩充系统时人们往往选新型计算机，而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不是原有的设备类型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异构组合性价比高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把不同软硬件结合起来能得到较高的性价比；配置一些专用结构的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处理器，普通计算机也能共享这些功能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294822"/>
            <a:ext cx="5410200" cy="1701165"/>
            <a:chOff x="533400" y="4294822"/>
            <a:chExt cx="5410200" cy="1701165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28172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50437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359" y="45400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怎样应对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94442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881562"/>
              <a:ext cx="3960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约定统一的数据表示，如网络字节序、JSON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527970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5216842"/>
              <a:ext cx="2951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约定统一的通信协议，如 TCP/IP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61498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5552122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用中间件把差异藏起来（见第49页）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1049655"/>
            <a:chOff x="6248400" y="1524000"/>
            <a:chExt cx="5410200" cy="104965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91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4202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数据表示不同：大端与小端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2129790"/>
              <a:ext cx="4962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位整数 0x12345678 在内存中按地址从低到高存放：</a:t>
              </a:r>
            </a:p>
          </p:txBody>
        </p:sp>
      </p:grpSp>
      <p:grpSp>
        <p:nvGrpSpPr>
          <p:cNvPr id="65" name="c2-cells-2"/>
          <p:cNvGrpSpPr/>
          <p:nvPr/>
        </p:nvGrpSpPr>
        <p:grpSpPr>
          <a:xfrm>
            <a:off x="6242304" y="2764155"/>
            <a:ext cx="4484752" cy="1431607"/>
            <a:chOff x="6242304" y="2764155"/>
            <a:chExt cx="4484752" cy="1431607"/>
          </a:xfrm>
        </p:grpSpPr>
        <p:sp>
          <p:nvSpPr>
            <p:cNvPr id="39" name="TextBox 39"/>
            <p:cNvSpPr txBox="1"/>
            <p:nvPr/>
          </p:nvSpPr>
          <p:spPr>
            <a:xfrm>
              <a:off x="6242304" y="2899410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小端 x86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98970" y="2764155"/>
              <a:ext cx="93249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65355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30515" y="276415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6900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63012" y="276415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9397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94558" y="276415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61895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26662" y="3238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58207" y="3238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0704" y="3238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23202" y="3238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2304" y="3680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大端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998970" y="3545205"/>
              <a:ext cx="93249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5355" y="3680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30515" y="354520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96900" y="3680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863012" y="354520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29397" y="3680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794558" y="3545205"/>
              <a:ext cx="9324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61895" y="36804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6662" y="4019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58207" y="4019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90704" y="4019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23202" y="4019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248400" y="4345305"/>
            <a:ext cx="5410200" cy="1650682"/>
            <a:chOff x="6248400" y="4345305"/>
            <a:chExt cx="5410200" cy="1650682"/>
          </a:xfrm>
        </p:grpSpPr>
        <p:sp>
          <p:nvSpPr>
            <p:cNvPr id="66" name="Rectangle 66"/>
            <p:cNvSpPr/>
            <p:nvPr/>
          </p:nvSpPr>
          <p:spPr>
            <a:xfrm>
              <a:off x="6248400" y="4345305"/>
              <a:ext cx="5410200" cy="1650682"/>
            </a:xfrm>
            <a:prstGeom prst="roundRect">
              <a:avLst>
                <a:gd name="adj" fmla="val 69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071110"/>
              <a:ext cx="200026" cy="200025"/>
              <a:chOff x="6453188" y="5071110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0711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92926" y="51155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27642" y="52266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130" y="4790122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两台机器直接交换原始字节会把 0x12345678 读成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0x78563412。所以网络协议规定统一的网络字节序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（大端），收发双方各自转换。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透明性：用户和程序员看不见网络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2383155"/>
            <a:chOff x="533400" y="1524000"/>
            <a:chExt cx="4328160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383155"/>
            </a:xfrm>
            <a:prstGeom prst="roundRect">
              <a:avLst>
                <a:gd name="adj" fmla="val 5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164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事物本来存在某种属性，但从某种角度来看是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不可见的。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36212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分布计算系统的透明性：网络中的全部机器表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现为一台，用户或程序员看不到机器的边界和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网络本身，不必知道数据放在哪里、进程在何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处执行。</a:t>
              </a:r>
            </a:p>
          </p:txBody>
        </p:sp>
      </p:grpSp>
      <p:grpSp>
        <p:nvGrpSpPr>
          <p:cNvPr id="16" name="c1-image-2"/>
          <p:cNvGrpSpPr/>
          <p:nvPr/>
        </p:nvGrpSpPr>
        <p:grpSpPr>
          <a:xfrm>
            <a:off x="1278636" y="4087178"/>
            <a:ext cx="2837688" cy="2268473"/>
            <a:chOff x="1278636" y="4087178"/>
            <a:chExt cx="2837688" cy="2268473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rcRect l="5561" t="0" r="5561" b="0"/>
            <a:stretch>
              <a:fillRect/>
            </a:stretch>
          </p:blipFill>
          <p:spPr>
            <a:xfrm>
              <a:off x="1383982" y="4087178"/>
              <a:ext cx="2626042" cy="1969770"/>
            </a:xfrm>
            <a:prstGeom prst="roundRect">
              <a:avLst>
                <a:gd name="adj" fmla="val 6769"/>
              </a:avLst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278636" y="615029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用户只看见一个窗口，看不见后面的多个仓库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166360" y="1524000"/>
            <a:ext cx="6492240" cy="4675822"/>
            <a:chOff x="5166360" y="1524000"/>
            <a:chExt cx="6492240" cy="4675822"/>
          </a:xfrm>
        </p:grpSpPr>
        <p:sp>
          <p:nvSpPr>
            <p:cNvPr id="17" name="Rectangle 17"/>
            <p:cNvSpPr/>
            <p:nvPr/>
          </p:nvSpPr>
          <p:spPr>
            <a:xfrm>
              <a:off x="5166360" y="1524000"/>
              <a:ext cx="649224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0183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9049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09466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例子或前提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8849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名字透明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7566" y="2076450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对象的名字全局唯一，在哪里访问都用同一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个名字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83686" y="207645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程序在系统中移动不影响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66360" y="25812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66360" y="2586038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8849" y="28213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位置透明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7566" y="282130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资源的名字不含位置信息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83686" y="27146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资源移动后名字不变，原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程序照常运行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66360" y="3219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8849" y="34594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访问透明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7566" y="345948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访问本地资源和远程资源的方法一样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83686" y="335280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读远程文件和读本地文件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用同样的调用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6360" y="38566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66360" y="386143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8849" y="3990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迁移透明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7566" y="399002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用户不知道资源或作业是否迁移到了别处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83686" y="3990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需要名字透明支持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42814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8849" y="45215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复制透明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7566" y="4414838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多个副本同时存在但对用户不可见，修改作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用到所有副本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83686" y="452151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分布式文件系统的多副本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49196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66360" y="4924425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8849" y="5052060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并发和并行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7566" y="5052060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多个进程并发或并行访问同一资源、或一个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进程同时用多个资源，互不干扰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83686" y="515874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需要同步机制保证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55568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8849" y="57969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失效透明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7566" y="579691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某一部分失效时，整个系统仍可正常运行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83686" y="569023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一个副本所在节点宕机，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请求转到其他副本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1524000"/>
              <a:ext cx="6492240" cy="46758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330315" y="1524000"/>
              <a:ext cx="9525" cy="4675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576435" y="1524000"/>
              <a:ext cx="9525" cy="4675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透明性的好处，以及异构性对透明性的影响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4544378" cy="4069080"/>
            <a:chOff x="533400" y="1524000"/>
            <a:chExt cx="4544378" cy="40690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069080"/>
            </a:xfrm>
            <a:prstGeom prst="roundRect">
              <a:avLst>
                <a:gd name="adj" fmla="val 32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023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853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系统具有透明性时的优点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软件研制容易：访问资源的方法只有一种，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软件功能与位置无关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系统某些资源变动时，不影响或较少影响应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用软件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资源冗余（硬件、软件冗余）使操作更可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靠、可用性更好，透明性让冗余资源互相替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换更容易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424624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2885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42595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把一个操作从一个地方移到其他若干地方时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没有影响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376862" y="1524000"/>
            <a:ext cx="6281738" cy="4113372"/>
            <a:chOff x="5376862" y="1524000"/>
            <a:chExt cx="6281738" cy="4113372"/>
          </a:xfrm>
        </p:grpSpPr>
        <p:sp>
          <p:nvSpPr>
            <p:cNvPr id="24" name="Rectangle 24"/>
            <p:cNvSpPr/>
            <p:nvPr/>
          </p:nvSpPr>
          <p:spPr>
            <a:xfrm>
              <a:off x="5382578" y="1524000"/>
              <a:ext cx="6276022" cy="7543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24500" y="166306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异构系统的实现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1888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适用情形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05048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89258" y="268414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通过网络服务松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散集成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0890" y="2550795"/>
              <a:ext cx="1348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机种很多、每种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机器很少（早期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8252" y="2417445"/>
              <a:ext cx="24917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不透明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：用户显式使用远程过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程调用、命名、权限检查等基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本设施，以及文件、邮件、打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印、远程计算等服务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82578" y="35613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82578" y="3566160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9258" y="383857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共享不同语言的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20890" y="383857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每个机种有很多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台机器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78252" y="3705225"/>
              <a:ext cx="2491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提供设施让不同语言写的程序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共享，一种语言的程序可透明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地调用另一种语言的程序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82578" y="45824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9258" y="472630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在已有系统上加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前端软件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0890" y="472630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 PC 访问现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存的公用数据库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78252" y="4726305"/>
              <a:ext cx="2434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PC 上加数据库协议软件，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就能在 PC 上使用该数据库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1524000"/>
              <a:ext cx="6276022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09448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6681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376862" y="541734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不同方法实现的异构系统具有不同程度的透明性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87890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对照上一页：优点 1 靠访问透明和位置透明，优点 3 靠复制透明和失效透明，优点 4 靠迁移透明。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局部自治和网络互连也会限制透明性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3129915"/>
            <a:chOff x="533400" y="1524000"/>
            <a:chExt cx="5410200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局部自治性的影响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系统由分散在各地的计算机组成，各地点希望保持对本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地机器的控制权，这限制了全局透明性。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73177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资源控制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：各机器由不同用户或同一机关的不同部门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控制，希望在资源使用上有较大控制权，要在透明性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和局部自治之间折衷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6252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6675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63855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：即使同型号机器，不同用户也可能用不同方式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组织目录，例如 FORTRAN 程序库在一台机器上用某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个名字，在另一台上用另一个名字，造成不透明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3129915"/>
            <a:chOff x="6248400" y="1524000"/>
            <a:chExt cx="5410200" cy="312991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网络互连的影响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96050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7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704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网络连接了不同厂商、不同系列的计算机，要实现透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明性必须修改这些机器的软件，很不实际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960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7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704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现在的网络大多直接从早期网络发展而来，最重要的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功能是通信，并未考虑分布计算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33528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远程网络很昂贵，低带宽或高延迟（或两者兼有），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很多人认为应当让这类资源的使用可见（不透明）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9864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追求透明性不能绝对，是一种权衡（trade off）：远程访问慢几个数量级时，让程序员看得见远程，反而能写出更快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的程序。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分层体系结构：层与层之间靠接口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602105"/>
            <a:chOff x="533400" y="1524000"/>
            <a:chExt cx="497776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分布计算系统可分成若干逻辑层，层与层之间称为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接口，每层有上、下两个接口。层的功能还可以再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分成若干模块，模块之间也有接口。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16605"/>
            <a:ext cx="4977765" cy="2298382"/>
            <a:chOff x="533400" y="3316605"/>
            <a:chExt cx="4977765" cy="2298382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977765" cy="2298382"/>
            </a:xfrm>
            <a:prstGeom prst="roundRect">
              <a:avLst>
                <a:gd name="adj" fmla="val 58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20316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655" y="35618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接口由三部分组成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89001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9323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90334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一套可见的抽象对象（资源），以及对这些对象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要求的操作和参数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45110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553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4524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一套控制这些操作合法顺序的规则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4846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4888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48596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操作和参数所需的编码和格式化约定</a:t>
              </a:r>
            </a:p>
          </p:txBody>
        </p:sp>
      </p:grpSp>
      <p:grpSp>
        <p:nvGrpSpPr>
          <p:cNvPr id="66" name="c2-graph-1"/>
          <p:cNvGrpSpPr/>
          <p:nvPr/>
        </p:nvGrpSpPr>
        <p:grpSpPr>
          <a:xfrm>
            <a:off x="5867591" y="1882140"/>
            <a:ext cx="5739383" cy="3125438"/>
            <a:chOff x="5867591" y="1882140"/>
            <a:chExt cx="5739383" cy="3125438"/>
          </a:xfrm>
        </p:grpSpPr>
        <p:sp>
          <p:nvSpPr>
            <p:cNvPr id="27" name="Freeform 27"/>
            <p:cNvSpPr/>
            <p:nvPr/>
          </p:nvSpPr>
          <p:spPr>
            <a:xfrm>
              <a:off x="6549390" y="2199322"/>
              <a:ext cx="1301115" cy="618172"/>
            </a:xfrm>
            <a:custGeom>
              <a:avLst/>
              <a:gdLst/>
              <a:ahLst/>
              <a:cxnLst/>
              <a:rect l="l" t="t" r="r" b="b"/>
              <a:pathLst>
                <a:path w="1301115" h="618172">
                  <a:moveTo>
                    <a:pt x="0" y="0"/>
                  </a:moveTo>
                  <a:lnTo>
                    <a:pt x="1301115" y="6181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830502" y="277463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463665" y="215646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1905"/>
                  </a:moveTo>
                  <a:lnTo>
                    <a:pt x="106680" y="0"/>
                  </a:lnTo>
                  <a:lnTo>
                    <a:pt x="65722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577965" y="3238500"/>
              <a:ext cx="1178242" cy="9525"/>
            </a:xfrm>
            <a:custGeom>
              <a:avLst/>
              <a:gdLst/>
              <a:ahLst/>
              <a:cxnLst/>
              <a:rect l="l" t="t" r="r" b="b"/>
              <a:pathLst>
                <a:path w="1178242" h="9525">
                  <a:moveTo>
                    <a:pt x="0" y="0"/>
                  </a:moveTo>
                  <a:lnTo>
                    <a:pt x="11782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756208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482715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49390" y="3659505"/>
              <a:ext cx="1301115" cy="618173"/>
            </a:xfrm>
            <a:custGeom>
              <a:avLst/>
              <a:gdLst/>
              <a:ahLst/>
              <a:cxnLst/>
              <a:rect l="l" t="t" r="r" b="b"/>
              <a:pathLst>
                <a:path w="1301115" h="618173">
                  <a:moveTo>
                    <a:pt x="0" y="618173"/>
                  </a:moveTo>
                  <a:lnTo>
                    <a:pt x="13011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830502" y="361664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1905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463665" y="423481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5722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623108" y="2199322"/>
              <a:ext cx="1301115" cy="618172"/>
            </a:xfrm>
            <a:custGeom>
              <a:avLst/>
              <a:gdLst/>
              <a:ahLst/>
              <a:cxnLst/>
              <a:rect l="l" t="t" r="r" b="b"/>
              <a:pathLst>
                <a:path w="1301115" h="618172">
                  <a:moveTo>
                    <a:pt x="0" y="618172"/>
                  </a:moveTo>
                  <a:lnTo>
                    <a:pt x="13011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904220" y="215646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1905"/>
                  </a:moveTo>
                  <a:lnTo>
                    <a:pt x="40957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537382" y="277463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5723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718358" y="3238500"/>
              <a:ext cx="1177290" cy="9525"/>
            </a:xfrm>
            <a:custGeom>
              <a:avLst/>
              <a:gdLst/>
              <a:ahLst/>
              <a:cxnLst/>
              <a:rect l="l" t="t" r="r" b="b"/>
              <a:pathLst>
                <a:path w="1177290" h="9525">
                  <a:moveTo>
                    <a:pt x="0" y="0"/>
                  </a:moveTo>
                  <a:lnTo>
                    <a:pt x="11772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895648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623108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623108" y="3659505"/>
              <a:ext cx="1301115" cy="618173"/>
            </a:xfrm>
            <a:custGeom>
              <a:avLst/>
              <a:gdLst/>
              <a:ahLst/>
              <a:cxnLst/>
              <a:rect l="l" t="t" r="r" b="b"/>
              <a:pathLst>
                <a:path w="1301115" h="618173">
                  <a:moveTo>
                    <a:pt x="0" y="0"/>
                  </a:moveTo>
                  <a:lnTo>
                    <a:pt x="1301115" y="6181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904220" y="423481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537382" y="361664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1905"/>
                  </a:moveTo>
                  <a:lnTo>
                    <a:pt x="106680" y="0"/>
                  </a:lnTo>
                  <a:lnTo>
                    <a:pt x="65723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860982" y="2362200"/>
              <a:ext cx="1752600" cy="1752600"/>
            </a:xfrm>
            <a:prstGeom prst="ellipse">
              <a:avLst/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092190" y="188214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092190" y="304800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092190" y="421386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1000422" y="188214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1000422" y="30480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1000422" y="421386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04238" y="306895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分布式操作系统内核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4238" y="325945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分布式进程通信子层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78022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78022" y="3164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78022" y="43300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86254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86254" y="31642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86254" y="43300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08470" y="3145155"/>
              <a:ext cx="71723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22896" y="3179921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请求 / 回答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48862" y="3145155"/>
              <a:ext cx="71723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62336" y="3179921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请求 / 回答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67591" y="4758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顾客进程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32452" y="47582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服务员进程</a:t>
              </a:r>
            </a:p>
          </p:txBody>
        </p:sp>
      </p:grpSp>
      <p:grpSp>
        <p:nvGrpSpPr>
          <p:cNvPr id="68" name="c2-text-2"/>
          <p:cNvGrpSpPr/>
          <p:nvPr/>
        </p:nvGrpSpPr>
        <p:grpSpPr>
          <a:xfrm>
            <a:off x="5809488" y="5164931"/>
            <a:ext cx="5588762" cy="500824"/>
            <a:chOff x="5809488" y="5164931"/>
            <a:chExt cx="5588762" cy="500824"/>
          </a:xfrm>
        </p:grpSpPr>
        <p:sp>
          <p:nvSpPr>
            <p:cNvPr id="67" name="TextBox 67"/>
            <p:cNvSpPr txBox="1"/>
            <p:nvPr/>
          </p:nvSpPr>
          <p:spPr>
            <a:xfrm>
              <a:off x="5809488" y="5164931"/>
              <a:ext cx="55887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面向进程和报文传递的模型：顾客进程 C 和服务员进程 S 不直接相连，都经过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内核的进程通信子层收发请求和回答报文。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分布计算系统的四层组成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815340" y="1734502"/>
            <a:ext cx="4629150" cy="3695129"/>
            <a:chOff x="815340" y="1734502"/>
            <a:chExt cx="4629150" cy="3695129"/>
          </a:xfrm>
        </p:grpSpPr>
        <p:sp>
          <p:nvSpPr>
            <p:cNvPr id="7" name="Freeform 7"/>
            <p:cNvSpPr/>
            <p:nvPr/>
          </p:nvSpPr>
          <p:spPr>
            <a:xfrm>
              <a:off x="1733550" y="4565332"/>
              <a:ext cx="1079182" cy="543877"/>
            </a:xfrm>
            <a:custGeom>
              <a:avLst/>
              <a:gdLst/>
              <a:ahLst/>
              <a:cxnLst/>
              <a:rect l="l" t="t" r="r" b="b"/>
              <a:pathLst>
                <a:path w="1079182" h="543877">
                  <a:moveTo>
                    <a:pt x="0" y="0"/>
                  </a:moveTo>
                  <a:lnTo>
                    <a:pt x="1079182" y="5438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29915" y="4565332"/>
              <a:ext cx="9525" cy="543877"/>
            </a:xfrm>
            <a:custGeom>
              <a:avLst/>
              <a:gdLst/>
              <a:ahLst/>
              <a:cxnLst/>
              <a:rect l="l" t="t" r="r" b="b"/>
              <a:pathLst>
                <a:path w="9525" h="543877">
                  <a:moveTo>
                    <a:pt x="0" y="0"/>
                  </a:moveTo>
                  <a:lnTo>
                    <a:pt x="0" y="5438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48050" y="4565332"/>
              <a:ext cx="1079182" cy="543877"/>
            </a:xfrm>
            <a:custGeom>
              <a:avLst/>
              <a:gdLst/>
              <a:ahLst/>
              <a:cxnLst/>
              <a:rect l="l" t="t" r="r" b="b"/>
              <a:pathLst>
                <a:path w="1079182" h="543877">
                  <a:moveTo>
                    <a:pt x="1079182" y="0"/>
                  </a:moveTo>
                  <a:lnTo>
                    <a:pt x="0" y="5438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97280" y="1734502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97280" y="2557462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5340" y="342233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29840" y="342233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43388" y="342233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15340" y="424529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29840" y="424529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43388" y="4245292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97280" y="5109210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86326" y="1820228"/>
              <a:ext cx="1287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第4层 分布式应用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53766" y="2643188"/>
              <a:ext cx="1352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第3层 DOS 服务层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063" y="3507105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DOS 内核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69611" y="3507105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DOS 内核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4111" y="3507105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DOS 内核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2454" y="4331018"/>
              <a:ext cx="807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机器A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26002" y="4331018"/>
              <a:ext cx="807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机器B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0502" y="4331018"/>
              <a:ext cx="807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机器C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2275" y="51949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032182" y="1524000"/>
            <a:ext cx="5626418" cy="3358515"/>
            <a:chOff x="6032182" y="1524000"/>
            <a:chExt cx="5626418" cy="3358515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0883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04554" y="16587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包括什么、做什么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386" y="2255044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应用层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99426" y="2128361"/>
              <a:ext cx="36212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和各种应用有关的顾客服务进程；主要考虑应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用结构问题和语言问题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7108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2715578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6386" y="2977039"/>
              <a:ext cx="12241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DOS 服务层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99426" y="2850356"/>
              <a:ext cx="36212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为各种应用提供基本、共同的服务，实现基本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的资源分配和复用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432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6386" y="3699034"/>
              <a:ext cx="1033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DOS 内核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9426" y="3572351"/>
              <a:ext cx="378358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最基本最重要的功能是进程通信（IPC），还有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进程同步机制、进程管理、存储管理、I/O 管理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41557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4160520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6386" y="4295299"/>
              <a:ext cx="11812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硬件/固件层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（硬核）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99426" y="4295299"/>
              <a:ext cx="378358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处理器、主存、I/O 设备、键盘、终端，以及用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于数据采集和物理过程控制的各种硬件设备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33585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90460" y="1524000"/>
              <a:ext cx="9525" cy="3358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2"/>
          <p:cNvGrpSpPr/>
          <p:nvPr/>
        </p:nvGrpSpPr>
        <p:grpSpPr>
          <a:xfrm>
            <a:off x="6032182" y="5068252"/>
            <a:ext cx="5626418" cy="756285"/>
            <a:chOff x="6032182" y="5068252"/>
            <a:chExt cx="5626418" cy="756285"/>
          </a:xfrm>
        </p:grpSpPr>
        <p:sp>
          <p:nvSpPr>
            <p:cNvPr id="48" name="Rectangle 48"/>
            <p:cNvSpPr/>
            <p:nvPr/>
          </p:nvSpPr>
          <p:spPr>
            <a:xfrm>
              <a:off x="6032182" y="5068252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36970" y="5346383"/>
              <a:ext cx="200026" cy="200025"/>
              <a:chOff x="6236970" y="534638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346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76709" y="5390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11424" y="5501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39294" y="521541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内核在每台机器上各有一份，服务层和应用层横跨全部机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器，用户看到的是一个整体。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分布式计算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基于中间件的分布计算系统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815340" y="1687830"/>
            <a:ext cx="4629150" cy="3757041"/>
            <a:chOff x="815340" y="1687830"/>
            <a:chExt cx="4629150" cy="3757041"/>
          </a:xfrm>
        </p:grpSpPr>
        <p:sp>
          <p:nvSpPr>
            <p:cNvPr id="7" name="Freeform 7"/>
            <p:cNvSpPr/>
            <p:nvPr/>
          </p:nvSpPr>
          <p:spPr>
            <a:xfrm>
              <a:off x="1773555" y="4676775"/>
              <a:ext cx="1000125" cy="447675"/>
            </a:xfrm>
            <a:custGeom>
              <a:avLst/>
              <a:gdLst/>
              <a:ahLst/>
              <a:cxnLst/>
              <a:rect l="l" t="t" r="r" b="b"/>
              <a:pathLst>
                <a:path w="1000125" h="447675">
                  <a:moveTo>
                    <a:pt x="0" y="0"/>
                  </a:moveTo>
                  <a:lnTo>
                    <a:pt x="1000125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29915" y="4676775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87102" y="4676775"/>
              <a:ext cx="1000125" cy="447675"/>
            </a:xfrm>
            <a:custGeom>
              <a:avLst/>
              <a:gdLst/>
              <a:ahLst/>
              <a:cxnLst/>
              <a:rect l="l" t="t" r="r" b="b"/>
              <a:pathLst>
                <a:path w="1000125" h="447675">
                  <a:moveTo>
                    <a:pt x="1000125" y="0"/>
                  </a:moveTo>
                  <a:lnTo>
                    <a:pt x="0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97280" y="1687830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97280" y="2374582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5340" y="3062288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29840" y="3062288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43388" y="3062288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15340" y="37090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29840" y="37090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43388" y="37090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5340" y="43567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29840" y="43567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43388" y="4356735"/>
              <a:ext cx="120110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97280" y="5124450"/>
              <a:ext cx="406527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19959" y="17726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分布式应用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19959" y="246030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中间件服务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063" y="3148012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NOS 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69611" y="3148012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NOS 服务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4111" y="3148012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NOS 服务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5350" y="3794760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18897" y="3794760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OS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3397" y="3794760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OS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2558" y="444150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86105" y="444150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0605" y="444150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硬核 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62275" y="52101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032182" y="1524000"/>
            <a:ext cx="5626418" cy="2137410"/>
            <a:chOff x="6032182" y="1524000"/>
            <a:chExt cx="5626418" cy="2137410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1708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74118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267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为什么要中间件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66879" y="210073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直接利用网络操作系统（NOS）提供的服务编写的应用程序，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很难有很高的透明度。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66879" y="2692241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中间件的一个重要目标是为应用程序隐藏底层平台的异构性。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许多中间件提供某种程度的全局服务集成，只把使用这些服务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的接口交给用户或应用程序。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032182" y="3847148"/>
            <a:ext cx="5626418" cy="1720215"/>
            <a:chOff x="6032182" y="3847148"/>
            <a:chExt cx="5626418" cy="1720215"/>
          </a:xfrm>
        </p:grpSpPr>
        <p:sp>
          <p:nvSpPr>
            <p:cNvPr id="42" name="Rectangle 42"/>
            <p:cNvSpPr/>
            <p:nvPr/>
          </p:nvSpPr>
          <p:spPr>
            <a:xfrm>
              <a:off x="6032182" y="3847148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9865" y="39785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032" y="397859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分布式操作系统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79939" y="39785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基于中间件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37529" y="4408170"/>
              <a:ext cx="1106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各机器上的 OS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8174" y="4408170"/>
              <a:ext cx="1238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DOS 内核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25584" y="4408170"/>
              <a:ext cx="1900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各自的本地 OS，可以不同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4702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470725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7529" y="48387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88174" y="48387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25584" y="48387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由中间件提供，程度中等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5133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7529" y="52692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对异构的容忍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8174" y="52692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25584" y="52692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847148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78065" y="384714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515475" y="384714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84446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各层或很多层共有的设计问题（原课件第97页）：命名、差错控制、资源管理、同步、保护、测试。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247007" cy="3706177"/>
            <a:chOff x="667512" y="1835468"/>
            <a:chExt cx="4247007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量化原理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用几条定律和公式估算一项改进到底值多少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经常性原理与局部性原理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26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Benchmark 原理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94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Moore 定律与 Dennard 定律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960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定律与计算开销评价模型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性能公式与例题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经常性原理与局部性原理：把力气花在常发生的事上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64958"/>
            <a:chOff x="533400" y="1524000"/>
            <a:chExt cx="5410200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经常性原理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346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以经常性事件为重点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对经常发生的情况优先采用优化方法，得到更多总体上的改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进。优化指分配更多资源、达到更高性能或分配更多电能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73742"/>
            <a:ext cx="5410200" cy="2777490"/>
            <a:chOff x="533400" y="3273742"/>
            <a:chExt cx="5410200" cy="2777490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5410200" cy="2777490"/>
            </a:xfrm>
            <a:prstGeom prst="roundRect">
              <a:avLst>
                <a:gd name="adj" fmla="val 4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7092"/>
              <a:ext cx="47625" cy="25107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47757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741" y="35132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局部性原理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385143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程序执行时访问的存储器地址相对簇聚，并不随机分布。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42310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4171474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帕累托法则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：80% 的执行时间花在 20% 的代码上（生活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中的二八原则）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8225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76297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时间局部性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：即将用到的信息很可能就是正在用或刚刚用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过的信息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4140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35447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空间局部性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：即将用到的信息很可能与正在用的信息在空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间上相邻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242685" y="1524000"/>
            <a:ext cx="5415915" cy="1799749"/>
            <a:chOff x="6242685" y="1524000"/>
            <a:chExt cx="5415915" cy="1799749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95534" y="1655445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 10 倍的对象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725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53331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整体加速比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3747" y="2085022"/>
              <a:ext cx="197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80% 时间的那 20% 代码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17826" y="2085022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(0.2 + 0.8 / 10)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77500" y="1964055"/>
              <a:ext cx="117157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73322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38410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2515552"/>
              <a:ext cx="186309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20% 时间的其余 80% 代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7826" y="2622232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(0.8 + 0.2 / 10)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77500" y="2393632"/>
              <a:ext cx="1171575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73322" y="262223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407718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463212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2685" y="3103721"/>
              <a:ext cx="5098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同样花力气加速 10 倍，挑对对象差了近 3 倍（算法见后面的 Amdahl 定律）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248400" y="3464242"/>
            <a:ext cx="5410200" cy="1189672"/>
            <a:chOff x="6248400" y="3464242"/>
            <a:chExt cx="5410200" cy="1189672"/>
          </a:xfrm>
        </p:grpSpPr>
        <p:sp>
          <p:nvSpPr>
            <p:cNvPr id="45" name="Rectangle 45"/>
            <p:cNvSpPr/>
            <p:nvPr/>
          </p:nvSpPr>
          <p:spPr>
            <a:xfrm>
              <a:off x="6248400" y="3464242"/>
              <a:ext cx="5410200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6797" y="361616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一个循环里的两种局部性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949" y="3876580"/>
              <a:ext cx="3459683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 += a[i];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sum、i 反复使用：时间局部性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a[0], a[1], ... 相邻：空间局部性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248400" y="4839652"/>
            <a:ext cx="5410200" cy="1212532"/>
            <a:chOff x="6248400" y="4839652"/>
            <a:chExt cx="5410200" cy="1212532"/>
          </a:xfrm>
        </p:grpSpPr>
        <p:sp>
          <p:nvSpPr>
            <p:cNvPr id="49" name="Rectangle 49"/>
            <p:cNvSpPr/>
            <p:nvPr/>
          </p:nvSpPr>
          <p:spPr>
            <a:xfrm>
              <a:off x="6248400" y="4839652"/>
              <a:ext cx="5410200" cy="1212532"/>
            </a:xfrm>
            <a:prstGeom prst="roundRect">
              <a:avLst>
                <a:gd name="adj" fmla="val 94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5345430"/>
              <a:ext cx="200026" cy="200025"/>
              <a:chOff x="6453188" y="5345430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53454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92926" y="53898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27642" y="55010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511" y="5083969"/>
              <a:ext cx="453199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正是靠这两种局部性工作的：刚访问过的数据留在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里（时间），缺失时一次调入相邻的一整块（空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65341" cy="909257"/>
            <a:chOff x="520446" y="342900"/>
            <a:chExt cx="64653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653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Benchmark 原理：实质是比较，不是测试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2322195"/>
            <a:chOff x="533400" y="1524000"/>
            <a:chExt cx="5193982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791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700" y="1769269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Benchmark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Benchmark 的实质是比较。只对一台计算机的测试不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Benchmark。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考研成绩单：分数要和其他考生比才有意义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3238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对比研究（Comparative Studies）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023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大学毕业前的三商测试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36695"/>
            <a:ext cx="5193982" cy="2155508"/>
            <a:chOff x="533400" y="4036695"/>
            <a:chExt cx="5193982" cy="2155508"/>
          </a:xfrm>
        </p:grpSpPr>
        <p:sp>
          <p:nvSpPr>
            <p:cNvPr id="19" name="Rectangle 19"/>
            <p:cNvSpPr/>
            <p:nvPr/>
          </p:nvSpPr>
          <p:spPr>
            <a:xfrm>
              <a:off x="533400" y="4036695"/>
              <a:ext cx="5193982" cy="2155508"/>
            </a:xfrm>
            <a:prstGeom prst="roundRect">
              <a:avLst>
                <a:gd name="adj" fmla="val 61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70045"/>
              <a:ext cx="47625" cy="18888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246245"/>
              <a:ext cx="266223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045" y="4281964"/>
              <a:ext cx="2621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基准测试程序套件 Benchmark Suites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623435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选择一组各方面有代表性的测试程序组成通用测试程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序集合，避免单个测试程序的片面性，尽可能全面地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测试一个系统在各方面（与其他典型系统相比）的性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032182" y="1524000"/>
            <a:ext cx="5626418" cy="2244090"/>
            <a:chOff x="6032182" y="1524000"/>
            <a:chExt cx="5626418" cy="2244090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249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常见套件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238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40006" y="2108359"/>
              <a:ext cx="80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 CPU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27836" y="21083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整数和浮点运算为主的处理器性能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40006" y="2556986"/>
              <a:ext cx="701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LINPACK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27836" y="2556986"/>
              <a:ext cx="3461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求解稠密线性方程组，TOP500 超算排名用它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0006" y="300561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27836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数据库事务处理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3454241"/>
              <a:ext cx="664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MLPerf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27836" y="34542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机器学习的训练和推理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1525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6032182" y="3958590"/>
            <a:ext cx="5626418" cy="2233612"/>
            <a:chOff x="6032182" y="3958590"/>
            <a:chExt cx="5626418" cy="2233612"/>
          </a:xfrm>
        </p:grpSpPr>
        <p:sp>
          <p:nvSpPr>
            <p:cNvPr id="44" name="Rectangle 44"/>
            <p:cNvSpPr/>
            <p:nvPr/>
          </p:nvSpPr>
          <p:spPr>
            <a:xfrm>
              <a:off x="6032182" y="3958590"/>
              <a:ext cx="5626418" cy="223361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4091940"/>
              <a:ext cx="47625" cy="19669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79832" y="416814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5586" y="42038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套件怎样汇总成一个数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2212" y="4545330"/>
              <a:ext cx="4930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 对每个程序算 SPECratio = 参考机运行时间 / 被测机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运行时间，再取几何平均。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2212" y="516636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三个程序的比值为 2、4、8：几何平均 (2 × 4 × 8) 开 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次方 = 4，算术平均约 4.67。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3356" y="5784056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用几何平均，换哪台机器当参考机，两台被测机的比较结论都不变。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3344" cy="909257"/>
            <a:chOff x="520446" y="342900"/>
            <a:chExt cx="8663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3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Moore 定律与 Dennard 定律：密度翻倍，功率密度不变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777365"/>
            <a:chOff x="533400" y="1524000"/>
            <a:chExt cx="4869180" cy="1777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791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59" y="1763554"/>
              <a:ext cx="833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Moore 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单位面积上的晶体管数量约每 18 个月增加一倍，价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格则相反（每个晶体管的成本下降）。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688907"/>
              <a:ext cx="4203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Moore 在 1965 年说每年翻一倍，1975 年改为每两年；“18 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月”是后来流行的说法。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486150"/>
            <a:ext cx="4869180" cy="1290638"/>
            <a:chOff x="533400" y="3486150"/>
            <a:chExt cx="4869180" cy="1290638"/>
          </a:xfrm>
        </p:grpSpPr>
        <p:sp>
          <p:nvSpPr>
            <p:cNvPr id="14" name="Rectangle 14"/>
            <p:cNvSpPr/>
            <p:nvPr/>
          </p:nvSpPr>
          <p:spPr>
            <a:xfrm>
              <a:off x="533400" y="3486150"/>
              <a:ext cx="486918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5733" y="36175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翻倍周期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2332" y="3617595"/>
              <a:ext cx="121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年内翻倍次数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87721" y="3617595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年增长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8543" y="404812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个月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48001" y="404812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05490" y="4048125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102 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414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34625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8543" y="447770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个月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1274" y="44777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4919" y="4477702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86150"/>
              <a:ext cx="486918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51672" y="34861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03345" y="34861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3"/>
          <p:cNvGrpSpPr/>
          <p:nvPr/>
        </p:nvGrpSpPr>
        <p:grpSpPr>
          <a:xfrm>
            <a:off x="533400" y="4962525"/>
            <a:ext cx="4869180" cy="1226820"/>
            <a:chOff x="533400" y="4962525"/>
            <a:chExt cx="4869180" cy="1226820"/>
          </a:xfrm>
        </p:grpSpPr>
        <p:sp>
          <p:nvSpPr>
            <p:cNvPr id="30" name="Rectangle 30"/>
            <p:cNvSpPr/>
            <p:nvPr/>
          </p:nvSpPr>
          <p:spPr>
            <a:xfrm>
              <a:off x="533400" y="4962525"/>
              <a:ext cx="4869180" cy="1226820"/>
            </a:xfrm>
            <a:prstGeom prst="roundRect">
              <a:avLst>
                <a:gd name="adj" fmla="val 93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6129" y="5471278"/>
              <a:ext cx="224134" cy="192560"/>
              <a:chOff x="726129" y="547127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55416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129" y="54712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6194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5213509"/>
              <a:ext cx="399999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2005 年前后电压降不下去（漏电增大），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Dennard 缩放失效，主频停在几 GHz，多出来的晶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体管只能用来做多核。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707380" y="1524000"/>
            <a:ext cx="5951220" cy="1274445"/>
            <a:chOff x="5707380" y="1524000"/>
            <a:chExt cx="5951220" cy="1274445"/>
          </a:xfrm>
        </p:grpSpPr>
        <p:sp>
          <p:nvSpPr>
            <p:cNvPr id="37" name="Rectangle 37"/>
            <p:cNvSpPr/>
            <p:nvPr/>
          </p:nvSpPr>
          <p:spPr>
            <a:xfrm>
              <a:off x="5707380" y="1524000"/>
              <a:ext cx="595122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1690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949315" y="1727835"/>
              <a:ext cx="111347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18882" y="1763554"/>
              <a:ext cx="975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Dennard 定律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42076" y="210073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每一代技术中晶体管密度增加一倍，同样面积芯片的功耗保持不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变，也就是功率密度不变。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23"/>
              <p:cNvSpPr txBox="1">
                <a:spLocks noGrp="1"/>
              </p:cNvSpPr>
              <p:nvPr/>
            </p:nvSpPr>
            <p:spPr>
              <a:xfrm>
                <a:off x="5707380" y="2984182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Cf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65" name="c2-table-3"/>
          <p:cNvGrpSpPr/>
          <p:nvPr/>
        </p:nvGrpSpPr>
        <p:grpSpPr>
          <a:xfrm>
            <a:off x="5707380" y="3608070"/>
            <a:ext cx="5951220" cy="2581275"/>
            <a:chOff x="5707380" y="3608070"/>
            <a:chExt cx="5951220" cy="2581275"/>
          </a:xfrm>
        </p:grpSpPr>
        <p:sp>
          <p:nvSpPr>
            <p:cNvPr id="44" name="Rectangle 44"/>
            <p:cNvSpPr/>
            <p:nvPr/>
          </p:nvSpPr>
          <p:spPr>
            <a:xfrm>
              <a:off x="5707380" y="3608070"/>
              <a:ext cx="595122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9848" y="3738562"/>
              <a:ext cx="1150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线宽缩小为 1/k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03155" y="37385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12726" y="4169092"/>
              <a:ext cx="2255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 C（与面积有关）、电压 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88336" y="4169092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×1/k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07380" y="44634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07380" y="446817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12726" y="459962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88336" y="4599622"/>
              <a:ext cx="836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×k（增加）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07380" y="48929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12726" y="5029200"/>
              <a:ext cx="1674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单个晶体管功耗 αCfV²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88336" y="50292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×1/k²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07380" y="53235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07380" y="532828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2726" y="545973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单位面积晶体管数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88336" y="545973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×k²（k = 1.4 时翻一倍）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07380" y="57540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12726" y="588930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功率密度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88336" y="5889308"/>
              <a:ext cx="683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×1，不变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07380" y="3608070"/>
              <a:ext cx="595122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678228" y="360807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66774" cy="909257"/>
            <a:chOff x="520446" y="342900"/>
            <a:chExt cx="6466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66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定律：改进一部分，整体能快多少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2393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349" y="1769269"/>
              <a:ext cx="880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Amdahl 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加快某部件的执行速度所能获得的系统加速比，受限于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该部件的执行时间占总执行时间的百分比。它告诉我们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一项改进措施能使整个系统的性能提高多少。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5"/>
              <p:cNvSpPr txBox="1">
                <a:spLocks noGrp="1"/>
              </p:cNvSpPr>
              <p:nvPr/>
            </p:nvSpPr>
            <p:spPr>
              <a:xfrm>
                <a:off x="533400" y="3316605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系统加速比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改进后性能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改进前性能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改进前总执行时间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改进后总执行时间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kv-3"/>
          <p:cNvGrpSpPr/>
          <p:nvPr/>
        </p:nvGrpSpPr>
        <p:grpSpPr>
          <a:xfrm>
            <a:off x="525780" y="4046220"/>
            <a:ext cx="5417820" cy="1861185"/>
            <a:chOff x="525780" y="4046220"/>
            <a:chExt cx="5417820" cy="186118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0462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可改进比例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5935" y="4046220"/>
              <a:ext cx="38823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改进前可改进部分的执行时间占总时间的比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例，恒小于 1。例：60 s（T₀）的程序中有 20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s（T₁）可加速，可改进比例为 20/60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9301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50501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部件加速比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5935" y="5050155"/>
              <a:ext cx="39300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可改进部分改进前时间与改进后时间之比，一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般大于 1。例：该部分从 5 s 变成 2 s，部件加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速比为 5/2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3671888"/>
            <a:chOff x="6248400" y="1524000"/>
            <a:chExt cx="5410200" cy="3671888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3671888"/>
            </a:xfrm>
            <a:prstGeom prst="roundRect">
              <a:avLst>
                <a:gd name="adj" fmla="val 3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34051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6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把两个例子合起来算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110740"/>
              <a:ext cx="40079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s 的程序，20 s 可改进，部件加速比 5/2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29400" y="259270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496050" y="24498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9674" y="2523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96050" y="31003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9674" y="3174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6050" y="37509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9674" y="3824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44024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9674" y="4476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07530" y="24841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不可改进部分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08673" y="2777966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60 − 20 = 40 s，保持不变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7530" y="313467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可改进部分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8673" y="3428524"/>
              <a:ext cx="1124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÷ 2.5 = 8 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07530" y="378523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改进后总时间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8673" y="4079081"/>
              <a:ext cx="10296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+ 8 = 48 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07530" y="44367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系统加速比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8673" y="4729639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÷ 48 = 1.25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5386388"/>
            <a:ext cx="5410200" cy="782955"/>
            <a:chOff x="6248400" y="5386388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538638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677853"/>
              <a:ext cx="200026" cy="200025"/>
              <a:chOff x="6453188" y="567785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6778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57223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58334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534978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部件快了 2.5 倍，整体只快 1.25 倍，因为 2/3 的时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间根本没被改进。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8044" cy="909257"/>
            <a:chOff x="520446" y="342900"/>
            <a:chExt cx="63380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80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公式与推论：加速比有上限 1/rₛ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8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Speedup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2"/>
          <p:cNvGrpSpPr/>
          <p:nvPr/>
        </p:nvGrpSpPr>
        <p:grpSpPr>
          <a:xfrm>
            <a:off x="525780" y="2305050"/>
            <a:ext cx="5201602" cy="1173480"/>
            <a:chOff x="525780" y="2305050"/>
            <a:chExt cx="5201602" cy="117348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3050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2982" y="23050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可加速部分所占比例（可改进比例）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6250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274510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982" y="2745105"/>
              <a:ext cx="3256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不可加速部分所占比例，rₛ + rₚ = 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0651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18516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2982" y="31851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部件加速比；并行时就是处理器数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3609975"/>
            <a:ext cx="5193982" cy="2107882"/>
            <a:chOff x="533400" y="3609975"/>
            <a:chExt cx="5193982" cy="2107882"/>
          </a:xfrm>
        </p:grpSpPr>
        <p:sp>
          <p:nvSpPr>
            <p:cNvPr id="17" name="Rectangle 17"/>
            <p:cNvSpPr/>
            <p:nvPr/>
          </p:nvSpPr>
          <p:spPr>
            <a:xfrm>
              <a:off x="533400" y="3609975"/>
              <a:ext cx="5193982" cy="2107882"/>
            </a:xfrm>
            <a:prstGeom prst="roundRect">
              <a:avLst>
                <a:gd name="adj" fmla="val 632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381952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804" y="38552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推论：性能改进的递减规则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1967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只改进任务的一部分，改进得越多，总体性能提升越有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限。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29"/>
                <p:cNvSpPr txBox="1">
                  <a:spLocks noGrp="1"/>
                </p:cNvSpPr>
                <p:nvPr/>
              </p:nvSpPr>
              <p:spPr>
                <a:xfrm>
                  <a:off x="742950" y="4792980"/>
                  <a:ext cx="4774882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Speedup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可改进比例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5" name="c2-table-1"/>
          <p:cNvGrpSpPr/>
          <p:nvPr/>
        </p:nvGrpSpPr>
        <p:grpSpPr>
          <a:xfrm>
            <a:off x="6026467" y="1524000"/>
            <a:ext cx="5632133" cy="2988469"/>
            <a:chOff x="6026467" y="1524000"/>
            <a:chExt cx="5632133" cy="2988469"/>
          </a:xfrm>
        </p:grpSpPr>
        <p:sp>
          <p:nvSpPr>
            <p:cNvPr id="23" name="Rectangle 23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00281" y="1659731"/>
              <a:ext cx="601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rₚ ＼ 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1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192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2773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9046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5056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613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95313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5632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213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8794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0042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6053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995660" y="1982152"/>
              <a:ext cx="6534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685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95313" y="255698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5632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2213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8794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0042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6053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995660" y="2430780"/>
              <a:ext cx="6534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26850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95313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5632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2213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8794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00428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6053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995660" y="2880360"/>
              <a:ext cx="6534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22111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95313" y="345424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5632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2213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8794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0042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13149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15.42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995660" y="3328988"/>
              <a:ext cx="6534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22111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32182" y="37633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95313" y="390382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56326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22136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87946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53042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13.91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13149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39.26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995660" y="3777615"/>
              <a:ext cx="6534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173732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032182" y="1524000"/>
              <a:ext cx="562641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96468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73049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49630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26211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12221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98137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26467" y="4292441"/>
              <a:ext cx="2112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表中数值用 Python 按公式算出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6032182" y="4658678"/>
            <a:ext cx="5626418" cy="1059180"/>
            <a:chOff x="6032182" y="4658678"/>
            <a:chExt cx="5626418" cy="1059180"/>
          </a:xfrm>
        </p:grpSpPr>
        <p:sp>
          <p:nvSpPr>
            <p:cNvPr id="86" name="Rectangle 86"/>
            <p:cNvSpPr/>
            <p:nvPr/>
          </p:nvSpPr>
          <p:spPr>
            <a:xfrm>
              <a:off x="6032182" y="465867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224912" y="5084563"/>
              <a:ext cx="224134" cy="192560"/>
              <a:chOff x="6224912" y="5084563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336983" y="51549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224912" y="50845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336983" y="5232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538912" y="4807268"/>
              <a:ext cx="4568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 rₚ = 0.9 那一行：处理器从 16 个加到 64 个，加速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比只从 6.4 升到 8.8，离上限 10 越来越近，却永远到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不了。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6093" cy="909257"/>
            <a:chOff x="520446" y="342900"/>
            <a:chExt cx="77660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60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例题：一个功能快 20 倍，整个系统快多少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887855"/>
            <a:chOff x="533400" y="1524000"/>
            <a:chExt cx="497776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364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69" y="1769269"/>
              <a:ext cx="16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例题（原课件第107页）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82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将计算机系统中某一功能的处理速度提高到原来的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倍，但该功能的处理时间仅占整个系统运行时间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40%，采用此方法后，整个系统的性能能提高多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611880"/>
            <a:ext cx="4453489" cy="2529173"/>
            <a:chOff x="533400" y="3611880"/>
            <a:chExt cx="4453489" cy="2529173"/>
          </a:xfrm>
        </p:grpSpPr>
        <p:sp>
          <p:nvSpPr>
            <p:cNvPr id="13" name="Rectangle 13"/>
            <p:cNvSpPr/>
            <p:nvPr/>
          </p:nvSpPr>
          <p:spPr>
            <a:xfrm>
              <a:off x="666750" y="375475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61188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85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624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336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9129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986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564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638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6461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读出已知量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940016"/>
              <a:ext cx="4040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可改进比例 rₚ = 0.4，rₛ = 0.6，部件加速比 N = 20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2967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代入公式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590574"/>
              <a:ext cx="3408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Speedup = 1 / (0.6 + 0.4 / 20) = 1 / 0.62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9472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241131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1.613，系统性能提高到原来的 1.613 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598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看上限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891689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部件再快也不超过 1 / 0.6 ≈ 1.667 倍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810250" y="1524000"/>
            <a:ext cx="5848350" cy="1193007"/>
            <a:chOff x="5810250" y="1524000"/>
            <a:chExt cx="5848350" cy="1193007"/>
          </a:xfrm>
        </p:grpSpPr>
        <p:sp>
          <p:nvSpPr>
            <p:cNvPr id="31" name="Rectangle 31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24202" y="1659731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部件加速比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9517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6003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7513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3999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55094" y="1659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946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05449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系统加速比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7999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7285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1.471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37714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1.563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73552" y="1982152"/>
              <a:ext cx="7458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02572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1.613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67429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1.656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228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1.667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1524000"/>
              <a:ext cx="5842635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6469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2955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59440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5926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2412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88898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10250" y="2496979"/>
              <a:ext cx="3064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rₚ = 0.4 时，N 从 20 提到 100，只多得 0.04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5815965" y="2863215"/>
            <a:ext cx="5842635" cy="1720215"/>
            <a:chOff x="5815965" y="2863215"/>
            <a:chExt cx="5842635" cy="1720215"/>
          </a:xfrm>
        </p:grpSpPr>
        <p:sp>
          <p:nvSpPr>
            <p:cNvPr id="56" name="Rectangle 56"/>
            <p:cNvSpPr/>
            <p:nvPr/>
          </p:nvSpPr>
          <p:spPr>
            <a:xfrm>
              <a:off x="5815965" y="2863215"/>
              <a:ext cx="584263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5490" y="2996565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63615" y="30727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44971" y="31084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48488" y="3108008"/>
              <a:ext cx="4328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想让系统快到 1.5 倍，这个功能至少要快几倍？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55995" y="3469005"/>
              <a:ext cx="2522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(0.6 + 0.4 / N) = 1.5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55995" y="3804285"/>
              <a:ext cx="3822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 + 0.4 / N = 2/3，得 0.4 / N = 1/15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55995" y="4139565"/>
              <a:ext cx="315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6，这个功能要快到原来的 6 倍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5815965" y="4773930"/>
            <a:ext cx="5842635" cy="1354455"/>
            <a:chOff x="5815965" y="4773930"/>
            <a:chExt cx="5842635" cy="1354455"/>
          </a:xfrm>
        </p:grpSpPr>
        <p:sp>
          <p:nvSpPr>
            <p:cNvPr id="65" name="Rectangle 65"/>
            <p:cNvSpPr/>
            <p:nvPr/>
          </p:nvSpPr>
          <p:spPr>
            <a:xfrm>
              <a:off x="5815965" y="4773930"/>
              <a:ext cx="5842635" cy="1354455"/>
            </a:xfrm>
            <a:prstGeom prst="roundRect">
              <a:avLst>
                <a:gd name="adj" fmla="val 84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20753" y="5352098"/>
              <a:ext cx="200026" cy="200025"/>
              <a:chOff x="6020753" y="535209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020753" y="5352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060491" y="5396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95207" y="5507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322695" y="520922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做题步骤：先分清哪部分能改进、占多少比例，再代公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式；最后算一下上限，检查答案有没有超过它。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计算开销评价模型：让计算和访存互相隐藏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189672"/>
            <a:chOff x="533400" y="1524000"/>
            <a:chExt cx="5193982" cy="11896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189672"/>
            </a:xfrm>
            <a:prstGeom prst="roundRect">
              <a:avLst>
                <a:gd name="adj" fmla="val 11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2297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开销的组成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47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并行计算开销 = 计算开销 + 数据开销 + 通信开销 + 调度开销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351246"/>
              <a:ext cx="4730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计算开销 = 计算指令条数 × 每条计算指令的平均开销，其余各项类推。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542" y="2906077"/>
            <a:ext cx="5200840" cy="1441324"/>
            <a:chOff x="526542" y="2906077"/>
            <a:chExt cx="5200840" cy="1441324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2906077"/>
              <a:ext cx="1015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通信开销 Tn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1457" y="2906077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处理器之间（p–p）的点到点信息传输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927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3298508"/>
              <a:ext cx="1015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数据开销 Td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51457" y="3298508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处理器与存储器之间（p–m）的访存传输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852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3690938"/>
              <a:ext cx="1015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计算开销 Tc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1457" y="369093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作用于处理器内的计算部件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776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调度开销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51457" y="4083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作用于处理器内的调度部件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464368"/>
            <a:ext cx="5193982" cy="1185862"/>
            <a:chOff x="533400" y="4464368"/>
            <a:chExt cx="5193982" cy="1185862"/>
          </a:xfrm>
        </p:grpSpPr>
        <p:sp>
          <p:nvSpPr>
            <p:cNvPr id="26" name="Rectangle 26"/>
            <p:cNvSpPr/>
            <p:nvPr/>
          </p:nvSpPr>
          <p:spPr>
            <a:xfrm>
              <a:off x="533400" y="446436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59771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46510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862" y="46839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332" y="4994910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Td &lt; Tc 时“Td 会被 Tc 部分隐藏，总开销 T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Tc”。T = Tc 说明 Td 被完全隐藏，Td &gt; Tc 同理。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032182" y="1524000"/>
            <a:ext cx="5626418" cy="1600200"/>
            <a:chOff x="6032182" y="1524000"/>
            <a:chExt cx="5626418" cy="1600200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7408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采用异步运行时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1834" y="164544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总开销 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2667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9338" y="2045494"/>
              <a:ext cx="556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Td &lt; Tc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79982" y="2045494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4885" y="20454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访存完全藏在计算后面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9338" y="2445544"/>
              <a:ext cx="556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Td &gt; Tc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9982" y="2445544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04885" y="24455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计算完全藏在访存后面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9338" y="2845594"/>
              <a:ext cx="556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Td = Tc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79982" y="2845594"/>
              <a:ext cx="798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Tc = Td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04885" y="28455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互相隐藏，时间重叠效果最好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7806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50296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table-2"/>
          <p:cNvGrpSpPr/>
          <p:nvPr/>
        </p:nvGrpSpPr>
        <p:grpSpPr>
          <a:xfrm>
            <a:off x="6027230" y="3293745"/>
            <a:ext cx="5631370" cy="1864709"/>
            <a:chOff x="6027230" y="3293745"/>
            <a:chExt cx="5631370" cy="1864709"/>
          </a:xfrm>
        </p:grpSpPr>
        <p:sp>
          <p:nvSpPr>
            <p:cNvPr id="52" name="Rectangle 52"/>
            <p:cNvSpPr/>
            <p:nvPr/>
          </p:nvSpPr>
          <p:spPr>
            <a:xfrm>
              <a:off x="6032182" y="3293745"/>
              <a:ext cx="562641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2696" y="3415189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56131" y="3415189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97792" y="3415189"/>
              <a:ext cx="1057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不重叠 Tc + Td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45695" y="3415189"/>
              <a:ext cx="95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理想重叠 max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98238" y="34151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省下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01624" y="38152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62742" y="38152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96664" y="38152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93041" y="38152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26620" y="3815239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28.6%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32182" y="40890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32182" y="409384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01624" y="421528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21279" y="42152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96664" y="42152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93041" y="421528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009546" y="42152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44891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5160" y="46153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21279" y="46153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96664" y="46153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93041" y="46153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26620" y="4615339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28.6%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032182" y="3293745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839902" y="32937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52385" y="32937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190672" y="32937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647045" y="32937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27230" y="4967764"/>
              <a:ext cx="416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两者相等时能省一半，这就是说 Tc 与 Td 互相隐藏的比率是优化的关键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3" name="Rectangle 8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892" y="6028373"/>
              <a:ext cx="8791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通信和访存都是点到点传输，计算和调度都在点内，所以可以归并为：并行计算开销 = 计算开销 + 传输开销。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1424" cy="909257"/>
            <a:chOff x="520446" y="342900"/>
            <a:chExt cx="77414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14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性能公式：时间 = 指令条数 × CPI × 时钟周期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0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时间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IC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时钟周期时间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7" name="c1-table-2"/>
          <p:cNvGrpSpPr/>
          <p:nvPr/>
        </p:nvGrpSpPr>
        <p:grpSpPr>
          <a:xfrm>
            <a:off x="533400" y="2109788"/>
            <a:ext cx="5193982" cy="2360295"/>
            <a:chOff x="533400" y="2109788"/>
            <a:chExt cx="5193982" cy="2360295"/>
          </a:xfrm>
        </p:grpSpPr>
        <p:sp>
          <p:nvSpPr>
            <p:cNvPr id="8" name="Rectangle 8"/>
            <p:cNvSpPr/>
            <p:nvPr/>
          </p:nvSpPr>
          <p:spPr>
            <a:xfrm>
              <a:off x="533400" y="2109788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437" y="22402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43163" y="22402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2180" y="22402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取决于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777490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4102" y="2670810"/>
              <a:ext cx="16276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程序中指令的条数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（Instruction Count）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59149" y="277749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指令集结构和编译技术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78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183255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3421380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74102" y="3314700"/>
              <a:ext cx="1970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每条指令的平均时钟周期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数，= 程序的时钟周期数 / 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59149" y="331470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计算机组成和指令集结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214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40643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4102" y="406431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系统时钟频率的倒数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59149" y="3957638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硬件实现技术和计算机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109788"/>
              <a:ext cx="5193982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63992" y="2109788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49040" y="2109788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3"/>
          <p:cNvGrpSpPr/>
          <p:nvPr/>
        </p:nvGrpSpPr>
        <p:grpSpPr>
          <a:xfrm>
            <a:off x="533400" y="4655820"/>
            <a:ext cx="5193982" cy="1274445"/>
            <a:chOff x="533400" y="4655820"/>
            <a:chExt cx="5193982" cy="1274445"/>
          </a:xfrm>
        </p:grpSpPr>
        <p:sp>
          <p:nvSpPr>
            <p:cNvPr id="28" name="Rectangle 28"/>
            <p:cNvSpPr/>
            <p:nvPr/>
          </p:nvSpPr>
          <p:spPr>
            <a:xfrm>
              <a:off x="533400" y="4655820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78917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8596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543" y="48953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8096" y="5232559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CPIᵢ 解释为“第 i 种指令的处理时间”，它是第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种指令的平均时钟周期数，乘上时钟周期才是时间。</a:t>
              </a:r>
            </a:p>
          </p:txBody>
        </p:sp>
      </p:grpSp>
      <p:grpSp>
        <p:nvGrpSpPr>
          <p:cNvPr id="35" name="c2-text-1"/>
          <p:cNvGrpSpPr/>
          <p:nvPr/>
        </p:nvGrpSpPr>
        <p:grpSpPr>
          <a:xfrm>
            <a:off x="6026086" y="1544002"/>
            <a:ext cx="5592013" cy="234696"/>
            <a:chOff x="6026086" y="1544002"/>
            <a:chExt cx="5592013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26086" y="1544002"/>
              <a:ext cx="5592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 n 种指令，第 i 种指令的平均时钟周期数为 CPIᵢ、在程序中出现 ICᵢ 次：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41"/>
              <p:cNvSpPr txBox="1">
                <a:spLocks noGrp="1"/>
              </p:cNvSpPr>
              <p:nvPr/>
            </p:nvSpPr>
            <p:spPr>
              <a:xfrm>
                <a:off x="6032182" y="191643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CPU 时钟周期数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42"/>
              <p:cNvSpPr txBox="1">
                <a:spLocks noGrp="1"/>
              </p:cNvSpPr>
              <p:nvPr/>
            </p:nvSpPr>
            <p:spPr>
              <a:xfrm>
                <a:off x="6032182" y="2699385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CP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IC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9" name="c2-text-4"/>
          <p:cNvGrpSpPr/>
          <p:nvPr/>
        </p:nvGrpSpPr>
        <p:grpSpPr>
          <a:xfrm>
            <a:off x="6026086" y="3501390"/>
            <a:ext cx="5399532" cy="470916"/>
            <a:chOff x="6026086" y="3501390"/>
            <a:chExt cx="5399532" cy="470916"/>
          </a:xfrm>
        </p:grpSpPr>
        <p:sp>
          <p:nvSpPr>
            <p:cNvPr id="38" name="TextBox 38"/>
            <p:cNvSpPr txBox="1"/>
            <p:nvPr/>
          </p:nvSpPr>
          <p:spPr>
            <a:xfrm>
              <a:off x="6026086" y="3501390"/>
              <a:ext cx="53995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ICᵢ/IC 是第 i 种指令在程序中所占的比例。把 Cache 命中率 100% 时的 CPI 定义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为理想 CPI，访存等待折算成停顿周期，则：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43"/>
              <p:cNvSpPr txBox="1">
                <a:spLocks noGrp="1"/>
              </p:cNvSpPr>
              <p:nvPr/>
            </p:nvSpPr>
            <p:spPr>
              <a:xfrm>
                <a:off x="6032182" y="4110990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理想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CP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停顿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42" name="c2-text-6"/>
          <p:cNvGrpSpPr/>
          <p:nvPr/>
        </p:nvGrpSpPr>
        <p:grpSpPr>
          <a:xfrm>
            <a:off x="6026086" y="4677728"/>
            <a:ext cx="3338170" cy="234696"/>
            <a:chOff x="6026086" y="4677728"/>
            <a:chExt cx="333817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26086" y="4677728"/>
              <a:ext cx="333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衡量执行速率常用 MIPS（每秒百万条指令）：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44"/>
              <p:cNvSpPr txBox="1">
                <a:spLocks noGrp="1"/>
              </p:cNvSpPr>
              <p:nvPr/>
            </p:nvSpPr>
            <p:spPr>
              <a:xfrm>
                <a:off x="6032182" y="5050155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MIPS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IC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执行时间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时钟频率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466" cy="909257"/>
            <a:chOff x="520446" y="342900"/>
            <a:chExt cx="6258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例题：由 MIPS 反推平均 CPI 和理想 CPI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760595" cy="2644140"/>
            <a:chOff x="533400" y="1524000"/>
            <a:chExt cx="4760595" cy="2644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644140"/>
            </a:xfrm>
            <a:prstGeom prst="roundRect">
              <a:avLst>
                <a:gd name="adj" fmla="val 50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74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88499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8009" y="1743551"/>
              <a:ext cx="1786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例题（原课件第112、115页）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34315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355532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测试程序中 40% 的指令需要 1 次访存，10% 的指令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 2 次访存，其他指令不访存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90036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9387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912745"/>
              <a:ext cx="3950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时钟周期为 10 μs，存储器存取周期为 10 μs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320040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32387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3212782"/>
              <a:ext cx="3508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测试程序在该机上的执行速率为 0.05 MIPS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3512820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求：（1）平均 CPI；（2）理想 CPI；（3）理想 CPI 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变、CPU 主频提高一倍时的 MIPS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33400" y="4337685"/>
            <a:ext cx="4760595" cy="2000250"/>
            <a:chOff x="533400" y="4337685"/>
            <a:chExt cx="4760595" cy="2000250"/>
          </a:xfrm>
        </p:grpSpPr>
        <p:sp>
          <p:nvSpPr>
            <p:cNvPr id="23" name="Rectangle 23"/>
            <p:cNvSpPr/>
            <p:nvPr/>
          </p:nvSpPr>
          <p:spPr>
            <a:xfrm>
              <a:off x="533400" y="4337685"/>
              <a:ext cx="476059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511" y="44591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指令类别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33333" y="44591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2958" y="44591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30434" y="44591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停顿周期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555" y="4859179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 1 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44641" y="485917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2270" y="48591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0193" y="4859179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 × 1 × 1 = 0.4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330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13778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5259229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 2 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44641" y="525922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52270" y="52592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40193" y="5259229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× 2 × 1 = 0.2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533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6592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不访存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44641" y="565927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2270" y="56592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90520" y="56592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9331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93788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60593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07594" y="605932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337685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957388" y="433768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813685" y="433768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575685" y="433768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steps-1"/>
          <p:cNvGrpSpPr/>
          <p:nvPr/>
        </p:nvGrpSpPr>
        <p:grpSpPr>
          <a:xfrm>
            <a:off x="5598795" y="1533525"/>
            <a:ext cx="5547873" cy="2851309"/>
            <a:chOff x="5598795" y="1533525"/>
            <a:chExt cx="5547873" cy="2851309"/>
          </a:xfrm>
        </p:grpSpPr>
        <p:sp>
          <p:nvSpPr>
            <p:cNvPr id="52" name="Rectangle 52"/>
            <p:cNvSpPr/>
            <p:nvPr/>
          </p:nvSpPr>
          <p:spPr>
            <a:xfrm>
              <a:off x="5732145" y="1676400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21164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26993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598795" y="32823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92419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598795" y="38652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92419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037" y="1564957"/>
              <a:ext cx="1936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（1）每条指令平均用时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180" y="1833086"/>
              <a:ext cx="4380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 MIPS 即每秒 5 万条指令，每条 1 / (0.05 × 10⁶) s = 20 μs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037" y="2147888"/>
              <a:ext cx="1188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（1）平均 CPI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180" y="2416016"/>
              <a:ext cx="513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μs ÷ 10 μs = 2，即 CPI = 1 / (时钟周期 × MIPS) = 1 / (10 × 0.05) = 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1037" y="2730818"/>
              <a:ext cx="2299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（2）每次访存停顿几个周期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2180" y="2998946"/>
              <a:ext cx="298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存取周期 10 μs ÷ 时钟周期 10 μs = 1 个周期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11037" y="3313748"/>
              <a:ext cx="2117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（2）平均每条指令的停顿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12180" y="3581876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40% × 1 次 × 1 + 10% × 2 次 × 1 = 0.6 个周期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1037" y="3896677"/>
              <a:ext cx="1188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（2）理想 CPI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12180" y="41648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2 − 0.6 = 1.4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5598795" y="4548188"/>
            <a:ext cx="6059805" cy="1789748"/>
            <a:chOff x="5598795" y="4548188"/>
            <a:chExt cx="6059805" cy="1789748"/>
          </a:xfrm>
        </p:grpSpPr>
        <p:sp>
          <p:nvSpPr>
            <p:cNvPr id="74" name="Rectangle 74"/>
            <p:cNvSpPr/>
            <p:nvPr/>
          </p:nvSpPr>
          <p:spPr>
            <a:xfrm>
              <a:off x="5598795" y="4548188"/>
              <a:ext cx="6059805" cy="1789748"/>
            </a:xfrm>
            <a:prstGeom prst="roundRect">
              <a:avLst>
                <a:gd name="adj" fmla="val 63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803583" y="5343525"/>
              <a:ext cx="200026" cy="200025"/>
              <a:chOff x="5803583" y="5343525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803583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843321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878037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106287" y="5224462"/>
              <a:ext cx="50029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解题关键：把访存时间换算成“几个时钟周期”，它就是每次访存带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来的停顿周期数。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4369" cy="909257"/>
            <a:chOff x="520446" y="342900"/>
            <a:chExt cx="6184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 · 量化原理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4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例题续：主频翻倍，程序只快了 1.54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726774" cy="2867502"/>
            <a:chOff x="533400" y="1533525"/>
            <a:chExt cx="3726774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新时钟周期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主频提高一倍，时钟周期变为 5 μs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访存停顿变长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3313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存取周期仍是 10 μs，折合 10 ÷ 5 = 2 个时钟周期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40% × 1 × 2 + 10% × 2 × 2 = 1.2 个周期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901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新平均 CPI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+ 1.2 = 2.6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新执行速率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2671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= 1 / (5 × 2.6) = 1/13 ≈ 0.077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569142"/>
            <a:ext cx="5410200" cy="1768792"/>
            <a:chOff x="533400" y="4569142"/>
            <a:chExt cx="5410200" cy="1768792"/>
          </a:xfrm>
        </p:grpSpPr>
        <p:sp>
          <p:nvSpPr>
            <p:cNvPr id="29" name="Rectangle 29"/>
            <p:cNvSpPr/>
            <p:nvPr/>
          </p:nvSpPr>
          <p:spPr>
            <a:xfrm>
              <a:off x="533400" y="4569142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5805" y="4761548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2864" y="4795838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为什么到不了 2 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947" y="511873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改进前每条指令 20 μs 中有 0.6 × 10 = 6 μs 是访存停顿，占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30%，主频翻倍对它无效。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947" y="5677852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 Amdahl 定律：rₚ = 0.7，N = 2，Speedup = 1 / (0.3 + 0.7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 2) ≈ 1.538，与 20 / 13 一致。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243066" y="1524000"/>
            <a:ext cx="5415534" cy="2714244"/>
            <a:chOff x="6243066" y="1524000"/>
            <a:chExt cx="5415534" cy="2714244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96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6070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727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主频翻倍后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8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8394" y="205406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μs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57202" y="205406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μs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一次访存折合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96622" y="245983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个周期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13967" y="245983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个周期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8412" y="2865596"/>
              <a:ext cx="597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CPI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4540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79819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8412" y="3271361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1011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971722" y="3156585"/>
              <a:ext cx="16773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596893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8412" y="3677126"/>
              <a:ext cx="1272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100 万条指令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39857" y="367712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57202" y="367712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s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41819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5743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066" y="4032885"/>
              <a:ext cx="4943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处理器提速而存储器不提速，停顿周期变多，CPI 从 2 涨到 2.6，这就是内存墙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243066" y="4371975"/>
            <a:ext cx="5415534" cy="1902714"/>
            <a:chOff x="6243066" y="4371975"/>
            <a:chExt cx="5415534" cy="1902714"/>
          </a:xfrm>
        </p:grpSpPr>
        <p:sp>
          <p:nvSpPr>
            <p:cNvPr id="66" name="Rectangle 66"/>
            <p:cNvSpPr/>
            <p:nvPr/>
          </p:nvSpPr>
          <p:spPr>
            <a:xfrm>
              <a:off x="6248400" y="4371975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38429" y="4496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改进方案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87237" y="4496276"/>
              <a:ext cx="597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 CPI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21455" y="4496276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39996" y="44962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48412" y="49020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8732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35423" y="490204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24695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5178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518350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8412" y="53078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只把主频提高一倍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55806" y="53078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93960" y="5307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000306" y="53078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55845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8412" y="571357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主频和存储器速度都提高一倍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38732" y="57135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76886" y="571357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694670" y="5598795"/>
              <a:ext cx="9544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124695" y="57135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437197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639175" y="437197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724072" y="437197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680382" y="437197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43066" y="6069330"/>
              <a:ext cx="3600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存储器同步提速，停顿仍是 0.6 个周期，才能真正快 2 倍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15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执行一条向量加法指令、多核 CPU 上运行 OpenMP 程序、脉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动阵列，各属于 Flynn 分类的哪一类？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08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SIMD（数据级并行）；MIMD（紧密耦合，线程级并行）；本课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程归入 MISD（一条数据流依次流过多个处理单元）。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84626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主-从并行和工作池并行都要“分任务”，二者的主要区别是什么？各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自的瓶颈在哪？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主从由主进程推送任务，主进程易成瓶颈；工作池由空闲进程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自己取任务，没有中心协调者，但工作池是全局数据结构，并发存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取要同步。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86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 CPU 分时运行两个程序，存在同时性还是并发性？换成双核各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运行一个呢？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单核只有并发性（同一时间间隔内交替执行）；双核各运行一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个，同一时刻都在执行，才有同时性，当然也有并发性。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文件从北京节点迁到上海节点，用户仍用原来的路径访问，也不知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道发生过迁移。这体现了哪些透明性？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位置透明（名字不含位置信息）和迁移透明（不知道已迁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移）；迁移透明要靠名字透明支持。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544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概念题答不上时，回到对应页面看表格里的“含义”一列，不要只背名称。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284982" cy="264033"/>
            <a:chOff x="526542" y="1545907"/>
            <a:chExt cx="328498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带计算的题请把代入的每一步都写出来。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85399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某程序 90% 的时间可以并行，用 8 个处理器，加速比是多少？处理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器无限多时上限是多少？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(0.1 + 0.9 / 8) = 1 / 0.2125 ≈ 4.71；上限 1 / 0.1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75117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例题中，若主频不变，只把存储器存取周期缩短为 5 μs，新的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6134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一次访存折合 0.5 个周期，停顿 0.4 × 0.5 + 0.1 × 2 × 0.5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0.3，CPI = 1.4 + 0.3 = 1.7，MIPS = 1 / (10 × 1.7)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0.0588，只快 2 / 1.7 ≈ 1.18 倍。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8023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段流水线每段 1 拍，连续执行 100 条指令需要多少拍？相对不流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水的加速比是多少？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+ 100 − 1 = 103 拍；不流水 4 × 100 = 400 拍；加速比 400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103 ≈ 3.88。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一项功能占运行时间的 80%，最多能让系统快几倍？要让系统快 4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倍，这项功能至少要快几倍？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 1 / 0.2 = 5 倍。1 / (0.2 + 0.8 / N) = 4，得 0.8 / N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0.05，N = 16。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799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Amdahl 题先写出 rₛ 和上限 1/rₛ；CPI 题先把访存时间换算成时钟周期数。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第1章 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197411" cy="1739837"/>
            <a:chOff x="533400" y="1532572"/>
            <a:chExt cx="5197411" cy="173983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数据、模型和算力需求增长远快于单机，数据流动遇到内存墙、通信墙、存储墙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42844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分类按指令流、数据流的条数分出 SISD、SIMD、MISD、MIMD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并行性包括同时性和并发性；提高并行性靠时间重叠、资源重复、资源共享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五种并行范式：相并行、分治、流水线、主从、工作池，多数难在负载平衡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分布计算系统用起来像一台机器，关键是七种透明性，但透明不能绝对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3314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Amdahl 定律：加速比 1 / (rₛ + rₚ/N)，上限 1 / rₛ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057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334" y="308729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858" y="3067050"/>
              <a:ext cx="4092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= IC × CPI × 时钟周期，访存停顿按时钟周期数计入 CPI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95662"/>
            <a:ext cx="5951220" cy="2165032"/>
            <a:chOff x="533400" y="3395662"/>
            <a:chExt cx="5951220" cy="2165032"/>
          </a:xfrm>
        </p:grpSpPr>
        <p:sp>
          <p:nvSpPr>
            <p:cNvPr id="29" name="Rectangle 29"/>
            <p:cNvSpPr/>
            <p:nvPr/>
          </p:nvSpPr>
          <p:spPr>
            <a:xfrm>
              <a:off x="533400" y="3395662"/>
              <a:ext cx="5951220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29012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57663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6094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39690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3916204"/>
              <a:ext cx="50685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万倍算力增长对应约 5 年，不是十年（第4页）；电阻电容电感是线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性元件（第7页）；die saw 等是封装工序（第8页）；“哈佛结构”应为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冯·诺依曼的存储程序特点（第9页）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7396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687729"/>
              <a:ext cx="5133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处理器与存储器差距每年约 40%（第35页）；图 (b) 是共享存储器（第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41页）；Td 被完全隐藏（第57页）；CPIᵢ 是周期数（第58页）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789420" y="1524000"/>
            <a:ext cx="4869180" cy="2287905"/>
            <a:chOff x="6789420" y="1524000"/>
            <a:chExt cx="4869180" cy="2287905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33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72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4098" y="2023110"/>
              <a:ext cx="940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冯·诺依曼瓶颈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5234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程序和数据共用一条通路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409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时间重叠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5234" y="2404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部件专用化后错开时间轮流用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409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紧密耦合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45234" y="2785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共享存储，变量级交互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409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松散耦合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45234" y="3167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报文通信，文件级交互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426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4098" y="3548062"/>
              <a:ext cx="914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Dennard 定律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45234" y="3548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密度翻倍，功率密度不变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1524000"/>
              <a:ext cx="486918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457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789420" y="3976688"/>
            <a:ext cx="4869180" cy="1584008"/>
            <a:chOff x="6789420" y="3976688"/>
            <a:chExt cx="4869180" cy="1584008"/>
          </a:xfrm>
        </p:grpSpPr>
        <p:sp>
          <p:nvSpPr>
            <p:cNvPr id="60" name="Rectangle 60"/>
            <p:cNvSpPr/>
            <p:nvPr/>
          </p:nvSpPr>
          <p:spPr>
            <a:xfrm>
              <a:off x="6789420" y="3976688"/>
              <a:ext cx="4869180" cy="1584008"/>
            </a:xfrm>
            <a:prstGeom prst="roundRect">
              <a:avLst>
                <a:gd name="adj" fmla="val 841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70395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59016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3918" y="4498181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第2章线程级并行：在共享存储的多核上用 OpenMP 写并行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65061" y="5022533"/>
              <a:ext cx="43245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参考书：Hennessy、Patterson《计算机体系结构：量化研究方法》；张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晨曦《计算机系统结构》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489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复习时动手算三类题：Amdahl 加速比与上限、流水线时空图与加速比、由 MIPS 反推 CPI 再求改进后的 MIPS。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第1章 基本概念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1">
  <a:themeElements>
    <a:clrScheme name="pdc_ch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2026-09-23T07:29:21Z</dcterms:created>
  <dcterms:modified xsi:type="dcterms:W3CDTF">2026-09-23T07:29:21Z</dcterms:modified>
  <cp:category/>
  <cp:contentStatus/>
</cp:coreProperties>
</file>