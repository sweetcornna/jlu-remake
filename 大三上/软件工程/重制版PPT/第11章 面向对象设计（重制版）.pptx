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se_ch11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se_ch11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3840798e9f9a67b.png"/>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e5e2bacec9d8afe.png"/>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da3824c3f567c00.png"/>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cover-hero"/>
          <p:cNvPicPr>
            <a:picLocks noChangeAspect="1"/>
          </p:cNvPicPr>
          <p:nvPr/>
        </p:nvPicPr>
        <p:blipFill>
          <a:blip r:embed="rId2"/>
          <a:stretch>
            <a:fillRect/>
          </a:stretch>
        </p:blipFill>
        <p:spPr>
          <a:xfrm>
            <a:off x="0" y="0"/>
            <a:ext cx="12192000" cy="6858000"/>
          </a:xfrm>
          <a:prstGeom prst="rect">
            <a:avLst/>
          </a:prstGeom>
        </p:spPr>
      </p:pic>
      <p:sp>
        <p:nvSpPr>
          <p:cNvPr id="3" name="cover-scrim"/>
          <p:cNvSpPr/>
          <p:nvPr/>
        </p:nvSpPr>
        <p:spPr>
          <a:xfrm>
            <a:off x="0" y="0"/>
            <a:ext cx="7620000" cy="6858000"/>
          </a:xfrm>
          <a:prstGeom prst="rect">
            <a:avLst/>
          </a:prstGeom>
          <a:gradFill>
            <a:gsLst>
              <a:gs pos="0">
                <a:srgbClr val="FFFFFF">
                  <a:alpha val="97000"/>
                </a:srgbClr>
              </a:gs>
              <a:gs pos="58000">
                <a:srgbClr val="FFFFFF">
                  <a:alpha val="85000"/>
                </a:srgbClr>
              </a:gs>
              <a:gs pos="100000">
                <a:srgbClr val="FFFFFF">
                  <a:alpha val="0"/>
                </a:srgbClr>
              </a:gs>
            </a:gsLst>
            <a:lin ang="0" scaled="1"/>
          </a:gradFill>
          <a:ln>
            <a:noFill/>
          </a:ln>
        </p:spPr>
      </p:sp>
      <p:grpSp>
        <p:nvGrpSpPr>
          <p:cNvPr id="17" name="cover-title"/>
          <p:cNvGrpSpPr/>
          <p:nvPr/>
        </p:nvGrpSpPr>
        <p:grpSpPr>
          <a:xfrm>
            <a:off x="666750" y="1619250"/>
            <a:ext cx="3905250" cy="3437763"/>
            <a:chOff x="666750" y="1619250"/>
            <a:chExt cx="3905250" cy="3437763"/>
          </a:xfrm>
        </p:grpSpPr>
        <p:sp>
          <p:nvSpPr>
            <p:cNvPr id="4" name="Rectangle 4"/>
            <p:cNvSpPr/>
            <p:nvPr/>
          </p:nvSpPr>
          <p:spPr>
            <a:xfrm>
              <a:off x="685800" y="1619250"/>
              <a:ext cx="1745932" cy="342900"/>
            </a:xfrm>
            <a:prstGeom prst="roundRect">
              <a:avLst>
                <a:gd name="adj" fmla="val 50000"/>
              </a:avLst>
            </a:prstGeom>
            <a:solidFill>
              <a:srgbClr val="E7EDF3"/>
            </a:solidFill>
            <a:ln>
              <a:noFill/>
            </a:ln>
          </p:spPr>
        </p:sp>
        <p:sp>
          <p:nvSpPr>
            <p:cNvPr id="5" name="TextBox 5"/>
            <p:cNvSpPr txBox="1"/>
            <p:nvPr/>
          </p:nvSpPr>
          <p:spPr>
            <a:xfrm>
              <a:off x="809438" y="1718310"/>
              <a:ext cx="1499608" cy="234696"/>
            </a:xfrm>
            <a:prstGeom prst="rect">
              <a:avLst/>
            </a:prstGeom>
            <a:noFill/>
            <a:ln>
              <a:noFill/>
            </a:ln>
          </p:spPr>
          <p:txBody>
            <a:bodyPr wrap="none" lIns="0" tIns="0" rIns="0" bIns="0" anchor="t" anchorCtr="0">
              <a:spAutoFit/>
            </a:bodyPr>
            <a:lstStyle/>
            <a:p>
              <a:pPr algn="ctr"/>
              <a:r>
                <a:rPr lang="zh-CN" sz="1200" b="1" dirty="0">
                  <a:solidFill>
                    <a:srgbClr val="334E68"/>
                  </a:solidFill>
                  <a:latin typeface="+mn-lt"/>
                  <a:ea typeface="+mn-ea"/>
                  <a:cs typeface="+mn-cs"/>
                </a:rPr>
                <a:t>软件工程 · 第十一章</a:t>
              </a:r>
            </a:p>
          </p:txBody>
        </p:sp>
        <p:sp>
          <p:nvSpPr>
            <p:cNvPr id="6" name="TextBox 6"/>
            <p:cNvSpPr txBox="1"/>
            <p:nvPr/>
          </p:nvSpPr>
          <p:spPr>
            <a:xfrm>
              <a:off x="666750" y="2407920"/>
              <a:ext cx="3430524" cy="819150"/>
            </a:xfrm>
            <a:prstGeom prst="rect">
              <a:avLst/>
            </a:prstGeom>
            <a:noFill/>
            <a:ln>
              <a:noFill/>
            </a:ln>
          </p:spPr>
          <p:txBody>
            <a:bodyPr wrap="none" lIns="0" tIns="0" rIns="0" bIns="0" anchor="t" anchorCtr="0">
              <a:spAutoFit/>
            </a:bodyPr>
            <a:lstStyle/>
            <a:p>
              <a:pPr algn="l"/>
              <a:r>
                <a:rPr lang="zh-CN" sz="4200" b="1" dirty="0">
                  <a:solidFill>
                    <a:srgbClr val="1F2937"/>
                  </a:solidFill>
                  <a:latin typeface="+mn-lt"/>
                  <a:ea typeface="+mn-ea"/>
                  <a:cs typeface="+mn-cs"/>
                </a:rPr>
                <a:t>面向对象设计</a:t>
              </a:r>
            </a:p>
          </p:txBody>
        </p:sp>
        <p:sp>
          <p:nvSpPr>
            <p:cNvPr id="7" name="Rectangle 7"/>
            <p:cNvSpPr/>
            <p:nvPr/>
          </p:nvSpPr>
          <p:spPr>
            <a:xfrm>
              <a:off x="685800" y="3147060"/>
              <a:ext cx="990600" cy="57150"/>
            </a:xfrm>
            <a:prstGeom prst="roundRect">
              <a:avLst>
                <a:gd name="adj" fmla="val 50000"/>
              </a:avLst>
            </a:prstGeom>
            <a:gradFill>
              <a:gsLst>
                <a:gs pos="0">
                  <a:srgbClr val="334E68"/>
                </a:gs>
                <a:gs pos="100000">
                  <a:srgbClr val="F26B3A"/>
                </a:gs>
              </a:gsLst>
              <a:lin ang="0" scaled="1"/>
            </a:gradFill>
            <a:ln>
              <a:noFill/>
            </a:ln>
          </p:spPr>
        </p:sp>
        <p:sp>
          <p:nvSpPr>
            <p:cNvPr id="8" name="TextBox 8"/>
            <p:cNvSpPr txBox="1"/>
            <p:nvPr/>
          </p:nvSpPr>
          <p:spPr>
            <a:xfrm>
              <a:off x="676656" y="3467100"/>
              <a:ext cx="3895344" cy="352044"/>
            </a:xfrm>
            <a:prstGeom prst="rect">
              <a:avLst/>
            </a:prstGeom>
            <a:noFill/>
            <a:ln>
              <a:noFill/>
            </a:ln>
          </p:spPr>
          <p:txBody>
            <a:bodyPr wrap="none" lIns="0" tIns="0" rIns="0" bIns="0" anchor="t" anchorCtr="0">
              <a:spAutoFit/>
            </a:bodyPr>
            <a:lstStyle/>
            <a:p>
              <a:pPr algn="l"/>
              <a:r>
                <a:rPr lang="zh-CN" sz="1800" dirty="0">
                  <a:solidFill>
                    <a:srgbClr val="1F2937"/>
                  </a:solidFill>
                  <a:latin typeface="+mn-lt"/>
                  <a:ea typeface="+mn-ea"/>
                  <a:cs typeface="+mn-cs"/>
                </a:rPr>
                <a:t>把分析模型变成可以编码的设计模型</a:t>
              </a:r>
            </a:p>
          </p:txBody>
        </p:sp>
        <p:sp>
          <p:nvSpPr>
            <p:cNvPr id="9" name="Ellipse 9"/>
            <p:cNvSpPr/>
            <p:nvPr/>
          </p:nvSpPr>
          <p:spPr>
            <a:xfrm>
              <a:off x="709612" y="3976688"/>
              <a:ext cx="66675" cy="66675"/>
            </a:xfrm>
            <a:prstGeom prst="ellipse">
              <a:avLst/>
            </a:prstGeom>
            <a:solidFill>
              <a:srgbClr val="F26B3A"/>
            </a:solidFill>
            <a:ln>
              <a:noFill/>
            </a:ln>
          </p:spPr>
        </p:sp>
        <p:sp>
          <p:nvSpPr>
            <p:cNvPr id="10" name="TextBox 10"/>
            <p:cNvSpPr txBox="1"/>
            <p:nvPr/>
          </p:nvSpPr>
          <p:spPr>
            <a:xfrm>
              <a:off x="869442" y="3921442"/>
              <a:ext cx="1649349"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设计准则与启发规则</a:t>
              </a:r>
            </a:p>
          </p:txBody>
        </p:sp>
        <p:sp>
          <p:nvSpPr>
            <p:cNvPr id="11" name="Ellipse 11"/>
            <p:cNvSpPr/>
            <p:nvPr/>
          </p:nvSpPr>
          <p:spPr>
            <a:xfrm>
              <a:off x="709612" y="4267200"/>
              <a:ext cx="66675" cy="66675"/>
            </a:xfrm>
            <a:prstGeom prst="ellipse">
              <a:avLst/>
            </a:prstGeom>
            <a:solidFill>
              <a:srgbClr val="F26B3A"/>
            </a:solidFill>
            <a:ln>
              <a:noFill/>
            </a:ln>
          </p:spPr>
        </p:sp>
        <p:sp>
          <p:nvSpPr>
            <p:cNvPr id="12" name="TextBox 12"/>
            <p:cNvSpPr txBox="1"/>
            <p:nvPr/>
          </p:nvSpPr>
          <p:spPr>
            <a:xfrm>
              <a:off x="869442" y="4211955"/>
              <a:ext cx="1134999"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SOLID 五原则</a:t>
              </a:r>
            </a:p>
          </p:txBody>
        </p:sp>
        <p:sp>
          <p:nvSpPr>
            <p:cNvPr id="13" name="Ellipse 13"/>
            <p:cNvSpPr/>
            <p:nvPr/>
          </p:nvSpPr>
          <p:spPr>
            <a:xfrm>
              <a:off x="709612" y="4557712"/>
              <a:ext cx="66675" cy="66675"/>
            </a:xfrm>
            <a:prstGeom prst="ellipse">
              <a:avLst/>
            </a:prstGeom>
            <a:solidFill>
              <a:srgbClr val="F26B3A"/>
            </a:solidFill>
            <a:ln>
              <a:noFill/>
            </a:ln>
          </p:spPr>
        </p:sp>
        <p:sp>
          <p:nvSpPr>
            <p:cNvPr id="14" name="TextBox 14"/>
            <p:cNvSpPr txBox="1"/>
            <p:nvPr/>
          </p:nvSpPr>
          <p:spPr>
            <a:xfrm>
              <a:off x="869442" y="4502468"/>
              <a:ext cx="1467612"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四个子系统的设计</a:t>
              </a:r>
            </a:p>
          </p:txBody>
        </p:sp>
        <p:sp>
          <p:nvSpPr>
            <p:cNvPr id="15" name="Ellipse 15"/>
            <p:cNvSpPr/>
            <p:nvPr/>
          </p:nvSpPr>
          <p:spPr>
            <a:xfrm>
              <a:off x="709612" y="4848225"/>
              <a:ext cx="66675" cy="66675"/>
            </a:xfrm>
            <a:prstGeom prst="ellipse">
              <a:avLst/>
            </a:prstGeom>
            <a:solidFill>
              <a:srgbClr val="F26B3A"/>
            </a:solidFill>
            <a:ln>
              <a:noFill/>
            </a:ln>
          </p:spPr>
        </p:sp>
        <p:sp>
          <p:nvSpPr>
            <p:cNvPr id="16" name="TextBox 16"/>
            <p:cNvSpPr txBox="1"/>
            <p:nvPr/>
          </p:nvSpPr>
          <p:spPr>
            <a:xfrm>
              <a:off x="869442" y="4792980"/>
              <a:ext cx="1649349"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设计优化与设计模式</a:t>
              </a:r>
            </a:p>
          </p:txBody>
        </p:sp>
      </p:grpSp>
      <p:grpSp>
        <p:nvGrpSpPr>
          <p:cNvPr id="19" name="cover-credit"/>
          <p:cNvGrpSpPr/>
          <p:nvPr/>
        </p:nvGrpSpPr>
        <p:grpSpPr>
          <a:xfrm>
            <a:off x="680466" y="6192202"/>
            <a:ext cx="4272401" cy="205359"/>
            <a:chOff x="680466" y="6192202"/>
            <a:chExt cx="4272401" cy="205359"/>
          </a:xfrm>
        </p:grpSpPr>
        <p:sp>
          <p:nvSpPr>
            <p:cNvPr id="18" name="TextBox 18"/>
            <p:cNvSpPr txBox="1"/>
            <p:nvPr/>
          </p:nvSpPr>
          <p:spPr>
            <a:xfrm>
              <a:off x="680466" y="6192202"/>
              <a:ext cx="4272401"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重制讲义 · 自学复习版｜据吉林大学《软件工程》第十一章课件整理</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2085594" cy="909257"/>
            <a:chOff x="520446" y="342900"/>
            <a:chExt cx="2085594" cy="909257"/>
          </a:xfrm>
        </p:grpSpPr>
        <p:sp>
          <p:nvSpPr>
            <p:cNvPr id="2" name="Rectangle 2"/>
            <p:cNvSpPr/>
            <p:nvPr/>
          </p:nvSpPr>
          <p:spPr>
            <a:xfrm>
              <a:off x="533400" y="342900"/>
              <a:ext cx="1613535" cy="266700"/>
            </a:xfrm>
            <a:prstGeom prst="roundRect">
              <a:avLst>
                <a:gd name="adj" fmla="val 50000"/>
              </a:avLst>
            </a:prstGeom>
            <a:solidFill>
              <a:srgbClr val="E7EDF3"/>
            </a:solidFill>
            <a:ln>
              <a:noFill/>
            </a:ln>
          </p:spPr>
        </p:sp>
        <p:sp>
          <p:nvSpPr>
            <p:cNvPr id="3" name="TextBox 3"/>
            <p:cNvSpPr txBox="1"/>
            <p:nvPr/>
          </p:nvSpPr>
          <p:spPr>
            <a:xfrm>
              <a:off x="620536" y="407194"/>
              <a:ext cx="1439264"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a:t>
              </a:r>
            </a:p>
          </p:txBody>
        </p:sp>
        <p:sp>
          <p:nvSpPr>
            <p:cNvPr id="4" name="TextBox 4"/>
            <p:cNvSpPr txBox="1"/>
            <p:nvPr/>
          </p:nvSpPr>
          <p:spPr>
            <a:xfrm>
              <a:off x="520446" y="753428"/>
              <a:ext cx="208559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本章学习路线</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0" name="c1-agenda-1"/>
          <p:cNvGrpSpPr/>
          <p:nvPr/>
        </p:nvGrpSpPr>
        <p:grpSpPr>
          <a:xfrm>
            <a:off x="521970" y="1515428"/>
            <a:ext cx="6287453" cy="4461795"/>
            <a:chOff x="521970" y="1515428"/>
            <a:chExt cx="6287453" cy="4461795"/>
          </a:xfrm>
        </p:grpSpPr>
        <p:sp>
          <p:nvSpPr>
            <p:cNvPr id="7" name="TextBox 7"/>
            <p:cNvSpPr txBox="1"/>
            <p:nvPr/>
          </p:nvSpPr>
          <p:spPr>
            <a:xfrm>
              <a:off x="521970" y="1515428"/>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01</a:t>
              </a:r>
            </a:p>
          </p:txBody>
        </p:sp>
        <p:sp>
          <p:nvSpPr>
            <p:cNvPr id="8" name="TextBox 8"/>
            <p:cNvSpPr txBox="1"/>
            <p:nvPr/>
          </p:nvSpPr>
          <p:spPr>
            <a:xfrm>
              <a:off x="1065086" y="1551622"/>
              <a:ext cx="905256"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设计准则</a:t>
              </a:r>
            </a:p>
          </p:txBody>
        </p:sp>
        <p:sp>
          <p:nvSpPr>
            <p:cNvPr id="9" name="TextBox 9"/>
            <p:cNvSpPr txBox="1"/>
            <p:nvPr/>
          </p:nvSpPr>
          <p:spPr>
            <a:xfrm>
              <a:off x="1066990" y="1868329"/>
              <a:ext cx="3398103"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六条准则、LCOM1 内聚度量、六条启发规则</a:t>
              </a:r>
            </a:p>
          </p:txBody>
        </p:sp>
        <p:sp>
          <p:nvSpPr>
            <p:cNvPr id="10" name="Rectangle 10"/>
            <p:cNvSpPr/>
            <p:nvPr/>
          </p:nvSpPr>
          <p:spPr>
            <a:xfrm>
              <a:off x="1073468" y="2181225"/>
              <a:ext cx="5735955" cy="9525"/>
            </a:xfrm>
            <a:prstGeom prst="rect">
              <a:avLst/>
            </a:prstGeom>
            <a:solidFill>
              <a:srgbClr val="D9DFEA"/>
            </a:solidFill>
            <a:ln>
              <a:noFill/>
            </a:ln>
          </p:spPr>
        </p:sp>
        <p:sp>
          <p:nvSpPr>
            <p:cNvPr id="11" name="TextBox 11"/>
            <p:cNvSpPr txBox="1"/>
            <p:nvPr/>
          </p:nvSpPr>
          <p:spPr>
            <a:xfrm>
              <a:off x="521970" y="2286952"/>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02</a:t>
              </a:r>
            </a:p>
          </p:txBody>
        </p:sp>
        <p:sp>
          <p:nvSpPr>
            <p:cNvPr id="12" name="TextBox 12"/>
            <p:cNvSpPr txBox="1"/>
            <p:nvPr/>
          </p:nvSpPr>
          <p:spPr>
            <a:xfrm>
              <a:off x="1065086" y="2323148"/>
              <a:ext cx="1422425"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SOLID 五原则</a:t>
              </a:r>
            </a:p>
          </p:txBody>
        </p:sp>
        <p:sp>
          <p:nvSpPr>
            <p:cNvPr id="13" name="TextBox 13"/>
            <p:cNvSpPr txBox="1"/>
            <p:nvPr/>
          </p:nvSpPr>
          <p:spPr>
            <a:xfrm>
              <a:off x="1066990" y="2639854"/>
              <a:ext cx="3803853"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单一责任、开闭、里氏替换、接口分离、依赖倒转</a:t>
              </a:r>
            </a:p>
          </p:txBody>
        </p:sp>
        <p:sp>
          <p:nvSpPr>
            <p:cNvPr id="14" name="Rectangle 14"/>
            <p:cNvSpPr/>
            <p:nvPr/>
          </p:nvSpPr>
          <p:spPr>
            <a:xfrm>
              <a:off x="1073468" y="2953702"/>
              <a:ext cx="5735955" cy="9525"/>
            </a:xfrm>
            <a:prstGeom prst="rect">
              <a:avLst/>
            </a:prstGeom>
            <a:solidFill>
              <a:srgbClr val="D9DFEA"/>
            </a:solidFill>
            <a:ln>
              <a:noFill/>
            </a:ln>
          </p:spPr>
        </p:sp>
        <p:sp>
          <p:nvSpPr>
            <p:cNvPr id="15" name="TextBox 15"/>
            <p:cNvSpPr txBox="1"/>
            <p:nvPr/>
          </p:nvSpPr>
          <p:spPr>
            <a:xfrm>
              <a:off x="521970" y="3058478"/>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03</a:t>
              </a:r>
            </a:p>
          </p:txBody>
        </p:sp>
        <p:sp>
          <p:nvSpPr>
            <p:cNvPr id="16" name="TextBox 16"/>
            <p:cNvSpPr txBox="1"/>
            <p:nvPr/>
          </p:nvSpPr>
          <p:spPr>
            <a:xfrm>
              <a:off x="1065086" y="3094673"/>
              <a:ext cx="905256"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软件重用</a:t>
              </a:r>
            </a:p>
          </p:txBody>
        </p:sp>
        <p:sp>
          <p:nvSpPr>
            <p:cNvPr id="17" name="TextBox 17"/>
            <p:cNvSpPr txBox="1"/>
            <p:nvPr/>
          </p:nvSpPr>
          <p:spPr>
            <a:xfrm>
              <a:off x="1066990" y="3412331"/>
              <a:ext cx="3114599"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三个层次、类构件、三种重用方式与效益</a:t>
              </a:r>
            </a:p>
          </p:txBody>
        </p:sp>
        <p:sp>
          <p:nvSpPr>
            <p:cNvPr id="18" name="Rectangle 18"/>
            <p:cNvSpPr/>
            <p:nvPr/>
          </p:nvSpPr>
          <p:spPr>
            <a:xfrm>
              <a:off x="1073468" y="3725228"/>
              <a:ext cx="5735955" cy="9525"/>
            </a:xfrm>
            <a:prstGeom prst="rect">
              <a:avLst/>
            </a:prstGeom>
            <a:solidFill>
              <a:srgbClr val="D9DFEA"/>
            </a:solidFill>
            <a:ln>
              <a:noFill/>
            </a:ln>
          </p:spPr>
        </p:sp>
        <p:sp>
          <p:nvSpPr>
            <p:cNvPr id="19" name="TextBox 19"/>
            <p:cNvSpPr txBox="1"/>
            <p:nvPr/>
          </p:nvSpPr>
          <p:spPr>
            <a:xfrm>
              <a:off x="521970" y="3830955"/>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04</a:t>
              </a:r>
            </a:p>
          </p:txBody>
        </p:sp>
        <p:sp>
          <p:nvSpPr>
            <p:cNvPr id="20" name="TextBox 20"/>
            <p:cNvSpPr txBox="1"/>
            <p:nvPr/>
          </p:nvSpPr>
          <p:spPr>
            <a:xfrm>
              <a:off x="1065086" y="3867150"/>
              <a:ext cx="905256"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系统分解</a:t>
              </a:r>
            </a:p>
          </p:txBody>
        </p:sp>
        <p:sp>
          <p:nvSpPr>
            <p:cNvPr id="21" name="TextBox 21"/>
            <p:cNvSpPr txBox="1"/>
            <p:nvPr/>
          </p:nvSpPr>
          <p:spPr>
            <a:xfrm>
              <a:off x="1066990" y="4183856"/>
              <a:ext cx="2942285"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四个子系统、五个层次、两种组织方案</a:t>
              </a:r>
            </a:p>
          </p:txBody>
        </p:sp>
        <p:sp>
          <p:nvSpPr>
            <p:cNvPr id="22" name="Rectangle 22"/>
            <p:cNvSpPr/>
            <p:nvPr/>
          </p:nvSpPr>
          <p:spPr>
            <a:xfrm>
              <a:off x="1073468" y="4497705"/>
              <a:ext cx="5735955" cy="9525"/>
            </a:xfrm>
            <a:prstGeom prst="rect">
              <a:avLst/>
            </a:prstGeom>
            <a:solidFill>
              <a:srgbClr val="D9DFEA"/>
            </a:solidFill>
            <a:ln>
              <a:noFill/>
            </a:ln>
          </p:spPr>
        </p:sp>
        <p:sp>
          <p:nvSpPr>
            <p:cNvPr id="23" name="TextBox 23"/>
            <p:cNvSpPr txBox="1"/>
            <p:nvPr/>
          </p:nvSpPr>
          <p:spPr>
            <a:xfrm>
              <a:off x="521970" y="4602480"/>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05</a:t>
              </a:r>
            </a:p>
          </p:txBody>
        </p:sp>
        <p:sp>
          <p:nvSpPr>
            <p:cNvPr id="24" name="TextBox 24"/>
            <p:cNvSpPr txBox="1"/>
            <p:nvPr/>
          </p:nvSpPr>
          <p:spPr>
            <a:xfrm>
              <a:off x="1065086" y="4638675"/>
              <a:ext cx="1793748"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服务、关联与优化</a:t>
              </a:r>
            </a:p>
          </p:txBody>
        </p:sp>
        <p:sp>
          <p:nvSpPr>
            <p:cNvPr id="25" name="TextBox 25"/>
            <p:cNvSpPr txBox="1"/>
            <p:nvPr/>
          </p:nvSpPr>
          <p:spPr>
            <a:xfrm>
              <a:off x="1066990" y="4955381"/>
              <a:ext cx="2942285"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设计服务、实现关联、冗余关联与委托</a:t>
              </a:r>
            </a:p>
          </p:txBody>
        </p:sp>
        <p:sp>
          <p:nvSpPr>
            <p:cNvPr id="26" name="Rectangle 26"/>
            <p:cNvSpPr/>
            <p:nvPr/>
          </p:nvSpPr>
          <p:spPr>
            <a:xfrm>
              <a:off x="1073468" y="5269230"/>
              <a:ext cx="5735955" cy="9525"/>
            </a:xfrm>
            <a:prstGeom prst="rect">
              <a:avLst/>
            </a:prstGeom>
            <a:solidFill>
              <a:srgbClr val="D9DFEA"/>
            </a:solidFill>
            <a:ln>
              <a:noFill/>
            </a:ln>
          </p:spPr>
        </p:sp>
        <p:sp>
          <p:nvSpPr>
            <p:cNvPr id="27" name="TextBox 27"/>
            <p:cNvSpPr txBox="1"/>
            <p:nvPr/>
          </p:nvSpPr>
          <p:spPr>
            <a:xfrm>
              <a:off x="521970" y="5374958"/>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06</a:t>
              </a:r>
            </a:p>
          </p:txBody>
        </p:sp>
        <p:sp>
          <p:nvSpPr>
            <p:cNvPr id="28" name="TextBox 28"/>
            <p:cNvSpPr txBox="1"/>
            <p:nvPr/>
          </p:nvSpPr>
          <p:spPr>
            <a:xfrm>
              <a:off x="1065086" y="5411152"/>
              <a:ext cx="905256"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设计模式</a:t>
              </a:r>
            </a:p>
          </p:txBody>
        </p:sp>
        <p:sp>
          <p:nvSpPr>
            <p:cNvPr id="29" name="TextBox 29"/>
            <p:cNvSpPr txBox="1"/>
            <p:nvPr/>
          </p:nvSpPr>
          <p:spPr>
            <a:xfrm>
              <a:off x="1066990" y="5727859"/>
              <a:ext cx="2601722"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四要素、GoF 编目、六个常考模式</a:t>
              </a:r>
            </a:p>
          </p:txBody>
        </p:sp>
      </p:grpSp>
      <p:grpSp>
        <p:nvGrpSpPr>
          <p:cNvPr id="45" name="c2-card-1"/>
          <p:cNvGrpSpPr/>
          <p:nvPr/>
        </p:nvGrpSpPr>
        <p:grpSpPr>
          <a:xfrm>
            <a:off x="7114222" y="1524000"/>
            <a:ext cx="4544378" cy="4402455"/>
            <a:chOff x="7114222" y="1524000"/>
            <a:chExt cx="4544378" cy="4402455"/>
          </a:xfrm>
        </p:grpSpPr>
        <p:sp>
          <p:nvSpPr>
            <p:cNvPr id="31" name="Rectangle 31"/>
            <p:cNvSpPr/>
            <p:nvPr/>
          </p:nvSpPr>
          <p:spPr>
            <a:xfrm>
              <a:off x="7114222" y="1524000"/>
              <a:ext cx="4544378" cy="4402455"/>
            </a:xfrm>
            <a:prstGeom prst="roundRect">
              <a:avLst>
                <a:gd name="adj" fmla="val 3029"/>
              </a:avLst>
            </a:prstGeom>
            <a:solidFill>
              <a:srgbClr val="FFFFFF"/>
            </a:solidFill>
            <a:ln w="14288">
              <a:solidFill>
                <a:srgbClr val="D9DFEA"/>
              </a:solidFill>
            </a:ln>
          </p:spPr>
        </p:sp>
        <p:sp>
          <p:nvSpPr>
            <p:cNvPr id="32" name="Rectangle 32"/>
            <p:cNvSpPr/>
            <p:nvPr/>
          </p:nvSpPr>
          <p:spPr>
            <a:xfrm>
              <a:off x="7123748" y="1657350"/>
              <a:ext cx="47625" cy="4135755"/>
            </a:xfrm>
            <a:prstGeom prst="roundRect">
              <a:avLst>
                <a:gd name="adj" fmla="val 50000"/>
              </a:avLst>
            </a:prstGeom>
            <a:solidFill>
              <a:srgbClr val="334E68"/>
            </a:solidFill>
            <a:ln>
              <a:noFill/>
            </a:ln>
          </p:spPr>
        </p:sp>
        <p:sp>
          <p:nvSpPr>
            <p:cNvPr id="33" name="Rectangle 33"/>
            <p:cNvSpPr/>
            <p:nvPr/>
          </p:nvSpPr>
          <p:spPr>
            <a:xfrm>
              <a:off x="7361872" y="1733550"/>
              <a:ext cx="778192" cy="257175"/>
            </a:xfrm>
            <a:prstGeom prst="roundRect">
              <a:avLst>
                <a:gd name="adj" fmla="val 50000"/>
              </a:avLst>
            </a:prstGeom>
            <a:solidFill>
              <a:srgbClr val="E7EDF3"/>
            </a:solidFill>
            <a:ln>
              <a:noFill/>
            </a:ln>
          </p:spPr>
        </p:sp>
        <p:sp>
          <p:nvSpPr>
            <p:cNvPr id="34" name="TextBox 34"/>
            <p:cNvSpPr txBox="1"/>
            <p:nvPr/>
          </p:nvSpPr>
          <p:spPr>
            <a:xfrm>
              <a:off x="7443229" y="1769269"/>
              <a:ext cx="61452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学习目标</a:t>
              </a:r>
            </a:p>
          </p:txBody>
        </p:sp>
        <p:sp>
          <p:nvSpPr>
            <p:cNvPr id="35" name="Ellipse 35"/>
            <p:cNvSpPr/>
            <p:nvPr/>
          </p:nvSpPr>
          <p:spPr>
            <a:xfrm>
              <a:off x="7367588" y="2173605"/>
              <a:ext cx="64770" cy="64770"/>
            </a:xfrm>
            <a:prstGeom prst="ellipse">
              <a:avLst/>
            </a:prstGeom>
            <a:solidFill>
              <a:srgbClr val="334E68"/>
            </a:solidFill>
            <a:ln>
              <a:noFill/>
            </a:ln>
          </p:spPr>
        </p:sp>
        <p:sp>
          <p:nvSpPr>
            <p:cNvPr id="36" name="TextBox 36"/>
            <p:cNvSpPr txBox="1"/>
            <p:nvPr/>
          </p:nvSpPr>
          <p:spPr>
            <a:xfrm>
              <a:off x="7525702" y="2110740"/>
              <a:ext cx="358711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用 LCOM1 算出一个类的内聚度并判断要不</a:t>
              </a:r>
              <a:br/>
              <a:r>
                <a:rPr lang="zh-CN" sz="1500" dirty="0">
                  <a:solidFill>
                    <a:srgbClr val="1F2937"/>
                  </a:solidFill>
                  <a:latin typeface="+mn-lt"/>
                  <a:ea typeface="+mn-ea"/>
                  <a:cs typeface="+mn-cs"/>
                </a:rPr>
                <a:t>要拆分</a:t>
              </a:r>
            </a:p>
          </p:txBody>
        </p:sp>
        <p:sp>
          <p:nvSpPr>
            <p:cNvPr id="37" name="Ellipse 37"/>
            <p:cNvSpPr/>
            <p:nvPr/>
          </p:nvSpPr>
          <p:spPr>
            <a:xfrm>
              <a:off x="7367588" y="2794635"/>
              <a:ext cx="64770" cy="64770"/>
            </a:xfrm>
            <a:prstGeom prst="ellipse">
              <a:avLst/>
            </a:prstGeom>
            <a:solidFill>
              <a:srgbClr val="334E68"/>
            </a:solidFill>
            <a:ln>
              <a:noFill/>
            </a:ln>
          </p:spPr>
        </p:sp>
        <p:sp>
          <p:nvSpPr>
            <p:cNvPr id="38" name="TextBox 38"/>
            <p:cNvSpPr txBox="1"/>
            <p:nvPr/>
          </p:nvSpPr>
          <p:spPr>
            <a:xfrm>
              <a:off x="7525702" y="2731770"/>
              <a:ext cx="369189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给一段不良设计指出它违反了 SOLID 的哪一</a:t>
              </a:r>
              <a:br/>
              <a:r>
                <a:rPr lang="zh-CN" sz="1500" dirty="0">
                  <a:solidFill>
                    <a:srgbClr val="1F2937"/>
                  </a:solidFill>
                  <a:latin typeface="+mn-lt"/>
                  <a:ea typeface="+mn-ea"/>
                  <a:cs typeface="+mn-cs"/>
                </a:rPr>
                <a:t>条并改好</a:t>
              </a:r>
            </a:p>
          </p:txBody>
        </p:sp>
        <p:sp>
          <p:nvSpPr>
            <p:cNvPr id="39" name="Ellipse 39"/>
            <p:cNvSpPr/>
            <p:nvPr/>
          </p:nvSpPr>
          <p:spPr>
            <a:xfrm>
              <a:off x="7367588" y="3415665"/>
              <a:ext cx="64770" cy="64770"/>
            </a:xfrm>
            <a:prstGeom prst="ellipse">
              <a:avLst/>
            </a:prstGeom>
            <a:solidFill>
              <a:srgbClr val="334E68"/>
            </a:solidFill>
            <a:ln>
              <a:noFill/>
            </a:ln>
          </p:spPr>
        </p:sp>
        <p:sp>
          <p:nvSpPr>
            <p:cNvPr id="40" name="TextBox 40"/>
            <p:cNvSpPr txBox="1"/>
            <p:nvPr/>
          </p:nvSpPr>
          <p:spPr>
            <a:xfrm>
              <a:off x="7525702" y="335280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说出四个子系统各自负责什么以及五个层次</a:t>
              </a:r>
              <a:br/>
              <a:r>
                <a:rPr lang="zh-CN" sz="1500" dirty="0">
                  <a:solidFill>
                    <a:srgbClr val="1F2937"/>
                  </a:solidFill>
                  <a:latin typeface="+mn-lt"/>
                  <a:ea typeface="+mn-ea"/>
                  <a:cs typeface="+mn-cs"/>
                </a:rPr>
                <a:t>怎样贯穿其中</a:t>
              </a:r>
            </a:p>
          </p:txBody>
        </p:sp>
        <p:sp>
          <p:nvSpPr>
            <p:cNvPr id="41" name="Ellipse 41"/>
            <p:cNvSpPr/>
            <p:nvPr/>
          </p:nvSpPr>
          <p:spPr>
            <a:xfrm>
              <a:off x="7367588" y="4036695"/>
              <a:ext cx="64770" cy="64770"/>
            </a:xfrm>
            <a:prstGeom prst="ellipse">
              <a:avLst/>
            </a:prstGeom>
            <a:solidFill>
              <a:srgbClr val="334E68"/>
            </a:solidFill>
            <a:ln>
              <a:noFill/>
            </a:ln>
          </p:spPr>
        </p:sp>
        <p:sp>
          <p:nvSpPr>
            <p:cNvPr id="42" name="TextBox 42"/>
            <p:cNvSpPr txBox="1"/>
            <p:nvPr/>
          </p:nvSpPr>
          <p:spPr>
            <a:xfrm>
              <a:off x="7525702" y="397383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用属性、指针集合或独立关联类实现单向和</a:t>
              </a:r>
              <a:br/>
              <a:r>
                <a:rPr lang="zh-CN" sz="1500" dirty="0">
                  <a:solidFill>
                    <a:srgbClr val="1F2937"/>
                  </a:solidFill>
                  <a:latin typeface="+mn-lt"/>
                  <a:ea typeface="+mn-ea"/>
                  <a:cs typeface="+mn-cs"/>
                </a:rPr>
                <a:t>双向关联</a:t>
              </a:r>
            </a:p>
          </p:txBody>
        </p:sp>
        <p:sp>
          <p:nvSpPr>
            <p:cNvPr id="43" name="Ellipse 43"/>
            <p:cNvSpPr/>
            <p:nvPr/>
          </p:nvSpPr>
          <p:spPr>
            <a:xfrm>
              <a:off x="7367588" y="4657725"/>
              <a:ext cx="64770" cy="64770"/>
            </a:xfrm>
            <a:prstGeom prst="ellipse">
              <a:avLst/>
            </a:prstGeom>
            <a:solidFill>
              <a:srgbClr val="334E68"/>
            </a:solidFill>
            <a:ln>
              <a:noFill/>
            </a:ln>
          </p:spPr>
        </p:sp>
        <p:sp>
          <p:nvSpPr>
            <p:cNvPr id="44" name="TextBox 44"/>
            <p:cNvSpPr txBox="1"/>
            <p:nvPr/>
          </p:nvSpPr>
          <p:spPr>
            <a:xfrm>
              <a:off x="7525702" y="459486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画出工厂方法、模板方法、观察者三个模式</a:t>
              </a:r>
              <a:br/>
              <a:r>
                <a:rPr lang="zh-CN" sz="1500" dirty="0">
                  <a:solidFill>
                    <a:srgbClr val="1F2937"/>
                  </a:solidFill>
                  <a:latin typeface="+mn-lt"/>
                  <a:ea typeface="+mn-ea"/>
                  <a:cs typeface="+mn-cs"/>
                </a:rPr>
                <a:t>的结构并说明各角色职责</a:t>
              </a:r>
            </a:p>
          </p:txBody>
        </p:sp>
      </p:grpSp>
      <p:grpSp>
        <p:nvGrpSpPr>
          <p:cNvPr id="48" name="footer"/>
          <p:cNvGrpSpPr/>
          <p:nvPr/>
        </p:nvGrpSpPr>
        <p:grpSpPr>
          <a:xfrm>
            <a:off x="528447" y="6581299"/>
            <a:ext cx="11135106" cy="190690"/>
            <a:chOff x="528447" y="6581299"/>
            <a:chExt cx="11135106" cy="190690"/>
          </a:xfrm>
        </p:grpSpPr>
        <p:sp>
          <p:nvSpPr>
            <p:cNvPr id="46" name="TextBox 46"/>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47" name="TextBox 47"/>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01</a:t>
              </a:r>
            </a:p>
          </p:txBody>
        </p:sp>
      </p:grpSp>
      <p:grpSp>
        <p:nvGrpSpPr>
          <p:cNvPr id="18" name="section-title"/>
          <p:cNvGrpSpPr/>
          <p:nvPr/>
        </p:nvGrpSpPr>
        <p:grpSpPr>
          <a:xfrm>
            <a:off x="667512" y="1835468"/>
            <a:ext cx="4398264" cy="3351847"/>
            <a:chOff x="667512" y="1835468"/>
            <a:chExt cx="4398264"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第一部分</a:t>
              </a:r>
            </a:p>
          </p:txBody>
        </p:sp>
        <p:sp>
          <p:nvSpPr>
            <p:cNvPr id="7" name="TextBox 7"/>
            <p:cNvSpPr txBox="1"/>
            <p:nvPr/>
          </p:nvSpPr>
          <p:spPr>
            <a:xfrm>
              <a:off x="667512" y="2240280"/>
              <a:ext cx="4398264"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面向对象设计的准则</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2460117"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六条准则加六条启发规则</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模块化、抽象、信息隐藏</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弱耦合与强内聚</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1559052"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LCOM1 内聚度量</a:t>
              </a:r>
            </a:p>
          </p:txBody>
        </p:sp>
        <p:sp>
          <p:nvSpPr>
            <p:cNvPr id="16" name="Ellipse 16"/>
            <p:cNvSpPr/>
            <p:nvPr/>
          </p:nvSpPr>
          <p:spPr>
            <a:xfrm>
              <a:off x="723900" y="4951095"/>
              <a:ext cx="76200" cy="76200"/>
            </a:xfrm>
            <a:prstGeom prst="ellipse">
              <a:avLst/>
            </a:prstGeom>
            <a:solidFill>
              <a:srgbClr val="334E68"/>
            </a:solidFill>
            <a:ln>
              <a:noFill/>
            </a:ln>
          </p:spPr>
        </p:sp>
        <p:sp>
          <p:nvSpPr>
            <p:cNvPr id="17" name="TextBox 17"/>
            <p:cNvSpPr txBox="1"/>
            <p:nvPr/>
          </p:nvSpPr>
          <p:spPr>
            <a:xfrm>
              <a:off x="906780" y="4893945"/>
              <a:ext cx="8229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启发规则</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20" name="TextBox 20"/>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578090" cy="909257"/>
            <a:chOff x="520446" y="342900"/>
            <a:chExt cx="7578090" cy="909257"/>
          </a:xfrm>
        </p:grpSpPr>
        <p:sp>
          <p:nvSpPr>
            <p:cNvPr id="2" name="Rectangle 2"/>
            <p:cNvSpPr/>
            <p:nvPr/>
          </p:nvSpPr>
          <p:spPr>
            <a:xfrm>
              <a:off x="533400" y="342900"/>
              <a:ext cx="3066098" cy="266700"/>
            </a:xfrm>
            <a:prstGeom prst="roundRect">
              <a:avLst>
                <a:gd name="adj" fmla="val 50000"/>
              </a:avLst>
            </a:prstGeom>
            <a:solidFill>
              <a:srgbClr val="E7EDF3"/>
            </a:solidFill>
            <a:ln>
              <a:noFill/>
            </a:ln>
          </p:spPr>
        </p:sp>
        <p:sp>
          <p:nvSpPr>
            <p:cNvPr id="3" name="TextBox 3"/>
            <p:cNvSpPr txBox="1"/>
            <p:nvPr/>
          </p:nvSpPr>
          <p:spPr>
            <a:xfrm>
              <a:off x="576826" y="407194"/>
              <a:ext cx="297829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面向对象设计的准则</a:t>
              </a:r>
            </a:p>
          </p:txBody>
        </p:sp>
        <p:sp>
          <p:nvSpPr>
            <p:cNvPr id="4" name="TextBox 4"/>
            <p:cNvSpPr txBox="1"/>
            <p:nvPr/>
          </p:nvSpPr>
          <p:spPr>
            <a:xfrm>
              <a:off x="520446" y="753428"/>
              <a:ext cx="757809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六条准则：结构化设计的老道理，换成对象的说法</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399" y="1550194"/>
            <a:ext cx="8991925" cy="308039"/>
            <a:chOff x="525399" y="1550194"/>
            <a:chExt cx="8991925" cy="308039"/>
          </a:xfrm>
        </p:grpSpPr>
        <p:sp>
          <p:nvSpPr>
            <p:cNvPr id="7" name="TextBox 7"/>
            <p:cNvSpPr txBox="1"/>
            <p:nvPr/>
          </p:nvSpPr>
          <p:spPr>
            <a:xfrm>
              <a:off x="525399" y="1550194"/>
              <a:ext cx="8991925" cy="308039"/>
            </a:xfrm>
            <a:prstGeom prst="rect">
              <a:avLst/>
            </a:prstGeom>
            <a:noFill/>
            <a:ln>
              <a:noFill/>
            </a:ln>
          </p:spPr>
          <p:txBody>
            <a:bodyPr wrap="none" lIns="0" tIns="0" rIns="0" bIns="0" anchor="t" anchorCtr="0">
              <a:spAutoFit/>
            </a:bodyPr>
            <a:lstStyle/>
            <a:p>
              <a:pPr algn="l"/>
              <a:r>
                <a:rPr lang="zh-CN" sz="1580" dirty="0">
                  <a:solidFill>
                    <a:srgbClr val="5B6475"/>
                  </a:solidFill>
                  <a:latin typeface="+mn-lt"/>
                  <a:ea typeface="+mn-ea"/>
                  <a:cs typeface="+mn-cs"/>
                </a:rPr>
                <a:t>面向对象设计沿用了模块化、抽象、信息隐藏这些通用原则，只是把“模块”换成了“类和对象”。</a:t>
              </a:r>
            </a:p>
          </p:txBody>
        </p:sp>
      </p:grpSp>
      <p:grpSp>
        <p:nvGrpSpPr>
          <p:cNvPr id="34" name="c1-table-1"/>
          <p:cNvGrpSpPr/>
          <p:nvPr/>
        </p:nvGrpSpPr>
        <p:grpSpPr>
          <a:xfrm>
            <a:off x="533400" y="1967865"/>
            <a:ext cx="5842635" cy="3413760"/>
            <a:chOff x="533400" y="1967865"/>
            <a:chExt cx="5842635" cy="3413760"/>
          </a:xfrm>
        </p:grpSpPr>
        <p:sp>
          <p:nvSpPr>
            <p:cNvPr id="9" name="Rectangle 9"/>
            <p:cNvSpPr/>
            <p:nvPr/>
          </p:nvSpPr>
          <p:spPr>
            <a:xfrm>
              <a:off x="533400" y="1967865"/>
              <a:ext cx="5842635" cy="487680"/>
            </a:xfrm>
            <a:prstGeom prst="rect">
              <a:avLst/>
            </a:prstGeom>
            <a:solidFill>
              <a:srgbClr val="334E68"/>
            </a:solidFill>
            <a:ln>
              <a:noFill/>
            </a:ln>
          </p:spPr>
        </p:sp>
        <p:sp>
          <p:nvSpPr>
            <p:cNvPr id="10" name="TextBox 10"/>
            <p:cNvSpPr txBox="1"/>
            <p:nvPr/>
          </p:nvSpPr>
          <p:spPr>
            <a:xfrm>
              <a:off x="966788" y="2106930"/>
              <a:ext cx="419100"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准则</a:t>
              </a:r>
            </a:p>
          </p:txBody>
        </p:sp>
        <p:sp>
          <p:nvSpPr>
            <p:cNvPr id="11" name="TextBox 11"/>
            <p:cNvSpPr txBox="1"/>
            <p:nvPr/>
          </p:nvSpPr>
          <p:spPr>
            <a:xfrm>
              <a:off x="2979420" y="2106930"/>
              <a:ext cx="2236470"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在面向对象设计中的含义</a:t>
              </a:r>
            </a:p>
          </p:txBody>
        </p:sp>
        <p:sp>
          <p:nvSpPr>
            <p:cNvPr id="12" name="TextBox 12"/>
            <p:cNvSpPr txBox="1"/>
            <p:nvPr/>
          </p:nvSpPr>
          <p:spPr>
            <a:xfrm>
              <a:off x="640080" y="2594610"/>
              <a:ext cx="62103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模块化</a:t>
              </a:r>
            </a:p>
          </p:txBody>
        </p:sp>
        <p:sp>
          <p:nvSpPr>
            <p:cNvPr id="13" name="TextBox 13"/>
            <p:cNvSpPr txBox="1"/>
            <p:nvPr/>
          </p:nvSpPr>
          <p:spPr>
            <a:xfrm>
              <a:off x="1925955" y="2594610"/>
              <a:ext cx="38519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对象就是模块，数据和操作封装成一个整体</a:t>
              </a:r>
            </a:p>
          </p:txBody>
        </p:sp>
        <p:sp>
          <p:nvSpPr>
            <p:cNvPr id="14" name="Rectangle 14"/>
            <p:cNvSpPr/>
            <p:nvPr/>
          </p:nvSpPr>
          <p:spPr>
            <a:xfrm>
              <a:off x="533400" y="2938462"/>
              <a:ext cx="5842635" cy="9525"/>
            </a:xfrm>
            <a:prstGeom prst="rect">
              <a:avLst/>
            </a:prstGeom>
            <a:solidFill>
              <a:srgbClr val="D9DFEA"/>
            </a:solidFill>
            <a:ln>
              <a:noFill/>
            </a:ln>
          </p:spPr>
        </p:sp>
        <p:sp>
          <p:nvSpPr>
            <p:cNvPr id="15" name="Rectangle 15"/>
            <p:cNvSpPr/>
            <p:nvPr/>
          </p:nvSpPr>
          <p:spPr>
            <a:xfrm>
              <a:off x="533400" y="2943225"/>
              <a:ext cx="5842635" cy="487680"/>
            </a:xfrm>
            <a:prstGeom prst="rect">
              <a:avLst/>
            </a:prstGeom>
            <a:solidFill>
              <a:srgbClr val="F4F6FB"/>
            </a:solidFill>
            <a:ln>
              <a:noFill/>
            </a:ln>
          </p:spPr>
        </p:sp>
        <p:sp>
          <p:nvSpPr>
            <p:cNvPr id="16" name="TextBox 16"/>
            <p:cNvSpPr txBox="1"/>
            <p:nvPr/>
          </p:nvSpPr>
          <p:spPr>
            <a:xfrm>
              <a:off x="640080" y="3082290"/>
              <a:ext cx="41910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抽象</a:t>
              </a:r>
            </a:p>
          </p:txBody>
        </p:sp>
        <p:sp>
          <p:nvSpPr>
            <p:cNvPr id="17" name="TextBox 17"/>
            <p:cNvSpPr txBox="1"/>
            <p:nvPr/>
          </p:nvSpPr>
          <p:spPr>
            <a:xfrm>
              <a:off x="1925955" y="3082290"/>
              <a:ext cx="40538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类是对象的抽象，既是数据抽象也是过程抽象</a:t>
              </a:r>
            </a:p>
          </p:txBody>
        </p:sp>
        <p:sp>
          <p:nvSpPr>
            <p:cNvPr id="18" name="Rectangle 18"/>
            <p:cNvSpPr/>
            <p:nvPr/>
          </p:nvSpPr>
          <p:spPr>
            <a:xfrm>
              <a:off x="533400" y="3426142"/>
              <a:ext cx="5842635" cy="9525"/>
            </a:xfrm>
            <a:prstGeom prst="rect">
              <a:avLst/>
            </a:prstGeom>
            <a:solidFill>
              <a:srgbClr val="D9DFEA"/>
            </a:solidFill>
            <a:ln>
              <a:noFill/>
            </a:ln>
          </p:spPr>
        </p:sp>
        <p:sp>
          <p:nvSpPr>
            <p:cNvPr id="19" name="TextBox 19"/>
            <p:cNvSpPr txBox="1"/>
            <p:nvPr/>
          </p:nvSpPr>
          <p:spPr>
            <a:xfrm>
              <a:off x="640080" y="3569970"/>
              <a:ext cx="8229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信息隐藏</a:t>
              </a:r>
            </a:p>
          </p:txBody>
        </p:sp>
        <p:sp>
          <p:nvSpPr>
            <p:cNvPr id="20" name="TextBox 20"/>
            <p:cNvSpPr txBox="1"/>
            <p:nvPr/>
          </p:nvSpPr>
          <p:spPr>
            <a:xfrm>
              <a:off x="1925955" y="3569970"/>
              <a:ext cx="34480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属性私有，外界只能通过公有服务访问</a:t>
              </a:r>
            </a:p>
          </p:txBody>
        </p:sp>
        <p:sp>
          <p:nvSpPr>
            <p:cNvPr id="21" name="Rectangle 21"/>
            <p:cNvSpPr/>
            <p:nvPr/>
          </p:nvSpPr>
          <p:spPr>
            <a:xfrm>
              <a:off x="533400" y="3913822"/>
              <a:ext cx="5842635" cy="9525"/>
            </a:xfrm>
            <a:prstGeom prst="rect">
              <a:avLst/>
            </a:prstGeom>
            <a:solidFill>
              <a:srgbClr val="D9DFEA"/>
            </a:solidFill>
            <a:ln>
              <a:noFill/>
            </a:ln>
          </p:spPr>
        </p:sp>
        <p:sp>
          <p:nvSpPr>
            <p:cNvPr id="22" name="Rectangle 22"/>
            <p:cNvSpPr/>
            <p:nvPr/>
          </p:nvSpPr>
          <p:spPr>
            <a:xfrm>
              <a:off x="533400" y="3918585"/>
              <a:ext cx="5842635" cy="487680"/>
            </a:xfrm>
            <a:prstGeom prst="rect">
              <a:avLst/>
            </a:prstGeom>
            <a:solidFill>
              <a:srgbClr val="F4F6FB"/>
            </a:solidFill>
            <a:ln>
              <a:noFill/>
            </a:ln>
          </p:spPr>
        </p:sp>
        <p:sp>
          <p:nvSpPr>
            <p:cNvPr id="23" name="TextBox 23"/>
            <p:cNvSpPr txBox="1"/>
            <p:nvPr/>
          </p:nvSpPr>
          <p:spPr>
            <a:xfrm>
              <a:off x="640080" y="4057650"/>
              <a:ext cx="62103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弱耦合</a:t>
              </a:r>
            </a:p>
          </p:txBody>
        </p:sp>
        <p:sp>
          <p:nvSpPr>
            <p:cNvPr id="24" name="TextBox 24"/>
            <p:cNvSpPr txBox="1"/>
            <p:nvPr/>
          </p:nvSpPr>
          <p:spPr>
            <a:xfrm>
              <a:off x="1925955" y="4057650"/>
              <a:ext cx="34480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分交互耦合和继承耦合，要求方向相反</a:t>
              </a:r>
            </a:p>
          </p:txBody>
        </p:sp>
        <p:sp>
          <p:nvSpPr>
            <p:cNvPr id="25" name="Rectangle 25"/>
            <p:cNvSpPr/>
            <p:nvPr/>
          </p:nvSpPr>
          <p:spPr>
            <a:xfrm>
              <a:off x="533400" y="4401502"/>
              <a:ext cx="5842635" cy="9525"/>
            </a:xfrm>
            <a:prstGeom prst="rect">
              <a:avLst/>
            </a:prstGeom>
            <a:solidFill>
              <a:srgbClr val="D9DFEA"/>
            </a:solidFill>
            <a:ln>
              <a:noFill/>
            </a:ln>
          </p:spPr>
        </p:sp>
        <p:sp>
          <p:nvSpPr>
            <p:cNvPr id="26" name="TextBox 26"/>
            <p:cNvSpPr txBox="1"/>
            <p:nvPr/>
          </p:nvSpPr>
          <p:spPr>
            <a:xfrm>
              <a:off x="640080" y="4545330"/>
              <a:ext cx="62103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强内聚</a:t>
              </a:r>
            </a:p>
          </p:txBody>
        </p:sp>
        <p:sp>
          <p:nvSpPr>
            <p:cNvPr id="27" name="TextBox 27"/>
            <p:cNvSpPr txBox="1"/>
            <p:nvPr/>
          </p:nvSpPr>
          <p:spPr>
            <a:xfrm>
              <a:off x="1925955" y="4545330"/>
              <a:ext cx="3155252"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服务内聚、类内聚、一般-特殊内聚</a:t>
              </a:r>
            </a:p>
          </p:txBody>
        </p:sp>
        <p:sp>
          <p:nvSpPr>
            <p:cNvPr id="28" name="Rectangle 28"/>
            <p:cNvSpPr/>
            <p:nvPr/>
          </p:nvSpPr>
          <p:spPr>
            <a:xfrm>
              <a:off x="533400" y="4889182"/>
              <a:ext cx="5842635" cy="9525"/>
            </a:xfrm>
            <a:prstGeom prst="rect">
              <a:avLst/>
            </a:prstGeom>
            <a:solidFill>
              <a:srgbClr val="D9DFEA"/>
            </a:solidFill>
            <a:ln>
              <a:noFill/>
            </a:ln>
          </p:spPr>
        </p:sp>
        <p:sp>
          <p:nvSpPr>
            <p:cNvPr id="29" name="Rectangle 29"/>
            <p:cNvSpPr/>
            <p:nvPr/>
          </p:nvSpPr>
          <p:spPr>
            <a:xfrm>
              <a:off x="533400" y="4893945"/>
              <a:ext cx="5842635" cy="487680"/>
            </a:xfrm>
            <a:prstGeom prst="rect">
              <a:avLst/>
            </a:prstGeom>
            <a:solidFill>
              <a:srgbClr val="F4F6FB"/>
            </a:solidFill>
            <a:ln>
              <a:noFill/>
            </a:ln>
          </p:spPr>
        </p:sp>
        <p:sp>
          <p:nvSpPr>
            <p:cNvPr id="30" name="TextBox 30"/>
            <p:cNvSpPr txBox="1"/>
            <p:nvPr/>
          </p:nvSpPr>
          <p:spPr>
            <a:xfrm>
              <a:off x="640080" y="5033010"/>
              <a:ext cx="62103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可重用</a:t>
              </a:r>
            </a:p>
          </p:txBody>
        </p:sp>
        <p:sp>
          <p:nvSpPr>
            <p:cNvPr id="31" name="TextBox 31"/>
            <p:cNvSpPr txBox="1"/>
            <p:nvPr/>
          </p:nvSpPr>
          <p:spPr>
            <a:xfrm>
              <a:off x="1925955" y="5033010"/>
              <a:ext cx="42557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尽量用已有的类，新类的协议也要为重用留余地</a:t>
              </a:r>
            </a:p>
          </p:txBody>
        </p:sp>
        <p:sp>
          <p:nvSpPr>
            <p:cNvPr id="32" name="Rectangle 32"/>
            <p:cNvSpPr/>
            <p:nvPr/>
          </p:nvSpPr>
          <p:spPr>
            <a:xfrm>
              <a:off x="533400" y="1967865"/>
              <a:ext cx="5842635" cy="3413760"/>
            </a:xfrm>
            <a:prstGeom prst="rect">
              <a:avLst/>
            </a:prstGeom>
            <a:noFill/>
            <a:ln w="14288">
              <a:solidFill>
                <a:srgbClr val="D9DFEA"/>
              </a:solidFill>
            </a:ln>
          </p:spPr>
        </p:sp>
        <p:sp>
          <p:nvSpPr>
            <p:cNvPr id="33" name="Rectangle 33"/>
            <p:cNvSpPr/>
            <p:nvPr/>
          </p:nvSpPr>
          <p:spPr>
            <a:xfrm>
              <a:off x="1814512" y="1967865"/>
              <a:ext cx="9525" cy="3413760"/>
            </a:xfrm>
            <a:prstGeom prst="rect">
              <a:avLst/>
            </a:prstGeom>
            <a:solidFill>
              <a:srgbClr val="D9DFEA"/>
            </a:solidFill>
            <a:ln>
              <a:noFill/>
            </a:ln>
          </p:spPr>
        </p:sp>
      </p:grpSp>
      <p:grpSp>
        <p:nvGrpSpPr>
          <p:cNvPr id="79" name="c2-tree-1"/>
          <p:cNvGrpSpPr/>
          <p:nvPr/>
        </p:nvGrpSpPr>
        <p:grpSpPr>
          <a:xfrm>
            <a:off x="6680835" y="1948815"/>
            <a:ext cx="4977765" cy="3727133"/>
            <a:chOff x="6680835" y="1948815"/>
            <a:chExt cx="4977765" cy="3727133"/>
          </a:xfrm>
        </p:grpSpPr>
        <p:sp>
          <p:nvSpPr>
            <p:cNvPr id="35" name="Freeform 35"/>
            <p:cNvSpPr/>
            <p:nvPr/>
          </p:nvSpPr>
          <p:spPr>
            <a:xfrm>
              <a:off x="9800272" y="2470785"/>
              <a:ext cx="419100" cy="335280"/>
            </a:xfrm>
            <a:custGeom>
              <a:avLst/>
              <a:gdLst/>
              <a:ahLst/>
              <a:cxnLst/>
              <a:rect l="l" t="t" r="r" b="b"/>
              <a:pathLst>
                <a:path w="419100" h="335280">
                  <a:moveTo>
                    <a:pt x="0" y="335280"/>
                  </a:moveTo>
                  <a:lnTo>
                    <a:pt x="209550" y="335280"/>
                  </a:lnTo>
                  <a:lnTo>
                    <a:pt x="209550" y="0"/>
                  </a:lnTo>
                  <a:lnTo>
                    <a:pt x="419100" y="0"/>
                  </a:lnTo>
                </a:path>
              </a:pathLst>
            </a:custGeom>
            <a:noFill/>
            <a:ln w="17145">
              <a:solidFill>
                <a:srgbClr val="D9DFEA"/>
              </a:solidFill>
            </a:ln>
          </p:spPr>
        </p:sp>
        <p:sp>
          <p:nvSpPr>
            <p:cNvPr id="36" name="Freeform 36"/>
            <p:cNvSpPr/>
            <p:nvPr/>
          </p:nvSpPr>
          <p:spPr>
            <a:xfrm>
              <a:off x="9800272" y="2806065"/>
              <a:ext cx="419100" cy="9525"/>
            </a:xfrm>
            <a:custGeom>
              <a:avLst/>
              <a:gdLst/>
              <a:ahLst/>
              <a:cxnLst/>
              <a:rect l="l" t="t" r="r" b="b"/>
              <a:pathLst>
                <a:path w="419100" h="9525">
                  <a:moveTo>
                    <a:pt x="0" y="0"/>
                  </a:moveTo>
                  <a:lnTo>
                    <a:pt x="209550" y="0"/>
                  </a:lnTo>
                  <a:lnTo>
                    <a:pt x="209550" y="0"/>
                  </a:lnTo>
                  <a:lnTo>
                    <a:pt x="419100" y="0"/>
                  </a:lnTo>
                </a:path>
              </a:pathLst>
            </a:custGeom>
            <a:noFill/>
            <a:ln w="17145">
              <a:solidFill>
                <a:srgbClr val="D9DFEA"/>
              </a:solidFill>
            </a:ln>
          </p:spPr>
        </p:sp>
        <p:sp>
          <p:nvSpPr>
            <p:cNvPr id="37" name="Freeform 37"/>
            <p:cNvSpPr/>
            <p:nvPr/>
          </p:nvSpPr>
          <p:spPr>
            <a:xfrm>
              <a:off x="9800272" y="2806065"/>
              <a:ext cx="419100" cy="335280"/>
            </a:xfrm>
            <a:custGeom>
              <a:avLst/>
              <a:gdLst/>
              <a:ahLst/>
              <a:cxnLst/>
              <a:rect l="l" t="t" r="r" b="b"/>
              <a:pathLst>
                <a:path w="419100" h="335280">
                  <a:moveTo>
                    <a:pt x="0" y="0"/>
                  </a:moveTo>
                  <a:lnTo>
                    <a:pt x="209550" y="0"/>
                  </a:lnTo>
                  <a:lnTo>
                    <a:pt x="209550" y="335280"/>
                  </a:lnTo>
                  <a:lnTo>
                    <a:pt x="419100" y="335280"/>
                  </a:lnTo>
                </a:path>
              </a:pathLst>
            </a:custGeom>
            <a:noFill/>
            <a:ln w="17145">
              <a:solidFill>
                <a:srgbClr val="D9DFEA"/>
              </a:solidFill>
            </a:ln>
          </p:spPr>
        </p:sp>
        <p:sp>
          <p:nvSpPr>
            <p:cNvPr id="38" name="Freeform 38"/>
            <p:cNvSpPr/>
            <p:nvPr/>
          </p:nvSpPr>
          <p:spPr>
            <a:xfrm>
              <a:off x="9800272" y="3812858"/>
              <a:ext cx="419100" cy="167640"/>
            </a:xfrm>
            <a:custGeom>
              <a:avLst/>
              <a:gdLst/>
              <a:ahLst/>
              <a:cxnLst/>
              <a:rect l="l" t="t" r="r" b="b"/>
              <a:pathLst>
                <a:path w="419100" h="167640">
                  <a:moveTo>
                    <a:pt x="0" y="167640"/>
                  </a:moveTo>
                  <a:lnTo>
                    <a:pt x="209550" y="167640"/>
                  </a:lnTo>
                  <a:lnTo>
                    <a:pt x="209550" y="0"/>
                  </a:lnTo>
                  <a:lnTo>
                    <a:pt x="419100" y="0"/>
                  </a:lnTo>
                </a:path>
              </a:pathLst>
            </a:custGeom>
            <a:noFill/>
            <a:ln w="17145">
              <a:solidFill>
                <a:srgbClr val="D9DFEA"/>
              </a:solidFill>
            </a:ln>
          </p:spPr>
        </p:sp>
        <p:sp>
          <p:nvSpPr>
            <p:cNvPr id="39" name="Freeform 39"/>
            <p:cNvSpPr/>
            <p:nvPr/>
          </p:nvSpPr>
          <p:spPr>
            <a:xfrm>
              <a:off x="9800272" y="3980498"/>
              <a:ext cx="419100" cy="167640"/>
            </a:xfrm>
            <a:custGeom>
              <a:avLst/>
              <a:gdLst/>
              <a:ahLst/>
              <a:cxnLst/>
              <a:rect l="l" t="t" r="r" b="b"/>
              <a:pathLst>
                <a:path w="419100" h="167640">
                  <a:moveTo>
                    <a:pt x="0" y="0"/>
                  </a:moveTo>
                  <a:lnTo>
                    <a:pt x="209550" y="0"/>
                  </a:lnTo>
                  <a:lnTo>
                    <a:pt x="209550" y="167640"/>
                  </a:lnTo>
                  <a:lnTo>
                    <a:pt x="419100" y="167640"/>
                  </a:lnTo>
                </a:path>
              </a:pathLst>
            </a:custGeom>
            <a:noFill/>
            <a:ln w="17145">
              <a:solidFill>
                <a:srgbClr val="D9DFEA"/>
              </a:solidFill>
            </a:ln>
          </p:spPr>
        </p:sp>
        <p:sp>
          <p:nvSpPr>
            <p:cNvPr id="40" name="Freeform 40"/>
            <p:cNvSpPr/>
            <p:nvPr/>
          </p:nvSpPr>
          <p:spPr>
            <a:xfrm>
              <a:off x="9800272" y="4483418"/>
              <a:ext cx="419100" cy="335280"/>
            </a:xfrm>
            <a:custGeom>
              <a:avLst/>
              <a:gdLst/>
              <a:ahLst/>
              <a:cxnLst/>
              <a:rect l="l" t="t" r="r" b="b"/>
              <a:pathLst>
                <a:path w="419100" h="335280">
                  <a:moveTo>
                    <a:pt x="0" y="335280"/>
                  </a:moveTo>
                  <a:lnTo>
                    <a:pt x="209550" y="335280"/>
                  </a:lnTo>
                  <a:lnTo>
                    <a:pt x="209550" y="0"/>
                  </a:lnTo>
                  <a:lnTo>
                    <a:pt x="419100" y="0"/>
                  </a:lnTo>
                </a:path>
              </a:pathLst>
            </a:custGeom>
            <a:noFill/>
            <a:ln w="17145">
              <a:solidFill>
                <a:srgbClr val="D9DFEA"/>
              </a:solidFill>
            </a:ln>
          </p:spPr>
        </p:sp>
        <p:sp>
          <p:nvSpPr>
            <p:cNvPr id="41" name="Freeform 41"/>
            <p:cNvSpPr/>
            <p:nvPr/>
          </p:nvSpPr>
          <p:spPr>
            <a:xfrm>
              <a:off x="9800272" y="4818698"/>
              <a:ext cx="419100" cy="9525"/>
            </a:xfrm>
            <a:custGeom>
              <a:avLst/>
              <a:gdLst/>
              <a:ahLst/>
              <a:cxnLst/>
              <a:rect l="l" t="t" r="r" b="b"/>
              <a:pathLst>
                <a:path w="419100" h="9525">
                  <a:moveTo>
                    <a:pt x="0" y="0"/>
                  </a:moveTo>
                  <a:lnTo>
                    <a:pt x="209550" y="0"/>
                  </a:lnTo>
                  <a:lnTo>
                    <a:pt x="209550" y="0"/>
                  </a:lnTo>
                  <a:lnTo>
                    <a:pt x="419100" y="0"/>
                  </a:lnTo>
                </a:path>
              </a:pathLst>
            </a:custGeom>
            <a:noFill/>
            <a:ln w="17145">
              <a:solidFill>
                <a:srgbClr val="D9DFEA"/>
              </a:solidFill>
            </a:ln>
          </p:spPr>
        </p:sp>
        <p:sp>
          <p:nvSpPr>
            <p:cNvPr id="42" name="Freeform 42"/>
            <p:cNvSpPr/>
            <p:nvPr/>
          </p:nvSpPr>
          <p:spPr>
            <a:xfrm>
              <a:off x="9800272" y="4818698"/>
              <a:ext cx="419100" cy="336233"/>
            </a:xfrm>
            <a:custGeom>
              <a:avLst/>
              <a:gdLst/>
              <a:ahLst/>
              <a:cxnLst/>
              <a:rect l="l" t="t" r="r" b="b"/>
              <a:pathLst>
                <a:path w="419100" h="336233">
                  <a:moveTo>
                    <a:pt x="0" y="0"/>
                  </a:moveTo>
                  <a:lnTo>
                    <a:pt x="209550" y="0"/>
                  </a:lnTo>
                  <a:lnTo>
                    <a:pt x="209550" y="336233"/>
                  </a:lnTo>
                  <a:lnTo>
                    <a:pt x="419100" y="336233"/>
                  </a:lnTo>
                </a:path>
              </a:pathLst>
            </a:custGeom>
            <a:noFill/>
            <a:ln w="17145">
              <a:solidFill>
                <a:srgbClr val="D9DFEA"/>
              </a:solidFill>
            </a:ln>
          </p:spPr>
        </p:sp>
        <p:sp>
          <p:nvSpPr>
            <p:cNvPr id="43" name="Freeform 43"/>
            <p:cNvSpPr/>
            <p:nvPr/>
          </p:nvSpPr>
          <p:spPr>
            <a:xfrm>
              <a:off x="8356282" y="2135505"/>
              <a:ext cx="419100" cy="1677353"/>
            </a:xfrm>
            <a:custGeom>
              <a:avLst/>
              <a:gdLst/>
              <a:ahLst/>
              <a:cxnLst/>
              <a:rect l="l" t="t" r="r" b="b"/>
              <a:pathLst>
                <a:path w="419100" h="1677353">
                  <a:moveTo>
                    <a:pt x="0" y="1677353"/>
                  </a:moveTo>
                  <a:lnTo>
                    <a:pt x="209550" y="1677353"/>
                  </a:lnTo>
                  <a:lnTo>
                    <a:pt x="209550" y="0"/>
                  </a:lnTo>
                  <a:lnTo>
                    <a:pt x="419100" y="0"/>
                  </a:lnTo>
                </a:path>
              </a:pathLst>
            </a:custGeom>
            <a:noFill/>
            <a:ln w="17145">
              <a:solidFill>
                <a:srgbClr val="D9DFEA"/>
              </a:solidFill>
            </a:ln>
          </p:spPr>
        </p:sp>
        <p:sp>
          <p:nvSpPr>
            <p:cNvPr id="44" name="Freeform 44"/>
            <p:cNvSpPr/>
            <p:nvPr/>
          </p:nvSpPr>
          <p:spPr>
            <a:xfrm>
              <a:off x="8356282" y="2806065"/>
              <a:ext cx="419100" cy="1006792"/>
            </a:xfrm>
            <a:custGeom>
              <a:avLst/>
              <a:gdLst/>
              <a:ahLst/>
              <a:cxnLst/>
              <a:rect l="l" t="t" r="r" b="b"/>
              <a:pathLst>
                <a:path w="419100" h="1006792">
                  <a:moveTo>
                    <a:pt x="0" y="1006792"/>
                  </a:moveTo>
                  <a:lnTo>
                    <a:pt x="209550" y="1006792"/>
                  </a:lnTo>
                  <a:lnTo>
                    <a:pt x="209550" y="0"/>
                  </a:lnTo>
                  <a:lnTo>
                    <a:pt x="419100" y="0"/>
                  </a:lnTo>
                </a:path>
              </a:pathLst>
            </a:custGeom>
            <a:noFill/>
            <a:ln w="17145">
              <a:solidFill>
                <a:srgbClr val="D9DFEA"/>
              </a:solidFill>
            </a:ln>
          </p:spPr>
        </p:sp>
        <p:sp>
          <p:nvSpPr>
            <p:cNvPr id="45" name="Freeform 45"/>
            <p:cNvSpPr/>
            <p:nvPr/>
          </p:nvSpPr>
          <p:spPr>
            <a:xfrm>
              <a:off x="8356282" y="3477578"/>
              <a:ext cx="419100" cy="335280"/>
            </a:xfrm>
            <a:custGeom>
              <a:avLst/>
              <a:gdLst/>
              <a:ahLst/>
              <a:cxnLst/>
              <a:rect l="l" t="t" r="r" b="b"/>
              <a:pathLst>
                <a:path w="419100" h="335280">
                  <a:moveTo>
                    <a:pt x="0" y="335280"/>
                  </a:moveTo>
                  <a:lnTo>
                    <a:pt x="209550" y="335280"/>
                  </a:lnTo>
                  <a:lnTo>
                    <a:pt x="209550" y="0"/>
                  </a:lnTo>
                  <a:lnTo>
                    <a:pt x="419100" y="0"/>
                  </a:lnTo>
                </a:path>
              </a:pathLst>
            </a:custGeom>
            <a:noFill/>
            <a:ln w="17145">
              <a:solidFill>
                <a:srgbClr val="D9DFEA"/>
              </a:solidFill>
            </a:ln>
          </p:spPr>
        </p:sp>
        <p:sp>
          <p:nvSpPr>
            <p:cNvPr id="46" name="Freeform 46"/>
            <p:cNvSpPr/>
            <p:nvPr/>
          </p:nvSpPr>
          <p:spPr>
            <a:xfrm>
              <a:off x="8356282" y="3812858"/>
              <a:ext cx="419100" cy="167640"/>
            </a:xfrm>
            <a:custGeom>
              <a:avLst/>
              <a:gdLst/>
              <a:ahLst/>
              <a:cxnLst/>
              <a:rect l="l" t="t" r="r" b="b"/>
              <a:pathLst>
                <a:path w="419100" h="167640">
                  <a:moveTo>
                    <a:pt x="0" y="0"/>
                  </a:moveTo>
                  <a:lnTo>
                    <a:pt x="209550" y="0"/>
                  </a:lnTo>
                  <a:lnTo>
                    <a:pt x="209550" y="167640"/>
                  </a:lnTo>
                  <a:lnTo>
                    <a:pt x="419100" y="167640"/>
                  </a:lnTo>
                </a:path>
              </a:pathLst>
            </a:custGeom>
            <a:noFill/>
            <a:ln w="17145">
              <a:solidFill>
                <a:srgbClr val="D9DFEA"/>
              </a:solidFill>
            </a:ln>
          </p:spPr>
        </p:sp>
        <p:sp>
          <p:nvSpPr>
            <p:cNvPr id="47" name="Freeform 47"/>
            <p:cNvSpPr/>
            <p:nvPr/>
          </p:nvSpPr>
          <p:spPr>
            <a:xfrm>
              <a:off x="8356282" y="3812858"/>
              <a:ext cx="419100" cy="1005840"/>
            </a:xfrm>
            <a:custGeom>
              <a:avLst/>
              <a:gdLst/>
              <a:ahLst/>
              <a:cxnLst/>
              <a:rect l="l" t="t" r="r" b="b"/>
              <a:pathLst>
                <a:path w="419100" h="1005840">
                  <a:moveTo>
                    <a:pt x="0" y="0"/>
                  </a:moveTo>
                  <a:lnTo>
                    <a:pt x="209550" y="0"/>
                  </a:lnTo>
                  <a:lnTo>
                    <a:pt x="209550" y="1005840"/>
                  </a:lnTo>
                  <a:lnTo>
                    <a:pt x="419100" y="1005840"/>
                  </a:lnTo>
                </a:path>
              </a:pathLst>
            </a:custGeom>
            <a:noFill/>
            <a:ln w="17145">
              <a:solidFill>
                <a:srgbClr val="D9DFEA"/>
              </a:solidFill>
            </a:ln>
          </p:spPr>
        </p:sp>
        <p:sp>
          <p:nvSpPr>
            <p:cNvPr id="48" name="Freeform 48"/>
            <p:cNvSpPr/>
            <p:nvPr/>
          </p:nvSpPr>
          <p:spPr>
            <a:xfrm>
              <a:off x="8356282" y="3812858"/>
              <a:ext cx="419100" cy="1677352"/>
            </a:xfrm>
            <a:custGeom>
              <a:avLst/>
              <a:gdLst/>
              <a:ahLst/>
              <a:cxnLst/>
              <a:rect l="l" t="t" r="r" b="b"/>
              <a:pathLst>
                <a:path w="419100" h="1677352">
                  <a:moveTo>
                    <a:pt x="0" y="0"/>
                  </a:moveTo>
                  <a:lnTo>
                    <a:pt x="209550" y="0"/>
                  </a:lnTo>
                  <a:lnTo>
                    <a:pt x="209550" y="1677352"/>
                  </a:lnTo>
                  <a:lnTo>
                    <a:pt x="419100" y="1677352"/>
                  </a:lnTo>
                </a:path>
              </a:pathLst>
            </a:custGeom>
            <a:noFill/>
            <a:ln w="17145">
              <a:solidFill>
                <a:srgbClr val="D9DFEA"/>
              </a:solidFill>
            </a:ln>
          </p:spPr>
        </p:sp>
        <p:sp>
          <p:nvSpPr>
            <p:cNvPr id="49" name="Rectangle 49"/>
            <p:cNvSpPr/>
            <p:nvPr/>
          </p:nvSpPr>
          <p:spPr>
            <a:xfrm>
              <a:off x="8775382" y="1948815"/>
              <a:ext cx="1024890" cy="372428"/>
            </a:xfrm>
            <a:prstGeom prst="roundRect">
              <a:avLst>
                <a:gd name="adj" fmla="val 25575"/>
              </a:avLst>
            </a:prstGeom>
            <a:solidFill>
              <a:srgbClr val="FFFFFF"/>
            </a:solidFill>
            <a:ln w="13335">
              <a:solidFill>
                <a:srgbClr val="D9DFEA"/>
              </a:solidFill>
            </a:ln>
          </p:spPr>
        </p:sp>
        <p:sp>
          <p:nvSpPr>
            <p:cNvPr id="50" name="Rectangle 50"/>
            <p:cNvSpPr/>
            <p:nvPr/>
          </p:nvSpPr>
          <p:spPr>
            <a:xfrm>
              <a:off x="10219372" y="2284095"/>
              <a:ext cx="1439228" cy="372428"/>
            </a:xfrm>
            <a:prstGeom prst="roundRect">
              <a:avLst>
                <a:gd name="adj" fmla="val 25575"/>
              </a:avLst>
            </a:prstGeom>
            <a:solidFill>
              <a:srgbClr val="FFFFFF"/>
            </a:solidFill>
            <a:ln w="13335">
              <a:solidFill>
                <a:srgbClr val="D9DFEA"/>
              </a:solidFill>
            </a:ln>
          </p:spPr>
        </p:sp>
        <p:sp>
          <p:nvSpPr>
            <p:cNvPr id="51" name="Rectangle 51"/>
            <p:cNvSpPr/>
            <p:nvPr/>
          </p:nvSpPr>
          <p:spPr>
            <a:xfrm>
              <a:off x="10219372" y="2620328"/>
              <a:ext cx="1439228" cy="372428"/>
            </a:xfrm>
            <a:prstGeom prst="roundRect">
              <a:avLst>
                <a:gd name="adj" fmla="val 25575"/>
              </a:avLst>
            </a:prstGeom>
            <a:solidFill>
              <a:srgbClr val="FFFFFF"/>
            </a:solidFill>
            <a:ln w="13335">
              <a:solidFill>
                <a:srgbClr val="D9DFEA"/>
              </a:solidFill>
            </a:ln>
          </p:spPr>
        </p:sp>
        <p:sp>
          <p:nvSpPr>
            <p:cNvPr id="52" name="Rectangle 52"/>
            <p:cNvSpPr/>
            <p:nvPr/>
          </p:nvSpPr>
          <p:spPr>
            <a:xfrm>
              <a:off x="10219372" y="2955608"/>
              <a:ext cx="1439228" cy="372428"/>
            </a:xfrm>
            <a:prstGeom prst="roundRect">
              <a:avLst>
                <a:gd name="adj" fmla="val 25575"/>
              </a:avLst>
            </a:prstGeom>
            <a:solidFill>
              <a:srgbClr val="FFFFFF"/>
            </a:solidFill>
            <a:ln w="13335">
              <a:solidFill>
                <a:srgbClr val="D9DFEA"/>
              </a:solidFill>
            </a:ln>
          </p:spPr>
        </p:sp>
        <p:sp>
          <p:nvSpPr>
            <p:cNvPr id="53" name="Rectangle 53"/>
            <p:cNvSpPr/>
            <p:nvPr/>
          </p:nvSpPr>
          <p:spPr>
            <a:xfrm>
              <a:off x="8775382" y="2620328"/>
              <a:ext cx="1024890" cy="372428"/>
            </a:xfrm>
            <a:prstGeom prst="roundRect">
              <a:avLst>
                <a:gd name="adj" fmla="val 25575"/>
              </a:avLst>
            </a:prstGeom>
            <a:solidFill>
              <a:srgbClr val="E7EDF3"/>
            </a:solidFill>
            <a:ln>
              <a:noFill/>
            </a:ln>
          </p:spPr>
        </p:sp>
        <p:sp>
          <p:nvSpPr>
            <p:cNvPr id="54" name="Rectangle 54"/>
            <p:cNvSpPr/>
            <p:nvPr/>
          </p:nvSpPr>
          <p:spPr>
            <a:xfrm>
              <a:off x="8775382" y="3290888"/>
              <a:ext cx="1024890" cy="372428"/>
            </a:xfrm>
            <a:prstGeom prst="roundRect">
              <a:avLst>
                <a:gd name="adj" fmla="val 25575"/>
              </a:avLst>
            </a:prstGeom>
            <a:solidFill>
              <a:srgbClr val="FFFFFF"/>
            </a:solidFill>
            <a:ln w="13335">
              <a:solidFill>
                <a:srgbClr val="D9DFEA"/>
              </a:solidFill>
            </a:ln>
          </p:spPr>
        </p:sp>
        <p:sp>
          <p:nvSpPr>
            <p:cNvPr id="55" name="Rectangle 55"/>
            <p:cNvSpPr/>
            <p:nvPr/>
          </p:nvSpPr>
          <p:spPr>
            <a:xfrm>
              <a:off x="10219372" y="3626168"/>
              <a:ext cx="1439228" cy="372428"/>
            </a:xfrm>
            <a:prstGeom prst="roundRect">
              <a:avLst>
                <a:gd name="adj" fmla="val 25575"/>
              </a:avLst>
            </a:prstGeom>
            <a:solidFill>
              <a:srgbClr val="FFFFFF"/>
            </a:solidFill>
            <a:ln w="13335">
              <a:solidFill>
                <a:srgbClr val="D9DFEA"/>
              </a:solidFill>
            </a:ln>
          </p:spPr>
        </p:sp>
        <p:sp>
          <p:nvSpPr>
            <p:cNvPr id="56" name="Rectangle 56"/>
            <p:cNvSpPr/>
            <p:nvPr/>
          </p:nvSpPr>
          <p:spPr>
            <a:xfrm>
              <a:off x="10219372" y="3961448"/>
              <a:ext cx="1439228" cy="372428"/>
            </a:xfrm>
            <a:prstGeom prst="roundRect">
              <a:avLst>
                <a:gd name="adj" fmla="val 25575"/>
              </a:avLst>
            </a:prstGeom>
            <a:solidFill>
              <a:srgbClr val="FFFFFF"/>
            </a:solidFill>
            <a:ln w="13335">
              <a:solidFill>
                <a:srgbClr val="D9DFEA"/>
              </a:solidFill>
            </a:ln>
          </p:spPr>
        </p:sp>
        <p:sp>
          <p:nvSpPr>
            <p:cNvPr id="57" name="Rectangle 57"/>
            <p:cNvSpPr/>
            <p:nvPr/>
          </p:nvSpPr>
          <p:spPr>
            <a:xfrm>
              <a:off x="8775382" y="3793808"/>
              <a:ext cx="1024890" cy="372428"/>
            </a:xfrm>
            <a:prstGeom prst="roundRect">
              <a:avLst>
                <a:gd name="adj" fmla="val 25575"/>
              </a:avLst>
            </a:prstGeom>
            <a:solidFill>
              <a:srgbClr val="E7EDF3"/>
            </a:solidFill>
            <a:ln>
              <a:noFill/>
            </a:ln>
          </p:spPr>
        </p:sp>
        <p:sp>
          <p:nvSpPr>
            <p:cNvPr id="58" name="Rectangle 58"/>
            <p:cNvSpPr/>
            <p:nvPr/>
          </p:nvSpPr>
          <p:spPr>
            <a:xfrm>
              <a:off x="10219372" y="4297680"/>
              <a:ext cx="1439228" cy="372428"/>
            </a:xfrm>
            <a:prstGeom prst="roundRect">
              <a:avLst>
                <a:gd name="adj" fmla="val 25575"/>
              </a:avLst>
            </a:prstGeom>
            <a:solidFill>
              <a:srgbClr val="FFFFFF"/>
            </a:solidFill>
            <a:ln w="13335">
              <a:solidFill>
                <a:srgbClr val="D9DFEA"/>
              </a:solidFill>
            </a:ln>
          </p:spPr>
        </p:sp>
        <p:sp>
          <p:nvSpPr>
            <p:cNvPr id="59" name="Rectangle 59"/>
            <p:cNvSpPr/>
            <p:nvPr/>
          </p:nvSpPr>
          <p:spPr>
            <a:xfrm>
              <a:off x="10219372" y="4632960"/>
              <a:ext cx="1439228" cy="372428"/>
            </a:xfrm>
            <a:prstGeom prst="roundRect">
              <a:avLst>
                <a:gd name="adj" fmla="val 25575"/>
              </a:avLst>
            </a:prstGeom>
            <a:solidFill>
              <a:srgbClr val="FFFFFF"/>
            </a:solidFill>
            <a:ln w="13335">
              <a:solidFill>
                <a:srgbClr val="D9DFEA"/>
              </a:solidFill>
            </a:ln>
          </p:spPr>
        </p:sp>
        <p:sp>
          <p:nvSpPr>
            <p:cNvPr id="60" name="Rectangle 60"/>
            <p:cNvSpPr/>
            <p:nvPr/>
          </p:nvSpPr>
          <p:spPr>
            <a:xfrm>
              <a:off x="10219372" y="4968240"/>
              <a:ext cx="1439228" cy="372428"/>
            </a:xfrm>
            <a:prstGeom prst="roundRect">
              <a:avLst>
                <a:gd name="adj" fmla="val 25575"/>
              </a:avLst>
            </a:prstGeom>
            <a:solidFill>
              <a:srgbClr val="FFFFFF"/>
            </a:solidFill>
            <a:ln w="13335">
              <a:solidFill>
                <a:srgbClr val="D9DFEA"/>
              </a:solidFill>
            </a:ln>
          </p:spPr>
        </p:sp>
        <p:sp>
          <p:nvSpPr>
            <p:cNvPr id="61" name="Rectangle 61"/>
            <p:cNvSpPr/>
            <p:nvPr/>
          </p:nvSpPr>
          <p:spPr>
            <a:xfrm>
              <a:off x="8775382" y="4632960"/>
              <a:ext cx="1024890" cy="372428"/>
            </a:xfrm>
            <a:prstGeom prst="roundRect">
              <a:avLst>
                <a:gd name="adj" fmla="val 25575"/>
              </a:avLst>
            </a:prstGeom>
            <a:solidFill>
              <a:srgbClr val="E7EDF3"/>
            </a:solidFill>
            <a:ln>
              <a:noFill/>
            </a:ln>
          </p:spPr>
        </p:sp>
        <p:sp>
          <p:nvSpPr>
            <p:cNvPr id="62" name="Rectangle 62"/>
            <p:cNvSpPr/>
            <p:nvPr/>
          </p:nvSpPr>
          <p:spPr>
            <a:xfrm>
              <a:off x="8775382" y="5303520"/>
              <a:ext cx="1024890" cy="372428"/>
            </a:xfrm>
            <a:prstGeom prst="roundRect">
              <a:avLst>
                <a:gd name="adj" fmla="val 25575"/>
              </a:avLst>
            </a:prstGeom>
            <a:solidFill>
              <a:srgbClr val="FFFFFF"/>
            </a:solidFill>
            <a:ln w="13335">
              <a:solidFill>
                <a:srgbClr val="D9DFEA"/>
              </a:solidFill>
            </a:ln>
          </p:spPr>
        </p:sp>
        <p:sp>
          <p:nvSpPr>
            <p:cNvPr id="63" name="Rectangle 63"/>
            <p:cNvSpPr/>
            <p:nvPr/>
          </p:nvSpPr>
          <p:spPr>
            <a:xfrm>
              <a:off x="6680835" y="3626168"/>
              <a:ext cx="1675448" cy="372428"/>
            </a:xfrm>
            <a:prstGeom prst="roundRect">
              <a:avLst>
                <a:gd name="adj" fmla="val 25575"/>
              </a:avLst>
            </a:prstGeom>
            <a:solidFill>
              <a:srgbClr val="334E68"/>
            </a:solidFill>
            <a:ln>
              <a:noFill/>
            </a:ln>
          </p:spPr>
        </p:sp>
        <p:sp>
          <p:nvSpPr>
            <p:cNvPr id="64" name="TextBox 64"/>
            <p:cNvSpPr txBox="1"/>
            <p:nvPr/>
          </p:nvSpPr>
          <p:spPr>
            <a:xfrm>
              <a:off x="8864156" y="2046446"/>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模块化</a:t>
              </a:r>
            </a:p>
          </p:txBody>
        </p:sp>
        <p:sp>
          <p:nvSpPr>
            <p:cNvPr id="65" name="TextBox 65"/>
            <p:cNvSpPr txBox="1"/>
            <p:nvPr/>
          </p:nvSpPr>
          <p:spPr>
            <a:xfrm>
              <a:off x="10308146" y="2381726"/>
              <a:ext cx="7022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数据抽象</a:t>
              </a:r>
            </a:p>
          </p:txBody>
        </p:sp>
        <p:sp>
          <p:nvSpPr>
            <p:cNvPr id="66" name="TextBox 66"/>
            <p:cNvSpPr txBox="1"/>
            <p:nvPr/>
          </p:nvSpPr>
          <p:spPr>
            <a:xfrm>
              <a:off x="10308146" y="2717006"/>
              <a:ext cx="7022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过程抽象</a:t>
              </a:r>
            </a:p>
          </p:txBody>
        </p:sp>
        <p:sp>
          <p:nvSpPr>
            <p:cNvPr id="67" name="TextBox 67"/>
            <p:cNvSpPr txBox="1"/>
            <p:nvPr/>
          </p:nvSpPr>
          <p:spPr>
            <a:xfrm>
              <a:off x="10308146" y="3052286"/>
              <a:ext cx="87452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参数化抽象</a:t>
              </a:r>
            </a:p>
          </p:txBody>
        </p:sp>
        <p:sp>
          <p:nvSpPr>
            <p:cNvPr id="68" name="TextBox 68"/>
            <p:cNvSpPr txBox="1"/>
            <p:nvPr/>
          </p:nvSpPr>
          <p:spPr>
            <a:xfrm>
              <a:off x="8864156" y="2717006"/>
              <a:ext cx="357581" cy="249364"/>
            </a:xfrm>
            <a:prstGeom prst="rect">
              <a:avLst/>
            </a:prstGeom>
            <a:noFill/>
            <a:ln>
              <a:noFill/>
            </a:ln>
          </p:spPr>
          <p:txBody>
            <a:bodyPr wrap="none" lIns="0" tIns="0" rIns="0" bIns="0" anchor="t" anchorCtr="0">
              <a:spAutoFit/>
            </a:bodyPr>
            <a:lstStyle/>
            <a:p>
              <a:pPr algn="l"/>
              <a:r>
                <a:rPr lang="zh-CN" sz="1280" b="1" dirty="0">
                  <a:solidFill>
                    <a:srgbClr val="243B53"/>
                  </a:solidFill>
                  <a:latin typeface="+mn-lt"/>
                  <a:ea typeface="+mn-ea"/>
                  <a:cs typeface="+mn-cs"/>
                </a:rPr>
                <a:t>抽象</a:t>
              </a:r>
            </a:p>
          </p:txBody>
        </p:sp>
        <p:sp>
          <p:nvSpPr>
            <p:cNvPr id="69" name="TextBox 69"/>
            <p:cNvSpPr txBox="1"/>
            <p:nvPr/>
          </p:nvSpPr>
          <p:spPr>
            <a:xfrm>
              <a:off x="8864156" y="3388519"/>
              <a:ext cx="7022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信息隐藏</a:t>
              </a:r>
            </a:p>
          </p:txBody>
        </p:sp>
        <p:sp>
          <p:nvSpPr>
            <p:cNvPr id="70" name="TextBox 70"/>
            <p:cNvSpPr txBox="1"/>
            <p:nvPr/>
          </p:nvSpPr>
          <p:spPr>
            <a:xfrm>
              <a:off x="10308146" y="3723799"/>
              <a:ext cx="7022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交互耦合</a:t>
              </a:r>
            </a:p>
          </p:txBody>
        </p:sp>
        <p:sp>
          <p:nvSpPr>
            <p:cNvPr id="71" name="TextBox 71"/>
            <p:cNvSpPr txBox="1"/>
            <p:nvPr/>
          </p:nvSpPr>
          <p:spPr>
            <a:xfrm>
              <a:off x="10308146" y="4059079"/>
              <a:ext cx="7022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继承耦合</a:t>
              </a:r>
            </a:p>
          </p:txBody>
        </p:sp>
        <p:sp>
          <p:nvSpPr>
            <p:cNvPr id="72" name="TextBox 72"/>
            <p:cNvSpPr txBox="1"/>
            <p:nvPr/>
          </p:nvSpPr>
          <p:spPr>
            <a:xfrm>
              <a:off x="8864156" y="3891439"/>
              <a:ext cx="529895" cy="249364"/>
            </a:xfrm>
            <a:prstGeom prst="rect">
              <a:avLst/>
            </a:prstGeom>
            <a:noFill/>
            <a:ln>
              <a:noFill/>
            </a:ln>
          </p:spPr>
          <p:txBody>
            <a:bodyPr wrap="none" lIns="0" tIns="0" rIns="0" bIns="0" anchor="t" anchorCtr="0">
              <a:spAutoFit/>
            </a:bodyPr>
            <a:lstStyle/>
            <a:p>
              <a:pPr algn="l"/>
              <a:r>
                <a:rPr lang="zh-CN" sz="1280" b="1" dirty="0">
                  <a:solidFill>
                    <a:srgbClr val="243B53"/>
                  </a:solidFill>
                  <a:latin typeface="+mn-lt"/>
                  <a:ea typeface="+mn-ea"/>
                  <a:cs typeface="+mn-cs"/>
                </a:rPr>
                <a:t>弱耦合</a:t>
              </a:r>
            </a:p>
          </p:txBody>
        </p:sp>
        <p:sp>
          <p:nvSpPr>
            <p:cNvPr id="73" name="TextBox 73"/>
            <p:cNvSpPr txBox="1"/>
            <p:nvPr/>
          </p:nvSpPr>
          <p:spPr>
            <a:xfrm>
              <a:off x="10308146" y="4394359"/>
              <a:ext cx="7022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服务内聚</a:t>
              </a:r>
            </a:p>
          </p:txBody>
        </p:sp>
        <p:sp>
          <p:nvSpPr>
            <p:cNvPr id="74" name="TextBox 74"/>
            <p:cNvSpPr txBox="1"/>
            <p:nvPr/>
          </p:nvSpPr>
          <p:spPr>
            <a:xfrm>
              <a:off x="10308146" y="4729639"/>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类内聚</a:t>
              </a:r>
            </a:p>
          </p:txBody>
        </p:sp>
        <p:sp>
          <p:nvSpPr>
            <p:cNvPr id="75" name="TextBox 75"/>
            <p:cNvSpPr txBox="1"/>
            <p:nvPr/>
          </p:nvSpPr>
          <p:spPr>
            <a:xfrm>
              <a:off x="10308146" y="5065871"/>
              <a:ext cx="11416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一般-特殊内聚</a:t>
              </a:r>
            </a:p>
          </p:txBody>
        </p:sp>
        <p:sp>
          <p:nvSpPr>
            <p:cNvPr id="76" name="TextBox 76"/>
            <p:cNvSpPr txBox="1"/>
            <p:nvPr/>
          </p:nvSpPr>
          <p:spPr>
            <a:xfrm>
              <a:off x="8864156" y="4729639"/>
              <a:ext cx="529895" cy="249364"/>
            </a:xfrm>
            <a:prstGeom prst="rect">
              <a:avLst/>
            </a:prstGeom>
            <a:noFill/>
            <a:ln>
              <a:noFill/>
            </a:ln>
          </p:spPr>
          <p:txBody>
            <a:bodyPr wrap="none" lIns="0" tIns="0" rIns="0" bIns="0" anchor="t" anchorCtr="0">
              <a:spAutoFit/>
            </a:bodyPr>
            <a:lstStyle/>
            <a:p>
              <a:pPr algn="l"/>
              <a:r>
                <a:rPr lang="zh-CN" sz="1280" b="1" dirty="0">
                  <a:solidFill>
                    <a:srgbClr val="243B53"/>
                  </a:solidFill>
                  <a:latin typeface="+mn-lt"/>
                  <a:ea typeface="+mn-ea"/>
                  <a:cs typeface="+mn-cs"/>
                </a:rPr>
                <a:t>强内聚</a:t>
              </a:r>
            </a:p>
          </p:txBody>
        </p:sp>
        <p:sp>
          <p:nvSpPr>
            <p:cNvPr id="77" name="TextBox 77"/>
            <p:cNvSpPr txBox="1"/>
            <p:nvPr/>
          </p:nvSpPr>
          <p:spPr>
            <a:xfrm>
              <a:off x="8864156" y="5401151"/>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可重用</a:t>
              </a:r>
            </a:p>
          </p:txBody>
        </p:sp>
        <p:sp>
          <p:nvSpPr>
            <p:cNvPr id="78" name="TextBox 78"/>
            <p:cNvSpPr txBox="1"/>
            <p:nvPr/>
          </p:nvSpPr>
          <p:spPr>
            <a:xfrm>
              <a:off x="6769608" y="3723799"/>
              <a:ext cx="1391463"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面向对象设计准则</a:t>
              </a:r>
            </a:p>
          </p:txBody>
        </p:sp>
      </p:grpSp>
      <p:grpSp>
        <p:nvGrpSpPr>
          <p:cNvPr id="85" name="takeaway"/>
          <p:cNvGrpSpPr/>
          <p:nvPr/>
        </p:nvGrpSpPr>
        <p:grpSpPr>
          <a:xfrm>
            <a:off x="533400" y="5829300"/>
            <a:ext cx="11125200" cy="533400"/>
            <a:chOff x="533400" y="5829300"/>
            <a:chExt cx="11125200" cy="533400"/>
          </a:xfrm>
        </p:grpSpPr>
        <p:sp>
          <p:nvSpPr>
            <p:cNvPr id="80" name="Rectangle 80"/>
            <p:cNvSpPr/>
            <p:nvPr/>
          </p:nvSpPr>
          <p:spPr>
            <a:xfrm>
              <a:off x="533400" y="5829300"/>
              <a:ext cx="11125200" cy="533400"/>
            </a:xfrm>
            <a:prstGeom prst="roundRect">
              <a:avLst>
                <a:gd name="adj" fmla="val 21429"/>
              </a:avLst>
            </a:prstGeom>
            <a:solidFill>
              <a:srgbClr val="334E68"/>
            </a:solidFill>
            <a:ln>
              <a:noFill/>
            </a:ln>
          </p:spPr>
        </p:sp>
        <p:grpSp>
          <p:nvGrpSpPr>
            <p:cNvPr id="83" name="Group 83"/>
            <p:cNvGrpSpPr/>
            <p:nvPr/>
          </p:nvGrpSpPr>
          <p:grpSpPr>
            <a:xfrm>
              <a:off x="738188" y="5995990"/>
              <a:ext cx="200023" cy="200023"/>
              <a:chOff x="738188" y="5995990"/>
              <a:chExt cx="200023" cy="200023"/>
            </a:xfrm>
          </p:grpSpPr>
          <p:sp>
            <p:nvSpPr>
              <p:cNvPr id="81" name="Freeform 81"/>
              <p:cNvSpPr/>
              <p:nvPr/>
            </p:nvSpPr>
            <p:spPr>
              <a:xfrm>
                <a:off x="738188" y="599599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82" name="Freeform 82"/>
              <p:cNvSpPr/>
              <p:nvPr/>
            </p:nvSpPr>
            <p:spPr>
              <a:xfrm>
                <a:off x="871538" y="606266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84" name="TextBox 84"/>
            <p:cNvSpPr txBox="1"/>
            <p:nvPr/>
          </p:nvSpPr>
          <p:spPr>
            <a:xfrm>
              <a:off x="1040130" y="5991225"/>
              <a:ext cx="607314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六条准则最终都服务于一个目标：让以后的修改只波及少数几个类。</a:t>
              </a:r>
            </a:p>
          </p:txBody>
        </p:sp>
      </p:grpSp>
      <p:grpSp>
        <p:nvGrpSpPr>
          <p:cNvPr id="88" name="footer"/>
          <p:cNvGrpSpPr/>
          <p:nvPr/>
        </p:nvGrpSpPr>
        <p:grpSpPr>
          <a:xfrm>
            <a:off x="528447" y="6581299"/>
            <a:ext cx="11135106" cy="190690"/>
            <a:chOff x="528447" y="6581299"/>
            <a:chExt cx="11135106" cy="190690"/>
          </a:xfrm>
        </p:grpSpPr>
        <p:sp>
          <p:nvSpPr>
            <p:cNvPr id="86" name="TextBox 86"/>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87" name="TextBox 87"/>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48247" cy="909257"/>
            <a:chOff x="520446" y="342900"/>
            <a:chExt cx="6548247" cy="909257"/>
          </a:xfrm>
        </p:grpSpPr>
        <p:sp>
          <p:nvSpPr>
            <p:cNvPr id="2" name="Rectangle 2"/>
            <p:cNvSpPr/>
            <p:nvPr/>
          </p:nvSpPr>
          <p:spPr>
            <a:xfrm>
              <a:off x="533400" y="342900"/>
              <a:ext cx="3066098" cy="266700"/>
            </a:xfrm>
            <a:prstGeom prst="roundRect">
              <a:avLst>
                <a:gd name="adj" fmla="val 50000"/>
              </a:avLst>
            </a:prstGeom>
            <a:solidFill>
              <a:srgbClr val="E7EDF3"/>
            </a:solidFill>
            <a:ln>
              <a:noFill/>
            </a:ln>
          </p:spPr>
        </p:sp>
        <p:sp>
          <p:nvSpPr>
            <p:cNvPr id="3" name="TextBox 3"/>
            <p:cNvSpPr txBox="1"/>
            <p:nvPr/>
          </p:nvSpPr>
          <p:spPr>
            <a:xfrm>
              <a:off x="576826" y="407194"/>
              <a:ext cx="297829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面向对象设计的准则</a:t>
              </a:r>
            </a:p>
          </p:txBody>
        </p:sp>
        <p:sp>
          <p:nvSpPr>
            <p:cNvPr id="4" name="TextBox 4"/>
            <p:cNvSpPr txBox="1"/>
            <p:nvPr/>
          </p:nvSpPr>
          <p:spPr>
            <a:xfrm>
              <a:off x="520446" y="753428"/>
              <a:ext cx="6548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弱耦合：交互耦合要松，继承耦合反而要紧</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780" y="1548765"/>
            <a:ext cx="7102983" cy="293370"/>
            <a:chOff x="525780" y="1548765"/>
            <a:chExt cx="7102983" cy="293370"/>
          </a:xfrm>
        </p:grpSpPr>
        <p:sp>
          <p:nvSpPr>
            <p:cNvPr id="7" name="TextBox 7"/>
            <p:cNvSpPr txBox="1"/>
            <p:nvPr/>
          </p:nvSpPr>
          <p:spPr>
            <a:xfrm>
              <a:off x="525780" y="1548765"/>
              <a:ext cx="7102983" cy="293370"/>
            </a:xfrm>
            <a:prstGeom prst="rect">
              <a:avLst/>
            </a:prstGeom>
            <a:noFill/>
            <a:ln>
              <a:noFill/>
            </a:ln>
          </p:spPr>
          <p:txBody>
            <a:bodyPr wrap="none" lIns="0" tIns="0" rIns="0" bIns="0" anchor="t" anchorCtr="0">
              <a:spAutoFit/>
            </a:bodyPr>
            <a:lstStyle/>
            <a:p>
              <a:pPr algn="l"/>
              <a:r>
                <a:rPr lang="zh-CN" sz="1500" dirty="0">
                  <a:solidFill>
                    <a:srgbClr val="5B6475"/>
                  </a:solidFill>
                  <a:latin typeface="+mn-lt"/>
                  <a:ea typeface="+mn-ea"/>
                  <a:cs typeface="+mn-cs"/>
                </a:rPr>
                <a:t>这是全章最容易记反的一处。两种耦合的名字都带“耦合”，要求的方向却相反。</a:t>
              </a:r>
            </a:p>
          </p:txBody>
        </p:sp>
      </p:grpSp>
      <p:grpSp>
        <p:nvGrpSpPr>
          <p:cNvPr id="21" name="c1-card-1"/>
          <p:cNvGrpSpPr/>
          <p:nvPr/>
        </p:nvGrpSpPr>
        <p:grpSpPr>
          <a:xfrm>
            <a:off x="533400" y="1954530"/>
            <a:ext cx="5626418" cy="1950720"/>
            <a:chOff x="533400" y="1954530"/>
            <a:chExt cx="5626418" cy="1950720"/>
          </a:xfrm>
        </p:grpSpPr>
        <p:sp>
          <p:nvSpPr>
            <p:cNvPr id="9" name="Rectangle 9"/>
            <p:cNvSpPr/>
            <p:nvPr/>
          </p:nvSpPr>
          <p:spPr>
            <a:xfrm>
              <a:off x="533400" y="1954530"/>
              <a:ext cx="5626418" cy="1950720"/>
            </a:xfrm>
            <a:prstGeom prst="roundRect">
              <a:avLst>
                <a:gd name="adj" fmla="val 6836"/>
              </a:avLst>
            </a:prstGeom>
            <a:solidFill>
              <a:srgbClr val="FFFFFF"/>
            </a:solidFill>
            <a:ln w="14288">
              <a:solidFill>
                <a:srgbClr val="D9DFEA"/>
              </a:solidFill>
            </a:ln>
          </p:spPr>
        </p:sp>
        <p:sp>
          <p:nvSpPr>
            <p:cNvPr id="10" name="Rectangle 10"/>
            <p:cNvSpPr/>
            <p:nvPr/>
          </p:nvSpPr>
          <p:spPr>
            <a:xfrm>
              <a:off x="542925" y="2087880"/>
              <a:ext cx="47625" cy="1684020"/>
            </a:xfrm>
            <a:prstGeom prst="roundRect">
              <a:avLst>
                <a:gd name="adj" fmla="val 50000"/>
              </a:avLst>
            </a:prstGeom>
            <a:solidFill>
              <a:srgbClr val="334E68"/>
            </a:solidFill>
            <a:ln>
              <a:noFill/>
            </a:ln>
          </p:spPr>
        </p:sp>
        <p:sp>
          <p:nvSpPr>
            <p:cNvPr id="11" name="Rectangle 11"/>
            <p:cNvSpPr/>
            <p:nvPr/>
          </p:nvSpPr>
          <p:spPr>
            <a:xfrm>
              <a:off x="769620" y="2152650"/>
              <a:ext cx="476250" cy="247650"/>
            </a:xfrm>
            <a:prstGeom prst="roundRect">
              <a:avLst>
                <a:gd name="adj" fmla="val 50000"/>
              </a:avLst>
            </a:prstGeom>
            <a:solidFill>
              <a:srgbClr val="E7EDF3"/>
            </a:solidFill>
            <a:ln>
              <a:noFill/>
            </a:ln>
          </p:spPr>
        </p:sp>
        <p:sp>
          <p:nvSpPr>
            <p:cNvPr id="12" name="TextBox 12"/>
            <p:cNvSpPr txBox="1"/>
            <p:nvPr/>
          </p:nvSpPr>
          <p:spPr>
            <a:xfrm>
              <a:off x="861060" y="2186940"/>
              <a:ext cx="293370"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定义</a:t>
              </a:r>
            </a:p>
          </p:txBody>
        </p:sp>
        <p:sp>
          <p:nvSpPr>
            <p:cNvPr id="13" name="TextBox 13"/>
            <p:cNvSpPr txBox="1"/>
            <p:nvPr/>
          </p:nvSpPr>
          <p:spPr>
            <a:xfrm>
              <a:off x="1352931" y="2187416"/>
              <a:ext cx="3073044"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交互耦合（对象之间通过消息连接）</a:t>
              </a:r>
            </a:p>
          </p:txBody>
        </p:sp>
        <p:sp>
          <p:nvSpPr>
            <p:cNvPr id="14" name="TextBox 14"/>
            <p:cNvSpPr txBox="1"/>
            <p:nvPr/>
          </p:nvSpPr>
          <p:spPr>
            <a:xfrm>
              <a:off x="762381" y="2531269"/>
              <a:ext cx="446851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 xml:space="preserve">对象之间的耦合通过消息连接实现，应该尽量 </a:t>
              </a:r>
              <a:r>
                <a:rPr lang="zh-CN" sz="1420" b="1" dirty="0">
                  <a:solidFill>
                    <a:srgbClr val="C2410C"/>
                  </a:solidFill>
                  <a:latin typeface="+mn-lt"/>
                  <a:ea typeface="+mn-ea"/>
                  <a:cs typeface="+mn-cs"/>
                </a:rPr>
                <a:t>松散</a:t>
              </a:r>
              <a:r>
                <a:rPr lang="zh-CN" sz="1420" dirty="0">
                  <a:solidFill>
                    <a:srgbClr val="1F2937"/>
                  </a:solidFill>
                  <a:latin typeface="+mn-lt"/>
                  <a:ea typeface="+mn-ea"/>
                  <a:cs typeface="+mn-cs"/>
                </a:rPr>
                <a:t>。</a:t>
              </a:r>
            </a:p>
          </p:txBody>
        </p:sp>
        <p:sp>
          <p:nvSpPr>
            <p:cNvPr id="15" name="Ellipse 15"/>
            <p:cNvSpPr/>
            <p:nvPr/>
          </p:nvSpPr>
          <p:spPr>
            <a:xfrm>
              <a:off x="777240" y="2908935"/>
              <a:ext cx="60960" cy="60960"/>
            </a:xfrm>
            <a:prstGeom prst="ellipse">
              <a:avLst/>
            </a:prstGeom>
            <a:solidFill>
              <a:srgbClr val="334E68"/>
            </a:solidFill>
            <a:ln>
              <a:noFill/>
            </a:ln>
          </p:spPr>
        </p:sp>
        <p:sp>
          <p:nvSpPr>
            <p:cNvPr id="16" name="TextBox 16"/>
            <p:cNvSpPr txBox="1"/>
            <p:nvPr/>
          </p:nvSpPr>
          <p:spPr>
            <a:xfrm>
              <a:off x="933831" y="2849404"/>
              <a:ext cx="367520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消息中的参数个数尽量少，一般不超过 3 个</a:t>
              </a:r>
            </a:p>
          </p:txBody>
        </p:sp>
        <p:sp>
          <p:nvSpPr>
            <p:cNvPr id="17" name="Ellipse 17"/>
            <p:cNvSpPr/>
            <p:nvPr/>
          </p:nvSpPr>
          <p:spPr>
            <a:xfrm>
              <a:off x="777240" y="3227070"/>
              <a:ext cx="60960" cy="60960"/>
            </a:xfrm>
            <a:prstGeom prst="ellipse">
              <a:avLst/>
            </a:prstGeom>
            <a:solidFill>
              <a:srgbClr val="334E68"/>
            </a:solidFill>
            <a:ln>
              <a:noFill/>
            </a:ln>
          </p:spPr>
        </p:sp>
        <p:sp>
          <p:nvSpPr>
            <p:cNvPr id="18" name="TextBox 18"/>
            <p:cNvSpPr txBox="1"/>
            <p:nvPr/>
          </p:nvSpPr>
          <p:spPr>
            <a:xfrm>
              <a:off x="933831" y="3166586"/>
              <a:ext cx="3646526"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参数类型尽量简单，不要传递大的复杂结构</a:t>
              </a:r>
            </a:p>
          </p:txBody>
        </p:sp>
        <p:sp>
          <p:nvSpPr>
            <p:cNvPr id="19" name="Ellipse 19"/>
            <p:cNvSpPr/>
            <p:nvPr/>
          </p:nvSpPr>
          <p:spPr>
            <a:xfrm>
              <a:off x="777240" y="3544252"/>
              <a:ext cx="60960" cy="60960"/>
            </a:xfrm>
            <a:prstGeom prst="ellipse">
              <a:avLst/>
            </a:prstGeom>
            <a:solidFill>
              <a:srgbClr val="334E68"/>
            </a:solidFill>
            <a:ln>
              <a:noFill/>
            </a:ln>
          </p:spPr>
        </p:sp>
        <p:sp>
          <p:nvSpPr>
            <p:cNvPr id="20" name="TextBox 20"/>
            <p:cNvSpPr txBox="1"/>
            <p:nvPr/>
          </p:nvSpPr>
          <p:spPr>
            <a:xfrm>
              <a:off x="933831" y="3484721"/>
              <a:ext cx="3837686"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不要让一个对象去操纵另一个对象的内部数据</a:t>
              </a:r>
            </a:p>
          </p:txBody>
        </p:sp>
      </p:grpSp>
      <p:grpSp>
        <p:nvGrpSpPr>
          <p:cNvPr id="34" name="c1-card-2"/>
          <p:cNvGrpSpPr/>
          <p:nvPr/>
        </p:nvGrpSpPr>
        <p:grpSpPr>
          <a:xfrm>
            <a:off x="533400" y="4085272"/>
            <a:ext cx="5626418" cy="2222182"/>
            <a:chOff x="533400" y="4085272"/>
            <a:chExt cx="5626418" cy="2222182"/>
          </a:xfrm>
        </p:grpSpPr>
        <p:sp>
          <p:nvSpPr>
            <p:cNvPr id="22" name="Rectangle 22"/>
            <p:cNvSpPr/>
            <p:nvPr/>
          </p:nvSpPr>
          <p:spPr>
            <a:xfrm>
              <a:off x="533400" y="4085272"/>
              <a:ext cx="5626418" cy="2222182"/>
            </a:xfrm>
            <a:prstGeom prst="roundRect">
              <a:avLst>
                <a:gd name="adj" fmla="val 6001"/>
              </a:avLst>
            </a:prstGeom>
            <a:solidFill>
              <a:srgbClr val="FFFFFF"/>
            </a:solidFill>
            <a:ln w="14288">
              <a:solidFill>
                <a:srgbClr val="D9DFEA"/>
              </a:solidFill>
            </a:ln>
          </p:spPr>
        </p:sp>
        <p:sp>
          <p:nvSpPr>
            <p:cNvPr id="23" name="Rectangle 23"/>
            <p:cNvSpPr/>
            <p:nvPr/>
          </p:nvSpPr>
          <p:spPr>
            <a:xfrm>
              <a:off x="542925" y="4218622"/>
              <a:ext cx="47625" cy="1955482"/>
            </a:xfrm>
            <a:prstGeom prst="roundRect">
              <a:avLst>
                <a:gd name="adj" fmla="val 50000"/>
              </a:avLst>
            </a:prstGeom>
            <a:solidFill>
              <a:srgbClr val="334E68"/>
            </a:solidFill>
            <a:ln>
              <a:noFill/>
            </a:ln>
          </p:spPr>
        </p:sp>
        <p:sp>
          <p:nvSpPr>
            <p:cNvPr id="24" name="Rectangle 24"/>
            <p:cNvSpPr/>
            <p:nvPr/>
          </p:nvSpPr>
          <p:spPr>
            <a:xfrm>
              <a:off x="769620" y="4283392"/>
              <a:ext cx="476250" cy="247650"/>
            </a:xfrm>
            <a:prstGeom prst="roundRect">
              <a:avLst>
                <a:gd name="adj" fmla="val 50000"/>
              </a:avLst>
            </a:prstGeom>
            <a:solidFill>
              <a:srgbClr val="E7EDF3"/>
            </a:solidFill>
            <a:ln>
              <a:noFill/>
            </a:ln>
          </p:spPr>
        </p:sp>
        <p:sp>
          <p:nvSpPr>
            <p:cNvPr id="25" name="TextBox 25"/>
            <p:cNvSpPr txBox="1"/>
            <p:nvPr/>
          </p:nvSpPr>
          <p:spPr>
            <a:xfrm>
              <a:off x="861060" y="4317682"/>
              <a:ext cx="293370"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定义</a:t>
              </a:r>
            </a:p>
          </p:txBody>
        </p:sp>
        <p:sp>
          <p:nvSpPr>
            <p:cNvPr id="26" name="TextBox 26"/>
            <p:cNvSpPr txBox="1"/>
            <p:nvPr/>
          </p:nvSpPr>
          <p:spPr>
            <a:xfrm>
              <a:off x="1352931" y="4319111"/>
              <a:ext cx="2881884"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继承耦合（一般类与特殊类之间）</a:t>
              </a:r>
            </a:p>
          </p:txBody>
        </p:sp>
        <p:sp>
          <p:nvSpPr>
            <p:cNvPr id="27" name="TextBox 27"/>
            <p:cNvSpPr txBox="1"/>
            <p:nvPr/>
          </p:nvSpPr>
          <p:spPr>
            <a:xfrm>
              <a:off x="762381" y="4662011"/>
              <a:ext cx="3809012"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 xml:space="preserve">一般-特殊结构内部的耦合，应该尽量 </a:t>
              </a:r>
              <a:r>
                <a:rPr lang="zh-CN" sz="1420" b="1" dirty="0">
                  <a:solidFill>
                    <a:srgbClr val="C2410C"/>
                  </a:solidFill>
                  <a:latin typeface="+mn-lt"/>
                  <a:ea typeface="+mn-ea"/>
                  <a:cs typeface="+mn-cs"/>
                </a:rPr>
                <a:t>紧密</a:t>
              </a:r>
              <a:r>
                <a:rPr lang="zh-CN" sz="1420" dirty="0">
                  <a:solidFill>
                    <a:srgbClr val="1F2937"/>
                  </a:solidFill>
                  <a:latin typeface="+mn-lt"/>
                  <a:ea typeface="+mn-ea"/>
                  <a:cs typeface="+mn-cs"/>
                </a:rPr>
                <a:t>。</a:t>
              </a:r>
            </a:p>
          </p:txBody>
        </p:sp>
        <p:sp>
          <p:nvSpPr>
            <p:cNvPr id="28" name="Ellipse 28"/>
            <p:cNvSpPr/>
            <p:nvPr/>
          </p:nvSpPr>
          <p:spPr>
            <a:xfrm>
              <a:off x="777240" y="5039677"/>
              <a:ext cx="60960" cy="60960"/>
            </a:xfrm>
            <a:prstGeom prst="ellipse">
              <a:avLst/>
            </a:prstGeom>
            <a:solidFill>
              <a:srgbClr val="334E68"/>
            </a:solidFill>
            <a:ln>
              <a:noFill/>
            </a:ln>
          </p:spPr>
        </p:sp>
        <p:sp>
          <p:nvSpPr>
            <p:cNvPr id="29" name="TextBox 29"/>
            <p:cNvSpPr txBox="1"/>
            <p:nvPr/>
          </p:nvSpPr>
          <p:spPr>
            <a:xfrm>
              <a:off x="933831" y="4980146"/>
              <a:ext cx="4793488"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特殊类要确实是一般类的一种特殊情形，而不是凑在一起</a:t>
              </a:r>
            </a:p>
          </p:txBody>
        </p:sp>
        <p:sp>
          <p:nvSpPr>
            <p:cNvPr id="30" name="Ellipse 30"/>
            <p:cNvSpPr/>
            <p:nvPr/>
          </p:nvSpPr>
          <p:spPr>
            <a:xfrm>
              <a:off x="777240" y="5357812"/>
              <a:ext cx="60960" cy="60960"/>
            </a:xfrm>
            <a:prstGeom prst="ellipse">
              <a:avLst/>
            </a:prstGeom>
            <a:solidFill>
              <a:srgbClr val="334E68"/>
            </a:solidFill>
            <a:ln>
              <a:noFill/>
            </a:ln>
          </p:spPr>
        </p:sp>
        <p:sp>
          <p:nvSpPr>
            <p:cNvPr id="31" name="TextBox 31"/>
            <p:cNvSpPr txBox="1"/>
            <p:nvPr/>
          </p:nvSpPr>
          <p:spPr>
            <a:xfrm>
              <a:off x="933831" y="5297329"/>
              <a:ext cx="470331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特殊类应该继承并使用一般类的属性和服务，而不是大量重</a:t>
              </a:r>
              <a:br/>
              <a:r>
                <a:rPr lang="zh-CN" sz="1420" dirty="0">
                  <a:solidFill>
                    <a:srgbClr val="1F2937"/>
                  </a:solidFill>
                  <a:latin typeface="+mn-lt"/>
                  <a:ea typeface="+mn-ea"/>
                  <a:cs typeface="+mn-cs"/>
                </a:rPr>
                <a:t>定义</a:t>
              </a:r>
            </a:p>
          </p:txBody>
        </p:sp>
        <p:sp>
          <p:nvSpPr>
            <p:cNvPr id="32" name="Ellipse 32"/>
            <p:cNvSpPr/>
            <p:nvPr/>
          </p:nvSpPr>
          <p:spPr>
            <a:xfrm>
              <a:off x="777240" y="5947410"/>
              <a:ext cx="60960" cy="60960"/>
            </a:xfrm>
            <a:prstGeom prst="ellipse">
              <a:avLst/>
            </a:prstGeom>
            <a:solidFill>
              <a:srgbClr val="334E68"/>
            </a:solidFill>
            <a:ln>
              <a:noFill/>
            </a:ln>
          </p:spPr>
        </p:sp>
        <p:sp>
          <p:nvSpPr>
            <p:cNvPr id="33" name="TextBox 33"/>
            <p:cNvSpPr txBox="1"/>
            <p:nvPr/>
          </p:nvSpPr>
          <p:spPr>
            <a:xfrm>
              <a:off x="933831" y="5886926"/>
              <a:ext cx="3073044"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一般类中只放真正公共的属性和服务</a:t>
              </a:r>
            </a:p>
          </p:txBody>
        </p:sp>
      </p:grpSp>
      <p:grpSp>
        <p:nvGrpSpPr>
          <p:cNvPr id="55" name="c2-compare-1"/>
          <p:cNvGrpSpPr/>
          <p:nvPr/>
        </p:nvGrpSpPr>
        <p:grpSpPr>
          <a:xfrm>
            <a:off x="6464618" y="1954530"/>
            <a:ext cx="5193982" cy="3242310"/>
            <a:chOff x="6464618" y="1954530"/>
            <a:chExt cx="5193982" cy="3242310"/>
          </a:xfrm>
        </p:grpSpPr>
        <p:sp>
          <p:nvSpPr>
            <p:cNvPr id="35" name="Rectangle 35"/>
            <p:cNvSpPr/>
            <p:nvPr/>
          </p:nvSpPr>
          <p:spPr>
            <a:xfrm>
              <a:off x="6464618" y="1954530"/>
              <a:ext cx="2386965" cy="3242310"/>
            </a:xfrm>
            <a:prstGeom prst="roundRect">
              <a:avLst>
                <a:gd name="adj" fmla="val 5587"/>
              </a:avLst>
            </a:prstGeom>
            <a:solidFill>
              <a:srgbClr val="FFFFFF"/>
            </a:solidFill>
            <a:ln w="14288">
              <a:solidFill>
                <a:srgbClr val="D9DFEA"/>
              </a:solidFill>
            </a:ln>
          </p:spPr>
        </p:sp>
        <p:sp>
          <p:nvSpPr>
            <p:cNvPr id="36" name="Rectangle 36"/>
            <p:cNvSpPr/>
            <p:nvPr/>
          </p:nvSpPr>
          <p:spPr>
            <a:xfrm>
              <a:off x="6474142" y="2087880"/>
              <a:ext cx="47625" cy="2975610"/>
            </a:xfrm>
            <a:prstGeom prst="roundRect">
              <a:avLst>
                <a:gd name="adj" fmla="val 50000"/>
              </a:avLst>
            </a:prstGeom>
            <a:solidFill>
              <a:srgbClr val="14A38B"/>
            </a:solidFill>
            <a:ln>
              <a:noFill/>
            </a:ln>
          </p:spPr>
        </p:sp>
        <p:sp>
          <p:nvSpPr>
            <p:cNvPr id="37" name="TextBox 37"/>
            <p:cNvSpPr txBox="1"/>
            <p:nvPr/>
          </p:nvSpPr>
          <p:spPr>
            <a:xfrm>
              <a:off x="6693598" y="2175986"/>
              <a:ext cx="1543761"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交互耦合松的信号</a:t>
              </a:r>
            </a:p>
          </p:txBody>
        </p:sp>
        <p:sp>
          <p:nvSpPr>
            <p:cNvPr id="38" name="Ellipse 38"/>
            <p:cNvSpPr/>
            <p:nvPr/>
          </p:nvSpPr>
          <p:spPr>
            <a:xfrm>
              <a:off x="6708458" y="2571750"/>
              <a:ext cx="60960" cy="60960"/>
            </a:xfrm>
            <a:prstGeom prst="ellipse">
              <a:avLst/>
            </a:prstGeom>
            <a:solidFill>
              <a:srgbClr val="334E68"/>
            </a:solidFill>
            <a:ln>
              <a:noFill/>
            </a:ln>
          </p:spPr>
        </p:sp>
        <p:sp>
          <p:nvSpPr>
            <p:cNvPr id="39" name="TextBox 39"/>
            <p:cNvSpPr txBox="1"/>
            <p:nvPr/>
          </p:nvSpPr>
          <p:spPr>
            <a:xfrm>
              <a:off x="6865048" y="2512219"/>
              <a:ext cx="1637538"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一个服务的参数表</a:t>
              </a:r>
              <a:br/>
              <a:r>
                <a:rPr lang="zh-CN" sz="1420" dirty="0">
                  <a:solidFill>
                    <a:srgbClr val="1F2937"/>
                  </a:solidFill>
                  <a:latin typeface="+mn-lt"/>
                  <a:ea typeface="+mn-ea"/>
                  <a:cs typeface="+mn-cs"/>
                </a:rPr>
                <a:t>短，类型是基本类型</a:t>
              </a:r>
              <a:br/>
              <a:r>
                <a:rPr lang="zh-CN" sz="1420" dirty="0">
                  <a:solidFill>
                    <a:srgbClr val="1F2937"/>
                  </a:solidFill>
                  <a:latin typeface="+mn-lt"/>
                  <a:ea typeface="+mn-ea"/>
                  <a:cs typeface="+mn-cs"/>
                </a:rPr>
                <a:t>或单个对象</a:t>
              </a:r>
            </a:p>
          </p:txBody>
        </p:sp>
        <p:sp>
          <p:nvSpPr>
            <p:cNvPr id="40" name="Ellipse 40"/>
            <p:cNvSpPr/>
            <p:nvPr/>
          </p:nvSpPr>
          <p:spPr>
            <a:xfrm>
              <a:off x="6708458" y="3432810"/>
              <a:ext cx="60960" cy="60960"/>
            </a:xfrm>
            <a:prstGeom prst="ellipse">
              <a:avLst/>
            </a:prstGeom>
            <a:solidFill>
              <a:srgbClr val="334E68"/>
            </a:solidFill>
            <a:ln>
              <a:noFill/>
            </a:ln>
          </p:spPr>
        </p:sp>
        <p:sp>
          <p:nvSpPr>
            <p:cNvPr id="41" name="TextBox 41"/>
            <p:cNvSpPr txBox="1"/>
            <p:nvPr/>
          </p:nvSpPr>
          <p:spPr>
            <a:xfrm>
              <a:off x="6865048" y="3372326"/>
              <a:ext cx="1637538"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改动一个类的内部实</a:t>
              </a:r>
              <a:br/>
              <a:r>
                <a:rPr lang="zh-CN" sz="1420" dirty="0">
                  <a:solidFill>
                    <a:srgbClr val="1F2937"/>
                  </a:solidFill>
                  <a:latin typeface="+mn-lt"/>
                  <a:ea typeface="+mn-ea"/>
                  <a:cs typeface="+mn-cs"/>
                </a:rPr>
                <a:t>现，调用方不用跟着</a:t>
              </a:r>
              <a:br/>
              <a:r>
                <a:rPr lang="zh-CN" sz="1420" dirty="0">
                  <a:solidFill>
                    <a:srgbClr val="1F2937"/>
                  </a:solidFill>
                  <a:latin typeface="+mn-lt"/>
                  <a:ea typeface="+mn-ea"/>
                  <a:cs typeface="+mn-cs"/>
                </a:rPr>
                <a:t>改</a:t>
              </a:r>
            </a:p>
          </p:txBody>
        </p:sp>
        <p:sp>
          <p:nvSpPr>
            <p:cNvPr id="42" name="Ellipse 42"/>
            <p:cNvSpPr/>
            <p:nvPr/>
          </p:nvSpPr>
          <p:spPr>
            <a:xfrm>
              <a:off x="6708458" y="4292918"/>
              <a:ext cx="60960" cy="60960"/>
            </a:xfrm>
            <a:prstGeom prst="ellipse">
              <a:avLst/>
            </a:prstGeom>
            <a:solidFill>
              <a:srgbClr val="334E68"/>
            </a:solidFill>
            <a:ln>
              <a:noFill/>
            </a:ln>
          </p:spPr>
        </p:sp>
        <p:sp>
          <p:nvSpPr>
            <p:cNvPr id="43" name="TextBox 43"/>
            <p:cNvSpPr txBox="1"/>
            <p:nvPr/>
          </p:nvSpPr>
          <p:spPr>
            <a:xfrm>
              <a:off x="6865048" y="4233386"/>
              <a:ext cx="1637538"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类之间的消息路径</a:t>
              </a:r>
              <a:br/>
              <a:r>
                <a:rPr lang="zh-CN" sz="1420" dirty="0">
                  <a:solidFill>
                    <a:srgbClr val="1F2937"/>
                  </a:solidFill>
                  <a:latin typeface="+mn-lt"/>
                  <a:ea typeface="+mn-ea"/>
                  <a:cs typeface="+mn-cs"/>
                </a:rPr>
                <a:t>少，没有绕来绕去的</a:t>
              </a:r>
              <a:br/>
              <a:r>
                <a:rPr lang="zh-CN" sz="1420" dirty="0">
                  <a:solidFill>
                    <a:srgbClr val="1F2937"/>
                  </a:solidFill>
                  <a:latin typeface="+mn-lt"/>
                  <a:ea typeface="+mn-ea"/>
                  <a:cs typeface="+mn-cs"/>
                </a:rPr>
                <a:t>调用链</a:t>
              </a:r>
            </a:p>
          </p:txBody>
        </p:sp>
        <p:sp>
          <p:nvSpPr>
            <p:cNvPr id="44" name="Rectangle 44"/>
            <p:cNvSpPr/>
            <p:nvPr/>
          </p:nvSpPr>
          <p:spPr>
            <a:xfrm>
              <a:off x="9271635" y="1954530"/>
              <a:ext cx="2386965" cy="3242310"/>
            </a:xfrm>
            <a:prstGeom prst="roundRect">
              <a:avLst>
                <a:gd name="adj" fmla="val 5587"/>
              </a:avLst>
            </a:prstGeom>
            <a:solidFill>
              <a:srgbClr val="FFFFFF"/>
            </a:solidFill>
            <a:ln w="14288">
              <a:solidFill>
                <a:srgbClr val="D9DFEA"/>
              </a:solidFill>
            </a:ln>
          </p:spPr>
        </p:sp>
        <p:sp>
          <p:nvSpPr>
            <p:cNvPr id="45" name="Rectangle 45"/>
            <p:cNvSpPr/>
            <p:nvPr/>
          </p:nvSpPr>
          <p:spPr>
            <a:xfrm>
              <a:off x="9281160" y="2087880"/>
              <a:ext cx="47625" cy="2975610"/>
            </a:xfrm>
            <a:prstGeom prst="roundRect">
              <a:avLst>
                <a:gd name="adj" fmla="val 50000"/>
              </a:avLst>
            </a:prstGeom>
            <a:solidFill>
              <a:srgbClr val="B42318"/>
            </a:solidFill>
            <a:ln>
              <a:noFill/>
            </a:ln>
          </p:spPr>
        </p:sp>
        <p:sp>
          <p:nvSpPr>
            <p:cNvPr id="46" name="TextBox 46"/>
            <p:cNvSpPr txBox="1"/>
            <p:nvPr/>
          </p:nvSpPr>
          <p:spPr>
            <a:xfrm>
              <a:off x="9500616" y="2175986"/>
              <a:ext cx="1543761"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交互耦合紧的信号</a:t>
              </a:r>
            </a:p>
          </p:txBody>
        </p:sp>
        <p:sp>
          <p:nvSpPr>
            <p:cNvPr id="47" name="Ellipse 47"/>
            <p:cNvSpPr/>
            <p:nvPr/>
          </p:nvSpPr>
          <p:spPr>
            <a:xfrm>
              <a:off x="9515475" y="2571750"/>
              <a:ext cx="60960" cy="60960"/>
            </a:xfrm>
            <a:prstGeom prst="ellipse">
              <a:avLst/>
            </a:prstGeom>
            <a:solidFill>
              <a:srgbClr val="334E68"/>
            </a:solidFill>
            <a:ln>
              <a:noFill/>
            </a:ln>
          </p:spPr>
        </p:sp>
        <p:sp>
          <p:nvSpPr>
            <p:cNvPr id="48" name="TextBox 48"/>
            <p:cNvSpPr txBox="1"/>
            <p:nvPr/>
          </p:nvSpPr>
          <p:spPr>
            <a:xfrm>
              <a:off x="9672066" y="2512219"/>
              <a:ext cx="1637538"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服务参数一大串，还</a:t>
              </a:r>
              <a:br/>
              <a:r>
                <a:rPr lang="zh-CN" sz="1420" dirty="0">
                  <a:solidFill>
                    <a:srgbClr val="1F2937"/>
                  </a:solidFill>
                  <a:latin typeface="+mn-lt"/>
                  <a:ea typeface="+mn-ea"/>
                  <a:cs typeface="+mn-cs"/>
                </a:rPr>
                <a:t>要传进对方的内部结</a:t>
              </a:r>
              <a:br/>
              <a:r>
                <a:rPr lang="zh-CN" sz="1420" dirty="0">
                  <a:solidFill>
                    <a:srgbClr val="1F2937"/>
                  </a:solidFill>
                  <a:latin typeface="+mn-lt"/>
                  <a:ea typeface="+mn-ea"/>
                  <a:cs typeface="+mn-cs"/>
                </a:rPr>
                <a:t>构</a:t>
              </a:r>
            </a:p>
          </p:txBody>
        </p:sp>
        <p:sp>
          <p:nvSpPr>
            <p:cNvPr id="49" name="Ellipse 49"/>
            <p:cNvSpPr/>
            <p:nvPr/>
          </p:nvSpPr>
          <p:spPr>
            <a:xfrm>
              <a:off x="9515475" y="3432810"/>
              <a:ext cx="60960" cy="60960"/>
            </a:xfrm>
            <a:prstGeom prst="ellipse">
              <a:avLst/>
            </a:prstGeom>
            <a:solidFill>
              <a:srgbClr val="334E68"/>
            </a:solidFill>
            <a:ln>
              <a:noFill/>
            </a:ln>
          </p:spPr>
        </p:sp>
        <p:sp>
          <p:nvSpPr>
            <p:cNvPr id="50" name="TextBox 50"/>
            <p:cNvSpPr txBox="1"/>
            <p:nvPr/>
          </p:nvSpPr>
          <p:spPr>
            <a:xfrm>
              <a:off x="9672066" y="3372326"/>
              <a:ext cx="1637538"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调用方必须先知道对</a:t>
              </a:r>
              <a:br/>
              <a:r>
                <a:rPr lang="zh-CN" sz="1420" dirty="0">
                  <a:solidFill>
                    <a:srgbClr val="1F2937"/>
                  </a:solidFill>
                  <a:latin typeface="+mn-lt"/>
                  <a:ea typeface="+mn-ea"/>
                  <a:cs typeface="+mn-cs"/>
                </a:rPr>
                <a:t>方的属性名才写得出</a:t>
              </a:r>
              <a:br/>
              <a:r>
                <a:rPr lang="zh-CN" sz="1420" dirty="0">
                  <a:solidFill>
                    <a:srgbClr val="1F2937"/>
                  </a:solidFill>
                  <a:latin typeface="+mn-lt"/>
                  <a:ea typeface="+mn-ea"/>
                  <a:cs typeface="+mn-cs"/>
                </a:rPr>
                <a:t>代码</a:t>
              </a:r>
            </a:p>
          </p:txBody>
        </p:sp>
        <p:sp>
          <p:nvSpPr>
            <p:cNvPr id="51" name="Ellipse 51"/>
            <p:cNvSpPr/>
            <p:nvPr/>
          </p:nvSpPr>
          <p:spPr>
            <a:xfrm>
              <a:off x="9515475" y="4292918"/>
              <a:ext cx="60960" cy="60960"/>
            </a:xfrm>
            <a:prstGeom prst="ellipse">
              <a:avLst/>
            </a:prstGeom>
            <a:solidFill>
              <a:srgbClr val="334E68"/>
            </a:solidFill>
            <a:ln>
              <a:noFill/>
            </a:ln>
          </p:spPr>
        </p:sp>
        <p:sp>
          <p:nvSpPr>
            <p:cNvPr id="52" name="TextBox 52"/>
            <p:cNvSpPr txBox="1"/>
            <p:nvPr/>
          </p:nvSpPr>
          <p:spPr>
            <a:xfrm>
              <a:off x="9672066" y="4233386"/>
              <a:ext cx="163753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改一个类要连带改四</a:t>
              </a:r>
              <a:br/>
              <a:r>
                <a:rPr lang="zh-CN" sz="1420" dirty="0">
                  <a:solidFill>
                    <a:srgbClr val="1F2937"/>
                  </a:solidFill>
                  <a:latin typeface="+mn-lt"/>
                  <a:ea typeface="+mn-ea"/>
                  <a:cs typeface="+mn-cs"/>
                </a:rPr>
                <a:t>五个类</a:t>
              </a:r>
            </a:p>
          </p:txBody>
        </p:sp>
        <p:sp>
          <p:nvSpPr>
            <p:cNvPr id="53" name="Ellipse 53"/>
            <p:cNvSpPr/>
            <p:nvPr/>
          </p:nvSpPr>
          <p:spPr>
            <a:xfrm>
              <a:off x="8900160" y="3413760"/>
              <a:ext cx="323850" cy="323850"/>
            </a:xfrm>
            <a:prstGeom prst="ellipse">
              <a:avLst/>
            </a:prstGeom>
            <a:solidFill>
              <a:srgbClr val="F26B3A"/>
            </a:solidFill>
            <a:ln>
              <a:noFill/>
            </a:ln>
          </p:spPr>
        </p:sp>
        <p:sp>
          <p:nvSpPr>
            <p:cNvPr id="54" name="TextBox 54"/>
            <p:cNvSpPr txBox="1"/>
            <p:nvPr/>
          </p:nvSpPr>
          <p:spPr>
            <a:xfrm>
              <a:off x="8976631" y="3515201"/>
              <a:ext cx="170907"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VS</a:t>
              </a:r>
            </a:p>
          </p:txBody>
        </p:sp>
      </p:grpSp>
      <p:grpSp>
        <p:nvGrpSpPr>
          <p:cNvPr id="61" name="c2-callout-2"/>
          <p:cNvGrpSpPr/>
          <p:nvPr/>
        </p:nvGrpSpPr>
        <p:grpSpPr>
          <a:xfrm>
            <a:off x="6464618" y="5376862"/>
            <a:ext cx="5193982" cy="930592"/>
            <a:chOff x="6464618" y="5376862"/>
            <a:chExt cx="5193982" cy="930592"/>
          </a:xfrm>
        </p:grpSpPr>
        <p:sp>
          <p:nvSpPr>
            <p:cNvPr id="56" name="Rectangle 56"/>
            <p:cNvSpPr/>
            <p:nvPr/>
          </p:nvSpPr>
          <p:spPr>
            <a:xfrm>
              <a:off x="6464618" y="5376862"/>
              <a:ext cx="5193982" cy="930592"/>
            </a:xfrm>
            <a:prstGeom prst="roundRect">
              <a:avLst>
                <a:gd name="adj" fmla="val 12282"/>
              </a:avLst>
            </a:prstGeom>
            <a:solidFill>
              <a:srgbClr val="334E68"/>
            </a:solidFill>
            <a:ln>
              <a:noFill/>
            </a:ln>
          </p:spPr>
        </p:sp>
        <p:grpSp>
          <p:nvGrpSpPr>
            <p:cNvPr id="59" name="Group 59"/>
            <p:cNvGrpSpPr/>
            <p:nvPr/>
          </p:nvGrpSpPr>
          <p:grpSpPr>
            <a:xfrm>
              <a:off x="6669405" y="5742625"/>
              <a:ext cx="200023" cy="200023"/>
              <a:chOff x="6669405" y="5742625"/>
              <a:chExt cx="200023" cy="200023"/>
            </a:xfrm>
          </p:grpSpPr>
          <p:sp>
            <p:nvSpPr>
              <p:cNvPr id="57" name="Freeform 57"/>
              <p:cNvSpPr/>
              <p:nvPr/>
            </p:nvSpPr>
            <p:spPr>
              <a:xfrm>
                <a:off x="6669405" y="574262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8" name="Freeform 58"/>
              <p:cNvSpPr/>
              <p:nvPr/>
            </p:nvSpPr>
            <p:spPr>
              <a:xfrm>
                <a:off x="6802755" y="580929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0" name="TextBox 60"/>
            <p:cNvSpPr txBox="1"/>
            <p:nvPr/>
          </p:nvSpPr>
          <p:spPr>
            <a:xfrm>
              <a:off x="6971729" y="5611654"/>
              <a:ext cx="4162298"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FFFFFF"/>
                  </a:solidFill>
                  <a:latin typeface="+mn-lt"/>
                  <a:ea typeface="+mn-ea"/>
                  <a:cs typeface="+mn-cs"/>
                </a:rPr>
                <a:t>判一道题时先看是不是继承关系：继承关系内部要求</a:t>
              </a:r>
              <a:br/>
              <a:r>
                <a:rPr lang="zh-CN" sz="1420" dirty="0">
                  <a:solidFill>
                    <a:srgbClr val="FFFFFF"/>
                  </a:solidFill>
                  <a:latin typeface="+mn-lt"/>
                  <a:ea typeface="+mn-ea"/>
                  <a:cs typeface="+mn-cs"/>
                </a:rPr>
                <a:t>耦合紧，非继承的消息连接要求耦合松。</a:t>
              </a:r>
            </a:p>
          </p:txBody>
        </p:sp>
      </p:grpSp>
      <p:grpSp>
        <p:nvGrpSpPr>
          <p:cNvPr id="64" name="footer"/>
          <p:cNvGrpSpPr/>
          <p:nvPr/>
        </p:nvGrpSpPr>
        <p:grpSpPr>
          <a:xfrm>
            <a:off x="528447" y="6581299"/>
            <a:ext cx="11135106" cy="190690"/>
            <a:chOff x="528447" y="6581299"/>
            <a:chExt cx="11135106" cy="190690"/>
          </a:xfrm>
        </p:grpSpPr>
        <p:sp>
          <p:nvSpPr>
            <p:cNvPr id="62" name="TextBox 62"/>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63" name="TextBox 63"/>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8205452" cy="909257"/>
            <a:chOff x="520446" y="342900"/>
            <a:chExt cx="8205452" cy="909257"/>
          </a:xfrm>
        </p:grpSpPr>
        <p:sp>
          <p:nvSpPr>
            <p:cNvPr id="2" name="Rectangle 2"/>
            <p:cNvSpPr/>
            <p:nvPr/>
          </p:nvSpPr>
          <p:spPr>
            <a:xfrm>
              <a:off x="533400" y="342900"/>
              <a:ext cx="3066098" cy="266700"/>
            </a:xfrm>
            <a:prstGeom prst="roundRect">
              <a:avLst>
                <a:gd name="adj" fmla="val 50000"/>
              </a:avLst>
            </a:prstGeom>
            <a:solidFill>
              <a:srgbClr val="E7EDF3"/>
            </a:solidFill>
            <a:ln>
              <a:noFill/>
            </a:ln>
          </p:spPr>
        </p:sp>
        <p:sp>
          <p:nvSpPr>
            <p:cNvPr id="3" name="TextBox 3"/>
            <p:cNvSpPr txBox="1"/>
            <p:nvPr/>
          </p:nvSpPr>
          <p:spPr>
            <a:xfrm>
              <a:off x="576826" y="407194"/>
              <a:ext cx="297829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面向对象设计的准则</a:t>
              </a:r>
            </a:p>
          </p:txBody>
        </p:sp>
        <p:sp>
          <p:nvSpPr>
            <p:cNvPr id="4" name="TextBox 4"/>
            <p:cNvSpPr txBox="1"/>
            <p:nvPr/>
          </p:nvSpPr>
          <p:spPr>
            <a:xfrm>
              <a:off x="520446" y="753428"/>
              <a:ext cx="820545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强内聚：三种内聚，外加一个能算出来的度量 LCOM1</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1" name="c1-card-1"/>
          <p:cNvGrpSpPr/>
          <p:nvPr/>
        </p:nvGrpSpPr>
        <p:grpSpPr>
          <a:xfrm>
            <a:off x="533400" y="1524000"/>
            <a:ext cx="4977765" cy="2476500"/>
            <a:chOff x="533400" y="1524000"/>
            <a:chExt cx="4977765" cy="2476500"/>
          </a:xfrm>
        </p:grpSpPr>
        <p:sp>
          <p:nvSpPr>
            <p:cNvPr id="7" name="Rectangle 7"/>
            <p:cNvSpPr/>
            <p:nvPr/>
          </p:nvSpPr>
          <p:spPr>
            <a:xfrm>
              <a:off x="533400" y="1524000"/>
              <a:ext cx="4977765" cy="2476500"/>
            </a:xfrm>
            <a:prstGeom prst="roundRect">
              <a:avLst>
                <a:gd name="adj" fmla="val 5385"/>
              </a:avLst>
            </a:prstGeom>
            <a:solidFill>
              <a:srgbClr val="FFFFFF"/>
            </a:solidFill>
            <a:ln w="14288">
              <a:solidFill>
                <a:srgbClr val="D9DFEA"/>
              </a:solidFill>
            </a:ln>
          </p:spPr>
        </p:sp>
        <p:sp>
          <p:nvSpPr>
            <p:cNvPr id="8" name="Rectangle 8"/>
            <p:cNvSpPr/>
            <p:nvPr/>
          </p:nvSpPr>
          <p:spPr>
            <a:xfrm>
              <a:off x="542925" y="1657350"/>
              <a:ext cx="47625" cy="2209800"/>
            </a:xfrm>
            <a:prstGeom prst="roundRect">
              <a:avLst>
                <a:gd name="adj" fmla="val 50000"/>
              </a:avLst>
            </a:prstGeom>
            <a:solidFill>
              <a:srgbClr val="334E68"/>
            </a:solidFill>
            <a:ln>
              <a:noFill/>
            </a:ln>
          </p:spPr>
        </p:sp>
        <p:sp>
          <p:nvSpPr>
            <p:cNvPr id="9" name="Rectangle 9"/>
            <p:cNvSpPr/>
            <p:nvPr/>
          </p:nvSpPr>
          <p:spPr>
            <a:xfrm>
              <a:off x="775335" y="1727835"/>
              <a:ext cx="494348" cy="257175"/>
            </a:xfrm>
            <a:prstGeom prst="roundRect">
              <a:avLst>
                <a:gd name="adj" fmla="val 50000"/>
              </a:avLst>
            </a:prstGeom>
            <a:solidFill>
              <a:srgbClr val="E7EDF3"/>
            </a:solidFill>
            <a:ln>
              <a:noFill/>
            </a:ln>
          </p:spPr>
        </p:sp>
        <p:sp>
          <p:nvSpPr>
            <p:cNvPr id="10" name="TextBox 10"/>
            <p:cNvSpPr txBox="1"/>
            <p:nvPr/>
          </p:nvSpPr>
          <p:spPr>
            <a:xfrm>
              <a:off x="865543" y="1763554"/>
              <a:ext cx="31297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定义</a:t>
              </a:r>
            </a:p>
          </p:txBody>
        </p:sp>
        <p:sp>
          <p:nvSpPr>
            <p:cNvPr id="11" name="TextBox 11"/>
            <p:cNvSpPr txBox="1"/>
            <p:nvPr/>
          </p:nvSpPr>
          <p:spPr>
            <a:xfrm>
              <a:off x="1376744" y="1767364"/>
              <a:ext cx="77912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三种内聚</a:t>
              </a:r>
            </a:p>
          </p:txBody>
        </p:sp>
        <p:sp>
          <p:nvSpPr>
            <p:cNvPr id="12" name="Ellipse 12"/>
            <p:cNvSpPr/>
            <p:nvPr/>
          </p:nvSpPr>
          <p:spPr>
            <a:xfrm>
              <a:off x="775335" y="2106930"/>
              <a:ext cx="201930" cy="201930"/>
            </a:xfrm>
            <a:prstGeom prst="ellipse">
              <a:avLst/>
            </a:prstGeom>
            <a:solidFill>
              <a:srgbClr val="334E68"/>
            </a:solidFill>
            <a:ln>
              <a:noFill/>
            </a:ln>
          </p:spPr>
        </p:sp>
        <p:sp>
          <p:nvSpPr>
            <p:cNvPr id="13" name="TextBox 13"/>
            <p:cNvSpPr txBox="1"/>
            <p:nvPr/>
          </p:nvSpPr>
          <p:spPr>
            <a:xfrm>
              <a:off x="833680" y="214726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14" name="TextBox 14"/>
            <p:cNvSpPr txBox="1"/>
            <p:nvPr/>
          </p:nvSpPr>
          <p:spPr>
            <a:xfrm>
              <a:off x="1066228" y="2119789"/>
              <a:ext cx="3981958" cy="550164"/>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服务内聚</a:t>
              </a:r>
              <a:r>
                <a:rPr lang="zh-CN" sz="1420" dirty="0">
                  <a:solidFill>
                    <a:srgbClr val="1F2937"/>
                  </a:solidFill>
                  <a:latin typeface="+mn-lt"/>
                  <a:ea typeface="+mn-ea"/>
                  <a:cs typeface="+mn-cs"/>
                </a:rPr>
                <a:t>：一个服务只完成一个功能，不要一个方</a:t>
              </a:r>
              <a:br/>
              <a:r>
                <a:rPr lang="zh-CN" sz="1420" dirty="0">
                  <a:solidFill>
                    <a:srgbClr val="1F2937"/>
                  </a:solidFill>
                  <a:latin typeface="+mn-lt"/>
                  <a:ea typeface="+mn-ea"/>
                  <a:cs typeface="+mn-cs"/>
                </a:rPr>
                <a:t>法干两件事</a:t>
              </a:r>
            </a:p>
          </p:txBody>
        </p:sp>
        <p:sp>
          <p:nvSpPr>
            <p:cNvPr id="15" name="Ellipse 15"/>
            <p:cNvSpPr/>
            <p:nvPr/>
          </p:nvSpPr>
          <p:spPr>
            <a:xfrm>
              <a:off x="775335" y="2698432"/>
              <a:ext cx="201930" cy="201930"/>
            </a:xfrm>
            <a:prstGeom prst="ellipse">
              <a:avLst/>
            </a:prstGeom>
            <a:solidFill>
              <a:srgbClr val="334E68"/>
            </a:solidFill>
            <a:ln>
              <a:noFill/>
            </a:ln>
          </p:spPr>
        </p:sp>
        <p:sp>
          <p:nvSpPr>
            <p:cNvPr id="16" name="TextBox 16"/>
            <p:cNvSpPr txBox="1"/>
            <p:nvPr/>
          </p:nvSpPr>
          <p:spPr>
            <a:xfrm>
              <a:off x="833680" y="2738771"/>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17" name="TextBox 17"/>
            <p:cNvSpPr txBox="1"/>
            <p:nvPr/>
          </p:nvSpPr>
          <p:spPr>
            <a:xfrm>
              <a:off x="1066228" y="2711291"/>
              <a:ext cx="3981958" cy="550164"/>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类内聚</a:t>
              </a:r>
              <a:r>
                <a:rPr lang="zh-CN" sz="1420" dirty="0">
                  <a:solidFill>
                    <a:srgbClr val="1F2937"/>
                  </a:solidFill>
                  <a:latin typeface="+mn-lt"/>
                  <a:ea typeface="+mn-ea"/>
                  <a:cs typeface="+mn-cs"/>
                </a:rPr>
                <a:t>：一个类只有一个用途，属性和服务都是完</a:t>
              </a:r>
              <a:br/>
              <a:r>
                <a:rPr lang="zh-CN" sz="1420" dirty="0">
                  <a:solidFill>
                    <a:srgbClr val="1F2937"/>
                  </a:solidFill>
                  <a:latin typeface="+mn-lt"/>
                  <a:ea typeface="+mn-ea"/>
                  <a:cs typeface="+mn-cs"/>
                </a:rPr>
                <a:t>成该用途必需的</a:t>
              </a:r>
            </a:p>
          </p:txBody>
        </p:sp>
        <p:sp>
          <p:nvSpPr>
            <p:cNvPr id="18" name="Ellipse 18"/>
            <p:cNvSpPr/>
            <p:nvPr/>
          </p:nvSpPr>
          <p:spPr>
            <a:xfrm>
              <a:off x="775335" y="3289935"/>
              <a:ext cx="201930" cy="201930"/>
            </a:xfrm>
            <a:prstGeom prst="ellipse">
              <a:avLst/>
            </a:prstGeom>
            <a:solidFill>
              <a:srgbClr val="334E68"/>
            </a:solidFill>
            <a:ln>
              <a:noFill/>
            </a:ln>
          </p:spPr>
        </p:sp>
        <p:sp>
          <p:nvSpPr>
            <p:cNvPr id="19" name="TextBox 19"/>
            <p:cNvSpPr txBox="1"/>
            <p:nvPr/>
          </p:nvSpPr>
          <p:spPr>
            <a:xfrm>
              <a:off x="833680" y="3330273"/>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3</a:t>
              </a:r>
            </a:p>
          </p:txBody>
        </p:sp>
        <p:sp>
          <p:nvSpPr>
            <p:cNvPr id="20" name="TextBox 20"/>
            <p:cNvSpPr txBox="1"/>
            <p:nvPr/>
          </p:nvSpPr>
          <p:spPr>
            <a:xfrm>
              <a:off x="1066228" y="3302794"/>
              <a:ext cx="4004951" cy="550164"/>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一般-特殊内聚</a:t>
              </a:r>
              <a:r>
                <a:rPr lang="zh-CN" sz="1420" dirty="0">
                  <a:solidFill>
                    <a:srgbClr val="1F2937"/>
                  </a:solidFill>
                  <a:latin typeface="+mn-lt"/>
                  <a:ea typeface="+mn-ea"/>
                  <a:cs typeface="+mn-cs"/>
                </a:rPr>
                <a:t>：一般-特殊结构要符合大多数人的</a:t>
              </a:r>
              <a:br/>
              <a:r>
                <a:rPr lang="zh-CN" sz="1420" dirty="0">
                  <a:solidFill>
                    <a:srgbClr val="1F2937"/>
                  </a:solidFill>
                  <a:latin typeface="+mn-lt"/>
                  <a:ea typeface="+mn-ea"/>
                  <a:cs typeface="+mn-cs"/>
                </a:rPr>
                <a:t>概念，特殊类确实是一般类的特殊情形</a:t>
              </a:r>
            </a:p>
          </p:txBody>
        </p:sp>
      </p:grpSp>
      <p:grpSp>
        <p:nvGrpSpPr>
          <p:cNvPr id="28" name="c1-callout-2"/>
          <p:cNvGrpSpPr/>
          <p:nvPr/>
        </p:nvGrpSpPr>
        <p:grpSpPr>
          <a:xfrm>
            <a:off x="533400" y="4185285"/>
            <a:ext cx="4977765" cy="1469708"/>
            <a:chOff x="533400" y="4185285"/>
            <a:chExt cx="4977765" cy="1469708"/>
          </a:xfrm>
        </p:grpSpPr>
        <p:sp>
          <p:nvSpPr>
            <p:cNvPr id="22" name="Rectangle 22"/>
            <p:cNvSpPr/>
            <p:nvPr/>
          </p:nvSpPr>
          <p:spPr>
            <a:xfrm>
              <a:off x="533400" y="4185285"/>
              <a:ext cx="4977765" cy="1469708"/>
            </a:xfrm>
            <a:prstGeom prst="roundRect">
              <a:avLst>
                <a:gd name="adj" fmla="val 7777"/>
              </a:avLst>
            </a:prstGeom>
            <a:solidFill>
              <a:srgbClr val="FDEEE7"/>
            </a:solidFill>
            <a:ln>
              <a:noFill/>
            </a:ln>
          </p:spPr>
        </p:sp>
        <p:grpSp>
          <p:nvGrpSpPr>
            <p:cNvPr id="26" name="Group 26"/>
            <p:cNvGrpSpPr/>
            <p:nvPr/>
          </p:nvGrpSpPr>
          <p:grpSpPr>
            <a:xfrm>
              <a:off x="738188" y="4820603"/>
              <a:ext cx="200026" cy="200025"/>
              <a:chOff x="738188" y="4820603"/>
              <a:chExt cx="200026" cy="200025"/>
            </a:xfrm>
          </p:grpSpPr>
          <p:sp>
            <p:nvSpPr>
              <p:cNvPr id="23" name="Freeform 23"/>
              <p:cNvSpPr/>
              <p:nvPr/>
            </p:nvSpPr>
            <p:spPr>
              <a:xfrm>
                <a:off x="738188" y="482060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24" name="Freeform 24"/>
              <p:cNvSpPr/>
              <p:nvPr/>
            </p:nvSpPr>
            <p:spPr>
              <a:xfrm>
                <a:off x="777926" y="486505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25" name="Freeform 25"/>
              <p:cNvSpPr/>
              <p:nvPr/>
            </p:nvSpPr>
            <p:spPr>
              <a:xfrm>
                <a:off x="812642" y="497617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27" name="TextBox 27"/>
            <p:cNvSpPr txBox="1"/>
            <p:nvPr/>
          </p:nvSpPr>
          <p:spPr>
            <a:xfrm>
              <a:off x="1040511" y="4689634"/>
              <a:ext cx="3981958"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C2410C"/>
                  </a:solidFill>
                  <a:latin typeface="+mn-lt"/>
                  <a:ea typeface="+mn-ea"/>
                  <a:cs typeface="+mn-cs"/>
                </a:rPr>
                <a:t>类内聚差的典型表现是类里有两组方法，各自只碰</a:t>
              </a:r>
              <a:br/>
              <a:r>
                <a:rPr lang="zh-CN" sz="1420" dirty="0">
                  <a:solidFill>
                    <a:srgbClr val="C2410C"/>
                  </a:solidFill>
                  <a:latin typeface="+mn-lt"/>
                  <a:ea typeface="+mn-ea"/>
                  <a:cs typeface="+mn-cs"/>
                </a:rPr>
                <a:t>各自的那组属性，互不来往。</a:t>
              </a:r>
            </a:p>
          </p:txBody>
        </p:sp>
      </p:grpSp>
      <p:grpSp>
        <p:nvGrpSpPr>
          <p:cNvPr id="30" name="c2-text-1"/>
          <p:cNvGrpSpPr/>
          <p:nvPr/>
        </p:nvGrpSpPr>
        <p:grpSpPr>
          <a:xfrm>
            <a:off x="5809869" y="1544002"/>
            <a:ext cx="5490972" cy="470916"/>
            <a:chOff x="5809869" y="1544002"/>
            <a:chExt cx="5490972" cy="470916"/>
          </a:xfrm>
        </p:grpSpPr>
        <p:sp>
          <p:nvSpPr>
            <p:cNvPr id="29" name="TextBox 29"/>
            <p:cNvSpPr txBox="1"/>
            <p:nvPr/>
          </p:nvSpPr>
          <p:spPr>
            <a:xfrm>
              <a:off x="5809869" y="1544002"/>
              <a:ext cx="5490972" cy="470916"/>
            </a:xfrm>
            <a:prstGeom prst="rect">
              <a:avLst/>
            </a:prstGeom>
            <a:noFill/>
            <a:ln>
              <a:noFill/>
            </a:ln>
          </p:spPr>
          <p:txBody>
            <a:bodyPr wrap="none" lIns="0" tIns="0" rIns="0" bIns="0" anchor="t" anchorCtr="0">
              <a:spAutoFit/>
            </a:bodyPr>
            <a:lstStyle/>
            <a:p>
              <a:pPr algn="l">
                <a:lnSpc>
                  <a:spcPts val="1860"/>
                </a:lnSpc>
              </a:pPr>
              <a:r>
                <a:rPr lang="zh-CN" sz="1200" dirty="0">
                  <a:solidFill>
                    <a:srgbClr val="1F2937"/>
                  </a:solidFill>
                  <a:latin typeface="+mn-lt"/>
                  <a:ea typeface="+mn-ea"/>
                  <a:cs typeface="+mn-cs"/>
                </a:rPr>
                <a:t>LCOM1（内聚缺乏度）：设类 C 有 n 个方法 M₁…Mₙ，Iₖ 是方法 Mₖ 访问的成员变</a:t>
              </a:r>
              <a:br/>
              <a:r>
                <a:rPr lang="zh-CN" sz="1200" dirty="0">
                  <a:solidFill>
                    <a:srgbClr val="1F2937"/>
                  </a:solidFill>
                  <a:latin typeface="+mn-lt"/>
                  <a:ea typeface="+mn-ea"/>
                  <a:cs typeface="+mn-cs"/>
                </a:rPr>
                <a:t>量集合，把方法两两配对。</a:t>
              </a:r>
            </a:p>
          </p:txBody>
        </p:sp>
      </p:grpSp>
      <mc:AlternateContent xmlns:mc="http://schemas.openxmlformats.org/markup-compatibility/2006">
        <mc:Choice xmlns:a14="http://schemas.microsoft.com/office/drawing/2010/main" Requires="a14">
          <p:sp>
            <p:nvSpPr>
              <p:cNvPr id="31" name="formula7"/>
              <p:cNvSpPr txBox="1">
                <a:spLocks noGrp="1"/>
              </p:cNvSpPr>
              <p:nvPr/>
            </p:nvSpPr>
            <p:spPr>
              <a:xfrm>
                <a:off x="5815965" y="2152650"/>
                <a:ext cx="5842635" cy="4762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880" dirty="0">
                          <a:solidFill>
                            <a:srgbClr val="1F2937"/>
                          </a:solidFill>
                          <a:latin typeface="Cambria Math"/>
                          <a:ea typeface="Cambria Math"/>
                          <a:cs typeface="Cambria Math"/>
                        </a:rPr>
                        <m:t>P</m:t>
                      </m:r>
                      <m:r>
                        <m:rPr>
                          <m:sty m:val="p"/>
                        </m:rPr>
                        <a:rPr lang="zh-CN" sz="1880" dirty="0">
                          <a:solidFill>
                            <a:srgbClr val="1F2937"/>
                          </a:solidFill>
                          <a:latin typeface="Cambria Math"/>
                          <a:ea typeface="Cambria Math"/>
                          <a:cs typeface="Cambria Math"/>
                        </a:rPr>
                        <m:t>=</m:t>
                      </m:r>
                      <m:d>
                        <m:dPr>
                          <m:begChr m:val="{"/>
                          <m:sepChr m:val=""/>
                          <m:endChr m:val="}"/>
                          <m:grow m:val="on"/>
                          <m:ctrlPr>
                            <a:rPr lang="zh-CN" sz="1880" dirty="0">
                              <a:solidFill>
                                <a:srgbClr val="1F2937"/>
                              </a:solidFill>
                              <a:latin typeface="Cambria Math"/>
                              <a:ea typeface="Cambria Math"/>
                              <a:cs typeface="Cambria Math"/>
                            </a:rPr>
                          </m:ctrlPr>
                        </m:dPr>
                        <m:e>
                          <m:d>
                            <m:dPr>
                              <m:begChr m:val="("/>
                              <m:sepChr m:val=""/>
                              <m:endChr m:val=")"/>
                              <m:grow m:val="on"/>
                              <m:ctrlPr>
                                <a:rPr lang="zh-CN" sz="1880" dirty="0">
                                  <a:solidFill>
                                    <a:srgbClr val="1F2937"/>
                                  </a:solidFill>
                                  <a:latin typeface="Cambria Math"/>
                                  <a:ea typeface="Cambria Math"/>
                                  <a:cs typeface="Cambria Math"/>
                                </a:rPr>
                              </m:ctrlPr>
                            </m:dPr>
                            <m:e>
                              <m:sSub>
                                <m:e>
                                  <m:r>
                                    <a:rPr lang="zh-CN" sz="1880" dirty="0">
                                      <a:solidFill>
                                        <a:srgbClr val="1F2937"/>
                                      </a:solidFill>
                                      <a:latin typeface="Cambria Math"/>
                                      <a:ea typeface="Cambria Math"/>
                                      <a:cs typeface="Cambria Math"/>
                                    </a:rPr>
                                    <m:t>I</m:t>
                                  </m:r>
                                </m:e>
                                <m:sub>
                                  <m:r>
                                    <a:rPr lang="zh-CN" sz="1880" dirty="0">
                                      <a:solidFill>
                                        <a:srgbClr val="1F2937"/>
                                      </a:solidFill>
                                      <a:latin typeface="Cambria Math"/>
                                      <a:ea typeface="Cambria Math"/>
                                      <a:cs typeface="Cambria Math"/>
                                    </a:rPr>
                                    <m:t>i</m:t>
                                  </m:r>
                                </m:sub>
                              </m:sSub>
                              <m:r>
                                <m:rPr>
                                  <m:sty m:val="p"/>
                                </m:rPr>
                                <a:rPr lang="zh-CN" sz="1880" dirty="0">
                                  <a:solidFill>
                                    <a:srgbClr val="1F2937"/>
                                  </a:solidFill>
                                  <a:latin typeface="Cambria Math"/>
                                  <a:ea typeface="Cambria Math"/>
                                  <a:cs typeface="Cambria Math"/>
                                </a:rPr>
                                <m:t>,</m:t>
                              </m:r>
                              <m:sSub>
                                <m:e>
                                  <m:r>
                                    <a:rPr lang="zh-CN" sz="1880" dirty="0">
                                      <a:solidFill>
                                        <a:srgbClr val="1F2937"/>
                                      </a:solidFill>
                                      <a:latin typeface="Cambria Math"/>
                                      <a:ea typeface="Cambria Math"/>
                                      <a:cs typeface="Cambria Math"/>
                                    </a:rPr>
                                    <m:t>I</m:t>
                                  </m:r>
                                </m:e>
                                <m:sub>
                                  <m:r>
                                    <a:rPr lang="zh-CN" sz="1880" dirty="0">
                                      <a:solidFill>
                                        <a:srgbClr val="1F2937"/>
                                      </a:solidFill>
                                      <a:latin typeface="Cambria Math"/>
                                      <a:ea typeface="Cambria Math"/>
                                      <a:cs typeface="Cambria Math"/>
                                    </a:rPr>
                                    <m:t>j</m:t>
                                  </m:r>
                                </m:sub>
                              </m:sSub>
                            </m:e>
                          </m:d>
                          <m:r>
                            <m:rPr>
                              <m:sty m:val="p"/>
                            </m:rPr>
                            <a:rPr lang="zh-CN" sz="1880" dirty="0">
                              <a:solidFill>
                                <a:srgbClr val="1F2937"/>
                              </a:solidFill>
                              <a:latin typeface="Cambria Math"/>
                              <a:ea typeface="Cambria Math"/>
                              <a:cs typeface="Cambria Math"/>
                            </a:rPr>
                            <m:t>∣</m:t>
                          </m:r>
                          <m:sSub>
                            <m:e>
                              <m:r>
                                <a:rPr lang="zh-CN" sz="1880" dirty="0">
                                  <a:solidFill>
                                    <a:srgbClr val="1F2937"/>
                                  </a:solidFill>
                                  <a:latin typeface="Cambria Math"/>
                                  <a:ea typeface="Cambria Math"/>
                                  <a:cs typeface="Cambria Math"/>
                                </a:rPr>
                                <m:t>I</m:t>
                              </m:r>
                            </m:e>
                            <m:sub>
                              <m:r>
                                <a:rPr lang="zh-CN" sz="1880" dirty="0">
                                  <a:solidFill>
                                    <a:srgbClr val="1F2937"/>
                                  </a:solidFill>
                                  <a:latin typeface="Cambria Math"/>
                                  <a:ea typeface="Cambria Math"/>
                                  <a:cs typeface="Cambria Math"/>
                                </a:rPr>
                                <m:t>i</m:t>
                              </m:r>
                            </m:sub>
                          </m:sSub>
                          <m:r>
                            <m:rPr>
                              <m:sty m:val="p"/>
                            </m:rPr>
                            <a:rPr lang="zh-CN" sz="1880" dirty="0">
                              <a:solidFill>
                                <a:srgbClr val="1F2937"/>
                              </a:solidFill>
                              <a:latin typeface="Cambria Math"/>
                              <a:ea typeface="Cambria Math"/>
                              <a:cs typeface="Cambria Math"/>
                            </a:rPr>
                            <m:t>∩</m:t>
                          </m:r>
                          <m:sSub>
                            <m:e>
                              <m:r>
                                <a:rPr lang="zh-CN" sz="1880" dirty="0">
                                  <a:solidFill>
                                    <a:srgbClr val="1F2937"/>
                                  </a:solidFill>
                                  <a:latin typeface="Cambria Math"/>
                                  <a:ea typeface="Cambria Math"/>
                                  <a:cs typeface="Cambria Math"/>
                                </a:rPr>
                                <m:t>I</m:t>
                              </m:r>
                            </m:e>
                            <m:sub>
                              <m:r>
                                <a:rPr lang="zh-CN" sz="1880" dirty="0">
                                  <a:solidFill>
                                    <a:srgbClr val="1F2937"/>
                                  </a:solidFill>
                                  <a:latin typeface="Cambria Math"/>
                                  <a:ea typeface="Cambria Math"/>
                                  <a:cs typeface="Cambria Math"/>
                                </a:rPr>
                                <m:t>j</m:t>
                              </m:r>
                            </m:sub>
                          </m:sSub>
                          <m:r>
                            <m:rPr>
                              <m:sty m:val="p"/>
                            </m:rPr>
                            <a:rPr lang="zh-CN" sz="1880" dirty="0">
                              <a:solidFill>
                                <a:srgbClr val="1F2937"/>
                              </a:solidFill>
                              <a:latin typeface="Cambria Math"/>
                              <a:ea typeface="Cambria Math"/>
                              <a:cs typeface="Cambria Math"/>
                            </a:rPr>
                            <m:t>=∅</m:t>
                          </m:r>
                        </m:e>
                      </m:d>
                    </m:oMath>
                  </m:oMathPara>
                </a14:m>
              </a:p>
            </p:txBody>
          </p:sp>
        </mc:Choice>
      </mc:AlternateContent>
      <mc:AlternateContent xmlns:mc="http://schemas.openxmlformats.org/markup-compatibility/2006">
        <mc:Choice xmlns:a14="http://schemas.microsoft.com/office/drawing/2010/main" Requires="a14">
          <p:sp>
            <p:nvSpPr>
              <p:cNvPr id="32" name="formula8"/>
              <p:cNvSpPr txBox="1">
                <a:spLocks noGrp="1"/>
              </p:cNvSpPr>
              <p:nvPr/>
            </p:nvSpPr>
            <p:spPr>
              <a:xfrm>
                <a:off x="5815965" y="2814638"/>
                <a:ext cx="5842635" cy="4762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880" dirty="0">
                          <a:solidFill>
                            <a:srgbClr val="1F2937"/>
                          </a:solidFill>
                          <a:latin typeface="Cambria Math"/>
                          <a:ea typeface="Cambria Math"/>
                          <a:cs typeface="Cambria Math"/>
                        </a:rPr>
                        <m:t>Q</m:t>
                      </m:r>
                      <m:r>
                        <m:rPr>
                          <m:sty m:val="p"/>
                        </m:rPr>
                        <a:rPr lang="zh-CN" sz="1880" dirty="0">
                          <a:solidFill>
                            <a:srgbClr val="1F2937"/>
                          </a:solidFill>
                          <a:latin typeface="Cambria Math"/>
                          <a:ea typeface="Cambria Math"/>
                          <a:cs typeface="Cambria Math"/>
                        </a:rPr>
                        <m:t>=</m:t>
                      </m:r>
                      <m:d>
                        <m:dPr>
                          <m:begChr m:val="{"/>
                          <m:sepChr m:val=""/>
                          <m:endChr m:val="}"/>
                          <m:grow m:val="on"/>
                          <m:ctrlPr>
                            <a:rPr lang="zh-CN" sz="1880" dirty="0">
                              <a:solidFill>
                                <a:srgbClr val="1F2937"/>
                              </a:solidFill>
                              <a:latin typeface="Cambria Math"/>
                              <a:ea typeface="Cambria Math"/>
                              <a:cs typeface="Cambria Math"/>
                            </a:rPr>
                          </m:ctrlPr>
                        </m:dPr>
                        <m:e>
                          <m:d>
                            <m:dPr>
                              <m:begChr m:val="("/>
                              <m:sepChr m:val=""/>
                              <m:endChr m:val=")"/>
                              <m:grow m:val="on"/>
                              <m:ctrlPr>
                                <a:rPr lang="zh-CN" sz="1880" dirty="0">
                                  <a:solidFill>
                                    <a:srgbClr val="1F2937"/>
                                  </a:solidFill>
                                  <a:latin typeface="Cambria Math"/>
                                  <a:ea typeface="Cambria Math"/>
                                  <a:cs typeface="Cambria Math"/>
                                </a:rPr>
                              </m:ctrlPr>
                            </m:dPr>
                            <m:e>
                              <m:sSub>
                                <m:e>
                                  <m:r>
                                    <a:rPr lang="zh-CN" sz="1880" dirty="0">
                                      <a:solidFill>
                                        <a:srgbClr val="1F2937"/>
                                      </a:solidFill>
                                      <a:latin typeface="Cambria Math"/>
                                      <a:ea typeface="Cambria Math"/>
                                      <a:cs typeface="Cambria Math"/>
                                    </a:rPr>
                                    <m:t>I</m:t>
                                  </m:r>
                                </m:e>
                                <m:sub>
                                  <m:r>
                                    <a:rPr lang="zh-CN" sz="1880" dirty="0">
                                      <a:solidFill>
                                        <a:srgbClr val="1F2937"/>
                                      </a:solidFill>
                                      <a:latin typeface="Cambria Math"/>
                                      <a:ea typeface="Cambria Math"/>
                                      <a:cs typeface="Cambria Math"/>
                                    </a:rPr>
                                    <m:t>i</m:t>
                                  </m:r>
                                </m:sub>
                              </m:sSub>
                              <m:r>
                                <m:rPr>
                                  <m:sty m:val="p"/>
                                </m:rPr>
                                <a:rPr lang="zh-CN" sz="1880" dirty="0">
                                  <a:solidFill>
                                    <a:srgbClr val="1F2937"/>
                                  </a:solidFill>
                                  <a:latin typeface="Cambria Math"/>
                                  <a:ea typeface="Cambria Math"/>
                                  <a:cs typeface="Cambria Math"/>
                                </a:rPr>
                                <m:t>,</m:t>
                              </m:r>
                              <m:sSub>
                                <m:e>
                                  <m:r>
                                    <a:rPr lang="zh-CN" sz="1880" dirty="0">
                                      <a:solidFill>
                                        <a:srgbClr val="1F2937"/>
                                      </a:solidFill>
                                      <a:latin typeface="Cambria Math"/>
                                      <a:ea typeface="Cambria Math"/>
                                      <a:cs typeface="Cambria Math"/>
                                    </a:rPr>
                                    <m:t>I</m:t>
                                  </m:r>
                                </m:e>
                                <m:sub>
                                  <m:r>
                                    <a:rPr lang="zh-CN" sz="1880" dirty="0">
                                      <a:solidFill>
                                        <a:srgbClr val="1F2937"/>
                                      </a:solidFill>
                                      <a:latin typeface="Cambria Math"/>
                                      <a:ea typeface="Cambria Math"/>
                                      <a:cs typeface="Cambria Math"/>
                                    </a:rPr>
                                    <m:t>j</m:t>
                                  </m:r>
                                </m:sub>
                              </m:sSub>
                            </m:e>
                          </m:d>
                          <m:r>
                            <m:rPr>
                              <m:sty m:val="p"/>
                            </m:rPr>
                            <a:rPr lang="zh-CN" sz="1880" dirty="0">
                              <a:solidFill>
                                <a:srgbClr val="1F2937"/>
                              </a:solidFill>
                              <a:latin typeface="Cambria Math"/>
                              <a:ea typeface="Cambria Math"/>
                              <a:cs typeface="Cambria Math"/>
                            </a:rPr>
                            <m:t>∣</m:t>
                          </m:r>
                          <m:sSub>
                            <m:e>
                              <m:r>
                                <a:rPr lang="zh-CN" sz="1880" dirty="0">
                                  <a:solidFill>
                                    <a:srgbClr val="1F2937"/>
                                  </a:solidFill>
                                  <a:latin typeface="Cambria Math"/>
                                  <a:ea typeface="Cambria Math"/>
                                  <a:cs typeface="Cambria Math"/>
                                </a:rPr>
                                <m:t>I</m:t>
                              </m:r>
                            </m:e>
                            <m:sub>
                              <m:r>
                                <a:rPr lang="zh-CN" sz="1880" dirty="0">
                                  <a:solidFill>
                                    <a:srgbClr val="1F2937"/>
                                  </a:solidFill>
                                  <a:latin typeface="Cambria Math"/>
                                  <a:ea typeface="Cambria Math"/>
                                  <a:cs typeface="Cambria Math"/>
                                </a:rPr>
                                <m:t>i</m:t>
                              </m:r>
                            </m:sub>
                          </m:sSub>
                          <m:r>
                            <m:rPr>
                              <m:sty m:val="p"/>
                            </m:rPr>
                            <a:rPr lang="zh-CN" sz="1880" dirty="0">
                              <a:solidFill>
                                <a:srgbClr val="1F2937"/>
                              </a:solidFill>
                              <a:latin typeface="Cambria Math"/>
                              <a:ea typeface="Cambria Math"/>
                              <a:cs typeface="Cambria Math"/>
                            </a:rPr>
                            <m:t>∩</m:t>
                          </m:r>
                          <m:sSub>
                            <m:e>
                              <m:r>
                                <a:rPr lang="zh-CN" sz="1880" dirty="0">
                                  <a:solidFill>
                                    <a:srgbClr val="1F2937"/>
                                  </a:solidFill>
                                  <a:latin typeface="Cambria Math"/>
                                  <a:ea typeface="Cambria Math"/>
                                  <a:cs typeface="Cambria Math"/>
                                </a:rPr>
                                <m:t>I</m:t>
                              </m:r>
                            </m:e>
                            <m:sub>
                              <m:r>
                                <a:rPr lang="zh-CN" sz="1880" dirty="0">
                                  <a:solidFill>
                                    <a:srgbClr val="1F2937"/>
                                  </a:solidFill>
                                  <a:latin typeface="Cambria Math"/>
                                  <a:ea typeface="Cambria Math"/>
                                  <a:cs typeface="Cambria Math"/>
                                </a:rPr>
                                <m:t>j</m:t>
                              </m:r>
                            </m:sub>
                          </m:sSub>
                          <m:r>
                            <m:rPr>
                              <m:sty m:val="p"/>
                            </m:rPr>
                            <a:rPr lang="zh-CN" sz="1880" dirty="0">
                              <a:solidFill>
                                <a:srgbClr val="1F2937"/>
                              </a:solidFill>
                              <a:latin typeface="Cambria Math"/>
                              <a:ea typeface="Cambria Math"/>
                              <a:cs typeface="Cambria Math"/>
                            </a:rPr>
                            <m:t>≠∅</m:t>
                          </m:r>
                        </m:e>
                      </m:d>
                    </m:oMath>
                  </m:oMathPara>
                </a14:m>
              </a:p>
            </p:txBody>
          </p:sp>
        </mc:Choice>
      </mc:AlternateContent>
      <mc:AlternateContent xmlns:mc="http://schemas.openxmlformats.org/markup-compatibility/2006">
        <mc:Choice xmlns:a14="http://schemas.microsoft.com/office/drawing/2010/main" Requires="a14">
          <p:sp>
            <p:nvSpPr>
              <p:cNvPr id="33" name="formula9"/>
              <p:cNvSpPr txBox="1">
                <a:spLocks noGrp="1"/>
              </p:cNvSpPr>
              <p:nvPr/>
            </p:nvSpPr>
            <p:spPr>
              <a:xfrm>
                <a:off x="5815965" y="3475672"/>
                <a:ext cx="5842635" cy="90487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880" dirty="0">
                          <a:solidFill>
                            <a:srgbClr val="1F2937"/>
                          </a:solidFill>
                          <a:latin typeface="Cambria Math"/>
                          <a:ea typeface="Cambria Math"/>
                          <a:cs typeface="Cambria Math"/>
                        </a:rPr>
                        <m:t>LCOM1</m:t>
                      </m:r>
                      <m:d>
                        <m:dPr>
                          <m:begChr m:val="("/>
                          <m:sepChr m:val=""/>
                          <m:endChr m:val=")"/>
                          <m:grow m:val="on"/>
                          <m:ctrlPr>
                            <a:rPr lang="zh-CN" sz="1880" dirty="0">
                              <a:solidFill>
                                <a:srgbClr val="1F2937"/>
                              </a:solidFill>
                              <a:latin typeface="Cambria Math"/>
                              <a:ea typeface="Cambria Math"/>
                              <a:cs typeface="Cambria Math"/>
                            </a:rPr>
                          </m:ctrlPr>
                        </m:dPr>
                        <m:e>
                          <m:r>
                            <a:rPr lang="zh-CN" sz="1880" dirty="0">
                              <a:solidFill>
                                <a:srgbClr val="1F2937"/>
                              </a:solidFill>
                              <a:latin typeface="Cambria Math"/>
                              <a:ea typeface="Cambria Math"/>
                              <a:cs typeface="Cambria Math"/>
                            </a:rPr>
                            <m:t>C</m:t>
                          </m:r>
                        </m:e>
                      </m:d>
                      <m:r>
                        <m:rPr>
                          <m:sty m:val="p"/>
                        </m:rPr>
                        <a:rPr lang="zh-CN" sz="1880" dirty="0">
                          <a:solidFill>
                            <a:srgbClr val="1F2937"/>
                          </a:solidFill>
                          <a:latin typeface="Cambria Math"/>
                          <a:ea typeface="Cambria Math"/>
                          <a:cs typeface="Cambria Math"/>
                        </a:rPr>
                        <m:t>=</m:t>
                      </m:r>
                      <m:d>
                        <m:dPr>
                          <m:begChr m:val="{"/>
                          <m:sepChr m:val=""/>
                          <m:endChr m:val=""/>
                          <m:grow m:val="on"/>
                          <m:ctrlPr>
                            <a:rPr lang="zh-CN" sz="1880" dirty="0">
                              <a:solidFill>
                                <a:srgbClr val="1F2937"/>
                              </a:solidFill>
                              <a:latin typeface="Cambria Math"/>
                              <a:ea typeface="Cambria Math"/>
                              <a:cs typeface="Cambria Math"/>
                            </a:rPr>
                          </m:ctrlPr>
                        </m:dPr>
                        <m:e>
                          <m:eqArr>
                            <m:eqArrPr>
                              <m:baseJc m:val="center"/>
                            </m:eqArrPr>
                            <m:e>
                              <m:r>
                                <a:rPr lang="zh-CN" sz="1880" dirty="0">
                                  <a:solidFill>
                                    <a:srgbClr val="1F2937"/>
                                  </a:solidFill>
                                  <a:latin typeface="Cambria Math"/>
                                  <a:ea typeface="Cambria Math"/>
                                  <a:cs typeface="Cambria Math"/>
                                </a:rPr>
                                <m:t>&amp;</m:t>
                              </m:r>
                              <m:d>
                                <m:dPr>
                                  <m:begChr m:val="|"/>
                                  <m:sepChr m:val=""/>
                                  <m:endChr m:val="|"/>
                                  <m:grow m:val="on"/>
                                  <m:ctrlPr>
                                    <a:rPr lang="zh-CN" sz="1880" dirty="0">
                                      <a:solidFill>
                                        <a:srgbClr val="1F2937"/>
                                      </a:solidFill>
                                      <a:latin typeface="Cambria Math"/>
                                      <a:ea typeface="Cambria Math"/>
                                      <a:cs typeface="Cambria Math"/>
                                    </a:rPr>
                                  </m:ctrlPr>
                                </m:dPr>
                                <m:e>
                                  <m:r>
                                    <a:rPr lang="zh-CN" sz="1880" dirty="0">
                                      <a:solidFill>
                                        <a:srgbClr val="1F2937"/>
                                      </a:solidFill>
                                      <a:latin typeface="Cambria Math"/>
                                      <a:ea typeface="Cambria Math"/>
                                      <a:cs typeface="Cambria Math"/>
                                    </a:rPr>
                                    <m:t>P</m:t>
                                  </m:r>
                                </m:e>
                              </m:d>
                              <m:r>
                                <m:rPr>
                                  <m:sty m:val="p"/>
                                </m:rPr>
                                <a:rPr lang="zh-CN" sz="1880" dirty="0">
                                  <a:solidFill>
                                    <a:srgbClr val="1F2937"/>
                                  </a:solidFill>
                                  <a:latin typeface="Cambria Math"/>
                                  <a:ea typeface="Cambria Math"/>
                                  <a:cs typeface="Cambria Math"/>
                                </a:rPr>
                                <m:t>−</m:t>
                              </m:r>
                              <m:d>
                                <m:dPr>
                                  <m:begChr m:val="|"/>
                                  <m:sepChr m:val=""/>
                                  <m:endChr m:val="|"/>
                                  <m:grow m:val="on"/>
                                  <m:ctrlPr>
                                    <a:rPr lang="zh-CN" sz="1880" dirty="0">
                                      <a:solidFill>
                                        <a:srgbClr val="1F2937"/>
                                      </a:solidFill>
                                      <a:latin typeface="Cambria Math"/>
                                      <a:ea typeface="Cambria Math"/>
                                      <a:cs typeface="Cambria Math"/>
                                    </a:rPr>
                                  </m:ctrlPr>
                                </m:dPr>
                                <m:e>
                                  <m:r>
                                    <a:rPr lang="zh-CN" sz="1880" dirty="0">
                                      <a:solidFill>
                                        <a:srgbClr val="1F2937"/>
                                      </a:solidFill>
                                      <a:latin typeface="Cambria Math"/>
                                      <a:ea typeface="Cambria Math"/>
                                      <a:cs typeface="Cambria Math"/>
                                    </a:rPr>
                                    <m:t>Q</m:t>
                                  </m:r>
                                </m:e>
                              </m:d>
                              <m:r>
                                <m:rPr>
                                  <m:sty m:val="p"/>
                                </m:rPr>
                                <a:rPr lang="zh-CN" sz="1880" dirty="0">
                                  <a:solidFill>
                                    <a:srgbClr val="1F2937"/>
                                  </a:solidFill>
                                  <a:latin typeface="Cambria Math"/>
                                  <a:ea typeface="Cambria Math"/>
                                  <a:cs typeface="Cambria Math"/>
                                </a:rPr>
                                <m:t>,</m:t>
                              </m:r>
                              <m:r>
                                <a:rPr lang="zh-CN" sz="1880" dirty="0">
                                  <a:solidFill>
                                    <a:srgbClr val="1F2937"/>
                                  </a:solidFill>
                                  <a:latin typeface="Cambria Math"/>
                                  <a:ea typeface="Cambria Math"/>
                                  <a:cs typeface="Cambria Math"/>
                                </a:rPr>
                                <m:t xml:space="preserve"> </m:t>
                              </m:r>
                              <m:d>
                                <m:dPr>
                                  <m:begChr m:val="|"/>
                                  <m:sepChr m:val=""/>
                                  <m:endChr m:val="|"/>
                                  <m:grow m:val="on"/>
                                  <m:ctrlPr>
                                    <a:rPr lang="zh-CN" sz="1880" dirty="0">
                                      <a:solidFill>
                                        <a:srgbClr val="1F2937"/>
                                      </a:solidFill>
                                      <a:latin typeface="Cambria Math"/>
                                      <a:ea typeface="Cambria Math"/>
                                      <a:cs typeface="Cambria Math"/>
                                    </a:rPr>
                                  </m:ctrlPr>
                                </m:dPr>
                                <m:e>
                                  <m:r>
                                    <a:rPr lang="zh-CN" sz="1880" dirty="0">
                                      <a:solidFill>
                                        <a:srgbClr val="1F2937"/>
                                      </a:solidFill>
                                      <a:latin typeface="Cambria Math"/>
                                      <a:ea typeface="Cambria Math"/>
                                      <a:cs typeface="Cambria Math"/>
                                    </a:rPr>
                                    <m:t>P</m:t>
                                  </m:r>
                                </m:e>
                              </m:d>
                              <m:r>
                                <m:rPr>
                                  <m:sty m:val="p"/>
                                </m:rPr>
                                <a:rPr lang="zh-CN" sz="1880" dirty="0">
                                  <a:solidFill>
                                    <a:srgbClr val="1F2937"/>
                                  </a:solidFill>
                                  <a:latin typeface="Cambria Math"/>
                                  <a:ea typeface="Cambria Math"/>
                                  <a:cs typeface="Cambria Math"/>
                                </a:rPr>
                                <m:t>&gt;</m:t>
                              </m:r>
                              <m:d>
                                <m:dPr>
                                  <m:begChr m:val="|"/>
                                  <m:sepChr m:val=""/>
                                  <m:endChr m:val="|"/>
                                  <m:grow m:val="on"/>
                                  <m:ctrlPr>
                                    <a:rPr lang="zh-CN" sz="1880" dirty="0">
                                      <a:solidFill>
                                        <a:srgbClr val="1F2937"/>
                                      </a:solidFill>
                                      <a:latin typeface="Cambria Math"/>
                                      <a:ea typeface="Cambria Math"/>
                                      <a:cs typeface="Cambria Math"/>
                                    </a:rPr>
                                  </m:ctrlPr>
                                </m:dPr>
                                <m:e>
                                  <m:r>
                                    <a:rPr lang="zh-CN" sz="1880" dirty="0">
                                      <a:solidFill>
                                        <a:srgbClr val="1F2937"/>
                                      </a:solidFill>
                                      <a:latin typeface="Cambria Math"/>
                                      <a:ea typeface="Cambria Math"/>
                                      <a:cs typeface="Cambria Math"/>
                                    </a:rPr>
                                    <m:t>Q</m:t>
                                  </m:r>
                                </m:e>
                              </m:d>
                            </m:e>
                            <m:e>
                              <m:r>
                                <a:rPr lang="zh-CN" sz="1880" dirty="0">
                                  <a:solidFill>
                                    <a:srgbClr val="1F2937"/>
                                  </a:solidFill>
                                  <a:latin typeface="Cambria Math"/>
                                  <a:ea typeface="Cambria Math"/>
                                  <a:cs typeface="Cambria Math"/>
                                </a:rPr>
                                <m:t>&amp;</m:t>
                              </m:r>
                              <m:r>
                                <a:rPr lang="zh-CN" sz="1880" dirty="0">
                                  <a:solidFill>
                                    <a:srgbClr val="1F2937"/>
                                  </a:solidFill>
                                  <a:latin typeface="Cambria Math"/>
                                  <a:ea typeface="Cambria Math"/>
                                  <a:cs typeface="Cambria Math"/>
                                </a:rPr>
                                <m:t>0</m:t>
                              </m:r>
                              <m:r>
                                <m:rPr>
                                  <m:sty m:val="p"/>
                                </m:rPr>
                                <a:rPr lang="zh-CN" sz="1880" dirty="0">
                                  <a:solidFill>
                                    <a:srgbClr val="1F2937"/>
                                  </a:solidFill>
                                  <a:latin typeface="Cambria Math"/>
                                  <a:ea typeface="Cambria Math"/>
                                  <a:cs typeface="Cambria Math"/>
                                </a:rPr>
                                <m:t>,</m:t>
                              </m:r>
                              <m:r>
                                <a:rPr lang="zh-CN" sz="1880" dirty="0">
                                  <a:solidFill>
                                    <a:srgbClr val="1F2937"/>
                                  </a:solidFill>
                                  <a:latin typeface="Cambria Math"/>
                                  <a:ea typeface="Cambria Math"/>
                                  <a:cs typeface="Cambria Math"/>
                                </a:rPr>
                                <m:t xml:space="preserve"> </m:t>
                              </m:r>
                              <m:d>
                                <m:dPr>
                                  <m:begChr m:val="|"/>
                                  <m:sepChr m:val=""/>
                                  <m:endChr m:val="|"/>
                                  <m:grow m:val="on"/>
                                  <m:ctrlPr>
                                    <a:rPr lang="zh-CN" sz="1880" dirty="0">
                                      <a:solidFill>
                                        <a:srgbClr val="1F2937"/>
                                      </a:solidFill>
                                      <a:latin typeface="Cambria Math"/>
                                      <a:ea typeface="Cambria Math"/>
                                      <a:cs typeface="Cambria Math"/>
                                    </a:rPr>
                                  </m:ctrlPr>
                                </m:dPr>
                                <m:e>
                                  <m:r>
                                    <a:rPr lang="zh-CN" sz="1880" dirty="0">
                                      <a:solidFill>
                                        <a:srgbClr val="1F2937"/>
                                      </a:solidFill>
                                      <a:latin typeface="Cambria Math"/>
                                      <a:ea typeface="Cambria Math"/>
                                      <a:cs typeface="Cambria Math"/>
                                    </a:rPr>
                                    <m:t>P</m:t>
                                  </m:r>
                                </m:e>
                              </m:d>
                              <m:r>
                                <m:rPr>
                                  <m:sty m:val="p"/>
                                </m:rPr>
                                <a:rPr lang="zh-CN" sz="1880" dirty="0">
                                  <a:solidFill>
                                    <a:srgbClr val="1F2937"/>
                                  </a:solidFill>
                                  <a:latin typeface="Cambria Math"/>
                                  <a:ea typeface="Cambria Math"/>
                                  <a:cs typeface="Cambria Math"/>
                                </a:rPr>
                                <m:t>≤</m:t>
                              </m:r>
                              <m:d>
                                <m:dPr>
                                  <m:begChr m:val="|"/>
                                  <m:sepChr m:val=""/>
                                  <m:endChr m:val="|"/>
                                  <m:grow m:val="on"/>
                                  <m:ctrlPr>
                                    <a:rPr lang="zh-CN" sz="1880" dirty="0">
                                      <a:solidFill>
                                        <a:srgbClr val="1F2937"/>
                                      </a:solidFill>
                                      <a:latin typeface="Cambria Math"/>
                                      <a:ea typeface="Cambria Math"/>
                                      <a:cs typeface="Cambria Math"/>
                                    </a:rPr>
                                  </m:ctrlPr>
                                </m:dPr>
                                <m:e>
                                  <m:r>
                                    <a:rPr lang="zh-CN" sz="1880" dirty="0">
                                      <a:solidFill>
                                        <a:srgbClr val="1F2937"/>
                                      </a:solidFill>
                                      <a:latin typeface="Cambria Math"/>
                                      <a:ea typeface="Cambria Math"/>
                                      <a:cs typeface="Cambria Math"/>
                                    </a:rPr>
                                    <m:t>Q</m:t>
                                  </m:r>
                                </m:e>
                              </m:d>
                            </m:e>
                          </m:eqArr>
                        </m:e>
                      </m:d>
                    </m:oMath>
                  </m:oMathPara>
                </a14:m>
              </a:p>
            </p:txBody>
          </p:sp>
        </mc:Choice>
      </mc:AlternateContent>
      <p:grpSp>
        <p:nvGrpSpPr>
          <p:cNvPr id="42" name="c2-kv-5"/>
          <p:cNvGrpSpPr/>
          <p:nvPr/>
        </p:nvGrpSpPr>
        <p:grpSpPr>
          <a:xfrm>
            <a:off x="5808726" y="4589621"/>
            <a:ext cx="5849874" cy="1122617"/>
            <a:chOff x="5808726" y="4589621"/>
            <a:chExt cx="5849874" cy="1122617"/>
          </a:xfrm>
        </p:grpSpPr>
        <p:sp>
          <p:nvSpPr>
            <p:cNvPr id="34" name="TextBox 34"/>
            <p:cNvSpPr txBox="1"/>
            <p:nvPr/>
          </p:nvSpPr>
          <p:spPr>
            <a:xfrm>
              <a:off x="5808726" y="4589621"/>
              <a:ext cx="131122" cy="278702"/>
            </a:xfrm>
            <a:prstGeom prst="rect">
              <a:avLst/>
            </a:prstGeom>
            <a:noFill/>
            <a:ln>
              <a:noFill/>
            </a:ln>
          </p:spPr>
          <p:txBody>
            <a:bodyPr wrap="none" lIns="0" tIns="0" rIns="0" bIns="0" anchor="t" anchorCtr="0">
              <a:spAutoFit/>
            </a:bodyPr>
            <a:lstStyle/>
            <a:p>
              <a:pPr algn="l"/>
              <a:r>
                <a:rPr lang="en-US" sz="1420" b="1" dirty="0">
                  <a:solidFill>
                    <a:srgbClr val="334E68"/>
                  </a:solidFill>
                  <a:latin typeface="+mn-lt"/>
                  <a:ea typeface="+mn-ea"/>
                  <a:cs typeface="+mn-cs"/>
                </a:rPr>
                <a:t>P</a:t>
              </a:r>
            </a:p>
          </p:txBody>
        </p:sp>
        <p:sp>
          <p:nvSpPr>
            <p:cNvPr id="35" name="TextBox 35"/>
            <p:cNvSpPr txBox="1"/>
            <p:nvPr/>
          </p:nvSpPr>
          <p:spPr>
            <a:xfrm>
              <a:off x="6431661" y="4589621"/>
              <a:ext cx="2499563"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不共享任何成员变量的方法对</a:t>
              </a:r>
            </a:p>
          </p:txBody>
        </p:sp>
        <p:sp>
          <p:nvSpPr>
            <p:cNvPr id="36" name="Rectangle 36"/>
            <p:cNvSpPr/>
            <p:nvPr/>
          </p:nvSpPr>
          <p:spPr>
            <a:xfrm>
              <a:off x="5815965" y="4895850"/>
              <a:ext cx="5842635" cy="9525"/>
            </a:xfrm>
            <a:prstGeom prst="rect">
              <a:avLst/>
            </a:prstGeom>
            <a:solidFill>
              <a:srgbClr val="D9DFEA"/>
            </a:solidFill>
            <a:ln>
              <a:noFill/>
            </a:ln>
          </p:spPr>
        </p:sp>
        <p:sp>
          <p:nvSpPr>
            <p:cNvPr id="37" name="TextBox 37"/>
            <p:cNvSpPr txBox="1"/>
            <p:nvPr/>
          </p:nvSpPr>
          <p:spPr>
            <a:xfrm>
              <a:off x="5808726" y="5011579"/>
              <a:ext cx="173538" cy="278702"/>
            </a:xfrm>
            <a:prstGeom prst="rect">
              <a:avLst/>
            </a:prstGeom>
            <a:noFill/>
            <a:ln>
              <a:noFill/>
            </a:ln>
          </p:spPr>
          <p:txBody>
            <a:bodyPr wrap="none" lIns="0" tIns="0" rIns="0" bIns="0" anchor="t" anchorCtr="0">
              <a:spAutoFit/>
            </a:bodyPr>
            <a:lstStyle/>
            <a:p>
              <a:pPr algn="l"/>
              <a:r>
                <a:rPr lang="en-US" sz="1420" b="1" dirty="0">
                  <a:solidFill>
                    <a:srgbClr val="334E68"/>
                  </a:solidFill>
                  <a:latin typeface="+mn-lt"/>
                  <a:ea typeface="+mn-ea"/>
                  <a:cs typeface="+mn-cs"/>
                </a:rPr>
                <a:t>Q</a:t>
              </a:r>
            </a:p>
          </p:txBody>
        </p:sp>
        <p:sp>
          <p:nvSpPr>
            <p:cNvPr id="38" name="TextBox 38"/>
            <p:cNvSpPr txBox="1"/>
            <p:nvPr/>
          </p:nvSpPr>
          <p:spPr>
            <a:xfrm>
              <a:off x="6431661" y="5011579"/>
              <a:ext cx="2690724"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至少共享一个成员变量的方法对</a:t>
              </a:r>
            </a:p>
          </p:txBody>
        </p:sp>
        <p:sp>
          <p:nvSpPr>
            <p:cNvPr id="39" name="Rectangle 39"/>
            <p:cNvSpPr/>
            <p:nvPr/>
          </p:nvSpPr>
          <p:spPr>
            <a:xfrm>
              <a:off x="5815965" y="5316855"/>
              <a:ext cx="5842635" cy="9525"/>
            </a:xfrm>
            <a:prstGeom prst="rect">
              <a:avLst/>
            </a:prstGeom>
            <a:solidFill>
              <a:srgbClr val="D9DFEA"/>
            </a:solidFill>
            <a:ln>
              <a:noFill/>
            </a:ln>
          </p:spPr>
        </p:sp>
        <p:sp>
          <p:nvSpPr>
            <p:cNvPr id="40" name="TextBox 40"/>
            <p:cNvSpPr txBox="1"/>
            <p:nvPr/>
          </p:nvSpPr>
          <p:spPr>
            <a:xfrm>
              <a:off x="5808726" y="5433536"/>
              <a:ext cx="396799"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结论</a:t>
              </a:r>
            </a:p>
          </p:txBody>
        </p:sp>
        <p:sp>
          <p:nvSpPr>
            <p:cNvPr id="41" name="TextBox 41"/>
            <p:cNvSpPr txBox="1"/>
            <p:nvPr/>
          </p:nvSpPr>
          <p:spPr>
            <a:xfrm>
              <a:off x="6431661" y="5433536"/>
              <a:ext cx="3607392"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LCOM1 越大内聚度越小，等于 0 才可接受</a:t>
              </a:r>
            </a:p>
          </p:txBody>
        </p:sp>
      </p:grpSp>
      <p:grpSp>
        <p:nvGrpSpPr>
          <p:cNvPr id="48" name="takeaway"/>
          <p:cNvGrpSpPr/>
          <p:nvPr/>
        </p:nvGrpSpPr>
        <p:grpSpPr>
          <a:xfrm>
            <a:off x="533400" y="5844540"/>
            <a:ext cx="11125200" cy="518160"/>
            <a:chOff x="533400" y="5844540"/>
            <a:chExt cx="11125200" cy="518160"/>
          </a:xfrm>
        </p:grpSpPr>
        <p:sp>
          <p:nvSpPr>
            <p:cNvPr id="43" name="Rectangle 43"/>
            <p:cNvSpPr/>
            <p:nvPr/>
          </p:nvSpPr>
          <p:spPr>
            <a:xfrm>
              <a:off x="533400" y="5844540"/>
              <a:ext cx="11125200" cy="518160"/>
            </a:xfrm>
            <a:prstGeom prst="roundRect">
              <a:avLst>
                <a:gd name="adj" fmla="val 22059"/>
              </a:avLst>
            </a:prstGeom>
            <a:solidFill>
              <a:srgbClr val="334E68"/>
            </a:solidFill>
            <a:ln>
              <a:noFill/>
            </a:ln>
          </p:spPr>
        </p:sp>
        <p:grpSp>
          <p:nvGrpSpPr>
            <p:cNvPr id="46" name="Group 46"/>
            <p:cNvGrpSpPr/>
            <p:nvPr/>
          </p:nvGrpSpPr>
          <p:grpSpPr>
            <a:xfrm>
              <a:off x="738188" y="6003610"/>
              <a:ext cx="200023" cy="200023"/>
              <a:chOff x="738188" y="6003610"/>
              <a:chExt cx="200023" cy="200023"/>
            </a:xfrm>
          </p:grpSpPr>
          <p:sp>
            <p:nvSpPr>
              <p:cNvPr id="44" name="Freeform 44"/>
              <p:cNvSpPr/>
              <p:nvPr/>
            </p:nvSpPr>
            <p:spPr>
              <a:xfrm>
                <a:off x="738188" y="600361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5" name="Freeform 45"/>
              <p:cNvSpPr/>
              <p:nvPr/>
            </p:nvSpPr>
            <p:spPr>
              <a:xfrm>
                <a:off x="871538" y="607028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7" name="TextBox 47"/>
            <p:cNvSpPr txBox="1"/>
            <p:nvPr/>
          </p:nvSpPr>
          <p:spPr>
            <a:xfrm>
              <a:off x="1040511" y="6004084"/>
              <a:ext cx="5127117"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LCOM1 是“内聚缺乏度”，方向和内聚相反，读数越大越糟。</a:t>
              </a:r>
            </a:p>
          </p:txBody>
        </p:sp>
      </p:grpSp>
      <p:grpSp>
        <p:nvGrpSpPr>
          <p:cNvPr id="51" name="footer"/>
          <p:cNvGrpSpPr/>
          <p:nvPr/>
        </p:nvGrpSpPr>
        <p:grpSpPr>
          <a:xfrm>
            <a:off x="528447" y="6581299"/>
            <a:ext cx="11135106" cy="190690"/>
            <a:chOff x="528447" y="6581299"/>
            <a:chExt cx="11135106" cy="190690"/>
          </a:xfrm>
        </p:grpSpPr>
        <p:sp>
          <p:nvSpPr>
            <p:cNvPr id="49" name="TextBox 49"/>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50" name="TextBox 50"/>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02485" cy="909257"/>
            <a:chOff x="520446" y="342900"/>
            <a:chExt cx="5802485" cy="909257"/>
          </a:xfrm>
        </p:grpSpPr>
        <p:sp>
          <p:nvSpPr>
            <p:cNvPr id="2" name="Rectangle 2"/>
            <p:cNvSpPr/>
            <p:nvPr/>
          </p:nvSpPr>
          <p:spPr>
            <a:xfrm>
              <a:off x="533400" y="342900"/>
              <a:ext cx="3066098" cy="266700"/>
            </a:xfrm>
            <a:prstGeom prst="roundRect">
              <a:avLst>
                <a:gd name="adj" fmla="val 50000"/>
              </a:avLst>
            </a:prstGeom>
            <a:solidFill>
              <a:srgbClr val="E7EDF3"/>
            </a:solidFill>
            <a:ln>
              <a:noFill/>
            </a:ln>
          </p:spPr>
        </p:sp>
        <p:sp>
          <p:nvSpPr>
            <p:cNvPr id="3" name="TextBox 3"/>
            <p:cNvSpPr txBox="1"/>
            <p:nvPr/>
          </p:nvSpPr>
          <p:spPr>
            <a:xfrm>
              <a:off x="576826" y="407194"/>
              <a:ext cx="297829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面向对象设计的准则</a:t>
              </a:r>
            </a:p>
          </p:txBody>
        </p:sp>
        <p:sp>
          <p:nvSpPr>
            <p:cNvPr id="4" name="TextBox 4"/>
            <p:cNvSpPr txBox="1"/>
            <p:nvPr/>
          </p:nvSpPr>
          <p:spPr>
            <a:xfrm>
              <a:off x="520446" y="753428"/>
              <a:ext cx="58024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算一遍 LCOM1：一个订单类该不该拆</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161" y="1547336"/>
            <a:ext cx="4195769" cy="278702"/>
            <a:chOff x="526161" y="1547336"/>
            <a:chExt cx="4195769" cy="278702"/>
          </a:xfrm>
        </p:grpSpPr>
        <p:sp>
          <p:nvSpPr>
            <p:cNvPr id="7" name="TextBox 7"/>
            <p:cNvSpPr txBox="1"/>
            <p:nvPr/>
          </p:nvSpPr>
          <p:spPr>
            <a:xfrm>
              <a:off x="526161" y="1547336"/>
              <a:ext cx="4195769"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类 Order 有四个方法，方法对共 C(4,2)=6 对。</a:t>
              </a:r>
            </a:p>
          </p:txBody>
        </p:sp>
      </p:grpSp>
      <p:grpSp>
        <p:nvGrpSpPr>
          <p:cNvPr id="27" name="c1-table-1"/>
          <p:cNvGrpSpPr/>
          <p:nvPr/>
        </p:nvGrpSpPr>
        <p:grpSpPr>
          <a:xfrm>
            <a:off x="533400" y="1941195"/>
            <a:ext cx="4760595" cy="2704148"/>
            <a:chOff x="533400" y="1941195"/>
            <a:chExt cx="4760595" cy="2704148"/>
          </a:xfrm>
        </p:grpSpPr>
        <p:sp>
          <p:nvSpPr>
            <p:cNvPr id="9" name="Rectangle 9"/>
            <p:cNvSpPr/>
            <p:nvPr/>
          </p:nvSpPr>
          <p:spPr>
            <a:xfrm>
              <a:off x="533400" y="1941195"/>
              <a:ext cx="4760595" cy="444818"/>
            </a:xfrm>
            <a:prstGeom prst="rect">
              <a:avLst/>
            </a:prstGeom>
            <a:solidFill>
              <a:srgbClr val="334E68"/>
            </a:solidFill>
            <a:ln>
              <a:noFill/>
            </a:ln>
          </p:spPr>
        </p:sp>
        <p:sp>
          <p:nvSpPr>
            <p:cNvPr id="10" name="TextBox 10"/>
            <p:cNvSpPr txBox="1"/>
            <p:nvPr/>
          </p:nvSpPr>
          <p:spPr>
            <a:xfrm>
              <a:off x="1440180" y="2069782"/>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方法</a:t>
              </a:r>
            </a:p>
          </p:txBody>
        </p:sp>
        <p:sp>
          <p:nvSpPr>
            <p:cNvPr id="11" name="TextBox 11"/>
            <p:cNvSpPr txBox="1"/>
            <p:nvPr/>
          </p:nvSpPr>
          <p:spPr>
            <a:xfrm>
              <a:off x="3250201" y="2069782"/>
              <a:ext cx="151774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访问的成员变量 Iₖ</a:t>
              </a:r>
            </a:p>
          </p:txBody>
        </p:sp>
        <p:sp>
          <p:nvSpPr>
            <p:cNvPr id="12" name="TextBox 12"/>
            <p:cNvSpPr txBox="1"/>
            <p:nvPr/>
          </p:nvSpPr>
          <p:spPr>
            <a:xfrm>
              <a:off x="632270" y="2514600"/>
              <a:ext cx="1271623"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M₁ addItem()</a:t>
              </a:r>
            </a:p>
          </p:txBody>
        </p:sp>
        <p:sp>
          <p:nvSpPr>
            <p:cNvPr id="13" name="TextBox 13"/>
            <p:cNvSpPr txBox="1"/>
            <p:nvPr/>
          </p:nvSpPr>
          <p:spPr>
            <a:xfrm>
              <a:off x="2822067" y="2514600"/>
              <a:ext cx="114048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items、total</a:t>
              </a:r>
            </a:p>
          </p:txBody>
        </p:sp>
        <p:sp>
          <p:nvSpPr>
            <p:cNvPr id="14" name="Rectangle 14"/>
            <p:cNvSpPr/>
            <p:nvPr/>
          </p:nvSpPr>
          <p:spPr>
            <a:xfrm>
              <a:off x="533400" y="2826068"/>
              <a:ext cx="4760595" cy="9525"/>
            </a:xfrm>
            <a:prstGeom prst="rect">
              <a:avLst/>
            </a:prstGeom>
            <a:solidFill>
              <a:srgbClr val="D9DFEA"/>
            </a:solidFill>
            <a:ln>
              <a:noFill/>
            </a:ln>
          </p:spPr>
        </p:sp>
        <p:sp>
          <p:nvSpPr>
            <p:cNvPr id="15" name="Rectangle 15"/>
            <p:cNvSpPr/>
            <p:nvPr/>
          </p:nvSpPr>
          <p:spPr>
            <a:xfrm>
              <a:off x="533400" y="2830830"/>
              <a:ext cx="4760595" cy="444818"/>
            </a:xfrm>
            <a:prstGeom prst="rect">
              <a:avLst/>
            </a:prstGeom>
            <a:solidFill>
              <a:srgbClr val="F4F6FB"/>
            </a:solidFill>
            <a:ln>
              <a:noFill/>
            </a:ln>
          </p:spPr>
        </p:sp>
        <p:sp>
          <p:nvSpPr>
            <p:cNvPr id="16" name="TextBox 16"/>
            <p:cNvSpPr txBox="1"/>
            <p:nvPr/>
          </p:nvSpPr>
          <p:spPr>
            <a:xfrm>
              <a:off x="632270" y="2958465"/>
              <a:ext cx="1623494"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M₂ removeItem()</a:t>
              </a:r>
            </a:p>
          </p:txBody>
        </p:sp>
        <p:sp>
          <p:nvSpPr>
            <p:cNvPr id="17" name="TextBox 17"/>
            <p:cNvSpPr txBox="1"/>
            <p:nvPr/>
          </p:nvSpPr>
          <p:spPr>
            <a:xfrm>
              <a:off x="2822067" y="2958465"/>
              <a:ext cx="114048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items、total</a:t>
              </a:r>
            </a:p>
          </p:txBody>
        </p:sp>
        <p:sp>
          <p:nvSpPr>
            <p:cNvPr id="18" name="Rectangle 18"/>
            <p:cNvSpPr/>
            <p:nvPr/>
          </p:nvSpPr>
          <p:spPr>
            <a:xfrm>
              <a:off x="533400" y="3270885"/>
              <a:ext cx="4760595" cy="9525"/>
            </a:xfrm>
            <a:prstGeom prst="rect">
              <a:avLst/>
            </a:prstGeom>
            <a:solidFill>
              <a:srgbClr val="D9DFEA"/>
            </a:solidFill>
            <a:ln>
              <a:noFill/>
            </a:ln>
          </p:spPr>
        </p:sp>
        <p:sp>
          <p:nvSpPr>
            <p:cNvPr id="19" name="TextBox 19"/>
            <p:cNvSpPr txBox="1"/>
            <p:nvPr/>
          </p:nvSpPr>
          <p:spPr>
            <a:xfrm>
              <a:off x="632270" y="3403282"/>
              <a:ext cx="1768935" cy="504063"/>
            </a:xfrm>
            <a:prstGeom prst="rect">
              <a:avLst/>
            </a:prstGeom>
            <a:noFill/>
            <a:ln>
              <a:noFill/>
            </a:ln>
          </p:spPr>
          <p:txBody>
            <a:bodyPr wrap="none" lIns="0" tIns="0" rIns="0" bIns="0" anchor="t" anchorCtr="0">
              <a:spAutoFit/>
            </a:bodyPr>
            <a:lstStyle/>
            <a:p>
              <a:pPr algn="l">
                <a:lnSpc>
                  <a:spcPts val="1890"/>
                </a:lnSpc>
              </a:pPr>
              <a:r>
                <a:rPr lang="en-US" sz="1350" b="1" dirty="0">
                  <a:solidFill>
                    <a:srgbClr val="1F2937"/>
                  </a:solidFill>
                  <a:latin typeface="+mn-lt"/>
                  <a:ea typeface="+mn-ea"/>
                  <a:cs typeface="+mn-cs"/>
                </a:rPr>
                <a:t>M₃</a:t>
              </a:r>
              <a:br/>
              <a:r>
                <a:rPr lang="en-US" sz="1350" b="1" dirty="0">
                  <a:solidFill>
                    <a:srgbClr val="1F2937"/>
                  </a:solidFill>
                  <a:latin typeface="+mn-lt"/>
                  <a:ea typeface="+mn-ea"/>
                  <a:cs typeface="+mn-cs"/>
                </a:rPr>
                <a:t>getCustomerName()</a:t>
              </a:r>
            </a:p>
          </p:txBody>
        </p:sp>
        <p:sp>
          <p:nvSpPr>
            <p:cNvPr id="20" name="TextBox 20"/>
            <p:cNvSpPr txBox="1"/>
            <p:nvPr/>
          </p:nvSpPr>
          <p:spPr>
            <a:xfrm>
              <a:off x="2822067" y="3523298"/>
              <a:ext cx="849706"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customer</a:t>
              </a:r>
            </a:p>
          </p:txBody>
        </p:sp>
        <p:sp>
          <p:nvSpPr>
            <p:cNvPr id="21" name="Rectangle 21"/>
            <p:cNvSpPr/>
            <p:nvPr/>
          </p:nvSpPr>
          <p:spPr>
            <a:xfrm>
              <a:off x="533400" y="3955732"/>
              <a:ext cx="4760595" cy="9525"/>
            </a:xfrm>
            <a:prstGeom prst="rect">
              <a:avLst/>
            </a:prstGeom>
            <a:solidFill>
              <a:srgbClr val="D9DFEA"/>
            </a:solidFill>
            <a:ln>
              <a:noFill/>
            </a:ln>
          </p:spPr>
        </p:sp>
        <p:sp>
          <p:nvSpPr>
            <p:cNvPr id="22" name="Rectangle 22"/>
            <p:cNvSpPr/>
            <p:nvPr/>
          </p:nvSpPr>
          <p:spPr>
            <a:xfrm>
              <a:off x="533400" y="3960495"/>
              <a:ext cx="4760595" cy="684848"/>
            </a:xfrm>
            <a:prstGeom prst="rect">
              <a:avLst/>
            </a:prstGeom>
            <a:solidFill>
              <a:srgbClr val="F4F6FB"/>
            </a:solidFill>
            <a:ln>
              <a:noFill/>
            </a:ln>
          </p:spPr>
        </p:sp>
        <p:sp>
          <p:nvSpPr>
            <p:cNvPr id="23" name="TextBox 23"/>
            <p:cNvSpPr txBox="1"/>
            <p:nvPr/>
          </p:nvSpPr>
          <p:spPr>
            <a:xfrm>
              <a:off x="632270" y="4088130"/>
              <a:ext cx="1732931" cy="504063"/>
            </a:xfrm>
            <a:prstGeom prst="rect">
              <a:avLst/>
            </a:prstGeom>
            <a:noFill/>
            <a:ln>
              <a:noFill/>
            </a:ln>
          </p:spPr>
          <p:txBody>
            <a:bodyPr wrap="none" lIns="0" tIns="0" rIns="0" bIns="0" anchor="t" anchorCtr="0">
              <a:spAutoFit/>
            </a:bodyPr>
            <a:lstStyle/>
            <a:p>
              <a:pPr algn="l">
                <a:lnSpc>
                  <a:spcPts val="1890"/>
                </a:lnSpc>
              </a:pPr>
              <a:r>
                <a:rPr lang="en-US" sz="1350" b="1" dirty="0">
                  <a:solidFill>
                    <a:srgbClr val="1F2937"/>
                  </a:solidFill>
                  <a:latin typeface="+mn-lt"/>
                  <a:ea typeface="+mn-ea"/>
                  <a:cs typeface="+mn-cs"/>
                </a:rPr>
                <a:t>M₄</a:t>
              </a:r>
              <a:br/>
              <a:r>
                <a:rPr lang="en-US" sz="1350" b="1" dirty="0">
                  <a:solidFill>
                    <a:srgbClr val="1F2937"/>
                  </a:solidFill>
                  <a:latin typeface="+mn-lt"/>
                  <a:ea typeface="+mn-ea"/>
                  <a:cs typeface="+mn-cs"/>
                </a:rPr>
                <a:t>setCustomerAddr()</a:t>
              </a:r>
            </a:p>
          </p:txBody>
        </p:sp>
        <p:sp>
          <p:nvSpPr>
            <p:cNvPr id="24" name="TextBox 24"/>
            <p:cNvSpPr txBox="1"/>
            <p:nvPr/>
          </p:nvSpPr>
          <p:spPr>
            <a:xfrm>
              <a:off x="2822067" y="4208145"/>
              <a:ext cx="849706"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customer</a:t>
              </a:r>
            </a:p>
          </p:txBody>
        </p:sp>
        <p:sp>
          <p:nvSpPr>
            <p:cNvPr id="25" name="Rectangle 25"/>
            <p:cNvSpPr/>
            <p:nvPr/>
          </p:nvSpPr>
          <p:spPr>
            <a:xfrm>
              <a:off x="533400" y="1941195"/>
              <a:ext cx="4760595" cy="2703195"/>
            </a:xfrm>
            <a:prstGeom prst="rect">
              <a:avLst/>
            </a:prstGeom>
            <a:noFill/>
            <a:ln w="14288">
              <a:solidFill>
                <a:srgbClr val="D9DFEA"/>
              </a:solidFill>
            </a:ln>
          </p:spPr>
        </p:sp>
        <p:sp>
          <p:nvSpPr>
            <p:cNvPr id="26" name="Rectangle 26"/>
            <p:cNvSpPr/>
            <p:nvPr/>
          </p:nvSpPr>
          <p:spPr>
            <a:xfrm>
              <a:off x="2718435" y="1941195"/>
              <a:ext cx="9525" cy="2703195"/>
            </a:xfrm>
            <a:prstGeom prst="rect">
              <a:avLst/>
            </a:prstGeom>
            <a:solidFill>
              <a:srgbClr val="D9DFEA"/>
            </a:solidFill>
            <a:ln>
              <a:noFill/>
            </a:ln>
          </p:spPr>
        </p:sp>
      </p:grpSp>
      <p:grpSp>
        <p:nvGrpSpPr>
          <p:cNvPr id="33" name="c1-callout-2"/>
          <p:cNvGrpSpPr/>
          <p:nvPr/>
        </p:nvGrpSpPr>
        <p:grpSpPr>
          <a:xfrm>
            <a:off x="533400" y="4819650"/>
            <a:ext cx="4760595" cy="866775"/>
            <a:chOff x="533400" y="4819650"/>
            <a:chExt cx="4760595" cy="866775"/>
          </a:xfrm>
        </p:grpSpPr>
        <p:sp>
          <p:nvSpPr>
            <p:cNvPr id="28" name="Rectangle 28"/>
            <p:cNvSpPr/>
            <p:nvPr/>
          </p:nvSpPr>
          <p:spPr>
            <a:xfrm>
              <a:off x="533400" y="4819650"/>
              <a:ext cx="4760595" cy="866775"/>
            </a:xfrm>
            <a:prstGeom prst="roundRect">
              <a:avLst>
                <a:gd name="adj" fmla="val 13187"/>
              </a:avLst>
            </a:prstGeom>
            <a:solidFill>
              <a:srgbClr val="E3F5F1"/>
            </a:solidFill>
            <a:ln>
              <a:noFill/>
            </a:ln>
          </p:spPr>
        </p:sp>
        <p:grpSp>
          <p:nvGrpSpPr>
            <p:cNvPr id="31" name="Group 31"/>
            <p:cNvGrpSpPr/>
            <p:nvPr/>
          </p:nvGrpSpPr>
          <p:grpSpPr>
            <a:xfrm>
              <a:off x="738188" y="5153025"/>
              <a:ext cx="200026" cy="200026"/>
              <a:chOff x="738188" y="5153025"/>
              <a:chExt cx="200026" cy="200026"/>
            </a:xfrm>
          </p:grpSpPr>
          <p:sp>
            <p:nvSpPr>
              <p:cNvPr id="29" name="Freeform 29"/>
              <p:cNvSpPr/>
              <p:nvPr/>
            </p:nvSpPr>
            <p:spPr>
              <a:xfrm>
                <a:off x="738188" y="515302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0F7A68"/>
                </a:solidFill>
              </a:ln>
            </p:spPr>
          </p:sp>
          <p:sp>
            <p:nvSpPr>
              <p:cNvPr id="30" name="Freeform 30"/>
              <p:cNvSpPr/>
              <p:nvPr/>
            </p:nvSpPr>
            <p:spPr>
              <a:xfrm>
                <a:off x="804863" y="5230813"/>
                <a:ext cx="66675" cy="44450"/>
              </a:xfrm>
              <a:custGeom>
                <a:avLst/>
                <a:gdLst/>
                <a:ahLst/>
                <a:cxnLst/>
                <a:rect l="l" t="t" r="r" b="b"/>
                <a:pathLst>
                  <a:path w="66675" h="44450">
                    <a:moveTo>
                      <a:pt x="0" y="22225"/>
                    </a:moveTo>
                    <a:lnTo>
                      <a:pt x="22225" y="44450"/>
                    </a:lnTo>
                    <a:lnTo>
                      <a:pt x="66675" y="0"/>
                    </a:lnTo>
                  </a:path>
                </a:pathLst>
              </a:custGeom>
              <a:noFill/>
              <a:ln w="22225">
                <a:solidFill>
                  <a:srgbClr val="0F7A68"/>
                </a:solidFill>
              </a:ln>
            </p:spPr>
          </p:sp>
        </p:grpSp>
        <p:sp>
          <p:nvSpPr>
            <p:cNvPr id="32" name="TextBox 32"/>
            <p:cNvSpPr txBox="1"/>
            <p:nvPr/>
          </p:nvSpPr>
          <p:spPr>
            <a:xfrm>
              <a:off x="1040892" y="5034915"/>
              <a:ext cx="3759898"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0F7A68"/>
                  </a:solidFill>
                  <a:latin typeface="+mn-lt"/>
                  <a:ea typeface="+mn-ea"/>
                  <a:cs typeface="+mn-cs"/>
                </a:rPr>
                <a:t>拆分后再算：Order 留 M₁、M₂，|P|=0、|Q|=1，</a:t>
              </a:r>
              <a:br/>
              <a:r>
                <a:rPr lang="zh-CN" sz="1350" dirty="0">
                  <a:solidFill>
                    <a:srgbClr val="0F7A68"/>
                  </a:solidFill>
                  <a:latin typeface="+mn-lt"/>
                  <a:ea typeface="+mn-ea"/>
                  <a:cs typeface="+mn-cs"/>
                </a:rPr>
                <a:t>LCOM1 = 0；Customer 留 M₃、M₄ 同理为 0。</a:t>
              </a:r>
            </a:p>
          </p:txBody>
        </p:sp>
      </p:grpSp>
      <p:grpSp>
        <p:nvGrpSpPr>
          <p:cNvPr id="69" name="c2-table-1"/>
          <p:cNvGrpSpPr/>
          <p:nvPr/>
        </p:nvGrpSpPr>
        <p:grpSpPr>
          <a:xfrm>
            <a:off x="5598795" y="1941195"/>
            <a:ext cx="6059805" cy="2840355"/>
            <a:chOff x="5598795" y="1941195"/>
            <a:chExt cx="6059805" cy="2840355"/>
          </a:xfrm>
        </p:grpSpPr>
        <p:sp>
          <p:nvSpPr>
            <p:cNvPr id="34" name="Rectangle 34"/>
            <p:cNvSpPr/>
            <p:nvPr/>
          </p:nvSpPr>
          <p:spPr>
            <a:xfrm>
              <a:off x="5598795" y="1941195"/>
              <a:ext cx="6059805" cy="405765"/>
            </a:xfrm>
            <a:prstGeom prst="rect">
              <a:avLst/>
            </a:prstGeom>
            <a:solidFill>
              <a:srgbClr val="334E68"/>
            </a:solidFill>
            <a:ln>
              <a:noFill/>
            </a:ln>
          </p:spPr>
        </p:sp>
        <p:sp>
          <p:nvSpPr>
            <p:cNvPr id="35" name="TextBox 35"/>
            <p:cNvSpPr txBox="1"/>
            <p:nvPr/>
          </p:nvSpPr>
          <p:spPr>
            <a:xfrm>
              <a:off x="6579451" y="2065496"/>
              <a:ext cx="46375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方法对</a:t>
              </a:r>
            </a:p>
          </p:txBody>
        </p:sp>
        <p:sp>
          <p:nvSpPr>
            <p:cNvPr id="36" name="TextBox 36"/>
            <p:cNvSpPr txBox="1"/>
            <p:nvPr/>
          </p:nvSpPr>
          <p:spPr>
            <a:xfrm>
              <a:off x="8897023" y="2065496"/>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交集</a:t>
              </a:r>
            </a:p>
          </p:txBody>
        </p:sp>
        <p:sp>
          <p:nvSpPr>
            <p:cNvPr id="37" name="TextBox 37"/>
            <p:cNvSpPr txBox="1"/>
            <p:nvPr/>
          </p:nvSpPr>
          <p:spPr>
            <a:xfrm>
              <a:off x="10714393" y="2065496"/>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归入</a:t>
              </a:r>
            </a:p>
          </p:txBody>
        </p:sp>
        <p:sp>
          <p:nvSpPr>
            <p:cNvPr id="38" name="TextBox 38"/>
            <p:cNvSpPr txBox="1"/>
            <p:nvPr/>
          </p:nvSpPr>
          <p:spPr>
            <a:xfrm>
              <a:off x="5698808" y="2471261"/>
              <a:ext cx="772528"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(M₁, M₂)</a:t>
              </a:r>
            </a:p>
          </p:txBody>
        </p:sp>
        <p:sp>
          <p:nvSpPr>
            <p:cNvPr id="39" name="TextBox 39"/>
            <p:cNvSpPr txBox="1"/>
            <p:nvPr/>
          </p:nvSpPr>
          <p:spPr>
            <a:xfrm>
              <a:off x="8122920" y="2471261"/>
              <a:ext cx="94623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items、total</a:t>
              </a:r>
            </a:p>
          </p:txBody>
        </p:sp>
        <p:sp>
          <p:nvSpPr>
            <p:cNvPr id="40" name="Rectangle 40"/>
            <p:cNvSpPr/>
            <p:nvPr/>
          </p:nvSpPr>
          <p:spPr>
            <a:xfrm>
              <a:off x="10092690" y="2356485"/>
              <a:ext cx="1556385" cy="386715"/>
            </a:xfrm>
            <a:prstGeom prst="rect">
              <a:avLst/>
            </a:prstGeom>
            <a:solidFill>
              <a:srgbClr val="E3F5F1"/>
            </a:solidFill>
            <a:ln>
              <a:noFill/>
            </a:ln>
          </p:spPr>
        </p:sp>
        <p:sp>
          <p:nvSpPr>
            <p:cNvPr id="41" name="TextBox 41"/>
            <p:cNvSpPr txBox="1"/>
            <p:nvPr/>
          </p:nvSpPr>
          <p:spPr>
            <a:xfrm>
              <a:off x="10183178" y="2471261"/>
              <a:ext cx="130912"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Q</a:t>
              </a:r>
            </a:p>
          </p:txBody>
        </p:sp>
        <p:sp>
          <p:nvSpPr>
            <p:cNvPr id="42" name="Rectangle 42"/>
            <p:cNvSpPr/>
            <p:nvPr/>
          </p:nvSpPr>
          <p:spPr>
            <a:xfrm>
              <a:off x="5598795" y="2747962"/>
              <a:ext cx="6059805" cy="9525"/>
            </a:xfrm>
            <a:prstGeom prst="rect">
              <a:avLst/>
            </a:prstGeom>
            <a:solidFill>
              <a:srgbClr val="D9DFEA"/>
            </a:solidFill>
            <a:ln>
              <a:noFill/>
            </a:ln>
          </p:spPr>
        </p:sp>
        <p:sp>
          <p:nvSpPr>
            <p:cNvPr id="43" name="Rectangle 43"/>
            <p:cNvSpPr/>
            <p:nvPr/>
          </p:nvSpPr>
          <p:spPr>
            <a:xfrm>
              <a:off x="5598795" y="2752725"/>
              <a:ext cx="6059805" cy="405765"/>
            </a:xfrm>
            <a:prstGeom prst="rect">
              <a:avLst/>
            </a:prstGeom>
            <a:solidFill>
              <a:srgbClr val="F4F6FB"/>
            </a:solidFill>
            <a:ln>
              <a:noFill/>
            </a:ln>
          </p:spPr>
        </p:sp>
        <p:sp>
          <p:nvSpPr>
            <p:cNvPr id="44" name="TextBox 44"/>
            <p:cNvSpPr txBox="1"/>
            <p:nvPr/>
          </p:nvSpPr>
          <p:spPr>
            <a:xfrm>
              <a:off x="5698808" y="2877026"/>
              <a:ext cx="772528"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(M₁, M₃)</a:t>
              </a:r>
            </a:p>
          </p:txBody>
        </p:sp>
        <p:sp>
          <p:nvSpPr>
            <p:cNvPr id="45" name="TextBox 45"/>
            <p:cNvSpPr txBox="1"/>
            <p:nvPr/>
          </p:nvSpPr>
          <p:spPr>
            <a:xfrm>
              <a:off x="8122920" y="2877026"/>
              <a:ext cx="16220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空</a:t>
              </a:r>
            </a:p>
          </p:txBody>
        </p:sp>
        <p:sp>
          <p:nvSpPr>
            <p:cNvPr id="46" name="TextBox 46"/>
            <p:cNvSpPr txBox="1"/>
            <p:nvPr/>
          </p:nvSpPr>
          <p:spPr>
            <a:xfrm>
              <a:off x="10183178" y="2877026"/>
              <a:ext cx="9905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P</a:t>
              </a:r>
            </a:p>
          </p:txBody>
        </p:sp>
        <p:sp>
          <p:nvSpPr>
            <p:cNvPr id="47" name="Rectangle 47"/>
            <p:cNvSpPr/>
            <p:nvPr/>
          </p:nvSpPr>
          <p:spPr>
            <a:xfrm>
              <a:off x="5598795" y="3153728"/>
              <a:ext cx="6059805" cy="9525"/>
            </a:xfrm>
            <a:prstGeom prst="rect">
              <a:avLst/>
            </a:prstGeom>
            <a:solidFill>
              <a:srgbClr val="D9DFEA"/>
            </a:solidFill>
            <a:ln>
              <a:noFill/>
            </a:ln>
          </p:spPr>
        </p:sp>
        <p:sp>
          <p:nvSpPr>
            <p:cNvPr id="48" name="TextBox 48"/>
            <p:cNvSpPr txBox="1"/>
            <p:nvPr/>
          </p:nvSpPr>
          <p:spPr>
            <a:xfrm>
              <a:off x="5698808" y="3282791"/>
              <a:ext cx="772528"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(M₁, M₄)</a:t>
              </a:r>
            </a:p>
          </p:txBody>
        </p:sp>
        <p:sp>
          <p:nvSpPr>
            <p:cNvPr id="49" name="TextBox 49"/>
            <p:cNvSpPr txBox="1"/>
            <p:nvPr/>
          </p:nvSpPr>
          <p:spPr>
            <a:xfrm>
              <a:off x="8122920" y="3282791"/>
              <a:ext cx="16220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空</a:t>
              </a:r>
            </a:p>
          </p:txBody>
        </p:sp>
        <p:sp>
          <p:nvSpPr>
            <p:cNvPr id="50" name="TextBox 50"/>
            <p:cNvSpPr txBox="1"/>
            <p:nvPr/>
          </p:nvSpPr>
          <p:spPr>
            <a:xfrm>
              <a:off x="10183178" y="3282791"/>
              <a:ext cx="9905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P</a:t>
              </a:r>
            </a:p>
          </p:txBody>
        </p:sp>
        <p:sp>
          <p:nvSpPr>
            <p:cNvPr id="51" name="Rectangle 51"/>
            <p:cNvSpPr/>
            <p:nvPr/>
          </p:nvSpPr>
          <p:spPr>
            <a:xfrm>
              <a:off x="5598795" y="3559492"/>
              <a:ext cx="6059805" cy="9525"/>
            </a:xfrm>
            <a:prstGeom prst="rect">
              <a:avLst/>
            </a:prstGeom>
            <a:solidFill>
              <a:srgbClr val="D9DFEA"/>
            </a:solidFill>
            <a:ln>
              <a:noFill/>
            </a:ln>
          </p:spPr>
        </p:sp>
        <p:sp>
          <p:nvSpPr>
            <p:cNvPr id="52" name="Rectangle 52"/>
            <p:cNvSpPr/>
            <p:nvPr/>
          </p:nvSpPr>
          <p:spPr>
            <a:xfrm>
              <a:off x="5598795" y="3564255"/>
              <a:ext cx="6059805" cy="405765"/>
            </a:xfrm>
            <a:prstGeom prst="rect">
              <a:avLst/>
            </a:prstGeom>
            <a:solidFill>
              <a:srgbClr val="F4F6FB"/>
            </a:solidFill>
            <a:ln>
              <a:noFill/>
            </a:ln>
          </p:spPr>
        </p:sp>
        <p:sp>
          <p:nvSpPr>
            <p:cNvPr id="53" name="TextBox 53"/>
            <p:cNvSpPr txBox="1"/>
            <p:nvPr/>
          </p:nvSpPr>
          <p:spPr>
            <a:xfrm>
              <a:off x="5698808" y="3688556"/>
              <a:ext cx="772528"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(M₂, M₃)</a:t>
              </a:r>
            </a:p>
          </p:txBody>
        </p:sp>
        <p:sp>
          <p:nvSpPr>
            <p:cNvPr id="54" name="TextBox 54"/>
            <p:cNvSpPr txBox="1"/>
            <p:nvPr/>
          </p:nvSpPr>
          <p:spPr>
            <a:xfrm>
              <a:off x="8122920" y="3688556"/>
              <a:ext cx="16220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空</a:t>
              </a:r>
            </a:p>
          </p:txBody>
        </p:sp>
        <p:sp>
          <p:nvSpPr>
            <p:cNvPr id="55" name="TextBox 55"/>
            <p:cNvSpPr txBox="1"/>
            <p:nvPr/>
          </p:nvSpPr>
          <p:spPr>
            <a:xfrm>
              <a:off x="10183178" y="3688556"/>
              <a:ext cx="9905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P</a:t>
              </a:r>
            </a:p>
          </p:txBody>
        </p:sp>
        <p:sp>
          <p:nvSpPr>
            <p:cNvPr id="56" name="Rectangle 56"/>
            <p:cNvSpPr/>
            <p:nvPr/>
          </p:nvSpPr>
          <p:spPr>
            <a:xfrm>
              <a:off x="5598795" y="3965258"/>
              <a:ext cx="6059805" cy="9525"/>
            </a:xfrm>
            <a:prstGeom prst="rect">
              <a:avLst/>
            </a:prstGeom>
            <a:solidFill>
              <a:srgbClr val="D9DFEA"/>
            </a:solidFill>
            <a:ln>
              <a:noFill/>
            </a:ln>
          </p:spPr>
        </p:sp>
        <p:sp>
          <p:nvSpPr>
            <p:cNvPr id="57" name="TextBox 57"/>
            <p:cNvSpPr txBox="1"/>
            <p:nvPr/>
          </p:nvSpPr>
          <p:spPr>
            <a:xfrm>
              <a:off x="5698808" y="4094321"/>
              <a:ext cx="772528"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(M₂, M₄)</a:t>
              </a:r>
            </a:p>
          </p:txBody>
        </p:sp>
        <p:sp>
          <p:nvSpPr>
            <p:cNvPr id="58" name="TextBox 58"/>
            <p:cNvSpPr txBox="1"/>
            <p:nvPr/>
          </p:nvSpPr>
          <p:spPr>
            <a:xfrm>
              <a:off x="8122920" y="4094321"/>
              <a:ext cx="16220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空</a:t>
              </a:r>
            </a:p>
          </p:txBody>
        </p:sp>
        <p:sp>
          <p:nvSpPr>
            <p:cNvPr id="59" name="TextBox 59"/>
            <p:cNvSpPr txBox="1"/>
            <p:nvPr/>
          </p:nvSpPr>
          <p:spPr>
            <a:xfrm>
              <a:off x="10183178" y="4094321"/>
              <a:ext cx="9905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P</a:t>
              </a:r>
            </a:p>
          </p:txBody>
        </p:sp>
        <p:sp>
          <p:nvSpPr>
            <p:cNvPr id="60" name="Rectangle 60"/>
            <p:cNvSpPr/>
            <p:nvPr/>
          </p:nvSpPr>
          <p:spPr>
            <a:xfrm>
              <a:off x="5598795" y="4371022"/>
              <a:ext cx="6059805" cy="9525"/>
            </a:xfrm>
            <a:prstGeom prst="rect">
              <a:avLst/>
            </a:prstGeom>
            <a:solidFill>
              <a:srgbClr val="D9DFEA"/>
            </a:solidFill>
            <a:ln>
              <a:noFill/>
            </a:ln>
          </p:spPr>
        </p:sp>
        <p:sp>
          <p:nvSpPr>
            <p:cNvPr id="61" name="Rectangle 61"/>
            <p:cNvSpPr/>
            <p:nvPr/>
          </p:nvSpPr>
          <p:spPr>
            <a:xfrm>
              <a:off x="5598795" y="4375785"/>
              <a:ext cx="6059805" cy="405765"/>
            </a:xfrm>
            <a:prstGeom prst="rect">
              <a:avLst/>
            </a:prstGeom>
            <a:solidFill>
              <a:srgbClr val="F4F6FB"/>
            </a:solidFill>
            <a:ln>
              <a:noFill/>
            </a:ln>
          </p:spPr>
        </p:sp>
        <p:sp>
          <p:nvSpPr>
            <p:cNvPr id="62" name="TextBox 62"/>
            <p:cNvSpPr txBox="1"/>
            <p:nvPr/>
          </p:nvSpPr>
          <p:spPr>
            <a:xfrm>
              <a:off x="5698808" y="4500086"/>
              <a:ext cx="772528"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(M₃, M₄)</a:t>
              </a:r>
            </a:p>
          </p:txBody>
        </p:sp>
        <p:sp>
          <p:nvSpPr>
            <p:cNvPr id="63" name="TextBox 63"/>
            <p:cNvSpPr txBox="1"/>
            <p:nvPr/>
          </p:nvSpPr>
          <p:spPr>
            <a:xfrm>
              <a:off x="8122920" y="4500086"/>
              <a:ext cx="704992"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customer</a:t>
              </a:r>
            </a:p>
          </p:txBody>
        </p:sp>
        <p:sp>
          <p:nvSpPr>
            <p:cNvPr id="64" name="Rectangle 64"/>
            <p:cNvSpPr/>
            <p:nvPr/>
          </p:nvSpPr>
          <p:spPr>
            <a:xfrm>
              <a:off x="10092690" y="4385310"/>
              <a:ext cx="1556385" cy="386715"/>
            </a:xfrm>
            <a:prstGeom prst="rect">
              <a:avLst/>
            </a:prstGeom>
            <a:solidFill>
              <a:srgbClr val="E3F5F1"/>
            </a:solidFill>
            <a:ln>
              <a:noFill/>
            </a:ln>
          </p:spPr>
        </p:sp>
        <p:sp>
          <p:nvSpPr>
            <p:cNvPr id="65" name="TextBox 65"/>
            <p:cNvSpPr txBox="1"/>
            <p:nvPr/>
          </p:nvSpPr>
          <p:spPr>
            <a:xfrm>
              <a:off x="10183178" y="4500086"/>
              <a:ext cx="130912"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Q</a:t>
              </a:r>
            </a:p>
          </p:txBody>
        </p:sp>
        <p:sp>
          <p:nvSpPr>
            <p:cNvPr id="66" name="Rectangle 66"/>
            <p:cNvSpPr/>
            <p:nvPr/>
          </p:nvSpPr>
          <p:spPr>
            <a:xfrm>
              <a:off x="5598795" y="1941195"/>
              <a:ext cx="6059805" cy="2840355"/>
            </a:xfrm>
            <a:prstGeom prst="rect">
              <a:avLst/>
            </a:prstGeom>
            <a:noFill/>
            <a:ln w="14288">
              <a:solidFill>
                <a:srgbClr val="D9DFEA"/>
              </a:solidFill>
            </a:ln>
          </p:spPr>
        </p:sp>
        <p:sp>
          <p:nvSpPr>
            <p:cNvPr id="67" name="Rectangle 67"/>
            <p:cNvSpPr/>
            <p:nvPr/>
          </p:nvSpPr>
          <p:spPr>
            <a:xfrm>
              <a:off x="8018145" y="1941195"/>
              <a:ext cx="9525" cy="2840355"/>
            </a:xfrm>
            <a:prstGeom prst="rect">
              <a:avLst/>
            </a:prstGeom>
            <a:solidFill>
              <a:srgbClr val="D9DFEA"/>
            </a:solidFill>
            <a:ln>
              <a:noFill/>
            </a:ln>
          </p:spPr>
        </p:sp>
        <p:sp>
          <p:nvSpPr>
            <p:cNvPr id="68" name="Rectangle 68"/>
            <p:cNvSpPr/>
            <p:nvPr/>
          </p:nvSpPr>
          <p:spPr>
            <a:xfrm>
              <a:off x="10078402" y="1941195"/>
              <a:ext cx="9525" cy="2840355"/>
            </a:xfrm>
            <a:prstGeom prst="rect">
              <a:avLst/>
            </a:prstGeom>
            <a:solidFill>
              <a:srgbClr val="D9DFEA"/>
            </a:solidFill>
            <a:ln>
              <a:noFill/>
            </a:ln>
          </p:spPr>
        </p:sp>
      </p:grpSp>
      <p:grpSp>
        <p:nvGrpSpPr>
          <p:cNvPr id="75" name="c2-callout-2"/>
          <p:cNvGrpSpPr/>
          <p:nvPr/>
        </p:nvGrpSpPr>
        <p:grpSpPr>
          <a:xfrm>
            <a:off x="5598795" y="4956810"/>
            <a:ext cx="6059805" cy="729615"/>
            <a:chOff x="5598795" y="4956810"/>
            <a:chExt cx="6059805" cy="729615"/>
          </a:xfrm>
        </p:grpSpPr>
        <p:sp>
          <p:nvSpPr>
            <p:cNvPr id="70" name="Rectangle 70"/>
            <p:cNvSpPr/>
            <p:nvPr/>
          </p:nvSpPr>
          <p:spPr>
            <a:xfrm>
              <a:off x="5598795" y="4956810"/>
              <a:ext cx="6059805" cy="729615"/>
            </a:xfrm>
            <a:prstGeom prst="roundRect">
              <a:avLst>
                <a:gd name="adj" fmla="val 15666"/>
              </a:avLst>
            </a:prstGeom>
            <a:solidFill>
              <a:srgbClr val="334E68"/>
            </a:solidFill>
            <a:ln>
              <a:noFill/>
            </a:ln>
          </p:spPr>
        </p:sp>
        <p:grpSp>
          <p:nvGrpSpPr>
            <p:cNvPr id="73" name="Group 73"/>
            <p:cNvGrpSpPr/>
            <p:nvPr/>
          </p:nvGrpSpPr>
          <p:grpSpPr>
            <a:xfrm>
              <a:off x="5803583" y="5221607"/>
              <a:ext cx="200023" cy="200023"/>
              <a:chOff x="5803583" y="5221607"/>
              <a:chExt cx="200023" cy="200023"/>
            </a:xfrm>
          </p:grpSpPr>
          <p:sp>
            <p:nvSpPr>
              <p:cNvPr id="71" name="Freeform 71"/>
              <p:cNvSpPr/>
              <p:nvPr/>
            </p:nvSpPr>
            <p:spPr>
              <a:xfrm>
                <a:off x="5803583" y="522160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72" name="Freeform 72"/>
              <p:cNvSpPr/>
              <p:nvPr/>
            </p:nvSpPr>
            <p:spPr>
              <a:xfrm>
                <a:off x="5936933" y="528828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4" name="TextBox 74"/>
            <p:cNvSpPr txBox="1"/>
            <p:nvPr/>
          </p:nvSpPr>
          <p:spPr>
            <a:xfrm>
              <a:off x="6106287" y="5103495"/>
              <a:ext cx="4999053"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 xml:space="preserve">|P| = 4 &gt; |Q| = 2，LCOM1(Order) = 4 − 2 = </a:t>
              </a:r>
              <a:r>
                <a:rPr lang="zh-CN" sz="1350" b="1" dirty="0">
                  <a:solidFill>
                    <a:srgbClr val="FFD58A"/>
                  </a:solidFill>
                  <a:latin typeface="+mn-lt"/>
                  <a:ea typeface="+mn-ea"/>
                  <a:cs typeface="+mn-cs"/>
                </a:rPr>
                <a:t>2</a:t>
              </a:r>
              <a:r>
                <a:rPr lang="zh-CN" sz="1350" dirty="0">
                  <a:solidFill>
                    <a:srgbClr val="FFFFFF"/>
                  </a:solidFill>
                  <a:latin typeface="+mn-lt"/>
                  <a:ea typeface="+mn-ea"/>
                  <a:cs typeface="+mn-cs"/>
                </a:rPr>
                <a:t xml:space="preserve"> &gt; 0，内聚不足，应</a:t>
              </a:r>
              <a:br/>
              <a:r>
                <a:rPr lang="zh-CN" sz="1350" dirty="0">
                  <a:solidFill>
                    <a:srgbClr val="FFFFFF"/>
                  </a:solidFill>
                  <a:latin typeface="+mn-lt"/>
                  <a:ea typeface="+mn-ea"/>
                  <a:cs typeface="+mn-cs"/>
                </a:rPr>
                <a:t>把 customer 相关的属性和方法拆成独立的 Customer 类。</a:t>
              </a:r>
            </a:p>
          </p:txBody>
        </p:sp>
      </p:grpSp>
      <p:grpSp>
        <p:nvGrpSpPr>
          <p:cNvPr id="82" name="takeaway"/>
          <p:cNvGrpSpPr/>
          <p:nvPr/>
        </p:nvGrpSpPr>
        <p:grpSpPr>
          <a:xfrm>
            <a:off x="533400" y="5874068"/>
            <a:ext cx="11125200" cy="488632"/>
            <a:chOff x="533400" y="5874068"/>
            <a:chExt cx="11125200" cy="488632"/>
          </a:xfrm>
        </p:grpSpPr>
        <p:sp>
          <p:nvSpPr>
            <p:cNvPr id="76" name="Rectangle 76"/>
            <p:cNvSpPr/>
            <p:nvPr/>
          </p:nvSpPr>
          <p:spPr>
            <a:xfrm>
              <a:off x="533400" y="5874068"/>
              <a:ext cx="11125200" cy="488632"/>
            </a:xfrm>
            <a:prstGeom prst="roundRect">
              <a:avLst>
                <a:gd name="adj" fmla="val 23392"/>
              </a:avLst>
            </a:prstGeom>
            <a:solidFill>
              <a:srgbClr val="FDEEE7"/>
            </a:solidFill>
            <a:ln>
              <a:noFill/>
            </a:ln>
          </p:spPr>
        </p:sp>
        <p:grpSp>
          <p:nvGrpSpPr>
            <p:cNvPr id="80" name="Group 80"/>
            <p:cNvGrpSpPr/>
            <p:nvPr/>
          </p:nvGrpSpPr>
          <p:grpSpPr>
            <a:xfrm>
              <a:off x="738188" y="6017895"/>
              <a:ext cx="200026" cy="200025"/>
              <a:chOff x="738188" y="6017895"/>
              <a:chExt cx="200026" cy="200025"/>
            </a:xfrm>
          </p:grpSpPr>
          <p:sp>
            <p:nvSpPr>
              <p:cNvPr id="77" name="Freeform 77"/>
              <p:cNvSpPr/>
              <p:nvPr/>
            </p:nvSpPr>
            <p:spPr>
              <a:xfrm>
                <a:off x="738188" y="601789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78" name="Freeform 78"/>
              <p:cNvSpPr/>
              <p:nvPr/>
            </p:nvSpPr>
            <p:spPr>
              <a:xfrm>
                <a:off x="777926" y="606234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79" name="Freeform 79"/>
              <p:cNvSpPr/>
              <p:nvPr/>
            </p:nvSpPr>
            <p:spPr>
              <a:xfrm>
                <a:off x="812642" y="617347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81" name="TextBox 81"/>
            <p:cNvSpPr txBox="1"/>
            <p:nvPr/>
          </p:nvSpPr>
          <p:spPr>
            <a:xfrm>
              <a:off x="1040892" y="6023610"/>
              <a:ext cx="8211426" cy="264033"/>
            </a:xfrm>
            <a:prstGeom prst="rect">
              <a:avLst/>
            </a:prstGeom>
            <a:noFill/>
            <a:ln>
              <a:noFill/>
            </a:ln>
          </p:spPr>
          <p:txBody>
            <a:bodyPr wrap="none" lIns="0" tIns="0" rIns="0" bIns="0" anchor="t" anchorCtr="0">
              <a:spAutoFit/>
            </a:bodyPr>
            <a:lstStyle/>
            <a:p>
              <a:pPr algn="l"/>
              <a:r>
                <a:rPr lang="zh-CN" sz="1350" dirty="0">
                  <a:solidFill>
                    <a:srgbClr val="C2410C"/>
                  </a:solidFill>
                  <a:latin typeface="+mn-lt"/>
                  <a:ea typeface="+mn-ea"/>
                  <a:cs typeface="+mn-cs"/>
                </a:rPr>
                <a:t>考试给的类若方法多，先按“方法碰了哪些属性”分组，同组内部都是 Q，跨组都是 P，不必逐对去数。</a:t>
              </a:r>
            </a:p>
          </p:txBody>
        </p:sp>
      </p:grpSp>
      <p:grpSp>
        <p:nvGrpSpPr>
          <p:cNvPr id="85" name="footer"/>
          <p:cNvGrpSpPr/>
          <p:nvPr/>
        </p:nvGrpSpPr>
        <p:grpSpPr>
          <a:xfrm>
            <a:off x="528447" y="6581299"/>
            <a:ext cx="11135106" cy="190690"/>
            <a:chOff x="528447" y="6581299"/>
            <a:chExt cx="11135106" cy="190690"/>
          </a:xfrm>
        </p:grpSpPr>
        <p:sp>
          <p:nvSpPr>
            <p:cNvPr id="83" name="TextBox 83"/>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84" name="TextBox 84"/>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48247" cy="909257"/>
            <a:chOff x="520446" y="342900"/>
            <a:chExt cx="6548247" cy="909257"/>
          </a:xfrm>
        </p:grpSpPr>
        <p:sp>
          <p:nvSpPr>
            <p:cNvPr id="2" name="Rectangle 2"/>
            <p:cNvSpPr/>
            <p:nvPr/>
          </p:nvSpPr>
          <p:spPr>
            <a:xfrm>
              <a:off x="533400" y="342900"/>
              <a:ext cx="3066098" cy="266700"/>
            </a:xfrm>
            <a:prstGeom prst="roundRect">
              <a:avLst>
                <a:gd name="adj" fmla="val 50000"/>
              </a:avLst>
            </a:prstGeom>
            <a:solidFill>
              <a:srgbClr val="E7EDF3"/>
            </a:solidFill>
            <a:ln>
              <a:noFill/>
            </a:ln>
          </p:spPr>
        </p:sp>
        <p:sp>
          <p:nvSpPr>
            <p:cNvPr id="3" name="TextBox 3"/>
            <p:cNvSpPr txBox="1"/>
            <p:nvPr/>
          </p:nvSpPr>
          <p:spPr>
            <a:xfrm>
              <a:off x="576826" y="407194"/>
              <a:ext cx="297829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面向对象设计的准则</a:t>
              </a:r>
            </a:p>
          </p:txBody>
        </p:sp>
        <p:sp>
          <p:nvSpPr>
            <p:cNvPr id="4" name="TextBox 4"/>
            <p:cNvSpPr txBox="1"/>
            <p:nvPr/>
          </p:nvSpPr>
          <p:spPr>
            <a:xfrm>
              <a:off x="520446" y="753428"/>
              <a:ext cx="6548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六条启发规则：准则落到笔头上的具体做法</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2" name="c1-table-1"/>
          <p:cNvGrpSpPr/>
          <p:nvPr/>
        </p:nvGrpSpPr>
        <p:grpSpPr>
          <a:xfrm>
            <a:off x="533400" y="1524000"/>
            <a:ext cx="6059805" cy="4072890"/>
            <a:chOff x="533400" y="1524000"/>
            <a:chExt cx="6059805" cy="4072890"/>
          </a:xfrm>
        </p:grpSpPr>
        <p:sp>
          <p:nvSpPr>
            <p:cNvPr id="7" name="Rectangle 7"/>
            <p:cNvSpPr/>
            <p:nvPr/>
          </p:nvSpPr>
          <p:spPr>
            <a:xfrm>
              <a:off x="533400" y="1524000"/>
              <a:ext cx="6059805" cy="444818"/>
            </a:xfrm>
            <a:prstGeom prst="rect">
              <a:avLst/>
            </a:prstGeom>
            <a:solidFill>
              <a:srgbClr val="334E68"/>
            </a:solidFill>
            <a:ln>
              <a:noFill/>
            </a:ln>
          </p:spPr>
        </p:sp>
        <p:sp>
          <p:nvSpPr>
            <p:cNvPr id="8" name="TextBox 8"/>
            <p:cNvSpPr txBox="1"/>
            <p:nvPr/>
          </p:nvSpPr>
          <p:spPr>
            <a:xfrm>
              <a:off x="1071753" y="1651635"/>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启发规则</a:t>
              </a:r>
            </a:p>
          </p:txBody>
        </p:sp>
        <p:sp>
          <p:nvSpPr>
            <p:cNvPr id="9" name="TextBox 9"/>
            <p:cNvSpPr txBox="1"/>
            <p:nvPr/>
          </p:nvSpPr>
          <p:spPr>
            <a:xfrm>
              <a:off x="4101655" y="1651635"/>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具体做法</a:t>
              </a:r>
            </a:p>
          </p:txBody>
        </p:sp>
        <p:sp>
          <p:nvSpPr>
            <p:cNvPr id="10" name="TextBox 10"/>
            <p:cNvSpPr txBox="1"/>
            <p:nvPr/>
          </p:nvSpPr>
          <p:spPr>
            <a:xfrm>
              <a:off x="632270" y="2096452"/>
              <a:ext cx="1385316" cy="504063"/>
            </a:xfrm>
            <a:prstGeom prst="rect">
              <a:avLst/>
            </a:prstGeom>
            <a:noFill/>
            <a:ln>
              <a:noFill/>
            </a:ln>
          </p:spPr>
          <p:txBody>
            <a:bodyPr wrap="none" lIns="0" tIns="0" rIns="0" bIns="0" anchor="t" anchorCtr="0">
              <a:spAutoFit/>
            </a:bodyPr>
            <a:lstStyle/>
            <a:p>
              <a:pPr algn="l">
                <a:lnSpc>
                  <a:spcPts val="1890"/>
                </a:lnSpc>
              </a:pPr>
              <a:r>
                <a:rPr lang="zh-CN" sz="1350" b="1" dirty="0">
                  <a:solidFill>
                    <a:srgbClr val="1F2937"/>
                  </a:solidFill>
                  <a:latin typeface="+mn-lt"/>
                  <a:ea typeface="+mn-ea"/>
                  <a:cs typeface="+mn-cs"/>
                </a:rPr>
                <a:t>设计结果应该清晰</a:t>
              </a:r>
              <a:br/>
              <a:r>
                <a:rPr lang="zh-CN" sz="1350" b="1" dirty="0">
                  <a:solidFill>
                    <a:srgbClr val="1F2937"/>
                  </a:solidFill>
                  <a:latin typeface="+mn-lt"/>
                  <a:ea typeface="+mn-ea"/>
                  <a:cs typeface="+mn-cs"/>
                </a:rPr>
                <a:t>易懂</a:t>
              </a:r>
            </a:p>
          </p:txBody>
        </p:sp>
        <p:sp>
          <p:nvSpPr>
            <p:cNvPr id="11" name="TextBox 11"/>
            <p:cNvSpPr txBox="1"/>
            <p:nvPr/>
          </p:nvSpPr>
          <p:spPr>
            <a:xfrm>
              <a:off x="2449639" y="2096452"/>
              <a:ext cx="37856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用词一致；用已有协议；减少消息模式数目；避免</a:t>
              </a:r>
              <a:br/>
              <a:r>
                <a:rPr lang="zh-CN" sz="1350" dirty="0">
                  <a:solidFill>
                    <a:srgbClr val="1F2937"/>
                  </a:solidFill>
                  <a:latin typeface="+mn-lt"/>
                  <a:ea typeface="+mn-ea"/>
                  <a:cs typeface="+mn-cs"/>
                </a:rPr>
                <a:t>模糊定义</a:t>
              </a:r>
            </a:p>
          </p:txBody>
        </p:sp>
        <p:sp>
          <p:nvSpPr>
            <p:cNvPr id="12" name="Rectangle 12"/>
            <p:cNvSpPr/>
            <p:nvPr/>
          </p:nvSpPr>
          <p:spPr>
            <a:xfrm>
              <a:off x="533400" y="2648902"/>
              <a:ext cx="6059805" cy="9525"/>
            </a:xfrm>
            <a:prstGeom prst="rect">
              <a:avLst/>
            </a:prstGeom>
            <a:solidFill>
              <a:srgbClr val="D9DFEA"/>
            </a:solidFill>
            <a:ln>
              <a:noFill/>
            </a:ln>
          </p:spPr>
        </p:sp>
        <p:sp>
          <p:nvSpPr>
            <p:cNvPr id="13" name="Rectangle 13"/>
            <p:cNvSpPr/>
            <p:nvPr/>
          </p:nvSpPr>
          <p:spPr>
            <a:xfrm>
              <a:off x="533400" y="2653665"/>
              <a:ext cx="6059805" cy="684848"/>
            </a:xfrm>
            <a:prstGeom prst="rect">
              <a:avLst/>
            </a:prstGeom>
            <a:solidFill>
              <a:srgbClr val="F4F6FB"/>
            </a:solidFill>
            <a:ln>
              <a:noFill/>
            </a:ln>
          </p:spPr>
        </p:sp>
        <p:sp>
          <p:nvSpPr>
            <p:cNvPr id="14" name="TextBox 14"/>
            <p:cNvSpPr txBox="1"/>
            <p:nvPr/>
          </p:nvSpPr>
          <p:spPr>
            <a:xfrm>
              <a:off x="632270" y="2781300"/>
              <a:ext cx="1484328" cy="504063"/>
            </a:xfrm>
            <a:prstGeom prst="rect">
              <a:avLst/>
            </a:prstGeom>
            <a:noFill/>
            <a:ln>
              <a:noFill/>
            </a:ln>
          </p:spPr>
          <p:txBody>
            <a:bodyPr wrap="none" lIns="0" tIns="0" rIns="0" bIns="0" anchor="t" anchorCtr="0">
              <a:spAutoFit/>
            </a:bodyPr>
            <a:lstStyle/>
            <a:p>
              <a:pPr algn="l">
                <a:lnSpc>
                  <a:spcPts val="1890"/>
                </a:lnSpc>
              </a:pPr>
              <a:r>
                <a:rPr lang="zh-CN" sz="1350" b="1" dirty="0">
                  <a:solidFill>
                    <a:srgbClr val="1F2937"/>
                  </a:solidFill>
                  <a:latin typeface="+mn-lt"/>
                  <a:ea typeface="+mn-ea"/>
                  <a:cs typeface="+mn-cs"/>
                </a:rPr>
                <a:t>一般-特殊结构的深</a:t>
              </a:r>
              <a:br/>
              <a:r>
                <a:rPr lang="zh-CN" sz="1350" b="1" dirty="0">
                  <a:solidFill>
                    <a:srgbClr val="1F2937"/>
                  </a:solidFill>
                  <a:latin typeface="+mn-lt"/>
                  <a:ea typeface="+mn-ea"/>
                  <a:cs typeface="+mn-cs"/>
                </a:rPr>
                <a:t>度应适当</a:t>
              </a:r>
            </a:p>
          </p:txBody>
        </p:sp>
        <p:sp>
          <p:nvSpPr>
            <p:cNvPr id="15" name="TextBox 15"/>
            <p:cNvSpPr txBox="1"/>
            <p:nvPr/>
          </p:nvSpPr>
          <p:spPr>
            <a:xfrm>
              <a:off x="2449639" y="2901315"/>
              <a:ext cx="296694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类层次不要过深，一般不超过 7±2 层</a:t>
              </a:r>
            </a:p>
          </p:txBody>
        </p:sp>
        <p:sp>
          <p:nvSpPr>
            <p:cNvPr id="16" name="Rectangle 16"/>
            <p:cNvSpPr/>
            <p:nvPr/>
          </p:nvSpPr>
          <p:spPr>
            <a:xfrm>
              <a:off x="533400" y="3332798"/>
              <a:ext cx="6059805" cy="9525"/>
            </a:xfrm>
            <a:prstGeom prst="rect">
              <a:avLst/>
            </a:prstGeom>
            <a:solidFill>
              <a:srgbClr val="D9DFEA"/>
            </a:solidFill>
            <a:ln>
              <a:noFill/>
            </a:ln>
          </p:spPr>
        </p:sp>
        <p:sp>
          <p:nvSpPr>
            <p:cNvPr id="17" name="TextBox 17"/>
            <p:cNvSpPr txBox="1"/>
            <p:nvPr/>
          </p:nvSpPr>
          <p:spPr>
            <a:xfrm>
              <a:off x="632270" y="3466148"/>
              <a:ext cx="128587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设计简单的协议</a:t>
              </a:r>
            </a:p>
          </p:txBody>
        </p:sp>
        <p:sp>
          <p:nvSpPr>
            <p:cNvPr id="18" name="TextBox 18"/>
            <p:cNvSpPr txBox="1"/>
            <p:nvPr/>
          </p:nvSpPr>
          <p:spPr>
            <a:xfrm>
              <a:off x="2449639" y="3466148"/>
              <a:ext cx="258529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一条消息的参数一般不超过 3 个</a:t>
              </a:r>
            </a:p>
          </p:txBody>
        </p:sp>
        <p:sp>
          <p:nvSpPr>
            <p:cNvPr id="19" name="Rectangle 19"/>
            <p:cNvSpPr/>
            <p:nvPr/>
          </p:nvSpPr>
          <p:spPr>
            <a:xfrm>
              <a:off x="533400" y="3777615"/>
              <a:ext cx="6059805" cy="9525"/>
            </a:xfrm>
            <a:prstGeom prst="rect">
              <a:avLst/>
            </a:prstGeom>
            <a:solidFill>
              <a:srgbClr val="D9DFEA"/>
            </a:solidFill>
            <a:ln>
              <a:noFill/>
            </a:ln>
          </p:spPr>
        </p:sp>
        <p:sp>
          <p:nvSpPr>
            <p:cNvPr id="20" name="Rectangle 20"/>
            <p:cNvSpPr/>
            <p:nvPr/>
          </p:nvSpPr>
          <p:spPr>
            <a:xfrm>
              <a:off x="533400" y="3782378"/>
              <a:ext cx="6059805" cy="684848"/>
            </a:xfrm>
            <a:prstGeom prst="rect">
              <a:avLst/>
            </a:prstGeom>
            <a:solidFill>
              <a:srgbClr val="F4F6FB"/>
            </a:solidFill>
            <a:ln>
              <a:noFill/>
            </a:ln>
          </p:spPr>
        </p:sp>
        <p:sp>
          <p:nvSpPr>
            <p:cNvPr id="21" name="TextBox 21"/>
            <p:cNvSpPr txBox="1"/>
            <p:nvPr/>
          </p:nvSpPr>
          <p:spPr>
            <a:xfrm>
              <a:off x="632270" y="4030980"/>
              <a:ext cx="110413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设计简单的类</a:t>
              </a:r>
            </a:p>
          </p:txBody>
        </p:sp>
        <p:sp>
          <p:nvSpPr>
            <p:cNvPr id="22" name="TextBox 22"/>
            <p:cNvSpPr txBox="1"/>
            <p:nvPr/>
          </p:nvSpPr>
          <p:spPr>
            <a:xfrm>
              <a:off x="2449639" y="3910965"/>
              <a:ext cx="37856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避免过多属性；定义明确；简化合作关系；服务不</a:t>
              </a:r>
              <a:br/>
              <a:r>
                <a:rPr lang="zh-CN" sz="1350" dirty="0">
                  <a:solidFill>
                    <a:srgbClr val="1F2937"/>
                  </a:solidFill>
                  <a:latin typeface="+mn-lt"/>
                  <a:ea typeface="+mn-ea"/>
                  <a:cs typeface="+mn-cs"/>
                </a:rPr>
                <a:t>要太多</a:t>
              </a:r>
            </a:p>
          </p:txBody>
        </p:sp>
        <p:sp>
          <p:nvSpPr>
            <p:cNvPr id="23" name="Rectangle 23"/>
            <p:cNvSpPr/>
            <p:nvPr/>
          </p:nvSpPr>
          <p:spPr>
            <a:xfrm>
              <a:off x="533400" y="4462462"/>
              <a:ext cx="6059805" cy="9525"/>
            </a:xfrm>
            <a:prstGeom prst="rect">
              <a:avLst/>
            </a:prstGeom>
            <a:solidFill>
              <a:srgbClr val="D9DFEA"/>
            </a:solidFill>
            <a:ln>
              <a:noFill/>
            </a:ln>
          </p:spPr>
        </p:sp>
        <p:sp>
          <p:nvSpPr>
            <p:cNvPr id="24" name="TextBox 24"/>
            <p:cNvSpPr txBox="1"/>
            <p:nvPr/>
          </p:nvSpPr>
          <p:spPr>
            <a:xfrm>
              <a:off x="632270" y="4594860"/>
              <a:ext cx="128587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使用简单的服务</a:t>
              </a:r>
            </a:p>
          </p:txBody>
        </p:sp>
        <p:sp>
          <p:nvSpPr>
            <p:cNvPr id="25" name="TextBox 25"/>
            <p:cNvSpPr txBox="1"/>
            <p:nvPr/>
          </p:nvSpPr>
          <p:spPr>
            <a:xfrm>
              <a:off x="2449639" y="4594860"/>
              <a:ext cx="401193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几行到十几行写完，分支复杂时用继承或委托拆开</a:t>
              </a:r>
            </a:p>
          </p:txBody>
        </p:sp>
        <p:sp>
          <p:nvSpPr>
            <p:cNvPr id="26" name="Rectangle 26"/>
            <p:cNvSpPr/>
            <p:nvPr/>
          </p:nvSpPr>
          <p:spPr>
            <a:xfrm>
              <a:off x="533400" y="4907280"/>
              <a:ext cx="6059805" cy="9525"/>
            </a:xfrm>
            <a:prstGeom prst="rect">
              <a:avLst/>
            </a:prstGeom>
            <a:solidFill>
              <a:srgbClr val="D9DFEA"/>
            </a:solidFill>
            <a:ln>
              <a:noFill/>
            </a:ln>
          </p:spPr>
        </p:sp>
        <p:sp>
          <p:nvSpPr>
            <p:cNvPr id="27" name="Rectangle 27"/>
            <p:cNvSpPr/>
            <p:nvPr/>
          </p:nvSpPr>
          <p:spPr>
            <a:xfrm>
              <a:off x="533400" y="4912042"/>
              <a:ext cx="6059805" cy="684848"/>
            </a:xfrm>
            <a:prstGeom prst="rect">
              <a:avLst/>
            </a:prstGeom>
            <a:solidFill>
              <a:srgbClr val="F4F6FB"/>
            </a:solidFill>
            <a:ln>
              <a:noFill/>
            </a:ln>
          </p:spPr>
        </p:sp>
        <p:sp>
          <p:nvSpPr>
            <p:cNvPr id="28" name="TextBox 28"/>
            <p:cNvSpPr txBox="1"/>
            <p:nvPr/>
          </p:nvSpPr>
          <p:spPr>
            <a:xfrm>
              <a:off x="632270" y="5039678"/>
              <a:ext cx="1385316" cy="504063"/>
            </a:xfrm>
            <a:prstGeom prst="rect">
              <a:avLst/>
            </a:prstGeom>
            <a:noFill/>
            <a:ln>
              <a:noFill/>
            </a:ln>
          </p:spPr>
          <p:txBody>
            <a:bodyPr wrap="none" lIns="0" tIns="0" rIns="0" bIns="0" anchor="t" anchorCtr="0">
              <a:spAutoFit/>
            </a:bodyPr>
            <a:lstStyle/>
            <a:p>
              <a:pPr algn="l">
                <a:lnSpc>
                  <a:spcPts val="1890"/>
                </a:lnSpc>
              </a:pPr>
              <a:r>
                <a:rPr lang="zh-CN" sz="1350" b="1" dirty="0">
                  <a:solidFill>
                    <a:srgbClr val="1F2937"/>
                  </a:solidFill>
                  <a:latin typeface="+mn-lt"/>
                  <a:ea typeface="+mn-ea"/>
                  <a:cs typeface="+mn-cs"/>
                </a:rPr>
                <a:t>把设计变动减至最</a:t>
              </a:r>
              <a:br/>
              <a:r>
                <a:rPr lang="zh-CN" sz="1350" b="1" dirty="0">
                  <a:solidFill>
                    <a:srgbClr val="1F2937"/>
                  </a:solidFill>
                  <a:latin typeface="+mn-lt"/>
                  <a:ea typeface="+mn-ea"/>
                  <a:cs typeface="+mn-cs"/>
                </a:rPr>
                <a:t>小</a:t>
              </a:r>
            </a:p>
          </p:txBody>
        </p:sp>
        <p:sp>
          <p:nvSpPr>
            <p:cNvPr id="29" name="TextBox 29"/>
            <p:cNvSpPr txBox="1"/>
            <p:nvPr/>
          </p:nvSpPr>
          <p:spPr>
            <a:xfrm>
              <a:off x="2449639" y="5159692"/>
              <a:ext cx="364845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变动幅度随时间迅速下降是设计质量好的标志</a:t>
              </a:r>
            </a:p>
          </p:txBody>
        </p:sp>
        <p:sp>
          <p:nvSpPr>
            <p:cNvPr id="30" name="Rectangle 30"/>
            <p:cNvSpPr/>
            <p:nvPr/>
          </p:nvSpPr>
          <p:spPr>
            <a:xfrm>
              <a:off x="533400" y="1524000"/>
              <a:ext cx="6059805" cy="4072890"/>
            </a:xfrm>
            <a:prstGeom prst="rect">
              <a:avLst/>
            </a:prstGeom>
            <a:noFill/>
            <a:ln w="14288">
              <a:solidFill>
                <a:srgbClr val="D9DFEA"/>
              </a:solidFill>
            </a:ln>
          </p:spPr>
        </p:sp>
        <p:sp>
          <p:nvSpPr>
            <p:cNvPr id="31" name="Rectangle 31"/>
            <p:cNvSpPr/>
            <p:nvPr/>
          </p:nvSpPr>
          <p:spPr>
            <a:xfrm>
              <a:off x="2346008" y="1524000"/>
              <a:ext cx="9525" cy="4072890"/>
            </a:xfrm>
            <a:prstGeom prst="rect">
              <a:avLst/>
            </a:prstGeom>
            <a:solidFill>
              <a:srgbClr val="D9DFEA"/>
            </a:solidFill>
            <a:ln>
              <a:noFill/>
            </a:ln>
          </p:spPr>
        </p:sp>
      </p:grpSp>
      <p:grpSp>
        <p:nvGrpSpPr>
          <p:cNvPr id="41" name="c2-card-1"/>
          <p:cNvGrpSpPr/>
          <p:nvPr/>
        </p:nvGrpSpPr>
        <p:grpSpPr>
          <a:xfrm>
            <a:off x="6898005" y="1524000"/>
            <a:ext cx="4760595" cy="2088832"/>
            <a:chOff x="6898005" y="1524000"/>
            <a:chExt cx="4760595" cy="2088832"/>
          </a:xfrm>
        </p:grpSpPr>
        <p:sp>
          <p:nvSpPr>
            <p:cNvPr id="33" name="Rectangle 33"/>
            <p:cNvSpPr/>
            <p:nvPr/>
          </p:nvSpPr>
          <p:spPr>
            <a:xfrm>
              <a:off x="6898005" y="1524000"/>
              <a:ext cx="4760595" cy="2088832"/>
            </a:xfrm>
            <a:prstGeom prst="roundRect">
              <a:avLst>
                <a:gd name="adj" fmla="val 6384"/>
              </a:avLst>
            </a:prstGeom>
            <a:solidFill>
              <a:srgbClr val="FFFFFF"/>
            </a:solidFill>
            <a:ln w="14288">
              <a:solidFill>
                <a:srgbClr val="D9DFEA"/>
              </a:solidFill>
            </a:ln>
          </p:spPr>
        </p:sp>
        <p:sp>
          <p:nvSpPr>
            <p:cNvPr id="34" name="Rectangle 34"/>
            <p:cNvSpPr/>
            <p:nvPr/>
          </p:nvSpPr>
          <p:spPr>
            <a:xfrm>
              <a:off x="6907530" y="1657350"/>
              <a:ext cx="47625" cy="1822132"/>
            </a:xfrm>
            <a:prstGeom prst="roundRect">
              <a:avLst>
                <a:gd name="adj" fmla="val 50000"/>
              </a:avLst>
            </a:prstGeom>
            <a:solidFill>
              <a:srgbClr val="5B6475"/>
            </a:solidFill>
            <a:ln>
              <a:noFill/>
            </a:ln>
          </p:spPr>
        </p:sp>
        <p:sp>
          <p:nvSpPr>
            <p:cNvPr id="35" name="Rectangle 35"/>
            <p:cNvSpPr/>
            <p:nvPr/>
          </p:nvSpPr>
          <p:spPr>
            <a:xfrm>
              <a:off x="7128510" y="1716405"/>
              <a:ext cx="476250" cy="247650"/>
            </a:xfrm>
            <a:prstGeom prst="roundRect">
              <a:avLst>
                <a:gd name="adj" fmla="val 50000"/>
              </a:avLst>
            </a:prstGeom>
            <a:solidFill>
              <a:srgbClr val="F4F6FB"/>
            </a:solidFill>
            <a:ln>
              <a:noFill/>
            </a:ln>
          </p:spPr>
        </p:sp>
        <p:sp>
          <p:nvSpPr>
            <p:cNvPr id="36" name="TextBox 36"/>
            <p:cNvSpPr txBox="1"/>
            <p:nvPr/>
          </p:nvSpPr>
          <p:spPr>
            <a:xfrm>
              <a:off x="7219950" y="1750695"/>
              <a:ext cx="293370" cy="205359"/>
            </a:xfrm>
            <a:prstGeom prst="rect">
              <a:avLst/>
            </a:prstGeom>
            <a:noFill/>
            <a:ln>
              <a:noFill/>
            </a:ln>
          </p:spPr>
          <p:txBody>
            <a:bodyPr wrap="none" lIns="0" tIns="0" rIns="0" bIns="0" anchor="t" anchorCtr="0">
              <a:spAutoFit/>
            </a:bodyPr>
            <a:lstStyle/>
            <a:p>
              <a:pPr algn="ctr"/>
              <a:r>
                <a:rPr lang="zh-CN" sz="1050" b="1" dirty="0">
                  <a:solidFill>
                    <a:srgbClr val="5B6475"/>
                  </a:solidFill>
                  <a:latin typeface="+mn-lt"/>
                  <a:ea typeface="+mn-ea"/>
                  <a:cs typeface="+mn-cs"/>
                </a:rPr>
                <a:t>读图</a:t>
              </a:r>
            </a:p>
          </p:txBody>
        </p:sp>
        <p:sp>
          <p:nvSpPr>
            <p:cNvPr id="37" name="TextBox 37"/>
            <p:cNvSpPr txBox="1"/>
            <p:nvPr/>
          </p:nvSpPr>
          <p:spPr>
            <a:xfrm>
              <a:off x="7712202" y="1756410"/>
              <a:ext cx="214594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原课件的“变动—时间”曲线</a:t>
              </a:r>
            </a:p>
          </p:txBody>
        </p:sp>
        <p:sp>
          <p:nvSpPr>
            <p:cNvPr id="38" name="TextBox 38"/>
            <p:cNvSpPr txBox="1"/>
            <p:nvPr/>
          </p:nvSpPr>
          <p:spPr>
            <a:xfrm>
              <a:off x="7121652" y="2090738"/>
              <a:ext cx="401193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横轴是时间，纵轴是每次修改带来的设计变动量。</a:t>
              </a:r>
            </a:p>
          </p:txBody>
        </p:sp>
        <p:sp>
          <p:nvSpPr>
            <p:cNvPr id="39" name="TextBox 39"/>
            <p:cNvSpPr txBox="1"/>
            <p:nvPr/>
          </p:nvSpPr>
          <p:spPr>
            <a:xfrm>
              <a:off x="7121652" y="2392680"/>
              <a:ext cx="41285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曲线整体下降，中间有几个小尖峰，说明局部返工在所</a:t>
              </a:r>
              <a:br/>
              <a:r>
                <a:rPr lang="zh-CN" sz="1350" dirty="0">
                  <a:solidFill>
                    <a:srgbClr val="1F2937"/>
                  </a:solidFill>
                  <a:latin typeface="+mn-lt"/>
                  <a:ea typeface="+mn-ea"/>
                  <a:cs typeface="+mn-cs"/>
                </a:rPr>
                <a:t>难免，但幅度一次比一次小。</a:t>
              </a:r>
            </a:p>
          </p:txBody>
        </p:sp>
        <p:sp>
          <p:nvSpPr>
            <p:cNvPr id="40" name="TextBox 40"/>
            <p:cNvSpPr txBox="1"/>
            <p:nvPr/>
          </p:nvSpPr>
          <p:spPr>
            <a:xfrm>
              <a:off x="7121652" y="2952750"/>
              <a:ext cx="41285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如果曲线一直居高不下，说明前面的分析和结构设计没</a:t>
              </a:r>
              <a:br/>
              <a:r>
                <a:rPr lang="zh-CN" sz="1350" dirty="0">
                  <a:solidFill>
                    <a:srgbClr val="1F2937"/>
                  </a:solidFill>
                  <a:latin typeface="+mn-lt"/>
                  <a:ea typeface="+mn-ea"/>
                  <a:cs typeface="+mn-cs"/>
                </a:rPr>
                <a:t>做扎实，应该回头重做，而不是继续往上堆代码。</a:t>
              </a:r>
            </a:p>
          </p:txBody>
        </p:sp>
      </p:grpSp>
      <p:grpSp>
        <p:nvGrpSpPr>
          <p:cNvPr id="49" name="c2-bullets-2"/>
          <p:cNvGrpSpPr/>
          <p:nvPr/>
        </p:nvGrpSpPr>
        <p:grpSpPr>
          <a:xfrm>
            <a:off x="6891147" y="3810000"/>
            <a:ext cx="4484751" cy="1464183"/>
            <a:chOff x="6891147" y="3810000"/>
            <a:chExt cx="4484751" cy="1464183"/>
          </a:xfrm>
        </p:grpSpPr>
        <p:sp>
          <p:nvSpPr>
            <p:cNvPr id="42" name="TextBox 42"/>
            <p:cNvSpPr txBox="1"/>
            <p:nvPr/>
          </p:nvSpPr>
          <p:spPr>
            <a:xfrm>
              <a:off x="6891147" y="3810000"/>
              <a:ext cx="1285875"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常见的违规写法</a:t>
              </a:r>
            </a:p>
          </p:txBody>
        </p:sp>
        <p:sp>
          <p:nvSpPr>
            <p:cNvPr id="43" name="Freeform 43"/>
            <p:cNvSpPr/>
            <p:nvPr/>
          </p:nvSpPr>
          <p:spPr>
            <a:xfrm>
              <a:off x="6898005" y="4162425"/>
              <a:ext cx="102870" cy="102870"/>
            </a:xfrm>
            <a:custGeom>
              <a:avLst/>
              <a:gdLst/>
              <a:ahLst/>
              <a:cxnLst/>
              <a:rect l="l" t="t" r="r" b="b"/>
              <a:pathLst>
                <a:path w="102870" h="102870">
                  <a:moveTo>
                    <a:pt x="0" y="0"/>
                  </a:moveTo>
                  <a:lnTo>
                    <a:pt x="102870" y="102870"/>
                  </a:lnTo>
                  <a:moveTo>
                    <a:pt x="102870" y="0"/>
                  </a:moveTo>
                  <a:lnTo>
                    <a:pt x="0" y="102870"/>
                  </a:lnTo>
                </a:path>
              </a:pathLst>
            </a:custGeom>
            <a:noFill/>
            <a:ln w="24765" cap="rnd">
              <a:solidFill>
                <a:srgbClr val="B42318"/>
              </a:solidFill>
            </a:ln>
          </p:spPr>
        </p:sp>
        <p:sp>
          <p:nvSpPr>
            <p:cNvPr id="44" name="TextBox 44"/>
            <p:cNvSpPr txBox="1"/>
            <p:nvPr/>
          </p:nvSpPr>
          <p:spPr>
            <a:xfrm>
              <a:off x="7127367" y="4130040"/>
              <a:ext cx="346671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同一个概念在三个类里用了三个不同的名字</a:t>
              </a:r>
            </a:p>
          </p:txBody>
        </p:sp>
        <p:sp>
          <p:nvSpPr>
            <p:cNvPr id="45" name="Freeform 45"/>
            <p:cNvSpPr/>
            <p:nvPr/>
          </p:nvSpPr>
          <p:spPr>
            <a:xfrm>
              <a:off x="6898005" y="4473892"/>
              <a:ext cx="102870" cy="102870"/>
            </a:xfrm>
            <a:custGeom>
              <a:avLst/>
              <a:gdLst/>
              <a:ahLst/>
              <a:cxnLst/>
              <a:rect l="l" t="t" r="r" b="b"/>
              <a:pathLst>
                <a:path w="102870" h="102870">
                  <a:moveTo>
                    <a:pt x="0" y="0"/>
                  </a:moveTo>
                  <a:lnTo>
                    <a:pt x="102870" y="102870"/>
                  </a:lnTo>
                  <a:moveTo>
                    <a:pt x="102870" y="0"/>
                  </a:moveTo>
                  <a:lnTo>
                    <a:pt x="0" y="102870"/>
                  </a:lnTo>
                </a:path>
              </a:pathLst>
            </a:custGeom>
            <a:noFill/>
            <a:ln w="24765" cap="rnd">
              <a:solidFill>
                <a:srgbClr val="B42318"/>
              </a:solidFill>
            </a:ln>
          </p:spPr>
        </p:sp>
        <p:sp>
          <p:nvSpPr>
            <p:cNvPr id="46" name="TextBox 46"/>
            <p:cNvSpPr txBox="1"/>
            <p:nvPr/>
          </p:nvSpPr>
          <p:spPr>
            <a:xfrm>
              <a:off x="7127367" y="4441508"/>
              <a:ext cx="424853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一个服务带 6 个参数，其中两个只是为了告诉它“当前是</a:t>
              </a:r>
              <a:br/>
              <a:r>
                <a:rPr lang="zh-CN" sz="1350" dirty="0">
                  <a:solidFill>
                    <a:srgbClr val="1F2937"/>
                  </a:solidFill>
                  <a:latin typeface="+mn-lt"/>
                  <a:ea typeface="+mn-ea"/>
                  <a:cs typeface="+mn-cs"/>
                </a:rPr>
                <a:t>哪种模式”</a:t>
              </a:r>
            </a:p>
          </p:txBody>
        </p:sp>
        <p:sp>
          <p:nvSpPr>
            <p:cNvPr id="47" name="Freeform 47"/>
            <p:cNvSpPr/>
            <p:nvPr/>
          </p:nvSpPr>
          <p:spPr>
            <a:xfrm>
              <a:off x="6898005" y="5042535"/>
              <a:ext cx="102870" cy="102870"/>
            </a:xfrm>
            <a:custGeom>
              <a:avLst/>
              <a:gdLst/>
              <a:ahLst/>
              <a:cxnLst/>
              <a:rect l="l" t="t" r="r" b="b"/>
              <a:pathLst>
                <a:path w="102870" h="102870">
                  <a:moveTo>
                    <a:pt x="0" y="0"/>
                  </a:moveTo>
                  <a:lnTo>
                    <a:pt x="102870" y="102870"/>
                  </a:lnTo>
                  <a:moveTo>
                    <a:pt x="102870" y="0"/>
                  </a:moveTo>
                  <a:lnTo>
                    <a:pt x="0" y="102870"/>
                  </a:lnTo>
                </a:path>
              </a:pathLst>
            </a:custGeom>
            <a:noFill/>
            <a:ln w="24765" cap="rnd">
              <a:solidFill>
                <a:srgbClr val="B42318"/>
              </a:solidFill>
            </a:ln>
          </p:spPr>
        </p:sp>
        <p:sp>
          <p:nvSpPr>
            <p:cNvPr id="48" name="TextBox 48"/>
            <p:cNvSpPr txBox="1"/>
            <p:nvPr/>
          </p:nvSpPr>
          <p:spPr>
            <a:xfrm>
              <a:off x="7127367" y="5010150"/>
              <a:ext cx="364845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类层次做到十几层，改一个父类要通读整棵树</a:t>
              </a:r>
            </a:p>
          </p:txBody>
        </p:sp>
      </p:grpSp>
      <p:grpSp>
        <p:nvGrpSpPr>
          <p:cNvPr id="55" name="takeaway"/>
          <p:cNvGrpSpPr/>
          <p:nvPr/>
        </p:nvGrpSpPr>
        <p:grpSpPr>
          <a:xfrm>
            <a:off x="533400" y="5874068"/>
            <a:ext cx="11125200" cy="488632"/>
            <a:chOff x="533400" y="5874068"/>
            <a:chExt cx="11125200" cy="488632"/>
          </a:xfrm>
        </p:grpSpPr>
        <p:sp>
          <p:nvSpPr>
            <p:cNvPr id="50" name="Rectangle 50"/>
            <p:cNvSpPr/>
            <p:nvPr/>
          </p:nvSpPr>
          <p:spPr>
            <a:xfrm>
              <a:off x="533400" y="5874068"/>
              <a:ext cx="11125200" cy="488632"/>
            </a:xfrm>
            <a:prstGeom prst="roundRect">
              <a:avLst>
                <a:gd name="adj" fmla="val 23392"/>
              </a:avLst>
            </a:prstGeom>
            <a:solidFill>
              <a:srgbClr val="334E68"/>
            </a:solidFill>
            <a:ln>
              <a:noFill/>
            </a:ln>
          </p:spPr>
        </p:sp>
        <p:grpSp>
          <p:nvGrpSpPr>
            <p:cNvPr id="53" name="Group 53"/>
            <p:cNvGrpSpPr/>
            <p:nvPr/>
          </p:nvGrpSpPr>
          <p:grpSpPr>
            <a:xfrm>
              <a:off x="738188" y="6017897"/>
              <a:ext cx="200023" cy="200023"/>
              <a:chOff x="738188" y="6017897"/>
              <a:chExt cx="200023" cy="200023"/>
            </a:xfrm>
          </p:grpSpPr>
          <p:sp>
            <p:nvSpPr>
              <p:cNvPr id="51" name="Freeform 51"/>
              <p:cNvSpPr/>
              <p:nvPr/>
            </p:nvSpPr>
            <p:spPr>
              <a:xfrm>
                <a:off x="738188" y="60178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2" name="Freeform 52"/>
              <p:cNvSpPr/>
              <p:nvPr/>
            </p:nvSpPr>
            <p:spPr>
              <a:xfrm>
                <a:off x="871538" y="60845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4" name="TextBox 54"/>
            <p:cNvSpPr txBox="1"/>
            <p:nvPr/>
          </p:nvSpPr>
          <p:spPr>
            <a:xfrm>
              <a:off x="1040892" y="6023610"/>
              <a:ext cx="869165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“一般-特殊结构深度适当”和“设计简单的类”常放在一起考，判断依据是能不能一眼看懂这个类是干什么的。</a:t>
              </a:r>
            </a:p>
          </p:txBody>
        </p:sp>
      </p:grpSp>
      <p:grpSp>
        <p:nvGrpSpPr>
          <p:cNvPr id="58" name="footer"/>
          <p:cNvGrpSpPr/>
          <p:nvPr/>
        </p:nvGrpSpPr>
        <p:grpSpPr>
          <a:xfrm>
            <a:off x="528447" y="6581299"/>
            <a:ext cx="11135106" cy="190690"/>
            <a:chOff x="528447" y="6581299"/>
            <a:chExt cx="11135106" cy="190690"/>
          </a:xfrm>
        </p:grpSpPr>
        <p:sp>
          <p:nvSpPr>
            <p:cNvPr id="56" name="TextBox 56"/>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57" name="TextBox 57"/>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02</a:t>
              </a:r>
            </a:p>
          </p:txBody>
        </p:sp>
      </p:grpSp>
      <p:grpSp>
        <p:nvGrpSpPr>
          <p:cNvPr id="20" name="section-title"/>
          <p:cNvGrpSpPr/>
          <p:nvPr/>
        </p:nvGrpSpPr>
        <p:grpSpPr>
          <a:xfrm>
            <a:off x="667512" y="1835468"/>
            <a:ext cx="3103474" cy="3706177"/>
            <a:chOff x="667512" y="1835468"/>
            <a:chExt cx="3103474" cy="370617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第二部分</a:t>
              </a:r>
            </a:p>
          </p:txBody>
        </p:sp>
        <p:sp>
          <p:nvSpPr>
            <p:cNvPr id="7" name="TextBox 7"/>
            <p:cNvSpPr txBox="1"/>
            <p:nvPr/>
          </p:nvSpPr>
          <p:spPr>
            <a:xfrm>
              <a:off x="667512" y="2240280"/>
              <a:ext cx="3103474"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SOLID 五原则</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2904363"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五条判断类设计好坏的硬标准</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1239012"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单一责任 SRP</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877824"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开闭 OCP</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1239012"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里氏替换 LSP</a:t>
              </a:r>
            </a:p>
          </p:txBody>
        </p:sp>
        <p:sp>
          <p:nvSpPr>
            <p:cNvPr id="16" name="Ellipse 16"/>
            <p:cNvSpPr/>
            <p:nvPr/>
          </p:nvSpPr>
          <p:spPr>
            <a:xfrm>
              <a:off x="723900" y="4951095"/>
              <a:ext cx="76200" cy="76200"/>
            </a:xfrm>
            <a:prstGeom prst="ellipse">
              <a:avLst/>
            </a:prstGeom>
            <a:solidFill>
              <a:srgbClr val="334E68"/>
            </a:solidFill>
            <a:ln>
              <a:noFill/>
            </a:ln>
          </p:spPr>
        </p:sp>
        <p:sp>
          <p:nvSpPr>
            <p:cNvPr id="17" name="TextBox 17"/>
            <p:cNvSpPr txBox="1"/>
            <p:nvPr/>
          </p:nvSpPr>
          <p:spPr>
            <a:xfrm>
              <a:off x="906780" y="4893945"/>
              <a:ext cx="1185672"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接口分离 ISP</a:t>
              </a:r>
            </a:p>
          </p:txBody>
        </p:sp>
        <p:sp>
          <p:nvSpPr>
            <p:cNvPr id="18" name="Ellipse 18"/>
            <p:cNvSpPr/>
            <p:nvPr/>
          </p:nvSpPr>
          <p:spPr>
            <a:xfrm>
              <a:off x="723900" y="5305425"/>
              <a:ext cx="76200" cy="76200"/>
            </a:xfrm>
            <a:prstGeom prst="ellipse">
              <a:avLst/>
            </a:prstGeom>
            <a:solidFill>
              <a:srgbClr val="334E68"/>
            </a:solidFill>
            <a:ln>
              <a:noFill/>
            </a:ln>
          </p:spPr>
        </p:sp>
        <p:sp>
          <p:nvSpPr>
            <p:cNvPr id="19" name="TextBox 19"/>
            <p:cNvSpPr txBox="1"/>
            <p:nvPr/>
          </p:nvSpPr>
          <p:spPr>
            <a:xfrm>
              <a:off x="906780" y="5248275"/>
              <a:ext cx="1185672"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依赖倒转 DIP</a:t>
              </a:r>
            </a:p>
          </p:txBody>
        </p:sp>
      </p:grpSp>
      <p:grpSp>
        <p:nvGrpSpPr>
          <p:cNvPr id="23" name="footer"/>
          <p:cNvGrpSpPr/>
          <p:nvPr/>
        </p:nvGrpSpPr>
        <p:grpSpPr>
          <a:xfrm>
            <a:off x="528447" y="6581299"/>
            <a:ext cx="11135106" cy="190690"/>
            <a:chOff x="528447" y="6581299"/>
            <a:chExt cx="11135106" cy="190690"/>
          </a:xfrm>
        </p:grpSpPr>
        <p:sp>
          <p:nvSpPr>
            <p:cNvPr id="21" name="TextBox 21"/>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22" name="TextBox 22"/>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974385" cy="909257"/>
            <a:chOff x="520446" y="342900"/>
            <a:chExt cx="5974385" cy="909257"/>
          </a:xfrm>
        </p:grpSpPr>
        <p:sp>
          <p:nvSpPr>
            <p:cNvPr id="2" name="Rectangle 2"/>
            <p:cNvSpPr/>
            <p:nvPr/>
          </p:nvSpPr>
          <p:spPr>
            <a:xfrm>
              <a:off x="533400" y="342900"/>
              <a:ext cx="2660332" cy="266700"/>
            </a:xfrm>
            <a:prstGeom prst="roundRect">
              <a:avLst>
                <a:gd name="adj" fmla="val 50000"/>
              </a:avLst>
            </a:prstGeom>
            <a:solidFill>
              <a:srgbClr val="E7EDF3"/>
            </a:solidFill>
            <a:ln>
              <a:noFill/>
            </a:ln>
          </p:spPr>
        </p:sp>
        <p:sp>
          <p:nvSpPr>
            <p:cNvPr id="3" name="TextBox 3"/>
            <p:cNvSpPr txBox="1"/>
            <p:nvPr/>
          </p:nvSpPr>
          <p:spPr>
            <a:xfrm>
              <a:off x="570203" y="407194"/>
              <a:ext cx="25857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SOLID 五原则</a:t>
              </a:r>
            </a:p>
          </p:txBody>
        </p:sp>
        <p:sp>
          <p:nvSpPr>
            <p:cNvPr id="4" name="TextBox 4"/>
            <p:cNvSpPr txBox="1"/>
            <p:nvPr/>
          </p:nvSpPr>
          <p:spPr>
            <a:xfrm>
              <a:off x="520446" y="753428"/>
              <a:ext cx="59743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SOLID 一页总览：五条原则各管一件事</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161" y="1547336"/>
            <a:ext cx="6157497" cy="278702"/>
            <a:chOff x="526161" y="1547336"/>
            <a:chExt cx="6157497" cy="278702"/>
          </a:xfrm>
        </p:grpSpPr>
        <p:sp>
          <p:nvSpPr>
            <p:cNvPr id="7" name="TextBox 7"/>
            <p:cNvSpPr txBox="1"/>
            <p:nvPr/>
          </p:nvSpPr>
          <p:spPr>
            <a:xfrm>
              <a:off x="526161" y="1547336"/>
              <a:ext cx="6157497"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SOLID 是五条原则英文首字母的缩写，由 Robert C. Martin 整理提出。</a:t>
              </a:r>
            </a:p>
          </p:txBody>
        </p:sp>
      </p:grpSp>
      <p:grpSp>
        <p:nvGrpSpPr>
          <p:cNvPr id="51" name="c1-table-1"/>
          <p:cNvGrpSpPr/>
          <p:nvPr/>
        </p:nvGrpSpPr>
        <p:grpSpPr>
          <a:xfrm>
            <a:off x="533400" y="1941195"/>
            <a:ext cx="11125200" cy="3628072"/>
            <a:chOff x="533400" y="1941195"/>
            <a:chExt cx="11125200" cy="3628072"/>
          </a:xfrm>
        </p:grpSpPr>
        <p:sp>
          <p:nvSpPr>
            <p:cNvPr id="9" name="Rectangle 9"/>
            <p:cNvSpPr/>
            <p:nvPr/>
          </p:nvSpPr>
          <p:spPr>
            <a:xfrm>
              <a:off x="533400" y="1941195"/>
              <a:ext cx="11125200" cy="444818"/>
            </a:xfrm>
            <a:prstGeom prst="rect">
              <a:avLst/>
            </a:prstGeom>
            <a:solidFill>
              <a:srgbClr val="334E68"/>
            </a:solidFill>
            <a:ln>
              <a:noFill/>
            </a:ln>
          </p:spPr>
        </p:sp>
        <p:sp>
          <p:nvSpPr>
            <p:cNvPr id="10" name="TextBox 10"/>
            <p:cNvSpPr txBox="1"/>
            <p:nvPr/>
          </p:nvSpPr>
          <p:spPr>
            <a:xfrm>
              <a:off x="678180" y="2069782"/>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字母</a:t>
              </a:r>
            </a:p>
          </p:txBody>
        </p:sp>
        <p:sp>
          <p:nvSpPr>
            <p:cNvPr id="11" name="TextBox 11"/>
            <p:cNvSpPr txBox="1"/>
            <p:nvPr/>
          </p:nvSpPr>
          <p:spPr>
            <a:xfrm>
              <a:off x="2367534" y="2069782"/>
              <a:ext cx="558927"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英文名</a:t>
              </a:r>
            </a:p>
          </p:txBody>
        </p:sp>
        <p:sp>
          <p:nvSpPr>
            <p:cNvPr id="12" name="TextBox 12"/>
            <p:cNvSpPr txBox="1"/>
            <p:nvPr/>
          </p:nvSpPr>
          <p:spPr>
            <a:xfrm>
              <a:off x="4704016" y="2069782"/>
              <a:ext cx="558927"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中文名</a:t>
              </a:r>
            </a:p>
          </p:txBody>
        </p:sp>
        <p:sp>
          <p:nvSpPr>
            <p:cNvPr id="13" name="TextBox 13"/>
            <p:cNvSpPr txBox="1"/>
            <p:nvPr/>
          </p:nvSpPr>
          <p:spPr>
            <a:xfrm>
              <a:off x="7040499" y="2069782"/>
              <a:ext cx="558927"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一句话</a:t>
              </a:r>
            </a:p>
          </p:txBody>
        </p:sp>
        <p:sp>
          <p:nvSpPr>
            <p:cNvPr id="14" name="TextBox 14"/>
            <p:cNvSpPr txBox="1"/>
            <p:nvPr/>
          </p:nvSpPr>
          <p:spPr>
            <a:xfrm>
              <a:off x="9478899" y="2069782"/>
              <a:ext cx="1467612"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违反时的典型信号</a:t>
              </a:r>
            </a:p>
          </p:txBody>
        </p:sp>
        <p:sp>
          <p:nvSpPr>
            <p:cNvPr id="15" name="TextBox 15"/>
            <p:cNvSpPr txBox="1"/>
            <p:nvPr/>
          </p:nvSpPr>
          <p:spPr>
            <a:xfrm>
              <a:off x="632270" y="2634615"/>
              <a:ext cx="124610"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S</a:t>
              </a:r>
            </a:p>
          </p:txBody>
        </p:sp>
        <p:sp>
          <p:nvSpPr>
            <p:cNvPr id="16" name="TextBox 16"/>
            <p:cNvSpPr txBox="1"/>
            <p:nvPr/>
          </p:nvSpPr>
          <p:spPr>
            <a:xfrm>
              <a:off x="1299972" y="2634615"/>
              <a:ext cx="2627773"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Single Responsibility Principle</a:t>
              </a:r>
            </a:p>
          </p:txBody>
        </p:sp>
        <p:sp>
          <p:nvSpPr>
            <p:cNvPr id="17" name="TextBox 17"/>
            <p:cNvSpPr txBox="1"/>
            <p:nvPr/>
          </p:nvSpPr>
          <p:spPr>
            <a:xfrm>
              <a:off x="4192714" y="2634615"/>
              <a:ext cx="110413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单一责任原则</a:t>
              </a:r>
            </a:p>
          </p:txBody>
        </p:sp>
        <p:sp>
          <p:nvSpPr>
            <p:cNvPr id="18" name="TextBox 18"/>
            <p:cNvSpPr txBox="1"/>
            <p:nvPr/>
          </p:nvSpPr>
          <p:spPr>
            <a:xfrm>
              <a:off x="5971984" y="2514600"/>
              <a:ext cx="24140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一个类只应有一个引起它变化的</a:t>
              </a:r>
              <a:br/>
              <a:r>
                <a:rPr lang="zh-CN" sz="1350" dirty="0">
                  <a:solidFill>
                    <a:srgbClr val="1F2937"/>
                  </a:solidFill>
                  <a:latin typeface="+mn-lt"/>
                  <a:ea typeface="+mn-ea"/>
                  <a:cs typeface="+mn-cs"/>
                </a:rPr>
                <a:t>原因</a:t>
              </a:r>
            </a:p>
          </p:txBody>
        </p:sp>
        <p:sp>
          <p:nvSpPr>
            <p:cNvPr id="19" name="TextBox 19"/>
            <p:cNvSpPr txBox="1"/>
            <p:nvPr/>
          </p:nvSpPr>
          <p:spPr>
            <a:xfrm>
              <a:off x="8864727" y="2514600"/>
              <a:ext cx="2465451"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改需求 A 和改需求 B 都要动同一</a:t>
              </a:r>
              <a:br/>
              <a:r>
                <a:rPr lang="zh-CN" sz="1350" dirty="0">
                  <a:solidFill>
                    <a:srgbClr val="1F2937"/>
                  </a:solidFill>
                  <a:latin typeface="+mn-lt"/>
                  <a:ea typeface="+mn-ea"/>
                  <a:cs typeface="+mn-cs"/>
                </a:rPr>
                <a:t>个类</a:t>
              </a:r>
            </a:p>
          </p:txBody>
        </p:sp>
        <p:sp>
          <p:nvSpPr>
            <p:cNvPr id="20" name="Rectangle 20"/>
            <p:cNvSpPr/>
            <p:nvPr/>
          </p:nvSpPr>
          <p:spPr>
            <a:xfrm>
              <a:off x="533400" y="3066098"/>
              <a:ext cx="11125200" cy="9525"/>
            </a:xfrm>
            <a:prstGeom prst="rect">
              <a:avLst/>
            </a:prstGeom>
            <a:solidFill>
              <a:srgbClr val="D9DFEA"/>
            </a:solidFill>
            <a:ln>
              <a:noFill/>
            </a:ln>
          </p:spPr>
        </p:sp>
        <p:sp>
          <p:nvSpPr>
            <p:cNvPr id="21" name="Rectangle 21"/>
            <p:cNvSpPr/>
            <p:nvPr/>
          </p:nvSpPr>
          <p:spPr>
            <a:xfrm>
              <a:off x="533400" y="3070860"/>
              <a:ext cx="11125200" cy="444818"/>
            </a:xfrm>
            <a:prstGeom prst="rect">
              <a:avLst/>
            </a:prstGeom>
            <a:solidFill>
              <a:srgbClr val="F4F6FB"/>
            </a:solidFill>
            <a:ln>
              <a:noFill/>
            </a:ln>
          </p:spPr>
        </p:sp>
        <p:sp>
          <p:nvSpPr>
            <p:cNvPr id="22" name="TextBox 22"/>
            <p:cNvSpPr txBox="1"/>
            <p:nvPr/>
          </p:nvSpPr>
          <p:spPr>
            <a:xfrm>
              <a:off x="632270" y="3198495"/>
              <a:ext cx="164935"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O</a:t>
              </a:r>
            </a:p>
          </p:txBody>
        </p:sp>
        <p:sp>
          <p:nvSpPr>
            <p:cNvPr id="23" name="TextBox 23"/>
            <p:cNvSpPr txBox="1"/>
            <p:nvPr/>
          </p:nvSpPr>
          <p:spPr>
            <a:xfrm>
              <a:off x="1299972" y="3198495"/>
              <a:ext cx="1939009"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Open/Closed Principle</a:t>
              </a:r>
            </a:p>
          </p:txBody>
        </p:sp>
        <p:sp>
          <p:nvSpPr>
            <p:cNvPr id="24" name="TextBox 24"/>
            <p:cNvSpPr txBox="1"/>
            <p:nvPr/>
          </p:nvSpPr>
          <p:spPr>
            <a:xfrm>
              <a:off x="4192714" y="3198495"/>
              <a:ext cx="7406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开闭原则</a:t>
              </a:r>
            </a:p>
          </p:txBody>
        </p:sp>
        <p:sp>
          <p:nvSpPr>
            <p:cNvPr id="25" name="TextBox 25"/>
            <p:cNvSpPr txBox="1"/>
            <p:nvPr/>
          </p:nvSpPr>
          <p:spPr>
            <a:xfrm>
              <a:off x="5971984" y="3198495"/>
              <a:ext cx="201282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对扩展开放，对修改关闭</a:t>
              </a:r>
            </a:p>
          </p:txBody>
        </p:sp>
        <p:sp>
          <p:nvSpPr>
            <p:cNvPr id="26" name="TextBox 26"/>
            <p:cNvSpPr txBox="1"/>
            <p:nvPr/>
          </p:nvSpPr>
          <p:spPr>
            <a:xfrm>
              <a:off x="8864727" y="3198495"/>
              <a:ext cx="255803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每加一种新情况都要回去改老类</a:t>
              </a:r>
            </a:p>
          </p:txBody>
        </p:sp>
        <p:sp>
          <p:nvSpPr>
            <p:cNvPr id="27" name="Rectangle 27"/>
            <p:cNvSpPr/>
            <p:nvPr/>
          </p:nvSpPr>
          <p:spPr>
            <a:xfrm>
              <a:off x="533400" y="3510915"/>
              <a:ext cx="11125200" cy="9525"/>
            </a:xfrm>
            <a:prstGeom prst="rect">
              <a:avLst/>
            </a:prstGeom>
            <a:solidFill>
              <a:srgbClr val="D9DFEA"/>
            </a:solidFill>
            <a:ln>
              <a:noFill/>
            </a:ln>
          </p:spPr>
        </p:sp>
        <p:sp>
          <p:nvSpPr>
            <p:cNvPr id="28" name="TextBox 28"/>
            <p:cNvSpPr txBox="1"/>
            <p:nvPr/>
          </p:nvSpPr>
          <p:spPr>
            <a:xfrm>
              <a:off x="632270" y="3763327"/>
              <a:ext cx="124610"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L</a:t>
              </a:r>
            </a:p>
          </p:txBody>
        </p:sp>
        <p:sp>
          <p:nvSpPr>
            <p:cNvPr id="29" name="TextBox 29"/>
            <p:cNvSpPr txBox="1"/>
            <p:nvPr/>
          </p:nvSpPr>
          <p:spPr>
            <a:xfrm>
              <a:off x="1299972" y="3763327"/>
              <a:ext cx="2564892"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Liskov Substitution Principle</a:t>
              </a:r>
            </a:p>
          </p:txBody>
        </p:sp>
        <p:sp>
          <p:nvSpPr>
            <p:cNvPr id="30" name="TextBox 30"/>
            <p:cNvSpPr txBox="1"/>
            <p:nvPr/>
          </p:nvSpPr>
          <p:spPr>
            <a:xfrm>
              <a:off x="4192714" y="3763327"/>
              <a:ext cx="110413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里氏替换原则</a:t>
              </a:r>
            </a:p>
          </p:txBody>
        </p:sp>
        <p:sp>
          <p:nvSpPr>
            <p:cNvPr id="31" name="TextBox 31"/>
            <p:cNvSpPr txBox="1"/>
            <p:nvPr/>
          </p:nvSpPr>
          <p:spPr>
            <a:xfrm>
              <a:off x="5971984" y="3643312"/>
              <a:ext cx="24140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子类对象必须能替换父类对象而</a:t>
              </a:r>
              <a:br/>
              <a:r>
                <a:rPr lang="zh-CN" sz="1350" dirty="0">
                  <a:solidFill>
                    <a:srgbClr val="1F2937"/>
                  </a:solidFill>
                  <a:latin typeface="+mn-lt"/>
                  <a:ea typeface="+mn-ea"/>
                  <a:cs typeface="+mn-cs"/>
                </a:rPr>
                <a:t>不出错</a:t>
              </a:r>
            </a:p>
          </p:txBody>
        </p:sp>
        <p:sp>
          <p:nvSpPr>
            <p:cNvPr id="32" name="TextBox 32"/>
            <p:cNvSpPr txBox="1"/>
            <p:nvPr/>
          </p:nvSpPr>
          <p:spPr>
            <a:xfrm>
              <a:off x="8864727" y="3763327"/>
              <a:ext cx="255803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子类重写后父类的断言不再成立</a:t>
              </a:r>
            </a:p>
          </p:txBody>
        </p:sp>
        <p:sp>
          <p:nvSpPr>
            <p:cNvPr id="33" name="Rectangle 33"/>
            <p:cNvSpPr/>
            <p:nvPr/>
          </p:nvSpPr>
          <p:spPr>
            <a:xfrm>
              <a:off x="533400" y="4195762"/>
              <a:ext cx="11125200" cy="9525"/>
            </a:xfrm>
            <a:prstGeom prst="rect">
              <a:avLst/>
            </a:prstGeom>
            <a:solidFill>
              <a:srgbClr val="D9DFEA"/>
            </a:solidFill>
            <a:ln>
              <a:noFill/>
            </a:ln>
          </p:spPr>
        </p:sp>
        <p:sp>
          <p:nvSpPr>
            <p:cNvPr id="34" name="Rectangle 34"/>
            <p:cNvSpPr/>
            <p:nvPr/>
          </p:nvSpPr>
          <p:spPr>
            <a:xfrm>
              <a:off x="533400" y="4200525"/>
              <a:ext cx="11125200" cy="684848"/>
            </a:xfrm>
            <a:prstGeom prst="rect">
              <a:avLst/>
            </a:prstGeom>
            <a:solidFill>
              <a:srgbClr val="F4F6FB"/>
            </a:solidFill>
            <a:ln>
              <a:noFill/>
            </a:ln>
          </p:spPr>
        </p:sp>
        <p:sp>
          <p:nvSpPr>
            <p:cNvPr id="35" name="TextBox 35"/>
            <p:cNvSpPr txBox="1"/>
            <p:nvPr/>
          </p:nvSpPr>
          <p:spPr>
            <a:xfrm>
              <a:off x="632270" y="4448175"/>
              <a:ext cx="74204"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I</a:t>
              </a:r>
            </a:p>
          </p:txBody>
        </p:sp>
        <p:sp>
          <p:nvSpPr>
            <p:cNvPr id="36" name="TextBox 36"/>
            <p:cNvSpPr txBox="1"/>
            <p:nvPr/>
          </p:nvSpPr>
          <p:spPr>
            <a:xfrm>
              <a:off x="1299972" y="4328160"/>
              <a:ext cx="1865376" cy="504063"/>
            </a:xfrm>
            <a:prstGeom prst="rect">
              <a:avLst/>
            </a:prstGeom>
            <a:noFill/>
            <a:ln>
              <a:noFill/>
            </a:ln>
          </p:spPr>
          <p:txBody>
            <a:bodyPr wrap="none" lIns="0" tIns="0" rIns="0" bIns="0" anchor="t" anchorCtr="0">
              <a:spAutoFit/>
            </a:bodyPr>
            <a:lstStyle/>
            <a:p>
              <a:pPr algn="l">
                <a:lnSpc>
                  <a:spcPts val="1890"/>
                </a:lnSpc>
              </a:pPr>
              <a:r>
                <a:rPr lang="en-US" sz="1350" dirty="0">
                  <a:solidFill>
                    <a:srgbClr val="1F2937"/>
                  </a:solidFill>
                  <a:latin typeface="+mn-lt"/>
                  <a:ea typeface="+mn-ea"/>
                  <a:cs typeface="+mn-cs"/>
                </a:rPr>
                <a:t>Interface Segregation</a:t>
              </a:r>
              <a:br/>
              <a:r>
                <a:rPr lang="en-US" sz="1350" dirty="0">
                  <a:solidFill>
                    <a:srgbClr val="1F2937"/>
                  </a:solidFill>
                  <a:latin typeface="+mn-lt"/>
                  <a:ea typeface="+mn-ea"/>
                  <a:cs typeface="+mn-cs"/>
                </a:rPr>
                <a:t>Principle</a:t>
              </a:r>
            </a:p>
          </p:txBody>
        </p:sp>
        <p:sp>
          <p:nvSpPr>
            <p:cNvPr id="37" name="TextBox 37"/>
            <p:cNvSpPr txBox="1"/>
            <p:nvPr/>
          </p:nvSpPr>
          <p:spPr>
            <a:xfrm>
              <a:off x="4192714" y="4448175"/>
              <a:ext cx="110413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接口分离原则</a:t>
              </a:r>
            </a:p>
          </p:txBody>
        </p:sp>
        <p:sp>
          <p:nvSpPr>
            <p:cNvPr id="38" name="TextBox 38"/>
            <p:cNvSpPr txBox="1"/>
            <p:nvPr/>
          </p:nvSpPr>
          <p:spPr>
            <a:xfrm>
              <a:off x="5971984" y="4328160"/>
              <a:ext cx="24140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不该强迫客户依赖它用不到的方</a:t>
              </a:r>
              <a:br/>
              <a:r>
                <a:rPr lang="zh-CN" sz="1350" dirty="0">
                  <a:solidFill>
                    <a:srgbClr val="1F2937"/>
                  </a:solidFill>
                  <a:latin typeface="+mn-lt"/>
                  <a:ea typeface="+mn-ea"/>
                  <a:cs typeface="+mn-cs"/>
                </a:rPr>
                <a:t>法</a:t>
              </a:r>
            </a:p>
          </p:txBody>
        </p:sp>
        <p:sp>
          <p:nvSpPr>
            <p:cNvPr id="39" name="TextBox 39"/>
            <p:cNvSpPr txBox="1"/>
            <p:nvPr/>
          </p:nvSpPr>
          <p:spPr>
            <a:xfrm>
              <a:off x="8864727" y="4328160"/>
              <a:ext cx="24140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一个大接口里客户只用到两三个</a:t>
              </a:r>
              <a:br/>
              <a:r>
                <a:rPr lang="zh-CN" sz="1350" dirty="0">
                  <a:solidFill>
                    <a:srgbClr val="1F2937"/>
                  </a:solidFill>
                  <a:latin typeface="+mn-lt"/>
                  <a:ea typeface="+mn-ea"/>
                  <a:cs typeface="+mn-cs"/>
                </a:rPr>
                <a:t>方法</a:t>
              </a:r>
            </a:p>
          </p:txBody>
        </p:sp>
        <p:sp>
          <p:nvSpPr>
            <p:cNvPr id="40" name="Rectangle 40"/>
            <p:cNvSpPr/>
            <p:nvPr/>
          </p:nvSpPr>
          <p:spPr>
            <a:xfrm>
              <a:off x="533400" y="4879658"/>
              <a:ext cx="11125200" cy="9525"/>
            </a:xfrm>
            <a:prstGeom prst="rect">
              <a:avLst/>
            </a:prstGeom>
            <a:solidFill>
              <a:srgbClr val="D9DFEA"/>
            </a:solidFill>
            <a:ln>
              <a:noFill/>
            </a:ln>
          </p:spPr>
        </p:sp>
        <p:sp>
          <p:nvSpPr>
            <p:cNvPr id="41" name="TextBox 41"/>
            <p:cNvSpPr txBox="1"/>
            <p:nvPr/>
          </p:nvSpPr>
          <p:spPr>
            <a:xfrm>
              <a:off x="632270" y="5133023"/>
              <a:ext cx="124610"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D</a:t>
              </a:r>
            </a:p>
          </p:txBody>
        </p:sp>
        <p:sp>
          <p:nvSpPr>
            <p:cNvPr id="42" name="TextBox 42"/>
            <p:cNvSpPr txBox="1"/>
            <p:nvPr/>
          </p:nvSpPr>
          <p:spPr>
            <a:xfrm>
              <a:off x="1299972" y="5133023"/>
              <a:ext cx="2710594"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Dependency Inversion Principle</a:t>
              </a:r>
            </a:p>
          </p:txBody>
        </p:sp>
        <p:sp>
          <p:nvSpPr>
            <p:cNvPr id="43" name="TextBox 43"/>
            <p:cNvSpPr txBox="1"/>
            <p:nvPr/>
          </p:nvSpPr>
          <p:spPr>
            <a:xfrm>
              <a:off x="4192714" y="5133023"/>
              <a:ext cx="110413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依赖倒转原则</a:t>
              </a:r>
            </a:p>
          </p:txBody>
        </p:sp>
        <p:sp>
          <p:nvSpPr>
            <p:cNvPr id="44" name="TextBox 44"/>
            <p:cNvSpPr txBox="1"/>
            <p:nvPr/>
          </p:nvSpPr>
          <p:spPr>
            <a:xfrm>
              <a:off x="5971984" y="5013008"/>
              <a:ext cx="24140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高层和低层都依赖抽象，抽象不</a:t>
              </a:r>
              <a:br/>
              <a:r>
                <a:rPr lang="zh-CN" sz="1350" dirty="0">
                  <a:solidFill>
                    <a:srgbClr val="1F2937"/>
                  </a:solidFill>
                  <a:latin typeface="+mn-lt"/>
                  <a:ea typeface="+mn-ea"/>
                  <a:cs typeface="+mn-cs"/>
                </a:rPr>
                <a:t>依赖细节</a:t>
              </a:r>
            </a:p>
          </p:txBody>
        </p:sp>
        <p:sp>
          <p:nvSpPr>
            <p:cNvPr id="45" name="TextBox 45"/>
            <p:cNvSpPr txBox="1"/>
            <p:nvPr/>
          </p:nvSpPr>
          <p:spPr>
            <a:xfrm>
              <a:off x="8864727" y="5133023"/>
              <a:ext cx="227634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高层模块里到处 new 具体类</a:t>
              </a:r>
            </a:p>
          </p:txBody>
        </p:sp>
        <p:sp>
          <p:nvSpPr>
            <p:cNvPr id="46" name="Rectangle 46"/>
            <p:cNvSpPr/>
            <p:nvPr/>
          </p:nvSpPr>
          <p:spPr>
            <a:xfrm>
              <a:off x="533400" y="1941195"/>
              <a:ext cx="11125200" cy="3628072"/>
            </a:xfrm>
            <a:prstGeom prst="rect">
              <a:avLst/>
            </a:prstGeom>
            <a:noFill/>
            <a:ln w="14288">
              <a:solidFill>
                <a:srgbClr val="D9DFEA"/>
              </a:solidFill>
            </a:ln>
          </p:spPr>
        </p:sp>
        <p:sp>
          <p:nvSpPr>
            <p:cNvPr id="47" name="Rectangle 47"/>
            <p:cNvSpPr/>
            <p:nvPr/>
          </p:nvSpPr>
          <p:spPr>
            <a:xfrm>
              <a:off x="1196340" y="1941195"/>
              <a:ext cx="9525" cy="3628072"/>
            </a:xfrm>
            <a:prstGeom prst="rect">
              <a:avLst/>
            </a:prstGeom>
            <a:solidFill>
              <a:srgbClr val="D9DFEA"/>
            </a:solidFill>
            <a:ln>
              <a:noFill/>
            </a:ln>
          </p:spPr>
        </p:sp>
        <p:sp>
          <p:nvSpPr>
            <p:cNvPr id="48" name="Rectangle 48"/>
            <p:cNvSpPr/>
            <p:nvPr/>
          </p:nvSpPr>
          <p:spPr>
            <a:xfrm>
              <a:off x="4089082" y="1941195"/>
              <a:ext cx="9525" cy="3628072"/>
            </a:xfrm>
            <a:prstGeom prst="rect">
              <a:avLst/>
            </a:prstGeom>
            <a:solidFill>
              <a:srgbClr val="D9DFEA"/>
            </a:solidFill>
            <a:ln>
              <a:noFill/>
            </a:ln>
          </p:spPr>
        </p:sp>
        <p:sp>
          <p:nvSpPr>
            <p:cNvPr id="49" name="Rectangle 49"/>
            <p:cNvSpPr/>
            <p:nvPr/>
          </p:nvSpPr>
          <p:spPr>
            <a:xfrm>
              <a:off x="5868352" y="1941195"/>
              <a:ext cx="9525" cy="3628072"/>
            </a:xfrm>
            <a:prstGeom prst="rect">
              <a:avLst/>
            </a:prstGeom>
            <a:solidFill>
              <a:srgbClr val="D9DFEA"/>
            </a:solidFill>
            <a:ln>
              <a:noFill/>
            </a:ln>
          </p:spPr>
        </p:sp>
        <p:sp>
          <p:nvSpPr>
            <p:cNvPr id="50" name="Rectangle 50"/>
            <p:cNvSpPr/>
            <p:nvPr/>
          </p:nvSpPr>
          <p:spPr>
            <a:xfrm>
              <a:off x="8761095" y="1941195"/>
              <a:ext cx="9525" cy="3628072"/>
            </a:xfrm>
            <a:prstGeom prst="rect">
              <a:avLst/>
            </a:prstGeom>
            <a:solidFill>
              <a:srgbClr val="D9DFEA"/>
            </a:solidFill>
            <a:ln>
              <a:noFill/>
            </a:ln>
          </p:spPr>
        </p:sp>
      </p:grpSp>
      <p:grpSp>
        <p:nvGrpSpPr>
          <p:cNvPr id="57" name="c1-callout-2"/>
          <p:cNvGrpSpPr/>
          <p:nvPr/>
        </p:nvGrpSpPr>
        <p:grpSpPr>
          <a:xfrm>
            <a:off x="533400" y="5744528"/>
            <a:ext cx="11125200" cy="618172"/>
            <a:chOff x="533400" y="5744528"/>
            <a:chExt cx="11125200" cy="618172"/>
          </a:xfrm>
        </p:grpSpPr>
        <p:sp>
          <p:nvSpPr>
            <p:cNvPr id="52" name="Rectangle 52"/>
            <p:cNvSpPr/>
            <p:nvPr/>
          </p:nvSpPr>
          <p:spPr>
            <a:xfrm>
              <a:off x="533400" y="5744528"/>
              <a:ext cx="11125200" cy="618172"/>
            </a:xfrm>
            <a:prstGeom prst="roundRect">
              <a:avLst>
                <a:gd name="adj" fmla="val 18490"/>
              </a:avLst>
            </a:prstGeom>
            <a:solidFill>
              <a:srgbClr val="334E68"/>
            </a:solidFill>
            <a:ln>
              <a:noFill/>
            </a:ln>
          </p:spPr>
        </p:sp>
        <p:grpSp>
          <p:nvGrpSpPr>
            <p:cNvPr id="55" name="Group 55"/>
            <p:cNvGrpSpPr/>
            <p:nvPr/>
          </p:nvGrpSpPr>
          <p:grpSpPr>
            <a:xfrm>
              <a:off x="738188" y="5953127"/>
              <a:ext cx="200023" cy="200023"/>
              <a:chOff x="738188" y="5953127"/>
              <a:chExt cx="200023" cy="200023"/>
            </a:xfrm>
          </p:grpSpPr>
          <p:sp>
            <p:nvSpPr>
              <p:cNvPr id="53" name="Freeform 53"/>
              <p:cNvSpPr/>
              <p:nvPr/>
            </p:nvSpPr>
            <p:spPr>
              <a:xfrm>
                <a:off x="738188" y="595312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4" name="Freeform 54"/>
              <p:cNvSpPr/>
              <p:nvPr/>
            </p:nvSpPr>
            <p:spPr>
              <a:xfrm>
                <a:off x="871538" y="601980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6" name="TextBox 56"/>
            <p:cNvSpPr txBox="1"/>
            <p:nvPr/>
          </p:nvSpPr>
          <p:spPr>
            <a:xfrm>
              <a:off x="1040892" y="5959792"/>
              <a:ext cx="7464933"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五条原则的共同手法只有一个：把会变的部分抽成接口或抽象类，让别的代码只认这个接口。</a:t>
              </a:r>
            </a:p>
          </p:txBody>
        </p:sp>
      </p:grpSp>
      <p:grpSp>
        <p:nvGrpSpPr>
          <p:cNvPr id="60" name="footer"/>
          <p:cNvGrpSpPr/>
          <p:nvPr/>
        </p:nvGrpSpPr>
        <p:grpSpPr>
          <a:xfrm>
            <a:off x="528447" y="6581299"/>
            <a:ext cx="11135106" cy="190690"/>
            <a:chOff x="528447" y="6581299"/>
            <a:chExt cx="11135106" cy="190690"/>
          </a:xfrm>
        </p:grpSpPr>
        <p:sp>
          <p:nvSpPr>
            <p:cNvPr id="58" name="TextBox 58"/>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59" name="TextBox 5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914894" cy="909257"/>
            <a:chOff x="520446" y="342900"/>
            <a:chExt cx="5914894" cy="909257"/>
          </a:xfrm>
        </p:grpSpPr>
        <p:sp>
          <p:nvSpPr>
            <p:cNvPr id="2" name="Rectangle 2"/>
            <p:cNvSpPr/>
            <p:nvPr/>
          </p:nvSpPr>
          <p:spPr>
            <a:xfrm>
              <a:off x="533400" y="342900"/>
              <a:ext cx="2660332" cy="266700"/>
            </a:xfrm>
            <a:prstGeom prst="roundRect">
              <a:avLst>
                <a:gd name="adj" fmla="val 50000"/>
              </a:avLst>
            </a:prstGeom>
            <a:solidFill>
              <a:srgbClr val="E7EDF3"/>
            </a:solidFill>
            <a:ln>
              <a:noFill/>
            </a:ln>
          </p:spPr>
        </p:sp>
        <p:sp>
          <p:nvSpPr>
            <p:cNvPr id="3" name="TextBox 3"/>
            <p:cNvSpPr txBox="1"/>
            <p:nvPr/>
          </p:nvSpPr>
          <p:spPr>
            <a:xfrm>
              <a:off x="570203" y="407194"/>
              <a:ext cx="25857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SOLID 五原则</a:t>
              </a:r>
            </a:p>
          </p:txBody>
        </p:sp>
        <p:sp>
          <p:nvSpPr>
            <p:cNvPr id="4" name="TextBox 4"/>
            <p:cNvSpPr txBox="1"/>
            <p:nvPr/>
          </p:nvSpPr>
          <p:spPr>
            <a:xfrm>
              <a:off x="520446" y="753428"/>
              <a:ext cx="591489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单一责任：责任就是“引起变化的原因”</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7" name="c1-card-1"/>
          <p:cNvGrpSpPr/>
          <p:nvPr/>
        </p:nvGrpSpPr>
        <p:grpSpPr>
          <a:xfrm>
            <a:off x="533400" y="1524000"/>
            <a:ext cx="5626418" cy="2346008"/>
            <a:chOff x="533400" y="1524000"/>
            <a:chExt cx="5626418" cy="2346008"/>
          </a:xfrm>
        </p:grpSpPr>
        <p:sp>
          <p:nvSpPr>
            <p:cNvPr id="7" name="Rectangle 7"/>
            <p:cNvSpPr/>
            <p:nvPr/>
          </p:nvSpPr>
          <p:spPr>
            <a:xfrm>
              <a:off x="533400" y="1524000"/>
              <a:ext cx="5626418" cy="2346008"/>
            </a:xfrm>
            <a:prstGeom prst="roundRect">
              <a:avLst>
                <a:gd name="adj" fmla="val 5684"/>
              </a:avLst>
            </a:prstGeom>
            <a:solidFill>
              <a:srgbClr val="FFFFFF"/>
            </a:solidFill>
            <a:ln w="14288">
              <a:solidFill>
                <a:srgbClr val="D9DFEA"/>
              </a:solidFill>
            </a:ln>
          </p:spPr>
        </p:sp>
        <p:sp>
          <p:nvSpPr>
            <p:cNvPr id="8" name="Rectangle 8"/>
            <p:cNvSpPr/>
            <p:nvPr/>
          </p:nvSpPr>
          <p:spPr>
            <a:xfrm>
              <a:off x="542925" y="1657350"/>
              <a:ext cx="47625" cy="2079308"/>
            </a:xfrm>
            <a:prstGeom prst="roundRect">
              <a:avLst>
                <a:gd name="adj" fmla="val 50000"/>
              </a:avLst>
            </a:prstGeom>
            <a:solidFill>
              <a:srgbClr val="334E68"/>
            </a:solidFill>
            <a:ln>
              <a:noFill/>
            </a:ln>
          </p:spPr>
        </p:sp>
        <p:sp>
          <p:nvSpPr>
            <p:cNvPr id="9" name="Rectangle 9"/>
            <p:cNvSpPr/>
            <p:nvPr/>
          </p:nvSpPr>
          <p:spPr>
            <a:xfrm>
              <a:off x="763905" y="1716405"/>
              <a:ext cx="476250" cy="247650"/>
            </a:xfrm>
            <a:prstGeom prst="roundRect">
              <a:avLst>
                <a:gd name="adj" fmla="val 50000"/>
              </a:avLst>
            </a:prstGeom>
            <a:solidFill>
              <a:srgbClr val="E7EDF3"/>
            </a:solidFill>
            <a:ln>
              <a:noFill/>
            </a:ln>
          </p:spPr>
        </p:sp>
        <p:sp>
          <p:nvSpPr>
            <p:cNvPr id="10" name="TextBox 10"/>
            <p:cNvSpPr txBox="1"/>
            <p:nvPr/>
          </p:nvSpPr>
          <p:spPr>
            <a:xfrm>
              <a:off x="855345" y="1750695"/>
              <a:ext cx="293370"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定义</a:t>
              </a:r>
            </a:p>
          </p:txBody>
        </p:sp>
        <p:sp>
          <p:nvSpPr>
            <p:cNvPr id="11" name="TextBox 11"/>
            <p:cNvSpPr txBox="1"/>
            <p:nvPr/>
          </p:nvSpPr>
          <p:spPr>
            <a:xfrm>
              <a:off x="1347597" y="1756410"/>
              <a:ext cx="2758476"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Single Responsibility Principle</a:t>
              </a:r>
            </a:p>
          </p:txBody>
        </p:sp>
        <p:sp>
          <p:nvSpPr>
            <p:cNvPr id="12" name="TextBox 12"/>
            <p:cNvSpPr txBox="1"/>
            <p:nvPr/>
          </p:nvSpPr>
          <p:spPr>
            <a:xfrm>
              <a:off x="757047" y="2090738"/>
              <a:ext cx="4900041" cy="778383"/>
            </a:xfrm>
            <a:prstGeom prst="rect">
              <a:avLst/>
            </a:prstGeom>
            <a:noFill/>
            <a:ln>
              <a:noFill/>
            </a:ln>
          </p:spPr>
          <p:txBody>
            <a:bodyPr wrap="none" lIns="0" tIns="0" rIns="0" bIns="0" anchor="t" anchorCtr="0">
              <a:spAutoFit/>
            </a:bodyPr>
            <a:lstStyle/>
            <a:p>
              <a:pPr algn="l">
                <a:lnSpc>
                  <a:spcPts val="2025"/>
                </a:lnSpc>
              </a:pPr>
              <a:r>
                <a:rPr lang="en-US" sz="1350" dirty="0">
                  <a:solidFill>
                    <a:srgbClr val="1F2937"/>
                  </a:solidFill>
                  <a:latin typeface="+mn-lt"/>
                  <a:ea typeface="+mn-ea"/>
                  <a:cs typeface="+mn-cs"/>
                </a:rPr>
                <a:t>Every context (class, function, variable, etc.) should</a:t>
              </a:r>
              <a:br/>
              <a:r>
                <a:rPr lang="en-US" sz="1350" dirty="0">
                  <a:solidFill>
                    <a:srgbClr val="1F2937"/>
                  </a:solidFill>
                  <a:latin typeface="+mn-lt"/>
                  <a:ea typeface="+mn-ea"/>
                  <a:cs typeface="+mn-cs"/>
                </a:rPr>
                <a:t>have a single responsibility, and that responsibility should</a:t>
              </a:r>
              <a:br/>
              <a:r>
                <a:rPr lang="en-US" sz="1350" dirty="0">
                  <a:solidFill>
                    <a:srgbClr val="1F2937"/>
                  </a:solidFill>
                  <a:latin typeface="+mn-lt"/>
                  <a:ea typeface="+mn-ea"/>
                  <a:cs typeface="+mn-cs"/>
                </a:rPr>
                <a:t>be entirely encapsulated by the context.</a:t>
              </a:r>
            </a:p>
          </p:txBody>
        </p:sp>
        <p:sp>
          <p:nvSpPr>
            <p:cNvPr id="13" name="Ellipse 13"/>
            <p:cNvSpPr/>
            <p:nvPr/>
          </p:nvSpPr>
          <p:spPr>
            <a:xfrm>
              <a:off x="772478" y="2963227"/>
              <a:ext cx="59055" cy="59055"/>
            </a:xfrm>
            <a:prstGeom prst="ellipse">
              <a:avLst/>
            </a:prstGeom>
            <a:solidFill>
              <a:srgbClr val="334E68"/>
            </a:solidFill>
            <a:ln>
              <a:noFill/>
            </a:ln>
          </p:spPr>
        </p:sp>
        <p:sp>
          <p:nvSpPr>
            <p:cNvPr id="14" name="TextBox 14"/>
            <p:cNvSpPr txBox="1"/>
            <p:nvPr/>
          </p:nvSpPr>
          <p:spPr>
            <a:xfrm>
              <a:off x="928497" y="2907030"/>
              <a:ext cx="442992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 xml:space="preserve">每个类、函数只承担 </a:t>
              </a:r>
              <a:r>
                <a:rPr lang="zh-CN" sz="1350" b="1" dirty="0">
                  <a:solidFill>
                    <a:srgbClr val="C2410C"/>
                  </a:solidFill>
                  <a:latin typeface="+mn-lt"/>
                  <a:ea typeface="+mn-ea"/>
                  <a:cs typeface="+mn-cs"/>
                </a:rPr>
                <a:t>一个责任</a:t>
              </a:r>
              <a:r>
                <a:rPr lang="zh-CN" sz="1350" dirty="0">
                  <a:solidFill>
                    <a:srgbClr val="1F2937"/>
                  </a:solidFill>
                  <a:latin typeface="+mn-lt"/>
                  <a:ea typeface="+mn-ea"/>
                  <a:cs typeface="+mn-cs"/>
                </a:rPr>
                <a:t>，并把它完整封装在里面</a:t>
              </a:r>
            </a:p>
          </p:txBody>
        </p:sp>
        <p:sp>
          <p:nvSpPr>
            <p:cNvPr id="15" name="Ellipse 15"/>
            <p:cNvSpPr/>
            <p:nvPr/>
          </p:nvSpPr>
          <p:spPr>
            <a:xfrm>
              <a:off x="772478" y="3266122"/>
              <a:ext cx="59055" cy="59055"/>
            </a:xfrm>
            <a:prstGeom prst="ellipse">
              <a:avLst/>
            </a:prstGeom>
            <a:solidFill>
              <a:srgbClr val="334E68"/>
            </a:solidFill>
            <a:ln>
              <a:noFill/>
            </a:ln>
          </p:spPr>
        </p:sp>
        <p:sp>
          <p:nvSpPr>
            <p:cNvPr id="16" name="TextBox 16"/>
            <p:cNvSpPr txBox="1"/>
            <p:nvPr/>
          </p:nvSpPr>
          <p:spPr>
            <a:xfrm>
              <a:off x="928497" y="3209925"/>
              <a:ext cx="4351401" cy="521208"/>
            </a:xfrm>
            <a:prstGeom prst="rect">
              <a:avLst/>
            </a:prstGeom>
            <a:noFill/>
            <a:ln>
              <a:noFill/>
            </a:ln>
          </p:spPr>
          <p:txBody>
            <a:bodyPr wrap="none" lIns="0" tIns="0" rIns="0" bIns="0" anchor="t" anchorCtr="0">
              <a:spAutoFit/>
            </a:bodyPr>
            <a:lstStyle/>
            <a:p>
              <a:pPr algn="l">
                <a:lnSpc>
                  <a:spcPts val="2025"/>
                </a:lnSpc>
              </a:pPr>
              <a:r>
                <a:rPr lang="en-US" sz="1350" dirty="0">
                  <a:solidFill>
                    <a:srgbClr val="1F2937"/>
                  </a:solidFill>
                  <a:latin typeface="+mn-lt"/>
                  <a:ea typeface="+mn-ea"/>
                  <a:cs typeface="+mn-cs"/>
                </a:rPr>
                <a:t>All its services should be narrowly aligned with that</a:t>
              </a:r>
              <a:br/>
              <a:r>
                <a:rPr lang="en-US" sz="1350" dirty="0">
                  <a:solidFill>
                    <a:srgbClr val="1F2937"/>
                  </a:solidFill>
                  <a:latin typeface="+mn-lt"/>
                  <a:ea typeface="+mn-ea"/>
                  <a:cs typeface="+mn-cs"/>
                </a:rPr>
                <a:t>responsibility</a:t>
              </a:r>
            </a:p>
          </p:txBody>
        </p:sp>
      </p:grpSp>
      <p:grpSp>
        <p:nvGrpSpPr>
          <p:cNvPr id="24" name="c1-card-2"/>
          <p:cNvGrpSpPr/>
          <p:nvPr/>
        </p:nvGrpSpPr>
        <p:grpSpPr>
          <a:xfrm>
            <a:off x="533400" y="4045268"/>
            <a:ext cx="5626418" cy="1529715"/>
            <a:chOff x="533400" y="4045268"/>
            <a:chExt cx="5626418" cy="1529715"/>
          </a:xfrm>
        </p:grpSpPr>
        <p:sp>
          <p:nvSpPr>
            <p:cNvPr id="18" name="Rectangle 18"/>
            <p:cNvSpPr/>
            <p:nvPr/>
          </p:nvSpPr>
          <p:spPr>
            <a:xfrm>
              <a:off x="533400" y="4045268"/>
              <a:ext cx="5626418" cy="1529715"/>
            </a:xfrm>
            <a:prstGeom prst="roundRect">
              <a:avLst>
                <a:gd name="adj" fmla="val 8717"/>
              </a:avLst>
            </a:prstGeom>
            <a:solidFill>
              <a:srgbClr val="334E68"/>
            </a:solidFill>
            <a:ln>
              <a:noFill/>
            </a:ln>
          </p:spPr>
        </p:sp>
        <p:sp>
          <p:nvSpPr>
            <p:cNvPr id="19" name="Rectangle 19"/>
            <p:cNvSpPr/>
            <p:nvPr/>
          </p:nvSpPr>
          <p:spPr>
            <a:xfrm>
              <a:off x="725805" y="4237672"/>
              <a:ext cx="476250" cy="247650"/>
            </a:xfrm>
            <a:prstGeom prst="roundRect">
              <a:avLst>
                <a:gd name="adj" fmla="val 50000"/>
              </a:avLst>
            </a:prstGeom>
            <a:solidFill>
              <a:srgbClr val="243B53"/>
            </a:solidFill>
            <a:ln>
              <a:noFill/>
            </a:ln>
          </p:spPr>
        </p:sp>
        <p:sp>
          <p:nvSpPr>
            <p:cNvPr id="20" name="TextBox 20"/>
            <p:cNvSpPr txBox="1"/>
            <p:nvPr/>
          </p:nvSpPr>
          <p:spPr>
            <a:xfrm>
              <a:off x="817245" y="4271962"/>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关键</a:t>
              </a:r>
            </a:p>
          </p:txBody>
        </p:sp>
        <p:sp>
          <p:nvSpPr>
            <p:cNvPr id="21" name="TextBox 21"/>
            <p:cNvSpPr txBox="1"/>
            <p:nvPr/>
          </p:nvSpPr>
          <p:spPr>
            <a:xfrm>
              <a:off x="1309497" y="4277678"/>
              <a:ext cx="1997860"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Martin 对“责任”的定义</a:t>
              </a:r>
            </a:p>
          </p:txBody>
        </p:sp>
        <p:sp>
          <p:nvSpPr>
            <p:cNvPr id="22" name="TextBox 22"/>
            <p:cNvSpPr txBox="1"/>
            <p:nvPr/>
          </p:nvSpPr>
          <p:spPr>
            <a:xfrm>
              <a:off x="718947" y="4612005"/>
              <a:ext cx="4892754" cy="521208"/>
            </a:xfrm>
            <a:prstGeom prst="rect">
              <a:avLst/>
            </a:prstGeom>
            <a:noFill/>
            <a:ln>
              <a:noFill/>
            </a:ln>
          </p:spPr>
          <p:txBody>
            <a:bodyPr wrap="none" lIns="0" tIns="0" rIns="0" bIns="0" anchor="t" anchorCtr="0">
              <a:spAutoFit/>
            </a:bodyPr>
            <a:lstStyle/>
            <a:p>
              <a:pPr algn="l">
                <a:lnSpc>
                  <a:spcPts val="2025"/>
                </a:lnSpc>
              </a:pPr>
              <a:r>
                <a:rPr lang="en-US" sz="1350" dirty="0">
                  <a:solidFill>
                    <a:srgbClr val="FFFFFF"/>
                  </a:solidFill>
                  <a:latin typeface="+mn-lt"/>
                  <a:ea typeface="+mn-ea"/>
                  <a:cs typeface="+mn-cs"/>
                </a:rPr>
                <a:t xml:space="preserve">A responsibility is </a:t>
              </a:r>
              <a:r>
                <a:rPr lang="en-US" sz="1350" b="1" dirty="0">
                  <a:solidFill>
                    <a:srgbClr val="FFD58A"/>
                  </a:solidFill>
                  <a:latin typeface="+mn-lt"/>
                  <a:ea typeface="+mn-ea"/>
                  <a:cs typeface="+mn-cs"/>
                </a:rPr>
                <a:t>a reason to change</a:t>
              </a:r>
              <a:r>
                <a:rPr lang="zh-CN" sz="1350" dirty="0">
                  <a:solidFill>
                    <a:srgbClr val="FFFFFF"/>
                  </a:solidFill>
                  <a:latin typeface="+mn-lt"/>
                  <a:ea typeface="+mn-ea"/>
                  <a:cs typeface="+mn-cs"/>
                </a:rPr>
                <a:t>. 一个类或模块应当有</a:t>
              </a:r>
              <a:br/>
              <a:r>
                <a:rPr lang="zh-CN" sz="1350" dirty="0">
                  <a:solidFill>
                    <a:srgbClr val="FFFFFF"/>
                  </a:solidFill>
                  <a:latin typeface="+mn-lt"/>
                  <a:ea typeface="+mn-ea"/>
                  <a:cs typeface="+mn-cs"/>
                </a:rPr>
                <a:t>且只有一个引起它变化的原因。</a:t>
              </a:r>
            </a:p>
          </p:txBody>
        </p:sp>
        <p:sp>
          <p:nvSpPr>
            <p:cNvPr id="23" name="TextBox 23"/>
            <p:cNvSpPr txBox="1"/>
            <p:nvPr/>
          </p:nvSpPr>
          <p:spPr>
            <a:xfrm>
              <a:off x="718947" y="5171123"/>
              <a:ext cx="4775225"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责任不是“功能”，而是“会让这段代码被改写的那个原因”。</a:t>
              </a:r>
            </a:p>
          </p:txBody>
        </p:sp>
      </p:grpSp>
      <p:grpSp>
        <p:nvGrpSpPr>
          <p:cNvPr id="30" name="c2-bullets-1"/>
          <p:cNvGrpSpPr/>
          <p:nvPr/>
        </p:nvGrpSpPr>
        <p:grpSpPr>
          <a:xfrm>
            <a:off x="6457760" y="1545907"/>
            <a:ext cx="5002911" cy="1152716"/>
            <a:chOff x="6457760" y="1545907"/>
            <a:chExt cx="5002911" cy="1152716"/>
          </a:xfrm>
        </p:grpSpPr>
        <p:sp>
          <p:nvSpPr>
            <p:cNvPr id="25" name="TextBox 25"/>
            <p:cNvSpPr txBox="1"/>
            <p:nvPr/>
          </p:nvSpPr>
          <p:spPr>
            <a:xfrm>
              <a:off x="6457760" y="1545907"/>
              <a:ext cx="1285875"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课件强调的两点</a:t>
              </a:r>
            </a:p>
          </p:txBody>
        </p:sp>
        <p:sp>
          <p:nvSpPr>
            <p:cNvPr id="26" name="Ellipse 26"/>
            <p:cNvSpPr/>
            <p:nvPr/>
          </p:nvSpPr>
          <p:spPr>
            <a:xfrm>
              <a:off x="6473190" y="1922145"/>
              <a:ext cx="59055" cy="59055"/>
            </a:xfrm>
            <a:prstGeom prst="ellipse">
              <a:avLst/>
            </a:prstGeom>
            <a:solidFill>
              <a:srgbClr val="334E68"/>
            </a:solidFill>
            <a:ln>
              <a:noFill/>
            </a:ln>
          </p:spPr>
        </p:sp>
        <p:sp>
          <p:nvSpPr>
            <p:cNvPr id="27" name="TextBox 27"/>
            <p:cNvSpPr txBox="1"/>
            <p:nvPr/>
          </p:nvSpPr>
          <p:spPr>
            <a:xfrm>
              <a:off x="6629210" y="1865947"/>
              <a:ext cx="483146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责任有大有小：一个类的责任可以粗到“管理订单”，也可以细到</a:t>
              </a:r>
              <a:br/>
              <a:r>
                <a:rPr lang="zh-CN" sz="1350" dirty="0">
                  <a:solidFill>
                    <a:srgbClr val="1F2937"/>
                  </a:solidFill>
                  <a:latin typeface="+mn-lt"/>
                  <a:ea typeface="+mn-ea"/>
                  <a:cs typeface="+mn-cs"/>
                </a:rPr>
                <a:t>“格式化金额”</a:t>
              </a:r>
            </a:p>
          </p:txBody>
        </p:sp>
        <p:sp>
          <p:nvSpPr>
            <p:cNvPr id="28" name="Ellipse 28"/>
            <p:cNvSpPr/>
            <p:nvPr/>
          </p:nvSpPr>
          <p:spPr>
            <a:xfrm>
              <a:off x="6473190" y="2490788"/>
              <a:ext cx="59055" cy="59055"/>
            </a:xfrm>
            <a:prstGeom prst="ellipse">
              <a:avLst/>
            </a:prstGeom>
            <a:solidFill>
              <a:srgbClr val="334E68"/>
            </a:solidFill>
            <a:ln>
              <a:noFill/>
            </a:ln>
          </p:spPr>
        </p:sp>
        <p:sp>
          <p:nvSpPr>
            <p:cNvPr id="29" name="TextBox 29"/>
            <p:cNvSpPr txBox="1"/>
            <p:nvPr/>
          </p:nvSpPr>
          <p:spPr>
            <a:xfrm>
              <a:off x="6629210" y="2434590"/>
              <a:ext cx="455714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责任越小越好：责任划得越细，一次修改波及的范围越小</a:t>
              </a:r>
            </a:p>
          </p:txBody>
        </p:sp>
      </p:grpSp>
      <p:grpSp>
        <p:nvGrpSpPr>
          <p:cNvPr id="33" name="c2-image-2"/>
          <p:cNvGrpSpPr/>
          <p:nvPr/>
        </p:nvGrpSpPr>
        <p:grpSpPr>
          <a:xfrm>
            <a:off x="6464618" y="2820352"/>
            <a:ext cx="5193982" cy="2465642"/>
            <a:chOff x="6464618" y="2820352"/>
            <a:chExt cx="5193982" cy="2465642"/>
          </a:xfrm>
        </p:grpSpPr>
        <p:pic>
          <p:nvPicPr>
            <p:cNvPr id="31" name="Image 31"/>
            <p:cNvPicPr>
              <a:picLocks noChangeAspect="1"/>
            </p:cNvPicPr>
            <p:nvPr/>
          </p:nvPicPr>
          <p:blipFill>
            <a:blip r:embed="rId2"/>
            <a:srcRect l="0" t="22186" r="0" b="22187"/>
            <a:stretch>
              <a:fillRect/>
            </a:stretch>
          </p:blipFill>
          <p:spPr>
            <a:xfrm>
              <a:off x="6464618" y="2820352"/>
              <a:ext cx="5193982" cy="2166938"/>
            </a:xfrm>
            <a:prstGeom prst="roundRect">
              <a:avLst>
                <a:gd name="adj" fmla="val 6153"/>
              </a:avLst>
            </a:prstGeom>
          </p:spPr>
        </p:pic>
        <p:sp>
          <p:nvSpPr>
            <p:cNvPr id="32" name="TextBox 32"/>
            <p:cNvSpPr txBox="1"/>
            <p:nvPr/>
          </p:nvSpPr>
          <p:spPr>
            <a:xfrm>
              <a:off x="7431215" y="5080635"/>
              <a:ext cx="3261741"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一把什么都能干的多用工具，和三件各司其职的工具</a:t>
              </a:r>
            </a:p>
          </p:txBody>
        </p:sp>
      </p:grpSp>
      <p:grpSp>
        <p:nvGrpSpPr>
          <p:cNvPr id="40" name="takeaway"/>
          <p:cNvGrpSpPr/>
          <p:nvPr/>
        </p:nvGrpSpPr>
        <p:grpSpPr>
          <a:xfrm>
            <a:off x="533400" y="5874068"/>
            <a:ext cx="11125200" cy="488632"/>
            <a:chOff x="533400" y="5874068"/>
            <a:chExt cx="11125200" cy="488632"/>
          </a:xfrm>
        </p:grpSpPr>
        <p:sp>
          <p:nvSpPr>
            <p:cNvPr id="34" name="Rectangle 34"/>
            <p:cNvSpPr/>
            <p:nvPr/>
          </p:nvSpPr>
          <p:spPr>
            <a:xfrm>
              <a:off x="533400" y="5874068"/>
              <a:ext cx="11125200" cy="488632"/>
            </a:xfrm>
            <a:prstGeom prst="roundRect">
              <a:avLst>
                <a:gd name="adj" fmla="val 23392"/>
              </a:avLst>
            </a:prstGeom>
            <a:solidFill>
              <a:srgbClr val="FDEEE7"/>
            </a:solidFill>
            <a:ln>
              <a:noFill/>
            </a:ln>
          </p:spPr>
        </p:sp>
        <p:grpSp>
          <p:nvGrpSpPr>
            <p:cNvPr id="38" name="Group 38"/>
            <p:cNvGrpSpPr/>
            <p:nvPr/>
          </p:nvGrpSpPr>
          <p:grpSpPr>
            <a:xfrm>
              <a:off x="738188" y="6017895"/>
              <a:ext cx="200026" cy="200025"/>
              <a:chOff x="738188" y="6017895"/>
              <a:chExt cx="200026" cy="200025"/>
            </a:xfrm>
          </p:grpSpPr>
          <p:sp>
            <p:nvSpPr>
              <p:cNvPr id="35" name="Freeform 35"/>
              <p:cNvSpPr/>
              <p:nvPr/>
            </p:nvSpPr>
            <p:spPr>
              <a:xfrm>
                <a:off x="738188" y="601789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36" name="Freeform 36"/>
              <p:cNvSpPr/>
              <p:nvPr/>
            </p:nvSpPr>
            <p:spPr>
              <a:xfrm>
                <a:off x="777926" y="606234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37" name="Freeform 37"/>
              <p:cNvSpPr/>
              <p:nvPr/>
            </p:nvSpPr>
            <p:spPr>
              <a:xfrm>
                <a:off x="812642" y="617347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39" name="TextBox 39"/>
            <p:cNvSpPr txBox="1"/>
            <p:nvPr/>
          </p:nvSpPr>
          <p:spPr>
            <a:xfrm>
              <a:off x="1040892" y="6023610"/>
              <a:ext cx="7475906" cy="264033"/>
            </a:xfrm>
            <a:prstGeom prst="rect">
              <a:avLst/>
            </a:prstGeom>
            <a:noFill/>
            <a:ln>
              <a:noFill/>
            </a:ln>
          </p:spPr>
          <p:txBody>
            <a:bodyPr wrap="none" lIns="0" tIns="0" rIns="0" bIns="0" anchor="t" anchorCtr="0">
              <a:spAutoFit/>
            </a:bodyPr>
            <a:lstStyle/>
            <a:p>
              <a:pPr algn="l"/>
              <a:r>
                <a:rPr lang="zh-CN" sz="1350" dirty="0">
                  <a:solidFill>
                    <a:srgbClr val="C2410C"/>
                  </a:solidFill>
                  <a:latin typeface="+mn-lt"/>
                  <a:ea typeface="+mn-ea"/>
                  <a:cs typeface="+mn-cs"/>
                </a:rPr>
                <a:t>判断一个类是否违反 SRP，问自己：有几拨不同的人、出于不同的理由，会来要求改这个类。</a:t>
              </a:r>
            </a:p>
          </p:txBody>
        </p:sp>
      </p:grpSp>
      <p:grpSp>
        <p:nvGrpSpPr>
          <p:cNvPr id="43" name="footer"/>
          <p:cNvGrpSpPr/>
          <p:nvPr/>
        </p:nvGrpSpPr>
        <p:grpSpPr>
          <a:xfrm>
            <a:off x="528447" y="6581299"/>
            <a:ext cx="11135106" cy="190690"/>
            <a:chOff x="528447" y="6581299"/>
            <a:chExt cx="11135106" cy="190690"/>
          </a:xfrm>
        </p:grpSpPr>
        <p:sp>
          <p:nvSpPr>
            <p:cNvPr id="41" name="TextBox 41"/>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42" name="TextBox 4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8335883" cy="909257"/>
            <a:chOff x="520446" y="342900"/>
            <a:chExt cx="8335883" cy="909257"/>
          </a:xfrm>
        </p:grpSpPr>
        <p:sp>
          <p:nvSpPr>
            <p:cNvPr id="2" name="Rectangle 2"/>
            <p:cNvSpPr/>
            <p:nvPr/>
          </p:nvSpPr>
          <p:spPr>
            <a:xfrm>
              <a:off x="533400" y="342900"/>
              <a:ext cx="2660332" cy="266700"/>
            </a:xfrm>
            <a:prstGeom prst="roundRect">
              <a:avLst>
                <a:gd name="adj" fmla="val 50000"/>
              </a:avLst>
            </a:prstGeom>
            <a:solidFill>
              <a:srgbClr val="E7EDF3"/>
            </a:solidFill>
            <a:ln>
              <a:noFill/>
            </a:ln>
          </p:spPr>
        </p:sp>
        <p:sp>
          <p:nvSpPr>
            <p:cNvPr id="3" name="TextBox 3"/>
            <p:cNvSpPr txBox="1"/>
            <p:nvPr/>
          </p:nvSpPr>
          <p:spPr>
            <a:xfrm>
              <a:off x="570203" y="407194"/>
              <a:ext cx="25857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SOLID 五原则</a:t>
              </a:r>
            </a:p>
          </p:txBody>
        </p:sp>
        <p:sp>
          <p:nvSpPr>
            <p:cNvPr id="4" name="TextBox 4"/>
            <p:cNvSpPr txBox="1"/>
            <p:nvPr/>
          </p:nvSpPr>
          <p:spPr>
            <a:xfrm>
              <a:off x="520446" y="753428"/>
              <a:ext cx="833588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 1 报表模块：内容会变，格式也会变，这是两个责任</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542" y="1545907"/>
            <a:ext cx="10712196" cy="512636"/>
            <a:chOff x="526542" y="1545907"/>
            <a:chExt cx="10712196" cy="512636"/>
          </a:xfrm>
        </p:grpSpPr>
        <p:sp>
          <p:nvSpPr>
            <p:cNvPr id="7" name="TextBox 7"/>
            <p:cNvSpPr txBox="1"/>
            <p:nvPr/>
          </p:nvSpPr>
          <p:spPr>
            <a:xfrm>
              <a:off x="526542" y="1545907"/>
              <a:ext cx="1071219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5B6475"/>
                  </a:solidFill>
                  <a:latin typeface="+mn-lt"/>
                  <a:ea typeface="+mn-ea"/>
                  <a:cs typeface="+mn-cs"/>
                </a:rPr>
                <a:t>Consider a module that compiles and prints a report. Such a module can be changed for two reasons：报表的内容会变，报表的格式</a:t>
              </a:r>
              <a:br/>
              <a:r>
                <a:rPr lang="zh-CN" sz="1350" dirty="0">
                  <a:solidFill>
                    <a:srgbClr val="5B6475"/>
                  </a:solidFill>
                  <a:latin typeface="+mn-lt"/>
                  <a:ea typeface="+mn-ea"/>
                  <a:cs typeface="+mn-cs"/>
                </a:rPr>
                <a:t>也会变。</a:t>
              </a:r>
            </a:p>
          </p:txBody>
        </p:sp>
      </p:grpSp>
      <p:grpSp>
        <p:nvGrpSpPr>
          <p:cNvPr id="16" name="c1-uml-1"/>
          <p:cNvGrpSpPr/>
          <p:nvPr/>
        </p:nvGrpSpPr>
        <p:grpSpPr>
          <a:xfrm>
            <a:off x="2125980" y="2438400"/>
            <a:ext cx="1143000" cy="854392"/>
            <a:chOff x="2125980" y="2438400"/>
            <a:chExt cx="1143000" cy="854392"/>
          </a:xfrm>
        </p:grpSpPr>
        <p:sp>
          <p:nvSpPr>
            <p:cNvPr id="9" name="Rectangle 9"/>
            <p:cNvSpPr/>
            <p:nvPr/>
          </p:nvSpPr>
          <p:spPr>
            <a:xfrm>
              <a:off x="2125980" y="2438400"/>
              <a:ext cx="1143000" cy="854392"/>
            </a:xfrm>
            <a:prstGeom prst="rect">
              <a:avLst/>
            </a:prstGeom>
            <a:solidFill>
              <a:srgbClr val="FFFFFF"/>
            </a:solidFill>
            <a:ln w="14288">
              <a:solidFill>
                <a:srgbClr val="334E68"/>
              </a:solidFill>
            </a:ln>
          </p:spPr>
        </p:sp>
        <p:sp>
          <p:nvSpPr>
            <p:cNvPr id="10" name="Rectangle 10"/>
            <p:cNvSpPr/>
            <p:nvPr/>
          </p:nvSpPr>
          <p:spPr>
            <a:xfrm>
              <a:off x="2132648" y="2446020"/>
              <a:ext cx="1128712" cy="209550"/>
            </a:xfrm>
            <a:prstGeom prst="rect">
              <a:avLst/>
            </a:prstGeom>
            <a:solidFill>
              <a:srgbClr val="E7EDF3"/>
            </a:solidFill>
            <a:ln>
              <a:noFill/>
            </a:ln>
          </p:spPr>
        </p:sp>
        <p:sp>
          <p:nvSpPr>
            <p:cNvPr id="11" name="Rectangle 11"/>
            <p:cNvSpPr/>
            <p:nvPr/>
          </p:nvSpPr>
          <p:spPr>
            <a:xfrm>
              <a:off x="2125980" y="2650808"/>
              <a:ext cx="1143000" cy="9525"/>
            </a:xfrm>
            <a:prstGeom prst="rect">
              <a:avLst/>
            </a:prstGeom>
            <a:solidFill>
              <a:srgbClr val="334E68"/>
            </a:solidFill>
            <a:ln>
              <a:noFill/>
            </a:ln>
          </p:spPr>
        </p:sp>
        <p:sp>
          <p:nvSpPr>
            <p:cNvPr id="12" name="Rectangle 12"/>
            <p:cNvSpPr/>
            <p:nvPr/>
          </p:nvSpPr>
          <p:spPr>
            <a:xfrm>
              <a:off x="2125980" y="2894648"/>
              <a:ext cx="1143000" cy="9525"/>
            </a:xfrm>
            <a:prstGeom prst="rect">
              <a:avLst/>
            </a:prstGeom>
            <a:solidFill>
              <a:srgbClr val="334E68"/>
            </a:solidFill>
            <a:ln>
              <a:noFill/>
            </a:ln>
          </p:spPr>
        </p:sp>
        <p:sp>
          <p:nvSpPr>
            <p:cNvPr id="13" name="TextBox 13"/>
            <p:cNvSpPr txBox="1"/>
            <p:nvPr/>
          </p:nvSpPr>
          <p:spPr>
            <a:xfrm>
              <a:off x="2480831" y="2489835"/>
              <a:ext cx="433298" cy="176212"/>
            </a:xfrm>
            <a:prstGeom prst="rect">
              <a:avLst/>
            </a:prstGeom>
            <a:noFill/>
            <a:ln>
              <a:noFill/>
            </a:ln>
          </p:spPr>
          <p:txBody>
            <a:bodyPr wrap="none" lIns="0" tIns="0" rIns="0" bIns="0" anchor="t" anchorCtr="0">
              <a:spAutoFit/>
            </a:bodyPr>
            <a:lstStyle/>
            <a:p>
              <a:pPr algn="ctr"/>
              <a:r>
                <a:rPr lang="en-US" sz="900" b="1" dirty="0">
                  <a:solidFill>
                    <a:srgbClr val="243B53"/>
                  </a:solidFill>
                  <a:latin typeface="+mn-lt"/>
                  <a:ea typeface="+mn-ea"/>
                  <a:cs typeface="+mn-cs"/>
                </a:rPr>
                <a:t>Report</a:t>
              </a:r>
            </a:p>
          </p:txBody>
        </p:sp>
        <p:sp>
          <p:nvSpPr>
            <p:cNvPr id="14" name="TextBox 14"/>
            <p:cNvSpPr txBox="1"/>
            <p:nvPr/>
          </p:nvSpPr>
          <p:spPr>
            <a:xfrm>
              <a:off x="2197418" y="2718911"/>
              <a:ext cx="990412" cy="161925"/>
            </a:xfrm>
            <a:prstGeom prst="rect">
              <a:avLst/>
            </a:prstGeom>
            <a:noFill/>
            <a:ln>
              <a:noFill/>
            </a:ln>
          </p:spPr>
          <p:txBody>
            <a:bodyPr wrap="none" lIns="0" tIns="0" rIns="0" bIns="0" anchor="t" anchorCtr="0">
              <a:spAutoFit/>
            </a:bodyPr>
            <a:lstStyle/>
            <a:p>
              <a:pPr algn="l"/>
              <a:r>
                <a:rPr lang="en-US" sz="820" dirty="0">
                  <a:solidFill>
                    <a:srgbClr val="1F2937"/>
                  </a:solidFill>
                  <a:latin typeface="+mn-lt"/>
                  <a:ea typeface="+mn-ea"/>
                  <a:cs typeface="+mn-cs"/>
                </a:rPr>
                <a:t>-contents: String</a:t>
              </a:r>
            </a:p>
          </p:txBody>
        </p:sp>
        <p:sp>
          <p:nvSpPr>
            <p:cNvPr id="15" name="TextBox 15"/>
            <p:cNvSpPr txBox="1"/>
            <p:nvPr/>
          </p:nvSpPr>
          <p:spPr>
            <a:xfrm>
              <a:off x="2197418" y="2962751"/>
              <a:ext cx="889508" cy="310515"/>
            </a:xfrm>
            <a:prstGeom prst="rect">
              <a:avLst/>
            </a:prstGeom>
            <a:noFill/>
            <a:ln>
              <a:noFill/>
            </a:ln>
          </p:spPr>
          <p:txBody>
            <a:bodyPr wrap="none" lIns="0" tIns="0" rIns="0" bIns="0" anchor="t" anchorCtr="0">
              <a:spAutoFit/>
            </a:bodyPr>
            <a:lstStyle/>
            <a:p>
              <a:pPr algn="l">
                <a:lnSpc>
                  <a:spcPts val="1170"/>
                </a:lnSpc>
              </a:pPr>
              <a:r>
                <a:rPr lang="en-US" sz="820" dirty="0">
                  <a:solidFill>
                    <a:srgbClr val="1F2937"/>
                  </a:solidFill>
                  <a:latin typeface="+mn-lt"/>
                  <a:ea typeface="+mn-ea"/>
                  <a:cs typeface="+mn-cs"/>
                </a:rPr>
                <a:t>+printReport()</a:t>
              </a:r>
              <a:br/>
              <a:r>
                <a:rPr lang="en-US" sz="820" dirty="0">
                  <a:solidFill>
                    <a:srgbClr val="1F2937"/>
                  </a:solidFill>
                  <a:latin typeface="+mn-lt"/>
                  <a:ea typeface="+mn-ea"/>
                  <a:cs typeface="+mn-cs"/>
                </a:rPr>
                <a:t>+formatReport()</a:t>
              </a:r>
            </a:p>
          </p:txBody>
        </p:sp>
      </p:grpSp>
      <p:grpSp>
        <p:nvGrpSpPr>
          <p:cNvPr id="23" name="c1-card-2"/>
          <p:cNvGrpSpPr/>
          <p:nvPr/>
        </p:nvGrpSpPr>
        <p:grpSpPr>
          <a:xfrm>
            <a:off x="533400" y="3718560"/>
            <a:ext cx="4328160" cy="2608898"/>
            <a:chOff x="533400" y="3718560"/>
            <a:chExt cx="4328160" cy="2608898"/>
          </a:xfrm>
        </p:grpSpPr>
        <p:sp>
          <p:nvSpPr>
            <p:cNvPr id="17" name="Rectangle 17"/>
            <p:cNvSpPr/>
            <p:nvPr/>
          </p:nvSpPr>
          <p:spPr>
            <a:xfrm>
              <a:off x="533400" y="3718560"/>
              <a:ext cx="4328160" cy="2608898"/>
            </a:xfrm>
            <a:prstGeom prst="roundRect">
              <a:avLst>
                <a:gd name="adj" fmla="val 5111"/>
              </a:avLst>
            </a:prstGeom>
            <a:solidFill>
              <a:srgbClr val="FFFFFF"/>
            </a:solidFill>
            <a:ln w="14288">
              <a:solidFill>
                <a:srgbClr val="D9DFEA"/>
              </a:solidFill>
            </a:ln>
          </p:spPr>
        </p:sp>
        <p:sp>
          <p:nvSpPr>
            <p:cNvPr id="18" name="Rectangle 18"/>
            <p:cNvSpPr/>
            <p:nvPr/>
          </p:nvSpPr>
          <p:spPr>
            <a:xfrm>
              <a:off x="542925" y="3851910"/>
              <a:ext cx="47625" cy="2342198"/>
            </a:xfrm>
            <a:prstGeom prst="roundRect">
              <a:avLst>
                <a:gd name="adj" fmla="val 50000"/>
              </a:avLst>
            </a:prstGeom>
            <a:solidFill>
              <a:srgbClr val="B42318"/>
            </a:solidFill>
            <a:ln>
              <a:noFill/>
            </a:ln>
          </p:spPr>
        </p:sp>
        <p:sp>
          <p:nvSpPr>
            <p:cNvPr id="19" name="Rectangle 19"/>
            <p:cNvSpPr/>
            <p:nvPr/>
          </p:nvSpPr>
          <p:spPr>
            <a:xfrm>
              <a:off x="752475" y="3899535"/>
              <a:ext cx="956310" cy="238125"/>
            </a:xfrm>
            <a:prstGeom prst="roundRect">
              <a:avLst>
                <a:gd name="adj" fmla="val 50000"/>
              </a:avLst>
            </a:prstGeom>
            <a:solidFill>
              <a:srgbClr val="FDECEA"/>
            </a:solidFill>
            <a:ln>
              <a:noFill/>
            </a:ln>
          </p:spPr>
        </p:sp>
        <p:sp>
          <p:nvSpPr>
            <p:cNvPr id="20" name="TextBox 20"/>
            <p:cNvSpPr txBox="1"/>
            <p:nvPr/>
          </p:nvSpPr>
          <p:spPr>
            <a:xfrm>
              <a:off x="829894" y="3932396"/>
              <a:ext cx="801472" cy="190690"/>
            </a:xfrm>
            <a:prstGeom prst="rect">
              <a:avLst/>
            </a:prstGeom>
            <a:noFill/>
            <a:ln>
              <a:noFill/>
            </a:ln>
          </p:spPr>
          <p:txBody>
            <a:bodyPr wrap="none" lIns="0" tIns="0" rIns="0" bIns="0" anchor="t" anchorCtr="0">
              <a:spAutoFit/>
            </a:bodyPr>
            <a:lstStyle/>
            <a:p>
              <a:pPr algn="ctr"/>
              <a:r>
                <a:rPr lang="zh-CN" sz="980" b="1" dirty="0">
                  <a:solidFill>
                    <a:srgbClr val="B42318"/>
                  </a:solidFill>
                  <a:latin typeface="+mn-lt"/>
                  <a:ea typeface="+mn-ea"/>
                  <a:cs typeface="+mn-cs"/>
                </a:rPr>
                <a:t>原设计的缺点</a:t>
              </a:r>
            </a:p>
          </p:txBody>
        </p:sp>
        <p:sp>
          <p:nvSpPr>
            <p:cNvPr id="21" name="TextBox 21"/>
            <p:cNvSpPr txBox="1"/>
            <p:nvPr/>
          </p:nvSpPr>
          <p:spPr>
            <a:xfrm>
              <a:off x="745998" y="4239101"/>
              <a:ext cx="3434842" cy="735140"/>
            </a:xfrm>
            <a:prstGeom prst="rect">
              <a:avLst/>
            </a:prstGeom>
            <a:noFill/>
            <a:ln>
              <a:noFill/>
            </a:ln>
          </p:spPr>
          <p:txBody>
            <a:bodyPr wrap="none" lIns="0" tIns="0" rIns="0" bIns="0" anchor="t" anchorCtr="0">
              <a:spAutoFit/>
            </a:bodyPr>
            <a:lstStyle/>
            <a:p>
              <a:pPr algn="l">
                <a:lnSpc>
                  <a:spcPts val="1912"/>
                </a:lnSpc>
              </a:pPr>
              <a:r>
                <a:rPr lang="en-US" sz="1280" dirty="0">
                  <a:solidFill>
                    <a:srgbClr val="1F2937"/>
                  </a:solidFill>
                  <a:latin typeface="+mn-lt"/>
                  <a:ea typeface="+mn-ea"/>
                  <a:cs typeface="+mn-cs"/>
                </a:rPr>
                <a:t>If there is a change to the formatReport()</a:t>
              </a:r>
              <a:br/>
              <a:r>
                <a:rPr lang="en-US" sz="1280" dirty="0">
                  <a:solidFill>
                    <a:srgbClr val="1F2937"/>
                  </a:solidFill>
                  <a:latin typeface="+mn-lt"/>
                  <a:ea typeface="+mn-ea"/>
                  <a:cs typeface="+mn-cs"/>
                </a:rPr>
                <a:t>method, there is greater danger that the</a:t>
              </a:r>
              <a:br/>
              <a:r>
                <a:rPr lang="en-US" sz="1280" dirty="0">
                  <a:solidFill>
                    <a:srgbClr val="1F2937"/>
                  </a:solidFill>
                  <a:latin typeface="+mn-lt"/>
                  <a:ea typeface="+mn-ea"/>
                  <a:cs typeface="+mn-cs"/>
                </a:rPr>
                <a:t>printing code will break.</a:t>
              </a:r>
            </a:p>
          </p:txBody>
        </p:sp>
        <p:sp>
          <p:nvSpPr>
            <p:cNvPr id="22" name="TextBox 22"/>
            <p:cNvSpPr txBox="1"/>
            <p:nvPr/>
          </p:nvSpPr>
          <p:spPr>
            <a:xfrm>
              <a:off x="745998" y="5010626"/>
              <a:ext cx="3652672"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 xml:space="preserve">改格式是 </a:t>
              </a:r>
              <a:r>
                <a:rPr lang="en-US" sz="1280" b="1" dirty="0">
                  <a:solidFill>
                    <a:srgbClr val="C2410C"/>
                  </a:solidFill>
                  <a:latin typeface="+mn-lt"/>
                  <a:ea typeface="+mn-ea"/>
                  <a:cs typeface="+mn-cs"/>
                </a:rPr>
                <a:t>cosmetic</a:t>
              </a:r>
              <a:r>
                <a:rPr lang="zh-CN" sz="1280" dirty="0">
                  <a:solidFill>
                    <a:srgbClr val="1F2937"/>
                  </a:solidFill>
                  <a:latin typeface="+mn-lt"/>
                  <a:ea typeface="+mn-ea"/>
                  <a:cs typeface="+mn-cs"/>
                </a:rPr>
                <a:t xml:space="preserve"> 的改动，改内容是</a:t>
              </a:r>
              <a:br/>
              <a:r>
                <a:rPr lang="en-US" sz="1280" b="1" dirty="0">
                  <a:solidFill>
                    <a:srgbClr val="C2410C"/>
                  </a:solidFill>
                  <a:latin typeface="+mn-lt"/>
                  <a:ea typeface="+mn-ea"/>
                  <a:cs typeface="+mn-cs"/>
                </a:rPr>
                <a:t>substantive</a:t>
              </a:r>
              <a:r>
                <a:rPr lang="zh-CN" sz="1280" dirty="0">
                  <a:solidFill>
                    <a:srgbClr val="1F2937"/>
                  </a:solidFill>
                  <a:latin typeface="+mn-lt"/>
                  <a:ea typeface="+mn-ea"/>
                  <a:cs typeface="+mn-cs"/>
                </a:rPr>
                <a:t xml:space="preserve"> 的改动，两种改动挤在一个类里，改</a:t>
              </a:r>
              <a:br/>
              <a:r>
                <a:rPr lang="zh-CN" sz="1280" dirty="0">
                  <a:solidFill>
                    <a:srgbClr val="1F2937"/>
                  </a:solidFill>
                  <a:latin typeface="+mn-lt"/>
                  <a:ea typeface="+mn-ea"/>
                  <a:cs typeface="+mn-cs"/>
                </a:rPr>
                <a:t>一个会碰坏另一个。</a:t>
              </a:r>
            </a:p>
          </p:txBody>
        </p:sp>
      </p:grpSp>
      <p:grpSp>
        <p:nvGrpSpPr>
          <p:cNvPr id="55" name="c2-uml-1"/>
          <p:cNvGrpSpPr/>
          <p:nvPr/>
        </p:nvGrpSpPr>
        <p:grpSpPr>
          <a:xfrm>
            <a:off x="6217920" y="2242185"/>
            <a:ext cx="4389120" cy="1791652"/>
            <a:chOff x="6217920" y="2242185"/>
            <a:chExt cx="4389120" cy="1791652"/>
          </a:xfrm>
        </p:grpSpPr>
        <p:sp>
          <p:nvSpPr>
            <p:cNvPr id="24" name="Freeform 24"/>
            <p:cNvSpPr/>
            <p:nvPr/>
          </p:nvSpPr>
          <p:spPr>
            <a:xfrm>
              <a:off x="7570470" y="2698432"/>
              <a:ext cx="1893570" cy="9525"/>
            </a:xfrm>
            <a:custGeom>
              <a:avLst/>
              <a:gdLst/>
              <a:ahLst/>
              <a:cxnLst/>
              <a:rect l="l" t="t" r="r" b="b"/>
              <a:pathLst>
                <a:path w="1893570" h="9525">
                  <a:moveTo>
                    <a:pt x="1893570" y="0"/>
                  </a:moveTo>
                  <a:lnTo>
                    <a:pt x="0" y="0"/>
                  </a:lnTo>
                </a:path>
              </a:pathLst>
            </a:custGeom>
            <a:noFill/>
            <a:ln w="15240">
              <a:solidFill>
                <a:srgbClr val="1F2937"/>
              </a:solidFill>
            </a:ln>
          </p:spPr>
        </p:sp>
        <p:sp>
          <p:nvSpPr>
            <p:cNvPr id="25" name="Freeform 25"/>
            <p:cNvSpPr/>
            <p:nvPr/>
          </p:nvSpPr>
          <p:spPr>
            <a:xfrm>
              <a:off x="7360920" y="2640330"/>
              <a:ext cx="209550" cy="115253"/>
            </a:xfrm>
            <a:custGeom>
              <a:avLst/>
              <a:gdLst/>
              <a:ahLst/>
              <a:cxnLst/>
              <a:rect l="l" t="t" r="r" b="b"/>
              <a:pathLst>
                <a:path w="209550" h="115253">
                  <a:moveTo>
                    <a:pt x="0" y="58103"/>
                  </a:moveTo>
                  <a:lnTo>
                    <a:pt x="104775" y="0"/>
                  </a:lnTo>
                  <a:lnTo>
                    <a:pt x="209550" y="58103"/>
                  </a:lnTo>
                  <a:lnTo>
                    <a:pt x="104775" y="115253"/>
                  </a:lnTo>
                  <a:close/>
                </a:path>
              </a:pathLst>
            </a:custGeom>
            <a:solidFill>
              <a:srgbClr val="FFFFFF"/>
            </a:solidFill>
            <a:ln w="15240">
              <a:solidFill>
                <a:srgbClr val="1F2937"/>
              </a:solidFill>
            </a:ln>
          </p:spPr>
        </p:sp>
        <p:sp>
          <p:nvSpPr>
            <p:cNvPr id="26" name="Freeform 26"/>
            <p:cNvSpPr/>
            <p:nvPr/>
          </p:nvSpPr>
          <p:spPr>
            <a:xfrm>
              <a:off x="6789420" y="3118485"/>
              <a:ext cx="3150870" cy="327660"/>
            </a:xfrm>
            <a:custGeom>
              <a:avLst/>
              <a:gdLst/>
              <a:ahLst/>
              <a:cxnLst/>
              <a:rect l="l" t="t" r="r" b="b"/>
              <a:pathLst>
                <a:path w="3150870" h="327660">
                  <a:moveTo>
                    <a:pt x="0" y="327660"/>
                  </a:moveTo>
                  <a:lnTo>
                    <a:pt x="0" y="100965"/>
                  </a:lnTo>
                  <a:lnTo>
                    <a:pt x="3150870" y="100965"/>
                  </a:lnTo>
                  <a:lnTo>
                    <a:pt x="3150870" y="0"/>
                  </a:lnTo>
                </a:path>
              </a:pathLst>
            </a:custGeom>
            <a:noFill/>
            <a:ln w="15240">
              <a:solidFill>
                <a:srgbClr val="1F2937"/>
              </a:solidFill>
            </a:ln>
          </p:spPr>
        </p:sp>
        <p:sp>
          <p:nvSpPr>
            <p:cNvPr id="27" name="Freeform 27"/>
            <p:cNvSpPr/>
            <p:nvPr/>
          </p:nvSpPr>
          <p:spPr>
            <a:xfrm>
              <a:off x="9866948" y="2992755"/>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28" name="Freeform 28"/>
            <p:cNvSpPr/>
            <p:nvPr/>
          </p:nvSpPr>
          <p:spPr>
            <a:xfrm>
              <a:off x="10035540" y="3118485"/>
              <a:ext cx="95250" cy="327660"/>
            </a:xfrm>
            <a:custGeom>
              <a:avLst/>
              <a:gdLst/>
              <a:ahLst/>
              <a:cxnLst/>
              <a:rect l="l" t="t" r="r" b="b"/>
              <a:pathLst>
                <a:path w="95250" h="327660">
                  <a:moveTo>
                    <a:pt x="0" y="327660"/>
                  </a:moveTo>
                  <a:lnTo>
                    <a:pt x="0" y="100965"/>
                  </a:lnTo>
                  <a:lnTo>
                    <a:pt x="95250" y="100965"/>
                  </a:lnTo>
                  <a:lnTo>
                    <a:pt x="95250" y="0"/>
                  </a:lnTo>
                </a:path>
              </a:pathLst>
            </a:custGeom>
            <a:noFill/>
            <a:ln w="15240">
              <a:solidFill>
                <a:srgbClr val="1F2937"/>
              </a:solidFill>
            </a:ln>
          </p:spPr>
        </p:sp>
        <p:sp>
          <p:nvSpPr>
            <p:cNvPr id="29" name="Freeform 29"/>
            <p:cNvSpPr/>
            <p:nvPr/>
          </p:nvSpPr>
          <p:spPr>
            <a:xfrm>
              <a:off x="10057448" y="2992755"/>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30" name="Rectangle 30"/>
            <p:cNvSpPr/>
            <p:nvPr/>
          </p:nvSpPr>
          <p:spPr>
            <a:xfrm>
              <a:off x="6217920" y="2242185"/>
              <a:ext cx="1143000" cy="912495"/>
            </a:xfrm>
            <a:prstGeom prst="rect">
              <a:avLst/>
            </a:prstGeom>
            <a:solidFill>
              <a:srgbClr val="FFFFFF"/>
            </a:solidFill>
            <a:ln w="14288">
              <a:solidFill>
                <a:srgbClr val="334E68"/>
              </a:solidFill>
            </a:ln>
          </p:spPr>
        </p:sp>
        <p:sp>
          <p:nvSpPr>
            <p:cNvPr id="31" name="Rectangle 31"/>
            <p:cNvSpPr/>
            <p:nvPr/>
          </p:nvSpPr>
          <p:spPr>
            <a:xfrm>
              <a:off x="6224588" y="2248852"/>
              <a:ext cx="1128712" cy="227648"/>
            </a:xfrm>
            <a:prstGeom prst="rect">
              <a:avLst/>
            </a:prstGeom>
            <a:solidFill>
              <a:srgbClr val="E7EDF3"/>
            </a:solidFill>
            <a:ln>
              <a:noFill/>
            </a:ln>
          </p:spPr>
        </p:sp>
        <p:sp>
          <p:nvSpPr>
            <p:cNvPr id="32" name="Rectangle 32"/>
            <p:cNvSpPr/>
            <p:nvPr/>
          </p:nvSpPr>
          <p:spPr>
            <a:xfrm>
              <a:off x="6217920" y="2472690"/>
              <a:ext cx="1143000" cy="9525"/>
            </a:xfrm>
            <a:prstGeom prst="rect">
              <a:avLst/>
            </a:prstGeom>
            <a:solidFill>
              <a:srgbClr val="334E68"/>
            </a:solidFill>
            <a:ln>
              <a:noFill/>
            </a:ln>
          </p:spPr>
        </p:sp>
        <p:sp>
          <p:nvSpPr>
            <p:cNvPr id="33" name="Rectangle 33"/>
            <p:cNvSpPr/>
            <p:nvPr/>
          </p:nvSpPr>
          <p:spPr>
            <a:xfrm>
              <a:off x="6217920" y="2892742"/>
              <a:ext cx="1143000" cy="9525"/>
            </a:xfrm>
            <a:prstGeom prst="rect">
              <a:avLst/>
            </a:prstGeom>
            <a:solidFill>
              <a:srgbClr val="334E68"/>
            </a:solidFill>
            <a:ln>
              <a:noFill/>
            </a:ln>
          </p:spPr>
        </p:sp>
        <p:sp>
          <p:nvSpPr>
            <p:cNvPr id="34" name="Rectangle 34"/>
            <p:cNvSpPr/>
            <p:nvPr/>
          </p:nvSpPr>
          <p:spPr>
            <a:xfrm>
              <a:off x="9464040" y="2404110"/>
              <a:ext cx="1143000" cy="587692"/>
            </a:xfrm>
            <a:prstGeom prst="rect">
              <a:avLst/>
            </a:prstGeom>
            <a:solidFill>
              <a:srgbClr val="FFFFFF"/>
            </a:solidFill>
            <a:ln w="14288">
              <a:solidFill>
                <a:srgbClr val="334E68"/>
              </a:solidFill>
            </a:ln>
          </p:spPr>
        </p:sp>
        <p:sp>
          <p:nvSpPr>
            <p:cNvPr id="35" name="Rectangle 35"/>
            <p:cNvSpPr/>
            <p:nvPr/>
          </p:nvSpPr>
          <p:spPr>
            <a:xfrm>
              <a:off x="9471660" y="2411730"/>
              <a:ext cx="1128712" cy="227648"/>
            </a:xfrm>
            <a:prstGeom prst="rect">
              <a:avLst/>
            </a:prstGeom>
            <a:solidFill>
              <a:srgbClr val="E7EDF3"/>
            </a:solidFill>
            <a:ln>
              <a:noFill/>
            </a:ln>
          </p:spPr>
        </p:sp>
        <p:sp>
          <p:nvSpPr>
            <p:cNvPr id="36" name="Rectangle 36"/>
            <p:cNvSpPr/>
            <p:nvPr/>
          </p:nvSpPr>
          <p:spPr>
            <a:xfrm>
              <a:off x="9464040" y="2634615"/>
              <a:ext cx="1143000" cy="9525"/>
            </a:xfrm>
            <a:prstGeom prst="rect">
              <a:avLst/>
            </a:prstGeom>
            <a:solidFill>
              <a:srgbClr val="334E68"/>
            </a:solidFill>
            <a:ln>
              <a:noFill/>
            </a:ln>
          </p:spPr>
        </p:sp>
        <p:sp>
          <p:nvSpPr>
            <p:cNvPr id="37" name="Rectangle 37"/>
            <p:cNvSpPr/>
            <p:nvPr/>
          </p:nvSpPr>
          <p:spPr>
            <a:xfrm>
              <a:off x="9464040" y="2729865"/>
              <a:ext cx="1143000" cy="9525"/>
            </a:xfrm>
            <a:prstGeom prst="rect">
              <a:avLst/>
            </a:prstGeom>
            <a:solidFill>
              <a:srgbClr val="334E68"/>
            </a:solidFill>
            <a:ln>
              <a:noFill/>
            </a:ln>
          </p:spPr>
        </p:sp>
        <p:sp>
          <p:nvSpPr>
            <p:cNvPr id="38" name="Rectangle 38"/>
            <p:cNvSpPr/>
            <p:nvPr/>
          </p:nvSpPr>
          <p:spPr>
            <a:xfrm>
              <a:off x="6217920" y="3446145"/>
              <a:ext cx="1143000" cy="587692"/>
            </a:xfrm>
            <a:prstGeom prst="rect">
              <a:avLst/>
            </a:prstGeom>
            <a:solidFill>
              <a:srgbClr val="FFFFFF"/>
            </a:solidFill>
            <a:ln w="14288">
              <a:solidFill>
                <a:srgbClr val="334E68"/>
              </a:solidFill>
            </a:ln>
          </p:spPr>
        </p:sp>
        <p:sp>
          <p:nvSpPr>
            <p:cNvPr id="39" name="Rectangle 39"/>
            <p:cNvSpPr/>
            <p:nvPr/>
          </p:nvSpPr>
          <p:spPr>
            <a:xfrm>
              <a:off x="6224588" y="3453765"/>
              <a:ext cx="1128712" cy="227648"/>
            </a:xfrm>
            <a:prstGeom prst="rect">
              <a:avLst/>
            </a:prstGeom>
            <a:solidFill>
              <a:srgbClr val="E7EDF3"/>
            </a:solidFill>
            <a:ln>
              <a:noFill/>
            </a:ln>
          </p:spPr>
        </p:sp>
        <p:sp>
          <p:nvSpPr>
            <p:cNvPr id="40" name="Rectangle 40"/>
            <p:cNvSpPr/>
            <p:nvPr/>
          </p:nvSpPr>
          <p:spPr>
            <a:xfrm>
              <a:off x="6217920" y="3676650"/>
              <a:ext cx="1143000" cy="9525"/>
            </a:xfrm>
            <a:prstGeom prst="rect">
              <a:avLst/>
            </a:prstGeom>
            <a:solidFill>
              <a:srgbClr val="334E68"/>
            </a:solidFill>
            <a:ln>
              <a:noFill/>
            </a:ln>
          </p:spPr>
        </p:sp>
        <p:sp>
          <p:nvSpPr>
            <p:cNvPr id="41" name="Rectangle 41"/>
            <p:cNvSpPr/>
            <p:nvPr/>
          </p:nvSpPr>
          <p:spPr>
            <a:xfrm>
              <a:off x="6217920" y="3771900"/>
              <a:ext cx="1143000" cy="9525"/>
            </a:xfrm>
            <a:prstGeom prst="rect">
              <a:avLst/>
            </a:prstGeom>
            <a:solidFill>
              <a:srgbClr val="334E68"/>
            </a:solidFill>
            <a:ln>
              <a:noFill/>
            </a:ln>
          </p:spPr>
        </p:sp>
        <p:sp>
          <p:nvSpPr>
            <p:cNvPr id="42" name="Rectangle 42"/>
            <p:cNvSpPr/>
            <p:nvPr/>
          </p:nvSpPr>
          <p:spPr>
            <a:xfrm>
              <a:off x="9464040" y="3446145"/>
              <a:ext cx="1143000" cy="587692"/>
            </a:xfrm>
            <a:prstGeom prst="rect">
              <a:avLst/>
            </a:prstGeom>
            <a:solidFill>
              <a:srgbClr val="FFFFFF"/>
            </a:solidFill>
            <a:ln w="14288">
              <a:solidFill>
                <a:srgbClr val="334E68"/>
              </a:solidFill>
            </a:ln>
          </p:spPr>
        </p:sp>
        <p:sp>
          <p:nvSpPr>
            <p:cNvPr id="43" name="Rectangle 43"/>
            <p:cNvSpPr/>
            <p:nvPr/>
          </p:nvSpPr>
          <p:spPr>
            <a:xfrm>
              <a:off x="9471660" y="3453765"/>
              <a:ext cx="1128712" cy="227648"/>
            </a:xfrm>
            <a:prstGeom prst="rect">
              <a:avLst/>
            </a:prstGeom>
            <a:solidFill>
              <a:srgbClr val="E7EDF3"/>
            </a:solidFill>
            <a:ln>
              <a:noFill/>
            </a:ln>
          </p:spPr>
        </p:sp>
        <p:sp>
          <p:nvSpPr>
            <p:cNvPr id="44" name="Rectangle 44"/>
            <p:cNvSpPr/>
            <p:nvPr/>
          </p:nvSpPr>
          <p:spPr>
            <a:xfrm>
              <a:off x="9464040" y="3676650"/>
              <a:ext cx="1143000" cy="9525"/>
            </a:xfrm>
            <a:prstGeom prst="rect">
              <a:avLst/>
            </a:prstGeom>
            <a:solidFill>
              <a:srgbClr val="334E68"/>
            </a:solidFill>
            <a:ln>
              <a:noFill/>
            </a:ln>
          </p:spPr>
        </p:sp>
        <p:sp>
          <p:nvSpPr>
            <p:cNvPr id="45" name="Rectangle 45"/>
            <p:cNvSpPr/>
            <p:nvPr/>
          </p:nvSpPr>
          <p:spPr>
            <a:xfrm>
              <a:off x="9464040" y="3771900"/>
              <a:ext cx="1143000" cy="9525"/>
            </a:xfrm>
            <a:prstGeom prst="rect">
              <a:avLst/>
            </a:prstGeom>
            <a:solidFill>
              <a:srgbClr val="334E68"/>
            </a:solidFill>
            <a:ln>
              <a:noFill/>
            </a:ln>
          </p:spPr>
        </p:sp>
        <p:sp>
          <p:nvSpPr>
            <p:cNvPr id="46" name="TextBox 46"/>
            <p:cNvSpPr txBox="1"/>
            <p:nvPr/>
          </p:nvSpPr>
          <p:spPr>
            <a:xfrm>
              <a:off x="6553746" y="2297906"/>
              <a:ext cx="471348" cy="190690"/>
            </a:xfrm>
            <a:prstGeom prst="rect">
              <a:avLst/>
            </a:prstGeom>
            <a:noFill/>
            <a:ln>
              <a:noFill/>
            </a:ln>
          </p:spPr>
          <p:txBody>
            <a:bodyPr wrap="none" lIns="0" tIns="0" rIns="0" bIns="0" anchor="t" anchorCtr="0">
              <a:spAutoFit/>
            </a:bodyPr>
            <a:lstStyle/>
            <a:p>
              <a:pPr algn="ctr"/>
              <a:r>
                <a:rPr lang="en-US" sz="980" b="1" dirty="0">
                  <a:solidFill>
                    <a:srgbClr val="243B53"/>
                  </a:solidFill>
                  <a:latin typeface="+mn-lt"/>
                  <a:ea typeface="+mn-ea"/>
                  <a:cs typeface="+mn-cs"/>
                </a:rPr>
                <a:t>Report</a:t>
              </a:r>
            </a:p>
          </p:txBody>
        </p:sp>
        <p:sp>
          <p:nvSpPr>
            <p:cNvPr id="47" name="TextBox 47"/>
            <p:cNvSpPr txBox="1"/>
            <p:nvPr/>
          </p:nvSpPr>
          <p:spPr>
            <a:xfrm>
              <a:off x="6289358" y="2542223"/>
              <a:ext cx="958215" cy="338138"/>
            </a:xfrm>
            <a:prstGeom prst="rect">
              <a:avLst/>
            </a:prstGeom>
            <a:noFill/>
            <a:ln>
              <a:noFill/>
            </a:ln>
          </p:spPr>
          <p:txBody>
            <a:bodyPr wrap="none" lIns="0" tIns="0" rIns="0" bIns="0" anchor="t" anchorCtr="0">
              <a:spAutoFit/>
            </a:bodyPr>
            <a:lstStyle/>
            <a:p>
              <a:pPr algn="l">
                <a:lnSpc>
                  <a:spcPts val="1275"/>
                </a:lnSpc>
              </a:pPr>
              <a:r>
                <a:rPr lang="en-US" sz="900" dirty="0">
                  <a:solidFill>
                    <a:srgbClr val="1F2937"/>
                  </a:solidFill>
                  <a:latin typeface="+mn-lt"/>
                  <a:ea typeface="+mn-ea"/>
                  <a:cs typeface="+mn-cs"/>
                </a:rPr>
                <a:t>-f: Format</a:t>
              </a:r>
              <a:br/>
              <a:r>
                <a:rPr lang="en-US" sz="900" dirty="0">
                  <a:solidFill>
                    <a:srgbClr val="1F2937"/>
                  </a:solidFill>
                  <a:latin typeface="+mn-lt"/>
                  <a:ea typeface="+mn-ea"/>
                  <a:cs typeface="+mn-cs"/>
                </a:rPr>
                <a:t>-content: String</a:t>
              </a:r>
            </a:p>
          </p:txBody>
        </p:sp>
        <p:sp>
          <p:nvSpPr>
            <p:cNvPr id="48" name="TextBox 48"/>
            <p:cNvSpPr txBox="1"/>
            <p:nvPr/>
          </p:nvSpPr>
          <p:spPr>
            <a:xfrm>
              <a:off x="6289358" y="2962275"/>
              <a:ext cx="916797"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+printReport()</a:t>
              </a:r>
            </a:p>
          </p:txBody>
        </p:sp>
        <p:sp>
          <p:nvSpPr>
            <p:cNvPr id="49" name="TextBox 49"/>
            <p:cNvSpPr txBox="1"/>
            <p:nvPr/>
          </p:nvSpPr>
          <p:spPr>
            <a:xfrm>
              <a:off x="9785883" y="2459831"/>
              <a:ext cx="499314" cy="190690"/>
            </a:xfrm>
            <a:prstGeom prst="rect">
              <a:avLst/>
            </a:prstGeom>
            <a:noFill/>
            <a:ln>
              <a:noFill/>
            </a:ln>
          </p:spPr>
          <p:txBody>
            <a:bodyPr wrap="none" lIns="0" tIns="0" rIns="0" bIns="0" anchor="t" anchorCtr="0">
              <a:spAutoFit/>
            </a:bodyPr>
            <a:lstStyle/>
            <a:p>
              <a:pPr algn="ctr"/>
              <a:r>
                <a:rPr lang="en-US" sz="980" b="1" i="1" dirty="0">
                  <a:solidFill>
                    <a:srgbClr val="243B53"/>
                  </a:solidFill>
                  <a:latin typeface="+mn-lt"/>
                  <a:ea typeface="+mn-ea"/>
                  <a:cs typeface="+mn-cs"/>
                </a:rPr>
                <a:t>Format</a:t>
              </a:r>
            </a:p>
          </p:txBody>
        </p:sp>
        <p:sp>
          <p:nvSpPr>
            <p:cNvPr id="50" name="TextBox 50"/>
            <p:cNvSpPr txBox="1"/>
            <p:nvPr/>
          </p:nvSpPr>
          <p:spPr>
            <a:xfrm>
              <a:off x="9535478" y="2799398"/>
              <a:ext cx="633489"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+format()</a:t>
              </a:r>
            </a:p>
          </p:txBody>
        </p:sp>
        <p:sp>
          <p:nvSpPr>
            <p:cNvPr id="51" name="TextBox 51"/>
            <p:cNvSpPr txBox="1"/>
            <p:nvPr/>
          </p:nvSpPr>
          <p:spPr>
            <a:xfrm>
              <a:off x="6501310" y="3501866"/>
              <a:ext cx="576221" cy="190690"/>
            </a:xfrm>
            <a:prstGeom prst="rect">
              <a:avLst/>
            </a:prstGeom>
            <a:noFill/>
            <a:ln>
              <a:noFill/>
            </a:ln>
          </p:spPr>
          <p:txBody>
            <a:bodyPr wrap="none" lIns="0" tIns="0" rIns="0" bIns="0" anchor="t" anchorCtr="0">
              <a:spAutoFit/>
            </a:bodyPr>
            <a:lstStyle/>
            <a:p>
              <a:pPr algn="ctr"/>
              <a:r>
                <a:rPr lang="en-US" sz="980" b="1" dirty="0">
                  <a:solidFill>
                    <a:srgbClr val="243B53"/>
                  </a:solidFill>
                  <a:latin typeface="+mn-lt"/>
                  <a:ea typeface="+mn-ea"/>
                  <a:cs typeface="+mn-cs"/>
                </a:rPr>
                <a:t>Format1</a:t>
              </a:r>
            </a:p>
          </p:txBody>
        </p:sp>
        <p:sp>
          <p:nvSpPr>
            <p:cNvPr id="52" name="TextBox 52"/>
            <p:cNvSpPr txBox="1"/>
            <p:nvPr/>
          </p:nvSpPr>
          <p:spPr>
            <a:xfrm>
              <a:off x="6289358" y="3841432"/>
              <a:ext cx="633489"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+format()</a:t>
              </a:r>
            </a:p>
          </p:txBody>
        </p:sp>
        <p:sp>
          <p:nvSpPr>
            <p:cNvPr id="53" name="TextBox 53"/>
            <p:cNvSpPr txBox="1"/>
            <p:nvPr/>
          </p:nvSpPr>
          <p:spPr>
            <a:xfrm>
              <a:off x="9747430" y="3501866"/>
              <a:ext cx="576221" cy="190690"/>
            </a:xfrm>
            <a:prstGeom prst="rect">
              <a:avLst/>
            </a:prstGeom>
            <a:noFill/>
            <a:ln>
              <a:noFill/>
            </a:ln>
          </p:spPr>
          <p:txBody>
            <a:bodyPr wrap="none" lIns="0" tIns="0" rIns="0" bIns="0" anchor="t" anchorCtr="0">
              <a:spAutoFit/>
            </a:bodyPr>
            <a:lstStyle/>
            <a:p>
              <a:pPr algn="ctr"/>
              <a:r>
                <a:rPr lang="en-US" sz="980" b="1" dirty="0">
                  <a:solidFill>
                    <a:srgbClr val="243B53"/>
                  </a:solidFill>
                  <a:latin typeface="+mn-lt"/>
                  <a:ea typeface="+mn-ea"/>
                  <a:cs typeface="+mn-cs"/>
                </a:rPr>
                <a:t>Format2</a:t>
              </a:r>
            </a:p>
          </p:txBody>
        </p:sp>
        <p:sp>
          <p:nvSpPr>
            <p:cNvPr id="54" name="TextBox 54"/>
            <p:cNvSpPr txBox="1"/>
            <p:nvPr/>
          </p:nvSpPr>
          <p:spPr>
            <a:xfrm>
              <a:off x="9535478" y="3841432"/>
              <a:ext cx="633489"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+format()</a:t>
              </a:r>
            </a:p>
          </p:txBody>
        </p:sp>
      </p:grpSp>
      <p:grpSp>
        <p:nvGrpSpPr>
          <p:cNvPr id="59" name="c2-code-2"/>
          <p:cNvGrpSpPr/>
          <p:nvPr/>
        </p:nvGrpSpPr>
        <p:grpSpPr>
          <a:xfrm>
            <a:off x="5166360" y="4426268"/>
            <a:ext cx="6492240" cy="1033462"/>
            <a:chOff x="5166360" y="4426268"/>
            <a:chExt cx="6492240" cy="1033462"/>
          </a:xfrm>
        </p:grpSpPr>
        <p:sp>
          <p:nvSpPr>
            <p:cNvPr id="56" name="Rectangle 56"/>
            <p:cNvSpPr/>
            <p:nvPr/>
          </p:nvSpPr>
          <p:spPr>
            <a:xfrm>
              <a:off x="5166360" y="4426268"/>
              <a:ext cx="6492240" cy="1033462"/>
            </a:xfrm>
            <a:prstGeom prst="roundRect">
              <a:avLst>
                <a:gd name="adj" fmla="val 9217"/>
              </a:avLst>
            </a:prstGeom>
            <a:solidFill>
              <a:srgbClr val="F6F8FA"/>
            </a:solidFill>
            <a:ln w="11430">
              <a:solidFill>
                <a:srgbClr val="D9DFEA"/>
              </a:solidFill>
            </a:ln>
          </p:spPr>
        </p:sp>
        <p:sp>
          <p:nvSpPr>
            <p:cNvPr id="57" name="TextBox 57"/>
            <p:cNvSpPr txBox="1"/>
            <p:nvPr/>
          </p:nvSpPr>
          <p:spPr>
            <a:xfrm>
              <a:off x="5294757" y="4578191"/>
              <a:ext cx="669544"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客户端用法</a:t>
              </a:r>
            </a:p>
          </p:txBody>
        </p:sp>
        <p:sp>
          <p:nvSpPr>
            <p:cNvPr id="58" name="TextBox 58"/>
            <p:cNvSpPr txBox="1"/>
            <p:nvPr/>
          </p:nvSpPr>
          <p:spPr>
            <a:xfrm>
              <a:off x="5294757" y="4839176"/>
              <a:ext cx="1721231" cy="543116"/>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Consolas"/>
                  <a:ea typeface="Consolas"/>
                  <a:cs typeface="Consolas"/>
                </a:rPr>
                <a:t xml:space="preserve">Format f = </a:t>
              </a:r>
              <a:r>
                <a:rPr lang="en-US" sz="980" b="1" dirty="0">
                  <a:solidFill>
                    <a:srgbClr val="334E68"/>
                  </a:solidFill>
                  <a:latin typeface="Consolas"/>
                  <a:ea typeface="Consolas"/>
                  <a:cs typeface="Consolas"/>
                </a:rPr>
                <a:t>new</a:t>
              </a:r>
              <a:r>
                <a:rPr lang="en-US" sz="980" dirty="0">
                  <a:solidFill>
                    <a:srgbClr val="1F2937"/>
                  </a:solidFill>
                  <a:latin typeface="Consolas"/>
                  <a:ea typeface="Consolas"/>
                  <a:cs typeface="Consolas"/>
                </a:rPr>
                <a:t xml:space="preserve"> Format1();</a:t>
              </a:r>
              <a:br/>
              <a:r>
                <a:rPr lang="en-US" sz="980" dirty="0">
                  <a:solidFill>
                    <a:srgbClr val="1F2937"/>
                  </a:solidFill>
                  <a:latin typeface="Consolas"/>
                  <a:ea typeface="Consolas"/>
                  <a:cs typeface="Consolas"/>
                </a:rPr>
                <a:t xml:space="preserve">Report r = </a:t>
              </a:r>
              <a:r>
                <a:rPr lang="en-US" sz="980" b="1" dirty="0">
                  <a:solidFill>
                    <a:srgbClr val="334E68"/>
                  </a:solidFill>
                  <a:latin typeface="Consolas"/>
                  <a:ea typeface="Consolas"/>
                  <a:cs typeface="Consolas"/>
                </a:rPr>
                <a:t>new</a:t>
              </a:r>
              <a:r>
                <a:rPr lang="en-US" sz="980" dirty="0">
                  <a:solidFill>
                    <a:srgbClr val="1F2937"/>
                  </a:solidFill>
                  <a:latin typeface="Consolas"/>
                  <a:ea typeface="Consolas"/>
                  <a:cs typeface="Consolas"/>
                </a:rPr>
                <a:t xml:space="preserve"> Report(f);</a:t>
              </a:r>
              <a:br/>
              <a:r>
                <a:rPr lang="en-US" sz="980" dirty="0">
                  <a:solidFill>
                    <a:srgbClr val="1F2937"/>
                  </a:solidFill>
                  <a:latin typeface="Consolas"/>
                  <a:ea typeface="Consolas"/>
                  <a:cs typeface="Consolas"/>
                </a:rPr>
                <a:t>r.printReport();</a:t>
              </a:r>
            </a:p>
          </p:txBody>
        </p:sp>
      </p:grpSp>
      <p:grpSp>
        <p:nvGrpSpPr>
          <p:cNvPr id="65" name="c2-callout-3"/>
          <p:cNvGrpSpPr/>
          <p:nvPr/>
        </p:nvGrpSpPr>
        <p:grpSpPr>
          <a:xfrm>
            <a:off x="5166360" y="5624512"/>
            <a:ext cx="6492240" cy="702945"/>
            <a:chOff x="5166360" y="5624512"/>
            <a:chExt cx="6492240" cy="702945"/>
          </a:xfrm>
        </p:grpSpPr>
        <p:sp>
          <p:nvSpPr>
            <p:cNvPr id="60" name="Rectangle 60"/>
            <p:cNvSpPr/>
            <p:nvPr/>
          </p:nvSpPr>
          <p:spPr>
            <a:xfrm>
              <a:off x="5166360" y="5624512"/>
              <a:ext cx="6492240" cy="702945"/>
            </a:xfrm>
            <a:prstGeom prst="roundRect">
              <a:avLst>
                <a:gd name="adj" fmla="val 16260"/>
              </a:avLst>
            </a:prstGeom>
            <a:solidFill>
              <a:srgbClr val="E3F5F1"/>
            </a:solidFill>
            <a:ln>
              <a:noFill/>
            </a:ln>
          </p:spPr>
        </p:sp>
        <p:grpSp>
          <p:nvGrpSpPr>
            <p:cNvPr id="63" name="Group 63"/>
            <p:cNvGrpSpPr/>
            <p:nvPr/>
          </p:nvGrpSpPr>
          <p:grpSpPr>
            <a:xfrm>
              <a:off x="5371148" y="5875973"/>
              <a:ext cx="200026" cy="200026"/>
              <a:chOff x="5371148" y="5875973"/>
              <a:chExt cx="200026" cy="200026"/>
            </a:xfrm>
          </p:grpSpPr>
          <p:sp>
            <p:nvSpPr>
              <p:cNvPr id="61" name="Freeform 61"/>
              <p:cNvSpPr/>
              <p:nvPr/>
            </p:nvSpPr>
            <p:spPr>
              <a:xfrm>
                <a:off x="5371148" y="587597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0F7A68"/>
                </a:solidFill>
              </a:ln>
            </p:spPr>
          </p:sp>
          <p:sp>
            <p:nvSpPr>
              <p:cNvPr id="62" name="Freeform 62"/>
              <p:cNvSpPr/>
              <p:nvPr/>
            </p:nvSpPr>
            <p:spPr>
              <a:xfrm>
                <a:off x="5437823" y="5953760"/>
                <a:ext cx="66675" cy="44450"/>
              </a:xfrm>
              <a:custGeom>
                <a:avLst/>
                <a:gdLst/>
                <a:ahLst/>
                <a:cxnLst/>
                <a:rect l="l" t="t" r="r" b="b"/>
                <a:pathLst>
                  <a:path w="66675" h="44450">
                    <a:moveTo>
                      <a:pt x="0" y="22225"/>
                    </a:moveTo>
                    <a:lnTo>
                      <a:pt x="22225" y="44450"/>
                    </a:lnTo>
                    <a:lnTo>
                      <a:pt x="66675" y="0"/>
                    </a:lnTo>
                  </a:path>
                </a:pathLst>
              </a:custGeom>
              <a:noFill/>
              <a:ln w="22225">
                <a:solidFill>
                  <a:srgbClr val="0F7A68"/>
                </a:solidFill>
              </a:ln>
            </p:spPr>
          </p:sp>
        </p:grpSp>
        <p:sp>
          <p:nvSpPr>
            <p:cNvPr id="64" name="TextBox 64"/>
            <p:cNvSpPr txBox="1"/>
            <p:nvPr/>
          </p:nvSpPr>
          <p:spPr>
            <a:xfrm>
              <a:off x="5674233" y="5769769"/>
              <a:ext cx="537743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0F7A68"/>
                  </a:solidFill>
                  <a:latin typeface="+mn-lt"/>
                  <a:ea typeface="+mn-ea"/>
                  <a:cs typeface="+mn-cs"/>
                </a:rPr>
                <a:t>加一种新格式只要加 Format3 子类（better extensibility），Report 和</a:t>
              </a:r>
              <a:br/>
              <a:r>
                <a:rPr lang="zh-CN" sz="1280" dirty="0">
                  <a:solidFill>
                    <a:srgbClr val="0F7A68"/>
                  </a:solidFill>
                  <a:latin typeface="+mn-lt"/>
                  <a:ea typeface="+mn-ea"/>
                  <a:cs typeface="+mn-cs"/>
                </a:rPr>
                <a:t>Format 可以分头修改（better maintainability）。</a:t>
              </a:r>
            </a:p>
          </p:txBody>
        </p:sp>
      </p:grpSp>
      <p:grpSp>
        <p:nvGrpSpPr>
          <p:cNvPr id="68" name="footer"/>
          <p:cNvGrpSpPr/>
          <p:nvPr/>
        </p:nvGrpSpPr>
        <p:grpSpPr>
          <a:xfrm>
            <a:off x="528447" y="6581299"/>
            <a:ext cx="11135106" cy="190690"/>
            <a:chOff x="528447" y="6581299"/>
            <a:chExt cx="11135106" cy="190690"/>
          </a:xfrm>
        </p:grpSpPr>
        <p:sp>
          <p:nvSpPr>
            <p:cNvPr id="66" name="TextBox 66"/>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67" name="TextBox 6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649321" cy="909257"/>
            <a:chOff x="520446" y="342900"/>
            <a:chExt cx="7649321" cy="909257"/>
          </a:xfrm>
        </p:grpSpPr>
        <p:sp>
          <p:nvSpPr>
            <p:cNvPr id="2" name="Rectangle 2"/>
            <p:cNvSpPr/>
            <p:nvPr/>
          </p:nvSpPr>
          <p:spPr>
            <a:xfrm>
              <a:off x="533400" y="342900"/>
              <a:ext cx="2660332" cy="266700"/>
            </a:xfrm>
            <a:prstGeom prst="roundRect">
              <a:avLst>
                <a:gd name="adj" fmla="val 50000"/>
              </a:avLst>
            </a:prstGeom>
            <a:solidFill>
              <a:srgbClr val="E7EDF3"/>
            </a:solidFill>
            <a:ln>
              <a:noFill/>
            </a:ln>
          </p:spPr>
        </p:sp>
        <p:sp>
          <p:nvSpPr>
            <p:cNvPr id="3" name="TextBox 3"/>
            <p:cNvSpPr txBox="1"/>
            <p:nvPr/>
          </p:nvSpPr>
          <p:spPr>
            <a:xfrm>
              <a:off x="570203" y="407194"/>
              <a:ext cx="25857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SOLID 五原则</a:t>
              </a:r>
            </a:p>
          </p:txBody>
        </p:sp>
        <p:sp>
          <p:nvSpPr>
            <p:cNvPr id="4" name="TextBox 4"/>
            <p:cNvSpPr txBox="1"/>
            <p:nvPr/>
          </p:nvSpPr>
          <p:spPr>
            <a:xfrm>
              <a:off x="520446" y="753428"/>
              <a:ext cx="764932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 2 飞行信息显示：一个类扛下高度和速度两件事</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1" name="c1-uml-1"/>
          <p:cNvGrpSpPr/>
          <p:nvPr/>
        </p:nvGrpSpPr>
        <p:grpSpPr>
          <a:xfrm>
            <a:off x="1507808" y="1831658"/>
            <a:ext cx="4327207" cy="3662362"/>
            <a:chOff x="1507808" y="1831658"/>
            <a:chExt cx="4327207" cy="3662362"/>
          </a:xfrm>
        </p:grpSpPr>
        <p:sp>
          <p:nvSpPr>
            <p:cNvPr id="7" name="Freeform 7"/>
            <p:cNvSpPr/>
            <p:nvPr/>
          </p:nvSpPr>
          <p:spPr>
            <a:xfrm>
              <a:off x="2673668" y="2705100"/>
              <a:ext cx="1972628" cy="9525"/>
            </a:xfrm>
            <a:custGeom>
              <a:avLst/>
              <a:gdLst/>
              <a:ahLst/>
              <a:cxnLst/>
              <a:rect l="l" t="t" r="r" b="b"/>
              <a:pathLst>
                <a:path w="1972628" h="9525">
                  <a:moveTo>
                    <a:pt x="0" y="0"/>
                  </a:moveTo>
                  <a:lnTo>
                    <a:pt x="1972628" y="0"/>
                  </a:lnTo>
                </a:path>
              </a:pathLst>
            </a:custGeom>
            <a:noFill/>
            <a:ln w="15240">
              <a:solidFill>
                <a:srgbClr val="1F2937"/>
              </a:solidFill>
            </a:ln>
          </p:spPr>
        </p:sp>
        <p:sp>
          <p:nvSpPr>
            <p:cNvPr id="8" name="Freeform 8"/>
            <p:cNvSpPr/>
            <p:nvPr/>
          </p:nvSpPr>
          <p:spPr>
            <a:xfrm>
              <a:off x="4541520" y="2646998"/>
              <a:ext cx="104775" cy="115253"/>
            </a:xfrm>
            <a:custGeom>
              <a:avLst/>
              <a:gdLst/>
              <a:ahLst/>
              <a:cxnLst/>
              <a:rect l="l" t="t" r="r" b="b"/>
              <a:pathLst>
                <a:path w="104775" h="115253">
                  <a:moveTo>
                    <a:pt x="0" y="115253"/>
                  </a:moveTo>
                  <a:lnTo>
                    <a:pt x="104775" y="58103"/>
                  </a:lnTo>
                  <a:lnTo>
                    <a:pt x="0" y="0"/>
                  </a:lnTo>
                </a:path>
              </a:pathLst>
            </a:custGeom>
            <a:noFill/>
            <a:ln w="15240">
              <a:solidFill>
                <a:srgbClr val="1F2937"/>
              </a:solidFill>
            </a:ln>
          </p:spPr>
        </p:sp>
        <p:sp>
          <p:nvSpPr>
            <p:cNvPr id="9" name="Freeform 9"/>
            <p:cNvSpPr/>
            <p:nvPr/>
          </p:nvSpPr>
          <p:spPr>
            <a:xfrm>
              <a:off x="2102168" y="3171825"/>
              <a:ext cx="3043238" cy="1467803"/>
            </a:xfrm>
            <a:custGeom>
              <a:avLst/>
              <a:gdLst/>
              <a:ahLst/>
              <a:cxnLst/>
              <a:rect l="l" t="t" r="r" b="b"/>
              <a:pathLst>
                <a:path w="3043238" h="1467803">
                  <a:moveTo>
                    <a:pt x="0" y="1467803"/>
                  </a:moveTo>
                  <a:lnTo>
                    <a:pt x="0" y="671512"/>
                  </a:lnTo>
                  <a:lnTo>
                    <a:pt x="3043238" y="671512"/>
                  </a:lnTo>
                  <a:lnTo>
                    <a:pt x="3043238" y="0"/>
                  </a:lnTo>
                </a:path>
              </a:pathLst>
            </a:custGeom>
            <a:noFill/>
            <a:ln w="15240">
              <a:solidFill>
                <a:srgbClr val="1F2937"/>
              </a:solidFill>
              <a:custDash>
                <a:ds d="375000" sp="250000"/>
              </a:custDash>
            </a:ln>
          </p:spPr>
        </p:sp>
        <p:sp>
          <p:nvSpPr>
            <p:cNvPr id="10" name="Freeform 10"/>
            <p:cNvSpPr/>
            <p:nvPr/>
          </p:nvSpPr>
          <p:spPr>
            <a:xfrm>
              <a:off x="5072062" y="3046095"/>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11" name="Freeform 11"/>
            <p:cNvSpPr/>
            <p:nvPr/>
          </p:nvSpPr>
          <p:spPr>
            <a:xfrm>
              <a:off x="5240655" y="3171825"/>
              <a:ext cx="95250" cy="1467803"/>
            </a:xfrm>
            <a:custGeom>
              <a:avLst/>
              <a:gdLst/>
              <a:ahLst/>
              <a:cxnLst/>
              <a:rect l="l" t="t" r="r" b="b"/>
              <a:pathLst>
                <a:path w="95250" h="1467803">
                  <a:moveTo>
                    <a:pt x="0" y="1467803"/>
                  </a:moveTo>
                  <a:lnTo>
                    <a:pt x="0" y="671512"/>
                  </a:lnTo>
                  <a:lnTo>
                    <a:pt x="95250" y="671512"/>
                  </a:lnTo>
                  <a:lnTo>
                    <a:pt x="95250" y="0"/>
                  </a:lnTo>
                </a:path>
              </a:pathLst>
            </a:custGeom>
            <a:noFill/>
            <a:ln w="15240">
              <a:solidFill>
                <a:srgbClr val="1F2937"/>
              </a:solidFill>
              <a:custDash>
                <a:ds d="375000" sp="250000"/>
              </a:custDash>
            </a:ln>
          </p:spPr>
        </p:sp>
        <p:sp>
          <p:nvSpPr>
            <p:cNvPr id="12" name="Freeform 12"/>
            <p:cNvSpPr/>
            <p:nvPr/>
          </p:nvSpPr>
          <p:spPr>
            <a:xfrm>
              <a:off x="5262562" y="3046095"/>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13" name="Rectangle 13"/>
            <p:cNvSpPr/>
            <p:nvPr/>
          </p:nvSpPr>
          <p:spPr>
            <a:xfrm>
              <a:off x="1530668" y="1831658"/>
              <a:ext cx="1143000" cy="1746885"/>
            </a:xfrm>
            <a:prstGeom prst="rect">
              <a:avLst/>
            </a:prstGeom>
            <a:solidFill>
              <a:srgbClr val="FFFFFF"/>
            </a:solidFill>
            <a:ln w="14288">
              <a:solidFill>
                <a:srgbClr val="334E68"/>
              </a:solidFill>
            </a:ln>
          </p:spPr>
        </p:sp>
        <p:sp>
          <p:nvSpPr>
            <p:cNvPr id="14" name="Rectangle 14"/>
            <p:cNvSpPr/>
            <p:nvPr/>
          </p:nvSpPr>
          <p:spPr>
            <a:xfrm>
              <a:off x="1538288" y="1838325"/>
              <a:ext cx="1128712" cy="209550"/>
            </a:xfrm>
            <a:prstGeom prst="rect">
              <a:avLst/>
            </a:prstGeom>
            <a:solidFill>
              <a:srgbClr val="334E68"/>
            </a:solidFill>
            <a:ln>
              <a:noFill/>
            </a:ln>
          </p:spPr>
        </p:sp>
        <p:sp>
          <p:nvSpPr>
            <p:cNvPr id="15" name="Rectangle 15"/>
            <p:cNvSpPr/>
            <p:nvPr/>
          </p:nvSpPr>
          <p:spPr>
            <a:xfrm>
              <a:off x="1530668" y="2044065"/>
              <a:ext cx="1143000" cy="9525"/>
            </a:xfrm>
            <a:prstGeom prst="rect">
              <a:avLst/>
            </a:prstGeom>
            <a:solidFill>
              <a:srgbClr val="334E68"/>
            </a:solidFill>
            <a:ln>
              <a:noFill/>
            </a:ln>
          </p:spPr>
        </p:sp>
        <p:sp>
          <p:nvSpPr>
            <p:cNvPr id="16" name="Rectangle 16"/>
            <p:cNvSpPr/>
            <p:nvPr/>
          </p:nvSpPr>
          <p:spPr>
            <a:xfrm>
              <a:off x="1530668" y="2586038"/>
              <a:ext cx="1143000" cy="9525"/>
            </a:xfrm>
            <a:prstGeom prst="rect">
              <a:avLst/>
            </a:prstGeom>
            <a:solidFill>
              <a:srgbClr val="334E68"/>
            </a:solidFill>
            <a:ln>
              <a:noFill/>
            </a:ln>
          </p:spPr>
        </p:sp>
        <p:sp>
          <p:nvSpPr>
            <p:cNvPr id="17" name="Rectangle 17"/>
            <p:cNvSpPr/>
            <p:nvPr/>
          </p:nvSpPr>
          <p:spPr>
            <a:xfrm>
              <a:off x="4646295" y="2364105"/>
              <a:ext cx="1188720" cy="681990"/>
            </a:xfrm>
            <a:prstGeom prst="rect">
              <a:avLst/>
            </a:prstGeom>
            <a:solidFill>
              <a:srgbClr val="FFFFFF"/>
            </a:solidFill>
            <a:ln w="14288">
              <a:solidFill>
                <a:srgbClr val="334E68"/>
              </a:solidFill>
            </a:ln>
          </p:spPr>
        </p:sp>
        <p:sp>
          <p:nvSpPr>
            <p:cNvPr id="18" name="Rectangle 18"/>
            <p:cNvSpPr/>
            <p:nvPr/>
          </p:nvSpPr>
          <p:spPr>
            <a:xfrm>
              <a:off x="4652962" y="2370772"/>
              <a:ext cx="1174432" cy="335280"/>
            </a:xfrm>
            <a:prstGeom prst="rect">
              <a:avLst/>
            </a:prstGeom>
            <a:solidFill>
              <a:srgbClr val="E7EDF3"/>
            </a:solidFill>
            <a:ln>
              <a:noFill/>
            </a:ln>
          </p:spPr>
        </p:sp>
        <p:sp>
          <p:nvSpPr>
            <p:cNvPr id="19" name="Rectangle 19"/>
            <p:cNvSpPr/>
            <p:nvPr/>
          </p:nvSpPr>
          <p:spPr>
            <a:xfrm>
              <a:off x="4646295" y="2702242"/>
              <a:ext cx="1188720" cy="9525"/>
            </a:xfrm>
            <a:prstGeom prst="rect">
              <a:avLst/>
            </a:prstGeom>
            <a:solidFill>
              <a:srgbClr val="334E68"/>
            </a:solidFill>
            <a:ln>
              <a:noFill/>
            </a:ln>
          </p:spPr>
        </p:sp>
        <p:sp>
          <p:nvSpPr>
            <p:cNvPr id="20" name="Rectangle 20"/>
            <p:cNvSpPr/>
            <p:nvPr/>
          </p:nvSpPr>
          <p:spPr>
            <a:xfrm>
              <a:off x="4646295" y="2797492"/>
              <a:ext cx="1188720" cy="9525"/>
            </a:xfrm>
            <a:prstGeom prst="rect">
              <a:avLst/>
            </a:prstGeom>
            <a:solidFill>
              <a:srgbClr val="334E68"/>
            </a:solidFill>
            <a:ln>
              <a:noFill/>
            </a:ln>
          </p:spPr>
        </p:sp>
        <p:sp>
          <p:nvSpPr>
            <p:cNvPr id="21" name="Rectangle 21"/>
            <p:cNvSpPr/>
            <p:nvPr/>
          </p:nvSpPr>
          <p:spPr>
            <a:xfrm>
              <a:off x="1507808" y="4639628"/>
              <a:ext cx="1188720" cy="854392"/>
            </a:xfrm>
            <a:prstGeom prst="rect">
              <a:avLst/>
            </a:prstGeom>
            <a:solidFill>
              <a:srgbClr val="FFFFFF"/>
            </a:solidFill>
            <a:ln w="14288">
              <a:solidFill>
                <a:srgbClr val="334E68"/>
              </a:solidFill>
            </a:ln>
          </p:spPr>
        </p:sp>
        <p:sp>
          <p:nvSpPr>
            <p:cNvPr id="22" name="Rectangle 22"/>
            <p:cNvSpPr/>
            <p:nvPr/>
          </p:nvSpPr>
          <p:spPr>
            <a:xfrm>
              <a:off x="1515428" y="4647248"/>
              <a:ext cx="1174432" cy="209550"/>
            </a:xfrm>
            <a:prstGeom prst="rect">
              <a:avLst/>
            </a:prstGeom>
            <a:solidFill>
              <a:srgbClr val="E7EDF3"/>
            </a:solidFill>
            <a:ln>
              <a:noFill/>
            </a:ln>
          </p:spPr>
        </p:sp>
        <p:sp>
          <p:nvSpPr>
            <p:cNvPr id="23" name="Rectangle 23"/>
            <p:cNvSpPr/>
            <p:nvPr/>
          </p:nvSpPr>
          <p:spPr>
            <a:xfrm>
              <a:off x="1507808" y="4852035"/>
              <a:ext cx="1188720" cy="9525"/>
            </a:xfrm>
            <a:prstGeom prst="rect">
              <a:avLst/>
            </a:prstGeom>
            <a:solidFill>
              <a:srgbClr val="334E68"/>
            </a:solidFill>
            <a:ln>
              <a:noFill/>
            </a:ln>
          </p:spPr>
        </p:sp>
        <p:sp>
          <p:nvSpPr>
            <p:cNvPr id="24" name="Rectangle 24"/>
            <p:cNvSpPr/>
            <p:nvPr/>
          </p:nvSpPr>
          <p:spPr>
            <a:xfrm>
              <a:off x="1507808" y="5096828"/>
              <a:ext cx="1188720" cy="9525"/>
            </a:xfrm>
            <a:prstGeom prst="rect">
              <a:avLst/>
            </a:prstGeom>
            <a:solidFill>
              <a:srgbClr val="334E68"/>
            </a:solidFill>
            <a:ln>
              <a:noFill/>
            </a:ln>
          </p:spPr>
        </p:sp>
        <p:sp>
          <p:nvSpPr>
            <p:cNvPr id="25" name="Rectangle 25"/>
            <p:cNvSpPr/>
            <p:nvPr/>
          </p:nvSpPr>
          <p:spPr>
            <a:xfrm>
              <a:off x="4646295" y="4639628"/>
              <a:ext cx="1188720" cy="854392"/>
            </a:xfrm>
            <a:prstGeom prst="rect">
              <a:avLst/>
            </a:prstGeom>
            <a:solidFill>
              <a:srgbClr val="FFFFFF"/>
            </a:solidFill>
            <a:ln w="14288">
              <a:solidFill>
                <a:srgbClr val="334E68"/>
              </a:solidFill>
            </a:ln>
          </p:spPr>
        </p:sp>
        <p:sp>
          <p:nvSpPr>
            <p:cNvPr id="26" name="Rectangle 26"/>
            <p:cNvSpPr/>
            <p:nvPr/>
          </p:nvSpPr>
          <p:spPr>
            <a:xfrm>
              <a:off x="4652962" y="4647248"/>
              <a:ext cx="1174432" cy="209550"/>
            </a:xfrm>
            <a:prstGeom prst="rect">
              <a:avLst/>
            </a:prstGeom>
            <a:solidFill>
              <a:srgbClr val="E7EDF3"/>
            </a:solidFill>
            <a:ln>
              <a:noFill/>
            </a:ln>
          </p:spPr>
        </p:sp>
        <p:sp>
          <p:nvSpPr>
            <p:cNvPr id="27" name="Rectangle 27"/>
            <p:cNvSpPr/>
            <p:nvPr/>
          </p:nvSpPr>
          <p:spPr>
            <a:xfrm>
              <a:off x="4646295" y="4852035"/>
              <a:ext cx="1188720" cy="9525"/>
            </a:xfrm>
            <a:prstGeom prst="rect">
              <a:avLst/>
            </a:prstGeom>
            <a:solidFill>
              <a:srgbClr val="334E68"/>
            </a:solidFill>
            <a:ln>
              <a:noFill/>
            </a:ln>
          </p:spPr>
        </p:sp>
        <p:sp>
          <p:nvSpPr>
            <p:cNvPr id="28" name="Rectangle 28"/>
            <p:cNvSpPr/>
            <p:nvPr/>
          </p:nvSpPr>
          <p:spPr>
            <a:xfrm>
              <a:off x="4646295" y="5096828"/>
              <a:ext cx="1188720" cy="9525"/>
            </a:xfrm>
            <a:prstGeom prst="rect">
              <a:avLst/>
            </a:prstGeom>
            <a:solidFill>
              <a:srgbClr val="334E68"/>
            </a:solidFill>
            <a:ln>
              <a:noFill/>
            </a:ln>
          </p:spPr>
        </p:sp>
        <p:sp>
          <p:nvSpPr>
            <p:cNvPr id="29" name="TextBox 29"/>
            <p:cNvSpPr txBox="1"/>
            <p:nvPr/>
          </p:nvSpPr>
          <p:spPr>
            <a:xfrm>
              <a:off x="1756813" y="1883093"/>
              <a:ext cx="690708"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InfoDisplay</a:t>
              </a:r>
            </a:p>
          </p:txBody>
        </p:sp>
        <p:sp>
          <p:nvSpPr>
            <p:cNvPr id="30" name="TextBox 30"/>
            <p:cNvSpPr txBox="1"/>
            <p:nvPr/>
          </p:nvSpPr>
          <p:spPr>
            <a:xfrm>
              <a:off x="1602105" y="2112169"/>
              <a:ext cx="842645" cy="459105"/>
            </a:xfrm>
            <a:prstGeom prst="rect">
              <a:avLst/>
            </a:prstGeom>
            <a:noFill/>
            <a:ln>
              <a:noFill/>
            </a:ln>
          </p:spPr>
          <p:txBody>
            <a:bodyPr wrap="none" lIns="0" tIns="0" rIns="0" bIns="0" anchor="t" anchorCtr="0">
              <a:spAutoFit/>
            </a:bodyPr>
            <a:lstStyle/>
            <a:p>
              <a:pPr algn="l">
                <a:lnSpc>
                  <a:spcPts val="1170"/>
                </a:lnSpc>
              </a:pPr>
              <a:r>
                <a:rPr lang="en-US" sz="820" dirty="0">
                  <a:solidFill>
                    <a:srgbClr val="1F2937"/>
                  </a:solidFill>
                  <a:latin typeface="+mn-lt"/>
                  <a:ea typeface="+mn-ea"/>
                  <a:cs typeface="+mn-cs"/>
                </a:rPr>
                <a:t>-sensor: Sensor</a:t>
              </a:r>
              <a:br/>
              <a:r>
                <a:rPr lang="en-US" sz="820" dirty="0">
                  <a:solidFill>
                    <a:srgbClr val="1F2937"/>
                  </a:solidFill>
                  <a:latin typeface="+mn-lt"/>
                  <a:ea typeface="+mn-ea"/>
                  <a:cs typeface="+mn-cs"/>
                </a:rPr>
                <a:t>-speed: int</a:t>
              </a:r>
              <a:br/>
              <a:r>
                <a:rPr lang="en-US" sz="820" dirty="0">
                  <a:solidFill>
                    <a:srgbClr val="1F2937"/>
                  </a:solidFill>
                  <a:latin typeface="+mn-lt"/>
                  <a:ea typeface="+mn-ea"/>
                  <a:cs typeface="+mn-cs"/>
                </a:rPr>
                <a:t>-height: int</a:t>
              </a:r>
            </a:p>
          </p:txBody>
        </p:sp>
        <p:sp>
          <p:nvSpPr>
            <p:cNvPr id="31" name="TextBox 31"/>
            <p:cNvSpPr txBox="1"/>
            <p:nvPr/>
          </p:nvSpPr>
          <p:spPr>
            <a:xfrm>
              <a:off x="1602105" y="2654141"/>
              <a:ext cx="842645" cy="904875"/>
            </a:xfrm>
            <a:prstGeom prst="rect">
              <a:avLst/>
            </a:prstGeom>
            <a:noFill/>
            <a:ln>
              <a:noFill/>
            </a:ln>
          </p:spPr>
          <p:txBody>
            <a:bodyPr wrap="none" lIns="0" tIns="0" rIns="0" bIns="0" anchor="t" anchorCtr="0">
              <a:spAutoFit/>
            </a:bodyPr>
            <a:lstStyle/>
            <a:p>
              <a:pPr algn="l">
                <a:lnSpc>
                  <a:spcPts val="1170"/>
                </a:lnSpc>
              </a:pPr>
              <a:r>
                <a:rPr lang="en-US" sz="820" dirty="0">
                  <a:solidFill>
                    <a:srgbClr val="1F2937"/>
                  </a:solidFill>
                  <a:latin typeface="+mn-lt"/>
                  <a:ea typeface="+mn-ea"/>
                  <a:cs typeface="+mn-cs"/>
                </a:rPr>
                <a:t>+getSpeed()</a:t>
              </a:r>
              <a:br/>
              <a:r>
                <a:rPr lang="en-US" sz="820" dirty="0">
                  <a:solidFill>
                    <a:srgbClr val="1F2937"/>
                  </a:solidFill>
                  <a:latin typeface="+mn-lt"/>
                  <a:ea typeface="+mn-ea"/>
                  <a:cs typeface="+mn-cs"/>
                </a:rPr>
                <a:t>+getHeight()</a:t>
              </a:r>
              <a:br/>
              <a:r>
                <a:rPr lang="en-US" sz="820" dirty="0">
                  <a:solidFill>
                    <a:srgbClr val="1F2937"/>
                  </a:solidFill>
                  <a:latin typeface="+mn-lt"/>
                  <a:ea typeface="+mn-ea"/>
                  <a:cs typeface="+mn-cs"/>
                </a:rPr>
                <a:t>+updateSpeed()</a:t>
              </a:r>
              <a:br/>
              <a:r>
                <a:rPr lang="en-US" sz="820" dirty="0">
                  <a:solidFill>
                    <a:srgbClr val="1F2937"/>
                  </a:solidFill>
                  <a:latin typeface="+mn-lt"/>
                  <a:ea typeface="+mn-ea"/>
                  <a:cs typeface="+mn-cs"/>
                </a:rPr>
                <a:t>+updateHeight()</a:t>
              </a:r>
              <a:br/>
              <a:r>
                <a:rPr lang="en-US" sz="820" dirty="0">
                  <a:solidFill>
                    <a:srgbClr val="1F2937"/>
                  </a:solidFill>
                  <a:latin typeface="+mn-lt"/>
                  <a:ea typeface="+mn-ea"/>
                  <a:cs typeface="+mn-cs"/>
                </a:rPr>
                <a:t>+showHeight()</a:t>
              </a:r>
              <a:br/>
              <a:r>
                <a:rPr lang="en-US" sz="820" dirty="0">
                  <a:solidFill>
                    <a:srgbClr val="1F2937"/>
                  </a:solidFill>
                  <a:latin typeface="+mn-lt"/>
                  <a:ea typeface="+mn-ea"/>
                  <a:cs typeface="+mn-cs"/>
                </a:rPr>
                <a:t>+showSpeed()</a:t>
              </a:r>
            </a:p>
          </p:txBody>
        </p:sp>
        <p:sp>
          <p:nvSpPr>
            <p:cNvPr id="32" name="TextBox 32"/>
            <p:cNvSpPr txBox="1"/>
            <p:nvPr/>
          </p:nvSpPr>
          <p:spPr>
            <a:xfrm>
              <a:off x="4943094" y="2412682"/>
              <a:ext cx="595122" cy="147638"/>
            </a:xfrm>
            <a:prstGeom prst="rect">
              <a:avLst/>
            </a:prstGeom>
            <a:noFill/>
            <a:ln>
              <a:noFill/>
            </a:ln>
          </p:spPr>
          <p:txBody>
            <a:bodyPr wrap="none" lIns="0" tIns="0" rIns="0" bIns="0" anchor="t" anchorCtr="0">
              <a:spAutoFit/>
            </a:bodyPr>
            <a:lstStyle/>
            <a:p>
              <a:pPr algn="ctr"/>
              <a:r>
                <a:rPr lang="en-US" sz="750" dirty="0">
                  <a:solidFill>
                    <a:srgbClr val="243B53"/>
                  </a:solidFill>
                  <a:latin typeface="+mn-lt"/>
                  <a:ea typeface="+mn-ea"/>
                  <a:cs typeface="+mn-cs"/>
                </a:rPr>
                <a:t>«interface»</a:t>
              </a:r>
            </a:p>
          </p:txBody>
        </p:sp>
        <p:sp>
          <p:nvSpPr>
            <p:cNvPr id="33" name="TextBox 33"/>
            <p:cNvSpPr txBox="1"/>
            <p:nvPr/>
          </p:nvSpPr>
          <p:spPr>
            <a:xfrm>
              <a:off x="5024006" y="2541270"/>
              <a:ext cx="433298" cy="176212"/>
            </a:xfrm>
            <a:prstGeom prst="rect">
              <a:avLst/>
            </a:prstGeom>
            <a:noFill/>
            <a:ln>
              <a:noFill/>
            </a:ln>
          </p:spPr>
          <p:txBody>
            <a:bodyPr wrap="none" lIns="0" tIns="0" rIns="0" bIns="0" anchor="t" anchorCtr="0">
              <a:spAutoFit/>
            </a:bodyPr>
            <a:lstStyle/>
            <a:p>
              <a:pPr algn="ctr"/>
              <a:r>
                <a:rPr lang="en-US" sz="900" b="1" dirty="0">
                  <a:solidFill>
                    <a:srgbClr val="243B53"/>
                  </a:solidFill>
                  <a:latin typeface="+mn-lt"/>
                  <a:ea typeface="+mn-ea"/>
                  <a:cs typeface="+mn-cs"/>
                </a:rPr>
                <a:t>Sensor</a:t>
              </a:r>
            </a:p>
          </p:txBody>
        </p:sp>
        <p:sp>
          <p:nvSpPr>
            <p:cNvPr id="34" name="TextBox 34"/>
            <p:cNvSpPr txBox="1"/>
            <p:nvPr/>
          </p:nvSpPr>
          <p:spPr>
            <a:xfrm>
              <a:off x="4717732" y="2865596"/>
              <a:ext cx="1112330" cy="161925"/>
            </a:xfrm>
            <a:prstGeom prst="rect">
              <a:avLst/>
            </a:prstGeom>
            <a:noFill/>
            <a:ln>
              <a:noFill/>
            </a:ln>
          </p:spPr>
          <p:txBody>
            <a:bodyPr wrap="none" lIns="0" tIns="0" rIns="0" bIns="0" anchor="t" anchorCtr="0">
              <a:spAutoFit/>
            </a:bodyPr>
            <a:lstStyle/>
            <a:p>
              <a:pPr algn="l"/>
              <a:r>
                <a:rPr lang="en-US" sz="820" dirty="0">
                  <a:solidFill>
                    <a:srgbClr val="1F2937"/>
                  </a:solidFill>
                  <a:latin typeface="+mn-lt"/>
                  <a:ea typeface="+mn-ea"/>
                  <a:cs typeface="+mn-cs"/>
                </a:rPr>
                <a:t>+reportData(): void</a:t>
              </a:r>
            </a:p>
          </p:txBody>
        </p:sp>
        <p:sp>
          <p:nvSpPr>
            <p:cNvPr id="35" name="TextBox 35"/>
            <p:cNvSpPr txBox="1"/>
            <p:nvPr/>
          </p:nvSpPr>
          <p:spPr>
            <a:xfrm>
              <a:off x="1689684" y="4691062"/>
              <a:ext cx="824967" cy="176212"/>
            </a:xfrm>
            <a:prstGeom prst="rect">
              <a:avLst/>
            </a:prstGeom>
            <a:noFill/>
            <a:ln>
              <a:noFill/>
            </a:ln>
          </p:spPr>
          <p:txBody>
            <a:bodyPr wrap="none" lIns="0" tIns="0" rIns="0" bIns="0" anchor="t" anchorCtr="0">
              <a:spAutoFit/>
            </a:bodyPr>
            <a:lstStyle/>
            <a:p>
              <a:pPr algn="ctr"/>
              <a:r>
                <a:rPr lang="en-US" sz="900" b="1" dirty="0">
                  <a:solidFill>
                    <a:srgbClr val="243B53"/>
                  </a:solidFill>
                  <a:latin typeface="+mn-lt"/>
                  <a:ea typeface="+mn-ea"/>
                  <a:cs typeface="+mn-cs"/>
                </a:rPr>
                <a:t>HeightSensor</a:t>
              </a:r>
            </a:p>
          </p:txBody>
        </p:sp>
        <p:sp>
          <p:nvSpPr>
            <p:cNvPr id="36" name="TextBox 36"/>
            <p:cNvSpPr txBox="1"/>
            <p:nvPr/>
          </p:nvSpPr>
          <p:spPr>
            <a:xfrm>
              <a:off x="1579245" y="4920139"/>
              <a:ext cx="655297" cy="161925"/>
            </a:xfrm>
            <a:prstGeom prst="rect">
              <a:avLst/>
            </a:prstGeom>
            <a:noFill/>
            <a:ln>
              <a:noFill/>
            </a:ln>
          </p:spPr>
          <p:txBody>
            <a:bodyPr wrap="none" lIns="0" tIns="0" rIns="0" bIns="0" anchor="t" anchorCtr="0">
              <a:spAutoFit/>
            </a:bodyPr>
            <a:lstStyle/>
            <a:p>
              <a:pPr algn="l"/>
              <a:r>
                <a:rPr lang="en-US" sz="820" dirty="0">
                  <a:solidFill>
                    <a:srgbClr val="1F2937"/>
                  </a:solidFill>
                  <a:latin typeface="+mn-lt"/>
                  <a:ea typeface="+mn-ea"/>
                  <a:cs typeface="+mn-cs"/>
                </a:rPr>
                <a:t>-height: int</a:t>
              </a:r>
            </a:p>
          </p:txBody>
        </p:sp>
        <p:sp>
          <p:nvSpPr>
            <p:cNvPr id="37" name="TextBox 37"/>
            <p:cNvSpPr txBox="1"/>
            <p:nvPr/>
          </p:nvSpPr>
          <p:spPr>
            <a:xfrm>
              <a:off x="1579245" y="5164931"/>
              <a:ext cx="1045718" cy="310515"/>
            </a:xfrm>
            <a:prstGeom prst="rect">
              <a:avLst/>
            </a:prstGeom>
            <a:noFill/>
            <a:ln>
              <a:noFill/>
            </a:ln>
          </p:spPr>
          <p:txBody>
            <a:bodyPr wrap="none" lIns="0" tIns="0" rIns="0" bIns="0" anchor="t" anchorCtr="0">
              <a:spAutoFit/>
            </a:bodyPr>
            <a:lstStyle/>
            <a:p>
              <a:pPr algn="l">
                <a:lnSpc>
                  <a:spcPts val="1170"/>
                </a:lnSpc>
              </a:pPr>
              <a:r>
                <a:rPr lang="en-US" sz="820" dirty="0">
                  <a:solidFill>
                    <a:srgbClr val="1F2937"/>
                  </a:solidFill>
                  <a:latin typeface="+mn-lt"/>
                  <a:ea typeface="+mn-ea"/>
                  <a:cs typeface="+mn-cs"/>
                </a:rPr>
                <a:t>+compHeight(): void</a:t>
              </a:r>
              <a:br/>
              <a:r>
                <a:rPr lang="en-US" sz="820" dirty="0">
                  <a:solidFill>
                    <a:srgbClr val="1F2937"/>
                  </a:solidFill>
                  <a:latin typeface="+mn-lt"/>
                  <a:ea typeface="+mn-ea"/>
                  <a:cs typeface="+mn-cs"/>
                </a:rPr>
                <a:t>+reportData(): void</a:t>
              </a:r>
            </a:p>
          </p:txBody>
        </p:sp>
        <p:sp>
          <p:nvSpPr>
            <p:cNvPr id="38" name="TextBox 38"/>
            <p:cNvSpPr txBox="1"/>
            <p:nvPr/>
          </p:nvSpPr>
          <p:spPr>
            <a:xfrm>
              <a:off x="4847104" y="4691062"/>
              <a:ext cx="787102" cy="176212"/>
            </a:xfrm>
            <a:prstGeom prst="rect">
              <a:avLst/>
            </a:prstGeom>
            <a:noFill/>
            <a:ln>
              <a:noFill/>
            </a:ln>
          </p:spPr>
          <p:txBody>
            <a:bodyPr wrap="none" lIns="0" tIns="0" rIns="0" bIns="0" anchor="t" anchorCtr="0">
              <a:spAutoFit/>
            </a:bodyPr>
            <a:lstStyle/>
            <a:p>
              <a:pPr algn="ctr"/>
              <a:r>
                <a:rPr lang="en-US" sz="900" b="1" dirty="0">
                  <a:solidFill>
                    <a:srgbClr val="243B53"/>
                  </a:solidFill>
                  <a:latin typeface="+mn-lt"/>
                  <a:ea typeface="+mn-ea"/>
                  <a:cs typeface="+mn-cs"/>
                </a:rPr>
                <a:t>SpeedSensor</a:t>
              </a:r>
            </a:p>
          </p:txBody>
        </p:sp>
        <p:sp>
          <p:nvSpPr>
            <p:cNvPr id="39" name="TextBox 39"/>
            <p:cNvSpPr txBox="1"/>
            <p:nvPr/>
          </p:nvSpPr>
          <p:spPr>
            <a:xfrm>
              <a:off x="4717732" y="4920139"/>
              <a:ext cx="622181" cy="161925"/>
            </a:xfrm>
            <a:prstGeom prst="rect">
              <a:avLst/>
            </a:prstGeom>
            <a:noFill/>
            <a:ln>
              <a:noFill/>
            </a:ln>
          </p:spPr>
          <p:txBody>
            <a:bodyPr wrap="none" lIns="0" tIns="0" rIns="0" bIns="0" anchor="t" anchorCtr="0">
              <a:spAutoFit/>
            </a:bodyPr>
            <a:lstStyle/>
            <a:p>
              <a:pPr algn="l"/>
              <a:r>
                <a:rPr lang="en-US" sz="820" dirty="0">
                  <a:solidFill>
                    <a:srgbClr val="1F2937"/>
                  </a:solidFill>
                  <a:latin typeface="+mn-lt"/>
                  <a:ea typeface="+mn-ea"/>
                  <a:cs typeface="+mn-cs"/>
                </a:rPr>
                <a:t>-speed: int</a:t>
              </a:r>
            </a:p>
          </p:txBody>
        </p:sp>
        <p:sp>
          <p:nvSpPr>
            <p:cNvPr id="40" name="TextBox 40"/>
            <p:cNvSpPr txBox="1"/>
            <p:nvPr/>
          </p:nvSpPr>
          <p:spPr>
            <a:xfrm>
              <a:off x="4717732" y="5164931"/>
              <a:ext cx="1045718" cy="310515"/>
            </a:xfrm>
            <a:prstGeom prst="rect">
              <a:avLst/>
            </a:prstGeom>
            <a:noFill/>
            <a:ln>
              <a:noFill/>
            </a:ln>
          </p:spPr>
          <p:txBody>
            <a:bodyPr wrap="none" lIns="0" tIns="0" rIns="0" bIns="0" anchor="t" anchorCtr="0">
              <a:spAutoFit/>
            </a:bodyPr>
            <a:lstStyle/>
            <a:p>
              <a:pPr algn="l">
                <a:lnSpc>
                  <a:spcPts val="1170"/>
                </a:lnSpc>
              </a:pPr>
              <a:r>
                <a:rPr lang="en-US" sz="820" dirty="0">
                  <a:solidFill>
                    <a:srgbClr val="1F2937"/>
                  </a:solidFill>
                  <a:latin typeface="+mn-lt"/>
                  <a:ea typeface="+mn-ea"/>
                  <a:cs typeface="+mn-cs"/>
                </a:rPr>
                <a:t>+compSpeed(): void</a:t>
              </a:r>
              <a:br/>
              <a:r>
                <a:rPr lang="en-US" sz="820" dirty="0">
                  <a:solidFill>
                    <a:srgbClr val="1F2937"/>
                  </a:solidFill>
                  <a:latin typeface="+mn-lt"/>
                  <a:ea typeface="+mn-ea"/>
                  <a:cs typeface="+mn-cs"/>
                </a:rPr>
                <a:t>+reportData(): void</a:t>
              </a:r>
            </a:p>
          </p:txBody>
        </p:sp>
      </p:grpSp>
      <p:grpSp>
        <p:nvGrpSpPr>
          <p:cNvPr id="49" name="c2-card-1"/>
          <p:cNvGrpSpPr/>
          <p:nvPr/>
        </p:nvGrpSpPr>
        <p:grpSpPr>
          <a:xfrm>
            <a:off x="7114222" y="1524000"/>
            <a:ext cx="4544378" cy="2044065"/>
            <a:chOff x="7114222" y="1524000"/>
            <a:chExt cx="4544378" cy="2044065"/>
          </a:xfrm>
        </p:grpSpPr>
        <p:sp>
          <p:nvSpPr>
            <p:cNvPr id="42" name="Rectangle 42"/>
            <p:cNvSpPr/>
            <p:nvPr/>
          </p:nvSpPr>
          <p:spPr>
            <a:xfrm>
              <a:off x="7114222" y="1524000"/>
              <a:ext cx="4544378" cy="2044065"/>
            </a:xfrm>
            <a:prstGeom prst="roundRect">
              <a:avLst>
                <a:gd name="adj" fmla="val 6524"/>
              </a:avLst>
            </a:prstGeom>
            <a:solidFill>
              <a:srgbClr val="FFFFFF"/>
            </a:solidFill>
            <a:ln w="14288">
              <a:solidFill>
                <a:srgbClr val="D9DFEA"/>
              </a:solidFill>
            </a:ln>
          </p:spPr>
        </p:sp>
        <p:sp>
          <p:nvSpPr>
            <p:cNvPr id="43" name="Rectangle 43"/>
            <p:cNvSpPr/>
            <p:nvPr/>
          </p:nvSpPr>
          <p:spPr>
            <a:xfrm>
              <a:off x="7123748" y="1657350"/>
              <a:ext cx="47625" cy="1777365"/>
            </a:xfrm>
            <a:prstGeom prst="roundRect">
              <a:avLst>
                <a:gd name="adj" fmla="val 50000"/>
              </a:avLst>
            </a:prstGeom>
            <a:solidFill>
              <a:srgbClr val="14A38B"/>
            </a:solidFill>
            <a:ln>
              <a:noFill/>
            </a:ln>
          </p:spPr>
        </p:sp>
        <p:sp>
          <p:nvSpPr>
            <p:cNvPr id="44" name="Rectangle 44"/>
            <p:cNvSpPr/>
            <p:nvPr/>
          </p:nvSpPr>
          <p:spPr>
            <a:xfrm>
              <a:off x="7344728" y="1716405"/>
              <a:ext cx="461962" cy="247650"/>
            </a:xfrm>
            <a:prstGeom prst="roundRect">
              <a:avLst>
                <a:gd name="adj" fmla="val 50000"/>
              </a:avLst>
            </a:prstGeom>
            <a:solidFill>
              <a:srgbClr val="E3F5F1"/>
            </a:solidFill>
            <a:ln>
              <a:noFill/>
            </a:ln>
          </p:spPr>
        </p:sp>
        <p:sp>
          <p:nvSpPr>
            <p:cNvPr id="45" name="TextBox 45"/>
            <p:cNvSpPr txBox="1"/>
            <p:nvPr/>
          </p:nvSpPr>
          <p:spPr>
            <a:xfrm>
              <a:off x="7436145" y="1750695"/>
              <a:ext cx="278175"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例 2</a:t>
              </a:r>
            </a:p>
          </p:txBody>
        </p:sp>
        <p:sp>
          <p:nvSpPr>
            <p:cNvPr id="46" name="TextBox 46"/>
            <p:cNvSpPr txBox="1"/>
            <p:nvPr/>
          </p:nvSpPr>
          <p:spPr>
            <a:xfrm>
              <a:off x="7914132" y="1756410"/>
              <a:ext cx="146761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飞行信息显示模块</a:t>
              </a:r>
            </a:p>
          </p:txBody>
        </p:sp>
        <p:sp>
          <p:nvSpPr>
            <p:cNvPr id="47" name="TextBox 47"/>
            <p:cNvSpPr txBox="1"/>
            <p:nvPr/>
          </p:nvSpPr>
          <p:spPr>
            <a:xfrm>
              <a:off x="7337870" y="2090738"/>
              <a:ext cx="395706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自动驾驶系统里有一个飞行信息显示模块，负责把高</a:t>
              </a:r>
              <a:br/>
              <a:r>
                <a:rPr lang="zh-CN" sz="1350" dirty="0">
                  <a:solidFill>
                    <a:srgbClr val="1F2937"/>
                  </a:solidFill>
                  <a:latin typeface="+mn-lt"/>
                  <a:ea typeface="+mn-ea"/>
                  <a:cs typeface="+mn-cs"/>
                </a:rPr>
                <a:t>度（feet、meter）和速度（miles per hour、</a:t>
              </a:r>
              <a:br/>
              <a:r>
                <a:rPr lang="zh-CN" sz="1350" dirty="0">
                  <a:solidFill>
                    <a:srgbClr val="1F2937"/>
                  </a:solidFill>
                  <a:latin typeface="+mn-lt"/>
                  <a:ea typeface="+mn-ea"/>
                  <a:cs typeface="+mn-cs"/>
                </a:rPr>
                <a:t>kilometer per hour）显示到 LED 屏上。</a:t>
              </a:r>
            </a:p>
          </p:txBody>
        </p:sp>
        <p:sp>
          <p:nvSpPr>
            <p:cNvPr id="48" name="TextBox 48"/>
            <p:cNvSpPr txBox="1"/>
            <p:nvPr/>
          </p:nvSpPr>
          <p:spPr>
            <a:xfrm>
              <a:off x="7337870" y="2907030"/>
              <a:ext cx="39570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数据来自机上的高度传感器和速度传感器，传感器持</a:t>
              </a:r>
              <a:br/>
              <a:r>
                <a:rPr lang="zh-CN" sz="1350" dirty="0">
                  <a:solidFill>
                    <a:srgbClr val="1F2937"/>
                  </a:solidFill>
                  <a:latin typeface="+mn-lt"/>
                  <a:ea typeface="+mn-ea"/>
                  <a:cs typeface="+mn-cs"/>
                </a:rPr>
                <a:t>续测量。</a:t>
              </a:r>
            </a:p>
          </p:txBody>
        </p:sp>
      </p:grpSp>
      <p:grpSp>
        <p:nvGrpSpPr>
          <p:cNvPr id="55" name="c2-bullets-2"/>
          <p:cNvGrpSpPr/>
          <p:nvPr/>
        </p:nvGrpSpPr>
        <p:grpSpPr>
          <a:xfrm>
            <a:off x="7107364" y="3765232"/>
            <a:ext cx="4280536" cy="1022510"/>
            <a:chOff x="7107364" y="3765232"/>
            <a:chExt cx="4280536" cy="1022510"/>
          </a:xfrm>
        </p:grpSpPr>
        <p:sp>
          <p:nvSpPr>
            <p:cNvPr id="50" name="TextBox 50"/>
            <p:cNvSpPr txBox="1"/>
            <p:nvPr/>
          </p:nvSpPr>
          <p:spPr>
            <a:xfrm>
              <a:off x="7107364" y="3765232"/>
              <a:ext cx="2012823"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类里的四个方法各干什么</a:t>
              </a:r>
            </a:p>
          </p:txBody>
        </p:sp>
        <p:sp>
          <p:nvSpPr>
            <p:cNvPr id="51" name="Ellipse 51"/>
            <p:cNvSpPr/>
            <p:nvPr/>
          </p:nvSpPr>
          <p:spPr>
            <a:xfrm>
              <a:off x="7123748" y="4124325"/>
              <a:ext cx="57150" cy="57150"/>
            </a:xfrm>
            <a:prstGeom prst="ellipse">
              <a:avLst/>
            </a:prstGeom>
            <a:solidFill>
              <a:srgbClr val="334E68"/>
            </a:solidFill>
            <a:ln>
              <a:noFill/>
            </a:ln>
          </p:spPr>
        </p:sp>
        <p:sp>
          <p:nvSpPr>
            <p:cNvPr id="52" name="TextBox 52"/>
            <p:cNvSpPr txBox="1"/>
            <p:nvPr/>
          </p:nvSpPr>
          <p:spPr>
            <a:xfrm>
              <a:off x="7279958" y="4080986"/>
              <a:ext cx="4107942" cy="434340"/>
            </a:xfrm>
            <a:prstGeom prst="rect">
              <a:avLst/>
            </a:prstGeom>
            <a:noFill/>
            <a:ln>
              <a:noFill/>
            </a:ln>
          </p:spPr>
          <p:txBody>
            <a:bodyPr wrap="none" lIns="0" tIns="0" rIns="0" bIns="0" anchor="t" anchorCtr="0">
              <a:spAutoFit/>
            </a:bodyPr>
            <a:lstStyle/>
            <a:p>
              <a:pPr algn="l">
                <a:lnSpc>
                  <a:spcPts val="1688"/>
                </a:lnSpc>
              </a:pPr>
              <a:r>
                <a:rPr lang="zh-CN" sz="1120" dirty="0">
                  <a:solidFill>
                    <a:srgbClr val="1F2937"/>
                  </a:solidFill>
                  <a:latin typeface="+mn-lt"/>
                  <a:ea typeface="+mn-ea"/>
                  <a:cs typeface="+mn-cs"/>
                </a:rPr>
                <a:t>updateSpeed()、updateHeight() 调用传感器的 reportData()</a:t>
              </a:r>
              <a:br/>
              <a:r>
                <a:rPr lang="zh-CN" sz="1120" dirty="0">
                  <a:solidFill>
                    <a:srgbClr val="1F2937"/>
                  </a:solidFill>
                  <a:latin typeface="+mn-lt"/>
                  <a:ea typeface="+mn-ea"/>
                  <a:cs typeface="+mn-cs"/>
                </a:rPr>
                <a:t>取值，存入本类属性</a:t>
              </a:r>
            </a:p>
          </p:txBody>
        </p:sp>
        <p:sp>
          <p:nvSpPr>
            <p:cNvPr id="53" name="Ellipse 53"/>
            <p:cNvSpPr/>
            <p:nvPr/>
          </p:nvSpPr>
          <p:spPr>
            <a:xfrm>
              <a:off x="7123748" y="4611052"/>
              <a:ext cx="57150" cy="57150"/>
            </a:xfrm>
            <a:prstGeom prst="ellipse">
              <a:avLst/>
            </a:prstGeom>
            <a:solidFill>
              <a:srgbClr val="334E68"/>
            </a:solidFill>
            <a:ln>
              <a:noFill/>
            </a:ln>
          </p:spPr>
        </p:sp>
        <p:sp>
          <p:nvSpPr>
            <p:cNvPr id="54" name="TextBox 54"/>
            <p:cNvSpPr txBox="1"/>
            <p:nvPr/>
          </p:nvSpPr>
          <p:spPr>
            <a:xfrm>
              <a:off x="7279958" y="4567714"/>
              <a:ext cx="380764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showSpeed()、showHeight() 把数值按单位画到屏幕上</a:t>
              </a:r>
            </a:p>
          </p:txBody>
        </p:sp>
      </p:grpSp>
      <p:grpSp>
        <p:nvGrpSpPr>
          <p:cNvPr id="62" name="c2-callout-3"/>
          <p:cNvGrpSpPr/>
          <p:nvPr/>
        </p:nvGrpSpPr>
        <p:grpSpPr>
          <a:xfrm>
            <a:off x="7114222" y="4918710"/>
            <a:ext cx="4544378" cy="1329690"/>
            <a:chOff x="7114222" y="4918710"/>
            <a:chExt cx="4544378" cy="1329690"/>
          </a:xfrm>
        </p:grpSpPr>
        <p:sp>
          <p:nvSpPr>
            <p:cNvPr id="56" name="Rectangle 56"/>
            <p:cNvSpPr/>
            <p:nvPr/>
          </p:nvSpPr>
          <p:spPr>
            <a:xfrm>
              <a:off x="7114222" y="4918710"/>
              <a:ext cx="4544378" cy="1329690"/>
            </a:xfrm>
            <a:prstGeom prst="roundRect">
              <a:avLst>
                <a:gd name="adj" fmla="val 8596"/>
              </a:avLst>
            </a:prstGeom>
            <a:solidFill>
              <a:srgbClr val="FDECEA"/>
            </a:solidFill>
            <a:ln>
              <a:noFill/>
            </a:ln>
          </p:spPr>
        </p:sp>
        <p:grpSp>
          <p:nvGrpSpPr>
            <p:cNvPr id="60" name="Group 60"/>
            <p:cNvGrpSpPr/>
            <p:nvPr/>
          </p:nvGrpSpPr>
          <p:grpSpPr>
            <a:xfrm>
              <a:off x="7306952" y="5479851"/>
              <a:ext cx="224134" cy="192560"/>
              <a:chOff x="7306952" y="5479851"/>
              <a:chExt cx="224134" cy="192560"/>
            </a:xfrm>
          </p:grpSpPr>
          <p:sp>
            <p:nvSpPr>
              <p:cNvPr id="57" name="Freeform 57"/>
              <p:cNvSpPr/>
              <p:nvPr/>
            </p:nvSpPr>
            <p:spPr>
              <a:xfrm>
                <a:off x="7419023" y="5550218"/>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58" name="Freeform 58"/>
              <p:cNvSpPr/>
              <p:nvPr/>
            </p:nvSpPr>
            <p:spPr>
              <a:xfrm>
                <a:off x="7306952" y="5479851"/>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59" name="Freeform 59"/>
              <p:cNvSpPr/>
              <p:nvPr/>
            </p:nvSpPr>
            <p:spPr>
              <a:xfrm>
                <a:off x="7419023" y="5628006"/>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61" name="TextBox 61"/>
            <p:cNvSpPr txBox="1"/>
            <p:nvPr/>
          </p:nvSpPr>
          <p:spPr>
            <a:xfrm>
              <a:off x="7621714" y="5364480"/>
              <a:ext cx="361416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B42318"/>
                  </a:solidFill>
                  <a:latin typeface="+mn-lt"/>
                  <a:ea typeface="+mn-ea"/>
                  <a:cs typeface="+mn-cs"/>
                </a:rPr>
                <a:t>把高度和速度两份责任放进一个类，改其中一面</a:t>
              </a:r>
              <a:br/>
              <a:r>
                <a:rPr lang="zh-CN" sz="1350" dirty="0">
                  <a:solidFill>
                    <a:srgbClr val="B42318"/>
                  </a:solidFill>
                  <a:latin typeface="+mn-lt"/>
                  <a:ea typeface="+mn-ea"/>
                  <a:cs typeface="+mn-cs"/>
                </a:rPr>
                <a:t>就要重新编译整个类，难维护也难扩展。</a:t>
              </a:r>
            </a:p>
          </p:txBody>
        </p:sp>
      </p:grpSp>
      <p:grpSp>
        <p:nvGrpSpPr>
          <p:cNvPr id="65" name="footer"/>
          <p:cNvGrpSpPr/>
          <p:nvPr/>
        </p:nvGrpSpPr>
        <p:grpSpPr>
          <a:xfrm>
            <a:off x="528447" y="6581299"/>
            <a:ext cx="11135106" cy="190690"/>
            <a:chOff x="528447" y="6581299"/>
            <a:chExt cx="11135106" cy="190690"/>
          </a:xfrm>
        </p:grpSpPr>
        <p:sp>
          <p:nvSpPr>
            <p:cNvPr id="63" name="TextBox 63"/>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64" name="TextBox 6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884468" cy="909257"/>
            <a:chOff x="520446" y="342900"/>
            <a:chExt cx="7884468" cy="909257"/>
          </a:xfrm>
        </p:grpSpPr>
        <p:sp>
          <p:nvSpPr>
            <p:cNvPr id="2" name="Rectangle 2"/>
            <p:cNvSpPr/>
            <p:nvPr/>
          </p:nvSpPr>
          <p:spPr>
            <a:xfrm>
              <a:off x="533400" y="342900"/>
              <a:ext cx="2660332" cy="266700"/>
            </a:xfrm>
            <a:prstGeom prst="roundRect">
              <a:avLst>
                <a:gd name="adj" fmla="val 50000"/>
              </a:avLst>
            </a:prstGeom>
            <a:solidFill>
              <a:srgbClr val="E7EDF3"/>
            </a:solidFill>
            <a:ln>
              <a:noFill/>
            </a:ln>
          </p:spPr>
        </p:sp>
        <p:sp>
          <p:nvSpPr>
            <p:cNvPr id="3" name="TextBox 3"/>
            <p:cNvSpPr txBox="1"/>
            <p:nvPr/>
          </p:nvSpPr>
          <p:spPr>
            <a:xfrm>
              <a:off x="570203" y="407194"/>
              <a:ext cx="25857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SOLID 五原则</a:t>
              </a:r>
            </a:p>
          </p:txBody>
        </p:sp>
        <p:sp>
          <p:nvSpPr>
            <p:cNvPr id="4" name="TextBox 4"/>
            <p:cNvSpPr txBox="1"/>
            <p:nvPr/>
          </p:nvSpPr>
          <p:spPr>
            <a:xfrm>
              <a:off x="520446" y="753428"/>
              <a:ext cx="788446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改进 1：按高度和速度拆成两个类，但单位问题还在</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7" name="c1-uml-1"/>
          <p:cNvGrpSpPr/>
          <p:nvPr/>
        </p:nvGrpSpPr>
        <p:grpSpPr>
          <a:xfrm>
            <a:off x="1352550" y="1896428"/>
            <a:ext cx="4420552" cy="3653790"/>
            <a:chOff x="1352550" y="1896428"/>
            <a:chExt cx="4420552" cy="3653790"/>
          </a:xfrm>
        </p:grpSpPr>
        <p:sp>
          <p:nvSpPr>
            <p:cNvPr id="7" name="Freeform 7"/>
            <p:cNvSpPr/>
            <p:nvPr/>
          </p:nvSpPr>
          <p:spPr>
            <a:xfrm>
              <a:off x="2047875" y="3570922"/>
              <a:ext cx="9525" cy="1183958"/>
            </a:xfrm>
            <a:custGeom>
              <a:avLst/>
              <a:gdLst/>
              <a:ahLst/>
              <a:cxnLst/>
              <a:rect l="l" t="t" r="r" b="b"/>
              <a:pathLst>
                <a:path w="9525" h="1183958">
                  <a:moveTo>
                    <a:pt x="0" y="0"/>
                  </a:moveTo>
                  <a:lnTo>
                    <a:pt x="0" y="1183958"/>
                  </a:lnTo>
                </a:path>
              </a:pathLst>
            </a:custGeom>
            <a:noFill/>
            <a:ln w="15240">
              <a:solidFill>
                <a:srgbClr val="1F2937"/>
              </a:solidFill>
            </a:ln>
          </p:spPr>
        </p:sp>
        <p:sp>
          <p:nvSpPr>
            <p:cNvPr id="8" name="Freeform 8"/>
            <p:cNvSpPr/>
            <p:nvPr/>
          </p:nvSpPr>
          <p:spPr>
            <a:xfrm>
              <a:off x="1990725" y="4650105"/>
              <a:ext cx="115252" cy="104775"/>
            </a:xfrm>
            <a:custGeom>
              <a:avLst/>
              <a:gdLst/>
              <a:ahLst/>
              <a:cxnLst/>
              <a:rect l="l" t="t" r="r" b="b"/>
              <a:pathLst>
                <a:path w="115252" h="104775">
                  <a:moveTo>
                    <a:pt x="0" y="0"/>
                  </a:moveTo>
                  <a:lnTo>
                    <a:pt x="57150" y="104775"/>
                  </a:lnTo>
                  <a:lnTo>
                    <a:pt x="115252" y="0"/>
                  </a:lnTo>
                </a:path>
              </a:pathLst>
            </a:custGeom>
            <a:noFill/>
            <a:ln w="15240">
              <a:solidFill>
                <a:srgbClr val="1F2937"/>
              </a:solidFill>
            </a:ln>
          </p:spPr>
        </p:sp>
        <p:sp>
          <p:nvSpPr>
            <p:cNvPr id="9" name="Freeform 9"/>
            <p:cNvSpPr/>
            <p:nvPr/>
          </p:nvSpPr>
          <p:spPr>
            <a:xfrm>
              <a:off x="5077778" y="3570922"/>
              <a:ext cx="9525" cy="1183958"/>
            </a:xfrm>
            <a:custGeom>
              <a:avLst/>
              <a:gdLst/>
              <a:ahLst/>
              <a:cxnLst/>
              <a:rect l="l" t="t" r="r" b="b"/>
              <a:pathLst>
                <a:path w="9525" h="1183958">
                  <a:moveTo>
                    <a:pt x="0" y="0"/>
                  </a:moveTo>
                  <a:lnTo>
                    <a:pt x="0" y="1183958"/>
                  </a:lnTo>
                </a:path>
              </a:pathLst>
            </a:custGeom>
            <a:noFill/>
            <a:ln w="15240">
              <a:solidFill>
                <a:srgbClr val="1F2937"/>
              </a:solidFill>
            </a:ln>
          </p:spPr>
        </p:sp>
        <p:sp>
          <p:nvSpPr>
            <p:cNvPr id="10" name="Freeform 10"/>
            <p:cNvSpPr/>
            <p:nvPr/>
          </p:nvSpPr>
          <p:spPr>
            <a:xfrm>
              <a:off x="5020628" y="4650105"/>
              <a:ext cx="115253" cy="104775"/>
            </a:xfrm>
            <a:custGeom>
              <a:avLst/>
              <a:gdLst/>
              <a:ahLst/>
              <a:cxnLst/>
              <a:rect l="l" t="t" r="r" b="b"/>
              <a:pathLst>
                <a:path w="115253" h="104775">
                  <a:moveTo>
                    <a:pt x="0" y="0"/>
                  </a:moveTo>
                  <a:lnTo>
                    <a:pt x="57150" y="104775"/>
                  </a:lnTo>
                  <a:lnTo>
                    <a:pt x="115253" y="0"/>
                  </a:lnTo>
                </a:path>
              </a:pathLst>
            </a:custGeom>
            <a:noFill/>
            <a:ln w="15240">
              <a:solidFill>
                <a:srgbClr val="1F2937"/>
              </a:solidFill>
            </a:ln>
          </p:spPr>
        </p:sp>
        <p:sp>
          <p:nvSpPr>
            <p:cNvPr id="11" name="Rectangle 11"/>
            <p:cNvSpPr/>
            <p:nvPr/>
          </p:nvSpPr>
          <p:spPr>
            <a:xfrm>
              <a:off x="1474470" y="1896428"/>
              <a:ext cx="1147762" cy="1674495"/>
            </a:xfrm>
            <a:prstGeom prst="rect">
              <a:avLst/>
            </a:prstGeom>
            <a:solidFill>
              <a:srgbClr val="FFFFFF"/>
            </a:solidFill>
            <a:ln w="14288">
              <a:solidFill>
                <a:srgbClr val="334E68"/>
              </a:solidFill>
            </a:ln>
          </p:spPr>
        </p:sp>
        <p:sp>
          <p:nvSpPr>
            <p:cNvPr id="12" name="Rectangle 12"/>
            <p:cNvSpPr/>
            <p:nvPr/>
          </p:nvSpPr>
          <p:spPr>
            <a:xfrm>
              <a:off x="1481138" y="1903095"/>
              <a:ext cx="1133475" cy="245745"/>
            </a:xfrm>
            <a:prstGeom prst="rect">
              <a:avLst/>
            </a:prstGeom>
            <a:solidFill>
              <a:srgbClr val="E7EDF3"/>
            </a:solidFill>
            <a:ln>
              <a:noFill/>
            </a:ln>
          </p:spPr>
        </p:sp>
        <p:sp>
          <p:nvSpPr>
            <p:cNvPr id="13" name="Rectangle 13"/>
            <p:cNvSpPr/>
            <p:nvPr/>
          </p:nvSpPr>
          <p:spPr>
            <a:xfrm>
              <a:off x="1474470" y="2145030"/>
              <a:ext cx="1147762" cy="9525"/>
            </a:xfrm>
            <a:prstGeom prst="rect">
              <a:avLst/>
            </a:prstGeom>
            <a:solidFill>
              <a:srgbClr val="334E68"/>
            </a:solidFill>
            <a:ln>
              <a:noFill/>
            </a:ln>
          </p:spPr>
        </p:sp>
        <p:sp>
          <p:nvSpPr>
            <p:cNvPr id="14" name="Rectangle 14"/>
            <p:cNvSpPr/>
            <p:nvPr/>
          </p:nvSpPr>
          <p:spPr>
            <a:xfrm>
              <a:off x="1474470" y="2767965"/>
              <a:ext cx="1147762" cy="9525"/>
            </a:xfrm>
            <a:prstGeom prst="rect">
              <a:avLst/>
            </a:prstGeom>
            <a:solidFill>
              <a:srgbClr val="334E68"/>
            </a:solidFill>
            <a:ln>
              <a:noFill/>
            </a:ln>
          </p:spPr>
        </p:sp>
        <p:sp>
          <p:nvSpPr>
            <p:cNvPr id="15" name="Rectangle 15"/>
            <p:cNvSpPr/>
            <p:nvPr/>
          </p:nvSpPr>
          <p:spPr>
            <a:xfrm>
              <a:off x="4504372" y="1896428"/>
              <a:ext cx="1147762" cy="1674495"/>
            </a:xfrm>
            <a:prstGeom prst="rect">
              <a:avLst/>
            </a:prstGeom>
            <a:solidFill>
              <a:srgbClr val="FFFFFF"/>
            </a:solidFill>
            <a:ln w="14288">
              <a:solidFill>
                <a:srgbClr val="334E68"/>
              </a:solidFill>
            </a:ln>
          </p:spPr>
        </p:sp>
        <p:sp>
          <p:nvSpPr>
            <p:cNvPr id="16" name="Rectangle 16"/>
            <p:cNvSpPr/>
            <p:nvPr/>
          </p:nvSpPr>
          <p:spPr>
            <a:xfrm>
              <a:off x="4511040" y="1903095"/>
              <a:ext cx="1133475" cy="245745"/>
            </a:xfrm>
            <a:prstGeom prst="rect">
              <a:avLst/>
            </a:prstGeom>
            <a:solidFill>
              <a:srgbClr val="E7EDF3"/>
            </a:solidFill>
            <a:ln>
              <a:noFill/>
            </a:ln>
          </p:spPr>
        </p:sp>
        <p:sp>
          <p:nvSpPr>
            <p:cNvPr id="17" name="Rectangle 17"/>
            <p:cNvSpPr/>
            <p:nvPr/>
          </p:nvSpPr>
          <p:spPr>
            <a:xfrm>
              <a:off x="4504372" y="2145030"/>
              <a:ext cx="1147762" cy="9525"/>
            </a:xfrm>
            <a:prstGeom prst="rect">
              <a:avLst/>
            </a:prstGeom>
            <a:solidFill>
              <a:srgbClr val="334E68"/>
            </a:solidFill>
            <a:ln>
              <a:noFill/>
            </a:ln>
          </p:spPr>
        </p:sp>
        <p:sp>
          <p:nvSpPr>
            <p:cNvPr id="18" name="Rectangle 18"/>
            <p:cNvSpPr/>
            <p:nvPr/>
          </p:nvSpPr>
          <p:spPr>
            <a:xfrm>
              <a:off x="4504372" y="2767965"/>
              <a:ext cx="1147762" cy="9525"/>
            </a:xfrm>
            <a:prstGeom prst="rect">
              <a:avLst/>
            </a:prstGeom>
            <a:solidFill>
              <a:srgbClr val="334E68"/>
            </a:solidFill>
            <a:ln>
              <a:noFill/>
            </a:ln>
          </p:spPr>
        </p:sp>
        <p:sp>
          <p:nvSpPr>
            <p:cNvPr id="19" name="Rectangle 19"/>
            <p:cNvSpPr/>
            <p:nvPr/>
          </p:nvSpPr>
          <p:spPr>
            <a:xfrm>
              <a:off x="1352550" y="4754880"/>
              <a:ext cx="1390650" cy="795338"/>
            </a:xfrm>
            <a:prstGeom prst="rect">
              <a:avLst/>
            </a:prstGeom>
            <a:solidFill>
              <a:srgbClr val="FFFFFF"/>
            </a:solidFill>
            <a:ln w="14288">
              <a:solidFill>
                <a:srgbClr val="334E68"/>
              </a:solidFill>
            </a:ln>
          </p:spPr>
        </p:sp>
        <p:sp>
          <p:nvSpPr>
            <p:cNvPr id="20" name="Rectangle 20"/>
            <p:cNvSpPr/>
            <p:nvPr/>
          </p:nvSpPr>
          <p:spPr>
            <a:xfrm>
              <a:off x="1360170" y="4762500"/>
              <a:ext cx="1376362" cy="245745"/>
            </a:xfrm>
            <a:prstGeom prst="rect">
              <a:avLst/>
            </a:prstGeom>
            <a:solidFill>
              <a:srgbClr val="E7EDF3"/>
            </a:solidFill>
            <a:ln>
              <a:noFill/>
            </a:ln>
          </p:spPr>
        </p:sp>
        <p:sp>
          <p:nvSpPr>
            <p:cNvPr id="21" name="Rectangle 21"/>
            <p:cNvSpPr/>
            <p:nvPr/>
          </p:nvSpPr>
          <p:spPr>
            <a:xfrm>
              <a:off x="1352550" y="5003482"/>
              <a:ext cx="1390650" cy="9525"/>
            </a:xfrm>
            <a:prstGeom prst="rect">
              <a:avLst/>
            </a:prstGeom>
            <a:solidFill>
              <a:srgbClr val="334E68"/>
            </a:solidFill>
            <a:ln>
              <a:noFill/>
            </a:ln>
          </p:spPr>
        </p:sp>
        <p:sp>
          <p:nvSpPr>
            <p:cNvPr id="22" name="Rectangle 22"/>
            <p:cNvSpPr/>
            <p:nvPr/>
          </p:nvSpPr>
          <p:spPr>
            <a:xfrm>
              <a:off x="1352550" y="5098732"/>
              <a:ext cx="1390650" cy="9525"/>
            </a:xfrm>
            <a:prstGeom prst="rect">
              <a:avLst/>
            </a:prstGeom>
            <a:solidFill>
              <a:srgbClr val="334E68"/>
            </a:solidFill>
            <a:ln>
              <a:noFill/>
            </a:ln>
          </p:spPr>
        </p:sp>
        <p:sp>
          <p:nvSpPr>
            <p:cNvPr id="23" name="Rectangle 23"/>
            <p:cNvSpPr/>
            <p:nvPr/>
          </p:nvSpPr>
          <p:spPr>
            <a:xfrm>
              <a:off x="4382452" y="4754880"/>
              <a:ext cx="1390650" cy="795338"/>
            </a:xfrm>
            <a:prstGeom prst="rect">
              <a:avLst/>
            </a:prstGeom>
            <a:solidFill>
              <a:srgbClr val="FFFFFF"/>
            </a:solidFill>
            <a:ln w="14288">
              <a:solidFill>
                <a:srgbClr val="334E68"/>
              </a:solidFill>
            </a:ln>
          </p:spPr>
        </p:sp>
        <p:sp>
          <p:nvSpPr>
            <p:cNvPr id="24" name="Rectangle 24"/>
            <p:cNvSpPr/>
            <p:nvPr/>
          </p:nvSpPr>
          <p:spPr>
            <a:xfrm>
              <a:off x="4390072" y="4762500"/>
              <a:ext cx="1376362" cy="245745"/>
            </a:xfrm>
            <a:prstGeom prst="rect">
              <a:avLst/>
            </a:prstGeom>
            <a:solidFill>
              <a:srgbClr val="E7EDF3"/>
            </a:solidFill>
            <a:ln>
              <a:noFill/>
            </a:ln>
          </p:spPr>
        </p:sp>
        <p:sp>
          <p:nvSpPr>
            <p:cNvPr id="25" name="Rectangle 25"/>
            <p:cNvSpPr/>
            <p:nvPr/>
          </p:nvSpPr>
          <p:spPr>
            <a:xfrm>
              <a:off x="4382452" y="5003482"/>
              <a:ext cx="1390650" cy="9525"/>
            </a:xfrm>
            <a:prstGeom prst="rect">
              <a:avLst/>
            </a:prstGeom>
            <a:solidFill>
              <a:srgbClr val="334E68"/>
            </a:solidFill>
            <a:ln>
              <a:noFill/>
            </a:ln>
          </p:spPr>
        </p:sp>
        <p:sp>
          <p:nvSpPr>
            <p:cNvPr id="26" name="Rectangle 26"/>
            <p:cNvSpPr/>
            <p:nvPr/>
          </p:nvSpPr>
          <p:spPr>
            <a:xfrm>
              <a:off x="4382452" y="5098732"/>
              <a:ext cx="1390650" cy="9525"/>
            </a:xfrm>
            <a:prstGeom prst="rect">
              <a:avLst/>
            </a:prstGeom>
            <a:solidFill>
              <a:srgbClr val="334E68"/>
            </a:solidFill>
            <a:ln>
              <a:noFill/>
            </a:ln>
          </p:spPr>
        </p:sp>
        <p:sp>
          <p:nvSpPr>
            <p:cNvPr id="27" name="TextBox 27"/>
            <p:cNvSpPr txBox="1"/>
            <p:nvPr/>
          </p:nvSpPr>
          <p:spPr>
            <a:xfrm>
              <a:off x="1563466" y="1956435"/>
              <a:ext cx="968819"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HeightDisplay</a:t>
              </a:r>
            </a:p>
          </p:txBody>
        </p:sp>
        <p:sp>
          <p:nvSpPr>
            <p:cNvPr id="28" name="TextBox 28"/>
            <p:cNvSpPr txBox="1"/>
            <p:nvPr/>
          </p:nvSpPr>
          <p:spPr>
            <a:xfrm>
              <a:off x="1545717" y="2215991"/>
              <a:ext cx="1005586" cy="543116"/>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-sensor: Sensor</a:t>
              </a:r>
              <a:br/>
              <a:r>
                <a:rPr lang="en-US" sz="980" dirty="0">
                  <a:solidFill>
                    <a:srgbClr val="1F2937"/>
                  </a:solidFill>
                  <a:latin typeface="+mn-lt"/>
                  <a:ea typeface="+mn-ea"/>
                  <a:cs typeface="+mn-cs"/>
                </a:rPr>
                <a:t>-feet: int</a:t>
              </a:r>
              <a:br/>
              <a:r>
                <a:rPr lang="en-US" sz="980" dirty="0">
                  <a:solidFill>
                    <a:srgbClr val="1F2937"/>
                  </a:solidFill>
                  <a:latin typeface="+mn-lt"/>
                  <a:ea typeface="+mn-ea"/>
                  <a:cs typeface="+mn-cs"/>
                </a:rPr>
                <a:t>-meters: int</a:t>
              </a:r>
            </a:p>
          </p:txBody>
        </p:sp>
        <p:sp>
          <p:nvSpPr>
            <p:cNvPr id="29" name="TextBox 29"/>
            <p:cNvSpPr txBox="1"/>
            <p:nvPr/>
          </p:nvSpPr>
          <p:spPr>
            <a:xfrm>
              <a:off x="1545717" y="2838926"/>
              <a:ext cx="980694" cy="719328"/>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+convert()</a:t>
              </a:r>
              <a:br/>
              <a:r>
                <a:rPr lang="en-US" sz="980" dirty="0">
                  <a:solidFill>
                    <a:srgbClr val="1F2937"/>
                  </a:solidFill>
                  <a:latin typeface="+mn-lt"/>
                  <a:ea typeface="+mn-ea"/>
                  <a:cs typeface="+mn-cs"/>
                </a:rPr>
                <a:t>+getData(): int</a:t>
              </a:r>
              <a:br/>
              <a:r>
                <a:rPr lang="en-US" sz="980" dirty="0">
                  <a:solidFill>
                    <a:srgbClr val="1F2937"/>
                  </a:solidFill>
                  <a:latin typeface="+mn-lt"/>
                  <a:ea typeface="+mn-ea"/>
                  <a:cs typeface="+mn-cs"/>
                </a:rPr>
                <a:t>+update(): void</a:t>
              </a:r>
              <a:br/>
              <a:r>
                <a:rPr lang="en-US" sz="980" dirty="0">
                  <a:solidFill>
                    <a:srgbClr val="1F2937"/>
                  </a:solidFill>
                  <a:latin typeface="+mn-lt"/>
                  <a:ea typeface="+mn-ea"/>
                  <a:cs typeface="+mn-cs"/>
                </a:rPr>
                <a:t>+display(): void</a:t>
              </a:r>
            </a:p>
          </p:txBody>
        </p:sp>
        <p:sp>
          <p:nvSpPr>
            <p:cNvPr id="30" name="TextBox 30"/>
            <p:cNvSpPr txBox="1"/>
            <p:nvPr/>
          </p:nvSpPr>
          <p:spPr>
            <a:xfrm>
              <a:off x="4615496" y="1956435"/>
              <a:ext cx="924562"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SpeedDisplay</a:t>
              </a:r>
            </a:p>
          </p:txBody>
        </p:sp>
        <p:sp>
          <p:nvSpPr>
            <p:cNvPr id="31" name="TextBox 31"/>
            <p:cNvSpPr txBox="1"/>
            <p:nvPr/>
          </p:nvSpPr>
          <p:spPr>
            <a:xfrm>
              <a:off x="4575620" y="2215991"/>
              <a:ext cx="1005586" cy="543116"/>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-sensor: Sensor</a:t>
              </a:r>
              <a:br/>
              <a:r>
                <a:rPr lang="en-US" sz="980" dirty="0">
                  <a:solidFill>
                    <a:srgbClr val="1F2937"/>
                  </a:solidFill>
                  <a:latin typeface="+mn-lt"/>
                  <a:ea typeface="+mn-ea"/>
                  <a:cs typeface="+mn-cs"/>
                </a:rPr>
                <a:t>-milesPh: int</a:t>
              </a:r>
              <a:br/>
              <a:r>
                <a:rPr lang="en-US" sz="980" dirty="0">
                  <a:solidFill>
                    <a:srgbClr val="1F2937"/>
                  </a:solidFill>
                  <a:latin typeface="+mn-lt"/>
                  <a:ea typeface="+mn-ea"/>
                  <a:cs typeface="+mn-cs"/>
                </a:rPr>
                <a:t>-metersPh: int</a:t>
              </a:r>
            </a:p>
          </p:txBody>
        </p:sp>
        <p:sp>
          <p:nvSpPr>
            <p:cNvPr id="32" name="TextBox 32"/>
            <p:cNvSpPr txBox="1"/>
            <p:nvPr/>
          </p:nvSpPr>
          <p:spPr>
            <a:xfrm>
              <a:off x="4575620" y="2838926"/>
              <a:ext cx="980694" cy="719328"/>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+convert()</a:t>
              </a:r>
              <a:br/>
              <a:r>
                <a:rPr lang="en-US" sz="980" dirty="0">
                  <a:solidFill>
                    <a:srgbClr val="1F2937"/>
                  </a:solidFill>
                  <a:latin typeface="+mn-lt"/>
                  <a:ea typeface="+mn-ea"/>
                  <a:cs typeface="+mn-cs"/>
                </a:rPr>
                <a:t>+getData(): int</a:t>
              </a:r>
              <a:br/>
              <a:r>
                <a:rPr lang="en-US" sz="980" dirty="0">
                  <a:solidFill>
                    <a:srgbClr val="1F2937"/>
                  </a:solidFill>
                  <a:latin typeface="+mn-lt"/>
                  <a:ea typeface="+mn-ea"/>
                  <a:cs typeface="+mn-cs"/>
                </a:rPr>
                <a:t>+update(): void</a:t>
              </a:r>
              <a:br/>
              <a:r>
                <a:rPr lang="en-US" sz="980" dirty="0">
                  <a:solidFill>
                    <a:srgbClr val="1F2937"/>
                  </a:solidFill>
                  <a:latin typeface="+mn-lt"/>
                  <a:ea typeface="+mn-ea"/>
                  <a:cs typeface="+mn-cs"/>
                </a:rPr>
                <a:t>+display(): void</a:t>
              </a:r>
            </a:p>
          </p:txBody>
        </p:sp>
        <p:sp>
          <p:nvSpPr>
            <p:cNvPr id="33" name="TextBox 33"/>
            <p:cNvSpPr txBox="1"/>
            <p:nvPr/>
          </p:nvSpPr>
          <p:spPr>
            <a:xfrm>
              <a:off x="1566867" y="4814888"/>
              <a:ext cx="962017"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HeightSensor</a:t>
              </a:r>
            </a:p>
          </p:txBody>
        </p:sp>
        <p:sp>
          <p:nvSpPr>
            <p:cNvPr id="34" name="TextBox 34"/>
            <p:cNvSpPr txBox="1"/>
            <p:nvPr/>
          </p:nvSpPr>
          <p:spPr>
            <a:xfrm>
              <a:off x="1423797" y="5169694"/>
              <a:ext cx="1248283" cy="366903"/>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+compHeight(): void</a:t>
              </a:r>
              <a:br/>
              <a:r>
                <a:rPr lang="en-US" sz="980" dirty="0">
                  <a:solidFill>
                    <a:srgbClr val="1F2937"/>
                  </a:solidFill>
                  <a:latin typeface="+mn-lt"/>
                  <a:ea typeface="+mn-ea"/>
                  <a:cs typeface="+mn-cs"/>
                </a:rPr>
                <a:t>+reportData(): void</a:t>
              </a:r>
            </a:p>
          </p:txBody>
        </p:sp>
        <p:sp>
          <p:nvSpPr>
            <p:cNvPr id="35" name="TextBox 35"/>
            <p:cNvSpPr txBox="1"/>
            <p:nvPr/>
          </p:nvSpPr>
          <p:spPr>
            <a:xfrm>
              <a:off x="4618857" y="4814888"/>
              <a:ext cx="917841"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SpeedSensor</a:t>
              </a:r>
            </a:p>
          </p:txBody>
        </p:sp>
        <p:sp>
          <p:nvSpPr>
            <p:cNvPr id="36" name="TextBox 36"/>
            <p:cNvSpPr txBox="1"/>
            <p:nvPr/>
          </p:nvSpPr>
          <p:spPr>
            <a:xfrm>
              <a:off x="4453700" y="5169694"/>
              <a:ext cx="1248283" cy="366903"/>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+compSpeed(): void</a:t>
              </a:r>
              <a:br/>
              <a:r>
                <a:rPr lang="en-US" sz="980" dirty="0">
                  <a:solidFill>
                    <a:srgbClr val="1F2937"/>
                  </a:solidFill>
                  <a:latin typeface="+mn-lt"/>
                  <a:ea typeface="+mn-ea"/>
                  <a:cs typeface="+mn-cs"/>
                </a:rPr>
                <a:t>+reportData(): void</a:t>
              </a:r>
            </a:p>
          </p:txBody>
        </p:sp>
      </p:grpSp>
      <p:grpSp>
        <p:nvGrpSpPr>
          <p:cNvPr id="56" name="c2-compare-1"/>
          <p:cNvGrpSpPr/>
          <p:nvPr/>
        </p:nvGrpSpPr>
        <p:grpSpPr>
          <a:xfrm>
            <a:off x="6898005" y="1524000"/>
            <a:ext cx="4760595" cy="3600450"/>
            <a:chOff x="6898005" y="1524000"/>
            <a:chExt cx="4760595" cy="3600450"/>
          </a:xfrm>
        </p:grpSpPr>
        <p:sp>
          <p:nvSpPr>
            <p:cNvPr id="38" name="Rectangle 38"/>
            <p:cNvSpPr/>
            <p:nvPr/>
          </p:nvSpPr>
          <p:spPr>
            <a:xfrm>
              <a:off x="6898005" y="1524000"/>
              <a:ext cx="2170748" cy="3600450"/>
            </a:xfrm>
            <a:prstGeom prst="roundRect">
              <a:avLst>
                <a:gd name="adj" fmla="val 6143"/>
              </a:avLst>
            </a:prstGeom>
            <a:solidFill>
              <a:srgbClr val="FFFFFF"/>
            </a:solidFill>
            <a:ln w="14288">
              <a:solidFill>
                <a:srgbClr val="D9DFEA"/>
              </a:solidFill>
            </a:ln>
          </p:spPr>
        </p:sp>
        <p:sp>
          <p:nvSpPr>
            <p:cNvPr id="39" name="Rectangle 39"/>
            <p:cNvSpPr/>
            <p:nvPr/>
          </p:nvSpPr>
          <p:spPr>
            <a:xfrm>
              <a:off x="6907530" y="1657350"/>
              <a:ext cx="47625" cy="3333750"/>
            </a:xfrm>
            <a:prstGeom prst="roundRect">
              <a:avLst>
                <a:gd name="adj" fmla="val 50000"/>
              </a:avLst>
            </a:prstGeom>
            <a:solidFill>
              <a:srgbClr val="14A38B"/>
            </a:solidFill>
            <a:ln>
              <a:noFill/>
            </a:ln>
          </p:spPr>
        </p:sp>
        <p:sp>
          <p:nvSpPr>
            <p:cNvPr id="40" name="TextBox 40"/>
            <p:cNvSpPr txBox="1"/>
            <p:nvPr/>
          </p:nvSpPr>
          <p:spPr>
            <a:xfrm>
              <a:off x="7121652" y="1738312"/>
              <a:ext cx="114184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改进 1 的优点</a:t>
              </a:r>
            </a:p>
          </p:txBody>
        </p:sp>
        <p:sp>
          <p:nvSpPr>
            <p:cNvPr id="41" name="Ellipse 41"/>
            <p:cNvSpPr/>
            <p:nvPr/>
          </p:nvSpPr>
          <p:spPr>
            <a:xfrm>
              <a:off x="7137082" y="2114550"/>
              <a:ext cx="59055" cy="59055"/>
            </a:xfrm>
            <a:prstGeom prst="ellipse">
              <a:avLst/>
            </a:prstGeom>
            <a:solidFill>
              <a:srgbClr val="334E68"/>
            </a:solidFill>
            <a:ln>
              <a:noFill/>
            </a:ln>
          </p:spPr>
        </p:sp>
        <p:sp>
          <p:nvSpPr>
            <p:cNvPr id="42" name="TextBox 42"/>
            <p:cNvSpPr txBox="1"/>
            <p:nvPr/>
          </p:nvSpPr>
          <p:spPr>
            <a:xfrm>
              <a:off x="7293102" y="2058352"/>
              <a:ext cx="138531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高度显示责任和速</a:t>
              </a:r>
              <a:br/>
              <a:r>
                <a:rPr lang="zh-CN" sz="1350" dirty="0">
                  <a:solidFill>
                    <a:srgbClr val="1F2937"/>
                  </a:solidFill>
                  <a:latin typeface="+mn-lt"/>
                  <a:ea typeface="+mn-ea"/>
                  <a:cs typeface="+mn-cs"/>
                </a:rPr>
                <a:t>度显示责任分别封</a:t>
              </a:r>
              <a:br/>
              <a:r>
                <a:rPr lang="zh-CN" sz="1350" dirty="0">
                  <a:solidFill>
                    <a:srgbClr val="1F2937"/>
                  </a:solidFill>
                  <a:latin typeface="+mn-lt"/>
                  <a:ea typeface="+mn-ea"/>
                  <a:cs typeface="+mn-cs"/>
                </a:rPr>
                <a:t>装进两个类</a:t>
              </a:r>
            </a:p>
          </p:txBody>
        </p:sp>
        <p:sp>
          <p:nvSpPr>
            <p:cNvPr id="43" name="Ellipse 43"/>
            <p:cNvSpPr/>
            <p:nvPr/>
          </p:nvSpPr>
          <p:spPr>
            <a:xfrm>
              <a:off x="7137082" y="2931795"/>
              <a:ext cx="59055" cy="59055"/>
            </a:xfrm>
            <a:prstGeom prst="ellipse">
              <a:avLst/>
            </a:prstGeom>
            <a:solidFill>
              <a:srgbClr val="334E68"/>
            </a:solidFill>
            <a:ln>
              <a:noFill/>
            </a:ln>
          </p:spPr>
        </p:sp>
        <p:sp>
          <p:nvSpPr>
            <p:cNvPr id="44" name="TextBox 44"/>
            <p:cNvSpPr txBox="1"/>
            <p:nvPr/>
          </p:nvSpPr>
          <p:spPr>
            <a:xfrm>
              <a:off x="7293102" y="2875598"/>
              <a:ext cx="1385316" cy="103555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改高度显示不会牵</a:t>
              </a:r>
              <a:br/>
              <a:r>
                <a:rPr lang="zh-CN" sz="1350" dirty="0">
                  <a:solidFill>
                    <a:srgbClr val="1F2937"/>
                  </a:solidFill>
                  <a:latin typeface="+mn-lt"/>
                  <a:ea typeface="+mn-ea"/>
                  <a:cs typeface="+mn-cs"/>
                </a:rPr>
                <a:t>动速度显示，可维</a:t>
              </a:r>
              <a:br/>
              <a:r>
                <a:rPr lang="zh-CN" sz="1350" dirty="0">
                  <a:solidFill>
                    <a:srgbClr val="1F2937"/>
                  </a:solidFill>
                  <a:latin typeface="+mn-lt"/>
                  <a:ea typeface="+mn-ea"/>
                  <a:cs typeface="+mn-cs"/>
                </a:rPr>
                <a:t>护性和可扩展性都</a:t>
              </a:r>
              <a:br/>
              <a:r>
                <a:rPr lang="zh-CN" sz="1350" dirty="0">
                  <a:solidFill>
                    <a:srgbClr val="1F2937"/>
                  </a:solidFill>
                  <a:latin typeface="+mn-lt"/>
                  <a:ea typeface="+mn-ea"/>
                  <a:cs typeface="+mn-cs"/>
                </a:rPr>
                <a:t>变好</a:t>
              </a:r>
            </a:p>
          </p:txBody>
        </p:sp>
        <p:sp>
          <p:nvSpPr>
            <p:cNvPr id="45" name="Rectangle 45"/>
            <p:cNvSpPr/>
            <p:nvPr/>
          </p:nvSpPr>
          <p:spPr>
            <a:xfrm>
              <a:off x="9487852" y="1524000"/>
              <a:ext cx="2170748" cy="3600450"/>
            </a:xfrm>
            <a:prstGeom prst="roundRect">
              <a:avLst>
                <a:gd name="adj" fmla="val 6143"/>
              </a:avLst>
            </a:prstGeom>
            <a:solidFill>
              <a:srgbClr val="FFFFFF"/>
            </a:solidFill>
            <a:ln w="14288">
              <a:solidFill>
                <a:srgbClr val="D9DFEA"/>
              </a:solidFill>
            </a:ln>
          </p:spPr>
        </p:sp>
        <p:sp>
          <p:nvSpPr>
            <p:cNvPr id="46" name="Rectangle 46"/>
            <p:cNvSpPr/>
            <p:nvPr/>
          </p:nvSpPr>
          <p:spPr>
            <a:xfrm>
              <a:off x="9497378" y="1657350"/>
              <a:ext cx="47625" cy="3333750"/>
            </a:xfrm>
            <a:prstGeom prst="roundRect">
              <a:avLst>
                <a:gd name="adj" fmla="val 50000"/>
              </a:avLst>
            </a:prstGeom>
            <a:solidFill>
              <a:srgbClr val="B42318"/>
            </a:solidFill>
            <a:ln>
              <a:noFill/>
            </a:ln>
          </p:spPr>
        </p:sp>
        <p:sp>
          <p:nvSpPr>
            <p:cNvPr id="47" name="TextBox 47"/>
            <p:cNvSpPr txBox="1"/>
            <p:nvPr/>
          </p:nvSpPr>
          <p:spPr>
            <a:xfrm>
              <a:off x="9711500" y="1738312"/>
              <a:ext cx="114184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改进 1 的缺点</a:t>
              </a:r>
            </a:p>
          </p:txBody>
        </p:sp>
        <p:sp>
          <p:nvSpPr>
            <p:cNvPr id="48" name="Ellipse 48"/>
            <p:cNvSpPr/>
            <p:nvPr/>
          </p:nvSpPr>
          <p:spPr>
            <a:xfrm>
              <a:off x="9726930" y="2114550"/>
              <a:ext cx="59055" cy="59055"/>
            </a:xfrm>
            <a:prstGeom prst="ellipse">
              <a:avLst/>
            </a:prstGeom>
            <a:solidFill>
              <a:srgbClr val="334E68"/>
            </a:solidFill>
            <a:ln>
              <a:noFill/>
            </a:ln>
          </p:spPr>
        </p:sp>
        <p:sp>
          <p:nvSpPr>
            <p:cNvPr id="49" name="TextBox 49"/>
            <p:cNvSpPr txBox="1"/>
            <p:nvPr/>
          </p:nvSpPr>
          <p:spPr>
            <a:xfrm>
              <a:off x="9882950" y="2058352"/>
              <a:ext cx="1505331" cy="103555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HeightDisplay 里每</a:t>
              </a:r>
              <a:br/>
              <a:r>
                <a:rPr lang="zh-CN" sz="1350" dirty="0">
                  <a:solidFill>
                    <a:srgbClr val="1F2937"/>
                  </a:solidFill>
                  <a:latin typeface="+mn-lt"/>
                  <a:ea typeface="+mn-ea"/>
                  <a:cs typeface="+mn-cs"/>
                </a:rPr>
                <a:t>个方法都要同时考</a:t>
              </a:r>
              <a:br/>
              <a:r>
                <a:rPr lang="zh-CN" sz="1350" dirty="0">
                  <a:solidFill>
                    <a:srgbClr val="1F2937"/>
                  </a:solidFill>
                  <a:latin typeface="+mn-lt"/>
                  <a:ea typeface="+mn-ea"/>
                  <a:cs typeface="+mn-cs"/>
                </a:rPr>
                <a:t>虑 meters 和</a:t>
              </a:r>
              <a:br/>
              <a:r>
                <a:rPr lang="zh-CN" sz="1350" dirty="0">
                  <a:solidFill>
                    <a:srgbClr val="1F2937"/>
                  </a:solidFill>
                  <a:latin typeface="+mn-lt"/>
                  <a:ea typeface="+mn-ea"/>
                  <a:cs typeface="+mn-cs"/>
                </a:rPr>
                <a:t>feet 两种度量</a:t>
              </a:r>
            </a:p>
          </p:txBody>
        </p:sp>
        <p:sp>
          <p:nvSpPr>
            <p:cNvPr id="50" name="Ellipse 50"/>
            <p:cNvSpPr/>
            <p:nvPr/>
          </p:nvSpPr>
          <p:spPr>
            <a:xfrm>
              <a:off x="9726930" y="3188970"/>
              <a:ext cx="59055" cy="59055"/>
            </a:xfrm>
            <a:prstGeom prst="ellipse">
              <a:avLst/>
            </a:prstGeom>
            <a:solidFill>
              <a:srgbClr val="334E68"/>
            </a:solidFill>
            <a:ln>
              <a:noFill/>
            </a:ln>
          </p:spPr>
        </p:sp>
        <p:sp>
          <p:nvSpPr>
            <p:cNvPr id="51" name="TextBox 51"/>
            <p:cNvSpPr txBox="1"/>
            <p:nvPr/>
          </p:nvSpPr>
          <p:spPr>
            <a:xfrm>
              <a:off x="9882950" y="3132772"/>
              <a:ext cx="145389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SpeedDisplay 同理</a:t>
              </a:r>
              <a:br/>
              <a:r>
                <a:rPr lang="zh-CN" sz="1350" dirty="0">
                  <a:solidFill>
                    <a:srgbClr val="1F2937"/>
                  </a:solidFill>
                  <a:latin typeface="+mn-lt"/>
                  <a:ea typeface="+mn-ea"/>
                  <a:cs typeface="+mn-cs"/>
                </a:rPr>
                <a:t>要同时考虑公里每</a:t>
              </a:r>
              <a:br/>
              <a:r>
                <a:rPr lang="zh-CN" sz="1350" dirty="0">
                  <a:solidFill>
                    <a:srgbClr val="1F2937"/>
                  </a:solidFill>
                  <a:latin typeface="+mn-lt"/>
                  <a:ea typeface="+mn-ea"/>
                  <a:cs typeface="+mn-cs"/>
                </a:rPr>
                <a:t>小时和英里每小时</a:t>
              </a:r>
            </a:p>
          </p:txBody>
        </p:sp>
        <p:sp>
          <p:nvSpPr>
            <p:cNvPr id="52" name="Ellipse 52"/>
            <p:cNvSpPr/>
            <p:nvPr/>
          </p:nvSpPr>
          <p:spPr>
            <a:xfrm>
              <a:off x="9726930" y="4005262"/>
              <a:ext cx="59055" cy="59055"/>
            </a:xfrm>
            <a:prstGeom prst="ellipse">
              <a:avLst/>
            </a:prstGeom>
            <a:solidFill>
              <a:srgbClr val="334E68"/>
            </a:solidFill>
            <a:ln>
              <a:noFill/>
            </a:ln>
          </p:spPr>
        </p:sp>
        <p:sp>
          <p:nvSpPr>
            <p:cNvPr id="53" name="TextBox 53"/>
            <p:cNvSpPr txBox="1"/>
            <p:nvPr/>
          </p:nvSpPr>
          <p:spPr>
            <a:xfrm>
              <a:off x="9882950" y="3949065"/>
              <a:ext cx="1402461" cy="103555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“用哪种单位”其实</a:t>
              </a:r>
              <a:br/>
              <a:r>
                <a:rPr lang="zh-CN" sz="1350" dirty="0">
                  <a:solidFill>
                    <a:srgbClr val="1F2937"/>
                  </a:solidFill>
                  <a:latin typeface="+mn-lt"/>
                  <a:ea typeface="+mn-ea"/>
                  <a:cs typeface="+mn-cs"/>
                </a:rPr>
                <a:t>是第二个变化原</a:t>
              </a:r>
              <a:br/>
              <a:r>
                <a:rPr lang="zh-CN" sz="1350" dirty="0">
                  <a:solidFill>
                    <a:srgbClr val="1F2937"/>
                  </a:solidFill>
                  <a:latin typeface="+mn-lt"/>
                  <a:ea typeface="+mn-ea"/>
                  <a:cs typeface="+mn-cs"/>
                </a:rPr>
                <a:t>因，仍然混在一个</a:t>
              </a:r>
              <a:br/>
              <a:r>
                <a:rPr lang="zh-CN" sz="1350" dirty="0">
                  <a:solidFill>
                    <a:srgbClr val="1F2937"/>
                  </a:solidFill>
                  <a:latin typeface="+mn-lt"/>
                  <a:ea typeface="+mn-ea"/>
                  <a:cs typeface="+mn-cs"/>
                </a:rPr>
                <a:t>类里</a:t>
              </a:r>
            </a:p>
          </p:txBody>
        </p:sp>
        <p:sp>
          <p:nvSpPr>
            <p:cNvPr id="54" name="Ellipse 54"/>
            <p:cNvSpPr/>
            <p:nvPr/>
          </p:nvSpPr>
          <p:spPr>
            <a:xfrm>
              <a:off x="9116378" y="3162300"/>
              <a:ext cx="323850" cy="323850"/>
            </a:xfrm>
            <a:prstGeom prst="ellipse">
              <a:avLst/>
            </a:prstGeom>
            <a:solidFill>
              <a:srgbClr val="F26B3A"/>
            </a:solidFill>
            <a:ln>
              <a:noFill/>
            </a:ln>
          </p:spPr>
        </p:sp>
        <p:sp>
          <p:nvSpPr>
            <p:cNvPr id="55" name="TextBox 55"/>
            <p:cNvSpPr txBox="1"/>
            <p:nvPr/>
          </p:nvSpPr>
          <p:spPr>
            <a:xfrm>
              <a:off x="9192849" y="3263741"/>
              <a:ext cx="170907"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VS</a:t>
              </a:r>
            </a:p>
          </p:txBody>
        </p:sp>
      </p:grpSp>
      <p:grpSp>
        <p:nvGrpSpPr>
          <p:cNvPr id="62" name="c2-callout-2"/>
          <p:cNvGrpSpPr/>
          <p:nvPr/>
        </p:nvGrpSpPr>
        <p:grpSpPr>
          <a:xfrm>
            <a:off x="6898005" y="5299710"/>
            <a:ext cx="4760595" cy="978218"/>
            <a:chOff x="6898005" y="5299710"/>
            <a:chExt cx="4760595" cy="978218"/>
          </a:xfrm>
        </p:grpSpPr>
        <p:sp>
          <p:nvSpPr>
            <p:cNvPr id="57" name="Rectangle 57"/>
            <p:cNvSpPr/>
            <p:nvPr/>
          </p:nvSpPr>
          <p:spPr>
            <a:xfrm>
              <a:off x="6898005" y="5299710"/>
              <a:ext cx="4760595" cy="978218"/>
            </a:xfrm>
            <a:prstGeom prst="roundRect">
              <a:avLst>
                <a:gd name="adj" fmla="val 11685"/>
              </a:avLst>
            </a:prstGeom>
            <a:solidFill>
              <a:srgbClr val="334E68"/>
            </a:solidFill>
            <a:ln>
              <a:noFill/>
            </a:ln>
          </p:spPr>
        </p:sp>
        <p:grpSp>
          <p:nvGrpSpPr>
            <p:cNvPr id="60" name="Group 60"/>
            <p:cNvGrpSpPr/>
            <p:nvPr/>
          </p:nvGrpSpPr>
          <p:grpSpPr>
            <a:xfrm>
              <a:off x="7102793" y="5688332"/>
              <a:ext cx="200023" cy="200023"/>
              <a:chOff x="7102793" y="5688332"/>
              <a:chExt cx="200023" cy="200023"/>
            </a:xfrm>
          </p:grpSpPr>
          <p:sp>
            <p:nvSpPr>
              <p:cNvPr id="58" name="Freeform 58"/>
              <p:cNvSpPr/>
              <p:nvPr/>
            </p:nvSpPr>
            <p:spPr>
              <a:xfrm>
                <a:off x="7102793" y="568833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9" name="Freeform 59"/>
              <p:cNvSpPr/>
              <p:nvPr/>
            </p:nvSpPr>
            <p:spPr>
              <a:xfrm>
                <a:off x="7236143" y="575500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1" name="TextBox 61"/>
            <p:cNvSpPr txBox="1"/>
            <p:nvPr/>
          </p:nvSpPr>
          <p:spPr>
            <a:xfrm>
              <a:off x="7405497" y="5445442"/>
              <a:ext cx="3785616" cy="761238"/>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传感器一侧的 Sensor 接口与两个子类原样不动；</a:t>
              </a:r>
              <a:br/>
              <a:r>
                <a:rPr lang="zh-CN" sz="1350" dirty="0">
                  <a:solidFill>
                    <a:srgbClr val="FFFFFF"/>
                  </a:solidFill>
                  <a:latin typeface="+mn-lt"/>
                  <a:ea typeface="+mn-ea"/>
                  <a:cs typeface="+mn-cs"/>
                </a:rPr>
                <a:t>拆到这一步只拆掉了第一维责任（量什么），第二</a:t>
              </a:r>
              <a:br/>
              <a:r>
                <a:rPr lang="zh-CN" sz="1350" dirty="0">
                  <a:solidFill>
                    <a:srgbClr val="FFFFFF"/>
                  </a:solidFill>
                  <a:latin typeface="+mn-lt"/>
                  <a:ea typeface="+mn-ea"/>
                  <a:cs typeface="+mn-cs"/>
                </a:rPr>
                <a:t>维责任（按哪种单位显示）还压在同一个类里。</a:t>
              </a:r>
            </a:p>
          </p:txBody>
        </p:sp>
      </p:grpSp>
      <p:grpSp>
        <p:nvGrpSpPr>
          <p:cNvPr id="65" name="footer"/>
          <p:cNvGrpSpPr/>
          <p:nvPr/>
        </p:nvGrpSpPr>
        <p:grpSpPr>
          <a:xfrm>
            <a:off x="528447" y="6581299"/>
            <a:ext cx="11135106" cy="190690"/>
            <a:chOff x="528447" y="6581299"/>
            <a:chExt cx="11135106" cy="190690"/>
          </a:xfrm>
        </p:grpSpPr>
        <p:sp>
          <p:nvSpPr>
            <p:cNvPr id="63" name="TextBox 63"/>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64" name="TextBox 6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34710" cy="909257"/>
            <a:chOff x="520446" y="342900"/>
            <a:chExt cx="5534710" cy="909257"/>
          </a:xfrm>
        </p:grpSpPr>
        <p:sp>
          <p:nvSpPr>
            <p:cNvPr id="2" name="Rectangle 2"/>
            <p:cNvSpPr/>
            <p:nvPr/>
          </p:nvSpPr>
          <p:spPr>
            <a:xfrm>
              <a:off x="533400" y="342900"/>
              <a:ext cx="2660332" cy="266700"/>
            </a:xfrm>
            <a:prstGeom prst="roundRect">
              <a:avLst>
                <a:gd name="adj" fmla="val 50000"/>
              </a:avLst>
            </a:prstGeom>
            <a:solidFill>
              <a:srgbClr val="E7EDF3"/>
            </a:solidFill>
            <a:ln>
              <a:noFill/>
            </a:ln>
          </p:spPr>
        </p:sp>
        <p:sp>
          <p:nvSpPr>
            <p:cNvPr id="3" name="TextBox 3"/>
            <p:cNvSpPr txBox="1"/>
            <p:nvPr/>
          </p:nvSpPr>
          <p:spPr>
            <a:xfrm>
              <a:off x="570203" y="407194"/>
              <a:ext cx="25857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SOLID 五原则</a:t>
              </a:r>
            </a:p>
          </p:txBody>
        </p:sp>
        <p:sp>
          <p:nvSpPr>
            <p:cNvPr id="4" name="TextBox 4"/>
            <p:cNvSpPr txBox="1"/>
            <p:nvPr/>
          </p:nvSpPr>
          <p:spPr>
            <a:xfrm>
              <a:off x="520446" y="753428"/>
              <a:ext cx="553471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改进 2：再把“单位”这一维交给子类</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780" y="1548765"/>
            <a:ext cx="8092440" cy="293370"/>
            <a:chOff x="525780" y="1548765"/>
            <a:chExt cx="8092440" cy="293370"/>
          </a:xfrm>
        </p:grpSpPr>
        <p:sp>
          <p:nvSpPr>
            <p:cNvPr id="7" name="TextBox 7"/>
            <p:cNvSpPr txBox="1"/>
            <p:nvPr/>
          </p:nvSpPr>
          <p:spPr>
            <a:xfrm>
              <a:off x="525780" y="1548765"/>
              <a:ext cx="8092440" cy="293370"/>
            </a:xfrm>
            <a:prstGeom prst="rect">
              <a:avLst/>
            </a:prstGeom>
            <a:noFill/>
            <a:ln>
              <a:noFill/>
            </a:ln>
          </p:spPr>
          <p:txBody>
            <a:bodyPr wrap="none" lIns="0" tIns="0" rIns="0" bIns="0" anchor="t" anchorCtr="0">
              <a:spAutoFit/>
            </a:bodyPr>
            <a:lstStyle/>
            <a:p>
              <a:pPr algn="l"/>
              <a:r>
                <a:rPr lang="zh-CN" sz="1500" dirty="0">
                  <a:solidFill>
                    <a:srgbClr val="5B6475"/>
                  </a:solidFill>
                  <a:latin typeface="+mn-lt"/>
                  <a:ea typeface="+mn-ea"/>
                  <a:cs typeface="+mn-cs"/>
                </a:rPr>
                <a:t>父类负责取数和定义显示接口，两个子类各自只管一种单位，每个类都只剩一个变化原因。</a:t>
              </a:r>
            </a:p>
          </p:txBody>
        </p:sp>
      </p:grpSp>
      <p:grpSp>
        <p:nvGrpSpPr>
          <p:cNvPr id="59" name="c1-uml-1"/>
          <p:cNvGrpSpPr/>
          <p:nvPr/>
        </p:nvGrpSpPr>
        <p:grpSpPr>
          <a:xfrm>
            <a:off x="1244918" y="2029778"/>
            <a:ext cx="9594532" cy="2462212"/>
            <a:chOff x="1244918" y="2029778"/>
            <a:chExt cx="9594532" cy="2462212"/>
          </a:xfrm>
        </p:grpSpPr>
        <p:sp>
          <p:nvSpPr>
            <p:cNvPr id="9" name="Freeform 9"/>
            <p:cNvSpPr/>
            <p:nvPr/>
          </p:nvSpPr>
          <p:spPr>
            <a:xfrm>
              <a:off x="1828800" y="3392805"/>
              <a:ext cx="95250" cy="186690"/>
            </a:xfrm>
            <a:custGeom>
              <a:avLst/>
              <a:gdLst/>
              <a:ahLst/>
              <a:cxnLst/>
              <a:rect l="l" t="t" r="r" b="b"/>
              <a:pathLst>
                <a:path w="95250" h="186690">
                  <a:moveTo>
                    <a:pt x="95250" y="186690"/>
                  </a:moveTo>
                  <a:lnTo>
                    <a:pt x="95250" y="30480"/>
                  </a:lnTo>
                  <a:lnTo>
                    <a:pt x="0" y="30480"/>
                  </a:lnTo>
                  <a:lnTo>
                    <a:pt x="0" y="0"/>
                  </a:lnTo>
                </a:path>
              </a:pathLst>
            </a:custGeom>
            <a:noFill/>
            <a:ln w="15240">
              <a:solidFill>
                <a:srgbClr val="1F2937"/>
              </a:solidFill>
            </a:ln>
          </p:spPr>
        </p:sp>
        <p:sp>
          <p:nvSpPr>
            <p:cNvPr id="10" name="Freeform 10"/>
            <p:cNvSpPr/>
            <p:nvPr/>
          </p:nvSpPr>
          <p:spPr>
            <a:xfrm>
              <a:off x="1755458" y="3267075"/>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11" name="Freeform 11"/>
            <p:cNvSpPr/>
            <p:nvPr/>
          </p:nvSpPr>
          <p:spPr>
            <a:xfrm>
              <a:off x="2019300" y="3392805"/>
              <a:ext cx="2686050" cy="186690"/>
            </a:xfrm>
            <a:custGeom>
              <a:avLst/>
              <a:gdLst/>
              <a:ahLst/>
              <a:cxnLst/>
              <a:rect l="l" t="t" r="r" b="b"/>
              <a:pathLst>
                <a:path w="2686050" h="186690">
                  <a:moveTo>
                    <a:pt x="2686050" y="186690"/>
                  </a:moveTo>
                  <a:lnTo>
                    <a:pt x="2686050" y="30480"/>
                  </a:lnTo>
                  <a:lnTo>
                    <a:pt x="0" y="30480"/>
                  </a:lnTo>
                  <a:lnTo>
                    <a:pt x="0" y="0"/>
                  </a:lnTo>
                </a:path>
              </a:pathLst>
            </a:custGeom>
            <a:noFill/>
            <a:ln w="15240">
              <a:solidFill>
                <a:srgbClr val="1F2937"/>
              </a:solidFill>
            </a:ln>
          </p:spPr>
        </p:sp>
        <p:sp>
          <p:nvSpPr>
            <p:cNvPr id="12" name="Freeform 12"/>
            <p:cNvSpPr/>
            <p:nvPr/>
          </p:nvSpPr>
          <p:spPr>
            <a:xfrm>
              <a:off x="1945958" y="3267075"/>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13" name="Freeform 13"/>
            <p:cNvSpPr/>
            <p:nvPr/>
          </p:nvSpPr>
          <p:spPr>
            <a:xfrm>
              <a:off x="7391400" y="3392805"/>
              <a:ext cx="95250" cy="186690"/>
            </a:xfrm>
            <a:custGeom>
              <a:avLst/>
              <a:gdLst/>
              <a:ahLst/>
              <a:cxnLst/>
              <a:rect l="l" t="t" r="r" b="b"/>
              <a:pathLst>
                <a:path w="95250" h="186690">
                  <a:moveTo>
                    <a:pt x="95250" y="186690"/>
                  </a:moveTo>
                  <a:lnTo>
                    <a:pt x="95250" y="30480"/>
                  </a:lnTo>
                  <a:lnTo>
                    <a:pt x="0" y="30480"/>
                  </a:lnTo>
                  <a:lnTo>
                    <a:pt x="0" y="0"/>
                  </a:lnTo>
                </a:path>
              </a:pathLst>
            </a:custGeom>
            <a:noFill/>
            <a:ln w="15240">
              <a:solidFill>
                <a:srgbClr val="1F2937"/>
              </a:solidFill>
            </a:ln>
          </p:spPr>
        </p:sp>
        <p:sp>
          <p:nvSpPr>
            <p:cNvPr id="14" name="Freeform 14"/>
            <p:cNvSpPr/>
            <p:nvPr/>
          </p:nvSpPr>
          <p:spPr>
            <a:xfrm>
              <a:off x="7318058" y="3267075"/>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15" name="Freeform 15"/>
            <p:cNvSpPr/>
            <p:nvPr/>
          </p:nvSpPr>
          <p:spPr>
            <a:xfrm>
              <a:off x="7581900" y="3392805"/>
              <a:ext cx="2686050" cy="186690"/>
            </a:xfrm>
            <a:custGeom>
              <a:avLst/>
              <a:gdLst/>
              <a:ahLst/>
              <a:cxnLst/>
              <a:rect l="l" t="t" r="r" b="b"/>
              <a:pathLst>
                <a:path w="2686050" h="186690">
                  <a:moveTo>
                    <a:pt x="2686050" y="186690"/>
                  </a:moveTo>
                  <a:lnTo>
                    <a:pt x="2686050" y="30480"/>
                  </a:lnTo>
                  <a:lnTo>
                    <a:pt x="0" y="30480"/>
                  </a:lnTo>
                  <a:lnTo>
                    <a:pt x="0" y="0"/>
                  </a:lnTo>
                </a:path>
              </a:pathLst>
            </a:custGeom>
            <a:noFill/>
            <a:ln w="15240">
              <a:solidFill>
                <a:srgbClr val="1F2937"/>
              </a:solidFill>
            </a:ln>
          </p:spPr>
        </p:sp>
        <p:sp>
          <p:nvSpPr>
            <p:cNvPr id="16" name="Freeform 16"/>
            <p:cNvSpPr/>
            <p:nvPr/>
          </p:nvSpPr>
          <p:spPr>
            <a:xfrm>
              <a:off x="7508558" y="3267075"/>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17" name="Rectangle 17"/>
            <p:cNvSpPr/>
            <p:nvPr/>
          </p:nvSpPr>
          <p:spPr>
            <a:xfrm>
              <a:off x="1244918" y="2029778"/>
              <a:ext cx="1358265" cy="1237298"/>
            </a:xfrm>
            <a:prstGeom prst="rect">
              <a:avLst/>
            </a:prstGeom>
            <a:solidFill>
              <a:srgbClr val="FFFFFF"/>
            </a:solidFill>
            <a:ln w="14288">
              <a:solidFill>
                <a:srgbClr val="334E68"/>
              </a:solidFill>
            </a:ln>
          </p:spPr>
        </p:sp>
        <p:sp>
          <p:nvSpPr>
            <p:cNvPr id="18" name="Rectangle 18"/>
            <p:cNvSpPr/>
            <p:nvPr/>
          </p:nvSpPr>
          <p:spPr>
            <a:xfrm>
              <a:off x="1251585" y="2036445"/>
              <a:ext cx="1343978" cy="227648"/>
            </a:xfrm>
            <a:prstGeom prst="rect">
              <a:avLst/>
            </a:prstGeom>
            <a:solidFill>
              <a:srgbClr val="E7EDF3"/>
            </a:solidFill>
            <a:ln>
              <a:noFill/>
            </a:ln>
          </p:spPr>
        </p:sp>
        <p:sp>
          <p:nvSpPr>
            <p:cNvPr id="19" name="Rectangle 19"/>
            <p:cNvSpPr/>
            <p:nvPr/>
          </p:nvSpPr>
          <p:spPr>
            <a:xfrm>
              <a:off x="1244918" y="2260282"/>
              <a:ext cx="1358265" cy="9525"/>
            </a:xfrm>
            <a:prstGeom prst="rect">
              <a:avLst/>
            </a:prstGeom>
            <a:solidFill>
              <a:srgbClr val="334E68"/>
            </a:solidFill>
            <a:ln>
              <a:noFill/>
            </a:ln>
          </p:spPr>
        </p:sp>
        <p:sp>
          <p:nvSpPr>
            <p:cNvPr id="20" name="Rectangle 20"/>
            <p:cNvSpPr/>
            <p:nvPr/>
          </p:nvSpPr>
          <p:spPr>
            <a:xfrm>
              <a:off x="1244918" y="2517458"/>
              <a:ext cx="1358265" cy="9525"/>
            </a:xfrm>
            <a:prstGeom prst="rect">
              <a:avLst/>
            </a:prstGeom>
            <a:solidFill>
              <a:srgbClr val="334E68"/>
            </a:solidFill>
            <a:ln>
              <a:noFill/>
            </a:ln>
          </p:spPr>
        </p:sp>
        <p:sp>
          <p:nvSpPr>
            <p:cNvPr id="21" name="Rectangle 21"/>
            <p:cNvSpPr/>
            <p:nvPr/>
          </p:nvSpPr>
          <p:spPr>
            <a:xfrm>
              <a:off x="6807518" y="2029778"/>
              <a:ext cx="1358265" cy="1237298"/>
            </a:xfrm>
            <a:prstGeom prst="rect">
              <a:avLst/>
            </a:prstGeom>
            <a:solidFill>
              <a:srgbClr val="FFFFFF"/>
            </a:solidFill>
            <a:ln w="14288">
              <a:solidFill>
                <a:srgbClr val="334E68"/>
              </a:solidFill>
            </a:ln>
          </p:spPr>
        </p:sp>
        <p:sp>
          <p:nvSpPr>
            <p:cNvPr id="22" name="Rectangle 22"/>
            <p:cNvSpPr/>
            <p:nvPr/>
          </p:nvSpPr>
          <p:spPr>
            <a:xfrm>
              <a:off x="6815138" y="2036445"/>
              <a:ext cx="1343978" cy="227648"/>
            </a:xfrm>
            <a:prstGeom prst="rect">
              <a:avLst/>
            </a:prstGeom>
            <a:solidFill>
              <a:srgbClr val="E7EDF3"/>
            </a:solidFill>
            <a:ln>
              <a:noFill/>
            </a:ln>
          </p:spPr>
        </p:sp>
        <p:sp>
          <p:nvSpPr>
            <p:cNvPr id="23" name="Rectangle 23"/>
            <p:cNvSpPr/>
            <p:nvPr/>
          </p:nvSpPr>
          <p:spPr>
            <a:xfrm>
              <a:off x="6807518" y="2260282"/>
              <a:ext cx="1358265" cy="9525"/>
            </a:xfrm>
            <a:prstGeom prst="rect">
              <a:avLst/>
            </a:prstGeom>
            <a:solidFill>
              <a:srgbClr val="334E68"/>
            </a:solidFill>
            <a:ln>
              <a:noFill/>
            </a:ln>
          </p:spPr>
        </p:sp>
        <p:sp>
          <p:nvSpPr>
            <p:cNvPr id="24" name="Rectangle 24"/>
            <p:cNvSpPr/>
            <p:nvPr/>
          </p:nvSpPr>
          <p:spPr>
            <a:xfrm>
              <a:off x="6807518" y="2517458"/>
              <a:ext cx="1358265" cy="9525"/>
            </a:xfrm>
            <a:prstGeom prst="rect">
              <a:avLst/>
            </a:prstGeom>
            <a:solidFill>
              <a:srgbClr val="334E68"/>
            </a:solidFill>
            <a:ln>
              <a:noFill/>
            </a:ln>
          </p:spPr>
        </p:sp>
        <p:sp>
          <p:nvSpPr>
            <p:cNvPr id="25" name="Rectangle 25"/>
            <p:cNvSpPr/>
            <p:nvPr/>
          </p:nvSpPr>
          <p:spPr>
            <a:xfrm>
              <a:off x="1352550" y="3579495"/>
              <a:ext cx="1143000" cy="912495"/>
            </a:xfrm>
            <a:prstGeom prst="rect">
              <a:avLst/>
            </a:prstGeom>
            <a:solidFill>
              <a:srgbClr val="FFFFFF"/>
            </a:solidFill>
            <a:ln w="14288">
              <a:solidFill>
                <a:srgbClr val="334E68"/>
              </a:solidFill>
            </a:ln>
          </p:spPr>
        </p:sp>
        <p:sp>
          <p:nvSpPr>
            <p:cNvPr id="26" name="Rectangle 26"/>
            <p:cNvSpPr/>
            <p:nvPr/>
          </p:nvSpPr>
          <p:spPr>
            <a:xfrm>
              <a:off x="1360170" y="3587115"/>
              <a:ext cx="1128712" cy="227648"/>
            </a:xfrm>
            <a:prstGeom prst="rect">
              <a:avLst/>
            </a:prstGeom>
            <a:solidFill>
              <a:srgbClr val="E7EDF3"/>
            </a:solidFill>
            <a:ln>
              <a:noFill/>
            </a:ln>
          </p:spPr>
        </p:sp>
        <p:sp>
          <p:nvSpPr>
            <p:cNvPr id="27" name="Rectangle 27"/>
            <p:cNvSpPr/>
            <p:nvPr/>
          </p:nvSpPr>
          <p:spPr>
            <a:xfrm>
              <a:off x="1352550" y="3810000"/>
              <a:ext cx="1143000" cy="9525"/>
            </a:xfrm>
            <a:prstGeom prst="rect">
              <a:avLst/>
            </a:prstGeom>
            <a:solidFill>
              <a:srgbClr val="334E68"/>
            </a:solidFill>
            <a:ln>
              <a:noFill/>
            </a:ln>
          </p:spPr>
        </p:sp>
        <p:sp>
          <p:nvSpPr>
            <p:cNvPr id="28" name="Rectangle 28"/>
            <p:cNvSpPr/>
            <p:nvPr/>
          </p:nvSpPr>
          <p:spPr>
            <a:xfrm>
              <a:off x="1352550" y="4068128"/>
              <a:ext cx="1143000" cy="9525"/>
            </a:xfrm>
            <a:prstGeom prst="rect">
              <a:avLst/>
            </a:prstGeom>
            <a:solidFill>
              <a:srgbClr val="334E68"/>
            </a:solidFill>
            <a:ln>
              <a:noFill/>
            </a:ln>
          </p:spPr>
        </p:sp>
        <p:sp>
          <p:nvSpPr>
            <p:cNvPr id="29" name="Rectangle 29"/>
            <p:cNvSpPr/>
            <p:nvPr/>
          </p:nvSpPr>
          <p:spPr>
            <a:xfrm>
              <a:off x="4133850" y="3579495"/>
              <a:ext cx="1143000" cy="912495"/>
            </a:xfrm>
            <a:prstGeom prst="rect">
              <a:avLst/>
            </a:prstGeom>
            <a:solidFill>
              <a:srgbClr val="FFFFFF"/>
            </a:solidFill>
            <a:ln w="14288">
              <a:solidFill>
                <a:srgbClr val="334E68"/>
              </a:solidFill>
            </a:ln>
          </p:spPr>
        </p:sp>
        <p:sp>
          <p:nvSpPr>
            <p:cNvPr id="30" name="Rectangle 30"/>
            <p:cNvSpPr/>
            <p:nvPr/>
          </p:nvSpPr>
          <p:spPr>
            <a:xfrm>
              <a:off x="4141470" y="3587115"/>
              <a:ext cx="1128712" cy="227648"/>
            </a:xfrm>
            <a:prstGeom prst="rect">
              <a:avLst/>
            </a:prstGeom>
            <a:solidFill>
              <a:srgbClr val="E7EDF3"/>
            </a:solidFill>
            <a:ln>
              <a:noFill/>
            </a:ln>
          </p:spPr>
        </p:sp>
        <p:sp>
          <p:nvSpPr>
            <p:cNvPr id="31" name="Rectangle 31"/>
            <p:cNvSpPr/>
            <p:nvPr/>
          </p:nvSpPr>
          <p:spPr>
            <a:xfrm>
              <a:off x="4133850" y="3810000"/>
              <a:ext cx="1143000" cy="9525"/>
            </a:xfrm>
            <a:prstGeom prst="rect">
              <a:avLst/>
            </a:prstGeom>
            <a:solidFill>
              <a:srgbClr val="334E68"/>
            </a:solidFill>
            <a:ln>
              <a:noFill/>
            </a:ln>
          </p:spPr>
        </p:sp>
        <p:sp>
          <p:nvSpPr>
            <p:cNvPr id="32" name="Rectangle 32"/>
            <p:cNvSpPr/>
            <p:nvPr/>
          </p:nvSpPr>
          <p:spPr>
            <a:xfrm>
              <a:off x="4133850" y="4068128"/>
              <a:ext cx="1143000" cy="9525"/>
            </a:xfrm>
            <a:prstGeom prst="rect">
              <a:avLst/>
            </a:prstGeom>
            <a:solidFill>
              <a:srgbClr val="334E68"/>
            </a:solidFill>
            <a:ln>
              <a:noFill/>
            </a:ln>
          </p:spPr>
        </p:sp>
        <p:sp>
          <p:nvSpPr>
            <p:cNvPr id="33" name="Rectangle 33"/>
            <p:cNvSpPr/>
            <p:nvPr/>
          </p:nvSpPr>
          <p:spPr>
            <a:xfrm>
              <a:off x="6890385" y="3579495"/>
              <a:ext cx="1192530" cy="912495"/>
            </a:xfrm>
            <a:prstGeom prst="rect">
              <a:avLst/>
            </a:prstGeom>
            <a:solidFill>
              <a:srgbClr val="FFFFFF"/>
            </a:solidFill>
            <a:ln w="14288">
              <a:solidFill>
                <a:srgbClr val="334E68"/>
              </a:solidFill>
            </a:ln>
          </p:spPr>
        </p:sp>
        <p:sp>
          <p:nvSpPr>
            <p:cNvPr id="34" name="Rectangle 34"/>
            <p:cNvSpPr/>
            <p:nvPr/>
          </p:nvSpPr>
          <p:spPr>
            <a:xfrm>
              <a:off x="6897052" y="3587115"/>
              <a:ext cx="1178242" cy="227648"/>
            </a:xfrm>
            <a:prstGeom prst="rect">
              <a:avLst/>
            </a:prstGeom>
            <a:solidFill>
              <a:srgbClr val="E7EDF3"/>
            </a:solidFill>
            <a:ln>
              <a:noFill/>
            </a:ln>
          </p:spPr>
        </p:sp>
        <p:sp>
          <p:nvSpPr>
            <p:cNvPr id="35" name="Rectangle 35"/>
            <p:cNvSpPr/>
            <p:nvPr/>
          </p:nvSpPr>
          <p:spPr>
            <a:xfrm>
              <a:off x="6890385" y="3810000"/>
              <a:ext cx="1192530" cy="9525"/>
            </a:xfrm>
            <a:prstGeom prst="rect">
              <a:avLst/>
            </a:prstGeom>
            <a:solidFill>
              <a:srgbClr val="334E68"/>
            </a:solidFill>
            <a:ln>
              <a:noFill/>
            </a:ln>
          </p:spPr>
        </p:sp>
        <p:sp>
          <p:nvSpPr>
            <p:cNvPr id="36" name="Rectangle 36"/>
            <p:cNvSpPr/>
            <p:nvPr/>
          </p:nvSpPr>
          <p:spPr>
            <a:xfrm>
              <a:off x="6890385" y="4068128"/>
              <a:ext cx="1192530" cy="9525"/>
            </a:xfrm>
            <a:prstGeom prst="rect">
              <a:avLst/>
            </a:prstGeom>
            <a:solidFill>
              <a:srgbClr val="334E68"/>
            </a:solidFill>
            <a:ln>
              <a:noFill/>
            </a:ln>
          </p:spPr>
        </p:sp>
        <p:sp>
          <p:nvSpPr>
            <p:cNvPr id="37" name="Rectangle 37"/>
            <p:cNvSpPr/>
            <p:nvPr/>
          </p:nvSpPr>
          <p:spPr>
            <a:xfrm>
              <a:off x="9696450" y="3579495"/>
              <a:ext cx="1143000" cy="912495"/>
            </a:xfrm>
            <a:prstGeom prst="rect">
              <a:avLst/>
            </a:prstGeom>
            <a:solidFill>
              <a:srgbClr val="FFFFFF"/>
            </a:solidFill>
            <a:ln w="14288">
              <a:solidFill>
                <a:srgbClr val="334E68"/>
              </a:solidFill>
            </a:ln>
          </p:spPr>
        </p:sp>
        <p:sp>
          <p:nvSpPr>
            <p:cNvPr id="38" name="Rectangle 38"/>
            <p:cNvSpPr/>
            <p:nvPr/>
          </p:nvSpPr>
          <p:spPr>
            <a:xfrm>
              <a:off x="9704070" y="3587115"/>
              <a:ext cx="1128712" cy="227648"/>
            </a:xfrm>
            <a:prstGeom prst="rect">
              <a:avLst/>
            </a:prstGeom>
            <a:solidFill>
              <a:srgbClr val="E7EDF3"/>
            </a:solidFill>
            <a:ln>
              <a:noFill/>
            </a:ln>
          </p:spPr>
        </p:sp>
        <p:sp>
          <p:nvSpPr>
            <p:cNvPr id="39" name="Rectangle 39"/>
            <p:cNvSpPr/>
            <p:nvPr/>
          </p:nvSpPr>
          <p:spPr>
            <a:xfrm>
              <a:off x="9696450" y="3810000"/>
              <a:ext cx="1143000" cy="9525"/>
            </a:xfrm>
            <a:prstGeom prst="rect">
              <a:avLst/>
            </a:prstGeom>
            <a:solidFill>
              <a:srgbClr val="334E68"/>
            </a:solidFill>
            <a:ln>
              <a:noFill/>
            </a:ln>
          </p:spPr>
        </p:sp>
        <p:sp>
          <p:nvSpPr>
            <p:cNvPr id="40" name="Rectangle 40"/>
            <p:cNvSpPr/>
            <p:nvPr/>
          </p:nvSpPr>
          <p:spPr>
            <a:xfrm>
              <a:off x="9696450" y="4068128"/>
              <a:ext cx="1143000" cy="9525"/>
            </a:xfrm>
            <a:prstGeom prst="rect">
              <a:avLst/>
            </a:prstGeom>
            <a:solidFill>
              <a:srgbClr val="334E68"/>
            </a:solidFill>
            <a:ln>
              <a:noFill/>
            </a:ln>
          </p:spPr>
        </p:sp>
        <p:sp>
          <p:nvSpPr>
            <p:cNvPr id="41" name="TextBox 41"/>
            <p:cNvSpPr txBox="1"/>
            <p:nvPr/>
          </p:nvSpPr>
          <p:spPr>
            <a:xfrm>
              <a:off x="1471960" y="2085499"/>
              <a:ext cx="904180" cy="190690"/>
            </a:xfrm>
            <a:prstGeom prst="rect">
              <a:avLst/>
            </a:prstGeom>
            <a:noFill/>
            <a:ln>
              <a:noFill/>
            </a:ln>
          </p:spPr>
          <p:txBody>
            <a:bodyPr wrap="none" lIns="0" tIns="0" rIns="0" bIns="0" anchor="t" anchorCtr="0">
              <a:spAutoFit/>
            </a:bodyPr>
            <a:lstStyle/>
            <a:p>
              <a:pPr algn="ctr"/>
              <a:r>
                <a:rPr lang="en-US" sz="980" b="1" i="1" dirty="0">
                  <a:solidFill>
                    <a:srgbClr val="243B53"/>
                  </a:solidFill>
                  <a:latin typeface="+mn-lt"/>
                  <a:ea typeface="+mn-ea"/>
                  <a:cs typeface="+mn-cs"/>
                </a:rPr>
                <a:t>HeightDisplay</a:t>
              </a:r>
            </a:p>
          </p:txBody>
        </p:sp>
        <p:sp>
          <p:nvSpPr>
            <p:cNvPr id="42" name="TextBox 42"/>
            <p:cNvSpPr txBox="1"/>
            <p:nvPr/>
          </p:nvSpPr>
          <p:spPr>
            <a:xfrm>
              <a:off x="1316355" y="2329815"/>
              <a:ext cx="1120978"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#htSensor: Sensor</a:t>
              </a:r>
            </a:p>
          </p:txBody>
        </p:sp>
        <p:sp>
          <p:nvSpPr>
            <p:cNvPr id="43" name="TextBox 43"/>
            <p:cNvSpPr txBox="1"/>
            <p:nvPr/>
          </p:nvSpPr>
          <p:spPr>
            <a:xfrm>
              <a:off x="1316355" y="2586990"/>
              <a:ext cx="1215390" cy="661988"/>
            </a:xfrm>
            <a:prstGeom prst="rect">
              <a:avLst/>
            </a:prstGeom>
            <a:noFill/>
            <a:ln>
              <a:noFill/>
            </a:ln>
          </p:spPr>
          <p:txBody>
            <a:bodyPr wrap="none" lIns="0" tIns="0" rIns="0" bIns="0" anchor="t" anchorCtr="0">
              <a:spAutoFit/>
            </a:bodyPr>
            <a:lstStyle/>
            <a:p>
              <a:pPr algn="l">
                <a:lnSpc>
                  <a:spcPts val="1275"/>
                </a:lnSpc>
              </a:pPr>
              <a:r>
                <a:rPr lang="en-US" sz="900" dirty="0">
                  <a:solidFill>
                    <a:srgbClr val="1F2937"/>
                  </a:solidFill>
                  <a:latin typeface="+mn-lt"/>
                  <a:ea typeface="+mn-ea"/>
                  <a:cs typeface="+mn-cs"/>
                </a:rPr>
                <a:t>+convert(h: int): int</a:t>
              </a:r>
              <a:br/>
              <a:r>
                <a:rPr lang="en-US" sz="900" dirty="0">
                  <a:solidFill>
                    <a:srgbClr val="1F2937"/>
                  </a:solidFill>
                  <a:latin typeface="+mn-lt"/>
                  <a:ea typeface="+mn-ea"/>
                  <a:cs typeface="+mn-cs"/>
                </a:rPr>
                <a:t>#getHeight(): int</a:t>
              </a:r>
              <a:br/>
              <a:r>
                <a:rPr lang="en-US" sz="900" dirty="0">
                  <a:solidFill>
                    <a:srgbClr val="1F2937"/>
                  </a:solidFill>
                  <a:latin typeface="+mn-lt"/>
                  <a:ea typeface="+mn-ea"/>
                  <a:cs typeface="+mn-cs"/>
                </a:rPr>
                <a:t>+update(): void</a:t>
              </a:r>
              <a:br/>
              <a:r>
                <a:rPr lang="en-US" sz="900" dirty="0">
                  <a:solidFill>
                    <a:srgbClr val="1F2937"/>
                  </a:solidFill>
                  <a:latin typeface="+mn-lt"/>
                  <a:ea typeface="+mn-ea"/>
                  <a:cs typeface="+mn-cs"/>
                </a:rPr>
                <a:t>+display(): void</a:t>
              </a:r>
            </a:p>
          </p:txBody>
        </p:sp>
        <p:sp>
          <p:nvSpPr>
            <p:cNvPr id="44" name="TextBox 44"/>
            <p:cNvSpPr txBox="1"/>
            <p:nvPr/>
          </p:nvSpPr>
          <p:spPr>
            <a:xfrm>
              <a:off x="7055213" y="2085499"/>
              <a:ext cx="862874" cy="190690"/>
            </a:xfrm>
            <a:prstGeom prst="rect">
              <a:avLst/>
            </a:prstGeom>
            <a:noFill/>
            <a:ln>
              <a:noFill/>
            </a:ln>
          </p:spPr>
          <p:txBody>
            <a:bodyPr wrap="none" lIns="0" tIns="0" rIns="0" bIns="0" anchor="t" anchorCtr="0">
              <a:spAutoFit/>
            </a:bodyPr>
            <a:lstStyle/>
            <a:p>
              <a:pPr algn="ctr"/>
              <a:r>
                <a:rPr lang="en-US" sz="980" b="1" i="1" dirty="0">
                  <a:solidFill>
                    <a:srgbClr val="243B53"/>
                  </a:solidFill>
                  <a:latin typeface="+mn-lt"/>
                  <a:ea typeface="+mn-ea"/>
                  <a:cs typeface="+mn-cs"/>
                </a:rPr>
                <a:t>SpeedDisplay</a:t>
              </a:r>
            </a:p>
          </p:txBody>
        </p:sp>
        <p:sp>
          <p:nvSpPr>
            <p:cNvPr id="45" name="TextBox 45"/>
            <p:cNvSpPr txBox="1"/>
            <p:nvPr/>
          </p:nvSpPr>
          <p:spPr>
            <a:xfrm>
              <a:off x="6878955" y="2329815"/>
              <a:ext cx="1120978"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#spSensor: Sensor</a:t>
              </a:r>
            </a:p>
          </p:txBody>
        </p:sp>
        <p:sp>
          <p:nvSpPr>
            <p:cNvPr id="46" name="TextBox 46"/>
            <p:cNvSpPr txBox="1"/>
            <p:nvPr/>
          </p:nvSpPr>
          <p:spPr>
            <a:xfrm>
              <a:off x="6878955" y="2586990"/>
              <a:ext cx="1215390" cy="661988"/>
            </a:xfrm>
            <a:prstGeom prst="rect">
              <a:avLst/>
            </a:prstGeom>
            <a:noFill/>
            <a:ln>
              <a:noFill/>
            </a:ln>
          </p:spPr>
          <p:txBody>
            <a:bodyPr wrap="none" lIns="0" tIns="0" rIns="0" bIns="0" anchor="t" anchorCtr="0">
              <a:spAutoFit/>
            </a:bodyPr>
            <a:lstStyle/>
            <a:p>
              <a:pPr algn="l">
                <a:lnSpc>
                  <a:spcPts val="1275"/>
                </a:lnSpc>
              </a:pPr>
              <a:r>
                <a:rPr lang="en-US" sz="900" dirty="0">
                  <a:solidFill>
                    <a:srgbClr val="1F2937"/>
                  </a:solidFill>
                  <a:latin typeface="+mn-lt"/>
                  <a:ea typeface="+mn-ea"/>
                  <a:cs typeface="+mn-cs"/>
                </a:rPr>
                <a:t>+convert(h: int): int</a:t>
              </a:r>
              <a:br/>
              <a:r>
                <a:rPr lang="en-US" sz="900" dirty="0">
                  <a:solidFill>
                    <a:srgbClr val="1F2937"/>
                  </a:solidFill>
                  <a:latin typeface="+mn-lt"/>
                  <a:ea typeface="+mn-ea"/>
                  <a:cs typeface="+mn-cs"/>
                </a:rPr>
                <a:t>+getSpeed(): int</a:t>
              </a:r>
              <a:br/>
              <a:r>
                <a:rPr lang="en-US" sz="900" dirty="0">
                  <a:solidFill>
                    <a:srgbClr val="1F2937"/>
                  </a:solidFill>
                  <a:latin typeface="+mn-lt"/>
                  <a:ea typeface="+mn-ea"/>
                  <a:cs typeface="+mn-cs"/>
                </a:rPr>
                <a:t>+update(): void</a:t>
              </a:r>
              <a:br/>
              <a:r>
                <a:rPr lang="en-US" sz="900" dirty="0">
                  <a:solidFill>
                    <a:srgbClr val="1F2937"/>
                  </a:solidFill>
                  <a:latin typeface="+mn-lt"/>
                  <a:ea typeface="+mn-ea"/>
                  <a:cs typeface="+mn-cs"/>
                </a:rPr>
                <a:t>+display(): void</a:t>
              </a:r>
            </a:p>
          </p:txBody>
        </p:sp>
        <p:sp>
          <p:nvSpPr>
            <p:cNvPr id="47" name="TextBox 47"/>
            <p:cNvSpPr txBox="1"/>
            <p:nvPr/>
          </p:nvSpPr>
          <p:spPr>
            <a:xfrm>
              <a:off x="1497110" y="3635216"/>
              <a:ext cx="853881" cy="190690"/>
            </a:xfrm>
            <a:prstGeom prst="rect">
              <a:avLst/>
            </a:prstGeom>
            <a:noFill/>
            <a:ln>
              <a:noFill/>
            </a:ln>
          </p:spPr>
          <p:txBody>
            <a:bodyPr wrap="none" lIns="0" tIns="0" rIns="0" bIns="0" anchor="t" anchorCtr="0">
              <a:spAutoFit/>
            </a:bodyPr>
            <a:lstStyle/>
            <a:p>
              <a:pPr algn="ctr"/>
              <a:r>
                <a:rPr lang="en-US" sz="980" b="1" dirty="0">
                  <a:solidFill>
                    <a:srgbClr val="243B53"/>
                  </a:solidFill>
                  <a:latin typeface="+mn-lt"/>
                  <a:ea typeface="+mn-ea"/>
                  <a:cs typeface="+mn-cs"/>
                </a:rPr>
                <a:t>MetricHtDsp</a:t>
              </a:r>
            </a:p>
          </p:txBody>
        </p:sp>
        <p:sp>
          <p:nvSpPr>
            <p:cNvPr id="48" name="TextBox 48"/>
            <p:cNvSpPr txBox="1"/>
            <p:nvPr/>
          </p:nvSpPr>
          <p:spPr>
            <a:xfrm>
              <a:off x="1423988" y="3879532"/>
              <a:ext cx="772820"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-meters: int</a:t>
              </a:r>
            </a:p>
          </p:txBody>
        </p:sp>
        <p:sp>
          <p:nvSpPr>
            <p:cNvPr id="49" name="TextBox 49"/>
            <p:cNvSpPr txBox="1"/>
            <p:nvPr/>
          </p:nvSpPr>
          <p:spPr>
            <a:xfrm>
              <a:off x="1423988" y="4137660"/>
              <a:ext cx="901065" cy="338138"/>
            </a:xfrm>
            <a:prstGeom prst="rect">
              <a:avLst/>
            </a:prstGeom>
            <a:noFill/>
            <a:ln>
              <a:noFill/>
            </a:ln>
          </p:spPr>
          <p:txBody>
            <a:bodyPr wrap="none" lIns="0" tIns="0" rIns="0" bIns="0" anchor="t" anchorCtr="0">
              <a:spAutoFit/>
            </a:bodyPr>
            <a:lstStyle/>
            <a:p>
              <a:pPr algn="l">
                <a:lnSpc>
                  <a:spcPts val="1275"/>
                </a:lnSpc>
              </a:pPr>
              <a:r>
                <a:rPr lang="en-US" sz="900" dirty="0">
                  <a:solidFill>
                    <a:srgbClr val="1F2937"/>
                  </a:solidFill>
                  <a:latin typeface="+mn-lt"/>
                  <a:ea typeface="+mn-ea"/>
                  <a:cs typeface="+mn-cs"/>
                </a:rPr>
                <a:t>+update(): void</a:t>
              </a:r>
              <a:br/>
              <a:r>
                <a:rPr lang="en-US" sz="900" dirty="0">
                  <a:solidFill>
                    <a:srgbClr val="1F2937"/>
                  </a:solidFill>
                  <a:latin typeface="+mn-lt"/>
                  <a:ea typeface="+mn-ea"/>
                  <a:cs typeface="+mn-cs"/>
                </a:rPr>
                <a:t>+display(): void</a:t>
              </a:r>
            </a:p>
          </p:txBody>
        </p:sp>
        <p:sp>
          <p:nvSpPr>
            <p:cNvPr id="50" name="TextBox 50"/>
            <p:cNvSpPr txBox="1"/>
            <p:nvPr/>
          </p:nvSpPr>
          <p:spPr>
            <a:xfrm>
              <a:off x="4389175" y="3635216"/>
              <a:ext cx="632349" cy="190690"/>
            </a:xfrm>
            <a:prstGeom prst="rect">
              <a:avLst/>
            </a:prstGeom>
            <a:noFill/>
            <a:ln>
              <a:noFill/>
            </a:ln>
          </p:spPr>
          <p:txBody>
            <a:bodyPr wrap="none" lIns="0" tIns="0" rIns="0" bIns="0" anchor="t" anchorCtr="0">
              <a:spAutoFit/>
            </a:bodyPr>
            <a:lstStyle/>
            <a:p>
              <a:pPr algn="ctr"/>
              <a:r>
                <a:rPr lang="en-US" sz="980" b="1" dirty="0">
                  <a:solidFill>
                    <a:srgbClr val="243B53"/>
                  </a:solidFill>
                  <a:latin typeface="+mn-lt"/>
                  <a:ea typeface="+mn-ea"/>
                  <a:cs typeface="+mn-cs"/>
                </a:rPr>
                <a:t>EngHtDsp</a:t>
              </a:r>
            </a:p>
          </p:txBody>
        </p:sp>
        <p:sp>
          <p:nvSpPr>
            <p:cNvPr id="51" name="TextBox 51"/>
            <p:cNvSpPr txBox="1"/>
            <p:nvPr/>
          </p:nvSpPr>
          <p:spPr>
            <a:xfrm>
              <a:off x="4205288" y="3879532"/>
              <a:ext cx="615315"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-feet: int</a:t>
              </a:r>
            </a:p>
          </p:txBody>
        </p:sp>
        <p:sp>
          <p:nvSpPr>
            <p:cNvPr id="52" name="TextBox 52"/>
            <p:cNvSpPr txBox="1"/>
            <p:nvPr/>
          </p:nvSpPr>
          <p:spPr>
            <a:xfrm>
              <a:off x="4205288" y="4137660"/>
              <a:ext cx="901065" cy="338138"/>
            </a:xfrm>
            <a:prstGeom prst="rect">
              <a:avLst/>
            </a:prstGeom>
            <a:noFill/>
            <a:ln>
              <a:noFill/>
            </a:ln>
          </p:spPr>
          <p:txBody>
            <a:bodyPr wrap="none" lIns="0" tIns="0" rIns="0" bIns="0" anchor="t" anchorCtr="0">
              <a:spAutoFit/>
            </a:bodyPr>
            <a:lstStyle/>
            <a:p>
              <a:pPr algn="l">
                <a:lnSpc>
                  <a:spcPts val="1275"/>
                </a:lnSpc>
              </a:pPr>
              <a:r>
                <a:rPr lang="en-US" sz="900" dirty="0">
                  <a:solidFill>
                    <a:srgbClr val="1F2937"/>
                  </a:solidFill>
                  <a:latin typeface="+mn-lt"/>
                  <a:ea typeface="+mn-ea"/>
                  <a:cs typeface="+mn-cs"/>
                </a:rPr>
                <a:t>+update(): void</a:t>
              </a:r>
              <a:br/>
              <a:r>
                <a:rPr lang="en-US" sz="900" dirty="0">
                  <a:solidFill>
                    <a:srgbClr val="1F2937"/>
                  </a:solidFill>
                  <a:latin typeface="+mn-lt"/>
                  <a:ea typeface="+mn-ea"/>
                  <a:cs typeface="+mn-cs"/>
                </a:rPr>
                <a:t>+display(): void</a:t>
              </a:r>
            </a:p>
          </p:txBody>
        </p:sp>
        <p:sp>
          <p:nvSpPr>
            <p:cNvPr id="53" name="TextBox 53"/>
            <p:cNvSpPr txBox="1"/>
            <p:nvPr/>
          </p:nvSpPr>
          <p:spPr>
            <a:xfrm>
              <a:off x="6945416" y="3635216"/>
              <a:ext cx="1082468" cy="190690"/>
            </a:xfrm>
            <a:prstGeom prst="rect">
              <a:avLst/>
            </a:prstGeom>
            <a:noFill/>
            <a:ln>
              <a:noFill/>
            </a:ln>
          </p:spPr>
          <p:txBody>
            <a:bodyPr wrap="none" lIns="0" tIns="0" rIns="0" bIns="0" anchor="t" anchorCtr="0">
              <a:spAutoFit/>
            </a:bodyPr>
            <a:lstStyle/>
            <a:p>
              <a:pPr algn="ctr"/>
              <a:r>
                <a:rPr lang="en-US" sz="980" b="1" dirty="0">
                  <a:solidFill>
                    <a:srgbClr val="243B53"/>
                  </a:solidFill>
                  <a:latin typeface="+mn-lt"/>
                  <a:ea typeface="+mn-ea"/>
                  <a:cs typeface="+mn-cs"/>
                </a:rPr>
                <a:t>MetricSpeedDsp</a:t>
              </a:r>
            </a:p>
          </p:txBody>
        </p:sp>
        <p:sp>
          <p:nvSpPr>
            <p:cNvPr id="54" name="TextBox 54"/>
            <p:cNvSpPr txBox="1"/>
            <p:nvPr/>
          </p:nvSpPr>
          <p:spPr>
            <a:xfrm>
              <a:off x="6961822" y="3879532"/>
              <a:ext cx="1116223"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-kilometersPh: int</a:t>
              </a:r>
            </a:p>
          </p:txBody>
        </p:sp>
        <p:sp>
          <p:nvSpPr>
            <p:cNvPr id="55" name="TextBox 55"/>
            <p:cNvSpPr txBox="1"/>
            <p:nvPr/>
          </p:nvSpPr>
          <p:spPr>
            <a:xfrm>
              <a:off x="6961822" y="4137660"/>
              <a:ext cx="901065" cy="338138"/>
            </a:xfrm>
            <a:prstGeom prst="rect">
              <a:avLst/>
            </a:prstGeom>
            <a:noFill/>
            <a:ln>
              <a:noFill/>
            </a:ln>
          </p:spPr>
          <p:txBody>
            <a:bodyPr wrap="none" lIns="0" tIns="0" rIns="0" bIns="0" anchor="t" anchorCtr="0">
              <a:spAutoFit/>
            </a:bodyPr>
            <a:lstStyle/>
            <a:p>
              <a:pPr algn="l">
                <a:lnSpc>
                  <a:spcPts val="1275"/>
                </a:lnSpc>
              </a:pPr>
              <a:r>
                <a:rPr lang="en-US" sz="900" dirty="0">
                  <a:solidFill>
                    <a:srgbClr val="1F2937"/>
                  </a:solidFill>
                  <a:latin typeface="+mn-lt"/>
                  <a:ea typeface="+mn-ea"/>
                  <a:cs typeface="+mn-cs"/>
                </a:rPr>
                <a:t>+update(): void</a:t>
              </a:r>
              <a:br/>
              <a:r>
                <a:rPr lang="en-US" sz="900" dirty="0">
                  <a:solidFill>
                    <a:srgbClr val="1F2937"/>
                  </a:solidFill>
                  <a:latin typeface="+mn-lt"/>
                  <a:ea typeface="+mn-ea"/>
                  <a:cs typeface="+mn-cs"/>
                </a:rPr>
                <a:t>+display(): void</a:t>
              </a:r>
            </a:p>
          </p:txBody>
        </p:sp>
        <p:sp>
          <p:nvSpPr>
            <p:cNvPr id="56" name="TextBox 56"/>
            <p:cNvSpPr txBox="1"/>
            <p:nvPr/>
          </p:nvSpPr>
          <p:spPr>
            <a:xfrm>
              <a:off x="9837493" y="3635216"/>
              <a:ext cx="860914" cy="190690"/>
            </a:xfrm>
            <a:prstGeom prst="rect">
              <a:avLst/>
            </a:prstGeom>
            <a:noFill/>
            <a:ln>
              <a:noFill/>
            </a:ln>
          </p:spPr>
          <p:txBody>
            <a:bodyPr wrap="none" lIns="0" tIns="0" rIns="0" bIns="0" anchor="t" anchorCtr="0">
              <a:spAutoFit/>
            </a:bodyPr>
            <a:lstStyle/>
            <a:p>
              <a:pPr algn="ctr"/>
              <a:r>
                <a:rPr lang="en-US" sz="980" b="1" dirty="0">
                  <a:solidFill>
                    <a:srgbClr val="243B53"/>
                  </a:solidFill>
                  <a:latin typeface="+mn-lt"/>
                  <a:ea typeface="+mn-ea"/>
                  <a:cs typeface="+mn-cs"/>
                </a:rPr>
                <a:t>EngSpeedDsp</a:t>
              </a:r>
            </a:p>
          </p:txBody>
        </p:sp>
        <p:sp>
          <p:nvSpPr>
            <p:cNvPr id="57" name="TextBox 57"/>
            <p:cNvSpPr txBox="1"/>
            <p:nvPr/>
          </p:nvSpPr>
          <p:spPr>
            <a:xfrm>
              <a:off x="9767888" y="3879532"/>
              <a:ext cx="783233"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-milesPh: int</a:t>
              </a:r>
            </a:p>
          </p:txBody>
        </p:sp>
        <p:sp>
          <p:nvSpPr>
            <p:cNvPr id="58" name="TextBox 58"/>
            <p:cNvSpPr txBox="1"/>
            <p:nvPr/>
          </p:nvSpPr>
          <p:spPr>
            <a:xfrm>
              <a:off x="9767888" y="4137660"/>
              <a:ext cx="901065" cy="338138"/>
            </a:xfrm>
            <a:prstGeom prst="rect">
              <a:avLst/>
            </a:prstGeom>
            <a:noFill/>
            <a:ln>
              <a:noFill/>
            </a:ln>
          </p:spPr>
          <p:txBody>
            <a:bodyPr wrap="none" lIns="0" tIns="0" rIns="0" bIns="0" anchor="t" anchorCtr="0">
              <a:spAutoFit/>
            </a:bodyPr>
            <a:lstStyle/>
            <a:p>
              <a:pPr algn="l">
                <a:lnSpc>
                  <a:spcPts val="1275"/>
                </a:lnSpc>
              </a:pPr>
              <a:r>
                <a:rPr lang="en-US" sz="900" dirty="0">
                  <a:solidFill>
                    <a:srgbClr val="1F2937"/>
                  </a:solidFill>
                  <a:latin typeface="+mn-lt"/>
                  <a:ea typeface="+mn-ea"/>
                  <a:cs typeface="+mn-cs"/>
                </a:rPr>
                <a:t>+update(): void</a:t>
              </a:r>
              <a:br/>
              <a:r>
                <a:rPr lang="en-US" sz="900" dirty="0">
                  <a:solidFill>
                    <a:srgbClr val="1F2937"/>
                  </a:solidFill>
                  <a:latin typeface="+mn-lt"/>
                  <a:ea typeface="+mn-ea"/>
                  <a:cs typeface="+mn-cs"/>
                </a:rPr>
                <a:t>+display(): void</a:t>
              </a:r>
            </a:p>
          </p:txBody>
        </p:sp>
      </p:grpSp>
      <p:grpSp>
        <p:nvGrpSpPr>
          <p:cNvPr id="66" name="c1-callout-2"/>
          <p:cNvGrpSpPr/>
          <p:nvPr/>
        </p:nvGrpSpPr>
        <p:grpSpPr>
          <a:xfrm>
            <a:off x="533400" y="4910138"/>
            <a:ext cx="11125200" cy="777240"/>
            <a:chOff x="533400" y="4910138"/>
            <a:chExt cx="11125200" cy="777240"/>
          </a:xfrm>
        </p:grpSpPr>
        <p:sp>
          <p:nvSpPr>
            <p:cNvPr id="60" name="Rectangle 60"/>
            <p:cNvSpPr/>
            <p:nvPr/>
          </p:nvSpPr>
          <p:spPr>
            <a:xfrm>
              <a:off x="533400" y="4910138"/>
              <a:ext cx="11125200" cy="777240"/>
            </a:xfrm>
            <a:prstGeom prst="roundRect">
              <a:avLst>
                <a:gd name="adj" fmla="val 14706"/>
              </a:avLst>
            </a:prstGeom>
            <a:solidFill>
              <a:srgbClr val="F4F6FB"/>
            </a:solidFill>
            <a:ln>
              <a:noFill/>
            </a:ln>
          </p:spPr>
        </p:sp>
        <p:grpSp>
          <p:nvGrpSpPr>
            <p:cNvPr id="64" name="Group 64"/>
            <p:cNvGrpSpPr/>
            <p:nvPr/>
          </p:nvGrpSpPr>
          <p:grpSpPr>
            <a:xfrm>
              <a:off x="738188" y="5198745"/>
              <a:ext cx="200026" cy="200026"/>
              <a:chOff x="738188" y="5198745"/>
              <a:chExt cx="200026" cy="200026"/>
            </a:xfrm>
          </p:grpSpPr>
          <p:sp>
            <p:nvSpPr>
              <p:cNvPr id="61" name="Freeform 61"/>
              <p:cNvSpPr/>
              <p:nvPr/>
            </p:nvSpPr>
            <p:spPr>
              <a:xfrm>
                <a:off x="738188" y="519874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2" name="Freeform 62"/>
              <p:cNvSpPr/>
              <p:nvPr/>
            </p:nvSpPr>
            <p:spPr>
              <a:xfrm>
                <a:off x="838200" y="526542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3" name="Freeform 63"/>
              <p:cNvSpPr/>
              <p:nvPr/>
            </p:nvSpPr>
            <p:spPr>
              <a:xfrm>
                <a:off x="827088" y="529875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5" name="TextBox 65"/>
            <p:cNvSpPr txBox="1"/>
            <p:nvPr/>
          </p:nvSpPr>
          <p:spPr>
            <a:xfrm>
              <a:off x="1040511" y="5067776"/>
              <a:ext cx="9931825"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1F2937"/>
                  </a:solidFill>
                  <a:latin typeface="+mn-lt"/>
                  <a:ea typeface="+mn-ea"/>
                  <a:cs typeface="+mn-cs"/>
                </a:rPr>
                <a:t xml:space="preserve">更正：原课件 MetricSpeedDsp 的属性写作 </a:t>
              </a:r>
              <a:r>
                <a:rPr lang="en-US" sz="1420" b="1" dirty="0">
                  <a:solidFill>
                    <a:srgbClr val="B42318"/>
                  </a:solidFill>
                  <a:latin typeface="+mn-lt"/>
                  <a:ea typeface="+mn-ea"/>
                  <a:cs typeface="+mn-cs"/>
                </a:rPr>
                <a:t>kelometersPh</a:t>
              </a:r>
              <a:r>
                <a:rPr lang="zh-CN" sz="1420" dirty="0">
                  <a:solidFill>
                    <a:srgbClr val="1F2937"/>
                  </a:solidFill>
                  <a:latin typeface="+mn-lt"/>
                  <a:ea typeface="+mn-ea"/>
                  <a:cs typeface="+mn-cs"/>
                </a:rPr>
                <a:t xml:space="preserve">，应为 </a:t>
              </a:r>
              <a:r>
                <a:rPr lang="en-US" sz="1420" b="1" dirty="0">
                  <a:solidFill>
                    <a:srgbClr val="0F7A68"/>
                  </a:solidFill>
                  <a:latin typeface="+mn-lt"/>
                  <a:ea typeface="+mn-ea"/>
                  <a:cs typeface="+mn-cs"/>
                </a:rPr>
                <a:t>kilometersPh</a:t>
              </a:r>
              <a:r>
                <a:rPr lang="zh-CN" sz="1420" dirty="0">
                  <a:solidFill>
                    <a:srgbClr val="1F2937"/>
                  </a:solidFill>
                  <a:latin typeface="+mn-lt"/>
                  <a:ea typeface="+mn-ea"/>
                  <a:cs typeface="+mn-cs"/>
                </a:rPr>
                <a:t>；EngSpeedDsp 在两页上分别写作 milePh</a:t>
              </a:r>
              <a:br/>
              <a:r>
                <a:rPr lang="zh-CN" sz="1420" dirty="0">
                  <a:solidFill>
                    <a:srgbClr val="1F2937"/>
                  </a:solidFill>
                  <a:latin typeface="+mn-lt"/>
                  <a:ea typeface="+mn-ea"/>
                  <a:cs typeface="+mn-cs"/>
                </a:rPr>
                <a:t>与 milesPh，此处统一为 milesPh。</a:t>
              </a:r>
            </a:p>
          </p:txBody>
        </p:sp>
      </p:grpSp>
      <p:grpSp>
        <p:nvGrpSpPr>
          <p:cNvPr id="72" name="takeaway"/>
          <p:cNvGrpSpPr/>
          <p:nvPr/>
        </p:nvGrpSpPr>
        <p:grpSpPr>
          <a:xfrm>
            <a:off x="533400" y="5858828"/>
            <a:ext cx="11125200" cy="503872"/>
            <a:chOff x="533400" y="5858828"/>
            <a:chExt cx="11125200" cy="503872"/>
          </a:xfrm>
        </p:grpSpPr>
        <p:sp>
          <p:nvSpPr>
            <p:cNvPr id="67" name="Rectangle 67"/>
            <p:cNvSpPr/>
            <p:nvPr/>
          </p:nvSpPr>
          <p:spPr>
            <a:xfrm>
              <a:off x="533400" y="5858828"/>
              <a:ext cx="11125200" cy="503872"/>
            </a:xfrm>
            <a:prstGeom prst="roundRect">
              <a:avLst>
                <a:gd name="adj" fmla="val 22684"/>
              </a:avLst>
            </a:prstGeom>
            <a:solidFill>
              <a:srgbClr val="334E68"/>
            </a:solidFill>
            <a:ln>
              <a:noFill/>
            </a:ln>
          </p:spPr>
        </p:sp>
        <p:grpSp>
          <p:nvGrpSpPr>
            <p:cNvPr id="70" name="Group 70"/>
            <p:cNvGrpSpPr/>
            <p:nvPr/>
          </p:nvGrpSpPr>
          <p:grpSpPr>
            <a:xfrm>
              <a:off x="738188" y="6011230"/>
              <a:ext cx="200023" cy="200023"/>
              <a:chOff x="738188" y="6011230"/>
              <a:chExt cx="200023" cy="200023"/>
            </a:xfrm>
          </p:grpSpPr>
          <p:sp>
            <p:nvSpPr>
              <p:cNvPr id="68" name="Freeform 68"/>
              <p:cNvSpPr/>
              <p:nvPr/>
            </p:nvSpPr>
            <p:spPr>
              <a:xfrm>
                <a:off x="738188" y="601123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69" name="Freeform 69"/>
              <p:cNvSpPr/>
              <p:nvPr/>
            </p:nvSpPr>
            <p:spPr>
              <a:xfrm>
                <a:off x="871538" y="607790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1" name="TextBox 71"/>
            <p:cNvSpPr txBox="1"/>
            <p:nvPr/>
          </p:nvSpPr>
          <p:spPr>
            <a:xfrm>
              <a:off x="1040511" y="6011704"/>
              <a:ext cx="8425536"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两级拆分之后，新增一种单位只要加一个子类，新增一种被测量只要加一条继承链，都不用改老类。</a:t>
              </a:r>
            </a:p>
          </p:txBody>
        </p:sp>
      </p:grpSp>
      <p:grpSp>
        <p:nvGrpSpPr>
          <p:cNvPr id="75" name="footer"/>
          <p:cNvGrpSpPr/>
          <p:nvPr/>
        </p:nvGrpSpPr>
        <p:grpSpPr>
          <a:xfrm>
            <a:off x="528447" y="6581299"/>
            <a:ext cx="11135106" cy="190690"/>
            <a:chOff x="528447" y="6581299"/>
            <a:chExt cx="11135106" cy="190690"/>
          </a:xfrm>
        </p:grpSpPr>
        <p:sp>
          <p:nvSpPr>
            <p:cNvPr id="73" name="TextBox 73"/>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74" name="TextBox 7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2660332" cy="266700"/>
            </a:xfrm>
            <a:prstGeom prst="roundRect">
              <a:avLst>
                <a:gd name="adj" fmla="val 50000"/>
              </a:avLst>
            </a:prstGeom>
            <a:solidFill>
              <a:srgbClr val="E7EDF3"/>
            </a:solidFill>
            <a:ln>
              <a:noFill/>
            </a:ln>
          </p:spPr>
        </p:sp>
        <p:sp>
          <p:nvSpPr>
            <p:cNvPr id="3" name="TextBox 3"/>
            <p:cNvSpPr txBox="1"/>
            <p:nvPr/>
          </p:nvSpPr>
          <p:spPr>
            <a:xfrm>
              <a:off x="570203" y="407194"/>
              <a:ext cx="25857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SOLID 五原则</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验证一下可扩展性：加一个机外温度显示</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399" y="1550194"/>
            <a:ext cx="11076381" cy="308039"/>
            <a:chOff x="525399" y="1550194"/>
            <a:chExt cx="11076381" cy="308039"/>
          </a:xfrm>
        </p:grpSpPr>
        <p:sp>
          <p:nvSpPr>
            <p:cNvPr id="7" name="TextBox 7"/>
            <p:cNvSpPr txBox="1"/>
            <p:nvPr/>
          </p:nvSpPr>
          <p:spPr>
            <a:xfrm>
              <a:off x="525399" y="1550194"/>
              <a:ext cx="11076381" cy="308039"/>
            </a:xfrm>
            <a:prstGeom prst="rect">
              <a:avLst/>
            </a:prstGeom>
            <a:noFill/>
            <a:ln>
              <a:noFill/>
            </a:ln>
          </p:spPr>
          <p:txBody>
            <a:bodyPr wrap="none" lIns="0" tIns="0" rIns="0" bIns="0" anchor="t" anchorCtr="0">
              <a:spAutoFit/>
            </a:bodyPr>
            <a:lstStyle/>
            <a:p>
              <a:pPr algn="l"/>
              <a:r>
                <a:rPr lang="zh-CN" sz="1580" dirty="0">
                  <a:solidFill>
                    <a:srgbClr val="5B6475"/>
                  </a:solidFill>
                  <a:latin typeface="+mn-lt"/>
                  <a:ea typeface="+mn-ea"/>
                  <a:cs typeface="+mn-cs"/>
                </a:rPr>
                <a:t>如果要增加显示机外温度的功能，只需要加一条新的显示类层次和一个新的传感器子类，已有的六个类一行都不用改。</a:t>
              </a:r>
            </a:p>
          </p:txBody>
        </p:sp>
      </p:grpSp>
      <p:grpSp>
        <p:nvGrpSpPr>
          <p:cNvPr id="49" name="c1-uml-1"/>
          <p:cNvGrpSpPr/>
          <p:nvPr/>
        </p:nvGrpSpPr>
        <p:grpSpPr>
          <a:xfrm>
            <a:off x="1007745" y="2422208"/>
            <a:ext cx="5459648" cy="2588894"/>
            <a:chOff x="1007745" y="2422208"/>
            <a:chExt cx="5459648" cy="2588894"/>
          </a:xfrm>
        </p:grpSpPr>
        <p:sp>
          <p:nvSpPr>
            <p:cNvPr id="9" name="Freeform 9"/>
            <p:cNvSpPr/>
            <p:nvPr/>
          </p:nvSpPr>
          <p:spPr>
            <a:xfrm>
              <a:off x="1483995" y="3343275"/>
              <a:ext cx="95250" cy="871538"/>
            </a:xfrm>
            <a:custGeom>
              <a:avLst/>
              <a:gdLst/>
              <a:ahLst/>
              <a:cxnLst/>
              <a:rect l="l" t="t" r="r" b="b"/>
              <a:pathLst>
                <a:path w="95250" h="871538">
                  <a:moveTo>
                    <a:pt x="95250" y="871538"/>
                  </a:moveTo>
                  <a:lnTo>
                    <a:pt x="95250" y="373380"/>
                  </a:lnTo>
                  <a:lnTo>
                    <a:pt x="0" y="373380"/>
                  </a:lnTo>
                  <a:lnTo>
                    <a:pt x="0" y="0"/>
                  </a:lnTo>
                </a:path>
              </a:pathLst>
            </a:custGeom>
            <a:noFill/>
            <a:ln w="15240">
              <a:solidFill>
                <a:srgbClr val="1F2937"/>
              </a:solidFill>
            </a:ln>
          </p:spPr>
        </p:sp>
        <p:sp>
          <p:nvSpPr>
            <p:cNvPr id="10" name="Freeform 10"/>
            <p:cNvSpPr/>
            <p:nvPr/>
          </p:nvSpPr>
          <p:spPr>
            <a:xfrm>
              <a:off x="1410652" y="3217545"/>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11" name="Freeform 11"/>
            <p:cNvSpPr/>
            <p:nvPr/>
          </p:nvSpPr>
          <p:spPr>
            <a:xfrm>
              <a:off x="1674495" y="3343275"/>
              <a:ext cx="1996440" cy="871538"/>
            </a:xfrm>
            <a:custGeom>
              <a:avLst/>
              <a:gdLst/>
              <a:ahLst/>
              <a:cxnLst/>
              <a:rect l="l" t="t" r="r" b="b"/>
              <a:pathLst>
                <a:path w="1996440" h="871538">
                  <a:moveTo>
                    <a:pt x="1996440" y="871538"/>
                  </a:moveTo>
                  <a:lnTo>
                    <a:pt x="1996440" y="373380"/>
                  </a:lnTo>
                  <a:lnTo>
                    <a:pt x="0" y="373380"/>
                  </a:lnTo>
                  <a:lnTo>
                    <a:pt x="0" y="0"/>
                  </a:lnTo>
                </a:path>
              </a:pathLst>
            </a:custGeom>
            <a:noFill/>
            <a:ln w="15240">
              <a:solidFill>
                <a:srgbClr val="1F2937"/>
              </a:solidFill>
            </a:ln>
          </p:spPr>
        </p:sp>
        <p:sp>
          <p:nvSpPr>
            <p:cNvPr id="12" name="Freeform 12"/>
            <p:cNvSpPr/>
            <p:nvPr/>
          </p:nvSpPr>
          <p:spPr>
            <a:xfrm>
              <a:off x="1601152" y="3217545"/>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13" name="Freeform 13"/>
            <p:cNvSpPr/>
            <p:nvPr/>
          </p:nvSpPr>
          <p:spPr>
            <a:xfrm>
              <a:off x="2150745" y="2820352"/>
              <a:ext cx="2917508" cy="9525"/>
            </a:xfrm>
            <a:custGeom>
              <a:avLst/>
              <a:gdLst/>
              <a:ahLst/>
              <a:cxnLst/>
              <a:rect l="l" t="t" r="r" b="b"/>
              <a:pathLst>
                <a:path w="2917508" h="9525">
                  <a:moveTo>
                    <a:pt x="0" y="0"/>
                  </a:moveTo>
                  <a:lnTo>
                    <a:pt x="2917508" y="0"/>
                  </a:lnTo>
                </a:path>
              </a:pathLst>
            </a:custGeom>
            <a:noFill/>
            <a:ln w="15240">
              <a:solidFill>
                <a:srgbClr val="1F2937"/>
              </a:solidFill>
            </a:ln>
          </p:spPr>
        </p:sp>
        <p:sp>
          <p:nvSpPr>
            <p:cNvPr id="14" name="Freeform 14"/>
            <p:cNvSpPr/>
            <p:nvPr/>
          </p:nvSpPr>
          <p:spPr>
            <a:xfrm>
              <a:off x="4963478" y="2762250"/>
              <a:ext cx="104775" cy="115253"/>
            </a:xfrm>
            <a:custGeom>
              <a:avLst/>
              <a:gdLst/>
              <a:ahLst/>
              <a:cxnLst/>
              <a:rect l="l" t="t" r="r" b="b"/>
              <a:pathLst>
                <a:path w="104775" h="115253">
                  <a:moveTo>
                    <a:pt x="0" y="115253"/>
                  </a:moveTo>
                  <a:lnTo>
                    <a:pt x="104775" y="58103"/>
                  </a:lnTo>
                  <a:lnTo>
                    <a:pt x="0" y="0"/>
                  </a:lnTo>
                </a:path>
              </a:pathLst>
            </a:custGeom>
            <a:noFill/>
            <a:ln w="15240">
              <a:solidFill>
                <a:srgbClr val="1F2937"/>
              </a:solidFill>
            </a:ln>
          </p:spPr>
        </p:sp>
        <p:sp>
          <p:nvSpPr>
            <p:cNvPr id="15" name="Freeform 15"/>
            <p:cNvSpPr/>
            <p:nvPr/>
          </p:nvSpPr>
          <p:spPr>
            <a:xfrm>
              <a:off x="5763578" y="3329940"/>
              <a:ext cx="9525" cy="709612"/>
            </a:xfrm>
            <a:custGeom>
              <a:avLst/>
              <a:gdLst/>
              <a:ahLst/>
              <a:cxnLst/>
              <a:rect l="l" t="t" r="r" b="b"/>
              <a:pathLst>
                <a:path w="9525" h="709612">
                  <a:moveTo>
                    <a:pt x="0" y="709612"/>
                  </a:moveTo>
                  <a:lnTo>
                    <a:pt x="0" y="0"/>
                  </a:lnTo>
                </a:path>
              </a:pathLst>
            </a:custGeom>
            <a:noFill/>
            <a:ln w="15240">
              <a:solidFill>
                <a:srgbClr val="1F2937"/>
              </a:solidFill>
              <a:custDash>
                <a:ds d="375000" sp="250000"/>
              </a:custDash>
            </a:ln>
          </p:spPr>
        </p:sp>
        <p:sp>
          <p:nvSpPr>
            <p:cNvPr id="16" name="Freeform 16"/>
            <p:cNvSpPr/>
            <p:nvPr/>
          </p:nvSpPr>
          <p:spPr>
            <a:xfrm>
              <a:off x="5690235" y="3204210"/>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17" name="Rectangle 17"/>
            <p:cNvSpPr/>
            <p:nvPr/>
          </p:nvSpPr>
          <p:spPr>
            <a:xfrm>
              <a:off x="1007745" y="2422208"/>
              <a:ext cx="1143000" cy="795338"/>
            </a:xfrm>
            <a:prstGeom prst="rect">
              <a:avLst/>
            </a:prstGeom>
            <a:solidFill>
              <a:srgbClr val="FFFFFF"/>
            </a:solidFill>
            <a:ln w="14288">
              <a:solidFill>
                <a:srgbClr val="334E68"/>
              </a:solidFill>
            </a:ln>
          </p:spPr>
        </p:sp>
        <p:sp>
          <p:nvSpPr>
            <p:cNvPr id="18" name="Rectangle 18"/>
            <p:cNvSpPr/>
            <p:nvPr/>
          </p:nvSpPr>
          <p:spPr>
            <a:xfrm>
              <a:off x="1015365" y="2429828"/>
              <a:ext cx="1128712" cy="245745"/>
            </a:xfrm>
            <a:prstGeom prst="rect">
              <a:avLst/>
            </a:prstGeom>
            <a:solidFill>
              <a:srgbClr val="334E68"/>
            </a:solidFill>
            <a:ln>
              <a:noFill/>
            </a:ln>
          </p:spPr>
        </p:sp>
        <p:sp>
          <p:nvSpPr>
            <p:cNvPr id="19" name="Rectangle 19"/>
            <p:cNvSpPr/>
            <p:nvPr/>
          </p:nvSpPr>
          <p:spPr>
            <a:xfrm>
              <a:off x="1007745" y="2670810"/>
              <a:ext cx="1143000" cy="9525"/>
            </a:xfrm>
            <a:prstGeom prst="rect">
              <a:avLst/>
            </a:prstGeom>
            <a:solidFill>
              <a:srgbClr val="334E68"/>
            </a:solidFill>
            <a:ln>
              <a:noFill/>
            </a:ln>
          </p:spPr>
        </p:sp>
        <p:sp>
          <p:nvSpPr>
            <p:cNvPr id="20" name="Rectangle 20"/>
            <p:cNvSpPr/>
            <p:nvPr/>
          </p:nvSpPr>
          <p:spPr>
            <a:xfrm>
              <a:off x="1007745" y="2766060"/>
              <a:ext cx="1143000" cy="9525"/>
            </a:xfrm>
            <a:prstGeom prst="rect">
              <a:avLst/>
            </a:prstGeom>
            <a:solidFill>
              <a:srgbClr val="334E68"/>
            </a:solidFill>
            <a:ln>
              <a:noFill/>
            </a:ln>
          </p:spPr>
        </p:sp>
        <p:sp>
          <p:nvSpPr>
            <p:cNvPr id="21" name="Rectangle 21"/>
            <p:cNvSpPr/>
            <p:nvPr/>
          </p:nvSpPr>
          <p:spPr>
            <a:xfrm>
              <a:off x="1007745" y="4214812"/>
              <a:ext cx="1143000" cy="620078"/>
            </a:xfrm>
            <a:prstGeom prst="rect">
              <a:avLst/>
            </a:prstGeom>
            <a:solidFill>
              <a:srgbClr val="FFFFFF"/>
            </a:solidFill>
            <a:ln w="14288">
              <a:solidFill>
                <a:srgbClr val="334E68"/>
              </a:solidFill>
            </a:ln>
          </p:spPr>
        </p:sp>
        <p:sp>
          <p:nvSpPr>
            <p:cNvPr id="22" name="Rectangle 22"/>
            <p:cNvSpPr/>
            <p:nvPr/>
          </p:nvSpPr>
          <p:spPr>
            <a:xfrm>
              <a:off x="1015365" y="4222432"/>
              <a:ext cx="1128712" cy="245745"/>
            </a:xfrm>
            <a:prstGeom prst="rect">
              <a:avLst/>
            </a:prstGeom>
            <a:solidFill>
              <a:srgbClr val="334E68"/>
            </a:solidFill>
            <a:ln>
              <a:noFill/>
            </a:ln>
          </p:spPr>
        </p:sp>
        <p:sp>
          <p:nvSpPr>
            <p:cNvPr id="23" name="Rectangle 23"/>
            <p:cNvSpPr/>
            <p:nvPr/>
          </p:nvSpPr>
          <p:spPr>
            <a:xfrm>
              <a:off x="1007745" y="4463415"/>
              <a:ext cx="1143000" cy="9525"/>
            </a:xfrm>
            <a:prstGeom prst="rect">
              <a:avLst/>
            </a:prstGeom>
            <a:solidFill>
              <a:srgbClr val="334E68"/>
            </a:solidFill>
            <a:ln>
              <a:noFill/>
            </a:ln>
          </p:spPr>
        </p:sp>
        <p:sp>
          <p:nvSpPr>
            <p:cNvPr id="24" name="Rectangle 24"/>
            <p:cNvSpPr/>
            <p:nvPr/>
          </p:nvSpPr>
          <p:spPr>
            <a:xfrm>
              <a:off x="1007745" y="4558665"/>
              <a:ext cx="1143000" cy="9525"/>
            </a:xfrm>
            <a:prstGeom prst="rect">
              <a:avLst/>
            </a:prstGeom>
            <a:solidFill>
              <a:srgbClr val="334E68"/>
            </a:solidFill>
            <a:ln>
              <a:noFill/>
            </a:ln>
          </p:spPr>
        </p:sp>
        <p:sp>
          <p:nvSpPr>
            <p:cNvPr id="25" name="Rectangle 25"/>
            <p:cNvSpPr/>
            <p:nvPr/>
          </p:nvSpPr>
          <p:spPr>
            <a:xfrm>
              <a:off x="3099435" y="4214812"/>
              <a:ext cx="1143000" cy="620078"/>
            </a:xfrm>
            <a:prstGeom prst="rect">
              <a:avLst/>
            </a:prstGeom>
            <a:solidFill>
              <a:srgbClr val="FFFFFF"/>
            </a:solidFill>
            <a:ln w="14288">
              <a:solidFill>
                <a:srgbClr val="334E68"/>
              </a:solidFill>
            </a:ln>
          </p:spPr>
        </p:sp>
        <p:sp>
          <p:nvSpPr>
            <p:cNvPr id="26" name="Rectangle 26"/>
            <p:cNvSpPr/>
            <p:nvPr/>
          </p:nvSpPr>
          <p:spPr>
            <a:xfrm>
              <a:off x="3107055" y="4222432"/>
              <a:ext cx="1128712" cy="245745"/>
            </a:xfrm>
            <a:prstGeom prst="rect">
              <a:avLst/>
            </a:prstGeom>
            <a:solidFill>
              <a:srgbClr val="334E68"/>
            </a:solidFill>
            <a:ln>
              <a:noFill/>
            </a:ln>
          </p:spPr>
        </p:sp>
        <p:sp>
          <p:nvSpPr>
            <p:cNvPr id="27" name="Rectangle 27"/>
            <p:cNvSpPr/>
            <p:nvPr/>
          </p:nvSpPr>
          <p:spPr>
            <a:xfrm>
              <a:off x="3099435" y="4463415"/>
              <a:ext cx="1143000" cy="9525"/>
            </a:xfrm>
            <a:prstGeom prst="rect">
              <a:avLst/>
            </a:prstGeom>
            <a:solidFill>
              <a:srgbClr val="334E68"/>
            </a:solidFill>
            <a:ln>
              <a:noFill/>
            </a:ln>
          </p:spPr>
        </p:sp>
        <p:sp>
          <p:nvSpPr>
            <p:cNvPr id="28" name="Rectangle 28"/>
            <p:cNvSpPr/>
            <p:nvPr/>
          </p:nvSpPr>
          <p:spPr>
            <a:xfrm>
              <a:off x="3099435" y="4558665"/>
              <a:ext cx="1143000" cy="9525"/>
            </a:xfrm>
            <a:prstGeom prst="rect">
              <a:avLst/>
            </a:prstGeom>
            <a:solidFill>
              <a:srgbClr val="334E68"/>
            </a:solidFill>
            <a:ln>
              <a:noFill/>
            </a:ln>
          </p:spPr>
        </p:sp>
        <p:sp>
          <p:nvSpPr>
            <p:cNvPr id="29" name="Rectangle 29"/>
            <p:cNvSpPr/>
            <p:nvPr/>
          </p:nvSpPr>
          <p:spPr>
            <a:xfrm>
              <a:off x="5068252" y="2435542"/>
              <a:ext cx="1390650" cy="768668"/>
            </a:xfrm>
            <a:prstGeom prst="rect">
              <a:avLst/>
            </a:prstGeom>
            <a:solidFill>
              <a:srgbClr val="FFFFFF"/>
            </a:solidFill>
            <a:ln w="14288">
              <a:solidFill>
                <a:srgbClr val="334E68"/>
              </a:solidFill>
            </a:ln>
          </p:spPr>
        </p:sp>
        <p:sp>
          <p:nvSpPr>
            <p:cNvPr id="30" name="Rectangle 30"/>
            <p:cNvSpPr/>
            <p:nvPr/>
          </p:nvSpPr>
          <p:spPr>
            <a:xfrm>
              <a:off x="5074920" y="2443162"/>
              <a:ext cx="1376362" cy="394335"/>
            </a:xfrm>
            <a:prstGeom prst="rect">
              <a:avLst/>
            </a:prstGeom>
            <a:solidFill>
              <a:srgbClr val="E7EDF3"/>
            </a:solidFill>
            <a:ln>
              <a:noFill/>
            </a:ln>
          </p:spPr>
        </p:sp>
        <p:sp>
          <p:nvSpPr>
            <p:cNvPr id="31" name="Rectangle 31"/>
            <p:cNvSpPr/>
            <p:nvPr/>
          </p:nvSpPr>
          <p:spPr>
            <a:xfrm>
              <a:off x="5068252" y="2832735"/>
              <a:ext cx="1390650" cy="9525"/>
            </a:xfrm>
            <a:prstGeom prst="rect">
              <a:avLst/>
            </a:prstGeom>
            <a:solidFill>
              <a:srgbClr val="334E68"/>
            </a:solidFill>
            <a:ln>
              <a:noFill/>
            </a:ln>
          </p:spPr>
        </p:sp>
        <p:sp>
          <p:nvSpPr>
            <p:cNvPr id="32" name="Rectangle 32"/>
            <p:cNvSpPr/>
            <p:nvPr/>
          </p:nvSpPr>
          <p:spPr>
            <a:xfrm>
              <a:off x="5068252" y="2927985"/>
              <a:ext cx="1390650" cy="9525"/>
            </a:xfrm>
            <a:prstGeom prst="rect">
              <a:avLst/>
            </a:prstGeom>
            <a:solidFill>
              <a:srgbClr val="334E68"/>
            </a:solidFill>
            <a:ln>
              <a:noFill/>
            </a:ln>
          </p:spPr>
        </p:sp>
        <p:sp>
          <p:nvSpPr>
            <p:cNvPr id="33" name="Rectangle 33"/>
            <p:cNvSpPr/>
            <p:nvPr/>
          </p:nvSpPr>
          <p:spPr>
            <a:xfrm>
              <a:off x="5068252" y="4039552"/>
              <a:ext cx="1390650" cy="971550"/>
            </a:xfrm>
            <a:prstGeom prst="rect">
              <a:avLst/>
            </a:prstGeom>
            <a:solidFill>
              <a:srgbClr val="FFFFFF"/>
            </a:solidFill>
            <a:ln w="14288">
              <a:solidFill>
                <a:srgbClr val="334E68"/>
              </a:solidFill>
            </a:ln>
          </p:spPr>
        </p:sp>
        <p:sp>
          <p:nvSpPr>
            <p:cNvPr id="34" name="Rectangle 34"/>
            <p:cNvSpPr/>
            <p:nvPr/>
          </p:nvSpPr>
          <p:spPr>
            <a:xfrm>
              <a:off x="5074920" y="4046220"/>
              <a:ext cx="1376362" cy="245745"/>
            </a:xfrm>
            <a:prstGeom prst="rect">
              <a:avLst/>
            </a:prstGeom>
            <a:solidFill>
              <a:srgbClr val="334E68"/>
            </a:solidFill>
            <a:ln>
              <a:noFill/>
            </a:ln>
          </p:spPr>
        </p:sp>
        <p:sp>
          <p:nvSpPr>
            <p:cNvPr id="35" name="Rectangle 35"/>
            <p:cNvSpPr/>
            <p:nvPr/>
          </p:nvSpPr>
          <p:spPr>
            <a:xfrm>
              <a:off x="5068252" y="4288155"/>
              <a:ext cx="1390650" cy="9525"/>
            </a:xfrm>
            <a:prstGeom prst="rect">
              <a:avLst/>
            </a:prstGeom>
            <a:solidFill>
              <a:srgbClr val="334E68"/>
            </a:solidFill>
            <a:ln>
              <a:noFill/>
            </a:ln>
          </p:spPr>
        </p:sp>
        <p:sp>
          <p:nvSpPr>
            <p:cNvPr id="36" name="Rectangle 36"/>
            <p:cNvSpPr/>
            <p:nvPr/>
          </p:nvSpPr>
          <p:spPr>
            <a:xfrm>
              <a:off x="5068252" y="4558665"/>
              <a:ext cx="1390650" cy="9525"/>
            </a:xfrm>
            <a:prstGeom prst="rect">
              <a:avLst/>
            </a:prstGeom>
            <a:solidFill>
              <a:srgbClr val="334E68"/>
            </a:solidFill>
            <a:ln>
              <a:noFill/>
            </a:ln>
          </p:spPr>
        </p:sp>
        <p:sp>
          <p:nvSpPr>
            <p:cNvPr id="37" name="TextBox 37"/>
            <p:cNvSpPr txBox="1"/>
            <p:nvPr/>
          </p:nvSpPr>
          <p:spPr>
            <a:xfrm>
              <a:off x="1142816" y="2482215"/>
              <a:ext cx="872858" cy="205359"/>
            </a:xfrm>
            <a:prstGeom prst="rect">
              <a:avLst/>
            </a:prstGeom>
            <a:noFill/>
            <a:ln>
              <a:noFill/>
            </a:ln>
          </p:spPr>
          <p:txBody>
            <a:bodyPr wrap="none" lIns="0" tIns="0" rIns="0" bIns="0" anchor="t" anchorCtr="0">
              <a:spAutoFit/>
            </a:bodyPr>
            <a:lstStyle/>
            <a:p>
              <a:pPr algn="ctr"/>
              <a:r>
                <a:rPr lang="en-US" sz="1050" b="1" i="1" dirty="0">
                  <a:solidFill>
                    <a:srgbClr val="FFFFFF"/>
                  </a:solidFill>
                  <a:latin typeface="+mn-lt"/>
                  <a:ea typeface="+mn-ea"/>
                  <a:cs typeface="+mn-cs"/>
                </a:rPr>
                <a:t>TempDisplay</a:t>
              </a:r>
            </a:p>
          </p:txBody>
        </p:sp>
        <p:sp>
          <p:nvSpPr>
            <p:cNvPr id="38" name="TextBox 38"/>
            <p:cNvSpPr txBox="1"/>
            <p:nvPr/>
          </p:nvSpPr>
          <p:spPr>
            <a:xfrm>
              <a:off x="1078992" y="2837021"/>
              <a:ext cx="980694" cy="366903"/>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+update(): void</a:t>
              </a:r>
              <a:br/>
              <a:r>
                <a:rPr lang="en-US" sz="980" dirty="0">
                  <a:solidFill>
                    <a:srgbClr val="1F2937"/>
                  </a:solidFill>
                  <a:latin typeface="+mn-lt"/>
                  <a:ea typeface="+mn-ea"/>
                  <a:cs typeface="+mn-cs"/>
                </a:rPr>
                <a:t>+display(): void</a:t>
              </a:r>
            </a:p>
          </p:txBody>
        </p:sp>
        <p:sp>
          <p:nvSpPr>
            <p:cNvPr id="39" name="TextBox 39"/>
            <p:cNvSpPr txBox="1"/>
            <p:nvPr/>
          </p:nvSpPr>
          <p:spPr>
            <a:xfrm>
              <a:off x="1162603" y="4274820"/>
              <a:ext cx="833285"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CelTempDsp</a:t>
              </a:r>
            </a:p>
          </p:txBody>
        </p:sp>
        <p:sp>
          <p:nvSpPr>
            <p:cNvPr id="40" name="TextBox 40"/>
            <p:cNvSpPr txBox="1"/>
            <p:nvPr/>
          </p:nvSpPr>
          <p:spPr>
            <a:xfrm>
              <a:off x="1078992" y="4629626"/>
              <a:ext cx="1038941" cy="190690"/>
            </a:xfrm>
            <a:prstGeom prst="rect">
              <a:avLst/>
            </a:prstGeom>
            <a:noFill/>
            <a:ln>
              <a:noFill/>
            </a:ln>
          </p:spPr>
          <p:txBody>
            <a:bodyPr wrap="none" lIns="0" tIns="0" rIns="0" bIns="0" anchor="t" anchorCtr="0">
              <a:spAutoFit/>
            </a:bodyPr>
            <a:lstStyle/>
            <a:p>
              <a:pPr algn="l"/>
              <a:r>
                <a:rPr lang="en-US" sz="980" dirty="0">
                  <a:solidFill>
                    <a:srgbClr val="1F2937"/>
                  </a:solidFill>
                  <a:latin typeface="+mn-lt"/>
                  <a:ea typeface="+mn-ea"/>
                  <a:cs typeface="+mn-cs"/>
                </a:rPr>
                <a:t>+display(): void</a:t>
              </a:r>
            </a:p>
          </p:txBody>
        </p:sp>
        <p:sp>
          <p:nvSpPr>
            <p:cNvPr id="41" name="TextBox 41"/>
            <p:cNvSpPr txBox="1"/>
            <p:nvPr/>
          </p:nvSpPr>
          <p:spPr>
            <a:xfrm>
              <a:off x="3235425" y="4274820"/>
              <a:ext cx="87102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FahTempDsp</a:t>
              </a:r>
            </a:p>
          </p:txBody>
        </p:sp>
        <p:sp>
          <p:nvSpPr>
            <p:cNvPr id="42" name="TextBox 42"/>
            <p:cNvSpPr txBox="1"/>
            <p:nvPr/>
          </p:nvSpPr>
          <p:spPr>
            <a:xfrm>
              <a:off x="3170682" y="4629626"/>
              <a:ext cx="1038941" cy="190690"/>
            </a:xfrm>
            <a:prstGeom prst="rect">
              <a:avLst/>
            </a:prstGeom>
            <a:noFill/>
            <a:ln>
              <a:noFill/>
            </a:ln>
          </p:spPr>
          <p:txBody>
            <a:bodyPr wrap="none" lIns="0" tIns="0" rIns="0" bIns="0" anchor="t" anchorCtr="0">
              <a:spAutoFit/>
            </a:bodyPr>
            <a:lstStyle/>
            <a:p>
              <a:pPr algn="l"/>
              <a:r>
                <a:rPr lang="en-US" sz="980" dirty="0">
                  <a:solidFill>
                    <a:srgbClr val="1F2937"/>
                  </a:solidFill>
                  <a:latin typeface="+mn-lt"/>
                  <a:ea typeface="+mn-ea"/>
                  <a:cs typeface="+mn-cs"/>
                </a:rPr>
                <a:t>+display(): void</a:t>
              </a:r>
            </a:p>
          </p:txBody>
        </p:sp>
        <p:sp>
          <p:nvSpPr>
            <p:cNvPr id="43" name="TextBox 43"/>
            <p:cNvSpPr txBox="1"/>
            <p:nvPr/>
          </p:nvSpPr>
          <p:spPr>
            <a:xfrm>
              <a:off x="5407457" y="2492692"/>
              <a:ext cx="712241" cy="176212"/>
            </a:xfrm>
            <a:prstGeom prst="rect">
              <a:avLst/>
            </a:prstGeom>
            <a:noFill/>
            <a:ln>
              <a:noFill/>
            </a:ln>
          </p:spPr>
          <p:txBody>
            <a:bodyPr wrap="none" lIns="0" tIns="0" rIns="0" bIns="0" anchor="t" anchorCtr="0">
              <a:spAutoFit/>
            </a:bodyPr>
            <a:lstStyle/>
            <a:p>
              <a:pPr algn="ctr"/>
              <a:r>
                <a:rPr lang="en-US" sz="900" dirty="0">
                  <a:solidFill>
                    <a:srgbClr val="243B53"/>
                  </a:solidFill>
                  <a:latin typeface="+mn-lt"/>
                  <a:ea typeface="+mn-ea"/>
                  <a:cs typeface="+mn-cs"/>
                </a:rPr>
                <a:t>«interface»</a:t>
              </a:r>
            </a:p>
          </p:txBody>
        </p:sp>
        <p:sp>
          <p:nvSpPr>
            <p:cNvPr id="44" name="TextBox 44"/>
            <p:cNvSpPr txBox="1"/>
            <p:nvPr/>
          </p:nvSpPr>
          <p:spPr>
            <a:xfrm>
              <a:off x="5511043" y="2644140"/>
              <a:ext cx="505070"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Sensor</a:t>
              </a:r>
            </a:p>
          </p:txBody>
        </p:sp>
        <p:sp>
          <p:nvSpPr>
            <p:cNvPr id="45" name="TextBox 45"/>
            <p:cNvSpPr txBox="1"/>
            <p:nvPr/>
          </p:nvSpPr>
          <p:spPr>
            <a:xfrm>
              <a:off x="5139500" y="2998946"/>
              <a:ext cx="1327893" cy="190690"/>
            </a:xfrm>
            <a:prstGeom prst="rect">
              <a:avLst/>
            </a:prstGeom>
            <a:noFill/>
            <a:ln>
              <a:noFill/>
            </a:ln>
          </p:spPr>
          <p:txBody>
            <a:bodyPr wrap="none" lIns="0" tIns="0" rIns="0" bIns="0" anchor="t" anchorCtr="0">
              <a:spAutoFit/>
            </a:bodyPr>
            <a:lstStyle/>
            <a:p>
              <a:pPr algn="l"/>
              <a:r>
                <a:rPr lang="en-US" sz="980" dirty="0">
                  <a:solidFill>
                    <a:srgbClr val="1F2937"/>
                  </a:solidFill>
                  <a:latin typeface="+mn-lt"/>
                  <a:ea typeface="+mn-ea"/>
                  <a:cs typeface="+mn-cs"/>
                </a:rPr>
                <a:t>+reportData(): void</a:t>
              </a:r>
            </a:p>
          </p:txBody>
        </p:sp>
        <p:sp>
          <p:nvSpPr>
            <p:cNvPr id="46" name="TextBox 46"/>
            <p:cNvSpPr txBox="1"/>
            <p:nvPr/>
          </p:nvSpPr>
          <p:spPr>
            <a:xfrm>
              <a:off x="5330462" y="4099560"/>
              <a:ext cx="866231"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TempSensor</a:t>
              </a:r>
            </a:p>
          </p:txBody>
        </p:sp>
        <p:sp>
          <p:nvSpPr>
            <p:cNvPr id="47" name="TextBox 47"/>
            <p:cNvSpPr txBox="1"/>
            <p:nvPr/>
          </p:nvSpPr>
          <p:spPr>
            <a:xfrm>
              <a:off x="5139500" y="4359116"/>
              <a:ext cx="1203851" cy="190690"/>
            </a:xfrm>
            <a:prstGeom prst="rect">
              <a:avLst/>
            </a:prstGeom>
            <a:noFill/>
            <a:ln>
              <a:noFill/>
            </a:ln>
          </p:spPr>
          <p:txBody>
            <a:bodyPr wrap="none" lIns="0" tIns="0" rIns="0" bIns="0" anchor="t" anchorCtr="0">
              <a:spAutoFit/>
            </a:bodyPr>
            <a:lstStyle/>
            <a:p>
              <a:pPr algn="l"/>
              <a:r>
                <a:rPr lang="en-US" sz="980" dirty="0">
                  <a:solidFill>
                    <a:srgbClr val="1F2937"/>
                  </a:solidFill>
                  <a:latin typeface="+mn-lt"/>
                  <a:ea typeface="+mn-ea"/>
                  <a:cs typeface="+mn-cs"/>
                </a:rPr>
                <a:t>-temperature: int</a:t>
              </a:r>
            </a:p>
          </p:txBody>
        </p:sp>
        <p:sp>
          <p:nvSpPr>
            <p:cNvPr id="48" name="TextBox 48"/>
            <p:cNvSpPr txBox="1"/>
            <p:nvPr/>
          </p:nvSpPr>
          <p:spPr>
            <a:xfrm>
              <a:off x="5139500" y="4629626"/>
              <a:ext cx="1248283" cy="366903"/>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+compTemp(): void</a:t>
              </a:r>
              <a:br/>
              <a:r>
                <a:rPr lang="en-US" sz="980" dirty="0">
                  <a:solidFill>
                    <a:srgbClr val="1F2937"/>
                  </a:solidFill>
                  <a:latin typeface="+mn-lt"/>
                  <a:ea typeface="+mn-ea"/>
                  <a:cs typeface="+mn-cs"/>
                </a:rPr>
                <a:t>+reportData(): void</a:t>
              </a:r>
            </a:p>
          </p:txBody>
        </p:sp>
      </p:grpSp>
      <p:grpSp>
        <p:nvGrpSpPr>
          <p:cNvPr id="57" name="c2-bullets-1"/>
          <p:cNvGrpSpPr/>
          <p:nvPr/>
        </p:nvGrpSpPr>
        <p:grpSpPr>
          <a:xfrm>
            <a:off x="7106602" y="1992630"/>
            <a:ext cx="4254818" cy="2194560"/>
            <a:chOff x="7106602" y="1992630"/>
            <a:chExt cx="4254818" cy="2194560"/>
          </a:xfrm>
        </p:grpSpPr>
        <p:sp>
          <p:nvSpPr>
            <p:cNvPr id="50" name="TextBox 50"/>
            <p:cNvSpPr txBox="1"/>
            <p:nvPr/>
          </p:nvSpPr>
          <p:spPr>
            <a:xfrm>
              <a:off x="7106602" y="1992630"/>
              <a:ext cx="163068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这次扩展动了什么</a:t>
              </a:r>
            </a:p>
          </p:txBody>
        </p:sp>
        <p:sp>
          <p:nvSpPr>
            <p:cNvPr id="51" name="Freeform 51"/>
            <p:cNvSpPr/>
            <p:nvPr/>
          </p:nvSpPr>
          <p:spPr>
            <a:xfrm>
              <a:off x="7114222" y="2378392"/>
              <a:ext cx="143828" cy="116205"/>
            </a:xfrm>
            <a:custGeom>
              <a:avLst/>
              <a:gdLst/>
              <a:ahLst/>
              <a:cxnLst/>
              <a:rect l="l" t="t" r="r" b="b"/>
              <a:pathLst>
                <a:path w="143828" h="116205">
                  <a:moveTo>
                    <a:pt x="0" y="61912"/>
                  </a:moveTo>
                  <a:lnTo>
                    <a:pt x="54293" y="116205"/>
                  </a:lnTo>
                  <a:lnTo>
                    <a:pt x="143828" y="0"/>
                  </a:lnTo>
                </a:path>
              </a:pathLst>
            </a:custGeom>
            <a:noFill/>
            <a:ln w="24765" cap="rnd">
              <a:solidFill>
                <a:srgbClr val="14A38B"/>
              </a:solidFill>
              <a:round/>
            </a:ln>
          </p:spPr>
        </p:sp>
        <p:sp>
          <p:nvSpPr>
            <p:cNvPr id="52" name="TextBox 52"/>
            <p:cNvSpPr txBox="1"/>
            <p:nvPr/>
          </p:nvSpPr>
          <p:spPr>
            <a:xfrm>
              <a:off x="7364730" y="2346960"/>
              <a:ext cx="312991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新增抽象类 TempDisplay 和两个子类</a:t>
              </a:r>
              <a:br/>
              <a:r>
                <a:rPr lang="zh-CN" sz="1500" dirty="0">
                  <a:solidFill>
                    <a:srgbClr val="1F2937"/>
                  </a:solidFill>
                  <a:latin typeface="+mn-lt"/>
                  <a:ea typeface="+mn-ea"/>
                  <a:cs typeface="+mn-cs"/>
                </a:rPr>
                <a:t>CelTempDsp、FahTempDsp</a:t>
              </a:r>
            </a:p>
          </p:txBody>
        </p:sp>
        <p:sp>
          <p:nvSpPr>
            <p:cNvPr id="53" name="Freeform 53"/>
            <p:cNvSpPr/>
            <p:nvPr/>
          </p:nvSpPr>
          <p:spPr>
            <a:xfrm>
              <a:off x="7114222" y="3008948"/>
              <a:ext cx="143828" cy="116205"/>
            </a:xfrm>
            <a:custGeom>
              <a:avLst/>
              <a:gdLst/>
              <a:ahLst/>
              <a:cxnLst/>
              <a:rect l="l" t="t" r="r" b="b"/>
              <a:pathLst>
                <a:path w="143828" h="116205">
                  <a:moveTo>
                    <a:pt x="0" y="61912"/>
                  </a:moveTo>
                  <a:lnTo>
                    <a:pt x="54293" y="116205"/>
                  </a:lnTo>
                  <a:lnTo>
                    <a:pt x="143828" y="0"/>
                  </a:lnTo>
                </a:path>
              </a:pathLst>
            </a:custGeom>
            <a:noFill/>
            <a:ln w="24765" cap="rnd">
              <a:solidFill>
                <a:srgbClr val="14A38B"/>
              </a:solidFill>
              <a:round/>
            </a:ln>
          </p:spPr>
        </p:sp>
        <p:sp>
          <p:nvSpPr>
            <p:cNvPr id="54" name="TextBox 54"/>
            <p:cNvSpPr txBox="1"/>
            <p:nvPr/>
          </p:nvSpPr>
          <p:spPr>
            <a:xfrm>
              <a:off x="7364730" y="2977515"/>
              <a:ext cx="399669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新增传感器子类 TempSensor，实现 Sensor 接</a:t>
              </a:r>
              <a:br/>
              <a:r>
                <a:rPr lang="zh-CN" sz="1500" dirty="0">
                  <a:solidFill>
                    <a:srgbClr val="1F2937"/>
                  </a:solidFill>
                  <a:latin typeface="+mn-lt"/>
                  <a:ea typeface="+mn-ea"/>
                  <a:cs typeface="+mn-cs"/>
                </a:rPr>
                <a:t>口</a:t>
              </a:r>
            </a:p>
          </p:txBody>
        </p:sp>
        <p:sp>
          <p:nvSpPr>
            <p:cNvPr id="55" name="Freeform 55"/>
            <p:cNvSpPr/>
            <p:nvPr/>
          </p:nvSpPr>
          <p:spPr>
            <a:xfrm>
              <a:off x="7114222" y="3639502"/>
              <a:ext cx="143828" cy="116205"/>
            </a:xfrm>
            <a:custGeom>
              <a:avLst/>
              <a:gdLst/>
              <a:ahLst/>
              <a:cxnLst/>
              <a:rect l="l" t="t" r="r" b="b"/>
              <a:pathLst>
                <a:path w="143828" h="116205">
                  <a:moveTo>
                    <a:pt x="0" y="61912"/>
                  </a:moveTo>
                  <a:lnTo>
                    <a:pt x="54293" y="116205"/>
                  </a:lnTo>
                  <a:lnTo>
                    <a:pt x="143828" y="0"/>
                  </a:lnTo>
                </a:path>
              </a:pathLst>
            </a:custGeom>
            <a:noFill/>
            <a:ln w="24765" cap="rnd">
              <a:solidFill>
                <a:srgbClr val="14A38B"/>
              </a:solidFill>
              <a:round/>
            </a:ln>
          </p:spPr>
        </p:sp>
        <p:sp>
          <p:nvSpPr>
            <p:cNvPr id="56" name="TextBox 56"/>
            <p:cNvSpPr txBox="1"/>
            <p:nvPr/>
          </p:nvSpPr>
          <p:spPr>
            <a:xfrm>
              <a:off x="7364730" y="3608070"/>
              <a:ext cx="39776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HeightDisplay、SpeedDisplay 及其四个子类完</a:t>
              </a:r>
              <a:br/>
              <a:r>
                <a:rPr lang="zh-CN" sz="1500" dirty="0">
                  <a:solidFill>
                    <a:srgbClr val="1F2937"/>
                  </a:solidFill>
                  <a:latin typeface="+mn-lt"/>
                  <a:ea typeface="+mn-ea"/>
                  <a:cs typeface="+mn-cs"/>
                </a:rPr>
                <a:t>全不动</a:t>
              </a:r>
            </a:p>
          </p:txBody>
        </p:sp>
      </p:grpSp>
      <p:grpSp>
        <p:nvGrpSpPr>
          <p:cNvPr id="63" name="c2-callout-2"/>
          <p:cNvGrpSpPr/>
          <p:nvPr/>
        </p:nvGrpSpPr>
        <p:grpSpPr>
          <a:xfrm>
            <a:off x="7114222" y="4318635"/>
            <a:ext cx="4544378" cy="1059180"/>
            <a:chOff x="7114222" y="4318635"/>
            <a:chExt cx="4544378" cy="1059180"/>
          </a:xfrm>
        </p:grpSpPr>
        <p:sp>
          <p:nvSpPr>
            <p:cNvPr id="58" name="Rectangle 58"/>
            <p:cNvSpPr/>
            <p:nvPr/>
          </p:nvSpPr>
          <p:spPr>
            <a:xfrm>
              <a:off x="7114222" y="4318635"/>
              <a:ext cx="4544378" cy="1059180"/>
            </a:xfrm>
            <a:prstGeom prst="roundRect">
              <a:avLst>
                <a:gd name="adj" fmla="val 10791"/>
              </a:avLst>
            </a:prstGeom>
            <a:solidFill>
              <a:srgbClr val="E3F5F1"/>
            </a:solidFill>
            <a:ln>
              <a:noFill/>
            </a:ln>
          </p:spPr>
        </p:sp>
        <p:grpSp>
          <p:nvGrpSpPr>
            <p:cNvPr id="61" name="Group 61"/>
            <p:cNvGrpSpPr/>
            <p:nvPr/>
          </p:nvGrpSpPr>
          <p:grpSpPr>
            <a:xfrm>
              <a:off x="7319010" y="4748213"/>
              <a:ext cx="200026" cy="200026"/>
              <a:chOff x="7319010" y="4748213"/>
              <a:chExt cx="200026" cy="200026"/>
            </a:xfrm>
          </p:grpSpPr>
          <p:sp>
            <p:nvSpPr>
              <p:cNvPr id="59" name="Freeform 59"/>
              <p:cNvSpPr/>
              <p:nvPr/>
            </p:nvSpPr>
            <p:spPr>
              <a:xfrm>
                <a:off x="7319010" y="474821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0F7A68"/>
                </a:solidFill>
              </a:ln>
            </p:spPr>
          </p:sp>
          <p:sp>
            <p:nvSpPr>
              <p:cNvPr id="60" name="Freeform 60"/>
              <p:cNvSpPr/>
              <p:nvPr/>
            </p:nvSpPr>
            <p:spPr>
              <a:xfrm>
                <a:off x="7385685" y="4826000"/>
                <a:ext cx="66675" cy="44450"/>
              </a:xfrm>
              <a:custGeom>
                <a:avLst/>
                <a:gdLst/>
                <a:ahLst/>
                <a:cxnLst/>
                <a:rect l="l" t="t" r="r" b="b"/>
                <a:pathLst>
                  <a:path w="66675" h="44450">
                    <a:moveTo>
                      <a:pt x="0" y="22225"/>
                    </a:moveTo>
                    <a:lnTo>
                      <a:pt x="22225" y="44450"/>
                    </a:lnTo>
                    <a:lnTo>
                      <a:pt x="66675" y="0"/>
                    </a:lnTo>
                  </a:path>
                </a:pathLst>
              </a:custGeom>
              <a:noFill/>
              <a:ln w="22225">
                <a:solidFill>
                  <a:srgbClr val="0F7A68"/>
                </a:solidFill>
              </a:ln>
            </p:spPr>
          </p:sp>
        </p:grpSp>
        <p:sp>
          <p:nvSpPr>
            <p:cNvPr id="62" name="TextBox 62"/>
            <p:cNvSpPr txBox="1"/>
            <p:nvPr/>
          </p:nvSpPr>
          <p:spPr>
            <a:xfrm>
              <a:off x="7620952" y="4467225"/>
              <a:ext cx="3634740" cy="845820"/>
            </a:xfrm>
            <a:prstGeom prst="rect">
              <a:avLst/>
            </a:prstGeom>
            <a:noFill/>
            <a:ln>
              <a:noFill/>
            </a:ln>
          </p:spPr>
          <p:txBody>
            <a:bodyPr wrap="none" lIns="0" tIns="0" rIns="0" bIns="0" anchor="t" anchorCtr="0">
              <a:spAutoFit/>
            </a:bodyPr>
            <a:lstStyle/>
            <a:p>
              <a:pPr algn="l">
                <a:lnSpc>
                  <a:spcPts val="2175"/>
                </a:lnSpc>
              </a:pPr>
              <a:r>
                <a:rPr lang="zh-CN" sz="1500" dirty="0">
                  <a:solidFill>
                    <a:srgbClr val="0F7A68"/>
                  </a:solidFill>
                  <a:latin typeface="+mn-lt"/>
                  <a:ea typeface="+mn-ea"/>
                  <a:cs typeface="+mn-cs"/>
                </a:rPr>
                <a:t>这已经是开闭原则的效果：对扩展开放，对</a:t>
              </a:r>
              <a:br/>
              <a:r>
                <a:rPr lang="zh-CN" sz="1500" dirty="0">
                  <a:solidFill>
                    <a:srgbClr val="0F7A68"/>
                  </a:solidFill>
                  <a:latin typeface="+mn-lt"/>
                  <a:ea typeface="+mn-ea"/>
                  <a:cs typeface="+mn-cs"/>
                </a:rPr>
                <a:t>修改关闭。单一责任拆得到位，开闭原则往</a:t>
              </a:r>
              <a:br/>
              <a:r>
                <a:rPr lang="zh-CN" sz="1500" dirty="0">
                  <a:solidFill>
                    <a:srgbClr val="0F7A68"/>
                  </a:solidFill>
                  <a:latin typeface="+mn-lt"/>
                  <a:ea typeface="+mn-ea"/>
                  <a:cs typeface="+mn-cs"/>
                </a:rPr>
                <a:t>往自然成立。</a:t>
              </a:r>
            </a:p>
          </p:txBody>
        </p:sp>
      </p:grpSp>
      <p:grpSp>
        <p:nvGrpSpPr>
          <p:cNvPr id="70" name="takeaway"/>
          <p:cNvGrpSpPr/>
          <p:nvPr/>
        </p:nvGrpSpPr>
        <p:grpSpPr>
          <a:xfrm>
            <a:off x="533400" y="5829300"/>
            <a:ext cx="11125200" cy="533400"/>
            <a:chOff x="533400" y="5829300"/>
            <a:chExt cx="11125200" cy="533400"/>
          </a:xfrm>
        </p:grpSpPr>
        <p:sp>
          <p:nvSpPr>
            <p:cNvPr id="64" name="Rectangle 64"/>
            <p:cNvSpPr/>
            <p:nvPr/>
          </p:nvSpPr>
          <p:spPr>
            <a:xfrm>
              <a:off x="533400" y="5829300"/>
              <a:ext cx="11125200" cy="533400"/>
            </a:xfrm>
            <a:prstGeom prst="roundRect">
              <a:avLst>
                <a:gd name="adj" fmla="val 21429"/>
              </a:avLst>
            </a:prstGeom>
            <a:solidFill>
              <a:srgbClr val="FDEEE7"/>
            </a:solidFill>
            <a:ln>
              <a:noFill/>
            </a:ln>
          </p:spPr>
        </p:sp>
        <p:grpSp>
          <p:nvGrpSpPr>
            <p:cNvPr id="68" name="Group 68"/>
            <p:cNvGrpSpPr/>
            <p:nvPr/>
          </p:nvGrpSpPr>
          <p:grpSpPr>
            <a:xfrm>
              <a:off x="738188" y="5995988"/>
              <a:ext cx="200026" cy="200025"/>
              <a:chOff x="738188" y="5995988"/>
              <a:chExt cx="200026" cy="200025"/>
            </a:xfrm>
          </p:grpSpPr>
          <p:sp>
            <p:nvSpPr>
              <p:cNvPr id="65" name="Freeform 65"/>
              <p:cNvSpPr/>
              <p:nvPr/>
            </p:nvSpPr>
            <p:spPr>
              <a:xfrm>
                <a:off x="738188" y="599598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66" name="Freeform 66"/>
              <p:cNvSpPr/>
              <p:nvPr/>
            </p:nvSpPr>
            <p:spPr>
              <a:xfrm>
                <a:off x="777926" y="604043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67" name="Freeform 67"/>
              <p:cNvSpPr/>
              <p:nvPr/>
            </p:nvSpPr>
            <p:spPr>
              <a:xfrm>
                <a:off x="812642" y="615156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69" name="TextBox 69"/>
            <p:cNvSpPr txBox="1"/>
            <p:nvPr/>
          </p:nvSpPr>
          <p:spPr>
            <a:xfrm>
              <a:off x="1040130" y="5991225"/>
              <a:ext cx="6275070" cy="293370"/>
            </a:xfrm>
            <a:prstGeom prst="rect">
              <a:avLst/>
            </a:prstGeom>
            <a:noFill/>
            <a:ln>
              <a:noFill/>
            </a:ln>
          </p:spPr>
          <p:txBody>
            <a:bodyPr wrap="none" lIns="0" tIns="0" rIns="0" bIns="0" anchor="t" anchorCtr="0">
              <a:spAutoFit/>
            </a:bodyPr>
            <a:lstStyle/>
            <a:p>
              <a:pPr algn="l"/>
              <a:r>
                <a:rPr lang="zh-CN" sz="1500" dirty="0">
                  <a:solidFill>
                    <a:srgbClr val="C2410C"/>
                  </a:solidFill>
                  <a:latin typeface="+mn-lt"/>
                  <a:ea typeface="+mn-ea"/>
                  <a:cs typeface="+mn-cs"/>
                </a:rPr>
                <a:t>反过来看，如果加新功能必须回去改老类，多半是前面责任没拆干净。</a:t>
              </a:r>
            </a:p>
          </p:txBody>
        </p:sp>
      </p:grpSp>
      <p:grpSp>
        <p:nvGrpSpPr>
          <p:cNvPr id="73" name="footer"/>
          <p:cNvGrpSpPr/>
          <p:nvPr/>
        </p:nvGrpSpPr>
        <p:grpSpPr>
          <a:xfrm>
            <a:off x="528447" y="6581299"/>
            <a:ext cx="11135106" cy="190690"/>
            <a:chOff x="528447" y="6581299"/>
            <a:chExt cx="11135106" cy="190690"/>
          </a:xfrm>
        </p:grpSpPr>
        <p:sp>
          <p:nvSpPr>
            <p:cNvPr id="71" name="TextBox 71"/>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72" name="TextBox 7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2660332" cy="266700"/>
            </a:xfrm>
            <a:prstGeom prst="roundRect">
              <a:avLst>
                <a:gd name="adj" fmla="val 50000"/>
              </a:avLst>
            </a:prstGeom>
            <a:solidFill>
              <a:srgbClr val="E7EDF3"/>
            </a:solidFill>
            <a:ln>
              <a:noFill/>
            </a:ln>
          </p:spPr>
        </p:sp>
        <p:sp>
          <p:nvSpPr>
            <p:cNvPr id="3" name="TextBox 3"/>
            <p:cNvSpPr txBox="1"/>
            <p:nvPr/>
          </p:nvSpPr>
          <p:spPr>
            <a:xfrm>
              <a:off x="570203" y="407194"/>
              <a:ext cx="25857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SOLID 五原则</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开闭原则：对扩展开放，对修改关闭</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8" name="c1-card-1"/>
          <p:cNvGrpSpPr/>
          <p:nvPr/>
        </p:nvGrpSpPr>
        <p:grpSpPr>
          <a:xfrm>
            <a:off x="533400" y="1524000"/>
            <a:ext cx="5410200" cy="3394710"/>
            <a:chOff x="533400" y="1524000"/>
            <a:chExt cx="5410200" cy="3394710"/>
          </a:xfrm>
        </p:grpSpPr>
        <p:sp>
          <p:nvSpPr>
            <p:cNvPr id="7" name="Rectangle 7"/>
            <p:cNvSpPr/>
            <p:nvPr/>
          </p:nvSpPr>
          <p:spPr>
            <a:xfrm>
              <a:off x="533400" y="1524000"/>
              <a:ext cx="5410200" cy="3394710"/>
            </a:xfrm>
            <a:prstGeom prst="roundRect">
              <a:avLst>
                <a:gd name="adj" fmla="val 3928"/>
              </a:avLst>
            </a:prstGeom>
            <a:solidFill>
              <a:srgbClr val="FFFFFF"/>
            </a:solidFill>
            <a:ln w="14288">
              <a:solidFill>
                <a:srgbClr val="D9DFEA"/>
              </a:solidFill>
            </a:ln>
          </p:spPr>
        </p:sp>
        <p:sp>
          <p:nvSpPr>
            <p:cNvPr id="8" name="Rectangle 8"/>
            <p:cNvSpPr/>
            <p:nvPr/>
          </p:nvSpPr>
          <p:spPr>
            <a:xfrm>
              <a:off x="542925" y="1657350"/>
              <a:ext cx="47625" cy="3128010"/>
            </a:xfrm>
            <a:prstGeom prst="roundRect">
              <a:avLst>
                <a:gd name="adj" fmla="val 50000"/>
              </a:avLst>
            </a:prstGeom>
            <a:solidFill>
              <a:srgbClr val="334E68"/>
            </a:solidFill>
            <a:ln>
              <a:noFill/>
            </a:ln>
          </p:spPr>
        </p:sp>
        <p:sp>
          <p:nvSpPr>
            <p:cNvPr id="9" name="Rectangle 9"/>
            <p:cNvSpPr/>
            <p:nvPr/>
          </p:nvSpPr>
          <p:spPr>
            <a:xfrm>
              <a:off x="781050" y="1733550"/>
              <a:ext cx="494348" cy="257175"/>
            </a:xfrm>
            <a:prstGeom prst="roundRect">
              <a:avLst>
                <a:gd name="adj" fmla="val 50000"/>
              </a:avLst>
            </a:prstGeom>
            <a:solidFill>
              <a:srgbClr val="E7EDF3"/>
            </a:solidFill>
            <a:ln>
              <a:noFill/>
            </a:ln>
          </p:spPr>
        </p:sp>
        <p:sp>
          <p:nvSpPr>
            <p:cNvPr id="10" name="TextBox 10"/>
            <p:cNvSpPr txBox="1"/>
            <p:nvPr/>
          </p:nvSpPr>
          <p:spPr>
            <a:xfrm>
              <a:off x="871258" y="1769269"/>
              <a:ext cx="31297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定义</a:t>
              </a:r>
            </a:p>
          </p:txBody>
        </p:sp>
        <p:sp>
          <p:nvSpPr>
            <p:cNvPr id="11" name="TextBox 11"/>
            <p:cNvSpPr txBox="1"/>
            <p:nvPr/>
          </p:nvSpPr>
          <p:spPr>
            <a:xfrm>
              <a:off x="1382078" y="1768792"/>
              <a:ext cx="2261415" cy="293370"/>
            </a:xfrm>
            <a:prstGeom prst="rect">
              <a:avLst/>
            </a:prstGeom>
            <a:noFill/>
            <a:ln>
              <a:noFill/>
            </a:ln>
          </p:spPr>
          <p:txBody>
            <a:bodyPr wrap="none" lIns="0" tIns="0" rIns="0" bIns="0" anchor="t" anchorCtr="0">
              <a:spAutoFit/>
            </a:bodyPr>
            <a:lstStyle/>
            <a:p>
              <a:pPr algn="l"/>
              <a:r>
                <a:rPr lang="en-US" sz="1500" b="1" dirty="0">
                  <a:solidFill>
                    <a:srgbClr val="1F2937"/>
                  </a:solidFill>
                  <a:latin typeface="+mn-lt"/>
                  <a:ea typeface="+mn-ea"/>
                  <a:cs typeface="+mn-cs"/>
                </a:rPr>
                <a:t>Open/Closed Principle</a:t>
              </a:r>
            </a:p>
          </p:txBody>
        </p:sp>
        <p:sp>
          <p:nvSpPr>
            <p:cNvPr id="12" name="TextBox 12"/>
            <p:cNvSpPr txBox="1"/>
            <p:nvPr/>
          </p:nvSpPr>
          <p:spPr>
            <a:xfrm>
              <a:off x="773430" y="2129790"/>
              <a:ext cx="4587240" cy="864870"/>
            </a:xfrm>
            <a:prstGeom prst="rect">
              <a:avLst/>
            </a:prstGeom>
            <a:noFill/>
            <a:ln>
              <a:noFill/>
            </a:ln>
          </p:spPr>
          <p:txBody>
            <a:bodyPr wrap="none" lIns="0" tIns="0" rIns="0" bIns="0" anchor="t" anchorCtr="0">
              <a:spAutoFit/>
            </a:bodyPr>
            <a:lstStyle/>
            <a:p>
              <a:pPr algn="l">
                <a:lnSpc>
                  <a:spcPts val="2250"/>
                </a:lnSpc>
              </a:pPr>
              <a:r>
                <a:rPr lang="en-US" sz="1500" dirty="0">
                  <a:solidFill>
                    <a:srgbClr val="1F2937"/>
                  </a:solidFill>
                  <a:latin typeface="+mn-lt"/>
                  <a:ea typeface="+mn-ea"/>
                  <a:cs typeface="+mn-cs"/>
                </a:rPr>
                <a:t>Software entities (classes, modules, functions,</a:t>
              </a:r>
              <a:br/>
              <a:r>
                <a:rPr lang="en-US" sz="1500" dirty="0">
                  <a:solidFill>
                    <a:srgbClr val="1F2937"/>
                  </a:solidFill>
                  <a:latin typeface="+mn-lt"/>
                  <a:ea typeface="+mn-ea"/>
                  <a:cs typeface="+mn-cs"/>
                </a:rPr>
                <a:t>etc.) should be open for extension, but closed</a:t>
              </a:r>
              <a:br/>
              <a:r>
                <a:rPr lang="en-US" sz="1500" dirty="0">
                  <a:solidFill>
                    <a:srgbClr val="1F2937"/>
                  </a:solidFill>
                  <a:latin typeface="+mn-lt"/>
                  <a:ea typeface="+mn-ea"/>
                  <a:cs typeface="+mn-cs"/>
                </a:rPr>
                <a:t>for modification.</a:t>
              </a:r>
            </a:p>
          </p:txBody>
        </p:sp>
        <p:sp>
          <p:nvSpPr>
            <p:cNvPr id="13" name="Ellipse 13"/>
            <p:cNvSpPr/>
            <p:nvPr/>
          </p:nvSpPr>
          <p:spPr>
            <a:xfrm>
              <a:off x="786765" y="3099435"/>
              <a:ext cx="64770" cy="64770"/>
            </a:xfrm>
            <a:prstGeom prst="ellipse">
              <a:avLst/>
            </a:prstGeom>
            <a:solidFill>
              <a:srgbClr val="334E68"/>
            </a:solidFill>
            <a:ln>
              <a:noFill/>
            </a:ln>
          </p:spPr>
        </p:sp>
        <p:sp>
          <p:nvSpPr>
            <p:cNvPr id="14" name="TextBox 14"/>
            <p:cNvSpPr txBox="1"/>
            <p:nvPr/>
          </p:nvSpPr>
          <p:spPr>
            <a:xfrm>
              <a:off x="944880" y="3036570"/>
              <a:ext cx="445389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 xml:space="preserve">软件实体应当 </a:t>
              </a:r>
              <a:r>
                <a:rPr lang="zh-CN" sz="1500" b="1" dirty="0">
                  <a:solidFill>
                    <a:srgbClr val="C2410C"/>
                  </a:solidFill>
                  <a:latin typeface="+mn-lt"/>
                  <a:ea typeface="+mn-ea"/>
                  <a:cs typeface="+mn-cs"/>
                </a:rPr>
                <a:t>对扩展开放</a:t>
              </a:r>
              <a:r>
                <a:rPr lang="zh-CN" sz="1500" dirty="0">
                  <a:solidFill>
                    <a:srgbClr val="1F2937"/>
                  </a:solidFill>
                  <a:latin typeface="+mn-lt"/>
                  <a:ea typeface="+mn-ea"/>
                  <a:cs typeface="+mn-cs"/>
                </a:rPr>
                <a:t>：需求变了，可以增加新行</a:t>
              </a:r>
              <a:br/>
              <a:r>
                <a:rPr lang="zh-CN" sz="1500" dirty="0">
                  <a:solidFill>
                    <a:srgbClr val="1F2937"/>
                  </a:solidFill>
                  <a:latin typeface="+mn-lt"/>
                  <a:ea typeface="+mn-ea"/>
                  <a:cs typeface="+mn-cs"/>
                </a:rPr>
                <a:t>为</a:t>
              </a:r>
            </a:p>
          </p:txBody>
        </p:sp>
        <p:sp>
          <p:nvSpPr>
            <p:cNvPr id="15" name="Ellipse 15"/>
            <p:cNvSpPr/>
            <p:nvPr/>
          </p:nvSpPr>
          <p:spPr>
            <a:xfrm>
              <a:off x="786765" y="3720465"/>
              <a:ext cx="64770" cy="64770"/>
            </a:xfrm>
            <a:prstGeom prst="ellipse">
              <a:avLst/>
            </a:prstGeom>
            <a:solidFill>
              <a:srgbClr val="334E68"/>
            </a:solidFill>
            <a:ln>
              <a:noFill/>
            </a:ln>
          </p:spPr>
        </p:sp>
        <p:sp>
          <p:nvSpPr>
            <p:cNvPr id="16" name="TextBox 16"/>
            <p:cNvSpPr txBox="1"/>
            <p:nvPr/>
          </p:nvSpPr>
          <p:spPr>
            <a:xfrm>
              <a:off x="944880" y="3657600"/>
              <a:ext cx="445389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 xml:space="preserve">同时 </a:t>
              </a:r>
              <a:r>
                <a:rPr lang="zh-CN" sz="1500" b="1" dirty="0">
                  <a:solidFill>
                    <a:srgbClr val="C2410C"/>
                  </a:solidFill>
                  <a:latin typeface="+mn-lt"/>
                  <a:ea typeface="+mn-ea"/>
                  <a:cs typeface="+mn-cs"/>
                </a:rPr>
                <a:t>对修改关闭</a:t>
              </a:r>
              <a:r>
                <a:rPr lang="zh-CN" sz="1500" dirty="0">
                  <a:solidFill>
                    <a:srgbClr val="1F2937"/>
                  </a:solidFill>
                  <a:latin typeface="+mn-lt"/>
                  <a:ea typeface="+mn-ea"/>
                  <a:cs typeface="+mn-cs"/>
                </a:rPr>
                <a:t>：增加新行为时不必改动已有的源代</a:t>
              </a:r>
              <a:br/>
              <a:r>
                <a:rPr lang="zh-CN" sz="1500" dirty="0">
                  <a:solidFill>
                    <a:srgbClr val="1F2937"/>
                  </a:solidFill>
                  <a:latin typeface="+mn-lt"/>
                  <a:ea typeface="+mn-ea"/>
                  <a:cs typeface="+mn-cs"/>
                </a:rPr>
                <a:t>码</a:t>
              </a:r>
            </a:p>
          </p:txBody>
        </p:sp>
        <p:sp>
          <p:nvSpPr>
            <p:cNvPr id="17" name="TextBox 17"/>
            <p:cNvSpPr txBox="1"/>
            <p:nvPr/>
          </p:nvSpPr>
          <p:spPr>
            <a:xfrm>
              <a:off x="774573" y="4275296"/>
              <a:ext cx="4044442" cy="483680"/>
            </a:xfrm>
            <a:prstGeom prst="rect">
              <a:avLst/>
            </a:prstGeom>
            <a:noFill/>
            <a:ln>
              <a:noFill/>
            </a:ln>
          </p:spPr>
          <p:txBody>
            <a:bodyPr wrap="none" lIns="0" tIns="0" rIns="0" bIns="0" anchor="t" anchorCtr="0">
              <a:spAutoFit/>
            </a:bodyPr>
            <a:lstStyle/>
            <a:p>
              <a:pPr algn="l">
                <a:lnSpc>
                  <a:spcPts val="1845"/>
                </a:lnSpc>
              </a:pPr>
              <a:r>
                <a:rPr lang="en-US" sz="1280" dirty="0">
                  <a:solidFill>
                    <a:srgbClr val="5B6475"/>
                  </a:solidFill>
                  <a:latin typeface="+mn-lt"/>
                  <a:ea typeface="+mn-ea"/>
                  <a:cs typeface="+mn-cs"/>
                </a:rPr>
                <a:t>that is, such an entity can allow its behavior to be</a:t>
              </a:r>
              <a:br/>
              <a:r>
                <a:rPr lang="en-US" sz="1280" dirty="0">
                  <a:solidFill>
                    <a:srgbClr val="5B6475"/>
                  </a:solidFill>
                  <a:latin typeface="+mn-lt"/>
                  <a:ea typeface="+mn-ea"/>
                  <a:cs typeface="+mn-cs"/>
                </a:rPr>
                <a:t>modified without altering its source code.</a:t>
              </a:r>
            </a:p>
          </p:txBody>
        </p:sp>
      </p:grpSp>
      <p:grpSp>
        <p:nvGrpSpPr>
          <p:cNvPr id="24" name="c1-callout-2"/>
          <p:cNvGrpSpPr/>
          <p:nvPr/>
        </p:nvGrpSpPr>
        <p:grpSpPr>
          <a:xfrm>
            <a:off x="533400" y="5109210"/>
            <a:ext cx="5410200" cy="782955"/>
            <a:chOff x="533400" y="5109210"/>
            <a:chExt cx="5410200" cy="782955"/>
          </a:xfrm>
        </p:grpSpPr>
        <p:sp>
          <p:nvSpPr>
            <p:cNvPr id="19" name="Rectangle 19"/>
            <p:cNvSpPr/>
            <p:nvPr/>
          </p:nvSpPr>
          <p:spPr>
            <a:xfrm>
              <a:off x="533400" y="5109210"/>
              <a:ext cx="5410200" cy="782955"/>
            </a:xfrm>
            <a:prstGeom prst="roundRect">
              <a:avLst>
                <a:gd name="adj" fmla="val 14599"/>
              </a:avLst>
            </a:prstGeom>
            <a:solidFill>
              <a:srgbClr val="334E68"/>
            </a:solidFill>
            <a:ln>
              <a:noFill/>
            </a:ln>
          </p:spPr>
        </p:sp>
        <p:grpSp>
          <p:nvGrpSpPr>
            <p:cNvPr id="22" name="Group 22"/>
            <p:cNvGrpSpPr/>
            <p:nvPr/>
          </p:nvGrpSpPr>
          <p:grpSpPr>
            <a:xfrm>
              <a:off x="738188" y="5400677"/>
              <a:ext cx="200023" cy="200023"/>
              <a:chOff x="738188" y="5400677"/>
              <a:chExt cx="200023" cy="200023"/>
            </a:xfrm>
          </p:grpSpPr>
          <p:sp>
            <p:nvSpPr>
              <p:cNvPr id="20" name="Freeform 20"/>
              <p:cNvSpPr/>
              <p:nvPr/>
            </p:nvSpPr>
            <p:spPr>
              <a:xfrm>
                <a:off x="738188" y="540067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21" name="Freeform 21"/>
              <p:cNvSpPr/>
              <p:nvPr/>
            </p:nvSpPr>
            <p:spPr>
              <a:xfrm>
                <a:off x="871538" y="546735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23" name="TextBox 23"/>
            <p:cNvSpPr txBox="1"/>
            <p:nvPr/>
          </p:nvSpPr>
          <p:spPr>
            <a:xfrm>
              <a:off x="1040130" y="5257800"/>
              <a:ext cx="4520565"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开闭原则说的是“不改老代码也能改变行为”，不是“代</a:t>
              </a:r>
              <a:br/>
              <a:r>
                <a:rPr lang="zh-CN" sz="1500" dirty="0">
                  <a:solidFill>
                    <a:srgbClr val="FFFFFF"/>
                  </a:solidFill>
                  <a:latin typeface="+mn-lt"/>
                  <a:ea typeface="+mn-ea"/>
                  <a:cs typeface="+mn-cs"/>
                </a:rPr>
                <a:t>码写完就一个字都不许动”。改错仍然要改。</a:t>
              </a:r>
            </a:p>
          </p:txBody>
        </p:sp>
      </p:grpSp>
      <p:grpSp>
        <p:nvGrpSpPr>
          <p:cNvPr id="34" name="c2-bullets-1"/>
          <p:cNvGrpSpPr/>
          <p:nvPr/>
        </p:nvGrpSpPr>
        <p:grpSpPr>
          <a:xfrm>
            <a:off x="6240780" y="1548765"/>
            <a:ext cx="5446966" cy="1967865"/>
            <a:chOff x="6240780" y="1548765"/>
            <a:chExt cx="5446966" cy="1967865"/>
          </a:xfrm>
        </p:grpSpPr>
        <p:sp>
          <p:nvSpPr>
            <p:cNvPr id="25" name="TextBox 25"/>
            <p:cNvSpPr txBox="1"/>
            <p:nvPr/>
          </p:nvSpPr>
          <p:spPr>
            <a:xfrm>
              <a:off x="6240780" y="1548765"/>
              <a:ext cx="2671629"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为什么“不改源代码”这么值钱</a:t>
              </a:r>
            </a:p>
          </p:txBody>
        </p:sp>
        <p:sp>
          <p:nvSpPr>
            <p:cNvPr id="26" name="Ellipse 26"/>
            <p:cNvSpPr/>
            <p:nvPr/>
          </p:nvSpPr>
          <p:spPr>
            <a:xfrm>
              <a:off x="6254115" y="1965960"/>
              <a:ext cx="64770" cy="64770"/>
            </a:xfrm>
            <a:prstGeom prst="ellipse">
              <a:avLst/>
            </a:prstGeom>
            <a:solidFill>
              <a:srgbClr val="334E68"/>
            </a:solidFill>
            <a:ln>
              <a:noFill/>
            </a:ln>
          </p:spPr>
        </p:sp>
        <p:sp>
          <p:nvSpPr>
            <p:cNvPr id="27" name="TextBox 27"/>
            <p:cNvSpPr txBox="1"/>
            <p:nvPr/>
          </p:nvSpPr>
          <p:spPr>
            <a:xfrm>
              <a:off x="6412230" y="1903095"/>
              <a:ext cx="4922139"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改了源代码就要重新走一遍代码评审（code reviews）</a:t>
              </a:r>
            </a:p>
          </p:txBody>
        </p:sp>
        <p:sp>
          <p:nvSpPr>
            <p:cNvPr id="28" name="Ellipse 28"/>
            <p:cNvSpPr/>
            <p:nvPr/>
          </p:nvSpPr>
          <p:spPr>
            <a:xfrm>
              <a:off x="6254115" y="2310765"/>
              <a:ext cx="64770" cy="64770"/>
            </a:xfrm>
            <a:prstGeom prst="ellipse">
              <a:avLst/>
            </a:prstGeom>
            <a:solidFill>
              <a:srgbClr val="334E68"/>
            </a:solidFill>
            <a:ln>
              <a:noFill/>
            </a:ln>
          </p:spPr>
        </p:sp>
        <p:sp>
          <p:nvSpPr>
            <p:cNvPr id="29" name="TextBox 29"/>
            <p:cNvSpPr txBox="1"/>
            <p:nvPr/>
          </p:nvSpPr>
          <p:spPr>
            <a:xfrm>
              <a:off x="6412230" y="2247900"/>
              <a:ext cx="28422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要重做单元测试（unit tests）</a:t>
              </a:r>
            </a:p>
          </p:txBody>
        </p:sp>
        <p:sp>
          <p:nvSpPr>
            <p:cNvPr id="30" name="Ellipse 30"/>
            <p:cNvSpPr/>
            <p:nvPr/>
          </p:nvSpPr>
          <p:spPr>
            <a:xfrm>
              <a:off x="6254115" y="2655570"/>
              <a:ext cx="64770" cy="64770"/>
            </a:xfrm>
            <a:prstGeom prst="ellipse">
              <a:avLst/>
            </a:prstGeom>
            <a:solidFill>
              <a:srgbClr val="334E68"/>
            </a:solidFill>
            <a:ln>
              <a:noFill/>
            </a:ln>
          </p:spPr>
        </p:sp>
        <p:sp>
          <p:nvSpPr>
            <p:cNvPr id="31" name="TextBox 31"/>
            <p:cNvSpPr txBox="1"/>
            <p:nvPr/>
          </p:nvSpPr>
          <p:spPr>
            <a:xfrm>
              <a:off x="6412230" y="2592705"/>
              <a:ext cx="527551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还要重做集成测试（integration test）才能放行到产品里</a:t>
              </a:r>
            </a:p>
          </p:txBody>
        </p:sp>
        <p:sp>
          <p:nvSpPr>
            <p:cNvPr id="32" name="Ellipse 32"/>
            <p:cNvSpPr/>
            <p:nvPr/>
          </p:nvSpPr>
          <p:spPr>
            <a:xfrm>
              <a:off x="6254115" y="3000375"/>
              <a:ext cx="64770" cy="64770"/>
            </a:xfrm>
            <a:prstGeom prst="ellipse">
              <a:avLst/>
            </a:prstGeom>
            <a:solidFill>
              <a:srgbClr val="334E68"/>
            </a:solidFill>
            <a:ln>
              <a:noFill/>
            </a:ln>
          </p:spPr>
        </p:sp>
        <p:sp>
          <p:nvSpPr>
            <p:cNvPr id="33" name="TextBox 33"/>
            <p:cNvSpPr txBox="1"/>
            <p:nvPr/>
          </p:nvSpPr>
          <p:spPr>
            <a:xfrm>
              <a:off x="6412230" y="2937510"/>
              <a:ext cx="4834890" cy="579120"/>
            </a:xfrm>
            <a:prstGeom prst="rect">
              <a:avLst/>
            </a:prstGeom>
            <a:noFill/>
            <a:ln>
              <a:noFill/>
            </a:ln>
          </p:spPr>
          <p:txBody>
            <a:bodyPr wrap="none" lIns="0" tIns="0" rIns="0" bIns="0" anchor="t" anchorCtr="0">
              <a:spAutoFit/>
            </a:bodyPr>
            <a:lstStyle/>
            <a:p>
              <a:pPr algn="l">
                <a:lnSpc>
                  <a:spcPts val="2250"/>
                </a:lnSpc>
              </a:pPr>
              <a:r>
                <a:rPr lang="en-US" sz="1500" dirty="0">
                  <a:solidFill>
                    <a:srgbClr val="1F2937"/>
                  </a:solidFill>
                  <a:latin typeface="+mn-lt"/>
                  <a:ea typeface="+mn-ea"/>
                  <a:cs typeface="+mn-cs"/>
                </a:rPr>
                <a:t>Code obeying the principle doesn't change when it is</a:t>
              </a:r>
              <a:br/>
              <a:r>
                <a:rPr lang="en-US" sz="1500" dirty="0">
                  <a:solidFill>
                    <a:srgbClr val="1F2937"/>
                  </a:solidFill>
                  <a:latin typeface="+mn-lt"/>
                  <a:ea typeface="+mn-ea"/>
                  <a:cs typeface="+mn-cs"/>
                </a:rPr>
                <a:t>extended, and therefore needs no such effort.</a:t>
              </a:r>
            </a:p>
          </p:txBody>
        </p:sp>
      </p:grpSp>
      <p:grpSp>
        <p:nvGrpSpPr>
          <p:cNvPr id="42" name="c2-card-2"/>
          <p:cNvGrpSpPr/>
          <p:nvPr/>
        </p:nvGrpSpPr>
        <p:grpSpPr>
          <a:xfrm>
            <a:off x="6248400" y="3648075"/>
            <a:ext cx="5410200" cy="2244090"/>
            <a:chOff x="6248400" y="3648075"/>
            <a:chExt cx="5410200" cy="2244090"/>
          </a:xfrm>
        </p:grpSpPr>
        <p:sp>
          <p:nvSpPr>
            <p:cNvPr id="35" name="Rectangle 35"/>
            <p:cNvSpPr/>
            <p:nvPr/>
          </p:nvSpPr>
          <p:spPr>
            <a:xfrm>
              <a:off x="6248400" y="3648075"/>
              <a:ext cx="5410200" cy="2244090"/>
            </a:xfrm>
            <a:prstGeom prst="roundRect">
              <a:avLst>
                <a:gd name="adj" fmla="val 5942"/>
              </a:avLst>
            </a:prstGeom>
            <a:solidFill>
              <a:srgbClr val="FFFFFF"/>
            </a:solidFill>
            <a:ln w="14288">
              <a:solidFill>
                <a:srgbClr val="D9DFEA"/>
              </a:solidFill>
            </a:ln>
          </p:spPr>
        </p:sp>
        <p:sp>
          <p:nvSpPr>
            <p:cNvPr id="36" name="Rectangle 36"/>
            <p:cNvSpPr/>
            <p:nvPr/>
          </p:nvSpPr>
          <p:spPr>
            <a:xfrm>
              <a:off x="6257925" y="3781425"/>
              <a:ext cx="47625" cy="1977390"/>
            </a:xfrm>
            <a:prstGeom prst="roundRect">
              <a:avLst>
                <a:gd name="adj" fmla="val 50000"/>
              </a:avLst>
            </a:prstGeom>
            <a:solidFill>
              <a:srgbClr val="5B6475"/>
            </a:solidFill>
            <a:ln>
              <a:noFill/>
            </a:ln>
          </p:spPr>
        </p:sp>
        <p:sp>
          <p:nvSpPr>
            <p:cNvPr id="37" name="Rectangle 37"/>
            <p:cNvSpPr/>
            <p:nvPr/>
          </p:nvSpPr>
          <p:spPr>
            <a:xfrm>
              <a:off x="6496050" y="3857625"/>
              <a:ext cx="778192" cy="257175"/>
            </a:xfrm>
            <a:prstGeom prst="roundRect">
              <a:avLst>
                <a:gd name="adj" fmla="val 50000"/>
              </a:avLst>
            </a:prstGeom>
            <a:solidFill>
              <a:srgbClr val="F4F6FB"/>
            </a:solidFill>
            <a:ln>
              <a:noFill/>
            </a:ln>
          </p:spPr>
        </p:sp>
        <p:sp>
          <p:nvSpPr>
            <p:cNvPr id="38" name="TextBox 38"/>
            <p:cNvSpPr txBox="1"/>
            <p:nvPr/>
          </p:nvSpPr>
          <p:spPr>
            <a:xfrm>
              <a:off x="6578359" y="3893344"/>
              <a:ext cx="614528" cy="220028"/>
            </a:xfrm>
            <a:prstGeom prst="rect">
              <a:avLst/>
            </a:prstGeom>
            <a:noFill/>
            <a:ln>
              <a:noFill/>
            </a:ln>
          </p:spPr>
          <p:txBody>
            <a:bodyPr wrap="none" lIns="0" tIns="0" rIns="0" bIns="0" anchor="t" anchorCtr="0">
              <a:spAutoFit/>
            </a:bodyPr>
            <a:lstStyle/>
            <a:p>
              <a:pPr algn="ctr"/>
              <a:r>
                <a:rPr lang="zh-CN" sz="1120" b="1" dirty="0">
                  <a:solidFill>
                    <a:srgbClr val="5B6475"/>
                  </a:solidFill>
                  <a:latin typeface="+mn-lt"/>
                  <a:ea typeface="+mn-ea"/>
                  <a:cs typeface="+mn-cs"/>
                </a:rPr>
                <a:t>成本视角</a:t>
              </a:r>
            </a:p>
          </p:txBody>
        </p:sp>
        <p:sp>
          <p:nvSpPr>
            <p:cNvPr id="39" name="TextBox 39"/>
            <p:cNvSpPr txBox="1"/>
            <p:nvPr/>
          </p:nvSpPr>
          <p:spPr>
            <a:xfrm>
              <a:off x="7380923" y="3892868"/>
              <a:ext cx="183261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一次修改的连带代价</a:t>
              </a:r>
            </a:p>
          </p:txBody>
        </p:sp>
        <p:sp>
          <p:nvSpPr>
            <p:cNvPr id="40" name="TextBox 40"/>
            <p:cNvSpPr txBox="1"/>
            <p:nvPr/>
          </p:nvSpPr>
          <p:spPr>
            <a:xfrm>
              <a:off x="6488430" y="4253865"/>
              <a:ext cx="4587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在生产环境里，改一行老代码引发的评审和回归测试，</a:t>
              </a:r>
              <a:br/>
              <a:r>
                <a:rPr lang="zh-CN" sz="1500" dirty="0">
                  <a:solidFill>
                    <a:srgbClr val="1F2937"/>
                  </a:solidFill>
                  <a:latin typeface="+mn-lt"/>
                  <a:ea typeface="+mn-ea"/>
                  <a:cs typeface="+mn-cs"/>
                </a:rPr>
                <a:t>成本常常远高于写那行代码本身。</a:t>
              </a:r>
            </a:p>
          </p:txBody>
        </p:sp>
        <p:sp>
          <p:nvSpPr>
            <p:cNvPr id="41" name="TextBox 41"/>
            <p:cNvSpPr txBox="1"/>
            <p:nvPr/>
          </p:nvSpPr>
          <p:spPr>
            <a:xfrm>
              <a:off x="6488430" y="4874895"/>
              <a:ext cx="4587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新增一个子类则只需要测试这个新类，老类的测试结论</a:t>
              </a:r>
              <a:br/>
              <a:r>
                <a:rPr lang="zh-CN" sz="1500" dirty="0">
                  <a:solidFill>
                    <a:srgbClr val="1F2937"/>
                  </a:solidFill>
                  <a:latin typeface="+mn-lt"/>
                  <a:ea typeface="+mn-ea"/>
                  <a:cs typeface="+mn-cs"/>
                </a:rPr>
                <a:t>仍然有效。</a:t>
              </a:r>
            </a:p>
          </p:txBody>
        </p:sp>
      </p:grpSp>
      <p:grpSp>
        <p:nvGrpSpPr>
          <p:cNvPr id="45" name="footer"/>
          <p:cNvGrpSpPr/>
          <p:nvPr/>
        </p:nvGrpSpPr>
        <p:grpSpPr>
          <a:xfrm>
            <a:off x="528447" y="6581299"/>
            <a:ext cx="11135106" cy="190690"/>
            <a:chOff x="528447" y="6581299"/>
            <a:chExt cx="11135106" cy="190690"/>
          </a:xfrm>
        </p:grpSpPr>
        <p:sp>
          <p:nvSpPr>
            <p:cNvPr id="43" name="TextBox 43"/>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44" name="TextBox 4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234809" cy="909257"/>
            <a:chOff x="520446" y="342900"/>
            <a:chExt cx="7234809" cy="909257"/>
          </a:xfrm>
        </p:grpSpPr>
        <p:sp>
          <p:nvSpPr>
            <p:cNvPr id="2" name="Rectangle 2"/>
            <p:cNvSpPr/>
            <p:nvPr/>
          </p:nvSpPr>
          <p:spPr>
            <a:xfrm>
              <a:off x="533400" y="342900"/>
              <a:ext cx="2660332" cy="266700"/>
            </a:xfrm>
            <a:prstGeom prst="roundRect">
              <a:avLst>
                <a:gd name="adj" fmla="val 50000"/>
              </a:avLst>
            </a:prstGeom>
            <a:solidFill>
              <a:srgbClr val="E7EDF3"/>
            </a:solidFill>
            <a:ln>
              <a:noFill/>
            </a:ln>
          </p:spPr>
        </p:sp>
        <p:sp>
          <p:nvSpPr>
            <p:cNvPr id="3" name="TextBox 3"/>
            <p:cNvSpPr txBox="1"/>
            <p:nvPr/>
          </p:nvSpPr>
          <p:spPr>
            <a:xfrm>
              <a:off x="570203" y="407194"/>
              <a:ext cx="25857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SOLID 五原则</a:t>
              </a:r>
            </a:p>
          </p:txBody>
        </p:sp>
        <p:sp>
          <p:nvSpPr>
            <p:cNvPr id="4" name="TextBox 4"/>
            <p:cNvSpPr txBox="1"/>
            <p:nvPr/>
          </p:nvSpPr>
          <p:spPr>
            <a:xfrm>
              <a:off x="520446" y="753428"/>
              <a:ext cx="723480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实现开闭的两种策略：重用实现，还是重用接口</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1" name="c1-compare-1"/>
          <p:cNvGrpSpPr/>
          <p:nvPr/>
        </p:nvGrpSpPr>
        <p:grpSpPr>
          <a:xfrm>
            <a:off x="533400" y="1524000"/>
            <a:ext cx="4976813" cy="3876675"/>
            <a:chOff x="533400" y="1524000"/>
            <a:chExt cx="4976813" cy="3876675"/>
          </a:xfrm>
        </p:grpSpPr>
        <p:sp>
          <p:nvSpPr>
            <p:cNvPr id="7" name="Rectangle 7"/>
            <p:cNvSpPr/>
            <p:nvPr/>
          </p:nvSpPr>
          <p:spPr>
            <a:xfrm>
              <a:off x="533400" y="1524000"/>
              <a:ext cx="2249805" cy="3876675"/>
            </a:xfrm>
            <a:prstGeom prst="roundRect">
              <a:avLst>
                <a:gd name="adj" fmla="val 5927"/>
              </a:avLst>
            </a:prstGeom>
            <a:solidFill>
              <a:srgbClr val="FFFFFF"/>
            </a:solidFill>
            <a:ln w="14288">
              <a:solidFill>
                <a:srgbClr val="D9DFEA"/>
              </a:solidFill>
            </a:ln>
          </p:spPr>
        </p:sp>
        <p:sp>
          <p:nvSpPr>
            <p:cNvPr id="8" name="Rectangle 8"/>
            <p:cNvSpPr/>
            <p:nvPr/>
          </p:nvSpPr>
          <p:spPr>
            <a:xfrm>
              <a:off x="542925" y="1657350"/>
              <a:ext cx="47625" cy="3609975"/>
            </a:xfrm>
            <a:prstGeom prst="roundRect">
              <a:avLst>
                <a:gd name="adj" fmla="val 50000"/>
              </a:avLst>
            </a:prstGeom>
            <a:solidFill>
              <a:srgbClr val="B42318"/>
            </a:solidFill>
            <a:ln>
              <a:noFill/>
            </a:ln>
          </p:spPr>
        </p:sp>
        <p:sp>
          <p:nvSpPr>
            <p:cNvPr id="9" name="TextBox 9"/>
            <p:cNvSpPr txBox="1"/>
            <p:nvPr/>
          </p:nvSpPr>
          <p:spPr>
            <a:xfrm>
              <a:off x="757047" y="1738312"/>
              <a:ext cx="1456039" cy="495490"/>
            </a:xfrm>
            <a:prstGeom prst="rect">
              <a:avLst/>
            </a:prstGeom>
            <a:noFill/>
            <a:ln>
              <a:noFill/>
            </a:ln>
          </p:spPr>
          <p:txBody>
            <a:bodyPr wrap="none" lIns="0" tIns="0" rIns="0" bIns="0" anchor="t" anchorCtr="0">
              <a:spAutoFit/>
            </a:bodyPr>
            <a:lstStyle/>
            <a:p>
              <a:pPr algn="l">
                <a:lnSpc>
                  <a:spcPts val="1822"/>
                </a:lnSpc>
              </a:pPr>
              <a:r>
                <a:rPr lang="zh-CN" sz="1350" b="1" dirty="0">
                  <a:solidFill>
                    <a:srgbClr val="1F2937"/>
                  </a:solidFill>
                  <a:latin typeface="+mn-lt"/>
                  <a:ea typeface="+mn-ea"/>
                  <a:cs typeface="+mn-cs"/>
                </a:rPr>
                <a:t>Meyer 的策略（早</a:t>
              </a:r>
              <a:br/>
              <a:r>
                <a:rPr lang="zh-CN" sz="1350" b="1" dirty="0">
                  <a:solidFill>
                    <a:srgbClr val="1F2937"/>
                  </a:solidFill>
                  <a:latin typeface="+mn-lt"/>
                  <a:ea typeface="+mn-ea"/>
                  <a:cs typeface="+mn-cs"/>
                </a:rPr>
                <a:t>期，不太好）</a:t>
              </a:r>
            </a:p>
          </p:txBody>
        </p:sp>
        <p:sp>
          <p:nvSpPr>
            <p:cNvPr id="10" name="Ellipse 10"/>
            <p:cNvSpPr/>
            <p:nvPr/>
          </p:nvSpPr>
          <p:spPr>
            <a:xfrm>
              <a:off x="772478" y="2346008"/>
              <a:ext cx="59055" cy="59055"/>
            </a:xfrm>
            <a:prstGeom prst="ellipse">
              <a:avLst/>
            </a:prstGeom>
            <a:solidFill>
              <a:srgbClr val="334E68"/>
            </a:solidFill>
            <a:ln>
              <a:noFill/>
            </a:ln>
          </p:spPr>
        </p:sp>
        <p:sp>
          <p:nvSpPr>
            <p:cNvPr id="11" name="TextBox 11"/>
            <p:cNvSpPr txBox="1"/>
            <p:nvPr/>
          </p:nvSpPr>
          <p:spPr>
            <a:xfrm>
              <a:off x="928497" y="2289810"/>
              <a:ext cx="1556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已有类只允许为改错</a:t>
              </a:r>
              <a:br/>
              <a:r>
                <a:rPr lang="zh-CN" sz="1350" dirty="0">
                  <a:solidFill>
                    <a:srgbClr val="1F2937"/>
                  </a:solidFill>
                  <a:latin typeface="+mn-lt"/>
                  <a:ea typeface="+mn-ea"/>
                  <a:cs typeface="+mn-cs"/>
                </a:rPr>
                <a:t>而修改</a:t>
              </a:r>
            </a:p>
          </p:txBody>
        </p:sp>
        <p:sp>
          <p:nvSpPr>
            <p:cNvPr id="12" name="Ellipse 12"/>
            <p:cNvSpPr/>
            <p:nvPr/>
          </p:nvSpPr>
          <p:spPr>
            <a:xfrm>
              <a:off x="772478" y="2906077"/>
              <a:ext cx="59055" cy="59055"/>
            </a:xfrm>
            <a:prstGeom prst="ellipse">
              <a:avLst/>
            </a:prstGeom>
            <a:solidFill>
              <a:srgbClr val="334E68"/>
            </a:solidFill>
            <a:ln>
              <a:noFill/>
            </a:ln>
          </p:spPr>
        </p:sp>
        <p:sp>
          <p:nvSpPr>
            <p:cNvPr id="13" name="TextBox 13"/>
            <p:cNvSpPr txBox="1"/>
            <p:nvPr/>
          </p:nvSpPr>
          <p:spPr>
            <a:xfrm>
              <a:off x="928497" y="2849880"/>
              <a:ext cx="1556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要加新功能就派生一</a:t>
              </a:r>
              <a:br/>
              <a:r>
                <a:rPr lang="zh-CN" sz="1350" dirty="0">
                  <a:solidFill>
                    <a:srgbClr val="1F2937"/>
                  </a:solidFill>
                  <a:latin typeface="+mn-lt"/>
                  <a:ea typeface="+mn-ea"/>
                  <a:cs typeface="+mn-cs"/>
                </a:rPr>
                <a:t>个新类出来</a:t>
              </a:r>
            </a:p>
          </p:txBody>
        </p:sp>
        <p:sp>
          <p:nvSpPr>
            <p:cNvPr id="14" name="Ellipse 14"/>
            <p:cNvSpPr/>
            <p:nvPr/>
          </p:nvSpPr>
          <p:spPr>
            <a:xfrm>
              <a:off x="772478" y="3465195"/>
              <a:ext cx="59055" cy="59055"/>
            </a:xfrm>
            <a:prstGeom prst="ellipse">
              <a:avLst/>
            </a:prstGeom>
            <a:solidFill>
              <a:srgbClr val="334E68"/>
            </a:solidFill>
            <a:ln>
              <a:noFill/>
            </a:ln>
          </p:spPr>
        </p:sp>
        <p:sp>
          <p:nvSpPr>
            <p:cNvPr id="15" name="TextBox 15"/>
            <p:cNvSpPr txBox="1"/>
            <p:nvPr/>
          </p:nvSpPr>
          <p:spPr>
            <a:xfrm>
              <a:off x="928497" y="3408998"/>
              <a:ext cx="143675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 xml:space="preserve">重用的是 </a:t>
              </a:r>
              <a:r>
                <a:rPr lang="zh-CN" sz="1350" b="1" dirty="0">
                  <a:solidFill>
                    <a:srgbClr val="C2410C"/>
                  </a:solidFill>
                  <a:latin typeface="+mn-lt"/>
                  <a:ea typeface="+mn-ea"/>
                  <a:cs typeface="+mn-cs"/>
                </a:rPr>
                <a:t>实现（代</a:t>
              </a:r>
              <a:br/>
              <a:r>
                <a:rPr lang="zh-CN" sz="1350" b="1" dirty="0">
                  <a:solidFill>
                    <a:srgbClr val="C2410C"/>
                  </a:solidFill>
                  <a:latin typeface="+mn-lt"/>
                  <a:ea typeface="+mn-ea"/>
                  <a:cs typeface="+mn-cs"/>
                </a:rPr>
                <a:t>码）</a:t>
              </a:r>
              <a:r>
                <a:rPr lang="zh-CN" sz="1350" dirty="0">
                  <a:solidFill>
                    <a:srgbClr val="1F2937"/>
                  </a:solidFill>
                  <a:latin typeface="+mn-lt"/>
                  <a:ea typeface="+mn-ea"/>
                  <a:cs typeface="+mn-cs"/>
                </a:rPr>
                <a:t>，接口可以变</a:t>
              </a:r>
            </a:p>
          </p:txBody>
        </p:sp>
        <p:sp>
          <p:nvSpPr>
            <p:cNvPr id="16" name="Ellipse 16"/>
            <p:cNvSpPr/>
            <p:nvPr/>
          </p:nvSpPr>
          <p:spPr>
            <a:xfrm>
              <a:off x="772478" y="4025265"/>
              <a:ext cx="59055" cy="59055"/>
            </a:xfrm>
            <a:prstGeom prst="ellipse">
              <a:avLst/>
            </a:prstGeom>
            <a:solidFill>
              <a:srgbClr val="334E68"/>
            </a:solidFill>
            <a:ln>
              <a:noFill/>
            </a:ln>
          </p:spPr>
        </p:sp>
        <p:sp>
          <p:nvSpPr>
            <p:cNvPr id="17" name="TextBox 17"/>
            <p:cNvSpPr txBox="1"/>
            <p:nvPr/>
          </p:nvSpPr>
          <p:spPr>
            <a:xfrm>
              <a:off x="928497" y="3969068"/>
              <a:ext cx="1556766" cy="129273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子类接口变了，客户</a:t>
              </a:r>
              <a:br/>
              <a:r>
                <a:rPr lang="zh-CN" sz="1350" dirty="0">
                  <a:solidFill>
                    <a:srgbClr val="1F2937"/>
                  </a:solidFill>
                  <a:latin typeface="+mn-lt"/>
                  <a:ea typeface="+mn-ea"/>
                  <a:cs typeface="+mn-cs"/>
                </a:rPr>
                <a:t>端必须跟着改：</a:t>
              </a:r>
              <a:br/>
              <a:r>
                <a:rPr lang="zh-CN" sz="1350" dirty="0">
                  <a:solidFill>
                    <a:srgbClr val="1F2937"/>
                  </a:solidFill>
                  <a:latin typeface="+mn-lt"/>
                  <a:ea typeface="+mn-ea"/>
                  <a:cs typeface="+mn-cs"/>
                </a:rPr>
                <a:t>Bank 改成 NewBank</a:t>
              </a:r>
              <a:br/>
              <a:r>
                <a:rPr lang="zh-CN" sz="1350" dirty="0">
                  <a:solidFill>
                    <a:srgbClr val="1F2937"/>
                  </a:solidFill>
                  <a:latin typeface="+mn-lt"/>
                  <a:ea typeface="+mn-ea"/>
                  <a:cs typeface="+mn-cs"/>
                </a:rPr>
                <a:t>多了 transfer()，</a:t>
              </a:r>
              <a:br/>
              <a:r>
                <a:rPr lang="zh-CN" sz="1350" dirty="0">
                  <a:solidFill>
                    <a:srgbClr val="1F2937"/>
                  </a:solidFill>
                  <a:latin typeface="+mn-lt"/>
                  <a:ea typeface="+mn-ea"/>
                  <a:cs typeface="+mn-cs"/>
                </a:rPr>
                <a:t>调用方全要动</a:t>
              </a:r>
            </a:p>
          </p:txBody>
        </p:sp>
        <p:sp>
          <p:nvSpPr>
            <p:cNvPr id="18" name="Rectangle 18"/>
            <p:cNvSpPr/>
            <p:nvPr/>
          </p:nvSpPr>
          <p:spPr>
            <a:xfrm>
              <a:off x="3260408" y="1524000"/>
              <a:ext cx="2249805" cy="3876675"/>
            </a:xfrm>
            <a:prstGeom prst="roundRect">
              <a:avLst>
                <a:gd name="adj" fmla="val 5927"/>
              </a:avLst>
            </a:prstGeom>
            <a:solidFill>
              <a:srgbClr val="FFFFFF"/>
            </a:solidFill>
            <a:ln w="14288">
              <a:solidFill>
                <a:srgbClr val="D9DFEA"/>
              </a:solidFill>
            </a:ln>
          </p:spPr>
        </p:sp>
        <p:sp>
          <p:nvSpPr>
            <p:cNvPr id="19" name="Rectangle 19"/>
            <p:cNvSpPr/>
            <p:nvPr/>
          </p:nvSpPr>
          <p:spPr>
            <a:xfrm>
              <a:off x="3269932" y="1657350"/>
              <a:ext cx="47625" cy="3609975"/>
            </a:xfrm>
            <a:prstGeom prst="roundRect">
              <a:avLst>
                <a:gd name="adj" fmla="val 50000"/>
              </a:avLst>
            </a:prstGeom>
            <a:solidFill>
              <a:srgbClr val="14A38B"/>
            </a:solidFill>
            <a:ln>
              <a:noFill/>
            </a:ln>
          </p:spPr>
        </p:sp>
        <p:sp>
          <p:nvSpPr>
            <p:cNvPr id="20" name="TextBox 20"/>
            <p:cNvSpPr txBox="1"/>
            <p:nvPr/>
          </p:nvSpPr>
          <p:spPr>
            <a:xfrm>
              <a:off x="3484054" y="1738312"/>
              <a:ext cx="1492472" cy="495490"/>
            </a:xfrm>
            <a:prstGeom prst="rect">
              <a:avLst/>
            </a:prstGeom>
            <a:noFill/>
            <a:ln>
              <a:noFill/>
            </a:ln>
          </p:spPr>
          <p:txBody>
            <a:bodyPr wrap="none" lIns="0" tIns="0" rIns="0" bIns="0" anchor="t" anchorCtr="0">
              <a:spAutoFit/>
            </a:bodyPr>
            <a:lstStyle/>
            <a:p>
              <a:pPr algn="l">
                <a:lnSpc>
                  <a:spcPts val="1822"/>
                </a:lnSpc>
              </a:pPr>
              <a:r>
                <a:rPr lang="zh-CN" sz="1350" b="1" dirty="0">
                  <a:solidFill>
                    <a:srgbClr val="1F2937"/>
                  </a:solidFill>
                  <a:latin typeface="+mn-lt"/>
                  <a:ea typeface="+mn-ea"/>
                  <a:cs typeface="+mn-cs"/>
                </a:rPr>
                <a:t>1990 年代的新定义</a:t>
              </a:r>
              <a:br/>
              <a:r>
                <a:rPr lang="zh-CN" sz="1350" b="1" dirty="0">
                  <a:solidFill>
                    <a:srgbClr val="1F2937"/>
                  </a:solidFill>
                  <a:latin typeface="+mn-lt"/>
                  <a:ea typeface="+mn-ea"/>
                  <a:cs typeface="+mn-cs"/>
                </a:rPr>
                <a:t>（现在的主流）</a:t>
              </a:r>
            </a:p>
          </p:txBody>
        </p:sp>
        <p:sp>
          <p:nvSpPr>
            <p:cNvPr id="21" name="Ellipse 21"/>
            <p:cNvSpPr/>
            <p:nvPr/>
          </p:nvSpPr>
          <p:spPr>
            <a:xfrm>
              <a:off x="3499485" y="2346008"/>
              <a:ext cx="59055" cy="59055"/>
            </a:xfrm>
            <a:prstGeom prst="ellipse">
              <a:avLst/>
            </a:prstGeom>
            <a:solidFill>
              <a:srgbClr val="334E68"/>
            </a:solidFill>
            <a:ln>
              <a:noFill/>
            </a:ln>
          </p:spPr>
        </p:sp>
        <p:sp>
          <p:nvSpPr>
            <p:cNvPr id="22" name="TextBox 22"/>
            <p:cNvSpPr txBox="1"/>
            <p:nvPr/>
          </p:nvSpPr>
          <p:spPr>
            <a:xfrm>
              <a:off x="3655504" y="2289810"/>
              <a:ext cx="1556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先定义抽象接口，把</a:t>
              </a:r>
              <a:br/>
              <a:r>
                <a:rPr lang="zh-CN" sz="1350" dirty="0">
                  <a:solidFill>
                    <a:srgbClr val="1F2937"/>
                  </a:solidFill>
                  <a:latin typeface="+mn-lt"/>
                  <a:ea typeface="+mn-ea"/>
                  <a:cs typeface="+mn-cs"/>
                </a:rPr>
                <a:t>它固定下来</a:t>
              </a:r>
            </a:p>
          </p:txBody>
        </p:sp>
        <p:sp>
          <p:nvSpPr>
            <p:cNvPr id="23" name="Ellipse 23"/>
            <p:cNvSpPr/>
            <p:nvPr/>
          </p:nvSpPr>
          <p:spPr>
            <a:xfrm>
              <a:off x="3499485" y="2906077"/>
              <a:ext cx="59055" cy="59055"/>
            </a:xfrm>
            <a:prstGeom prst="ellipse">
              <a:avLst/>
            </a:prstGeom>
            <a:solidFill>
              <a:srgbClr val="334E68"/>
            </a:solidFill>
            <a:ln>
              <a:noFill/>
            </a:ln>
          </p:spPr>
        </p:sp>
        <p:sp>
          <p:nvSpPr>
            <p:cNvPr id="24" name="TextBox 24"/>
            <p:cNvSpPr txBox="1"/>
            <p:nvPr/>
          </p:nvSpPr>
          <p:spPr>
            <a:xfrm>
              <a:off x="3655504" y="2849880"/>
              <a:ext cx="1556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多个实现类实现同一</a:t>
              </a:r>
              <a:br/>
              <a:r>
                <a:rPr lang="zh-CN" sz="1350" dirty="0">
                  <a:solidFill>
                    <a:srgbClr val="1F2937"/>
                  </a:solidFill>
                  <a:latin typeface="+mn-lt"/>
                  <a:ea typeface="+mn-ea"/>
                  <a:cs typeface="+mn-cs"/>
                </a:rPr>
                <a:t>接口，可以多态替换</a:t>
              </a:r>
            </a:p>
          </p:txBody>
        </p:sp>
        <p:sp>
          <p:nvSpPr>
            <p:cNvPr id="25" name="Ellipse 25"/>
            <p:cNvSpPr/>
            <p:nvPr/>
          </p:nvSpPr>
          <p:spPr>
            <a:xfrm>
              <a:off x="3499485" y="3465195"/>
              <a:ext cx="59055" cy="59055"/>
            </a:xfrm>
            <a:prstGeom prst="ellipse">
              <a:avLst/>
            </a:prstGeom>
            <a:solidFill>
              <a:srgbClr val="334E68"/>
            </a:solidFill>
            <a:ln>
              <a:noFill/>
            </a:ln>
          </p:spPr>
        </p:sp>
        <p:sp>
          <p:nvSpPr>
            <p:cNvPr id="26" name="TextBox 26"/>
            <p:cNvSpPr txBox="1"/>
            <p:nvPr/>
          </p:nvSpPr>
          <p:spPr>
            <a:xfrm>
              <a:off x="3655504" y="3408998"/>
              <a:ext cx="1556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 xml:space="preserve">重用的是 </a:t>
              </a:r>
              <a:r>
                <a:rPr lang="zh-CN" sz="1350" b="1" dirty="0">
                  <a:solidFill>
                    <a:srgbClr val="C2410C"/>
                  </a:solidFill>
                  <a:latin typeface="+mn-lt"/>
                  <a:ea typeface="+mn-ea"/>
                  <a:cs typeface="+mn-cs"/>
                </a:rPr>
                <a:t>抽象接</a:t>
              </a:r>
              <a:br/>
              <a:r>
                <a:rPr lang="zh-CN" sz="1350" b="1" dirty="0">
                  <a:solidFill>
                    <a:srgbClr val="C2410C"/>
                  </a:solidFill>
                  <a:latin typeface="+mn-lt"/>
                  <a:ea typeface="+mn-ea"/>
                  <a:cs typeface="+mn-cs"/>
                </a:rPr>
                <a:t>口</a:t>
              </a:r>
              <a:r>
                <a:rPr lang="zh-CN" sz="1350" dirty="0">
                  <a:solidFill>
                    <a:srgbClr val="1F2937"/>
                  </a:solidFill>
                  <a:latin typeface="+mn-lt"/>
                  <a:ea typeface="+mn-ea"/>
                  <a:cs typeface="+mn-cs"/>
                </a:rPr>
                <a:t>，实现可以随便换</a:t>
              </a:r>
            </a:p>
          </p:txBody>
        </p:sp>
        <p:sp>
          <p:nvSpPr>
            <p:cNvPr id="27" name="Ellipse 27"/>
            <p:cNvSpPr/>
            <p:nvPr/>
          </p:nvSpPr>
          <p:spPr>
            <a:xfrm>
              <a:off x="3499485" y="4025265"/>
              <a:ext cx="59055" cy="59055"/>
            </a:xfrm>
            <a:prstGeom prst="ellipse">
              <a:avLst/>
            </a:prstGeom>
            <a:solidFill>
              <a:srgbClr val="334E68"/>
            </a:solidFill>
            <a:ln>
              <a:noFill/>
            </a:ln>
          </p:spPr>
        </p:sp>
        <p:sp>
          <p:nvSpPr>
            <p:cNvPr id="28" name="TextBox 28"/>
            <p:cNvSpPr txBox="1"/>
            <p:nvPr/>
          </p:nvSpPr>
          <p:spPr>
            <a:xfrm>
              <a:off x="3655504" y="3969068"/>
              <a:ext cx="155676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接口不变，新增子类</a:t>
              </a:r>
              <a:br/>
              <a:r>
                <a:rPr lang="zh-CN" sz="1350" dirty="0">
                  <a:solidFill>
                    <a:srgbClr val="1F2937"/>
                  </a:solidFill>
                  <a:latin typeface="+mn-lt"/>
                  <a:ea typeface="+mn-ea"/>
                  <a:cs typeface="+mn-cs"/>
                </a:rPr>
                <a:t>就能扩展功能，客户</a:t>
              </a:r>
              <a:br/>
              <a:r>
                <a:rPr lang="zh-CN" sz="1350" dirty="0">
                  <a:solidFill>
                    <a:srgbClr val="1F2937"/>
                  </a:solidFill>
                  <a:latin typeface="+mn-lt"/>
                  <a:ea typeface="+mn-ea"/>
                  <a:cs typeface="+mn-cs"/>
                </a:rPr>
                <a:t>端一行不改</a:t>
              </a:r>
            </a:p>
          </p:txBody>
        </p:sp>
        <p:sp>
          <p:nvSpPr>
            <p:cNvPr id="29" name="Ellipse 29"/>
            <p:cNvSpPr/>
            <p:nvPr/>
          </p:nvSpPr>
          <p:spPr>
            <a:xfrm>
              <a:off x="2830830" y="3270885"/>
              <a:ext cx="382905" cy="382905"/>
            </a:xfrm>
            <a:prstGeom prst="ellipse">
              <a:avLst/>
            </a:prstGeom>
            <a:solidFill>
              <a:srgbClr val="F26B3A"/>
            </a:solidFill>
            <a:ln>
              <a:noFill/>
            </a:ln>
          </p:spPr>
        </p:sp>
        <p:sp>
          <p:nvSpPr>
            <p:cNvPr id="30" name="TextBox 30"/>
            <p:cNvSpPr txBox="1"/>
            <p:nvPr/>
          </p:nvSpPr>
          <p:spPr>
            <a:xfrm>
              <a:off x="2885402" y="3401854"/>
              <a:ext cx="273761"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对比</a:t>
              </a:r>
            </a:p>
          </p:txBody>
        </p:sp>
      </p:grpSp>
      <p:grpSp>
        <p:nvGrpSpPr>
          <p:cNvPr id="37" name="c1-callout-2"/>
          <p:cNvGrpSpPr/>
          <p:nvPr/>
        </p:nvGrpSpPr>
        <p:grpSpPr>
          <a:xfrm>
            <a:off x="533400" y="5575935"/>
            <a:ext cx="4977765" cy="749618"/>
            <a:chOff x="533400" y="5575935"/>
            <a:chExt cx="4977765" cy="749618"/>
          </a:xfrm>
        </p:grpSpPr>
        <p:sp>
          <p:nvSpPr>
            <p:cNvPr id="32" name="Rectangle 32"/>
            <p:cNvSpPr/>
            <p:nvPr/>
          </p:nvSpPr>
          <p:spPr>
            <a:xfrm>
              <a:off x="533400" y="5575935"/>
              <a:ext cx="4977765" cy="749618"/>
            </a:xfrm>
            <a:prstGeom prst="roundRect">
              <a:avLst>
                <a:gd name="adj" fmla="val 15248"/>
              </a:avLst>
            </a:prstGeom>
            <a:solidFill>
              <a:srgbClr val="334E68"/>
            </a:solidFill>
            <a:ln>
              <a:noFill/>
            </a:ln>
          </p:spPr>
        </p:sp>
        <p:grpSp>
          <p:nvGrpSpPr>
            <p:cNvPr id="35" name="Group 35"/>
            <p:cNvGrpSpPr/>
            <p:nvPr/>
          </p:nvGrpSpPr>
          <p:grpSpPr>
            <a:xfrm>
              <a:off x="738188" y="5851210"/>
              <a:ext cx="200023" cy="200023"/>
              <a:chOff x="738188" y="5851210"/>
              <a:chExt cx="200023" cy="200023"/>
            </a:xfrm>
          </p:grpSpPr>
          <p:sp>
            <p:nvSpPr>
              <p:cNvPr id="33" name="Freeform 33"/>
              <p:cNvSpPr/>
              <p:nvPr/>
            </p:nvSpPr>
            <p:spPr>
              <a:xfrm>
                <a:off x="738188" y="585121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34" name="Freeform 34"/>
              <p:cNvSpPr/>
              <p:nvPr/>
            </p:nvSpPr>
            <p:spPr>
              <a:xfrm>
                <a:off x="871538" y="591788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36" name="TextBox 36"/>
            <p:cNvSpPr txBox="1"/>
            <p:nvPr/>
          </p:nvSpPr>
          <p:spPr>
            <a:xfrm>
              <a:off x="1040892" y="5732145"/>
              <a:ext cx="4085654"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一句话记法：Meyer 重用实现不重用接口；1990 年代</a:t>
              </a:r>
              <a:br/>
              <a:r>
                <a:rPr lang="zh-CN" sz="1350" dirty="0">
                  <a:solidFill>
                    <a:srgbClr val="FFFFFF"/>
                  </a:solidFill>
                  <a:latin typeface="+mn-lt"/>
                  <a:ea typeface="+mn-ea"/>
                  <a:cs typeface="+mn-cs"/>
                </a:rPr>
                <a:t>重用接口不重用实现。</a:t>
              </a:r>
            </a:p>
          </p:txBody>
        </p:sp>
      </p:grpSp>
      <p:grpSp>
        <p:nvGrpSpPr>
          <p:cNvPr id="69" name="c2-uml-1"/>
          <p:cNvGrpSpPr/>
          <p:nvPr/>
        </p:nvGrpSpPr>
        <p:grpSpPr>
          <a:xfrm>
            <a:off x="6217920" y="1789748"/>
            <a:ext cx="5038725" cy="1994535"/>
            <a:chOff x="6217920" y="1789748"/>
            <a:chExt cx="5038725" cy="1994535"/>
          </a:xfrm>
        </p:grpSpPr>
        <p:sp>
          <p:nvSpPr>
            <p:cNvPr id="38" name="Freeform 38"/>
            <p:cNvSpPr/>
            <p:nvPr/>
          </p:nvSpPr>
          <p:spPr>
            <a:xfrm>
              <a:off x="6789420" y="2684145"/>
              <a:ext cx="1757362" cy="480060"/>
            </a:xfrm>
            <a:custGeom>
              <a:avLst/>
              <a:gdLst/>
              <a:ahLst/>
              <a:cxnLst/>
              <a:rect l="l" t="t" r="r" b="b"/>
              <a:pathLst>
                <a:path w="1757362" h="480060">
                  <a:moveTo>
                    <a:pt x="0" y="480060"/>
                  </a:moveTo>
                  <a:lnTo>
                    <a:pt x="0" y="177165"/>
                  </a:lnTo>
                  <a:lnTo>
                    <a:pt x="1757362" y="177165"/>
                  </a:lnTo>
                  <a:lnTo>
                    <a:pt x="1757362" y="0"/>
                  </a:lnTo>
                </a:path>
              </a:pathLst>
            </a:custGeom>
            <a:noFill/>
            <a:ln w="15240">
              <a:solidFill>
                <a:srgbClr val="1F2937"/>
              </a:solidFill>
              <a:custDash>
                <a:ds d="375000" sp="250000"/>
              </a:custDash>
            </a:ln>
          </p:spPr>
        </p:sp>
        <p:sp>
          <p:nvSpPr>
            <p:cNvPr id="39" name="Freeform 39"/>
            <p:cNvSpPr/>
            <p:nvPr/>
          </p:nvSpPr>
          <p:spPr>
            <a:xfrm>
              <a:off x="8473440" y="2558415"/>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40" name="Freeform 40"/>
            <p:cNvSpPr/>
            <p:nvPr/>
          </p:nvSpPr>
          <p:spPr>
            <a:xfrm>
              <a:off x="8737282" y="2684145"/>
              <a:ext cx="9525" cy="480060"/>
            </a:xfrm>
            <a:custGeom>
              <a:avLst/>
              <a:gdLst/>
              <a:ahLst/>
              <a:cxnLst/>
              <a:rect l="l" t="t" r="r" b="b"/>
              <a:pathLst>
                <a:path w="9525" h="480060">
                  <a:moveTo>
                    <a:pt x="0" y="480060"/>
                  </a:moveTo>
                  <a:lnTo>
                    <a:pt x="0" y="177165"/>
                  </a:lnTo>
                  <a:lnTo>
                    <a:pt x="0" y="177165"/>
                  </a:lnTo>
                  <a:lnTo>
                    <a:pt x="0" y="0"/>
                  </a:lnTo>
                </a:path>
              </a:pathLst>
            </a:custGeom>
            <a:noFill/>
            <a:ln w="15240">
              <a:solidFill>
                <a:srgbClr val="1F2937"/>
              </a:solidFill>
              <a:custDash>
                <a:ds d="375000" sp="250000"/>
              </a:custDash>
            </a:ln>
          </p:spPr>
        </p:sp>
        <p:sp>
          <p:nvSpPr>
            <p:cNvPr id="41" name="Freeform 41"/>
            <p:cNvSpPr/>
            <p:nvPr/>
          </p:nvSpPr>
          <p:spPr>
            <a:xfrm>
              <a:off x="8663940" y="2558415"/>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42" name="Freeform 42"/>
            <p:cNvSpPr/>
            <p:nvPr/>
          </p:nvSpPr>
          <p:spPr>
            <a:xfrm>
              <a:off x="8927782" y="2684145"/>
              <a:ext cx="1757362" cy="480060"/>
            </a:xfrm>
            <a:custGeom>
              <a:avLst/>
              <a:gdLst/>
              <a:ahLst/>
              <a:cxnLst/>
              <a:rect l="l" t="t" r="r" b="b"/>
              <a:pathLst>
                <a:path w="1757362" h="480060">
                  <a:moveTo>
                    <a:pt x="1757362" y="480060"/>
                  </a:moveTo>
                  <a:lnTo>
                    <a:pt x="1757362" y="177165"/>
                  </a:lnTo>
                  <a:lnTo>
                    <a:pt x="0" y="177165"/>
                  </a:lnTo>
                  <a:lnTo>
                    <a:pt x="0" y="0"/>
                  </a:lnTo>
                </a:path>
              </a:pathLst>
            </a:custGeom>
            <a:noFill/>
            <a:ln w="15240">
              <a:solidFill>
                <a:srgbClr val="1F2937"/>
              </a:solidFill>
              <a:custDash>
                <a:ds d="375000" sp="250000"/>
              </a:custDash>
            </a:ln>
          </p:spPr>
        </p:sp>
        <p:sp>
          <p:nvSpPr>
            <p:cNvPr id="43" name="Freeform 43"/>
            <p:cNvSpPr/>
            <p:nvPr/>
          </p:nvSpPr>
          <p:spPr>
            <a:xfrm>
              <a:off x="8854440" y="2558415"/>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44" name="Rectangle 44"/>
            <p:cNvSpPr/>
            <p:nvPr/>
          </p:nvSpPr>
          <p:spPr>
            <a:xfrm>
              <a:off x="8161972" y="1789748"/>
              <a:ext cx="1149668" cy="768668"/>
            </a:xfrm>
            <a:prstGeom prst="rect">
              <a:avLst/>
            </a:prstGeom>
            <a:solidFill>
              <a:srgbClr val="FFFFFF"/>
            </a:solidFill>
            <a:ln w="14288">
              <a:solidFill>
                <a:srgbClr val="334E68"/>
              </a:solidFill>
            </a:ln>
          </p:spPr>
        </p:sp>
        <p:sp>
          <p:nvSpPr>
            <p:cNvPr id="45" name="Rectangle 45"/>
            <p:cNvSpPr/>
            <p:nvPr/>
          </p:nvSpPr>
          <p:spPr>
            <a:xfrm>
              <a:off x="8169592" y="1797368"/>
              <a:ext cx="1135380" cy="394335"/>
            </a:xfrm>
            <a:prstGeom prst="rect">
              <a:avLst/>
            </a:prstGeom>
            <a:solidFill>
              <a:srgbClr val="334E68"/>
            </a:solidFill>
            <a:ln>
              <a:noFill/>
            </a:ln>
          </p:spPr>
        </p:sp>
        <p:sp>
          <p:nvSpPr>
            <p:cNvPr id="46" name="Rectangle 46"/>
            <p:cNvSpPr/>
            <p:nvPr/>
          </p:nvSpPr>
          <p:spPr>
            <a:xfrm>
              <a:off x="8161972" y="2186940"/>
              <a:ext cx="1149668" cy="9525"/>
            </a:xfrm>
            <a:prstGeom prst="rect">
              <a:avLst/>
            </a:prstGeom>
            <a:solidFill>
              <a:srgbClr val="334E68"/>
            </a:solidFill>
            <a:ln>
              <a:noFill/>
            </a:ln>
          </p:spPr>
        </p:sp>
        <p:sp>
          <p:nvSpPr>
            <p:cNvPr id="47" name="Rectangle 47"/>
            <p:cNvSpPr/>
            <p:nvPr/>
          </p:nvSpPr>
          <p:spPr>
            <a:xfrm>
              <a:off x="8161972" y="2282190"/>
              <a:ext cx="1149668" cy="9525"/>
            </a:xfrm>
            <a:prstGeom prst="rect">
              <a:avLst/>
            </a:prstGeom>
            <a:solidFill>
              <a:srgbClr val="334E68"/>
            </a:solidFill>
            <a:ln>
              <a:noFill/>
            </a:ln>
          </p:spPr>
        </p:sp>
        <p:sp>
          <p:nvSpPr>
            <p:cNvPr id="48" name="Rectangle 48"/>
            <p:cNvSpPr/>
            <p:nvPr/>
          </p:nvSpPr>
          <p:spPr>
            <a:xfrm>
              <a:off x="6217920" y="3164205"/>
              <a:ext cx="1143000" cy="620078"/>
            </a:xfrm>
            <a:prstGeom prst="rect">
              <a:avLst/>
            </a:prstGeom>
            <a:solidFill>
              <a:srgbClr val="FFFFFF"/>
            </a:solidFill>
            <a:ln w="14288">
              <a:solidFill>
                <a:srgbClr val="334E68"/>
              </a:solidFill>
            </a:ln>
          </p:spPr>
        </p:sp>
        <p:sp>
          <p:nvSpPr>
            <p:cNvPr id="49" name="Rectangle 49"/>
            <p:cNvSpPr/>
            <p:nvPr/>
          </p:nvSpPr>
          <p:spPr>
            <a:xfrm>
              <a:off x="6224588" y="3171825"/>
              <a:ext cx="1128712" cy="245745"/>
            </a:xfrm>
            <a:prstGeom prst="rect">
              <a:avLst/>
            </a:prstGeom>
            <a:solidFill>
              <a:srgbClr val="E7EDF3"/>
            </a:solidFill>
            <a:ln>
              <a:noFill/>
            </a:ln>
          </p:spPr>
        </p:sp>
        <p:sp>
          <p:nvSpPr>
            <p:cNvPr id="50" name="Rectangle 50"/>
            <p:cNvSpPr/>
            <p:nvPr/>
          </p:nvSpPr>
          <p:spPr>
            <a:xfrm>
              <a:off x="6217920" y="3412808"/>
              <a:ext cx="1143000" cy="9525"/>
            </a:xfrm>
            <a:prstGeom prst="rect">
              <a:avLst/>
            </a:prstGeom>
            <a:solidFill>
              <a:srgbClr val="334E68"/>
            </a:solidFill>
            <a:ln>
              <a:noFill/>
            </a:ln>
          </p:spPr>
        </p:sp>
        <p:sp>
          <p:nvSpPr>
            <p:cNvPr id="51" name="Rectangle 51"/>
            <p:cNvSpPr/>
            <p:nvPr/>
          </p:nvSpPr>
          <p:spPr>
            <a:xfrm>
              <a:off x="6217920" y="3508058"/>
              <a:ext cx="1143000" cy="9525"/>
            </a:xfrm>
            <a:prstGeom prst="rect">
              <a:avLst/>
            </a:prstGeom>
            <a:solidFill>
              <a:srgbClr val="334E68"/>
            </a:solidFill>
            <a:ln>
              <a:noFill/>
            </a:ln>
          </p:spPr>
        </p:sp>
        <p:sp>
          <p:nvSpPr>
            <p:cNvPr id="52" name="Rectangle 52"/>
            <p:cNvSpPr/>
            <p:nvPr/>
          </p:nvSpPr>
          <p:spPr>
            <a:xfrm>
              <a:off x="8165782" y="3164205"/>
              <a:ext cx="1143000" cy="620078"/>
            </a:xfrm>
            <a:prstGeom prst="rect">
              <a:avLst/>
            </a:prstGeom>
            <a:solidFill>
              <a:srgbClr val="FFFFFF"/>
            </a:solidFill>
            <a:ln w="14288">
              <a:solidFill>
                <a:srgbClr val="334E68"/>
              </a:solidFill>
            </a:ln>
          </p:spPr>
        </p:sp>
        <p:sp>
          <p:nvSpPr>
            <p:cNvPr id="53" name="Rectangle 53"/>
            <p:cNvSpPr/>
            <p:nvPr/>
          </p:nvSpPr>
          <p:spPr>
            <a:xfrm>
              <a:off x="8172450" y="3171825"/>
              <a:ext cx="1128712" cy="245745"/>
            </a:xfrm>
            <a:prstGeom prst="rect">
              <a:avLst/>
            </a:prstGeom>
            <a:solidFill>
              <a:srgbClr val="E7EDF3"/>
            </a:solidFill>
            <a:ln>
              <a:noFill/>
            </a:ln>
          </p:spPr>
        </p:sp>
        <p:sp>
          <p:nvSpPr>
            <p:cNvPr id="54" name="Rectangle 54"/>
            <p:cNvSpPr/>
            <p:nvPr/>
          </p:nvSpPr>
          <p:spPr>
            <a:xfrm>
              <a:off x="8165782" y="3412808"/>
              <a:ext cx="1143000" cy="9525"/>
            </a:xfrm>
            <a:prstGeom prst="rect">
              <a:avLst/>
            </a:prstGeom>
            <a:solidFill>
              <a:srgbClr val="334E68"/>
            </a:solidFill>
            <a:ln>
              <a:noFill/>
            </a:ln>
          </p:spPr>
        </p:sp>
        <p:sp>
          <p:nvSpPr>
            <p:cNvPr id="55" name="Rectangle 55"/>
            <p:cNvSpPr/>
            <p:nvPr/>
          </p:nvSpPr>
          <p:spPr>
            <a:xfrm>
              <a:off x="8165782" y="3508058"/>
              <a:ext cx="1143000" cy="9525"/>
            </a:xfrm>
            <a:prstGeom prst="rect">
              <a:avLst/>
            </a:prstGeom>
            <a:solidFill>
              <a:srgbClr val="334E68"/>
            </a:solidFill>
            <a:ln>
              <a:noFill/>
            </a:ln>
          </p:spPr>
        </p:sp>
        <p:sp>
          <p:nvSpPr>
            <p:cNvPr id="56" name="Rectangle 56"/>
            <p:cNvSpPr/>
            <p:nvPr/>
          </p:nvSpPr>
          <p:spPr>
            <a:xfrm>
              <a:off x="10113645" y="3164205"/>
              <a:ext cx="1143000" cy="620078"/>
            </a:xfrm>
            <a:prstGeom prst="rect">
              <a:avLst/>
            </a:prstGeom>
            <a:solidFill>
              <a:srgbClr val="FFFFFF"/>
            </a:solidFill>
            <a:ln w="14288">
              <a:solidFill>
                <a:srgbClr val="334E68"/>
              </a:solidFill>
            </a:ln>
          </p:spPr>
        </p:sp>
        <p:sp>
          <p:nvSpPr>
            <p:cNvPr id="57" name="Rectangle 57"/>
            <p:cNvSpPr/>
            <p:nvPr/>
          </p:nvSpPr>
          <p:spPr>
            <a:xfrm>
              <a:off x="10120312" y="3171825"/>
              <a:ext cx="1128712" cy="245745"/>
            </a:xfrm>
            <a:prstGeom prst="rect">
              <a:avLst/>
            </a:prstGeom>
            <a:solidFill>
              <a:srgbClr val="E7EDF3"/>
            </a:solidFill>
            <a:ln>
              <a:noFill/>
            </a:ln>
          </p:spPr>
        </p:sp>
        <p:sp>
          <p:nvSpPr>
            <p:cNvPr id="58" name="Rectangle 58"/>
            <p:cNvSpPr/>
            <p:nvPr/>
          </p:nvSpPr>
          <p:spPr>
            <a:xfrm>
              <a:off x="10113645" y="3412808"/>
              <a:ext cx="1143000" cy="9525"/>
            </a:xfrm>
            <a:prstGeom prst="rect">
              <a:avLst/>
            </a:prstGeom>
            <a:solidFill>
              <a:srgbClr val="334E68"/>
            </a:solidFill>
            <a:ln>
              <a:noFill/>
            </a:ln>
          </p:spPr>
        </p:sp>
        <p:sp>
          <p:nvSpPr>
            <p:cNvPr id="59" name="Rectangle 59"/>
            <p:cNvSpPr/>
            <p:nvPr/>
          </p:nvSpPr>
          <p:spPr>
            <a:xfrm>
              <a:off x="10113645" y="3508058"/>
              <a:ext cx="1143000" cy="9525"/>
            </a:xfrm>
            <a:prstGeom prst="rect">
              <a:avLst/>
            </a:prstGeom>
            <a:solidFill>
              <a:srgbClr val="334E68"/>
            </a:solidFill>
            <a:ln>
              <a:noFill/>
            </a:ln>
          </p:spPr>
        </p:sp>
        <p:sp>
          <p:nvSpPr>
            <p:cNvPr id="60" name="TextBox 60"/>
            <p:cNvSpPr txBox="1"/>
            <p:nvPr/>
          </p:nvSpPr>
          <p:spPr>
            <a:xfrm>
              <a:off x="8381162" y="1846898"/>
              <a:ext cx="712241" cy="176212"/>
            </a:xfrm>
            <a:prstGeom prst="rect">
              <a:avLst/>
            </a:prstGeom>
            <a:noFill/>
            <a:ln>
              <a:noFill/>
            </a:ln>
          </p:spPr>
          <p:txBody>
            <a:bodyPr wrap="none" lIns="0" tIns="0" rIns="0" bIns="0" anchor="t" anchorCtr="0">
              <a:spAutoFit/>
            </a:bodyPr>
            <a:lstStyle/>
            <a:p>
              <a:pPr algn="ctr"/>
              <a:r>
                <a:rPr lang="en-US" sz="900" dirty="0">
                  <a:solidFill>
                    <a:srgbClr val="FFFFFF"/>
                  </a:solidFill>
                  <a:latin typeface="+mn-lt"/>
                  <a:ea typeface="+mn-ea"/>
                  <a:cs typeface="+mn-cs"/>
                </a:rPr>
                <a:t>«interface»</a:t>
              </a:r>
            </a:p>
          </p:txBody>
        </p:sp>
        <p:sp>
          <p:nvSpPr>
            <p:cNvPr id="61" name="TextBox 61"/>
            <p:cNvSpPr txBox="1"/>
            <p:nvPr/>
          </p:nvSpPr>
          <p:spPr>
            <a:xfrm>
              <a:off x="8219188" y="1998345"/>
              <a:ext cx="103618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SortAlgorithm</a:t>
              </a:r>
            </a:p>
          </p:txBody>
        </p:sp>
        <p:sp>
          <p:nvSpPr>
            <p:cNvPr id="62" name="TextBox 62"/>
            <p:cNvSpPr txBox="1"/>
            <p:nvPr/>
          </p:nvSpPr>
          <p:spPr>
            <a:xfrm>
              <a:off x="8233220" y="2353151"/>
              <a:ext cx="517827" cy="190690"/>
            </a:xfrm>
            <a:prstGeom prst="rect">
              <a:avLst/>
            </a:prstGeom>
            <a:noFill/>
            <a:ln>
              <a:noFill/>
            </a:ln>
          </p:spPr>
          <p:txBody>
            <a:bodyPr wrap="none" lIns="0" tIns="0" rIns="0" bIns="0" anchor="t" anchorCtr="0">
              <a:spAutoFit/>
            </a:bodyPr>
            <a:lstStyle/>
            <a:p>
              <a:pPr algn="l"/>
              <a:r>
                <a:rPr lang="en-US" sz="980" dirty="0">
                  <a:solidFill>
                    <a:srgbClr val="1F2937"/>
                  </a:solidFill>
                  <a:latin typeface="+mn-lt"/>
                  <a:ea typeface="+mn-ea"/>
                  <a:cs typeface="+mn-cs"/>
                </a:rPr>
                <a:t>+sort()</a:t>
              </a:r>
            </a:p>
          </p:txBody>
        </p:sp>
        <p:sp>
          <p:nvSpPr>
            <p:cNvPr id="63" name="TextBox 63"/>
            <p:cNvSpPr txBox="1"/>
            <p:nvPr/>
          </p:nvSpPr>
          <p:spPr>
            <a:xfrm>
              <a:off x="6452945" y="3224212"/>
              <a:ext cx="672951"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HeapSort</a:t>
              </a:r>
            </a:p>
          </p:txBody>
        </p:sp>
        <p:sp>
          <p:nvSpPr>
            <p:cNvPr id="64" name="TextBox 64"/>
            <p:cNvSpPr txBox="1"/>
            <p:nvPr/>
          </p:nvSpPr>
          <p:spPr>
            <a:xfrm>
              <a:off x="6289167" y="3579019"/>
              <a:ext cx="517827" cy="190690"/>
            </a:xfrm>
            <a:prstGeom prst="rect">
              <a:avLst/>
            </a:prstGeom>
            <a:noFill/>
            <a:ln>
              <a:noFill/>
            </a:ln>
          </p:spPr>
          <p:txBody>
            <a:bodyPr wrap="none" lIns="0" tIns="0" rIns="0" bIns="0" anchor="t" anchorCtr="0">
              <a:spAutoFit/>
            </a:bodyPr>
            <a:lstStyle/>
            <a:p>
              <a:pPr algn="l"/>
              <a:r>
                <a:rPr lang="en-US" sz="980" dirty="0">
                  <a:solidFill>
                    <a:srgbClr val="1F2937"/>
                  </a:solidFill>
                  <a:latin typeface="+mn-lt"/>
                  <a:ea typeface="+mn-ea"/>
                  <a:cs typeface="+mn-cs"/>
                </a:rPr>
                <a:t>+sort()</a:t>
              </a:r>
            </a:p>
          </p:txBody>
        </p:sp>
        <p:sp>
          <p:nvSpPr>
            <p:cNvPr id="65" name="TextBox 65"/>
            <p:cNvSpPr txBox="1"/>
            <p:nvPr/>
          </p:nvSpPr>
          <p:spPr>
            <a:xfrm>
              <a:off x="8337939" y="3224212"/>
              <a:ext cx="798686"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BubbleSort</a:t>
              </a:r>
            </a:p>
          </p:txBody>
        </p:sp>
        <p:sp>
          <p:nvSpPr>
            <p:cNvPr id="66" name="TextBox 66"/>
            <p:cNvSpPr txBox="1"/>
            <p:nvPr/>
          </p:nvSpPr>
          <p:spPr>
            <a:xfrm>
              <a:off x="8237030" y="3579019"/>
              <a:ext cx="517827" cy="190690"/>
            </a:xfrm>
            <a:prstGeom prst="rect">
              <a:avLst/>
            </a:prstGeom>
            <a:noFill/>
            <a:ln>
              <a:noFill/>
            </a:ln>
          </p:spPr>
          <p:txBody>
            <a:bodyPr wrap="none" lIns="0" tIns="0" rIns="0" bIns="0" anchor="t" anchorCtr="0">
              <a:spAutoFit/>
            </a:bodyPr>
            <a:lstStyle/>
            <a:p>
              <a:pPr algn="l"/>
              <a:r>
                <a:rPr lang="en-US" sz="980" dirty="0">
                  <a:solidFill>
                    <a:srgbClr val="1F2937"/>
                  </a:solidFill>
                  <a:latin typeface="+mn-lt"/>
                  <a:ea typeface="+mn-ea"/>
                  <a:cs typeface="+mn-cs"/>
                </a:rPr>
                <a:t>+sort()</a:t>
              </a:r>
            </a:p>
          </p:txBody>
        </p:sp>
        <p:sp>
          <p:nvSpPr>
            <p:cNvPr id="67" name="TextBox 67"/>
            <p:cNvSpPr txBox="1"/>
            <p:nvPr/>
          </p:nvSpPr>
          <p:spPr>
            <a:xfrm>
              <a:off x="10182022" y="3224212"/>
              <a:ext cx="1006246"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InsertionSort</a:t>
              </a:r>
            </a:p>
          </p:txBody>
        </p:sp>
        <p:sp>
          <p:nvSpPr>
            <p:cNvPr id="68" name="TextBox 68"/>
            <p:cNvSpPr txBox="1"/>
            <p:nvPr/>
          </p:nvSpPr>
          <p:spPr>
            <a:xfrm>
              <a:off x="10184892" y="3579019"/>
              <a:ext cx="517827" cy="190690"/>
            </a:xfrm>
            <a:prstGeom prst="rect">
              <a:avLst/>
            </a:prstGeom>
            <a:noFill/>
            <a:ln>
              <a:noFill/>
            </a:ln>
          </p:spPr>
          <p:txBody>
            <a:bodyPr wrap="none" lIns="0" tIns="0" rIns="0" bIns="0" anchor="t" anchorCtr="0">
              <a:spAutoFit/>
            </a:bodyPr>
            <a:lstStyle/>
            <a:p>
              <a:pPr algn="l"/>
              <a:r>
                <a:rPr lang="en-US" sz="980" dirty="0">
                  <a:solidFill>
                    <a:srgbClr val="1F2937"/>
                  </a:solidFill>
                  <a:latin typeface="+mn-lt"/>
                  <a:ea typeface="+mn-ea"/>
                  <a:cs typeface="+mn-cs"/>
                </a:rPr>
                <a:t>+sort()</a:t>
              </a:r>
            </a:p>
          </p:txBody>
        </p:sp>
      </p:grpSp>
      <p:grpSp>
        <p:nvGrpSpPr>
          <p:cNvPr id="76" name="c2-card-2"/>
          <p:cNvGrpSpPr/>
          <p:nvPr/>
        </p:nvGrpSpPr>
        <p:grpSpPr>
          <a:xfrm>
            <a:off x="5815965" y="4299585"/>
            <a:ext cx="5842635" cy="2025968"/>
            <a:chOff x="5815965" y="4299585"/>
            <a:chExt cx="5842635" cy="2025968"/>
          </a:xfrm>
        </p:grpSpPr>
        <p:sp>
          <p:nvSpPr>
            <p:cNvPr id="70" name="Rectangle 70"/>
            <p:cNvSpPr/>
            <p:nvPr/>
          </p:nvSpPr>
          <p:spPr>
            <a:xfrm>
              <a:off x="5815965" y="4299585"/>
              <a:ext cx="5842635" cy="2025968"/>
            </a:xfrm>
            <a:prstGeom prst="roundRect">
              <a:avLst>
                <a:gd name="adj" fmla="val 6582"/>
              </a:avLst>
            </a:prstGeom>
            <a:solidFill>
              <a:srgbClr val="FFFFFF"/>
            </a:solidFill>
            <a:ln w="14288">
              <a:solidFill>
                <a:srgbClr val="D9DFEA"/>
              </a:solidFill>
            </a:ln>
          </p:spPr>
        </p:sp>
        <p:sp>
          <p:nvSpPr>
            <p:cNvPr id="71" name="Rectangle 71"/>
            <p:cNvSpPr/>
            <p:nvPr/>
          </p:nvSpPr>
          <p:spPr>
            <a:xfrm>
              <a:off x="5825490" y="4432935"/>
              <a:ext cx="47625" cy="1759268"/>
            </a:xfrm>
            <a:prstGeom prst="roundRect">
              <a:avLst>
                <a:gd name="adj" fmla="val 50000"/>
              </a:avLst>
            </a:prstGeom>
            <a:solidFill>
              <a:srgbClr val="5B6475"/>
            </a:solidFill>
            <a:ln>
              <a:noFill/>
            </a:ln>
          </p:spPr>
        </p:sp>
        <p:sp>
          <p:nvSpPr>
            <p:cNvPr id="72" name="Rectangle 72"/>
            <p:cNvSpPr/>
            <p:nvPr/>
          </p:nvSpPr>
          <p:spPr>
            <a:xfrm>
              <a:off x="6046470" y="4491990"/>
              <a:ext cx="476250" cy="247650"/>
            </a:xfrm>
            <a:prstGeom prst="roundRect">
              <a:avLst>
                <a:gd name="adj" fmla="val 50000"/>
              </a:avLst>
            </a:prstGeom>
            <a:solidFill>
              <a:srgbClr val="F4F6FB"/>
            </a:solidFill>
            <a:ln>
              <a:noFill/>
            </a:ln>
          </p:spPr>
        </p:sp>
        <p:sp>
          <p:nvSpPr>
            <p:cNvPr id="73" name="TextBox 73"/>
            <p:cNvSpPr txBox="1"/>
            <p:nvPr/>
          </p:nvSpPr>
          <p:spPr>
            <a:xfrm>
              <a:off x="6137910" y="4526280"/>
              <a:ext cx="293370" cy="205359"/>
            </a:xfrm>
            <a:prstGeom prst="rect">
              <a:avLst/>
            </a:prstGeom>
            <a:noFill/>
            <a:ln>
              <a:noFill/>
            </a:ln>
          </p:spPr>
          <p:txBody>
            <a:bodyPr wrap="none" lIns="0" tIns="0" rIns="0" bIns="0" anchor="t" anchorCtr="0">
              <a:spAutoFit/>
            </a:bodyPr>
            <a:lstStyle/>
            <a:p>
              <a:pPr algn="ctr"/>
              <a:r>
                <a:rPr lang="zh-CN" sz="1050" b="1" dirty="0">
                  <a:solidFill>
                    <a:srgbClr val="5B6475"/>
                  </a:solidFill>
                  <a:latin typeface="+mn-lt"/>
                  <a:ea typeface="+mn-ea"/>
                  <a:cs typeface="+mn-cs"/>
                </a:rPr>
                <a:t>更正</a:t>
              </a:r>
            </a:p>
          </p:txBody>
        </p:sp>
        <p:sp>
          <p:nvSpPr>
            <p:cNvPr id="74" name="TextBox 74"/>
            <p:cNvSpPr txBox="1"/>
            <p:nvPr/>
          </p:nvSpPr>
          <p:spPr>
            <a:xfrm>
              <a:off x="6039612" y="4848225"/>
              <a:ext cx="469130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 xml:space="preserve">原课件这张图里第三个子类写作 </a:t>
              </a:r>
              <a:r>
                <a:rPr lang="en-US" sz="1350" b="1" dirty="0">
                  <a:solidFill>
                    <a:srgbClr val="B42318"/>
                  </a:solidFill>
                  <a:latin typeface="+mn-lt"/>
                  <a:ea typeface="+mn-ea"/>
                  <a:cs typeface="+mn-cs"/>
                </a:rPr>
                <a:t>InsersionSort</a:t>
              </a:r>
              <a:r>
                <a:rPr lang="zh-CN" sz="1350" dirty="0">
                  <a:solidFill>
                    <a:srgbClr val="1F2937"/>
                  </a:solidFill>
                  <a:latin typeface="+mn-lt"/>
                  <a:ea typeface="+mn-ea"/>
                  <a:cs typeface="+mn-cs"/>
                </a:rPr>
                <a:t>，正确拼写是</a:t>
              </a:r>
              <a:br/>
              <a:r>
                <a:rPr lang="en-US" sz="1350" b="1" dirty="0">
                  <a:solidFill>
                    <a:srgbClr val="0F7A68"/>
                  </a:solidFill>
                  <a:latin typeface="+mn-lt"/>
                  <a:ea typeface="+mn-ea"/>
                  <a:cs typeface="+mn-cs"/>
                </a:rPr>
                <a:t>InsertionSort</a:t>
              </a:r>
              <a:r>
                <a:rPr lang="zh-CN" sz="1350" dirty="0">
                  <a:solidFill>
                    <a:srgbClr val="1F2937"/>
                  </a:solidFill>
                  <a:latin typeface="+mn-lt"/>
                  <a:ea typeface="+mn-ea"/>
                  <a:cs typeface="+mn-cs"/>
                </a:rPr>
                <a:t>（插入排序）。</a:t>
              </a:r>
            </a:p>
          </p:txBody>
        </p:sp>
        <p:sp>
          <p:nvSpPr>
            <p:cNvPr id="75" name="TextBox 75"/>
            <p:cNvSpPr txBox="1"/>
            <p:nvPr/>
          </p:nvSpPr>
          <p:spPr>
            <a:xfrm>
              <a:off x="6039612" y="5408295"/>
              <a:ext cx="4771454" cy="778383"/>
            </a:xfrm>
            <a:prstGeom prst="rect">
              <a:avLst/>
            </a:prstGeom>
            <a:noFill/>
            <a:ln>
              <a:noFill/>
            </a:ln>
          </p:spPr>
          <p:txBody>
            <a:bodyPr wrap="none" lIns="0" tIns="0" rIns="0" bIns="0" anchor="t" anchorCtr="0">
              <a:spAutoFit/>
            </a:bodyPr>
            <a:lstStyle/>
            <a:p>
              <a:pPr algn="l">
                <a:lnSpc>
                  <a:spcPts val="2025"/>
                </a:lnSpc>
              </a:pPr>
              <a:r>
                <a:rPr lang="en-US" sz="1350" dirty="0">
                  <a:solidFill>
                    <a:srgbClr val="1F2937"/>
                  </a:solidFill>
                  <a:latin typeface="+mn-lt"/>
                  <a:ea typeface="+mn-ea"/>
                  <a:cs typeface="+mn-cs"/>
                </a:rPr>
                <a:t>The existing interface is closed to modifications and new</a:t>
              </a:r>
              <a:br/>
              <a:r>
                <a:rPr lang="en-US" sz="1350" dirty="0">
                  <a:solidFill>
                    <a:srgbClr val="1F2937"/>
                  </a:solidFill>
                  <a:latin typeface="+mn-lt"/>
                  <a:ea typeface="+mn-ea"/>
                  <a:cs typeface="+mn-cs"/>
                </a:rPr>
                <a:t>implementations must, at a minimum, implement that</a:t>
              </a:r>
              <a:br/>
              <a:r>
                <a:rPr lang="en-US" sz="1350" dirty="0">
                  <a:solidFill>
                    <a:srgbClr val="1F2937"/>
                  </a:solidFill>
                  <a:latin typeface="+mn-lt"/>
                  <a:ea typeface="+mn-ea"/>
                  <a:cs typeface="+mn-cs"/>
                </a:rPr>
                <a:t>interface.</a:t>
              </a:r>
            </a:p>
          </p:txBody>
        </p:sp>
      </p:grpSp>
      <p:grpSp>
        <p:nvGrpSpPr>
          <p:cNvPr id="79" name="footer"/>
          <p:cNvGrpSpPr/>
          <p:nvPr/>
        </p:nvGrpSpPr>
        <p:grpSpPr>
          <a:xfrm>
            <a:off x="528447" y="6581299"/>
            <a:ext cx="11135106" cy="190690"/>
            <a:chOff x="528447" y="6581299"/>
            <a:chExt cx="11135106" cy="190690"/>
          </a:xfrm>
        </p:grpSpPr>
        <p:sp>
          <p:nvSpPr>
            <p:cNvPr id="77" name="TextBox 77"/>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78" name="TextBox 7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18</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649321" cy="909257"/>
            <a:chOff x="520446" y="342900"/>
            <a:chExt cx="7649321" cy="909257"/>
          </a:xfrm>
        </p:grpSpPr>
        <p:sp>
          <p:nvSpPr>
            <p:cNvPr id="2" name="Rectangle 2"/>
            <p:cNvSpPr/>
            <p:nvPr/>
          </p:nvSpPr>
          <p:spPr>
            <a:xfrm>
              <a:off x="533400" y="342900"/>
              <a:ext cx="2660332" cy="266700"/>
            </a:xfrm>
            <a:prstGeom prst="roundRect">
              <a:avLst>
                <a:gd name="adj" fmla="val 50000"/>
              </a:avLst>
            </a:prstGeom>
            <a:solidFill>
              <a:srgbClr val="E7EDF3"/>
            </a:solidFill>
            <a:ln>
              <a:noFill/>
            </a:ln>
          </p:spPr>
        </p:sp>
        <p:sp>
          <p:nvSpPr>
            <p:cNvPr id="3" name="TextBox 3"/>
            <p:cNvSpPr txBox="1"/>
            <p:nvPr/>
          </p:nvSpPr>
          <p:spPr>
            <a:xfrm>
              <a:off x="570203" y="407194"/>
              <a:ext cx="25857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SOLID 五原则</a:t>
              </a:r>
            </a:p>
          </p:txBody>
        </p:sp>
        <p:sp>
          <p:nvSpPr>
            <p:cNvPr id="4" name="TextBox 4"/>
            <p:cNvSpPr txBox="1"/>
            <p:nvPr/>
          </p:nvSpPr>
          <p:spPr>
            <a:xfrm>
              <a:off x="520446" y="753428"/>
              <a:ext cx="764932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 3 字符串加密：把算法名写进方法名就违反开闭</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161" y="1547336"/>
            <a:ext cx="7954032" cy="278702"/>
            <a:chOff x="526161" y="1547336"/>
            <a:chExt cx="7954032" cy="278702"/>
          </a:xfrm>
        </p:grpSpPr>
        <p:sp>
          <p:nvSpPr>
            <p:cNvPr id="7" name="TextBox 7"/>
            <p:cNvSpPr txBox="1"/>
            <p:nvPr/>
          </p:nvSpPr>
          <p:spPr>
            <a:xfrm>
              <a:off x="526161" y="1547336"/>
              <a:ext cx="7954032"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要求实现两种加密算法 Encryption Algorithm1 和 Encryption Algorithm2，对文本串加密。</a:t>
              </a:r>
            </a:p>
          </p:txBody>
        </p:sp>
      </p:grpSp>
      <p:grpSp>
        <p:nvGrpSpPr>
          <p:cNvPr id="15" name="c1-uml-1"/>
          <p:cNvGrpSpPr/>
          <p:nvPr/>
        </p:nvGrpSpPr>
        <p:grpSpPr>
          <a:xfrm>
            <a:off x="1965008" y="2216468"/>
            <a:ext cx="2329815" cy="750570"/>
            <a:chOff x="1965008" y="2216468"/>
            <a:chExt cx="2329815" cy="750570"/>
          </a:xfrm>
        </p:grpSpPr>
        <p:sp>
          <p:nvSpPr>
            <p:cNvPr id="9" name="Rectangle 9"/>
            <p:cNvSpPr/>
            <p:nvPr/>
          </p:nvSpPr>
          <p:spPr>
            <a:xfrm>
              <a:off x="1965008" y="2216468"/>
              <a:ext cx="2329815" cy="750570"/>
            </a:xfrm>
            <a:prstGeom prst="rect">
              <a:avLst/>
            </a:prstGeom>
            <a:solidFill>
              <a:srgbClr val="FFFFFF"/>
            </a:solidFill>
            <a:ln w="14288">
              <a:solidFill>
                <a:srgbClr val="334E68"/>
              </a:solidFill>
            </a:ln>
          </p:spPr>
        </p:sp>
        <p:sp>
          <p:nvSpPr>
            <p:cNvPr id="10" name="Rectangle 10"/>
            <p:cNvSpPr/>
            <p:nvPr/>
          </p:nvSpPr>
          <p:spPr>
            <a:xfrm>
              <a:off x="1972628" y="2223135"/>
              <a:ext cx="2315528" cy="227648"/>
            </a:xfrm>
            <a:prstGeom prst="rect">
              <a:avLst/>
            </a:prstGeom>
            <a:solidFill>
              <a:srgbClr val="E7EDF3"/>
            </a:solidFill>
            <a:ln>
              <a:noFill/>
            </a:ln>
          </p:spPr>
        </p:sp>
        <p:sp>
          <p:nvSpPr>
            <p:cNvPr id="11" name="Rectangle 11"/>
            <p:cNvSpPr/>
            <p:nvPr/>
          </p:nvSpPr>
          <p:spPr>
            <a:xfrm>
              <a:off x="1965008" y="2446972"/>
              <a:ext cx="2329815" cy="9525"/>
            </a:xfrm>
            <a:prstGeom prst="rect">
              <a:avLst/>
            </a:prstGeom>
            <a:solidFill>
              <a:srgbClr val="334E68"/>
            </a:solidFill>
            <a:ln>
              <a:noFill/>
            </a:ln>
          </p:spPr>
        </p:sp>
        <p:sp>
          <p:nvSpPr>
            <p:cNvPr id="12" name="Rectangle 12"/>
            <p:cNvSpPr/>
            <p:nvPr/>
          </p:nvSpPr>
          <p:spPr>
            <a:xfrm>
              <a:off x="1965008" y="2542222"/>
              <a:ext cx="2329815" cy="9525"/>
            </a:xfrm>
            <a:prstGeom prst="rect">
              <a:avLst/>
            </a:prstGeom>
            <a:solidFill>
              <a:srgbClr val="334E68"/>
            </a:solidFill>
            <a:ln>
              <a:noFill/>
            </a:ln>
          </p:spPr>
        </p:sp>
        <p:sp>
          <p:nvSpPr>
            <p:cNvPr id="13" name="TextBox 13"/>
            <p:cNvSpPr txBox="1"/>
            <p:nvPr/>
          </p:nvSpPr>
          <p:spPr>
            <a:xfrm>
              <a:off x="2759278" y="2272189"/>
              <a:ext cx="741273" cy="190690"/>
            </a:xfrm>
            <a:prstGeom prst="rect">
              <a:avLst/>
            </a:prstGeom>
            <a:noFill/>
            <a:ln>
              <a:noFill/>
            </a:ln>
          </p:spPr>
          <p:txBody>
            <a:bodyPr wrap="none" lIns="0" tIns="0" rIns="0" bIns="0" anchor="t" anchorCtr="0">
              <a:spAutoFit/>
            </a:bodyPr>
            <a:lstStyle/>
            <a:p>
              <a:pPr algn="ctr"/>
              <a:r>
                <a:rPr lang="en-US" sz="980" b="1" dirty="0">
                  <a:solidFill>
                    <a:srgbClr val="243B53"/>
                  </a:solidFill>
                  <a:latin typeface="+mn-lt"/>
                  <a:ea typeface="+mn-ea"/>
                  <a:cs typeface="+mn-cs"/>
                </a:rPr>
                <a:t>Encryption</a:t>
              </a:r>
            </a:p>
          </p:txBody>
        </p:sp>
        <p:sp>
          <p:nvSpPr>
            <p:cNvPr id="14" name="TextBox 14"/>
            <p:cNvSpPr txBox="1"/>
            <p:nvPr/>
          </p:nvSpPr>
          <p:spPr>
            <a:xfrm>
              <a:off x="2036445" y="2611755"/>
              <a:ext cx="2186940" cy="338138"/>
            </a:xfrm>
            <a:prstGeom prst="rect">
              <a:avLst/>
            </a:prstGeom>
            <a:noFill/>
            <a:ln>
              <a:noFill/>
            </a:ln>
          </p:spPr>
          <p:txBody>
            <a:bodyPr wrap="none" lIns="0" tIns="0" rIns="0" bIns="0" anchor="t" anchorCtr="0">
              <a:spAutoFit/>
            </a:bodyPr>
            <a:lstStyle/>
            <a:p>
              <a:pPr algn="l">
                <a:lnSpc>
                  <a:spcPts val="1275"/>
                </a:lnSpc>
              </a:pPr>
              <a:r>
                <a:rPr lang="en-US" sz="900" dirty="0">
                  <a:solidFill>
                    <a:srgbClr val="1F2937"/>
                  </a:solidFill>
                  <a:latin typeface="+mn-lt"/>
                  <a:ea typeface="+mn-ea"/>
                  <a:cs typeface="+mn-cs"/>
                </a:rPr>
                <a:t>+encryptAlgorithm1(a: String): String</a:t>
              </a:r>
              <a:br/>
              <a:r>
                <a:rPr lang="en-US" sz="900" dirty="0">
                  <a:solidFill>
                    <a:srgbClr val="1F2937"/>
                  </a:solidFill>
                  <a:latin typeface="+mn-lt"/>
                  <a:ea typeface="+mn-ea"/>
                  <a:cs typeface="+mn-cs"/>
                </a:rPr>
                <a:t>+encryptAlgorithm2(a: String): String</a:t>
              </a:r>
            </a:p>
          </p:txBody>
        </p:sp>
      </p:grpSp>
      <p:grpSp>
        <p:nvGrpSpPr>
          <p:cNvPr id="26" name="c1-card-2"/>
          <p:cNvGrpSpPr/>
          <p:nvPr/>
        </p:nvGrpSpPr>
        <p:grpSpPr>
          <a:xfrm>
            <a:off x="533400" y="3416618"/>
            <a:ext cx="5193982" cy="2860358"/>
            <a:chOff x="533400" y="3416618"/>
            <a:chExt cx="5193982" cy="2860358"/>
          </a:xfrm>
        </p:grpSpPr>
        <p:sp>
          <p:nvSpPr>
            <p:cNvPr id="16" name="Rectangle 16"/>
            <p:cNvSpPr/>
            <p:nvPr/>
          </p:nvSpPr>
          <p:spPr>
            <a:xfrm>
              <a:off x="533400" y="3416618"/>
              <a:ext cx="5193982" cy="2860358"/>
            </a:xfrm>
            <a:prstGeom prst="roundRect">
              <a:avLst>
                <a:gd name="adj" fmla="val 4662"/>
              </a:avLst>
            </a:prstGeom>
            <a:solidFill>
              <a:srgbClr val="FFFFFF"/>
            </a:solidFill>
            <a:ln w="14288">
              <a:solidFill>
                <a:srgbClr val="D9DFEA"/>
              </a:solidFill>
            </a:ln>
          </p:spPr>
        </p:sp>
        <p:sp>
          <p:nvSpPr>
            <p:cNvPr id="17" name="Rectangle 17"/>
            <p:cNvSpPr/>
            <p:nvPr/>
          </p:nvSpPr>
          <p:spPr>
            <a:xfrm>
              <a:off x="542925" y="3549968"/>
              <a:ext cx="47625" cy="2593658"/>
            </a:xfrm>
            <a:prstGeom prst="roundRect">
              <a:avLst>
                <a:gd name="adj" fmla="val 50000"/>
              </a:avLst>
            </a:prstGeom>
            <a:solidFill>
              <a:srgbClr val="B42318"/>
            </a:solidFill>
            <a:ln>
              <a:noFill/>
            </a:ln>
          </p:spPr>
        </p:sp>
        <p:sp>
          <p:nvSpPr>
            <p:cNvPr id="18" name="Rectangle 18"/>
            <p:cNvSpPr/>
            <p:nvPr/>
          </p:nvSpPr>
          <p:spPr>
            <a:xfrm>
              <a:off x="763905" y="3609022"/>
              <a:ext cx="1009650" cy="247650"/>
            </a:xfrm>
            <a:prstGeom prst="roundRect">
              <a:avLst>
                <a:gd name="adj" fmla="val 50000"/>
              </a:avLst>
            </a:prstGeom>
            <a:solidFill>
              <a:srgbClr val="FDECEA"/>
            </a:solidFill>
            <a:ln>
              <a:noFill/>
            </a:ln>
          </p:spPr>
        </p:sp>
        <p:sp>
          <p:nvSpPr>
            <p:cNvPr id="19" name="TextBox 19"/>
            <p:cNvSpPr txBox="1"/>
            <p:nvPr/>
          </p:nvSpPr>
          <p:spPr>
            <a:xfrm>
              <a:off x="839343" y="3643312"/>
              <a:ext cx="858774" cy="205359"/>
            </a:xfrm>
            <a:prstGeom prst="rect">
              <a:avLst/>
            </a:prstGeom>
            <a:noFill/>
            <a:ln>
              <a:noFill/>
            </a:ln>
          </p:spPr>
          <p:txBody>
            <a:bodyPr wrap="none" lIns="0" tIns="0" rIns="0" bIns="0" anchor="t" anchorCtr="0">
              <a:spAutoFit/>
            </a:bodyPr>
            <a:lstStyle/>
            <a:p>
              <a:pPr algn="ctr"/>
              <a:r>
                <a:rPr lang="zh-CN" sz="1050" b="1" dirty="0">
                  <a:solidFill>
                    <a:srgbClr val="B42318"/>
                  </a:solidFill>
                  <a:latin typeface="+mn-lt"/>
                  <a:ea typeface="+mn-ea"/>
                  <a:cs typeface="+mn-cs"/>
                </a:rPr>
                <a:t>原设计的问题</a:t>
              </a:r>
            </a:p>
          </p:txBody>
        </p:sp>
        <p:sp>
          <p:nvSpPr>
            <p:cNvPr id="20" name="TextBox 20"/>
            <p:cNvSpPr txBox="1"/>
            <p:nvPr/>
          </p:nvSpPr>
          <p:spPr>
            <a:xfrm>
              <a:off x="757047" y="3966210"/>
              <a:ext cx="361834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This design works, but it has problems：</a:t>
              </a:r>
            </a:p>
          </p:txBody>
        </p:sp>
        <p:sp>
          <p:nvSpPr>
            <p:cNvPr id="21" name="Ellipse 21"/>
            <p:cNvSpPr/>
            <p:nvPr/>
          </p:nvSpPr>
          <p:spPr>
            <a:xfrm>
              <a:off x="772478" y="4324350"/>
              <a:ext cx="59055" cy="59055"/>
            </a:xfrm>
            <a:prstGeom prst="ellipse">
              <a:avLst/>
            </a:prstGeom>
            <a:solidFill>
              <a:srgbClr val="334E68"/>
            </a:solidFill>
            <a:ln>
              <a:noFill/>
            </a:ln>
          </p:spPr>
        </p:sp>
        <p:sp>
          <p:nvSpPr>
            <p:cNvPr id="22" name="TextBox 22"/>
            <p:cNvSpPr txBox="1"/>
            <p:nvPr/>
          </p:nvSpPr>
          <p:spPr>
            <a:xfrm>
              <a:off x="928497" y="4268152"/>
              <a:ext cx="3999928" cy="521208"/>
            </a:xfrm>
            <a:prstGeom prst="rect">
              <a:avLst/>
            </a:prstGeom>
            <a:noFill/>
            <a:ln>
              <a:noFill/>
            </a:ln>
          </p:spPr>
          <p:txBody>
            <a:bodyPr wrap="none" lIns="0" tIns="0" rIns="0" bIns="0" anchor="t" anchorCtr="0">
              <a:spAutoFit/>
            </a:bodyPr>
            <a:lstStyle/>
            <a:p>
              <a:pPr algn="l">
                <a:lnSpc>
                  <a:spcPts val="2025"/>
                </a:lnSpc>
              </a:pPr>
              <a:r>
                <a:rPr lang="en-US" sz="1350" dirty="0">
                  <a:solidFill>
                    <a:srgbClr val="1F2937"/>
                  </a:solidFill>
                  <a:latin typeface="+mn-lt"/>
                  <a:ea typeface="+mn-ea"/>
                  <a:cs typeface="+mn-cs"/>
                </a:rPr>
                <a:t>If you want to change an algorithm, you need to</a:t>
              </a:r>
              <a:br/>
              <a:r>
                <a:rPr lang="en-US" sz="1350" dirty="0">
                  <a:solidFill>
                    <a:srgbClr val="1F2937"/>
                  </a:solidFill>
                  <a:latin typeface="+mn-lt"/>
                  <a:ea typeface="+mn-ea"/>
                  <a:cs typeface="+mn-cs"/>
                </a:rPr>
                <a:t>change the class</a:t>
              </a:r>
            </a:p>
          </p:txBody>
        </p:sp>
        <p:sp>
          <p:nvSpPr>
            <p:cNvPr id="23" name="Ellipse 23"/>
            <p:cNvSpPr/>
            <p:nvPr/>
          </p:nvSpPr>
          <p:spPr>
            <a:xfrm>
              <a:off x="772478" y="4884420"/>
              <a:ext cx="59055" cy="59055"/>
            </a:xfrm>
            <a:prstGeom prst="ellipse">
              <a:avLst/>
            </a:prstGeom>
            <a:solidFill>
              <a:srgbClr val="334E68"/>
            </a:solidFill>
            <a:ln>
              <a:noFill/>
            </a:ln>
          </p:spPr>
        </p:sp>
        <p:sp>
          <p:nvSpPr>
            <p:cNvPr id="24" name="TextBox 24"/>
            <p:cNvSpPr txBox="1"/>
            <p:nvPr/>
          </p:nvSpPr>
          <p:spPr>
            <a:xfrm>
              <a:off x="928497" y="4828222"/>
              <a:ext cx="4145661" cy="521208"/>
            </a:xfrm>
            <a:prstGeom prst="rect">
              <a:avLst/>
            </a:prstGeom>
            <a:noFill/>
            <a:ln>
              <a:noFill/>
            </a:ln>
          </p:spPr>
          <p:txBody>
            <a:bodyPr wrap="none" lIns="0" tIns="0" rIns="0" bIns="0" anchor="t" anchorCtr="0">
              <a:spAutoFit/>
            </a:bodyPr>
            <a:lstStyle/>
            <a:p>
              <a:pPr algn="l">
                <a:lnSpc>
                  <a:spcPts val="2025"/>
                </a:lnSpc>
              </a:pPr>
              <a:r>
                <a:rPr lang="en-US" sz="1350" dirty="0">
                  <a:solidFill>
                    <a:srgbClr val="1F2937"/>
                  </a:solidFill>
                  <a:latin typeface="+mn-lt"/>
                  <a:ea typeface="+mn-ea"/>
                  <a:cs typeface="+mn-cs"/>
                </a:rPr>
                <a:t>If you want to add a new algorithm, you still need</a:t>
              </a:r>
              <a:br/>
              <a:r>
                <a:rPr lang="en-US" sz="1350" dirty="0">
                  <a:solidFill>
                    <a:srgbClr val="1F2937"/>
                  </a:solidFill>
                  <a:latin typeface="+mn-lt"/>
                  <a:ea typeface="+mn-ea"/>
                  <a:cs typeface="+mn-cs"/>
                </a:rPr>
                <a:t>to change the class</a:t>
              </a:r>
            </a:p>
          </p:txBody>
        </p:sp>
        <p:sp>
          <p:nvSpPr>
            <p:cNvPr id="25" name="TextBox 25"/>
            <p:cNvSpPr txBox="1"/>
            <p:nvPr/>
          </p:nvSpPr>
          <p:spPr>
            <a:xfrm>
              <a:off x="757047" y="5387340"/>
              <a:ext cx="42999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算法的个数写死在类的接口里，加第三种算法就得改这个</a:t>
              </a:r>
              <a:br/>
              <a:r>
                <a:rPr lang="zh-CN" sz="1350" dirty="0">
                  <a:solidFill>
                    <a:srgbClr val="1F2937"/>
                  </a:solidFill>
                  <a:latin typeface="+mn-lt"/>
                  <a:ea typeface="+mn-ea"/>
                  <a:cs typeface="+mn-cs"/>
                </a:rPr>
                <a:t>类。</a:t>
              </a:r>
            </a:p>
          </p:txBody>
        </p:sp>
      </p:grpSp>
      <p:grpSp>
        <p:nvGrpSpPr>
          <p:cNvPr id="49" name="c2-uml-1"/>
          <p:cNvGrpSpPr/>
          <p:nvPr/>
        </p:nvGrpSpPr>
        <p:grpSpPr>
          <a:xfrm>
            <a:off x="6500812" y="2151698"/>
            <a:ext cx="4731426" cy="1660208"/>
            <a:chOff x="6500812" y="2151698"/>
            <a:chExt cx="4731426" cy="1660208"/>
          </a:xfrm>
        </p:grpSpPr>
        <p:sp>
          <p:nvSpPr>
            <p:cNvPr id="27" name="Freeform 27"/>
            <p:cNvSpPr/>
            <p:nvPr/>
          </p:nvSpPr>
          <p:spPr>
            <a:xfrm>
              <a:off x="7343775" y="2897505"/>
              <a:ext cx="95250" cy="294323"/>
            </a:xfrm>
            <a:custGeom>
              <a:avLst/>
              <a:gdLst/>
              <a:ahLst/>
              <a:cxnLst/>
              <a:rect l="l" t="t" r="r" b="b"/>
              <a:pathLst>
                <a:path w="95250" h="294323">
                  <a:moveTo>
                    <a:pt x="95250" y="294323"/>
                  </a:moveTo>
                  <a:lnTo>
                    <a:pt x="95250" y="83820"/>
                  </a:lnTo>
                  <a:lnTo>
                    <a:pt x="0" y="83820"/>
                  </a:lnTo>
                  <a:lnTo>
                    <a:pt x="0" y="0"/>
                  </a:lnTo>
                </a:path>
              </a:pathLst>
            </a:custGeom>
            <a:noFill/>
            <a:ln w="15240">
              <a:solidFill>
                <a:srgbClr val="1F2937"/>
              </a:solidFill>
            </a:ln>
          </p:spPr>
        </p:sp>
        <p:sp>
          <p:nvSpPr>
            <p:cNvPr id="28" name="Freeform 28"/>
            <p:cNvSpPr/>
            <p:nvPr/>
          </p:nvSpPr>
          <p:spPr>
            <a:xfrm>
              <a:off x="7270432" y="2771775"/>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29" name="Freeform 29"/>
            <p:cNvSpPr/>
            <p:nvPr/>
          </p:nvSpPr>
          <p:spPr>
            <a:xfrm>
              <a:off x="7534275" y="2897505"/>
              <a:ext cx="2717482" cy="294323"/>
            </a:xfrm>
            <a:custGeom>
              <a:avLst/>
              <a:gdLst/>
              <a:ahLst/>
              <a:cxnLst/>
              <a:rect l="l" t="t" r="r" b="b"/>
              <a:pathLst>
                <a:path w="2717482" h="294323">
                  <a:moveTo>
                    <a:pt x="2717482" y="294323"/>
                  </a:moveTo>
                  <a:lnTo>
                    <a:pt x="2717482" y="83820"/>
                  </a:lnTo>
                  <a:lnTo>
                    <a:pt x="0" y="83820"/>
                  </a:lnTo>
                  <a:lnTo>
                    <a:pt x="0" y="0"/>
                  </a:lnTo>
                </a:path>
              </a:pathLst>
            </a:custGeom>
            <a:noFill/>
            <a:ln w="15240">
              <a:solidFill>
                <a:srgbClr val="1F2937"/>
              </a:solidFill>
            </a:ln>
          </p:spPr>
        </p:sp>
        <p:sp>
          <p:nvSpPr>
            <p:cNvPr id="30" name="Freeform 30"/>
            <p:cNvSpPr/>
            <p:nvPr/>
          </p:nvSpPr>
          <p:spPr>
            <a:xfrm>
              <a:off x="7460932" y="2771775"/>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31" name="Rectangle 31"/>
            <p:cNvSpPr/>
            <p:nvPr/>
          </p:nvSpPr>
          <p:spPr>
            <a:xfrm>
              <a:off x="6500812" y="2151698"/>
              <a:ext cx="1876425" cy="620078"/>
            </a:xfrm>
            <a:prstGeom prst="rect">
              <a:avLst/>
            </a:prstGeom>
            <a:solidFill>
              <a:srgbClr val="FFFFFF"/>
            </a:solidFill>
            <a:ln w="14288">
              <a:solidFill>
                <a:srgbClr val="334E68"/>
              </a:solidFill>
            </a:ln>
          </p:spPr>
        </p:sp>
        <p:sp>
          <p:nvSpPr>
            <p:cNvPr id="32" name="Rectangle 32"/>
            <p:cNvSpPr/>
            <p:nvPr/>
          </p:nvSpPr>
          <p:spPr>
            <a:xfrm>
              <a:off x="6507480" y="2159318"/>
              <a:ext cx="1862138" cy="245745"/>
            </a:xfrm>
            <a:prstGeom prst="rect">
              <a:avLst/>
            </a:prstGeom>
            <a:solidFill>
              <a:srgbClr val="334E68"/>
            </a:solidFill>
            <a:ln>
              <a:noFill/>
            </a:ln>
          </p:spPr>
        </p:sp>
        <p:sp>
          <p:nvSpPr>
            <p:cNvPr id="33" name="Rectangle 33"/>
            <p:cNvSpPr/>
            <p:nvPr/>
          </p:nvSpPr>
          <p:spPr>
            <a:xfrm>
              <a:off x="6500812" y="2400300"/>
              <a:ext cx="1876425" cy="9525"/>
            </a:xfrm>
            <a:prstGeom prst="rect">
              <a:avLst/>
            </a:prstGeom>
            <a:solidFill>
              <a:srgbClr val="334E68"/>
            </a:solidFill>
            <a:ln>
              <a:noFill/>
            </a:ln>
          </p:spPr>
        </p:sp>
        <p:sp>
          <p:nvSpPr>
            <p:cNvPr id="34" name="Rectangle 34"/>
            <p:cNvSpPr/>
            <p:nvPr/>
          </p:nvSpPr>
          <p:spPr>
            <a:xfrm>
              <a:off x="6500812" y="2495550"/>
              <a:ext cx="1876425" cy="9525"/>
            </a:xfrm>
            <a:prstGeom prst="rect">
              <a:avLst/>
            </a:prstGeom>
            <a:solidFill>
              <a:srgbClr val="334E68"/>
            </a:solidFill>
            <a:ln>
              <a:noFill/>
            </a:ln>
          </p:spPr>
        </p:sp>
        <p:sp>
          <p:nvSpPr>
            <p:cNvPr id="35" name="Rectangle 35"/>
            <p:cNvSpPr/>
            <p:nvPr/>
          </p:nvSpPr>
          <p:spPr>
            <a:xfrm>
              <a:off x="6500812" y="3191828"/>
              <a:ext cx="1876425" cy="620078"/>
            </a:xfrm>
            <a:prstGeom prst="rect">
              <a:avLst/>
            </a:prstGeom>
            <a:solidFill>
              <a:srgbClr val="FFFFFF"/>
            </a:solidFill>
            <a:ln w="14288">
              <a:solidFill>
                <a:srgbClr val="334E68"/>
              </a:solidFill>
            </a:ln>
          </p:spPr>
        </p:sp>
        <p:sp>
          <p:nvSpPr>
            <p:cNvPr id="36" name="Rectangle 36"/>
            <p:cNvSpPr/>
            <p:nvPr/>
          </p:nvSpPr>
          <p:spPr>
            <a:xfrm>
              <a:off x="6507480" y="3199448"/>
              <a:ext cx="1862138" cy="245745"/>
            </a:xfrm>
            <a:prstGeom prst="rect">
              <a:avLst/>
            </a:prstGeom>
            <a:solidFill>
              <a:srgbClr val="E7EDF3"/>
            </a:solidFill>
            <a:ln>
              <a:noFill/>
            </a:ln>
          </p:spPr>
        </p:sp>
        <p:sp>
          <p:nvSpPr>
            <p:cNvPr id="37" name="Rectangle 37"/>
            <p:cNvSpPr/>
            <p:nvPr/>
          </p:nvSpPr>
          <p:spPr>
            <a:xfrm>
              <a:off x="6500812" y="3440430"/>
              <a:ext cx="1876425" cy="9525"/>
            </a:xfrm>
            <a:prstGeom prst="rect">
              <a:avLst/>
            </a:prstGeom>
            <a:solidFill>
              <a:srgbClr val="334E68"/>
            </a:solidFill>
            <a:ln>
              <a:noFill/>
            </a:ln>
          </p:spPr>
        </p:sp>
        <p:sp>
          <p:nvSpPr>
            <p:cNvPr id="38" name="Rectangle 38"/>
            <p:cNvSpPr/>
            <p:nvPr/>
          </p:nvSpPr>
          <p:spPr>
            <a:xfrm>
              <a:off x="6500812" y="3535680"/>
              <a:ext cx="1876425" cy="9525"/>
            </a:xfrm>
            <a:prstGeom prst="rect">
              <a:avLst/>
            </a:prstGeom>
            <a:solidFill>
              <a:srgbClr val="334E68"/>
            </a:solidFill>
            <a:ln>
              <a:noFill/>
            </a:ln>
          </p:spPr>
        </p:sp>
        <p:sp>
          <p:nvSpPr>
            <p:cNvPr id="39" name="Rectangle 39"/>
            <p:cNvSpPr/>
            <p:nvPr/>
          </p:nvSpPr>
          <p:spPr>
            <a:xfrm>
              <a:off x="9313545" y="3191828"/>
              <a:ext cx="1876425" cy="620078"/>
            </a:xfrm>
            <a:prstGeom prst="rect">
              <a:avLst/>
            </a:prstGeom>
            <a:solidFill>
              <a:srgbClr val="FFFFFF"/>
            </a:solidFill>
            <a:ln w="14288">
              <a:solidFill>
                <a:srgbClr val="334E68"/>
              </a:solidFill>
            </a:ln>
          </p:spPr>
        </p:sp>
        <p:sp>
          <p:nvSpPr>
            <p:cNvPr id="40" name="Rectangle 40"/>
            <p:cNvSpPr/>
            <p:nvPr/>
          </p:nvSpPr>
          <p:spPr>
            <a:xfrm>
              <a:off x="9321165" y="3199448"/>
              <a:ext cx="1862138" cy="245745"/>
            </a:xfrm>
            <a:prstGeom prst="rect">
              <a:avLst/>
            </a:prstGeom>
            <a:solidFill>
              <a:srgbClr val="E7EDF3"/>
            </a:solidFill>
            <a:ln>
              <a:noFill/>
            </a:ln>
          </p:spPr>
        </p:sp>
        <p:sp>
          <p:nvSpPr>
            <p:cNvPr id="41" name="Rectangle 41"/>
            <p:cNvSpPr/>
            <p:nvPr/>
          </p:nvSpPr>
          <p:spPr>
            <a:xfrm>
              <a:off x="9313545" y="3440430"/>
              <a:ext cx="1876425" cy="9525"/>
            </a:xfrm>
            <a:prstGeom prst="rect">
              <a:avLst/>
            </a:prstGeom>
            <a:solidFill>
              <a:srgbClr val="334E68"/>
            </a:solidFill>
            <a:ln>
              <a:noFill/>
            </a:ln>
          </p:spPr>
        </p:sp>
        <p:sp>
          <p:nvSpPr>
            <p:cNvPr id="42" name="Rectangle 42"/>
            <p:cNvSpPr/>
            <p:nvPr/>
          </p:nvSpPr>
          <p:spPr>
            <a:xfrm>
              <a:off x="9313545" y="3535680"/>
              <a:ext cx="1876425" cy="9525"/>
            </a:xfrm>
            <a:prstGeom prst="rect">
              <a:avLst/>
            </a:prstGeom>
            <a:solidFill>
              <a:srgbClr val="334E68"/>
            </a:solidFill>
            <a:ln>
              <a:noFill/>
            </a:ln>
          </p:spPr>
        </p:sp>
        <p:sp>
          <p:nvSpPr>
            <p:cNvPr id="43" name="TextBox 43"/>
            <p:cNvSpPr txBox="1"/>
            <p:nvPr/>
          </p:nvSpPr>
          <p:spPr>
            <a:xfrm>
              <a:off x="7041887" y="2211705"/>
              <a:ext cx="794276" cy="205359"/>
            </a:xfrm>
            <a:prstGeom prst="rect">
              <a:avLst/>
            </a:prstGeom>
            <a:noFill/>
            <a:ln>
              <a:noFill/>
            </a:ln>
          </p:spPr>
          <p:txBody>
            <a:bodyPr wrap="none" lIns="0" tIns="0" rIns="0" bIns="0" anchor="t" anchorCtr="0">
              <a:spAutoFit/>
            </a:bodyPr>
            <a:lstStyle/>
            <a:p>
              <a:pPr algn="ctr"/>
              <a:r>
                <a:rPr lang="en-US" sz="1050" b="1" i="1" dirty="0">
                  <a:solidFill>
                    <a:srgbClr val="FFFFFF"/>
                  </a:solidFill>
                  <a:latin typeface="+mn-lt"/>
                  <a:ea typeface="+mn-ea"/>
                  <a:cs typeface="+mn-cs"/>
                </a:rPr>
                <a:t>Encryption</a:t>
              </a:r>
            </a:p>
          </p:txBody>
        </p:sp>
        <p:sp>
          <p:nvSpPr>
            <p:cNvPr id="44" name="TextBox 44"/>
            <p:cNvSpPr txBox="1"/>
            <p:nvPr/>
          </p:nvSpPr>
          <p:spPr>
            <a:xfrm>
              <a:off x="6572060" y="2566511"/>
              <a:ext cx="1847446" cy="190690"/>
            </a:xfrm>
            <a:prstGeom prst="rect">
              <a:avLst/>
            </a:prstGeom>
            <a:noFill/>
            <a:ln>
              <a:noFill/>
            </a:ln>
          </p:spPr>
          <p:txBody>
            <a:bodyPr wrap="none" lIns="0" tIns="0" rIns="0" bIns="0" anchor="t" anchorCtr="0">
              <a:spAutoFit/>
            </a:bodyPr>
            <a:lstStyle/>
            <a:p>
              <a:pPr algn="l"/>
              <a:r>
                <a:rPr lang="en-US" sz="980" dirty="0">
                  <a:solidFill>
                    <a:srgbClr val="1F2937"/>
                  </a:solidFill>
                  <a:latin typeface="+mn-lt"/>
                  <a:ea typeface="+mn-ea"/>
                  <a:cs typeface="+mn-cs"/>
                </a:rPr>
                <a:t>+encrypt(a: String): String</a:t>
              </a:r>
            </a:p>
          </p:txBody>
        </p:sp>
        <p:sp>
          <p:nvSpPr>
            <p:cNvPr id="45" name="TextBox 45"/>
            <p:cNvSpPr txBox="1"/>
            <p:nvPr/>
          </p:nvSpPr>
          <p:spPr>
            <a:xfrm>
              <a:off x="7000841" y="3251835"/>
              <a:ext cx="876368"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Encryption1</a:t>
              </a:r>
            </a:p>
          </p:txBody>
        </p:sp>
        <p:sp>
          <p:nvSpPr>
            <p:cNvPr id="46" name="TextBox 46"/>
            <p:cNvSpPr txBox="1"/>
            <p:nvPr/>
          </p:nvSpPr>
          <p:spPr>
            <a:xfrm>
              <a:off x="6572060" y="3606641"/>
              <a:ext cx="1847446" cy="190690"/>
            </a:xfrm>
            <a:prstGeom prst="rect">
              <a:avLst/>
            </a:prstGeom>
            <a:noFill/>
            <a:ln>
              <a:noFill/>
            </a:ln>
          </p:spPr>
          <p:txBody>
            <a:bodyPr wrap="none" lIns="0" tIns="0" rIns="0" bIns="0" anchor="t" anchorCtr="0">
              <a:spAutoFit/>
            </a:bodyPr>
            <a:lstStyle/>
            <a:p>
              <a:pPr algn="l"/>
              <a:r>
                <a:rPr lang="en-US" sz="980" dirty="0">
                  <a:solidFill>
                    <a:srgbClr val="1F2937"/>
                  </a:solidFill>
                  <a:latin typeface="+mn-lt"/>
                  <a:ea typeface="+mn-ea"/>
                  <a:cs typeface="+mn-cs"/>
                </a:rPr>
                <a:t>+encrypt(a: String): String</a:t>
              </a:r>
            </a:p>
          </p:txBody>
        </p:sp>
        <p:sp>
          <p:nvSpPr>
            <p:cNvPr id="47" name="TextBox 47"/>
            <p:cNvSpPr txBox="1"/>
            <p:nvPr/>
          </p:nvSpPr>
          <p:spPr>
            <a:xfrm>
              <a:off x="9813573" y="3251835"/>
              <a:ext cx="876368"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Encryption2</a:t>
              </a:r>
            </a:p>
          </p:txBody>
        </p:sp>
        <p:sp>
          <p:nvSpPr>
            <p:cNvPr id="48" name="TextBox 48"/>
            <p:cNvSpPr txBox="1"/>
            <p:nvPr/>
          </p:nvSpPr>
          <p:spPr>
            <a:xfrm>
              <a:off x="9384792" y="3606641"/>
              <a:ext cx="1847446" cy="190690"/>
            </a:xfrm>
            <a:prstGeom prst="rect">
              <a:avLst/>
            </a:prstGeom>
            <a:noFill/>
            <a:ln>
              <a:noFill/>
            </a:ln>
          </p:spPr>
          <p:txBody>
            <a:bodyPr wrap="none" lIns="0" tIns="0" rIns="0" bIns="0" anchor="t" anchorCtr="0">
              <a:spAutoFit/>
            </a:bodyPr>
            <a:lstStyle/>
            <a:p>
              <a:pPr algn="l"/>
              <a:r>
                <a:rPr lang="en-US" sz="980" dirty="0">
                  <a:solidFill>
                    <a:srgbClr val="1F2937"/>
                  </a:solidFill>
                  <a:latin typeface="+mn-lt"/>
                  <a:ea typeface="+mn-ea"/>
                  <a:cs typeface="+mn-cs"/>
                </a:rPr>
                <a:t>+encrypt(a: String): String</a:t>
              </a:r>
            </a:p>
          </p:txBody>
        </p:sp>
      </p:grpSp>
      <p:grpSp>
        <p:nvGrpSpPr>
          <p:cNvPr id="57" name="c2-bullets-2"/>
          <p:cNvGrpSpPr/>
          <p:nvPr/>
        </p:nvGrpSpPr>
        <p:grpSpPr>
          <a:xfrm>
            <a:off x="6025324" y="4219575"/>
            <a:ext cx="4571850" cy="1206056"/>
            <a:chOff x="6025324" y="4219575"/>
            <a:chExt cx="4571850" cy="1206056"/>
          </a:xfrm>
        </p:grpSpPr>
        <p:sp>
          <p:nvSpPr>
            <p:cNvPr id="50" name="TextBox 50"/>
            <p:cNvSpPr txBox="1"/>
            <p:nvPr/>
          </p:nvSpPr>
          <p:spPr>
            <a:xfrm>
              <a:off x="6025324" y="4219575"/>
              <a:ext cx="1285875"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改进设计的好处</a:t>
              </a:r>
            </a:p>
          </p:txBody>
        </p:sp>
        <p:sp>
          <p:nvSpPr>
            <p:cNvPr id="51" name="Freeform 51"/>
            <p:cNvSpPr/>
            <p:nvPr/>
          </p:nvSpPr>
          <p:spPr>
            <a:xfrm>
              <a:off x="6032182" y="4567238"/>
              <a:ext cx="129540" cy="104775"/>
            </a:xfrm>
            <a:custGeom>
              <a:avLst/>
              <a:gdLst/>
              <a:ahLst/>
              <a:cxnLst/>
              <a:rect l="l" t="t" r="r" b="b"/>
              <a:pathLst>
                <a:path w="129540" h="104775">
                  <a:moveTo>
                    <a:pt x="0" y="56197"/>
                  </a:moveTo>
                  <a:lnTo>
                    <a:pt x="49530" y="104775"/>
                  </a:lnTo>
                  <a:lnTo>
                    <a:pt x="129540" y="0"/>
                  </a:lnTo>
                </a:path>
              </a:pathLst>
            </a:custGeom>
            <a:noFill/>
            <a:ln w="24765" cap="rnd">
              <a:solidFill>
                <a:srgbClr val="14A38B"/>
              </a:solidFill>
              <a:round/>
            </a:ln>
          </p:spPr>
        </p:sp>
        <p:sp>
          <p:nvSpPr>
            <p:cNvPr id="52" name="TextBox 52"/>
            <p:cNvSpPr txBox="1"/>
            <p:nvPr/>
          </p:nvSpPr>
          <p:spPr>
            <a:xfrm>
              <a:off x="6269164" y="4538662"/>
              <a:ext cx="432801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父类是抽象类，只声明抽象方法 encrypt(a: String)</a:t>
              </a:r>
            </a:p>
          </p:txBody>
        </p:sp>
        <p:sp>
          <p:nvSpPr>
            <p:cNvPr id="53" name="Freeform 53"/>
            <p:cNvSpPr/>
            <p:nvPr/>
          </p:nvSpPr>
          <p:spPr>
            <a:xfrm>
              <a:off x="6032182" y="4878705"/>
              <a:ext cx="129540" cy="104775"/>
            </a:xfrm>
            <a:custGeom>
              <a:avLst/>
              <a:gdLst/>
              <a:ahLst/>
              <a:cxnLst/>
              <a:rect l="l" t="t" r="r" b="b"/>
              <a:pathLst>
                <a:path w="129540" h="104775">
                  <a:moveTo>
                    <a:pt x="0" y="55245"/>
                  </a:moveTo>
                  <a:lnTo>
                    <a:pt x="49530" y="104775"/>
                  </a:lnTo>
                  <a:lnTo>
                    <a:pt x="129540" y="0"/>
                  </a:lnTo>
                </a:path>
              </a:pathLst>
            </a:custGeom>
            <a:noFill/>
            <a:ln w="24765" cap="rnd">
              <a:solidFill>
                <a:srgbClr val="14A38B"/>
              </a:solidFill>
              <a:round/>
            </a:ln>
          </p:spPr>
        </p:sp>
        <p:sp>
          <p:nvSpPr>
            <p:cNvPr id="54" name="TextBox 54"/>
            <p:cNvSpPr txBox="1"/>
            <p:nvPr/>
          </p:nvSpPr>
          <p:spPr>
            <a:xfrm>
              <a:off x="6269164" y="4850130"/>
              <a:ext cx="346671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改一种算法只改对应的子类，不影响其他类</a:t>
              </a:r>
            </a:p>
          </p:txBody>
        </p:sp>
        <p:sp>
          <p:nvSpPr>
            <p:cNvPr id="55" name="Freeform 55"/>
            <p:cNvSpPr/>
            <p:nvPr/>
          </p:nvSpPr>
          <p:spPr>
            <a:xfrm>
              <a:off x="6032182" y="5190172"/>
              <a:ext cx="129540" cy="104775"/>
            </a:xfrm>
            <a:custGeom>
              <a:avLst/>
              <a:gdLst/>
              <a:ahLst/>
              <a:cxnLst/>
              <a:rect l="l" t="t" r="r" b="b"/>
              <a:pathLst>
                <a:path w="129540" h="104775">
                  <a:moveTo>
                    <a:pt x="0" y="55245"/>
                  </a:moveTo>
                  <a:lnTo>
                    <a:pt x="49530" y="104775"/>
                  </a:lnTo>
                  <a:lnTo>
                    <a:pt x="129540" y="0"/>
                  </a:lnTo>
                </a:path>
              </a:pathLst>
            </a:custGeom>
            <a:noFill/>
            <a:ln w="24765" cap="rnd">
              <a:solidFill>
                <a:srgbClr val="14A38B"/>
              </a:solidFill>
              <a:round/>
            </a:ln>
          </p:spPr>
        </p:sp>
        <p:sp>
          <p:nvSpPr>
            <p:cNvPr id="56" name="TextBox 56"/>
            <p:cNvSpPr txBox="1"/>
            <p:nvPr/>
          </p:nvSpPr>
          <p:spPr>
            <a:xfrm>
              <a:off x="6269164" y="5161598"/>
              <a:ext cx="328498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加一种算法只加一个子类，不影响其他类</a:t>
              </a:r>
            </a:p>
          </p:txBody>
        </p:sp>
      </p:grpSp>
      <p:grpSp>
        <p:nvGrpSpPr>
          <p:cNvPr id="63" name="c2-callout-3"/>
          <p:cNvGrpSpPr/>
          <p:nvPr/>
        </p:nvGrpSpPr>
        <p:grpSpPr>
          <a:xfrm>
            <a:off x="6032182" y="5547360"/>
            <a:ext cx="5626418" cy="729615"/>
            <a:chOff x="6032182" y="5547360"/>
            <a:chExt cx="5626418" cy="729615"/>
          </a:xfrm>
        </p:grpSpPr>
        <p:sp>
          <p:nvSpPr>
            <p:cNvPr id="58" name="Rectangle 58"/>
            <p:cNvSpPr/>
            <p:nvPr/>
          </p:nvSpPr>
          <p:spPr>
            <a:xfrm>
              <a:off x="6032182" y="5547360"/>
              <a:ext cx="5626418" cy="729615"/>
            </a:xfrm>
            <a:prstGeom prst="roundRect">
              <a:avLst>
                <a:gd name="adj" fmla="val 15666"/>
              </a:avLst>
            </a:prstGeom>
            <a:solidFill>
              <a:srgbClr val="E3F5F1"/>
            </a:solidFill>
            <a:ln>
              <a:noFill/>
            </a:ln>
          </p:spPr>
        </p:sp>
        <p:grpSp>
          <p:nvGrpSpPr>
            <p:cNvPr id="61" name="Group 61"/>
            <p:cNvGrpSpPr/>
            <p:nvPr/>
          </p:nvGrpSpPr>
          <p:grpSpPr>
            <a:xfrm>
              <a:off x="6236970" y="5812155"/>
              <a:ext cx="200026" cy="200026"/>
              <a:chOff x="6236970" y="5812155"/>
              <a:chExt cx="200026" cy="200026"/>
            </a:xfrm>
          </p:grpSpPr>
          <p:sp>
            <p:nvSpPr>
              <p:cNvPr id="59" name="Freeform 59"/>
              <p:cNvSpPr/>
              <p:nvPr/>
            </p:nvSpPr>
            <p:spPr>
              <a:xfrm>
                <a:off x="6236970" y="581215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0F7A68"/>
                </a:solidFill>
              </a:ln>
            </p:spPr>
          </p:sp>
          <p:sp>
            <p:nvSpPr>
              <p:cNvPr id="60" name="Freeform 60"/>
              <p:cNvSpPr/>
              <p:nvPr/>
            </p:nvSpPr>
            <p:spPr>
              <a:xfrm>
                <a:off x="6303645" y="5889943"/>
                <a:ext cx="66675" cy="44450"/>
              </a:xfrm>
              <a:custGeom>
                <a:avLst/>
                <a:gdLst/>
                <a:ahLst/>
                <a:cxnLst/>
                <a:rect l="l" t="t" r="r" b="b"/>
                <a:pathLst>
                  <a:path w="66675" h="44450">
                    <a:moveTo>
                      <a:pt x="0" y="22225"/>
                    </a:moveTo>
                    <a:lnTo>
                      <a:pt x="22225" y="44450"/>
                    </a:lnTo>
                    <a:lnTo>
                      <a:pt x="66675" y="0"/>
                    </a:lnTo>
                  </a:path>
                </a:pathLst>
              </a:custGeom>
              <a:noFill/>
              <a:ln w="22225">
                <a:solidFill>
                  <a:srgbClr val="0F7A68"/>
                </a:solidFill>
              </a:ln>
            </p:spPr>
          </p:sp>
        </p:grpSp>
        <p:sp>
          <p:nvSpPr>
            <p:cNvPr id="62" name="TextBox 62"/>
            <p:cNvSpPr txBox="1"/>
            <p:nvPr/>
          </p:nvSpPr>
          <p:spPr>
            <a:xfrm>
              <a:off x="6539674" y="5693092"/>
              <a:ext cx="4617148"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0F7A68"/>
                  </a:solidFill>
                  <a:latin typeface="+mn-lt"/>
                  <a:ea typeface="+mn-ea"/>
                  <a:cs typeface="+mn-cs"/>
                </a:rPr>
                <a:t>客户端拿到的永远是 Encryption 类型的引用，具体是哪一种</a:t>
              </a:r>
              <a:br/>
              <a:r>
                <a:rPr lang="zh-CN" sz="1350" dirty="0">
                  <a:solidFill>
                    <a:srgbClr val="0F7A68"/>
                  </a:solidFill>
                  <a:latin typeface="+mn-lt"/>
                  <a:ea typeface="+mn-ea"/>
                  <a:cs typeface="+mn-cs"/>
                </a:rPr>
                <a:t>算法由创建时决定，调用代码不用改。</a:t>
              </a:r>
            </a:p>
          </p:txBody>
        </p:sp>
      </p:grpSp>
      <p:grpSp>
        <p:nvGrpSpPr>
          <p:cNvPr id="66" name="footer"/>
          <p:cNvGrpSpPr/>
          <p:nvPr/>
        </p:nvGrpSpPr>
        <p:grpSpPr>
          <a:xfrm>
            <a:off x="528447" y="6581299"/>
            <a:ext cx="11135106" cy="190690"/>
            <a:chOff x="528447" y="6581299"/>
            <a:chExt cx="11135106" cy="190690"/>
          </a:xfrm>
        </p:grpSpPr>
        <p:sp>
          <p:nvSpPr>
            <p:cNvPr id="64" name="TextBox 64"/>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65" name="TextBox 6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19</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2660332" cy="266700"/>
            </a:xfrm>
            <a:prstGeom prst="roundRect">
              <a:avLst>
                <a:gd name="adj" fmla="val 50000"/>
              </a:avLst>
            </a:prstGeom>
            <a:solidFill>
              <a:srgbClr val="E7EDF3"/>
            </a:solidFill>
            <a:ln>
              <a:noFill/>
            </a:ln>
          </p:spPr>
        </p:sp>
        <p:sp>
          <p:nvSpPr>
            <p:cNvPr id="3" name="TextBox 3"/>
            <p:cNvSpPr txBox="1"/>
            <p:nvPr/>
          </p:nvSpPr>
          <p:spPr>
            <a:xfrm>
              <a:off x="570203" y="407194"/>
              <a:ext cx="25857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SOLID 五原则</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里氏替换：子类对象必须能顶替父类对象</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7" name="c1-card-1"/>
          <p:cNvGrpSpPr/>
          <p:nvPr/>
        </p:nvGrpSpPr>
        <p:grpSpPr>
          <a:xfrm>
            <a:off x="533400" y="1524000"/>
            <a:ext cx="5626418" cy="1876425"/>
            <a:chOff x="533400" y="1524000"/>
            <a:chExt cx="5626418" cy="1876425"/>
          </a:xfrm>
        </p:grpSpPr>
        <p:sp>
          <p:nvSpPr>
            <p:cNvPr id="7" name="Rectangle 7"/>
            <p:cNvSpPr/>
            <p:nvPr/>
          </p:nvSpPr>
          <p:spPr>
            <a:xfrm>
              <a:off x="533400" y="1524000"/>
              <a:ext cx="5626418" cy="1876425"/>
            </a:xfrm>
            <a:prstGeom prst="roundRect">
              <a:avLst>
                <a:gd name="adj" fmla="val 7107"/>
              </a:avLst>
            </a:prstGeom>
            <a:solidFill>
              <a:srgbClr val="FFFFFF"/>
            </a:solidFill>
            <a:ln w="14288">
              <a:solidFill>
                <a:srgbClr val="D9DFEA"/>
              </a:solidFill>
            </a:ln>
          </p:spPr>
        </p:sp>
        <p:sp>
          <p:nvSpPr>
            <p:cNvPr id="8" name="Rectangle 8"/>
            <p:cNvSpPr/>
            <p:nvPr/>
          </p:nvSpPr>
          <p:spPr>
            <a:xfrm>
              <a:off x="542925" y="1657350"/>
              <a:ext cx="47625" cy="1609725"/>
            </a:xfrm>
            <a:prstGeom prst="roundRect">
              <a:avLst>
                <a:gd name="adj" fmla="val 50000"/>
              </a:avLst>
            </a:prstGeom>
            <a:solidFill>
              <a:srgbClr val="334E68"/>
            </a:solidFill>
            <a:ln>
              <a:noFill/>
            </a:ln>
          </p:spPr>
        </p:sp>
        <p:sp>
          <p:nvSpPr>
            <p:cNvPr id="9" name="Rectangle 9"/>
            <p:cNvSpPr/>
            <p:nvPr/>
          </p:nvSpPr>
          <p:spPr>
            <a:xfrm>
              <a:off x="746760" y="1699260"/>
              <a:ext cx="438150" cy="228600"/>
            </a:xfrm>
            <a:prstGeom prst="roundRect">
              <a:avLst>
                <a:gd name="adj" fmla="val 50000"/>
              </a:avLst>
            </a:prstGeom>
            <a:solidFill>
              <a:srgbClr val="E7EDF3"/>
            </a:solidFill>
            <a:ln>
              <a:noFill/>
            </a:ln>
          </p:spPr>
        </p:sp>
        <p:sp>
          <p:nvSpPr>
            <p:cNvPr id="10" name="TextBox 10"/>
            <p:cNvSpPr txBox="1"/>
            <p:nvPr/>
          </p:nvSpPr>
          <p:spPr>
            <a:xfrm>
              <a:off x="839915" y="1730693"/>
              <a:ext cx="251841" cy="176212"/>
            </a:xfrm>
            <a:prstGeom prst="rect">
              <a:avLst/>
            </a:prstGeom>
            <a:noFill/>
            <a:ln>
              <a:noFill/>
            </a:ln>
          </p:spPr>
          <p:txBody>
            <a:bodyPr wrap="none" lIns="0" tIns="0" rIns="0" bIns="0" anchor="t" anchorCtr="0">
              <a:spAutoFit/>
            </a:bodyPr>
            <a:lstStyle/>
            <a:p>
              <a:pPr algn="ctr"/>
              <a:r>
                <a:rPr lang="zh-CN" sz="900" b="1" dirty="0">
                  <a:solidFill>
                    <a:srgbClr val="334E68"/>
                  </a:solidFill>
                  <a:latin typeface="+mn-lt"/>
                  <a:ea typeface="+mn-ea"/>
                  <a:cs typeface="+mn-cs"/>
                </a:rPr>
                <a:t>定义</a:t>
              </a:r>
            </a:p>
          </p:txBody>
        </p:sp>
        <p:sp>
          <p:nvSpPr>
            <p:cNvPr id="11" name="TextBox 11"/>
            <p:cNvSpPr txBox="1"/>
            <p:nvPr/>
          </p:nvSpPr>
          <p:spPr>
            <a:xfrm>
              <a:off x="1293114" y="1739265"/>
              <a:ext cx="2393290"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Liskov Substitution Principle</a:t>
              </a:r>
            </a:p>
          </p:txBody>
        </p:sp>
        <p:sp>
          <p:nvSpPr>
            <p:cNvPr id="12" name="TextBox 12"/>
            <p:cNvSpPr txBox="1"/>
            <p:nvPr/>
          </p:nvSpPr>
          <p:spPr>
            <a:xfrm>
              <a:off x="740664" y="2041208"/>
              <a:ext cx="4927092" cy="691896"/>
            </a:xfrm>
            <a:prstGeom prst="rect">
              <a:avLst/>
            </a:prstGeom>
            <a:noFill/>
            <a:ln>
              <a:noFill/>
            </a:ln>
          </p:spPr>
          <p:txBody>
            <a:bodyPr wrap="none" lIns="0" tIns="0" rIns="0" bIns="0" anchor="t" anchorCtr="0">
              <a:spAutoFit/>
            </a:bodyPr>
            <a:lstStyle/>
            <a:p>
              <a:pPr algn="l">
                <a:lnSpc>
                  <a:spcPts val="1800"/>
                </a:lnSpc>
              </a:pPr>
              <a:r>
                <a:rPr lang="en-US" sz="1200" dirty="0">
                  <a:solidFill>
                    <a:srgbClr val="1F2937"/>
                  </a:solidFill>
                  <a:latin typeface="+mn-lt"/>
                  <a:ea typeface="+mn-ea"/>
                  <a:cs typeface="+mn-cs"/>
                </a:rPr>
                <a:t>If S is a subtype of T, then objects of type T may be replaced with</a:t>
              </a:r>
              <a:br/>
              <a:r>
                <a:rPr lang="en-US" sz="1200" dirty="0">
                  <a:solidFill>
                    <a:srgbClr val="1F2937"/>
                  </a:solidFill>
                  <a:latin typeface="+mn-lt"/>
                  <a:ea typeface="+mn-ea"/>
                  <a:cs typeface="+mn-cs"/>
                </a:rPr>
                <a:t>objects of type S without altering any of the desirable properties</a:t>
              </a:r>
              <a:br/>
              <a:r>
                <a:rPr lang="en-US" sz="1200" dirty="0">
                  <a:solidFill>
                    <a:srgbClr val="1F2937"/>
                  </a:solidFill>
                  <a:latin typeface="+mn-lt"/>
                  <a:ea typeface="+mn-ea"/>
                  <a:cs typeface="+mn-cs"/>
                </a:rPr>
                <a:t>of that program.</a:t>
              </a:r>
            </a:p>
          </p:txBody>
        </p:sp>
        <p:sp>
          <p:nvSpPr>
            <p:cNvPr id="13" name="Ellipse 13"/>
            <p:cNvSpPr/>
            <p:nvPr/>
          </p:nvSpPr>
          <p:spPr>
            <a:xfrm>
              <a:off x="756285" y="2815590"/>
              <a:ext cx="57150" cy="57150"/>
            </a:xfrm>
            <a:prstGeom prst="ellipse">
              <a:avLst/>
            </a:prstGeom>
            <a:solidFill>
              <a:srgbClr val="334E68"/>
            </a:solidFill>
            <a:ln>
              <a:noFill/>
            </a:ln>
          </p:spPr>
        </p:sp>
        <p:sp>
          <p:nvSpPr>
            <p:cNvPr id="14" name="TextBox 14"/>
            <p:cNvSpPr txBox="1"/>
            <p:nvPr/>
          </p:nvSpPr>
          <p:spPr>
            <a:xfrm>
              <a:off x="912114" y="2767965"/>
              <a:ext cx="4309262"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 xml:space="preserve">父类对象能出现的地方换成子类对象，程序的 </a:t>
              </a:r>
              <a:r>
                <a:rPr lang="zh-CN" sz="1200" b="1" dirty="0">
                  <a:solidFill>
                    <a:srgbClr val="C2410C"/>
                  </a:solidFill>
                  <a:latin typeface="+mn-lt"/>
                  <a:ea typeface="+mn-ea"/>
                  <a:cs typeface="+mn-cs"/>
                </a:rPr>
                <a:t>正确性</a:t>
              </a:r>
              <a:r>
                <a:rPr lang="zh-CN" sz="1200" dirty="0">
                  <a:solidFill>
                    <a:srgbClr val="1F2937"/>
                  </a:solidFill>
                  <a:latin typeface="+mn-lt"/>
                  <a:ea typeface="+mn-ea"/>
                  <a:cs typeface="+mn-cs"/>
                </a:rPr>
                <a:t xml:space="preserve"> 不能变</a:t>
              </a:r>
            </a:p>
          </p:txBody>
        </p:sp>
        <p:sp>
          <p:nvSpPr>
            <p:cNvPr id="15" name="Ellipse 15"/>
            <p:cNvSpPr/>
            <p:nvPr/>
          </p:nvSpPr>
          <p:spPr>
            <a:xfrm>
              <a:off x="756285" y="3086100"/>
              <a:ext cx="57150" cy="57150"/>
            </a:xfrm>
            <a:prstGeom prst="ellipse">
              <a:avLst/>
            </a:prstGeom>
            <a:solidFill>
              <a:srgbClr val="334E68"/>
            </a:solidFill>
            <a:ln>
              <a:noFill/>
            </a:ln>
          </p:spPr>
        </p:sp>
        <p:sp>
          <p:nvSpPr>
            <p:cNvPr id="16" name="TextBox 16"/>
            <p:cNvSpPr txBox="1"/>
            <p:nvPr/>
          </p:nvSpPr>
          <p:spPr>
            <a:xfrm>
              <a:off x="912114" y="3038475"/>
              <a:ext cx="2112264"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这是对继承关系的一道硬检查</a:t>
              </a:r>
            </a:p>
          </p:txBody>
        </p:sp>
      </p:grpSp>
      <p:grpSp>
        <p:nvGrpSpPr>
          <p:cNvPr id="25" name="c1-card-2"/>
          <p:cNvGrpSpPr/>
          <p:nvPr/>
        </p:nvGrpSpPr>
        <p:grpSpPr>
          <a:xfrm>
            <a:off x="533400" y="3560445"/>
            <a:ext cx="5626418" cy="2618422"/>
            <a:chOff x="533400" y="3560445"/>
            <a:chExt cx="5626418" cy="2618422"/>
          </a:xfrm>
        </p:grpSpPr>
        <p:sp>
          <p:nvSpPr>
            <p:cNvPr id="18" name="Rectangle 18"/>
            <p:cNvSpPr/>
            <p:nvPr/>
          </p:nvSpPr>
          <p:spPr>
            <a:xfrm>
              <a:off x="533400" y="3560445"/>
              <a:ext cx="5626418" cy="2618422"/>
            </a:xfrm>
            <a:prstGeom prst="roundRect">
              <a:avLst>
                <a:gd name="adj" fmla="val 5093"/>
              </a:avLst>
            </a:prstGeom>
            <a:solidFill>
              <a:srgbClr val="FFFFFF"/>
            </a:solidFill>
            <a:ln w="14288">
              <a:solidFill>
                <a:srgbClr val="D9DFEA"/>
              </a:solidFill>
            </a:ln>
          </p:spPr>
        </p:sp>
        <p:sp>
          <p:nvSpPr>
            <p:cNvPr id="19" name="Rectangle 19"/>
            <p:cNvSpPr/>
            <p:nvPr/>
          </p:nvSpPr>
          <p:spPr>
            <a:xfrm>
              <a:off x="542925" y="3693795"/>
              <a:ext cx="47625" cy="2351722"/>
            </a:xfrm>
            <a:prstGeom prst="roundRect">
              <a:avLst>
                <a:gd name="adj" fmla="val 50000"/>
              </a:avLst>
            </a:prstGeom>
            <a:solidFill>
              <a:srgbClr val="14A38B"/>
            </a:solidFill>
            <a:ln>
              <a:noFill/>
            </a:ln>
          </p:spPr>
        </p:sp>
        <p:sp>
          <p:nvSpPr>
            <p:cNvPr id="20" name="Rectangle 20"/>
            <p:cNvSpPr/>
            <p:nvPr/>
          </p:nvSpPr>
          <p:spPr>
            <a:xfrm>
              <a:off x="746760" y="3735705"/>
              <a:ext cx="425768" cy="228600"/>
            </a:xfrm>
            <a:prstGeom prst="roundRect">
              <a:avLst>
                <a:gd name="adj" fmla="val 50000"/>
              </a:avLst>
            </a:prstGeom>
            <a:solidFill>
              <a:srgbClr val="E3F5F1"/>
            </a:solidFill>
            <a:ln>
              <a:noFill/>
            </a:ln>
          </p:spPr>
        </p:sp>
        <p:sp>
          <p:nvSpPr>
            <p:cNvPr id="21" name="TextBox 21"/>
            <p:cNvSpPr txBox="1"/>
            <p:nvPr/>
          </p:nvSpPr>
          <p:spPr>
            <a:xfrm>
              <a:off x="840712" y="3767138"/>
              <a:ext cx="238817" cy="176212"/>
            </a:xfrm>
            <a:prstGeom prst="rect">
              <a:avLst/>
            </a:prstGeom>
            <a:noFill/>
            <a:ln>
              <a:noFill/>
            </a:ln>
          </p:spPr>
          <p:txBody>
            <a:bodyPr wrap="none" lIns="0" tIns="0" rIns="0" bIns="0" anchor="t" anchorCtr="0">
              <a:spAutoFit/>
            </a:bodyPr>
            <a:lstStyle/>
            <a:p>
              <a:pPr algn="ctr"/>
              <a:r>
                <a:rPr lang="zh-CN" sz="900" b="1" dirty="0">
                  <a:solidFill>
                    <a:srgbClr val="0F7A68"/>
                  </a:solidFill>
                  <a:latin typeface="+mn-lt"/>
                  <a:ea typeface="+mn-ea"/>
                  <a:cs typeface="+mn-cs"/>
                </a:rPr>
                <a:t>例 4</a:t>
              </a:r>
            </a:p>
          </p:txBody>
        </p:sp>
        <p:sp>
          <p:nvSpPr>
            <p:cNvPr id="22" name="TextBox 22"/>
            <p:cNvSpPr txBox="1"/>
            <p:nvPr/>
          </p:nvSpPr>
          <p:spPr>
            <a:xfrm>
              <a:off x="1280732" y="3775710"/>
              <a:ext cx="146608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正方形是不是长方形</a:t>
              </a:r>
            </a:p>
          </p:txBody>
        </p:sp>
        <p:sp>
          <p:nvSpPr>
            <p:cNvPr id="23" name="TextBox 23"/>
            <p:cNvSpPr txBox="1"/>
            <p:nvPr/>
          </p:nvSpPr>
          <p:spPr>
            <a:xfrm>
              <a:off x="740664" y="4077652"/>
              <a:ext cx="4797552" cy="463296"/>
            </a:xfrm>
            <a:prstGeom prst="rect">
              <a:avLst/>
            </a:prstGeom>
            <a:noFill/>
            <a:ln>
              <a:noFill/>
            </a:ln>
          </p:spPr>
          <p:txBody>
            <a:bodyPr wrap="none" lIns="0" tIns="0" rIns="0" bIns="0" anchor="t" anchorCtr="0">
              <a:spAutoFit/>
            </a:bodyPr>
            <a:lstStyle/>
            <a:p>
              <a:pPr algn="l">
                <a:lnSpc>
                  <a:spcPts val="1800"/>
                </a:lnSpc>
              </a:pPr>
              <a:r>
                <a:rPr lang="zh-CN" sz="1200" dirty="0">
                  <a:solidFill>
                    <a:srgbClr val="1F2937"/>
                  </a:solidFill>
                  <a:latin typeface="+mn-lt"/>
                  <a:ea typeface="+mn-ea"/>
                  <a:cs typeface="+mn-cs"/>
                </a:rPr>
                <a:t>Square 从 Rectangle 派生，两者都有宽和高的 getter 与 setter，而</a:t>
              </a:r>
              <a:br/>
              <a:r>
                <a:rPr lang="zh-CN" sz="1200" dirty="0">
                  <a:solidFill>
                    <a:srgbClr val="1F2937"/>
                  </a:solidFill>
                  <a:latin typeface="+mn-lt"/>
                  <a:ea typeface="+mn-ea"/>
                  <a:cs typeface="+mn-cs"/>
                </a:rPr>
                <a:t>Square 始终假定宽等于高。</a:t>
              </a:r>
            </a:p>
          </p:txBody>
        </p:sp>
        <p:sp>
          <p:nvSpPr>
            <p:cNvPr id="24" name="TextBox 24"/>
            <p:cNvSpPr txBox="1"/>
            <p:nvPr/>
          </p:nvSpPr>
          <p:spPr>
            <a:xfrm>
              <a:off x="740664" y="4575810"/>
              <a:ext cx="5041392" cy="463296"/>
            </a:xfrm>
            <a:prstGeom prst="rect">
              <a:avLst/>
            </a:prstGeom>
            <a:noFill/>
            <a:ln>
              <a:noFill/>
            </a:ln>
          </p:spPr>
          <p:txBody>
            <a:bodyPr wrap="none" lIns="0" tIns="0" rIns="0" bIns="0" anchor="t" anchorCtr="0">
              <a:spAutoFit/>
            </a:bodyPr>
            <a:lstStyle/>
            <a:p>
              <a:pPr algn="l">
                <a:lnSpc>
                  <a:spcPts val="1800"/>
                </a:lnSpc>
              </a:pPr>
              <a:r>
                <a:rPr lang="zh-CN" sz="1200" dirty="0">
                  <a:solidFill>
                    <a:srgbClr val="1F2937"/>
                  </a:solidFill>
                  <a:latin typeface="+mn-lt"/>
                  <a:ea typeface="+mn-ea"/>
                  <a:cs typeface="+mn-cs"/>
                </a:rPr>
                <a:t>数学上正方形确实是长方形的特例，但一旦给长方形配上可以独立修改宽和</a:t>
              </a:r>
              <a:br/>
              <a:r>
                <a:rPr lang="zh-CN" sz="1200" dirty="0">
                  <a:solidFill>
                    <a:srgbClr val="1F2937"/>
                  </a:solidFill>
                  <a:latin typeface="+mn-lt"/>
                  <a:ea typeface="+mn-ea"/>
                  <a:cs typeface="+mn-cs"/>
                </a:rPr>
                <a:t>高的 setter，这条继承就站不住了。</a:t>
              </a:r>
            </a:p>
          </p:txBody>
        </p:sp>
      </p:grpSp>
      <p:grpSp>
        <p:nvGrpSpPr>
          <p:cNvPr id="42" name="c2-uml-1"/>
          <p:cNvGrpSpPr/>
          <p:nvPr/>
        </p:nvGrpSpPr>
        <p:grpSpPr>
          <a:xfrm>
            <a:off x="8305800" y="1586865"/>
            <a:ext cx="1511618" cy="2502217"/>
            <a:chOff x="8305800" y="1586865"/>
            <a:chExt cx="1511618" cy="2502217"/>
          </a:xfrm>
        </p:grpSpPr>
        <p:sp>
          <p:nvSpPr>
            <p:cNvPr id="26" name="Freeform 26"/>
            <p:cNvSpPr/>
            <p:nvPr/>
          </p:nvSpPr>
          <p:spPr>
            <a:xfrm>
              <a:off x="9062085" y="3012758"/>
              <a:ext cx="9525" cy="221933"/>
            </a:xfrm>
            <a:custGeom>
              <a:avLst/>
              <a:gdLst/>
              <a:ahLst/>
              <a:cxnLst/>
              <a:rect l="l" t="t" r="r" b="b"/>
              <a:pathLst>
                <a:path w="9525" h="221933">
                  <a:moveTo>
                    <a:pt x="0" y="221933"/>
                  </a:moveTo>
                  <a:lnTo>
                    <a:pt x="0" y="0"/>
                  </a:lnTo>
                </a:path>
              </a:pathLst>
            </a:custGeom>
            <a:noFill/>
            <a:ln w="15240">
              <a:solidFill>
                <a:srgbClr val="1F2937"/>
              </a:solidFill>
            </a:ln>
          </p:spPr>
        </p:sp>
        <p:sp>
          <p:nvSpPr>
            <p:cNvPr id="27" name="Freeform 27"/>
            <p:cNvSpPr/>
            <p:nvPr/>
          </p:nvSpPr>
          <p:spPr>
            <a:xfrm>
              <a:off x="8988742" y="2887028"/>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28" name="Rectangle 28"/>
            <p:cNvSpPr/>
            <p:nvPr/>
          </p:nvSpPr>
          <p:spPr>
            <a:xfrm>
              <a:off x="8305800" y="1586865"/>
              <a:ext cx="1511618" cy="1300162"/>
            </a:xfrm>
            <a:prstGeom prst="rect">
              <a:avLst/>
            </a:prstGeom>
            <a:solidFill>
              <a:srgbClr val="FFFFFF"/>
            </a:solidFill>
            <a:ln w="14288">
              <a:solidFill>
                <a:srgbClr val="334E68"/>
              </a:solidFill>
            </a:ln>
          </p:spPr>
        </p:sp>
        <p:sp>
          <p:nvSpPr>
            <p:cNvPr id="29" name="Rectangle 29"/>
            <p:cNvSpPr/>
            <p:nvPr/>
          </p:nvSpPr>
          <p:spPr>
            <a:xfrm>
              <a:off x="8313420" y="1593532"/>
              <a:ext cx="1497330" cy="209550"/>
            </a:xfrm>
            <a:prstGeom prst="rect">
              <a:avLst/>
            </a:prstGeom>
            <a:solidFill>
              <a:srgbClr val="E7EDF3"/>
            </a:solidFill>
            <a:ln>
              <a:noFill/>
            </a:ln>
          </p:spPr>
        </p:sp>
        <p:sp>
          <p:nvSpPr>
            <p:cNvPr id="30" name="Rectangle 30"/>
            <p:cNvSpPr/>
            <p:nvPr/>
          </p:nvSpPr>
          <p:spPr>
            <a:xfrm>
              <a:off x="8305800" y="1799272"/>
              <a:ext cx="1511618" cy="9525"/>
            </a:xfrm>
            <a:prstGeom prst="rect">
              <a:avLst/>
            </a:prstGeom>
            <a:solidFill>
              <a:srgbClr val="334E68"/>
            </a:solidFill>
            <a:ln>
              <a:noFill/>
            </a:ln>
          </p:spPr>
        </p:sp>
        <p:sp>
          <p:nvSpPr>
            <p:cNvPr id="31" name="Rectangle 31"/>
            <p:cNvSpPr/>
            <p:nvPr/>
          </p:nvSpPr>
          <p:spPr>
            <a:xfrm>
              <a:off x="8305800" y="2191702"/>
              <a:ext cx="1511618" cy="9525"/>
            </a:xfrm>
            <a:prstGeom prst="rect">
              <a:avLst/>
            </a:prstGeom>
            <a:solidFill>
              <a:srgbClr val="334E68"/>
            </a:solidFill>
            <a:ln>
              <a:noFill/>
            </a:ln>
          </p:spPr>
        </p:sp>
        <p:sp>
          <p:nvSpPr>
            <p:cNvPr id="32" name="Rectangle 32"/>
            <p:cNvSpPr/>
            <p:nvPr/>
          </p:nvSpPr>
          <p:spPr>
            <a:xfrm>
              <a:off x="8362950" y="3234690"/>
              <a:ext cx="1397318" cy="854392"/>
            </a:xfrm>
            <a:prstGeom prst="rect">
              <a:avLst/>
            </a:prstGeom>
            <a:solidFill>
              <a:srgbClr val="FFFFFF"/>
            </a:solidFill>
            <a:ln w="14288">
              <a:solidFill>
                <a:srgbClr val="334E68"/>
              </a:solidFill>
            </a:ln>
          </p:spPr>
        </p:sp>
        <p:sp>
          <p:nvSpPr>
            <p:cNvPr id="33" name="Rectangle 33"/>
            <p:cNvSpPr/>
            <p:nvPr/>
          </p:nvSpPr>
          <p:spPr>
            <a:xfrm>
              <a:off x="8370570" y="3242310"/>
              <a:ext cx="1383030" cy="209550"/>
            </a:xfrm>
            <a:prstGeom prst="rect">
              <a:avLst/>
            </a:prstGeom>
            <a:solidFill>
              <a:srgbClr val="E7EDF3"/>
            </a:solidFill>
            <a:ln>
              <a:noFill/>
            </a:ln>
          </p:spPr>
        </p:sp>
        <p:sp>
          <p:nvSpPr>
            <p:cNvPr id="34" name="Rectangle 34"/>
            <p:cNvSpPr/>
            <p:nvPr/>
          </p:nvSpPr>
          <p:spPr>
            <a:xfrm>
              <a:off x="8362950" y="3447098"/>
              <a:ext cx="1397318" cy="9525"/>
            </a:xfrm>
            <a:prstGeom prst="rect">
              <a:avLst/>
            </a:prstGeom>
            <a:solidFill>
              <a:srgbClr val="334E68"/>
            </a:solidFill>
            <a:ln>
              <a:noFill/>
            </a:ln>
          </p:spPr>
        </p:sp>
        <p:sp>
          <p:nvSpPr>
            <p:cNvPr id="35" name="Rectangle 35"/>
            <p:cNvSpPr/>
            <p:nvPr/>
          </p:nvSpPr>
          <p:spPr>
            <a:xfrm>
              <a:off x="8362950" y="3691890"/>
              <a:ext cx="1397318" cy="9525"/>
            </a:xfrm>
            <a:prstGeom prst="rect">
              <a:avLst/>
            </a:prstGeom>
            <a:solidFill>
              <a:srgbClr val="334E68"/>
            </a:solidFill>
            <a:ln>
              <a:noFill/>
            </a:ln>
          </p:spPr>
        </p:sp>
        <p:sp>
          <p:nvSpPr>
            <p:cNvPr id="36" name="TextBox 36"/>
            <p:cNvSpPr txBox="1"/>
            <p:nvPr/>
          </p:nvSpPr>
          <p:spPr>
            <a:xfrm>
              <a:off x="8756485" y="1638300"/>
              <a:ext cx="611200" cy="176212"/>
            </a:xfrm>
            <a:prstGeom prst="rect">
              <a:avLst/>
            </a:prstGeom>
            <a:noFill/>
            <a:ln>
              <a:noFill/>
            </a:ln>
          </p:spPr>
          <p:txBody>
            <a:bodyPr wrap="none" lIns="0" tIns="0" rIns="0" bIns="0" anchor="t" anchorCtr="0">
              <a:spAutoFit/>
            </a:bodyPr>
            <a:lstStyle/>
            <a:p>
              <a:pPr algn="ctr"/>
              <a:r>
                <a:rPr lang="en-US" sz="900" b="1" dirty="0">
                  <a:solidFill>
                    <a:srgbClr val="243B53"/>
                  </a:solidFill>
                  <a:latin typeface="+mn-lt"/>
                  <a:ea typeface="+mn-ea"/>
                  <a:cs typeface="+mn-cs"/>
                </a:rPr>
                <a:t>Rectangle</a:t>
              </a:r>
            </a:p>
          </p:txBody>
        </p:sp>
        <p:sp>
          <p:nvSpPr>
            <p:cNvPr id="37" name="TextBox 37"/>
            <p:cNvSpPr txBox="1"/>
            <p:nvPr/>
          </p:nvSpPr>
          <p:spPr>
            <a:xfrm>
              <a:off x="8377238" y="1867376"/>
              <a:ext cx="733298" cy="310515"/>
            </a:xfrm>
            <a:prstGeom prst="rect">
              <a:avLst/>
            </a:prstGeom>
            <a:noFill/>
            <a:ln>
              <a:noFill/>
            </a:ln>
          </p:spPr>
          <p:txBody>
            <a:bodyPr wrap="none" lIns="0" tIns="0" rIns="0" bIns="0" anchor="t" anchorCtr="0">
              <a:spAutoFit/>
            </a:bodyPr>
            <a:lstStyle/>
            <a:p>
              <a:pPr algn="l">
                <a:lnSpc>
                  <a:spcPts val="1170"/>
                </a:lnSpc>
              </a:pPr>
              <a:r>
                <a:rPr lang="en-US" sz="820" dirty="0">
                  <a:solidFill>
                    <a:srgbClr val="1F2937"/>
                  </a:solidFill>
                  <a:latin typeface="+mn-lt"/>
                  <a:ea typeface="+mn-ea"/>
                  <a:cs typeface="+mn-cs"/>
                </a:rPr>
                <a:t>#width: float</a:t>
              </a:r>
              <a:br/>
              <a:r>
                <a:rPr lang="en-US" sz="820" dirty="0">
                  <a:solidFill>
                    <a:srgbClr val="1F2937"/>
                  </a:solidFill>
                  <a:latin typeface="+mn-lt"/>
                  <a:ea typeface="+mn-ea"/>
                  <a:cs typeface="+mn-cs"/>
                </a:rPr>
                <a:t>#height: float</a:t>
              </a:r>
            </a:p>
          </p:txBody>
        </p:sp>
        <p:sp>
          <p:nvSpPr>
            <p:cNvPr id="38" name="TextBox 38"/>
            <p:cNvSpPr txBox="1"/>
            <p:nvPr/>
          </p:nvSpPr>
          <p:spPr>
            <a:xfrm>
              <a:off x="8377238" y="2259806"/>
              <a:ext cx="1368552" cy="607695"/>
            </a:xfrm>
            <a:prstGeom prst="rect">
              <a:avLst/>
            </a:prstGeom>
            <a:noFill/>
            <a:ln>
              <a:noFill/>
            </a:ln>
          </p:spPr>
          <p:txBody>
            <a:bodyPr wrap="none" lIns="0" tIns="0" rIns="0" bIns="0" anchor="t" anchorCtr="0">
              <a:spAutoFit/>
            </a:bodyPr>
            <a:lstStyle/>
            <a:p>
              <a:pPr algn="l">
                <a:lnSpc>
                  <a:spcPts val="1170"/>
                </a:lnSpc>
              </a:pPr>
              <a:r>
                <a:rPr lang="en-US" sz="820" dirty="0">
                  <a:solidFill>
                    <a:srgbClr val="1F2937"/>
                  </a:solidFill>
                  <a:latin typeface="+mn-lt"/>
                  <a:ea typeface="+mn-ea"/>
                  <a:cs typeface="+mn-cs"/>
                </a:rPr>
                <a:t>+setWidth(w: float): void</a:t>
              </a:r>
              <a:br/>
              <a:r>
                <a:rPr lang="en-US" sz="820" dirty="0">
                  <a:solidFill>
                    <a:srgbClr val="1F2937"/>
                  </a:solidFill>
                  <a:latin typeface="+mn-lt"/>
                  <a:ea typeface="+mn-ea"/>
                  <a:cs typeface="+mn-cs"/>
                </a:rPr>
                <a:t>+setHeight(h: float): void</a:t>
              </a:r>
              <a:br/>
              <a:r>
                <a:rPr lang="en-US" sz="820" dirty="0">
                  <a:solidFill>
                    <a:srgbClr val="1F2937"/>
                  </a:solidFill>
                  <a:latin typeface="+mn-lt"/>
                  <a:ea typeface="+mn-ea"/>
                  <a:cs typeface="+mn-cs"/>
                </a:rPr>
                <a:t>+getArea(): float</a:t>
              </a:r>
              <a:br/>
              <a:r>
                <a:rPr lang="en-US" sz="820" dirty="0">
                  <a:solidFill>
                    <a:srgbClr val="1F2937"/>
                  </a:solidFill>
                  <a:latin typeface="+mn-lt"/>
                  <a:ea typeface="+mn-ea"/>
                  <a:cs typeface="+mn-cs"/>
                </a:rPr>
                <a:t>+getPerimeter(): float</a:t>
              </a:r>
            </a:p>
          </p:txBody>
        </p:sp>
        <p:sp>
          <p:nvSpPr>
            <p:cNvPr id="39" name="TextBox 39"/>
            <p:cNvSpPr txBox="1"/>
            <p:nvPr/>
          </p:nvSpPr>
          <p:spPr>
            <a:xfrm>
              <a:off x="8845436" y="3286125"/>
              <a:ext cx="433298" cy="176212"/>
            </a:xfrm>
            <a:prstGeom prst="rect">
              <a:avLst/>
            </a:prstGeom>
            <a:noFill/>
            <a:ln>
              <a:noFill/>
            </a:ln>
          </p:spPr>
          <p:txBody>
            <a:bodyPr wrap="none" lIns="0" tIns="0" rIns="0" bIns="0" anchor="t" anchorCtr="0">
              <a:spAutoFit/>
            </a:bodyPr>
            <a:lstStyle/>
            <a:p>
              <a:pPr algn="ctr"/>
              <a:r>
                <a:rPr lang="en-US" sz="900" b="1" dirty="0">
                  <a:solidFill>
                    <a:srgbClr val="243B53"/>
                  </a:solidFill>
                  <a:latin typeface="+mn-lt"/>
                  <a:ea typeface="+mn-ea"/>
                  <a:cs typeface="+mn-cs"/>
                </a:rPr>
                <a:t>Square</a:t>
              </a:r>
            </a:p>
          </p:txBody>
        </p:sp>
        <p:sp>
          <p:nvSpPr>
            <p:cNvPr id="40" name="TextBox 40"/>
            <p:cNvSpPr txBox="1"/>
            <p:nvPr/>
          </p:nvSpPr>
          <p:spPr>
            <a:xfrm>
              <a:off x="8434388" y="3515201"/>
              <a:ext cx="500753" cy="161925"/>
            </a:xfrm>
            <a:prstGeom prst="rect">
              <a:avLst/>
            </a:prstGeom>
            <a:noFill/>
            <a:ln>
              <a:noFill/>
            </a:ln>
          </p:spPr>
          <p:txBody>
            <a:bodyPr wrap="none" lIns="0" tIns="0" rIns="0" bIns="0" anchor="t" anchorCtr="0">
              <a:spAutoFit/>
            </a:bodyPr>
            <a:lstStyle/>
            <a:p>
              <a:pPr algn="l"/>
              <a:r>
                <a:rPr lang="en-US" sz="820" dirty="0">
                  <a:solidFill>
                    <a:srgbClr val="1F2937"/>
                  </a:solidFill>
                  <a:latin typeface="+mn-lt"/>
                  <a:ea typeface="+mn-ea"/>
                  <a:cs typeface="+mn-cs"/>
                </a:rPr>
                <a:t>-r: float</a:t>
              </a:r>
            </a:p>
          </p:txBody>
        </p:sp>
        <p:sp>
          <p:nvSpPr>
            <p:cNvPr id="41" name="TextBox 41"/>
            <p:cNvSpPr txBox="1"/>
            <p:nvPr/>
          </p:nvSpPr>
          <p:spPr>
            <a:xfrm>
              <a:off x="8434388" y="3759994"/>
              <a:ext cx="1253998" cy="310515"/>
            </a:xfrm>
            <a:prstGeom prst="rect">
              <a:avLst/>
            </a:prstGeom>
            <a:noFill/>
            <a:ln>
              <a:noFill/>
            </a:ln>
          </p:spPr>
          <p:txBody>
            <a:bodyPr wrap="none" lIns="0" tIns="0" rIns="0" bIns="0" anchor="t" anchorCtr="0">
              <a:spAutoFit/>
            </a:bodyPr>
            <a:lstStyle/>
            <a:p>
              <a:pPr algn="l">
                <a:lnSpc>
                  <a:spcPts val="1170"/>
                </a:lnSpc>
              </a:pPr>
              <a:r>
                <a:rPr lang="en-US" sz="820" dirty="0">
                  <a:solidFill>
                    <a:srgbClr val="1F2937"/>
                  </a:solidFill>
                  <a:latin typeface="+mn-lt"/>
                  <a:ea typeface="+mn-ea"/>
                  <a:cs typeface="+mn-cs"/>
                </a:rPr>
                <a:t>+setSide(r: float): void</a:t>
              </a:r>
              <a:br/>
              <a:r>
                <a:rPr lang="en-US" sz="820" dirty="0">
                  <a:solidFill>
                    <a:srgbClr val="1F2937"/>
                  </a:solidFill>
                  <a:latin typeface="+mn-lt"/>
                  <a:ea typeface="+mn-ea"/>
                  <a:cs typeface="+mn-cs"/>
                </a:rPr>
                <a:t>+getSide(): float</a:t>
              </a:r>
            </a:p>
          </p:txBody>
        </p:sp>
      </p:grpSp>
      <p:grpSp>
        <p:nvGrpSpPr>
          <p:cNvPr id="46" name="c2-code-2"/>
          <p:cNvGrpSpPr/>
          <p:nvPr/>
        </p:nvGrpSpPr>
        <p:grpSpPr>
          <a:xfrm>
            <a:off x="6464618" y="4533900"/>
            <a:ext cx="5193982" cy="1644015"/>
            <a:chOff x="6464618" y="4533900"/>
            <a:chExt cx="5193982" cy="1644015"/>
          </a:xfrm>
        </p:grpSpPr>
        <p:sp>
          <p:nvSpPr>
            <p:cNvPr id="43" name="Rectangle 43"/>
            <p:cNvSpPr/>
            <p:nvPr/>
          </p:nvSpPr>
          <p:spPr>
            <a:xfrm>
              <a:off x="6464618" y="4533900"/>
              <a:ext cx="5193982" cy="1644015"/>
            </a:xfrm>
            <a:prstGeom prst="roundRect">
              <a:avLst>
                <a:gd name="adj" fmla="val 5794"/>
              </a:avLst>
            </a:prstGeom>
            <a:solidFill>
              <a:srgbClr val="F6F8FA"/>
            </a:solidFill>
            <a:ln w="11430">
              <a:solidFill>
                <a:srgbClr val="D9DFEA"/>
              </a:solidFill>
            </a:ln>
          </p:spPr>
        </p:sp>
        <p:sp>
          <p:nvSpPr>
            <p:cNvPr id="44" name="TextBox 44"/>
            <p:cNvSpPr txBox="1"/>
            <p:nvPr/>
          </p:nvSpPr>
          <p:spPr>
            <a:xfrm>
              <a:off x="6593015" y="4685824"/>
              <a:ext cx="1593037"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两个构造方法看上去都正常</a:t>
              </a:r>
            </a:p>
          </p:txBody>
        </p:sp>
        <p:sp>
          <p:nvSpPr>
            <p:cNvPr id="45" name="TextBox 45"/>
            <p:cNvSpPr txBox="1"/>
            <p:nvPr/>
          </p:nvSpPr>
          <p:spPr>
            <a:xfrm>
              <a:off x="6593205" y="4945380"/>
              <a:ext cx="2272665" cy="1147762"/>
            </a:xfrm>
            <a:prstGeom prst="rect">
              <a:avLst/>
            </a:prstGeom>
            <a:noFill/>
            <a:ln>
              <a:noFill/>
            </a:ln>
          </p:spPr>
          <p:txBody>
            <a:bodyPr wrap="none" lIns="0" tIns="0" rIns="0" bIns="0" anchor="t" anchorCtr="0">
              <a:spAutoFit/>
            </a:bodyPr>
            <a:lstStyle/>
            <a:p>
              <a:pPr algn="l">
                <a:lnSpc>
                  <a:spcPts val="1275"/>
                </a:lnSpc>
              </a:pPr>
              <a:r>
                <a:rPr lang="en-US" sz="900" b="1" dirty="0">
                  <a:solidFill>
                    <a:srgbClr val="334E68"/>
                  </a:solidFill>
                  <a:latin typeface="Consolas"/>
                  <a:ea typeface="Consolas"/>
                  <a:cs typeface="Consolas"/>
                </a:rPr>
                <a:t>public</a:t>
              </a:r>
              <a:r>
                <a:rPr lang="en-US" sz="900" dirty="0">
                  <a:solidFill>
                    <a:srgbClr val="1F2937"/>
                  </a:solidFill>
                  <a:latin typeface="Consolas"/>
                  <a:ea typeface="Consolas"/>
                  <a:cs typeface="Consolas"/>
                </a:rPr>
                <a:t xml:space="preserve"> Rectangle(</a:t>
              </a:r>
              <a:r>
                <a:rPr lang="en-US" sz="900" b="1" dirty="0">
                  <a:solidFill>
                    <a:srgbClr val="334E68"/>
                  </a:solidFill>
                  <a:latin typeface="Consolas"/>
                  <a:ea typeface="Consolas"/>
                  <a:cs typeface="Consolas"/>
                </a:rPr>
                <a:t>float</a:t>
              </a:r>
              <a:r>
                <a:rPr lang="en-US" sz="900" dirty="0">
                  <a:solidFill>
                    <a:srgbClr val="1F2937"/>
                  </a:solidFill>
                  <a:latin typeface="Consolas"/>
                  <a:ea typeface="Consolas"/>
                  <a:cs typeface="Consolas"/>
                </a:rPr>
                <a:t xml:space="preserve"> w, </a:t>
              </a:r>
              <a:r>
                <a:rPr lang="en-US" sz="900" b="1" dirty="0">
                  <a:solidFill>
                    <a:srgbClr val="334E68"/>
                  </a:solidFill>
                  <a:latin typeface="Consolas"/>
                  <a:ea typeface="Consolas"/>
                  <a:cs typeface="Consolas"/>
                </a:rPr>
                <a:t>float</a:t>
              </a:r>
              <a:r>
                <a:rPr lang="en-US" sz="900" dirty="0">
                  <a:solidFill>
                    <a:srgbClr val="1F2937"/>
                  </a:solidFill>
                  <a:latin typeface="Consolas"/>
                  <a:ea typeface="Consolas"/>
                  <a:cs typeface="Consolas"/>
                </a:rPr>
                <a:t xml:space="preserve"> h) {</a:t>
              </a:r>
              <a:br/>
              <a:r>
                <a:rPr lang="en-US" sz="900" dirty="0">
                  <a:solidFill>
                    <a:srgbClr val="1F2937"/>
                  </a:solidFill>
                  <a:latin typeface="Consolas"/>
                  <a:ea typeface="Consolas"/>
                  <a:cs typeface="Consolas"/>
                </a:rPr>
                <a:t xml:space="preserve">    width = w;  height = h;</a:t>
              </a:r>
              <a:br/>
              <a:r>
                <a:rPr lang="zh-CN" sz="900" dirty="0">
                  <a:solidFill>
                    <a:srgbClr val="1F2937"/>
                  </a:solidFill>
                  <a:latin typeface="Consolas"/>
                  <a:ea typeface="Consolas"/>
                  <a:cs typeface="Consolas"/>
                </a:rPr>
                <a:t>}</a:t>
              </a:r>
              <a:br/>
              <a:r>
                <a:rPr lang="en-US" sz="900" b="1" dirty="0">
                  <a:solidFill>
                    <a:srgbClr val="334E68"/>
                  </a:solidFill>
                  <a:latin typeface="Consolas"/>
                  <a:ea typeface="Consolas"/>
                  <a:cs typeface="Consolas"/>
                </a:rPr>
                <a:t>public</a:t>
              </a:r>
              <a:r>
                <a:rPr lang="en-US" sz="900" dirty="0">
                  <a:solidFill>
                    <a:srgbClr val="1F2937"/>
                  </a:solidFill>
                  <a:latin typeface="Consolas"/>
                  <a:ea typeface="Consolas"/>
                  <a:cs typeface="Consolas"/>
                </a:rPr>
                <a:t xml:space="preserve"> Square(</a:t>
              </a:r>
              <a:r>
                <a:rPr lang="en-US" sz="900" b="1" dirty="0">
                  <a:solidFill>
                    <a:srgbClr val="334E68"/>
                  </a:solidFill>
                  <a:latin typeface="Consolas"/>
                  <a:ea typeface="Consolas"/>
                  <a:cs typeface="Consolas"/>
                </a:rPr>
                <a:t>float</a:t>
              </a:r>
              <a:r>
                <a:rPr lang="en-US" sz="900" dirty="0">
                  <a:solidFill>
                    <a:srgbClr val="1F2937"/>
                  </a:solidFill>
                  <a:latin typeface="Consolas"/>
                  <a:ea typeface="Consolas"/>
                  <a:cs typeface="Consolas"/>
                </a:rPr>
                <a:t xml:space="preserve"> s) {</a:t>
              </a:r>
              <a:br/>
              <a:r>
                <a:rPr lang="zh-CN" sz="900" dirty="0">
                  <a:solidFill>
                    <a:srgbClr val="1F2937"/>
                  </a:solidFill>
                  <a:latin typeface="Consolas"/>
                  <a:ea typeface="Consolas"/>
                  <a:cs typeface="Consolas"/>
                </a:rPr>
                <a:t xml:space="preserve">    </a:t>
              </a:r>
              <a:r>
                <a:rPr lang="en-US" sz="900" b="1" dirty="0">
                  <a:solidFill>
                    <a:srgbClr val="334E68"/>
                  </a:solidFill>
                  <a:latin typeface="Consolas"/>
                  <a:ea typeface="Consolas"/>
                  <a:cs typeface="Consolas"/>
                </a:rPr>
                <a:t>super</a:t>
              </a:r>
              <a:r>
                <a:rPr lang="en-US" sz="900" dirty="0">
                  <a:solidFill>
                    <a:srgbClr val="1F2937"/>
                  </a:solidFill>
                  <a:latin typeface="Consolas"/>
                  <a:ea typeface="Consolas"/>
                  <a:cs typeface="Consolas"/>
                </a:rPr>
                <a:t xml:space="preserve">(s, s);   </a:t>
              </a:r>
              <a:r>
                <a:rPr lang="zh-CN" sz="900" dirty="0">
                  <a:solidFill>
                    <a:srgbClr val="0F7A68"/>
                  </a:solidFill>
                  <a:latin typeface="Consolas"/>
                  <a:ea typeface="Microsoft YaHei"/>
                  <a:cs typeface="Consolas"/>
                </a:rPr>
                <a:t>// 宽 = 高 = s</a:t>
              </a:r>
              <a:br/>
              <a:r>
                <a:rPr lang="en-US" sz="900" dirty="0">
                  <a:solidFill>
                    <a:srgbClr val="1F2937"/>
                  </a:solidFill>
                  <a:latin typeface="Consolas"/>
                  <a:ea typeface="Consolas"/>
                  <a:cs typeface="Consolas"/>
                </a:rPr>
                <a:t xml:space="preserve">    r = s;</a:t>
              </a:r>
              <a:br/>
              <a:r>
                <a:rPr lang="zh-CN" sz="900" dirty="0">
                  <a:solidFill>
                    <a:srgbClr val="1F2937"/>
                  </a:solidFill>
                  <a:latin typeface="Consolas"/>
                  <a:ea typeface="Consolas"/>
                  <a:cs typeface="Consolas"/>
                </a:rPr>
                <a:t>}</a:t>
              </a:r>
            </a:p>
          </p:txBody>
        </p:sp>
      </p:grpSp>
      <p:grpSp>
        <p:nvGrpSpPr>
          <p:cNvPr id="49" name="footer"/>
          <p:cNvGrpSpPr/>
          <p:nvPr/>
        </p:nvGrpSpPr>
        <p:grpSpPr>
          <a:xfrm>
            <a:off x="528447" y="6581299"/>
            <a:ext cx="11135106" cy="190690"/>
            <a:chOff x="528447" y="6581299"/>
            <a:chExt cx="11135106" cy="190690"/>
          </a:xfrm>
        </p:grpSpPr>
        <p:sp>
          <p:nvSpPr>
            <p:cNvPr id="47" name="TextBox 47"/>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48" name="TextBox 4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20</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932916" cy="909257"/>
            <a:chOff x="520446" y="342900"/>
            <a:chExt cx="5932916" cy="909257"/>
          </a:xfrm>
        </p:grpSpPr>
        <p:sp>
          <p:nvSpPr>
            <p:cNvPr id="2" name="Rectangle 2"/>
            <p:cNvSpPr/>
            <p:nvPr/>
          </p:nvSpPr>
          <p:spPr>
            <a:xfrm>
              <a:off x="533400" y="342900"/>
              <a:ext cx="2660332" cy="266700"/>
            </a:xfrm>
            <a:prstGeom prst="roundRect">
              <a:avLst>
                <a:gd name="adj" fmla="val 50000"/>
              </a:avLst>
            </a:prstGeom>
            <a:solidFill>
              <a:srgbClr val="E7EDF3"/>
            </a:solidFill>
            <a:ln>
              <a:noFill/>
            </a:ln>
          </p:spPr>
        </p:sp>
        <p:sp>
          <p:nvSpPr>
            <p:cNvPr id="3" name="TextBox 3"/>
            <p:cNvSpPr txBox="1"/>
            <p:nvPr/>
          </p:nvSpPr>
          <p:spPr>
            <a:xfrm>
              <a:off x="570203" y="407194"/>
              <a:ext cx="25857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SOLID 五原则</a:t>
              </a:r>
            </a:p>
          </p:txBody>
        </p:sp>
        <p:sp>
          <p:nvSpPr>
            <p:cNvPr id="4" name="TextBox 4"/>
            <p:cNvSpPr txBox="1"/>
            <p:nvPr/>
          </p:nvSpPr>
          <p:spPr>
            <a:xfrm>
              <a:off x="520446" y="753428"/>
              <a:ext cx="593291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 4 续：一段代码就能把这条继承证伪</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2" name="c1-code-1"/>
          <p:cNvGrpSpPr/>
          <p:nvPr/>
        </p:nvGrpSpPr>
        <p:grpSpPr>
          <a:xfrm>
            <a:off x="533400" y="1524000"/>
            <a:ext cx="5410200" cy="1261110"/>
            <a:chOff x="533400" y="1524000"/>
            <a:chExt cx="5410200" cy="1261110"/>
          </a:xfrm>
        </p:grpSpPr>
        <p:sp>
          <p:nvSpPr>
            <p:cNvPr id="7" name="Rectangle 7"/>
            <p:cNvSpPr/>
            <p:nvPr/>
          </p:nvSpPr>
          <p:spPr>
            <a:xfrm>
              <a:off x="533400" y="1524000"/>
              <a:ext cx="5410200" cy="1261110"/>
            </a:xfrm>
            <a:prstGeom prst="roundRect">
              <a:avLst>
                <a:gd name="adj" fmla="val 7553"/>
              </a:avLst>
            </a:prstGeom>
            <a:solidFill>
              <a:srgbClr val="F6F8FA"/>
            </a:solidFill>
            <a:ln w="11430">
              <a:solidFill>
                <a:srgbClr val="D9DFEA"/>
              </a:solidFill>
            </a:ln>
          </p:spPr>
        </p:sp>
        <p:sp>
          <p:nvSpPr>
            <p:cNvPr id="8" name="TextBox 8"/>
            <p:cNvSpPr txBox="1"/>
            <p:nvPr/>
          </p:nvSpPr>
          <p:spPr>
            <a:xfrm>
              <a:off x="661797" y="1675924"/>
              <a:ext cx="801472"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问题出在这里</a:t>
              </a:r>
            </a:p>
          </p:txBody>
        </p:sp>
        <p:sp>
          <p:nvSpPr>
            <p:cNvPr id="9" name="Rectangle 9"/>
            <p:cNvSpPr/>
            <p:nvPr/>
          </p:nvSpPr>
          <p:spPr>
            <a:xfrm>
              <a:off x="552450" y="2086928"/>
              <a:ext cx="5372100" cy="189548"/>
            </a:xfrm>
            <a:prstGeom prst="rect">
              <a:avLst/>
            </a:prstGeom>
            <a:solidFill>
              <a:srgbClr val="FDEEE7"/>
            </a:solidFill>
            <a:ln>
              <a:noFill/>
            </a:ln>
          </p:spPr>
        </p:sp>
        <p:sp>
          <p:nvSpPr>
            <p:cNvPr id="10" name="Rectangle 10"/>
            <p:cNvSpPr/>
            <p:nvPr/>
          </p:nvSpPr>
          <p:spPr>
            <a:xfrm>
              <a:off x="552450" y="2276475"/>
              <a:ext cx="5372100" cy="189548"/>
            </a:xfrm>
            <a:prstGeom prst="rect">
              <a:avLst/>
            </a:prstGeom>
            <a:solidFill>
              <a:srgbClr val="FDEEE7"/>
            </a:solidFill>
            <a:ln>
              <a:noFill/>
            </a:ln>
          </p:spPr>
        </p:sp>
        <p:sp>
          <p:nvSpPr>
            <p:cNvPr id="11" name="TextBox 11"/>
            <p:cNvSpPr txBox="1"/>
            <p:nvPr/>
          </p:nvSpPr>
          <p:spPr>
            <a:xfrm>
              <a:off x="661416" y="1937385"/>
              <a:ext cx="3264408" cy="774001"/>
            </a:xfrm>
            <a:prstGeom prst="rect">
              <a:avLst/>
            </a:prstGeom>
            <a:noFill/>
            <a:ln>
              <a:noFill/>
            </a:ln>
          </p:spPr>
          <p:txBody>
            <a:bodyPr wrap="none" lIns="0" tIns="0" rIns="0" bIns="0" anchor="t" anchorCtr="0">
              <a:spAutoFit/>
            </a:bodyPr>
            <a:lstStyle/>
            <a:p>
              <a:pPr algn="l">
                <a:lnSpc>
                  <a:spcPts val="1492"/>
                </a:lnSpc>
              </a:pPr>
              <a:r>
                <a:rPr lang="en-US" sz="1050" dirty="0">
                  <a:solidFill>
                    <a:srgbClr val="1F2937"/>
                  </a:solidFill>
                  <a:latin typeface="Consolas"/>
                  <a:ea typeface="Consolas"/>
                  <a:cs typeface="Consolas"/>
                </a:rPr>
                <a:t xml:space="preserve">Rectangle s = </a:t>
              </a:r>
              <a:r>
                <a:rPr lang="en-US" sz="1050" b="1" dirty="0">
                  <a:solidFill>
                    <a:srgbClr val="334E68"/>
                  </a:solidFill>
                  <a:latin typeface="Consolas"/>
                  <a:ea typeface="Consolas"/>
                  <a:cs typeface="Consolas"/>
                </a:rPr>
                <a:t>new</a:t>
              </a:r>
              <a:r>
                <a:rPr lang="en-US" sz="1050" dirty="0">
                  <a:solidFill>
                    <a:srgbClr val="1F2937"/>
                  </a:solidFill>
                  <a:latin typeface="Consolas"/>
                  <a:ea typeface="Consolas"/>
                  <a:cs typeface="Consolas"/>
                </a:rPr>
                <a:t xml:space="preserve"> Square(35.6f);</a:t>
              </a:r>
              <a:br/>
              <a:r>
                <a:rPr lang="en-US" sz="1050" dirty="0">
                  <a:solidFill>
                    <a:srgbClr val="1F2937"/>
                  </a:solidFill>
                  <a:latin typeface="Consolas"/>
                  <a:ea typeface="Consolas"/>
                  <a:cs typeface="Consolas"/>
                </a:rPr>
                <a:t>s.setWidth(66.3f);</a:t>
              </a:r>
              <a:br/>
              <a:r>
                <a:rPr lang="en-US" sz="1050" dirty="0">
                  <a:solidFill>
                    <a:srgbClr val="1F2937"/>
                  </a:solidFill>
                  <a:latin typeface="Consolas"/>
                  <a:ea typeface="Consolas"/>
                  <a:cs typeface="Consolas"/>
                </a:rPr>
                <a:t>s.setHeight(55.2f);</a:t>
              </a:r>
              <a:br/>
              <a:r>
                <a:rPr lang="zh-CN" sz="1050" dirty="0">
                  <a:solidFill>
                    <a:srgbClr val="0F7A68"/>
                  </a:solidFill>
                  <a:latin typeface="Consolas"/>
                  <a:ea typeface="Microsoft YaHei"/>
                  <a:cs typeface="Consolas"/>
                </a:rPr>
                <a:t>// 得到一个 width=66.3、height=55.2 的“正方形”</a:t>
              </a:r>
            </a:p>
          </p:txBody>
        </p:sp>
      </p:grpSp>
      <p:grpSp>
        <p:nvGrpSpPr>
          <p:cNvPr id="18" name="c1-code-2"/>
          <p:cNvGrpSpPr/>
          <p:nvPr/>
        </p:nvGrpSpPr>
        <p:grpSpPr>
          <a:xfrm>
            <a:off x="533400" y="2960370"/>
            <a:ext cx="5410200" cy="1829752"/>
            <a:chOff x="533400" y="2960370"/>
            <a:chExt cx="5410200" cy="1829752"/>
          </a:xfrm>
        </p:grpSpPr>
        <p:sp>
          <p:nvSpPr>
            <p:cNvPr id="13" name="Rectangle 13"/>
            <p:cNvSpPr/>
            <p:nvPr/>
          </p:nvSpPr>
          <p:spPr>
            <a:xfrm>
              <a:off x="533400" y="2960370"/>
              <a:ext cx="5410200" cy="1829752"/>
            </a:xfrm>
            <a:prstGeom prst="roundRect">
              <a:avLst>
                <a:gd name="adj" fmla="val 5206"/>
              </a:avLst>
            </a:prstGeom>
            <a:solidFill>
              <a:srgbClr val="F6F8FA"/>
            </a:solidFill>
            <a:ln w="11430">
              <a:solidFill>
                <a:srgbClr val="D9DFEA"/>
              </a:solidFill>
            </a:ln>
          </p:spPr>
        </p:sp>
        <p:sp>
          <p:nvSpPr>
            <p:cNvPr id="14" name="TextBox 14"/>
            <p:cNvSpPr txBox="1"/>
            <p:nvPr/>
          </p:nvSpPr>
          <p:spPr>
            <a:xfrm>
              <a:off x="661797" y="3112294"/>
              <a:ext cx="1065327"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用单元测试来判定</a:t>
              </a:r>
            </a:p>
          </p:txBody>
        </p:sp>
        <p:sp>
          <p:nvSpPr>
            <p:cNvPr id="15" name="Rectangle 15"/>
            <p:cNvSpPr/>
            <p:nvPr/>
          </p:nvSpPr>
          <p:spPr>
            <a:xfrm>
              <a:off x="552450" y="4470082"/>
              <a:ext cx="5372100" cy="189548"/>
            </a:xfrm>
            <a:prstGeom prst="rect">
              <a:avLst/>
            </a:prstGeom>
            <a:solidFill>
              <a:srgbClr val="FDEEE7"/>
            </a:solidFill>
            <a:ln>
              <a:noFill/>
            </a:ln>
          </p:spPr>
        </p:sp>
        <p:sp>
          <p:nvSpPr>
            <p:cNvPr id="16" name="TextBox 16"/>
            <p:cNvSpPr txBox="1"/>
            <p:nvPr/>
          </p:nvSpPr>
          <p:spPr>
            <a:xfrm>
              <a:off x="753808" y="3373755"/>
              <a:ext cx="84010" cy="1342644"/>
            </a:xfrm>
            <a:prstGeom prst="rect">
              <a:avLst/>
            </a:prstGeom>
            <a:noFill/>
            <a:ln>
              <a:noFill/>
            </a:ln>
          </p:spPr>
          <p:txBody>
            <a:bodyPr wrap="none" lIns="0" tIns="0" rIns="0" bIns="0" anchor="t" anchorCtr="0">
              <a:spAutoFit/>
            </a:bodyPr>
            <a:lstStyle/>
            <a:p>
              <a:pPr algn="r">
                <a:lnSpc>
                  <a:spcPts val="1492"/>
                </a:lnSpc>
              </a:pPr>
              <a:r>
                <a:rPr lang="zh-CN" sz="1050" dirty="0">
                  <a:solidFill>
                    <a:srgbClr val="9AA3B2"/>
                  </a:solidFill>
                  <a:latin typeface="Consolas"/>
                  <a:ea typeface="Consolas"/>
                  <a:cs typeface="Consolas"/>
                </a:rPr>
                <a:t>1</a:t>
              </a:r>
              <a:br/>
              <a:r>
                <a:rPr lang="zh-CN" sz="1050" dirty="0">
                  <a:solidFill>
                    <a:srgbClr val="9AA3B2"/>
                  </a:solidFill>
                  <a:latin typeface="Consolas"/>
                  <a:ea typeface="Consolas"/>
                  <a:cs typeface="Consolas"/>
                </a:rPr>
                <a:t>2</a:t>
              </a:r>
              <a:br/>
              <a:r>
                <a:rPr lang="zh-CN" sz="1050" dirty="0">
                  <a:solidFill>
                    <a:srgbClr val="9AA3B2"/>
                  </a:solidFill>
                  <a:latin typeface="Consolas"/>
                  <a:ea typeface="Consolas"/>
                  <a:cs typeface="Consolas"/>
                </a:rPr>
                <a:t>3</a:t>
              </a:r>
              <a:br/>
              <a:r>
                <a:rPr lang="zh-CN" sz="1050" dirty="0">
                  <a:solidFill>
                    <a:srgbClr val="9AA3B2"/>
                  </a:solidFill>
                  <a:latin typeface="Consolas"/>
                  <a:ea typeface="Consolas"/>
                  <a:cs typeface="Consolas"/>
                </a:rPr>
                <a:t>4</a:t>
              </a:r>
              <a:br/>
              <a:r>
                <a:rPr lang="zh-CN" sz="1050" dirty="0">
                  <a:solidFill>
                    <a:srgbClr val="9AA3B2"/>
                  </a:solidFill>
                  <a:latin typeface="Consolas"/>
                  <a:ea typeface="Consolas"/>
                  <a:cs typeface="Consolas"/>
                </a:rPr>
                <a:t>5</a:t>
              </a:r>
              <a:br/>
              <a:r>
                <a:rPr lang="zh-CN" sz="1050" dirty="0">
                  <a:solidFill>
                    <a:srgbClr val="9AA3B2"/>
                  </a:solidFill>
                  <a:latin typeface="Consolas"/>
                  <a:ea typeface="Consolas"/>
                  <a:cs typeface="Consolas"/>
                </a:rPr>
                <a:t>6</a:t>
              </a:r>
              <a:br/>
              <a:r>
                <a:rPr lang="zh-CN" sz="1050" dirty="0">
                  <a:solidFill>
                    <a:srgbClr val="9AA3B2"/>
                  </a:solidFill>
                  <a:latin typeface="Consolas"/>
                  <a:ea typeface="Consolas"/>
                  <a:cs typeface="Consolas"/>
                </a:rPr>
                <a:t>7</a:t>
              </a:r>
            </a:p>
          </p:txBody>
        </p:sp>
        <p:sp>
          <p:nvSpPr>
            <p:cNvPr id="17" name="TextBox 17"/>
            <p:cNvSpPr txBox="1"/>
            <p:nvPr/>
          </p:nvSpPr>
          <p:spPr>
            <a:xfrm>
              <a:off x="941451" y="3373755"/>
              <a:ext cx="3304413" cy="1342644"/>
            </a:xfrm>
            <a:prstGeom prst="rect">
              <a:avLst/>
            </a:prstGeom>
            <a:noFill/>
            <a:ln>
              <a:noFill/>
            </a:ln>
          </p:spPr>
          <p:txBody>
            <a:bodyPr wrap="none" lIns="0" tIns="0" rIns="0" bIns="0" anchor="t" anchorCtr="0">
              <a:spAutoFit/>
            </a:bodyPr>
            <a:lstStyle/>
            <a:p>
              <a:pPr algn="l">
                <a:lnSpc>
                  <a:spcPts val="1492"/>
                </a:lnSpc>
              </a:pPr>
              <a:r>
                <a:rPr lang="en-US" sz="1050" dirty="0">
                  <a:solidFill>
                    <a:srgbClr val="1F2937"/>
                  </a:solidFill>
                  <a:latin typeface="Consolas"/>
                  <a:ea typeface="Consolas"/>
                  <a:cs typeface="Consolas"/>
                </a:rPr>
                <a:t xml:space="preserve">Rectangle r = </a:t>
              </a:r>
              <a:r>
                <a:rPr lang="en-US" sz="1050" b="1" dirty="0">
                  <a:solidFill>
                    <a:srgbClr val="334E68"/>
                  </a:solidFill>
                  <a:latin typeface="Consolas"/>
                  <a:ea typeface="Consolas"/>
                  <a:cs typeface="Consolas"/>
                </a:rPr>
                <a:t>new</a:t>
              </a:r>
              <a:r>
                <a:rPr lang="en-US" sz="1050" dirty="0">
                  <a:solidFill>
                    <a:srgbClr val="1F2937"/>
                  </a:solidFill>
                  <a:latin typeface="Consolas"/>
                  <a:ea typeface="Consolas"/>
                  <a:cs typeface="Consolas"/>
                </a:rPr>
                <a:t xml:space="preserve"> Rectangle();</a:t>
              </a:r>
              <a:br/>
              <a:r>
                <a:rPr lang="en-US" sz="1050" dirty="0">
                  <a:solidFill>
                    <a:srgbClr val="1F2937"/>
                  </a:solidFill>
                  <a:latin typeface="Consolas"/>
                  <a:ea typeface="Consolas"/>
                  <a:cs typeface="Consolas"/>
                </a:rPr>
                <a:t>r.setWidth(4);  r.setHeight(5);</a:t>
              </a:r>
              <a:br/>
              <a:r>
                <a:rPr lang="en-US" sz="1050" b="1" dirty="0">
                  <a:solidFill>
                    <a:srgbClr val="334E68"/>
                  </a:solidFill>
                  <a:latin typeface="Consolas"/>
                  <a:ea typeface="Consolas"/>
                  <a:cs typeface="Consolas"/>
                </a:rPr>
                <a:t>assert</a:t>
              </a:r>
              <a:r>
                <a:rPr lang="en-US" sz="1050" dirty="0">
                  <a:solidFill>
                    <a:srgbClr val="1F2937"/>
                  </a:solidFill>
                  <a:latin typeface="Consolas"/>
                  <a:ea typeface="Consolas"/>
                  <a:cs typeface="Consolas"/>
                </a:rPr>
                <a:t xml:space="preserve"> r.getArea() == 20;   </a:t>
              </a:r>
              <a:r>
                <a:rPr lang="zh-CN" sz="1050" dirty="0">
                  <a:solidFill>
                    <a:srgbClr val="0F7A68"/>
                  </a:solidFill>
                  <a:latin typeface="Consolas"/>
                  <a:ea typeface="Microsoft YaHei"/>
                  <a:cs typeface="Consolas"/>
                </a:rPr>
                <a:t>// 通过</a:t>
              </a:r>
              <a:br/>
              <a:r>
                <a:rPr lang="en-US" sz="1050" dirty="0">
                  <a:solidFill>
                    <a:srgbClr val="1F2937"/>
                  </a:solidFill>
                  <a:latin typeface="Consolas"/>
                  <a:ea typeface="Consolas"/>
                  <a:cs typeface="Consolas"/>
                </a:rPr>
                <a:t xml:space="preserve">r = </a:t>
              </a:r>
              <a:r>
                <a:rPr lang="en-US" sz="1050" b="1" dirty="0">
                  <a:solidFill>
                    <a:srgbClr val="334E68"/>
                  </a:solidFill>
                  <a:latin typeface="Consolas"/>
                  <a:ea typeface="Consolas"/>
                  <a:cs typeface="Consolas"/>
                </a:rPr>
                <a:t>new</a:t>
              </a:r>
              <a:r>
                <a:rPr lang="en-US" sz="1050" dirty="0">
                  <a:solidFill>
                    <a:srgbClr val="1F2937"/>
                  </a:solidFill>
                  <a:latin typeface="Consolas"/>
                  <a:ea typeface="Consolas"/>
                  <a:cs typeface="Consolas"/>
                </a:rPr>
                <a:t xml:space="preserve"> Square();</a:t>
              </a:r>
              <a:br/>
              <a:r>
                <a:rPr lang="en-US" sz="1050" dirty="0">
                  <a:solidFill>
                    <a:srgbClr val="1F2937"/>
                  </a:solidFill>
                  <a:latin typeface="Consolas"/>
                  <a:ea typeface="Consolas"/>
                  <a:cs typeface="Consolas"/>
                </a:rPr>
                <a:t xml:space="preserve">r.setWidth(4);              </a:t>
              </a:r>
              <a:r>
                <a:rPr lang="zh-CN" sz="1050" dirty="0">
                  <a:solidFill>
                    <a:srgbClr val="0F7A68"/>
                  </a:solidFill>
                  <a:latin typeface="Consolas"/>
                  <a:ea typeface="Microsoft YaHei"/>
                  <a:cs typeface="Consolas"/>
                </a:rPr>
                <a:t>// 宽高同时变 4</a:t>
              </a:r>
              <a:br/>
              <a:r>
                <a:rPr lang="en-US" sz="1050" dirty="0">
                  <a:solidFill>
                    <a:srgbClr val="1F2937"/>
                  </a:solidFill>
                  <a:latin typeface="Consolas"/>
                  <a:ea typeface="Consolas"/>
                  <a:cs typeface="Consolas"/>
                </a:rPr>
                <a:t xml:space="preserve">r.setHeight(5);             </a:t>
              </a:r>
              <a:r>
                <a:rPr lang="zh-CN" sz="1050" dirty="0">
                  <a:solidFill>
                    <a:srgbClr val="0F7A68"/>
                  </a:solidFill>
                  <a:latin typeface="Consolas"/>
                  <a:ea typeface="Microsoft YaHei"/>
                  <a:cs typeface="Consolas"/>
                </a:rPr>
                <a:t>// 宽高同时变 5</a:t>
              </a:r>
              <a:br/>
              <a:r>
                <a:rPr lang="en-US" sz="1050" b="1" dirty="0">
                  <a:solidFill>
                    <a:srgbClr val="334E68"/>
                  </a:solidFill>
                  <a:latin typeface="Consolas"/>
                  <a:ea typeface="Consolas"/>
                  <a:cs typeface="Consolas"/>
                </a:rPr>
                <a:t>assert</a:t>
              </a:r>
              <a:r>
                <a:rPr lang="en-US" sz="1050" dirty="0">
                  <a:solidFill>
                    <a:srgbClr val="1F2937"/>
                  </a:solidFill>
                  <a:latin typeface="Consolas"/>
                  <a:ea typeface="Consolas"/>
                  <a:cs typeface="Consolas"/>
                </a:rPr>
                <a:t xml:space="preserve"> r.getArea() == 20;   </a:t>
              </a:r>
              <a:r>
                <a:rPr lang="zh-CN" sz="1050" dirty="0">
                  <a:solidFill>
                    <a:srgbClr val="0F7A68"/>
                  </a:solidFill>
                  <a:latin typeface="Consolas"/>
                  <a:ea typeface="Microsoft YaHei"/>
                  <a:cs typeface="Consolas"/>
                </a:rPr>
                <a:t>// 失败，实际是 25</a:t>
              </a:r>
            </a:p>
          </p:txBody>
        </p:sp>
      </p:grpSp>
      <p:grpSp>
        <p:nvGrpSpPr>
          <p:cNvPr id="25" name="c1-callout-3"/>
          <p:cNvGrpSpPr/>
          <p:nvPr/>
        </p:nvGrpSpPr>
        <p:grpSpPr>
          <a:xfrm>
            <a:off x="533400" y="4965382"/>
            <a:ext cx="5410200" cy="729615"/>
            <a:chOff x="533400" y="4965382"/>
            <a:chExt cx="5410200" cy="729615"/>
          </a:xfrm>
        </p:grpSpPr>
        <p:sp>
          <p:nvSpPr>
            <p:cNvPr id="19" name="Rectangle 19"/>
            <p:cNvSpPr/>
            <p:nvPr/>
          </p:nvSpPr>
          <p:spPr>
            <a:xfrm>
              <a:off x="533400" y="4965382"/>
              <a:ext cx="5410200" cy="729615"/>
            </a:xfrm>
            <a:prstGeom prst="roundRect">
              <a:avLst>
                <a:gd name="adj" fmla="val 15666"/>
              </a:avLst>
            </a:prstGeom>
            <a:solidFill>
              <a:srgbClr val="F4F6FB"/>
            </a:solidFill>
            <a:ln>
              <a:noFill/>
            </a:ln>
          </p:spPr>
        </p:sp>
        <p:grpSp>
          <p:nvGrpSpPr>
            <p:cNvPr id="23" name="Group 23"/>
            <p:cNvGrpSpPr/>
            <p:nvPr/>
          </p:nvGrpSpPr>
          <p:grpSpPr>
            <a:xfrm>
              <a:off x="738188" y="5230178"/>
              <a:ext cx="200026" cy="200026"/>
              <a:chOff x="738188" y="5230178"/>
              <a:chExt cx="200026" cy="200026"/>
            </a:xfrm>
          </p:grpSpPr>
          <p:sp>
            <p:nvSpPr>
              <p:cNvPr id="20" name="Freeform 20"/>
              <p:cNvSpPr/>
              <p:nvPr/>
            </p:nvSpPr>
            <p:spPr>
              <a:xfrm>
                <a:off x="738188" y="523017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21" name="Freeform 21"/>
              <p:cNvSpPr/>
              <p:nvPr/>
            </p:nvSpPr>
            <p:spPr>
              <a:xfrm>
                <a:off x="838200" y="529685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22" name="Freeform 22"/>
              <p:cNvSpPr/>
              <p:nvPr/>
            </p:nvSpPr>
            <p:spPr>
              <a:xfrm>
                <a:off x="827088" y="533019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24" name="TextBox 24"/>
            <p:cNvSpPr txBox="1"/>
            <p:nvPr/>
          </p:nvSpPr>
          <p:spPr>
            <a:xfrm>
              <a:off x="1040892" y="5111115"/>
              <a:ext cx="4519422"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1F2937"/>
                  </a:solidFill>
                  <a:latin typeface="+mn-lt"/>
                  <a:ea typeface="+mn-ea"/>
                  <a:cs typeface="+mn-cs"/>
                </a:rPr>
                <a:t xml:space="preserve">更正：原课件 </a:t>
              </a:r>
              <a:r>
                <a:rPr lang="en-US" sz="1350" b="1" dirty="0">
                  <a:solidFill>
                    <a:srgbClr val="B42318"/>
                  </a:solidFill>
                  <a:latin typeface="+mn-lt"/>
                  <a:ea typeface="+mn-ea"/>
                  <a:cs typeface="+mn-cs"/>
                </a:rPr>
                <a:t>Public class</a:t>
              </a:r>
              <a:r>
                <a:rPr lang="zh-CN" sz="1350" dirty="0">
                  <a:solidFill>
                    <a:srgbClr val="1F2937"/>
                  </a:solidFill>
                  <a:latin typeface="+mn-lt"/>
                  <a:ea typeface="+mn-ea"/>
                  <a:cs typeface="+mn-cs"/>
                </a:rPr>
                <a:t xml:space="preserve"> 应为 </a:t>
              </a:r>
              <a:r>
                <a:rPr lang="en-US" sz="1350" b="1" dirty="0">
                  <a:solidFill>
                    <a:srgbClr val="0F7A68"/>
                  </a:solidFill>
                  <a:latin typeface="+mn-lt"/>
                  <a:ea typeface="+mn-ea"/>
                  <a:cs typeface="+mn-cs"/>
                </a:rPr>
                <a:t>public</a:t>
              </a:r>
              <a:r>
                <a:rPr lang="zh-CN" sz="1350" dirty="0">
                  <a:solidFill>
                    <a:srgbClr val="1F2937"/>
                  </a:solidFill>
                  <a:latin typeface="+mn-lt"/>
                  <a:ea typeface="+mn-ea"/>
                  <a:cs typeface="+mn-cs"/>
                </a:rPr>
                <a:t>；</a:t>
              </a:r>
              <a:r>
                <a:rPr lang="en-US" sz="1350" b="1" dirty="0">
                  <a:solidFill>
                    <a:srgbClr val="B42318"/>
                  </a:solidFill>
                  <a:latin typeface="+mn-lt"/>
                  <a:ea typeface="+mn-ea"/>
                  <a:cs typeface="+mn-cs"/>
                </a:rPr>
                <a:t>void getArea()</a:t>
              </a:r>
              <a:br/>
              <a:r>
                <a:rPr lang="zh-CN" sz="1350" dirty="0">
                  <a:solidFill>
                    <a:srgbClr val="1F2937"/>
                  </a:solidFill>
                  <a:latin typeface="+mn-lt"/>
                  <a:ea typeface="+mn-ea"/>
                  <a:cs typeface="+mn-cs"/>
                </a:rPr>
                <a:t xml:space="preserve">带 return，返回类型应为 </a:t>
              </a:r>
              <a:r>
                <a:rPr lang="en-US" sz="1350" b="1" dirty="0">
                  <a:solidFill>
                    <a:srgbClr val="0F7A68"/>
                  </a:solidFill>
                  <a:latin typeface="+mn-lt"/>
                  <a:ea typeface="+mn-ea"/>
                  <a:cs typeface="+mn-cs"/>
                </a:rPr>
                <a:t>int</a:t>
              </a:r>
              <a:r>
                <a:rPr lang="zh-CN" sz="1350" dirty="0">
                  <a:solidFill>
                    <a:srgbClr val="1F2937"/>
                  </a:solidFill>
                  <a:latin typeface="+mn-lt"/>
                  <a:ea typeface="+mn-ea"/>
                  <a:cs typeface="+mn-cs"/>
                </a:rPr>
                <a:t>。</a:t>
              </a:r>
            </a:p>
          </p:txBody>
        </p:sp>
      </p:grpSp>
      <p:grpSp>
        <p:nvGrpSpPr>
          <p:cNvPr id="32" name="c2-card-1"/>
          <p:cNvGrpSpPr/>
          <p:nvPr/>
        </p:nvGrpSpPr>
        <p:grpSpPr>
          <a:xfrm>
            <a:off x="6248400" y="1524000"/>
            <a:ext cx="5410200" cy="2025968"/>
            <a:chOff x="6248400" y="1524000"/>
            <a:chExt cx="5410200" cy="2025968"/>
          </a:xfrm>
        </p:grpSpPr>
        <p:sp>
          <p:nvSpPr>
            <p:cNvPr id="26" name="Rectangle 26"/>
            <p:cNvSpPr/>
            <p:nvPr/>
          </p:nvSpPr>
          <p:spPr>
            <a:xfrm>
              <a:off x="6248400" y="1524000"/>
              <a:ext cx="5410200" cy="2025968"/>
            </a:xfrm>
            <a:prstGeom prst="roundRect">
              <a:avLst>
                <a:gd name="adj" fmla="val 6582"/>
              </a:avLst>
            </a:prstGeom>
            <a:solidFill>
              <a:srgbClr val="FFFFFF"/>
            </a:solidFill>
            <a:ln w="14288">
              <a:solidFill>
                <a:srgbClr val="D9DFEA"/>
              </a:solidFill>
            </a:ln>
          </p:spPr>
        </p:sp>
        <p:sp>
          <p:nvSpPr>
            <p:cNvPr id="27" name="Rectangle 27"/>
            <p:cNvSpPr/>
            <p:nvPr/>
          </p:nvSpPr>
          <p:spPr>
            <a:xfrm>
              <a:off x="6257925" y="1657350"/>
              <a:ext cx="47625" cy="1759268"/>
            </a:xfrm>
            <a:prstGeom prst="roundRect">
              <a:avLst>
                <a:gd name="adj" fmla="val 50000"/>
              </a:avLst>
            </a:prstGeom>
            <a:solidFill>
              <a:srgbClr val="B42318"/>
            </a:solidFill>
            <a:ln>
              <a:noFill/>
            </a:ln>
          </p:spPr>
        </p:sp>
        <p:sp>
          <p:nvSpPr>
            <p:cNvPr id="28" name="Rectangle 28"/>
            <p:cNvSpPr/>
            <p:nvPr/>
          </p:nvSpPr>
          <p:spPr>
            <a:xfrm>
              <a:off x="6478905" y="1716405"/>
              <a:ext cx="1955482" cy="247650"/>
            </a:xfrm>
            <a:prstGeom prst="roundRect">
              <a:avLst>
                <a:gd name="adj" fmla="val 50000"/>
              </a:avLst>
            </a:prstGeom>
            <a:solidFill>
              <a:srgbClr val="FDECEA"/>
            </a:solidFill>
            <a:ln>
              <a:noFill/>
            </a:ln>
          </p:spPr>
        </p:sp>
        <p:sp>
          <p:nvSpPr>
            <p:cNvPr id="29" name="TextBox 29"/>
            <p:cNvSpPr txBox="1"/>
            <p:nvPr/>
          </p:nvSpPr>
          <p:spPr>
            <a:xfrm>
              <a:off x="6526293" y="1750695"/>
              <a:ext cx="1861659" cy="205359"/>
            </a:xfrm>
            <a:prstGeom prst="rect">
              <a:avLst/>
            </a:prstGeom>
            <a:noFill/>
            <a:ln>
              <a:noFill/>
            </a:ln>
          </p:spPr>
          <p:txBody>
            <a:bodyPr wrap="none" lIns="0" tIns="0" rIns="0" bIns="0" anchor="t" anchorCtr="0">
              <a:spAutoFit/>
            </a:bodyPr>
            <a:lstStyle/>
            <a:p>
              <a:pPr algn="ctr"/>
              <a:r>
                <a:rPr lang="zh-CN" sz="1050" b="1" dirty="0">
                  <a:solidFill>
                    <a:srgbClr val="B42318"/>
                  </a:solidFill>
                  <a:latin typeface="+mn-lt"/>
                  <a:ea typeface="+mn-ea"/>
                  <a:cs typeface="+mn-cs"/>
                </a:rPr>
                <a:t>为什么不能靠改 setter 解决</a:t>
              </a:r>
            </a:p>
          </p:txBody>
        </p:sp>
        <p:sp>
          <p:nvSpPr>
            <p:cNvPr id="30" name="TextBox 30"/>
            <p:cNvSpPr txBox="1"/>
            <p:nvPr/>
          </p:nvSpPr>
          <p:spPr>
            <a:xfrm>
              <a:off x="6472047" y="2072640"/>
              <a:ext cx="478002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把 Square 的 setter 改成同时修改宽和高来维持正方形，这两</a:t>
              </a:r>
              <a:br/>
              <a:r>
                <a:rPr lang="zh-CN" sz="1350" dirty="0">
                  <a:solidFill>
                    <a:srgbClr val="1F2937"/>
                  </a:solidFill>
                  <a:latin typeface="+mn-lt"/>
                  <a:ea typeface="+mn-ea"/>
                  <a:cs typeface="+mn-cs"/>
                </a:rPr>
                <a:t xml:space="preserve">个方法就违反了 Rectangle 的 setter 承诺的 </a:t>
              </a:r>
              <a:r>
                <a:rPr lang="zh-CN" sz="1350" b="1" dirty="0">
                  <a:solidFill>
                    <a:srgbClr val="C2410C"/>
                  </a:solidFill>
                  <a:latin typeface="+mn-lt"/>
                  <a:ea typeface="+mn-ea"/>
                  <a:cs typeface="+mn-cs"/>
                </a:rPr>
                <a:t>后置条件</a:t>
              </a:r>
              <a:r>
                <a:rPr lang="zh-CN" sz="1350" dirty="0">
                  <a:solidFill>
                    <a:srgbClr val="1F2937"/>
                  </a:solidFill>
                  <a:latin typeface="+mn-lt"/>
                  <a:ea typeface="+mn-ea"/>
                  <a:cs typeface="+mn-cs"/>
                </a:rPr>
                <a:t>（宽和</a:t>
              </a:r>
              <a:br/>
              <a:r>
                <a:rPr lang="zh-CN" sz="1350" dirty="0">
                  <a:solidFill>
                    <a:srgbClr val="1F2937"/>
                  </a:solidFill>
                  <a:latin typeface="+mn-lt"/>
                  <a:ea typeface="+mn-ea"/>
                  <a:cs typeface="+mn-cs"/>
                </a:rPr>
                <a:t>高可以独立修改）。</a:t>
              </a:r>
            </a:p>
          </p:txBody>
        </p:sp>
        <p:sp>
          <p:nvSpPr>
            <p:cNvPr id="31" name="TextBox 31"/>
            <p:cNvSpPr txBox="1"/>
            <p:nvPr/>
          </p:nvSpPr>
          <p:spPr>
            <a:xfrm>
              <a:off x="6472047" y="2889885"/>
              <a:ext cx="44714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无论怎么写子类都会有一端失守，根子在继承关系本身选错</a:t>
              </a:r>
              <a:br/>
              <a:r>
                <a:rPr lang="zh-CN" sz="1350" dirty="0">
                  <a:solidFill>
                    <a:srgbClr val="1F2937"/>
                  </a:solidFill>
                  <a:latin typeface="+mn-lt"/>
                  <a:ea typeface="+mn-ea"/>
                  <a:cs typeface="+mn-cs"/>
                </a:rPr>
                <a:t>了。</a:t>
              </a:r>
            </a:p>
          </p:txBody>
        </p:sp>
      </p:grpSp>
      <p:grpSp>
        <p:nvGrpSpPr>
          <p:cNvPr id="42" name="c2-card-2"/>
          <p:cNvGrpSpPr/>
          <p:nvPr/>
        </p:nvGrpSpPr>
        <p:grpSpPr>
          <a:xfrm>
            <a:off x="6248400" y="3725228"/>
            <a:ext cx="5410200" cy="1968818"/>
            <a:chOff x="6248400" y="3725228"/>
            <a:chExt cx="5410200" cy="1968818"/>
          </a:xfrm>
        </p:grpSpPr>
        <p:sp>
          <p:nvSpPr>
            <p:cNvPr id="33" name="Rectangle 33"/>
            <p:cNvSpPr/>
            <p:nvPr/>
          </p:nvSpPr>
          <p:spPr>
            <a:xfrm>
              <a:off x="6248400" y="3725228"/>
              <a:ext cx="5410200" cy="1968818"/>
            </a:xfrm>
            <a:prstGeom prst="roundRect">
              <a:avLst>
                <a:gd name="adj" fmla="val 6773"/>
              </a:avLst>
            </a:prstGeom>
            <a:solidFill>
              <a:srgbClr val="334E68"/>
            </a:solidFill>
            <a:ln>
              <a:noFill/>
            </a:ln>
          </p:spPr>
        </p:sp>
        <p:sp>
          <p:nvSpPr>
            <p:cNvPr id="34" name="Rectangle 34"/>
            <p:cNvSpPr/>
            <p:nvPr/>
          </p:nvSpPr>
          <p:spPr>
            <a:xfrm>
              <a:off x="6440805" y="3917632"/>
              <a:ext cx="742950" cy="247650"/>
            </a:xfrm>
            <a:prstGeom prst="roundRect">
              <a:avLst>
                <a:gd name="adj" fmla="val 50000"/>
              </a:avLst>
            </a:prstGeom>
            <a:solidFill>
              <a:srgbClr val="243B53"/>
            </a:solidFill>
            <a:ln>
              <a:noFill/>
            </a:ln>
          </p:spPr>
        </p:sp>
        <p:sp>
          <p:nvSpPr>
            <p:cNvPr id="35" name="TextBox 35"/>
            <p:cNvSpPr txBox="1"/>
            <p:nvPr/>
          </p:nvSpPr>
          <p:spPr>
            <a:xfrm>
              <a:off x="6524244" y="3951923"/>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判定方法</a:t>
              </a:r>
            </a:p>
          </p:txBody>
        </p:sp>
        <p:sp>
          <p:nvSpPr>
            <p:cNvPr id="36" name="TextBox 36"/>
            <p:cNvSpPr txBox="1"/>
            <p:nvPr/>
          </p:nvSpPr>
          <p:spPr>
            <a:xfrm>
              <a:off x="7291197" y="3957638"/>
              <a:ext cx="2558034"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拿父类的单元测试用例去测子类</a:t>
              </a:r>
            </a:p>
          </p:txBody>
        </p:sp>
        <p:sp>
          <p:nvSpPr>
            <p:cNvPr id="37" name="Ellipse 37"/>
            <p:cNvSpPr/>
            <p:nvPr/>
          </p:nvSpPr>
          <p:spPr>
            <a:xfrm>
              <a:off x="6449378" y="4348162"/>
              <a:ext cx="59055" cy="59055"/>
            </a:xfrm>
            <a:prstGeom prst="ellipse">
              <a:avLst/>
            </a:prstGeom>
            <a:solidFill>
              <a:srgbClr val="FFFFFF"/>
            </a:solidFill>
            <a:ln>
              <a:noFill/>
            </a:ln>
          </p:spPr>
        </p:sp>
        <p:sp>
          <p:nvSpPr>
            <p:cNvPr id="38" name="TextBox 38"/>
            <p:cNvSpPr txBox="1"/>
            <p:nvPr/>
          </p:nvSpPr>
          <p:spPr>
            <a:xfrm>
              <a:off x="6605397" y="4291965"/>
              <a:ext cx="2387270"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全部通过：这条继承符合 LSP</a:t>
              </a:r>
            </a:p>
          </p:txBody>
        </p:sp>
        <p:sp>
          <p:nvSpPr>
            <p:cNvPr id="39" name="Ellipse 39"/>
            <p:cNvSpPr/>
            <p:nvPr/>
          </p:nvSpPr>
          <p:spPr>
            <a:xfrm>
              <a:off x="6449378" y="4650105"/>
              <a:ext cx="59055" cy="59055"/>
            </a:xfrm>
            <a:prstGeom prst="ellipse">
              <a:avLst/>
            </a:prstGeom>
            <a:solidFill>
              <a:srgbClr val="FFFFFF"/>
            </a:solidFill>
            <a:ln>
              <a:noFill/>
            </a:ln>
          </p:spPr>
        </p:sp>
        <p:sp>
          <p:nvSpPr>
            <p:cNvPr id="40" name="TextBox 40"/>
            <p:cNvSpPr txBox="1"/>
            <p:nvPr/>
          </p:nvSpPr>
          <p:spPr>
            <a:xfrm>
              <a:off x="6605397" y="4593908"/>
              <a:ext cx="3841166"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有用例失败：不符合 LSP，继承关系要重新考虑</a:t>
              </a:r>
            </a:p>
          </p:txBody>
        </p:sp>
        <p:sp>
          <p:nvSpPr>
            <p:cNvPr id="41" name="TextBox 41"/>
            <p:cNvSpPr txBox="1"/>
            <p:nvPr/>
          </p:nvSpPr>
          <p:spPr>
            <a:xfrm>
              <a:off x="6433947" y="4896802"/>
              <a:ext cx="476288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如果 Square 和 Rectangle 只有 getter 没有 setter（不可变</a:t>
              </a:r>
              <a:br/>
              <a:r>
                <a:rPr lang="zh-CN" sz="1350" dirty="0">
                  <a:solidFill>
                    <a:srgbClr val="FFFFFF"/>
                  </a:solidFill>
                  <a:latin typeface="+mn-lt"/>
                  <a:ea typeface="+mn-ea"/>
                  <a:cs typeface="+mn-cs"/>
                </a:rPr>
                <a:t>对象），就不会违反 LSP。</a:t>
              </a:r>
            </a:p>
          </p:txBody>
        </p:sp>
      </p:grpSp>
      <p:grpSp>
        <p:nvGrpSpPr>
          <p:cNvPr id="48" name="takeaway"/>
          <p:cNvGrpSpPr/>
          <p:nvPr/>
        </p:nvGrpSpPr>
        <p:grpSpPr>
          <a:xfrm>
            <a:off x="533400" y="5874068"/>
            <a:ext cx="11125200" cy="488632"/>
            <a:chOff x="533400" y="5874068"/>
            <a:chExt cx="11125200" cy="488632"/>
          </a:xfrm>
        </p:grpSpPr>
        <p:sp>
          <p:nvSpPr>
            <p:cNvPr id="43" name="Rectangle 43"/>
            <p:cNvSpPr/>
            <p:nvPr/>
          </p:nvSpPr>
          <p:spPr>
            <a:xfrm>
              <a:off x="533400" y="5874068"/>
              <a:ext cx="11125200" cy="488632"/>
            </a:xfrm>
            <a:prstGeom prst="roundRect">
              <a:avLst>
                <a:gd name="adj" fmla="val 23392"/>
              </a:avLst>
            </a:prstGeom>
            <a:solidFill>
              <a:srgbClr val="334E68"/>
            </a:solidFill>
            <a:ln>
              <a:noFill/>
            </a:ln>
          </p:spPr>
        </p:sp>
        <p:grpSp>
          <p:nvGrpSpPr>
            <p:cNvPr id="46" name="Group 46"/>
            <p:cNvGrpSpPr/>
            <p:nvPr/>
          </p:nvGrpSpPr>
          <p:grpSpPr>
            <a:xfrm>
              <a:off x="738188" y="6017897"/>
              <a:ext cx="200023" cy="200023"/>
              <a:chOff x="738188" y="6017897"/>
              <a:chExt cx="200023" cy="200023"/>
            </a:xfrm>
          </p:grpSpPr>
          <p:sp>
            <p:nvSpPr>
              <p:cNvPr id="44" name="Freeform 44"/>
              <p:cNvSpPr/>
              <p:nvPr/>
            </p:nvSpPr>
            <p:spPr>
              <a:xfrm>
                <a:off x="738188" y="60178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5" name="Freeform 45"/>
              <p:cNvSpPr/>
              <p:nvPr/>
            </p:nvSpPr>
            <p:spPr>
              <a:xfrm>
                <a:off x="871538" y="60845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7" name="TextBox 47"/>
            <p:cNvSpPr txBox="1"/>
            <p:nvPr/>
          </p:nvSpPr>
          <p:spPr>
            <a:xfrm>
              <a:off x="1040892" y="6023610"/>
              <a:ext cx="7464933"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设计层次类时，父类的每一个操作都必须对子类同样成立；做不到就改用组合，别硬套继承。</a:t>
              </a:r>
            </a:p>
          </p:txBody>
        </p:sp>
      </p:grpSp>
      <p:grpSp>
        <p:nvGrpSpPr>
          <p:cNvPr id="51" name="footer"/>
          <p:cNvGrpSpPr/>
          <p:nvPr/>
        </p:nvGrpSpPr>
        <p:grpSpPr>
          <a:xfrm>
            <a:off x="528447" y="6581299"/>
            <a:ext cx="11135106" cy="190690"/>
            <a:chOff x="528447" y="6581299"/>
            <a:chExt cx="11135106" cy="190690"/>
          </a:xfrm>
        </p:grpSpPr>
        <p:sp>
          <p:nvSpPr>
            <p:cNvPr id="49" name="TextBox 49"/>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50" name="TextBox 5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21</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48247" cy="909257"/>
            <a:chOff x="520446" y="342900"/>
            <a:chExt cx="6548247" cy="909257"/>
          </a:xfrm>
        </p:grpSpPr>
        <p:sp>
          <p:nvSpPr>
            <p:cNvPr id="2" name="Rectangle 2"/>
            <p:cNvSpPr/>
            <p:nvPr/>
          </p:nvSpPr>
          <p:spPr>
            <a:xfrm>
              <a:off x="533400" y="342900"/>
              <a:ext cx="2660332" cy="266700"/>
            </a:xfrm>
            <a:prstGeom prst="roundRect">
              <a:avLst>
                <a:gd name="adj" fmla="val 50000"/>
              </a:avLst>
            </a:prstGeom>
            <a:solidFill>
              <a:srgbClr val="E7EDF3"/>
            </a:solidFill>
            <a:ln>
              <a:noFill/>
            </a:ln>
          </p:spPr>
        </p:sp>
        <p:sp>
          <p:nvSpPr>
            <p:cNvPr id="3" name="TextBox 3"/>
            <p:cNvSpPr txBox="1"/>
            <p:nvPr/>
          </p:nvSpPr>
          <p:spPr>
            <a:xfrm>
              <a:off x="570203" y="407194"/>
              <a:ext cx="25857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SOLID 五原则</a:t>
              </a:r>
            </a:p>
          </p:txBody>
        </p:sp>
        <p:sp>
          <p:nvSpPr>
            <p:cNvPr id="4" name="TextBox 4"/>
            <p:cNvSpPr txBox="1"/>
            <p:nvPr/>
          </p:nvSpPr>
          <p:spPr>
            <a:xfrm>
              <a:off x="520446" y="753428"/>
              <a:ext cx="6548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接口分离：不要逼客户依赖它用不到的方法</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161" y="1547336"/>
            <a:ext cx="11289892" cy="278702"/>
            <a:chOff x="526161" y="1547336"/>
            <a:chExt cx="11289892" cy="278702"/>
          </a:xfrm>
        </p:grpSpPr>
        <p:sp>
          <p:nvSpPr>
            <p:cNvPr id="7" name="TextBox 7"/>
            <p:cNvSpPr txBox="1"/>
            <p:nvPr/>
          </p:nvSpPr>
          <p:spPr>
            <a:xfrm>
              <a:off x="526161" y="1547336"/>
              <a:ext cx="11289892" cy="278702"/>
            </a:xfrm>
            <a:prstGeom prst="rect">
              <a:avLst/>
            </a:prstGeom>
            <a:noFill/>
            <a:ln>
              <a:noFill/>
            </a:ln>
          </p:spPr>
          <p:txBody>
            <a:bodyPr wrap="none" lIns="0" tIns="0" rIns="0" bIns="0" anchor="t" anchorCtr="0">
              <a:spAutoFit/>
            </a:bodyPr>
            <a:lstStyle/>
            <a:p>
              <a:pPr algn="l"/>
              <a:r>
                <a:rPr lang="en-US" sz="1420" dirty="0">
                  <a:solidFill>
                    <a:srgbClr val="5B6475"/>
                  </a:solidFill>
                  <a:latin typeface="+mn-lt"/>
                  <a:ea typeface="+mn-ea"/>
                  <a:cs typeface="+mn-cs"/>
                </a:rPr>
                <a:t>The interface segregation principle states that no client (class) should be forced to depend on methods it does not use.</a:t>
              </a:r>
            </a:p>
          </p:txBody>
        </p:sp>
      </p:grpSp>
      <p:grpSp>
        <p:nvGrpSpPr>
          <p:cNvPr id="18" name="c1-card-1"/>
          <p:cNvGrpSpPr/>
          <p:nvPr/>
        </p:nvGrpSpPr>
        <p:grpSpPr>
          <a:xfrm>
            <a:off x="533400" y="1941195"/>
            <a:ext cx="4977765" cy="2071688"/>
            <a:chOff x="533400" y="1941195"/>
            <a:chExt cx="4977765" cy="2071688"/>
          </a:xfrm>
        </p:grpSpPr>
        <p:sp>
          <p:nvSpPr>
            <p:cNvPr id="9" name="Rectangle 9"/>
            <p:cNvSpPr/>
            <p:nvPr/>
          </p:nvSpPr>
          <p:spPr>
            <a:xfrm>
              <a:off x="533400" y="1941195"/>
              <a:ext cx="4977765" cy="2071688"/>
            </a:xfrm>
            <a:prstGeom prst="roundRect">
              <a:avLst>
                <a:gd name="adj" fmla="val 6437"/>
              </a:avLst>
            </a:prstGeom>
            <a:solidFill>
              <a:srgbClr val="FFFFFF"/>
            </a:solidFill>
            <a:ln w="14288">
              <a:solidFill>
                <a:srgbClr val="D9DFEA"/>
              </a:solidFill>
            </a:ln>
          </p:spPr>
        </p:sp>
        <p:sp>
          <p:nvSpPr>
            <p:cNvPr id="10" name="Rectangle 10"/>
            <p:cNvSpPr/>
            <p:nvPr/>
          </p:nvSpPr>
          <p:spPr>
            <a:xfrm>
              <a:off x="542925" y="2074545"/>
              <a:ext cx="47625" cy="1804988"/>
            </a:xfrm>
            <a:prstGeom prst="roundRect">
              <a:avLst>
                <a:gd name="adj" fmla="val 50000"/>
              </a:avLst>
            </a:prstGeom>
            <a:solidFill>
              <a:srgbClr val="334E68"/>
            </a:solidFill>
            <a:ln>
              <a:noFill/>
            </a:ln>
          </p:spPr>
        </p:sp>
        <p:sp>
          <p:nvSpPr>
            <p:cNvPr id="11" name="Rectangle 11"/>
            <p:cNvSpPr/>
            <p:nvPr/>
          </p:nvSpPr>
          <p:spPr>
            <a:xfrm>
              <a:off x="763905" y="2133600"/>
              <a:ext cx="876300" cy="247650"/>
            </a:xfrm>
            <a:prstGeom prst="roundRect">
              <a:avLst>
                <a:gd name="adj" fmla="val 50000"/>
              </a:avLst>
            </a:prstGeom>
            <a:solidFill>
              <a:srgbClr val="E7EDF3"/>
            </a:solidFill>
            <a:ln>
              <a:noFill/>
            </a:ln>
          </p:spPr>
        </p:sp>
        <p:sp>
          <p:nvSpPr>
            <p:cNvPr id="12" name="TextBox 12"/>
            <p:cNvSpPr txBox="1"/>
            <p:nvPr/>
          </p:nvSpPr>
          <p:spPr>
            <a:xfrm>
              <a:off x="843343" y="2167890"/>
              <a:ext cx="717423"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定义与意义</a:t>
              </a:r>
            </a:p>
          </p:txBody>
        </p:sp>
        <p:sp>
          <p:nvSpPr>
            <p:cNvPr id="13" name="TextBox 13"/>
            <p:cNvSpPr txBox="1"/>
            <p:nvPr/>
          </p:nvSpPr>
          <p:spPr>
            <a:xfrm>
              <a:off x="757047" y="2490788"/>
              <a:ext cx="42999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把一个很大的接口拆成若干更小、更专门的接口，客户只</a:t>
              </a:r>
              <a:br/>
              <a:r>
                <a:rPr lang="zh-CN" sz="1350" dirty="0">
                  <a:solidFill>
                    <a:srgbClr val="1F2937"/>
                  </a:solidFill>
                  <a:latin typeface="+mn-lt"/>
                  <a:ea typeface="+mn-ea"/>
                  <a:cs typeface="+mn-cs"/>
                </a:rPr>
                <a:t>需要知道与自己有关的那几个方法。</a:t>
              </a:r>
            </a:p>
          </p:txBody>
        </p:sp>
        <p:sp>
          <p:nvSpPr>
            <p:cNvPr id="14" name="Ellipse 14"/>
            <p:cNvSpPr/>
            <p:nvPr/>
          </p:nvSpPr>
          <p:spPr>
            <a:xfrm>
              <a:off x="772478" y="3106102"/>
              <a:ext cx="59055" cy="59055"/>
            </a:xfrm>
            <a:prstGeom prst="ellipse">
              <a:avLst/>
            </a:prstGeom>
            <a:solidFill>
              <a:srgbClr val="334E68"/>
            </a:solidFill>
            <a:ln>
              <a:noFill/>
            </a:ln>
          </p:spPr>
        </p:sp>
        <p:sp>
          <p:nvSpPr>
            <p:cNvPr id="15" name="TextBox 15"/>
            <p:cNvSpPr txBox="1"/>
            <p:nvPr/>
          </p:nvSpPr>
          <p:spPr>
            <a:xfrm>
              <a:off x="928497" y="3049905"/>
              <a:ext cx="4168807"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 xml:space="preserve">目的是让系统保持 </a:t>
              </a:r>
              <a:r>
                <a:rPr lang="en-US" sz="1350" b="1" dirty="0">
                  <a:solidFill>
                    <a:srgbClr val="C2410C"/>
                  </a:solidFill>
                  <a:latin typeface="+mn-lt"/>
                  <a:ea typeface="+mn-ea"/>
                  <a:cs typeface="+mn-cs"/>
                </a:rPr>
                <a:t>decoupled</a:t>
              </a:r>
              <a:r>
                <a:rPr lang="zh-CN" sz="1350" dirty="0">
                  <a:solidFill>
                    <a:srgbClr val="1F2937"/>
                  </a:solidFill>
                  <a:latin typeface="+mn-lt"/>
                  <a:ea typeface="+mn-ea"/>
                  <a:cs typeface="+mn-cs"/>
                </a:rPr>
                <a:t>，便于重构、修改和重新</a:t>
              </a:r>
              <a:br/>
              <a:r>
                <a:rPr lang="zh-CN" sz="1350" dirty="0">
                  <a:solidFill>
                    <a:srgbClr val="1F2937"/>
                  </a:solidFill>
                  <a:latin typeface="+mn-lt"/>
                  <a:ea typeface="+mn-ea"/>
                  <a:cs typeface="+mn-cs"/>
                </a:rPr>
                <a:t>部署</a:t>
              </a:r>
            </a:p>
          </p:txBody>
        </p:sp>
        <p:sp>
          <p:nvSpPr>
            <p:cNvPr id="16" name="Ellipse 16"/>
            <p:cNvSpPr/>
            <p:nvPr/>
          </p:nvSpPr>
          <p:spPr>
            <a:xfrm>
              <a:off x="772478" y="3666172"/>
              <a:ext cx="59055" cy="59055"/>
            </a:xfrm>
            <a:prstGeom prst="ellipse">
              <a:avLst/>
            </a:prstGeom>
            <a:solidFill>
              <a:srgbClr val="334E68"/>
            </a:solidFill>
            <a:ln>
              <a:noFill/>
            </a:ln>
          </p:spPr>
        </p:sp>
        <p:sp>
          <p:nvSpPr>
            <p:cNvPr id="17" name="TextBox 17"/>
            <p:cNvSpPr txBox="1"/>
            <p:nvPr/>
          </p:nvSpPr>
          <p:spPr>
            <a:xfrm>
              <a:off x="928497" y="3609975"/>
              <a:ext cx="383019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改动一个接口只影响真正用到它的那一小批客户</a:t>
              </a:r>
            </a:p>
          </p:txBody>
        </p:sp>
      </p:grpSp>
      <p:grpSp>
        <p:nvGrpSpPr>
          <p:cNvPr id="25" name="c1-card-2"/>
          <p:cNvGrpSpPr/>
          <p:nvPr/>
        </p:nvGrpSpPr>
        <p:grpSpPr>
          <a:xfrm>
            <a:off x="533400" y="4188142"/>
            <a:ext cx="4977765" cy="1506855"/>
            <a:chOff x="533400" y="4188142"/>
            <a:chExt cx="4977765" cy="1506855"/>
          </a:xfrm>
        </p:grpSpPr>
        <p:sp>
          <p:nvSpPr>
            <p:cNvPr id="19" name="Rectangle 19"/>
            <p:cNvSpPr/>
            <p:nvPr/>
          </p:nvSpPr>
          <p:spPr>
            <a:xfrm>
              <a:off x="533400" y="4188142"/>
              <a:ext cx="4977765" cy="1506855"/>
            </a:xfrm>
            <a:prstGeom prst="roundRect">
              <a:avLst>
                <a:gd name="adj" fmla="val 8850"/>
              </a:avLst>
            </a:prstGeom>
            <a:solidFill>
              <a:srgbClr val="FFFFFF"/>
            </a:solidFill>
            <a:ln w="14288">
              <a:solidFill>
                <a:srgbClr val="D9DFEA"/>
              </a:solidFill>
            </a:ln>
          </p:spPr>
        </p:sp>
        <p:sp>
          <p:nvSpPr>
            <p:cNvPr id="20" name="Rectangle 20"/>
            <p:cNvSpPr/>
            <p:nvPr/>
          </p:nvSpPr>
          <p:spPr>
            <a:xfrm>
              <a:off x="542925" y="4321492"/>
              <a:ext cx="47625" cy="1240155"/>
            </a:xfrm>
            <a:prstGeom prst="roundRect">
              <a:avLst>
                <a:gd name="adj" fmla="val 50000"/>
              </a:avLst>
            </a:prstGeom>
            <a:solidFill>
              <a:srgbClr val="14A38B"/>
            </a:solidFill>
            <a:ln>
              <a:noFill/>
            </a:ln>
          </p:spPr>
        </p:sp>
        <p:sp>
          <p:nvSpPr>
            <p:cNvPr id="21" name="Rectangle 21"/>
            <p:cNvSpPr/>
            <p:nvPr/>
          </p:nvSpPr>
          <p:spPr>
            <a:xfrm>
              <a:off x="763905" y="4380548"/>
              <a:ext cx="476250" cy="247650"/>
            </a:xfrm>
            <a:prstGeom prst="roundRect">
              <a:avLst>
                <a:gd name="adj" fmla="val 50000"/>
              </a:avLst>
            </a:prstGeom>
            <a:solidFill>
              <a:srgbClr val="E3F5F1"/>
            </a:solidFill>
            <a:ln>
              <a:noFill/>
            </a:ln>
          </p:spPr>
        </p:sp>
        <p:sp>
          <p:nvSpPr>
            <p:cNvPr id="22" name="TextBox 22"/>
            <p:cNvSpPr txBox="1"/>
            <p:nvPr/>
          </p:nvSpPr>
          <p:spPr>
            <a:xfrm>
              <a:off x="855345" y="4414838"/>
              <a:ext cx="293370"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背景</a:t>
              </a:r>
            </a:p>
          </p:txBody>
        </p:sp>
        <p:sp>
          <p:nvSpPr>
            <p:cNvPr id="23" name="TextBox 23"/>
            <p:cNvSpPr txBox="1"/>
            <p:nvPr/>
          </p:nvSpPr>
          <p:spPr>
            <a:xfrm>
              <a:off x="1347597" y="4420552"/>
              <a:ext cx="110413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施乐打印系统</a:t>
              </a:r>
            </a:p>
          </p:txBody>
        </p:sp>
        <p:sp>
          <p:nvSpPr>
            <p:cNvPr id="24" name="TextBox 24"/>
            <p:cNvSpPr txBox="1"/>
            <p:nvPr/>
          </p:nvSpPr>
          <p:spPr>
            <a:xfrm>
              <a:off x="757047" y="4754880"/>
              <a:ext cx="4282821"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ISP 由 Robert C. Martin 在为 Xerox 做咨询时提出。当</a:t>
              </a:r>
              <a:br/>
              <a:r>
                <a:rPr lang="zh-CN" sz="1350" dirty="0">
                  <a:solidFill>
                    <a:srgbClr val="1F2937"/>
                  </a:solidFill>
                  <a:latin typeface="+mn-lt"/>
                  <a:ea typeface="+mn-ea"/>
                  <a:cs typeface="+mn-cs"/>
                </a:rPr>
                <a:t>时的新打印系统能完成 stapling（装订）、faxing（传</a:t>
              </a:r>
              <a:br/>
              <a:r>
                <a:rPr lang="zh-CN" sz="1350" dirty="0">
                  <a:solidFill>
                    <a:srgbClr val="1F2937"/>
                  </a:solidFill>
                  <a:latin typeface="+mn-lt"/>
                  <a:ea typeface="+mn-ea"/>
                  <a:cs typeface="+mn-cs"/>
                </a:rPr>
                <a:t>真）等多种任务，全部功能都堆在一个 Job 类里。</a:t>
              </a:r>
            </a:p>
          </p:txBody>
        </p:sp>
      </p:grpSp>
      <p:grpSp>
        <p:nvGrpSpPr>
          <p:cNvPr id="33" name="c2-uml-1"/>
          <p:cNvGrpSpPr/>
          <p:nvPr/>
        </p:nvGrpSpPr>
        <p:grpSpPr>
          <a:xfrm>
            <a:off x="7549515" y="2298382"/>
            <a:ext cx="2375535" cy="1886902"/>
            <a:chOff x="7549515" y="2298382"/>
            <a:chExt cx="2375535" cy="1886902"/>
          </a:xfrm>
        </p:grpSpPr>
        <p:sp>
          <p:nvSpPr>
            <p:cNvPr id="26" name="Rectangle 26"/>
            <p:cNvSpPr/>
            <p:nvPr/>
          </p:nvSpPr>
          <p:spPr>
            <a:xfrm>
              <a:off x="7549515" y="2298382"/>
              <a:ext cx="2375535" cy="1886902"/>
            </a:xfrm>
            <a:prstGeom prst="rect">
              <a:avLst/>
            </a:prstGeom>
            <a:solidFill>
              <a:srgbClr val="FFFFFF"/>
            </a:solidFill>
            <a:ln w="14288">
              <a:solidFill>
                <a:srgbClr val="334E68"/>
              </a:solidFill>
            </a:ln>
          </p:spPr>
        </p:sp>
        <p:sp>
          <p:nvSpPr>
            <p:cNvPr id="27" name="Rectangle 27"/>
            <p:cNvSpPr/>
            <p:nvPr/>
          </p:nvSpPr>
          <p:spPr>
            <a:xfrm>
              <a:off x="7556182" y="2306002"/>
              <a:ext cx="2361248" cy="227648"/>
            </a:xfrm>
            <a:prstGeom prst="rect">
              <a:avLst/>
            </a:prstGeom>
            <a:solidFill>
              <a:srgbClr val="334E68"/>
            </a:solidFill>
            <a:ln>
              <a:noFill/>
            </a:ln>
          </p:spPr>
        </p:sp>
        <p:sp>
          <p:nvSpPr>
            <p:cNvPr id="28" name="Rectangle 28"/>
            <p:cNvSpPr/>
            <p:nvPr/>
          </p:nvSpPr>
          <p:spPr>
            <a:xfrm>
              <a:off x="7549515" y="2528888"/>
              <a:ext cx="2375535" cy="9525"/>
            </a:xfrm>
            <a:prstGeom prst="rect">
              <a:avLst/>
            </a:prstGeom>
            <a:solidFill>
              <a:srgbClr val="334E68"/>
            </a:solidFill>
            <a:ln>
              <a:noFill/>
            </a:ln>
          </p:spPr>
        </p:sp>
        <p:sp>
          <p:nvSpPr>
            <p:cNvPr id="29" name="Rectangle 29"/>
            <p:cNvSpPr/>
            <p:nvPr/>
          </p:nvSpPr>
          <p:spPr>
            <a:xfrm>
              <a:off x="7549515" y="2787015"/>
              <a:ext cx="2375535" cy="9525"/>
            </a:xfrm>
            <a:prstGeom prst="rect">
              <a:avLst/>
            </a:prstGeom>
            <a:solidFill>
              <a:srgbClr val="334E68"/>
            </a:solidFill>
            <a:ln>
              <a:noFill/>
            </a:ln>
          </p:spPr>
        </p:sp>
        <p:sp>
          <p:nvSpPr>
            <p:cNvPr id="30" name="TextBox 30"/>
            <p:cNvSpPr txBox="1"/>
            <p:nvPr/>
          </p:nvSpPr>
          <p:spPr>
            <a:xfrm>
              <a:off x="8615891" y="2354104"/>
              <a:ext cx="242783"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Job</a:t>
              </a:r>
            </a:p>
          </p:txBody>
        </p:sp>
        <p:sp>
          <p:nvSpPr>
            <p:cNvPr id="31" name="TextBox 31"/>
            <p:cNvSpPr txBox="1"/>
            <p:nvPr/>
          </p:nvSpPr>
          <p:spPr>
            <a:xfrm>
              <a:off x="7620952" y="2598420"/>
              <a:ext cx="758864"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-file: String</a:t>
              </a:r>
            </a:p>
          </p:txBody>
        </p:sp>
        <p:sp>
          <p:nvSpPr>
            <p:cNvPr id="32" name="TextBox 32"/>
            <p:cNvSpPr txBox="1"/>
            <p:nvPr/>
          </p:nvSpPr>
          <p:spPr>
            <a:xfrm>
              <a:off x="7620952" y="2856548"/>
              <a:ext cx="2232660" cy="1309688"/>
            </a:xfrm>
            <a:prstGeom prst="rect">
              <a:avLst/>
            </a:prstGeom>
            <a:noFill/>
            <a:ln>
              <a:noFill/>
            </a:ln>
          </p:spPr>
          <p:txBody>
            <a:bodyPr wrap="none" lIns="0" tIns="0" rIns="0" bIns="0" anchor="t" anchorCtr="0">
              <a:spAutoFit/>
            </a:bodyPr>
            <a:lstStyle/>
            <a:p>
              <a:pPr algn="l">
                <a:lnSpc>
                  <a:spcPts val="1275"/>
                </a:lnSpc>
              </a:pPr>
              <a:r>
                <a:rPr lang="en-US" sz="900" dirty="0">
                  <a:solidFill>
                    <a:srgbClr val="1F2937"/>
                  </a:solidFill>
                  <a:latin typeface="+mn-lt"/>
                  <a:ea typeface="+mn-ea"/>
                  <a:cs typeface="+mn-cs"/>
                </a:rPr>
                <a:t>+print(start: int, end: int)</a:t>
              </a:r>
              <a:br/>
              <a:r>
                <a:rPr lang="en-US" sz="900" dirty="0">
                  <a:solidFill>
                    <a:srgbClr val="1F2937"/>
                  </a:solidFill>
                  <a:latin typeface="+mn-lt"/>
                  <a:ea typeface="+mn-ea"/>
                  <a:cs typeface="+mn-cs"/>
                </a:rPr>
                <a:t>+printDoubleSides(start: int, end: int)</a:t>
              </a:r>
              <a:br/>
              <a:r>
                <a:rPr lang="en-US" sz="900" dirty="0">
                  <a:solidFill>
                    <a:srgbClr val="1F2937"/>
                  </a:solidFill>
                  <a:latin typeface="+mn-lt"/>
                  <a:ea typeface="+mn-ea"/>
                  <a:cs typeface="+mn-cs"/>
                </a:rPr>
                <a:t>+staple()</a:t>
              </a:r>
              <a:br/>
              <a:r>
                <a:rPr lang="en-US" sz="900" dirty="0">
                  <a:solidFill>
                    <a:srgbClr val="1F2937"/>
                  </a:solidFill>
                  <a:latin typeface="+mn-lt"/>
                  <a:ea typeface="+mn-ea"/>
                  <a:cs typeface="+mn-cs"/>
                </a:rPr>
                <a:t>+bind()</a:t>
              </a:r>
              <a:br/>
              <a:r>
                <a:rPr lang="en-US" sz="900" dirty="0">
                  <a:solidFill>
                    <a:srgbClr val="1F2937"/>
                  </a:solidFill>
                  <a:latin typeface="+mn-lt"/>
                  <a:ea typeface="+mn-ea"/>
                  <a:cs typeface="+mn-cs"/>
                </a:rPr>
                <a:t>+fax(file: String)</a:t>
              </a:r>
              <a:br/>
              <a:r>
                <a:rPr lang="en-US" sz="900" dirty="0">
                  <a:solidFill>
                    <a:srgbClr val="1F2937"/>
                  </a:solidFill>
                  <a:latin typeface="+mn-lt"/>
                  <a:ea typeface="+mn-ea"/>
                  <a:cs typeface="+mn-cs"/>
                </a:rPr>
                <a:t>+call(numb: String)</a:t>
              </a:r>
              <a:br/>
              <a:r>
                <a:rPr lang="en-US" sz="900" dirty="0">
                  <a:solidFill>
                    <a:srgbClr val="1F2937"/>
                  </a:solidFill>
                  <a:latin typeface="+mn-lt"/>
                  <a:ea typeface="+mn-ea"/>
                  <a:cs typeface="+mn-cs"/>
                </a:rPr>
                <a:t>+sendMsg(s: String)</a:t>
              </a:r>
              <a:br/>
              <a:r>
                <a:rPr lang="en-US" sz="900" dirty="0">
                  <a:solidFill>
                    <a:srgbClr val="1F2937"/>
                  </a:solidFill>
                  <a:latin typeface="+mn-lt"/>
                  <a:ea typeface="+mn-ea"/>
                  <a:cs typeface="+mn-cs"/>
                </a:rPr>
                <a:t>+talkByVideo()</a:t>
              </a:r>
            </a:p>
          </p:txBody>
        </p:sp>
      </p:grpSp>
      <p:grpSp>
        <p:nvGrpSpPr>
          <p:cNvPr id="40" name="c2-callout-2"/>
          <p:cNvGrpSpPr/>
          <p:nvPr/>
        </p:nvGrpSpPr>
        <p:grpSpPr>
          <a:xfrm>
            <a:off x="5815965" y="4716780"/>
            <a:ext cx="5842635" cy="978218"/>
            <a:chOff x="5815965" y="4716780"/>
            <a:chExt cx="5842635" cy="978218"/>
          </a:xfrm>
        </p:grpSpPr>
        <p:sp>
          <p:nvSpPr>
            <p:cNvPr id="34" name="Rectangle 34"/>
            <p:cNvSpPr/>
            <p:nvPr/>
          </p:nvSpPr>
          <p:spPr>
            <a:xfrm>
              <a:off x="5815965" y="4716780"/>
              <a:ext cx="5842635" cy="978218"/>
            </a:xfrm>
            <a:prstGeom prst="roundRect">
              <a:avLst>
                <a:gd name="adj" fmla="val 11685"/>
              </a:avLst>
            </a:prstGeom>
            <a:solidFill>
              <a:srgbClr val="FDECEA"/>
            </a:solidFill>
            <a:ln>
              <a:noFill/>
            </a:ln>
          </p:spPr>
        </p:sp>
        <p:grpSp>
          <p:nvGrpSpPr>
            <p:cNvPr id="38" name="Group 38"/>
            <p:cNvGrpSpPr/>
            <p:nvPr/>
          </p:nvGrpSpPr>
          <p:grpSpPr>
            <a:xfrm>
              <a:off x="6008694" y="5102661"/>
              <a:ext cx="224134" cy="192560"/>
              <a:chOff x="6008694" y="5102661"/>
              <a:chExt cx="224134" cy="192560"/>
            </a:xfrm>
          </p:grpSpPr>
          <p:sp>
            <p:nvSpPr>
              <p:cNvPr id="35" name="Freeform 35"/>
              <p:cNvSpPr/>
              <p:nvPr/>
            </p:nvSpPr>
            <p:spPr>
              <a:xfrm>
                <a:off x="6120765" y="5173028"/>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36" name="Freeform 36"/>
              <p:cNvSpPr/>
              <p:nvPr/>
            </p:nvSpPr>
            <p:spPr>
              <a:xfrm>
                <a:off x="6008694" y="5102661"/>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37" name="Freeform 37"/>
              <p:cNvSpPr/>
              <p:nvPr/>
            </p:nvSpPr>
            <p:spPr>
              <a:xfrm>
                <a:off x="6120765" y="5250816"/>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39" name="TextBox 39"/>
            <p:cNvSpPr txBox="1"/>
            <p:nvPr/>
          </p:nvSpPr>
          <p:spPr>
            <a:xfrm>
              <a:off x="6323457" y="4863465"/>
              <a:ext cx="4951476" cy="761238"/>
            </a:xfrm>
            <a:prstGeom prst="rect">
              <a:avLst/>
            </a:prstGeom>
            <a:noFill/>
            <a:ln>
              <a:noFill/>
            </a:ln>
          </p:spPr>
          <p:txBody>
            <a:bodyPr wrap="none" lIns="0" tIns="0" rIns="0" bIns="0" anchor="t" anchorCtr="0">
              <a:spAutoFit/>
            </a:bodyPr>
            <a:lstStyle/>
            <a:p>
              <a:pPr algn="l">
                <a:lnSpc>
                  <a:spcPts val="1958"/>
                </a:lnSpc>
              </a:pPr>
              <a:r>
                <a:rPr lang="zh-CN" sz="1350" dirty="0">
                  <a:solidFill>
                    <a:srgbClr val="B42318"/>
                  </a:solidFill>
                  <a:latin typeface="+mn-lt"/>
                  <a:ea typeface="+mn-ea"/>
                  <a:cs typeface="+mn-cs"/>
                </a:rPr>
                <a:t>只想装订的客户被迫依赖了 print、fax、sendMsg 等一大串用不</a:t>
              </a:r>
              <a:br/>
              <a:r>
                <a:rPr lang="zh-CN" sz="1350" dirty="0">
                  <a:solidFill>
                    <a:srgbClr val="B42318"/>
                  </a:solidFill>
                  <a:latin typeface="+mn-lt"/>
                  <a:ea typeface="+mn-ea"/>
                  <a:cs typeface="+mn-cs"/>
                </a:rPr>
                <a:t>上的方法。Job 里任何一个方法签名变了，所有客户都要重新编</a:t>
              </a:r>
              <a:br/>
              <a:r>
                <a:rPr lang="zh-CN" sz="1350" dirty="0">
                  <a:solidFill>
                    <a:srgbClr val="B42318"/>
                  </a:solidFill>
                  <a:latin typeface="+mn-lt"/>
                  <a:ea typeface="+mn-ea"/>
                  <a:cs typeface="+mn-cs"/>
                </a:rPr>
                <a:t>译。</a:t>
              </a:r>
            </a:p>
          </p:txBody>
        </p:sp>
      </p:grpSp>
      <p:grpSp>
        <p:nvGrpSpPr>
          <p:cNvPr id="43" name="footer"/>
          <p:cNvGrpSpPr/>
          <p:nvPr/>
        </p:nvGrpSpPr>
        <p:grpSpPr>
          <a:xfrm>
            <a:off x="528447" y="6581299"/>
            <a:ext cx="11135106" cy="190690"/>
            <a:chOff x="528447" y="6581299"/>
            <a:chExt cx="11135106" cy="190690"/>
          </a:xfrm>
        </p:grpSpPr>
        <p:sp>
          <p:nvSpPr>
            <p:cNvPr id="41" name="TextBox 41"/>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42" name="TextBox 4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22</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09126" cy="909257"/>
            <a:chOff x="520446" y="342900"/>
            <a:chExt cx="6509126" cy="909257"/>
          </a:xfrm>
        </p:grpSpPr>
        <p:sp>
          <p:nvSpPr>
            <p:cNvPr id="2" name="Rectangle 2"/>
            <p:cNvSpPr/>
            <p:nvPr/>
          </p:nvSpPr>
          <p:spPr>
            <a:xfrm>
              <a:off x="533400" y="342900"/>
              <a:ext cx="2660332" cy="266700"/>
            </a:xfrm>
            <a:prstGeom prst="roundRect">
              <a:avLst>
                <a:gd name="adj" fmla="val 50000"/>
              </a:avLst>
            </a:prstGeom>
            <a:solidFill>
              <a:srgbClr val="E7EDF3"/>
            </a:solidFill>
            <a:ln>
              <a:noFill/>
            </a:ln>
          </p:spPr>
        </p:sp>
        <p:sp>
          <p:nvSpPr>
            <p:cNvPr id="3" name="TextBox 3"/>
            <p:cNvSpPr txBox="1"/>
            <p:nvPr/>
          </p:nvSpPr>
          <p:spPr>
            <a:xfrm>
              <a:off x="570203" y="407194"/>
              <a:ext cx="25857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SOLID 五原则</a:t>
              </a:r>
            </a:p>
          </p:txBody>
        </p:sp>
        <p:sp>
          <p:nvSpPr>
            <p:cNvPr id="4" name="TextBox 4"/>
            <p:cNvSpPr txBox="1"/>
            <p:nvPr/>
          </p:nvSpPr>
          <p:spPr>
            <a:xfrm>
              <a:off x="520446" y="753428"/>
              <a:ext cx="650912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ISP 的解法：在客户和大类之间插一层接口</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161" y="1547336"/>
            <a:ext cx="8210660" cy="278702"/>
            <a:chOff x="526161" y="1547336"/>
            <a:chExt cx="8210660" cy="278702"/>
          </a:xfrm>
        </p:grpSpPr>
        <p:sp>
          <p:nvSpPr>
            <p:cNvPr id="7" name="TextBox 7"/>
            <p:cNvSpPr txBox="1"/>
            <p:nvPr/>
          </p:nvSpPr>
          <p:spPr>
            <a:xfrm>
              <a:off x="526161" y="1547336"/>
              <a:ext cx="8210660"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Martin 的做法是为每一种任务建一个接口，都由 Job 类实现；客户只面向自己那一个接口编程。</a:t>
              </a:r>
            </a:p>
          </p:txBody>
        </p:sp>
      </p:grpSp>
      <p:grpSp>
        <p:nvGrpSpPr>
          <p:cNvPr id="53" name="c1-uml-1"/>
          <p:cNvGrpSpPr/>
          <p:nvPr/>
        </p:nvGrpSpPr>
        <p:grpSpPr>
          <a:xfrm>
            <a:off x="719138" y="2706052"/>
            <a:ext cx="5687377" cy="3425191"/>
            <a:chOff x="719138" y="2706052"/>
            <a:chExt cx="5687377" cy="3425191"/>
          </a:xfrm>
        </p:grpSpPr>
        <p:sp>
          <p:nvSpPr>
            <p:cNvPr id="9" name="Freeform 9"/>
            <p:cNvSpPr/>
            <p:nvPr/>
          </p:nvSpPr>
          <p:spPr>
            <a:xfrm>
              <a:off x="1862138" y="3047048"/>
              <a:ext cx="372427" cy="9525"/>
            </a:xfrm>
            <a:custGeom>
              <a:avLst/>
              <a:gdLst/>
              <a:ahLst/>
              <a:cxnLst/>
              <a:rect l="l" t="t" r="r" b="b"/>
              <a:pathLst>
                <a:path w="372427" h="9525">
                  <a:moveTo>
                    <a:pt x="0" y="0"/>
                  </a:moveTo>
                  <a:lnTo>
                    <a:pt x="372427" y="0"/>
                  </a:lnTo>
                </a:path>
              </a:pathLst>
            </a:custGeom>
            <a:noFill/>
            <a:ln w="15240">
              <a:solidFill>
                <a:srgbClr val="1F2937"/>
              </a:solidFill>
              <a:custDash>
                <a:ds d="375000" sp="250000"/>
              </a:custDash>
            </a:ln>
          </p:spPr>
        </p:sp>
        <p:sp>
          <p:nvSpPr>
            <p:cNvPr id="10" name="Freeform 10"/>
            <p:cNvSpPr/>
            <p:nvPr/>
          </p:nvSpPr>
          <p:spPr>
            <a:xfrm>
              <a:off x="2129790" y="2988945"/>
              <a:ext cx="104775" cy="115252"/>
            </a:xfrm>
            <a:custGeom>
              <a:avLst/>
              <a:gdLst/>
              <a:ahLst/>
              <a:cxnLst/>
              <a:rect l="l" t="t" r="r" b="b"/>
              <a:pathLst>
                <a:path w="104775" h="115252">
                  <a:moveTo>
                    <a:pt x="0" y="115252"/>
                  </a:moveTo>
                  <a:lnTo>
                    <a:pt x="104775" y="58102"/>
                  </a:lnTo>
                  <a:lnTo>
                    <a:pt x="0" y="0"/>
                  </a:lnTo>
                </a:path>
              </a:pathLst>
            </a:custGeom>
            <a:noFill/>
            <a:ln w="15240">
              <a:solidFill>
                <a:srgbClr val="1F2937"/>
              </a:solidFill>
            </a:ln>
          </p:spPr>
        </p:sp>
        <p:sp>
          <p:nvSpPr>
            <p:cNvPr id="11" name="Freeform 11"/>
            <p:cNvSpPr/>
            <p:nvPr/>
          </p:nvSpPr>
          <p:spPr>
            <a:xfrm>
              <a:off x="3563302" y="3513772"/>
              <a:ext cx="757238" cy="870585"/>
            </a:xfrm>
            <a:custGeom>
              <a:avLst/>
              <a:gdLst/>
              <a:ahLst/>
              <a:cxnLst/>
              <a:rect l="l" t="t" r="r" b="b"/>
              <a:pathLst>
                <a:path w="757238" h="870585">
                  <a:moveTo>
                    <a:pt x="0" y="870585"/>
                  </a:moveTo>
                  <a:lnTo>
                    <a:pt x="0" y="372428"/>
                  </a:lnTo>
                  <a:lnTo>
                    <a:pt x="757238" y="372428"/>
                  </a:lnTo>
                  <a:lnTo>
                    <a:pt x="757238" y="0"/>
                  </a:lnTo>
                </a:path>
              </a:pathLst>
            </a:custGeom>
            <a:noFill/>
            <a:ln w="15240">
              <a:solidFill>
                <a:srgbClr val="1F2937"/>
              </a:solidFill>
              <a:custDash>
                <a:ds d="375000" sp="250000"/>
              </a:custDash>
            </a:ln>
          </p:spPr>
        </p:sp>
        <p:sp>
          <p:nvSpPr>
            <p:cNvPr id="12" name="Freeform 12"/>
            <p:cNvSpPr/>
            <p:nvPr/>
          </p:nvSpPr>
          <p:spPr>
            <a:xfrm>
              <a:off x="4247198" y="3388042"/>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13" name="Freeform 13"/>
            <p:cNvSpPr/>
            <p:nvPr/>
          </p:nvSpPr>
          <p:spPr>
            <a:xfrm>
              <a:off x="3753802" y="3513772"/>
              <a:ext cx="2081212" cy="870585"/>
            </a:xfrm>
            <a:custGeom>
              <a:avLst/>
              <a:gdLst/>
              <a:ahLst/>
              <a:cxnLst/>
              <a:rect l="l" t="t" r="r" b="b"/>
              <a:pathLst>
                <a:path w="2081212" h="870585">
                  <a:moveTo>
                    <a:pt x="0" y="870585"/>
                  </a:moveTo>
                  <a:lnTo>
                    <a:pt x="0" y="372428"/>
                  </a:lnTo>
                  <a:lnTo>
                    <a:pt x="2081212" y="372428"/>
                  </a:lnTo>
                  <a:lnTo>
                    <a:pt x="2081212" y="0"/>
                  </a:lnTo>
                </a:path>
              </a:pathLst>
            </a:custGeom>
            <a:noFill/>
            <a:ln w="15240">
              <a:solidFill>
                <a:srgbClr val="1F2937"/>
              </a:solidFill>
              <a:custDash>
                <a:ds d="375000" sp="250000"/>
              </a:custDash>
            </a:ln>
          </p:spPr>
        </p:sp>
        <p:sp>
          <p:nvSpPr>
            <p:cNvPr id="14" name="Freeform 14"/>
            <p:cNvSpPr/>
            <p:nvPr/>
          </p:nvSpPr>
          <p:spPr>
            <a:xfrm>
              <a:off x="5761672" y="3388042"/>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15" name="Freeform 15"/>
            <p:cNvSpPr/>
            <p:nvPr/>
          </p:nvSpPr>
          <p:spPr>
            <a:xfrm>
              <a:off x="2806065" y="3513772"/>
              <a:ext cx="566738" cy="870585"/>
            </a:xfrm>
            <a:custGeom>
              <a:avLst/>
              <a:gdLst/>
              <a:ahLst/>
              <a:cxnLst/>
              <a:rect l="l" t="t" r="r" b="b"/>
              <a:pathLst>
                <a:path w="566738" h="870585">
                  <a:moveTo>
                    <a:pt x="566738" y="870585"/>
                  </a:moveTo>
                  <a:lnTo>
                    <a:pt x="566738" y="372428"/>
                  </a:lnTo>
                  <a:lnTo>
                    <a:pt x="0" y="372428"/>
                  </a:lnTo>
                  <a:lnTo>
                    <a:pt x="0" y="0"/>
                  </a:lnTo>
                </a:path>
              </a:pathLst>
            </a:custGeom>
            <a:noFill/>
            <a:ln w="15240">
              <a:solidFill>
                <a:srgbClr val="1F2937"/>
              </a:solidFill>
              <a:custDash>
                <a:ds d="375000" sp="250000"/>
              </a:custDash>
            </a:ln>
          </p:spPr>
        </p:sp>
        <p:sp>
          <p:nvSpPr>
            <p:cNvPr id="16" name="Freeform 16"/>
            <p:cNvSpPr/>
            <p:nvPr/>
          </p:nvSpPr>
          <p:spPr>
            <a:xfrm>
              <a:off x="2732722" y="3388042"/>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17" name="Rectangle 17"/>
            <p:cNvSpPr/>
            <p:nvPr/>
          </p:nvSpPr>
          <p:spPr>
            <a:xfrm>
              <a:off x="719138" y="2768918"/>
              <a:ext cx="1143000" cy="556260"/>
            </a:xfrm>
            <a:prstGeom prst="rect">
              <a:avLst/>
            </a:prstGeom>
            <a:solidFill>
              <a:srgbClr val="FFFFFF"/>
            </a:solidFill>
            <a:ln w="14288">
              <a:solidFill>
                <a:srgbClr val="334E68"/>
              </a:solidFill>
            </a:ln>
          </p:spPr>
        </p:sp>
        <p:sp>
          <p:nvSpPr>
            <p:cNvPr id="18" name="Rectangle 18"/>
            <p:cNvSpPr/>
            <p:nvPr/>
          </p:nvSpPr>
          <p:spPr>
            <a:xfrm>
              <a:off x="726758" y="2775585"/>
              <a:ext cx="1128712" cy="209550"/>
            </a:xfrm>
            <a:prstGeom prst="rect">
              <a:avLst/>
            </a:prstGeom>
            <a:solidFill>
              <a:srgbClr val="E7EDF3"/>
            </a:solidFill>
            <a:ln>
              <a:noFill/>
            </a:ln>
          </p:spPr>
        </p:sp>
        <p:sp>
          <p:nvSpPr>
            <p:cNvPr id="19" name="Rectangle 19"/>
            <p:cNvSpPr/>
            <p:nvPr/>
          </p:nvSpPr>
          <p:spPr>
            <a:xfrm>
              <a:off x="719138" y="2981325"/>
              <a:ext cx="1143000" cy="9525"/>
            </a:xfrm>
            <a:prstGeom prst="rect">
              <a:avLst/>
            </a:prstGeom>
            <a:solidFill>
              <a:srgbClr val="334E68"/>
            </a:solidFill>
            <a:ln>
              <a:noFill/>
            </a:ln>
          </p:spPr>
        </p:sp>
        <p:sp>
          <p:nvSpPr>
            <p:cNvPr id="20" name="Rectangle 20"/>
            <p:cNvSpPr/>
            <p:nvPr/>
          </p:nvSpPr>
          <p:spPr>
            <a:xfrm>
              <a:off x="719138" y="3076575"/>
              <a:ext cx="1143000" cy="9525"/>
            </a:xfrm>
            <a:prstGeom prst="rect">
              <a:avLst/>
            </a:prstGeom>
            <a:solidFill>
              <a:srgbClr val="334E68"/>
            </a:solidFill>
            <a:ln>
              <a:noFill/>
            </a:ln>
          </p:spPr>
        </p:sp>
        <p:sp>
          <p:nvSpPr>
            <p:cNvPr id="21" name="Rectangle 21"/>
            <p:cNvSpPr/>
            <p:nvPr/>
          </p:nvSpPr>
          <p:spPr>
            <a:xfrm>
              <a:off x="2234565" y="2706052"/>
              <a:ext cx="1143000" cy="681990"/>
            </a:xfrm>
            <a:prstGeom prst="rect">
              <a:avLst/>
            </a:prstGeom>
            <a:solidFill>
              <a:srgbClr val="FFFFFF"/>
            </a:solidFill>
            <a:ln w="14288">
              <a:solidFill>
                <a:srgbClr val="334E68"/>
              </a:solidFill>
            </a:ln>
          </p:spPr>
        </p:sp>
        <p:sp>
          <p:nvSpPr>
            <p:cNvPr id="22" name="Rectangle 22"/>
            <p:cNvSpPr/>
            <p:nvPr/>
          </p:nvSpPr>
          <p:spPr>
            <a:xfrm>
              <a:off x="2241232" y="2712720"/>
              <a:ext cx="1128712" cy="335280"/>
            </a:xfrm>
            <a:prstGeom prst="rect">
              <a:avLst/>
            </a:prstGeom>
            <a:solidFill>
              <a:srgbClr val="334E68"/>
            </a:solidFill>
            <a:ln>
              <a:noFill/>
            </a:ln>
          </p:spPr>
        </p:sp>
        <p:sp>
          <p:nvSpPr>
            <p:cNvPr id="23" name="Rectangle 23"/>
            <p:cNvSpPr/>
            <p:nvPr/>
          </p:nvSpPr>
          <p:spPr>
            <a:xfrm>
              <a:off x="2234565" y="3044190"/>
              <a:ext cx="1143000" cy="9525"/>
            </a:xfrm>
            <a:prstGeom prst="rect">
              <a:avLst/>
            </a:prstGeom>
            <a:solidFill>
              <a:srgbClr val="334E68"/>
            </a:solidFill>
            <a:ln>
              <a:noFill/>
            </a:ln>
          </p:spPr>
        </p:sp>
        <p:sp>
          <p:nvSpPr>
            <p:cNvPr id="24" name="Rectangle 24"/>
            <p:cNvSpPr/>
            <p:nvPr/>
          </p:nvSpPr>
          <p:spPr>
            <a:xfrm>
              <a:off x="2234565" y="3139440"/>
              <a:ext cx="1143000" cy="9525"/>
            </a:xfrm>
            <a:prstGeom prst="rect">
              <a:avLst/>
            </a:prstGeom>
            <a:solidFill>
              <a:srgbClr val="334E68"/>
            </a:solidFill>
            <a:ln>
              <a:noFill/>
            </a:ln>
          </p:spPr>
        </p:sp>
        <p:sp>
          <p:nvSpPr>
            <p:cNvPr id="25" name="Rectangle 25"/>
            <p:cNvSpPr/>
            <p:nvPr/>
          </p:nvSpPr>
          <p:spPr>
            <a:xfrm>
              <a:off x="3692842" y="2706052"/>
              <a:ext cx="1256348" cy="681990"/>
            </a:xfrm>
            <a:prstGeom prst="rect">
              <a:avLst/>
            </a:prstGeom>
            <a:solidFill>
              <a:srgbClr val="FFFFFF"/>
            </a:solidFill>
            <a:ln w="14288">
              <a:solidFill>
                <a:srgbClr val="334E68"/>
              </a:solidFill>
            </a:ln>
          </p:spPr>
        </p:sp>
        <p:sp>
          <p:nvSpPr>
            <p:cNvPr id="26" name="Rectangle 26"/>
            <p:cNvSpPr/>
            <p:nvPr/>
          </p:nvSpPr>
          <p:spPr>
            <a:xfrm>
              <a:off x="3699510" y="2712720"/>
              <a:ext cx="1242060" cy="335280"/>
            </a:xfrm>
            <a:prstGeom prst="rect">
              <a:avLst/>
            </a:prstGeom>
            <a:solidFill>
              <a:srgbClr val="E7EDF3"/>
            </a:solidFill>
            <a:ln>
              <a:noFill/>
            </a:ln>
          </p:spPr>
        </p:sp>
        <p:sp>
          <p:nvSpPr>
            <p:cNvPr id="27" name="Rectangle 27"/>
            <p:cNvSpPr/>
            <p:nvPr/>
          </p:nvSpPr>
          <p:spPr>
            <a:xfrm>
              <a:off x="3692842" y="3044190"/>
              <a:ext cx="1256348" cy="9525"/>
            </a:xfrm>
            <a:prstGeom prst="rect">
              <a:avLst/>
            </a:prstGeom>
            <a:solidFill>
              <a:srgbClr val="334E68"/>
            </a:solidFill>
            <a:ln>
              <a:noFill/>
            </a:ln>
          </p:spPr>
        </p:sp>
        <p:sp>
          <p:nvSpPr>
            <p:cNvPr id="28" name="Rectangle 28"/>
            <p:cNvSpPr/>
            <p:nvPr/>
          </p:nvSpPr>
          <p:spPr>
            <a:xfrm>
              <a:off x="3692842" y="3139440"/>
              <a:ext cx="1256348" cy="9525"/>
            </a:xfrm>
            <a:prstGeom prst="rect">
              <a:avLst/>
            </a:prstGeom>
            <a:solidFill>
              <a:srgbClr val="334E68"/>
            </a:solidFill>
            <a:ln>
              <a:noFill/>
            </a:ln>
          </p:spPr>
        </p:sp>
        <p:sp>
          <p:nvSpPr>
            <p:cNvPr id="29" name="Rectangle 29"/>
            <p:cNvSpPr/>
            <p:nvPr/>
          </p:nvSpPr>
          <p:spPr>
            <a:xfrm>
              <a:off x="5263515" y="2706052"/>
              <a:ext cx="1143000" cy="681990"/>
            </a:xfrm>
            <a:prstGeom prst="rect">
              <a:avLst/>
            </a:prstGeom>
            <a:solidFill>
              <a:srgbClr val="FFFFFF"/>
            </a:solidFill>
            <a:ln w="14288">
              <a:solidFill>
                <a:srgbClr val="334E68"/>
              </a:solidFill>
            </a:ln>
          </p:spPr>
        </p:sp>
        <p:sp>
          <p:nvSpPr>
            <p:cNvPr id="30" name="Rectangle 30"/>
            <p:cNvSpPr/>
            <p:nvPr/>
          </p:nvSpPr>
          <p:spPr>
            <a:xfrm>
              <a:off x="5271135" y="2712720"/>
              <a:ext cx="1128712" cy="335280"/>
            </a:xfrm>
            <a:prstGeom prst="rect">
              <a:avLst/>
            </a:prstGeom>
            <a:solidFill>
              <a:srgbClr val="E7EDF3"/>
            </a:solidFill>
            <a:ln>
              <a:noFill/>
            </a:ln>
          </p:spPr>
        </p:sp>
        <p:sp>
          <p:nvSpPr>
            <p:cNvPr id="31" name="Rectangle 31"/>
            <p:cNvSpPr/>
            <p:nvPr/>
          </p:nvSpPr>
          <p:spPr>
            <a:xfrm>
              <a:off x="5263515" y="3044190"/>
              <a:ext cx="1143000" cy="9525"/>
            </a:xfrm>
            <a:prstGeom prst="rect">
              <a:avLst/>
            </a:prstGeom>
            <a:solidFill>
              <a:srgbClr val="334E68"/>
            </a:solidFill>
            <a:ln>
              <a:noFill/>
            </a:ln>
          </p:spPr>
        </p:sp>
        <p:sp>
          <p:nvSpPr>
            <p:cNvPr id="32" name="Rectangle 32"/>
            <p:cNvSpPr/>
            <p:nvPr/>
          </p:nvSpPr>
          <p:spPr>
            <a:xfrm>
              <a:off x="5263515" y="3139440"/>
              <a:ext cx="1143000" cy="9525"/>
            </a:xfrm>
            <a:prstGeom prst="rect">
              <a:avLst/>
            </a:prstGeom>
            <a:solidFill>
              <a:srgbClr val="334E68"/>
            </a:solidFill>
            <a:ln>
              <a:noFill/>
            </a:ln>
          </p:spPr>
        </p:sp>
        <p:sp>
          <p:nvSpPr>
            <p:cNvPr id="33" name="Rectangle 33"/>
            <p:cNvSpPr/>
            <p:nvPr/>
          </p:nvSpPr>
          <p:spPr>
            <a:xfrm>
              <a:off x="2474595" y="4384358"/>
              <a:ext cx="2178368" cy="1746885"/>
            </a:xfrm>
            <a:prstGeom prst="rect">
              <a:avLst/>
            </a:prstGeom>
            <a:solidFill>
              <a:srgbClr val="FFFFFF"/>
            </a:solidFill>
            <a:ln w="14288">
              <a:solidFill>
                <a:srgbClr val="334E68"/>
              </a:solidFill>
            </a:ln>
          </p:spPr>
        </p:sp>
        <p:sp>
          <p:nvSpPr>
            <p:cNvPr id="34" name="Rectangle 34"/>
            <p:cNvSpPr/>
            <p:nvPr/>
          </p:nvSpPr>
          <p:spPr>
            <a:xfrm>
              <a:off x="2481262" y="4391025"/>
              <a:ext cx="2164080" cy="209550"/>
            </a:xfrm>
            <a:prstGeom prst="rect">
              <a:avLst/>
            </a:prstGeom>
            <a:solidFill>
              <a:srgbClr val="E7EDF3"/>
            </a:solidFill>
            <a:ln>
              <a:noFill/>
            </a:ln>
          </p:spPr>
        </p:sp>
        <p:sp>
          <p:nvSpPr>
            <p:cNvPr id="35" name="Rectangle 35"/>
            <p:cNvSpPr/>
            <p:nvPr/>
          </p:nvSpPr>
          <p:spPr>
            <a:xfrm>
              <a:off x="2474595" y="4596765"/>
              <a:ext cx="2178368" cy="9525"/>
            </a:xfrm>
            <a:prstGeom prst="rect">
              <a:avLst/>
            </a:prstGeom>
            <a:solidFill>
              <a:srgbClr val="334E68"/>
            </a:solidFill>
            <a:ln>
              <a:noFill/>
            </a:ln>
          </p:spPr>
        </p:sp>
        <p:sp>
          <p:nvSpPr>
            <p:cNvPr id="36" name="Rectangle 36"/>
            <p:cNvSpPr/>
            <p:nvPr/>
          </p:nvSpPr>
          <p:spPr>
            <a:xfrm>
              <a:off x="2474595" y="4840605"/>
              <a:ext cx="2178368" cy="9525"/>
            </a:xfrm>
            <a:prstGeom prst="rect">
              <a:avLst/>
            </a:prstGeom>
            <a:solidFill>
              <a:srgbClr val="334E68"/>
            </a:solidFill>
            <a:ln>
              <a:noFill/>
            </a:ln>
          </p:spPr>
        </p:sp>
        <p:sp>
          <p:nvSpPr>
            <p:cNvPr id="37" name="TextBox 37"/>
            <p:cNvSpPr txBox="1"/>
            <p:nvPr/>
          </p:nvSpPr>
          <p:spPr>
            <a:xfrm>
              <a:off x="1106093" y="2820352"/>
              <a:ext cx="369090" cy="176212"/>
            </a:xfrm>
            <a:prstGeom prst="rect">
              <a:avLst/>
            </a:prstGeom>
            <a:noFill/>
            <a:ln>
              <a:noFill/>
            </a:ln>
          </p:spPr>
          <p:txBody>
            <a:bodyPr wrap="none" lIns="0" tIns="0" rIns="0" bIns="0" anchor="t" anchorCtr="0">
              <a:spAutoFit/>
            </a:bodyPr>
            <a:lstStyle/>
            <a:p>
              <a:pPr algn="ctr"/>
              <a:r>
                <a:rPr lang="en-US" sz="900" b="1" dirty="0">
                  <a:solidFill>
                    <a:srgbClr val="243B53"/>
                  </a:solidFill>
                  <a:latin typeface="+mn-lt"/>
                  <a:ea typeface="+mn-ea"/>
                  <a:cs typeface="+mn-cs"/>
                </a:rPr>
                <a:t>Client</a:t>
              </a:r>
            </a:p>
          </p:txBody>
        </p:sp>
        <p:sp>
          <p:nvSpPr>
            <p:cNvPr id="38" name="TextBox 38"/>
            <p:cNvSpPr txBox="1"/>
            <p:nvPr/>
          </p:nvSpPr>
          <p:spPr>
            <a:xfrm>
              <a:off x="790575" y="3144679"/>
              <a:ext cx="368287" cy="161925"/>
            </a:xfrm>
            <a:prstGeom prst="rect">
              <a:avLst/>
            </a:prstGeom>
            <a:noFill/>
            <a:ln>
              <a:noFill/>
            </a:ln>
          </p:spPr>
          <p:txBody>
            <a:bodyPr wrap="none" lIns="0" tIns="0" rIns="0" bIns="0" anchor="t" anchorCtr="0">
              <a:spAutoFit/>
            </a:bodyPr>
            <a:lstStyle/>
            <a:p>
              <a:pPr algn="l"/>
              <a:r>
                <a:rPr lang="en-US" sz="820" dirty="0">
                  <a:solidFill>
                    <a:srgbClr val="1F2937"/>
                  </a:solidFill>
                  <a:latin typeface="+mn-lt"/>
                  <a:ea typeface="+mn-ea"/>
                  <a:cs typeface="+mn-cs"/>
                </a:rPr>
                <a:t>main()</a:t>
              </a:r>
            </a:p>
          </p:txBody>
        </p:sp>
        <p:sp>
          <p:nvSpPr>
            <p:cNvPr id="39" name="TextBox 39"/>
            <p:cNvSpPr txBox="1"/>
            <p:nvPr/>
          </p:nvSpPr>
          <p:spPr>
            <a:xfrm>
              <a:off x="2508504" y="2754630"/>
              <a:ext cx="595122" cy="147638"/>
            </a:xfrm>
            <a:prstGeom prst="rect">
              <a:avLst/>
            </a:prstGeom>
            <a:noFill/>
            <a:ln>
              <a:noFill/>
            </a:ln>
          </p:spPr>
          <p:txBody>
            <a:bodyPr wrap="none" lIns="0" tIns="0" rIns="0" bIns="0" anchor="t" anchorCtr="0">
              <a:spAutoFit/>
            </a:bodyPr>
            <a:lstStyle/>
            <a:p>
              <a:pPr algn="ctr"/>
              <a:r>
                <a:rPr lang="en-US" sz="750" dirty="0">
                  <a:solidFill>
                    <a:srgbClr val="FFFFFF"/>
                  </a:solidFill>
                  <a:latin typeface="+mn-lt"/>
                  <a:ea typeface="+mn-ea"/>
                  <a:cs typeface="+mn-cs"/>
                </a:rPr>
                <a:t>«interface»</a:t>
              </a:r>
            </a:p>
          </p:txBody>
        </p:sp>
        <p:sp>
          <p:nvSpPr>
            <p:cNvPr id="40" name="TextBox 40"/>
            <p:cNvSpPr txBox="1"/>
            <p:nvPr/>
          </p:nvSpPr>
          <p:spPr>
            <a:xfrm>
              <a:off x="2551476" y="2883218"/>
              <a:ext cx="509177"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Stapling</a:t>
              </a:r>
            </a:p>
          </p:txBody>
        </p:sp>
        <p:sp>
          <p:nvSpPr>
            <p:cNvPr id="41" name="TextBox 41"/>
            <p:cNvSpPr txBox="1"/>
            <p:nvPr/>
          </p:nvSpPr>
          <p:spPr>
            <a:xfrm>
              <a:off x="2306002" y="3207544"/>
              <a:ext cx="528350" cy="161925"/>
            </a:xfrm>
            <a:prstGeom prst="rect">
              <a:avLst/>
            </a:prstGeom>
            <a:noFill/>
            <a:ln>
              <a:noFill/>
            </a:ln>
          </p:spPr>
          <p:txBody>
            <a:bodyPr wrap="none" lIns="0" tIns="0" rIns="0" bIns="0" anchor="t" anchorCtr="0">
              <a:spAutoFit/>
            </a:bodyPr>
            <a:lstStyle/>
            <a:p>
              <a:pPr algn="l"/>
              <a:r>
                <a:rPr lang="en-US" sz="820" dirty="0">
                  <a:solidFill>
                    <a:srgbClr val="1F2937"/>
                  </a:solidFill>
                  <a:latin typeface="+mn-lt"/>
                  <a:ea typeface="+mn-ea"/>
                  <a:cs typeface="+mn-cs"/>
                </a:rPr>
                <a:t>+staple()</a:t>
              </a:r>
            </a:p>
          </p:txBody>
        </p:sp>
        <p:sp>
          <p:nvSpPr>
            <p:cNvPr id="42" name="TextBox 42"/>
            <p:cNvSpPr txBox="1"/>
            <p:nvPr/>
          </p:nvSpPr>
          <p:spPr>
            <a:xfrm>
              <a:off x="4022979" y="2754630"/>
              <a:ext cx="595122" cy="147638"/>
            </a:xfrm>
            <a:prstGeom prst="rect">
              <a:avLst/>
            </a:prstGeom>
            <a:noFill/>
            <a:ln>
              <a:noFill/>
            </a:ln>
          </p:spPr>
          <p:txBody>
            <a:bodyPr wrap="none" lIns="0" tIns="0" rIns="0" bIns="0" anchor="t" anchorCtr="0">
              <a:spAutoFit/>
            </a:bodyPr>
            <a:lstStyle/>
            <a:p>
              <a:pPr algn="ctr"/>
              <a:r>
                <a:rPr lang="en-US" sz="750" dirty="0">
                  <a:solidFill>
                    <a:srgbClr val="243B53"/>
                  </a:solidFill>
                  <a:latin typeface="+mn-lt"/>
                  <a:ea typeface="+mn-ea"/>
                  <a:cs typeface="+mn-cs"/>
                </a:rPr>
                <a:t>«interface»</a:t>
              </a:r>
            </a:p>
          </p:txBody>
        </p:sp>
        <p:sp>
          <p:nvSpPr>
            <p:cNvPr id="43" name="TextBox 43"/>
            <p:cNvSpPr txBox="1"/>
            <p:nvPr/>
          </p:nvSpPr>
          <p:spPr>
            <a:xfrm>
              <a:off x="4065951" y="2883218"/>
              <a:ext cx="509177" cy="176212"/>
            </a:xfrm>
            <a:prstGeom prst="rect">
              <a:avLst/>
            </a:prstGeom>
            <a:noFill/>
            <a:ln>
              <a:noFill/>
            </a:ln>
          </p:spPr>
          <p:txBody>
            <a:bodyPr wrap="none" lIns="0" tIns="0" rIns="0" bIns="0" anchor="t" anchorCtr="0">
              <a:spAutoFit/>
            </a:bodyPr>
            <a:lstStyle/>
            <a:p>
              <a:pPr algn="ctr"/>
              <a:r>
                <a:rPr lang="en-US" sz="900" b="1" dirty="0">
                  <a:solidFill>
                    <a:srgbClr val="243B53"/>
                  </a:solidFill>
                  <a:latin typeface="+mn-lt"/>
                  <a:ea typeface="+mn-ea"/>
                  <a:cs typeface="+mn-cs"/>
                </a:rPr>
                <a:t>Printing</a:t>
              </a:r>
            </a:p>
          </p:txBody>
        </p:sp>
        <p:sp>
          <p:nvSpPr>
            <p:cNvPr id="44" name="TextBox 44"/>
            <p:cNvSpPr txBox="1"/>
            <p:nvPr/>
          </p:nvSpPr>
          <p:spPr>
            <a:xfrm>
              <a:off x="3764280" y="3207544"/>
              <a:ext cx="1179642" cy="161925"/>
            </a:xfrm>
            <a:prstGeom prst="rect">
              <a:avLst/>
            </a:prstGeom>
            <a:noFill/>
            <a:ln>
              <a:noFill/>
            </a:ln>
          </p:spPr>
          <p:txBody>
            <a:bodyPr wrap="none" lIns="0" tIns="0" rIns="0" bIns="0" anchor="t" anchorCtr="0">
              <a:spAutoFit/>
            </a:bodyPr>
            <a:lstStyle/>
            <a:p>
              <a:pPr algn="l"/>
              <a:r>
                <a:rPr lang="en-US" sz="820" dirty="0">
                  <a:solidFill>
                    <a:srgbClr val="1F2937"/>
                  </a:solidFill>
                  <a:latin typeface="+mn-lt"/>
                  <a:ea typeface="+mn-ea"/>
                  <a:cs typeface="+mn-cs"/>
                </a:rPr>
                <a:t>+print(s: int, e: int)</a:t>
              </a:r>
            </a:p>
          </p:txBody>
        </p:sp>
        <p:sp>
          <p:nvSpPr>
            <p:cNvPr id="45" name="TextBox 45"/>
            <p:cNvSpPr txBox="1"/>
            <p:nvPr/>
          </p:nvSpPr>
          <p:spPr>
            <a:xfrm>
              <a:off x="5537454" y="2754630"/>
              <a:ext cx="595122" cy="147638"/>
            </a:xfrm>
            <a:prstGeom prst="rect">
              <a:avLst/>
            </a:prstGeom>
            <a:noFill/>
            <a:ln>
              <a:noFill/>
            </a:ln>
          </p:spPr>
          <p:txBody>
            <a:bodyPr wrap="none" lIns="0" tIns="0" rIns="0" bIns="0" anchor="t" anchorCtr="0">
              <a:spAutoFit/>
            </a:bodyPr>
            <a:lstStyle/>
            <a:p>
              <a:pPr algn="ctr"/>
              <a:r>
                <a:rPr lang="en-US" sz="750" dirty="0">
                  <a:solidFill>
                    <a:srgbClr val="243B53"/>
                  </a:solidFill>
                  <a:latin typeface="+mn-lt"/>
                  <a:ea typeface="+mn-ea"/>
                  <a:cs typeface="+mn-cs"/>
                </a:rPr>
                <a:t>«interface»</a:t>
              </a:r>
            </a:p>
          </p:txBody>
        </p:sp>
        <p:sp>
          <p:nvSpPr>
            <p:cNvPr id="46" name="TextBox 46"/>
            <p:cNvSpPr txBox="1"/>
            <p:nvPr/>
          </p:nvSpPr>
          <p:spPr>
            <a:xfrm>
              <a:off x="5634418" y="2883218"/>
              <a:ext cx="401194" cy="176212"/>
            </a:xfrm>
            <a:prstGeom prst="rect">
              <a:avLst/>
            </a:prstGeom>
            <a:noFill/>
            <a:ln>
              <a:noFill/>
            </a:ln>
          </p:spPr>
          <p:txBody>
            <a:bodyPr wrap="none" lIns="0" tIns="0" rIns="0" bIns="0" anchor="t" anchorCtr="0">
              <a:spAutoFit/>
            </a:bodyPr>
            <a:lstStyle/>
            <a:p>
              <a:pPr algn="ctr"/>
              <a:r>
                <a:rPr lang="en-US" sz="900" b="1" dirty="0">
                  <a:solidFill>
                    <a:srgbClr val="243B53"/>
                  </a:solidFill>
                  <a:latin typeface="+mn-lt"/>
                  <a:ea typeface="+mn-ea"/>
                  <a:cs typeface="+mn-cs"/>
                </a:rPr>
                <a:t>Faxing</a:t>
              </a:r>
            </a:p>
          </p:txBody>
        </p:sp>
        <p:sp>
          <p:nvSpPr>
            <p:cNvPr id="47" name="TextBox 47"/>
            <p:cNvSpPr txBox="1"/>
            <p:nvPr/>
          </p:nvSpPr>
          <p:spPr>
            <a:xfrm>
              <a:off x="5334952" y="3207544"/>
              <a:ext cx="996260" cy="161925"/>
            </a:xfrm>
            <a:prstGeom prst="rect">
              <a:avLst/>
            </a:prstGeom>
            <a:noFill/>
            <a:ln>
              <a:noFill/>
            </a:ln>
          </p:spPr>
          <p:txBody>
            <a:bodyPr wrap="none" lIns="0" tIns="0" rIns="0" bIns="0" anchor="t" anchorCtr="0">
              <a:spAutoFit/>
            </a:bodyPr>
            <a:lstStyle/>
            <a:p>
              <a:pPr algn="l"/>
              <a:r>
                <a:rPr lang="en-US" sz="820" dirty="0">
                  <a:solidFill>
                    <a:srgbClr val="1F2937"/>
                  </a:solidFill>
                  <a:latin typeface="+mn-lt"/>
                  <a:ea typeface="+mn-ea"/>
                  <a:cs typeface="+mn-cs"/>
                </a:rPr>
                <a:t>+fax(file: String)</a:t>
              </a:r>
            </a:p>
          </p:txBody>
        </p:sp>
        <p:sp>
          <p:nvSpPr>
            <p:cNvPr id="48" name="TextBox 48"/>
            <p:cNvSpPr txBox="1"/>
            <p:nvPr/>
          </p:nvSpPr>
          <p:spPr>
            <a:xfrm>
              <a:off x="3451607" y="4435792"/>
              <a:ext cx="223392" cy="176212"/>
            </a:xfrm>
            <a:prstGeom prst="rect">
              <a:avLst/>
            </a:prstGeom>
            <a:noFill/>
            <a:ln>
              <a:noFill/>
            </a:ln>
          </p:spPr>
          <p:txBody>
            <a:bodyPr wrap="none" lIns="0" tIns="0" rIns="0" bIns="0" anchor="t" anchorCtr="0">
              <a:spAutoFit/>
            </a:bodyPr>
            <a:lstStyle/>
            <a:p>
              <a:pPr algn="ctr"/>
              <a:r>
                <a:rPr lang="en-US" sz="900" b="1" dirty="0">
                  <a:solidFill>
                    <a:srgbClr val="243B53"/>
                  </a:solidFill>
                  <a:latin typeface="+mn-lt"/>
                  <a:ea typeface="+mn-ea"/>
                  <a:cs typeface="+mn-cs"/>
                </a:rPr>
                <a:t>Job</a:t>
              </a:r>
            </a:p>
          </p:txBody>
        </p:sp>
        <p:sp>
          <p:nvSpPr>
            <p:cNvPr id="49" name="TextBox 49"/>
            <p:cNvSpPr txBox="1"/>
            <p:nvPr/>
          </p:nvSpPr>
          <p:spPr>
            <a:xfrm>
              <a:off x="2546032" y="4664869"/>
              <a:ext cx="692256" cy="161925"/>
            </a:xfrm>
            <a:prstGeom prst="rect">
              <a:avLst/>
            </a:prstGeom>
            <a:noFill/>
            <a:ln>
              <a:noFill/>
            </a:ln>
          </p:spPr>
          <p:txBody>
            <a:bodyPr wrap="none" lIns="0" tIns="0" rIns="0" bIns="0" anchor="t" anchorCtr="0">
              <a:spAutoFit/>
            </a:bodyPr>
            <a:lstStyle/>
            <a:p>
              <a:pPr algn="l"/>
              <a:r>
                <a:rPr lang="en-US" sz="820" dirty="0">
                  <a:solidFill>
                    <a:srgbClr val="1F2937"/>
                  </a:solidFill>
                  <a:latin typeface="+mn-lt"/>
                  <a:ea typeface="+mn-ea"/>
                  <a:cs typeface="+mn-cs"/>
                </a:rPr>
                <a:t>-file: String</a:t>
              </a:r>
            </a:p>
          </p:txBody>
        </p:sp>
        <p:sp>
          <p:nvSpPr>
            <p:cNvPr id="50" name="TextBox 50"/>
            <p:cNvSpPr txBox="1"/>
            <p:nvPr/>
          </p:nvSpPr>
          <p:spPr>
            <a:xfrm>
              <a:off x="2546032" y="4908709"/>
              <a:ext cx="2035048" cy="1202055"/>
            </a:xfrm>
            <a:prstGeom prst="rect">
              <a:avLst/>
            </a:prstGeom>
            <a:noFill/>
            <a:ln>
              <a:noFill/>
            </a:ln>
          </p:spPr>
          <p:txBody>
            <a:bodyPr wrap="none" lIns="0" tIns="0" rIns="0" bIns="0" anchor="t" anchorCtr="0">
              <a:spAutoFit/>
            </a:bodyPr>
            <a:lstStyle/>
            <a:p>
              <a:pPr algn="l">
                <a:lnSpc>
                  <a:spcPts val="1170"/>
                </a:lnSpc>
              </a:pPr>
              <a:r>
                <a:rPr lang="en-US" sz="820" dirty="0">
                  <a:solidFill>
                    <a:srgbClr val="1F2937"/>
                  </a:solidFill>
                  <a:latin typeface="+mn-lt"/>
                  <a:ea typeface="+mn-ea"/>
                  <a:cs typeface="+mn-cs"/>
                </a:rPr>
                <a:t>+print(start: int, end: int)</a:t>
              </a:r>
              <a:br/>
              <a:r>
                <a:rPr lang="en-US" sz="820" dirty="0">
                  <a:solidFill>
                    <a:srgbClr val="1F2937"/>
                  </a:solidFill>
                  <a:latin typeface="+mn-lt"/>
                  <a:ea typeface="+mn-ea"/>
                  <a:cs typeface="+mn-cs"/>
                </a:rPr>
                <a:t>+printDoubleSides(start: int, end: int)</a:t>
              </a:r>
              <a:br/>
              <a:r>
                <a:rPr lang="en-US" sz="820" dirty="0">
                  <a:solidFill>
                    <a:srgbClr val="1F2937"/>
                  </a:solidFill>
                  <a:latin typeface="+mn-lt"/>
                  <a:ea typeface="+mn-ea"/>
                  <a:cs typeface="+mn-cs"/>
                </a:rPr>
                <a:t>+staple()</a:t>
              </a:r>
              <a:br/>
              <a:r>
                <a:rPr lang="en-US" sz="820" dirty="0">
                  <a:solidFill>
                    <a:srgbClr val="1F2937"/>
                  </a:solidFill>
                  <a:latin typeface="+mn-lt"/>
                  <a:ea typeface="+mn-ea"/>
                  <a:cs typeface="+mn-cs"/>
                </a:rPr>
                <a:t>+bind()</a:t>
              </a:r>
              <a:br/>
              <a:r>
                <a:rPr lang="en-US" sz="820" dirty="0">
                  <a:solidFill>
                    <a:srgbClr val="1F2937"/>
                  </a:solidFill>
                  <a:latin typeface="+mn-lt"/>
                  <a:ea typeface="+mn-ea"/>
                  <a:cs typeface="+mn-cs"/>
                </a:rPr>
                <a:t>+fax(file: String)</a:t>
              </a:r>
              <a:br/>
              <a:r>
                <a:rPr lang="en-US" sz="820" dirty="0">
                  <a:solidFill>
                    <a:srgbClr val="1F2937"/>
                  </a:solidFill>
                  <a:latin typeface="+mn-lt"/>
                  <a:ea typeface="+mn-ea"/>
                  <a:cs typeface="+mn-cs"/>
                </a:rPr>
                <a:t>+call(numb: String)</a:t>
              </a:r>
              <a:br/>
              <a:r>
                <a:rPr lang="en-US" sz="820" dirty="0">
                  <a:solidFill>
                    <a:srgbClr val="1F2937"/>
                  </a:solidFill>
                  <a:latin typeface="+mn-lt"/>
                  <a:ea typeface="+mn-ea"/>
                  <a:cs typeface="+mn-cs"/>
                </a:rPr>
                <a:t>+sendMsg(s: String)</a:t>
              </a:r>
              <a:br/>
              <a:r>
                <a:rPr lang="en-US" sz="820" dirty="0">
                  <a:solidFill>
                    <a:srgbClr val="1F2937"/>
                  </a:solidFill>
                  <a:latin typeface="+mn-lt"/>
                  <a:ea typeface="+mn-ea"/>
                  <a:cs typeface="+mn-cs"/>
                </a:rPr>
                <a:t>+talkByVideo()</a:t>
              </a:r>
            </a:p>
          </p:txBody>
        </p:sp>
        <p:sp>
          <p:nvSpPr>
            <p:cNvPr id="51" name="Rectangle 51"/>
            <p:cNvSpPr/>
            <p:nvPr/>
          </p:nvSpPr>
          <p:spPr>
            <a:xfrm>
              <a:off x="1876425" y="2840355"/>
              <a:ext cx="343852" cy="179070"/>
            </a:xfrm>
            <a:prstGeom prst="roundRect">
              <a:avLst>
                <a:gd name="adj" fmla="val 21277"/>
              </a:avLst>
            </a:prstGeom>
            <a:solidFill>
              <a:srgbClr val="FFFFFF"/>
            </a:solidFill>
            <a:ln>
              <a:noFill/>
            </a:ln>
          </p:spPr>
        </p:sp>
        <p:sp>
          <p:nvSpPr>
            <p:cNvPr id="52" name="TextBox 52"/>
            <p:cNvSpPr txBox="1"/>
            <p:nvPr/>
          </p:nvSpPr>
          <p:spPr>
            <a:xfrm>
              <a:off x="1910994" y="2865596"/>
              <a:ext cx="273761"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调用</a:t>
              </a:r>
            </a:p>
          </p:txBody>
        </p:sp>
      </p:grpSp>
      <p:grpSp>
        <p:nvGrpSpPr>
          <p:cNvPr id="58" name="c2-code-1"/>
          <p:cNvGrpSpPr/>
          <p:nvPr/>
        </p:nvGrpSpPr>
        <p:grpSpPr>
          <a:xfrm>
            <a:off x="6898005" y="1941195"/>
            <a:ext cx="4760595" cy="1829752"/>
            <a:chOff x="6898005" y="1941195"/>
            <a:chExt cx="4760595" cy="1829752"/>
          </a:xfrm>
        </p:grpSpPr>
        <p:sp>
          <p:nvSpPr>
            <p:cNvPr id="54" name="Rectangle 54"/>
            <p:cNvSpPr/>
            <p:nvPr/>
          </p:nvSpPr>
          <p:spPr>
            <a:xfrm>
              <a:off x="6898005" y="1941195"/>
              <a:ext cx="4760595" cy="1829752"/>
            </a:xfrm>
            <a:prstGeom prst="roundRect">
              <a:avLst>
                <a:gd name="adj" fmla="val 5206"/>
              </a:avLst>
            </a:prstGeom>
            <a:solidFill>
              <a:srgbClr val="F6F8FA"/>
            </a:solidFill>
            <a:ln w="11430">
              <a:solidFill>
                <a:srgbClr val="D9DFEA"/>
              </a:solidFill>
            </a:ln>
          </p:spPr>
        </p:sp>
        <p:sp>
          <p:nvSpPr>
            <p:cNvPr id="55" name="TextBox 55"/>
            <p:cNvSpPr txBox="1"/>
            <p:nvPr/>
          </p:nvSpPr>
          <p:spPr>
            <a:xfrm>
              <a:off x="7026402" y="2093119"/>
              <a:ext cx="1604400"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三个小接口，Job 一并实现</a:t>
              </a:r>
            </a:p>
          </p:txBody>
        </p:sp>
        <p:sp>
          <p:nvSpPr>
            <p:cNvPr id="56" name="Rectangle 56"/>
            <p:cNvSpPr/>
            <p:nvPr/>
          </p:nvSpPr>
          <p:spPr>
            <a:xfrm>
              <a:off x="6917055" y="3261360"/>
              <a:ext cx="4722495" cy="189548"/>
            </a:xfrm>
            <a:prstGeom prst="rect">
              <a:avLst/>
            </a:prstGeom>
            <a:solidFill>
              <a:srgbClr val="FDEEE7"/>
            </a:solidFill>
            <a:ln>
              <a:noFill/>
            </a:ln>
          </p:spPr>
        </p:sp>
        <p:sp>
          <p:nvSpPr>
            <p:cNvPr id="57" name="TextBox 57"/>
            <p:cNvSpPr txBox="1"/>
            <p:nvPr/>
          </p:nvSpPr>
          <p:spPr>
            <a:xfrm>
              <a:off x="7026021" y="2354580"/>
              <a:ext cx="3531108" cy="1342644"/>
            </a:xfrm>
            <a:prstGeom prst="rect">
              <a:avLst/>
            </a:prstGeom>
            <a:noFill/>
            <a:ln>
              <a:noFill/>
            </a:ln>
          </p:spPr>
          <p:txBody>
            <a:bodyPr wrap="none" lIns="0" tIns="0" rIns="0" bIns="0" anchor="t" anchorCtr="0">
              <a:spAutoFit/>
            </a:bodyPr>
            <a:lstStyle/>
            <a:p>
              <a:pPr algn="l">
                <a:lnSpc>
                  <a:spcPts val="1492"/>
                </a:lnSpc>
              </a:pPr>
              <a:r>
                <a:rPr lang="en-US" sz="1050" b="1" dirty="0">
                  <a:solidFill>
                    <a:srgbClr val="334E68"/>
                  </a:solidFill>
                  <a:latin typeface="Consolas"/>
                  <a:ea typeface="Consolas"/>
                  <a:cs typeface="Consolas"/>
                </a:rPr>
                <a:t>interface</a:t>
              </a:r>
              <a:r>
                <a:rPr lang="en-US" sz="1050" dirty="0">
                  <a:solidFill>
                    <a:srgbClr val="1F2937"/>
                  </a:solidFill>
                  <a:latin typeface="Consolas"/>
                  <a:ea typeface="Consolas"/>
                  <a:cs typeface="Consolas"/>
                </a:rPr>
                <a:t xml:space="preserve"> Stapling { </a:t>
              </a:r>
              <a:r>
                <a:rPr lang="en-US" sz="1050" b="1" dirty="0">
                  <a:solidFill>
                    <a:srgbClr val="334E68"/>
                  </a:solidFill>
                  <a:latin typeface="Consolas"/>
                  <a:ea typeface="Consolas"/>
                  <a:cs typeface="Consolas"/>
                </a:rPr>
                <a:t>void</a:t>
              </a:r>
              <a:r>
                <a:rPr lang="en-US" sz="1050" dirty="0">
                  <a:solidFill>
                    <a:srgbClr val="1F2937"/>
                  </a:solidFill>
                  <a:latin typeface="Consolas"/>
                  <a:ea typeface="Consolas"/>
                  <a:cs typeface="Consolas"/>
                </a:rPr>
                <a:t xml:space="preserve"> staple(); }</a:t>
              </a:r>
              <a:br/>
              <a:r>
                <a:rPr lang="en-US" sz="1050" b="1" dirty="0">
                  <a:solidFill>
                    <a:srgbClr val="334E68"/>
                  </a:solidFill>
                  <a:latin typeface="Consolas"/>
                  <a:ea typeface="Consolas"/>
                  <a:cs typeface="Consolas"/>
                </a:rPr>
                <a:t>interface</a:t>
              </a:r>
              <a:r>
                <a:rPr lang="en-US" sz="1050" dirty="0">
                  <a:solidFill>
                    <a:srgbClr val="1F2937"/>
                  </a:solidFill>
                  <a:latin typeface="Consolas"/>
                  <a:ea typeface="Consolas"/>
                  <a:cs typeface="Consolas"/>
                </a:rPr>
                <a:t xml:space="preserve"> Printing { </a:t>
              </a:r>
              <a:r>
                <a:rPr lang="en-US" sz="1050" b="1" dirty="0">
                  <a:solidFill>
                    <a:srgbClr val="334E68"/>
                  </a:solidFill>
                  <a:latin typeface="Consolas"/>
                  <a:ea typeface="Consolas"/>
                  <a:cs typeface="Consolas"/>
                </a:rPr>
                <a:t>void</a:t>
              </a:r>
              <a:r>
                <a:rPr lang="en-US" sz="1050" dirty="0">
                  <a:solidFill>
                    <a:srgbClr val="1F2937"/>
                  </a:solidFill>
                  <a:latin typeface="Consolas"/>
                  <a:ea typeface="Consolas"/>
                  <a:cs typeface="Consolas"/>
                </a:rPr>
                <a:t xml:space="preserve"> print(</a:t>
              </a:r>
              <a:r>
                <a:rPr lang="en-US" sz="1050" b="1" dirty="0">
                  <a:solidFill>
                    <a:srgbClr val="334E68"/>
                  </a:solidFill>
                  <a:latin typeface="Consolas"/>
                  <a:ea typeface="Consolas"/>
                  <a:cs typeface="Consolas"/>
                </a:rPr>
                <a:t>int</a:t>
              </a:r>
              <a:r>
                <a:rPr lang="en-US" sz="1050" dirty="0">
                  <a:solidFill>
                    <a:srgbClr val="1F2937"/>
                  </a:solidFill>
                  <a:latin typeface="Consolas"/>
                  <a:ea typeface="Consolas"/>
                  <a:cs typeface="Consolas"/>
                </a:rPr>
                <a:t xml:space="preserve"> s, </a:t>
              </a:r>
              <a:r>
                <a:rPr lang="en-US" sz="1050" b="1" dirty="0">
                  <a:solidFill>
                    <a:srgbClr val="334E68"/>
                  </a:solidFill>
                  <a:latin typeface="Consolas"/>
                  <a:ea typeface="Consolas"/>
                  <a:cs typeface="Consolas"/>
                </a:rPr>
                <a:t>int</a:t>
              </a:r>
              <a:r>
                <a:rPr lang="en-US" sz="1050" dirty="0">
                  <a:solidFill>
                    <a:srgbClr val="1F2937"/>
                  </a:solidFill>
                  <a:latin typeface="Consolas"/>
                  <a:ea typeface="Consolas"/>
                  <a:cs typeface="Consolas"/>
                </a:rPr>
                <a:t xml:space="preserve"> e); }</a:t>
              </a:r>
              <a:br/>
              <a:r>
                <a:rPr lang="en-US" sz="1050" b="1" dirty="0">
                  <a:solidFill>
                    <a:srgbClr val="334E68"/>
                  </a:solidFill>
                  <a:latin typeface="Consolas"/>
                  <a:ea typeface="Consolas"/>
                  <a:cs typeface="Consolas"/>
                </a:rPr>
                <a:t>interface</a:t>
              </a:r>
              <a:r>
                <a:rPr lang="en-US" sz="1050" dirty="0">
                  <a:solidFill>
                    <a:srgbClr val="1F2937"/>
                  </a:solidFill>
                  <a:latin typeface="Consolas"/>
                  <a:ea typeface="Consolas"/>
                  <a:cs typeface="Consolas"/>
                </a:rPr>
                <a:t xml:space="preserve"> Faxing   { </a:t>
              </a:r>
              <a:r>
                <a:rPr lang="en-US" sz="1050" b="1" dirty="0">
                  <a:solidFill>
                    <a:srgbClr val="334E68"/>
                  </a:solidFill>
                  <a:latin typeface="Consolas"/>
                  <a:ea typeface="Consolas"/>
                  <a:cs typeface="Consolas"/>
                </a:rPr>
                <a:t>void</a:t>
              </a:r>
              <a:r>
                <a:rPr lang="en-US" sz="1050" dirty="0">
                  <a:solidFill>
                    <a:srgbClr val="1F2937"/>
                  </a:solidFill>
                  <a:latin typeface="Consolas"/>
                  <a:ea typeface="Consolas"/>
                  <a:cs typeface="Consolas"/>
                </a:rPr>
                <a:t xml:space="preserve"> fax(String file); }</a:t>
              </a:r>
              <a:br/>
              <a:r>
                <a:rPr lang="en-US" sz="1050" b="1" dirty="0">
                  <a:solidFill>
                    <a:srgbClr val="334E68"/>
                  </a:solidFill>
                  <a:latin typeface="Consolas"/>
                  <a:ea typeface="Consolas"/>
                  <a:cs typeface="Consolas"/>
                </a:rPr>
                <a:t>class</a:t>
              </a:r>
              <a:r>
                <a:rPr lang="en-US" sz="1050" dirty="0">
                  <a:solidFill>
                    <a:srgbClr val="1F2937"/>
                  </a:solidFill>
                  <a:latin typeface="Consolas"/>
                  <a:ea typeface="Consolas"/>
                  <a:cs typeface="Consolas"/>
                </a:rPr>
                <a:t xml:space="preserve"> Job </a:t>
              </a:r>
              <a:r>
                <a:rPr lang="en-US" sz="1050" b="1" dirty="0">
                  <a:solidFill>
                    <a:srgbClr val="334E68"/>
                  </a:solidFill>
                  <a:latin typeface="Consolas"/>
                  <a:ea typeface="Consolas"/>
                  <a:cs typeface="Consolas"/>
                </a:rPr>
                <a:t>implements</a:t>
              </a:r>
              <a:r>
                <a:rPr lang="en-US" sz="1050" dirty="0">
                  <a:solidFill>
                    <a:srgbClr val="1F2937"/>
                  </a:solidFill>
                  <a:latin typeface="Consolas"/>
                  <a:ea typeface="Consolas"/>
                  <a:cs typeface="Consolas"/>
                </a:rPr>
                <a:t xml:space="preserve"> Stapling, Printing, Faxing</a:t>
              </a:r>
              <a:br/>
              <a:r>
                <a:rPr lang="zh-CN" sz="1050" dirty="0">
                  <a:solidFill>
                    <a:srgbClr val="1F2937"/>
                  </a:solidFill>
                  <a:latin typeface="Consolas"/>
                  <a:ea typeface="Consolas"/>
                  <a:cs typeface="Consolas"/>
                </a:rPr>
                <a:t xml:space="preserve">    { </a:t>
              </a:r>
              <a:r>
                <a:rPr lang="zh-CN" sz="1050" dirty="0">
                  <a:solidFill>
                    <a:srgbClr val="0F7A68"/>
                  </a:solidFill>
                  <a:latin typeface="Consolas"/>
                  <a:ea typeface="Microsoft YaHei"/>
                  <a:cs typeface="Consolas"/>
                </a:rPr>
                <a:t>/* 原有 8 个方法照旧 */</a:t>
              </a:r>
              <a:r>
                <a:rPr lang="zh-CN" sz="1050" dirty="0">
                  <a:solidFill>
                    <a:srgbClr val="1F2937"/>
                  </a:solidFill>
                  <a:latin typeface="Consolas"/>
                  <a:ea typeface="Consolas"/>
                  <a:cs typeface="Consolas"/>
                </a:rPr>
                <a:t xml:space="preserve"> }</a:t>
              </a:r>
              <a:br/>
              <a:r>
                <a:rPr lang="en-US" sz="1050" dirty="0">
                  <a:solidFill>
                    <a:srgbClr val="1F2937"/>
                  </a:solidFill>
                  <a:latin typeface="Consolas"/>
                  <a:ea typeface="Consolas"/>
                  <a:cs typeface="Consolas"/>
                </a:rPr>
                <a:t xml:space="preserve">Stapling job = </a:t>
              </a:r>
              <a:r>
                <a:rPr lang="en-US" sz="1050" b="1" dirty="0">
                  <a:solidFill>
                    <a:srgbClr val="334E68"/>
                  </a:solidFill>
                  <a:latin typeface="Consolas"/>
                  <a:ea typeface="Consolas"/>
                  <a:cs typeface="Consolas"/>
                </a:rPr>
                <a:t>new</a:t>
              </a:r>
              <a:r>
                <a:rPr lang="en-US" sz="1050" dirty="0">
                  <a:solidFill>
                    <a:srgbClr val="1F2937"/>
                  </a:solidFill>
                  <a:latin typeface="Consolas"/>
                  <a:ea typeface="Consolas"/>
                  <a:cs typeface="Consolas"/>
                </a:rPr>
                <a:t xml:space="preserve"> Job();   </a:t>
              </a:r>
              <a:r>
                <a:rPr lang="zh-CN" sz="1050" dirty="0">
                  <a:solidFill>
                    <a:srgbClr val="0F7A68"/>
                  </a:solidFill>
                  <a:latin typeface="Consolas"/>
                  <a:ea typeface="Microsoft YaHei"/>
                  <a:cs typeface="Consolas"/>
                </a:rPr>
                <a:t>// 装订客户</a:t>
              </a:r>
              <a:br/>
              <a:r>
                <a:rPr lang="en-US" sz="1050" dirty="0">
                  <a:solidFill>
                    <a:srgbClr val="1F2937"/>
                  </a:solidFill>
                  <a:latin typeface="Consolas"/>
                  <a:ea typeface="Consolas"/>
                  <a:cs typeface="Consolas"/>
                </a:rPr>
                <a:t>job.staple();</a:t>
              </a:r>
            </a:p>
          </p:txBody>
        </p:sp>
      </p:grpSp>
      <p:grpSp>
        <p:nvGrpSpPr>
          <p:cNvPr id="76" name="c2-table-2"/>
          <p:cNvGrpSpPr/>
          <p:nvPr/>
        </p:nvGrpSpPr>
        <p:grpSpPr>
          <a:xfrm>
            <a:off x="6898005" y="3946208"/>
            <a:ext cx="4760595" cy="1417320"/>
            <a:chOff x="6898005" y="3946208"/>
            <a:chExt cx="4760595" cy="1417320"/>
          </a:xfrm>
        </p:grpSpPr>
        <p:sp>
          <p:nvSpPr>
            <p:cNvPr id="59" name="Rectangle 59"/>
            <p:cNvSpPr/>
            <p:nvPr/>
          </p:nvSpPr>
          <p:spPr>
            <a:xfrm>
              <a:off x="6898005" y="3946208"/>
              <a:ext cx="4760595" cy="405765"/>
            </a:xfrm>
            <a:prstGeom prst="rect">
              <a:avLst/>
            </a:prstGeom>
            <a:solidFill>
              <a:srgbClr val="334E68"/>
            </a:solidFill>
            <a:ln>
              <a:noFill/>
            </a:ln>
          </p:spPr>
        </p:sp>
        <p:sp>
          <p:nvSpPr>
            <p:cNvPr id="60" name="TextBox 60"/>
            <p:cNvSpPr txBox="1"/>
            <p:nvPr/>
          </p:nvSpPr>
          <p:spPr>
            <a:xfrm>
              <a:off x="7166759" y="4070509"/>
              <a:ext cx="1079837"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Job 里改了什么</a:t>
              </a:r>
            </a:p>
          </p:txBody>
        </p:sp>
        <p:sp>
          <p:nvSpPr>
            <p:cNvPr id="61" name="TextBox 61"/>
            <p:cNvSpPr txBox="1"/>
            <p:nvPr/>
          </p:nvSpPr>
          <p:spPr>
            <a:xfrm>
              <a:off x="8615372" y="4070509"/>
              <a:ext cx="123061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客户直接依赖 Job</a:t>
              </a:r>
            </a:p>
          </p:txBody>
        </p:sp>
        <p:sp>
          <p:nvSpPr>
            <p:cNvPr id="62" name="TextBox 62"/>
            <p:cNvSpPr txBox="1"/>
            <p:nvPr/>
          </p:nvSpPr>
          <p:spPr>
            <a:xfrm>
              <a:off x="10267925" y="4070509"/>
              <a:ext cx="1066851"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客户经接口访问</a:t>
              </a:r>
            </a:p>
          </p:txBody>
        </p:sp>
        <p:sp>
          <p:nvSpPr>
            <p:cNvPr id="63" name="TextBox 63"/>
            <p:cNvSpPr txBox="1"/>
            <p:nvPr/>
          </p:nvSpPr>
          <p:spPr>
            <a:xfrm>
              <a:off x="6998017" y="4476274"/>
              <a:ext cx="94660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fax() 的签名</a:t>
              </a:r>
            </a:p>
          </p:txBody>
        </p:sp>
        <p:sp>
          <p:nvSpPr>
            <p:cNvPr id="64" name="TextBox 64"/>
            <p:cNvSpPr txBox="1"/>
            <p:nvPr/>
          </p:nvSpPr>
          <p:spPr>
            <a:xfrm>
              <a:off x="8616315" y="4476274"/>
              <a:ext cx="121762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全部客户重新编译</a:t>
              </a:r>
            </a:p>
          </p:txBody>
        </p:sp>
        <p:sp>
          <p:nvSpPr>
            <p:cNvPr id="65" name="Rectangle 65"/>
            <p:cNvSpPr/>
            <p:nvPr/>
          </p:nvSpPr>
          <p:spPr>
            <a:xfrm>
              <a:off x="9954578" y="4361498"/>
              <a:ext cx="1694498" cy="386715"/>
            </a:xfrm>
            <a:prstGeom prst="rect">
              <a:avLst/>
            </a:prstGeom>
            <a:solidFill>
              <a:srgbClr val="E3F5F1"/>
            </a:solidFill>
            <a:ln>
              <a:noFill/>
            </a:ln>
          </p:spPr>
        </p:sp>
        <p:sp>
          <p:nvSpPr>
            <p:cNvPr id="66" name="TextBox 66"/>
            <p:cNvSpPr txBox="1"/>
            <p:nvPr/>
          </p:nvSpPr>
          <p:spPr>
            <a:xfrm>
              <a:off x="10045065" y="4476274"/>
              <a:ext cx="147159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只有用 Faxing 的客户</a:t>
              </a:r>
            </a:p>
          </p:txBody>
        </p:sp>
        <p:sp>
          <p:nvSpPr>
            <p:cNvPr id="67" name="Rectangle 67"/>
            <p:cNvSpPr/>
            <p:nvPr/>
          </p:nvSpPr>
          <p:spPr>
            <a:xfrm>
              <a:off x="6898005" y="4752975"/>
              <a:ext cx="4760595" cy="9525"/>
            </a:xfrm>
            <a:prstGeom prst="rect">
              <a:avLst/>
            </a:prstGeom>
            <a:solidFill>
              <a:srgbClr val="D9DFEA"/>
            </a:solidFill>
            <a:ln>
              <a:noFill/>
            </a:ln>
          </p:spPr>
        </p:sp>
        <p:sp>
          <p:nvSpPr>
            <p:cNvPr id="68" name="Rectangle 68"/>
            <p:cNvSpPr/>
            <p:nvPr/>
          </p:nvSpPr>
          <p:spPr>
            <a:xfrm>
              <a:off x="6898005" y="4757738"/>
              <a:ext cx="4760595" cy="605790"/>
            </a:xfrm>
            <a:prstGeom prst="rect">
              <a:avLst/>
            </a:prstGeom>
            <a:solidFill>
              <a:srgbClr val="F4F6FB"/>
            </a:solidFill>
            <a:ln>
              <a:noFill/>
            </a:ln>
          </p:spPr>
        </p:sp>
        <p:sp>
          <p:nvSpPr>
            <p:cNvPr id="69" name="TextBox 69"/>
            <p:cNvSpPr txBox="1"/>
            <p:nvPr/>
          </p:nvSpPr>
          <p:spPr>
            <a:xfrm>
              <a:off x="6998017" y="4882039"/>
              <a:ext cx="1214425" cy="420052"/>
            </a:xfrm>
            <a:prstGeom prst="rect">
              <a:avLst/>
            </a:prstGeom>
            <a:noFill/>
            <a:ln>
              <a:noFill/>
            </a:ln>
          </p:spPr>
          <p:txBody>
            <a:bodyPr wrap="none" lIns="0" tIns="0" rIns="0" bIns="0" anchor="t" anchorCtr="0">
              <a:spAutoFit/>
            </a:bodyPr>
            <a:lstStyle/>
            <a:p>
              <a:pPr algn="l">
                <a:lnSpc>
                  <a:spcPts val="1575"/>
                </a:lnSpc>
              </a:pPr>
              <a:r>
                <a:rPr lang="zh-CN" sz="1120" b="1" dirty="0">
                  <a:solidFill>
                    <a:srgbClr val="1F2937"/>
                  </a:solidFill>
                  <a:latin typeface="+mn-lt"/>
                  <a:ea typeface="+mn-ea"/>
                  <a:cs typeface="+mn-cs"/>
                </a:rPr>
                <a:t>bind()、call() 等</a:t>
              </a:r>
              <a:br/>
              <a:r>
                <a:rPr lang="zh-CN" sz="1120" b="1" dirty="0">
                  <a:solidFill>
                    <a:srgbClr val="1F2937"/>
                  </a:solidFill>
                  <a:latin typeface="+mn-lt"/>
                  <a:ea typeface="+mn-ea"/>
                  <a:cs typeface="+mn-cs"/>
                </a:rPr>
                <a:t>接口外方法</a:t>
              </a:r>
            </a:p>
          </p:txBody>
        </p:sp>
        <p:sp>
          <p:nvSpPr>
            <p:cNvPr id="70" name="TextBox 70"/>
            <p:cNvSpPr txBox="1"/>
            <p:nvPr/>
          </p:nvSpPr>
          <p:spPr>
            <a:xfrm>
              <a:off x="8616315" y="4982051"/>
              <a:ext cx="121762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全部客户重新编译</a:t>
              </a:r>
            </a:p>
          </p:txBody>
        </p:sp>
        <p:sp>
          <p:nvSpPr>
            <p:cNvPr id="71" name="Rectangle 71"/>
            <p:cNvSpPr/>
            <p:nvPr/>
          </p:nvSpPr>
          <p:spPr>
            <a:xfrm>
              <a:off x="9954578" y="4767262"/>
              <a:ext cx="1694498" cy="586740"/>
            </a:xfrm>
            <a:prstGeom prst="rect">
              <a:avLst/>
            </a:prstGeom>
            <a:solidFill>
              <a:srgbClr val="E3F5F1"/>
            </a:solidFill>
            <a:ln>
              <a:noFill/>
            </a:ln>
          </p:spPr>
        </p:sp>
        <p:sp>
          <p:nvSpPr>
            <p:cNvPr id="72" name="TextBox 72"/>
            <p:cNvSpPr txBox="1"/>
            <p:nvPr/>
          </p:nvSpPr>
          <p:spPr>
            <a:xfrm>
              <a:off x="10045065" y="4882039"/>
              <a:ext cx="143383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装订、打印、传真客户</a:t>
              </a:r>
              <a:br/>
              <a:r>
                <a:rPr lang="zh-CN" sz="1120" dirty="0">
                  <a:solidFill>
                    <a:srgbClr val="1F2937"/>
                  </a:solidFill>
                  <a:latin typeface="+mn-lt"/>
                  <a:ea typeface="+mn-ea"/>
                  <a:cs typeface="+mn-cs"/>
                </a:rPr>
                <a:t>都不受影响</a:t>
              </a:r>
            </a:p>
          </p:txBody>
        </p:sp>
        <p:sp>
          <p:nvSpPr>
            <p:cNvPr id="73" name="Rectangle 73"/>
            <p:cNvSpPr/>
            <p:nvPr/>
          </p:nvSpPr>
          <p:spPr>
            <a:xfrm>
              <a:off x="6898005" y="3946208"/>
              <a:ext cx="4760595" cy="1417320"/>
            </a:xfrm>
            <a:prstGeom prst="rect">
              <a:avLst/>
            </a:prstGeom>
            <a:noFill/>
            <a:ln w="14288">
              <a:solidFill>
                <a:srgbClr val="D9DFEA"/>
              </a:solidFill>
            </a:ln>
          </p:spPr>
        </p:sp>
        <p:sp>
          <p:nvSpPr>
            <p:cNvPr id="74" name="Rectangle 74"/>
            <p:cNvSpPr/>
            <p:nvPr/>
          </p:nvSpPr>
          <p:spPr>
            <a:xfrm>
              <a:off x="8511540" y="3946208"/>
              <a:ext cx="9525" cy="1417320"/>
            </a:xfrm>
            <a:prstGeom prst="rect">
              <a:avLst/>
            </a:prstGeom>
            <a:solidFill>
              <a:srgbClr val="D9DFEA"/>
            </a:solidFill>
            <a:ln>
              <a:noFill/>
            </a:ln>
          </p:spPr>
        </p:sp>
        <p:sp>
          <p:nvSpPr>
            <p:cNvPr id="75" name="Rectangle 75"/>
            <p:cNvSpPr/>
            <p:nvPr/>
          </p:nvSpPr>
          <p:spPr>
            <a:xfrm>
              <a:off x="9940290" y="3946208"/>
              <a:ext cx="9525" cy="1417320"/>
            </a:xfrm>
            <a:prstGeom prst="rect">
              <a:avLst/>
            </a:prstGeom>
            <a:solidFill>
              <a:srgbClr val="D9DFEA"/>
            </a:solidFill>
            <a:ln>
              <a:noFill/>
            </a:ln>
          </p:spPr>
        </p:sp>
      </p:grpSp>
      <p:grpSp>
        <p:nvGrpSpPr>
          <p:cNvPr id="83" name="c2-callout-3"/>
          <p:cNvGrpSpPr/>
          <p:nvPr/>
        </p:nvGrpSpPr>
        <p:grpSpPr>
          <a:xfrm>
            <a:off x="6898005" y="5538788"/>
            <a:ext cx="4760595" cy="729615"/>
            <a:chOff x="6898005" y="5538788"/>
            <a:chExt cx="4760595" cy="729615"/>
          </a:xfrm>
        </p:grpSpPr>
        <p:sp>
          <p:nvSpPr>
            <p:cNvPr id="77" name="Rectangle 77"/>
            <p:cNvSpPr/>
            <p:nvPr/>
          </p:nvSpPr>
          <p:spPr>
            <a:xfrm>
              <a:off x="6898005" y="5538788"/>
              <a:ext cx="4760595" cy="729615"/>
            </a:xfrm>
            <a:prstGeom prst="roundRect">
              <a:avLst>
                <a:gd name="adj" fmla="val 15666"/>
              </a:avLst>
            </a:prstGeom>
            <a:solidFill>
              <a:srgbClr val="F4F6FB"/>
            </a:solidFill>
            <a:ln>
              <a:noFill/>
            </a:ln>
          </p:spPr>
        </p:sp>
        <p:grpSp>
          <p:nvGrpSpPr>
            <p:cNvPr id="81" name="Group 81"/>
            <p:cNvGrpSpPr/>
            <p:nvPr/>
          </p:nvGrpSpPr>
          <p:grpSpPr>
            <a:xfrm>
              <a:off x="7102793" y="5803583"/>
              <a:ext cx="200026" cy="200026"/>
              <a:chOff x="7102793" y="5803583"/>
              <a:chExt cx="200026" cy="200026"/>
            </a:xfrm>
          </p:grpSpPr>
          <p:sp>
            <p:nvSpPr>
              <p:cNvPr id="78" name="Freeform 78"/>
              <p:cNvSpPr/>
              <p:nvPr/>
            </p:nvSpPr>
            <p:spPr>
              <a:xfrm>
                <a:off x="7102793" y="580358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79" name="Freeform 79"/>
              <p:cNvSpPr/>
              <p:nvPr/>
            </p:nvSpPr>
            <p:spPr>
              <a:xfrm>
                <a:off x="7202805" y="587025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80" name="Freeform 80"/>
              <p:cNvSpPr/>
              <p:nvPr/>
            </p:nvSpPr>
            <p:spPr>
              <a:xfrm>
                <a:off x="7191693" y="590359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82" name="TextBox 82"/>
            <p:cNvSpPr txBox="1"/>
            <p:nvPr/>
          </p:nvSpPr>
          <p:spPr>
            <a:xfrm>
              <a:off x="7405497" y="5684520"/>
              <a:ext cx="3698177"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1F2937"/>
                  </a:solidFill>
                  <a:latin typeface="+mn-lt"/>
                  <a:ea typeface="+mn-ea"/>
                  <a:cs typeface="+mn-cs"/>
                </a:rPr>
                <a:t xml:space="preserve">更正：原课件写作 </a:t>
              </a:r>
              <a:r>
                <a:rPr lang="en-US" sz="1350" b="1" dirty="0">
                  <a:solidFill>
                    <a:srgbClr val="B42318"/>
                  </a:solidFill>
                  <a:latin typeface="+mn-lt"/>
                  <a:ea typeface="+mn-ea"/>
                  <a:cs typeface="+mn-cs"/>
                </a:rPr>
                <a:t>job.staple(file)</a:t>
              </a:r>
              <a:r>
                <a:rPr lang="zh-CN" sz="1350" dirty="0">
                  <a:solidFill>
                    <a:srgbClr val="1F2937"/>
                  </a:solidFill>
                  <a:latin typeface="+mn-lt"/>
                  <a:ea typeface="+mn-ea"/>
                  <a:cs typeface="+mn-cs"/>
                </a:rPr>
                <a:t>，与无参的</a:t>
              </a:r>
              <a:br/>
              <a:r>
                <a:rPr lang="zh-CN" sz="1350" dirty="0">
                  <a:solidFill>
                    <a:srgbClr val="1F2937"/>
                  </a:solidFill>
                  <a:latin typeface="+mn-lt"/>
                  <a:ea typeface="+mn-ea"/>
                  <a:cs typeface="+mn-cs"/>
                </a:rPr>
                <a:t xml:space="preserve">staple() 不符，应为 </a:t>
              </a:r>
              <a:r>
                <a:rPr lang="en-US" sz="1350" b="1" dirty="0">
                  <a:solidFill>
                    <a:srgbClr val="0F7A68"/>
                  </a:solidFill>
                  <a:latin typeface="+mn-lt"/>
                  <a:ea typeface="+mn-ea"/>
                  <a:cs typeface="+mn-cs"/>
                </a:rPr>
                <a:t>job.staple()</a:t>
              </a:r>
              <a:r>
                <a:rPr lang="zh-CN" sz="1350" dirty="0">
                  <a:solidFill>
                    <a:srgbClr val="1F2937"/>
                  </a:solidFill>
                  <a:latin typeface="+mn-lt"/>
                  <a:ea typeface="+mn-ea"/>
                  <a:cs typeface="+mn-cs"/>
                </a:rPr>
                <a:t>。</a:t>
              </a:r>
            </a:p>
          </p:txBody>
        </p:sp>
      </p:grpSp>
      <p:grpSp>
        <p:nvGrpSpPr>
          <p:cNvPr id="86" name="footer"/>
          <p:cNvGrpSpPr/>
          <p:nvPr/>
        </p:nvGrpSpPr>
        <p:grpSpPr>
          <a:xfrm>
            <a:off x="528447" y="6581299"/>
            <a:ext cx="11135106" cy="190690"/>
            <a:chOff x="528447" y="6581299"/>
            <a:chExt cx="11135106" cy="190690"/>
          </a:xfrm>
        </p:grpSpPr>
        <p:sp>
          <p:nvSpPr>
            <p:cNvPr id="84" name="TextBox 84"/>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85" name="TextBox 8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23</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8505489" cy="909257"/>
            <a:chOff x="520446" y="342900"/>
            <a:chExt cx="8505489" cy="909257"/>
          </a:xfrm>
        </p:grpSpPr>
        <p:sp>
          <p:nvSpPr>
            <p:cNvPr id="2" name="Rectangle 2"/>
            <p:cNvSpPr/>
            <p:nvPr/>
          </p:nvSpPr>
          <p:spPr>
            <a:xfrm>
              <a:off x="533400" y="342900"/>
              <a:ext cx="2660332" cy="266700"/>
            </a:xfrm>
            <a:prstGeom prst="roundRect">
              <a:avLst>
                <a:gd name="adj" fmla="val 50000"/>
              </a:avLst>
            </a:prstGeom>
            <a:solidFill>
              <a:srgbClr val="E7EDF3"/>
            </a:solidFill>
            <a:ln>
              <a:noFill/>
            </a:ln>
          </p:spPr>
        </p:sp>
        <p:sp>
          <p:nvSpPr>
            <p:cNvPr id="3" name="TextBox 3"/>
            <p:cNvSpPr txBox="1"/>
            <p:nvPr/>
          </p:nvSpPr>
          <p:spPr>
            <a:xfrm>
              <a:off x="570203" y="407194"/>
              <a:ext cx="25857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SOLID 五原则</a:t>
              </a:r>
            </a:p>
          </p:txBody>
        </p:sp>
        <p:sp>
          <p:nvSpPr>
            <p:cNvPr id="4" name="TextBox 4"/>
            <p:cNvSpPr txBox="1"/>
            <p:nvPr/>
          </p:nvSpPr>
          <p:spPr>
            <a:xfrm>
              <a:off x="520446" y="753428"/>
              <a:ext cx="850548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 5 房产网站：一个 Building 类装下两种房型两种档次</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399" y="1550194"/>
            <a:ext cx="10590784" cy="597598"/>
            <a:chOff x="525399" y="1550194"/>
            <a:chExt cx="10590784" cy="597598"/>
          </a:xfrm>
        </p:grpSpPr>
        <p:sp>
          <p:nvSpPr>
            <p:cNvPr id="7" name="TextBox 7"/>
            <p:cNvSpPr txBox="1"/>
            <p:nvPr/>
          </p:nvSpPr>
          <p:spPr>
            <a:xfrm>
              <a:off x="525399" y="1550194"/>
              <a:ext cx="10590784" cy="597598"/>
            </a:xfrm>
            <a:prstGeom prst="rect">
              <a:avLst/>
            </a:prstGeom>
            <a:noFill/>
            <a:ln>
              <a:noFill/>
            </a:ln>
          </p:spPr>
          <p:txBody>
            <a:bodyPr wrap="none" lIns="0" tIns="0" rIns="0" bIns="0" anchor="t" anchorCtr="0">
              <a:spAutoFit/>
            </a:bodyPr>
            <a:lstStyle/>
            <a:p>
              <a:pPr algn="l">
                <a:lnSpc>
                  <a:spcPts val="2280"/>
                </a:lnSpc>
              </a:pPr>
              <a:r>
                <a:rPr lang="zh-CN" sz="1580" dirty="0">
                  <a:solidFill>
                    <a:srgbClr val="5B6475"/>
                  </a:solidFill>
                  <a:latin typeface="+mn-lt"/>
                  <a:ea typeface="+mn-ea"/>
                  <a:cs typeface="+mn-cs"/>
                </a:rPr>
                <a:t>房产网站要做一个房源信息模块，负责展示卖家房源的图片、面积、位置、报价。房源分 house 与 condo 两类，每类又</a:t>
              </a:r>
              <a:br/>
              <a:r>
                <a:rPr lang="zh-CN" sz="1580" dirty="0">
                  <a:solidFill>
                    <a:srgbClr val="5B6475"/>
                  </a:solidFill>
                  <a:latin typeface="+mn-lt"/>
                  <a:ea typeface="+mn-ea"/>
                  <a:cs typeface="+mn-cs"/>
                </a:rPr>
                <a:t>分 Super 和 Medium 两档。</a:t>
              </a:r>
            </a:p>
          </p:txBody>
        </p:sp>
      </p:grpSp>
      <p:grpSp>
        <p:nvGrpSpPr>
          <p:cNvPr id="24" name="c1-uml-1"/>
          <p:cNvGrpSpPr/>
          <p:nvPr/>
        </p:nvGrpSpPr>
        <p:grpSpPr>
          <a:xfrm>
            <a:off x="1260158" y="2828925"/>
            <a:ext cx="4066222" cy="2905125"/>
            <a:chOff x="1260158" y="2828925"/>
            <a:chExt cx="4066222" cy="2905125"/>
          </a:xfrm>
        </p:grpSpPr>
        <p:sp>
          <p:nvSpPr>
            <p:cNvPr id="9" name="Freeform 9"/>
            <p:cNvSpPr/>
            <p:nvPr/>
          </p:nvSpPr>
          <p:spPr>
            <a:xfrm>
              <a:off x="2403158" y="4281488"/>
              <a:ext cx="1127760" cy="9525"/>
            </a:xfrm>
            <a:custGeom>
              <a:avLst/>
              <a:gdLst/>
              <a:ahLst/>
              <a:cxnLst/>
              <a:rect l="l" t="t" r="r" b="b"/>
              <a:pathLst>
                <a:path w="1127760" h="9525">
                  <a:moveTo>
                    <a:pt x="0" y="0"/>
                  </a:moveTo>
                  <a:lnTo>
                    <a:pt x="1127760" y="0"/>
                  </a:lnTo>
                </a:path>
              </a:pathLst>
            </a:custGeom>
            <a:noFill/>
            <a:ln w="15240">
              <a:solidFill>
                <a:srgbClr val="1F2937"/>
              </a:solidFill>
              <a:custDash>
                <a:ds d="375000" sp="250000"/>
              </a:custDash>
            </a:ln>
          </p:spPr>
        </p:sp>
        <p:sp>
          <p:nvSpPr>
            <p:cNvPr id="10" name="Freeform 10"/>
            <p:cNvSpPr/>
            <p:nvPr/>
          </p:nvSpPr>
          <p:spPr>
            <a:xfrm>
              <a:off x="3426142" y="4224338"/>
              <a:ext cx="104775" cy="115253"/>
            </a:xfrm>
            <a:custGeom>
              <a:avLst/>
              <a:gdLst/>
              <a:ahLst/>
              <a:cxnLst/>
              <a:rect l="l" t="t" r="r" b="b"/>
              <a:pathLst>
                <a:path w="104775" h="115253">
                  <a:moveTo>
                    <a:pt x="0" y="115253"/>
                  </a:moveTo>
                  <a:lnTo>
                    <a:pt x="104775" y="57150"/>
                  </a:lnTo>
                  <a:lnTo>
                    <a:pt x="0" y="0"/>
                  </a:lnTo>
                </a:path>
              </a:pathLst>
            </a:custGeom>
            <a:noFill/>
            <a:ln w="15240">
              <a:solidFill>
                <a:srgbClr val="1F2937"/>
              </a:solidFill>
            </a:ln>
          </p:spPr>
        </p:sp>
        <p:sp>
          <p:nvSpPr>
            <p:cNvPr id="11" name="Rectangle 11"/>
            <p:cNvSpPr/>
            <p:nvPr/>
          </p:nvSpPr>
          <p:spPr>
            <a:xfrm>
              <a:off x="1260158" y="3971925"/>
              <a:ext cx="1143000" cy="620078"/>
            </a:xfrm>
            <a:prstGeom prst="rect">
              <a:avLst/>
            </a:prstGeom>
            <a:solidFill>
              <a:srgbClr val="FFFFFF"/>
            </a:solidFill>
            <a:ln w="14288">
              <a:solidFill>
                <a:srgbClr val="334E68"/>
              </a:solidFill>
            </a:ln>
          </p:spPr>
        </p:sp>
        <p:sp>
          <p:nvSpPr>
            <p:cNvPr id="12" name="Rectangle 12"/>
            <p:cNvSpPr/>
            <p:nvPr/>
          </p:nvSpPr>
          <p:spPr>
            <a:xfrm>
              <a:off x="1267778" y="3978592"/>
              <a:ext cx="1128712" cy="245745"/>
            </a:xfrm>
            <a:prstGeom prst="rect">
              <a:avLst/>
            </a:prstGeom>
            <a:solidFill>
              <a:srgbClr val="E7EDF3"/>
            </a:solidFill>
            <a:ln>
              <a:noFill/>
            </a:ln>
          </p:spPr>
        </p:sp>
        <p:sp>
          <p:nvSpPr>
            <p:cNvPr id="13" name="Rectangle 13"/>
            <p:cNvSpPr/>
            <p:nvPr/>
          </p:nvSpPr>
          <p:spPr>
            <a:xfrm>
              <a:off x="1260158" y="4220528"/>
              <a:ext cx="1143000" cy="9525"/>
            </a:xfrm>
            <a:prstGeom prst="rect">
              <a:avLst/>
            </a:prstGeom>
            <a:solidFill>
              <a:srgbClr val="334E68"/>
            </a:solidFill>
            <a:ln>
              <a:noFill/>
            </a:ln>
          </p:spPr>
        </p:sp>
        <p:sp>
          <p:nvSpPr>
            <p:cNvPr id="14" name="Rectangle 14"/>
            <p:cNvSpPr/>
            <p:nvPr/>
          </p:nvSpPr>
          <p:spPr>
            <a:xfrm>
              <a:off x="1260158" y="4315778"/>
              <a:ext cx="1143000" cy="9525"/>
            </a:xfrm>
            <a:prstGeom prst="rect">
              <a:avLst/>
            </a:prstGeom>
            <a:solidFill>
              <a:srgbClr val="334E68"/>
            </a:solidFill>
            <a:ln>
              <a:noFill/>
            </a:ln>
          </p:spPr>
        </p:sp>
        <p:sp>
          <p:nvSpPr>
            <p:cNvPr id="15" name="Rectangle 15"/>
            <p:cNvSpPr/>
            <p:nvPr/>
          </p:nvSpPr>
          <p:spPr>
            <a:xfrm>
              <a:off x="3530918" y="2828925"/>
              <a:ext cx="1795462" cy="2905125"/>
            </a:xfrm>
            <a:prstGeom prst="rect">
              <a:avLst/>
            </a:prstGeom>
            <a:solidFill>
              <a:srgbClr val="FFFFFF"/>
            </a:solidFill>
            <a:ln w="14288">
              <a:solidFill>
                <a:srgbClr val="334E68"/>
              </a:solidFill>
            </a:ln>
          </p:spPr>
        </p:sp>
        <p:sp>
          <p:nvSpPr>
            <p:cNvPr id="16" name="Rectangle 16"/>
            <p:cNvSpPr/>
            <p:nvPr/>
          </p:nvSpPr>
          <p:spPr>
            <a:xfrm>
              <a:off x="3538538" y="2835592"/>
              <a:ext cx="1781175" cy="245745"/>
            </a:xfrm>
            <a:prstGeom prst="rect">
              <a:avLst/>
            </a:prstGeom>
            <a:solidFill>
              <a:srgbClr val="334E68"/>
            </a:solidFill>
            <a:ln>
              <a:noFill/>
            </a:ln>
          </p:spPr>
        </p:sp>
        <p:sp>
          <p:nvSpPr>
            <p:cNvPr id="17" name="Rectangle 17"/>
            <p:cNvSpPr/>
            <p:nvPr/>
          </p:nvSpPr>
          <p:spPr>
            <a:xfrm>
              <a:off x="3530918" y="3077528"/>
              <a:ext cx="1795462" cy="9525"/>
            </a:xfrm>
            <a:prstGeom prst="rect">
              <a:avLst/>
            </a:prstGeom>
            <a:solidFill>
              <a:srgbClr val="334E68"/>
            </a:solidFill>
            <a:ln>
              <a:noFill/>
            </a:ln>
          </p:spPr>
        </p:sp>
        <p:sp>
          <p:nvSpPr>
            <p:cNvPr id="18" name="Rectangle 18"/>
            <p:cNvSpPr/>
            <p:nvPr/>
          </p:nvSpPr>
          <p:spPr>
            <a:xfrm>
              <a:off x="3530918" y="4228148"/>
              <a:ext cx="1795462" cy="9525"/>
            </a:xfrm>
            <a:prstGeom prst="rect">
              <a:avLst/>
            </a:prstGeom>
            <a:solidFill>
              <a:srgbClr val="334E68"/>
            </a:solidFill>
            <a:ln>
              <a:noFill/>
            </a:ln>
          </p:spPr>
        </p:sp>
        <p:sp>
          <p:nvSpPr>
            <p:cNvPr id="19" name="TextBox 19"/>
            <p:cNvSpPr txBox="1"/>
            <p:nvPr/>
          </p:nvSpPr>
          <p:spPr>
            <a:xfrm>
              <a:off x="1506804" y="4031932"/>
              <a:ext cx="649708"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ClientGUI</a:t>
              </a:r>
            </a:p>
          </p:txBody>
        </p:sp>
        <p:sp>
          <p:nvSpPr>
            <p:cNvPr id="20" name="TextBox 20"/>
            <p:cNvSpPr txBox="1"/>
            <p:nvPr/>
          </p:nvSpPr>
          <p:spPr>
            <a:xfrm>
              <a:off x="1331404" y="4386739"/>
              <a:ext cx="438671" cy="190690"/>
            </a:xfrm>
            <a:prstGeom prst="rect">
              <a:avLst/>
            </a:prstGeom>
            <a:noFill/>
            <a:ln>
              <a:noFill/>
            </a:ln>
          </p:spPr>
          <p:txBody>
            <a:bodyPr wrap="none" lIns="0" tIns="0" rIns="0" bIns="0" anchor="t" anchorCtr="0">
              <a:spAutoFit/>
            </a:bodyPr>
            <a:lstStyle/>
            <a:p>
              <a:pPr algn="l"/>
              <a:r>
                <a:rPr lang="en-US" sz="980" dirty="0">
                  <a:solidFill>
                    <a:srgbClr val="1F2937"/>
                  </a:solidFill>
                  <a:latin typeface="+mn-lt"/>
                  <a:ea typeface="+mn-ea"/>
                  <a:cs typeface="+mn-cs"/>
                </a:rPr>
                <a:t>main()</a:t>
              </a:r>
            </a:p>
          </p:txBody>
        </p:sp>
        <p:sp>
          <p:nvSpPr>
            <p:cNvPr id="21" name="TextBox 21"/>
            <p:cNvSpPr txBox="1"/>
            <p:nvPr/>
          </p:nvSpPr>
          <p:spPr>
            <a:xfrm>
              <a:off x="4151011" y="2888932"/>
              <a:ext cx="556229"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Building</a:t>
              </a:r>
            </a:p>
          </p:txBody>
        </p:sp>
        <p:sp>
          <p:nvSpPr>
            <p:cNvPr id="22" name="TextBox 22"/>
            <p:cNvSpPr txBox="1"/>
            <p:nvPr/>
          </p:nvSpPr>
          <p:spPr>
            <a:xfrm>
              <a:off x="3602164" y="3148489"/>
              <a:ext cx="1111377" cy="1071753"/>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-type: String</a:t>
              </a:r>
              <a:br/>
              <a:r>
                <a:rPr lang="en-US" sz="980" dirty="0">
                  <a:solidFill>
                    <a:srgbClr val="1F2937"/>
                  </a:solidFill>
                  <a:latin typeface="+mn-lt"/>
                  <a:ea typeface="+mn-ea"/>
                  <a:cs typeface="+mn-cs"/>
                </a:rPr>
                <a:t>-category: String</a:t>
              </a:r>
              <a:br/>
              <a:r>
                <a:rPr lang="en-US" sz="980" dirty="0">
                  <a:solidFill>
                    <a:srgbClr val="1F2937"/>
                  </a:solidFill>
                  <a:latin typeface="+mn-lt"/>
                  <a:ea typeface="+mn-ea"/>
                  <a:cs typeface="+mn-cs"/>
                </a:rPr>
                <a:t>-HOUSE: String</a:t>
              </a:r>
              <a:br/>
              <a:r>
                <a:rPr lang="en-US" sz="980" dirty="0">
                  <a:solidFill>
                    <a:srgbClr val="1F2937"/>
                  </a:solidFill>
                  <a:latin typeface="+mn-lt"/>
                  <a:ea typeface="+mn-ea"/>
                  <a:cs typeface="+mn-cs"/>
                </a:rPr>
                <a:t>-CONDO: String</a:t>
              </a:r>
              <a:br/>
              <a:r>
                <a:rPr lang="en-US" sz="980" dirty="0">
                  <a:solidFill>
                    <a:srgbClr val="1F2937"/>
                  </a:solidFill>
                  <a:latin typeface="+mn-lt"/>
                  <a:ea typeface="+mn-ea"/>
                  <a:cs typeface="+mn-cs"/>
                </a:rPr>
                <a:t>-SUPER: String</a:t>
              </a:r>
              <a:br/>
              <a:r>
                <a:rPr lang="en-US" sz="980" dirty="0">
                  <a:solidFill>
                    <a:srgbClr val="1F2937"/>
                  </a:solidFill>
                  <a:latin typeface="+mn-lt"/>
                  <a:ea typeface="+mn-ea"/>
                  <a:cs typeface="+mn-cs"/>
                </a:rPr>
                <a:t>-MEDIUM: String</a:t>
              </a:r>
            </a:p>
          </p:txBody>
        </p:sp>
        <p:sp>
          <p:nvSpPr>
            <p:cNvPr id="23" name="TextBox 23"/>
            <p:cNvSpPr txBox="1"/>
            <p:nvPr/>
          </p:nvSpPr>
          <p:spPr>
            <a:xfrm>
              <a:off x="3602164" y="4299109"/>
              <a:ext cx="1652778" cy="1424178"/>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+getHouseInfo(): void</a:t>
              </a:r>
              <a:br/>
              <a:r>
                <a:rPr lang="en-US" sz="980" dirty="0">
                  <a:solidFill>
                    <a:srgbClr val="1F2937"/>
                  </a:solidFill>
                  <a:latin typeface="+mn-lt"/>
                  <a:ea typeface="+mn-ea"/>
                  <a:cs typeface="+mn-cs"/>
                </a:rPr>
                <a:t>+getCondoInfo(): void</a:t>
              </a:r>
              <a:br/>
              <a:r>
                <a:rPr lang="en-US" sz="980" dirty="0">
                  <a:solidFill>
                    <a:srgbClr val="1F2937"/>
                  </a:solidFill>
                  <a:latin typeface="+mn-lt"/>
                  <a:ea typeface="+mn-ea"/>
                  <a:cs typeface="+mn-cs"/>
                </a:rPr>
                <a:t>+showHousePicture(): void</a:t>
              </a:r>
              <a:br/>
              <a:r>
                <a:rPr lang="en-US" sz="980" dirty="0">
                  <a:solidFill>
                    <a:srgbClr val="1F2937"/>
                  </a:solidFill>
                  <a:latin typeface="+mn-lt"/>
                  <a:ea typeface="+mn-ea"/>
                  <a:cs typeface="+mn-cs"/>
                </a:rPr>
                <a:t>+showCondoPicture(): void</a:t>
              </a:r>
              <a:br/>
              <a:r>
                <a:rPr lang="en-US" sz="980" dirty="0">
                  <a:solidFill>
                    <a:srgbClr val="1F2937"/>
                  </a:solidFill>
                  <a:latin typeface="+mn-lt"/>
                  <a:ea typeface="+mn-ea"/>
                  <a:cs typeface="+mn-cs"/>
                </a:rPr>
                <a:t>+getType(): String</a:t>
              </a:r>
              <a:br/>
              <a:r>
                <a:rPr lang="en-US" sz="980" dirty="0">
                  <a:solidFill>
                    <a:srgbClr val="1F2937"/>
                  </a:solidFill>
                  <a:latin typeface="+mn-lt"/>
                  <a:ea typeface="+mn-ea"/>
                  <a:cs typeface="+mn-cs"/>
                </a:rPr>
                <a:t>+setType(): String</a:t>
              </a:r>
              <a:br/>
              <a:r>
                <a:rPr lang="en-US" sz="980" dirty="0">
                  <a:solidFill>
                    <a:srgbClr val="1F2937"/>
                  </a:solidFill>
                  <a:latin typeface="+mn-lt"/>
                  <a:ea typeface="+mn-ea"/>
                  <a:cs typeface="+mn-cs"/>
                </a:rPr>
                <a:t>+getLevel(): String</a:t>
              </a:r>
              <a:br/>
              <a:r>
                <a:rPr lang="en-US" sz="980" dirty="0">
                  <a:solidFill>
                    <a:srgbClr val="1F2937"/>
                  </a:solidFill>
                  <a:latin typeface="+mn-lt"/>
                  <a:ea typeface="+mn-ea"/>
                  <a:cs typeface="+mn-cs"/>
                </a:rPr>
                <a:t>+setLevel(): String</a:t>
              </a:r>
            </a:p>
          </p:txBody>
        </p:sp>
      </p:grpSp>
      <p:grpSp>
        <p:nvGrpSpPr>
          <p:cNvPr id="34" name="c2-bullets-1"/>
          <p:cNvGrpSpPr/>
          <p:nvPr/>
        </p:nvGrpSpPr>
        <p:grpSpPr>
          <a:xfrm>
            <a:off x="6024562" y="2282190"/>
            <a:ext cx="5406390" cy="2539365"/>
            <a:chOff x="6024562" y="2282190"/>
            <a:chExt cx="5406390" cy="2539365"/>
          </a:xfrm>
        </p:grpSpPr>
        <p:sp>
          <p:nvSpPr>
            <p:cNvPr id="25" name="TextBox 25"/>
            <p:cNvSpPr txBox="1"/>
            <p:nvPr/>
          </p:nvSpPr>
          <p:spPr>
            <a:xfrm>
              <a:off x="6024562" y="2282190"/>
              <a:ext cx="163068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针对原设计的分析</a:t>
              </a:r>
            </a:p>
          </p:txBody>
        </p:sp>
        <p:sp>
          <p:nvSpPr>
            <p:cNvPr id="26" name="Freeform 26"/>
            <p:cNvSpPr/>
            <p:nvPr/>
          </p:nvSpPr>
          <p:spPr>
            <a:xfrm>
              <a:off x="6032182" y="2672715"/>
              <a:ext cx="114300" cy="114300"/>
            </a:xfrm>
            <a:custGeom>
              <a:avLst/>
              <a:gdLst/>
              <a:ahLst/>
              <a:cxnLst/>
              <a:rect l="l" t="t" r="r" b="b"/>
              <a:pathLst>
                <a:path w="114300" h="114300">
                  <a:moveTo>
                    <a:pt x="0" y="0"/>
                  </a:moveTo>
                  <a:lnTo>
                    <a:pt x="114300" y="114300"/>
                  </a:lnTo>
                  <a:moveTo>
                    <a:pt x="114300" y="0"/>
                  </a:moveTo>
                  <a:lnTo>
                    <a:pt x="0" y="114300"/>
                  </a:lnTo>
                </a:path>
              </a:pathLst>
            </a:custGeom>
            <a:noFill/>
            <a:ln w="24765" cap="rnd">
              <a:solidFill>
                <a:srgbClr val="B42318"/>
              </a:solidFill>
            </a:ln>
          </p:spPr>
        </p:sp>
        <p:sp>
          <p:nvSpPr>
            <p:cNvPr id="27" name="TextBox 27"/>
            <p:cNvSpPr txBox="1"/>
            <p:nvPr/>
          </p:nvSpPr>
          <p:spPr>
            <a:xfrm>
              <a:off x="6272212" y="2636520"/>
              <a:ext cx="505396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Building 类把一栋建筑的全部特征都封装了进来，包括 type</a:t>
              </a:r>
              <a:br/>
              <a:r>
                <a:rPr lang="zh-CN" sz="1500" dirty="0">
                  <a:solidFill>
                    <a:srgbClr val="1F2937"/>
                  </a:solidFill>
                  <a:latin typeface="+mn-lt"/>
                  <a:ea typeface="+mn-ea"/>
                  <a:cs typeface="+mn-cs"/>
                </a:rPr>
                <a:t>（house、condo）和 category（Super、Medium）</a:t>
              </a:r>
            </a:p>
          </p:txBody>
        </p:sp>
        <p:sp>
          <p:nvSpPr>
            <p:cNvPr id="28" name="Freeform 28"/>
            <p:cNvSpPr/>
            <p:nvPr/>
          </p:nvSpPr>
          <p:spPr>
            <a:xfrm>
              <a:off x="6032182" y="3303270"/>
              <a:ext cx="114300" cy="114300"/>
            </a:xfrm>
            <a:custGeom>
              <a:avLst/>
              <a:gdLst/>
              <a:ahLst/>
              <a:cxnLst/>
              <a:rect l="l" t="t" r="r" b="b"/>
              <a:pathLst>
                <a:path w="114300" h="114300">
                  <a:moveTo>
                    <a:pt x="0" y="0"/>
                  </a:moveTo>
                  <a:lnTo>
                    <a:pt x="114300" y="114300"/>
                  </a:lnTo>
                  <a:moveTo>
                    <a:pt x="114300" y="0"/>
                  </a:moveTo>
                  <a:lnTo>
                    <a:pt x="0" y="114300"/>
                  </a:lnTo>
                </a:path>
              </a:pathLst>
            </a:custGeom>
            <a:noFill/>
            <a:ln w="24765" cap="rnd">
              <a:solidFill>
                <a:srgbClr val="B42318"/>
              </a:solidFill>
            </a:ln>
          </p:spPr>
        </p:sp>
        <p:sp>
          <p:nvSpPr>
            <p:cNvPr id="29" name="TextBox 29"/>
            <p:cNvSpPr txBox="1"/>
            <p:nvPr/>
          </p:nvSpPr>
          <p:spPr>
            <a:xfrm>
              <a:off x="6272212" y="3267075"/>
              <a:ext cx="5158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这个类的主要功能只是展示某一种类型某一档次的建筑信息，</a:t>
              </a:r>
              <a:br/>
              <a:r>
                <a:rPr lang="zh-CN" sz="1500" dirty="0">
                  <a:solidFill>
                    <a:srgbClr val="1F2937"/>
                  </a:solidFill>
                  <a:latin typeface="+mn-lt"/>
                  <a:ea typeface="+mn-ea"/>
                  <a:cs typeface="+mn-cs"/>
                </a:rPr>
                <a:t>却承担了过多责任</a:t>
              </a:r>
            </a:p>
          </p:txBody>
        </p:sp>
        <p:sp>
          <p:nvSpPr>
            <p:cNvPr id="30" name="Freeform 30"/>
            <p:cNvSpPr/>
            <p:nvPr/>
          </p:nvSpPr>
          <p:spPr>
            <a:xfrm>
              <a:off x="6032182" y="3933825"/>
              <a:ext cx="114300" cy="114300"/>
            </a:xfrm>
            <a:custGeom>
              <a:avLst/>
              <a:gdLst/>
              <a:ahLst/>
              <a:cxnLst/>
              <a:rect l="l" t="t" r="r" b="b"/>
              <a:pathLst>
                <a:path w="114300" h="114300">
                  <a:moveTo>
                    <a:pt x="0" y="0"/>
                  </a:moveTo>
                  <a:lnTo>
                    <a:pt x="114300" y="114300"/>
                  </a:lnTo>
                  <a:moveTo>
                    <a:pt x="114300" y="0"/>
                  </a:moveTo>
                  <a:lnTo>
                    <a:pt x="0" y="114300"/>
                  </a:lnTo>
                </a:path>
              </a:pathLst>
            </a:custGeom>
            <a:noFill/>
            <a:ln w="24765" cap="rnd">
              <a:solidFill>
                <a:srgbClr val="B42318"/>
              </a:solidFill>
            </a:ln>
          </p:spPr>
        </p:sp>
        <p:sp>
          <p:nvSpPr>
            <p:cNvPr id="31" name="TextBox 31"/>
            <p:cNvSpPr txBox="1"/>
            <p:nvPr/>
          </p:nvSpPr>
          <p:spPr>
            <a:xfrm>
              <a:off x="6272212" y="3897630"/>
              <a:ext cx="4015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只想看 condo 的客户被迫依赖 getHouseInfo、</a:t>
              </a:r>
              <a:br/>
              <a:r>
                <a:rPr lang="zh-CN" sz="1500" dirty="0">
                  <a:solidFill>
                    <a:srgbClr val="1F2937"/>
                  </a:solidFill>
                  <a:latin typeface="+mn-lt"/>
                  <a:ea typeface="+mn-ea"/>
                  <a:cs typeface="+mn-cs"/>
                </a:rPr>
                <a:t>showHousePicture 等方法</a:t>
              </a:r>
            </a:p>
          </p:txBody>
        </p:sp>
        <p:sp>
          <p:nvSpPr>
            <p:cNvPr id="32" name="Freeform 32"/>
            <p:cNvSpPr/>
            <p:nvPr/>
          </p:nvSpPr>
          <p:spPr>
            <a:xfrm>
              <a:off x="6032182" y="4564380"/>
              <a:ext cx="114300" cy="114300"/>
            </a:xfrm>
            <a:custGeom>
              <a:avLst/>
              <a:gdLst/>
              <a:ahLst/>
              <a:cxnLst/>
              <a:rect l="l" t="t" r="r" b="b"/>
              <a:pathLst>
                <a:path w="114300" h="114300">
                  <a:moveTo>
                    <a:pt x="0" y="0"/>
                  </a:moveTo>
                  <a:lnTo>
                    <a:pt x="114300" y="114300"/>
                  </a:lnTo>
                  <a:moveTo>
                    <a:pt x="114300" y="0"/>
                  </a:moveTo>
                  <a:lnTo>
                    <a:pt x="0" y="114300"/>
                  </a:lnTo>
                </a:path>
              </a:pathLst>
            </a:custGeom>
            <a:noFill/>
            <a:ln w="24765" cap="rnd">
              <a:solidFill>
                <a:srgbClr val="B42318"/>
              </a:solidFill>
            </a:ln>
          </p:spPr>
        </p:sp>
        <p:sp>
          <p:nvSpPr>
            <p:cNvPr id="33" name="TextBox 33"/>
            <p:cNvSpPr txBox="1"/>
            <p:nvPr/>
          </p:nvSpPr>
          <p:spPr>
            <a:xfrm>
              <a:off x="6272212" y="4528185"/>
              <a:ext cx="506349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要加第三种房型，得往这个类里再塞一组方法和一组常量</a:t>
              </a:r>
            </a:p>
          </p:txBody>
        </p:sp>
      </p:grpSp>
      <p:grpSp>
        <p:nvGrpSpPr>
          <p:cNvPr id="40" name="c2-callout-2"/>
          <p:cNvGrpSpPr/>
          <p:nvPr/>
        </p:nvGrpSpPr>
        <p:grpSpPr>
          <a:xfrm>
            <a:off x="6032182" y="4953000"/>
            <a:ext cx="5626418" cy="1352550"/>
            <a:chOff x="6032182" y="4953000"/>
            <a:chExt cx="5626418" cy="1352550"/>
          </a:xfrm>
        </p:grpSpPr>
        <p:sp>
          <p:nvSpPr>
            <p:cNvPr id="35" name="Rectangle 35"/>
            <p:cNvSpPr/>
            <p:nvPr/>
          </p:nvSpPr>
          <p:spPr>
            <a:xfrm>
              <a:off x="6032182" y="4953000"/>
              <a:ext cx="5626418" cy="1352550"/>
            </a:xfrm>
            <a:prstGeom prst="roundRect">
              <a:avLst>
                <a:gd name="adj" fmla="val 8451"/>
              </a:avLst>
            </a:prstGeom>
            <a:solidFill>
              <a:srgbClr val="334E68"/>
            </a:solidFill>
            <a:ln>
              <a:noFill/>
            </a:ln>
          </p:spPr>
        </p:sp>
        <p:grpSp>
          <p:nvGrpSpPr>
            <p:cNvPr id="38" name="Group 38"/>
            <p:cNvGrpSpPr/>
            <p:nvPr/>
          </p:nvGrpSpPr>
          <p:grpSpPr>
            <a:xfrm>
              <a:off x="6236970" y="5529265"/>
              <a:ext cx="200023" cy="200023"/>
              <a:chOff x="6236970" y="5529265"/>
              <a:chExt cx="200023" cy="200023"/>
            </a:xfrm>
          </p:grpSpPr>
          <p:sp>
            <p:nvSpPr>
              <p:cNvPr id="36" name="Freeform 36"/>
              <p:cNvSpPr/>
              <p:nvPr/>
            </p:nvSpPr>
            <p:spPr>
              <a:xfrm>
                <a:off x="6236970" y="552926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37" name="Freeform 37"/>
              <p:cNvSpPr/>
              <p:nvPr/>
            </p:nvSpPr>
            <p:spPr>
              <a:xfrm>
                <a:off x="6370320" y="559593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39" name="TextBox 39"/>
            <p:cNvSpPr txBox="1"/>
            <p:nvPr/>
          </p:nvSpPr>
          <p:spPr>
            <a:xfrm>
              <a:off x="6538912" y="5248275"/>
              <a:ext cx="4625340" cy="845820"/>
            </a:xfrm>
            <a:prstGeom prst="rect">
              <a:avLst/>
            </a:prstGeom>
            <a:noFill/>
            <a:ln>
              <a:noFill/>
            </a:ln>
          </p:spPr>
          <p:txBody>
            <a:bodyPr wrap="none" lIns="0" tIns="0" rIns="0" bIns="0" anchor="t" anchorCtr="0">
              <a:spAutoFit/>
            </a:bodyPr>
            <a:lstStyle/>
            <a:p>
              <a:pPr algn="l">
                <a:lnSpc>
                  <a:spcPts val="2175"/>
                </a:lnSpc>
              </a:pPr>
              <a:r>
                <a:rPr lang="en-US" sz="1500" dirty="0">
                  <a:solidFill>
                    <a:srgbClr val="FFFFFF"/>
                  </a:solidFill>
                  <a:latin typeface="+mn-lt"/>
                  <a:ea typeface="+mn-ea"/>
                  <a:cs typeface="+mn-cs"/>
                </a:rPr>
                <a:t>According to the interface segregation principle,</a:t>
              </a:r>
              <a:br/>
              <a:r>
                <a:rPr lang="en-US" sz="1500" dirty="0">
                  <a:solidFill>
                    <a:srgbClr val="FFFFFF"/>
                  </a:solidFill>
                  <a:latin typeface="+mn-lt"/>
                  <a:ea typeface="+mn-ea"/>
                  <a:cs typeface="+mn-cs"/>
                </a:rPr>
                <a:t>the Building class can be redesigned into several</a:t>
              </a:r>
              <a:br/>
              <a:r>
                <a:rPr lang="zh-CN" sz="1500" dirty="0">
                  <a:solidFill>
                    <a:srgbClr val="FFFFFF"/>
                  </a:solidFill>
                  <a:latin typeface="+mn-lt"/>
                  <a:ea typeface="+mn-ea"/>
                  <a:cs typeface="+mn-cs"/>
                </a:rPr>
                <a:t>smaller classes：按房型拆接口，按档次拆实现类。</a:t>
              </a:r>
            </a:p>
          </p:txBody>
        </p:sp>
      </p:grpSp>
      <p:grpSp>
        <p:nvGrpSpPr>
          <p:cNvPr id="43" name="footer"/>
          <p:cNvGrpSpPr/>
          <p:nvPr/>
        </p:nvGrpSpPr>
        <p:grpSpPr>
          <a:xfrm>
            <a:off x="528447" y="6581299"/>
            <a:ext cx="11135106" cy="190690"/>
            <a:chOff x="528447" y="6581299"/>
            <a:chExt cx="11135106" cy="190690"/>
          </a:xfrm>
        </p:grpSpPr>
        <p:sp>
          <p:nvSpPr>
            <p:cNvPr id="41" name="TextBox 41"/>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42" name="TextBox 4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24</a:t>
              </a:r>
            </a:p>
          </p:txBody>
        </p:sp>
      </p:gr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76197" cy="909257"/>
            <a:chOff x="520446" y="342900"/>
            <a:chExt cx="6276197" cy="909257"/>
          </a:xfrm>
        </p:grpSpPr>
        <p:sp>
          <p:nvSpPr>
            <p:cNvPr id="2" name="Rectangle 2"/>
            <p:cNvSpPr/>
            <p:nvPr/>
          </p:nvSpPr>
          <p:spPr>
            <a:xfrm>
              <a:off x="533400" y="342900"/>
              <a:ext cx="2660332" cy="266700"/>
            </a:xfrm>
            <a:prstGeom prst="roundRect">
              <a:avLst>
                <a:gd name="adj" fmla="val 50000"/>
              </a:avLst>
            </a:prstGeom>
            <a:solidFill>
              <a:srgbClr val="E7EDF3"/>
            </a:solidFill>
            <a:ln>
              <a:noFill/>
            </a:ln>
          </p:spPr>
        </p:sp>
        <p:sp>
          <p:nvSpPr>
            <p:cNvPr id="3" name="TextBox 3"/>
            <p:cNvSpPr txBox="1"/>
            <p:nvPr/>
          </p:nvSpPr>
          <p:spPr>
            <a:xfrm>
              <a:off x="570203" y="407194"/>
              <a:ext cx="25857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SOLID 五原则</a:t>
              </a:r>
            </a:p>
          </p:txBody>
        </p:sp>
        <p:sp>
          <p:nvSpPr>
            <p:cNvPr id="4" name="TextBox 4"/>
            <p:cNvSpPr txBox="1"/>
            <p:nvPr/>
          </p:nvSpPr>
          <p:spPr>
            <a:xfrm>
              <a:off x="520446" y="753428"/>
              <a:ext cx="627619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 5 改进：按房型拆接口，按档次拆实现</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53" name="c1-uml-1"/>
          <p:cNvGrpSpPr/>
          <p:nvPr/>
        </p:nvGrpSpPr>
        <p:grpSpPr>
          <a:xfrm>
            <a:off x="798195" y="1790700"/>
            <a:ext cx="6178867" cy="2347913"/>
            <a:chOff x="798195" y="1790700"/>
            <a:chExt cx="6178867" cy="2347913"/>
          </a:xfrm>
        </p:grpSpPr>
        <p:sp>
          <p:nvSpPr>
            <p:cNvPr id="7" name="Freeform 7"/>
            <p:cNvSpPr/>
            <p:nvPr/>
          </p:nvSpPr>
          <p:spPr>
            <a:xfrm>
              <a:off x="1276350" y="2861310"/>
              <a:ext cx="95250" cy="481965"/>
            </a:xfrm>
            <a:custGeom>
              <a:avLst/>
              <a:gdLst/>
              <a:ahLst/>
              <a:cxnLst/>
              <a:rect l="l" t="t" r="r" b="b"/>
              <a:pathLst>
                <a:path w="95250" h="481965">
                  <a:moveTo>
                    <a:pt x="95250" y="481965"/>
                  </a:moveTo>
                  <a:lnTo>
                    <a:pt x="95250" y="178118"/>
                  </a:lnTo>
                  <a:lnTo>
                    <a:pt x="0" y="178118"/>
                  </a:lnTo>
                  <a:lnTo>
                    <a:pt x="0" y="0"/>
                  </a:lnTo>
                </a:path>
              </a:pathLst>
            </a:custGeom>
            <a:noFill/>
            <a:ln w="15240">
              <a:solidFill>
                <a:srgbClr val="1F2937"/>
              </a:solidFill>
              <a:custDash>
                <a:ds d="375000" sp="250000"/>
              </a:custDash>
            </a:ln>
          </p:spPr>
        </p:sp>
        <p:sp>
          <p:nvSpPr>
            <p:cNvPr id="8" name="Freeform 8"/>
            <p:cNvSpPr/>
            <p:nvPr/>
          </p:nvSpPr>
          <p:spPr>
            <a:xfrm>
              <a:off x="1203008" y="2735580"/>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9" name="Freeform 9"/>
            <p:cNvSpPr/>
            <p:nvPr/>
          </p:nvSpPr>
          <p:spPr>
            <a:xfrm>
              <a:off x="1466850" y="2861310"/>
              <a:ext cx="1582103" cy="481965"/>
            </a:xfrm>
            <a:custGeom>
              <a:avLst/>
              <a:gdLst/>
              <a:ahLst/>
              <a:cxnLst/>
              <a:rect l="l" t="t" r="r" b="b"/>
              <a:pathLst>
                <a:path w="1582103" h="481965">
                  <a:moveTo>
                    <a:pt x="1582103" y="481965"/>
                  </a:moveTo>
                  <a:lnTo>
                    <a:pt x="1582103" y="178118"/>
                  </a:lnTo>
                  <a:lnTo>
                    <a:pt x="0" y="178118"/>
                  </a:lnTo>
                  <a:lnTo>
                    <a:pt x="0" y="0"/>
                  </a:lnTo>
                </a:path>
              </a:pathLst>
            </a:custGeom>
            <a:noFill/>
            <a:ln w="15240">
              <a:solidFill>
                <a:srgbClr val="1F2937"/>
              </a:solidFill>
              <a:custDash>
                <a:ds d="375000" sp="250000"/>
              </a:custDash>
            </a:ln>
          </p:spPr>
        </p:sp>
        <p:sp>
          <p:nvSpPr>
            <p:cNvPr id="10" name="Freeform 10"/>
            <p:cNvSpPr/>
            <p:nvPr/>
          </p:nvSpPr>
          <p:spPr>
            <a:xfrm>
              <a:off x="1393508" y="2735580"/>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11" name="Freeform 11"/>
            <p:cNvSpPr/>
            <p:nvPr/>
          </p:nvSpPr>
          <p:spPr>
            <a:xfrm>
              <a:off x="4631055" y="2861310"/>
              <a:ext cx="95250" cy="481965"/>
            </a:xfrm>
            <a:custGeom>
              <a:avLst/>
              <a:gdLst/>
              <a:ahLst/>
              <a:cxnLst/>
              <a:rect l="l" t="t" r="r" b="b"/>
              <a:pathLst>
                <a:path w="95250" h="481965">
                  <a:moveTo>
                    <a:pt x="95250" y="481965"/>
                  </a:moveTo>
                  <a:lnTo>
                    <a:pt x="95250" y="178118"/>
                  </a:lnTo>
                  <a:lnTo>
                    <a:pt x="0" y="178118"/>
                  </a:lnTo>
                  <a:lnTo>
                    <a:pt x="0" y="0"/>
                  </a:lnTo>
                </a:path>
              </a:pathLst>
            </a:custGeom>
            <a:noFill/>
            <a:ln w="15240">
              <a:solidFill>
                <a:srgbClr val="1F2937"/>
              </a:solidFill>
              <a:custDash>
                <a:ds d="375000" sp="250000"/>
              </a:custDash>
            </a:ln>
          </p:spPr>
        </p:sp>
        <p:sp>
          <p:nvSpPr>
            <p:cNvPr id="12" name="Freeform 12"/>
            <p:cNvSpPr/>
            <p:nvPr/>
          </p:nvSpPr>
          <p:spPr>
            <a:xfrm>
              <a:off x="4557712" y="2735580"/>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13" name="Freeform 13"/>
            <p:cNvSpPr/>
            <p:nvPr/>
          </p:nvSpPr>
          <p:spPr>
            <a:xfrm>
              <a:off x="4821555" y="2861310"/>
              <a:ext cx="1582102" cy="481965"/>
            </a:xfrm>
            <a:custGeom>
              <a:avLst/>
              <a:gdLst/>
              <a:ahLst/>
              <a:cxnLst/>
              <a:rect l="l" t="t" r="r" b="b"/>
              <a:pathLst>
                <a:path w="1582102" h="481965">
                  <a:moveTo>
                    <a:pt x="1582102" y="481965"/>
                  </a:moveTo>
                  <a:lnTo>
                    <a:pt x="1582102" y="178118"/>
                  </a:lnTo>
                  <a:lnTo>
                    <a:pt x="0" y="178118"/>
                  </a:lnTo>
                  <a:lnTo>
                    <a:pt x="0" y="0"/>
                  </a:lnTo>
                </a:path>
              </a:pathLst>
            </a:custGeom>
            <a:noFill/>
            <a:ln w="15240">
              <a:solidFill>
                <a:srgbClr val="1F2937"/>
              </a:solidFill>
              <a:custDash>
                <a:ds d="375000" sp="250000"/>
              </a:custDash>
            </a:ln>
          </p:spPr>
        </p:sp>
        <p:sp>
          <p:nvSpPr>
            <p:cNvPr id="14" name="Freeform 14"/>
            <p:cNvSpPr/>
            <p:nvPr/>
          </p:nvSpPr>
          <p:spPr>
            <a:xfrm>
              <a:off x="4748212" y="2735580"/>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15" name="Rectangle 15"/>
            <p:cNvSpPr/>
            <p:nvPr/>
          </p:nvSpPr>
          <p:spPr>
            <a:xfrm>
              <a:off x="798195" y="1790700"/>
              <a:ext cx="1147762" cy="943928"/>
            </a:xfrm>
            <a:prstGeom prst="rect">
              <a:avLst/>
            </a:prstGeom>
            <a:solidFill>
              <a:srgbClr val="FFFFFF"/>
            </a:solidFill>
            <a:ln w="14288">
              <a:solidFill>
                <a:srgbClr val="334E68"/>
              </a:solidFill>
            </a:ln>
          </p:spPr>
        </p:sp>
        <p:sp>
          <p:nvSpPr>
            <p:cNvPr id="16" name="Rectangle 16"/>
            <p:cNvSpPr/>
            <p:nvPr/>
          </p:nvSpPr>
          <p:spPr>
            <a:xfrm>
              <a:off x="804862" y="1798320"/>
              <a:ext cx="1133475" cy="394335"/>
            </a:xfrm>
            <a:prstGeom prst="rect">
              <a:avLst/>
            </a:prstGeom>
            <a:solidFill>
              <a:srgbClr val="E7EDF3"/>
            </a:solidFill>
            <a:ln>
              <a:noFill/>
            </a:ln>
          </p:spPr>
        </p:sp>
        <p:sp>
          <p:nvSpPr>
            <p:cNvPr id="17" name="Rectangle 17"/>
            <p:cNvSpPr/>
            <p:nvPr/>
          </p:nvSpPr>
          <p:spPr>
            <a:xfrm>
              <a:off x="798195" y="2187892"/>
              <a:ext cx="1147762" cy="9525"/>
            </a:xfrm>
            <a:prstGeom prst="rect">
              <a:avLst/>
            </a:prstGeom>
            <a:solidFill>
              <a:srgbClr val="334E68"/>
            </a:solidFill>
            <a:ln>
              <a:noFill/>
            </a:ln>
          </p:spPr>
        </p:sp>
        <p:sp>
          <p:nvSpPr>
            <p:cNvPr id="18" name="Rectangle 18"/>
            <p:cNvSpPr/>
            <p:nvPr/>
          </p:nvSpPr>
          <p:spPr>
            <a:xfrm>
              <a:off x="798195" y="2283142"/>
              <a:ext cx="1147762" cy="9525"/>
            </a:xfrm>
            <a:prstGeom prst="rect">
              <a:avLst/>
            </a:prstGeom>
            <a:solidFill>
              <a:srgbClr val="334E68"/>
            </a:solidFill>
            <a:ln>
              <a:noFill/>
            </a:ln>
          </p:spPr>
        </p:sp>
        <p:sp>
          <p:nvSpPr>
            <p:cNvPr id="19" name="Rectangle 19"/>
            <p:cNvSpPr/>
            <p:nvPr/>
          </p:nvSpPr>
          <p:spPr>
            <a:xfrm>
              <a:off x="4151948" y="1790700"/>
              <a:ext cx="1147762" cy="943928"/>
            </a:xfrm>
            <a:prstGeom prst="rect">
              <a:avLst/>
            </a:prstGeom>
            <a:solidFill>
              <a:srgbClr val="FFFFFF"/>
            </a:solidFill>
            <a:ln w="14288">
              <a:solidFill>
                <a:srgbClr val="334E68"/>
              </a:solidFill>
            </a:ln>
          </p:spPr>
        </p:sp>
        <p:sp>
          <p:nvSpPr>
            <p:cNvPr id="20" name="Rectangle 20"/>
            <p:cNvSpPr/>
            <p:nvPr/>
          </p:nvSpPr>
          <p:spPr>
            <a:xfrm>
              <a:off x="4159568" y="1798320"/>
              <a:ext cx="1133475" cy="394335"/>
            </a:xfrm>
            <a:prstGeom prst="rect">
              <a:avLst/>
            </a:prstGeom>
            <a:solidFill>
              <a:srgbClr val="E7EDF3"/>
            </a:solidFill>
            <a:ln>
              <a:noFill/>
            </a:ln>
          </p:spPr>
        </p:sp>
        <p:sp>
          <p:nvSpPr>
            <p:cNvPr id="21" name="Rectangle 21"/>
            <p:cNvSpPr/>
            <p:nvPr/>
          </p:nvSpPr>
          <p:spPr>
            <a:xfrm>
              <a:off x="4151948" y="2187892"/>
              <a:ext cx="1147762" cy="9525"/>
            </a:xfrm>
            <a:prstGeom prst="rect">
              <a:avLst/>
            </a:prstGeom>
            <a:solidFill>
              <a:srgbClr val="334E68"/>
            </a:solidFill>
            <a:ln>
              <a:noFill/>
            </a:ln>
          </p:spPr>
        </p:sp>
        <p:sp>
          <p:nvSpPr>
            <p:cNvPr id="22" name="Rectangle 22"/>
            <p:cNvSpPr/>
            <p:nvPr/>
          </p:nvSpPr>
          <p:spPr>
            <a:xfrm>
              <a:off x="4151948" y="2283142"/>
              <a:ext cx="1147762" cy="9525"/>
            </a:xfrm>
            <a:prstGeom prst="rect">
              <a:avLst/>
            </a:prstGeom>
            <a:solidFill>
              <a:srgbClr val="334E68"/>
            </a:solidFill>
            <a:ln>
              <a:noFill/>
            </a:ln>
          </p:spPr>
        </p:sp>
        <p:sp>
          <p:nvSpPr>
            <p:cNvPr id="23" name="Rectangle 23"/>
            <p:cNvSpPr/>
            <p:nvPr/>
          </p:nvSpPr>
          <p:spPr>
            <a:xfrm>
              <a:off x="798195" y="3343275"/>
              <a:ext cx="1147762" cy="795338"/>
            </a:xfrm>
            <a:prstGeom prst="rect">
              <a:avLst/>
            </a:prstGeom>
            <a:solidFill>
              <a:srgbClr val="FFFFFF"/>
            </a:solidFill>
            <a:ln w="14288">
              <a:solidFill>
                <a:srgbClr val="334E68"/>
              </a:solidFill>
            </a:ln>
          </p:spPr>
        </p:sp>
        <p:sp>
          <p:nvSpPr>
            <p:cNvPr id="24" name="Rectangle 24"/>
            <p:cNvSpPr/>
            <p:nvPr/>
          </p:nvSpPr>
          <p:spPr>
            <a:xfrm>
              <a:off x="804862" y="3350895"/>
              <a:ext cx="1133475" cy="245745"/>
            </a:xfrm>
            <a:prstGeom prst="rect">
              <a:avLst/>
            </a:prstGeom>
            <a:solidFill>
              <a:srgbClr val="E7EDF3"/>
            </a:solidFill>
            <a:ln>
              <a:noFill/>
            </a:ln>
          </p:spPr>
        </p:sp>
        <p:sp>
          <p:nvSpPr>
            <p:cNvPr id="25" name="Rectangle 25"/>
            <p:cNvSpPr/>
            <p:nvPr/>
          </p:nvSpPr>
          <p:spPr>
            <a:xfrm>
              <a:off x="798195" y="3591878"/>
              <a:ext cx="1147762" cy="9525"/>
            </a:xfrm>
            <a:prstGeom prst="rect">
              <a:avLst/>
            </a:prstGeom>
            <a:solidFill>
              <a:srgbClr val="334E68"/>
            </a:solidFill>
            <a:ln>
              <a:noFill/>
            </a:ln>
          </p:spPr>
        </p:sp>
        <p:sp>
          <p:nvSpPr>
            <p:cNvPr id="26" name="Rectangle 26"/>
            <p:cNvSpPr/>
            <p:nvPr/>
          </p:nvSpPr>
          <p:spPr>
            <a:xfrm>
              <a:off x="798195" y="3687128"/>
              <a:ext cx="1147762" cy="9525"/>
            </a:xfrm>
            <a:prstGeom prst="rect">
              <a:avLst/>
            </a:prstGeom>
            <a:solidFill>
              <a:srgbClr val="334E68"/>
            </a:solidFill>
            <a:ln>
              <a:noFill/>
            </a:ln>
          </p:spPr>
        </p:sp>
        <p:sp>
          <p:nvSpPr>
            <p:cNvPr id="27" name="Rectangle 27"/>
            <p:cNvSpPr/>
            <p:nvPr/>
          </p:nvSpPr>
          <p:spPr>
            <a:xfrm>
              <a:off x="2475548" y="3343275"/>
              <a:ext cx="1147762" cy="795338"/>
            </a:xfrm>
            <a:prstGeom prst="rect">
              <a:avLst/>
            </a:prstGeom>
            <a:solidFill>
              <a:srgbClr val="FFFFFF"/>
            </a:solidFill>
            <a:ln w="14288">
              <a:solidFill>
                <a:srgbClr val="334E68"/>
              </a:solidFill>
            </a:ln>
          </p:spPr>
        </p:sp>
        <p:sp>
          <p:nvSpPr>
            <p:cNvPr id="28" name="Rectangle 28"/>
            <p:cNvSpPr/>
            <p:nvPr/>
          </p:nvSpPr>
          <p:spPr>
            <a:xfrm>
              <a:off x="2482215" y="3350895"/>
              <a:ext cx="1133475" cy="245745"/>
            </a:xfrm>
            <a:prstGeom prst="rect">
              <a:avLst/>
            </a:prstGeom>
            <a:solidFill>
              <a:srgbClr val="E7EDF3"/>
            </a:solidFill>
            <a:ln>
              <a:noFill/>
            </a:ln>
          </p:spPr>
        </p:sp>
        <p:sp>
          <p:nvSpPr>
            <p:cNvPr id="29" name="Rectangle 29"/>
            <p:cNvSpPr/>
            <p:nvPr/>
          </p:nvSpPr>
          <p:spPr>
            <a:xfrm>
              <a:off x="2475548" y="3591878"/>
              <a:ext cx="1147762" cy="9525"/>
            </a:xfrm>
            <a:prstGeom prst="rect">
              <a:avLst/>
            </a:prstGeom>
            <a:solidFill>
              <a:srgbClr val="334E68"/>
            </a:solidFill>
            <a:ln>
              <a:noFill/>
            </a:ln>
          </p:spPr>
        </p:sp>
        <p:sp>
          <p:nvSpPr>
            <p:cNvPr id="30" name="Rectangle 30"/>
            <p:cNvSpPr/>
            <p:nvPr/>
          </p:nvSpPr>
          <p:spPr>
            <a:xfrm>
              <a:off x="2475548" y="3687128"/>
              <a:ext cx="1147762" cy="9525"/>
            </a:xfrm>
            <a:prstGeom prst="rect">
              <a:avLst/>
            </a:prstGeom>
            <a:solidFill>
              <a:srgbClr val="334E68"/>
            </a:solidFill>
            <a:ln>
              <a:noFill/>
            </a:ln>
          </p:spPr>
        </p:sp>
        <p:sp>
          <p:nvSpPr>
            <p:cNvPr id="31" name="Rectangle 31"/>
            <p:cNvSpPr/>
            <p:nvPr/>
          </p:nvSpPr>
          <p:spPr>
            <a:xfrm>
              <a:off x="4151948" y="3343275"/>
              <a:ext cx="1147762" cy="795338"/>
            </a:xfrm>
            <a:prstGeom prst="rect">
              <a:avLst/>
            </a:prstGeom>
            <a:solidFill>
              <a:srgbClr val="FFFFFF"/>
            </a:solidFill>
            <a:ln w="14288">
              <a:solidFill>
                <a:srgbClr val="334E68"/>
              </a:solidFill>
            </a:ln>
          </p:spPr>
        </p:sp>
        <p:sp>
          <p:nvSpPr>
            <p:cNvPr id="32" name="Rectangle 32"/>
            <p:cNvSpPr/>
            <p:nvPr/>
          </p:nvSpPr>
          <p:spPr>
            <a:xfrm>
              <a:off x="4159568" y="3350895"/>
              <a:ext cx="1133475" cy="245745"/>
            </a:xfrm>
            <a:prstGeom prst="rect">
              <a:avLst/>
            </a:prstGeom>
            <a:solidFill>
              <a:srgbClr val="E7EDF3"/>
            </a:solidFill>
            <a:ln>
              <a:noFill/>
            </a:ln>
          </p:spPr>
        </p:sp>
        <p:sp>
          <p:nvSpPr>
            <p:cNvPr id="33" name="Rectangle 33"/>
            <p:cNvSpPr/>
            <p:nvPr/>
          </p:nvSpPr>
          <p:spPr>
            <a:xfrm>
              <a:off x="4151948" y="3591878"/>
              <a:ext cx="1147762" cy="9525"/>
            </a:xfrm>
            <a:prstGeom prst="rect">
              <a:avLst/>
            </a:prstGeom>
            <a:solidFill>
              <a:srgbClr val="334E68"/>
            </a:solidFill>
            <a:ln>
              <a:noFill/>
            </a:ln>
          </p:spPr>
        </p:sp>
        <p:sp>
          <p:nvSpPr>
            <p:cNvPr id="34" name="Rectangle 34"/>
            <p:cNvSpPr/>
            <p:nvPr/>
          </p:nvSpPr>
          <p:spPr>
            <a:xfrm>
              <a:off x="4151948" y="3687128"/>
              <a:ext cx="1147762" cy="9525"/>
            </a:xfrm>
            <a:prstGeom prst="rect">
              <a:avLst/>
            </a:prstGeom>
            <a:solidFill>
              <a:srgbClr val="334E68"/>
            </a:solidFill>
            <a:ln>
              <a:noFill/>
            </a:ln>
          </p:spPr>
        </p:sp>
        <p:sp>
          <p:nvSpPr>
            <p:cNvPr id="35" name="Rectangle 35"/>
            <p:cNvSpPr/>
            <p:nvPr/>
          </p:nvSpPr>
          <p:spPr>
            <a:xfrm>
              <a:off x="5829300" y="3343275"/>
              <a:ext cx="1147762" cy="795338"/>
            </a:xfrm>
            <a:prstGeom prst="rect">
              <a:avLst/>
            </a:prstGeom>
            <a:solidFill>
              <a:srgbClr val="FFFFFF"/>
            </a:solidFill>
            <a:ln w="14288">
              <a:solidFill>
                <a:srgbClr val="334E68"/>
              </a:solidFill>
            </a:ln>
          </p:spPr>
        </p:sp>
        <p:sp>
          <p:nvSpPr>
            <p:cNvPr id="36" name="Rectangle 36"/>
            <p:cNvSpPr/>
            <p:nvPr/>
          </p:nvSpPr>
          <p:spPr>
            <a:xfrm>
              <a:off x="5836920" y="3350895"/>
              <a:ext cx="1133475" cy="245745"/>
            </a:xfrm>
            <a:prstGeom prst="rect">
              <a:avLst/>
            </a:prstGeom>
            <a:solidFill>
              <a:srgbClr val="E7EDF3"/>
            </a:solidFill>
            <a:ln>
              <a:noFill/>
            </a:ln>
          </p:spPr>
        </p:sp>
        <p:sp>
          <p:nvSpPr>
            <p:cNvPr id="37" name="Rectangle 37"/>
            <p:cNvSpPr/>
            <p:nvPr/>
          </p:nvSpPr>
          <p:spPr>
            <a:xfrm>
              <a:off x="5829300" y="3591878"/>
              <a:ext cx="1147762" cy="9525"/>
            </a:xfrm>
            <a:prstGeom prst="rect">
              <a:avLst/>
            </a:prstGeom>
            <a:solidFill>
              <a:srgbClr val="334E68"/>
            </a:solidFill>
            <a:ln>
              <a:noFill/>
            </a:ln>
          </p:spPr>
        </p:sp>
        <p:sp>
          <p:nvSpPr>
            <p:cNvPr id="38" name="Rectangle 38"/>
            <p:cNvSpPr/>
            <p:nvPr/>
          </p:nvSpPr>
          <p:spPr>
            <a:xfrm>
              <a:off x="5829300" y="3687128"/>
              <a:ext cx="1147762" cy="9525"/>
            </a:xfrm>
            <a:prstGeom prst="rect">
              <a:avLst/>
            </a:prstGeom>
            <a:solidFill>
              <a:srgbClr val="334E68"/>
            </a:solidFill>
            <a:ln>
              <a:noFill/>
            </a:ln>
          </p:spPr>
        </p:sp>
        <p:sp>
          <p:nvSpPr>
            <p:cNvPr id="39" name="TextBox 39"/>
            <p:cNvSpPr txBox="1"/>
            <p:nvPr/>
          </p:nvSpPr>
          <p:spPr>
            <a:xfrm>
              <a:off x="1015479" y="1847850"/>
              <a:ext cx="712241" cy="176212"/>
            </a:xfrm>
            <a:prstGeom prst="rect">
              <a:avLst/>
            </a:prstGeom>
            <a:noFill/>
            <a:ln>
              <a:noFill/>
            </a:ln>
          </p:spPr>
          <p:txBody>
            <a:bodyPr wrap="none" lIns="0" tIns="0" rIns="0" bIns="0" anchor="t" anchorCtr="0">
              <a:spAutoFit/>
            </a:bodyPr>
            <a:lstStyle/>
            <a:p>
              <a:pPr algn="ctr"/>
              <a:r>
                <a:rPr lang="en-US" sz="900" dirty="0">
                  <a:solidFill>
                    <a:srgbClr val="243B53"/>
                  </a:solidFill>
                  <a:latin typeface="+mn-lt"/>
                  <a:ea typeface="+mn-ea"/>
                  <a:cs typeface="+mn-cs"/>
                </a:rPr>
                <a:t>«interface»</a:t>
              </a:r>
            </a:p>
          </p:txBody>
        </p:sp>
        <p:sp>
          <p:nvSpPr>
            <p:cNvPr id="40" name="TextBox 40"/>
            <p:cNvSpPr txBox="1"/>
            <p:nvPr/>
          </p:nvSpPr>
          <p:spPr>
            <a:xfrm>
              <a:off x="1159880" y="1999298"/>
              <a:ext cx="423440"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House</a:t>
              </a:r>
            </a:p>
          </p:txBody>
        </p:sp>
        <p:sp>
          <p:nvSpPr>
            <p:cNvPr id="41" name="TextBox 41"/>
            <p:cNvSpPr txBox="1"/>
            <p:nvPr/>
          </p:nvSpPr>
          <p:spPr>
            <a:xfrm>
              <a:off x="869442" y="2354104"/>
              <a:ext cx="1005586" cy="366903"/>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+getHouseInfo()</a:t>
              </a:r>
              <a:br/>
              <a:r>
                <a:rPr lang="en-US" sz="980" dirty="0">
                  <a:solidFill>
                    <a:srgbClr val="1F2937"/>
                  </a:solidFill>
                  <a:latin typeface="+mn-lt"/>
                  <a:ea typeface="+mn-ea"/>
                  <a:cs typeface="+mn-cs"/>
                </a:rPr>
                <a:t>+showPicture()</a:t>
              </a:r>
            </a:p>
          </p:txBody>
        </p:sp>
        <p:sp>
          <p:nvSpPr>
            <p:cNvPr id="42" name="TextBox 42"/>
            <p:cNvSpPr txBox="1"/>
            <p:nvPr/>
          </p:nvSpPr>
          <p:spPr>
            <a:xfrm>
              <a:off x="4370184" y="1847850"/>
              <a:ext cx="712241" cy="176212"/>
            </a:xfrm>
            <a:prstGeom prst="rect">
              <a:avLst/>
            </a:prstGeom>
            <a:noFill/>
            <a:ln>
              <a:noFill/>
            </a:ln>
          </p:spPr>
          <p:txBody>
            <a:bodyPr wrap="none" lIns="0" tIns="0" rIns="0" bIns="0" anchor="t" anchorCtr="0">
              <a:spAutoFit/>
            </a:bodyPr>
            <a:lstStyle/>
            <a:p>
              <a:pPr algn="ctr"/>
              <a:r>
                <a:rPr lang="en-US" sz="900" dirty="0">
                  <a:solidFill>
                    <a:srgbClr val="243B53"/>
                  </a:solidFill>
                  <a:latin typeface="+mn-lt"/>
                  <a:ea typeface="+mn-ea"/>
                  <a:cs typeface="+mn-cs"/>
                </a:rPr>
                <a:t>«interface»</a:t>
              </a:r>
            </a:p>
          </p:txBody>
        </p:sp>
        <p:sp>
          <p:nvSpPr>
            <p:cNvPr id="43" name="TextBox 43"/>
            <p:cNvSpPr txBox="1"/>
            <p:nvPr/>
          </p:nvSpPr>
          <p:spPr>
            <a:xfrm>
              <a:off x="4514585" y="1999298"/>
              <a:ext cx="423440"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Condo</a:t>
              </a:r>
            </a:p>
          </p:txBody>
        </p:sp>
        <p:sp>
          <p:nvSpPr>
            <p:cNvPr id="44" name="TextBox 44"/>
            <p:cNvSpPr txBox="1"/>
            <p:nvPr/>
          </p:nvSpPr>
          <p:spPr>
            <a:xfrm>
              <a:off x="4223194" y="2354104"/>
              <a:ext cx="1005586" cy="366903"/>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+getCondoInfo()</a:t>
              </a:r>
              <a:br/>
              <a:r>
                <a:rPr lang="en-US" sz="980" dirty="0">
                  <a:solidFill>
                    <a:srgbClr val="1F2937"/>
                  </a:solidFill>
                  <a:latin typeface="+mn-lt"/>
                  <a:ea typeface="+mn-ea"/>
                  <a:cs typeface="+mn-cs"/>
                </a:rPr>
                <a:t>+showPicture()</a:t>
              </a:r>
            </a:p>
          </p:txBody>
        </p:sp>
        <p:sp>
          <p:nvSpPr>
            <p:cNvPr id="45" name="TextBox 45"/>
            <p:cNvSpPr txBox="1"/>
            <p:nvPr/>
          </p:nvSpPr>
          <p:spPr>
            <a:xfrm>
              <a:off x="953494" y="3403282"/>
              <a:ext cx="836211"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SuperHouse</a:t>
              </a:r>
            </a:p>
          </p:txBody>
        </p:sp>
        <p:sp>
          <p:nvSpPr>
            <p:cNvPr id="46" name="TextBox 46"/>
            <p:cNvSpPr txBox="1"/>
            <p:nvPr/>
          </p:nvSpPr>
          <p:spPr>
            <a:xfrm>
              <a:off x="869442" y="3758089"/>
              <a:ext cx="1005586" cy="366903"/>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+getHouseInfo()</a:t>
              </a:r>
              <a:br/>
              <a:r>
                <a:rPr lang="en-US" sz="980" dirty="0">
                  <a:solidFill>
                    <a:srgbClr val="1F2937"/>
                  </a:solidFill>
                  <a:latin typeface="+mn-lt"/>
                  <a:ea typeface="+mn-ea"/>
                  <a:cs typeface="+mn-cs"/>
                </a:rPr>
                <a:t>+showPicture()</a:t>
              </a:r>
            </a:p>
          </p:txBody>
        </p:sp>
        <p:sp>
          <p:nvSpPr>
            <p:cNvPr id="47" name="TextBox 47"/>
            <p:cNvSpPr txBox="1"/>
            <p:nvPr/>
          </p:nvSpPr>
          <p:spPr>
            <a:xfrm>
              <a:off x="2578786" y="3403282"/>
              <a:ext cx="940333"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MediumHouse</a:t>
              </a:r>
            </a:p>
          </p:txBody>
        </p:sp>
        <p:sp>
          <p:nvSpPr>
            <p:cNvPr id="48" name="TextBox 48"/>
            <p:cNvSpPr txBox="1"/>
            <p:nvPr/>
          </p:nvSpPr>
          <p:spPr>
            <a:xfrm>
              <a:off x="2546794" y="3758089"/>
              <a:ext cx="1005586" cy="366903"/>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+getHouseInfo()</a:t>
              </a:r>
              <a:br/>
              <a:r>
                <a:rPr lang="en-US" sz="980" dirty="0">
                  <a:solidFill>
                    <a:srgbClr val="1F2937"/>
                  </a:solidFill>
                  <a:latin typeface="+mn-lt"/>
                  <a:ea typeface="+mn-ea"/>
                  <a:cs typeface="+mn-cs"/>
                </a:rPr>
                <a:t>+showPicture()</a:t>
              </a:r>
            </a:p>
          </p:txBody>
        </p:sp>
        <p:sp>
          <p:nvSpPr>
            <p:cNvPr id="49" name="TextBox 49"/>
            <p:cNvSpPr txBox="1"/>
            <p:nvPr/>
          </p:nvSpPr>
          <p:spPr>
            <a:xfrm>
              <a:off x="4308199" y="3403282"/>
              <a:ext cx="836211"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SuperCondo</a:t>
              </a:r>
            </a:p>
          </p:txBody>
        </p:sp>
        <p:sp>
          <p:nvSpPr>
            <p:cNvPr id="50" name="TextBox 50"/>
            <p:cNvSpPr txBox="1"/>
            <p:nvPr/>
          </p:nvSpPr>
          <p:spPr>
            <a:xfrm>
              <a:off x="4223194" y="3758089"/>
              <a:ext cx="1005586" cy="366903"/>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+getCondoInfo()</a:t>
              </a:r>
              <a:br/>
              <a:r>
                <a:rPr lang="en-US" sz="980" dirty="0">
                  <a:solidFill>
                    <a:srgbClr val="1F2937"/>
                  </a:solidFill>
                  <a:latin typeface="+mn-lt"/>
                  <a:ea typeface="+mn-ea"/>
                  <a:cs typeface="+mn-cs"/>
                </a:rPr>
                <a:t>+showPicture()</a:t>
              </a:r>
            </a:p>
          </p:txBody>
        </p:sp>
        <p:sp>
          <p:nvSpPr>
            <p:cNvPr id="51" name="TextBox 51"/>
            <p:cNvSpPr txBox="1"/>
            <p:nvPr/>
          </p:nvSpPr>
          <p:spPr>
            <a:xfrm>
              <a:off x="5933491" y="3403282"/>
              <a:ext cx="940333"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MediumCondo</a:t>
              </a:r>
            </a:p>
          </p:txBody>
        </p:sp>
        <p:sp>
          <p:nvSpPr>
            <p:cNvPr id="52" name="TextBox 52"/>
            <p:cNvSpPr txBox="1"/>
            <p:nvPr/>
          </p:nvSpPr>
          <p:spPr>
            <a:xfrm>
              <a:off x="5900547" y="3758089"/>
              <a:ext cx="1005586" cy="366903"/>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+getCondoInfo()</a:t>
              </a:r>
              <a:br/>
              <a:r>
                <a:rPr lang="en-US" sz="980" dirty="0">
                  <a:solidFill>
                    <a:srgbClr val="1F2937"/>
                  </a:solidFill>
                  <a:latin typeface="+mn-lt"/>
                  <a:ea typeface="+mn-ea"/>
                  <a:cs typeface="+mn-cs"/>
                </a:rPr>
                <a:t>+showPicture()</a:t>
              </a:r>
            </a:p>
          </p:txBody>
        </p:sp>
      </p:grpSp>
      <p:grpSp>
        <p:nvGrpSpPr>
          <p:cNvPr id="59" name="c1-callout-2"/>
          <p:cNvGrpSpPr/>
          <p:nvPr/>
        </p:nvGrpSpPr>
        <p:grpSpPr>
          <a:xfrm>
            <a:off x="533400" y="4666298"/>
            <a:ext cx="6708458" cy="756285"/>
            <a:chOff x="533400" y="4666298"/>
            <a:chExt cx="6708458" cy="756285"/>
          </a:xfrm>
        </p:grpSpPr>
        <p:sp>
          <p:nvSpPr>
            <p:cNvPr id="54" name="Rectangle 54"/>
            <p:cNvSpPr/>
            <p:nvPr/>
          </p:nvSpPr>
          <p:spPr>
            <a:xfrm>
              <a:off x="533400" y="4666298"/>
              <a:ext cx="6708458" cy="756285"/>
            </a:xfrm>
            <a:prstGeom prst="roundRect">
              <a:avLst>
                <a:gd name="adj" fmla="val 15113"/>
              </a:avLst>
            </a:prstGeom>
            <a:solidFill>
              <a:srgbClr val="E3F5F1"/>
            </a:solidFill>
            <a:ln>
              <a:noFill/>
            </a:ln>
          </p:spPr>
        </p:sp>
        <p:grpSp>
          <p:nvGrpSpPr>
            <p:cNvPr id="57" name="Group 57"/>
            <p:cNvGrpSpPr/>
            <p:nvPr/>
          </p:nvGrpSpPr>
          <p:grpSpPr>
            <a:xfrm>
              <a:off x="738188" y="4944428"/>
              <a:ext cx="200026" cy="200026"/>
              <a:chOff x="738188" y="4944428"/>
              <a:chExt cx="200026" cy="200026"/>
            </a:xfrm>
          </p:grpSpPr>
          <p:sp>
            <p:nvSpPr>
              <p:cNvPr id="55" name="Freeform 55"/>
              <p:cNvSpPr/>
              <p:nvPr/>
            </p:nvSpPr>
            <p:spPr>
              <a:xfrm>
                <a:off x="738188" y="494442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0F7A68"/>
                </a:solidFill>
              </a:ln>
            </p:spPr>
          </p:sp>
          <p:sp>
            <p:nvSpPr>
              <p:cNvPr id="56" name="Freeform 56"/>
              <p:cNvSpPr/>
              <p:nvPr/>
            </p:nvSpPr>
            <p:spPr>
              <a:xfrm>
                <a:off x="804863" y="5022215"/>
                <a:ext cx="66675" cy="44450"/>
              </a:xfrm>
              <a:custGeom>
                <a:avLst/>
                <a:gdLst/>
                <a:ahLst/>
                <a:cxnLst/>
                <a:rect l="l" t="t" r="r" b="b"/>
                <a:pathLst>
                  <a:path w="66675" h="44450">
                    <a:moveTo>
                      <a:pt x="0" y="22225"/>
                    </a:moveTo>
                    <a:lnTo>
                      <a:pt x="22225" y="44450"/>
                    </a:lnTo>
                    <a:lnTo>
                      <a:pt x="66675" y="0"/>
                    </a:lnTo>
                  </a:path>
                </a:pathLst>
              </a:custGeom>
              <a:noFill/>
              <a:ln w="22225">
                <a:solidFill>
                  <a:srgbClr val="0F7A68"/>
                </a:solidFill>
              </a:ln>
            </p:spPr>
          </p:sp>
        </p:grpSp>
        <p:sp>
          <p:nvSpPr>
            <p:cNvPr id="58" name="TextBox 58"/>
            <p:cNvSpPr txBox="1"/>
            <p:nvPr/>
          </p:nvSpPr>
          <p:spPr>
            <a:xfrm>
              <a:off x="1040511" y="4813459"/>
              <a:ext cx="5614035"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0F7A68"/>
                  </a:solidFill>
                  <a:latin typeface="+mn-lt"/>
                  <a:ea typeface="+mn-ea"/>
                  <a:cs typeface="+mn-cs"/>
                </a:rPr>
                <a:t>ClientGUI 的 main() 只依赖 House 或 Condo 接口，看房源时拿到哪个</a:t>
              </a:r>
              <a:br/>
              <a:r>
                <a:rPr lang="zh-CN" sz="1420" dirty="0">
                  <a:solidFill>
                    <a:srgbClr val="0F7A68"/>
                  </a:solidFill>
                  <a:latin typeface="+mn-lt"/>
                  <a:ea typeface="+mn-ea"/>
                  <a:cs typeface="+mn-cs"/>
                </a:rPr>
                <a:t>实现类由运行时决定。</a:t>
              </a:r>
            </a:p>
          </p:txBody>
        </p:sp>
      </p:grpSp>
      <p:grpSp>
        <p:nvGrpSpPr>
          <p:cNvPr id="71" name="c2-card-1"/>
          <p:cNvGrpSpPr/>
          <p:nvPr/>
        </p:nvGrpSpPr>
        <p:grpSpPr>
          <a:xfrm>
            <a:off x="7546658" y="1524000"/>
            <a:ext cx="4111942" cy="2427922"/>
            <a:chOff x="7546658" y="1524000"/>
            <a:chExt cx="4111942" cy="2427922"/>
          </a:xfrm>
        </p:grpSpPr>
        <p:sp>
          <p:nvSpPr>
            <p:cNvPr id="60" name="Rectangle 60"/>
            <p:cNvSpPr/>
            <p:nvPr/>
          </p:nvSpPr>
          <p:spPr>
            <a:xfrm>
              <a:off x="7546658" y="1524000"/>
              <a:ext cx="4111942" cy="2427922"/>
            </a:xfrm>
            <a:prstGeom prst="roundRect">
              <a:avLst>
                <a:gd name="adj" fmla="val 5492"/>
              </a:avLst>
            </a:prstGeom>
            <a:solidFill>
              <a:srgbClr val="FFFFFF"/>
            </a:solidFill>
            <a:ln w="14288">
              <a:solidFill>
                <a:srgbClr val="D9DFEA"/>
              </a:solidFill>
            </a:ln>
          </p:spPr>
        </p:sp>
        <p:sp>
          <p:nvSpPr>
            <p:cNvPr id="61" name="Rectangle 61"/>
            <p:cNvSpPr/>
            <p:nvPr/>
          </p:nvSpPr>
          <p:spPr>
            <a:xfrm>
              <a:off x="7556182" y="1657350"/>
              <a:ext cx="47625" cy="2161222"/>
            </a:xfrm>
            <a:prstGeom prst="roundRect">
              <a:avLst>
                <a:gd name="adj" fmla="val 50000"/>
              </a:avLst>
            </a:prstGeom>
            <a:solidFill>
              <a:srgbClr val="14A38B"/>
            </a:solidFill>
            <a:ln>
              <a:noFill/>
            </a:ln>
          </p:spPr>
        </p:sp>
        <p:sp>
          <p:nvSpPr>
            <p:cNvPr id="62" name="Rectangle 62"/>
            <p:cNvSpPr/>
            <p:nvPr/>
          </p:nvSpPr>
          <p:spPr>
            <a:xfrm>
              <a:off x="7788592" y="1727835"/>
              <a:ext cx="1347788" cy="257175"/>
            </a:xfrm>
            <a:prstGeom prst="roundRect">
              <a:avLst>
                <a:gd name="adj" fmla="val 50000"/>
              </a:avLst>
            </a:prstGeom>
            <a:solidFill>
              <a:srgbClr val="E3F5F1"/>
            </a:solidFill>
            <a:ln>
              <a:noFill/>
            </a:ln>
          </p:spPr>
        </p:sp>
        <p:sp>
          <p:nvSpPr>
            <p:cNvPr id="63" name="TextBox 63"/>
            <p:cNvSpPr txBox="1"/>
            <p:nvPr/>
          </p:nvSpPr>
          <p:spPr>
            <a:xfrm>
              <a:off x="7854150" y="1763554"/>
              <a:ext cx="1217625"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两个方向都能扩展</a:t>
              </a:r>
            </a:p>
          </p:txBody>
        </p:sp>
        <p:sp>
          <p:nvSpPr>
            <p:cNvPr id="64" name="TextBox 64"/>
            <p:cNvSpPr txBox="1"/>
            <p:nvPr/>
          </p:nvSpPr>
          <p:spPr>
            <a:xfrm>
              <a:off x="9243441" y="1767364"/>
              <a:ext cx="1686728" cy="278702"/>
            </a:xfrm>
            <a:prstGeom prst="rect">
              <a:avLst/>
            </a:prstGeom>
            <a:noFill/>
            <a:ln>
              <a:noFill/>
            </a:ln>
          </p:spPr>
          <p:txBody>
            <a:bodyPr wrap="none" lIns="0" tIns="0" rIns="0" bIns="0" anchor="t" anchorCtr="0">
              <a:spAutoFit/>
            </a:bodyPr>
            <a:lstStyle/>
            <a:p>
              <a:pPr algn="l"/>
              <a:r>
                <a:rPr lang="en-US" sz="1420" b="1" dirty="0">
                  <a:solidFill>
                    <a:srgbClr val="1F2937"/>
                  </a:solidFill>
                  <a:latin typeface="+mn-lt"/>
                  <a:ea typeface="+mn-ea"/>
                  <a:cs typeface="+mn-cs"/>
                </a:rPr>
                <a:t>Better extension</a:t>
              </a:r>
            </a:p>
          </p:txBody>
        </p:sp>
        <p:sp>
          <p:nvSpPr>
            <p:cNvPr id="65" name="Ellipse 65"/>
            <p:cNvSpPr/>
            <p:nvPr/>
          </p:nvSpPr>
          <p:spPr>
            <a:xfrm>
              <a:off x="7789545" y="2106930"/>
              <a:ext cx="201930" cy="201930"/>
            </a:xfrm>
            <a:prstGeom prst="ellipse">
              <a:avLst/>
            </a:prstGeom>
            <a:solidFill>
              <a:srgbClr val="334E68"/>
            </a:solidFill>
            <a:ln>
              <a:noFill/>
            </a:ln>
          </p:spPr>
        </p:sp>
        <p:sp>
          <p:nvSpPr>
            <p:cNvPr id="66" name="TextBox 66"/>
            <p:cNvSpPr txBox="1"/>
            <p:nvPr/>
          </p:nvSpPr>
          <p:spPr>
            <a:xfrm>
              <a:off x="7847890" y="214726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67" name="TextBox 67"/>
            <p:cNvSpPr txBox="1"/>
            <p:nvPr/>
          </p:nvSpPr>
          <p:spPr>
            <a:xfrm>
              <a:off x="8079486" y="2119789"/>
              <a:ext cx="3215513" cy="821626"/>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加新房型</a:t>
              </a:r>
              <a:r>
                <a:rPr lang="zh-CN" sz="1420" dirty="0">
                  <a:solidFill>
                    <a:srgbClr val="1F2937"/>
                  </a:solidFill>
                  <a:latin typeface="+mn-lt"/>
                  <a:ea typeface="+mn-ea"/>
                  <a:cs typeface="+mn-cs"/>
                </a:rPr>
                <a:t>：新增一条 TownHouse 接口加</a:t>
              </a:r>
              <a:br/>
              <a:r>
                <a:rPr lang="zh-CN" sz="1420" dirty="0">
                  <a:solidFill>
                    <a:srgbClr val="1F2937"/>
                  </a:solidFill>
                  <a:latin typeface="+mn-lt"/>
                  <a:ea typeface="+mn-ea"/>
                  <a:cs typeface="+mn-cs"/>
                </a:rPr>
                <a:t>STownHouse、MTownHouse 两个实现</a:t>
              </a:r>
              <a:br/>
              <a:r>
                <a:rPr lang="zh-CN" sz="1420" dirty="0">
                  <a:solidFill>
                    <a:srgbClr val="1F2937"/>
                  </a:solidFill>
                  <a:latin typeface="+mn-lt"/>
                  <a:ea typeface="+mn-ea"/>
                  <a:cs typeface="+mn-cs"/>
                </a:rPr>
                <a:t>类，已有代码全不动</a:t>
              </a:r>
            </a:p>
          </p:txBody>
        </p:sp>
        <p:sp>
          <p:nvSpPr>
            <p:cNvPr id="68" name="Ellipse 68"/>
            <p:cNvSpPr/>
            <p:nvPr/>
          </p:nvSpPr>
          <p:spPr>
            <a:xfrm>
              <a:off x="7789545" y="2969895"/>
              <a:ext cx="201930" cy="201930"/>
            </a:xfrm>
            <a:prstGeom prst="ellipse">
              <a:avLst/>
            </a:prstGeom>
            <a:solidFill>
              <a:srgbClr val="334E68"/>
            </a:solidFill>
            <a:ln>
              <a:noFill/>
            </a:ln>
          </p:spPr>
        </p:sp>
        <p:sp>
          <p:nvSpPr>
            <p:cNvPr id="69" name="TextBox 69"/>
            <p:cNvSpPr txBox="1"/>
            <p:nvPr/>
          </p:nvSpPr>
          <p:spPr>
            <a:xfrm>
              <a:off x="7847890" y="3010233"/>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70" name="TextBox 70"/>
            <p:cNvSpPr txBox="1"/>
            <p:nvPr/>
          </p:nvSpPr>
          <p:spPr>
            <a:xfrm>
              <a:off x="8079486" y="2982754"/>
              <a:ext cx="3188462" cy="821626"/>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加新档次</a:t>
              </a:r>
              <a:r>
                <a:rPr lang="zh-CN" sz="1420" dirty="0">
                  <a:solidFill>
                    <a:srgbClr val="1F2937"/>
                  </a:solidFill>
                  <a:latin typeface="+mn-lt"/>
                  <a:ea typeface="+mn-ea"/>
                  <a:cs typeface="+mn-cs"/>
                </a:rPr>
                <a:t>：在 House 下加 EconHouse、</a:t>
              </a:r>
              <a:br/>
              <a:r>
                <a:rPr lang="zh-CN" sz="1420" dirty="0">
                  <a:solidFill>
                    <a:srgbClr val="1F2937"/>
                  </a:solidFill>
                  <a:latin typeface="+mn-lt"/>
                  <a:ea typeface="+mn-ea"/>
                  <a:cs typeface="+mn-cs"/>
                </a:rPr>
                <a:t>在 Condo 下加 EconCondo，两条层次各</a:t>
              </a:r>
              <a:br/>
              <a:r>
                <a:rPr lang="zh-CN" sz="1420" dirty="0">
                  <a:solidFill>
                    <a:srgbClr val="1F2937"/>
                  </a:solidFill>
                  <a:latin typeface="+mn-lt"/>
                  <a:ea typeface="+mn-ea"/>
                  <a:cs typeface="+mn-cs"/>
                </a:rPr>
                <a:t>加一个子类即可</a:t>
              </a:r>
            </a:p>
          </p:txBody>
        </p:sp>
      </p:grpSp>
      <p:grpSp>
        <p:nvGrpSpPr>
          <p:cNvPr id="77" name="c2-kv-2"/>
          <p:cNvGrpSpPr/>
          <p:nvPr/>
        </p:nvGrpSpPr>
        <p:grpSpPr>
          <a:xfrm>
            <a:off x="7539418" y="4160996"/>
            <a:ext cx="4119182" cy="1235964"/>
            <a:chOff x="7539418" y="4160996"/>
            <a:chExt cx="4119182" cy="1235964"/>
          </a:xfrm>
        </p:grpSpPr>
        <p:sp>
          <p:nvSpPr>
            <p:cNvPr id="72" name="TextBox 72"/>
            <p:cNvSpPr txBox="1"/>
            <p:nvPr/>
          </p:nvSpPr>
          <p:spPr>
            <a:xfrm>
              <a:off x="7539418" y="4160996"/>
              <a:ext cx="1161440"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拆接口的依据</a:t>
              </a:r>
            </a:p>
          </p:txBody>
        </p:sp>
        <p:sp>
          <p:nvSpPr>
            <p:cNvPr id="73" name="TextBox 73"/>
            <p:cNvSpPr txBox="1"/>
            <p:nvPr/>
          </p:nvSpPr>
          <p:spPr>
            <a:xfrm>
              <a:off x="8914828" y="4160996"/>
              <a:ext cx="2539238" cy="546354"/>
            </a:xfrm>
            <a:prstGeom prst="rect">
              <a:avLst/>
            </a:prstGeom>
            <a:noFill/>
            <a:ln>
              <a:noFill/>
            </a:ln>
          </p:spPr>
          <p:txBody>
            <a:bodyPr wrap="none" lIns="0" tIns="0" rIns="0" bIns="0" anchor="t" anchorCtr="0">
              <a:spAutoFit/>
            </a:bodyPr>
            <a:lstStyle/>
            <a:p>
              <a:pPr algn="l">
                <a:lnSpc>
                  <a:spcPts val="2108"/>
                </a:lnSpc>
              </a:pPr>
              <a:r>
                <a:rPr lang="zh-CN" sz="1420" dirty="0">
                  <a:solidFill>
                    <a:srgbClr val="1F2937"/>
                  </a:solidFill>
                  <a:latin typeface="+mn-lt"/>
                  <a:ea typeface="+mn-ea"/>
                  <a:cs typeface="+mn-cs"/>
                </a:rPr>
                <a:t>客户按什么维度使用系统，就按</a:t>
              </a:r>
              <a:br/>
              <a:r>
                <a:rPr lang="zh-CN" sz="1420" dirty="0">
                  <a:solidFill>
                    <a:srgbClr val="1F2937"/>
                  </a:solidFill>
                  <a:latin typeface="+mn-lt"/>
                  <a:ea typeface="+mn-ea"/>
                  <a:cs typeface="+mn-cs"/>
                </a:rPr>
                <a:t>什么维度拆接口</a:t>
              </a:r>
            </a:p>
          </p:txBody>
        </p:sp>
        <p:sp>
          <p:nvSpPr>
            <p:cNvPr id="74" name="Rectangle 74"/>
            <p:cNvSpPr/>
            <p:nvPr/>
          </p:nvSpPr>
          <p:spPr>
            <a:xfrm>
              <a:off x="7546658" y="4733925"/>
              <a:ext cx="4111942" cy="9525"/>
            </a:xfrm>
            <a:prstGeom prst="rect">
              <a:avLst/>
            </a:prstGeom>
            <a:solidFill>
              <a:srgbClr val="D9DFEA"/>
            </a:solidFill>
            <a:ln>
              <a:noFill/>
            </a:ln>
          </p:spPr>
        </p:sp>
        <p:sp>
          <p:nvSpPr>
            <p:cNvPr id="75" name="TextBox 75"/>
            <p:cNvSpPr txBox="1"/>
            <p:nvPr/>
          </p:nvSpPr>
          <p:spPr>
            <a:xfrm>
              <a:off x="7539418" y="4850606"/>
              <a:ext cx="1161440"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拆实现的依据</a:t>
              </a:r>
            </a:p>
          </p:txBody>
        </p:sp>
        <p:sp>
          <p:nvSpPr>
            <p:cNvPr id="76" name="TextBox 76"/>
            <p:cNvSpPr txBox="1"/>
            <p:nvPr/>
          </p:nvSpPr>
          <p:spPr>
            <a:xfrm>
              <a:off x="8914828" y="4850606"/>
              <a:ext cx="2539238" cy="546354"/>
            </a:xfrm>
            <a:prstGeom prst="rect">
              <a:avLst/>
            </a:prstGeom>
            <a:noFill/>
            <a:ln>
              <a:noFill/>
            </a:ln>
          </p:spPr>
          <p:txBody>
            <a:bodyPr wrap="none" lIns="0" tIns="0" rIns="0" bIns="0" anchor="t" anchorCtr="0">
              <a:spAutoFit/>
            </a:bodyPr>
            <a:lstStyle/>
            <a:p>
              <a:pPr algn="l">
                <a:lnSpc>
                  <a:spcPts val="2108"/>
                </a:lnSpc>
              </a:pPr>
              <a:r>
                <a:rPr lang="zh-CN" sz="1420" dirty="0">
                  <a:solidFill>
                    <a:srgbClr val="1F2937"/>
                  </a:solidFill>
                  <a:latin typeface="+mn-lt"/>
                  <a:ea typeface="+mn-ea"/>
                  <a:cs typeface="+mn-cs"/>
                </a:rPr>
                <a:t>同一接口下真正不同的那几种做</a:t>
              </a:r>
              <a:br/>
              <a:r>
                <a:rPr lang="zh-CN" sz="1420" dirty="0">
                  <a:solidFill>
                    <a:srgbClr val="1F2937"/>
                  </a:solidFill>
                  <a:latin typeface="+mn-lt"/>
                  <a:ea typeface="+mn-ea"/>
                  <a:cs typeface="+mn-cs"/>
                </a:rPr>
                <a:t>法，各做一个实现类</a:t>
              </a:r>
            </a:p>
          </p:txBody>
        </p:sp>
      </p:grpSp>
      <p:grpSp>
        <p:nvGrpSpPr>
          <p:cNvPr id="84" name="takeaway"/>
          <p:cNvGrpSpPr/>
          <p:nvPr/>
        </p:nvGrpSpPr>
        <p:grpSpPr>
          <a:xfrm>
            <a:off x="533400" y="5844540"/>
            <a:ext cx="11125200" cy="518160"/>
            <a:chOff x="533400" y="5844540"/>
            <a:chExt cx="11125200" cy="518160"/>
          </a:xfrm>
        </p:grpSpPr>
        <p:sp>
          <p:nvSpPr>
            <p:cNvPr id="78" name="Rectangle 78"/>
            <p:cNvSpPr/>
            <p:nvPr/>
          </p:nvSpPr>
          <p:spPr>
            <a:xfrm>
              <a:off x="533400" y="5844540"/>
              <a:ext cx="11125200" cy="518160"/>
            </a:xfrm>
            <a:prstGeom prst="roundRect">
              <a:avLst>
                <a:gd name="adj" fmla="val 22059"/>
              </a:avLst>
            </a:prstGeom>
            <a:solidFill>
              <a:srgbClr val="FDEEE7"/>
            </a:solidFill>
            <a:ln>
              <a:noFill/>
            </a:ln>
          </p:spPr>
        </p:sp>
        <p:grpSp>
          <p:nvGrpSpPr>
            <p:cNvPr id="82" name="Group 82"/>
            <p:cNvGrpSpPr/>
            <p:nvPr/>
          </p:nvGrpSpPr>
          <p:grpSpPr>
            <a:xfrm>
              <a:off x="738188" y="6003608"/>
              <a:ext cx="200026" cy="200025"/>
              <a:chOff x="738188" y="6003608"/>
              <a:chExt cx="200026" cy="200025"/>
            </a:xfrm>
          </p:grpSpPr>
          <p:sp>
            <p:nvSpPr>
              <p:cNvPr id="79" name="Freeform 79"/>
              <p:cNvSpPr/>
              <p:nvPr/>
            </p:nvSpPr>
            <p:spPr>
              <a:xfrm>
                <a:off x="738188" y="600360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80" name="Freeform 80"/>
              <p:cNvSpPr/>
              <p:nvPr/>
            </p:nvSpPr>
            <p:spPr>
              <a:xfrm>
                <a:off x="777926" y="604805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81" name="Freeform 81"/>
              <p:cNvSpPr/>
              <p:nvPr/>
            </p:nvSpPr>
            <p:spPr>
              <a:xfrm>
                <a:off x="812642" y="615918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83" name="TextBox 83"/>
            <p:cNvSpPr txBox="1"/>
            <p:nvPr/>
          </p:nvSpPr>
          <p:spPr>
            <a:xfrm>
              <a:off x="1040511" y="6004084"/>
              <a:ext cx="9234180" cy="278702"/>
            </a:xfrm>
            <a:prstGeom prst="rect">
              <a:avLst/>
            </a:prstGeom>
            <a:noFill/>
            <a:ln>
              <a:noFill/>
            </a:ln>
          </p:spPr>
          <p:txBody>
            <a:bodyPr wrap="none" lIns="0" tIns="0" rIns="0" bIns="0" anchor="t" anchorCtr="0">
              <a:spAutoFit/>
            </a:bodyPr>
            <a:lstStyle/>
            <a:p>
              <a:pPr algn="l"/>
              <a:r>
                <a:rPr lang="zh-CN" sz="1420" dirty="0">
                  <a:solidFill>
                    <a:srgbClr val="C2410C"/>
                  </a:solidFill>
                  <a:latin typeface="+mn-lt"/>
                  <a:ea typeface="+mn-ea"/>
                  <a:cs typeface="+mn-cs"/>
                </a:rPr>
                <a:t>ISP 和 SRP 常被混淆：SRP 看的是“谁会来要求改这个类”，ISP 看的是“客户被迫依赖了多少用不到的方法”。</a:t>
              </a:r>
            </a:p>
          </p:txBody>
        </p:sp>
      </p:grpSp>
      <p:grpSp>
        <p:nvGrpSpPr>
          <p:cNvPr id="87" name="footer"/>
          <p:cNvGrpSpPr/>
          <p:nvPr/>
        </p:nvGrpSpPr>
        <p:grpSpPr>
          <a:xfrm>
            <a:off x="528447" y="6581299"/>
            <a:ext cx="11135106" cy="190690"/>
            <a:chOff x="528447" y="6581299"/>
            <a:chExt cx="11135106" cy="190690"/>
          </a:xfrm>
        </p:grpSpPr>
        <p:sp>
          <p:nvSpPr>
            <p:cNvPr id="85" name="TextBox 85"/>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86" name="TextBox 8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25</a:t>
              </a:r>
            </a:p>
          </p:txBody>
        </p:sp>
      </p:gr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1685" cy="909257"/>
            <a:chOff x="520446" y="342900"/>
            <a:chExt cx="5861685" cy="909257"/>
          </a:xfrm>
        </p:grpSpPr>
        <p:sp>
          <p:nvSpPr>
            <p:cNvPr id="2" name="Rectangle 2"/>
            <p:cNvSpPr/>
            <p:nvPr/>
          </p:nvSpPr>
          <p:spPr>
            <a:xfrm>
              <a:off x="533400" y="342900"/>
              <a:ext cx="2660332" cy="266700"/>
            </a:xfrm>
            <a:prstGeom prst="roundRect">
              <a:avLst>
                <a:gd name="adj" fmla="val 50000"/>
              </a:avLst>
            </a:prstGeom>
            <a:solidFill>
              <a:srgbClr val="E7EDF3"/>
            </a:solidFill>
            <a:ln>
              <a:noFill/>
            </a:ln>
          </p:spPr>
        </p:sp>
        <p:sp>
          <p:nvSpPr>
            <p:cNvPr id="3" name="TextBox 3"/>
            <p:cNvSpPr txBox="1"/>
            <p:nvPr/>
          </p:nvSpPr>
          <p:spPr>
            <a:xfrm>
              <a:off x="570203" y="407194"/>
              <a:ext cx="25857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SOLID 五原则</a:t>
              </a:r>
            </a:p>
          </p:txBody>
        </p:sp>
        <p:sp>
          <p:nvSpPr>
            <p:cNvPr id="4" name="TextBox 4"/>
            <p:cNvSpPr txBox="1"/>
            <p:nvPr/>
          </p:nvSpPr>
          <p:spPr>
            <a:xfrm>
              <a:off x="520446" y="753428"/>
              <a:ext cx="58616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依赖倒转：让高层和低层都去依赖抽象</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8" name="c1-card-1"/>
          <p:cNvGrpSpPr/>
          <p:nvPr/>
        </p:nvGrpSpPr>
        <p:grpSpPr>
          <a:xfrm>
            <a:off x="533400" y="1524000"/>
            <a:ext cx="4977765" cy="2044065"/>
            <a:chOff x="533400" y="1524000"/>
            <a:chExt cx="4977765" cy="2044065"/>
          </a:xfrm>
        </p:grpSpPr>
        <p:sp>
          <p:nvSpPr>
            <p:cNvPr id="7" name="Rectangle 7"/>
            <p:cNvSpPr/>
            <p:nvPr/>
          </p:nvSpPr>
          <p:spPr>
            <a:xfrm>
              <a:off x="533400" y="1524000"/>
              <a:ext cx="4977765" cy="2044065"/>
            </a:xfrm>
            <a:prstGeom prst="roundRect">
              <a:avLst>
                <a:gd name="adj" fmla="val 6524"/>
              </a:avLst>
            </a:prstGeom>
            <a:solidFill>
              <a:srgbClr val="FFFFFF"/>
            </a:solidFill>
            <a:ln w="14288">
              <a:solidFill>
                <a:srgbClr val="D9DFEA"/>
              </a:solidFill>
            </a:ln>
          </p:spPr>
        </p:sp>
        <p:sp>
          <p:nvSpPr>
            <p:cNvPr id="8" name="Rectangle 8"/>
            <p:cNvSpPr/>
            <p:nvPr/>
          </p:nvSpPr>
          <p:spPr>
            <a:xfrm>
              <a:off x="542925" y="1657350"/>
              <a:ext cx="47625" cy="1777365"/>
            </a:xfrm>
            <a:prstGeom prst="roundRect">
              <a:avLst>
                <a:gd name="adj" fmla="val 50000"/>
              </a:avLst>
            </a:prstGeom>
            <a:solidFill>
              <a:srgbClr val="334E68"/>
            </a:solidFill>
            <a:ln>
              <a:noFill/>
            </a:ln>
          </p:spPr>
        </p:sp>
        <p:sp>
          <p:nvSpPr>
            <p:cNvPr id="9" name="Rectangle 9"/>
            <p:cNvSpPr/>
            <p:nvPr/>
          </p:nvSpPr>
          <p:spPr>
            <a:xfrm>
              <a:off x="763905" y="1716405"/>
              <a:ext cx="476250" cy="247650"/>
            </a:xfrm>
            <a:prstGeom prst="roundRect">
              <a:avLst>
                <a:gd name="adj" fmla="val 50000"/>
              </a:avLst>
            </a:prstGeom>
            <a:solidFill>
              <a:srgbClr val="E7EDF3"/>
            </a:solidFill>
            <a:ln>
              <a:noFill/>
            </a:ln>
          </p:spPr>
        </p:sp>
        <p:sp>
          <p:nvSpPr>
            <p:cNvPr id="10" name="TextBox 10"/>
            <p:cNvSpPr txBox="1"/>
            <p:nvPr/>
          </p:nvSpPr>
          <p:spPr>
            <a:xfrm>
              <a:off x="855345" y="1750695"/>
              <a:ext cx="293370"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定义</a:t>
              </a:r>
            </a:p>
          </p:txBody>
        </p:sp>
        <p:sp>
          <p:nvSpPr>
            <p:cNvPr id="11" name="TextBox 11"/>
            <p:cNvSpPr txBox="1"/>
            <p:nvPr/>
          </p:nvSpPr>
          <p:spPr>
            <a:xfrm>
              <a:off x="1347597" y="1756410"/>
              <a:ext cx="2845438"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Dependency Inversion Principle</a:t>
              </a:r>
            </a:p>
          </p:txBody>
        </p:sp>
        <p:sp>
          <p:nvSpPr>
            <p:cNvPr id="12" name="Ellipse 12"/>
            <p:cNvSpPr/>
            <p:nvPr/>
          </p:nvSpPr>
          <p:spPr>
            <a:xfrm>
              <a:off x="763905" y="2078355"/>
              <a:ext cx="192405" cy="192405"/>
            </a:xfrm>
            <a:prstGeom prst="ellipse">
              <a:avLst/>
            </a:prstGeom>
            <a:solidFill>
              <a:srgbClr val="334E68"/>
            </a:solidFill>
            <a:ln>
              <a:noFill/>
            </a:ln>
          </p:spPr>
        </p:sp>
        <p:sp>
          <p:nvSpPr>
            <p:cNvPr id="13" name="TextBox 13"/>
            <p:cNvSpPr txBox="1"/>
            <p:nvPr/>
          </p:nvSpPr>
          <p:spPr>
            <a:xfrm>
              <a:off x="819583" y="211674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14" name="TextBox 14"/>
            <p:cNvSpPr txBox="1"/>
            <p:nvPr/>
          </p:nvSpPr>
          <p:spPr>
            <a:xfrm>
              <a:off x="1044702" y="2090738"/>
              <a:ext cx="3425571" cy="778383"/>
            </a:xfrm>
            <a:prstGeom prst="rect">
              <a:avLst/>
            </a:prstGeom>
            <a:noFill/>
            <a:ln>
              <a:noFill/>
            </a:ln>
          </p:spPr>
          <p:txBody>
            <a:bodyPr wrap="none" lIns="0" tIns="0" rIns="0" bIns="0" anchor="t" anchorCtr="0">
              <a:spAutoFit/>
            </a:bodyPr>
            <a:lstStyle/>
            <a:p>
              <a:pPr algn="l">
                <a:lnSpc>
                  <a:spcPts val="2025"/>
                </a:lnSpc>
              </a:pPr>
              <a:r>
                <a:rPr lang="en-US" sz="1350" dirty="0">
                  <a:solidFill>
                    <a:srgbClr val="1F2937"/>
                  </a:solidFill>
                  <a:latin typeface="+mn-lt"/>
                  <a:ea typeface="+mn-ea"/>
                  <a:cs typeface="+mn-cs"/>
                </a:rPr>
                <a:t>High-level modules should not depend on</a:t>
              </a:r>
              <a:br/>
              <a:r>
                <a:rPr lang="en-US" sz="1350" dirty="0">
                  <a:solidFill>
                    <a:srgbClr val="1F2937"/>
                  </a:solidFill>
                  <a:latin typeface="+mn-lt"/>
                  <a:ea typeface="+mn-ea"/>
                  <a:cs typeface="+mn-cs"/>
                </a:rPr>
                <a:t>low-level modules. Both should depend on</a:t>
              </a:r>
              <a:br/>
              <a:r>
                <a:rPr lang="en-US" sz="1350" b="1" dirty="0">
                  <a:solidFill>
                    <a:srgbClr val="C2410C"/>
                  </a:solidFill>
                  <a:latin typeface="+mn-lt"/>
                  <a:ea typeface="+mn-ea"/>
                  <a:cs typeface="+mn-cs"/>
                </a:rPr>
                <a:t>abstractions</a:t>
              </a:r>
              <a:r>
                <a:rPr lang="zh-CN" sz="1350" dirty="0">
                  <a:solidFill>
                    <a:srgbClr val="1F2937"/>
                  </a:solidFill>
                  <a:latin typeface="+mn-lt"/>
                  <a:ea typeface="+mn-ea"/>
                  <a:cs typeface="+mn-cs"/>
                </a:rPr>
                <a:t>.</a:t>
              </a:r>
            </a:p>
          </p:txBody>
        </p:sp>
        <p:sp>
          <p:nvSpPr>
            <p:cNvPr id="15" name="Ellipse 15"/>
            <p:cNvSpPr/>
            <p:nvPr/>
          </p:nvSpPr>
          <p:spPr>
            <a:xfrm>
              <a:off x="763905" y="2894648"/>
              <a:ext cx="192405" cy="192405"/>
            </a:xfrm>
            <a:prstGeom prst="ellipse">
              <a:avLst/>
            </a:prstGeom>
            <a:solidFill>
              <a:srgbClr val="334E68"/>
            </a:solidFill>
            <a:ln>
              <a:noFill/>
            </a:ln>
          </p:spPr>
        </p:sp>
        <p:sp>
          <p:nvSpPr>
            <p:cNvPr id="16" name="TextBox 16"/>
            <p:cNvSpPr txBox="1"/>
            <p:nvPr/>
          </p:nvSpPr>
          <p:spPr>
            <a:xfrm>
              <a:off x="819583" y="293398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17" name="TextBox 17"/>
            <p:cNvSpPr txBox="1"/>
            <p:nvPr/>
          </p:nvSpPr>
          <p:spPr>
            <a:xfrm>
              <a:off x="1044702" y="2907030"/>
              <a:ext cx="3588448" cy="521208"/>
            </a:xfrm>
            <a:prstGeom prst="rect">
              <a:avLst/>
            </a:prstGeom>
            <a:noFill/>
            <a:ln>
              <a:noFill/>
            </a:ln>
          </p:spPr>
          <p:txBody>
            <a:bodyPr wrap="none" lIns="0" tIns="0" rIns="0" bIns="0" anchor="t" anchorCtr="0">
              <a:spAutoFit/>
            </a:bodyPr>
            <a:lstStyle/>
            <a:p>
              <a:pPr algn="l">
                <a:lnSpc>
                  <a:spcPts val="2025"/>
                </a:lnSpc>
              </a:pPr>
              <a:r>
                <a:rPr lang="en-US" sz="1350" dirty="0">
                  <a:solidFill>
                    <a:srgbClr val="1F2937"/>
                  </a:solidFill>
                  <a:latin typeface="+mn-lt"/>
                  <a:ea typeface="+mn-ea"/>
                  <a:cs typeface="+mn-cs"/>
                </a:rPr>
                <a:t>Abstractions should not depend on details.</a:t>
              </a:r>
              <a:br/>
              <a:r>
                <a:rPr lang="en-US" sz="1350" b="1" dirty="0">
                  <a:solidFill>
                    <a:srgbClr val="C2410C"/>
                  </a:solidFill>
                  <a:latin typeface="+mn-lt"/>
                  <a:ea typeface="+mn-ea"/>
                  <a:cs typeface="+mn-cs"/>
                </a:rPr>
                <a:t>Details should depend on abstractions</a:t>
              </a:r>
              <a:r>
                <a:rPr lang="zh-CN" sz="1350" dirty="0">
                  <a:solidFill>
                    <a:srgbClr val="1F2937"/>
                  </a:solidFill>
                  <a:latin typeface="+mn-lt"/>
                  <a:ea typeface="+mn-ea"/>
                  <a:cs typeface="+mn-cs"/>
                </a:rPr>
                <a:t>.</a:t>
              </a:r>
            </a:p>
          </p:txBody>
        </p:sp>
      </p:grpSp>
      <p:grpSp>
        <p:nvGrpSpPr>
          <p:cNvPr id="26" name="c1-bullets-2"/>
          <p:cNvGrpSpPr/>
          <p:nvPr/>
        </p:nvGrpSpPr>
        <p:grpSpPr>
          <a:xfrm>
            <a:off x="526542" y="3765232"/>
            <a:ext cx="4728591" cy="1206056"/>
            <a:chOff x="526542" y="3765232"/>
            <a:chExt cx="4728591" cy="1206056"/>
          </a:xfrm>
        </p:grpSpPr>
        <p:sp>
          <p:nvSpPr>
            <p:cNvPr id="19" name="TextBox 19"/>
            <p:cNvSpPr txBox="1"/>
            <p:nvPr/>
          </p:nvSpPr>
          <p:spPr>
            <a:xfrm>
              <a:off x="526542" y="3765232"/>
              <a:ext cx="2012823"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结构化设计里的依赖方向</a:t>
              </a:r>
            </a:p>
          </p:txBody>
        </p:sp>
        <p:sp>
          <p:nvSpPr>
            <p:cNvPr id="20" name="Ellipse 20"/>
            <p:cNvSpPr/>
            <p:nvPr/>
          </p:nvSpPr>
          <p:spPr>
            <a:xfrm>
              <a:off x="541972" y="4141470"/>
              <a:ext cx="59055" cy="59055"/>
            </a:xfrm>
            <a:prstGeom prst="ellipse">
              <a:avLst/>
            </a:prstGeom>
            <a:solidFill>
              <a:srgbClr val="334E68"/>
            </a:solidFill>
            <a:ln>
              <a:noFill/>
            </a:ln>
          </p:spPr>
        </p:sp>
        <p:sp>
          <p:nvSpPr>
            <p:cNvPr id="21" name="TextBox 21"/>
            <p:cNvSpPr txBox="1"/>
            <p:nvPr/>
          </p:nvSpPr>
          <p:spPr>
            <a:xfrm>
              <a:off x="697992" y="4085272"/>
              <a:ext cx="455714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低层构件被设计出来供高层构件调用，越往上功能越复杂</a:t>
              </a:r>
            </a:p>
          </p:txBody>
        </p:sp>
        <p:sp>
          <p:nvSpPr>
            <p:cNvPr id="22" name="Ellipse 22"/>
            <p:cNvSpPr/>
            <p:nvPr/>
          </p:nvSpPr>
          <p:spPr>
            <a:xfrm>
              <a:off x="541972" y="4451985"/>
              <a:ext cx="59055" cy="59055"/>
            </a:xfrm>
            <a:prstGeom prst="ellipse">
              <a:avLst/>
            </a:prstGeom>
            <a:solidFill>
              <a:srgbClr val="334E68"/>
            </a:solidFill>
            <a:ln>
              <a:noFill/>
            </a:ln>
          </p:spPr>
        </p:sp>
        <p:sp>
          <p:nvSpPr>
            <p:cNvPr id="23" name="TextBox 23"/>
            <p:cNvSpPr txBox="1"/>
            <p:nvPr/>
          </p:nvSpPr>
          <p:spPr>
            <a:xfrm>
              <a:off x="697992" y="4395788"/>
              <a:ext cx="364845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高层直接依赖低层，低层一变高层就得跟着变</a:t>
              </a:r>
            </a:p>
          </p:txBody>
        </p:sp>
        <p:sp>
          <p:nvSpPr>
            <p:cNvPr id="24" name="Ellipse 24"/>
            <p:cNvSpPr/>
            <p:nvPr/>
          </p:nvSpPr>
          <p:spPr>
            <a:xfrm>
              <a:off x="541972" y="4763452"/>
              <a:ext cx="59055" cy="59055"/>
            </a:xfrm>
            <a:prstGeom prst="ellipse">
              <a:avLst/>
            </a:prstGeom>
            <a:solidFill>
              <a:srgbClr val="334E68"/>
            </a:solidFill>
            <a:ln>
              <a:noFill/>
            </a:ln>
          </p:spPr>
        </p:sp>
        <p:sp>
          <p:nvSpPr>
            <p:cNvPr id="25" name="TextBox 25"/>
            <p:cNvSpPr txBox="1"/>
            <p:nvPr/>
          </p:nvSpPr>
          <p:spPr>
            <a:xfrm>
              <a:off x="697992" y="4707255"/>
              <a:ext cx="292150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这种依赖限制了高层构件的重用机会</a:t>
              </a:r>
            </a:p>
          </p:txBody>
        </p:sp>
      </p:grpSp>
      <p:grpSp>
        <p:nvGrpSpPr>
          <p:cNvPr id="32" name="c1-callout-3"/>
          <p:cNvGrpSpPr/>
          <p:nvPr/>
        </p:nvGrpSpPr>
        <p:grpSpPr>
          <a:xfrm>
            <a:off x="533400" y="5093018"/>
            <a:ext cx="4977765" cy="1005840"/>
            <a:chOff x="533400" y="5093018"/>
            <a:chExt cx="4977765" cy="1005840"/>
          </a:xfrm>
        </p:grpSpPr>
        <p:sp>
          <p:nvSpPr>
            <p:cNvPr id="27" name="Rectangle 27"/>
            <p:cNvSpPr/>
            <p:nvPr/>
          </p:nvSpPr>
          <p:spPr>
            <a:xfrm>
              <a:off x="533400" y="5093018"/>
              <a:ext cx="4977765" cy="1005840"/>
            </a:xfrm>
            <a:prstGeom prst="roundRect">
              <a:avLst>
                <a:gd name="adj" fmla="val 11364"/>
              </a:avLst>
            </a:prstGeom>
            <a:solidFill>
              <a:srgbClr val="334E68"/>
            </a:solidFill>
            <a:ln>
              <a:noFill/>
            </a:ln>
          </p:spPr>
        </p:sp>
        <p:grpSp>
          <p:nvGrpSpPr>
            <p:cNvPr id="30" name="Group 30"/>
            <p:cNvGrpSpPr/>
            <p:nvPr/>
          </p:nvGrpSpPr>
          <p:grpSpPr>
            <a:xfrm>
              <a:off x="738188" y="5495927"/>
              <a:ext cx="200023" cy="200023"/>
              <a:chOff x="738188" y="5495927"/>
              <a:chExt cx="200023" cy="200023"/>
            </a:xfrm>
          </p:grpSpPr>
          <p:sp>
            <p:nvSpPr>
              <p:cNvPr id="28" name="Freeform 28"/>
              <p:cNvSpPr/>
              <p:nvPr/>
            </p:nvSpPr>
            <p:spPr>
              <a:xfrm>
                <a:off x="738188" y="549592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29" name="Freeform 29"/>
              <p:cNvSpPr/>
              <p:nvPr/>
            </p:nvSpPr>
            <p:spPr>
              <a:xfrm>
                <a:off x="871538" y="556260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31" name="TextBox 31"/>
            <p:cNvSpPr txBox="1"/>
            <p:nvPr/>
          </p:nvSpPr>
          <p:spPr>
            <a:xfrm>
              <a:off x="1040892" y="5377815"/>
              <a:ext cx="3974211"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“倒转”倒的是依赖箭头的方向：原本高层指向低层，</a:t>
              </a:r>
              <a:br/>
              <a:r>
                <a:rPr lang="zh-CN" sz="1350" dirty="0">
                  <a:solidFill>
                    <a:srgbClr val="FFFFFF"/>
                  </a:solidFill>
                  <a:latin typeface="+mn-lt"/>
                  <a:ea typeface="+mn-ea"/>
                  <a:cs typeface="+mn-cs"/>
                </a:rPr>
                <a:t>现在两端一起指向中间的抽象接口。</a:t>
              </a:r>
            </a:p>
          </p:txBody>
        </p:sp>
      </p:grpSp>
      <p:grpSp>
        <p:nvGrpSpPr>
          <p:cNvPr id="57" name="c2-flow-1"/>
          <p:cNvGrpSpPr/>
          <p:nvPr/>
        </p:nvGrpSpPr>
        <p:grpSpPr>
          <a:xfrm>
            <a:off x="6019800" y="1758315"/>
            <a:ext cx="5434965" cy="2132648"/>
            <a:chOff x="6019800" y="1758315"/>
            <a:chExt cx="5434965" cy="2132648"/>
          </a:xfrm>
        </p:grpSpPr>
        <p:sp>
          <p:nvSpPr>
            <p:cNvPr id="33" name="Freeform 33"/>
            <p:cNvSpPr/>
            <p:nvPr/>
          </p:nvSpPr>
          <p:spPr>
            <a:xfrm>
              <a:off x="7276148" y="2156460"/>
              <a:ext cx="9525" cy="363855"/>
            </a:xfrm>
            <a:custGeom>
              <a:avLst/>
              <a:gdLst/>
              <a:ahLst/>
              <a:cxnLst/>
              <a:rect l="l" t="t" r="r" b="b"/>
              <a:pathLst>
                <a:path w="9525" h="363855">
                  <a:moveTo>
                    <a:pt x="0" y="0"/>
                  </a:moveTo>
                  <a:lnTo>
                    <a:pt x="0" y="363855"/>
                  </a:lnTo>
                </a:path>
              </a:pathLst>
            </a:custGeom>
            <a:noFill/>
            <a:ln w="15240">
              <a:solidFill>
                <a:srgbClr val="5B6475"/>
              </a:solidFill>
            </a:ln>
          </p:spPr>
        </p:sp>
        <p:sp>
          <p:nvSpPr>
            <p:cNvPr id="34" name="Freeform 34"/>
            <p:cNvSpPr/>
            <p:nvPr/>
          </p:nvSpPr>
          <p:spPr>
            <a:xfrm>
              <a:off x="7223760" y="252031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5" name="Freeform 35"/>
            <p:cNvSpPr/>
            <p:nvPr/>
          </p:nvSpPr>
          <p:spPr>
            <a:xfrm>
              <a:off x="10197465" y="2156460"/>
              <a:ext cx="9525" cy="363855"/>
            </a:xfrm>
            <a:custGeom>
              <a:avLst/>
              <a:gdLst/>
              <a:ahLst/>
              <a:cxnLst/>
              <a:rect l="l" t="t" r="r" b="b"/>
              <a:pathLst>
                <a:path w="9525" h="363855">
                  <a:moveTo>
                    <a:pt x="0" y="0"/>
                  </a:moveTo>
                  <a:lnTo>
                    <a:pt x="0" y="363855"/>
                  </a:lnTo>
                </a:path>
              </a:pathLst>
            </a:custGeom>
            <a:noFill/>
            <a:ln w="15240">
              <a:solidFill>
                <a:srgbClr val="5B6475"/>
              </a:solidFill>
            </a:ln>
          </p:spPr>
        </p:sp>
        <p:sp>
          <p:nvSpPr>
            <p:cNvPr id="36" name="Freeform 36"/>
            <p:cNvSpPr/>
            <p:nvPr/>
          </p:nvSpPr>
          <p:spPr>
            <a:xfrm>
              <a:off x="10145078" y="252031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7" name="Freeform 37"/>
            <p:cNvSpPr/>
            <p:nvPr/>
          </p:nvSpPr>
          <p:spPr>
            <a:xfrm>
              <a:off x="10197465" y="3128010"/>
              <a:ext cx="9525" cy="363855"/>
            </a:xfrm>
            <a:custGeom>
              <a:avLst/>
              <a:gdLst/>
              <a:ahLst/>
              <a:cxnLst/>
              <a:rect l="l" t="t" r="r" b="b"/>
              <a:pathLst>
                <a:path w="9525" h="363855">
                  <a:moveTo>
                    <a:pt x="0" y="363855"/>
                  </a:moveTo>
                  <a:lnTo>
                    <a:pt x="0" y="154305"/>
                  </a:lnTo>
                  <a:lnTo>
                    <a:pt x="0" y="104775"/>
                  </a:lnTo>
                  <a:lnTo>
                    <a:pt x="0" y="0"/>
                  </a:lnTo>
                </a:path>
              </a:pathLst>
            </a:custGeom>
            <a:noFill/>
            <a:ln w="15240">
              <a:solidFill>
                <a:srgbClr val="5B6475"/>
              </a:solidFill>
            </a:ln>
          </p:spPr>
        </p:sp>
        <p:sp>
          <p:nvSpPr>
            <p:cNvPr id="38" name="Freeform 38"/>
            <p:cNvSpPr/>
            <p:nvPr/>
          </p:nvSpPr>
          <p:spPr>
            <a:xfrm>
              <a:off x="10145078" y="3023235"/>
              <a:ext cx="104775" cy="104775"/>
            </a:xfrm>
            <a:custGeom>
              <a:avLst/>
              <a:gdLst/>
              <a:ahLst/>
              <a:cxnLst/>
              <a:rect l="l" t="t" r="r" b="b"/>
              <a:pathLst>
                <a:path w="104775" h="104775">
                  <a:moveTo>
                    <a:pt x="52388" y="0"/>
                  </a:moveTo>
                  <a:lnTo>
                    <a:pt x="104775" y="104775"/>
                  </a:lnTo>
                  <a:lnTo>
                    <a:pt x="0" y="104775"/>
                  </a:lnTo>
                  <a:close/>
                </a:path>
              </a:pathLst>
            </a:custGeom>
            <a:solidFill>
              <a:srgbClr val="5B6475"/>
            </a:solidFill>
            <a:ln>
              <a:noFill/>
            </a:ln>
          </p:spPr>
        </p:sp>
        <p:sp>
          <p:nvSpPr>
            <p:cNvPr id="39" name="Rectangle 39"/>
            <p:cNvSpPr/>
            <p:nvPr/>
          </p:nvSpPr>
          <p:spPr>
            <a:xfrm>
              <a:off x="6019800" y="1758315"/>
              <a:ext cx="2512695" cy="399098"/>
            </a:xfrm>
            <a:prstGeom prst="roundRect">
              <a:avLst>
                <a:gd name="adj" fmla="val 23866"/>
              </a:avLst>
            </a:prstGeom>
            <a:solidFill>
              <a:srgbClr val="FFFFFF"/>
            </a:solidFill>
            <a:ln w="15240">
              <a:solidFill>
                <a:srgbClr val="334E68"/>
              </a:solidFill>
            </a:ln>
          </p:spPr>
        </p:sp>
        <p:sp>
          <p:nvSpPr>
            <p:cNvPr id="40" name="Rectangle 40"/>
            <p:cNvSpPr/>
            <p:nvPr/>
          </p:nvSpPr>
          <p:spPr>
            <a:xfrm>
              <a:off x="6019800" y="2625090"/>
              <a:ext cx="2512695" cy="399098"/>
            </a:xfrm>
            <a:prstGeom prst="roundRect">
              <a:avLst>
                <a:gd name="adj" fmla="val 23866"/>
              </a:avLst>
            </a:prstGeom>
            <a:solidFill>
              <a:srgbClr val="FFFFFF"/>
            </a:solidFill>
            <a:ln w="15240">
              <a:solidFill>
                <a:srgbClr val="334E68"/>
              </a:solidFill>
            </a:ln>
          </p:spPr>
        </p:sp>
        <p:sp>
          <p:nvSpPr>
            <p:cNvPr id="41" name="Rectangle 41"/>
            <p:cNvSpPr/>
            <p:nvPr/>
          </p:nvSpPr>
          <p:spPr>
            <a:xfrm>
              <a:off x="6019800" y="3491865"/>
              <a:ext cx="2512695" cy="399098"/>
            </a:xfrm>
            <a:prstGeom prst="roundRect">
              <a:avLst>
                <a:gd name="adj" fmla="val 19093"/>
              </a:avLst>
            </a:prstGeom>
            <a:solidFill>
              <a:srgbClr val="FEF3C7"/>
            </a:solidFill>
            <a:ln>
              <a:noFill/>
            </a:ln>
          </p:spPr>
        </p:sp>
        <p:sp>
          <p:nvSpPr>
            <p:cNvPr id="42" name="Rectangle 42"/>
            <p:cNvSpPr/>
            <p:nvPr/>
          </p:nvSpPr>
          <p:spPr>
            <a:xfrm>
              <a:off x="8942070" y="1758315"/>
              <a:ext cx="2512695" cy="399098"/>
            </a:xfrm>
            <a:prstGeom prst="roundRect">
              <a:avLst>
                <a:gd name="adj" fmla="val 23866"/>
              </a:avLst>
            </a:prstGeom>
            <a:solidFill>
              <a:srgbClr val="FFFFFF"/>
            </a:solidFill>
            <a:ln w="15240">
              <a:solidFill>
                <a:srgbClr val="334E68"/>
              </a:solidFill>
            </a:ln>
          </p:spPr>
        </p:sp>
        <p:sp>
          <p:nvSpPr>
            <p:cNvPr id="43" name="Rectangle 43"/>
            <p:cNvSpPr/>
            <p:nvPr/>
          </p:nvSpPr>
          <p:spPr>
            <a:xfrm>
              <a:off x="8942070" y="2625090"/>
              <a:ext cx="2512695" cy="399098"/>
            </a:xfrm>
            <a:prstGeom prst="roundRect">
              <a:avLst>
                <a:gd name="adj" fmla="val 23866"/>
              </a:avLst>
            </a:prstGeom>
            <a:solidFill>
              <a:srgbClr val="E7EDF3"/>
            </a:solidFill>
            <a:ln w="19050">
              <a:solidFill>
                <a:srgbClr val="334E68"/>
              </a:solidFill>
            </a:ln>
          </p:spPr>
        </p:sp>
        <p:sp>
          <p:nvSpPr>
            <p:cNvPr id="44" name="Rectangle 44"/>
            <p:cNvSpPr/>
            <p:nvPr/>
          </p:nvSpPr>
          <p:spPr>
            <a:xfrm>
              <a:off x="8942070" y="3491865"/>
              <a:ext cx="2512695" cy="399098"/>
            </a:xfrm>
            <a:prstGeom prst="roundRect">
              <a:avLst>
                <a:gd name="adj" fmla="val 23866"/>
              </a:avLst>
            </a:prstGeom>
            <a:solidFill>
              <a:srgbClr val="FFFFFF"/>
            </a:solidFill>
            <a:ln w="15240">
              <a:solidFill>
                <a:srgbClr val="334E68"/>
              </a:solidFill>
            </a:ln>
          </p:spPr>
        </p:sp>
        <p:sp>
          <p:nvSpPr>
            <p:cNvPr id="45" name="TextBox 45"/>
            <p:cNvSpPr txBox="1"/>
            <p:nvPr/>
          </p:nvSpPr>
          <p:spPr>
            <a:xfrm>
              <a:off x="6968884" y="1878806"/>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高层模块</a:t>
              </a:r>
            </a:p>
          </p:txBody>
        </p:sp>
        <p:sp>
          <p:nvSpPr>
            <p:cNvPr id="46" name="TextBox 46"/>
            <p:cNvSpPr txBox="1"/>
            <p:nvPr/>
          </p:nvSpPr>
          <p:spPr>
            <a:xfrm>
              <a:off x="6968884" y="2745581"/>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低层模块</a:t>
              </a:r>
            </a:p>
          </p:txBody>
        </p:sp>
        <p:sp>
          <p:nvSpPr>
            <p:cNvPr id="47" name="TextBox 47"/>
            <p:cNvSpPr txBox="1"/>
            <p:nvPr/>
          </p:nvSpPr>
          <p:spPr>
            <a:xfrm>
              <a:off x="6365786" y="3612356"/>
              <a:ext cx="1820723"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结构化设计：高层依赖低层</a:t>
              </a:r>
            </a:p>
          </p:txBody>
        </p:sp>
        <p:sp>
          <p:nvSpPr>
            <p:cNvPr id="48" name="TextBox 48"/>
            <p:cNvSpPr txBox="1"/>
            <p:nvPr/>
          </p:nvSpPr>
          <p:spPr>
            <a:xfrm>
              <a:off x="9890201" y="1878806"/>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高层模块</a:t>
              </a:r>
            </a:p>
          </p:txBody>
        </p:sp>
        <p:sp>
          <p:nvSpPr>
            <p:cNvPr id="49" name="TextBox 49"/>
            <p:cNvSpPr txBox="1"/>
            <p:nvPr/>
          </p:nvSpPr>
          <p:spPr>
            <a:xfrm>
              <a:off x="9890201" y="2745581"/>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抽象接口</a:t>
              </a:r>
            </a:p>
          </p:txBody>
        </p:sp>
        <p:sp>
          <p:nvSpPr>
            <p:cNvPr id="50" name="TextBox 50"/>
            <p:cNvSpPr txBox="1"/>
            <p:nvPr/>
          </p:nvSpPr>
          <p:spPr>
            <a:xfrm>
              <a:off x="9890201" y="3612356"/>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低层实现</a:t>
              </a:r>
            </a:p>
          </p:txBody>
        </p:sp>
        <p:sp>
          <p:nvSpPr>
            <p:cNvPr id="51" name="Rectangle 51"/>
            <p:cNvSpPr/>
            <p:nvPr/>
          </p:nvSpPr>
          <p:spPr>
            <a:xfrm>
              <a:off x="7304722" y="2305050"/>
              <a:ext cx="343852" cy="179070"/>
            </a:xfrm>
            <a:prstGeom prst="roundRect">
              <a:avLst>
                <a:gd name="adj" fmla="val 21277"/>
              </a:avLst>
            </a:prstGeom>
            <a:solidFill>
              <a:srgbClr val="FFFFFF"/>
            </a:solidFill>
            <a:ln>
              <a:noFill/>
            </a:ln>
          </p:spPr>
        </p:sp>
        <p:sp>
          <p:nvSpPr>
            <p:cNvPr id="52" name="TextBox 52"/>
            <p:cNvSpPr txBox="1"/>
            <p:nvPr/>
          </p:nvSpPr>
          <p:spPr>
            <a:xfrm>
              <a:off x="7328344" y="2330291"/>
              <a:ext cx="273761"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依赖</a:t>
              </a:r>
            </a:p>
          </p:txBody>
        </p:sp>
        <p:sp>
          <p:nvSpPr>
            <p:cNvPr id="53" name="Rectangle 53"/>
            <p:cNvSpPr/>
            <p:nvPr/>
          </p:nvSpPr>
          <p:spPr>
            <a:xfrm>
              <a:off x="10226040" y="2305050"/>
              <a:ext cx="343852" cy="179070"/>
            </a:xfrm>
            <a:prstGeom prst="roundRect">
              <a:avLst>
                <a:gd name="adj" fmla="val 21277"/>
              </a:avLst>
            </a:prstGeom>
            <a:solidFill>
              <a:srgbClr val="FFFFFF"/>
            </a:solidFill>
            <a:ln>
              <a:noFill/>
            </a:ln>
          </p:spPr>
        </p:sp>
        <p:sp>
          <p:nvSpPr>
            <p:cNvPr id="54" name="TextBox 54"/>
            <p:cNvSpPr txBox="1"/>
            <p:nvPr/>
          </p:nvSpPr>
          <p:spPr>
            <a:xfrm>
              <a:off x="10249662" y="2330291"/>
              <a:ext cx="273761"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依赖</a:t>
              </a:r>
            </a:p>
          </p:txBody>
        </p:sp>
        <p:sp>
          <p:nvSpPr>
            <p:cNvPr id="55" name="Rectangle 55"/>
            <p:cNvSpPr/>
            <p:nvPr/>
          </p:nvSpPr>
          <p:spPr>
            <a:xfrm>
              <a:off x="10226040" y="3301365"/>
              <a:ext cx="343852" cy="179070"/>
            </a:xfrm>
            <a:prstGeom prst="roundRect">
              <a:avLst>
                <a:gd name="adj" fmla="val 21277"/>
              </a:avLst>
            </a:prstGeom>
            <a:solidFill>
              <a:srgbClr val="FFFFFF"/>
            </a:solidFill>
            <a:ln>
              <a:noFill/>
            </a:ln>
          </p:spPr>
        </p:sp>
        <p:sp>
          <p:nvSpPr>
            <p:cNvPr id="56" name="TextBox 56"/>
            <p:cNvSpPr txBox="1"/>
            <p:nvPr/>
          </p:nvSpPr>
          <p:spPr>
            <a:xfrm>
              <a:off x="10249662" y="3325654"/>
              <a:ext cx="273761"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实现</a:t>
              </a:r>
            </a:p>
          </p:txBody>
        </p:sp>
      </p:grpSp>
      <p:grpSp>
        <p:nvGrpSpPr>
          <p:cNvPr id="64" name="c2-card-2"/>
          <p:cNvGrpSpPr/>
          <p:nvPr/>
        </p:nvGrpSpPr>
        <p:grpSpPr>
          <a:xfrm>
            <a:off x="5815965" y="4299585"/>
            <a:ext cx="5842635" cy="1800225"/>
            <a:chOff x="5815965" y="4299585"/>
            <a:chExt cx="5842635" cy="1800225"/>
          </a:xfrm>
        </p:grpSpPr>
        <p:sp>
          <p:nvSpPr>
            <p:cNvPr id="58" name="Rectangle 58"/>
            <p:cNvSpPr/>
            <p:nvPr/>
          </p:nvSpPr>
          <p:spPr>
            <a:xfrm>
              <a:off x="5815965" y="4299585"/>
              <a:ext cx="5842635" cy="1800225"/>
            </a:xfrm>
            <a:prstGeom prst="roundRect">
              <a:avLst>
                <a:gd name="adj" fmla="val 7407"/>
              </a:avLst>
            </a:prstGeom>
            <a:solidFill>
              <a:srgbClr val="FFFFFF"/>
            </a:solidFill>
            <a:ln w="14288">
              <a:solidFill>
                <a:srgbClr val="D9DFEA"/>
              </a:solidFill>
            </a:ln>
          </p:spPr>
        </p:sp>
        <p:sp>
          <p:nvSpPr>
            <p:cNvPr id="59" name="Rectangle 59"/>
            <p:cNvSpPr/>
            <p:nvPr/>
          </p:nvSpPr>
          <p:spPr>
            <a:xfrm>
              <a:off x="5825490" y="4432935"/>
              <a:ext cx="47625" cy="1533525"/>
            </a:xfrm>
            <a:prstGeom prst="roundRect">
              <a:avLst>
                <a:gd name="adj" fmla="val 50000"/>
              </a:avLst>
            </a:prstGeom>
            <a:solidFill>
              <a:srgbClr val="5B6475"/>
            </a:solidFill>
            <a:ln>
              <a:noFill/>
            </a:ln>
          </p:spPr>
        </p:sp>
        <p:sp>
          <p:nvSpPr>
            <p:cNvPr id="60" name="TextBox 60"/>
            <p:cNvSpPr txBox="1"/>
            <p:nvPr/>
          </p:nvSpPr>
          <p:spPr>
            <a:xfrm>
              <a:off x="6039612" y="4513898"/>
              <a:ext cx="146761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为什么抽象更稳定</a:t>
              </a:r>
            </a:p>
          </p:txBody>
        </p:sp>
        <p:sp>
          <p:nvSpPr>
            <p:cNvPr id="61" name="TextBox 61"/>
            <p:cNvSpPr txBox="1"/>
            <p:nvPr/>
          </p:nvSpPr>
          <p:spPr>
            <a:xfrm>
              <a:off x="6039612" y="4833937"/>
              <a:ext cx="528408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一般情况下抽象接口的变化概率很小，实现细节的变化概率很大。</a:t>
              </a:r>
            </a:p>
          </p:txBody>
        </p:sp>
        <p:sp>
          <p:nvSpPr>
            <p:cNvPr id="62" name="TextBox 62"/>
            <p:cNvSpPr txBox="1"/>
            <p:nvPr/>
          </p:nvSpPr>
          <p:spPr>
            <a:xfrm>
              <a:off x="6039612" y="5136833"/>
              <a:ext cx="51572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让客户类依赖抽象，实现细节也依赖抽象；只要抽象不变，客户程序</a:t>
              </a:r>
              <a:br/>
              <a:r>
                <a:rPr lang="zh-CN" sz="1350" dirty="0">
                  <a:solidFill>
                    <a:srgbClr val="1F2937"/>
                  </a:solidFill>
                  <a:latin typeface="+mn-lt"/>
                  <a:ea typeface="+mn-ea"/>
                  <a:cs typeface="+mn-cs"/>
                </a:rPr>
                <a:t>就不用变。</a:t>
              </a:r>
            </a:p>
          </p:txBody>
        </p:sp>
        <p:sp>
          <p:nvSpPr>
            <p:cNvPr id="63" name="TextBox 63"/>
            <p:cNvSpPr txBox="1"/>
            <p:nvPr/>
          </p:nvSpPr>
          <p:spPr>
            <a:xfrm>
              <a:off x="6039612" y="5695950"/>
              <a:ext cx="401193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这样就把客户程序与实现细节的耦合度降了下来。</a:t>
              </a:r>
            </a:p>
          </p:txBody>
        </p:sp>
      </p:grpSp>
      <p:grpSp>
        <p:nvGrpSpPr>
          <p:cNvPr id="67" name="footer"/>
          <p:cNvGrpSpPr/>
          <p:nvPr/>
        </p:nvGrpSpPr>
        <p:grpSpPr>
          <a:xfrm>
            <a:off x="528447" y="6581299"/>
            <a:ext cx="11135106" cy="190690"/>
            <a:chOff x="528447" y="6581299"/>
            <a:chExt cx="11135106" cy="190690"/>
          </a:xfrm>
        </p:grpSpPr>
        <p:sp>
          <p:nvSpPr>
            <p:cNvPr id="65" name="TextBox 65"/>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66" name="TextBox 6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26</a:t>
              </a:r>
            </a:p>
          </p:txBody>
        </p:sp>
      </p:grpSp>
    </p:spTree>
  </p:cSld>
  <p:clrMapOvr>
    <a:masterClrMapping/>
  </p:clrMapOvr>
  <p:transition xmlns:p14="http://schemas.microsoft.com/office/powerpoint/2010/main" p14:dur="4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306040" cy="909257"/>
            <a:chOff x="520446" y="342900"/>
            <a:chExt cx="7306040" cy="909257"/>
          </a:xfrm>
        </p:grpSpPr>
        <p:sp>
          <p:nvSpPr>
            <p:cNvPr id="2" name="Rectangle 2"/>
            <p:cNvSpPr/>
            <p:nvPr/>
          </p:nvSpPr>
          <p:spPr>
            <a:xfrm>
              <a:off x="533400" y="342900"/>
              <a:ext cx="2660332" cy="266700"/>
            </a:xfrm>
            <a:prstGeom prst="roundRect">
              <a:avLst>
                <a:gd name="adj" fmla="val 50000"/>
              </a:avLst>
            </a:prstGeom>
            <a:solidFill>
              <a:srgbClr val="E7EDF3"/>
            </a:solidFill>
            <a:ln>
              <a:noFill/>
            </a:ln>
          </p:spPr>
        </p:sp>
        <p:sp>
          <p:nvSpPr>
            <p:cNvPr id="3" name="TextBox 3"/>
            <p:cNvSpPr txBox="1"/>
            <p:nvPr/>
          </p:nvSpPr>
          <p:spPr>
            <a:xfrm>
              <a:off x="570203" y="407194"/>
              <a:ext cx="25857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SOLID 五原则</a:t>
              </a:r>
            </a:p>
          </p:txBody>
        </p:sp>
        <p:sp>
          <p:nvSpPr>
            <p:cNvPr id="4" name="TextBox 4"/>
            <p:cNvSpPr txBox="1"/>
            <p:nvPr/>
          </p:nvSpPr>
          <p:spPr>
            <a:xfrm>
              <a:off x="520446" y="753428"/>
              <a:ext cx="730604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 6 无人机自动驾驶：直接依赖具体机型的代价</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780" y="1548765"/>
            <a:ext cx="11019228" cy="293370"/>
            <a:chOff x="525780" y="1548765"/>
            <a:chExt cx="11019228" cy="293370"/>
          </a:xfrm>
        </p:grpSpPr>
        <p:sp>
          <p:nvSpPr>
            <p:cNvPr id="7" name="TextBox 7"/>
            <p:cNvSpPr txBox="1"/>
            <p:nvPr/>
          </p:nvSpPr>
          <p:spPr>
            <a:xfrm>
              <a:off x="525780" y="1548765"/>
              <a:ext cx="11019228" cy="293370"/>
            </a:xfrm>
            <a:prstGeom prst="rect">
              <a:avLst/>
            </a:prstGeom>
            <a:noFill/>
            <a:ln>
              <a:noFill/>
            </a:ln>
          </p:spPr>
          <p:txBody>
            <a:bodyPr wrap="none" lIns="0" tIns="0" rIns="0" bIns="0" anchor="t" anchorCtr="0">
              <a:spAutoFit/>
            </a:bodyPr>
            <a:lstStyle/>
            <a:p>
              <a:pPr algn="l"/>
              <a:r>
                <a:rPr lang="zh-CN" sz="1500" dirty="0">
                  <a:solidFill>
                    <a:srgbClr val="5B6475"/>
                  </a:solidFill>
                  <a:latin typeface="+mn-lt"/>
                  <a:ea typeface="+mn-ea"/>
                  <a:cs typeface="+mn-cs"/>
                </a:rPr>
                <a:t>系统要自动操纵波音和空客两种无人机，每种机型都有 takeOff()、climb()、cruise()、descend()、land() 五个方法。</a:t>
              </a:r>
            </a:p>
          </p:txBody>
        </p:sp>
      </p:grpSp>
      <p:grpSp>
        <p:nvGrpSpPr>
          <p:cNvPr id="32" name="c1-uml-1"/>
          <p:cNvGrpSpPr/>
          <p:nvPr/>
        </p:nvGrpSpPr>
        <p:grpSpPr>
          <a:xfrm>
            <a:off x="1137285" y="2203132"/>
            <a:ext cx="4059555" cy="3669982"/>
            <a:chOff x="1137285" y="2203132"/>
            <a:chExt cx="4059555" cy="3669982"/>
          </a:xfrm>
        </p:grpSpPr>
        <p:sp>
          <p:nvSpPr>
            <p:cNvPr id="9" name="Freeform 9"/>
            <p:cNvSpPr/>
            <p:nvPr/>
          </p:nvSpPr>
          <p:spPr>
            <a:xfrm>
              <a:off x="1790700" y="3877628"/>
              <a:ext cx="95250" cy="672465"/>
            </a:xfrm>
            <a:custGeom>
              <a:avLst/>
              <a:gdLst/>
              <a:ahLst/>
              <a:cxnLst/>
              <a:rect l="l" t="t" r="r" b="b"/>
              <a:pathLst>
                <a:path w="95250" h="672465">
                  <a:moveTo>
                    <a:pt x="0" y="0"/>
                  </a:moveTo>
                  <a:lnTo>
                    <a:pt x="0" y="336232"/>
                  </a:lnTo>
                  <a:lnTo>
                    <a:pt x="95250" y="336232"/>
                  </a:lnTo>
                  <a:lnTo>
                    <a:pt x="95250" y="672465"/>
                  </a:lnTo>
                </a:path>
              </a:pathLst>
            </a:custGeom>
            <a:noFill/>
            <a:ln w="15240">
              <a:solidFill>
                <a:srgbClr val="1F2937"/>
              </a:solidFill>
              <a:custDash>
                <a:ds d="375000" sp="250000"/>
              </a:custDash>
            </a:ln>
          </p:spPr>
        </p:sp>
        <p:sp>
          <p:nvSpPr>
            <p:cNvPr id="10" name="Freeform 10"/>
            <p:cNvSpPr/>
            <p:nvPr/>
          </p:nvSpPr>
          <p:spPr>
            <a:xfrm>
              <a:off x="1827848" y="4445318"/>
              <a:ext cx="116205" cy="104775"/>
            </a:xfrm>
            <a:custGeom>
              <a:avLst/>
              <a:gdLst/>
              <a:ahLst/>
              <a:cxnLst/>
              <a:rect l="l" t="t" r="r" b="b"/>
              <a:pathLst>
                <a:path w="116205" h="104775">
                  <a:moveTo>
                    <a:pt x="0" y="0"/>
                  </a:moveTo>
                  <a:lnTo>
                    <a:pt x="58102" y="104775"/>
                  </a:lnTo>
                  <a:lnTo>
                    <a:pt x="116205" y="0"/>
                  </a:lnTo>
                </a:path>
              </a:pathLst>
            </a:custGeom>
            <a:noFill/>
            <a:ln w="15240">
              <a:solidFill>
                <a:srgbClr val="1F2937"/>
              </a:solidFill>
            </a:ln>
          </p:spPr>
        </p:sp>
        <p:sp>
          <p:nvSpPr>
            <p:cNvPr id="11" name="Freeform 11"/>
            <p:cNvSpPr/>
            <p:nvPr/>
          </p:nvSpPr>
          <p:spPr>
            <a:xfrm>
              <a:off x="1981200" y="3877628"/>
              <a:ext cx="2609850" cy="672465"/>
            </a:xfrm>
            <a:custGeom>
              <a:avLst/>
              <a:gdLst/>
              <a:ahLst/>
              <a:cxnLst/>
              <a:rect l="l" t="t" r="r" b="b"/>
              <a:pathLst>
                <a:path w="2609850" h="672465">
                  <a:moveTo>
                    <a:pt x="0" y="0"/>
                  </a:moveTo>
                  <a:lnTo>
                    <a:pt x="0" y="336232"/>
                  </a:lnTo>
                  <a:lnTo>
                    <a:pt x="2609850" y="336232"/>
                  </a:lnTo>
                  <a:lnTo>
                    <a:pt x="2609850" y="672465"/>
                  </a:lnTo>
                </a:path>
              </a:pathLst>
            </a:custGeom>
            <a:noFill/>
            <a:ln w="15240">
              <a:solidFill>
                <a:srgbClr val="1F2937"/>
              </a:solidFill>
              <a:custDash>
                <a:ds d="375000" sp="250000"/>
              </a:custDash>
            </a:ln>
          </p:spPr>
        </p:sp>
        <p:sp>
          <p:nvSpPr>
            <p:cNvPr id="12" name="Freeform 12"/>
            <p:cNvSpPr/>
            <p:nvPr/>
          </p:nvSpPr>
          <p:spPr>
            <a:xfrm>
              <a:off x="4533900" y="4445318"/>
              <a:ext cx="115253" cy="104775"/>
            </a:xfrm>
            <a:custGeom>
              <a:avLst/>
              <a:gdLst/>
              <a:ahLst/>
              <a:cxnLst/>
              <a:rect l="l" t="t" r="r" b="b"/>
              <a:pathLst>
                <a:path w="115253" h="104775">
                  <a:moveTo>
                    <a:pt x="0" y="0"/>
                  </a:moveTo>
                  <a:lnTo>
                    <a:pt x="57150" y="104775"/>
                  </a:lnTo>
                  <a:lnTo>
                    <a:pt x="115253" y="0"/>
                  </a:lnTo>
                </a:path>
              </a:pathLst>
            </a:custGeom>
            <a:noFill/>
            <a:ln w="15240">
              <a:solidFill>
                <a:srgbClr val="1F2937"/>
              </a:solidFill>
            </a:ln>
          </p:spPr>
        </p:sp>
        <p:sp>
          <p:nvSpPr>
            <p:cNvPr id="13" name="Rectangle 13"/>
            <p:cNvSpPr/>
            <p:nvPr/>
          </p:nvSpPr>
          <p:spPr>
            <a:xfrm>
              <a:off x="1137285" y="2203132"/>
              <a:ext cx="1496378" cy="1674495"/>
            </a:xfrm>
            <a:prstGeom prst="rect">
              <a:avLst/>
            </a:prstGeom>
            <a:solidFill>
              <a:srgbClr val="FFFFFF"/>
            </a:solidFill>
            <a:ln w="14288">
              <a:solidFill>
                <a:srgbClr val="334E68"/>
              </a:solidFill>
            </a:ln>
          </p:spPr>
        </p:sp>
        <p:sp>
          <p:nvSpPr>
            <p:cNvPr id="14" name="Rectangle 14"/>
            <p:cNvSpPr/>
            <p:nvPr/>
          </p:nvSpPr>
          <p:spPr>
            <a:xfrm>
              <a:off x="1144905" y="2209800"/>
              <a:ext cx="1482090" cy="245745"/>
            </a:xfrm>
            <a:prstGeom prst="rect">
              <a:avLst/>
            </a:prstGeom>
            <a:solidFill>
              <a:srgbClr val="334E68"/>
            </a:solidFill>
            <a:ln>
              <a:noFill/>
            </a:ln>
          </p:spPr>
        </p:sp>
        <p:sp>
          <p:nvSpPr>
            <p:cNvPr id="15" name="Rectangle 15"/>
            <p:cNvSpPr/>
            <p:nvPr/>
          </p:nvSpPr>
          <p:spPr>
            <a:xfrm>
              <a:off x="1137285" y="2451735"/>
              <a:ext cx="1496378" cy="9525"/>
            </a:xfrm>
            <a:prstGeom prst="rect">
              <a:avLst/>
            </a:prstGeom>
            <a:solidFill>
              <a:srgbClr val="334E68"/>
            </a:solidFill>
            <a:ln>
              <a:noFill/>
            </a:ln>
          </p:spPr>
        </p:sp>
        <p:sp>
          <p:nvSpPr>
            <p:cNvPr id="16" name="Rectangle 16"/>
            <p:cNvSpPr/>
            <p:nvPr/>
          </p:nvSpPr>
          <p:spPr>
            <a:xfrm>
              <a:off x="1137285" y="2898458"/>
              <a:ext cx="1496378" cy="9525"/>
            </a:xfrm>
            <a:prstGeom prst="rect">
              <a:avLst/>
            </a:prstGeom>
            <a:solidFill>
              <a:srgbClr val="334E68"/>
            </a:solidFill>
            <a:ln>
              <a:noFill/>
            </a:ln>
          </p:spPr>
        </p:sp>
        <p:sp>
          <p:nvSpPr>
            <p:cNvPr id="17" name="Rectangle 17"/>
            <p:cNvSpPr/>
            <p:nvPr/>
          </p:nvSpPr>
          <p:spPr>
            <a:xfrm>
              <a:off x="1281112" y="4550092"/>
              <a:ext cx="1210628" cy="1323022"/>
            </a:xfrm>
            <a:prstGeom prst="rect">
              <a:avLst/>
            </a:prstGeom>
            <a:solidFill>
              <a:srgbClr val="FFFFFF"/>
            </a:solidFill>
            <a:ln w="14288">
              <a:solidFill>
                <a:srgbClr val="334E68"/>
              </a:solidFill>
            </a:ln>
          </p:spPr>
        </p:sp>
        <p:sp>
          <p:nvSpPr>
            <p:cNvPr id="18" name="Rectangle 18"/>
            <p:cNvSpPr/>
            <p:nvPr/>
          </p:nvSpPr>
          <p:spPr>
            <a:xfrm>
              <a:off x="1287780" y="4556760"/>
              <a:ext cx="1196340" cy="245745"/>
            </a:xfrm>
            <a:prstGeom prst="rect">
              <a:avLst/>
            </a:prstGeom>
            <a:solidFill>
              <a:srgbClr val="E7EDF3"/>
            </a:solidFill>
            <a:ln>
              <a:noFill/>
            </a:ln>
          </p:spPr>
        </p:sp>
        <p:sp>
          <p:nvSpPr>
            <p:cNvPr id="19" name="Rectangle 19"/>
            <p:cNvSpPr/>
            <p:nvPr/>
          </p:nvSpPr>
          <p:spPr>
            <a:xfrm>
              <a:off x="1281112" y="4798695"/>
              <a:ext cx="1210628" cy="9525"/>
            </a:xfrm>
            <a:prstGeom prst="rect">
              <a:avLst/>
            </a:prstGeom>
            <a:solidFill>
              <a:srgbClr val="334E68"/>
            </a:solidFill>
            <a:ln>
              <a:noFill/>
            </a:ln>
          </p:spPr>
        </p:sp>
        <p:sp>
          <p:nvSpPr>
            <p:cNvPr id="20" name="Rectangle 20"/>
            <p:cNvSpPr/>
            <p:nvPr/>
          </p:nvSpPr>
          <p:spPr>
            <a:xfrm>
              <a:off x="1281112" y="4893945"/>
              <a:ext cx="1210628" cy="9525"/>
            </a:xfrm>
            <a:prstGeom prst="rect">
              <a:avLst/>
            </a:prstGeom>
            <a:solidFill>
              <a:srgbClr val="334E68"/>
            </a:solidFill>
            <a:ln>
              <a:noFill/>
            </a:ln>
          </p:spPr>
        </p:sp>
        <p:sp>
          <p:nvSpPr>
            <p:cNvPr id="21" name="Rectangle 21"/>
            <p:cNvSpPr/>
            <p:nvPr/>
          </p:nvSpPr>
          <p:spPr>
            <a:xfrm>
              <a:off x="3986212" y="4550092"/>
              <a:ext cx="1210628" cy="1323022"/>
            </a:xfrm>
            <a:prstGeom prst="rect">
              <a:avLst/>
            </a:prstGeom>
            <a:solidFill>
              <a:srgbClr val="FFFFFF"/>
            </a:solidFill>
            <a:ln w="14288">
              <a:solidFill>
                <a:srgbClr val="334E68"/>
              </a:solidFill>
            </a:ln>
          </p:spPr>
        </p:sp>
        <p:sp>
          <p:nvSpPr>
            <p:cNvPr id="22" name="Rectangle 22"/>
            <p:cNvSpPr/>
            <p:nvPr/>
          </p:nvSpPr>
          <p:spPr>
            <a:xfrm>
              <a:off x="3992880" y="4556760"/>
              <a:ext cx="1196340" cy="245745"/>
            </a:xfrm>
            <a:prstGeom prst="rect">
              <a:avLst/>
            </a:prstGeom>
            <a:solidFill>
              <a:srgbClr val="E7EDF3"/>
            </a:solidFill>
            <a:ln>
              <a:noFill/>
            </a:ln>
          </p:spPr>
        </p:sp>
        <p:sp>
          <p:nvSpPr>
            <p:cNvPr id="23" name="Rectangle 23"/>
            <p:cNvSpPr/>
            <p:nvPr/>
          </p:nvSpPr>
          <p:spPr>
            <a:xfrm>
              <a:off x="3986212" y="4798695"/>
              <a:ext cx="1210628" cy="9525"/>
            </a:xfrm>
            <a:prstGeom prst="rect">
              <a:avLst/>
            </a:prstGeom>
            <a:solidFill>
              <a:srgbClr val="334E68"/>
            </a:solidFill>
            <a:ln>
              <a:noFill/>
            </a:ln>
          </p:spPr>
        </p:sp>
        <p:sp>
          <p:nvSpPr>
            <p:cNvPr id="24" name="Rectangle 24"/>
            <p:cNvSpPr/>
            <p:nvPr/>
          </p:nvSpPr>
          <p:spPr>
            <a:xfrm>
              <a:off x="3986212" y="4893945"/>
              <a:ext cx="1210628" cy="9525"/>
            </a:xfrm>
            <a:prstGeom prst="rect">
              <a:avLst/>
            </a:prstGeom>
            <a:solidFill>
              <a:srgbClr val="334E68"/>
            </a:solidFill>
            <a:ln>
              <a:noFill/>
            </a:ln>
          </p:spPr>
        </p:sp>
        <p:sp>
          <p:nvSpPr>
            <p:cNvPr id="25" name="TextBox 25"/>
            <p:cNvSpPr txBox="1"/>
            <p:nvPr/>
          </p:nvSpPr>
          <p:spPr>
            <a:xfrm>
              <a:off x="1346848" y="2263140"/>
              <a:ext cx="1078205"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AutoAirSystem</a:t>
              </a:r>
            </a:p>
          </p:txBody>
        </p:sp>
        <p:sp>
          <p:nvSpPr>
            <p:cNvPr id="26" name="TextBox 26"/>
            <p:cNvSpPr txBox="1"/>
            <p:nvPr/>
          </p:nvSpPr>
          <p:spPr>
            <a:xfrm>
              <a:off x="1208532" y="2522696"/>
              <a:ext cx="943356" cy="366903"/>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-boeing: Boeing</a:t>
              </a:r>
              <a:br/>
              <a:r>
                <a:rPr lang="en-US" sz="980" dirty="0">
                  <a:solidFill>
                    <a:srgbClr val="1F2937"/>
                  </a:solidFill>
                  <a:latin typeface="+mn-lt"/>
                  <a:ea typeface="+mn-ea"/>
                  <a:cs typeface="+mn-cs"/>
                </a:rPr>
                <a:t>-airbus: Airbus</a:t>
              </a:r>
            </a:p>
          </p:txBody>
        </p:sp>
        <p:sp>
          <p:nvSpPr>
            <p:cNvPr id="27" name="TextBox 27"/>
            <p:cNvSpPr txBox="1"/>
            <p:nvPr/>
          </p:nvSpPr>
          <p:spPr>
            <a:xfrm>
              <a:off x="1208532" y="2969419"/>
              <a:ext cx="1354074" cy="895540"/>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+doTakingOff(): void</a:t>
              </a:r>
              <a:br/>
              <a:r>
                <a:rPr lang="en-US" sz="980" dirty="0">
                  <a:solidFill>
                    <a:srgbClr val="1F2937"/>
                  </a:solidFill>
                  <a:latin typeface="+mn-lt"/>
                  <a:ea typeface="+mn-ea"/>
                  <a:cs typeface="+mn-cs"/>
                </a:rPr>
                <a:t>+doClimbing(): void</a:t>
              </a:r>
              <a:br/>
              <a:r>
                <a:rPr lang="en-US" sz="980" dirty="0">
                  <a:solidFill>
                    <a:srgbClr val="1F2937"/>
                  </a:solidFill>
                  <a:latin typeface="+mn-lt"/>
                  <a:ea typeface="+mn-ea"/>
                  <a:cs typeface="+mn-cs"/>
                </a:rPr>
                <a:t>+doCruising(): void</a:t>
              </a:r>
              <a:br/>
              <a:r>
                <a:rPr lang="en-US" sz="980" dirty="0">
                  <a:solidFill>
                    <a:srgbClr val="1F2937"/>
                  </a:solidFill>
                  <a:latin typeface="+mn-lt"/>
                  <a:ea typeface="+mn-ea"/>
                  <a:cs typeface="+mn-cs"/>
                </a:rPr>
                <a:t>+doDescending(): void</a:t>
              </a:r>
              <a:br/>
              <a:r>
                <a:rPr lang="en-US" sz="980" dirty="0">
                  <a:solidFill>
                    <a:srgbClr val="1F2937"/>
                  </a:solidFill>
                  <a:latin typeface="+mn-lt"/>
                  <a:ea typeface="+mn-ea"/>
                  <a:cs typeface="+mn-cs"/>
                </a:rPr>
                <a:t>+doLanding(): void</a:t>
              </a:r>
            </a:p>
          </p:txBody>
        </p:sp>
        <p:sp>
          <p:nvSpPr>
            <p:cNvPr id="28" name="TextBox 28"/>
            <p:cNvSpPr txBox="1"/>
            <p:nvPr/>
          </p:nvSpPr>
          <p:spPr>
            <a:xfrm>
              <a:off x="1652142" y="4610100"/>
              <a:ext cx="467615"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Boeing</a:t>
              </a:r>
            </a:p>
          </p:txBody>
        </p:sp>
        <p:sp>
          <p:nvSpPr>
            <p:cNvPr id="29" name="TextBox 29"/>
            <p:cNvSpPr txBox="1"/>
            <p:nvPr/>
          </p:nvSpPr>
          <p:spPr>
            <a:xfrm>
              <a:off x="1352360" y="4964906"/>
              <a:ext cx="1067816" cy="895540"/>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+takeOff(): void</a:t>
              </a:r>
              <a:br/>
              <a:r>
                <a:rPr lang="en-US" sz="980" dirty="0">
                  <a:solidFill>
                    <a:srgbClr val="1F2937"/>
                  </a:solidFill>
                  <a:latin typeface="+mn-lt"/>
                  <a:ea typeface="+mn-ea"/>
                  <a:cs typeface="+mn-cs"/>
                </a:rPr>
                <a:t>+climb(): void</a:t>
              </a:r>
              <a:br/>
              <a:r>
                <a:rPr lang="en-US" sz="980" dirty="0">
                  <a:solidFill>
                    <a:srgbClr val="1F2937"/>
                  </a:solidFill>
                  <a:latin typeface="+mn-lt"/>
                  <a:ea typeface="+mn-ea"/>
                  <a:cs typeface="+mn-cs"/>
                </a:rPr>
                <a:t>+cruise(): void</a:t>
              </a:r>
              <a:br/>
              <a:r>
                <a:rPr lang="en-US" sz="980" dirty="0">
                  <a:solidFill>
                    <a:srgbClr val="1F2937"/>
                  </a:solidFill>
                  <a:latin typeface="+mn-lt"/>
                  <a:ea typeface="+mn-ea"/>
                  <a:cs typeface="+mn-cs"/>
                </a:rPr>
                <a:t>+descend(): void</a:t>
              </a:r>
              <a:br/>
              <a:r>
                <a:rPr lang="en-US" sz="980" dirty="0">
                  <a:solidFill>
                    <a:srgbClr val="1F2937"/>
                  </a:solidFill>
                  <a:latin typeface="+mn-lt"/>
                  <a:ea typeface="+mn-ea"/>
                  <a:cs typeface="+mn-cs"/>
                </a:rPr>
                <a:t>+land(): void</a:t>
              </a:r>
            </a:p>
          </p:txBody>
        </p:sp>
        <p:sp>
          <p:nvSpPr>
            <p:cNvPr id="30" name="TextBox 30"/>
            <p:cNvSpPr txBox="1"/>
            <p:nvPr/>
          </p:nvSpPr>
          <p:spPr>
            <a:xfrm>
              <a:off x="4357242" y="4610100"/>
              <a:ext cx="467615"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Airbus</a:t>
              </a:r>
            </a:p>
          </p:txBody>
        </p:sp>
        <p:sp>
          <p:nvSpPr>
            <p:cNvPr id="31" name="TextBox 31"/>
            <p:cNvSpPr txBox="1"/>
            <p:nvPr/>
          </p:nvSpPr>
          <p:spPr>
            <a:xfrm>
              <a:off x="4057460" y="4964906"/>
              <a:ext cx="1067816" cy="895540"/>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+takeOff(): void</a:t>
              </a:r>
              <a:br/>
              <a:r>
                <a:rPr lang="en-US" sz="980" dirty="0">
                  <a:solidFill>
                    <a:srgbClr val="1F2937"/>
                  </a:solidFill>
                  <a:latin typeface="+mn-lt"/>
                  <a:ea typeface="+mn-ea"/>
                  <a:cs typeface="+mn-cs"/>
                </a:rPr>
                <a:t>+climb(): void</a:t>
              </a:r>
              <a:br/>
              <a:r>
                <a:rPr lang="en-US" sz="980" dirty="0">
                  <a:solidFill>
                    <a:srgbClr val="1F2937"/>
                  </a:solidFill>
                  <a:latin typeface="+mn-lt"/>
                  <a:ea typeface="+mn-ea"/>
                  <a:cs typeface="+mn-cs"/>
                </a:rPr>
                <a:t>+cruise(): void</a:t>
              </a:r>
              <a:br/>
              <a:r>
                <a:rPr lang="en-US" sz="980" dirty="0">
                  <a:solidFill>
                    <a:srgbClr val="1F2937"/>
                  </a:solidFill>
                  <a:latin typeface="+mn-lt"/>
                  <a:ea typeface="+mn-ea"/>
                  <a:cs typeface="+mn-cs"/>
                </a:rPr>
                <a:t>+descend(): void</a:t>
              </a:r>
              <a:br/>
              <a:r>
                <a:rPr lang="en-US" sz="980" dirty="0">
                  <a:solidFill>
                    <a:srgbClr val="1F2937"/>
                  </a:solidFill>
                  <a:latin typeface="+mn-lt"/>
                  <a:ea typeface="+mn-ea"/>
                  <a:cs typeface="+mn-cs"/>
                </a:rPr>
                <a:t>+land(): void</a:t>
              </a:r>
            </a:p>
          </p:txBody>
        </p:sp>
      </p:grpSp>
      <p:grpSp>
        <p:nvGrpSpPr>
          <p:cNvPr id="38" name="c2-code-1"/>
          <p:cNvGrpSpPr/>
          <p:nvPr/>
        </p:nvGrpSpPr>
        <p:grpSpPr>
          <a:xfrm>
            <a:off x="6248400" y="1954530"/>
            <a:ext cx="5410200" cy="2733675"/>
            <a:chOff x="6248400" y="1954530"/>
            <a:chExt cx="5410200" cy="2733675"/>
          </a:xfrm>
        </p:grpSpPr>
        <p:sp>
          <p:nvSpPr>
            <p:cNvPr id="33" name="Rectangle 33"/>
            <p:cNvSpPr/>
            <p:nvPr/>
          </p:nvSpPr>
          <p:spPr>
            <a:xfrm>
              <a:off x="6248400" y="1954530"/>
              <a:ext cx="5410200" cy="2733675"/>
            </a:xfrm>
            <a:prstGeom prst="roundRect">
              <a:avLst>
                <a:gd name="adj" fmla="val 3484"/>
              </a:avLst>
            </a:prstGeom>
            <a:solidFill>
              <a:srgbClr val="F6F8FA"/>
            </a:solidFill>
            <a:ln w="11430">
              <a:solidFill>
                <a:srgbClr val="D9DFEA"/>
              </a:solidFill>
            </a:ln>
          </p:spPr>
        </p:sp>
        <p:sp>
          <p:nvSpPr>
            <p:cNvPr id="34" name="TextBox 34"/>
            <p:cNvSpPr txBox="1"/>
            <p:nvPr/>
          </p:nvSpPr>
          <p:spPr>
            <a:xfrm>
              <a:off x="6376797" y="2106454"/>
              <a:ext cx="1461110"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每个方法里都要判断机型</a:t>
              </a:r>
            </a:p>
          </p:txBody>
        </p:sp>
        <p:sp>
          <p:nvSpPr>
            <p:cNvPr id="35" name="Rectangle 35"/>
            <p:cNvSpPr/>
            <p:nvPr/>
          </p:nvSpPr>
          <p:spPr>
            <a:xfrm>
              <a:off x="6267450" y="3340418"/>
              <a:ext cx="5372100" cy="202882"/>
            </a:xfrm>
            <a:prstGeom prst="rect">
              <a:avLst/>
            </a:prstGeom>
            <a:solidFill>
              <a:srgbClr val="FDEEE7"/>
            </a:solidFill>
            <a:ln>
              <a:noFill/>
            </a:ln>
          </p:spPr>
        </p:sp>
        <p:sp>
          <p:nvSpPr>
            <p:cNvPr id="36" name="Rectangle 36"/>
            <p:cNvSpPr/>
            <p:nvPr/>
          </p:nvSpPr>
          <p:spPr>
            <a:xfrm>
              <a:off x="6267450" y="3746182"/>
              <a:ext cx="5372100" cy="202882"/>
            </a:xfrm>
            <a:prstGeom prst="rect">
              <a:avLst/>
            </a:prstGeom>
            <a:solidFill>
              <a:srgbClr val="FDEEE7"/>
            </a:solidFill>
            <a:ln>
              <a:noFill/>
            </a:ln>
          </p:spPr>
        </p:sp>
        <p:sp>
          <p:nvSpPr>
            <p:cNvPr id="37" name="TextBox 37"/>
            <p:cNvSpPr txBox="1"/>
            <p:nvPr/>
          </p:nvSpPr>
          <p:spPr>
            <a:xfrm>
              <a:off x="6376035" y="2368391"/>
              <a:ext cx="3297174" cy="2248852"/>
            </a:xfrm>
            <a:prstGeom prst="rect">
              <a:avLst/>
            </a:prstGeom>
            <a:noFill/>
            <a:ln>
              <a:noFill/>
            </a:ln>
          </p:spPr>
          <p:txBody>
            <a:bodyPr wrap="none" lIns="0" tIns="0" rIns="0" bIns="0" anchor="t" anchorCtr="0">
              <a:spAutoFit/>
            </a:bodyPr>
            <a:lstStyle/>
            <a:p>
              <a:pPr algn="l">
                <a:lnSpc>
                  <a:spcPts val="1598"/>
                </a:lnSpc>
              </a:pPr>
              <a:r>
                <a:rPr lang="en-US" sz="1120" b="1" dirty="0">
                  <a:solidFill>
                    <a:srgbClr val="334E68"/>
                  </a:solidFill>
                  <a:latin typeface="Consolas"/>
                  <a:ea typeface="Consolas"/>
                  <a:cs typeface="Consolas"/>
                </a:rPr>
                <a:t>public</a:t>
              </a: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class</a:t>
              </a:r>
              <a:r>
                <a:rPr lang="en-US" sz="1120" dirty="0">
                  <a:solidFill>
                    <a:srgbClr val="1F2937"/>
                  </a:solidFill>
                  <a:latin typeface="Consolas"/>
                  <a:ea typeface="Consolas"/>
                  <a:cs typeface="Consolas"/>
                </a:rPr>
                <a:t xml:space="preserve"> AutoAirSystem {</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private</a:t>
              </a:r>
              <a:r>
                <a:rPr lang="en-US" sz="1120" dirty="0">
                  <a:solidFill>
                    <a:srgbClr val="1F2937"/>
                  </a:solidFill>
                  <a:latin typeface="Consolas"/>
                  <a:ea typeface="Consolas"/>
                  <a:cs typeface="Consolas"/>
                </a:rPr>
                <a:t xml:space="preserve"> String craftType = </a:t>
              </a:r>
              <a:r>
                <a:rPr lang="en-US" sz="1120" b="1" dirty="0">
                  <a:solidFill>
                    <a:srgbClr val="334E68"/>
                  </a:solidFill>
                  <a:latin typeface="Consolas"/>
                  <a:ea typeface="Consolas"/>
                  <a:cs typeface="Consolas"/>
                </a:rPr>
                <a:t>null</a:t>
              </a:r>
              <a:r>
                <a:rPr lang="zh-CN" sz="1120" dirty="0">
                  <a:solidFill>
                    <a:srgbClr val="1F2937"/>
                  </a:solidFill>
                  <a:latin typeface="Consolas"/>
                  <a:ea typeface="Consolas"/>
                  <a:cs typeface="Consolas"/>
                </a:rPr>
                <a:t>;</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private</a:t>
              </a:r>
              <a:r>
                <a:rPr lang="en-US" sz="1120" dirty="0">
                  <a:solidFill>
                    <a:srgbClr val="1F2937"/>
                  </a:solidFill>
                  <a:latin typeface="Consolas"/>
                  <a:ea typeface="Consolas"/>
                  <a:cs typeface="Consolas"/>
                </a:rPr>
                <a:t xml:space="preserve"> Airbus airbus = </a:t>
              </a:r>
              <a:r>
                <a:rPr lang="en-US" sz="1120" b="1" dirty="0">
                  <a:solidFill>
                    <a:srgbClr val="334E68"/>
                  </a:solidFill>
                  <a:latin typeface="Consolas"/>
                  <a:ea typeface="Consolas"/>
                  <a:cs typeface="Consolas"/>
                </a:rPr>
                <a:t>new</a:t>
              </a:r>
              <a:r>
                <a:rPr lang="en-US" sz="1120" dirty="0">
                  <a:solidFill>
                    <a:srgbClr val="1F2937"/>
                  </a:solidFill>
                  <a:latin typeface="Consolas"/>
                  <a:ea typeface="Consolas"/>
                  <a:cs typeface="Consolas"/>
                </a:rPr>
                <a:t xml:space="preserve"> Airbus();</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private</a:t>
              </a:r>
              <a:r>
                <a:rPr lang="en-US" sz="1120" dirty="0">
                  <a:solidFill>
                    <a:srgbClr val="1F2937"/>
                  </a:solidFill>
                  <a:latin typeface="Consolas"/>
                  <a:ea typeface="Consolas"/>
                  <a:cs typeface="Consolas"/>
                </a:rPr>
                <a:t xml:space="preserve"> Boeing boeing = </a:t>
              </a:r>
              <a:r>
                <a:rPr lang="en-US" sz="1120" b="1" dirty="0">
                  <a:solidFill>
                    <a:srgbClr val="334E68"/>
                  </a:solidFill>
                  <a:latin typeface="Consolas"/>
                  <a:ea typeface="Consolas"/>
                  <a:cs typeface="Consolas"/>
                </a:rPr>
                <a:t>new</a:t>
              </a:r>
              <a:r>
                <a:rPr lang="en-US" sz="1120" dirty="0">
                  <a:solidFill>
                    <a:srgbClr val="1F2937"/>
                  </a:solidFill>
                  <a:latin typeface="Consolas"/>
                  <a:ea typeface="Consolas"/>
                  <a:cs typeface="Consolas"/>
                </a:rPr>
                <a:t xml:space="preserve"> Boeing();</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public</a:t>
              </a: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void</a:t>
              </a:r>
              <a:r>
                <a:rPr lang="en-US" sz="1120" dirty="0">
                  <a:solidFill>
                    <a:srgbClr val="1F2937"/>
                  </a:solidFill>
                  <a:latin typeface="Consolas"/>
                  <a:ea typeface="Consolas"/>
                  <a:cs typeface="Consolas"/>
                </a:rPr>
                <a:t xml:space="preserve"> doTakingOff() {</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if</a:t>
              </a:r>
              <a:r>
                <a:rPr lang="en-US" sz="1120" dirty="0">
                  <a:solidFill>
                    <a:srgbClr val="1F2937"/>
                  </a:solidFill>
                  <a:latin typeface="Consolas"/>
                  <a:ea typeface="Consolas"/>
                  <a:cs typeface="Consolas"/>
                </a:rPr>
                <a:t xml:space="preserve"> (craftType.equals(BOEING))</a:t>
              </a:r>
              <a:br/>
              <a:r>
                <a:rPr lang="en-US" sz="1120" dirty="0">
                  <a:solidFill>
                    <a:srgbClr val="1F2937"/>
                  </a:solidFill>
                  <a:latin typeface="Consolas"/>
                  <a:ea typeface="Consolas"/>
                  <a:cs typeface="Consolas"/>
                </a:rPr>
                <a:t xml:space="preserve">            boeing.takeOff();</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else</a:t>
              </a: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if</a:t>
              </a:r>
              <a:r>
                <a:rPr lang="en-US" sz="1120" dirty="0">
                  <a:solidFill>
                    <a:srgbClr val="1F2937"/>
                  </a:solidFill>
                  <a:latin typeface="Consolas"/>
                  <a:ea typeface="Consolas"/>
                  <a:cs typeface="Consolas"/>
                </a:rPr>
                <a:t xml:space="preserve"> (craftType.equals(AIRBUS))</a:t>
              </a:r>
              <a:br/>
              <a:r>
                <a:rPr lang="en-US" sz="1120" dirty="0">
                  <a:solidFill>
                    <a:srgbClr val="1F2937"/>
                  </a:solidFill>
                  <a:latin typeface="Consolas"/>
                  <a:ea typeface="Consolas"/>
                  <a:cs typeface="Consolas"/>
                </a:rPr>
                <a:t xml:space="preserve">            airbus.takeOff();</a:t>
              </a:r>
              <a:br/>
              <a:r>
                <a:rPr lang="zh-CN" sz="1120" dirty="0">
                  <a:solidFill>
                    <a:srgbClr val="1F2937"/>
                  </a:solidFill>
                  <a:latin typeface="Consolas"/>
                  <a:ea typeface="Consolas"/>
                  <a:cs typeface="Consolas"/>
                </a:rPr>
                <a:t xml:space="preserve">    }</a:t>
              </a:r>
              <a:br/>
              <a:r>
                <a:rPr lang="zh-CN" sz="1120" dirty="0">
                  <a:solidFill>
                    <a:srgbClr val="1F2937"/>
                  </a:solidFill>
                  <a:latin typeface="Consolas"/>
                  <a:ea typeface="Consolas"/>
                  <a:cs typeface="Consolas"/>
                </a:rPr>
                <a:t>}</a:t>
              </a:r>
            </a:p>
          </p:txBody>
        </p:sp>
      </p:grpSp>
      <p:grpSp>
        <p:nvGrpSpPr>
          <p:cNvPr id="46" name="c2-bullets-2"/>
          <p:cNvGrpSpPr/>
          <p:nvPr/>
        </p:nvGrpSpPr>
        <p:grpSpPr>
          <a:xfrm>
            <a:off x="6241161" y="4897279"/>
            <a:ext cx="5226583" cy="1275969"/>
            <a:chOff x="6241161" y="4897279"/>
            <a:chExt cx="5226583" cy="1275969"/>
          </a:xfrm>
        </p:grpSpPr>
        <p:sp>
          <p:nvSpPr>
            <p:cNvPr id="39" name="TextBox 39"/>
            <p:cNvSpPr txBox="1"/>
            <p:nvPr/>
          </p:nvSpPr>
          <p:spPr>
            <a:xfrm>
              <a:off x="6241161" y="4897279"/>
              <a:ext cx="779120"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设计缺点</a:t>
              </a:r>
            </a:p>
          </p:txBody>
        </p:sp>
        <p:sp>
          <p:nvSpPr>
            <p:cNvPr id="40" name="Freeform 40"/>
            <p:cNvSpPr/>
            <p:nvPr/>
          </p:nvSpPr>
          <p:spPr>
            <a:xfrm>
              <a:off x="6248400" y="5270182"/>
              <a:ext cx="108585" cy="108585"/>
            </a:xfrm>
            <a:custGeom>
              <a:avLst/>
              <a:gdLst/>
              <a:ahLst/>
              <a:cxnLst/>
              <a:rect l="l" t="t" r="r" b="b"/>
              <a:pathLst>
                <a:path w="108585" h="108585">
                  <a:moveTo>
                    <a:pt x="0" y="0"/>
                  </a:moveTo>
                  <a:lnTo>
                    <a:pt x="108585" y="108585"/>
                  </a:lnTo>
                  <a:moveTo>
                    <a:pt x="108585" y="0"/>
                  </a:moveTo>
                  <a:lnTo>
                    <a:pt x="0" y="108585"/>
                  </a:lnTo>
                </a:path>
              </a:pathLst>
            </a:custGeom>
            <a:noFill/>
            <a:ln w="24765" cap="rnd">
              <a:solidFill>
                <a:srgbClr val="B42318"/>
              </a:solidFill>
            </a:ln>
          </p:spPr>
        </p:sp>
        <p:sp>
          <p:nvSpPr>
            <p:cNvPr id="41" name="TextBox 41"/>
            <p:cNvSpPr txBox="1"/>
            <p:nvPr/>
          </p:nvSpPr>
          <p:spPr>
            <a:xfrm>
              <a:off x="6483096" y="5235416"/>
              <a:ext cx="4984648"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每加一种新机型，条件语句就要再长一截，五个方法全要改</a:t>
              </a:r>
            </a:p>
          </p:txBody>
        </p:sp>
        <p:sp>
          <p:nvSpPr>
            <p:cNvPr id="42" name="Freeform 42"/>
            <p:cNvSpPr/>
            <p:nvPr/>
          </p:nvSpPr>
          <p:spPr>
            <a:xfrm>
              <a:off x="6248400" y="5598795"/>
              <a:ext cx="108585" cy="108585"/>
            </a:xfrm>
            <a:custGeom>
              <a:avLst/>
              <a:gdLst/>
              <a:ahLst/>
              <a:cxnLst/>
              <a:rect l="l" t="t" r="r" b="b"/>
              <a:pathLst>
                <a:path w="108585" h="108585">
                  <a:moveTo>
                    <a:pt x="0" y="0"/>
                  </a:moveTo>
                  <a:lnTo>
                    <a:pt x="108585" y="108585"/>
                  </a:lnTo>
                  <a:moveTo>
                    <a:pt x="108585" y="0"/>
                  </a:moveTo>
                  <a:lnTo>
                    <a:pt x="0" y="108585"/>
                  </a:lnTo>
                </a:path>
              </a:pathLst>
            </a:custGeom>
            <a:noFill/>
            <a:ln w="24765" cap="rnd">
              <a:solidFill>
                <a:srgbClr val="B42318"/>
              </a:solidFill>
            </a:ln>
          </p:spPr>
        </p:sp>
        <p:sp>
          <p:nvSpPr>
            <p:cNvPr id="43" name="TextBox 43"/>
            <p:cNvSpPr txBox="1"/>
            <p:nvPr/>
          </p:nvSpPr>
          <p:spPr>
            <a:xfrm>
              <a:off x="6483096" y="5564981"/>
              <a:ext cx="3932628"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低层类一变动，AutoAirSystem 就必须跟着变</a:t>
              </a:r>
            </a:p>
          </p:txBody>
        </p:sp>
        <p:sp>
          <p:nvSpPr>
            <p:cNvPr id="44" name="Freeform 44"/>
            <p:cNvSpPr/>
            <p:nvPr/>
          </p:nvSpPr>
          <p:spPr>
            <a:xfrm>
              <a:off x="6248400" y="5928360"/>
              <a:ext cx="108585" cy="108585"/>
            </a:xfrm>
            <a:custGeom>
              <a:avLst/>
              <a:gdLst/>
              <a:ahLst/>
              <a:cxnLst/>
              <a:rect l="l" t="t" r="r" b="b"/>
              <a:pathLst>
                <a:path w="108585" h="108585">
                  <a:moveTo>
                    <a:pt x="0" y="0"/>
                  </a:moveTo>
                  <a:lnTo>
                    <a:pt x="108585" y="108585"/>
                  </a:lnTo>
                  <a:moveTo>
                    <a:pt x="108585" y="0"/>
                  </a:moveTo>
                  <a:lnTo>
                    <a:pt x="0" y="108585"/>
                  </a:lnTo>
                </a:path>
              </a:pathLst>
            </a:custGeom>
            <a:noFill/>
            <a:ln w="24765" cap="rnd">
              <a:solidFill>
                <a:srgbClr val="B42318"/>
              </a:solidFill>
            </a:ln>
          </p:spPr>
        </p:sp>
        <p:sp>
          <p:nvSpPr>
            <p:cNvPr id="45" name="TextBox 45"/>
            <p:cNvSpPr txBox="1"/>
            <p:nvPr/>
          </p:nvSpPr>
          <p:spPr>
            <a:xfrm>
              <a:off x="6483096" y="5894546"/>
              <a:ext cx="4614951"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根源：它依赖于所控制的低层具体类 Boeing 和 Airbus</a:t>
              </a:r>
            </a:p>
          </p:txBody>
        </p:sp>
      </p:grpSp>
      <p:grpSp>
        <p:nvGrpSpPr>
          <p:cNvPr id="49" name="footer"/>
          <p:cNvGrpSpPr/>
          <p:nvPr/>
        </p:nvGrpSpPr>
        <p:grpSpPr>
          <a:xfrm>
            <a:off x="528447" y="6581299"/>
            <a:ext cx="11135106" cy="190690"/>
            <a:chOff x="528447" y="6581299"/>
            <a:chExt cx="11135106" cy="190690"/>
          </a:xfrm>
        </p:grpSpPr>
        <p:sp>
          <p:nvSpPr>
            <p:cNvPr id="47" name="TextBox 47"/>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48" name="TextBox 4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27</a:t>
              </a:r>
            </a:p>
          </p:txBody>
        </p:sp>
      </p:grpSp>
    </p:spTree>
  </p:cSld>
  <p:clrMapOvr>
    <a:masterClrMapping/>
  </p:clrMapOvr>
  <p:transition xmlns:p14="http://schemas.microsoft.com/office/powerpoint/2010/main" p14:dur="40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070491" cy="909257"/>
            <a:chOff x="520446" y="342900"/>
            <a:chExt cx="6070491" cy="909257"/>
          </a:xfrm>
        </p:grpSpPr>
        <p:sp>
          <p:nvSpPr>
            <p:cNvPr id="2" name="Rectangle 2"/>
            <p:cNvSpPr/>
            <p:nvPr/>
          </p:nvSpPr>
          <p:spPr>
            <a:xfrm>
              <a:off x="533400" y="342900"/>
              <a:ext cx="2660332" cy="266700"/>
            </a:xfrm>
            <a:prstGeom prst="roundRect">
              <a:avLst>
                <a:gd name="adj" fmla="val 50000"/>
              </a:avLst>
            </a:prstGeom>
            <a:solidFill>
              <a:srgbClr val="E7EDF3"/>
            </a:solidFill>
            <a:ln>
              <a:noFill/>
            </a:ln>
          </p:spPr>
        </p:sp>
        <p:sp>
          <p:nvSpPr>
            <p:cNvPr id="3" name="TextBox 3"/>
            <p:cNvSpPr txBox="1"/>
            <p:nvPr/>
          </p:nvSpPr>
          <p:spPr>
            <a:xfrm>
              <a:off x="570203" y="407194"/>
              <a:ext cx="25857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SOLID 五原则</a:t>
              </a:r>
            </a:p>
          </p:txBody>
        </p:sp>
        <p:sp>
          <p:nvSpPr>
            <p:cNvPr id="4" name="TextBox 4"/>
            <p:cNvSpPr txBox="1"/>
            <p:nvPr/>
          </p:nvSpPr>
          <p:spPr>
            <a:xfrm>
              <a:off x="520446" y="753428"/>
              <a:ext cx="607049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 6 改进：只依赖 AutoAirCraft 接口</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9" name="c1-uml-1"/>
          <p:cNvGrpSpPr/>
          <p:nvPr/>
        </p:nvGrpSpPr>
        <p:grpSpPr>
          <a:xfrm>
            <a:off x="1137285" y="1981200"/>
            <a:ext cx="4025265" cy="3824287"/>
            <a:chOff x="1137285" y="1981200"/>
            <a:chExt cx="4025265" cy="3824287"/>
          </a:xfrm>
        </p:grpSpPr>
        <p:sp>
          <p:nvSpPr>
            <p:cNvPr id="7" name="Freeform 7"/>
            <p:cNvSpPr/>
            <p:nvPr/>
          </p:nvSpPr>
          <p:spPr>
            <a:xfrm>
              <a:off x="2634615" y="2730818"/>
              <a:ext cx="1384935" cy="9525"/>
            </a:xfrm>
            <a:custGeom>
              <a:avLst/>
              <a:gdLst/>
              <a:ahLst/>
              <a:cxnLst/>
              <a:rect l="l" t="t" r="r" b="b"/>
              <a:pathLst>
                <a:path w="1384935" h="9525">
                  <a:moveTo>
                    <a:pt x="0" y="0"/>
                  </a:moveTo>
                  <a:lnTo>
                    <a:pt x="1384935" y="0"/>
                  </a:lnTo>
                </a:path>
              </a:pathLst>
            </a:custGeom>
            <a:noFill/>
            <a:ln w="15240">
              <a:solidFill>
                <a:srgbClr val="1F2937"/>
              </a:solidFill>
            </a:ln>
          </p:spPr>
        </p:sp>
        <p:sp>
          <p:nvSpPr>
            <p:cNvPr id="8" name="Freeform 8"/>
            <p:cNvSpPr/>
            <p:nvPr/>
          </p:nvSpPr>
          <p:spPr>
            <a:xfrm>
              <a:off x="3914775" y="2672715"/>
              <a:ext cx="104775" cy="116205"/>
            </a:xfrm>
            <a:custGeom>
              <a:avLst/>
              <a:gdLst/>
              <a:ahLst/>
              <a:cxnLst/>
              <a:rect l="l" t="t" r="r" b="b"/>
              <a:pathLst>
                <a:path w="104775" h="116205">
                  <a:moveTo>
                    <a:pt x="0" y="116205"/>
                  </a:moveTo>
                  <a:lnTo>
                    <a:pt x="104775" y="58102"/>
                  </a:lnTo>
                  <a:lnTo>
                    <a:pt x="0" y="0"/>
                  </a:lnTo>
                </a:path>
              </a:pathLst>
            </a:custGeom>
            <a:noFill/>
            <a:ln w="15240">
              <a:solidFill>
                <a:srgbClr val="1F2937"/>
              </a:solidFill>
            </a:ln>
          </p:spPr>
        </p:sp>
        <p:sp>
          <p:nvSpPr>
            <p:cNvPr id="9" name="Freeform 9"/>
            <p:cNvSpPr/>
            <p:nvPr/>
          </p:nvSpPr>
          <p:spPr>
            <a:xfrm>
              <a:off x="1885950" y="3591878"/>
              <a:ext cx="2609850" cy="890588"/>
            </a:xfrm>
            <a:custGeom>
              <a:avLst/>
              <a:gdLst/>
              <a:ahLst/>
              <a:cxnLst/>
              <a:rect l="l" t="t" r="r" b="b"/>
              <a:pathLst>
                <a:path w="2609850" h="890588">
                  <a:moveTo>
                    <a:pt x="0" y="890588"/>
                  </a:moveTo>
                  <a:lnTo>
                    <a:pt x="0" y="382905"/>
                  </a:lnTo>
                  <a:lnTo>
                    <a:pt x="2609850" y="382905"/>
                  </a:lnTo>
                  <a:lnTo>
                    <a:pt x="2609850" y="0"/>
                  </a:lnTo>
                </a:path>
              </a:pathLst>
            </a:custGeom>
            <a:noFill/>
            <a:ln w="15240">
              <a:solidFill>
                <a:srgbClr val="1F2937"/>
              </a:solidFill>
              <a:custDash>
                <a:ds d="375000" sp="250000"/>
              </a:custDash>
            </a:ln>
          </p:spPr>
        </p:sp>
        <p:sp>
          <p:nvSpPr>
            <p:cNvPr id="10" name="Freeform 10"/>
            <p:cNvSpPr/>
            <p:nvPr/>
          </p:nvSpPr>
          <p:spPr>
            <a:xfrm>
              <a:off x="4422458" y="3466148"/>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11" name="Freeform 11"/>
            <p:cNvSpPr/>
            <p:nvPr/>
          </p:nvSpPr>
          <p:spPr>
            <a:xfrm>
              <a:off x="4591050" y="3591878"/>
              <a:ext cx="95250" cy="890588"/>
            </a:xfrm>
            <a:custGeom>
              <a:avLst/>
              <a:gdLst/>
              <a:ahLst/>
              <a:cxnLst/>
              <a:rect l="l" t="t" r="r" b="b"/>
              <a:pathLst>
                <a:path w="95250" h="890588">
                  <a:moveTo>
                    <a:pt x="0" y="890588"/>
                  </a:moveTo>
                  <a:lnTo>
                    <a:pt x="0" y="382905"/>
                  </a:lnTo>
                  <a:lnTo>
                    <a:pt x="95250" y="382905"/>
                  </a:lnTo>
                  <a:lnTo>
                    <a:pt x="95250" y="0"/>
                  </a:lnTo>
                </a:path>
              </a:pathLst>
            </a:custGeom>
            <a:noFill/>
            <a:ln w="15240">
              <a:solidFill>
                <a:srgbClr val="1F2937"/>
              </a:solidFill>
              <a:custDash>
                <a:ds d="375000" sp="250000"/>
              </a:custDash>
            </a:ln>
          </p:spPr>
        </p:sp>
        <p:sp>
          <p:nvSpPr>
            <p:cNvPr id="12" name="Freeform 12"/>
            <p:cNvSpPr/>
            <p:nvPr/>
          </p:nvSpPr>
          <p:spPr>
            <a:xfrm>
              <a:off x="4612958" y="3466148"/>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13" name="Rectangle 13"/>
            <p:cNvSpPr/>
            <p:nvPr/>
          </p:nvSpPr>
          <p:spPr>
            <a:xfrm>
              <a:off x="1137285" y="1981200"/>
              <a:ext cx="1496378" cy="1499235"/>
            </a:xfrm>
            <a:prstGeom prst="rect">
              <a:avLst/>
            </a:prstGeom>
            <a:solidFill>
              <a:srgbClr val="FFFFFF"/>
            </a:solidFill>
            <a:ln w="14288">
              <a:solidFill>
                <a:srgbClr val="334E68"/>
              </a:solidFill>
            </a:ln>
          </p:spPr>
        </p:sp>
        <p:sp>
          <p:nvSpPr>
            <p:cNvPr id="14" name="Rectangle 14"/>
            <p:cNvSpPr/>
            <p:nvPr/>
          </p:nvSpPr>
          <p:spPr>
            <a:xfrm>
              <a:off x="1144905" y="1988820"/>
              <a:ext cx="1482090" cy="245745"/>
            </a:xfrm>
            <a:prstGeom prst="rect">
              <a:avLst/>
            </a:prstGeom>
            <a:solidFill>
              <a:srgbClr val="E7EDF3"/>
            </a:solidFill>
            <a:ln>
              <a:noFill/>
            </a:ln>
          </p:spPr>
        </p:sp>
        <p:sp>
          <p:nvSpPr>
            <p:cNvPr id="15" name="Rectangle 15"/>
            <p:cNvSpPr/>
            <p:nvPr/>
          </p:nvSpPr>
          <p:spPr>
            <a:xfrm>
              <a:off x="1137285" y="2229802"/>
              <a:ext cx="1496378" cy="9525"/>
            </a:xfrm>
            <a:prstGeom prst="rect">
              <a:avLst/>
            </a:prstGeom>
            <a:solidFill>
              <a:srgbClr val="334E68"/>
            </a:solidFill>
            <a:ln>
              <a:noFill/>
            </a:ln>
          </p:spPr>
        </p:sp>
        <p:sp>
          <p:nvSpPr>
            <p:cNvPr id="16" name="Rectangle 16"/>
            <p:cNvSpPr/>
            <p:nvPr/>
          </p:nvSpPr>
          <p:spPr>
            <a:xfrm>
              <a:off x="1137285" y="2501265"/>
              <a:ext cx="1496378" cy="9525"/>
            </a:xfrm>
            <a:prstGeom prst="rect">
              <a:avLst/>
            </a:prstGeom>
            <a:solidFill>
              <a:srgbClr val="334E68"/>
            </a:solidFill>
            <a:ln>
              <a:noFill/>
            </a:ln>
          </p:spPr>
        </p:sp>
        <p:sp>
          <p:nvSpPr>
            <p:cNvPr id="17" name="Rectangle 17"/>
            <p:cNvSpPr/>
            <p:nvPr/>
          </p:nvSpPr>
          <p:spPr>
            <a:xfrm>
              <a:off x="4019550" y="1994535"/>
              <a:ext cx="1143000" cy="1471612"/>
            </a:xfrm>
            <a:prstGeom prst="rect">
              <a:avLst/>
            </a:prstGeom>
            <a:solidFill>
              <a:srgbClr val="FFFFFF"/>
            </a:solidFill>
            <a:ln w="14288">
              <a:solidFill>
                <a:srgbClr val="334E68"/>
              </a:solidFill>
            </a:ln>
          </p:spPr>
        </p:sp>
        <p:sp>
          <p:nvSpPr>
            <p:cNvPr id="18" name="Rectangle 18"/>
            <p:cNvSpPr/>
            <p:nvPr/>
          </p:nvSpPr>
          <p:spPr>
            <a:xfrm>
              <a:off x="4027170" y="2002155"/>
              <a:ext cx="1128712" cy="394335"/>
            </a:xfrm>
            <a:prstGeom prst="rect">
              <a:avLst/>
            </a:prstGeom>
            <a:solidFill>
              <a:srgbClr val="334E68"/>
            </a:solidFill>
            <a:ln>
              <a:noFill/>
            </a:ln>
          </p:spPr>
        </p:sp>
        <p:sp>
          <p:nvSpPr>
            <p:cNvPr id="19" name="Rectangle 19"/>
            <p:cNvSpPr/>
            <p:nvPr/>
          </p:nvSpPr>
          <p:spPr>
            <a:xfrm>
              <a:off x="4019550" y="2391728"/>
              <a:ext cx="1143000" cy="9525"/>
            </a:xfrm>
            <a:prstGeom prst="rect">
              <a:avLst/>
            </a:prstGeom>
            <a:solidFill>
              <a:srgbClr val="334E68"/>
            </a:solidFill>
            <a:ln>
              <a:noFill/>
            </a:ln>
          </p:spPr>
        </p:sp>
        <p:sp>
          <p:nvSpPr>
            <p:cNvPr id="20" name="Rectangle 20"/>
            <p:cNvSpPr/>
            <p:nvPr/>
          </p:nvSpPr>
          <p:spPr>
            <a:xfrm>
              <a:off x="4019550" y="2486978"/>
              <a:ext cx="1143000" cy="9525"/>
            </a:xfrm>
            <a:prstGeom prst="rect">
              <a:avLst/>
            </a:prstGeom>
            <a:solidFill>
              <a:srgbClr val="334E68"/>
            </a:solidFill>
            <a:ln>
              <a:noFill/>
            </a:ln>
          </p:spPr>
        </p:sp>
        <p:sp>
          <p:nvSpPr>
            <p:cNvPr id="21" name="Rectangle 21"/>
            <p:cNvSpPr/>
            <p:nvPr/>
          </p:nvSpPr>
          <p:spPr>
            <a:xfrm>
              <a:off x="1314450" y="4482465"/>
              <a:ext cx="1143000" cy="1323022"/>
            </a:xfrm>
            <a:prstGeom prst="rect">
              <a:avLst/>
            </a:prstGeom>
            <a:solidFill>
              <a:srgbClr val="FFFFFF"/>
            </a:solidFill>
            <a:ln w="14288">
              <a:solidFill>
                <a:srgbClr val="334E68"/>
              </a:solidFill>
            </a:ln>
          </p:spPr>
        </p:sp>
        <p:sp>
          <p:nvSpPr>
            <p:cNvPr id="22" name="Rectangle 22"/>
            <p:cNvSpPr/>
            <p:nvPr/>
          </p:nvSpPr>
          <p:spPr>
            <a:xfrm>
              <a:off x="1322070" y="4490085"/>
              <a:ext cx="1128712" cy="245745"/>
            </a:xfrm>
            <a:prstGeom prst="rect">
              <a:avLst/>
            </a:prstGeom>
            <a:solidFill>
              <a:srgbClr val="E7EDF3"/>
            </a:solidFill>
            <a:ln>
              <a:noFill/>
            </a:ln>
          </p:spPr>
        </p:sp>
        <p:sp>
          <p:nvSpPr>
            <p:cNvPr id="23" name="Rectangle 23"/>
            <p:cNvSpPr/>
            <p:nvPr/>
          </p:nvSpPr>
          <p:spPr>
            <a:xfrm>
              <a:off x="1314450" y="4732020"/>
              <a:ext cx="1143000" cy="9525"/>
            </a:xfrm>
            <a:prstGeom prst="rect">
              <a:avLst/>
            </a:prstGeom>
            <a:solidFill>
              <a:srgbClr val="334E68"/>
            </a:solidFill>
            <a:ln>
              <a:noFill/>
            </a:ln>
          </p:spPr>
        </p:sp>
        <p:sp>
          <p:nvSpPr>
            <p:cNvPr id="24" name="Rectangle 24"/>
            <p:cNvSpPr/>
            <p:nvPr/>
          </p:nvSpPr>
          <p:spPr>
            <a:xfrm>
              <a:off x="1314450" y="4827270"/>
              <a:ext cx="1143000" cy="9525"/>
            </a:xfrm>
            <a:prstGeom prst="rect">
              <a:avLst/>
            </a:prstGeom>
            <a:solidFill>
              <a:srgbClr val="334E68"/>
            </a:solidFill>
            <a:ln>
              <a:noFill/>
            </a:ln>
          </p:spPr>
        </p:sp>
        <p:sp>
          <p:nvSpPr>
            <p:cNvPr id="25" name="Rectangle 25"/>
            <p:cNvSpPr/>
            <p:nvPr/>
          </p:nvSpPr>
          <p:spPr>
            <a:xfrm>
              <a:off x="4019550" y="4482465"/>
              <a:ext cx="1143000" cy="1323022"/>
            </a:xfrm>
            <a:prstGeom prst="rect">
              <a:avLst/>
            </a:prstGeom>
            <a:solidFill>
              <a:srgbClr val="FFFFFF"/>
            </a:solidFill>
            <a:ln w="14288">
              <a:solidFill>
                <a:srgbClr val="334E68"/>
              </a:solidFill>
            </a:ln>
          </p:spPr>
        </p:sp>
        <p:sp>
          <p:nvSpPr>
            <p:cNvPr id="26" name="Rectangle 26"/>
            <p:cNvSpPr/>
            <p:nvPr/>
          </p:nvSpPr>
          <p:spPr>
            <a:xfrm>
              <a:off x="4027170" y="4490085"/>
              <a:ext cx="1128712" cy="245745"/>
            </a:xfrm>
            <a:prstGeom prst="rect">
              <a:avLst/>
            </a:prstGeom>
            <a:solidFill>
              <a:srgbClr val="E7EDF3"/>
            </a:solidFill>
            <a:ln>
              <a:noFill/>
            </a:ln>
          </p:spPr>
        </p:sp>
        <p:sp>
          <p:nvSpPr>
            <p:cNvPr id="27" name="Rectangle 27"/>
            <p:cNvSpPr/>
            <p:nvPr/>
          </p:nvSpPr>
          <p:spPr>
            <a:xfrm>
              <a:off x="4019550" y="4732020"/>
              <a:ext cx="1143000" cy="9525"/>
            </a:xfrm>
            <a:prstGeom prst="rect">
              <a:avLst/>
            </a:prstGeom>
            <a:solidFill>
              <a:srgbClr val="334E68"/>
            </a:solidFill>
            <a:ln>
              <a:noFill/>
            </a:ln>
          </p:spPr>
        </p:sp>
        <p:sp>
          <p:nvSpPr>
            <p:cNvPr id="28" name="Rectangle 28"/>
            <p:cNvSpPr/>
            <p:nvPr/>
          </p:nvSpPr>
          <p:spPr>
            <a:xfrm>
              <a:off x="4019550" y="4827270"/>
              <a:ext cx="1143000" cy="9525"/>
            </a:xfrm>
            <a:prstGeom prst="rect">
              <a:avLst/>
            </a:prstGeom>
            <a:solidFill>
              <a:srgbClr val="334E68"/>
            </a:solidFill>
            <a:ln>
              <a:noFill/>
            </a:ln>
          </p:spPr>
        </p:sp>
        <p:sp>
          <p:nvSpPr>
            <p:cNvPr id="29" name="TextBox 29"/>
            <p:cNvSpPr txBox="1"/>
            <p:nvPr/>
          </p:nvSpPr>
          <p:spPr>
            <a:xfrm>
              <a:off x="1346848" y="2041207"/>
              <a:ext cx="1078205"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AutoAirSystem</a:t>
              </a:r>
            </a:p>
          </p:txBody>
        </p:sp>
        <p:sp>
          <p:nvSpPr>
            <p:cNvPr id="30" name="TextBox 30"/>
            <p:cNvSpPr txBox="1"/>
            <p:nvPr/>
          </p:nvSpPr>
          <p:spPr>
            <a:xfrm>
              <a:off x="1208532" y="2300764"/>
              <a:ext cx="1119208" cy="190690"/>
            </a:xfrm>
            <a:prstGeom prst="rect">
              <a:avLst/>
            </a:prstGeom>
            <a:noFill/>
            <a:ln>
              <a:noFill/>
            </a:ln>
          </p:spPr>
          <p:txBody>
            <a:bodyPr wrap="none" lIns="0" tIns="0" rIns="0" bIns="0" anchor="t" anchorCtr="0">
              <a:spAutoFit/>
            </a:bodyPr>
            <a:lstStyle/>
            <a:p>
              <a:pPr algn="l"/>
              <a:r>
                <a:rPr lang="en-US" sz="980" dirty="0">
                  <a:solidFill>
                    <a:srgbClr val="1F2937"/>
                  </a:solidFill>
                  <a:latin typeface="+mn-lt"/>
                  <a:ea typeface="+mn-ea"/>
                  <a:cs typeface="+mn-cs"/>
                </a:rPr>
                <a:t>-a: AutoAirCraft</a:t>
              </a:r>
            </a:p>
          </p:txBody>
        </p:sp>
        <p:sp>
          <p:nvSpPr>
            <p:cNvPr id="31" name="TextBox 31"/>
            <p:cNvSpPr txBox="1"/>
            <p:nvPr/>
          </p:nvSpPr>
          <p:spPr>
            <a:xfrm>
              <a:off x="1208532" y="2572226"/>
              <a:ext cx="1354074" cy="895540"/>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+doTakingOff(): void</a:t>
              </a:r>
              <a:br/>
              <a:r>
                <a:rPr lang="en-US" sz="980" dirty="0">
                  <a:solidFill>
                    <a:srgbClr val="1F2937"/>
                  </a:solidFill>
                  <a:latin typeface="+mn-lt"/>
                  <a:ea typeface="+mn-ea"/>
                  <a:cs typeface="+mn-cs"/>
                </a:rPr>
                <a:t>+doClimbing(): void</a:t>
              </a:r>
              <a:br/>
              <a:r>
                <a:rPr lang="en-US" sz="980" dirty="0">
                  <a:solidFill>
                    <a:srgbClr val="1F2937"/>
                  </a:solidFill>
                  <a:latin typeface="+mn-lt"/>
                  <a:ea typeface="+mn-ea"/>
                  <a:cs typeface="+mn-cs"/>
                </a:rPr>
                <a:t>+doCruising(): void</a:t>
              </a:r>
              <a:br/>
              <a:r>
                <a:rPr lang="en-US" sz="980" dirty="0">
                  <a:solidFill>
                    <a:srgbClr val="1F2937"/>
                  </a:solidFill>
                  <a:latin typeface="+mn-lt"/>
                  <a:ea typeface="+mn-ea"/>
                  <a:cs typeface="+mn-cs"/>
                </a:rPr>
                <a:t>+doDescending(): void</a:t>
              </a:r>
              <a:br/>
              <a:r>
                <a:rPr lang="en-US" sz="980" dirty="0">
                  <a:solidFill>
                    <a:srgbClr val="1F2937"/>
                  </a:solidFill>
                  <a:latin typeface="+mn-lt"/>
                  <a:ea typeface="+mn-ea"/>
                  <a:cs typeface="+mn-cs"/>
                </a:rPr>
                <a:t>+doLanding(): void</a:t>
              </a:r>
            </a:p>
          </p:txBody>
        </p:sp>
        <p:sp>
          <p:nvSpPr>
            <p:cNvPr id="32" name="TextBox 32"/>
            <p:cNvSpPr txBox="1"/>
            <p:nvPr/>
          </p:nvSpPr>
          <p:spPr>
            <a:xfrm>
              <a:off x="4234929" y="2051685"/>
              <a:ext cx="712241" cy="176212"/>
            </a:xfrm>
            <a:prstGeom prst="rect">
              <a:avLst/>
            </a:prstGeom>
            <a:noFill/>
            <a:ln>
              <a:noFill/>
            </a:ln>
          </p:spPr>
          <p:txBody>
            <a:bodyPr wrap="none" lIns="0" tIns="0" rIns="0" bIns="0" anchor="t" anchorCtr="0">
              <a:spAutoFit/>
            </a:bodyPr>
            <a:lstStyle/>
            <a:p>
              <a:pPr algn="ctr"/>
              <a:r>
                <a:rPr lang="en-US" sz="900" dirty="0">
                  <a:solidFill>
                    <a:srgbClr val="FFFFFF"/>
                  </a:solidFill>
                  <a:latin typeface="+mn-lt"/>
                  <a:ea typeface="+mn-ea"/>
                  <a:cs typeface="+mn-cs"/>
                </a:rPr>
                <a:t>«interface»</a:t>
              </a:r>
            </a:p>
          </p:txBody>
        </p:sp>
        <p:sp>
          <p:nvSpPr>
            <p:cNvPr id="33" name="TextBox 33"/>
            <p:cNvSpPr txBox="1"/>
            <p:nvPr/>
          </p:nvSpPr>
          <p:spPr>
            <a:xfrm>
              <a:off x="4107819" y="2203132"/>
              <a:ext cx="966462"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AutoAirCraft</a:t>
              </a:r>
            </a:p>
          </p:txBody>
        </p:sp>
        <p:sp>
          <p:nvSpPr>
            <p:cNvPr id="34" name="TextBox 34"/>
            <p:cNvSpPr txBox="1"/>
            <p:nvPr/>
          </p:nvSpPr>
          <p:spPr>
            <a:xfrm>
              <a:off x="4090797" y="2557939"/>
              <a:ext cx="719328" cy="895540"/>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+takeOff()</a:t>
              </a:r>
              <a:br/>
              <a:r>
                <a:rPr lang="en-US" sz="980" dirty="0">
                  <a:solidFill>
                    <a:srgbClr val="1F2937"/>
                  </a:solidFill>
                  <a:latin typeface="+mn-lt"/>
                  <a:ea typeface="+mn-ea"/>
                  <a:cs typeface="+mn-cs"/>
                </a:rPr>
                <a:t>+climb()</a:t>
              </a:r>
              <a:br/>
              <a:r>
                <a:rPr lang="en-US" sz="980" dirty="0">
                  <a:solidFill>
                    <a:srgbClr val="1F2937"/>
                  </a:solidFill>
                  <a:latin typeface="+mn-lt"/>
                  <a:ea typeface="+mn-ea"/>
                  <a:cs typeface="+mn-cs"/>
                </a:rPr>
                <a:t>+cruise()</a:t>
              </a:r>
              <a:br/>
              <a:r>
                <a:rPr lang="en-US" sz="980" dirty="0">
                  <a:solidFill>
                    <a:srgbClr val="1F2937"/>
                  </a:solidFill>
                  <a:latin typeface="+mn-lt"/>
                  <a:ea typeface="+mn-ea"/>
                  <a:cs typeface="+mn-cs"/>
                </a:rPr>
                <a:t>+descend()</a:t>
              </a:r>
              <a:br/>
              <a:r>
                <a:rPr lang="en-US" sz="980" dirty="0">
                  <a:solidFill>
                    <a:srgbClr val="1F2937"/>
                  </a:solidFill>
                  <a:latin typeface="+mn-lt"/>
                  <a:ea typeface="+mn-ea"/>
                  <a:cs typeface="+mn-cs"/>
                </a:rPr>
                <a:t>+land()</a:t>
              </a:r>
            </a:p>
          </p:txBody>
        </p:sp>
        <p:sp>
          <p:nvSpPr>
            <p:cNvPr id="35" name="TextBox 35"/>
            <p:cNvSpPr txBox="1"/>
            <p:nvPr/>
          </p:nvSpPr>
          <p:spPr>
            <a:xfrm>
              <a:off x="1652142" y="4542472"/>
              <a:ext cx="467615"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Boeing</a:t>
              </a:r>
            </a:p>
          </p:txBody>
        </p:sp>
        <p:sp>
          <p:nvSpPr>
            <p:cNvPr id="36" name="TextBox 36"/>
            <p:cNvSpPr txBox="1"/>
            <p:nvPr/>
          </p:nvSpPr>
          <p:spPr>
            <a:xfrm>
              <a:off x="1385697" y="4897279"/>
              <a:ext cx="719328" cy="895540"/>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+takeOff()</a:t>
              </a:r>
              <a:br/>
              <a:r>
                <a:rPr lang="en-US" sz="980" dirty="0">
                  <a:solidFill>
                    <a:srgbClr val="1F2937"/>
                  </a:solidFill>
                  <a:latin typeface="+mn-lt"/>
                  <a:ea typeface="+mn-ea"/>
                  <a:cs typeface="+mn-cs"/>
                </a:rPr>
                <a:t>+climb()</a:t>
              </a:r>
              <a:br/>
              <a:r>
                <a:rPr lang="en-US" sz="980" dirty="0">
                  <a:solidFill>
                    <a:srgbClr val="1F2937"/>
                  </a:solidFill>
                  <a:latin typeface="+mn-lt"/>
                  <a:ea typeface="+mn-ea"/>
                  <a:cs typeface="+mn-cs"/>
                </a:rPr>
                <a:t>+cruise()</a:t>
              </a:r>
              <a:br/>
              <a:r>
                <a:rPr lang="en-US" sz="980" dirty="0">
                  <a:solidFill>
                    <a:srgbClr val="1F2937"/>
                  </a:solidFill>
                  <a:latin typeface="+mn-lt"/>
                  <a:ea typeface="+mn-ea"/>
                  <a:cs typeface="+mn-cs"/>
                </a:rPr>
                <a:t>+descend()</a:t>
              </a:r>
              <a:br/>
              <a:r>
                <a:rPr lang="en-US" sz="980" dirty="0">
                  <a:solidFill>
                    <a:srgbClr val="1F2937"/>
                  </a:solidFill>
                  <a:latin typeface="+mn-lt"/>
                  <a:ea typeface="+mn-ea"/>
                  <a:cs typeface="+mn-cs"/>
                </a:rPr>
                <a:t>+land()</a:t>
              </a:r>
            </a:p>
          </p:txBody>
        </p:sp>
        <p:sp>
          <p:nvSpPr>
            <p:cNvPr id="37" name="TextBox 37"/>
            <p:cNvSpPr txBox="1"/>
            <p:nvPr/>
          </p:nvSpPr>
          <p:spPr>
            <a:xfrm>
              <a:off x="4357242" y="4542472"/>
              <a:ext cx="467615"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Airbus</a:t>
              </a:r>
            </a:p>
          </p:txBody>
        </p:sp>
        <p:sp>
          <p:nvSpPr>
            <p:cNvPr id="38" name="TextBox 38"/>
            <p:cNvSpPr txBox="1"/>
            <p:nvPr/>
          </p:nvSpPr>
          <p:spPr>
            <a:xfrm>
              <a:off x="4090797" y="4897279"/>
              <a:ext cx="719328" cy="895540"/>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+takeOff()</a:t>
              </a:r>
              <a:br/>
              <a:r>
                <a:rPr lang="en-US" sz="980" dirty="0">
                  <a:solidFill>
                    <a:srgbClr val="1F2937"/>
                  </a:solidFill>
                  <a:latin typeface="+mn-lt"/>
                  <a:ea typeface="+mn-ea"/>
                  <a:cs typeface="+mn-cs"/>
                </a:rPr>
                <a:t>+climb()</a:t>
              </a:r>
              <a:br/>
              <a:r>
                <a:rPr lang="en-US" sz="980" dirty="0">
                  <a:solidFill>
                    <a:srgbClr val="1F2937"/>
                  </a:solidFill>
                  <a:latin typeface="+mn-lt"/>
                  <a:ea typeface="+mn-ea"/>
                  <a:cs typeface="+mn-cs"/>
                </a:rPr>
                <a:t>+cruise()</a:t>
              </a:r>
              <a:br/>
              <a:r>
                <a:rPr lang="en-US" sz="980" dirty="0">
                  <a:solidFill>
                    <a:srgbClr val="1F2937"/>
                  </a:solidFill>
                  <a:latin typeface="+mn-lt"/>
                  <a:ea typeface="+mn-ea"/>
                  <a:cs typeface="+mn-cs"/>
                </a:rPr>
                <a:t>+descend()</a:t>
              </a:r>
              <a:br/>
              <a:r>
                <a:rPr lang="en-US" sz="980" dirty="0">
                  <a:solidFill>
                    <a:srgbClr val="1F2937"/>
                  </a:solidFill>
                  <a:latin typeface="+mn-lt"/>
                  <a:ea typeface="+mn-ea"/>
                  <a:cs typeface="+mn-cs"/>
                </a:rPr>
                <a:t>+land()</a:t>
              </a:r>
            </a:p>
          </p:txBody>
        </p:sp>
      </p:grpSp>
      <p:grpSp>
        <p:nvGrpSpPr>
          <p:cNvPr id="44" name="c2-code-1"/>
          <p:cNvGrpSpPr/>
          <p:nvPr/>
        </p:nvGrpSpPr>
        <p:grpSpPr>
          <a:xfrm>
            <a:off x="6248400" y="1524000"/>
            <a:ext cx="5410200" cy="2327910"/>
            <a:chOff x="6248400" y="1524000"/>
            <a:chExt cx="5410200" cy="2327910"/>
          </a:xfrm>
        </p:grpSpPr>
        <p:sp>
          <p:nvSpPr>
            <p:cNvPr id="40" name="Rectangle 40"/>
            <p:cNvSpPr/>
            <p:nvPr/>
          </p:nvSpPr>
          <p:spPr>
            <a:xfrm>
              <a:off x="6248400" y="1524000"/>
              <a:ext cx="5410200" cy="2327910"/>
            </a:xfrm>
            <a:prstGeom prst="roundRect">
              <a:avLst>
                <a:gd name="adj" fmla="val 4092"/>
              </a:avLst>
            </a:prstGeom>
            <a:solidFill>
              <a:srgbClr val="F6F8FA"/>
            </a:solidFill>
            <a:ln w="11430">
              <a:solidFill>
                <a:srgbClr val="D9DFEA"/>
              </a:solidFill>
            </a:ln>
          </p:spPr>
        </p:sp>
        <p:sp>
          <p:nvSpPr>
            <p:cNvPr id="41" name="TextBox 41"/>
            <p:cNvSpPr txBox="1"/>
            <p:nvPr/>
          </p:nvSpPr>
          <p:spPr>
            <a:xfrm>
              <a:off x="6376797" y="1675924"/>
              <a:ext cx="1065327"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条件语句全部消失</a:t>
              </a:r>
            </a:p>
          </p:txBody>
        </p:sp>
        <p:sp>
          <p:nvSpPr>
            <p:cNvPr id="42" name="Rectangle 42"/>
            <p:cNvSpPr/>
            <p:nvPr/>
          </p:nvSpPr>
          <p:spPr>
            <a:xfrm>
              <a:off x="6267450" y="2504122"/>
              <a:ext cx="5372100" cy="202882"/>
            </a:xfrm>
            <a:prstGeom prst="rect">
              <a:avLst/>
            </a:prstGeom>
            <a:solidFill>
              <a:srgbClr val="FDEEE7"/>
            </a:solidFill>
            <a:ln>
              <a:noFill/>
            </a:ln>
          </p:spPr>
        </p:sp>
        <p:sp>
          <p:nvSpPr>
            <p:cNvPr id="43" name="TextBox 43"/>
            <p:cNvSpPr txBox="1"/>
            <p:nvPr/>
          </p:nvSpPr>
          <p:spPr>
            <a:xfrm>
              <a:off x="6376035" y="1937861"/>
              <a:ext cx="4157726" cy="1843088"/>
            </a:xfrm>
            <a:prstGeom prst="rect">
              <a:avLst/>
            </a:prstGeom>
            <a:noFill/>
            <a:ln>
              <a:noFill/>
            </a:ln>
          </p:spPr>
          <p:txBody>
            <a:bodyPr wrap="none" lIns="0" tIns="0" rIns="0" bIns="0" anchor="t" anchorCtr="0">
              <a:spAutoFit/>
            </a:bodyPr>
            <a:lstStyle/>
            <a:p>
              <a:pPr algn="l">
                <a:lnSpc>
                  <a:spcPts val="1598"/>
                </a:lnSpc>
              </a:pPr>
              <a:r>
                <a:rPr lang="en-US" sz="1120" b="1" dirty="0">
                  <a:solidFill>
                    <a:srgbClr val="334E68"/>
                  </a:solidFill>
                  <a:latin typeface="Consolas"/>
                  <a:ea typeface="Consolas"/>
                  <a:cs typeface="Consolas"/>
                </a:rPr>
                <a:t>public</a:t>
              </a: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class</a:t>
              </a:r>
              <a:r>
                <a:rPr lang="en-US" sz="1120" dirty="0">
                  <a:solidFill>
                    <a:srgbClr val="1F2937"/>
                  </a:solidFill>
                  <a:latin typeface="Consolas"/>
                  <a:ea typeface="Consolas"/>
                  <a:cs typeface="Consolas"/>
                </a:rPr>
                <a:t xml:space="preserve"> AutoAirSystem {</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private</a:t>
              </a:r>
              <a:r>
                <a:rPr lang="en-US" sz="1120" dirty="0">
                  <a:solidFill>
                    <a:srgbClr val="1F2937"/>
                  </a:solidFill>
                  <a:latin typeface="Consolas"/>
                  <a:ea typeface="Consolas"/>
                  <a:cs typeface="Consolas"/>
                </a:rPr>
                <a:t xml:space="preserve"> AutoAirCraft aircraft = </a:t>
              </a:r>
              <a:r>
                <a:rPr lang="en-US" sz="1120" b="1" dirty="0">
                  <a:solidFill>
                    <a:srgbClr val="334E68"/>
                  </a:solidFill>
                  <a:latin typeface="Consolas"/>
                  <a:ea typeface="Consolas"/>
                  <a:cs typeface="Consolas"/>
                </a:rPr>
                <a:t>null</a:t>
              </a:r>
              <a:r>
                <a:rPr lang="zh-CN" sz="1120" dirty="0">
                  <a:solidFill>
                    <a:srgbClr val="1F2937"/>
                  </a:solidFill>
                  <a:latin typeface="Consolas"/>
                  <a:ea typeface="Consolas"/>
                  <a:cs typeface="Consolas"/>
                </a:rPr>
                <a:t>;</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public</a:t>
              </a:r>
              <a:r>
                <a:rPr lang="en-US" sz="1120" dirty="0">
                  <a:solidFill>
                    <a:srgbClr val="1F2937"/>
                  </a:solidFill>
                  <a:latin typeface="Consolas"/>
                  <a:ea typeface="Consolas"/>
                  <a:cs typeface="Consolas"/>
                </a:rPr>
                <a:t xml:space="preserve"> AutoAirSystem(AutoAirCraft aircraft) {</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this</a:t>
              </a:r>
              <a:r>
                <a:rPr lang="en-US" sz="1120" dirty="0">
                  <a:solidFill>
                    <a:srgbClr val="1F2937"/>
                  </a:solidFill>
                  <a:latin typeface="Consolas"/>
                  <a:ea typeface="Consolas"/>
                  <a:cs typeface="Consolas"/>
                </a:rPr>
                <a:t xml:space="preserve">.aircraft = aircraft;   </a:t>
              </a:r>
              <a:r>
                <a:rPr lang="zh-CN" sz="1120" dirty="0">
                  <a:solidFill>
                    <a:srgbClr val="0F7A68"/>
                  </a:solidFill>
                  <a:latin typeface="Consolas"/>
                  <a:ea typeface="Microsoft YaHei"/>
                  <a:cs typeface="Consolas"/>
                </a:rPr>
                <a:t>// 运行时注入</a:t>
              </a:r>
              <a:br/>
              <a:r>
                <a:rPr lang="zh-CN" sz="1120" dirty="0">
                  <a:solidFill>
                    <a:srgbClr val="1F2937"/>
                  </a:solidFill>
                  <a:latin typeface="Consolas"/>
                  <a:ea typeface="Consolas"/>
                  <a:cs typeface="Consolas"/>
                </a:rPr>
                <a:t xml:space="preserve">    }</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public</a:t>
              </a: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void</a:t>
              </a:r>
              <a:r>
                <a:rPr lang="en-US" sz="1120" dirty="0">
                  <a:solidFill>
                    <a:srgbClr val="1F2937"/>
                  </a:solidFill>
                  <a:latin typeface="Consolas"/>
                  <a:ea typeface="Consolas"/>
                  <a:cs typeface="Consolas"/>
                </a:rPr>
                <a:t xml:space="preserve"> doTakingOff() { aircraft.takeOff(); }</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public</a:t>
              </a: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void</a:t>
              </a:r>
              <a:r>
                <a:rPr lang="en-US" sz="1120" dirty="0">
                  <a:solidFill>
                    <a:srgbClr val="1F2937"/>
                  </a:solidFill>
                  <a:latin typeface="Consolas"/>
                  <a:ea typeface="Consolas"/>
                  <a:cs typeface="Consolas"/>
                </a:rPr>
                <a:t xml:space="preserve"> doClimbing()  { aircraft.climb(); }</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public</a:t>
              </a: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void</a:t>
              </a:r>
              <a:r>
                <a:rPr lang="en-US" sz="1120" dirty="0">
                  <a:solidFill>
                    <a:srgbClr val="1F2937"/>
                  </a:solidFill>
                  <a:latin typeface="Consolas"/>
                  <a:ea typeface="Consolas"/>
                  <a:cs typeface="Consolas"/>
                </a:rPr>
                <a:t xml:space="preserve"> doLanding()   { aircraft.land(); }</a:t>
              </a:r>
              <a:br/>
              <a:r>
                <a:rPr lang="zh-CN" sz="1120" dirty="0">
                  <a:solidFill>
                    <a:srgbClr val="1F2937"/>
                  </a:solidFill>
                  <a:latin typeface="Consolas"/>
                  <a:ea typeface="Consolas"/>
                  <a:cs typeface="Consolas"/>
                </a:rPr>
                <a:t>}</a:t>
              </a:r>
            </a:p>
          </p:txBody>
        </p:sp>
      </p:grpSp>
      <p:grpSp>
        <p:nvGrpSpPr>
          <p:cNvPr id="50" name="c2-callout-2"/>
          <p:cNvGrpSpPr/>
          <p:nvPr/>
        </p:nvGrpSpPr>
        <p:grpSpPr>
          <a:xfrm>
            <a:off x="6248400" y="4042410"/>
            <a:ext cx="5410200" cy="782955"/>
            <a:chOff x="6248400" y="4042410"/>
            <a:chExt cx="5410200" cy="782955"/>
          </a:xfrm>
        </p:grpSpPr>
        <p:sp>
          <p:nvSpPr>
            <p:cNvPr id="45" name="Rectangle 45"/>
            <p:cNvSpPr/>
            <p:nvPr/>
          </p:nvSpPr>
          <p:spPr>
            <a:xfrm>
              <a:off x="6248400" y="4042410"/>
              <a:ext cx="5410200" cy="782955"/>
            </a:xfrm>
            <a:prstGeom prst="roundRect">
              <a:avLst>
                <a:gd name="adj" fmla="val 14599"/>
              </a:avLst>
            </a:prstGeom>
            <a:solidFill>
              <a:srgbClr val="E3F5F1"/>
            </a:solidFill>
            <a:ln>
              <a:noFill/>
            </a:ln>
          </p:spPr>
        </p:sp>
        <p:grpSp>
          <p:nvGrpSpPr>
            <p:cNvPr id="48" name="Group 48"/>
            <p:cNvGrpSpPr/>
            <p:nvPr/>
          </p:nvGrpSpPr>
          <p:grpSpPr>
            <a:xfrm>
              <a:off x="6453188" y="4333875"/>
              <a:ext cx="200026" cy="200026"/>
              <a:chOff x="6453188" y="4333875"/>
              <a:chExt cx="200026" cy="200026"/>
            </a:xfrm>
          </p:grpSpPr>
          <p:sp>
            <p:nvSpPr>
              <p:cNvPr id="46" name="Freeform 46"/>
              <p:cNvSpPr/>
              <p:nvPr/>
            </p:nvSpPr>
            <p:spPr>
              <a:xfrm>
                <a:off x="6453188" y="433387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0F7A68"/>
                </a:solidFill>
              </a:ln>
            </p:spPr>
          </p:sp>
          <p:sp>
            <p:nvSpPr>
              <p:cNvPr id="47" name="Freeform 47"/>
              <p:cNvSpPr/>
              <p:nvPr/>
            </p:nvSpPr>
            <p:spPr>
              <a:xfrm>
                <a:off x="6519863" y="4411663"/>
                <a:ext cx="66675" cy="44450"/>
              </a:xfrm>
              <a:custGeom>
                <a:avLst/>
                <a:gdLst/>
                <a:ahLst/>
                <a:cxnLst/>
                <a:rect l="l" t="t" r="r" b="b"/>
                <a:pathLst>
                  <a:path w="66675" h="44450">
                    <a:moveTo>
                      <a:pt x="0" y="22225"/>
                    </a:moveTo>
                    <a:lnTo>
                      <a:pt x="22225" y="44450"/>
                    </a:lnTo>
                    <a:lnTo>
                      <a:pt x="66675" y="0"/>
                    </a:lnTo>
                  </a:path>
                </a:pathLst>
              </a:custGeom>
              <a:noFill/>
              <a:ln w="22225">
                <a:solidFill>
                  <a:srgbClr val="0F7A68"/>
                </a:solidFill>
              </a:ln>
            </p:spPr>
          </p:sp>
        </p:grpSp>
        <p:sp>
          <p:nvSpPr>
            <p:cNvPr id="49" name="TextBox 49"/>
            <p:cNvSpPr txBox="1"/>
            <p:nvPr/>
          </p:nvSpPr>
          <p:spPr>
            <a:xfrm>
              <a:off x="6755130" y="4191000"/>
              <a:ext cx="4406265"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0F7A68"/>
                  </a:solidFill>
                  <a:latin typeface="+mn-lt"/>
                  <a:ea typeface="+mn-ea"/>
                  <a:cs typeface="+mn-cs"/>
                </a:rPr>
                <a:t>AutoAirSystem 仅仅依赖接口 AutoAirCraft，往层</a:t>
              </a:r>
              <a:br/>
              <a:r>
                <a:rPr lang="zh-CN" sz="1500" dirty="0">
                  <a:solidFill>
                    <a:srgbClr val="0F7A68"/>
                  </a:solidFill>
                  <a:latin typeface="+mn-lt"/>
                  <a:ea typeface="+mn-ea"/>
                  <a:cs typeface="+mn-cs"/>
                </a:rPr>
                <a:t>次里加新机型时它不需要改。</a:t>
              </a:r>
            </a:p>
          </p:txBody>
        </p:sp>
      </p:grpSp>
      <p:grpSp>
        <p:nvGrpSpPr>
          <p:cNvPr id="57" name="c2-callout-3"/>
          <p:cNvGrpSpPr/>
          <p:nvPr/>
        </p:nvGrpSpPr>
        <p:grpSpPr>
          <a:xfrm>
            <a:off x="6248400" y="5015865"/>
            <a:ext cx="5410200" cy="1335405"/>
            <a:chOff x="6248400" y="5015865"/>
            <a:chExt cx="5410200" cy="1335405"/>
          </a:xfrm>
        </p:grpSpPr>
        <p:sp>
          <p:nvSpPr>
            <p:cNvPr id="51" name="Rectangle 51"/>
            <p:cNvSpPr/>
            <p:nvPr/>
          </p:nvSpPr>
          <p:spPr>
            <a:xfrm>
              <a:off x="6248400" y="5015865"/>
              <a:ext cx="5410200" cy="1335405"/>
            </a:xfrm>
            <a:prstGeom prst="roundRect">
              <a:avLst>
                <a:gd name="adj" fmla="val 8559"/>
              </a:avLst>
            </a:prstGeom>
            <a:solidFill>
              <a:srgbClr val="F4F6FB"/>
            </a:solidFill>
            <a:ln>
              <a:noFill/>
            </a:ln>
          </p:spPr>
        </p:sp>
        <p:grpSp>
          <p:nvGrpSpPr>
            <p:cNvPr id="55" name="Group 55"/>
            <p:cNvGrpSpPr/>
            <p:nvPr/>
          </p:nvGrpSpPr>
          <p:grpSpPr>
            <a:xfrm>
              <a:off x="6453188" y="5583555"/>
              <a:ext cx="200026" cy="200026"/>
              <a:chOff x="6453188" y="5583555"/>
              <a:chExt cx="200026" cy="200026"/>
            </a:xfrm>
          </p:grpSpPr>
          <p:sp>
            <p:nvSpPr>
              <p:cNvPr id="52" name="Freeform 52"/>
              <p:cNvSpPr/>
              <p:nvPr/>
            </p:nvSpPr>
            <p:spPr>
              <a:xfrm>
                <a:off x="6453188" y="558355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3" name="Freeform 53"/>
              <p:cNvSpPr/>
              <p:nvPr/>
            </p:nvSpPr>
            <p:spPr>
              <a:xfrm>
                <a:off x="6553200" y="565023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4" name="Freeform 54"/>
              <p:cNvSpPr/>
              <p:nvPr/>
            </p:nvSpPr>
            <p:spPr>
              <a:xfrm>
                <a:off x="6542088" y="568356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6" name="TextBox 56"/>
            <p:cNvSpPr txBox="1"/>
            <p:nvPr/>
          </p:nvSpPr>
          <p:spPr>
            <a:xfrm>
              <a:off x="6755130" y="5164455"/>
              <a:ext cx="4467225" cy="1122045"/>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 xml:space="preserve">更正：原课件写 </a:t>
              </a:r>
              <a:r>
                <a:rPr lang="en-US" sz="1500" b="1" dirty="0">
                  <a:solidFill>
                    <a:srgbClr val="B42318"/>
                  </a:solidFill>
                  <a:latin typeface="+mn-lt"/>
                  <a:ea typeface="+mn-ea"/>
                  <a:cs typeface="+mn-cs"/>
                </a:rPr>
                <a:t>AirbusAutoAircraft airbus =</a:t>
              </a:r>
              <a:br/>
              <a:r>
                <a:rPr lang="en-US" sz="1500" b="1" dirty="0">
                  <a:solidFill>
                    <a:srgbClr val="B42318"/>
                  </a:solidFill>
                  <a:latin typeface="+mn-lt"/>
                  <a:ea typeface="+mn-ea"/>
                  <a:cs typeface="+mn-cs"/>
                </a:rPr>
                <a:t>new Airbus();</a:t>
              </a:r>
              <a:r>
                <a:rPr lang="zh-CN" sz="1500" dirty="0">
                  <a:solidFill>
                    <a:srgbClr val="1F2937"/>
                  </a:solidFill>
                  <a:latin typeface="+mn-lt"/>
                  <a:ea typeface="+mn-ea"/>
                  <a:cs typeface="+mn-cs"/>
                </a:rPr>
                <a:t>，声明类型与实例类型对不上，应为</a:t>
              </a:r>
              <a:br/>
              <a:r>
                <a:rPr lang="en-US" sz="1500" b="1" dirty="0">
                  <a:solidFill>
                    <a:srgbClr val="0F7A68"/>
                  </a:solidFill>
                  <a:latin typeface="+mn-lt"/>
                  <a:ea typeface="+mn-ea"/>
                  <a:cs typeface="+mn-cs"/>
                </a:rPr>
                <a:t>Airbus airbus</a:t>
              </a:r>
              <a:r>
                <a:rPr lang="zh-CN" sz="1500" dirty="0">
                  <a:solidFill>
                    <a:srgbClr val="1F2937"/>
                  </a:solidFill>
                  <a:latin typeface="+mn-lt"/>
                  <a:ea typeface="+mn-ea"/>
                  <a:cs typeface="+mn-cs"/>
                </a:rPr>
                <a:t>；接口名图中是 AutoAirCraft、代码</a:t>
              </a:r>
              <a:br/>
              <a:r>
                <a:rPr lang="zh-CN" sz="1500" dirty="0">
                  <a:solidFill>
                    <a:srgbClr val="1F2937"/>
                  </a:solidFill>
                  <a:latin typeface="+mn-lt"/>
                  <a:ea typeface="+mn-ea"/>
                  <a:cs typeface="+mn-cs"/>
                </a:rPr>
                <a:t>里是 AutoAircraft，此处统一。</a:t>
              </a:r>
            </a:p>
          </p:txBody>
        </p:sp>
      </p:grpSp>
      <p:grpSp>
        <p:nvGrpSpPr>
          <p:cNvPr id="60" name="footer"/>
          <p:cNvGrpSpPr/>
          <p:nvPr/>
        </p:nvGrpSpPr>
        <p:grpSpPr>
          <a:xfrm>
            <a:off x="528447" y="6581299"/>
            <a:ext cx="11135106" cy="190690"/>
            <a:chOff x="528447" y="6581299"/>
            <a:chExt cx="11135106" cy="190690"/>
          </a:xfrm>
        </p:grpSpPr>
        <p:sp>
          <p:nvSpPr>
            <p:cNvPr id="58" name="TextBox 58"/>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59" name="TextBox 5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28</a:t>
              </a:r>
            </a:p>
          </p:txBody>
        </p:sp>
      </p:grpSp>
    </p:spTree>
  </p:cSld>
  <p:clrMapOvr>
    <a:masterClrMapping/>
  </p:clrMapOvr>
  <p:transition xmlns:p14="http://schemas.microsoft.com/office/powerpoint/2010/main" p14:dur="400">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458718" cy="909257"/>
            <a:chOff x="520446" y="342900"/>
            <a:chExt cx="3458718" cy="909257"/>
          </a:xfrm>
        </p:grpSpPr>
        <p:sp>
          <p:nvSpPr>
            <p:cNvPr id="2" name="Rectangle 2"/>
            <p:cNvSpPr/>
            <p:nvPr/>
          </p:nvSpPr>
          <p:spPr>
            <a:xfrm>
              <a:off x="533400" y="342900"/>
              <a:ext cx="2660332" cy="266700"/>
            </a:xfrm>
            <a:prstGeom prst="roundRect">
              <a:avLst>
                <a:gd name="adj" fmla="val 50000"/>
              </a:avLst>
            </a:prstGeom>
            <a:solidFill>
              <a:srgbClr val="E7EDF3"/>
            </a:solidFill>
            <a:ln>
              <a:noFill/>
            </a:ln>
          </p:spPr>
        </p:sp>
        <p:sp>
          <p:nvSpPr>
            <p:cNvPr id="3" name="TextBox 3"/>
            <p:cNvSpPr txBox="1"/>
            <p:nvPr/>
          </p:nvSpPr>
          <p:spPr>
            <a:xfrm>
              <a:off x="570203" y="407194"/>
              <a:ext cx="25857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SOLID 五原则</a:t>
              </a:r>
            </a:p>
          </p:txBody>
        </p:sp>
        <p:sp>
          <p:nvSpPr>
            <p:cNvPr id="4" name="TextBox 4"/>
            <p:cNvSpPr txBox="1"/>
            <p:nvPr/>
          </p:nvSpPr>
          <p:spPr>
            <a:xfrm>
              <a:off x="520446" y="753428"/>
              <a:ext cx="345871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五条原则放在一起辨析</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161" y="1547336"/>
            <a:ext cx="5577246" cy="278702"/>
            <a:chOff x="526161" y="1547336"/>
            <a:chExt cx="5577246" cy="278702"/>
          </a:xfrm>
        </p:grpSpPr>
        <p:sp>
          <p:nvSpPr>
            <p:cNvPr id="7" name="TextBox 7"/>
            <p:cNvSpPr txBox="1"/>
            <p:nvPr/>
          </p:nvSpPr>
          <p:spPr>
            <a:xfrm>
              <a:off x="526161" y="1547336"/>
              <a:ext cx="5577246"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考试里常给一段设计让你判断违反了哪一条。下表按“症状”反查。</a:t>
              </a:r>
            </a:p>
          </p:txBody>
        </p:sp>
      </p:grpSp>
      <p:grpSp>
        <p:nvGrpSpPr>
          <p:cNvPr id="37" name="c1-table-1"/>
          <p:cNvGrpSpPr/>
          <p:nvPr/>
        </p:nvGrpSpPr>
        <p:grpSpPr>
          <a:xfrm>
            <a:off x="533400" y="1941195"/>
            <a:ext cx="6276022" cy="2434590"/>
            <a:chOff x="533400" y="1941195"/>
            <a:chExt cx="6276022" cy="2434590"/>
          </a:xfrm>
        </p:grpSpPr>
        <p:sp>
          <p:nvSpPr>
            <p:cNvPr id="9" name="Rectangle 9"/>
            <p:cNvSpPr/>
            <p:nvPr/>
          </p:nvSpPr>
          <p:spPr>
            <a:xfrm>
              <a:off x="533400" y="1941195"/>
              <a:ext cx="6276022" cy="405765"/>
            </a:xfrm>
            <a:prstGeom prst="rect">
              <a:avLst/>
            </a:prstGeom>
            <a:solidFill>
              <a:srgbClr val="334E68"/>
            </a:solidFill>
            <a:ln>
              <a:noFill/>
            </a:ln>
          </p:spPr>
        </p:sp>
        <p:sp>
          <p:nvSpPr>
            <p:cNvPr id="10" name="TextBox 10"/>
            <p:cNvSpPr txBox="1"/>
            <p:nvPr/>
          </p:nvSpPr>
          <p:spPr>
            <a:xfrm>
              <a:off x="1469009" y="2065496"/>
              <a:ext cx="7653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看到的症状</a:t>
              </a:r>
            </a:p>
          </p:txBody>
        </p:sp>
        <p:sp>
          <p:nvSpPr>
            <p:cNvPr id="11" name="TextBox 11"/>
            <p:cNvSpPr txBox="1"/>
            <p:nvPr/>
          </p:nvSpPr>
          <p:spPr>
            <a:xfrm>
              <a:off x="3351149" y="2065496"/>
              <a:ext cx="7653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违反的原则</a:t>
              </a:r>
            </a:p>
          </p:txBody>
        </p:sp>
        <p:sp>
          <p:nvSpPr>
            <p:cNvPr id="12" name="TextBox 12"/>
            <p:cNvSpPr txBox="1"/>
            <p:nvPr/>
          </p:nvSpPr>
          <p:spPr>
            <a:xfrm>
              <a:off x="5322151" y="2065496"/>
              <a:ext cx="46375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怎么改</a:t>
              </a:r>
            </a:p>
          </p:txBody>
        </p:sp>
        <p:sp>
          <p:nvSpPr>
            <p:cNvPr id="13" name="TextBox 13"/>
            <p:cNvSpPr txBox="1"/>
            <p:nvPr/>
          </p:nvSpPr>
          <p:spPr>
            <a:xfrm>
              <a:off x="633412" y="2471261"/>
              <a:ext cx="1519174"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两组方法各碰各的属性</a:t>
              </a:r>
            </a:p>
          </p:txBody>
        </p:sp>
        <p:sp>
          <p:nvSpPr>
            <p:cNvPr id="14" name="TextBox 14"/>
            <p:cNvSpPr txBox="1"/>
            <p:nvPr/>
          </p:nvSpPr>
          <p:spPr>
            <a:xfrm>
              <a:off x="3268980" y="2471261"/>
              <a:ext cx="27429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SRP</a:t>
              </a:r>
            </a:p>
          </p:txBody>
        </p:sp>
        <p:sp>
          <p:nvSpPr>
            <p:cNvPr id="15" name="TextBox 15"/>
            <p:cNvSpPr txBox="1"/>
            <p:nvPr/>
          </p:nvSpPr>
          <p:spPr>
            <a:xfrm>
              <a:off x="4398645" y="2471261"/>
              <a:ext cx="151917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按属性分组拆成两个类</a:t>
              </a:r>
            </a:p>
          </p:txBody>
        </p:sp>
        <p:sp>
          <p:nvSpPr>
            <p:cNvPr id="16" name="Rectangle 16"/>
            <p:cNvSpPr/>
            <p:nvPr/>
          </p:nvSpPr>
          <p:spPr>
            <a:xfrm>
              <a:off x="533400" y="2747962"/>
              <a:ext cx="6276022" cy="9525"/>
            </a:xfrm>
            <a:prstGeom prst="rect">
              <a:avLst/>
            </a:prstGeom>
            <a:solidFill>
              <a:srgbClr val="D9DFEA"/>
            </a:solidFill>
            <a:ln>
              <a:noFill/>
            </a:ln>
          </p:spPr>
        </p:sp>
        <p:sp>
          <p:nvSpPr>
            <p:cNvPr id="17" name="Rectangle 17"/>
            <p:cNvSpPr/>
            <p:nvPr/>
          </p:nvSpPr>
          <p:spPr>
            <a:xfrm>
              <a:off x="533400" y="2752725"/>
              <a:ext cx="6276022" cy="405765"/>
            </a:xfrm>
            <a:prstGeom prst="rect">
              <a:avLst/>
            </a:prstGeom>
            <a:solidFill>
              <a:srgbClr val="F4F6FB"/>
            </a:solidFill>
            <a:ln>
              <a:noFill/>
            </a:ln>
          </p:spPr>
        </p:sp>
        <p:sp>
          <p:nvSpPr>
            <p:cNvPr id="18" name="TextBox 18"/>
            <p:cNvSpPr txBox="1"/>
            <p:nvPr/>
          </p:nvSpPr>
          <p:spPr>
            <a:xfrm>
              <a:off x="633412" y="2877026"/>
              <a:ext cx="1820723"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每加一种新算法都要改老类</a:t>
              </a:r>
            </a:p>
          </p:txBody>
        </p:sp>
        <p:sp>
          <p:nvSpPr>
            <p:cNvPr id="19" name="TextBox 19"/>
            <p:cNvSpPr txBox="1"/>
            <p:nvPr/>
          </p:nvSpPr>
          <p:spPr>
            <a:xfrm>
              <a:off x="3268980" y="2877026"/>
              <a:ext cx="306151"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OCP</a:t>
              </a:r>
            </a:p>
          </p:txBody>
        </p:sp>
        <p:sp>
          <p:nvSpPr>
            <p:cNvPr id="20" name="TextBox 20"/>
            <p:cNvSpPr txBox="1"/>
            <p:nvPr/>
          </p:nvSpPr>
          <p:spPr>
            <a:xfrm>
              <a:off x="4398645" y="2877026"/>
              <a:ext cx="182072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抽出接口，新行为做成子类</a:t>
              </a:r>
            </a:p>
          </p:txBody>
        </p:sp>
        <p:sp>
          <p:nvSpPr>
            <p:cNvPr id="21" name="Rectangle 21"/>
            <p:cNvSpPr/>
            <p:nvPr/>
          </p:nvSpPr>
          <p:spPr>
            <a:xfrm>
              <a:off x="533400" y="3153728"/>
              <a:ext cx="6276022" cy="9525"/>
            </a:xfrm>
            <a:prstGeom prst="rect">
              <a:avLst/>
            </a:prstGeom>
            <a:solidFill>
              <a:srgbClr val="D9DFEA"/>
            </a:solidFill>
            <a:ln>
              <a:noFill/>
            </a:ln>
          </p:spPr>
        </p:sp>
        <p:sp>
          <p:nvSpPr>
            <p:cNvPr id="22" name="TextBox 22"/>
            <p:cNvSpPr txBox="1"/>
            <p:nvPr/>
          </p:nvSpPr>
          <p:spPr>
            <a:xfrm>
              <a:off x="633412" y="3282791"/>
              <a:ext cx="166994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子类重写后父类断言失败</a:t>
              </a:r>
            </a:p>
          </p:txBody>
        </p:sp>
        <p:sp>
          <p:nvSpPr>
            <p:cNvPr id="23" name="TextBox 23"/>
            <p:cNvSpPr txBox="1"/>
            <p:nvPr/>
          </p:nvSpPr>
          <p:spPr>
            <a:xfrm>
              <a:off x="3268980" y="3282791"/>
              <a:ext cx="27429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LSP</a:t>
              </a:r>
            </a:p>
          </p:txBody>
        </p:sp>
        <p:sp>
          <p:nvSpPr>
            <p:cNvPr id="24" name="TextBox 24"/>
            <p:cNvSpPr txBox="1"/>
            <p:nvPr/>
          </p:nvSpPr>
          <p:spPr>
            <a:xfrm>
              <a:off x="4398645" y="3282791"/>
              <a:ext cx="182072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继承选错，改用组合或委托</a:t>
              </a:r>
            </a:p>
          </p:txBody>
        </p:sp>
        <p:sp>
          <p:nvSpPr>
            <p:cNvPr id="25" name="Rectangle 25"/>
            <p:cNvSpPr/>
            <p:nvPr/>
          </p:nvSpPr>
          <p:spPr>
            <a:xfrm>
              <a:off x="533400" y="3559492"/>
              <a:ext cx="6276022" cy="9525"/>
            </a:xfrm>
            <a:prstGeom prst="rect">
              <a:avLst/>
            </a:prstGeom>
            <a:solidFill>
              <a:srgbClr val="D9DFEA"/>
            </a:solidFill>
            <a:ln>
              <a:noFill/>
            </a:ln>
          </p:spPr>
        </p:sp>
        <p:sp>
          <p:nvSpPr>
            <p:cNvPr id="26" name="Rectangle 26"/>
            <p:cNvSpPr/>
            <p:nvPr/>
          </p:nvSpPr>
          <p:spPr>
            <a:xfrm>
              <a:off x="533400" y="3564255"/>
              <a:ext cx="6276022" cy="405765"/>
            </a:xfrm>
            <a:prstGeom prst="rect">
              <a:avLst/>
            </a:prstGeom>
            <a:solidFill>
              <a:srgbClr val="F4F6FB"/>
            </a:solidFill>
            <a:ln>
              <a:noFill/>
            </a:ln>
          </p:spPr>
        </p:sp>
        <p:sp>
          <p:nvSpPr>
            <p:cNvPr id="27" name="TextBox 27"/>
            <p:cNvSpPr txBox="1"/>
            <p:nvPr/>
          </p:nvSpPr>
          <p:spPr>
            <a:xfrm>
              <a:off x="633412" y="3688556"/>
              <a:ext cx="1820723"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客户被迫依赖用不到的方法</a:t>
              </a:r>
            </a:p>
          </p:txBody>
        </p:sp>
        <p:sp>
          <p:nvSpPr>
            <p:cNvPr id="28" name="TextBox 28"/>
            <p:cNvSpPr txBox="1"/>
            <p:nvPr/>
          </p:nvSpPr>
          <p:spPr>
            <a:xfrm>
              <a:off x="3268980" y="3688556"/>
              <a:ext cx="234462"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ISP</a:t>
              </a:r>
            </a:p>
          </p:txBody>
        </p:sp>
        <p:sp>
          <p:nvSpPr>
            <p:cNvPr id="29" name="TextBox 29"/>
            <p:cNvSpPr txBox="1"/>
            <p:nvPr/>
          </p:nvSpPr>
          <p:spPr>
            <a:xfrm>
              <a:off x="4398645" y="3688556"/>
              <a:ext cx="166994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按使用维度把大接口拆小</a:t>
              </a:r>
            </a:p>
          </p:txBody>
        </p:sp>
        <p:sp>
          <p:nvSpPr>
            <p:cNvPr id="30" name="Rectangle 30"/>
            <p:cNvSpPr/>
            <p:nvPr/>
          </p:nvSpPr>
          <p:spPr>
            <a:xfrm>
              <a:off x="533400" y="3965258"/>
              <a:ext cx="6276022" cy="9525"/>
            </a:xfrm>
            <a:prstGeom prst="rect">
              <a:avLst/>
            </a:prstGeom>
            <a:solidFill>
              <a:srgbClr val="D9DFEA"/>
            </a:solidFill>
            <a:ln>
              <a:noFill/>
            </a:ln>
          </p:spPr>
        </p:sp>
        <p:sp>
          <p:nvSpPr>
            <p:cNvPr id="31" name="TextBox 31"/>
            <p:cNvSpPr txBox="1"/>
            <p:nvPr/>
          </p:nvSpPr>
          <p:spPr>
            <a:xfrm>
              <a:off x="633412" y="4094321"/>
              <a:ext cx="1756267"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高层类里直接 new 低层类</a:t>
              </a:r>
            </a:p>
          </p:txBody>
        </p:sp>
        <p:sp>
          <p:nvSpPr>
            <p:cNvPr id="32" name="TextBox 32"/>
            <p:cNvSpPr txBox="1"/>
            <p:nvPr/>
          </p:nvSpPr>
          <p:spPr>
            <a:xfrm>
              <a:off x="3268980" y="4094321"/>
              <a:ext cx="234462"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DIP</a:t>
              </a:r>
            </a:p>
          </p:txBody>
        </p:sp>
        <p:sp>
          <p:nvSpPr>
            <p:cNvPr id="33" name="TextBox 33"/>
            <p:cNvSpPr txBox="1"/>
            <p:nvPr/>
          </p:nvSpPr>
          <p:spPr>
            <a:xfrm>
              <a:off x="4398645" y="4094321"/>
              <a:ext cx="182072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抽出接口，由外部注入实现</a:t>
              </a:r>
            </a:p>
          </p:txBody>
        </p:sp>
        <p:sp>
          <p:nvSpPr>
            <p:cNvPr id="34" name="Rectangle 34"/>
            <p:cNvSpPr/>
            <p:nvPr/>
          </p:nvSpPr>
          <p:spPr>
            <a:xfrm>
              <a:off x="533400" y="1941195"/>
              <a:ext cx="6276022" cy="2434590"/>
            </a:xfrm>
            <a:prstGeom prst="rect">
              <a:avLst/>
            </a:prstGeom>
            <a:noFill/>
            <a:ln w="14288">
              <a:solidFill>
                <a:srgbClr val="D9DFEA"/>
              </a:solidFill>
            </a:ln>
          </p:spPr>
        </p:sp>
        <p:sp>
          <p:nvSpPr>
            <p:cNvPr id="35" name="Rectangle 35"/>
            <p:cNvSpPr/>
            <p:nvPr/>
          </p:nvSpPr>
          <p:spPr>
            <a:xfrm>
              <a:off x="3164205" y="1941195"/>
              <a:ext cx="9525" cy="2434590"/>
            </a:xfrm>
            <a:prstGeom prst="rect">
              <a:avLst/>
            </a:prstGeom>
            <a:solidFill>
              <a:srgbClr val="D9DFEA"/>
            </a:solidFill>
            <a:ln>
              <a:noFill/>
            </a:ln>
          </p:spPr>
        </p:sp>
        <p:sp>
          <p:nvSpPr>
            <p:cNvPr id="36" name="Rectangle 36"/>
            <p:cNvSpPr/>
            <p:nvPr/>
          </p:nvSpPr>
          <p:spPr>
            <a:xfrm>
              <a:off x="4293870" y="1941195"/>
              <a:ext cx="9525" cy="2434590"/>
            </a:xfrm>
            <a:prstGeom prst="rect">
              <a:avLst/>
            </a:prstGeom>
            <a:solidFill>
              <a:srgbClr val="D9DFEA"/>
            </a:solidFill>
            <a:ln>
              <a:noFill/>
            </a:ln>
          </p:spPr>
        </p:sp>
      </p:grpSp>
      <p:grpSp>
        <p:nvGrpSpPr>
          <p:cNvPr id="43" name="c1-callout-2"/>
          <p:cNvGrpSpPr/>
          <p:nvPr/>
        </p:nvGrpSpPr>
        <p:grpSpPr>
          <a:xfrm>
            <a:off x="533400" y="4551045"/>
            <a:ext cx="6276022" cy="993458"/>
            <a:chOff x="533400" y="4551045"/>
            <a:chExt cx="6276022" cy="993458"/>
          </a:xfrm>
        </p:grpSpPr>
        <p:sp>
          <p:nvSpPr>
            <p:cNvPr id="38" name="Rectangle 38"/>
            <p:cNvSpPr/>
            <p:nvPr/>
          </p:nvSpPr>
          <p:spPr>
            <a:xfrm>
              <a:off x="533400" y="4551045"/>
              <a:ext cx="6276022" cy="993458"/>
            </a:xfrm>
            <a:prstGeom prst="roundRect">
              <a:avLst>
                <a:gd name="adj" fmla="val 11505"/>
              </a:avLst>
            </a:prstGeom>
            <a:solidFill>
              <a:srgbClr val="334E68"/>
            </a:solidFill>
            <a:ln>
              <a:noFill/>
            </a:ln>
          </p:spPr>
        </p:sp>
        <p:grpSp>
          <p:nvGrpSpPr>
            <p:cNvPr id="41" name="Group 41"/>
            <p:cNvGrpSpPr/>
            <p:nvPr/>
          </p:nvGrpSpPr>
          <p:grpSpPr>
            <a:xfrm>
              <a:off x="738188" y="4948240"/>
              <a:ext cx="200023" cy="200023"/>
              <a:chOff x="738188" y="4948240"/>
              <a:chExt cx="200023" cy="200023"/>
            </a:xfrm>
          </p:grpSpPr>
          <p:sp>
            <p:nvSpPr>
              <p:cNvPr id="39" name="Freeform 39"/>
              <p:cNvSpPr/>
              <p:nvPr/>
            </p:nvSpPr>
            <p:spPr>
              <a:xfrm>
                <a:off x="738188" y="494824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0" name="Freeform 40"/>
              <p:cNvSpPr/>
              <p:nvPr/>
            </p:nvSpPr>
            <p:spPr>
              <a:xfrm>
                <a:off x="871538" y="501491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2" name="TextBox 42"/>
            <p:cNvSpPr txBox="1"/>
            <p:nvPr/>
          </p:nvSpPr>
          <p:spPr>
            <a:xfrm>
              <a:off x="1040892" y="4829175"/>
              <a:ext cx="5268659"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SRP 看这个类有几个变化原因，ISP 看客户被迫依赖了多少用不到的方</a:t>
              </a:r>
              <a:br/>
              <a:r>
                <a:rPr lang="zh-CN" sz="1350" dirty="0">
                  <a:solidFill>
                    <a:srgbClr val="FFFFFF"/>
                  </a:solidFill>
                  <a:latin typeface="+mn-lt"/>
                  <a:ea typeface="+mn-ea"/>
                  <a:cs typeface="+mn-cs"/>
                </a:rPr>
                <a:t>法。</a:t>
              </a:r>
            </a:p>
          </p:txBody>
        </p:sp>
      </p:grpSp>
      <p:grpSp>
        <p:nvGrpSpPr>
          <p:cNvPr id="46" name="c2-image-1"/>
          <p:cNvGrpSpPr/>
          <p:nvPr/>
        </p:nvGrpSpPr>
        <p:grpSpPr>
          <a:xfrm>
            <a:off x="7114222" y="1941195"/>
            <a:ext cx="4544378" cy="2119884"/>
            <a:chOff x="7114222" y="1941195"/>
            <a:chExt cx="4544378" cy="2119884"/>
          </a:xfrm>
        </p:grpSpPr>
        <p:pic>
          <p:nvPicPr>
            <p:cNvPr id="44" name="Image 44"/>
            <p:cNvPicPr>
              <a:picLocks noChangeAspect="1"/>
            </p:cNvPicPr>
            <p:nvPr/>
          </p:nvPicPr>
          <p:blipFill>
            <a:blip r:embed="rId2"/>
            <a:srcRect l="0" t="23297" r="0" b="23297"/>
            <a:stretch>
              <a:fillRect/>
            </a:stretch>
          </p:blipFill>
          <p:spPr>
            <a:xfrm>
              <a:off x="7114222" y="1941195"/>
              <a:ext cx="4544378" cy="1820228"/>
            </a:xfrm>
            <a:prstGeom prst="roundRect">
              <a:avLst>
                <a:gd name="adj" fmla="val 7326"/>
              </a:avLst>
            </a:prstGeom>
          </p:spPr>
        </p:pic>
        <p:sp>
          <p:nvSpPr>
            <p:cNvPr id="45" name="TextBox 45"/>
            <p:cNvSpPr txBox="1"/>
            <p:nvPr/>
          </p:nvSpPr>
          <p:spPr>
            <a:xfrm>
              <a:off x="7825740" y="3855720"/>
              <a:ext cx="3120390"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两头都插在同一块接线板上，谁换了都不影响对方</a:t>
              </a:r>
            </a:p>
          </p:txBody>
        </p:sp>
      </p:grpSp>
      <p:grpSp>
        <p:nvGrpSpPr>
          <p:cNvPr id="60" name="c2-bullets-2"/>
          <p:cNvGrpSpPr/>
          <p:nvPr/>
        </p:nvGrpSpPr>
        <p:grpSpPr>
          <a:xfrm>
            <a:off x="7107364" y="4235768"/>
            <a:ext cx="2695312" cy="1353026"/>
            <a:chOff x="7107364" y="4235768"/>
            <a:chExt cx="2695312" cy="1353026"/>
          </a:xfrm>
        </p:grpSpPr>
        <p:sp>
          <p:nvSpPr>
            <p:cNvPr id="47" name="TextBox 47"/>
            <p:cNvSpPr txBox="1"/>
            <p:nvPr/>
          </p:nvSpPr>
          <p:spPr>
            <a:xfrm>
              <a:off x="7107364" y="4235768"/>
              <a:ext cx="1467612"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答题时的固定套路</a:t>
              </a:r>
            </a:p>
          </p:txBody>
        </p:sp>
        <p:sp>
          <p:nvSpPr>
            <p:cNvPr id="48" name="Ellipse 48"/>
            <p:cNvSpPr/>
            <p:nvPr/>
          </p:nvSpPr>
          <p:spPr>
            <a:xfrm>
              <a:off x="7114222" y="4541520"/>
              <a:ext cx="160020" cy="160020"/>
            </a:xfrm>
            <a:prstGeom prst="ellipse">
              <a:avLst/>
            </a:prstGeom>
            <a:solidFill>
              <a:srgbClr val="334E68"/>
            </a:solidFill>
            <a:ln>
              <a:noFill/>
            </a:ln>
          </p:spPr>
        </p:sp>
        <p:sp>
          <p:nvSpPr>
            <p:cNvPr id="49" name="TextBox 49"/>
            <p:cNvSpPr txBox="1"/>
            <p:nvPr/>
          </p:nvSpPr>
          <p:spPr>
            <a:xfrm>
              <a:off x="7159928" y="4573238"/>
              <a:ext cx="68610" cy="150495"/>
            </a:xfrm>
            <a:prstGeom prst="rect">
              <a:avLst/>
            </a:prstGeom>
            <a:noFill/>
            <a:ln>
              <a:noFill/>
            </a:ln>
          </p:spPr>
          <p:txBody>
            <a:bodyPr wrap="none" lIns="0" tIns="0" rIns="0" bIns="0" anchor="t" anchorCtr="0">
              <a:spAutoFit/>
            </a:bodyPr>
            <a:lstStyle/>
            <a:p>
              <a:pPr algn="ctr"/>
              <a:r>
                <a:rPr lang="zh-CN" sz="760" b="1" dirty="0">
                  <a:solidFill>
                    <a:srgbClr val="FFFFFF"/>
                  </a:solidFill>
                  <a:latin typeface="+mn-lt"/>
                  <a:ea typeface="+mn-ea"/>
                  <a:cs typeface="+mn-cs"/>
                </a:rPr>
                <a:t>1</a:t>
              </a:r>
            </a:p>
          </p:txBody>
        </p:sp>
        <p:sp>
          <p:nvSpPr>
            <p:cNvPr id="50" name="TextBox 50"/>
            <p:cNvSpPr txBox="1"/>
            <p:nvPr/>
          </p:nvSpPr>
          <p:spPr>
            <a:xfrm>
              <a:off x="7363778" y="4551521"/>
              <a:ext cx="243889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先说清原设计里“会变的东西”是什么</a:t>
              </a:r>
            </a:p>
          </p:txBody>
        </p:sp>
        <p:sp>
          <p:nvSpPr>
            <p:cNvPr id="51" name="Ellipse 51"/>
            <p:cNvSpPr/>
            <p:nvPr/>
          </p:nvSpPr>
          <p:spPr>
            <a:xfrm>
              <a:off x="7114222" y="4813935"/>
              <a:ext cx="160020" cy="160020"/>
            </a:xfrm>
            <a:prstGeom prst="ellipse">
              <a:avLst/>
            </a:prstGeom>
            <a:solidFill>
              <a:srgbClr val="334E68"/>
            </a:solidFill>
            <a:ln>
              <a:noFill/>
            </a:ln>
          </p:spPr>
        </p:sp>
        <p:sp>
          <p:nvSpPr>
            <p:cNvPr id="52" name="TextBox 52"/>
            <p:cNvSpPr txBox="1"/>
            <p:nvPr/>
          </p:nvSpPr>
          <p:spPr>
            <a:xfrm>
              <a:off x="7159928" y="4845653"/>
              <a:ext cx="68610" cy="150495"/>
            </a:xfrm>
            <a:prstGeom prst="rect">
              <a:avLst/>
            </a:prstGeom>
            <a:noFill/>
            <a:ln>
              <a:noFill/>
            </a:ln>
          </p:spPr>
          <p:txBody>
            <a:bodyPr wrap="none" lIns="0" tIns="0" rIns="0" bIns="0" anchor="t" anchorCtr="0">
              <a:spAutoFit/>
            </a:bodyPr>
            <a:lstStyle/>
            <a:p>
              <a:pPr algn="ctr"/>
              <a:r>
                <a:rPr lang="zh-CN" sz="760" b="1" dirty="0">
                  <a:solidFill>
                    <a:srgbClr val="FFFFFF"/>
                  </a:solidFill>
                  <a:latin typeface="+mn-lt"/>
                  <a:ea typeface="+mn-ea"/>
                  <a:cs typeface="+mn-cs"/>
                </a:rPr>
                <a:t>2</a:t>
              </a:r>
            </a:p>
          </p:txBody>
        </p:sp>
        <p:sp>
          <p:nvSpPr>
            <p:cNvPr id="53" name="TextBox 53"/>
            <p:cNvSpPr txBox="1"/>
            <p:nvPr/>
          </p:nvSpPr>
          <p:spPr>
            <a:xfrm>
              <a:off x="7363778" y="4823936"/>
              <a:ext cx="227304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指出它被写死在哪个类的什么位置</a:t>
              </a:r>
            </a:p>
          </p:txBody>
        </p:sp>
        <p:sp>
          <p:nvSpPr>
            <p:cNvPr id="54" name="Ellipse 54"/>
            <p:cNvSpPr/>
            <p:nvPr/>
          </p:nvSpPr>
          <p:spPr>
            <a:xfrm>
              <a:off x="7114222" y="5086350"/>
              <a:ext cx="160020" cy="160020"/>
            </a:xfrm>
            <a:prstGeom prst="ellipse">
              <a:avLst/>
            </a:prstGeom>
            <a:solidFill>
              <a:srgbClr val="334E68"/>
            </a:solidFill>
            <a:ln>
              <a:noFill/>
            </a:ln>
          </p:spPr>
        </p:sp>
        <p:sp>
          <p:nvSpPr>
            <p:cNvPr id="55" name="TextBox 55"/>
            <p:cNvSpPr txBox="1"/>
            <p:nvPr/>
          </p:nvSpPr>
          <p:spPr>
            <a:xfrm>
              <a:off x="7159928" y="5118068"/>
              <a:ext cx="68610" cy="150495"/>
            </a:xfrm>
            <a:prstGeom prst="rect">
              <a:avLst/>
            </a:prstGeom>
            <a:noFill/>
            <a:ln>
              <a:noFill/>
            </a:ln>
          </p:spPr>
          <p:txBody>
            <a:bodyPr wrap="none" lIns="0" tIns="0" rIns="0" bIns="0" anchor="t" anchorCtr="0">
              <a:spAutoFit/>
            </a:bodyPr>
            <a:lstStyle/>
            <a:p>
              <a:pPr algn="ctr"/>
              <a:r>
                <a:rPr lang="zh-CN" sz="760" b="1" dirty="0">
                  <a:solidFill>
                    <a:srgbClr val="FFFFFF"/>
                  </a:solidFill>
                  <a:latin typeface="+mn-lt"/>
                  <a:ea typeface="+mn-ea"/>
                  <a:cs typeface="+mn-cs"/>
                </a:rPr>
                <a:t>3</a:t>
              </a:r>
            </a:p>
          </p:txBody>
        </p:sp>
        <p:sp>
          <p:nvSpPr>
            <p:cNvPr id="56" name="TextBox 56"/>
            <p:cNvSpPr txBox="1"/>
            <p:nvPr/>
          </p:nvSpPr>
          <p:spPr>
            <a:xfrm>
              <a:off x="7363778" y="5096351"/>
              <a:ext cx="21222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给出抽象接口的名字和方法签名</a:t>
              </a:r>
            </a:p>
          </p:txBody>
        </p:sp>
        <p:sp>
          <p:nvSpPr>
            <p:cNvPr id="57" name="Ellipse 57"/>
            <p:cNvSpPr/>
            <p:nvPr/>
          </p:nvSpPr>
          <p:spPr>
            <a:xfrm>
              <a:off x="7114222" y="5358765"/>
              <a:ext cx="160020" cy="160020"/>
            </a:xfrm>
            <a:prstGeom prst="ellipse">
              <a:avLst/>
            </a:prstGeom>
            <a:solidFill>
              <a:srgbClr val="334E68"/>
            </a:solidFill>
            <a:ln>
              <a:noFill/>
            </a:ln>
          </p:spPr>
        </p:sp>
        <p:sp>
          <p:nvSpPr>
            <p:cNvPr id="58" name="TextBox 58"/>
            <p:cNvSpPr txBox="1"/>
            <p:nvPr/>
          </p:nvSpPr>
          <p:spPr>
            <a:xfrm>
              <a:off x="7159928" y="5390483"/>
              <a:ext cx="68610" cy="150495"/>
            </a:xfrm>
            <a:prstGeom prst="rect">
              <a:avLst/>
            </a:prstGeom>
            <a:noFill/>
            <a:ln>
              <a:noFill/>
            </a:ln>
          </p:spPr>
          <p:txBody>
            <a:bodyPr wrap="none" lIns="0" tIns="0" rIns="0" bIns="0" anchor="t" anchorCtr="0">
              <a:spAutoFit/>
            </a:bodyPr>
            <a:lstStyle/>
            <a:p>
              <a:pPr algn="ctr"/>
              <a:r>
                <a:rPr lang="zh-CN" sz="760" b="1" dirty="0">
                  <a:solidFill>
                    <a:srgbClr val="FFFFFF"/>
                  </a:solidFill>
                  <a:latin typeface="+mn-lt"/>
                  <a:ea typeface="+mn-ea"/>
                  <a:cs typeface="+mn-cs"/>
                </a:rPr>
                <a:t>4</a:t>
              </a:r>
            </a:p>
          </p:txBody>
        </p:sp>
        <p:sp>
          <p:nvSpPr>
            <p:cNvPr id="59" name="TextBox 59"/>
            <p:cNvSpPr txBox="1"/>
            <p:nvPr/>
          </p:nvSpPr>
          <p:spPr>
            <a:xfrm>
              <a:off x="7363778" y="5368766"/>
              <a:ext cx="121762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画出改进后的类图</a:t>
              </a:r>
            </a:p>
          </p:txBody>
        </p:sp>
      </p:grpSp>
      <p:grpSp>
        <p:nvGrpSpPr>
          <p:cNvPr id="67" name="takeaway"/>
          <p:cNvGrpSpPr/>
          <p:nvPr/>
        </p:nvGrpSpPr>
        <p:grpSpPr>
          <a:xfrm>
            <a:off x="533400" y="5874068"/>
            <a:ext cx="11125200" cy="488632"/>
            <a:chOff x="533400" y="5874068"/>
            <a:chExt cx="11125200" cy="488632"/>
          </a:xfrm>
        </p:grpSpPr>
        <p:sp>
          <p:nvSpPr>
            <p:cNvPr id="61" name="Rectangle 61"/>
            <p:cNvSpPr/>
            <p:nvPr/>
          </p:nvSpPr>
          <p:spPr>
            <a:xfrm>
              <a:off x="533400" y="5874068"/>
              <a:ext cx="11125200" cy="488632"/>
            </a:xfrm>
            <a:prstGeom prst="roundRect">
              <a:avLst>
                <a:gd name="adj" fmla="val 23392"/>
              </a:avLst>
            </a:prstGeom>
            <a:solidFill>
              <a:srgbClr val="FDEEE7"/>
            </a:solidFill>
            <a:ln>
              <a:noFill/>
            </a:ln>
          </p:spPr>
        </p:sp>
        <p:grpSp>
          <p:nvGrpSpPr>
            <p:cNvPr id="65" name="Group 65"/>
            <p:cNvGrpSpPr/>
            <p:nvPr/>
          </p:nvGrpSpPr>
          <p:grpSpPr>
            <a:xfrm>
              <a:off x="738188" y="6017895"/>
              <a:ext cx="200026" cy="200025"/>
              <a:chOff x="738188" y="6017895"/>
              <a:chExt cx="200026" cy="200025"/>
            </a:xfrm>
          </p:grpSpPr>
          <p:sp>
            <p:nvSpPr>
              <p:cNvPr id="62" name="Freeform 62"/>
              <p:cNvSpPr/>
              <p:nvPr/>
            </p:nvSpPr>
            <p:spPr>
              <a:xfrm>
                <a:off x="738188" y="601789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63" name="Freeform 63"/>
              <p:cNvSpPr/>
              <p:nvPr/>
            </p:nvSpPr>
            <p:spPr>
              <a:xfrm>
                <a:off x="777926" y="606234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64" name="Freeform 64"/>
              <p:cNvSpPr/>
              <p:nvPr/>
            </p:nvSpPr>
            <p:spPr>
              <a:xfrm>
                <a:off x="812642" y="617347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66" name="TextBox 66"/>
            <p:cNvSpPr txBox="1"/>
            <p:nvPr/>
          </p:nvSpPr>
          <p:spPr>
            <a:xfrm>
              <a:off x="1040892" y="6023610"/>
              <a:ext cx="7283196" cy="264033"/>
            </a:xfrm>
            <a:prstGeom prst="rect">
              <a:avLst/>
            </a:prstGeom>
            <a:noFill/>
            <a:ln>
              <a:noFill/>
            </a:ln>
          </p:spPr>
          <p:txBody>
            <a:bodyPr wrap="none" lIns="0" tIns="0" rIns="0" bIns="0" anchor="t" anchorCtr="0">
              <a:spAutoFit/>
            </a:bodyPr>
            <a:lstStyle/>
            <a:p>
              <a:pPr algn="l"/>
              <a:r>
                <a:rPr lang="zh-CN" sz="1350" dirty="0">
                  <a:solidFill>
                    <a:srgbClr val="C2410C"/>
                  </a:solidFill>
                  <a:latin typeface="+mn-lt"/>
                  <a:ea typeface="+mn-ea"/>
                  <a:cs typeface="+mn-cs"/>
                </a:rPr>
                <a:t>五条原则并不互相独立，一处拆干净常常同时满足两三条，答题时把主要的那条写在前面。</a:t>
              </a:r>
            </a:p>
          </p:txBody>
        </p:sp>
      </p:grpSp>
      <p:grpSp>
        <p:nvGrpSpPr>
          <p:cNvPr id="70" name="footer"/>
          <p:cNvGrpSpPr/>
          <p:nvPr/>
        </p:nvGrpSpPr>
        <p:grpSpPr>
          <a:xfrm>
            <a:off x="528447" y="6581299"/>
            <a:ext cx="11135106" cy="190690"/>
            <a:chOff x="528447" y="6581299"/>
            <a:chExt cx="11135106" cy="190690"/>
          </a:xfrm>
        </p:grpSpPr>
        <p:sp>
          <p:nvSpPr>
            <p:cNvPr id="68" name="TextBox 68"/>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69" name="TextBox 6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29</a:t>
              </a:r>
            </a:p>
          </p:txBody>
        </p:sp>
      </p:grpSp>
    </p:spTree>
  </p:cSld>
  <p:clrMapOvr>
    <a:masterClrMapping/>
  </p:clrMapOvr>
  <p:transition xmlns:p14="http://schemas.microsoft.com/office/powerpoint/2010/main" p14:dur="400">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03</a:t>
              </a:r>
            </a:p>
          </p:txBody>
        </p:sp>
      </p:grpSp>
      <p:grpSp>
        <p:nvGrpSpPr>
          <p:cNvPr id="18" name="section-title"/>
          <p:cNvGrpSpPr/>
          <p:nvPr/>
        </p:nvGrpSpPr>
        <p:grpSpPr>
          <a:xfrm>
            <a:off x="667512" y="1835468"/>
            <a:ext cx="3136392" cy="3351847"/>
            <a:chOff x="667512" y="1835468"/>
            <a:chExt cx="3136392"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第三部分</a:t>
              </a:r>
            </a:p>
          </p:txBody>
        </p:sp>
        <p:sp>
          <p:nvSpPr>
            <p:cNvPr id="7" name="TextBox 7"/>
            <p:cNvSpPr txBox="1"/>
            <p:nvPr/>
          </p:nvSpPr>
          <p:spPr>
            <a:xfrm>
              <a:off x="667512" y="2240280"/>
              <a:ext cx="1975104"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软件重用</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3126486"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从知识到代码，三个层次的重用</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重用的三个层次</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20345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类构件与三种重用方式</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8229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多态重用</a:t>
              </a:r>
            </a:p>
          </p:txBody>
        </p:sp>
        <p:sp>
          <p:nvSpPr>
            <p:cNvPr id="16" name="Ellipse 16"/>
            <p:cNvSpPr/>
            <p:nvPr/>
          </p:nvSpPr>
          <p:spPr>
            <a:xfrm>
              <a:off x="723900" y="4951095"/>
              <a:ext cx="76200" cy="76200"/>
            </a:xfrm>
            <a:prstGeom prst="ellipse">
              <a:avLst/>
            </a:prstGeom>
            <a:solidFill>
              <a:srgbClr val="334E68"/>
            </a:solidFill>
            <a:ln>
              <a:noFill/>
            </a:ln>
          </p:spPr>
        </p:sp>
        <p:sp>
          <p:nvSpPr>
            <p:cNvPr id="17" name="TextBox 17"/>
            <p:cNvSpPr txBox="1"/>
            <p:nvPr/>
          </p:nvSpPr>
          <p:spPr>
            <a:xfrm>
              <a:off x="906780" y="4893945"/>
              <a:ext cx="102489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重用的效益</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30</a:t>
              </a:r>
            </a:p>
          </p:txBody>
        </p:sp>
      </p:grpSp>
    </p:spTree>
  </p:cSld>
  <p:clrMapOvr>
    <a:masterClrMapping/>
  </p:clrMapOvr>
  <p:transition xmlns:p14="http://schemas.microsoft.com/office/powerpoint/2010/main" p14:dur="400">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234809" cy="909257"/>
            <a:chOff x="520446" y="342900"/>
            <a:chExt cx="7234809" cy="909257"/>
          </a:xfrm>
        </p:grpSpPr>
        <p:sp>
          <p:nvSpPr>
            <p:cNvPr id="2" name="Rectangle 2"/>
            <p:cNvSpPr/>
            <p:nvPr/>
          </p:nvSpPr>
          <p:spPr>
            <a:xfrm>
              <a:off x="533400" y="342900"/>
              <a:ext cx="2354580" cy="266700"/>
            </a:xfrm>
            <a:prstGeom prst="roundRect">
              <a:avLst>
                <a:gd name="adj" fmla="val 50000"/>
              </a:avLst>
            </a:prstGeom>
            <a:solidFill>
              <a:srgbClr val="E7EDF3"/>
            </a:solidFill>
            <a:ln>
              <a:noFill/>
            </a:ln>
          </p:spPr>
        </p:sp>
        <p:sp>
          <p:nvSpPr>
            <p:cNvPr id="3" name="TextBox 3"/>
            <p:cNvSpPr txBox="1"/>
            <p:nvPr/>
          </p:nvSpPr>
          <p:spPr>
            <a:xfrm>
              <a:off x="598479" y="407194"/>
              <a:ext cx="22244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软件重用</a:t>
              </a:r>
            </a:p>
          </p:txBody>
        </p:sp>
        <p:sp>
          <p:nvSpPr>
            <p:cNvPr id="4" name="TextBox 4"/>
            <p:cNvSpPr txBox="1"/>
            <p:nvPr/>
          </p:nvSpPr>
          <p:spPr>
            <a:xfrm>
              <a:off x="520446" y="753428"/>
              <a:ext cx="723480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重用分三个层次，软件成分重用只是最底下那层</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780" y="1548765"/>
            <a:ext cx="6477000" cy="293370"/>
            <a:chOff x="525780" y="1548765"/>
            <a:chExt cx="6477000" cy="293370"/>
          </a:xfrm>
        </p:grpSpPr>
        <p:sp>
          <p:nvSpPr>
            <p:cNvPr id="7" name="TextBox 7"/>
            <p:cNvSpPr txBox="1"/>
            <p:nvPr/>
          </p:nvSpPr>
          <p:spPr>
            <a:xfrm>
              <a:off x="525780" y="1548765"/>
              <a:ext cx="6477000" cy="293370"/>
            </a:xfrm>
            <a:prstGeom prst="rect">
              <a:avLst/>
            </a:prstGeom>
            <a:noFill/>
            <a:ln>
              <a:noFill/>
            </a:ln>
          </p:spPr>
          <p:txBody>
            <a:bodyPr wrap="none" lIns="0" tIns="0" rIns="0" bIns="0" anchor="t" anchorCtr="0">
              <a:spAutoFit/>
            </a:bodyPr>
            <a:lstStyle/>
            <a:p>
              <a:pPr algn="l"/>
              <a:r>
                <a:rPr lang="zh-CN" sz="1500" dirty="0">
                  <a:solidFill>
                    <a:srgbClr val="5B6475"/>
                  </a:solidFill>
                  <a:latin typeface="+mn-lt"/>
                  <a:ea typeface="+mn-ea"/>
                  <a:cs typeface="+mn-cs"/>
                </a:rPr>
                <a:t>重用也叫再用或复用，指同一事物不作修改或稍加改动就多次重复使用。</a:t>
              </a:r>
            </a:p>
          </p:txBody>
        </p:sp>
      </p:grpSp>
      <p:grpSp>
        <p:nvGrpSpPr>
          <p:cNvPr id="38" name="c1-tree-1"/>
          <p:cNvGrpSpPr/>
          <p:nvPr/>
        </p:nvGrpSpPr>
        <p:grpSpPr>
          <a:xfrm>
            <a:off x="533400" y="2040255"/>
            <a:ext cx="5193982" cy="3646170"/>
            <a:chOff x="533400" y="2040255"/>
            <a:chExt cx="5193982" cy="3646170"/>
          </a:xfrm>
        </p:grpSpPr>
        <p:sp>
          <p:nvSpPr>
            <p:cNvPr id="9" name="Freeform 9"/>
            <p:cNvSpPr/>
            <p:nvPr/>
          </p:nvSpPr>
          <p:spPr>
            <a:xfrm>
              <a:off x="4355782" y="3282315"/>
              <a:ext cx="419100" cy="531495"/>
            </a:xfrm>
            <a:custGeom>
              <a:avLst/>
              <a:gdLst/>
              <a:ahLst/>
              <a:cxnLst/>
              <a:rect l="l" t="t" r="r" b="b"/>
              <a:pathLst>
                <a:path w="419100" h="531495">
                  <a:moveTo>
                    <a:pt x="0" y="531495"/>
                  </a:moveTo>
                  <a:lnTo>
                    <a:pt x="209550" y="531495"/>
                  </a:lnTo>
                  <a:lnTo>
                    <a:pt x="209550" y="0"/>
                  </a:lnTo>
                  <a:lnTo>
                    <a:pt x="419100" y="0"/>
                  </a:lnTo>
                </a:path>
              </a:pathLst>
            </a:custGeom>
            <a:noFill/>
            <a:ln w="17145">
              <a:solidFill>
                <a:srgbClr val="D9DFEA"/>
              </a:solidFill>
            </a:ln>
          </p:spPr>
        </p:sp>
        <p:sp>
          <p:nvSpPr>
            <p:cNvPr id="10" name="Freeform 10"/>
            <p:cNvSpPr/>
            <p:nvPr/>
          </p:nvSpPr>
          <p:spPr>
            <a:xfrm>
              <a:off x="4355782" y="3813810"/>
              <a:ext cx="419100" cy="9525"/>
            </a:xfrm>
            <a:custGeom>
              <a:avLst/>
              <a:gdLst/>
              <a:ahLst/>
              <a:cxnLst/>
              <a:rect l="l" t="t" r="r" b="b"/>
              <a:pathLst>
                <a:path w="419100" h="9525">
                  <a:moveTo>
                    <a:pt x="0" y="0"/>
                  </a:moveTo>
                  <a:lnTo>
                    <a:pt x="209550" y="0"/>
                  </a:lnTo>
                  <a:lnTo>
                    <a:pt x="209550" y="0"/>
                  </a:lnTo>
                  <a:lnTo>
                    <a:pt x="419100" y="0"/>
                  </a:lnTo>
                </a:path>
              </a:pathLst>
            </a:custGeom>
            <a:noFill/>
            <a:ln w="17145">
              <a:solidFill>
                <a:srgbClr val="D9DFEA"/>
              </a:solidFill>
            </a:ln>
          </p:spPr>
        </p:sp>
        <p:sp>
          <p:nvSpPr>
            <p:cNvPr id="11" name="Freeform 11"/>
            <p:cNvSpPr/>
            <p:nvPr/>
          </p:nvSpPr>
          <p:spPr>
            <a:xfrm>
              <a:off x="4355782" y="3813810"/>
              <a:ext cx="419100" cy="530543"/>
            </a:xfrm>
            <a:custGeom>
              <a:avLst/>
              <a:gdLst/>
              <a:ahLst/>
              <a:cxnLst/>
              <a:rect l="l" t="t" r="r" b="b"/>
              <a:pathLst>
                <a:path w="419100" h="530543">
                  <a:moveTo>
                    <a:pt x="0" y="0"/>
                  </a:moveTo>
                  <a:lnTo>
                    <a:pt x="209550" y="0"/>
                  </a:lnTo>
                  <a:lnTo>
                    <a:pt x="209550" y="530543"/>
                  </a:lnTo>
                  <a:lnTo>
                    <a:pt x="419100" y="530543"/>
                  </a:lnTo>
                </a:path>
              </a:pathLst>
            </a:custGeom>
            <a:noFill/>
            <a:ln w="17145">
              <a:solidFill>
                <a:srgbClr val="D9DFEA"/>
              </a:solidFill>
            </a:ln>
          </p:spPr>
        </p:sp>
        <p:sp>
          <p:nvSpPr>
            <p:cNvPr id="12" name="Freeform 12"/>
            <p:cNvSpPr/>
            <p:nvPr/>
          </p:nvSpPr>
          <p:spPr>
            <a:xfrm>
              <a:off x="2905125" y="3813810"/>
              <a:ext cx="419100" cy="796290"/>
            </a:xfrm>
            <a:custGeom>
              <a:avLst/>
              <a:gdLst/>
              <a:ahLst/>
              <a:cxnLst/>
              <a:rect l="l" t="t" r="r" b="b"/>
              <a:pathLst>
                <a:path w="419100" h="796290">
                  <a:moveTo>
                    <a:pt x="0" y="796290"/>
                  </a:moveTo>
                  <a:lnTo>
                    <a:pt x="209550" y="796290"/>
                  </a:lnTo>
                  <a:lnTo>
                    <a:pt x="209550" y="0"/>
                  </a:lnTo>
                  <a:lnTo>
                    <a:pt x="419100" y="0"/>
                  </a:lnTo>
                </a:path>
              </a:pathLst>
            </a:custGeom>
            <a:noFill/>
            <a:ln w="17145">
              <a:solidFill>
                <a:srgbClr val="D9DFEA"/>
              </a:solidFill>
            </a:ln>
          </p:spPr>
        </p:sp>
        <p:sp>
          <p:nvSpPr>
            <p:cNvPr id="13" name="Freeform 13"/>
            <p:cNvSpPr/>
            <p:nvPr/>
          </p:nvSpPr>
          <p:spPr>
            <a:xfrm>
              <a:off x="2905125" y="4610100"/>
              <a:ext cx="419100" cy="265747"/>
            </a:xfrm>
            <a:custGeom>
              <a:avLst/>
              <a:gdLst/>
              <a:ahLst/>
              <a:cxnLst/>
              <a:rect l="l" t="t" r="r" b="b"/>
              <a:pathLst>
                <a:path w="419100" h="265747">
                  <a:moveTo>
                    <a:pt x="0" y="0"/>
                  </a:moveTo>
                  <a:lnTo>
                    <a:pt x="209550" y="0"/>
                  </a:lnTo>
                  <a:lnTo>
                    <a:pt x="209550" y="265747"/>
                  </a:lnTo>
                  <a:lnTo>
                    <a:pt x="419100" y="265747"/>
                  </a:lnTo>
                </a:path>
              </a:pathLst>
            </a:custGeom>
            <a:noFill/>
            <a:ln w="17145">
              <a:solidFill>
                <a:srgbClr val="D9DFEA"/>
              </a:solidFill>
            </a:ln>
          </p:spPr>
        </p:sp>
        <p:sp>
          <p:nvSpPr>
            <p:cNvPr id="14" name="Freeform 14"/>
            <p:cNvSpPr/>
            <p:nvPr/>
          </p:nvSpPr>
          <p:spPr>
            <a:xfrm>
              <a:off x="2905125" y="4610100"/>
              <a:ext cx="419100" cy="797243"/>
            </a:xfrm>
            <a:custGeom>
              <a:avLst/>
              <a:gdLst/>
              <a:ahLst/>
              <a:cxnLst/>
              <a:rect l="l" t="t" r="r" b="b"/>
              <a:pathLst>
                <a:path w="419100" h="797243">
                  <a:moveTo>
                    <a:pt x="0" y="0"/>
                  </a:moveTo>
                  <a:lnTo>
                    <a:pt x="209550" y="0"/>
                  </a:lnTo>
                  <a:lnTo>
                    <a:pt x="209550" y="797243"/>
                  </a:lnTo>
                  <a:lnTo>
                    <a:pt x="419100" y="797243"/>
                  </a:lnTo>
                </a:path>
              </a:pathLst>
            </a:custGeom>
            <a:noFill/>
            <a:ln w="17145">
              <a:solidFill>
                <a:srgbClr val="D9DFEA"/>
              </a:solidFill>
            </a:ln>
          </p:spPr>
        </p:sp>
        <p:sp>
          <p:nvSpPr>
            <p:cNvPr id="15" name="Freeform 15"/>
            <p:cNvSpPr/>
            <p:nvPr/>
          </p:nvSpPr>
          <p:spPr>
            <a:xfrm>
              <a:off x="1333500" y="2220278"/>
              <a:ext cx="419100" cy="1195388"/>
            </a:xfrm>
            <a:custGeom>
              <a:avLst/>
              <a:gdLst/>
              <a:ahLst/>
              <a:cxnLst/>
              <a:rect l="l" t="t" r="r" b="b"/>
              <a:pathLst>
                <a:path w="419100" h="1195388">
                  <a:moveTo>
                    <a:pt x="0" y="1195388"/>
                  </a:moveTo>
                  <a:lnTo>
                    <a:pt x="209550" y="1195388"/>
                  </a:lnTo>
                  <a:lnTo>
                    <a:pt x="209550" y="0"/>
                  </a:lnTo>
                  <a:lnTo>
                    <a:pt x="419100" y="0"/>
                  </a:lnTo>
                </a:path>
              </a:pathLst>
            </a:custGeom>
            <a:noFill/>
            <a:ln w="17145">
              <a:solidFill>
                <a:srgbClr val="D9DFEA"/>
              </a:solidFill>
            </a:ln>
          </p:spPr>
        </p:sp>
        <p:sp>
          <p:nvSpPr>
            <p:cNvPr id="16" name="Freeform 16"/>
            <p:cNvSpPr/>
            <p:nvPr/>
          </p:nvSpPr>
          <p:spPr>
            <a:xfrm>
              <a:off x="1333500" y="2750820"/>
              <a:ext cx="419100" cy="664845"/>
            </a:xfrm>
            <a:custGeom>
              <a:avLst/>
              <a:gdLst/>
              <a:ahLst/>
              <a:cxnLst/>
              <a:rect l="l" t="t" r="r" b="b"/>
              <a:pathLst>
                <a:path w="419100" h="664845">
                  <a:moveTo>
                    <a:pt x="0" y="664845"/>
                  </a:moveTo>
                  <a:lnTo>
                    <a:pt x="209550" y="664845"/>
                  </a:lnTo>
                  <a:lnTo>
                    <a:pt x="209550" y="0"/>
                  </a:lnTo>
                  <a:lnTo>
                    <a:pt x="419100" y="0"/>
                  </a:lnTo>
                </a:path>
              </a:pathLst>
            </a:custGeom>
            <a:noFill/>
            <a:ln w="17145">
              <a:solidFill>
                <a:srgbClr val="D9DFEA"/>
              </a:solidFill>
            </a:ln>
          </p:spPr>
        </p:sp>
        <p:sp>
          <p:nvSpPr>
            <p:cNvPr id="17" name="Freeform 17"/>
            <p:cNvSpPr/>
            <p:nvPr/>
          </p:nvSpPr>
          <p:spPr>
            <a:xfrm>
              <a:off x="1333500" y="3415665"/>
              <a:ext cx="419100" cy="1194435"/>
            </a:xfrm>
            <a:custGeom>
              <a:avLst/>
              <a:gdLst/>
              <a:ahLst/>
              <a:cxnLst/>
              <a:rect l="l" t="t" r="r" b="b"/>
              <a:pathLst>
                <a:path w="419100" h="1194435">
                  <a:moveTo>
                    <a:pt x="0" y="0"/>
                  </a:moveTo>
                  <a:lnTo>
                    <a:pt x="209550" y="0"/>
                  </a:lnTo>
                  <a:lnTo>
                    <a:pt x="209550" y="1194435"/>
                  </a:lnTo>
                  <a:lnTo>
                    <a:pt x="419100" y="1194435"/>
                  </a:lnTo>
                </a:path>
              </a:pathLst>
            </a:custGeom>
            <a:noFill/>
            <a:ln w="17145">
              <a:solidFill>
                <a:srgbClr val="D9DFEA"/>
              </a:solidFill>
            </a:ln>
          </p:spPr>
        </p:sp>
        <p:sp>
          <p:nvSpPr>
            <p:cNvPr id="18" name="Rectangle 18"/>
            <p:cNvSpPr/>
            <p:nvPr/>
          </p:nvSpPr>
          <p:spPr>
            <a:xfrm>
              <a:off x="1752600" y="2040255"/>
              <a:ext cx="1152525" cy="360045"/>
            </a:xfrm>
            <a:prstGeom prst="roundRect">
              <a:avLst>
                <a:gd name="adj" fmla="val 26455"/>
              </a:avLst>
            </a:prstGeom>
            <a:solidFill>
              <a:srgbClr val="FFFFFF"/>
            </a:solidFill>
            <a:ln w="13335">
              <a:solidFill>
                <a:srgbClr val="D9DFEA"/>
              </a:solidFill>
            </a:ln>
          </p:spPr>
        </p:sp>
        <p:sp>
          <p:nvSpPr>
            <p:cNvPr id="19" name="Rectangle 19"/>
            <p:cNvSpPr/>
            <p:nvPr/>
          </p:nvSpPr>
          <p:spPr>
            <a:xfrm>
              <a:off x="1752600" y="2472690"/>
              <a:ext cx="1152525" cy="558165"/>
            </a:xfrm>
            <a:prstGeom prst="roundRect">
              <a:avLst>
                <a:gd name="adj" fmla="val 17065"/>
              </a:avLst>
            </a:prstGeom>
            <a:solidFill>
              <a:srgbClr val="FFFFFF"/>
            </a:solidFill>
            <a:ln w="13335">
              <a:solidFill>
                <a:srgbClr val="D9DFEA"/>
              </a:solidFill>
            </a:ln>
          </p:spPr>
        </p:sp>
        <p:sp>
          <p:nvSpPr>
            <p:cNvPr id="20" name="Rectangle 20"/>
            <p:cNvSpPr/>
            <p:nvPr/>
          </p:nvSpPr>
          <p:spPr>
            <a:xfrm>
              <a:off x="4774882" y="3003232"/>
              <a:ext cx="952500" cy="558165"/>
            </a:xfrm>
            <a:prstGeom prst="roundRect">
              <a:avLst>
                <a:gd name="adj" fmla="val 17065"/>
              </a:avLst>
            </a:prstGeom>
            <a:solidFill>
              <a:srgbClr val="FFFFFF"/>
            </a:solidFill>
            <a:ln w="13335">
              <a:solidFill>
                <a:srgbClr val="D9DFEA"/>
              </a:solidFill>
            </a:ln>
          </p:spPr>
        </p:sp>
        <p:sp>
          <p:nvSpPr>
            <p:cNvPr id="21" name="Rectangle 21"/>
            <p:cNvSpPr/>
            <p:nvPr/>
          </p:nvSpPr>
          <p:spPr>
            <a:xfrm>
              <a:off x="4774882" y="3534728"/>
              <a:ext cx="952500" cy="558165"/>
            </a:xfrm>
            <a:prstGeom prst="roundRect">
              <a:avLst>
                <a:gd name="adj" fmla="val 17065"/>
              </a:avLst>
            </a:prstGeom>
            <a:solidFill>
              <a:srgbClr val="FFFFFF"/>
            </a:solidFill>
            <a:ln w="13335">
              <a:solidFill>
                <a:srgbClr val="D9DFEA"/>
              </a:solidFill>
            </a:ln>
          </p:spPr>
        </p:sp>
        <p:sp>
          <p:nvSpPr>
            <p:cNvPr id="22" name="Rectangle 22"/>
            <p:cNvSpPr/>
            <p:nvPr/>
          </p:nvSpPr>
          <p:spPr>
            <a:xfrm>
              <a:off x="4774882" y="4165282"/>
              <a:ext cx="952500" cy="360045"/>
            </a:xfrm>
            <a:prstGeom prst="roundRect">
              <a:avLst>
                <a:gd name="adj" fmla="val 26455"/>
              </a:avLst>
            </a:prstGeom>
            <a:solidFill>
              <a:srgbClr val="FFFFFF"/>
            </a:solidFill>
            <a:ln w="13335">
              <a:solidFill>
                <a:srgbClr val="D9DFEA"/>
              </a:solidFill>
            </a:ln>
          </p:spPr>
        </p:sp>
        <p:sp>
          <p:nvSpPr>
            <p:cNvPr id="23" name="Rectangle 23"/>
            <p:cNvSpPr/>
            <p:nvPr/>
          </p:nvSpPr>
          <p:spPr>
            <a:xfrm>
              <a:off x="3324225" y="3633788"/>
              <a:ext cx="1031558" cy="360045"/>
            </a:xfrm>
            <a:prstGeom prst="roundRect">
              <a:avLst>
                <a:gd name="adj" fmla="val 26455"/>
              </a:avLst>
            </a:prstGeom>
            <a:solidFill>
              <a:srgbClr val="E7EDF3"/>
            </a:solidFill>
            <a:ln>
              <a:noFill/>
            </a:ln>
          </p:spPr>
        </p:sp>
        <p:sp>
          <p:nvSpPr>
            <p:cNvPr id="24" name="Rectangle 24"/>
            <p:cNvSpPr/>
            <p:nvPr/>
          </p:nvSpPr>
          <p:spPr>
            <a:xfrm>
              <a:off x="3324225" y="4596765"/>
              <a:ext cx="1031558" cy="558165"/>
            </a:xfrm>
            <a:prstGeom prst="roundRect">
              <a:avLst>
                <a:gd name="adj" fmla="val 17065"/>
              </a:avLst>
            </a:prstGeom>
            <a:solidFill>
              <a:srgbClr val="FFFFFF"/>
            </a:solidFill>
            <a:ln w="13335">
              <a:solidFill>
                <a:srgbClr val="D9DFEA"/>
              </a:solidFill>
            </a:ln>
          </p:spPr>
        </p:sp>
        <p:sp>
          <p:nvSpPr>
            <p:cNvPr id="25" name="Rectangle 25"/>
            <p:cNvSpPr/>
            <p:nvPr/>
          </p:nvSpPr>
          <p:spPr>
            <a:xfrm>
              <a:off x="3324225" y="5128260"/>
              <a:ext cx="1031558" cy="558165"/>
            </a:xfrm>
            <a:prstGeom prst="roundRect">
              <a:avLst>
                <a:gd name="adj" fmla="val 17065"/>
              </a:avLst>
            </a:prstGeom>
            <a:solidFill>
              <a:srgbClr val="FFFFFF"/>
            </a:solidFill>
            <a:ln w="13335">
              <a:solidFill>
                <a:srgbClr val="D9DFEA"/>
              </a:solidFill>
            </a:ln>
          </p:spPr>
        </p:sp>
        <p:sp>
          <p:nvSpPr>
            <p:cNvPr id="26" name="Rectangle 26"/>
            <p:cNvSpPr/>
            <p:nvPr/>
          </p:nvSpPr>
          <p:spPr>
            <a:xfrm>
              <a:off x="1752600" y="4331018"/>
              <a:ext cx="1152525" cy="558165"/>
            </a:xfrm>
            <a:prstGeom prst="roundRect">
              <a:avLst>
                <a:gd name="adj" fmla="val 17065"/>
              </a:avLst>
            </a:prstGeom>
            <a:solidFill>
              <a:srgbClr val="E7EDF3"/>
            </a:solidFill>
            <a:ln>
              <a:noFill/>
            </a:ln>
          </p:spPr>
        </p:sp>
        <p:sp>
          <p:nvSpPr>
            <p:cNvPr id="27" name="Rectangle 27"/>
            <p:cNvSpPr/>
            <p:nvPr/>
          </p:nvSpPr>
          <p:spPr>
            <a:xfrm>
              <a:off x="533400" y="3136582"/>
              <a:ext cx="800100" cy="558165"/>
            </a:xfrm>
            <a:prstGeom prst="roundRect">
              <a:avLst>
                <a:gd name="adj" fmla="val 17065"/>
              </a:avLst>
            </a:prstGeom>
            <a:solidFill>
              <a:srgbClr val="334E68"/>
            </a:solidFill>
            <a:ln>
              <a:noFill/>
            </a:ln>
          </p:spPr>
        </p:sp>
        <p:sp>
          <p:nvSpPr>
            <p:cNvPr id="28" name="TextBox 28"/>
            <p:cNvSpPr txBox="1"/>
            <p:nvPr/>
          </p:nvSpPr>
          <p:spPr>
            <a:xfrm>
              <a:off x="1841754" y="2136458"/>
              <a:ext cx="65836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知识重用</a:t>
              </a:r>
            </a:p>
          </p:txBody>
        </p:sp>
        <p:sp>
          <p:nvSpPr>
            <p:cNvPr id="29" name="TextBox 29"/>
            <p:cNvSpPr txBox="1"/>
            <p:nvPr/>
          </p:nvSpPr>
          <p:spPr>
            <a:xfrm>
              <a:off x="1841754" y="2567940"/>
              <a:ext cx="774192" cy="432816"/>
            </a:xfrm>
            <a:prstGeom prst="rect">
              <a:avLst/>
            </a:prstGeom>
            <a:noFill/>
            <a:ln>
              <a:noFill/>
            </a:ln>
          </p:spPr>
          <p:txBody>
            <a:bodyPr wrap="none" lIns="0" tIns="0" rIns="0" bIns="0" anchor="t" anchorCtr="0">
              <a:spAutoFit/>
            </a:bodyPr>
            <a:lstStyle/>
            <a:p>
              <a:pPr algn="l">
                <a:lnSpc>
                  <a:spcPts val="1560"/>
                </a:lnSpc>
              </a:pPr>
              <a:r>
                <a:rPr lang="zh-CN" sz="1200" dirty="0">
                  <a:solidFill>
                    <a:srgbClr val="1F2937"/>
                  </a:solidFill>
                  <a:latin typeface="+mn-lt"/>
                  <a:ea typeface="+mn-ea"/>
                  <a:cs typeface="+mn-cs"/>
                </a:rPr>
                <a:t>方法和标准</a:t>
              </a:r>
              <a:br/>
              <a:r>
                <a:rPr lang="zh-CN" sz="1200" dirty="0">
                  <a:solidFill>
                    <a:srgbClr val="1F2937"/>
                  </a:solidFill>
                  <a:latin typeface="+mn-lt"/>
                  <a:ea typeface="+mn-ea"/>
                  <a:cs typeface="+mn-cs"/>
                </a:rPr>
                <a:t>的重用</a:t>
              </a:r>
            </a:p>
          </p:txBody>
        </p:sp>
        <p:sp>
          <p:nvSpPr>
            <p:cNvPr id="30" name="TextBox 30"/>
            <p:cNvSpPr txBox="1"/>
            <p:nvPr/>
          </p:nvSpPr>
          <p:spPr>
            <a:xfrm>
              <a:off x="4864036" y="3099435"/>
              <a:ext cx="621792" cy="432816"/>
            </a:xfrm>
            <a:prstGeom prst="rect">
              <a:avLst/>
            </a:prstGeom>
            <a:noFill/>
            <a:ln>
              <a:noFill/>
            </a:ln>
          </p:spPr>
          <p:txBody>
            <a:bodyPr wrap="none" lIns="0" tIns="0" rIns="0" bIns="0" anchor="t" anchorCtr="0">
              <a:spAutoFit/>
            </a:bodyPr>
            <a:lstStyle/>
            <a:p>
              <a:pPr algn="l">
                <a:lnSpc>
                  <a:spcPts val="1560"/>
                </a:lnSpc>
              </a:pPr>
              <a:r>
                <a:rPr lang="zh-CN" sz="1200" dirty="0">
                  <a:solidFill>
                    <a:srgbClr val="1F2937"/>
                  </a:solidFill>
                  <a:latin typeface="+mn-lt"/>
                  <a:ea typeface="+mn-ea"/>
                  <a:cs typeface="+mn-cs"/>
                </a:rPr>
                <a:t>源代码剪</a:t>
              </a:r>
              <a:br/>
              <a:r>
                <a:rPr lang="zh-CN" sz="1200" dirty="0">
                  <a:solidFill>
                    <a:srgbClr val="1F2937"/>
                  </a:solidFill>
                  <a:latin typeface="+mn-lt"/>
                  <a:ea typeface="+mn-ea"/>
                  <a:cs typeface="+mn-cs"/>
                </a:rPr>
                <a:t>贴</a:t>
              </a:r>
            </a:p>
          </p:txBody>
        </p:sp>
        <p:sp>
          <p:nvSpPr>
            <p:cNvPr id="31" name="TextBox 31"/>
            <p:cNvSpPr txBox="1"/>
            <p:nvPr/>
          </p:nvSpPr>
          <p:spPr>
            <a:xfrm>
              <a:off x="4864036" y="3630930"/>
              <a:ext cx="621792" cy="432816"/>
            </a:xfrm>
            <a:prstGeom prst="rect">
              <a:avLst/>
            </a:prstGeom>
            <a:noFill/>
            <a:ln>
              <a:noFill/>
            </a:ln>
          </p:spPr>
          <p:txBody>
            <a:bodyPr wrap="none" lIns="0" tIns="0" rIns="0" bIns="0" anchor="t" anchorCtr="0">
              <a:spAutoFit/>
            </a:bodyPr>
            <a:lstStyle/>
            <a:p>
              <a:pPr algn="l">
                <a:lnSpc>
                  <a:spcPts val="1560"/>
                </a:lnSpc>
              </a:pPr>
              <a:r>
                <a:rPr lang="zh-CN" sz="1200" dirty="0">
                  <a:solidFill>
                    <a:srgbClr val="1F2937"/>
                  </a:solidFill>
                  <a:latin typeface="+mn-lt"/>
                  <a:ea typeface="+mn-ea"/>
                  <a:cs typeface="+mn-cs"/>
                </a:rPr>
                <a:t>源代码包</a:t>
              </a:r>
              <a:br/>
              <a:r>
                <a:rPr lang="zh-CN" sz="1200" dirty="0">
                  <a:solidFill>
                    <a:srgbClr val="1F2937"/>
                  </a:solidFill>
                  <a:latin typeface="+mn-lt"/>
                  <a:ea typeface="+mn-ea"/>
                  <a:cs typeface="+mn-cs"/>
                </a:rPr>
                <a:t>含</a:t>
              </a:r>
            </a:p>
          </p:txBody>
        </p:sp>
        <p:sp>
          <p:nvSpPr>
            <p:cNvPr id="32" name="TextBox 32"/>
            <p:cNvSpPr txBox="1"/>
            <p:nvPr/>
          </p:nvSpPr>
          <p:spPr>
            <a:xfrm>
              <a:off x="4864036" y="4260532"/>
              <a:ext cx="33528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继承</a:t>
              </a:r>
            </a:p>
          </p:txBody>
        </p:sp>
        <p:sp>
          <p:nvSpPr>
            <p:cNvPr id="33" name="TextBox 33"/>
            <p:cNvSpPr txBox="1"/>
            <p:nvPr/>
          </p:nvSpPr>
          <p:spPr>
            <a:xfrm>
              <a:off x="3413379" y="3729990"/>
              <a:ext cx="658368" cy="234696"/>
            </a:xfrm>
            <a:prstGeom prst="rect">
              <a:avLst/>
            </a:prstGeom>
            <a:noFill/>
            <a:ln>
              <a:noFill/>
            </a:ln>
          </p:spPr>
          <p:txBody>
            <a:bodyPr wrap="none" lIns="0" tIns="0" rIns="0" bIns="0" anchor="t" anchorCtr="0">
              <a:spAutoFit/>
            </a:bodyPr>
            <a:lstStyle/>
            <a:p>
              <a:pPr algn="l"/>
              <a:r>
                <a:rPr lang="zh-CN" sz="1200" b="1" dirty="0">
                  <a:solidFill>
                    <a:srgbClr val="243B53"/>
                  </a:solidFill>
                  <a:latin typeface="+mn-lt"/>
                  <a:ea typeface="+mn-ea"/>
                  <a:cs typeface="+mn-cs"/>
                </a:rPr>
                <a:t>代码重用</a:t>
              </a:r>
            </a:p>
          </p:txBody>
        </p:sp>
        <p:sp>
          <p:nvSpPr>
            <p:cNvPr id="34" name="TextBox 34"/>
            <p:cNvSpPr txBox="1"/>
            <p:nvPr/>
          </p:nvSpPr>
          <p:spPr>
            <a:xfrm>
              <a:off x="3413379" y="4692968"/>
              <a:ext cx="774192" cy="432816"/>
            </a:xfrm>
            <a:prstGeom prst="rect">
              <a:avLst/>
            </a:prstGeom>
            <a:noFill/>
            <a:ln>
              <a:noFill/>
            </a:ln>
          </p:spPr>
          <p:txBody>
            <a:bodyPr wrap="none" lIns="0" tIns="0" rIns="0" bIns="0" anchor="t" anchorCtr="0">
              <a:spAutoFit/>
            </a:bodyPr>
            <a:lstStyle/>
            <a:p>
              <a:pPr algn="l">
                <a:lnSpc>
                  <a:spcPts val="1560"/>
                </a:lnSpc>
              </a:pPr>
              <a:r>
                <a:rPr lang="zh-CN" sz="1200" dirty="0">
                  <a:solidFill>
                    <a:srgbClr val="1F2937"/>
                  </a:solidFill>
                  <a:latin typeface="+mn-lt"/>
                  <a:ea typeface="+mn-ea"/>
                  <a:cs typeface="+mn-cs"/>
                </a:rPr>
                <a:t>设计结果重</a:t>
              </a:r>
              <a:br/>
              <a:r>
                <a:rPr lang="zh-CN" sz="1200" dirty="0">
                  <a:solidFill>
                    <a:srgbClr val="1F2937"/>
                  </a:solidFill>
                  <a:latin typeface="+mn-lt"/>
                  <a:ea typeface="+mn-ea"/>
                  <a:cs typeface="+mn-cs"/>
                </a:rPr>
                <a:t>用</a:t>
              </a:r>
            </a:p>
          </p:txBody>
        </p:sp>
        <p:sp>
          <p:nvSpPr>
            <p:cNvPr id="35" name="TextBox 35"/>
            <p:cNvSpPr txBox="1"/>
            <p:nvPr/>
          </p:nvSpPr>
          <p:spPr>
            <a:xfrm>
              <a:off x="3413379" y="5224462"/>
              <a:ext cx="774192" cy="432816"/>
            </a:xfrm>
            <a:prstGeom prst="rect">
              <a:avLst/>
            </a:prstGeom>
            <a:noFill/>
            <a:ln>
              <a:noFill/>
            </a:ln>
          </p:spPr>
          <p:txBody>
            <a:bodyPr wrap="none" lIns="0" tIns="0" rIns="0" bIns="0" anchor="t" anchorCtr="0">
              <a:spAutoFit/>
            </a:bodyPr>
            <a:lstStyle/>
            <a:p>
              <a:pPr algn="l">
                <a:lnSpc>
                  <a:spcPts val="1560"/>
                </a:lnSpc>
              </a:pPr>
              <a:r>
                <a:rPr lang="zh-CN" sz="1200" dirty="0">
                  <a:solidFill>
                    <a:srgbClr val="1F2937"/>
                  </a:solidFill>
                  <a:latin typeface="+mn-lt"/>
                  <a:ea typeface="+mn-ea"/>
                  <a:cs typeface="+mn-cs"/>
                </a:rPr>
                <a:t>分析结果重</a:t>
              </a:r>
              <a:br/>
              <a:r>
                <a:rPr lang="zh-CN" sz="1200" dirty="0">
                  <a:solidFill>
                    <a:srgbClr val="1F2937"/>
                  </a:solidFill>
                  <a:latin typeface="+mn-lt"/>
                  <a:ea typeface="+mn-ea"/>
                  <a:cs typeface="+mn-cs"/>
                </a:rPr>
                <a:t>用</a:t>
              </a:r>
            </a:p>
          </p:txBody>
        </p:sp>
        <p:sp>
          <p:nvSpPr>
            <p:cNvPr id="36" name="TextBox 36"/>
            <p:cNvSpPr txBox="1"/>
            <p:nvPr/>
          </p:nvSpPr>
          <p:spPr>
            <a:xfrm>
              <a:off x="1841754" y="4427220"/>
              <a:ext cx="774192" cy="432816"/>
            </a:xfrm>
            <a:prstGeom prst="rect">
              <a:avLst/>
            </a:prstGeom>
            <a:noFill/>
            <a:ln>
              <a:noFill/>
            </a:ln>
          </p:spPr>
          <p:txBody>
            <a:bodyPr wrap="none" lIns="0" tIns="0" rIns="0" bIns="0" anchor="t" anchorCtr="0">
              <a:spAutoFit/>
            </a:bodyPr>
            <a:lstStyle/>
            <a:p>
              <a:pPr algn="l">
                <a:lnSpc>
                  <a:spcPts val="1560"/>
                </a:lnSpc>
              </a:pPr>
              <a:r>
                <a:rPr lang="zh-CN" sz="1200" b="1" dirty="0">
                  <a:solidFill>
                    <a:srgbClr val="243B53"/>
                  </a:solidFill>
                  <a:latin typeface="+mn-lt"/>
                  <a:ea typeface="+mn-ea"/>
                  <a:cs typeface="+mn-cs"/>
                </a:rPr>
                <a:t>软件成分的</a:t>
              </a:r>
              <a:br/>
              <a:r>
                <a:rPr lang="zh-CN" sz="1200" b="1" dirty="0">
                  <a:solidFill>
                    <a:srgbClr val="243B53"/>
                  </a:solidFill>
                  <a:latin typeface="+mn-lt"/>
                  <a:ea typeface="+mn-ea"/>
                  <a:cs typeface="+mn-cs"/>
                </a:rPr>
                <a:t>重用</a:t>
              </a:r>
            </a:p>
          </p:txBody>
        </p:sp>
        <p:sp>
          <p:nvSpPr>
            <p:cNvPr id="37" name="TextBox 37"/>
            <p:cNvSpPr txBox="1"/>
            <p:nvPr/>
          </p:nvSpPr>
          <p:spPr>
            <a:xfrm>
              <a:off x="622554" y="3232785"/>
              <a:ext cx="469392" cy="432816"/>
            </a:xfrm>
            <a:prstGeom prst="rect">
              <a:avLst/>
            </a:prstGeom>
            <a:noFill/>
            <a:ln>
              <a:noFill/>
            </a:ln>
          </p:spPr>
          <p:txBody>
            <a:bodyPr wrap="none" lIns="0" tIns="0" rIns="0" bIns="0" anchor="t" anchorCtr="0">
              <a:spAutoFit/>
            </a:bodyPr>
            <a:lstStyle/>
            <a:p>
              <a:pPr algn="l">
                <a:lnSpc>
                  <a:spcPts val="1560"/>
                </a:lnSpc>
              </a:pPr>
              <a:r>
                <a:rPr lang="zh-CN" sz="1200" b="1" dirty="0">
                  <a:solidFill>
                    <a:srgbClr val="FFFFFF"/>
                  </a:solidFill>
                  <a:latin typeface="+mn-lt"/>
                  <a:ea typeface="+mn-ea"/>
                  <a:cs typeface="+mn-cs"/>
                </a:rPr>
                <a:t>软件重</a:t>
              </a:r>
              <a:br/>
              <a:r>
                <a:rPr lang="zh-CN" sz="1200" b="1" dirty="0">
                  <a:solidFill>
                    <a:srgbClr val="FFFFFF"/>
                  </a:solidFill>
                  <a:latin typeface="+mn-lt"/>
                  <a:ea typeface="+mn-ea"/>
                  <a:cs typeface="+mn-cs"/>
                </a:rPr>
                <a:t>用</a:t>
              </a:r>
            </a:p>
          </p:txBody>
        </p:sp>
      </p:grpSp>
      <p:grpSp>
        <p:nvGrpSpPr>
          <p:cNvPr id="59" name="c2-table-1"/>
          <p:cNvGrpSpPr/>
          <p:nvPr/>
        </p:nvGrpSpPr>
        <p:grpSpPr>
          <a:xfrm>
            <a:off x="6032182" y="1954530"/>
            <a:ext cx="5626418" cy="2146935"/>
            <a:chOff x="6032182" y="1954530"/>
            <a:chExt cx="5626418" cy="2146935"/>
          </a:xfrm>
        </p:grpSpPr>
        <p:sp>
          <p:nvSpPr>
            <p:cNvPr id="39" name="Rectangle 39"/>
            <p:cNvSpPr/>
            <p:nvPr/>
          </p:nvSpPr>
          <p:spPr>
            <a:xfrm>
              <a:off x="6032182" y="1954530"/>
              <a:ext cx="5626418" cy="430530"/>
            </a:xfrm>
            <a:prstGeom prst="rect">
              <a:avLst/>
            </a:prstGeom>
            <a:solidFill>
              <a:srgbClr val="334E68"/>
            </a:solidFill>
            <a:ln>
              <a:noFill/>
            </a:ln>
          </p:spPr>
        </p:sp>
        <p:sp>
          <p:nvSpPr>
            <p:cNvPr id="40" name="TextBox 40"/>
            <p:cNvSpPr txBox="1"/>
            <p:nvPr/>
          </p:nvSpPr>
          <p:spPr>
            <a:xfrm>
              <a:off x="6160580" y="2085975"/>
              <a:ext cx="981456"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代码重用方式</a:t>
              </a:r>
            </a:p>
          </p:txBody>
        </p:sp>
        <p:sp>
          <p:nvSpPr>
            <p:cNvPr id="41" name="TextBox 41"/>
            <p:cNvSpPr txBox="1"/>
            <p:nvPr/>
          </p:nvSpPr>
          <p:spPr>
            <a:xfrm>
              <a:off x="8227695" y="208597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做法</a:t>
              </a:r>
            </a:p>
          </p:txBody>
        </p:sp>
        <p:sp>
          <p:nvSpPr>
            <p:cNvPr id="42" name="TextBox 42"/>
            <p:cNvSpPr txBox="1"/>
            <p:nvPr/>
          </p:nvSpPr>
          <p:spPr>
            <a:xfrm>
              <a:off x="10099167" y="2085975"/>
              <a:ext cx="981456"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维护时的表现</a:t>
              </a:r>
            </a:p>
          </p:txBody>
        </p:sp>
        <p:sp>
          <p:nvSpPr>
            <p:cNvPr id="43" name="TextBox 43"/>
            <p:cNvSpPr txBox="1"/>
            <p:nvPr/>
          </p:nvSpPr>
          <p:spPr>
            <a:xfrm>
              <a:off x="6137529" y="2515552"/>
              <a:ext cx="819912"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源代码剪贴</a:t>
              </a:r>
            </a:p>
          </p:txBody>
        </p:sp>
        <p:sp>
          <p:nvSpPr>
            <p:cNvPr id="44" name="TextBox 44"/>
            <p:cNvSpPr txBox="1"/>
            <p:nvPr/>
          </p:nvSpPr>
          <p:spPr>
            <a:xfrm>
              <a:off x="7374826" y="2515552"/>
              <a:ext cx="195072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把别处的代码复制过来再改</a:t>
              </a:r>
            </a:p>
          </p:txBody>
        </p:sp>
        <p:sp>
          <p:nvSpPr>
            <p:cNvPr id="45" name="TextBox 45"/>
            <p:cNvSpPr txBox="1"/>
            <p:nvPr/>
          </p:nvSpPr>
          <p:spPr>
            <a:xfrm>
              <a:off x="9625584" y="2515552"/>
              <a:ext cx="1627632"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复制几份就要维护几份</a:t>
              </a:r>
            </a:p>
          </p:txBody>
        </p:sp>
        <p:sp>
          <p:nvSpPr>
            <p:cNvPr id="46" name="Rectangle 46"/>
            <p:cNvSpPr/>
            <p:nvPr/>
          </p:nvSpPr>
          <p:spPr>
            <a:xfrm>
              <a:off x="6032182" y="2809875"/>
              <a:ext cx="5626418" cy="9525"/>
            </a:xfrm>
            <a:prstGeom prst="rect">
              <a:avLst/>
            </a:prstGeom>
            <a:solidFill>
              <a:srgbClr val="D9DFEA"/>
            </a:solidFill>
            <a:ln>
              <a:noFill/>
            </a:ln>
          </p:spPr>
        </p:sp>
        <p:sp>
          <p:nvSpPr>
            <p:cNvPr id="47" name="Rectangle 47"/>
            <p:cNvSpPr/>
            <p:nvPr/>
          </p:nvSpPr>
          <p:spPr>
            <a:xfrm>
              <a:off x="6032182" y="2814638"/>
              <a:ext cx="5626418" cy="643890"/>
            </a:xfrm>
            <a:prstGeom prst="rect">
              <a:avLst/>
            </a:prstGeom>
            <a:solidFill>
              <a:srgbClr val="F4F6FB"/>
            </a:solidFill>
            <a:ln>
              <a:noFill/>
            </a:ln>
          </p:spPr>
        </p:sp>
        <p:sp>
          <p:nvSpPr>
            <p:cNvPr id="48" name="TextBox 48"/>
            <p:cNvSpPr txBox="1"/>
            <p:nvPr/>
          </p:nvSpPr>
          <p:spPr>
            <a:xfrm>
              <a:off x="6137529" y="3052762"/>
              <a:ext cx="819912"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源代码包含</a:t>
              </a:r>
            </a:p>
          </p:txBody>
        </p:sp>
        <p:sp>
          <p:nvSpPr>
            <p:cNvPr id="49" name="TextBox 49"/>
            <p:cNvSpPr txBox="1"/>
            <p:nvPr/>
          </p:nvSpPr>
          <p:spPr>
            <a:xfrm>
              <a:off x="7374826" y="3052762"/>
              <a:ext cx="1942643"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用 include 引入同一份源码</a:t>
              </a:r>
            </a:p>
          </p:txBody>
        </p:sp>
        <p:sp>
          <p:nvSpPr>
            <p:cNvPr id="50" name="TextBox 50"/>
            <p:cNvSpPr txBox="1"/>
            <p:nvPr/>
          </p:nvSpPr>
          <p:spPr>
            <a:xfrm>
              <a:off x="9625584" y="2946082"/>
              <a:ext cx="184099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只维护一份，改动波及所有</a:t>
              </a:r>
              <a:br/>
              <a:r>
                <a:rPr lang="zh-CN" sz="1200" dirty="0">
                  <a:solidFill>
                    <a:srgbClr val="1F2937"/>
                  </a:solidFill>
                  <a:latin typeface="+mn-lt"/>
                  <a:ea typeface="+mn-ea"/>
                  <a:cs typeface="+mn-cs"/>
                </a:rPr>
                <a:t>引入处</a:t>
              </a:r>
            </a:p>
          </p:txBody>
        </p:sp>
        <p:sp>
          <p:nvSpPr>
            <p:cNvPr id="51" name="Rectangle 51"/>
            <p:cNvSpPr/>
            <p:nvPr/>
          </p:nvSpPr>
          <p:spPr>
            <a:xfrm>
              <a:off x="6032182" y="3453765"/>
              <a:ext cx="5626418" cy="9525"/>
            </a:xfrm>
            <a:prstGeom prst="rect">
              <a:avLst/>
            </a:prstGeom>
            <a:solidFill>
              <a:srgbClr val="D9DFEA"/>
            </a:solidFill>
            <a:ln>
              <a:noFill/>
            </a:ln>
          </p:spPr>
        </p:sp>
        <p:sp>
          <p:nvSpPr>
            <p:cNvPr id="52" name="Rectangle 52"/>
            <p:cNvSpPr/>
            <p:nvPr/>
          </p:nvSpPr>
          <p:spPr>
            <a:xfrm>
              <a:off x="6041708" y="3468052"/>
              <a:ext cx="1219200" cy="624840"/>
            </a:xfrm>
            <a:prstGeom prst="rect">
              <a:avLst/>
            </a:prstGeom>
            <a:solidFill>
              <a:srgbClr val="E3F5F1"/>
            </a:solidFill>
            <a:ln>
              <a:noFill/>
            </a:ln>
          </p:spPr>
        </p:sp>
        <p:sp>
          <p:nvSpPr>
            <p:cNvPr id="53" name="TextBox 53"/>
            <p:cNvSpPr txBox="1"/>
            <p:nvPr/>
          </p:nvSpPr>
          <p:spPr>
            <a:xfrm>
              <a:off x="6137529" y="3696652"/>
              <a:ext cx="335280"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继承</a:t>
              </a:r>
            </a:p>
          </p:txBody>
        </p:sp>
        <p:sp>
          <p:nvSpPr>
            <p:cNvPr id="54" name="TextBox 54"/>
            <p:cNvSpPr txBox="1"/>
            <p:nvPr/>
          </p:nvSpPr>
          <p:spPr>
            <a:xfrm>
              <a:off x="7374826" y="3696652"/>
              <a:ext cx="178917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派生子类，只写差异部分</a:t>
              </a:r>
            </a:p>
          </p:txBody>
        </p:sp>
        <p:sp>
          <p:nvSpPr>
            <p:cNvPr id="55" name="TextBox 55"/>
            <p:cNvSpPr txBox="1"/>
            <p:nvPr/>
          </p:nvSpPr>
          <p:spPr>
            <a:xfrm>
              <a:off x="9625584" y="3589972"/>
              <a:ext cx="184099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重用程度最高，父类改动自</a:t>
              </a:r>
              <a:br/>
              <a:r>
                <a:rPr lang="zh-CN" sz="1200" dirty="0">
                  <a:solidFill>
                    <a:srgbClr val="1F2937"/>
                  </a:solidFill>
                  <a:latin typeface="+mn-lt"/>
                  <a:ea typeface="+mn-ea"/>
                  <a:cs typeface="+mn-cs"/>
                </a:rPr>
                <a:t>动传递</a:t>
              </a:r>
            </a:p>
          </p:txBody>
        </p:sp>
        <p:sp>
          <p:nvSpPr>
            <p:cNvPr id="56" name="Rectangle 56"/>
            <p:cNvSpPr/>
            <p:nvPr/>
          </p:nvSpPr>
          <p:spPr>
            <a:xfrm>
              <a:off x="6032182" y="1954530"/>
              <a:ext cx="5626418" cy="2146935"/>
            </a:xfrm>
            <a:prstGeom prst="rect">
              <a:avLst/>
            </a:prstGeom>
            <a:noFill/>
            <a:ln w="14288">
              <a:solidFill>
                <a:srgbClr val="D9DFEA"/>
              </a:solidFill>
            </a:ln>
          </p:spPr>
        </p:sp>
        <p:sp>
          <p:nvSpPr>
            <p:cNvPr id="57" name="Rectangle 57"/>
            <p:cNvSpPr/>
            <p:nvPr/>
          </p:nvSpPr>
          <p:spPr>
            <a:xfrm>
              <a:off x="7264718" y="1954530"/>
              <a:ext cx="9525" cy="2146935"/>
            </a:xfrm>
            <a:prstGeom prst="rect">
              <a:avLst/>
            </a:prstGeom>
            <a:solidFill>
              <a:srgbClr val="D9DFEA"/>
            </a:solidFill>
            <a:ln>
              <a:noFill/>
            </a:ln>
          </p:spPr>
        </p:sp>
        <p:sp>
          <p:nvSpPr>
            <p:cNvPr id="58" name="Rectangle 58"/>
            <p:cNvSpPr/>
            <p:nvPr/>
          </p:nvSpPr>
          <p:spPr>
            <a:xfrm>
              <a:off x="9515475" y="1954530"/>
              <a:ext cx="9525" cy="2146935"/>
            </a:xfrm>
            <a:prstGeom prst="rect">
              <a:avLst/>
            </a:prstGeom>
            <a:solidFill>
              <a:srgbClr val="D9DFEA"/>
            </a:solidFill>
            <a:ln>
              <a:noFill/>
            </a:ln>
          </p:spPr>
        </p:sp>
      </p:grpSp>
      <p:grpSp>
        <p:nvGrpSpPr>
          <p:cNvPr id="67" name="c2-bullets-2"/>
          <p:cNvGrpSpPr/>
          <p:nvPr/>
        </p:nvGrpSpPr>
        <p:grpSpPr>
          <a:xfrm>
            <a:off x="6024944" y="4310539"/>
            <a:ext cx="3738752" cy="1150524"/>
            <a:chOff x="6024944" y="4310539"/>
            <a:chExt cx="3738752" cy="1150524"/>
          </a:xfrm>
        </p:grpSpPr>
        <p:sp>
          <p:nvSpPr>
            <p:cNvPr id="60" name="TextBox 60"/>
            <p:cNvSpPr txBox="1"/>
            <p:nvPr/>
          </p:nvSpPr>
          <p:spPr>
            <a:xfrm>
              <a:off x="6024944" y="4310539"/>
              <a:ext cx="1926082"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典型的可重用软件成分</a:t>
              </a:r>
            </a:p>
          </p:txBody>
        </p:sp>
        <p:sp>
          <p:nvSpPr>
            <p:cNvPr id="61" name="Ellipse 61"/>
            <p:cNvSpPr/>
            <p:nvPr/>
          </p:nvSpPr>
          <p:spPr>
            <a:xfrm>
              <a:off x="6041708" y="4692968"/>
              <a:ext cx="57150" cy="57150"/>
            </a:xfrm>
            <a:prstGeom prst="ellipse">
              <a:avLst/>
            </a:prstGeom>
            <a:solidFill>
              <a:srgbClr val="334E68"/>
            </a:solidFill>
            <a:ln>
              <a:noFill/>
            </a:ln>
          </p:spPr>
        </p:sp>
        <p:sp>
          <p:nvSpPr>
            <p:cNvPr id="62" name="TextBox 62"/>
            <p:cNvSpPr txBox="1"/>
            <p:nvPr/>
          </p:nvSpPr>
          <p:spPr>
            <a:xfrm>
              <a:off x="6197536" y="4645342"/>
              <a:ext cx="227380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项目计划、成本估计、体系结构</a:t>
              </a:r>
            </a:p>
          </p:txBody>
        </p:sp>
        <p:sp>
          <p:nvSpPr>
            <p:cNvPr id="63" name="Ellipse 63"/>
            <p:cNvSpPr/>
            <p:nvPr/>
          </p:nvSpPr>
          <p:spPr>
            <a:xfrm>
              <a:off x="6041708" y="4983480"/>
              <a:ext cx="57150" cy="57150"/>
            </a:xfrm>
            <a:prstGeom prst="ellipse">
              <a:avLst/>
            </a:prstGeom>
            <a:solidFill>
              <a:srgbClr val="334E68"/>
            </a:solidFill>
            <a:ln>
              <a:noFill/>
            </a:ln>
          </p:spPr>
        </p:sp>
        <p:sp>
          <p:nvSpPr>
            <p:cNvPr id="64" name="TextBox 64"/>
            <p:cNvSpPr txBox="1"/>
            <p:nvPr/>
          </p:nvSpPr>
          <p:spPr>
            <a:xfrm>
              <a:off x="6197536" y="4935855"/>
              <a:ext cx="259689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需求模型和规格说明、设计、源代码</a:t>
              </a:r>
            </a:p>
          </p:txBody>
        </p:sp>
        <p:sp>
          <p:nvSpPr>
            <p:cNvPr id="65" name="Ellipse 65"/>
            <p:cNvSpPr/>
            <p:nvPr/>
          </p:nvSpPr>
          <p:spPr>
            <a:xfrm>
              <a:off x="6041708" y="5273992"/>
              <a:ext cx="57150" cy="57150"/>
            </a:xfrm>
            <a:prstGeom prst="ellipse">
              <a:avLst/>
            </a:prstGeom>
            <a:solidFill>
              <a:srgbClr val="334E68"/>
            </a:solidFill>
            <a:ln>
              <a:noFill/>
            </a:ln>
          </p:spPr>
        </p:sp>
        <p:sp>
          <p:nvSpPr>
            <p:cNvPr id="66" name="TextBox 66"/>
            <p:cNvSpPr txBox="1"/>
            <p:nvPr/>
          </p:nvSpPr>
          <p:spPr>
            <a:xfrm>
              <a:off x="6197536" y="5226367"/>
              <a:ext cx="356616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用户文档和技术文档、用户界面、数据、测试用例</a:t>
              </a:r>
            </a:p>
          </p:txBody>
        </p:sp>
      </p:grpSp>
      <p:grpSp>
        <p:nvGrpSpPr>
          <p:cNvPr id="73" name="takeaway"/>
          <p:cNvGrpSpPr/>
          <p:nvPr/>
        </p:nvGrpSpPr>
        <p:grpSpPr>
          <a:xfrm>
            <a:off x="533400" y="5844540"/>
            <a:ext cx="11125200" cy="518160"/>
            <a:chOff x="533400" y="5844540"/>
            <a:chExt cx="11125200" cy="518160"/>
          </a:xfrm>
        </p:grpSpPr>
        <p:sp>
          <p:nvSpPr>
            <p:cNvPr id="68" name="Rectangle 68"/>
            <p:cNvSpPr/>
            <p:nvPr/>
          </p:nvSpPr>
          <p:spPr>
            <a:xfrm>
              <a:off x="533400" y="5844540"/>
              <a:ext cx="11125200" cy="518160"/>
            </a:xfrm>
            <a:prstGeom prst="roundRect">
              <a:avLst>
                <a:gd name="adj" fmla="val 22059"/>
              </a:avLst>
            </a:prstGeom>
            <a:solidFill>
              <a:srgbClr val="334E68"/>
            </a:solidFill>
            <a:ln>
              <a:noFill/>
            </a:ln>
          </p:spPr>
        </p:sp>
        <p:grpSp>
          <p:nvGrpSpPr>
            <p:cNvPr id="71" name="Group 71"/>
            <p:cNvGrpSpPr/>
            <p:nvPr/>
          </p:nvGrpSpPr>
          <p:grpSpPr>
            <a:xfrm>
              <a:off x="738188" y="6003610"/>
              <a:ext cx="200023" cy="200023"/>
              <a:chOff x="738188" y="6003610"/>
              <a:chExt cx="200023" cy="200023"/>
            </a:xfrm>
          </p:grpSpPr>
          <p:sp>
            <p:nvSpPr>
              <p:cNvPr id="69" name="Freeform 69"/>
              <p:cNvSpPr/>
              <p:nvPr/>
            </p:nvSpPr>
            <p:spPr>
              <a:xfrm>
                <a:off x="738188" y="600361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70" name="Freeform 70"/>
              <p:cNvSpPr/>
              <p:nvPr/>
            </p:nvSpPr>
            <p:spPr>
              <a:xfrm>
                <a:off x="871538" y="607028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2" name="TextBox 72"/>
            <p:cNvSpPr txBox="1"/>
            <p:nvPr/>
          </p:nvSpPr>
          <p:spPr>
            <a:xfrm>
              <a:off x="1040511" y="6004084"/>
              <a:ext cx="7278573"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重用的对象远不止代码，需求模型、测试用例、项目计划同样可以拿过来改一改就用。</a:t>
              </a:r>
            </a:p>
          </p:txBody>
        </p:sp>
      </p:grpSp>
      <p:grpSp>
        <p:nvGrpSpPr>
          <p:cNvPr id="76" name="footer"/>
          <p:cNvGrpSpPr/>
          <p:nvPr/>
        </p:nvGrpSpPr>
        <p:grpSpPr>
          <a:xfrm>
            <a:off x="528447" y="6581299"/>
            <a:ext cx="11135106" cy="190690"/>
            <a:chOff x="528447" y="6581299"/>
            <a:chExt cx="11135106" cy="190690"/>
          </a:xfrm>
        </p:grpSpPr>
        <p:sp>
          <p:nvSpPr>
            <p:cNvPr id="74" name="TextBox 74"/>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75" name="TextBox 7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31</a:t>
              </a:r>
            </a:p>
          </p:txBody>
        </p:sp>
      </p:grpSp>
    </p:spTree>
  </p:cSld>
  <p:clrMapOvr>
    <a:masterClrMapping/>
  </p:clrMapOvr>
  <p:transition xmlns:p14="http://schemas.microsoft.com/office/powerpoint/2010/main" p14:dur="400">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2354580" cy="266700"/>
            </a:xfrm>
            <a:prstGeom prst="roundRect">
              <a:avLst>
                <a:gd name="adj" fmla="val 50000"/>
              </a:avLst>
            </a:prstGeom>
            <a:solidFill>
              <a:srgbClr val="E7EDF3"/>
            </a:solidFill>
            <a:ln>
              <a:noFill/>
            </a:ln>
          </p:spPr>
        </p:sp>
        <p:sp>
          <p:nvSpPr>
            <p:cNvPr id="3" name="TextBox 3"/>
            <p:cNvSpPr txBox="1"/>
            <p:nvPr/>
          </p:nvSpPr>
          <p:spPr>
            <a:xfrm>
              <a:off x="598479" y="407194"/>
              <a:ext cx="22244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软件重用</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类构件：三种重用方式，多态重用最灵活</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0" name="c1-card-1"/>
          <p:cNvGrpSpPr/>
          <p:nvPr/>
        </p:nvGrpSpPr>
        <p:grpSpPr>
          <a:xfrm>
            <a:off x="533400" y="1524000"/>
            <a:ext cx="4760595" cy="2403158"/>
            <a:chOff x="533400" y="1524000"/>
            <a:chExt cx="4760595" cy="2403158"/>
          </a:xfrm>
        </p:grpSpPr>
        <p:sp>
          <p:nvSpPr>
            <p:cNvPr id="7" name="Rectangle 7"/>
            <p:cNvSpPr/>
            <p:nvPr/>
          </p:nvSpPr>
          <p:spPr>
            <a:xfrm>
              <a:off x="533400" y="1524000"/>
              <a:ext cx="4760595" cy="2403158"/>
            </a:xfrm>
            <a:prstGeom prst="roundRect">
              <a:avLst>
                <a:gd name="adj" fmla="val 5549"/>
              </a:avLst>
            </a:prstGeom>
            <a:solidFill>
              <a:srgbClr val="FFFFFF"/>
            </a:solidFill>
            <a:ln w="14288">
              <a:solidFill>
                <a:srgbClr val="D9DFEA"/>
              </a:solidFill>
            </a:ln>
          </p:spPr>
        </p:sp>
        <p:sp>
          <p:nvSpPr>
            <p:cNvPr id="8" name="Rectangle 8"/>
            <p:cNvSpPr/>
            <p:nvPr/>
          </p:nvSpPr>
          <p:spPr>
            <a:xfrm>
              <a:off x="542925" y="1657350"/>
              <a:ext cx="47625" cy="2136458"/>
            </a:xfrm>
            <a:prstGeom prst="roundRect">
              <a:avLst>
                <a:gd name="adj" fmla="val 50000"/>
              </a:avLst>
            </a:prstGeom>
            <a:solidFill>
              <a:srgbClr val="334E68"/>
            </a:solidFill>
            <a:ln>
              <a:noFill/>
            </a:ln>
          </p:spPr>
        </p:sp>
        <p:sp>
          <p:nvSpPr>
            <p:cNvPr id="9" name="Rectangle 9"/>
            <p:cNvSpPr/>
            <p:nvPr/>
          </p:nvSpPr>
          <p:spPr>
            <a:xfrm>
              <a:off x="758190" y="1710690"/>
              <a:ext cx="458152" cy="238125"/>
            </a:xfrm>
            <a:prstGeom prst="roundRect">
              <a:avLst>
                <a:gd name="adj" fmla="val 50000"/>
              </a:avLst>
            </a:prstGeom>
            <a:solidFill>
              <a:srgbClr val="E7EDF3"/>
            </a:solidFill>
            <a:ln>
              <a:noFill/>
            </a:ln>
          </p:spPr>
        </p:sp>
        <p:sp>
          <p:nvSpPr>
            <p:cNvPr id="10" name="TextBox 10"/>
            <p:cNvSpPr txBox="1"/>
            <p:nvPr/>
          </p:nvSpPr>
          <p:spPr>
            <a:xfrm>
              <a:off x="850862" y="1743551"/>
              <a:ext cx="273761"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定义</a:t>
              </a:r>
            </a:p>
          </p:txBody>
        </p:sp>
        <p:sp>
          <p:nvSpPr>
            <p:cNvPr id="11" name="TextBox 11"/>
            <p:cNvSpPr txBox="1"/>
            <p:nvPr/>
          </p:nvSpPr>
          <p:spPr>
            <a:xfrm>
              <a:off x="1323784" y="1745932"/>
              <a:ext cx="5589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类构件</a:t>
              </a:r>
            </a:p>
          </p:txBody>
        </p:sp>
        <p:sp>
          <p:nvSpPr>
            <p:cNvPr id="12" name="TextBox 12"/>
            <p:cNvSpPr txBox="1"/>
            <p:nvPr/>
          </p:nvSpPr>
          <p:spPr>
            <a:xfrm>
              <a:off x="751332" y="2071688"/>
              <a:ext cx="41285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用面向对象方法开发的、可以重复使用的类，是软件重</a:t>
              </a:r>
              <a:br/>
              <a:r>
                <a:rPr lang="zh-CN" sz="1350" dirty="0">
                  <a:solidFill>
                    <a:srgbClr val="1F2937"/>
                  </a:solidFill>
                  <a:latin typeface="+mn-lt"/>
                  <a:ea typeface="+mn-ea"/>
                  <a:cs typeface="+mn-cs"/>
                </a:rPr>
                <a:t>用中最基本的成分。</a:t>
              </a:r>
            </a:p>
          </p:txBody>
        </p:sp>
        <p:sp>
          <p:nvSpPr>
            <p:cNvPr id="13" name="TextBox 13"/>
            <p:cNvSpPr txBox="1"/>
            <p:nvPr/>
          </p:nvSpPr>
          <p:spPr>
            <a:xfrm>
              <a:off x="751332" y="2628900"/>
              <a:ext cx="237629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可重用软构件应具备的特点：</a:t>
              </a:r>
            </a:p>
          </p:txBody>
        </p:sp>
        <p:sp>
          <p:nvSpPr>
            <p:cNvPr id="14" name="Ellipse 14"/>
            <p:cNvSpPr/>
            <p:nvPr/>
          </p:nvSpPr>
          <p:spPr>
            <a:xfrm>
              <a:off x="766762" y="2985135"/>
              <a:ext cx="59055" cy="59055"/>
            </a:xfrm>
            <a:prstGeom prst="ellipse">
              <a:avLst/>
            </a:prstGeom>
            <a:solidFill>
              <a:srgbClr val="334E68"/>
            </a:solidFill>
            <a:ln>
              <a:noFill/>
            </a:ln>
          </p:spPr>
        </p:sp>
        <p:sp>
          <p:nvSpPr>
            <p:cNvPr id="15" name="TextBox 15"/>
            <p:cNvSpPr txBox="1"/>
            <p:nvPr/>
          </p:nvSpPr>
          <p:spPr>
            <a:xfrm>
              <a:off x="922782" y="2928938"/>
              <a:ext cx="110413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模块独立性强</a:t>
              </a:r>
            </a:p>
          </p:txBody>
        </p:sp>
        <p:sp>
          <p:nvSpPr>
            <p:cNvPr id="16" name="Ellipse 16"/>
            <p:cNvSpPr/>
            <p:nvPr/>
          </p:nvSpPr>
          <p:spPr>
            <a:xfrm>
              <a:off x="766762" y="3286125"/>
              <a:ext cx="59055" cy="59055"/>
            </a:xfrm>
            <a:prstGeom prst="ellipse">
              <a:avLst/>
            </a:prstGeom>
            <a:solidFill>
              <a:srgbClr val="334E68"/>
            </a:solidFill>
            <a:ln>
              <a:noFill/>
            </a:ln>
          </p:spPr>
        </p:sp>
        <p:sp>
          <p:nvSpPr>
            <p:cNvPr id="17" name="TextBox 17"/>
            <p:cNvSpPr txBox="1"/>
            <p:nvPr/>
          </p:nvSpPr>
          <p:spPr>
            <a:xfrm>
              <a:off x="922782" y="3229927"/>
              <a:ext cx="128587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具有高度可塑性</a:t>
              </a:r>
            </a:p>
          </p:txBody>
        </p:sp>
        <p:sp>
          <p:nvSpPr>
            <p:cNvPr id="18" name="Ellipse 18"/>
            <p:cNvSpPr/>
            <p:nvPr/>
          </p:nvSpPr>
          <p:spPr>
            <a:xfrm>
              <a:off x="766762" y="3586162"/>
              <a:ext cx="59055" cy="59055"/>
            </a:xfrm>
            <a:prstGeom prst="ellipse">
              <a:avLst/>
            </a:prstGeom>
            <a:solidFill>
              <a:srgbClr val="334E68"/>
            </a:solidFill>
            <a:ln>
              <a:noFill/>
            </a:ln>
          </p:spPr>
        </p:sp>
        <p:sp>
          <p:nvSpPr>
            <p:cNvPr id="19" name="TextBox 19"/>
            <p:cNvSpPr txBox="1"/>
            <p:nvPr/>
          </p:nvSpPr>
          <p:spPr>
            <a:xfrm>
              <a:off x="922782" y="3529965"/>
              <a:ext cx="183108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接口清晰、简明、可靠</a:t>
              </a:r>
            </a:p>
          </p:txBody>
        </p:sp>
      </p:grpSp>
      <p:grpSp>
        <p:nvGrpSpPr>
          <p:cNvPr id="30" name="c1-bullets-2"/>
          <p:cNvGrpSpPr/>
          <p:nvPr/>
        </p:nvGrpSpPr>
        <p:grpSpPr>
          <a:xfrm>
            <a:off x="526542" y="4119562"/>
            <a:ext cx="3103245" cy="1342550"/>
            <a:chOff x="526542" y="4119562"/>
            <a:chExt cx="3103245" cy="1342550"/>
          </a:xfrm>
        </p:grpSpPr>
        <p:sp>
          <p:nvSpPr>
            <p:cNvPr id="21" name="TextBox 21"/>
            <p:cNvSpPr txBox="1"/>
            <p:nvPr/>
          </p:nvSpPr>
          <p:spPr>
            <a:xfrm>
              <a:off x="526542" y="4119562"/>
              <a:ext cx="3103245"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设计类构件时要重点一般化的四类操作</a:t>
              </a:r>
            </a:p>
          </p:txBody>
        </p:sp>
        <p:sp>
          <p:nvSpPr>
            <p:cNvPr id="22" name="Ellipse 22"/>
            <p:cNvSpPr/>
            <p:nvPr/>
          </p:nvSpPr>
          <p:spPr>
            <a:xfrm>
              <a:off x="542925" y="4475798"/>
              <a:ext cx="57150" cy="57150"/>
            </a:xfrm>
            <a:prstGeom prst="ellipse">
              <a:avLst/>
            </a:prstGeom>
            <a:solidFill>
              <a:srgbClr val="334E68"/>
            </a:solidFill>
            <a:ln>
              <a:noFill/>
            </a:ln>
          </p:spPr>
        </p:sp>
        <p:sp>
          <p:nvSpPr>
            <p:cNvPr id="23" name="TextBox 23"/>
            <p:cNvSpPr txBox="1"/>
            <p:nvPr/>
          </p:nvSpPr>
          <p:spPr>
            <a:xfrm>
              <a:off x="699135" y="4432459"/>
              <a:ext cx="287614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与表示方法有关的操作：比较、显示、擦除</a:t>
              </a:r>
            </a:p>
          </p:txBody>
        </p:sp>
        <p:sp>
          <p:nvSpPr>
            <p:cNvPr id="24" name="Ellipse 24"/>
            <p:cNvSpPr/>
            <p:nvPr/>
          </p:nvSpPr>
          <p:spPr>
            <a:xfrm>
              <a:off x="542925" y="4745355"/>
              <a:ext cx="57150" cy="57150"/>
            </a:xfrm>
            <a:prstGeom prst="ellipse">
              <a:avLst/>
            </a:prstGeom>
            <a:solidFill>
              <a:srgbClr val="334E68"/>
            </a:solidFill>
            <a:ln>
              <a:noFill/>
            </a:ln>
          </p:spPr>
        </p:sp>
        <p:sp>
          <p:nvSpPr>
            <p:cNvPr id="25" name="TextBox 25"/>
            <p:cNvSpPr txBox="1"/>
            <p:nvPr/>
          </p:nvSpPr>
          <p:spPr>
            <a:xfrm>
              <a:off x="699135" y="4702969"/>
              <a:ext cx="227304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与数据结构、数据大小有关的操作</a:t>
              </a:r>
            </a:p>
          </p:txBody>
        </p:sp>
        <p:sp>
          <p:nvSpPr>
            <p:cNvPr id="26" name="Ellipse 26"/>
            <p:cNvSpPr/>
            <p:nvPr/>
          </p:nvSpPr>
          <p:spPr>
            <a:xfrm>
              <a:off x="542925" y="5014912"/>
              <a:ext cx="57150" cy="57150"/>
            </a:xfrm>
            <a:prstGeom prst="ellipse">
              <a:avLst/>
            </a:prstGeom>
            <a:solidFill>
              <a:srgbClr val="334E68"/>
            </a:solidFill>
            <a:ln>
              <a:noFill/>
            </a:ln>
          </p:spPr>
        </p:sp>
        <p:sp>
          <p:nvSpPr>
            <p:cNvPr id="27" name="TextBox 27"/>
            <p:cNvSpPr txBox="1"/>
            <p:nvPr/>
          </p:nvSpPr>
          <p:spPr>
            <a:xfrm>
              <a:off x="699135" y="4972526"/>
              <a:ext cx="257459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与外部设备有关的操作，例如设备控制</a:t>
              </a:r>
            </a:p>
          </p:txBody>
        </p:sp>
        <p:sp>
          <p:nvSpPr>
            <p:cNvPr id="28" name="Ellipse 28"/>
            <p:cNvSpPr/>
            <p:nvPr/>
          </p:nvSpPr>
          <p:spPr>
            <a:xfrm>
              <a:off x="542925" y="5285422"/>
              <a:ext cx="57150" cy="57150"/>
            </a:xfrm>
            <a:prstGeom prst="ellipse">
              <a:avLst/>
            </a:prstGeom>
            <a:solidFill>
              <a:srgbClr val="334E68"/>
            </a:solidFill>
            <a:ln>
              <a:noFill/>
            </a:ln>
          </p:spPr>
        </p:sp>
        <p:sp>
          <p:nvSpPr>
            <p:cNvPr id="29" name="TextBox 29"/>
            <p:cNvSpPr txBox="1"/>
            <p:nvPr/>
          </p:nvSpPr>
          <p:spPr>
            <a:xfrm>
              <a:off x="699135" y="5242084"/>
              <a:ext cx="272536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实现算法将来可能改进或改变的核心操作</a:t>
              </a:r>
            </a:p>
          </p:txBody>
        </p:sp>
      </p:grpSp>
      <p:grpSp>
        <p:nvGrpSpPr>
          <p:cNvPr id="37" name="c1-callout-3"/>
          <p:cNvGrpSpPr/>
          <p:nvPr/>
        </p:nvGrpSpPr>
        <p:grpSpPr>
          <a:xfrm>
            <a:off x="533400" y="5587365"/>
            <a:ext cx="4760595" cy="729615"/>
            <a:chOff x="533400" y="5587365"/>
            <a:chExt cx="4760595" cy="729615"/>
          </a:xfrm>
        </p:grpSpPr>
        <p:sp>
          <p:nvSpPr>
            <p:cNvPr id="31" name="Rectangle 31"/>
            <p:cNvSpPr/>
            <p:nvPr/>
          </p:nvSpPr>
          <p:spPr>
            <a:xfrm>
              <a:off x="533400" y="5587365"/>
              <a:ext cx="4760595" cy="729615"/>
            </a:xfrm>
            <a:prstGeom prst="roundRect">
              <a:avLst>
                <a:gd name="adj" fmla="val 15666"/>
              </a:avLst>
            </a:prstGeom>
            <a:solidFill>
              <a:srgbClr val="FDEEE7"/>
            </a:solidFill>
            <a:ln>
              <a:noFill/>
            </a:ln>
          </p:spPr>
        </p:sp>
        <p:grpSp>
          <p:nvGrpSpPr>
            <p:cNvPr id="35" name="Group 35"/>
            <p:cNvGrpSpPr/>
            <p:nvPr/>
          </p:nvGrpSpPr>
          <p:grpSpPr>
            <a:xfrm>
              <a:off x="738188" y="5852160"/>
              <a:ext cx="200026" cy="200025"/>
              <a:chOff x="738188" y="5852160"/>
              <a:chExt cx="200026" cy="200025"/>
            </a:xfrm>
          </p:grpSpPr>
          <p:sp>
            <p:nvSpPr>
              <p:cNvPr id="32" name="Freeform 32"/>
              <p:cNvSpPr/>
              <p:nvPr/>
            </p:nvSpPr>
            <p:spPr>
              <a:xfrm>
                <a:off x="738188" y="5852160"/>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33" name="Freeform 33"/>
              <p:cNvSpPr/>
              <p:nvPr/>
            </p:nvSpPr>
            <p:spPr>
              <a:xfrm>
                <a:off x="777926" y="5896610"/>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34" name="Freeform 34"/>
              <p:cNvSpPr/>
              <p:nvPr/>
            </p:nvSpPr>
            <p:spPr>
              <a:xfrm>
                <a:off x="812642" y="6007736"/>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36" name="TextBox 36"/>
            <p:cNvSpPr txBox="1"/>
            <p:nvPr/>
          </p:nvSpPr>
          <p:spPr>
            <a:xfrm>
              <a:off x="1040892" y="5734050"/>
              <a:ext cx="378561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C2410C"/>
                  </a:solidFill>
                  <a:latin typeface="+mn-lt"/>
                  <a:ea typeface="+mn-ea"/>
                  <a:cs typeface="+mn-cs"/>
                </a:rPr>
                <a:t>三种方式可以叠加：先实例重用，不够用再继承重</a:t>
              </a:r>
              <a:br/>
              <a:r>
                <a:rPr lang="zh-CN" sz="1350" dirty="0">
                  <a:solidFill>
                    <a:srgbClr val="C2410C"/>
                  </a:solidFill>
                  <a:latin typeface="+mn-lt"/>
                  <a:ea typeface="+mn-ea"/>
                  <a:cs typeface="+mn-cs"/>
                </a:rPr>
                <a:t>用，需要统一接口时走多态重用。</a:t>
              </a:r>
            </a:p>
          </p:txBody>
        </p:sp>
      </p:grpSp>
      <p:grpSp>
        <p:nvGrpSpPr>
          <p:cNvPr id="58" name="c2-table-1"/>
          <p:cNvGrpSpPr/>
          <p:nvPr/>
        </p:nvGrpSpPr>
        <p:grpSpPr>
          <a:xfrm>
            <a:off x="5598795" y="1524000"/>
            <a:ext cx="6059805" cy="2715578"/>
            <a:chOff x="5598795" y="1524000"/>
            <a:chExt cx="6059805" cy="2715578"/>
          </a:xfrm>
        </p:grpSpPr>
        <p:sp>
          <p:nvSpPr>
            <p:cNvPr id="38" name="Rectangle 38"/>
            <p:cNvSpPr/>
            <p:nvPr/>
          </p:nvSpPr>
          <p:spPr>
            <a:xfrm>
              <a:off x="5598795" y="1524000"/>
              <a:ext cx="6059805" cy="439102"/>
            </a:xfrm>
            <a:prstGeom prst="rect">
              <a:avLst/>
            </a:prstGeom>
            <a:solidFill>
              <a:srgbClr val="334E68"/>
            </a:solidFill>
            <a:ln>
              <a:noFill/>
            </a:ln>
          </p:spPr>
        </p:sp>
        <p:sp>
          <p:nvSpPr>
            <p:cNvPr id="39" name="TextBox 39"/>
            <p:cNvSpPr txBox="1"/>
            <p:nvPr/>
          </p:nvSpPr>
          <p:spPr>
            <a:xfrm>
              <a:off x="5713286" y="1648778"/>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重用方式</a:t>
              </a:r>
            </a:p>
          </p:txBody>
        </p:sp>
        <p:sp>
          <p:nvSpPr>
            <p:cNvPr id="40" name="TextBox 40"/>
            <p:cNvSpPr txBox="1"/>
            <p:nvPr/>
          </p:nvSpPr>
          <p:spPr>
            <a:xfrm>
              <a:off x="7773352" y="1648778"/>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做法</a:t>
              </a:r>
            </a:p>
          </p:txBody>
        </p:sp>
        <p:sp>
          <p:nvSpPr>
            <p:cNvPr id="41" name="TextBox 41"/>
            <p:cNvSpPr txBox="1"/>
            <p:nvPr/>
          </p:nvSpPr>
          <p:spPr>
            <a:xfrm>
              <a:off x="10045827" y="1648778"/>
              <a:ext cx="92240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代价与限制</a:t>
              </a:r>
            </a:p>
          </p:txBody>
        </p:sp>
        <p:sp>
          <p:nvSpPr>
            <p:cNvPr id="42" name="TextBox 42"/>
            <p:cNvSpPr txBox="1"/>
            <p:nvPr/>
          </p:nvSpPr>
          <p:spPr>
            <a:xfrm>
              <a:off x="5694807" y="2207895"/>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实例重用</a:t>
              </a:r>
            </a:p>
          </p:txBody>
        </p:sp>
        <p:sp>
          <p:nvSpPr>
            <p:cNvPr id="43" name="TextBox 43"/>
            <p:cNvSpPr txBox="1"/>
            <p:nvPr/>
          </p:nvSpPr>
          <p:spPr>
            <a:xfrm>
              <a:off x="6664452" y="2087880"/>
              <a:ext cx="24140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用已有的类创建对象或组合出新</a:t>
              </a:r>
              <a:br/>
              <a:r>
                <a:rPr lang="zh-CN" sz="1350" dirty="0">
                  <a:solidFill>
                    <a:srgbClr val="1F2937"/>
                  </a:solidFill>
                  <a:latin typeface="+mn-lt"/>
                  <a:ea typeface="+mn-ea"/>
                  <a:cs typeface="+mn-cs"/>
                </a:rPr>
                <a:t>类</a:t>
              </a:r>
            </a:p>
          </p:txBody>
        </p:sp>
        <p:sp>
          <p:nvSpPr>
            <p:cNvPr id="44" name="TextBox 44"/>
            <p:cNvSpPr txBox="1"/>
            <p:nvPr/>
          </p:nvSpPr>
          <p:spPr>
            <a:xfrm>
              <a:off x="9452420" y="2087880"/>
              <a:ext cx="189966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最简单，只能用现成的行</a:t>
              </a:r>
              <a:br/>
              <a:r>
                <a:rPr lang="zh-CN" sz="1350" dirty="0">
                  <a:solidFill>
                    <a:srgbClr val="1F2937"/>
                  </a:solidFill>
                  <a:latin typeface="+mn-lt"/>
                  <a:ea typeface="+mn-ea"/>
                  <a:cs typeface="+mn-cs"/>
                </a:rPr>
                <a:t>为</a:t>
              </a:r>
            </a:p>
          </p:txBody>
        </p:sp>
        <p:sp>
          <p:nvSpPr>
            <p:cNvPr id="45" name="Rectangle 45"/>
            <p:cNvSpPr/>
            <p:nvPr/>
          </p:nvSpPr>
          <p:spPr>
            <a:xfrm>
              <a:off x="5598795" y="2637472"/>
              <a:ext cx="6059805" cy="9525"/>
            </a:xfrm>
            <a:prstGeom prst="rect">
              <a:avLst/>
            </a:prstGeom>
            <a:solidFill>
              <a:srgbClr val="D9DFEA"/>
            </a:solidFill>
            <a:ln>
              <a:noFill/>
            </a:ln>
          </p:spPr>
        </p:sp>
        <p:sp>
          <p:nvSpPr>
            <p:cNvPr id="46" name="Rectangle 46"/>
            <p:cNvSpPr/>
            <p:nvPr/>
          </p:nvSpPr>
          <p:spPr>
            <a:xfrm>
              <a:off x="5598795" y="2642235"/>
              <a:ext cx="6059805" cy="679132"/>
            </a:xfrm>
            <a:prstGeom prst="rect">
              <a:avLst/>
            </a:prstGeom>
            <a:solidFill>
              <a:srgbClr val="F4F6FB"/>
            </a:solidFill>
            <a:ln>
              <a:noFill/>
            </a:ln>
          </p:spPr>
        </p:sp>
        <p:sp>
          <p:nvSpPr>
            <p:cNvPr id="47" name="TextBox 47"/>
            <p:cNvSpPr txBox="1"/>
            <p:nvPr/>
          </p:nvSpPr>
          <p:spPr>
            <a:xfrm>
              <a:off x="5694807" y="2887027"/>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继承重用</a:t>
              </a:r>
            </a:p>
          </p:txBody>
        </p:sp>
        <p:sp>
          <p:nvSpPr>
            <p:cNvPr id="48" name="TextBox 48"/>
            <p:cNvSpPr txBox="1"/>
            <p:nvPr/>
          </p:nvSpPr>
          <p:spPr>
            <a:xfrm>
              <a:off x="6664452" y="2887027"/>
              <a:ext cx="201282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派生子类，只写差异部分</a:t>
              </a:r>
            </a:p>
          </p:txBody>
        </p:sp>
        <p:sp>
          <p:nvSpPr>
            <p:cNvPr id="49" name="TextBox 49"/>
            <p:cNvSpPr txBox="1"/>
            <p:nvPr/>
          </p:nvSpPr>
          <p:spPr>
            <a:xfrm>
              <a:off x="9452420" y="2767012"/>
              <a:ext cx="189966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父类须确实是子类的一般</a:t>
              </a:r>
              <a:br/>
              <a:r>
                <a:rPr lang="zh-CN" sz="1350" dirty="0">
                  <a:solidFill>
                    <a:srgbClr val="1F2937"/>
                  </a:solidFill>
                  <a:latin typeface="+mn-lt"/>
                  <a:ea typeface="+mn-ea"/>
                  <a:cs typeface="+mn-cs"/>
                </a:rPr>
                <a:t>化</a:t>
              </a:r>
            </a:p>
          </p:txBody>
        </p:sp>
        <p:sp>
          <p:nvSpPr>
            <p:cNvPr id="50" name="Rectangle 50"/>
            <p:cNvSpPr/>
            <p:nvPr/>
          </p:nvSpPr>
          <p:spPr>
            <a:xfrm>
              <a:off x="5598795" y="3315652"/>
              <a:ext cx="6059805" cy="9525"/>
            </a:xfrm>
            <a:prstGeom prst="rect">
              <a:avLst/>
            </a:prstGeom>
            <a:solidFill>
              <a:srgbClr val="D9DFEA"/>
            </a:solidFill>
            <a:ln>
              <a:noFill/>
            </a:ln>
          </p:spPr>
        </p:sp>
        <p:sp>
          <p:nvSpPr>
            <p:cNvPr id="51" name="Rectangle 51"/>
            <p:cNvSpPr/>
            <p:nvPr/>
          </p:nvSpPr>
          <p:spPr>
            <a:xfrm>
              <a:off x="5608320" y="3329940"/>
              <a:ext cx="950595" cy="900112"/>
            </a:xfrm>
            <a:prstGeom prst="rect">
              <a:avLst/>
            </a:prstGeom>
            <a:solidFill>
              <a:srgbClr val="FDEEE7"/>
            </a:solidFill>
            <a:ln>
              <a:noFill/>
            </a:ln>
          </p:spPr>
        </p:sp>
        <p:sp>
          <p:nvSpPr>
            <p:cNvPr id="52" name="TextBox 52"/>
            <p:cNvSpPr txBox="1"/>
            <p:nvPr/>
          </p:nvSpPr>
          <p:spPr>
            <a:xfrm>
              <a:off x="5694807" y="3686175"/>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多态重用</a:t>
              </a:r>
            </a:p>
          </p:txBody>
        </p:sp>
        <p:sp>
          <p:nvSpPr>
            <p:cNvPr id="53" name="TextBox 53"/>
            <p:cNvSpPr txBox="1"/>
            <p:nvPr/>
          </p:nvSpPr>
          <p:spPr>
            <a:xfrm>
              <a:off x="6664452" y="3446145"/>
              <a:ext cx="2414016" cy="74409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子类以不同方式实现同一接口，</a:t>
              </a:r>
              <a:br/>
              <a:r>
                <a:rPr lang="zh-CN" sz="1350" dirty="0">
                  <a:solidFill>
                    <a:srgbClr val="1F2937"/>
                  </a:solidFill>
                  <a:latin typeface="+mn-lt"/>
                  <a:ea typeface="+mn-ea"/>
                  <a:cs typeface="+mn-cs"/>
                </a:rPr>
                <a:t>运行时按对象类型启动正确的方</a:t>
              </a:r>
              <a:br/>
              <a:r>
                <a:rPr lang="zh-CN" sz="1350" dirty="0">
                  <a:solidFill>
                    <a:srgbClr val="1F2937"/>
                  </a:solidFill>
                  <a:latin typeface="+mn-lt"/>
                  <a:ea typeface="+mn-ea"/>
                  <a:cs typeface="+mn-cs"/>
                </a:rPr>
                <a:t>法</a:t>
              </a:r>
            </a:p>
          </p:txBody>
        </p:sp>
        <p:sp>
          <p:nvSpPr>
            <p:cNvPr id="54" name="TextBox 54"/>
            <p:cNvSpPr txBox="1"/>
            <p:nvPr/>
          </p:nvSpPr>
          <p:spPr>
            <a:xfrm>
              <a:off x="9452420" y="3566160"/>
              <a:ext cx="189966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接口要事先设计成一般化</a:t>
              </a:r>
              <a:br/>
              <a:r>
                <a:rPr lang="zh-CN" sz="1350" dirty="0">
                  <a:solidFill>
                    <a:srgbClr val="1F2937"/>
                  </a:solidFill>
                  <a:latin typeface="+mn-lt"/>
                  <a:ea typeface="+mn-ea"/>
                  <a:cs typeface="+mn-cs"/>
                </a:rPr>
                <a:t>的</a:t>
              </a:r>
            </a:p>
          </p:txBody>
        </p:sp>
        <p:sp>
          <p:nvSpPr>
            <p:cNvPr id="55" name="Rectangle 55"/>
            <p:cNvSpPr/>
            <p:nvPr/>
          </p:nvSpPr>
          <p:spPr>
            <a:xfrm>
              <a:off x="5598795" y="1524000"/>
              <a:ext cx="6059805" cy="2715578"/>
            </a:xfrm>
            <a:prstGeom prst="rect">
              <a:avLst/>
            </a:prstGeom>
            <a:noFill/>
            <a:ln w="14288">
              <a:solidFill>
                <a:srgbClr val="D9DFEA"/>
              </a:solidFill>
            </a:ln>
          </p:spPr>
        </p:sp>
        <p:sp>
          <p:nvSpPr>
            <p:cNvPr id="56" name="Rectangle 56"/>
            <p:cNvSpPr/>
            <p:nvPr/>
          </p:nvSpPr>
          <p:spPr>
            <a:xfrm>
              <a:off x="6563678" y="1524000"/>
              <a:ext cx="9525" cy="2715578"/>
            </a:xfrm>
            <a:prstGeom prst="rect">
              <a:avLst/>
            </a:prstGeom>
            <a:solidFill>
              <a:srgbClr val="D9DFEA"/>
            </a:solidFill>
            <a:ln>
              <a:noFill/>
            </a:ln>
          </p:spPr>
        </p:sp>
        <p:sp>
          <p:nvSpPr>
            <p:cNvPr id="57" name="Rectangle 57"/>
            <p:cNvSpPr/>
            <p:nvPr/>
          </p:nvSpPr>
          <p:spPr>
            <a:xfrm>
              <a:off x="9351645" y="1524000"/>
              <a:ext cx="9525" cy="2715578"/>
            </a:xfrm>
            <a:prstGeom prst="rect">
              <a:avLst/>
            </a:prstGeom>
            <a:solidFill>
              <a:srgbClr val="D9DFEA"/>
            </a:solidFill>
            <a:ln>
              <a:noFill/>
            </a:ln>
          </p:spPr>
        </p:sp>
      </p:grpSp>
      <p:grpSp>
        <p:nvGrpSpPr>
          <p:cNvPr id="64" name="c2-card-2"/>
          <p:cNvGrpSpPr/>
          <p:nvPr/>
        </p:nvGrpSpPr>
        <p:grpSpPr>
          <a:xfrm>
            <a:off x="5598795" y="4410075"/>
            <a:ext cx="6059805" cy="1907858"/>
            <a:chOff x="5598795" y="4410075"/>
            <a:chExt cx="6059805" cy="1907858"/>
          </a:xfrm>
        </p:grpSpPr>
        <p:sp>
          <p:nvSpPr>
            <p:cNvPr id="59" name="Rectangle 59"/>
            <p:cNvSpPr/>
            <p:nvPr/>
          </p:nvSpPr>
          <p:spPr>
            <a:xfrm>
              <a:off x="5598795" y="4410075"/>
              <a:ext cx="6059805" cy="1907858"/>
            </a:xfrm>
            <a:prstGeom prst="roundRect">
              <a:avLst>
                <a:gd name="adj" fmla="val 6990"/>
              </a:avLst>
            </a:prstGeom>
            <a:solidFill>
              <a:srgbClr val="334E68"/>
            </a:solidFill>
            <a:ln>
              <a:noFill/>
            </a:ln>
          </p:spPr>
        </p:sp>
        <p:sp>
          <p:nvSpPr>
            <p:cNvPr id="60" name="Rectangle 60"/>
            <p:cNvSpPr/>
            <p:nvPr/>
          </p:nvSpPr>
          <p:spPr>
            <a:xfrm>
              <a:off x="5785485" y="4596765"/>
              <a:ext cx="707708" cy="238125"/>
            </a:xfrm>
            <a:prstGeom prst="roundRect">
              <a:avLst>
                <a:gd name="adj" fmla="val 50000"/>
              </a:avLst>
            </a:prstGeom>
            <a:solidFill>
              <a:srgbClr val="243B53"/>
            </a:solidFill>
            <a:ln>
              <a:noFill/>
            </a:ln>
          </p:spPr>
        </p:sp>
        <p:sp>
          <p:nvSpPr>
            <p:cNvPr id="61" name="TextBox 61"/>
            <p:cNvSpPr txBox="1"/>
            <p:nvPr/>
          </p:nvSpPr>
          <p:spPr>
            <a:xfrm>
              <a:off x="5871007" y="4629626"/>
              <a:ext cx="537616"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多态重用</a:t>
              </a:r>
            </a:p>
          </p:txBody>
        </p:sp>
        <p:sp>
          <p:nvSpPr>
            <p:cNvPr id="62" name="TextBox 62"/>
            <p:cNvSpPr txBox="1"/>
            <p:nvPr/>
          </p:nvSpPr>
          <p:spPr>
            <a:xfrm>
              <a:off x="5778627" y="4940618"/>
              <a:ext cx="53286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多态性使对象的对外接口更加一般化（基类与派生类的许多对外接口相</a:t>
              </a:r>
              <a:br/>
              <a:r>
                <a:rPr lang="zh-CN" sz="1350" dirty="0">
                  <a:solidFill>
                    <a:srgbClr val="FFFFFF"/>
                  </a:solidFill>
                  <a:latin typeface="+mn-lt"/>
                  <a:ea typeface="+mn-ea"/>
                  <a:cs typeface="+mn-cs"/>
                </a:rPr>
                <a:t>同），并提供了一种简便可靠的软构件组合机制。</a:t>
              </a:r>
            </a:p>
          </p:txBody>
        </p:sp>
        <p:sp>
          <p:nvSpPr>
            <p:cNvPr id="63" name="TextBox 63"/>
            <p:cNvSpPr txBox="1"/>
            <p:nvPr/>
          </p:nvSpPr>
          <p:spPr>
            <a:xfrm>
              <a:off x="5778627" y="5497830"/>
              <a:ext cx="53286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系统运行时根据接收消息的对象类型，由多态性机制启动正确的方法，</a:t>
              </a:r>
              <a:br/>
              <a:r>
                <a:rPr lang="zh-CN" sz="1350" dirty="0">
                  <a:solidFill>
                    <a:srgbClr val="FFFFFF"/>
                  </a:solidFill>
                  <a:latin typeface="+mn-lt"/>
                  <a:ea typeface="+mn-ea"/>
                  <a:cs typeface="+mn-cs"/>
                </a:rPr>
                <a:t>去响应一个一般化的消息。</a:t>
              </a:r>
            </a:p>
          </p:txBody>
        </p:sp>
      </p:grpSp>
      <p:grpSp>
        <p:nvGrpSpPr>
          <p:cNvPr id="67" name="footer"/>
          <p:cNvGrpSpPr/>
          <p:nvPr/>
        </p:nvGrpSpPr>
        <p:grpSpPr>
          <a:xfrm>
            <a:off x="528447" y="6581299"/>
            <a:ext cx="11135106" cy="190690"/>
            <a:chOff x="528447" y="6581299"/>
            <a:chExt cx="11135106" cy="190690"/>
          </a:xfrm>
        </p:grpSpPr>
        <p:sp>
          <p:nvSpPr>
            <p:cNvPr id="65" name="TextBox 65"/>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66" name="TextBox 6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32</a:t>
              </a:r>
            </a:p>
          </p:txBody>
        </p:sp>
      </p:grpSp>
    </p:spTree>
  </p:cSld>
  <p:clrMapOvr>
    <a:masterClrMapping/>
  </p:clrMapOvr>
  <p:transition xmlns:p14="http://schemas.microsoft.com/office/powerpoint/2010/main" p14:dur="400">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8951214" cy="909257"/>
            <a:chOff x="520446" y="342900"/>
            <a:chExt cx="8951214" cy="909257"/>
          </a:xfrm>
        </p:grpSpPr>
        <p:sp>
          <p:nvSpPr>
            <p:cNvPr id="2" name="Rectangle 2"/>
            <p:cNvSpPr/>
            <p:nvPr/>
          </p:nvSpPr>
          <p:spPr>
            <a:xfrm>
              <a:off x="533400" y="342900"/>
              <a:ext cx="2354580" cy="266700"/>
            </a:xfrm>
            <a:prstGeom prst="roundRect">
              <a:avLst>
                <a:gd name="adj" fmla="val 50000"/>
              </a:avLst>
            </a:prstGeom>
            <a:solidFill>
              <a:srgbClr val="E7EDF3"/>
            </a:solidFill>
            <a:ln>
              <a:noFill/>
            </a:ln>
          </p:spPr>
        </p:sp>
        <p:sp>
          <p:nvSpPr>
            <p:cNvPr id="3" name="TextBox 3"/>
            <p:cNvSpPr txBox="1"/>
            <p:nvPr/>
          </p:nvSpPr>
          <p:spPr>
            <a:xfrm>
              <a:off x="598479" y="407194"/>
              <a:ext cx="22244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软件重用</a:t>
              </a:r>
            </a:p>
          </p:txBody>
        </p:sp>
        <p:sp>
          <p:nvSpPr>
            <p:cNvPr id="4" name="TextBox 4"/>
            <p:cNvSpPr txBox="1"/>
            <p:nvPr/>
          </p:nvSpPr>
          <p:spPr>
            <a:xfrm>
              <a:off x="520446" y="753428"/>
              <a:ext cx="895121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重用的效益：质量、生产率，以及一个算得出来的成本节省</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7" name="c1-bullets-1"/>
          <p:cNvGrpSpPr/>
          <p:nvPr/>
        </p:nvGrpSpPr>
        <p:grpSpPr>
          <a:xfrm>
            <a:off x="526161" y="1547336"/>
            <a:ext cx="5282780" cy="1539812"/>
            <a:chOff x="526161" y="1547336"/>
            <a:chExt cx="5282780" cy="1539812"/>
          </a:xfrm>
        </p:grpSpPr>
        <p:sp>
          <p:nvSpPr>
            <p:cNvPr id="7" name="TextBox 7"/>
            <p:cNvSpPr txBox="1"/>
            <p:nvPr/>
          </p:nvSpPr>
          <p:spPr>
            <a:xfrm>
              <a:off x="526161" y="1547336"/>
              <a:ext cx="970280"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三方面效益</a:t>
              </a:r>
            </a:p>
          </p:txBody>
        </p:sp>
        <p:sp>
          <p:nvSpPr>
            <p:cNvPr id="8" name="Ellipse 8"/>
            <p:cNvSpPr/>
            <p:nvPr/>
          </p:nvSpPr>
          <p:spPr>
            <a:xfrm>
              <a:off x="533400" y="1870710"/>
              <a:ext cx="201930" cy="201930"/>
            </a:xfrm>
            <a:prstGeom prst="ellipse">
              <a:avLst/>
            </a:prstGeom>
            <a:solidFill>
              <a:srgbClr val="334E68"/>
            </a:solidFill>
            <a:ln>
              <a:noFill/>
            </a:ln>
          </p:spPr>
        </p:sp>
        <p:sp>
          <p:nvSpPr>
            <p:cNvPr id="9" name="TextBox 9"/>
            <p:cNvSpPr txBox="1"/>
            <p:nvPr/>
          </p:nvSpPr>
          <p:spPr>
            <a:xfrm>
              <a:off x="591745" y="191104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10" name="TextBox 10"/>
            <p:cNvSpPr txBox="1"/>
            <p:nvPr/>
          </p:nvSpPr>
          <p:spPr>
            <a:xfrm>
              <a:off x="824293" y="1883569"/>
              <a:ext cx="488365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质量：被重用的构件经过多次使用和修正，缺陷密度低于新写</a:t>
              </a:r>
              <a:br/>
              <a:r>
                <a:rPr lang="zh-CN" sz="1420" dirty="0">
                  <a:solidFill>
                    <a:srgbClr val="1F2937"/>
                  </a:solidFill>
                  <a:latin typeface="+mn-lt"/>
                  <a:ea typeface="+mn-ea"/>
                  <a:cs typeface="+mn-cs"/>
                </a:rPr>
                <a:t>的代码</a:t>
              </a:r>
            </a:p>
          </p:txBody>
        </p:sp>
        <p:sp>
          <p:nvSpPr>
            <p:cNvPr id="11" name="Ellipse 11"/>
            <p:cNvSpPr/>
            <p:nvPr/>
          </p:nvSpPr>
          <p:spPr>
            <a:xfrm>
              <a:off x="533400" y="2468880"/>
              <a:ext cx="201930" cy="201930"/>
            </a:xfrm>
            <a:prstGeom prst="ellipse">
              <a:avLst/>
            </a:prstGeom>
            <a:solidFill>
              <a:srgbClr val="334E68"/>
            </a:solidFill>
            <a:ln>
              <a:noFill/>
            </a:ln>
          </p:spPr>
        </p:sp>
        <p:sp>
          <p:nvSpPr>
            <p:cNvPr id="12" name="TextBox 12"/>
            <p:cNvSpPr txBox="1"/>
            <p:nvPr/>
          </p:nvSpPr>
          <p:spPr>
            <a:xfrm>
              <a:off x="591745" y="250921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13" name="TextBox 13"/>
            <p:cNvSpPr txBox="1"/>
            <p:nvPr/>
          </p:nvSpPr>
          <p:spPr>
            <a:xfrm>
              <a:off x="824293" y="2481739"/>
              <a:ext cx="4984648"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生产率：能直接拿来用的部分越多，需要新写的代码就越少</a:t>
              </a:r>
            </a:p>
          </p:txBody>
        </p:sp>
        <p:sp>
          <p:nvSpPr>
            <p:cNvPr id="14" name="Ellipse 14"/>
            <p:cNvSpPr/>
            <p:nvPr/>
          </p:nvSpPr>
          <p:spPr>
            <a:xfrm>
              <a:off x="533400" y="2795588"/>
              <a:ext cx="201930" cy="201930"/>
            </a:xfrm>
            <a:prstGeom prst="ellipse">
              <a:avLst/>
            </a:prstGeom>
            <a:solidFill>
              <a:srgbClr val="334E68"/>
            </a:solidFill>
            <a:ln>
              <a:noFill/>
            </a:ln>
          </p:spPr>
        </p:sp>
        <p:sp>
          <p:nvSpPr>
            <p:cNvPr id="15" name="TextBox 15"/>
            <p:cNvSpPr txBox="1"/>
            <p:nvPr/>
          </p:nvSpPr>
          <p:spPr>
            <a:xfrm>
              <a:off x="591745" y="2835926"/>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3</a:t>
              </a:r>
            </a:p>
          </p:txBody>
        </p:sp>
        <p:sp>
          <p:nvSpPr>
            <p:cNvPr id="16" name="TextBox 16"/>
            <p:cNvSpPr txBox="1"/>
            <p:nvPr/>
          </p:nvSpPr>
          <p:spPr>
            <a:xfrm>
              <a:off x="824293" y="2808446"/>
              <a:ext cx="3837686"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成本：用下面的公式估算重用带来的成本节省</a:t>
              </a:r>
            </a:p>
          </p:txBody>
        </p:sp>
      </p:grpSp>
      <mc:AlternateContent xmlns:mc="http://schemas.openxmlformats.org/markup-compatibility/2006">
        <mc:Choice xmlns:a14="http://schemas.microsoft.com/office/drawing/2010/main" Requires="a14">
          <p:sp>
            <p:nvSpPr>
              <p:cNvPr id="18" name="formula23"/>
              <p:cNvSpPr txBox="1">
                <a:spLocks noGrp="1"/>
              </p:cNvSpPr>
              <p:nvPr/>
            </p:nvSpPr>
            <p:spPr>
              <a:xfrm>
                <a:off x="533400" y="3210878"/>
                <a:ext cx="5410200" cy="4572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800" dirty="0">
                          <a:solidFill>
                            <a:srgbClr val="1F2937"/>
                          </a:solidFill>
                          <a:latin typeface="Cambria Math"/>
                          <a:ea typeface="Cambria Math"/>
                          <a:cs typeface="Cambria Math"/>
                        </a:rPr>
                        <m:t>C</m:t>
                      </m:r>
                      <m:r>
                        <m:rPr>
                          <m:sty m:val="p"/>
                        </m:rPr>
                        <a:rPr lang="zh-CN" sz="1800" dirty="0">
                          <a:solidFill>
                            <a:srgbClr val="1F2937"/>
                          </a:solidFill>
                          <a:latin typeface="Cambria Math"/>
                          <a:ea typeface="Cambria Math"/>
                          <a:cs typeface="Cambria Math"/>
                        </a:rPr>
                        <m:t>=</m:t>
                      </m:r>
                      <m:sSub>
                        <m:e>
                          <m:r>
                            <a:rPr lang="zh-CN" sz="1800" dirty="0">
                              <a:solidFill>
                                <a:srgbClr val="1F2937"/>
                              </a:solidFill>
                              <a:latin typeface="Cambria Math"/>
                              <a:ea typeface="Cambria Math"/>
                              <a:cs typeface="Cambria Math"/>
                            </a:rPr>
                            <m:t>C</m:t>
                          </m:r>
                        </m:e>
                        <m:sub>
                          <m:r>
                            <a:rPr lang="zh-CN" sz="1800" dirty="0">
                              <a:solidFill>
                                <a:srgbClr val="1F2937"/>
                              </a:solidFill>
                              <a:latin typeface="Cambria Math"/>
                              <a:ea typeface="Cambria Math"/>
                              <a:cs typeface="Cambria Math"/>
                            </a:rPr>
                            <m:t>s</m:t>
                          </m:r>
                        </m:sub>
                      </m:sSub>
                      <m:r>
                        <m:rPr>
                          <m:sty m:val="p"/>
                        </m:rPr>
                        <a:rPr lang="zh-CN" sz="1800" dirty="0">
                          <a:solidFill>
                            <a:srgbClr val="1F2937"/>
                          </a:solidFill>
                          <a:latin typeface="Cambria Math"/>
                          <a:ea typeface="Cambria Math"/>
                          <a:cs typeface="Cambria Math"/>
                        </a:rPr>
                        <m:t>−</m:t>
                      </m:r>
                      <m:sSub>
                        <m:e>
                          <m:r>
                            <a:rPr lang="zh-CN" sz="1800" dirty="0">
                              <a:solidFill>
                                <a:srgbClr val="1F2937"/>
                              </a:solidFill>
                              <a:latin typeface="Cambria Math"/>
                              <a:ea typeface="Cambria Math"/>
                              <a:cs typeface="Cambria Math"/>
                            </a:rPr>
                            <m:t>C</m:t>
                          </m:r>
                        </m:e>
                        <m:sub>
                          <m:r>
                            <a:rPr lang="zh-CN" sz="1800" dirty="0">
                              <a:solidFill>
                                <a:srgbClr val="1F2937"/>
                              </a:solidFill>
                              <a:latin typeface="Cambria Math"/>
                              <a:ea typeface="Cambria Math"/>
                              <a:cs typeface="Cambria Math"/>
                            </a:rPr>
                            <m:t>r</m:t>
                          </m:r>
                        </m:sub>
                      </m:sSub>
                      <m:r>
                        <m:rPr>
                          <m:sty m:val="p"/>
                        </m:rPr>
                        <a:rPr lang="zh-CN" sz="1800" dirty="0">
                          <a:solidFill>
                            <a:srgbClr val="1F2937"/>
                          </a:solidFill>
                          <a:latin typeface="Cambria Math"/>
                          <a:ea typeface="Cambria Math"/>
                          <a:cs typeface="Cambria Math"/>
                        </a:rPr>
                        <m:t>−</m:t>
                      </m:r>
                      <m:sSub>
                        <m:e>
                          <m:r>
                            <a:rPr lang="zh-CN" sz="1800" dirty="0">
                              <a:solidFill>
                                <a:srgbClr val="1F2937"/>
                              </a:solidFill>
                              <a:latin typeface="Cambria Math"/>
                              <a:ea typeface="Cambria Math"/>
                              <a:cs typeface="Cambria Math"/>
                            </a:rPr>
                            <m:t>C</m:t>
                          </m:r>
                        </m:e>
                        <m:sub>
                          <m:r>
                            <a:rPr lang="zh-CN" sz="1800" dirty="0">
                              <a:solidFill>
                                <a:srgbClr val="1F2937"/>
                              </a:solidFill>
                              <a:latin typeface="Cambria Math"/>
                              <a:ea typeface="Cambria Math"/>
                              <a:cs typeface="Cambria Math"/>
                            </a:rPr>
                            <m:t>d</m:t>
                          </m:r>
                        </m:sub>
                      </m:sSub>
                    </m:oMath>
                  </m:oMathPara>
                </a14:m>
              </a:p>
            </p:txBody>
          </p:sp>
        </mc:Choice>
      </mc:AlternateContent>
      <p:grpSp>
        <p:nvGrpSpPr>
          <p:cNvPr id="30" name="c1-kv-3"/>
          <p:cNvGrpSpPr/>
          <p:nvPr/>
        </p:nvGrpSpPr>
        <p:grpSpPr>
          <a:xfrm>
            <a:off x="526161" y="3871436"/>
            <a:ext cx="5417439" cy="1796035"/>
            <a:chOff x="526161" y="3871436"/>
            <a:chExt cx="5417439" cy="1796035"/>
          </a:xfrm>
        </p:grpSpPr>
        <p:sp>
          <p:nvSpPr>
            <p:cNvPr id="19" name="TextBox 19"/>
            <p:cNvSpPr txBox="1"/>
            <p:nvPr/>
          </p:nvSpPr>
          <p:spPr>
            <a:xfrm>
              <a:off x="526161" y="3871436"/>
              <a:ext cx="241517" cy="278702"/>
            </a:xfrm>
            <a:prstGeom prst="rect">
              <a:avLst/>
            </a:prstGeom>
            <a:noFill/>
            <a:ln>
              <a:noFill/>
            </a:ln>
          </p:spPr>
          <p:txBody>
            <a:bodyPr wrap="none" lIns="0" tIns="0" rIns="0" bIns="0" anchor="t" anchorCtr="0">
              <a:spAutoFit/>
            </a:bodyPr>
            <a:lstStyle/>
            <a:p>
              <a:pPr algn="l"/>
              <a:r>
                <a:rPr lang="en-US" sz="1420" b="1" dirty="0">
                  <a:solidFill>
                    <a:srgbClr val="334E68"/>
                  </a:solidFill>
                  <a:latin typeface="+mn-lt"/>
                  <a:ea typeface="+mn-ea"/>
                  <a:cs typeface="+mn-cs"/>
                </a:rPr>
                <a:t>Cs</a:t>
              </a:r>
            </a:p>
          </p:txBody>
        </p:sp>
        <p:sp>
          <p:nvSpPr>
            <p:cNvPr id="20" name="TextBox 20"/>
            <p:cNvSpPr txBox="1"/>
            <p:nvPr/>
          </p:nvSpPr>
          <p:spPr>
            <a:xfrm>
              <a:off x="990981" y="3871436"/>
              <a:ext cx="3646526"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项目从头开发（没有重用）时所需要的成本</a:t>
              </a:r>
            </a:p>
          </p:txBody>
        </p:sp>
        <p:sp>
          <p:nvSpPr>
            <p:cNvPr id="21" name="Rectangle 21"/>
            <p:cNvSpPr/>
            <p:nvPr/>
          </p:nvSpPr>
          <p:spPr>
            <a:xfrm>
              <a:off x="533400" y="4174808"/>
              <a:ext cx="5410200" cy="9525"/>
            </a:xfrm>
            <a:prstGeom prst="rect">
              <a:avLst/>
            </a:prstGeom>
            <a:solidFill>
              <a:srgbClr val="D9DFEA"/>
            </a:solidFill>
            <a:ln>
              <a:noFill/>
            </a:ln>
          </p:spPr>
        </p:sp>
        <p:sp>
          <p:nvSpPr>
            <p:cNvPr id="22" name="TextBox 22"/>
            <p:cNvSpPr txBox="1"/>
            <p:nvPr/>
          </p:nvSpPr>
          <p:spPr>
            <a:xfrm>
              <a:off x="526161" y="4287679"/>
              <a:ext cx="241517" cy="278702"/>
            </a:xfrm>
            <a:prstGeom prst="rect">
              <a:avLst/>
            </a:prstGeom>
            <a:noFill/>
            <a:ln>
              <a:noFill/>
            </a:ln>
          </p:spPr>
          <p:txBody>
            <a:bodyPr wrap="none" lIns="0" tIns="0" rIns="0" bIns="0" anchor="t" anchorCtr="0">
              <a:spAutoFit/>
            </a:bodyPr>
            <a:lstStyle/>
            <a:p>
              <a:pPr algn="l"/>
              <a:r>
                <a:rPr lang="en-US" sz="1420" b="1" dirty="0">
                  <a:solidFill>
                    <a:srgbClr val="334E68"/>
                  </a:solidFill>
                  <a:latin typeface="+mn-lt"/>
                  <a:ea typeface="+mn-ea"/>
                  <a:cs typeface="+mn-cs"/>
                </a:rPr>
                <a:t>Cr</a:t>
              </a:r>
            </a:p>
          </p:txBody>
        </p:sp>
        <p:sp>
          <p:nvSpPr>
            <p:cNvPr id="23" name="TextBox 23"/>
            <p:cNvSpPr txBox="1"/>
            <p:nvPr/>
          </p:nvSpPr>
          <p:spPr>
            <a:xfrm>
              <a:off x="990981" y="4287679"/>
              <a:ext cx="4522978" cy="546354"/>
            </a:xfrm>
            <a:prstGeom prst="rect">
              <a:avLst/>
            </a:prstGeom>
            <a:noFill/>
            <a:ln>
              <a:noFill/>
            </a:ln>
          </p:spPr>
          <p:txBody>
            <a:bodyPr wrap="none" lIns="0" tIns="0" rIns="0" bIns="0" anchor="t" anchorCtr="0">
              <a:spAutoFit/>
            </a:bodyPr>
            <a:lstStyle/>
            <a:p>
              <a:pPr algn="l">
                <a:lnSpc>
                  <a:spcPts val="2108"/>
                </a:lnSpc>
              </a:pPr>
              <a:r>
                <a:rPr lang="zh-CN" sz="1420" dirty="0">
                  <a:solidFill>
                    <a:srgbClr val="1F2937"/>
                  </a:solidFill>
                  <a:latin typeface="+mn-lt"/>
                  <a:ea typeface="+mn-ea"/>
                  <a:cs typeface="+mn-cs"/>
                </a:rPr>
                <a:t>与重用相关联的成本，包括查找、评估、改造和集成可重</a:t>
              </a:r>
              <a:br/>
              <a:r>
                <a:rPr lang="zh-CN" sz="1420" dirty="0">
                  <a:solidFill>
                    <a:srgbClr val="1F2937"/>
                  </a:solidFill>
                  <a:latin typeface="+mn-lt"/>
                  <a:ea typeface="+mn-ea"/>
                  <a:cs typeface="+mn-cs"/>
                </a:rPr>
                <a:t>用构件</a:t>
              </a:r>
            </a:p>
          </p:txBody>
        </p:sp>
        <p:sp>
          <p:nvSpPr>
            <p:cNvPr id="24" name="Rectangle 24"/>
            <p:cNvSpPr/>
            <p:nvPr/>
          </p:nvSpPr>
          <p:spPr>
            <a:xfrm>
              <a:off x="533400" y="4858702"/>
              <a:ext cx="5410200" cy="9525"/>
            </a:xfrm>
            <a:prstGeom prst="rect">
              <a:avLst/>
            </a:prstGeom>
            <a:solidFill>
              <a:srgbClr val="D9DFEA"/>
            </a:solidFill>
            <a:ln>
              <a:noFill/>
            </a:ln>
          </p:spPr>
        </p:sp>
        <p:sp>
          <p:nvSpPr>
            <p:cNvPr id="25" name="TextBox 25"/>
            <p:cNvSpPr txBox="1"/>
            <p:nvPr/>
          </p:nvSpPr>
          <p:spPr>
            <a:xfrm>
              <a:off x="526161" y="4972526"/>
              <a:ext cx="241517" cy="278702"/>
            </a:xfrm>
            <a:prstGeom prst="rect">
              <a:avLst/>
            </a:prstGeom>
            <a:noFill/>
            <a:ln>
              <a:noFill/>
            </a:ln>
          </p:spPr>
          <p:txBody>
            <a:bodyPr wrap="none" lIns="0" tIns="0" rIns="0" bIns="0" anchor="t" anchorCtr="0">
              <a:spAutoFit/>
            </a:bodyPr>
            <a:lstStyle/>
            <a:p>
              <a:pPr algn="l"/>
              <a:r>
                <a:rPr lang="en-US" sz="1420" b="1" dirty="0">
                  <a:solidFill>
                    <a:srgbClr val="334E68"/>
                  </a:solidFill>
                  <a:latin typeface="+mn-lt"/>
                  <a:ea typeface="+mn-ea"/>
                  <a:cs typeface="+mn-cs"/>
                </a:rPr>
                <a:t>Cd</a:t>
              </a:r>
            </a:p>
          </p:txBody>
        </p:sp>
        <p:sp>
          <p:nvSpPr>
            <p:cNvPr id="26" name="TextBox 26"/>
            <p:cNvSpPr txBox="1"/>
            <p:nvPr/>
          </p:nvSpPr>
          <p:spPr>
            <a:xfrm>
              <a:off x="990981" y="4972526"/>
              <a:ext cx="2499563"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交付给客户的软件的实际成本</a:t>
              </a:r>
            </a:p>
          </p:txBody>
        </p:sp>
        <p:sp>
          <p:nvSpPr>
            <p:cNvPr id="27" name="Rectangle 27"/>
            <p:cNvSpPr/>
            <p:nvPr/>
          </p:nvSpPr>
          <p:spPr>
            <a:xfrm>
              <a:off x="533400" y="5274945"/>
              <a:ext cx="5410200" cy="9525"/>
            </a:xfrm>
            <a:prstGeom prst="rect">
              <a:avLst/>
            </a:prstGeom>
            <a:solidFill>
              <a:srgbClr val="D9DFEA"/>
            </a:solidFill>
            <a:ln>
              <a:noFill/>
            </a:ln>
          </p:spPr>
        </p:sp>
        <p:sp>
          <p:nvSpPr>
            <p:cNvPr id="28" name="TextBox 28"/>
            <p:cNvSpPr txBox="1"/>
            <p:nvPr/>
          </p:nvSpPr>
          <p:spPr>
            <a:xfrm>
              <a:off x="526161" y="5388769"/>
              <a:ext cx="131122" cy="278702"/>
            </a:xfrm>
            <a:prstGeom prst="rect">
              <a:avLst/>
            </a:prstGeom>
            <a:noFill/>
            <a:ln>
              <a:noFill/>
            </a:ln>
          </p:spPr>
          <p:txBody>
            <a:bodyPr wrap="none" lIns="0" tIns="0" rIns="0" bIns="0" anchor="t" anchorCtr="0">
              <a:spAutoFit/>
            </a:bodyPr>
            <a:lstStyle/>
            <a:p>
              <a:pPr algn="l"/>
              <a:r>
                <a:rPr lang="en-US" sz="1420" b="1" dirty="0">
                  <a:solidFill>
                    <a:srgbClr val="334E68"/>
                  </a:solidFill>
                  <a:latin typeface="+mn-lt"/>
                  <a:ea typeface="+mn-ea"/>
                  <a:cs typeface="+mn-cs"/>
                </a:rPr>
                <a:t>C</a:t>
              </a:r>
            </a:p>
          </p:txBody>
        </p:sp>
        <p:sp>
          <p:nvSpPr>
            <p:cNvPr id="29" name="TextBox 29"/>
            <p:cNvSpPr txBox="1"/>
            <p:nvPr/>
          </p:nvSpPr>
          <p:spPr>
            <a:xfrm>
              <a:off x="990981" y="5388769"/>
              <a:ext cx="2499563"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采用重用之后节省下来的成本</a:t>
              </a:r>
            </a:p>
          </p:txBody>
        </p:sp>
      </p:grpSp>
      <p:grpSp>
        <p:nvGrpSpPr>
          <p:cNvPr id="39" name="c2-card-1"/>
          <p:cNvGrpSpPr/>
          <p:nvPr/>
        </p:nvGrpSpPr>
        <p:grpSpPr>
          <a:xfrm>
            <a:off x="6248400" y="1524000"/>
            <a:ext cx="5410200" cy="1865948"/>
            <a:chOff x="6248400" y="1524000"/>
            <a:chExt cx="5410200" cy="1865948"/>
          </a:xfrm>
        </p:grpSpPr>
        <p:sp>
          <p:nvSpPr>
            <p:cNvPr id="31" name="Rectangle 31"/>
            <p:cNvSpPr/>
            <p:nvPr/>
          </p:nvSpPr>
          <p:spPr>
            <a:xfrm>
              <a:off x="6248400" y="1524000"/>
              <a:ext cx="5410200" cy="1865948"/>
            </a:xfrm>
            <a:prstGeom prst="roundRect">
              <a:avLst>
                <a:gd name="adj" fmla="val 7147"/>
              </a:avLst>
            </a:prstGeom>
            <a:solidFill>
              <a:srgbClr val="FFFFFF"/>
            </a:solidFill>
            <a:ln w="14288">
              <a:solidFill>
                <a:srgbClr val="D9DFEA"/>
              </a:solidFill>
            </a:ln>
          </p:spPr>
        </p:sp>
        <p:sp>
          <p:nvSpPr>
            <p:cNvPr id="32" name="Rectangle 32"/>
            <p:cNvSpPr/>
            <p:nvPr/>
          </p:nvSpPr>
          <p:spPr>
            <a:xfrm>
              <a:off x="6257925" y="1657350"/>
              <a:ext cx="47625" cy="1599248"/>
            </a:xfrm>
            <a:prstGeom prst="roundRect">
              <a:avLst>
                <a:gd name="adj" fmla="val 50000"/>
              </a:avLst>
            </a:prstGeom>
            <a:solidFill>
              <a:srgbClr val="14A38B"/>
            </a:solidFill>
            <a:ln>
              <a:noFill/>
            </a:ln>
          </p:spPr>
        </p:sp>
        <p:sp>
          <p:nvSpPr>
            <p:cNvPr id="33" name="Rectangle 33"/>
            <p:cNvSpPr/>
            <p:nvPr/>
          </p:nvSpPr>
          <p:spPr>
            <a:xfrm>
              <a:off x="6484620" y="1722120"/>
              <a:ext cx="476250" cy="247650"/>
            </a:xfrm>
            <a:prstGeom prst="roundRect">
              <a:avLst>
                <a:gd name="adj" fmla="val 50000"/>
              </a:avLst>
            </a:prstGeom>
            <a:solidFill>
              <a:srgbClr val="E3F5F1"/>
            </a:solidFill>
            <a:ln>
              <a:noFill/>
            </a:ln>
          </p:spPr>
        </p:sp>
        <p:sp>
          <p:nvSpPr>
            <p:cNvPr id="34" name="TextBox 34"/>
            <p:cNvSpPr txBox="1"/>
            <p:nvPr/>
          </p:nvSpPr>
          <p:spPr>
            <a:xfrm>
              <a:off x="6576060" y="1756410"/>
              <a:ext cx="293370"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算例</a:t>
              </a:r>
            </a:p>
          </p:txBody>
        </p:sp>
        <p:sp>
          <p:nvSpPr>
            <p:cNvPr id="35" name="TextBox 35"/>
            <p:cNvSpPr txBox="1"/>
            <p:nvPr/>
          </p:nvSpPr>
          <p:spPr>
            <a:xfrm>
              <a:off x="7067931" y="1756886"/>
              <a:ext cx="1804217"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一个 120 人月的项目</a:t>
              </a:r>
            </a:p>
          </p:txBody>
        </p:sp>
        <p:sp>
          <p:nvSpPr>
            <p:cNvPr id="36" name="TextBox 36"/>
            <p:cNvSpPr txBox="1"/>
            <p:nvPr/>
          </p:nvSpPr>
          <p:spPr>
            <a:xfrm>
              <a:off x="6477381" y="2100739"/>
              <a:ext cx="479348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从头开发估计 Cs = 120 人月；引入构件库后，查找、评估、</a:t>
              </a:r>
              <a:br/>
              <a:r>
                <a:rPr lang="zh-CN" sz="1420" dirty="0">
                  <a:solidFill>
                    <a:srgbClr val="1F2937"/>
                  </a:solidFill>
                  <a:latin typeface="+mn-lt"/>
                  <a:ea typeface="+mn-ea"/>
                  <a:cs typeface="+mn-cs"/>
                </a:rPr>
                <a:t>改造构件花掉 Cr = 15 人月，实际交付成本 Cd = 75 人月。</a:t>
              </a:r>
            </a:p>
          </p:txBody>
        </p:sp>
        <p:sp>
          <p:nvSpPr>
            <p:cNvPr id="37" name="TextBox 37"/>
            <p:cNvSpPr txBox="1"/>
            <p:nvPr/>
          </p:nvSpPr>
          <p:spPr>
            <a:xfrm>
              <a:off x="6477381" y="2690336"/>
              <a:ext cx="4627070" cy="278702"/>
            </a:xfrm>
            <a:prstGeom prst="rect">
              <a:avLst/>
            </a:prstGeom>
            <a:noFill/>
            <a:ln>
              <a:noFill/>
            </a:ln>
          </p:spPr>
          <p:txBody>
            <a:bodyPr wrap="none" lIns="0" tIns="0" rIns="0" bIns="0" anchor="t" anchorCtr="0">
              <a:spAutoFit/>
            </a:bodyPr>
            <a:lstStyle/>
            <a:p>
              <a:pPr algn="l"/>
              <a:r>
                <a:rPr lang="en-US" sz="1420" dirty="0">
                  <a:solidFill>
                    <a:srgbClr val="1F2937"/>
                  </a:solidFill>
                  <a:latin typeface="+mn-lt"/>
                  <a:ea typeface="+mn-ea"/>
                  <a:cs typeface="+mn-cs"/>
                </a:rPr>
                <a:t xml:space="preserve">C = 120 − 15 − 75 = </a:t>
              </a:r>
              <a:r>
                <a:rPr lang="zh-CN" sz="1420" b="1" dirty="0">
                  <a:solidFill>
                    <a:srgbClr val="C2410C"/>
                  </a:solidFill>
                  <a:latin typeface="+mn-lt"/>
                  <a:ea typeface="+mn-ea"/>
                  <a:cs typeface="+mn-cs"/>
                </a:rPr>
                <a:t>30 人月</a:t>
              </a:r>
              <a:r>
                <a:rPr lang="zh-CN" sz="1420" dirty="0">
                  <a:solidFill>
                    <a:srgbClr val="1F2937"/>
                  </a:solidFill>
                  <a:latin typeface="+mn-lt"/>
                  <a:ea typeface="+mn-ea"/>
                  <a:cs typeface="+mn-cs"/>
                </a:rPr>
                <a:t>，相当于原估算的 25%。</a:t>
              </a:r>
            </a:p>
          </p:txBody>
        </p:sp>
        <p:sp>
          <p:nvSpPr>
            <p:cNvPr id="38" name="TextBox 38"/>
            <p:cNvSpPr txBox="1"/>
            <p:nvPr/>
          </p:nvSpPr>
          <p:spPr>
            <a:xfrm>
              <a:off x="6478524" y="3004185"/>
              <a:ext cx="4831690" cy="234696"/>
            </a:xfrm>
            <a:prstGeom prst="rect">
              <a:avLst/>
            </a:prstGeom>
            <a:noFill/>
            <a:ln>
              <a:noFill/>
            </a:ln>
          </p:spPr>
          <p:txBody>
            <a:bodyPr wrap="none" lIns="0" tIns="0" rIns="0" bIns="0" anchor="t" anchorCtr="0">
              <a:spAutoFit/>
            </a:bodyPr>
            <a:lstStyle/>
            <a:p>
              <a:pPr algn="l"/>
              <a:r>
                <a:rPr lang="zh-CN" sz="1200" dirty="0">
                  <a:solidFill>
                    <a:srgbClr val="5B6475"/>
                  </a:solidFill>
                  <a:latin typeface="+mn-lt"/>
                  <a:ea typeface="+mn-ea"/>
                  <a:cs typeface="+mn-cs"/>
                </a:rPr>
                <a:t>若构件改造量很大，Cr 涨到 45 人月，则 C = 0，重用就不划算了。</a:t>
              </a:r>
            </a:p>
          </p:txBody>
        </p:sp>
      </p:grpSp>
      <p:grpSp>
        <p:nvGrpSpPr>
          <p:cNvPr id="46" name="c2-callout-2"/>
          <p:cNvGrpSpPr/>
          <p:nvPr/>
        </p:nvGrpSpPr>
        <p:grpSpPr>
          <a:xfrm>
            <a:off x="6248400" y="3569970"/>
            <a:ext cx="5410200" cy="756285"/>
            <a:chOff x="6248400" y="3569970"/>
            <a:chExt cx="5410200" cy="756285"/>
          </a:xfrm>
        </p:grpSpPr>
        <p:sp>
          <p:nvSpPr>
            <p:cNvPr id="40" name="Rectangle 40"/>
            <p:cNvSpPr/>
            <p:nvPr/>
          </p:nvSpPr>
          <p:spPr>
            <a:xfrm>
              <a:off x="6248400" y="3569970"/>
              <a:ext cx="5410200" cy="756285"/>
            </a:xfrm>
            <a:prstGeom prst="roundRect">
              <a:avLst>
                <a:gd name="adj" fmla="val 15113"/>
              </a:avLst>
            </a:prstGeom>
            <a:solidFill>
              <a:srgbClr val="FDECEA"/>
            </a:solidFill>
            <a:ln>
              <a:noFill/>
            </a:ln>
          </p:spPr>
        </p:sp>
        <p:grpSp>
          <p:nvGrpSpPr>
            <p:cNvPr id="44" name="Group 44"/>
            <p:cNvGrpSpPr/>
            <p:nvPr/>
          </p:nvGrpSpPr>
          <p:grpSpPr>
            <a:xfrm>
              <a:off x="6441129" y="3844408"/>
              <a:ext cx="224134" cy="192560"/>
              <a:chOff x="6441129" y="3844408"/>
              <a:chExt cx="224134" cy="192560"/>
            </a:xfrm>
          </p:grpSpPr>
          <p:sp>
            <p:nvSpPr>
              <p:cNvPr id="41" name="Freeform 41"/>
              <p:cNvSpPr/>
              <p:nvPr/>
            </p:nvSpPr>
            <p:spPr>
              <a:xfrm>
                <a:off x="6553200" y="3914775"/>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42" name="Freeform 42"/>
              <p:cNvSpPr/>
              <p:nvPr/>
            </p:nvSpPr>
            <p:spPr>
              <a:xfrm>
                <a:off x="6441129" y="3844408"/>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43" name="Freeform 43"/>
              <p:cNvSpPr/>
              <p:nvPr/>
            </p:nvSpPr>
            <p:spPr>
              <a:xfrm>
                <a:off x="6553200" y="3992563"/>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45" name="TextBox 45"/>
            <p:cNvSpPr txBox="1"/>
            <p:nvPr/>
          </p:nvSpPr>
          <p:spPr>
            <a:xfrm>
              <a:off x="6755511" y="3717131"/>
              <a:ext cx="4414774"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B42318"/>
                  </a:solidFill>
                  <a:latin typeface="+mn-lt"/>
                  <a:ea typeface="+mn-ea"/>
                  <a:cs typeface="+mn-cs"/>
                </a:rPr>
                <a:t>Cr 决定重用划不划算：找构件、读懂构件、改构件的时</a:t>
              </a:r>
              <a:br/>
              <a:r>
                <a:rPr lang="zh-CN" sz="1420" dirty="0">
                  <a:solidFill>
                    <a:srgbClr val="B42318"/>
                  </a:solidFill>
                  <a:latin typeface="+mn-lt"/>
                  <a:ea typeface="+mn-ea"/>
                  <a:cs typeface="+mn-cs"/>
                </a:rPr>
                <a:t>间都算在里面。</a:t>
              </a:r>
            </a:p>
          </p:txBody>
        </p:sp>
      </p:grpSp>
      <p:grpSp>
        <p:nvGrpSpPr>
          <p:cNvPr id="53" name="c2-callout-3"/>
          <p:cNvGrpSpPr/>
          <p:nvPr/>
        </p:nvGrpSpPr>
        <p:grpSpPr>
          <a:xfrm>
            <a:off x="6248400" y="4506278"/>
            <a:ext cx="5410200" cy="1104900"/>
            <a:chOff x="6248400" y="4506278"/>
            <a:chExt cx="5410200" cy="1104900"/>
          </a:xfrm>
        </p:grpSpPr>
        <p:sp>
          <p:nvSpPr>
            <p:cNvPr id="47" name="Rectangle 47"/>
            <p:cNvSpPr/>
            <p:nvPr/>
          </p:nvSpPr>
          <p:spPr>
            <a:xfrm>
              <a:off x="6248400" y="4506278"/>
              <a:ext cx="5410200" cy="1104900"/>
            </a:xfrm>
            <a:prstGeom prst="roundRect">
              <a:avLst>
                <a:gd name="adj" fmla="val 10345"/>
              </a:avLst>
            </a:prstGeom>
            <a:solidFill>
              <a:srgbClr val="F4F6FB"/>
            </a:solidFill>
            <a:ln>
              <a:noFill/>
            </a:ln>
          </p:spPr>
        </p:sp>
        <p:grpSp>
          <p:nvGrpSpPr>
            <p:cNvPr id="51" name="Group 51"/>
            <p:cNvGrpSpPr/>
            <p:nvPr/>
          </p:nvGrpSpPr>
          <p:grpSpPr>
            <a:xfrm>
              <a:off x="6453188" y="4958715"/>
              <a:ext cx="200026" cy="200026"/>
              <a:chOff x="6453188" y="4958715"/>
              <a:chExt cx="200026" cy="200026"/>
            </a:xfrm>
          </p:grpSpPr>
          <p:sp>
            <p:nvSpPr>
              <p:cNvPr id="48" name="Freeform 48"/>
              <p:cNvSpPr/>
              <p:nvPr/>
            </p:nvSpPr>
            <p:spPr>
              <a:xfrm>
                <a:off x="6453188" y="495871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49" name="Freeform 49"/>
              <p:cNvSpPr/>
              <p:nvPr/>
            </p:nvSpPr>
            <p:spPr>
              <a:xfrm>
                <a:off x="6553200" y="502539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0" name="Freeform 50"/>
              <p:cNvSpPr/>
              <p:nvPr/>
            </p:nvSpPr>
            <p:spPr>
              <a:xfrm>
                <a:off x="6542088" y="505872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2" name="TextBox 52"/>
            <p:cNvSpPr txBox="1"/>
            <p:nvPr/>
          </p:nvSpPr>
          <p:spPr>
            <a:xfrm>
              <a:off x="6755511" y="4696301"/>
              <a:ext cx="4387723" cy="804482"/>
            </a:xfrm>
            <a:prstGeom prst="rect">
              <a:avLst/>
            </a:prstGeom>
            <a:noFill/>
            <a:ln>
              <a:noFill/>
            </a:ln>
          </p:spPr>
          <p:txBody>
            <a:bodyPr wrap="none" lIns="0" tIns="0" rIns="0" bIns="0" anchor="t" anchorCtr="0">
              <a:spAutoFit/>
            </a:bodyPr>
            <a:lstStyle/>
            <a:p>
              <a:pPr algn="l">
                <a:lnSpc>
                  <a:spcPts val="2070"/>
                </a:lnSpc>
              </a:pPr>
              <a:r>
                <a:rPr lang="zh-CN" sz="1420" dirty="0">
                  <a:solidFill>
                    <a:srgbClr val="1F2937"/>
                  </a:solidFill>
                  <a:latin typeface="+mn-lt"/>
                  <a:ea typeface="+mn-ea"/>
                  <a:cs typeface="+mn-cs"/>
                </a:rPr>
                <a:t>更正：原课件在“成本”标题下直接给出 C = Cs − Cr −</a:t>
              </a:r>
              <a:br/>
              <a:r>
                <a:rPr lang="zh-CN" sz="1420" dirty="0">
                  <a:solidFill>
                    <a:srgbClr val="1F2937"/>
                  </a:solidFill>
                  <a:latin typeface="+mn-lt"/>
                  <a:ea typeface="+mn-ea"/>
                  <a:cs typeface="+mn-cs"/>
                </a:rPr>
                <a:t xml:space="preserve">Cd，易被误读成总成本；按各符号含义，C 是 </a:t>
              </a:r>
              <a:r>
                <a:rPr lang="zh-CN" sz="1420" b="1" dirty="0">
                  <a:solidFill>
                    <a:srgbClr val="0F7A68"/>
                  </a:solidFill>
                  <a:latin typeface="+mn-lt"/>
                  <a:ea typeface="+mn-ea"/>
                  <a:cs typeface="+mn-cs"/>
                </a:rPr>
                <a:t>重用带来</a:t>
              </a:r>
              <a:br/>
              <a:r>
                <a:rPr lang="zh-CN" sz="1420" b="1" dirty="0">
                  <a:solidFill>
                    <a:srgbClr val="0F7A68"/>
                  </a:solidFill>
                  <a:latin typeface="+mn-lt"/>
                  <a:ea typeface="+mn-ea"/>
                  <a:cs typeface="+mn-cs"/>
                </a:rPr>
                <a:t>的成本节省</a:t>
              </a:r>
              <a:r>
                <a:rPr lang="zh-CN" sz="1420" dirty="0">
                  <a:solidFill>
                    <a:srgbClr val="1F2937"/>
                  </a:solidFill>
                  <a:latin typeface="+mn-lt"/>
                  <a:ea typeface="+mn-ea"/>
                  <a:cs typeface="+mn-cs"/>
                </a:rPr>
                <a:t>。</a:t>
              </a:r>
            </a:p>
          </p:txBody>
        </p:sp>
      </p:grpSp>
      <p:grpSp>
        <p:nvGrpSpPr>
          <p:cNvPr id="59" name="takeaway"/>
          <p:cNvGrpSpPr/>
          <p:nvPr/>
        </p:nvGrpSpPr>
        <p:grpSpPr>
          <a:xfrm>
            <a:off x="533400" y="5858828"/>
            <a:ext cx="11125200" cy="503872"/>
            <a:chOff x="533400" y="5858828"/>
            <a:chExt cx="11125200" cy="503872"/>
          </a:xfrm>
        </p:grpSpPr>
        <p:sp>
          <p:nvSpPr>
            <p:cNvPr id="54" name="Rectangle 54"/>
            <p:cNvSpPr/>
            <p:nvPr/>
          </p:nvSpPr>
          <p:spPr>
            <a:xfrm>
              <a:off x="533400" y="5858828"/>
              <a:ext cx="11125200" cy="503872"/>
            </a:xfrm>
            <a:prstGeom prst="roundRect">
              <a:avLst>
                <a:gd name="adj" fmla="val 22684"/>
              </a:avLst>
            </a:prstGeom>
            <a:solidFill>
              <a:srgbClr val="334E68"/>
            </a:solidFill>
            <a:ln>
              <a:noFill/>
            </a:ln>
          </p:spPr>
        </p:sp>
        <p:grpSp>
          <p:nvGrpSpPr>
            <p:cNvPr id="57" name="Group 57"/>
            <p:cNvGrpSpPr/>
            <p:nvPr/>
          </p:nvGrpSpPr>
          <p:grpSpPr>
            <a:xfrm>
              <a:off x="738188" y="6011230"/>
              <a:ext cx="200023" cy="200023"/>
              <a:chOff x="738188" y="6011230"/>
              <a:chExt cx="200023" cy="200023"/>
            </a:xfrm>
          </p:grpSpPr>
          <p:sp>
            <p:nvSpPr>
              <p:cNvPr id="55" name="Freeform 55"/>
              <p:cNvSpPr/>
              <p:nvPr/>
            </p:nvSpPr>
            <p:spPr>
              <a:xfrm>
                <a:off x="738188" y="601123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6" name="Freeform 56"/>
              <p:cNvSpPr/>
              <p:nvPr/>
            </p:nvSpPr>
            <p:spPr>
              <a:xfrm>
                <a:off x="871538" y="607790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8" name="TextBox 58"/>
            <p:cNvSpPr txBox="1"/>
            <p:nvPr/>
          </p:nvSpPr>
          <p:spPr>
            <a:xfrm>
              <a:off x="1040511" y="6011704"/>
              <a:ext cx="6980291"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重用不是免费的，Cr 这一项决定了一个构件库值不值得建、一个构件值不值得用。</a:t>
              </a:r>
            </a:p>
          </p:txBody>
        </p:sp>
      </p:grpSp>
      <p:grpSp>
        <p:nvGrpSpPr>
          <p:cNvPr id="62" name="footer"/>
          <p:cNvGrpSpPr/>
          <p:nvPr/>
        </p:nvGrpSpPr>
        <p:grpSpPr>
          <a:xfrm>
            <a:off x="528447" y="6581299"/>
            <a:ext cx="11135106" cy="190690"/>
            <a:chOff x="528447" y="6581299"/>
            <a:chExt cx="11135106" cy="190690"/>
          </a:xfrm>
        </p:grpSpPr>
        <p:sp>
          <p:nvSpPr>
            <p:cNvPr id="60" name="TextBox 60"/>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61" name="TextBox 6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33</a:t>
              </a:r>
            </a:p>
          </p:txBody>
        </p:sp>
      </p:grpSp>
    </p:spTree>
  </p:cSld>
  <p:clrMapOvr>
    <a:masterClrMapping/>
  </p:clrMapOvr>
  <p:transition xmlns:p14="http://schemas.microsoft.com/office/powerpoint/2010/main" p14:dur="400">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04</a:t>
              </a:r>
            </a:p>
          </p:txBody>
        </p:sp>
      </p:grpSp>
      <p:grpSp>
        <p:nvGrpSpPr>
          <p:cNvPr id="18" name="section-title"/>
          <p:cNvGrpSpPr/>
          <p:nvPr/>
        </p:nvGrpSpPr>
        <p:grpSpPr>
          <a:xfrm>
            <a:off x="667512" y="1835468"/>
            <a:ext cx="4882896" cy="3351847"/>
            <a:chOff x="667512" y="1835468"/>
            <a:chExt cx="4882896"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第四部分</a:t>
              </a:r>
            </a:p>
          </p:txBody>
        </p:sp>
        <p:sp>
          <p:nvSpPr>
            <p:cNvPr id="7" name="TextBox 7"/>
            <p:cNvSpPr txBox="1"/>
            <p:nvPr/>
          </p:nvSpPr>
          <p:spPr>
            <a:xfrm>
              <a:off x="667512" y="2240280"/>
              <a:ext cx="4882896"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系统分解与四个子系统</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3126486"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把一个大系统切成能分头做的块</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20345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四个子系统与五个层次</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264033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两种交互方式与两种组织方案</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12268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问题域子系统</a:t>
              </a:r>
            </a:p>
          </p:txBody>
        </p:sp>
        <p:sp>
          <p:nvSpPr>
            <p:cNvPr id="16" name="Ellipse 16"/>
            <p:cNvSpPr/>
            <p:nvPr/>
          </p:nvSpPr>
          <p:spPr>
            <a:xfrm>
              <a:off x="723900" y="4951095"/>
              <a:ext cx="76200" cy="76200"/>
            </a:xfrm>
            <a:prstGeom prst="ellipse">
              <a:avLst/>
            </a:prstGeom>
            <a:solidFill>
              <a:srgbClr val="334E68"/>
            </a:solidFill>
            <a:ln>
              <a:noFill/>
            </a:ln>
          </p:spPr>
        </p:sp>
        <p:sp>
          <p:nvSpPr>
            <p:cNvPr id="17" name="TextBox 17"/>
            <p:cNvSpPr txBox="1"/>
            <p:nvPr/>
          </p:nvSpPr>
          <p:spPr>
            <a:xfrm>
              <a:off x="906780" y="4893945"/>
              <a:ext cx="28422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人机交互、任务管理、数据管理</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34</a:t>
              </a:r>
            </a:p>
          </p:txBody>
        </p:sp>
      </p:grpSp>
    </p:spTree>
  </p:cSld>
  <p:clrMapOvr>
    <a:masterClrMapping/>
  </p:clrMapOvr>
  <p:transition xmlns:p14="http://schemas.microsoft.com/office/powerpoint/2010/main" p14:dur="400">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921371" cy="909257"/>
            <a:chOff x="520446" y="342900"/>
            <a:chExt cx="7921371" cy="909257"/>
          </a:xfrm>
        </p:grpSpPr>
        <p:sp>
          <p:nvSpPr>
            <p:cNvPr id="2" name="Rectangle 2"/>
            <p:cNvSpPr/>
            <p:nvPr/>
          </p:nvSpPr>
          <p:spPr>
            <a:xfrm>
              <a:off x="533400" y="342900"/>
              <a:ext cx="3208020" cy="266700"/>
            </a:xfrm>
            <a:prstGeom prst="roundRect">
              <a:avLst>
                <a:gd name="adj" fmla="val 50000"/>
              </a:avLst>
            </a:prstGeom>
            <a:solidFill>
              <a:srgbClr val="E7EDF3"/>
            </a:solidFill>
            <a:ln>
              <a:noFill/>
            </a:ln>
          </p:spPr>
        </p:sp>
        <p:sp>
          <p:nvSpPr>
            <p:cNvPr id="3" name="TextBox 3"/>
            <p:cNvSpPr txBox="1"/>
            <p:nvPr/>
          </p:nvSpPr>
          <p:spPr>
            <a:xfrm>
              <a:off x="572876" y="407194"/>
              <a:ext cx="312906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系统分解与四个子系统</a:t>
              </a:r>
            </a:p>
          </p:txBody>
        </p:sp>
        <p:sp>
          <p:nvSpPr>
            <p:cNvPr id="4" name="TextBox 4"/>
            <p:cNvSpPr txBox="1"/>
            <p:nvPr/>
          </p:nvSpPr>
          <p:spPr>
            <a:xfrm>
              <a:off x="520446" y="753428"/>
              <a:ext cx="792137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系统分解的两个维度：横切四个部分，纵贯五个层次</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780" y="1548765"/>
            <a:ext cx="8900160" cy="293370"/>
            <a:chOff x="525780" y="1548765"/>
            <a:chExt cx="8900160" cy="293370"/>
          </a:xfrm>
        </p:grpSpPr>
        <p:sp>
          <p:nvSpPr>
            <p:cNvPr id="7" name="TextBox 7"/>
            <p:cNvSpPr txBox="1"/>
            <p:nvPr/>
          </p:nvSpPr>
          <p:spPr>
            <a:xfrm>
              <a:off x="525780" y="1548765"/>
              <a:ext cx="8900160" cy="293370"/>
            </a:xfrm>
            <a:prstGeom prst="rect">
              <a:avLst/>
            </a:prstGeom>
            <a:noFill/>
            <a:ln>
              <a:noFill/>
            </a:ln>
          </p:spPr>
          <p:txBody>
            <a:bodyPr wrap="none" lIns="0" tIns="0" rIns="0" bIns="0" anchor="t" anchorCtr="0">
              <a:spAutoFit/>
            </a:bodyPr>
            <a:lstStyle/>
            <a:p>
              <a:pPr algn="l"/>
              <a:r>
                <a:rPr lang="zh-CN" sz="1500" dirty="0">
                  <a:solidFill>
                    <a:srgbClr val="5B6475"/>
                  </a:solidFill>
                  <a:latin typeface="+mn-lt"/>
                  <a:ea typeface="+mn-ea"/>
                  <a:cs typeface="+mn-cs"/>
                </a:rPr>
                <a:t>面向对象设计把系统横向切成四个子系统，而面向对象分析建立的五个层次在每个子系统里都存在。</a:t>
              </a:r>
            </a:p>
          </p:txBody>
        </p:sp>
      </p:grpSp>
      <p:grpSp>
        <p:nvGrpSpPr>
          <p:cNvPr id="27" name="c1-table-1"/>
          <p:cNvGrpSpPr/>
          <p:nvPr/>
        </p:nvGrpSpPr>
        <p:grpSpPr>
          <a:xfrm>
            <a:off x="533400" y="1954530"/>
            <a:ext cx="5842635" cy="3358515"/>
            <a:chOff x="533400" y="1954530"/>
            <a:chExt cx="5842635" cy="3358515"/>
          </a:xfrm>
        </p:grpSpPr>
        <p:sp>
          <p:nvSpPr>
            <p:cNvPr id="9" name="Rectangle 9"/>
            <p:cNvSpPr/>
            <p:nvPr/>
          </p:nvSpPr>
          <p:spPr>
            <a:xfrm>
              <a:off x="533400" y="1954530"/>
              <a:ext cx="5842635" cy="468630"/>
            </a:xfrm>
            <a:prstGeom prst="rect">
              <a:avLst/>
            </a:prstGeom>
            <a:solidFill>
              <a:srgbClr val="334E68"/>
            </a:solidFill>
            <a:ln>
              <a:noFill/>
            </a:ln>
          </p:spPr>
        </p:sp>
        <p:sp>
          <p:nvSpPr>
            <p:cNvPr id="10" name="TextBox 10"/>
            <p:cNvSpPr txBox="1"/>
            <p:nvPr/>
          </p:nvSpPr>
          <p:spPr>
            <a:xfrm>
              <a:off x="940460" y="2089309"/>
              <a:ext cx="587959"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子系统</a:t>
              </a:r>
            </a:p>
          </p:txBody>
        </p:sp>
        <p:sp>
          <p:nvSpPr>
            <p:cNvPr id="11" name="TextBox 11"/>
            <p:cNvSpPr txBox="1"/>
            <p:nvPr/>
          </p:nvSpPr>
          <p:spPr>
            <a:xfrm>
              <a:off x="3766198" y="2089309"/>
              <a:ext cx="779120"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负责什么</a:t>
              </a:r>
            </a:p>
          </p:txBody>
        </p:sp>
        <p:sp>
          <p:nvSpPr>
            <p:cNvPr id="12" name="TextBox 12"/>
            <p:cNvSpPr txBox="1"/>
            <p:nvPr/>
          </p:nvSpPr>
          <p:spPr>
            <a:xfrm>
              <a:off x="637604" y="2685574"/>
              <a:ext cx="116144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人机交互部分</a:t>
              </a:r>
            </a:p>
          </p:txBody>
        </p:sp>
        <p:sp>
          <p:nvSpPr>
            <p:cNvPr id="13" name="TextBox 13"/>
            <p:cNvSpPr txBox="1"/>
            <p:nvPr/>
          </p:nvSpPr>
          <p:spPr>
            <a:xfrm>
              <a:off x="2039684" y="2558891"/>
              <a:ext cx="3981958"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处理与用户的全部交互：窗口、命令、输入校验、</a:t>
              </a:r>
              <a:br/>
              <a:r>
                <a:rPr lang="zh-CN" sz="1420" dirty="0">
                  <a:solidFill>
                    <a:srgbClr val="1F2937"/>
                  </a:solidFill>
                  <a:latin typeface="+mn-lt"/>
                  <a:ea typeface="+mn-ea"/>
                  <a:cs typeface="+mn-cs"/>
                </a:rPr>
                <a:t>输出格式</a:t>
              </a:r>
            </a:p>
          </p:txBody>
        </p:sp>
        <p:sp>
          <p:nvSpPr>
            <p:cNvPr id="14" name="Rectangle 14"/>
            <p:cNvSpPr/>
            <p:nvPr/>
          </p:nvSpPr>
          <p:spPr>
            <a:xfrm>
              <a:off x="533400" y="3141345"/>
              <a:ext cx="5842635" cy="9525"/>
            </a:xfrm>
            <a:prstGeom prst="rect">
              <a:avLst/>
            </a:prstGeom>
            <a:solidFill>
              <a:srgbClr val="D9DFEA"/>
            </a:solidFill>
            <a:ln>
              <a:noFill/>
            </a:ln>
          </p:spPr>
        </p:sp>
        <p:sp>
          <p:nvSpPr>
            <p:cNvPr id="15" name="Rectangle 15"/>
            <p:cNvSpPr/>
            <p:nvPr/>
          </p:nvSpPr>
          <p:spPr>
            <a:xfrm>
              <a:off x="533400" y="3146108"/>
              <a:ext cx="5842635" cy="721995"/>
            </a:xfrm>
            <a:prstGeom prst="rect">
              <a:avLst/>
            </a:prstGeom>
            <a:solidFill>
              <a:srgbClr val="F4F6FB"/>
            </a:solidFill>
            <a:ln>
              <a:noFill/>
            </a:ln>
          </p:spPr>
        </p:sp>
        <p:sp>
          <p:nvSpPr>
            <p:cNvPr id="16" name="TextBox 16"/>
            <p:cNvSpPr txBox="1"/>
            <p:nvPr/>
          </p:nvSpPr>
          <p:spPr>
            <a:xfrm>
              <a:off x="637604" y="3407569"/>
              <a:ext cx="97028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问题域部分</a:t>
              </a:r>
            </a:p>
          </p:txBody>
        </p:sp>
        <p:sp>
          <p:nvSpPr>
            <p:cNvPr id="17" name="TextBox 17"/>
            <p:cNvSpPr txBox="1"/>
            <p:nvPr/>
          </p:nvSpPr>
          <p:spPr>
            <a:xfrm>
              <a:off x="2039684" y="3280886"/>
              <a:ext cx="3981958"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承载业务本身的类和对象，直接来自面向对象分析</a:t>
              </a:r>
              <a:br/>
              <a:r>
                <a:rPr lang="zh-CN" sz="1420" dirty="0">
                  <a:solidFill>
                    <a:srgbClr val="1F2937"/>
                  </a:solidFill>
                  <a:latin typeface="+mn-lt"/>
                  <a:ea typeface="+mn-ea"/>
                  <a:cs typeface="+mn-cs"/>
                </a:rPr>
                <a:t>的结果</a:t>
              </a:r>
            </a:p>
          </p:txBody>
        </p:sp>
        <p:sp>
          <p:nvSpPr>
            <p:cNvPr id="18" name="Rectangle 18"/>
            <p:cNvSpPr/>
            <p:nvPr/>
          </p:nvSpPr>
          <p:spPr>
            <a:xfrm>
              <a:off x="533400" y="3863340"/>
              <a:ext cx="5842635" cy="9525"/>
            </a:xfrm>
            <a:prstGeom prst="rect">
              <a:avLst/>
            </a:prstGeom>
            <a:solidFill>
              <a:srgbClr val="D9DFEA"/>
            </a:solidFill>
            <a:ln>
              <a:noFill/>
            </a:ln>
          </p:spPr>
        </p:sp>
        <p:sp>
          <p:nvSpPr>
            <p:cNvPr id="19" name="TextBox 19"/>
            <p:cNvSpPr txBox="1"/>
            <p:nvPr/>
          </p:nvSpPr>
          <p:spPr>
            <a:xfrm>
              <a:off x="637604" y="4129564"/>
              <a:ext cx="116144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任务管理部分</a:t>
              </a:r>
            </a:p>
          </p:txBody>
        </p:sp>
        <p:sp>
          <p:nvSpPr>
            <p:cNvPr id="20" name="TextBox 20"/>
            <p:cNvSpPr txBox="1"/>
            <p:nvPr/>
          </p:nvSpPr>
          <p:spPr>
            <a:xfrm>
              <a:off x="2039684" y="4002881"/>
              <a:ext cx="3981958"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处理并发：确定各类任务并把任务分配给合适的硬</a:t>
              </a:r>
              <a:br/>
              <a:r>
                <a:rPr lang="zh-CN" sz="1420" dirty="0">
                  <a:solidFill>
                    <a:srgbClr val="1F2937"/>
                  </a:solidFill>
                  <a:latin typeface="+mn-lt"/>
                  <a:ea typeface="+mn-ea"/>
                  <a:cs typeface="+mn-cs"/>
                </a:rPr>
                <a:t>件或软件去执行</a:t>
              </a:r>
            </a:p>
          </p:txBody>
        </p:sp>
        <p:sp>
          <p:nvSpPr>
            <p:cNvPr id="21" name="Rectangle 21"/>
            <p:cNvSpPr/>
            <p:nvPr/>
          </p:nvSpPr>
          <p:spPr>
            <a:xfrm>
              <a:off x="533400" y="4586288"/>
              <a:ext cx="5842635" cy="9525"/>
            </a:xfrm>
            <a:prstGeom prst="rect">
              <a:avLst/>
            </a:prstGeom>
            <a:solidFill>
              <a:srgbClr val="D9DFEA"/>
            </a:solidFill>
            <a:ln>
              <a:noFill/>
            </a:ln>
          </p:spPr>
        </p:sp>
        <p:sp>
          <p:nvSpPr>
            <p:cNvPr id="22" name="Rectangle 22"/>
            <p:cNvSpPr/>
            <p:nvPr/>
          </p:nvSpPr>
          <p:spPr>
            <a:xfrm>
              <a:off x="533400" y="4591050"/>
              <a:ext cx="5842635" cy="721995"/>
            </a:xfrm>
            <a:prstGeom prst="rect">
              <a:avLst/>
            </a:prstGeom>
            <a:solidFill>
              <a:srgbClr val="F4F6FB"/>
            </a:solidFill>
            <a:ln>
              <a:noFill/>
            </a:ln>
          </p:spPr>
        </p:sp>
        <p:sp>
          <p:nvSpPr>
            <p:cNvPr id="23" name="TextBox 23"/>
            <p:cNvSpPr txBox="1"/>
            <p:nvPr/>
          </p:nvSpPr>
          <p:spPr>
            <a:xfrm>
              <a:off x="637604" y="4852511"/>
              <a:ext cx="116144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数据管理部分</a:t>
              </a:r>
            </a:p>
          </p:txBody>
        </p:sp>
        <p:sp>
          <p:nvSpPr>
            <p:cNvPr id="24" name="TextBox 24"/>
            <p:cNvSpPr txBox="1"/>
            <p:nvPr/>
          </p:nvSpPr>
          <p:spPr>
            <a:xfrm>
              <a:off x="2039684" y="4725829"/>
              <a:ext cx="3981958"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处理数据的存储与检索，隔离具体的文件系统或数</a:t>
              </a:r>
              <a:br/>
              <a:r>
                <a:rPr lang="zh-CN" sz="1420" dirty="0">
                  <a:solidFill>
                    <a:srgbClr val="1F2937"/>
                  </a:solidFill>
                  <a:latin typeface="+mn-lt"/>
                  <a:ea typeface="+mn-ea"/>
                  <a:cs typeface="+mn-cs"/>
                </a:rPr>
                <a:t>据库产品</a:t>
              </a:r>
            </a:p>
          </p:txBody>
        </p:sp>
        <p:sp>
          <p:nvSpPr>
            <p:cNvPr id="25" name="Rectangle 25"/>
            <p:cNvSpPr/>
            <p:nvPr/>
          </p:nvSpPr>
          <p:spPr>
            <a:xfrm>
              <a:off x="533400" y="1954530"/>
              <a:ext cx="5842635" cy="3358515"/>
            </a:xfrm>
            <a:prstGeom prst="rect">
              <a:avLst/>
            </a:prstGeom>
            <a:noFill/>
            <a:ln w="14288">
              <a:solidFill>
                <a:srgbClr val="D9DFEA"/>
              </a:solidFill>
            </a:ln>
          </p:spPr>
        </p:sp>
        <p:sp>
          <p:nvSpPr>
            <p:cNvPr id="26" name="Rectangle 26"/>
            <p:cNvSpPr/>
            <p:nvPr/>
          </p:nvSpPr>
          <p:spPr>
            <a:xfrm>
              <a:off x="1930718" y="1954530"/>
              <a:ext cx="9525" cy="3358515"/>
            </a:xfrm>
            <a:prstGeom prst="rect">
              <a:avLst/>
            </a:prstGeom>
            <a:solidFill>
              <a:srgbClr val="D9DFEA"/>
            </a:solidFill>
            <a:ln>
              <a:noFill/>
            </a:ln>
          </p:spPr>
        </p:sp>
      </p:grpSp>
      <p:grpSp>
        <p:nvGrpSpPr>
          <p:cNvPr id="33" name="c1-callout-2"/>
          <p:cNvGrpSpPr/>
          <p:nvPr/>
        </p:nvGrpSpPr>
        <p:grpSpPr>
          <a:xfrm>
            <a:off x="533400" y="5498782"/>
            <a:ext cx="5842635" cy="756285"/>
            <a:chOff x="533400" y="5498782"/>
            <a:chExt cx="5842635" cy="756285"/>
          </a:xfrm>
        </p:grpSpPr>
        <p:sp>
          <p:nvSpPr>
            <p:cNvPr id="28" name="Rectangle 28"/>
            <p:cNvSpPr/>
            <p:nvPr/>
          </p:nvSpPr>
          <p:spPr>
            <a:xfrm>
              <a:off x="533400" y="5498782"/>
              <a:ext cx="5842635" cy="756285"/>
            </a:xfrm>
            <a:prstGeom prst="roundRect">
              <a:avLst>
                <a:gd name="adj" fmla="val 15113"/>
              </a:avLst>
            </a:prstGeom>
            <a:solidFill>
              <a:srgbClr val="334E68"/>
            </a:solidFill>
            <a:ln>
              <a:noFill/>
            </a:ln>
          </p:spPr>
        </p:sp>
        <p:grpSp>
          <p:nvGrpSpPr>
            <p:cNvPr id="31" name="Group 31"/>
            <p:cNvGrpSpPr/>
            <p:nvPr/>
          </p:nvGrpSpPr>
          <p:grpSpPr>
            <a:xfrm>
              <a:off x="738188" y="5776915"/>
              <a:ext cx="200023" cy="200023"/>
              <a:chOff x="738188" y="5776915"/>
              <a:chExt cx="200023" cy="200023"/>
            </a:xfrm>
          </p:grpSpPr>
          <p:sp>
            <p:nvSpPr>
              <p:cNvPr id="29" name="Freeform 29"/>
              <p:cNvSpPr/>
              <p:nvPr/>
            </p:nvSpPr>
            <p:spPr>
              <a:xfrm>
                <a:off x="738188" y="577691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30" name="Freeform 30"/>
              <p:cNvSpPr/>
              <p:nvPr/>
            </p:nvSpPr>
            <p:spPr>
              <a:xfrm>
                <a:off x="871538" y="584358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32" name="TextBox 32"/>
            <p:cNvSpPr txBox="1"/>
            <p:nvPr/>
          </p:nvSpPr>
          <p:spPr>
            <a:xfrm>
              <a:off x="1040511" y="5645944"/>
              <a:ext cx="4883658"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FFFFFF"/>
                  </a:solidFill>
                  <a:latin typeface="+mn-lt"/>
                  <a:ea typeface="+mn-ea"/>
                  <a:cs typeface="+mn-cs"/>
                </a:rPr>
                <a:t>四个部分是横向切分，五个层次是纵向贯穿；每个部分都要在</a:t>
              </a:r>
              <a:br/>
              <a:r>
                <a:rPr lang="zh-CN" sz="1420" dirty="0">
                  <a:solidFill>
                    <a:srgbClr val="FFFFFF"/>
                  </a:solidFill>
                  <a:latin typeface="+mn-lt"/>
                  <a:ea typeface="+mn-ea"/>
                  <a:cs typeface="+mn-cs"/>
                </a:rPr>
                <a:t>五个层次上分别展开，不是四选一。</a:t>
              </a:r>
            </a:p>
          </p:txBody>
        </p:sp>
      </p:grpSp>
      <p:grpSp>
        <p:nvGrpSpPr>
          <p:cNvPr id="48" name="c2-kv-1"/>
          <p:cNvGrpSpPr/>
          <p:nvPr/>
        </p:nvGrpSpPr>
        <p:grpSpPr>
          <a:xfrm>
            <a:off x="6673596" y="1977866"/>
            <a:ext cx="4985004" cy="1965580"/>
            <a:chOff x="6673596" y="1977866"/>
            <a:chExt cx="4985004" cy="1965580"/>
          </a:xfrm>
        </p:grpSpPr>
        <p:sp>
          <p:nvSpPr>
            <p:cNvPr id="34" name="TextBox 34"/>
            <p:cNvSpPr txBox="1"/>
            <p:nvPr/>
          </p:nvSpPr>
          <p:spPr>
            <a:xfrm>
              <a:off x="6673596" y="1977866"/>
              <a:ext cx="587959"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主题层</a:t>
              </a:r>
            </a:p>
          </p:txBody>
        </p:sp>
        <p:sp>
          <p:nvSpPr>
            <p:cNvPr id="35" name="TextBox 35"/>
            <p:cNvSpPr txBox="1"/>
            <p:nvPr/>
          </p:nvSpPr>
          <p:spPr>
            <a:xfrm>
              <a:off x="7861364" y="1977866"/>
              <a:ext cx="345536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把类划分成若干主题，便于从宏观上理解</a:t>
              </a:r>
            </a:p>
          </p:txBody>
        </p:sp>
        <p:sp>
          <p:nvSpPr>
            <p:cNvPr id="36" name="Rectangle 36"/>
            <p:cNvSpPr/>
            <p:nvPr/>
          </p:nvSpPr>
          <p:spPr>
            <a:xfrm>
              <a:off x="6680835" y="2284095"/>
              <a:ext cx="4977765" cy="9525"/>
            </a:xfrm>
            <a:prstGeom prst="rect">
              <a:avLst/>
            </a:prstGeom>
            <a:solidFill>
              <a:srgbClr val="D9DFEA"/>
            </a:solidFill>
            <a:ln>
              <a:noFill/>
            </a:ln>
          </p:spPr>
        </p:sp>
        <p:sp>
          <p:nvSpPr>
            <p:cNvPr id="37" name="TextBox 37"/>
            <p:cNvSpPr txBox="1"/>
            <p:nvPr/>
          </p:nvSpPr>
          <p:spPr>
            <a:xfrm>
              <a:off x="6673596" y="2399824"/>
              <a:ext cx="970280"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类与对象层</a:t>
              </a:r>
            </a:p>
          </p:txBody>
        </p:sp>
        <p:sp>
          <p:nvSpPr>
            <p:cNvPr id="38" name="TextBox 38"/>
            <p:cNvSpPr txBox="1"/>
            <p:nvPr/>
          </p:nvSpPr>
          <p:spPr>
            <a:xfrm>
              <a:off x="7861364" y="2399824"/>
              <a:ext cx="2308403"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本子系统里有哪些类和对象</a:t>
              </a:r>
            </a:p>
          </p:txBody>
        </p:sp>
        <p:sp>
          <p:nvSpPr>
            <p:cNvPr id="39" name="Rectangle 39"/>
            <p:cNvSpPr/>
            <p:nvPr/>
          </p:nvSpPr>
          <p:spPr>
            <a:xfrm>
              <a:off x="6680835" y="2705100"/>
              <a:ext cx="4977765" cy="9525"/>
            </a:xfrm>
            <a:prstGeom prst="rect">
              <a:avLst/>
            </a:prstGeom>
            <a:solidFill>
              <a:srgbClr val="D9DFEA"/>
            </a:solidFill>
            <a:ln>
              <a:noFill/>
            </a:ln>
          </p:spPr>
        </p:sp>
        <p:sp>
          <p:nvSpPr>
            <p:cNvPr id="40" name="TextBox 40"/>
            <p:cNvSpPr txBox="1"/>
            <p:nvPr/>
          </p:nvSpPr>
          <p:spPr>
            <a:xfrm>
              <a:off x="6673596" y="2821781"/>
              <a:ext cx="587959"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结构层</a:t>
              </a:r>
            </a:p>
          </p:txBody>
        </p:sp>
        <p:sp>
          <p:nvSpPr>
            <p:cNvPr id="41" name="TextBox 41"/>
            <p:cNvSpPr txBox="1"/>
            <p:nvPr/>
          </p:nvSpPr>
          <p:spPr>
            <a:xfrm>
              <a:off x="7861364" y="2821781"/>
              <a:ext cx="270984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一般-特殊结构与整体-部分结构</a:t>
              </a:r>
            </a:p>
          </p:txBody>
        </p:sp>
        <p:sp>
          <p:nvSpPr>
            <p:cNvPr id="42" name="Rectangle 42"/>
            <p:cNvSpPr/>
            <p:nvPr/>
          </p:nvSpPr>
          <p:spPr>
            <a:xfrm>
              <a:off x="6680835" y="3127058"/>
              <a:ext cx="4977765" cy="9525"/>
            </a:xfrm>
            <a:prstGeom prst="rect">
              <a:avLst/>
            </a:prstGeom>
            <a:solidFill>
              <a:srgbClr val="D9DFEA"/>
            </a:solidFill>
            <a:ln>
              <a:noFill/>
            </a:ln>
          </p:spPr>
        </p:sp>
        <p:sp>
          <p:nvSpPr>
            <p:cNvPr id="43" name="TextBox 43"/>
            <p:cNvSpPr txBox="1"/>
            <p:nvPr/>
          </p:nvSpPr>
          <p:spPr>
            <a:xfrm>
              <a:off x="6673596" y="3242786"/>
              <a:ext cx="587959"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属性层</a:t>
              </a:r>
            </a:p>
          </p:txBody>
        </p:sp>
        <p:sp>
          <p:nvSpPr>
            <p:cNvPr id="44" name="TextBox 44"/>
            <p:cNvSpPr txBox="1"/>
            <p:nvPr/>
          </p:nvSpPr>
          <p:spPr>
            <a:xfrm>
              <a:off x="7861364" y="3242786"/>
              <a:ext cx="1543761"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每个类有哪些属性</a:t>
              </a:r>
            </a:p>
          </p:txBody>
        </p:sp>
        <p:sp>
          <p:nvSpPr>
            <p:cNvPr id="45" name="Rectangle 45"/>
            <p:cNvSpPr/>
            <p:nvPr/>
          </p:nvSpPr>
          <p:spPr>
            <a:xfrm>
              <a:off x="6680835" y="3549015"/>
              <a:ext cx="4977765" cy="9525"/>
            </a:xfrm>
            <a:prstGeom prst="rect">
              <a:avLst/>
            </a:prstGeom>
            <a:solidFill>
              <a:srgbClr val="D9DFEA"/>
            </a:solidFill>
            <a:ln>
              <a:noFill/>
            </a:ln>
          </p:spPr>
        </p:sp>
        <p:sp>
          <p:nvSpPr>
            <p:cNvPr id="46" name="TextBox 46"/>
            <p:cNvSpPr txBox="1"/>
            <p:nvPr/>
          </p:nvSpPr>
          <p:spPr>
            <a:xfrm>
              <a:off x="6673596" y="3664744"/>
              <a:ext cx="587959"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服务层</a:t>
              </a:r>
            </a:p>
          </p:txBody>
        </p:sp>
        <p:sp>
          <p:nvSpPr>
            <p:cNvPr id="47" name="TextBox 47"/>
            <p:cNvSpPr txBox="1"/>
            <p:nvPr/>
          </p:nvSpPr>
          <p:spPr>
            <a:xfrm>
              <a:off x="7861364" y="3664744"/>
              <a:ext cx="1734922"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每个类提供哪些服务</a:t>
              </a:r>
            </a:p>
          </p:txBody>
        </p:sp>
      </p:grpSp>
      <p:grpSp>
        <p:nvGrpSpPr>
          <p:cNvPr id="54" name="c2-card-2"/>
          <p:cNvGrpSpPr/>
          <p:nvPr/>
        </p:nvGrpSpPr>
        <p:grpSpPr>
          <a:xfrm>
            <a:off x="6680835" y="4072890"/>
            <a:ext cx="4977765" cy="2182178"/>
            <a:chOff x="6680835" y="4072890"/>
            <a:chExt cx="4977765" cy="2182178"/>
          </a:xfrm>
        </p:grpSpPr>
        <p:sp>
          <p:nvSpPr>
            <p:cNvPr id="49" name="Rectangle 49"/>
            <p:cNvSpPr/>
            <p:nvPr/>
          </p:nvSpPr>
          <p:spPr>
            <a:xfrm>
              <a:off x="6680835" y="4072890"/>
              <a:ext cx="4977765" cy="2182178"/>
            </a:xfrm>
            <a:prstGeom prst="roundRect">
              <a:avLst>
                <a:gd name="adj" fmla="val 6111"/>
              </a:avLst>
            </a:prstGeom>
            <a:solidFill>
              <a:srgbClr val="FFFFFF"/>
            </a:solidFill>
            <a:ln w="14288">
              <a:solidFill>
                <a:srgbClr val="D9DFEA"/>
              </a:solidFill>
            </a:ln>
          </p:spPr>
        </p:sp>
        <p:sp>
          <p:nvSpPr>
            <p:cNvPr id="50" name="Rectangle 50"/>
            <p:cNvSpPr/>
            <p:nvPr/>
          </p:nvSpPr>
          <p:spPr>
            <a:xfrm>
              <a:off x="6690360" y="4206240"/>
              <a:ext cx="47625" cy="1915478"/>
            </a:xfrm>
            <a:prstGeom prst="roundRect">
              <a:avLst>
                <a:gd name="adj" fmla="val 50000"/>
              </a:avLst>
            </a:prstGeom>
            <a:solidFill>
              <a:srgbClr val="5B6475"/>
            </a:solidFill>
            <a:ln>
              <a:noFill/>
            </a:ln>
          </p:spPr>
        </p:sp>
        <p:sp>
          <p:nvSpPr>
            <p:cNvPr id="51" name="TextBox 51"/>
            <p:cNvSpPr txBox="1"/>
            <p:nvPr/>
          </p:nvSpPr>
          <p:spPr>
            <a:xfrm>
              <a:off x="6915531" y="4300061"/>
              <a:ext cx="1352601"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这四部分从哪来</a:t>
              </a:r>
            </a:p>
          </p:txBody>
        </p:sp>
        <p:sp>
          <p:nvSpPr>
            <p:cNvPr id="52" name="TextBox 52"/>
            <p:cNvSpPr txBox="1"/>
            <p:nvPr/>
          </p:nvSpPr>
          <p:spPr>
            <a:xfrm>
              <a:off x="6915531" y="4638199"/>
              <a:ext cx="434263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前三个来自面向对象分析的问题域模型，后三个是面向</a:t>
              </a:r>
              <a:br/>
              <a:r>
                <a:rPr lang="zh-CN" sz="1420" dirty="0">
                  <a:solidFill>
                    <a:srgbClr val="1F2937"/>
                  </a:solidFill>
                  <a:latin typeface="+mn-lt"/>
                  <a:ea typeface="+mn-ea"/>
                  <a:cs typeface="+mn-cs"/>
                </a:rPr>
                <a:t>对象设计为了实现而加上去的。</a:t>
              </a:r>
            </a:p>
          </p:txBody>
        </p:sp>
        <p:sp>
          <p:nvSpPr>
            <p:cNvPr id="53" name="TextBox 53"/>
            <p:cNvSpPr txBox="1"/>
            <p:nvPr/>
          </p:nvSpPr>
          <p:spPr>
            <a:xfrm>
              <a:off x="6915531" y="5229701"/>
              <a:ext cx="4342638"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把交互、并发、存储三件事从问题域里分出来，问题域</a:t>
              </a:r>
              <a:br/>
              <a:r>
                <a:rPr lang="zh-CN" sz="1420" dirty="0">
                  <a:solidFill>
                    <a:srgbClr val="1F2937"/>
                  </a:solidFill>
                  <a:latin typeface="+mn-lt"/>
                  <a:ea typeface="+mn-ea"/>
                  <a:cs typeface="+mn-cs"/>
                </a:rPr>
                <a:t>类才能保持与实现技术无关，换界面或换数据库时不受</a:t>
              </a:r>
              <a:br/>
              <a:r>
                <a:rPr lang="zh-CN" sz="1420" dirty="0">
                  <a:solidFill>
                    <a:srgbClr val="1F2937"/>
                  </a:solidFill>
                  <a:latin typeface="+mn-lt"/>
                  <a:ea typeface="+mn-ea"/>
                  <a:cs typeface="+mn-cs"/>
                </a:rPr>
                <a:t>影响。</a:t>
              </a:r>
            </a:p>
          </p:txBody>
        </p:sp>
      </p:grpSp>
      <p:grpSp>
        <p:nvGrpSpPr>
          <p:cNvPr id="57" name="footer"/>
          <p:cNvGrpSpPr/>
          <p:nvPr/>
        </p:nvGrpSpPr>
        <p:grpSpPr>
          <a:xfrm>
            <a:off x="528447" y="6581299"/>
            <a:ext cx="11135106" cy="190690"/>
            <a:chOff x="528447" y="6581299"/>
            <a:chExt cx="11135106" cy="190690"/>
          </a:xfrm>
        </p:grpSpPr>
        <p:sp>
          <p:nvSpPr>
            <p:cNvPr id="55" name="TextBox 55"/>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56" name="TextBox 5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35</a:t>
              </a:r>
            </a:p>
          </p:txBody>
        </p:sp>
      </p:grpSp>
    </p:spTree>
  </p:cSld>
  <p:clrMapOvr>
    <a:masterClrMapping/>
  </p:clrMapOvr>
  <p:transition xmlns:p14="http://schemas.microsoft.com/office/powerpoint/2010/main" p14:dur="400">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91528" cy="909257"/>
            <a:chOff x="520446" y="342900"/>
            <a:chExt cx="6891528" cy="909257"/>
          </a:xfrm>
        </p:grpSpPr>
        <p:sp>
          <p:nvSpPr>
            <p:cNvPr id="2" name="Rectangle 2"/>
            <p:cNvSpPr/>
            <p:nvPr/>
          </p:nvSpPr>
          <p:spPr>
            <a:xfrm>
              <a:off x="533400" y="342900"/>
              <a:ext cx="3208020" cy="266700"/>
            </a:xfrm>
            <a:prstGeom prst="roundRect">
              <a:avLst>
                <a:gd name="adj" fmla="val 50000"/>
              </a:avLst>
            </a:prstGeom>
            <a:solidFill>
              <a:srgbClr val="E7EDF3"/>
            </a:solidFill>
            <a:ln>
              <a:noFill/>
            </a:ln>
          </p:spPr>
        </p:sp>
        <p:sp>
          <p:nvSpPr>
            <p:cNvPr id="3" name="TextBox 3"/>
            <p:cNvSpPr txBox="1"/>
            <p:nvPr/>
          </p:nvSpPr>
          <p:spPr>
            <a:xfrm>
              <a:off x="572876" y="407194"/>
              <a:ext cx="312906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系统分解与四个子系统</a:t>
              </a:r>
            </a:p>
          </p:txBody>
        </p:sp>
        <p:sp>
          <p:nvSpPr>
            <p:cNvPr id="4" name="TextBox 4"/>
            <p:cNvSpPr txBox="1"/>
            <p:nvPr/>
          </p:nvSpPr>
          <p:spPr>
            <a:xfrm>
              <a:off x="520446" y="753428"/>
              <a:ext cx="689152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子系统怎么连：两种交互方式，两种组织方案</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7" name="c1-compare-1"/>
          <p:cNvGrpSpPr/>
          <p:nvPr/>
        </p:nvGrpSpPr>
        <p:grpSpPr>
          <a:xfrm>
            <a:off x="533400" y="1524000"/>
            <a:ext cx="4761547" cy="2828925"/>
            <a:chOff x="533400" y="1524000"/>
            <a:chExt cx="4761547" cy="2828925"/>
          </a:xfrm>
        </p:grpSpPr>
        <p:sp>
          <p:nvSpPr>
            <p:cNvPr id="7" name="Rectangle 7"/>
            <p:cNvSpPr/>
            <p:nvPr/>
          </p:nvSpPr>
          <p:spPr>
            <a:xfrm>
              <a:off x="533400" y="1524000"/>
              <a:ext cx="2017395" cy="2828925"/>
            </a:xfrm>
            <a:prstGeom prst="roundRect">
              <a:avLst>
                <a:gd name="adj" fmla="val 6610"/>
              </a:avLst>
            </a:prstGeom>
            <a:solidFill>
              <a:srgbClr val="FFFFFF"/>
            </a:solidFill>
            <a:ln w="14288">
              <a:solidFill>
                <a:srgbClr val="D9DFEA"/>
              </a:solidFill>
            </a:ln>
          </p:spPr>
        </p:sp>
        <p:sp>
          <p:nvSpPr>
            <p:cNvPr id="8" name="Rectangle 8"/>
            <p:cNvSpPr/>
            <p:nvPr/>
          </p:nvSpPr>
          <p:spPr>
            <a:xfrm>
              <a:off x="542925" y="1657350"/>
              <a:ext cx="47625" cy="2562225"/>
            </a:xfrm>
            <a:prstGeom prst="roundRect">
              <a:avLst>
                <a:gd name="adj" fmla="val 50000"/>
              </a:avLst>
            </a:prstGeom>
            <a:solidFill>
              <a:srgbClr val="5B6475"/>
            </a:solidFill>
            <a:ln>
              <a:noFill/>
            </a:ln>
          </p:spPr>
        </p:sp>
        <p:sp>
          <p:nvSpPr>
            <p:cNvPr id="9" name="TextBox 9"/>
            <p:cNvSpPr txBox="1"/>
            <p:nvPr/>
          </p:nvSpPr>
          <p:spPr>
            <a:xfrm>
              <a:off x="757047" y="1738312"/>
              <a:ext cx="139082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客户-供应商关系</a:t>
              </a:r>
            </a:p>
          </p:txBody>
        </p:sp>
        <p:sp>
          <p:nvSpPr>
            <p:cNvPr id="10" name="Ellipse 10"/>
            <p:cNvSpPr/>
            <p:nvPr/>
          </p:nvSpPr>
          <p:spPr>
            <a:xfrm>
              <a:off x="772478" y="2114550"/>
              <a:ext cx="59055" cy="59055"/>
            </a:xfrm>
            <a:prstGeom prst="ellipse">
              <a:avLst/>
            </a:prstGeom>
            <a:solidFill>
              <a:srgbClr val="334E68"/>
            </a:solidFill>
            <a:ln>
              <a:noFill/>
            </a:ln>
          </p:spPr>
        </p:sp>
        <p:sp>
          <p:nvSpPr>
            <p:cNvPr id="11" name="TextBox 11"/>
            <p:cNvSpPr txBox="1"/>
            <p:nvPr/>
          </p:nvSpPr>
          <p:spPr>
            <a:xfrm>
              <a:off x="928497" y="2058352"/>
              <a:ext cx="121386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客户子系统调用</a:t>
              </a:r>
              <a:br/>
              <a:r>
                <a:rPr lang="zh-CN" sz="1350" dirty="0">
                  <a:solidFill>
                    <a:srgbClr val="1F2937"/>
                  </a:solidFill>
                  <a:latin typeface="+mn-lt"/>
                  <a:ea typeface="+mn-ea"/>
                  <a:cs typeface="+mn-cs"/>
                </a:rPr>
                <a:t>供应商子系统的</a:t>
              </a:r>
              <a:br/>
              <a:r>
                <a:rPr lang="zh-CN" sz="1350" dirty="0">
                  <a:solidFill>
                    <a:srgbClr val="1F2937"/>
                  </a:solidFill>
                  <a:latin typeface="+mn-lt"/>
                  <a:ea typeface="+mn-ea"/>
                  <a:cs typeface="+mn-cs"/>
                </a:rPr>
                <a:t>服务</a:t>
              </a:r>
            </a:p>
          </p:txBody>
        </p:sp>
        <p:sp>
          <p:nvSpPr>
            <p:cNvPr id="12" name="Ellipse 12"/>
            <p:cNvSpPr/>
            <p:nvPr/>
          </p:nvSpPr>
          <p:spPr>
            <a:xfrm>
              <a:off x="772478" y="2931795"/>
              <a:ext cx="59055" cy="59055"/>
            </a:xfrm>
            <a:prstGeom prst="ellipse">
              <a:avLst/>
            </a:prstGeom>
            <a:solidFill>
              <a:srgbClr val="334E68"/>
            </a:solidFill>
            <a:ln>
              <a:noFill/>
            </a:ln>
          </p:spPr>
        </p:sp>
        <p:sp>
          <p:nvSpPr>
            <p:cNvPr id="13" name="TextBox 13"/>
            <p:cNvSpPr txBox="1"/>
            <p:nvPr/>
          </p:nvSpPr>
          <p:spPr>
            <a:xfrm>
              <a:off x="928497" y="2875598"/>
              <a:ext cx="121386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信息流是单向</a:t>
              </a:r>
              <a:br/>
              <a:r>
                <a:rPr lang="zh-CN" sz="1350" dirty="0">
                  <a:solidFill>
                    <a:srgbClr val="1F2937"/>
                  </a:solidFill>
                  <a:latin typeface="+mn-lt"/>
                  <a:ea typeface="+mn-ea"/>
                  <a:cs typeface="+mn-cs"/>
                </a:rPr>
                <a:t>的，客户必须知</a:t>
              </a:r>
              <a:br/>
              <a:r>
                <a:rPr lang="zh-CN" sz="1350" dirty="0">
                  <a:solidFill>
                    <a:srgbClr val="1F2937"/>
                  </a:solidFill>
                  <a:latin typeface="+mn-lt"/>
                  <a:ea typeface="+mn-ea"/>
                  <a:cs typeface="+mn-cs"/>
                </a:rPr>
                <a:t>道供应商的接口</a:t>
              </a:r>
            </a:p>
          </p:txBody>
        </p:sp>
        <p:sp>
          <p:nvSpPr>
            <p:cNvPr id="14" name="Ellipse 14"/>
            <p:cNvSpPr/>
            <p:nvPr/>
          </p:nvSpPr>
          <p:spPr>
            <a:xfrm>
              <a:off x="772478" y="3748088"/>
              <a:ext cx="59055" cy="59055"/>
            </a:xfrm>
            <a:prstGeom prst="ellipse">
              <a:avLst/>
            </a:prstGeom>
            <a:solidFill>
              <a:srgbClr val="334E68"/>
            </a:solidFill>
            <a:ln>
              <a:noFill/>
            </a:ln>
          </p:spPr>
        </p:sp>
        <p:sp>
          <p:nvSpPr>
            <p:cNvPr id="15" name="TextBox 15"/>
            <p:cNvSpPr txBox="1"/>
            <p:nvPr/>
          </p:nvSpPr>
          <p:spPr>
            <a:xfrm>
              <a:off x="928497" y="3691890"/>
              <a:ext cx="12138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供应商不需要知</a:t>
              </a:r>
              <a:br/>
              <a:r>
                <a:rPr lang="zh-CN" sz="1350" dirty="0">
                  <a:solidFill>
                    <a:srgbClr val="1F2937"/>
                  </a:solidFill>
                  <a:latin typeface="+mn-lt"/>
                  <a:ea typeface="+mn-ea"/>
                  <a:cs typeface="+mn-cs"/>
                </a:rPr>
                <a:t>道客户是谁</a:t>
              </a:r>
            </a:p>
          </p:txBody>
        </p:sp>
        <p:sp>
          <p:nvSpPr>
            <p:cNvPr id="16" name="Rectangle 16"/>
            <p:cNvSpPr/>
            <p:nvPr/>
          </p:nvSpPr>
          <p:spPr>
            <a:xfrm>
              <a:off x="3277552" y="1524000"/>
              <a:ext cx="2017395" cy="2828925"/>
            </a:xfrm>
            <a:prstGeom prst="roundRect">
              <a:avLst>
                <a:gd name="adj" fmla="val 6610"/>
              </a:avLst>
            </a:prstGeom>
            <a:solidFill>
              <a:srgbClr val="FFFFFF"/>
            </a:solidFill>
            <a:ln w="14288">
              <a:solidFill>
                <a:srgbClr val="D9DFEA"/>
              </a:solidFill>
            </a:ln>
          </p:spPr>
        </p:sp>
        <p:sp>
          <p:nvSpPr>
            <p:cNvPr id="17" name="Rectangle 17"/>
            <p:cNvSpPr/>
            <p:nvPr/>
          </p:nvSpPr>
          <p:spPr>
            <a:xfrm>
              <a:off x="3287078" y="1657350"/>
              <a:ext cx="47625" cy="2562225"/>
            </a:xfrm>
            <a:prstGeom prst="roundRect">
              <a:avLst>
                <a:gd name="adj" fmla="val 50000"/>
              </a:avLst>
            </a:prstGeom>
            <a:solidFill>
              <a:srgbClr val="5B6475"/>
            </a:solidFill>
            <a:ln>
              <a:noFill/>
            </a:ln>
          </p:spPr>
        </p:sp>
        <p:sp>
          <p:nvSpPr>
            <p:cNvPr id="18" name="TextBox 18"/>
            <p:cNvSpPr txBox="1"/>
            <p:nvPr/>
          </p:nvSpPr>
          <p:spPr>
            <a:xfrm>
              <a:off x="3501200" y="1738312"/>
              <a:ext cx="110413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平等伙伴关系</a:t>
              </a:r>
            </a:p>
          </p:txBody>
        </p:sp>
        <p:sp>
          <p:nvSpPr>
            <p:cNvPr id="19" name="Ellipse 19"/>
            <p:cNvSpPr/>
            <p:nvPr/>
          </p:nvSpPr>
          <p:spPr>
            <a:xfrm>
              <a:off x="3516630" y="2114550"/>
              <a:ext cx="59055" cy="59055"/>
            </a:xfrm>
            <a:prstGeom prst="ellipse">
              <a:avLst/>
            </a:prstGeom>
            <a:solidFill>
              <a:srgbClr val="334E68"/>
            </a:solidFill>
            <a:ln>
              <a:noFill/>
            </a:ln>
          </p:spPr>
        </p:sp>
        <p:sp>
          <p:nvSpPr>
            <p:cNvPr id="20" name="TextBox 20"/>
            <p:cNvSpPr txBox="1"/>
            <p:nvPr/>
          </p:nvSpPr>
          <p:spPr>
            <a:xfrm>
              <a:off x="3672650" y="2058352"/>
              <a:ext cx="121386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每个子系统都可</a:t>
              </a:r>
              <a:br/>
              <a:r>
                <a:rPr lang="zh-CN" sz="1350" dirty="0">
                  <a:solidFill>
                    <a:srgbClr val="1F2937"/>
                  </a:solidFill>
                  <a:latin typeface="+mn-lt"/>
                  <a:ea typeface="+mn-ea"/>
                  <a:cs typeface="+mn-cs"/>
                </a:rPr>
                <a:t>能调用其他子系</a:t>
              </a:r>
              <a:br/>
              <a:r>
                <a:rPr lang="zh-CN" sz="1350" dirty="0">
                  <a:solidFill>
                    <a:srgbClr val="1F2937"/>
                  </a:solidFill>
                  <a:latin typeface="+mn-lt"/>
                  <a:ea typeface="+mn-ea"/>
                  <a:cs typeface="+mn-cs"/>
                </a:rPr>
                <a:t>统</a:t>
              </a:r>
            </a:p>
          </p:txBody>
        </p:sp>
        <p:sp>
          <p:nvSpPr>
            <p:cNvPr id="21" name="Ellipse 21"/>
            <p:cNvSpPr/>
            <p:nvPr/>
          </p:nvSpPr>
          <p:spPr>
            <a:xfrm>
              <a:off x="3516630" y="2931795"/>
              <a:ext cx="59055" cy="59055"/>
            </a:xfrm>
            <a:prstGeom prst="ellipse">
              <a:avLst/>
            </a:prstGeom>
            <a:solidFill>
              <a:srgbClr val="334E68"/>
            </a:solidFill>
            <a:ln>
              <a:noFill/>
            </a:ln>
          </p:spPr>
        </p:sp>
        <p:sp>
          <p:nvSpPr>
            <p:cNvPr id="22" name="TextBox 22"/>
            <p:cNvSpPr txBox="1"/>
            <p:nvPr/>
          </p:nvSpPr>
          <p:spPr>
            <a:xfrm>
              <a:off x="3672650" y="2875598"/>
              <a:ext cx="10424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信息流是双向</a:t>
              </a:r>
              <a:br/>
              <a:r>
                <a:rPr lang="zh-CN" sz="1350" dirty="0">
                  <a:solidFill>
                    <a:srgbClr val="1F2937"/>
                  </a:solidFill>
                  <a:latin typeface="+mn-lt"/>
                  <a:ea typeface="+mn-ea"/>
                  <a:cs typeface="+mn-cs"/>
                </a:rPr>
                <a:t>的，耦合更紧</a:t>
              </a:r>
            </a:p>
          </p:txBody>
        </p:sp>
        <p:sp>
          <p:nvSpPr>
            <p:cNvPr id="23" name="Ellipse 23"/>
            <p:cNvSpPr/>
            <p:nvPr/>
          </p:nvSpPr>
          <p:spPr>
            <a:xfrm>
              <a:off x="3516630" y="3490912"/>
              <a:ext cx="59055" cy="59055"/>
            </a:xfrm>
            <a:prstGeom prst="ellipse">
              <a:avLst/>
            </a:prstGeom>
            <a:solidFill>
              <a:srgbClr val="334E68"/>
            </a:solidFill>
            <a:ln>
              <a:noFill/>
            </a:ln>
          </p:spPr>
        </p:sp>
        <p:sp>
          <p:nvSpPr>
            <p:cNvPr id="24" name="TextBox 24"/>
            <p:cNvSpPr txBox="1"/>
            <p:nvPr/>
          </p:nvSpPr>
          <p:spPr>
            <a:xfrm>
              <a:off x="3672650" y="3434715"/>
              <a:ext cx="121386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容易出现循环依</a:t>
              </a:r>
              <a:br/>
              <a:r>
                <a:rPr lang="zh-CN" sz="1350" dirty="0">
                  <a:solidFill>
                    <a:srgbClr val="1F2937"/>
                  </a:solidFill>
                  <a:latin typeface="+mn-lt"/>
                  <a:ea typeface="+mn-ea"/>
                  <a:cs typeface="+mn-cs"/>
                </a:rPr>
                <a:t>赖，设计时应尽</a:t>
              </a:r>
              <a:br/>
              <a:r>
                <a:rPr lang="zh-CN" sz="1350" dirty="0">
                  <a:solidFill>
                    <a:srgbClr val="1F2937"/>
                  </a:solidFill>
                  <a:latin typeface="+mn-lt"/>
                  <a:ea typeface="+mn-ea"/>
                  <a:cs typeface="+mn-cs"/>
                </a:rPr>
                <a:t>量少用</a:t>
              </a:r>
            </a:p>
          </p:txBody>
        </p:sp>
        <p:sp>
          <p:nvSpPr>
            <p:cNvPr id="25" name="Ellipse 25"/>
            <p:cNvSpPr/>
            <p:nvPr/>
          </p:nvSpPr>
          <p:spPr>
            <a:xfrm>
              <a:off x="2598420" y="2623185"/>
              <a:ext cx="630555" cy="630555"/>
            </a:xfrm>
            <a:prstGeom prst="ellipse">
              <a:avLst/>
            </a:prstGeom>
            <a:solidFill>
              <a:srgbClr val="F26B3A"/>
            </a:solidFill>
            <a:ln>
              <a:noFill/>
            </a:ln>
          </p:spPr>
        </p:sp>
        <p:sp>
          <p:nvSpPr>
            <p:cNvPr id="26" name="TextBox 26"/>
            <p:cNvSpPr txBox="1"/>
            <p:nvPr/>
          </p:nvSpPr>
          <p:spPr>
            <a:xfrm>
              <a:off x="2644889" y="2877979"/>
              <a:ext cx="537616"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交互方式</a:t>
              </a:r>
            </a:p>
          </p:txBody>
        </p:sp>
      </p:grpSp>
      <p:grpSp>
        <p:nvGrpSpPr>
          <p:cNvPr id="36" name="c1-kv-2"/>
          <p:cNvGrpSpPr/>
          <p:nvPr/>
        </p:nvGrpSpPr>
        <p:grpSpPr>
          <a:xfrm>
            <a:off x="526542" y="4550092"/>
            <a:ext cx="4767453" cy="1820418"/>
            <a:chOff x="526542" y="4550092"/>
            <a:chExt cx="4767453" cy="1820418"/>
          </a:xfrm>
        </p:grpSpPr>
        <p:sp>
          <p:nvSpPr>
            <p:cNvPr id="28" name="TextBox 28"/>
            <p:cNvSpPr txBox="1"/>
            <p:nvPr/>
          </p:nvSpPr>
          <p:spPr>
            <a:xfrm>
              <a:off x="526542" y="4550092"/>
              <a:ext cx="1390828"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层次组织·封闭式</a:t>
              </a:r>
            </a:p>
          </p:txBody>
        </p:sp>
        <p:sp>
          <p:nvSpPr>
            <p:cNvPr id="29" name="TextBox 29"/>
            <p:cNvSpPr txBox="1"/>
            <p:nvPr/>
          </p:nvSpPr>
          <p:spPr>
            <a:xfrm>
              <a:off x="2127694" y="4550092"/>
              <a:ext cx="2756916" cy="517398"/>
            </a:xfrm>
            <a:prstGeom prst="rect">
              <a:avLst/>
            </a:prstGeom>
            <a:noFill/>
            <a:ln>
              <a:noFill/>
            </a:ln>
          </p:spPr>
          <p:txBody>
            <a:bodyPr wrap="none" lIns="0" tIns="0" rIns="0" bIns="0" anchor="t" anchorCtr="0">
              <a:spAutoFit/>
            </a:bodyPr>
            <a:lstStyle/>
            <a:p>
              <a:pPr algn="l">
                <a:lnSpc>
                  <a:spcPts val="1995"/>
                </a:lnSpc>
              </a:pPr>
              <a:r>
                <a:rPr lang="zh-CN" sz="1350" dirty="0">
                  <a:solidFill>
                    <a:srgbClr val="1F2937"/>
                  </a:solidFill>
                  <a:latin typeface="+mn-lt"/>
                  <a:ea typeface="+mn-ea"/>
                  <a:cs typeface="+mn-cs"/>
                </a:rPr>
                <a:t>每层只能调用它直接下一层提供的服</a:t>
              </a:r>
              <a:br/>
              <a:r>
                <a:rPr lang="zh-CN" sz="1350" dirty="0">
                  <a:solidFill>
                    <a:srgbClr val="1F2937"/>
                  </a:solidFill>
                  <a:latin typeface="+mn-lt"/>
                  <a:ea typeface="+mn-ea"/>
                  <a:cs typeface="+mn-cs"/>
                </a:rPr>
                <a:t>务，修改影响面小，但调用链长</a:t>
              </a:r>
            </a:p>
          </p:txBody>
        </p:sp>
        <p:sp>
          <p:nvSpPr>
            <p:cNvPr id="30" name="Rectangle 30"/>
            <p:cNvSpPr/>
            <p:nvPr/>
          </p:nvSpPr>
          <p:spPr>
            <a:xfrm>
              <a:off x="533400" y="5093018"/>
              <a:ext cx="4760595" cy="9525"/>
            </a:xfrm>
            <a:prstGeom prst="rect">
              <a:avLst/>
            </a:prstGeom>
            <a:solidFill>
              <a:srgbClr val="D9DFEA"/>
            </a:solidFill>
            <a:ln>
              <a:noFill/>
            </a:ln>
          </p:spPr>
        </p:sp>
        <p:sp>
          <p:nvSpPr>
            <p:cNvPr id="31" name="TextBox 31"/>
            <p:cNvSpPr txBox="1"/>
            <p:nvPr/>
          </p:nvSpPr>
          <p:spPr>
            <a:xfrm>
              <a:off x="526542" y="5201602"/>
              <a:ext cx="1390828"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层次组织·开放式</a:t>
              </a:r>
            </a:p>
          </p:txBody>
        </p:sp>
        <p:sp>
          <p:nvSpPr>
            <p:cNvPr id="32" name="TextBox 32"/>
            <p:cNvSpPr txBox="1"/>
            <p:nvPr/>
          </p:nvSpPr>
          <p:spPr>
            <a:xfrm>
              <a:off x="2127694" y="5201602"/>
              <a:ext cx="2928366" cy="517398"/>
            </a:xfrm>
            <a:prstGeom prst="rect">
              <a:avLst/>
            </a:prstGeom>
            <a:noFill/>
            <a:ln>
              <a:noFill/>
            </a:ln>
          </p:spPr>
          <p:txBody>
            <a:bodyPr wrap="none" lIns="0" tIns="0" rIns="0" bIns="0" anchor="t" anchorCtr="0">
              <a:spAutoFit/>
            </a:bodyPr>
            <a:lstStyle/>
            <a:p>
              <a:pPr algn="l">
                <a:lnSpc>
                  <a:spcPts val="1995"/>
                </a:lnSpc>
              </a:pPr>
              <a:r>
                <a:rPr lang="zh-CN" sz="1350" dirty="0">
                  <a:solidFill>
                    <a:srgbClr val="1F2937"/>
                  </a:solidFill>
                  <a:latin typeface="+mn-lt"/>
                  <a:ea typeface="+mn-ea"/>
                  <a:cs typeface="+mn-cs"/>
                </a:rPr>
                <a:t>每层可以调用它下面任何一层的服务，</a:t>
              </a:r>
              <a:br/>
              <a:r>
                <a:rPr lang="zh-CN" sz="1350" dirty="0">
                  <a:solidFill>
                    <a:srgbClr val="1F2937"/>
                  </a:solidFill>
                  <a:latin typeface="+mn-lt"/>
                  <a:ea typeface="+mn-ea"/>
                  <a:cs typeface="+mn-cs"/>
                </a:rPr>
                <a:t>效率高，但一层变动会波及很多层</a:t>
              </a:r>
            </a:p>
          </p:txBody>
        </p:sp>
        <p:sp>
          <p:nvSpPr>
            <p:cNvPr id="33" name="Rectangle 33"/>
            <p:cNvSpPr/>
            <p:nvPr/>
          </p:nvSpPr>
          <p:spPr>
            <a:xfrm>
              <a:off x="533400" y="5744528"/>
              <a:ext cx="4760595" cy="9525"/>
            </a:xfrm>
            <a:prstGeom prst="rect">
              <a:avLst/>
            </a:prstGeom>
            <a:solidFill>
              <a:srgbClr val="D9DFEA"/>
            </a:solidFill>
            <a:ln>
              <a:noFill/>
            </a:ln>
          </p:spPr>
        </p:sp>
        <p:sp>
          <p:nvSpPr>
            <p:cNvPr id="34" name="TextBox 34"/>
            <p:cNvSpPr txBox="1"/>
            <p:nvPr/>
          </p:nvSpPr>
          <p:spPr>
            <a:xfrm>
              <a:off x="526542" y="5853112"/>
              <a:ext cx="740664"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块状组织</a:t>
              </a:r>
            </a:p>
          </p:txBody>
        </p:sp>
        <p:sp>
          <p:nvSpPr>
            <p:cNvPr id="35" name="TextBox 35"/>
            <p:cNvSpPr txBox="1"/>
            <p:nvPr/>
          </p:nvSpPr>
          <p:spPr>
            <a:xfrm>
              <a:off x="2127694" y="5853112"/>
              <a:ext cx="2928366" cy="517398"/>
            </a:xfrm>
            <a:prstGeom prst="rect">
              <a:avLst/>
            </a:prstGeom>
            <a:noFill/>
            <a:ln>
              <a:noFill/>
            </a:ln>
          </p:spPr>
          <p:txBody>
            <a:bodyPr wrap="none" lIns="0" tIns="0" rIns="0" bIns="0" anchor="t" anchorCtr="0">
              <a:spAutoFit/>
            </a:bodyPr>
            <a:lstStyle/>
            <a:p>
              <a:pPr algn="l">
                <a:lnSpc>
                  <a:spcPts val="1995"/>
                </a:lnSpc>
              </a:pPr>
              <a:r>
                <a:rPr lang="zh-CN" sz="1350" dirty="0">
                  <a:solidFill>
                    <a:srgbClr val="1F2937"/>
                  </a:solidFill>
                  <a:latin typeface="+mn-lt"/>
                  <a:ea typeface="+mn-ea"/>
                  <a:cs typeface="+mn-cs"/>
                </a:rPr>
                <a:t>把系统垂直分成若干相对独立、松耦合</a:t>
              </a:r>
              <a:br/>
              <a:r>
                <a:rPr lang="zh-CN" sz="1350" dirty="0">
                  <a:solidFill>
                    <a:srgbClr val="1F2937"/>
                  </a:solidFill>
                  <a:latin typeface="+mn-lt"/>
                  <a:ea typeface="+mn-ea"/>
                  <a:cs typeface="+mn-cs"/>
                </a:rPr>
                <a:t>的块，每块提供一种类型的服务</a:t>
              </a:r>
            </a:p>
          </p:txBody>
        </p:sp>
      </p:grpSp>
      <p:grpSp>
        <p:nvGrpSpPr>
          <p:cNvPr id="58" name="c2-flow-1"/>
          <p:cNvGrpSpPr/>
          <p:nvPr/>
        </p:nvGrpSpPr>
        <p:grpSpPr>
          <a:xfrm>
            <a:off x="5740718" y="1563052"/>
            <a:ext cx="5776912" cy="2782254"/>
            <a:chOff x="5740718" y="1563052"/>
            <a:chExt cx="5776912" cy="2782254"/>
          </a:xfrm>
        </p:grpSpPr>
        <p:sp>
          <p:nvSpPr>
            <p:cNvPr id="37" name="Freeform 37"/>
            <p:cNvSpPr/>
            <p:nvPr/>
          </p:nvSpPr>
          <p:spPr>
            <a:xfrm>
              <a:off x="8628698" y="1962150"/>
              <a:ext cx="9525" cy="77152"/>
            </a:xfrm>
            <a:custGeom>
              <a:avLst/>
              <a:gdLst/>
              <a:ahLst/>
              <a:cxnLst/>
              <a:rect l="l" t="t" r="r" b="b"/>
              <a:pathLst>
                <a:path w="9525" h="77152">
                  <a:moveTo>
                    <a:pt x="0" y="0"/>
                  </a:moveTo>
                  <a:lnTo>
                    <a:pt x="0" y="77152"/>
                  </a:lnTo>
                </a:path>
              </a:pathLst>
            </a:custGeom>
            <a:noFill/>
            <a:ln w="15240">
              <a:solidFill>
                <a:srgbClr val="5B6475"/>
              </a:solidFill>
            </a:ln>
          </p:spPr>
        </p:sp>
        <p:sp>
          <p:nvSpPr>
            <p:cNvPr id="38" name="Freeform 38"/>
            <p:cNvSpPr/>
            <p:nvPr/>
          </p:nvSpPr>
          <p:spPr>
            <a:xfrm>
              <a:off x="8628698" y="2438400"/>
              <a:ext cx="9525" cy="78105"/>
            </a:xfrm>
            <a:custGeom>
              <a:avLst/>
              <a:gdLst/>
              <a:ahLst/>
              <a:cxnLst/>
              <a:rect l="l" t="t" r="r" b="b"/>
              <a:pathLst>
                <a:path w="9525" h="78105">
                  <a:moveTo>
                    <a:pt x="0" y="0"/>
                  </a:moveTo>
                  <a:lnTo>
                    <a:pt x="0" y="78105"/>
                  </a:lnTo>
                </a:path>
              </a:pathLst>
            </a:custGeom>
            <a:noFill/>
            <a:ln w="15240">
              <a:solidFill>
                <a:srgbClr val="5B6475"/>
              </a:solidFill>
            </a:ln>
          </p:spPr>
        </p:sp>
        <p:sp>
          <p:nvSpPr>
            <p:cNvPr id="39" name="Freeform 39"/>
            <p:cNvSpPr/>
            <p:nvPr/>
          </p:nvSpPr>
          <p:spPr>
            <a:xfrm>
              <a:off x="8628698" y="2915602"/>
              <a:ext cx="9525" cy="77152"/>
            </a:xfrm>
            <a:custGeom>
              <a:avLst/>
              <a:gdLst/>
              <a:ahLst/>
              <a:cxnLst/>
              <a:rect l="l" t="t" r="r" b="b"/>
              <a:pathLst>
                <a:path w="9525" h="77152">
                  <a:moveTo>
                    <a:pt x="0" y="0"/>
                  </a:moveTo>
                  <a:lnTo>
                    <a:pt x="0" y="77152"/>
                  </a:lnTo>
                </a:path>
              </a:pathLst>
            </a:custGeom>
            <a:noFill/>
            <a:ln w="15240">
              <a:solidFill>
                <a:srgbClr val="5B6475"/>
              </a:solidFill>
            </a:ln>
          </p:spPr>
        </p:sp>
        <p:sp>
          <p:nvSpPr>
            <p:cNvPr id="40" name="Freeform 40"/>
            <p:cNvSpPr/>
            <p:nvPr/>
          </p:nvSpPr>
          <p:spPr>
            <a:xfrm>
              <a:off x="8628698" y="3391852"/>
              <a:ext cx="9525" cy="78105"/>
            </a:xfrm>
            <a:custGeom>
              <a:avLst/>
              <a:gdLst/>
              <a:ahLst/>
              <a:cxnLst/>
              <a:rect l="l" t="t" r="r" b="b"/>
              <a:pathLst>
                <a:path w="9525" h="78105">
                  <a:moveTo>
                    <a:pt x="0" y="0"/>
                  </a:moveTo>
                  <a:lnTo>
                    <a:pt x="0" y="78105"/>
                  </a:lnTo>
                </a:path>
              </a:pathLst>
            </a:custGeom>
            <a:noFill/>
            <a:ln w="15240">
              <a:solidFill>
                <a:srgbClr val="5B6475"/>
              </a:solidFill>
            </a:ln>
          </p:spPr>
        </p:sp>
        <p:sp>
          <p:nvSpPr>
            <p:cNvPr id="41" name="Freeform 41"/>
            <p:cNvSpPr/>
            <p:nvPr/>
          </p:nvSpPr>
          <p:spPr>
            <a:xfrm>
              <a:off x="8628698" y="3869055"/>
              <a:ext cx="9525" cy="77153"/>
            </a:xfrm>
            <a:custGeom>
              <a:avLst/>
              <a:gdLst/>
              <a:ahLst/>
              <a:cxnLst/>
              <a:rect l="l" t="t" r="r" b="b"/>
              <a:pathLst>
                <a:path w="9525" h="77153">
                  <a:moveTo>
                    <a:pt x="0" y="0"/>
                  </a:moveTo>
                  <a:lnTo>
                    <a:pt x="0" y="77153"/>
                  </a:lnTo>
                </a:path>
              </a:pathLst>
            </a:custGeom>
            <a:noFill/>
            <a:ln w="15240">
              <a:solidFill>
                <a:srgbClr val="5B6475"/>
              </a:solidFill>
            </a:ln>
          </p:spPr>
        </p:sp>
        <p:sp>
          <p:nvSpPr>
            <p:cNvPr id="42" name="Rectangle 42"/>
            <p:cNvSpPr/>
            <p:nvPr/>
          </p:nvSpPr>
          <p:spPr>
            <a:xfrm>
              <a:off x="6023610" y="1563052"/>
              <a:ext cx="5211128" cy="399098"/>
            </a:xfrm>
            <a:prstGeom prst="roundRect">
              <a:avLst>
                <a:gd name="adj" fmla="val 23866"/>
              </a:avLst>
            </a:prstGeom>
            <a:solidFill>
              <a:srgbClr val="E7EDF3"/>
            </a:solidFill>
            <a:ln w="19050">
              <a:solidFill>
                <a:srgbClr val="334E68"/>
              </a:solidFill>
            </a:ln>
          </p:spPr>
        </p:sp>
        <p:sp>
          <p:nvSpPr>
            <p:cNvPr id="43" name="Rectangle 43"/>
            <p:cNvSpPr/>
            <p:nvPr/>
          </p:nvSpPr>
          <p:spPr>
            <a:xfrm>
              <a:off x="7760018" y="2039302"/>
              <a:ext cx="1737360" cy="399098"/>
            </a:xfrm>
            <a:prstGeom prst="roundRect">
              <a:avLst>
                <a:gd name="adj" fmla="val 23866"/>
              </a:avLst>
            </a:prstGeom>
            <a:solidFill>
              <a:srgbClr val="FFFFFF"/>
            </a:solidFill>
            <a:ln w="15240">
              <a:solidFill>
                <a:srgbClr val="334E68"/>
              </a:solidFill>
            </a:ln>
          </p:spPr>
        </p:sp>
        <p:sp>
          <p:nvSpPr>
            <p:cNvPr id="44" name="Rectangle 44"/>
            <p:cNvSpPr/>
            <p:nvPr/>
          </p:nvSpPr>
          <p:spPr>
            <a:xfrm>
              <a:off x="5740718" y="2516505"/>
              <a:ext cx="1737360" cy="399098"/>
            </a:xfrm>
            <a:prstGeom prst="roundRect">
              <a:avLst>
                <a:gd name="adj" fmla="val 23866"/>
              </a:avLst>
            </a:prstGeom>
            <a:solidFill>
              <a:srgbClr val="FFFFFF"/>
            </a:solidFill>
            <a:ln w="15240">
              <a:solidFill>
                <a:srgbClr val="334E68"/>
              </a:solidFill>
            </a:ln>
          </p:spPr>
        </p:sp>
        <p:sp>
          <p:nvSpPr>
            <p:cNvPr id="45" name="Rectangle 45"/>
            <p:cNvSpPr/>
            <p:nvPr/>
          </p:nvSpPr>
          <p:spPr>
            <a:xfrm>
              <a:off x="7760018" y="2516505"/>
              <a:ext cx="1737360" cy="399098"/>
            </a:xfrm>
            <a:prstGeom prst="roundRect">
              <a:avLst>
                <a:gd name="adj" fmla="val 23866"/>
              </a:avLst>
            </a:prstGeom>
            <a:solidFill>
              <a:srgbClr val="FFFFFF"/>
            </a:solidFill>
            <a:ln w="15240">
              <a:solidFill>
                <a:srgbClr val="334E68"/>
              </a:solidFill>
            </a:ln>
          </p:spPr>
        </p:sp>
        <p:sp>
          <p:nvSpPr>
            <p:cNvPr id="46" name="Rectangle 46"/>
            <p:cNvSpPr/>
            <p:nvPr/>
          </p:nvSpPr>
          <p:spPr>
            <a:xfrm>
              <a:off x="9780270" y="2516505"/>
              <a:ext cx="1737360" cy="399098"/>
            </a:xfrm>
            <a:prstGeom prst="roundRect">
              <a:avLst>
                <a:gd name="adj" fmla="val 23866"/>
              </a:avLst>
            </a:prstGeom>
            <a:solidFill>
              <a:srgbClr val="FFFFFF"/>
            </a:solidFill>
            <a:ln w="15240">
              <a:solidFill>
                <a:srgbClr val="334E68"/>
              </a:solidFill>
            </a:ln>
          </p:spPr>
        </p:sp>
        <p:sp>
          <p:nvSpPr>
            <p:cNvPr id="47" name="Rectangle 47"/>
            <p:cNvSpPr/>
            <p:nvPr/>
          </p:nvSpPr>
          <p:spPr>
            <a:xfrm>
              <a:off x="7760018" y="2992755"/>
              <a:ext cx="1737360" cy="399098"/>
            </a:xfrm>
            <a:prstGeom prst="roundRect">
              <a:avLst>
                <a:gd name="adj" fmla="val 23866"/>
              </a:avLst>
            </a:prstGeom>
            <a:solidFill>
              <a:srgbClr val="FFFFFF"/>
            </a:solidFill>
            <a:ln w="15240">
              <a:solidFill>
                <a:srgbClr val="334E68"/>
              </a:solidFill>
            </a:ln>
          </p:spPr>
        </p:sp>
        <p:sp>
          <p:nvSpPr>
            <p:cNvPr id="48" name="Rectangle 48"/>
            <p:cNvSpPr/>
            <p:nvPr/>
          </p:nvSpPr>
          <p:spPr>
            <a:xfrm>
              <a:off x="6023610" y="3469958"/>
              <a:ext cx="5211128" cy="399098"/>
            </a:xfrm>
            <a:prstGeom prst="roundRect">
              <a:avLst>
                <a:gd name="adj" fmla="val 23866"/>
              </a:avLst>
            </a:prstGeom>
            <a:solidFill>
              <a:srgbClr val="FFFFFF"/>
            </a:solidFill>
            <a:ln w="15240">
              <a:solidFill>
                <a:srgbClr val="334E68"/>
              </a:solidFill>
            </a:ln>
          </p:spPr>
        </p:sp>
        <p:sp>
          <p:nvSpPr>
            <p:cNvPr id="49" name="Rectangle 49"/>
            <p:cNvSpPr/>
            <p:nvPr/>
          </p:nvSpPr>
          <p:spPr>
            <a:xfrm>
              <a:off x="6023610" y="3946208"/>
              <a:ext cx="5211128" cy="399098"/>
            </a:xfrm>
            <a:prstGeom prst="roundRect">
              <a:avLst>
                <a:gd name="adj" fmla="val 23866"/>
              </a:avLst>
            </a:prstGeom>
            <a:solidFill>
              <a:srgbClr val="FFFFFF"/>
            </a:solidFill>
            <a:ln w="15240">
              <a:solidFill>
                <a:srgbClr val="334E68"/>
              </a:solidFill>
            </a:ln>
          </p:spPr>
        </p:sp>
        <p:sp>
          <p:nvSpPr>
            <p:cNvPr id="50" name="TextBox 50"/>
            <p:cNvSpPr txBox="1"/>
            <p:nvPr/>
          </p:nvSpPr>
          <p:spPr>
            <a:xfrm>
              <a:off x="8246046" y="1683544"/>
              <a:ext cx="765302"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应用软件包</a:t>
              </a:r>
            </a:p>
          </p:txBody>
        </p:sp>
        <p:sp>
          <p:nvSpPr>
            <p:cNvPr id="51" name="TextBox 51"/>
            <p:cNvSpPr txBox="1"/>
            <p:nvPr/>
          </p:nvSpPr>
          <p:spPr>
            <a:xfrm>
              <a:off x="8321434" y="2160746"/>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窗口图形</a:t>
              </a:r>
            </a:p>
          </p:txBody>
        </p:sp>
        <p:sp>
          <p:nvSpPr>
            <p:cNvPr id="52" name="TextBox 52"/>
            <p:cNvSpPr txBox="1"/>
            <p:nvPr/>
          </p:nvSpPr>
          <p:spPr>
            <a:xfrm>
              <a:off x="6151359" y="2636996"/>
              <a:ext cx="91607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人机对话控制</a:t>
              </a:r>
            </a:p>
          </p:txBody>
        </p:sp>
        <p:sp>
          <p:nvSpPr>
            <p:cNvPr id="53" name="TextBox 53"/>
            <p:cNvSpPr txBox="1"/>
            <p:nvPr/>
          </p:nvSpPr>
          <p:spPr>
            <a:xfrm>
              <a:off x="8321434" y="2636996"/>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屏幕图形</a:t>
              </a:r>
            </a:p>
          </p:txBody>
        </p:sp>
        <p:sp>
          <p:nvSpPr>
            <p:cNvPr id="54" name="TextBox 54"/>
            <p:cNvSpPr txBox="1"/>
            <p:nvPr/>
          </p:nvSpPr>
          <p:spPr>
            <a:xfrm>
              <a:off x="10266299" y="2636996"/>
              <a:ext cx="765302"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仿真软件包</a:t>
              </a:r>
            </a:p>
          </p:txBody>
        </p:sp>
        <p:sp>
          <p:nvSpPr>
            <p:cNvPr id="55" name="TextBox 55"/>
            <p:cNvSpPr txBox="1"/>
            <p:nvPr/>
          </p:nvSpPr>
          <p:spPr>
            <a:xfrm>
              <a:off x="8321434" y="3114199"/>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像素图形</a:t>
              </a:r>
            </a:p>
          </p:txBody>
        </p:sp>
        <p:sp>
          <p:nvSpPr>
            <p:cNvPr id="56" name="TextBox 56"/>
            <p:cNvSpPr txBox="1"/>
            <p:nvPr/>
          </p:nvSpPr>
          <p:spPr>
            <a:xfrm>
              <a:off x="8321434" y="3590449"/>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操作系统</a:t>
              </a:r>
            </a:p>
          </p:txBody>
        </p:sp>
        <p:sp>
          <p:nvSpPr>
            <p:cNvPr id="57" name="TextBox 57"/>
            <p:cNvSpPr txBox="1"/>
            <p:nvPr/>
          </p:nvSpPr>
          <p:spPr>
            <a:xfrm>
              <a:off x="8246046" y="4067651"/>
              <a:ext cx="765302"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计算机硬件</a:t>
              </a:r>
            </a:p>
          </p:txBody>
        </p:sp>
      </p:grpSp>
      <p:grpSp>
        <p:nvGrpSpPr>
          <p:cNvPr id="60" name="c2-text-2"/>
          <p:cNvGrpSpPr/>
          <p:nvPr/>
        </p:nvGrpSpPr>
        <p:grpSpPr>
          <a:xfrm>
            <a:off x="7507252" y="4578191"/>
            <a:ext cx="2242891" cy="220028"/>
            <a:chOff x="7507252" y="4578191"/>
            <a:chExt cx="2242891" cy="220028"/>
          </a:xfrm>
        </p:grpSpPr>
        <p:sp>
          <p:nvSpPr>
            <p:cNvPr id="59" name="TextBox 59"/>
            <p:cNvSpPr txBox="1"/>
            <p:nvPr/>
          </p:nvSpPr>
          <p:spPr>
            <a:xfrm>
              <a:off x="7507252" y="4578191"/>
              <a:ext cx="2242891"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图 11.3 典型应用系统的组织结构</a:t>
              </a:r>
            </a:p>
          </p:txBody>
        </p:sp>
      </p:grpSp>
      <p:grpSp>
        <p:nvGrpSpPr>
          <p:cNvPr id="67" name="c2-callout-3"/>
          <p:cNvGrpSpPr/>
          <p:nvPr/>
        </p:nvGrpSpPr>
        <p:grpSpPr>
          <a:xfrm>
            <a:off x="5598795" y="4929188"/>
            <a:ext cx="6059805" cy="1388745"/>
            <a:chOff x="5598795" y="4929188"/>
            <a:chExt cx="6059805" cy="1388745"/>
          </a:xfrm>
        </p:grpSpPr>
        <p:sp>
          <p:nvSpPr>
            <p:cNvPr id="61" name="Rectangle 61"/>
            <p:cNvSpPr/>
            <p:nvPr/>
          </p:nvSpPr>
          <p:spPr>
            <a:xfrm>
              <a:off x="5598795" y="4929188"/>
              <a:ext cx="6059805" cy="1388745"/>
            </a:xfrm>
            <a:prstGeom prst="roundRect">
              <a:avLst>
                <a:gd name="adj" fmla="val 8230"/>
              </a:avLst>
            </a:prstGeom>
            <a:solidFill>
              <a:srgbClr val="FDEEE7"/>
            </a:solidFill>
            <a:ln>
              <a:noFill/>
            </a:ln>
          </p:spPr>
        </p:sp>
        <p:grpSp>
          <p:nvGrpSpPr>
            <p:cNvPr id="65" name="Group 65"/>
            <p:cNvGrpSpPr/>
            <p:nvPr/>
          </p:nvGrpSpPr>
          <p:grpSpPr>
            <a:xfrm>
              <a:off x="5803583" y="5523548"/>
              <a:ext cx="200026" cy="200025"/>
              <a:chOff x="5803583" y="5523548"/>
              <a:chExt cx="200026" cy="200025"/>
            </a:xfrm>
          </p:grpSpPr>
          <p:sp>
            <p:nvSpPr>
              <p:cNvPr id="62" name="Freeform 62"/>
              <p:cNvSpPr/>
              <p:nvPr/>
            </p:nvSpPr>
            <p:spPr>
              <a:xfrm>
                <a:off x="5803583" y="552354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63" name="Freeform 63"/>
              <p:cNvSpPr/>
              <p:nvPr/>
            </p:nvSpPr>
            <p:spPr>
              <a:xfrm>
                <a:off x="5843321" y="556799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64" name="Freeform 64"/>
              <p:cNvSpPr/>
              <p:nvPr/>
            </p:nvSpPr>
            <p:spPr>
              <a:xfrm>
                <a:off x="5878037" y="567912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66" name="TextBox 66"/>
            <p:cNvSpPr txBox="1"/>
            <p:nvPr/>
          </p:nvSpPr>
          <p:spPr>
            <a:xfrm>
              <a:off x="6106287" y="5404485"/>
              <a:ext cx="515721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C2410C"/>
                  </a:solidFill>
                  <a:latin typeface="+mn-lt"/>
                  <a:ea typeface="+mn-ea"/>
                  <a:cs typeface="+mn-cs"/>
                </a:rPr>
                <a:t>这张图同时体现了两种组织：纵向是层次组织（硬件到应用软件包共</a:t>
              </a:r>
              <a:br/>
              <a:r>
                <a:rPr lang="zh-CN" sz="1350" dirty="0">
                  <a:solidFill>
                    <a:srgbClr val="C2410C"/>
                  </a:solidFill>
                  <a:latin typeface="+mn-lt"/>
                  <a:ea typeface="+mn-ea"/>
                  <a:cs typeface="+mn-cs"/>
                </a:rPr>
                <a:t>五层），横向的人机对话控制、图形、仿真软件包是块状组织。</a:t>
              </a:r>
            </a:p>
          </p:txBody>
        </p:sp>
      </p:grpSp>
      <p:grpSp>
        <p:nvGrpSpPr>
          <p:cNvPr id="70" name="footer"/>
          <p:cNvGrpSpPr/>
          <p:nvPr/>
        </p:nvGrpSpPr>
        <p:grpSpPr>
          <a:xfrm>
            <a:off x="528447" y="6581299"/>
            <a:ext cx="11135106" cy="190690"/>
            <a:chOff x="528447" y="6581299"/>
            <a:chExt cx="11135106" cy="190690"/>
          </a:xfrm>
        </p:grpSpPr>
        <p:sp>
          <p:nvSpPr>
            <p:cNvPr id="68" name="TextBox 68"/>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69" name="TextBox 6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36</a:t>
              </a:r>
            </a:p>
          </p:txBody>
        </p:sp>
      </p:grpSp>
    </p:spTree>
  </p:cSld>
  <p:clrMapOvr>
    <a:masterClrMapping/>
  </p:clrMapOvr>
  <p:transition xmlns:p14="http://schemas.microsoft.com/office/powerpoint/2010/main" p14:dur="400">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91528" cy="909257"/>
            <a:chOff x="520446" y="342900"/>
            <a:chExt cx="6891528" cy="909257"/>
          </a:xfrm>
        </p:grpSpPr>
        <p:sp>
          <p:nvSpPr>
            <p:cNvPr id="2" name="Rectangle 2"/>
            <p:cNvSpPr/>
            <p:nvPr/>
          </p:nvSpPr>
          <p:spPr>
            <a:xfrm>
              <a:off x="533400" y="342900"/>
              <a:ext cx="3208020" cy="266700"/>
            </a:xfrm>
            <a:prstGeom prst="roundRect">
              <a:avLst>
                <a:gd name="adj" fmla="val 50000"/>
              </a:avLst>
            </a:prstGeom>
            <a:solidFill>
              <a:srgbClr val="E7EDF3"/>
            </a:solidFill>
            <a:ln>
              <a:noFill/>
            </a:ln>
          </p:spPr>
        </p:sp>
        <p:sp>
          <p:nvSpPr>
            <p:cNvPr id="3" name="TextBox 3"/>
            <p:cNvSpPr txBox="1"/>
            <p:nvPr/>
          </p:nvSpPr>
          <p:spPr>
            <a:xfrm>
              <a:off x="572876" y="407194"/>
              <a:ext cx="312906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系统分解与四个子系统</a:t>
              </a:r>
            </a:p>
          </p:txBody>
        </p:sp>
        <p:sp>
          <p:nvSpPr>
            <p:cNvPr id="4" name="TextBox 4"/>
            <p:cNvSpPr txBox="1"/>
            <p:nvPr/>
          </p:nvSpPr>
          <p:spPr>
            <a:xfrm>
              <a:off x="520446" y="753428"/>
              <a:ext cx="689152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问题域子系统：尽量保持分析阶段建立的结构</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399" y="1550194"/>
            <a:ext cx="10650982" cy="308039"/>
            <a:chOff x="525399" y="1550194"/>
            <a:chExt cx="10650982" cy="308039"/>
          </a:xfrm>
        </p:grpSpPr>
        <p:sp>
          <p:nvSpPr>
            <p:cNvPr id="7" name="TextBox 7"/>
            <p:cNvSpPr txBox="1"/>
            <p:nvPr/>
          </p:nvSpPr>
          <p:spPr>
            <a:xfrm>
              <a:off x="525399" y="1550194"/>
              <a:ext cx="10650982" cy="308039"/>
            </a:xfrm>
            <a:prstGeom prst="rect">
              <a:avLst/>
            </a:prstGeom>
            <a:noFill/>
            <a:ln>
              <a:noFill/>
            </a:ln>
          </p:spPr>
          <p:txBody>
            <a:bodyPr wrap="none" lIns="0" tIns="0" rIns="0" bIns="0" anchor="t" anchorCtr="0">
              <a:spAutoFit/>
            </a:bodyPr>
            <a:lstStyle/>
            <a:p>
              <a:pPr algn="l"/>
              <a:r>
                <a:rPr lang="zh-CN" sz="1580" dirty="0">
                  <a:solidFill>
                    <a:srgbClr val="5B6475"/>
                  </a:solidFill>
                  <a:latin typeface="+mn-lt"/>
                  <a:ea typeface="+mn-ea"/>
                  <a:cs typeface="+mn-cs"/>
                </a:rPr>
                <a:t>只要可能，就应该保持面向对象分析所建立的问题域结构；面向对象设计通常只需从实现角度做一些补充或修改。</a:t>
              </a:r>
            </a:p>
          </p:txBody>
        </p:sp>
      </p:grpSp>
      <p:grpSp>
        <p:nvGrpSpPr>
          <p:cNvPr id="25" name="c1-bullets-1"/>
          <p:cNvGrpSpPr/>
          <p:nvPr/>
        </p:nvGrpSpPr>
        <p:grpSpPr>
          <a:xfrm>
            <a:off x="525780" y="1992630"/>
            <a:ext cx="4705350" cy="2884170"/>
            <a:chOff x="525780" y="1992630"/>
            <a:chExt cx="4705350" cy="2884170"/>
          </a:xfrm>
        </p:grpSpPr>
        <p:sp>
          <p:nvSpPr>
            <p:cNvPr id="9" name="TextBox 9"/>
            <p:cNvSpPr txBox="1"/>
            <p:nvPr/>
          </p:nvSpPr>
          <p:spPr>
            <a:xfrm>
              <a:off x="525780" y="1992630"/>
              <a:ext cx="223647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可能做的五类补充或修改</a:t>
              </a:r>
            </a:p>
          </p:txBody>
        </p:sp>
        <p:sp>
          <p:nvSpPr>
            <p:cNvPr id="10" name="Ellipse 10"/>
            <p:cNvSpPr/>
            <p:nvPr/>
          </p:nvSpPr>
          <p:spPr>
            <a:xfrm>
              <a:off x="533400" y="2333625"/>
              <a:ext cx="213360" cy="213360"/>
            </a:xfrm>
            <a:prstGeom prst="ellipse">
              <a:avLst/>
            </a:prstGeom>
            <a:solidFill>
              <a:srgbClr val="334E68"/>
            </a:solidFill>
            <a:ln>
              <a:noFill/>
            </a:ln>
          </p:spPr>
        </p:sp>
        <p:sp>
          <p:nvSpPr>
            <p:cNvPr id="11" name="TextBox 11"/>
            <p:cNvSpPr txBox="1"/>
            <p:nvPr/>
          </p:nvSpPr>
          <p:spPr>
            <a:xfrm>
              <a:off x="595249" y="237591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1</a:t>
              </a:r>
            </a:p>
          </p:txBody>
        </p:sp>
        <p:sp>
          <p:nvSpPr>
            <p:cNvPr id="12" name="TextBox 12"/>
            <p:cNvSpPr txBox="1"/>
            <p:nvPr/>
          </p:nvSpPr>
          <p:spPr>
            <a:xfrm>
              <a:off x="834390" y="2346960"/>
              <a:ext cx="4396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调整需求：用户需求或外部环境变了，或者分析员理</a:t>
              </a:r>
              <a:br/>
              <a:r>
                <a:rPr lang="zh-CN" sz="1500" dirty="0">
                  <a:solidFill>
                    <a:srgbClr val="1F2937"/>
                  </a:solidFill>
                  <a:latin typeface="+mn-lt"/>
                  <a:ea typeface="+mn-ea"/>
                  <a:cs typeface="+mn-cs"/>
                </a:rPr>
                <a:t>解有偏差</a:t>
              </a:r>
            </a:p>
          </p:txBody>
        </p:sp>
        <p:sp>
          <p:nvSpPr>
            <p:cNvPr id="13" name="Ellipse 13"/>
            <p:cNvSpPr/>
            <p:nvPr/>
          </p:nvSpPr>
          <p:spPr>
            <a:xfrm>
              <a:off x="533400" y="2964180"/>
              <a:ext cx="213360" cy="213360"/>
            </a:xfrm>
            <a:prstGeom prst="ellipse">
              <a:avLst/>
            </a:prstGeom>
            <a:solidFill>
              <a:srgbClr val="334E68"/>
            </a:solidFill>
            <a:ln>
              <a:noFill/>
            </a:ln>
          </p:spPr>
        </p:sp>
        <p:sp>
          <p:nvSpPr>
            <p:cNvPr id="14" name="TextBox 14"/>
            <p:cNvSpPr txBox="1"/>
            <p:nvPr/>
          </p:nvSpPr>
          <p:spPr>
            <a:xfrm>
              <a:off x="595249" y="300647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2</a:t>
              </a:r>
            </a:p>
          </p:txBody>
        </p:sp>
        <p:sp>
          <p:nvSpPr>
            <p:cNvPr id="15" name="TextBox 15"/>
            <p:cNvSpPr txBox="1"/>
            <p:nvPr/>
          </p:nvSpPr>
          <p:spPr>
            <a:xfrm>
              <a:off x="834390" y="2977515"/>
              <a:ext cx="38519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重用已有的类：把问题域类挂到已有类之下</a:t>
              </a:r>
            </a:p>
          </p:txBody>
        </p:sp>
        <p:sp>
          <p:nvSpPr>
            <p:cNvPr id="16" name="Ellipse 16"/>
            <p:cNvSpPr/>
            <p:nvPr/>
          </p:nvSpPr>
          <p:spPr>
            <a:xfrm>
              <a:off x="533400" y="3308985"/>
              <a:ext cx="213360" cy="213360"/>
            </a:xfrm>
            <a:prstGeom prst="ellipse">
              <a:avLst/>
            </a:prstGeom>
            <a:solidFill>
              <a:srgbClr val="334E68"/>
            </a:solidFill>
            <a:ln>
              <a:noFill/>
            </a:ln>
          </p:spPr>
        </p:sp>
        <p:sp>
          <p:nvSpPr>
            <p:cNvPr id="17" name="TextBox 17"/>
            <p:cNvSpPr txBox="1"/>
            <p:nvPr/>
          </p:nvSpPr>
          <p:spPr>
            <a:xfrm>
              <a:off x="595249" y="335127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3</a:t>
              </a:r>
            </a:p>
          </p:txBody>
        </p:sp>
        <p:sp>
          <p:nvSpPr>
            <p:cNvPr id="18" name="TextBox 18"/>
            <p:cNvSpPr txBox="1"/>
            <p:nvPr/>
          </p:nvSpPr>
          <p:spPr>
            <a:xfrm>
              <a:off x="834390" y="3322320"/>
              <a:ext cx="4396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把问题域类组合在一起：用一个模块或包把相关的类</a:t>
              </a:r>
              <a:br/>
              <a:r>
                <a:rPr lang="zh-CN" sz="1500" dirty="0">
                  <a:solidFill>
                    <a:srgbClr val="1F2937"/>
                  </a:solidFill>
                  <a:latin typeface="+mn-lt"/>
                  <a:ea typeface="+mn-ea"/>
                  <a:cs typeface="+mn-cs"/>
                </a:rPr>
                <a:t>圈起来</a:t>
              </a:r>
            </a:p>
          </p:txBody>
        </p:sp>
        <p:sp>
          <p:nvSpPr>
            <p:cNvPr id="19" name="Ellipse 19"/>
            <p:cNvSpPr/>
            <p:nvPr/>
          </p:nvSpPr>
          <p:spPr>
            <a:xfrm>
              <a:off x="533400" y="3939540"/>
              <a:ext cx="213360" cy="213360"/>
            </a:xfrm>
            <a:prstGeom prst="ellipse">
              <a:avLst/>
            </a:prstGeom>
            <a:solidFill>
              <a:srgbClr val="334E68"/>
            </a:solidFill>
            <a:ln>
              <a:noFill/>
            </a:ln>
          </p:spPr>
        </p:sp>
        <p:sp>
          <p:nvSpPr>
            <p:cNvPr id="20" name="TextBox 20"/>
            <p:cNvSpPr txBox="1"/>
            <p:nvPr/>
          </p:nvSpPr>
          <p:spPr>
            <a:xfrm>
              <a:off x="595249" y="398183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4</a:t>
              </a:r>
            </a:p>
          </p:txBody>
        </p:sp>
        <p:sp>
          <p:nvSpPr>
            <p:cNvPr id="21" name="TextBox 21"/>
            <p:cNvSpPr txBox="1"/>
            <p:nvPr/>
          </p:nvSpPr>
          <p:spPr>
            <a:xfrm>
              <a:off x="834390" y="3952875"/>
              <a:ext cx="4396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增添一般化类以建立协议：几个类需要相同的服务名</a:t>
              </a:r>
              <a:br/>
              <a:r>
                <a:rPr lang="zh-CN" sz="1500" dirty="0">
                  <a:solidFill>
                    <a:srgbClr val="1F2937"/>
                  </a:solidFill>
                  <a:latin typeface="+mn-lt"/>
                  <a:ea typeface="+mn-ea"/>
                  <a:cs typeface="+mn-cs"/>
                </a:rPr>
                <a:t>时，加一个共同父类定义协议</a:t>
              </a:r>
            </a:p>
          </p:txBody>
        </p:sp>
        <p:sp>
          <p:nvSpPr>
            <p:cNvPr id="22" name="Ellipse 22"/>
            <p:cNvSpPr/>
            <p:nvPr/>
          </p:nvSpPr>
          <p:spPr>
            <a:xfrm>
              <a:off x="533400" y="4570095"/>
              <a:ext cx="213360" cy="213360"/>
            </a:xfrm>
            <a:prstGeom prst="ellipse">
              <a:avLst/>
            </a:prstGeom>
            <a:solidFill>
              <a:srgbClr val="334E68"/>
            </a:solidFill>
            <a:ln>
              <a:noFill/>
            </a:ln>
          </p:spPr>
        </p:sp>
        <p:sp>
          <p:nvSpPr>
            <p:cNvPr id="23" name="TextBox 23"/>
            <p:cNvSpPr txBox="1"/>
            <p:nvPr/>
          </p:nvSpPr>
          <p:spPr>
            <a:xfrm>
              <a:off x="595249" y="461238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5</a:t>
              </a:r>
            </a:p>
          </p:txBody>
        </p:sp>
        <p:sp>
          <p:nvSpPr>
            <p:cNvPr id="24" name="TextBox 24"/>
            <p:cNvSpPr txBox="1"/>
            <p:nvPr/>
          </p:nvSpPr>
          <p:spPr>
            <a:xfrm>
              <a:off x="834390" y="4583430"/>
              <a:ext cx="42557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调整继承层次：处理多重继承和层次过深的问题</a:t>
              </a:r>
            </a:p>
          </p:txBody>
        </p:sp>
      </p:grpSp>
      <p:grpSp>
        <p:nvGrpSpPr>
          <p:cNvPr id="31" name="c1-callout-2"/>
          <p:cNvGrpSpPr/>
          <p:nvPr/>
        </p:nvGrpSpPr>
        <p:grpSpPr>
          <a:xfrm>
            <a:off x="533400" y="5008245"/>
            <a:ext cx="4977765" cy="1163955"/>
            <a:chOff x="533400" y="5008245"/>
            <a:chExt cx="4977765" cy="1163955"/>
          </a:xfrm>
        </p:grpSpPr>
        <p:sp>
          <p:nvSpPr>
            <p:cNvPr id="26" name="Rectangle 26"/>
            <p:cNvSpPr/>
            <p:nvPr/>
          </p:nvSpPr>
          <p:spPr>
            <a:xfrm>
              <a:off x="533400" y="5008245"/>
              <a:ext cx="4977765" cy="1163955"/>
            </a:xfrm>
            <a:prstGeom prst="roundRect">
              <a:avLst>
                <a:gd name="adj" fmla="val 9820"/>
              </a:avLst>
            </a:prstGeom>
            <a:solidFill>
              <a:srgbClr val="334E68"/>
            </a:solidFill>
            <a:ln>
              <a:noFill/>
            </a:ln>
          </p:spPr>
        </p:sp>
        <p:grpSp>
          <p:nvGrpSpPr>
            <p:cNvPr id="29" name="Group 29"/>
            <p:cNvGrpSpPr/>
            <p:nvPr/>
          </p:nvGrpSpPr>
          <p:grpSpPr>
            <a:xfrm>
              <a:off x="738188" y="5490212"/>
              <a:ext cx="200023" cy="200023"/>
              <a:chOff x="738188" y="5490212"/>
              <a:chExt cx="200023" cy="200023"/>
            </a:xfrm>
          </p:grpSpPr>
          <p:sp>
            <p:nvSpPr>
              <p:cNvPr id="27" name="Freeform 27"/>
              <p:cNvSpPr/>
              <p:nvPr/>
            </p:nvSpPr>
            <p:spPr>
              <a:xfrm>
                <a:off x="738188" y="549021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28" name="Freeform 28"/>
              <p:cNvSpPr/>
              <p:nvPr/>
            </p:nvSpPr>
            <p:spPr>
              <a:xfrm>
                <a:off x="871538" y="555688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30" name="TextBox 30"/>
            <p:cNvSpPr txBox="1"/>
            <p:nvPr/>
          </p:nvSpPr>
          <p:spPr>
            <a:xfrm>
              <a:off x="1040130" y="5209222"/>
              <a:ext cx="4015740" cy="845820"/>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面向对象方法的最大好处之一就是分析模型和设</a:t>
              </a:r>
              <a:br/>
              <a:r>
                <a:rPr lang="zh-CN" sz="1500" dirty="0">
                  <a:solidFill>
                    <a:srgbClr val="FFFFFF"/>
                  </a:solidFill>
                  <a:latin typeface="+mn-lt"/>
                  <a:ea typeface="+mn-ea"/>
                  <a:cs typeface="+mn-cs"/>
                </a:rPr>
                <a:t>计模型用同一套概念，所以这一步是补充而不是</a:t>
              </a:r>
              <a:br/>
              <a:r>
                <a:rPr lang="zh-CN" sz="1500" dirty="0">
                  <a:solidFill>
                    <a:srgbClr val="FFFFFF"/>
                  </a:solidFill>
                  <a:latin typeface="+mn-lt"/>
                  <a:ea typeface="+mn-ea"/>
                  <a:cs typeface="+mn-cs"/>
                </a:rPr>
                <a:t>重画。</a:t>
              </a:r>
            </a:p>
          </p:txBody>
        </p:sp>
      </p:grpSp>
      <p:grpSp>
        <p:nvGrpSpPr>
          <p:cNvPr id="49" name="c2-steps-1"/>
          <p:cNvGrpSpPr/>
          <p:nvPr/>
        </p:nvGrpSpPr>
        <p:grpSpPr>
          <a:xfrm>
            <a:off x="5815965" y="1977390"/>
            <a:ext cx="5767299" cy="3233070"/>
            <a:chOff x="5815965" y="1977390"/>
            <a:chExt cx="5767299" cy="3233070"/>
          </a:xfrm>
        </p:grpSpPr>
        <p:sp>
          <p:nvSpPr>
            <p:cNvPr id="32" name="Rectangle 32"/>
            <p:cNvSpPr/>
            <p:nvPr/>
          </p:nvSpPr>
          <p:spPr>
            <a:xfrm>
              <a:off x="5949315" y="2120265"/>
              <a:ext cx="19050" cy="2656522"/>
            </a:xfrm>
            <a:prstGeom prst="rect">
              <a:avLst/>
            </a:prstGeom>
            <a:solidFill>
              <a:srgbClr val="D9DFEA"/>
            </a:solidFill>
            <a:ln>
              <a:noFill/>
            </a:ln>
          </p:spPr>
        </p:sp>
        <p:sp>
          <p:nvSpPr>
            <p:cNvPr id="33" name="Ellipse 33"/>
            <p:cNvSpPr/>
            <p:nvPr/>
          </p:nvSpPr>
          <p:spPr>
            <a:xfrm>
              <a:off x="5815965" y="1977390"/>
              <a:ext cx="285750" cy="285750"/>
            </a:xfrm>
            <a:prstGeom prst="ellipse">
              <a:avLst/>
            </a:prstGeom>
            <a:solidFill>
              <a:srgbClr val="334E68"/>
            </a:solidFill>
            <a:ln>
              <a:noFill/>
            </a:ln>
          </p:spPr>
        </p:sp>
        <p:sp>
          <p:nvSpPr>
            <p:cNvPr id="34" name="TextBox 34"/>
            <p:cNvSpPr txBox="1"/>
            <p:nvPr/>
          </p:nvSpPr>
          <p:spPr>
            <a:xfrm>
              <a:off x="5909589" y="2051209"/>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35" name="Ellipse 35"/>
            <p:cNvSpPr/>
            <p:nvPr/>
          </p:nvSpPr>
          <p:spPr>
            <a:xfrm>
              <a:off x="5815965" y="2862262"/>
              <a:ext cx="285750" cy="285750"/>
            </a:xfrm>
            <a:prstGeom prst="ellipse">
              <a:avLst/>
            </a:prstGeom>
            <a:solidFill>
              <a:srgbClr val="334E68"/>
            </a:solidFill>
            <a:ln>
              <a:noFill/>
            </a:ln>
          </p:spPr>
        </p:sp>
        <p:sp>
          <p:nvSpPr>
            <p:cNvPr id="36" name="TextBox 36"/>
            <p:cNvSpPr txBox="1"/>
            <p:nvPr/>
          </p:nvSpPr>
          <p:spPr>
            <a:xfrm>
              <a:off x="5909589" y="293608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37" name="Ellipse 37"/>
            <p:cNvSpPr/>
            <p:nvPr/>
          </p:nvSpPr>
          <p:spPr>
            <a:xfrm>
              <a:off x="5815965" y="3748088"/>
              <a:ext cx="285750" cy="285750"/>
            </a:xfrm>
            <a:prstGeom prst="ellipse">
              <a:avLst/>
            </a:prstGeom>
            <a:solidFill>
              <a:srgbClr val="334E68"/>
            </a:solidFill>
            <a:ln>
              <a:noFill/>
            </a:ln>
          </p:spPr>
        </p:sp>
        <p:sp>
          <p:nvSpPr>
            <p:cNvPr id="38" name="TextBox 38"/>
            <p:cNvSpPr txBox="1"/>
            <p:nvPr/>
          </p:nvSpPr>
          <p:spPr>
            <a:xfrm>
              <a:off x="5909589" y="382190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39" name="Ellipse 39"/>
            <p:cNvSpPr/>
            <p:nvPr/>
          </p:nvSpPr>
          <p:spPr>
            <a:xfrm>
              <a:off x="5815965" y="4633912"/>
              <a:ext cx="285750" cy="285750"/>
            </a:xfrm>
            <a:prstGeom prst="ellipse">
              <a:avLst/>
            </a:prstGeom>
            <a:solidFill>
              <a:srgbClr val="334E68"/>
            </a:solidFill>
            <a:ln>
              <a:noFill/>
            </a:ln>
          </p:spPr>
        </p:sp>
        <p:sp>
          <p:nvSpPr>
            <p:cNvPr id="40" name="TextBox 40"/>
            <p:cNvSpPr txBox="1"/>
            <p:nvPr/>
          </p:nvSpPr>
          <p:spPr>
            <a:xfrm>
              <a:off x="5909589" y="470773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41" name="TextBox 41"/>
            <p:cNvSpPr txBox="1"/>
            <p:nvPr/>
          </p:nvSpPr>
          <p:spPr>
            <a:xfrm>
              <a:off x="6227445" y="2011680"/>
              <a:ext cx="41910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选类</a:t>
              </a:r>
            </a:p>
          </p:txBody>
        </p:sp>
        <p:sp>
          <p:nvSpPr>
            <p:cNvPr id="42" name="TextBox 42"/>
            <p:cNvSpPr txBox="1"/>
            <p:nvPr/>
          </p:nvSpPr>
          <p:spPr>
            <a:xfrm>
              <a:off x="6228588" y="2304574"/>
              <a:ext cx="521487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选择有可能被重用的已有类，标出这些候选类中对本问题无用的属性和服</a:t>
              </a:r>
              <a:br/>
              <a:r>
                <a:rPr lang="zh-CN" sz="1280" dirty="0">
                  <a:solidFill>
                    <a:srgbClr val="1F2937"/>
                  </a:solidFill>
                  <a:latin typeface="+mn-lt"/>
                  <a:ea typeface="+mn-ea"/>
                  <a:cs typeface="+mn-cs"/>
                </a:rPr>
                <a:t>务，尽量重用那些能使无用的属性和服务降到最低程度的类</a:t>
              </a:r>
            </a:p>
          </p:txBody>
        </p:sp>
        <p:sp>
          <p:nvSpPr>
            <p:cNvPr id="43" name="TextBox 43"/>
            <p:cNvSpPr txBox="1"/>
            <p:nvPr/>
          </p:nvSpPr>
          <p:spPr>
            <a:xfrm>
              <a:off x="6227445" y="2896552"/>
              <a:ext cx="62103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加泛化</a:t>
              </a:r>
            </a:p>
          </p:txBody>
        </p:sp>
        <p:sp>
          <p:nvSpPr>
            <p:cNvPr id="44" name="TextBox 44"/>
            <p:cNvSpPr txBox="1"/>
            <p:nvPr/>
          </p:nvSpPr>
          <p:spPr>
            <a:xfrm>
              <a:off x="6228588" y="3190399"/>
              <a:ext cx="521487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在被重用的已有类和问题域类之间添加泛化关系，即从被重用的已有类派</a:t>
              </a:r>
              <a:br/>
              <a:r>
                <a:rPr lang="zh-CN" sz="1280" dirty="0">
                  <a:solidFill>
                    <a:srgbClr val="1F2937"/>
                  </a:solidFill>
                  <a:latin typeface="+mn-lt"/>
                  <a:ea typeface="+mn-ea"/>
                  <a:cs typeface="+mn-cs"/>
                </a:rPr>
                <a:t>生出问题域类</a:t>
              </a:r>
            </a:p>
          </p:txBody>
        </p:sp>
        <p:sp>
          <p:nvSpPr>
            <p:cNvPr id="45" name="TextBox 45"/>
            <p:cNvSpPr txBox="1"/>
            <p:nvPr/>
          </p:nvSpPr>
          <p:spPr>
            <a:xfrm>
              <a:off x="6227445" y="3782378"/>
              <a:ext cx="62103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消重复</a:t>
              </a:r>
            </a:p>
          </p:txBody>
        </p:sp>
        <p:sp>
          <p:nvSpPr>
            <p:cNvPr id="46" name="TextBox 46"/>
            <p:cNvSpPr txBox="1"/>
            <p:nvPr/>
          </p:nvSpPr>
          <p:spPr>
            <a:xfrm>
              <a:off x="6228588" y="4076224"/>
              <a:ext cx="521487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标出问题域类中从已有类继承来的属性和服务，这些已经无须在问题域类</a:t>
              </a:r>
              <a:br/>
              <a:r>
                <a:rPr lang="zh-CN" sz="1280" dirty="0">
                  <a:solidFill>
                    <a:srgbClr val="1F2937"/>
                  </a:solidFill>
                  <a:latin typeface="+mn-lt"/>
                  <a:ea typeface="+mn-ea"/>
                  <a:cs typeface="+mn-cs"/>
                </a:rPr>
                <a:t>内重复定义</a:t>
              </a:r>
            </a:p>
          </p:txBody>
        </p:sp>
        <p:sp>
          <p:nvSpPr>
            <p:cNvPr id="47" name="TextBox 47"/>
            <p:cNvSpPr txBox="1"/>
            <p:nvPr/>
          </p:nvSpPr>
          <p:spPr>
            <a:xfrm>
              <a:off x="6227445" y="4668202"/>
              <a:ext cx="62103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改关联</a:t>
              </a:r>
            </a:p>
          </p:txBody>
        </p:sp>
        <p:sp>
          <p:nvSpPr>
            <p:cNvPr id="48" name="TextBox 48"/>
            <p:cNvSpPr txBox="1"/>
            <p:nvPr/>
          </p:nvSpPr>
          <p:spPr>
            <a:xfrm>
              <a:off x="6228588" y="4961096"/>
              <a:ext cx="535467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修改与问题域类相关的关联，必要时改为与被重用的已有类相关的关联</a:t>
              </a:r>
            </a:p>
          </p:txBody>
        </p:sp>
      </p:grpSp>
      <p:grpSp>
        <p:nvGrpSpPr>
          <p:cNvPr id="56" name="c2-callout-2"/>
          <p:cNvGrpSpPr/>
          <p:nvPr/>
        </p:nvGrpSpPr>
        <p:grpSpPr>
          <a:xfrm>
            <a:off x="5815965" y="5389245"/>
            <a:ext cx="5842635" cy="782955"/>
            <a:chOff x="5815965" y="5389245"/>
            <a:chExt cx="5842635" cy="782955"/>
          </a:xfrm>
        </p:grpSpPr>
        <p:sp>
          <p:nvSpPr>
            <p:cNvPr id="50" name="Rectangle 50"/>
            <p:cNvSpPr/>
            <p:nvPr/>
          </p:nvSpPr>
          <p:spPr>
            <a:xfrm>
              <a:off x="5815965" y="5389245"/>
              <a:ext cx="5842635" cy="782955"/>
            </a:xfrm>
            <a:prstGeom prst="roundRect">
              <a:avLst>
                <a:gd name="adj" fmla="val 14599"/>
              </a:avLst>
            </a:prstGeom>
            <a:solidFill>
              <a:srgbClr val="FDECEA"/>
            </a:solidFill>
            <a:ln>
              <a:noFill/>
            </a:ln>
          </p:spPr>
        </p:sp>
        <p:grpSp>
          <p:nvGrpSpPr>
            <p:cNvPr id="54" name="Group 54"/>
            <p:cNvGrpSpPr/>
            <p:nvPr/>
          </p:nvGrpSpPr>
          <p:grpSpPr>
            <a:xfrm>
              <a:off x="6008694" y="5677018"/>
              <a:ext cx="224134" cy="192560"/>
              <a:chOff x="6008694" y="5677018"/>
              <a:chExt cx="224134" cy="192560"/>
            </a:xfrm>
          </p:grpSpPr>
          <p:sp>
            <p:nvSpPr>
              <p:cNvPr id="51" name="Freeform 51"/>
              <p:cNvSpPr/>
              <p:nvPr/>
            </p:nvSpPr>
            <p:spPr>
              <a:xfrm>
                <a:off x="6120765" y="5747385"/>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52" name="Freeform 52"/>
              <p:cNvSpPr/>
              <p:nvPr/>
            </p:nvSpPr>
            <p:spPr>
              <a:xfrm>
                <a:off x="6008694" y="5677018"/>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53" name="Freeform 53"/>
              <p:cNvSpPr/>
              <p:nvPr/>
            </p:nvSpPr>
            <p:spPr>
              <a:xfrm>
                <a:off x="6120765" y="5825173"/>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55" name="TextBox 55"/>
            <p:cNvSpPr txBox="1"/>
            <p:nvPr/>
          </p:nvSpPr>
          <p:spPr>
            <a:xfrm>
              <a:off x="6322695" y="5537835"/>
              <a:ext cx="47777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B42318"/>
                  </a:solidFill>
                  <a:latin typeface="+mn-lt"/>
                  <a:ea typeface="+mn-ea"/>
                  <a:cs typeface="+mn-cs"/>
                </a:rPr>
                <a:t>如果候选类里有一大半属性和服务对本问题没用，说明它</a:t>
              </a:r>
              <a:br/>
              <a:r>
                <a:rPr lang="zh-CN" sz="1500" dirty="0">
                  <a:solidFill>
                    <a:srgbClr val="B42318"/>
                  </a:solidFill>
                  <a:latin typeface="+mn-lt"/>
                  <a:ea typeface="+mn-ea"/>
                  <a:cs typeface="+mn-cs"/>
                </a:rPr>
                <a:t>不适合重用，硬挂上去只会把无关的东西带进系统。</a:t>
              </a:r>
            </a:p>
          </p:txBody>
        </p:sp>
      </p:grpSp>
      <p:grpSp>
        <p:nvGrpSpPr>
          <p:cNvPr id="59" name="footer"/>
          <p:cNvGrpSpPr/>
          <p:nvPr/>
        </p:nvGrpSpPr>
        <p:grpSpPr>
          <a:xfrm>
            <a:off x="528447" y="6581299"/>
            <a:ext cx="11135106" cy="190690"/>
            <a:chOff x="528447" y="6581299"/>
            <a:chExt cx="11135106" cy="190690"/>
          </a:xfrm>
        </p:grpSpPr>
        <p:sp>
          <p:nvSpPr>
            <p:cNvPr id="57" name="TextBox 57"/>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58" name="TextBox 5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37</a:t>
              </a:r>
            </a:p>
          </p:txBody>
        </p:sp>
      </p:grpSp>
    </p:spTree>
  </p:cSld>
  <p:clrMapOvr>
    <a:masterClrMapping/>
  </p:clrMapOvr>
  <p:transition xmlns:p14="http://schemas.microsoft.com/office/powerpoint/2010/main" p14:dur="400">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1685" cy="909257"/>
            <a:chOff x="520446" y="342900"/>
            <a:chExt cx="5861685" cy="909257"/>
          </a:xfrm>
        </p:grpSpPr>
        <p:sp>
          <p:nvSpPr>
            <p:cNvPr id="2" name="Rectangle 2"/>
            <p:cNvSpPr/>
            <p:nvPr/>
          </p:nvSpPr>
          <p:spPr>
            <a:xfrm>
              <a:off x="533400" y="342900"/>
              <a:ext cx="3208020" cy="266700"/>
            </a:xfrm>
            <a:prstGeom prst="roundRect">
              <a:avLst>
                <a:gd name="adj" fmla="val 50000"/>
              </a:avLst>
            </a:prstGeom>
            <a:solidFill>
              <a:srgbClr val="E7EDF3"/>
            </a:solidFill>
            <a:ln>
              <a:noFill/>
            </a:ln>
          </p:spPr>
        </p:sp>
        <p:sp>
          <p:nvSpPr>
            <p:cNvPr id="3" name="TextBox 3"/>
            <p:cNvSpPr txBox="1"/>
            <p:nvPr/>
          </p:nvSpPr>
          <p:spPr>
            <a:xfrm>
              <a:off x="572876" y="407194"/>
              <a:ext cx="312906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系统分解与四个子系统</a:t>
              </a:r>
            </a:p>
          </p:txBody>
        </p:sp>
        <p:sp>
          <p:nvSpPr>
            <p:cNvPr id="4" name="TextBox 4"/>
            <p:cNvSpPr txBox="1"/>
            <p:nvPr/>
          </p:nvSpPr>
          <p:spPr>
            <a:xfrm>
              <a:off x="520446" y="753428"/>
              <a:ext cx="58616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调整继承层次：把多重继承改成单继承</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542" y="1545907"/>
            <a:ext cx="7646670" cy="264033"/>
            <a:chOff x="526542" y="1545907"/>
            <a:chExt cx="7646670" cy="264033"/>
          </a:xfrm>
        </p:grpSpPr>
        <p:sp>
          <p:nvSpPr>
            <p:cNvPr id="7" name="TextBox 7"/>
            <p:cNvSpPr txBox="1"/>
            <p:nvPr/>
          </p:nvSpPr>
          <p:spPr>
            <a:xfrm>
              <a:off x="526542" y="1545907"/>
              <a:ext cx="7646670"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多数面向对象语言不支持或不推荐多重继承，设计阶段要把分析模型中的多重继承结构改造掉。</a:t>
              </a:r>
            </a:p>
          </p:txBody>
        </p:sp>
      </p:grpSp>
      <p:grpSp>
        <p:nvGrpSpPr>
          <p:cNvPr id="37" name="c1-uml-1"/>
          <p:cNvGrpSpPr/>
          <p:nvPr/>
        </p:nvGrpSpPr>
        <p:grpSpPr>
          <a:xfrm>
            <a:off x="1314450" y="2008822"/>
            <a:ext cx="3848100" cy="1599248"/>
            <a:chOff x="1314450" y="2008822"/>
            <a:chExt cx="3848100" cy="1599248"/>
          </a:xfrm>
        </p:grpSpPr>
        <p:sp>
          <p:nvSpPr>
            <p:cNvPr id="9" name="Freeform 9"/>
            <p:cNvSpPr/>
            <p:nvPr/>
          </p:nvSpPr>
          <p:spPr>
            <a:xfrm>
              <a:off x="1790700" y="2515552"/>
              <a:ext cx="95250" cy="80010"/>
            </a:xfrm>
            <a:custGeom>
              <a:avLst/>
              <a:gdLst/>
              <a:ahLst/>
              <a:cxnLst/>
              <a:rect l="l" t="t" r="r" b="b"/>
              <a:pathLst>
                <a:path w="95250" h="80010">
                  <a:moveTo>
                    <a:pt x="95250" y="80010"/>
                  </a:moveTo>
                  <a:lnTo>
                    <a:pt x="95250" y="0"/>
                  </a:lnTo>
                  <a:lnTo>
                    <a:pt x="0" y="0"/>
                  </a:lnTo>
                  <a:lnTo>
                    <a:pt x="0" y="44767"/>
                  </a:lnTo>
                </a:path>
              </a:pathLst>
            </a:custGeom>
            <a:noFill/>
            <a:ln w="15240">
              <a:solidFill>
                <a:srgbClr val="1F2937"/>
              </a:solidFill>
            </a:ln>
          </p:spPr>
        </p:sp>
        <p:sp>
          <p:nvSpPr>
            <p:cNvPr id="10" name="Freeform 10"/>
            <p:cNvSpPr/>
            <p:nvPr/>
          </p:nvSpPr>
          <p:spPr>
            <a:xfrm>
              <a:off x="1717358" y="2434590"/>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11" name="Freeform 11"/>
            <p:cNvSpPr/>
            <p:nvPr/>
          </p:nvSpPr>
          <p:spPr>
            <a:xfrm>
              <a:off x="1981200" y="2515552"/>
              <a:ext cx="2609850" cy="80010"/>
            </a:xfrm>
            <a:custGeom>
              <a:avLst/>
              <a:gdLst/>
              <a:ahLst/>
              <a:cxnLst/>
              <a:rect l="l" t="t" r="r" b="b"/>
              <a:pathLst>
                <a:path w="2609850" h="80010">
                  <a:moveTo>
                    <a:pt x="2609850" y="80010"/>
                  </a:moveTo>
                  <a:lnTo>
                    <a:pt x="2609850" y="0"/>
                  </a:lnTo>
                  <a:lnTo>
                    <a:pt x="0" y="0"/>
                  </a:lnTo>
                  <a:lnTo>
                    <a:pt x="0" y="44767"/>
                  </a:lnTo>
                </a:path>
              </a:pathLst>
            </a:custGeom>
            <a:noFill/>
            <a:ln w="15240">
              <a:solidFill>
                <a:srgbClr val="1F2937"/>
              </a:solidFill>
            </a:ln>
          </p:spPr>
        </p:sp>
        <p:sp>
          <p:nvSpPr>
            <p:cNvPr id="12" name="Freeform 12"/>
            <p:cNvSpPr/>
            <p:nvPr/>
          </p:nvSpPr>
          <p:spPr>
            <a:xfrm>
              <a:off x="1907858" y="2434590"/>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13" name="Freeform 13"/>
            <p:cNvSpPr/>
            <p:nvPr/>
          </p:nvSpPr>
          <p:spPr>
            <a:xfrm>
              <a:off x="1885950" y="3102292"/>
              <a:ext cx="2609850" cy="80010"/>
            </a:xfrm>
            <a:custGeom>
              <a:avLst/>
              <a:gdLst/>
              <a:ahLst/>
              <a:cxnLst/>
              <a:rect l="l" t="t" r="r" b="b"/>
              <a:pathLst>
                <a:path w="2609850" h="80010">
                  <a:moveTo>
                    <a:pt x="2609850" y="80010"/>
                  </a:moveTo>
                  <a:lnTo>
                    <a:pt x="2609850" y="0"/>
                  </a:lnTo>
                  <a:lnTo>
                    <a:pt x="0" y="0"/>
                  </a:lnTo>
                  <a:lnTo>
                    <a:pt x="0" y="44767"/>
                  </a:lnTo>
                </a:path>
              </a:pathLst>
            </a:custGeom>
            <a:noFill/>
            <a:ln w="15240">
              <a:solidFill>
                <a:srgbClr val="1F2937"/>
              </a:solidFill>
            </a:ln>
          </p:spPr>
        </p:sp>
        <p:sp>
          <p:nvSpPr>
            <p:cNvPr id="14" name="Freeform 14"/>
            <p:cNvSpPr/>
            <p:nvPr/>
          </p:nvSpPr>
          <p:spPr>
            <a:xfrm>
              <a:off x="1812608" y="3021330"/>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15" name="Freeform 15"/>
            <p:cNvSpPr/>
            <p:nvPr/>
          </p:nvSpPr>
          <p:spPr>
            <a:xfrm>
              <a:off x="4591050" y="3102292"/>
              <a:ext cx="95250" cy="80010"/>
            </a:xfrm>
            <a:custGeom>
              <a:avLst/>
              <a:gdLst/>
              <a:ahLst/>
              <a:cxnLst/>
              <a:rect l="l" t="t" r="r" b="b"/>
              <a:pathLst>
                <a:path w="95250" h="80010">
                  <a:moveTo>
                    <a:pt x="95250" y="80010"/>
                  </a:moveTo>
                  <a:lnTo>
                    <a:pt x="95250" y="0"/>
                  </a:lnTo>
                  <a:lnTo>
                    <a:pt x="0" y="0"/>
                  </a:lnTo>
                  <a:lnTo>
                    <a:pt x="0" y="44767"/>
                  </a:lnTo>
                </a:path>
              </a:pathLst>
            </a:custGeom>
            <a:noFill/>
            <a:ln w="15240">
              <a:solidFill>
                <a:srgbClr val="1F2937"/>
              </a:solidFill>
            </a:ln>
          </p:spPr>
        </p:sp>
        <p:sp>
          <p:nvSpPr>
            <p:cNvPr id="16" name="Freeform 16"/>
            <p:cNvSpPr/>
            <p:nvPr/>
          </p:nvSpPr>
          <p:spPr>
            <a:xfrm>
              <a:off x="4517708" y="3021330"/>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17" name="Rectangle 17"/>
            <p:cNvSpPr/>
            <p:nvPr/>
          </p:nvSpPr>
          <p:spPr>
            <a:xfrm>
              <a:off x="1314450" y="2008822"/>
              <a:ext cx="1143000" cy="425768"/>
            </a:xfrm>
            <a:prstGeom prst="rect">
              <a:avLst/>
            </a:prstGeom>
            <a:solidFill>
              <a:srgbClr val="FFFFFF"/>
            </a:solidFill>
            <a:ln w="14288">
              <a:solidFill>
                <a:srgbClr val="334E68"/>
              </a:solidFill>
            </a:ln>
          </p:spPr>
        </p:sp>
        <p:sp>
          <p:nvSpPr>
            <p:cNvPr id="18" name="Rectangle 18"/>
            <p:cNvSpPr/>
            <p:nvPr/>
          </p:nvSpPr>
          <p:spPr>
            <a:xfrm>
              <a:off x="1322070" y="2016442"/>
              <a:ext cx="1128712" cy="227648"/>
            </a:xfrm>
            <a:prstGeom prst="rect">
              <a:avLst/>
            </a:prstGeom>
            <a:solidFill>
              <a:srgbClr val="E7EDF3"/>
            </a:solidFill>
            <a:ln>
              <a:noFill/>
            </a:ln>
          </p:spPr>
        </p:sp>
        <p:sp>
          <p:nvSpPr>
            <p:cNvPr id="19" name="Rectangle 19"/>
            <p:cNvSpPr/>
            <p:nvPr/>
          </p:nvSpPr>
          <p:spPr>
            <a:xfrm>
              <a:off x="1314450" y="2239328"/>
              <a:ext cx="1143000" cy="9525"/>
            </a:xfrm>
            <a:prstGeom prst="rect">
              <a:avLst/>
            </a:prstGeom>
            <a:solidFill>
              <a:srgbClr val="334E68"/>
            </a:solidFill>
            <a:ln>
              <a:noFill/>
            </a:ln>
          </p:spPr>
        </p:sp>
        <p:sp>
          <p:nvSpPr>
            <p:cNvPr id="20" name="Rectangle 20"/>
            <p:cNvSpPr/>
            <p:nvPr/>
          </p:nvSpPr>
          <p:spPr>
            <a:xfrm>
              <a:off x="1314450" y="2334578"/>
              <a:ext cx="1143000" cy="9525"/>
            </a:xfrm>
            <a:prstGeom prst="rect">
              <a:avLst/>
            </a:prstGeom>
            <a:solidFill>
              <a:srgbClr val="334E68"/>
            </a:solidFill>
            <a:ln>
              <a:noFill/>
            </a:ln>
          </p:spPr>
        </p:sp>
        <p:sp>
          <p:nvSpPr>
            <p:cNvPr id="21" name="Rectangle 21"/>
            <p:cNvSpPr/>
            <p:nvPr/>
          </p:nvSpPr>
          <p:spPr>
            <a:xfrm>
              <a:off x="1314450" y="2595562"/>
              <a:ext cx="1143000" cy="425768"/>
            </a:xfrm>
            <a:prstGeom prst="rect">
              <a:avLst/>
            </a:prstGeom>
            <a:solidFill>
              <a:srgbClr val="FFFFFF"/>
            </a:solidFill>
            <a:ln w="14288">
              <a:solidFill>
                <a:srgbClr val="334E68"/>
              </a:solidFill>
            </a:ln>
          </p:spPr>
        </p:sp>
        <p:sp>
          <p:nvSpPr>
            <p:cNvPr id="22" name="Rectangle 22"/>
            <p:cNvSpPr/>
            <p:nvPr/>
          </p:nvSpPr>
          <p:spPr>
            <a:xfrm>
              <a:off x="1322070" y="2603182"/>
              <a:ext cx="1128712" cy="227648"/>
            </a:xfrm>
            <a:prstGeom prst="rect">
              <a:avLst/>
            </a:prstGeom>
            <a:solidFill>
              <a:srgbClr val="E7EDF3"/>
            </a:solidFill>
            <a:ln>
              <a:noFill/>
            </a:ln>
          </p:spPr>
        </p:sp>
        <p:sp>
          <p:nvSpPr>
            <p:cNvPr id="23" name="Rectangle 23"/>
            <p:cNvSpPr/>
            <p:nvPr/>
          </p:nvSpPr>
          <p:spPr>
            <a:xfrm>
              <a:off x="1314450" y="2826068"/>
              <a:ext cx="1143000" cy="9525"/>
            </a:xfrm>
            <a:prstGeom prst="rect">
              <a:avLst/>
            </a:prstGeom>
            <a:solidFill>
              <a:srgbClr val="334E68"/>
            </a:solidFill>
            <a:ln>
              <a:noFill/>
            </a:ln>
          </p:spPr>
        </p:sp>
        <p:sp>
          <p:nvSpPr>
            <p:cNvPr id="24" name="Rectangle 24"/>
            <p:cNvSpPr/>
            <p:nvPr/>
          </p:nvSpPr>
          <p:spPr>
            <a:xfrm>
              <a:off x="1314450" y="2921318"/>
              <a:ext cx="1143000" cy="9525"/>
            </a:xfrm>
            <a:prstGeom prst="rect">
              <a:avLst/>
            </a:prstGeom>
            <a:solidFill>
              <a:srgbClr val="334E68"/>
            </a:solidFill>
            <a:ln>
              <a:noFill/>
            </a:ln>
          </p:spPr>
        </p:sp>
        <p:sp>
          <p:nvSpPr>
            <p:cNvPr id="25" name="Rectangle 25"/>
            <p:cNvSpPr/>
            <p:nvPr/>
          </p:nvSpPr>
          <p:spPr>
            <a:xfrm>
              <a:off x="4019550" y="2595562"/>
              <a:ext cx="1143000" cy="425768"/>
            </a:xfrm>
            <a:prstGeom prst="rect">
              <a:avLst/>
            </a:prstGeom>
            <a:solidFill>
              <a:srgbClr val="FFFFFF"/>
            </a:solidFill>
            <a:ln w="14288">
              <a:solidFill>
                <a:srgbClr val="334E68"/>
              </a:solidFill>
            </a:ln>
          </p:spPr>
        </p:sp>
        <p:sp>
          <p:nvSpPr>
            <p:cNvPr id="26" name="Rectangle 26"/>
            <p:cNvSpPr/>
            <p:nvPr/>
          </p:nvSpPr>
          <p:spPr>
            <a:xfrm>
              <a:off x="4027170" y="2603182"/>
              <a:ext cx="1128712" cy="227648"/>
            </a:xfrm>
            <a:prstGeom prst="rect">
              <a:avLst/>
            </a:prstGeom>
            <a:solidFill>
              <a:srgbClr val="E7EDF3"/>
            </a:solidFill>
            <a:ln>
              <a:noFill/>
            </a:ln>
          </p:spPr>
        </p:sp>
        <p:sp>
          <p:nvSpPr>
            <p:cNvPr id="27" name="Rectangle 27"/>
            <p:cNvSpPr/>
            <p:nvPr/>
          </p:nvSpPr>
          <p:spPr>
            <a:xfrm>
              <a:off x="4019550" y="2826068"/>
              <a:ext cx="1143000" cy="9525"/>
            </a:xfrm>
            <a:prstGeom prst="rect">
              <a:avLst/>
            </a:prstGeom>
            <a:solidFill>
              <a:srgbClr val="334E68"/>
            </a:solidFill>
            <a:ln>
              <a:noFill/>
            </a:ln>
          </p:spPr>
        </p:sp>
        <p:sp>
          <p:nvSpPr>
            <p:cNvPr id="28" name="Rectangle 28"/>
            <p:cNvSpPr/>
            <p:nvPr/>
          </p:nvSpPr>
          <p:spPr>
            <a:xfrm>
              <a:off x="4019550" y="2921318"/>
              <a:ext cx="1143000" cy="9525"/>
            </a:xfrm>
            <a:prstGeom prst="rect">
              <a:avLst/>
            </a:prstGeom>
            <a:solidFill>
              <a:srgbClr val="334E68"/>
            </a:solidFill>
            <a:ln>
              <a:noFill/>
            </a:ln>
          </p:spPr>
        </p:sp>
        <p:sp>
          <p:nvSpPr>
            <p:cNvPr id="29" name="Rectangle 29"/>
            <p:cNvSpPr/>
            <p:nvPr/>
          </p:nvSpPr>
          <p:spPr>
            <a:xfrm>
              <a:off x="4019550" y="3182302"/>
              <a:ext cx="1143000" cy="425768"/>
            </a:xfrm>
            <a:prstGeom prst="rect">
              <a:avLst/>
            </a:prstGeom>
            <a:solidFill>
              <a:srgbClr val="FFFFFF"/>
            </a:solidFill>
            <a:ln w="14288">
              <a:solidFill>
                <a:srgbClr val="334E68"/>
              </a:solidFill>
            </a:ln>
          </p:spPr>
        </p:sp>
        <p:sp>
          <p:nvSpPr>
            <p:cNvPr id="30" name="Rectangle 30"/>
            <p:cNvSpPr/>
            <p:nvPr/>
          </p:nvSpPr>
          <p:spPr>
            <a:xfrm>
              <a:off x="4027170" y="3189922"/>
              <a:ext cx="1128712" cy="227648"/>
            </a:xfrm>
            <a:prstGeom prst="rect">
              <a:avLst/>
            </a:prstGeom>
            <a:solidFill>
              <a:srgbClr val="334E68"/>
            </a:solidFill>
            <a:ln>
              <a:noFill/>
            </a:ln>
          </p:spPr>
        </p:sp>
        <p:sp>
          <p:nvSpPr>
            <p:cNvPr id="31" name="Rectangle 31"/>
            <p:cNvSpPr/>
            <p:nvPr/>
          </p:nvSpPr>
          <p:spPr>
            <a:xfrm>
              <a:off x="4019550" y="3412808"/>
              <a:ext cx="1143000" cy="9525"/>
            </a:xfrm>
            <a:prstGeom prst="rect">
              <a:avLst/>
            </a:prstGeom>
            <a:solidFill>
              <a:srgbClr val="334E68"/>
            </a:solidFill>
            <a:ln>
              <a:noFill/>
            </a:ln>
          </p:spPr>
        </p:sp>
        <p:sp>
          <p:nvSpPr>
            <p:cNvPr id="32" name="Rectangle 32"/>
            <p:cNvSpPr/>
            <p:nvPr/>
          </p:nvSpPr>
          <p:spPr>
            <a:xfrm>
              <a:off x="4019550" y="3508058"/>
              <a:ext cx="1143000" cy="9525"/>
            </a:xfrm>
            <a:prstGeom prst="rect">
              <a:avLst/>
            </a:prstGeom>
            <a:solidFill>
              <a:srgbClr val="334E68"/>
            </a:solidFill>
            <a:ln>
              <a:noFill/>
            </a:ln>
          </p:spPr>
        </p:sp>
        <p:sp>
          <p:nvSpPr>
            <p:cNvPr id="33" name="TextBox 33"/>
            <p:cNvSpPr txBox="1"/>
            <p:nvPr/>
          </p:nvSpPr>
          <p:spPr>
            <a:xfrm>
              <a:off x="1749069" y="2064544"/>
              <a:ext cx="273761" cy="190690"/>
            </a:xfrm>
            <a:prstGeom prst="rect">
              <a:avLst/>
            </a:prstGeom>
            <a:noFill/>
            <a:ln>
              <a:noFill/>
            </a:ln>
          </p:spPr>
          <p:txBody>
            <a:bodyPr wrap="none" lIns="0" tIns="0" rIns="0" bIns="0" anchor="t" anchorCtr="0">
              <a:spAutoFit/>
            </a:bodyPr>
            <a:lstStyle/>
            <a:p>
              <a:pPr algn="ctr"/>
              <a:r>
                <a:rPr lang="zh-CN" sz="980" b="1" dirty="0">
                  <a:solidFill>
                    <a:srgbClr val="243B53"/>
                  </a:solidFill>
                  <a:latin typeface="+mn-lt"/>
                  <a:ea typeface="+mn-ea"/>
                  <a:cs typeface="+mn-cs"/>
                </a:rPr>
                <a:t>汽车</a:t>
              </a:r>
            </a:p>
          </p:txBody>
        </p:sp>
        <p:sp>
          <p:nvSpPr>
            <p:cNvPr id="34" name="TextBox 34"/>
            <p:cNvSpPr txBox="1"/>
            <p:nvPr/>
          </p:nvSpPr>
          <p:spPr>
            <a:xfrm>
              <a:off x="1749069" y="2651284"/>
              <a:ext cx="273761" cy="190690"/>
            </a:xfrm>
            <a:prstGeom prst="rect">
              <a:avLst/>
            </a:prstGeom>
            <a:noFill/>
            <a:ln>
              <a:noFill/>
            </a:ln>
          </p:spPr>
          <p:txBody>
            <a:bodyPr wrap="none" lIns="0" tIns="0" rIns="0" bIns="0" anchor="t" anchorCtr="0">
              <a:spAutoFit/>
            </a:bodyPr>
            <a:lstStyle/>
            <a:p>
              <a:pPr algn="ctr"/>
              <a:r>
                <a:rPr lang="zh-CN" sz="980" b="1" dirty="0">
                  <a:solidFill>
                    <a:srgbClr val="243B53"/>
                  </a:solidFill>
                  <a:latin typeface="+mn-lt"/>
                  <a:ea typeface="+mn-ea"/>
                  <a:cs typeface="+mn-cs"/>
                </a:rPr>
                <a:t>客车</a:t>
              </a:r>
            </a:p>
          </p:txBody>
        </p:sp>
        <p:sp>
          <p:nvSpPr>
            <p:cNvPr id="35" name="TextBox 35"/>
            <p:cNvSpPr txBox="1"/>
            <p:nvPr/>
          </p:nvSpPr>
          <p:spPr>
            <a:xfrm>
              <a:off x="4454169" y="2651284"/>
              <a:ext cx="273761" cy="190690"/>
            </a:xfrm>
            <a:prstGeom prst="rect">
              <a:avLst/>
            </a:prstGeom>
            <a:noFill/>
            <a:ln>
              <a:noFill/>
            </a:ln>
          </p:spPr>
          <p:txBody>
            <a:bodyPr wrap="none" lIns="0" tIns="0" rIns="0" bIns="0" anchor="t" anchorCtr="0">
              <a:spAutoFit/>
            </a:bodyPr>
            <a:lstStyle/>
            <a:p>
              <a:pPr algn="ctr"/>
              <a:r>
                <a:rPr lang="zh-CN" sz="980" b="1" dirty="0">
                  <a:solidFill>
                    <a:srgbClr val="243B53"/>
                  </a:solidFill>
                  <a:latin typeface="+mn-lt"/>
                  <a:ea typeface="+mn-ea"/>
                  <a:cs typeface="+mn-cs"/>
                </a:rPr>
                <a:t>货车</a:t>
              </a:r>
            </a:p>
          </p:txBody>
        </p:sp>
        <p:sp>
          <p:nvSpPr>
            <p:cNvPr id="36" name="TextBox 36"/>
            <p:cNvSpPr txBox="1"/>
            <p:nvPr/>
          </p:nvSpPr>
          <p:spPr>
            <a:xfrm>
              <a:off x="4256278" y="3238024"/>
              <a:ext cx="669544"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客货两用车</a:t>
              </a:r>
            </a:p>
          </p:txBody>
        </p:sp>
      </p:grpSp>
      <p:grpSp>
        <p:nvGrpSpPr>
          <p:cNvPr id="43" name="c1-card-2"/>
          <p:cNvGrpSpPr/>
          <p:nvPr/>
        </p:nvGrpSpPr>
        <p:grpSpPr>
          <a:xfrm>
            <a:off x="533400" y="3858578"/>
            <a:ext cx="5410200" cy="1743075"/>
            <a:chOff x="533400" y="3858578"/>
            <a:chExt cx="5410200" cy="1743075"/>
          </a:xfrm>
        </p:grpSpPr>
        <p:sp>
          <p:nvSpPr>
            <p:cNvPr id="38" name="Rectangle 38"/>
            <p:cNvSpPr/>
            <p:nvPr/>
          </p:nvSpPr>
          <p:spPr>
            <a:xfrm>
              <a:off x="533400" y="3858578"/>
              <a:ext cx="5410200" cy="1743075"/>
            </a:xfrm>
            <a:prstGeom prst="roundRect">
              <a:avLst>
                <a:gd name="adj" fmla="val 7650"/>
              </a:avLst>
            </a:prstGeom>
            <a:solidFill>
              <a:srgbClr val="FFFFFF"/>
            </a:solidFill>
            <a:ln w="14288">
              <a:solidFill>
                <a:srgbClr val="D9DFEA"/>
              </a:solidFill>
            </a:ln>
          </p:spPr>
        </p:sp>
        <p:sp>
          <p:nvSpPr>
            <p:cNvPr id="39" name="Rectangle 39"/>
            <p:cNvSpPr/>
            <p:nvPr/>
          </p:nvSpPr>
          <p:spPr>
            <a:xfrm>
              <a:off x="542925" y="3991928"/>
              <a:ext cx="47625" cy="1476375"/>
            </a:xfrm>
            <a:prstGeom prst="roundRect">
              <a:avLst>
                <a:gd name="adj" fmla="val 50000"/>
              </a:avLst>
            </a:prstGeom>
            <a:solidFill>
              <a:srgbClr val="B42318"/>
            </a:solidFill>
            <a:ln>
              <a:noFill/>
            </a:ln>
          </p:spPr>
        </p:sp>
        <p:sp>
          <p:nvSpPr>
            <p:cNvPr id="40" name="Rectangle 40"/>
            <p:cNvSpPr/>
            <p:nvPr/>
          </p:nvSpPr>
          <p:spPr>
            <a:xfrm>
              <a:off x="758190" y="4045268"/>
              <a:ext cx="1081088" cy="238125"/>
            </a:xfrm>
            <a:prstGeom prst="roundRect">
              <a:avLst>
                <a:gd name="adj" fmla="val 50000"/>
              </a:avLst>
            </a:prstGeom>
            <a:solidFill>
              <a:srgbClr val="FDECEA"/>
            </a:solidFill>
            <a:ln>
              <a:noFill/>
            </a:ln>
          </p:spPr>
        </p:sp>
        <p:sp>
          <p:nvSpPr>
            <p:cNvPr id="41" name="TextBox 41"/>
            <p:cNvSpPr txBox="1"/>
            <p:nvPr/>
          </p:nvSpPr>
          <p:spPr>
            <a:xfrm>
              <a:off x="831558" y="4078129"/>
              <a:ext cx="933399" cy="190690"/>
            </a:xfrm>
            <a:prstGeom prst="rect">
              <a:avLst/>
            </a:prstGeom>
            <a:noFill/>
            <a:ln>
              <a:noFill/>
            </a:ln>
          </p:spPr>
          <p:txBody>
            <a:bodyPr wrap="none" lIns="0" tIns="0" rIns="0" bIns="0" anchor="t" anchorCtr="0">
              <a:spAutoFit/>
            </a:bodyPr>
            <a:lstStyle/>
            <a:p>
              <a:pPr algn="ctr"/>
              <a:r>
                <a:rPr lang="zh-CN" sz="980" b="1" dirty="0">
                  <a:solidFill>
                    <a:srgbClr val="B42318"/>
                  </a:solidFill>
                  <a:latin typeface="+mn-lt"/>
                  <a:ea typeface="+mn-ea"/>
                  <a:cs typeface="+mn-cs"/>
                </a:rPr>
                <a:t>多重继承的麻烦</a:t>
              </a:r>
            </a:p>
          </p:txBody>
        </p:sp>
        <p:sp>
          <p:nvSpPr>
            <p:cNvPr id="42" name="TextBox 42"/>
            <p:cNvSpPr txBox="1"/>
            <p:nvPr/>
          </p:nvSpPr>
          <p:spPr>
            <a:xfrm>
              <a:off x="751332" y="4390072"/>
              <a:ext cx="48143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客货两用车从两条路径继承到汽车，同名属性和服务从哪条路径</a:t>
              </a:r>
              <a:br/>
              <a:r>
                <a:rPr lang="zh-CN" sz="1350" dirty="0">
                  <a:solidFill>
                    <a:srgbClr val="1F2937"/>
                  </a:solidFill>
                  <a:latin typeface="+mn-lt"/>
                  <a:ea typeface="+mn-ea"/>
                  <a:cs typeface="+mn-cs"/>
                </a:rPr>
                <a:t>取值需要额外规则，编译器和程序员都容易出错。</a:t>
              </a:r>
            </a:p>
          </p:txBody>
        </p:sp>
      </p:grpSp>
      <p:grpSp>
        <p:nvGrpSpPr>
          <p:cNvPr id="70" name="c2-uml-1"/>
          <p:cNvGrpSpPr/>
          <p:nvPr/>
        </p:nvGrpSpPr>
        <p:grpSpPr>
          <a:xfrm>
            <a:off x="6578918" y="2155508"/>
            <a:ext cx="4749164" cy="1305878"/>
            <a:chOff x="6578918" y="2155508"/>
            <a:chExt cx="4749164" cy="1305878"/>
          </a:xfrm>
        </p:grpSpPr>
        <p:sp>
          <p:nvSpPr>
            <p:cNvPr id="44" name="Freeform 44"/>
            <p:cNvSpPr/>
            <p:nvPr/>
          </p:nvSpPr>
          <p:spPr>
            <a:xfrm>
              <a:off x="6959918" y="2707005"/>
              <a:ext cx="190500" cy="328612"/>
            </a:xfrm>
            <a:custGeom>
              <a:avLst/>
              <a:gdLst/>
              <a:ahLst/>
              <a:cxnLst/>
              <a:rect l="l" t="t" r="r" b="b"/>
              <a:pathLst>
                <a:path w="190500" h="328612">
                  <a:moveTo>
                    <a:pt x="190500" y="328612"/>
                  </a:moveTo>
                  <a:lnTo>
                    <a:pt x="190500" y="101917"/>
                  </a:lnTo>
                  <a:lnTo>
                    <a:pt x="0" y="101917"/>
                  </a:lnTo>
                  <a:lnTo>
                    <a:pt x="0" y="0"/>
                  </a:lnTo>
                </a:path>
              </a:pathLst>
            </a:custGeom>
            <a:noFill/>
            <a:ln w="15240">
              <a:solidFill>
                <a:srgbClr val="1F2937"/>
              </a:solidFill>
            </a:ln>
          </p:spPr>
        </p:sp>
        <p:sp>
          <p:nvSpPr>
            <p:cNvPr id="45" name="Freeform 45"/>
            <p:cNvSpPr/>
            <p:nvPr/>
          </p:nvSpPr>
          <p:spPr>
            <a:xfrm>
              <a:off x="6886575" y="2581275"/>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46" name="Freeform 46"/>
            <p:cNvSpPr/>
            <p:nvPr/>
          </p:nvSpPr>
          <p:spPr>
            <a:xfrm>
              <a:off x="7150418" y="2707005"/>
              <a:ext cx="1803082" cy="328612"/>
            </a:xfrm>
            <a:custGeom>
              <a:avLst/>
              <a:gdLst/>
              <a:ahLst/>
              <a:cxnLst/>
              <a:rect l="l" t="t" r="r" b="b"/>
              <a:pathLst>
                <a:path w="1803082" h="328612">
                  <a:moveTo>
                    <a:pt x="1803082" y="328612"/>
                  </a:moveTo>
                  <a:lnTo>
                    <a:pt x="1803082" y="101917"/>
                  </a:lnTo>
                  <a:lnTo>
                    <a:pt x="0" y="101917"/>
                  </a:lnTo>
                  <a:lnTo>
                    <a:pt x="0" y="0"/>
                  </a:lnTo>
                </a:path>
              </a:pathLst>
            </a:custGeom>
            <a:noFill/>
            <a:ln w="15240">
              <a:solidFill>
                <a:srgbClr val="1F2937"/>
              </a:solidFill>
            </a:ln>
          </p:spPr>
        </p:sp>
        <p:sp>
          <p:nvSpPr>
            <p:cNvPr id="47" name="Freeform 47"/>
            <p:cNvSpPr/>
            <p:nvPr/>
          </p:nvSpPr>
          <p:spPr>
            <a:xfrm>
              <a:off x="7077075" y="2581275"/>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48" name="Freeform 48"/>
            <p:cNvSpPr/>
            <p:nvPr/>
          </p:nvSpPr>
          <p:spPr>
            <a:xfrm>
              <a:off x="7340918" y="2707005"/>
              <a:ext cx="3415665" cy="328612"/>
            </a:xfrm>
            <a:custGeom>
              <a:avLst/>
              <a:gdLst/>
              <a:ahLst/>
              <a:cxnLst/>
              <a:rect l="l" t="t" r="r" b="b"/>
              <a:pathLst>
                <a:path w="3415665" h="328612">
                  <a:moveTo>
                    <a:pt x="3415665" y="328612"/>
                  </a:moveTo>
                  <a:lnTo>
                    <a:pt x="3415665" y="101917"/>
                  </a:lnTo>
                  <a:lnTo>
                    <a:pt x="0" y="101917"/>
                  </a:lnTo>
                  <a:lnTo>
                    <a:pt x="0" y="0"/>
                  </a:lnTo>
                </a:path>
              </a:pathLst>
            </a:custGeom>
            <a:noFill/>
            <a:ln w="15240">
              <a:solidFill>
                <a:srgbClr val="1F2937"/>
              </a:solidFill>
            </a:ln>
          </p:spPr>
        </p:sp>
        <p:sp>
          <p:nvSpPr>
            <p:cNvPr id="49" name="Freeform 49"/>
            <p:cNvSpPr/>
            <p:nvPr/>
          </p:nvSpPr>
          <p:spPr>
            <a:xfrm>
              <a:off x="7267575" y="2581275"/>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50" name="Rectangle 50"/>
            <p:cNvSpPr/>
            <p:nvPr/>
          </p:nvSpPr>
          <p:spPr>
            <a:xfrm>
              <a:off x="6578918" y="2155508"/>
              <a:ext cx="1143000" cy="425768"/>
            </a:xfrm>
            <a:prstGeom prst="rect">
              <a:avLst/>
            </a:prstGeom>
            <a:solidFill>
              <a:srgbClr val="FFFFFF"/>
            </a:solidFill>
            <a:ln w="14288">
              <a:solidFill>
                <a:srgbClr val="334E68"/>
              </a:solidFill>
            </a:ln>
          </p:spPr>
        </p:sp>
        <p:sp>
          <p:nvSpPr>
            <p:cNvPr id="51" name="Rectangle 51"/>
            <p:cNvSpPr/>
            <p:nvPr/>
          </p:nvSpPr>
          <p:spPr>
            <a:xfrm>
              <a:off x="6585585" y="2163128"/>
              <a:ext cx="1128712" cy="227648"/>
            </a:xfrm>
            <a:prstGeom prst="rect">
              <a:avLst/>
            </a:prstGeom>
            <a:solidFill>
              <a:srgbClr val="E7EDF3"/>
            </a:solidFill>
            <a:ln>
              <a:noFill/>
            </a:ln>
          </p:spPr>
        </p:sp>
        <p:sp>
          <p:nvSpPr>
            <p:cNvPr id="52" name="Rectangle 52"/>
            <p:cNvSpPr/>
            <p:nvPr/>
          </p:nvSpPr>
          <p:spPr>
            <a:xfrm>
              <a:off x="6578918" y="2386012"/>
              <a:ext cx="1143000" cy="9525"/>
            </a:xfrm>
            <a:prstGeom prst="rect">
              <a:avLst/>
            </a:prstGeom>
            <a:solidFill>
              <a:srgbClr val="334E68"/>
            </a:solidFill>
            <a:ln>
              <a:noFill/>
            </a:ln>
          </p:spPr>
        </p:sp>
        <p:sp>
          <p:nvSpPr>
            <p:cNvPr id="53" name="Rectangle 53"/>
            <p:cNvSpPr/>
            <p:nvPr/>
          </p:nvSpPr>
          <p:spPr>
            <a:xfrm>
              <a:off x="6578918" y="2481262"/>
              <a:ext cx="1143000" cy="9525"/>
            </a:xfrm>
            <a:prstGeom prst="rect">
              <a:avLst/>
            </a:prstGeom>
            <a:solidFill>
              <a:srgbClr val="334E68"/>
            </a:solidFill>
            <a:ln>
              <a:noFill/>
            </a:ln>
          </p:spPr>
        </p:sp>
        <p:sp>
          <p:nvSpPr>
            <p:cNvPr id="54" name="Rectangle 54"/>
            <p:cNvSpPr/>
            <p:nvPr/>
          </p:nvSpPr>
          <p:spPr>
            <a:xfrm>
              <a:off x="6578918" y="3035618"/>
              <a:ext cx="1143000" cy="425768"/>
            </a:xfrm>
            <a:prstGeom prst="rect">
              <a:avLst/>
            </a:prstGeom>
            <a:solidFill>
              <a:srgbClr val="FFFFFF"/>
            </a:solidFill>
            <a:ln w="14288">
              <a:solidFill>
                <a:srgbClr val="334E68"/>
              </a:solidFill>
            </a:ln>
          </p:spPr>
        </p:sp>
        <p:sp>
          <p:nvSpPr>
            <p:cNvPr id="55" name="Rectangle 55"/>
            <p:cNvSpPr/>
            <p:nvPr/>
          </p:nvSpPr>
          <p:spPr>
            <a:xfrm>
              <a:off x="6585585" y="3043238"/>
              <a:ext cx="1128712" cy="227648"/>
            </a:xfrm>
            <a:prstGeom prst="rect">
              <a:avLst/>
            </a:prstGeom>
            <a:solidFill>
              <a:srgbClr val="E7EDF3"/>
            </a:solidFill>
            <a:ln>
              <a:noFill/>
            </a:ln>
          </p:spPr>
        </p:sp>
        <p:sp>
          <p:nvSpPr>
            <p:cNvPr id="56" name="Rectangle 56"/>
            <p:cNvSpPr/>
            <p:nvPr/>
          </p:nvSpPr>
          <p:spPr>
            <a:xfrm>
              <a:off x="6578918" y="3266122"/>
              <a:ext cx="1143000" cy="9525"/>
            </a:xfrm>
            <a:prstGeom prst="rect">
              <a:avLst/>
            </a:prstGeom>
            <a:solidFill>
              <a:srgbClr val="334E68"/>
            </a:solidFill>
            <a:ln>
              <a:noFill/>
            </a:ln>
          </p:spPr>
        </p:sp>
        <p:sp>
          <p:nvSpPr>
            <p:cNvPr id="57" name="Rectangle 57"/>
            <p:cNvSpPr/>
            <p:nvPr/>
          </p:nvSpPr>
          <p:spPr>
            <a:xfrm>
              <a:off x="6578918" y="3361372"/>
              <a:ext cx="1143000" cy="9525"/>
            </a:xfrm>
            <a:prstGeom prst="rect">
              <a:avLst/>
            </a:prstGeom>
            <a:solidFill>
              <a:srgbClr val="334E68"/>
            </a:solidFill>
            <a:ln>
              <a:noFill/>
            </a:ln>
          </p:spPr>
        </p:sp>
        <p:sp>
          <p:nvSpPr>
            <p:cNvPr id="58" name="Rectangle 58"/>
            <p:cNvSpPr/>
            <p:nvPr/>
          </p:nvSpPr>
          <p:spPr>
            <a:xfrm>
              <a:off x="8382000" y="3035618"/>
              <a:ext cx="1143000" cy="425768"/>
            </a:xfrm>
            <a:prstGeom prst="rect">
              <a:avLst/>
            </a:prstGeom>
            <a:solidFill>
              <a:srgbClr val="FFFFFF"/>
            </a:solidFill>
            <a:ln w="14288">
              <a:solidFill>
                <a:srgbClr val="334E68"/>
              </a:solidFill>
            </a:ln>
          </p:spPr>
        </p:sp>
        <p:sp>
          <p:nvSpPr>
            <p:cNvPr id="59" name="Rectangle 59"/>
            <p:cNvSpPr/>
            <p:nvPr/>
          </p:nvSpPr>
          <p:spPr>
            <a:xfrm>
              <a:off x="8389620" y="3043238"/>
              <a:ext cx="1128712" cy="227648"/>
            </a:xfrm>
            <a:prstGeom prst="rect">
              <a:avLst/>
            </a:prstGeom>
            <a:solidFill>
              <a:srgbClr val="E7EDF3"/>
            </a:solidFill>
            <a:ln>
              <a:noFill/>
            </a:ln>
          </p:spPr>
        </p:sp>
        <p:sp>
          <p:nvSpPr>
            <p:cNvPr id="60" name="Rectangle 60"/>
            <p:cNvSpPr/>
            <p:nvPr/>
          </p:nvSpPr>
          <p:spPr>
            <a:xfrm>
              <a:off x="8382000" y="3266122"/>
              <a:ext cx="1143000" cy="9525"/>
            </a:xfrm>
            <a:prstGeom prst="rect">
              <a:avLst/>
            </a:prstGeom>
            <a:solidFill>
              <a:srgbClr val="334E68"/>
            </a:solidFill>
            <a:ln>
              <a:noFill/>
            </a:ln>
          </p:spPr>
        </p:sp>
        <p:sp>
          <p:nvSpPr>
            <p:cNvPr id="61" name="Rectangle 61"/>
            <p:cNvSpPr/>
            <p:nvPr/>
          </p:nvSpPr>
          <p:spPr>
            <a:xfrm>
              <a:off x="8382000" y="3361372"/>
              <a:ext cx="1143000" cy="9525"/>
            </a:xfrm>
            <a:prstGeom prst="rect">
              <a:avLst/>
            </a:prstGeom>
            <a:solidFill>
              <a:srgbClr val="334E68"/>
            </a:solidFill>
            <a:ln>
              <a:noFill/>
            </a:ln>
          </p:spPr>
        </p:sp>
        <p:sp>
          <p:nvSpPr>
            <p:cNvPr id="62" name="Rectangle 62"/>
            <p:cNvSpPr/>
            <p:nvPr/>
          </p:nvSpPr>
          <p:spPr>
            <a:xfrm>
              <a:off x="10185082" y="3035618"/>
              <a:ext cx="1143000" cy="425768"/>
            </a:xfrm>
            <a:prstGeom prst="rect">
              <a:avLst/>
            </a:prstGeom>
            <a:solidFill>
              <a:srgbClr val="FFFFFF"/>
            </a:solidFill>
            <a:ln w="14288">
              <a:solidFill>
                <a:srgbClr val="334E68"/>
              </a:solidFill>
            </a:ln>
          </p:spPr>
        </p:sp>
        <p:sp>
          <p:nvSpPr>
            <p:cNvPr id="63" name="Rectangle 63"/>
            <p:cNvSpPr/>
            <p:nvPr/>
          </p:nvSpPr>
          <p:spPr>
            <a:xfrm>
              <a:off x="10192702" y="3043238"/>
              <a:ext cx="1128712" cy="227648"/>
            </a:xfrm>
            <a:prstGeom prst="rect">
              <a:avLst/>
            </a:prstGeom>
            <a:solidFill>
              <a:srgbClr val="334E68"/>
            </a:solidFill>
            <a:ln>
              <a:noFill/>
            </a:ln>
          </p:spPr>
        </p:sp>
        <p:sp>
          <p:nvSpPr>
            <p:cNvPr id="64" name="Rectangle 64"/>
            <p:cNvSpPr/>
            <p:nvPr/>
          </p:nvSpPr>
          <p:spPr>
            <a:xfrm>
              <a:off x="10185082" y="3266122"/>
              <a:ext cx="1143000" cy="9525"/>
            </a:xfrm>
            <a:prstGeom prst="rect">
              <a:avLst/>
            </a:prstGeom>
            <a:solidFill>
              <a:srgbClr val="334E68"/>
            </a:solidFill>
            <a:ln>
              <a:noFill/>
            </a:ln>
          </p:spPr>
        </p:sp>
        <p:sp>
          <p:nvSpPr>
            <p:cNvPr id="65" name="Rectangle 65"/>
            <p:cNvSpPr/>
            <p:nvPr/>
          </p:nvSpPr>
          <p:spPr>
            <a:xfrm>
              <a:off x="10185082" y="3361372"/>
              <a:ext cx="1143000" cy="9525"/>
            </a:xfrm>
            <a:prstGeom prst="rect">
              <a:avLst/>
            </a:prstGeom>
            <a:solidFill>
              <a:srgbClr val="334E68"/>
            </a:solidFill>
            <a:ln>
              <a:noFill/>
            </a:ln>
          </p:spPr>
        </p:sp>
        <p:sp>
          <p:nvSpPr>
            <p:cNvPr id="66" name="TextBox 66"/>
            <p:cNvSpPr txBox="1"/>
            <p:nvPr/>
          </p:nvSpPr>
          <p:spPr>
            <a:xfrm>
              <a:off x="7013537" y="2211229"/>
              <a:ext cx="273761" cy="190690"/>
            </a:xfrm>
            <a:prstGeom prst="rect">
              <a:avLst/>
            </a:prstGeom>
            <a:noFill/>
            <a:ln>
              <a:noFill/>
            </a:ln>
          </p:spPr>
          <p:txBody>
            <a:bodyPr wrap="none" lIns="0" tIns="0" rIns="0" bIns="0" anchor="t" anchorCtr="0">
              <a:spAutoFit/>
            </a:bodyPr>
            <a:lstStyle/>
            <a:p>
              <a:pPr algn="ctr"/>
              <a:r>
                <a:rPr lang="zh-CN" sz="980" b="1" dirty="0">
                  <a:solidFill>
                    <a:srgbClr val="243B53"/>
                  </a:solidFill>
                  <a:latin typeface="+mn-lt"/>
                  <a:ea typeface="+mn-ea"/>
                  <a:cs typeface="+mn-cs"/>
                </a:rPr>
                <a:t>汽车</a:t>
              </a:r>
            </a:p>
          </p:txBody>
        </p:sp>
        <p:sp>
          <p:nvSpPr>
            <p:cNvPr id="67" name="TextBox 67"/>
            <p:cNvSpPr txBox="1"/>
            <p:nvPr/>
          </p:nvSpPr>
          <p:spPr>
            <a:xfrm>
              <a:off x="7013537" y="3091339"/>
              <a:ext cx="273761" cy="190690"/>
            </a:xfrm>
            <a:prstGeom prst="rect">
              <a:avLst/>
            </a:prstGeom>
            <a:noFill/>
            <a:ln>
              <a:noFill/>
            </a:ln>
          </p:spPr>
          <p:txBody>
            <a:bodyPr wrap="none" lIns="0" tIns="0" rIns="0" bIns="0" anchor="t" anchorCtr="0">
              <a:spAutoFit/>
            </a:bodyPr>
            <a:lstStyle/>
            <a:p>
              <a:pPr algn="ctr"/>
              <a:r>
                <a:rPr lang="zh-CN" sz="980" b="1" dirty="0">
                  <a:solidFill>
                    <a:srgbClr val="243B53"/>
                  </a:solidFill>
                  <a:latin typeface="+mn-lt"/>
                  <a:ea typeface="+mn-ea"/>
                  <a:cs typeface="+mn-cs"/>
                </a:rPr>
                <a:t>客车</a:t>
              </a:r>
            </a:p>
          </p:txBody>
        </p:sp>
        <p:sp>
          <p:nvSpPr>
            <p:cNvPr id="68" name="TextBox 68"/>
            <p:cNvSpPr txBox="1"/>
            <p:nvPr/>
          </p:nvSpPr>
          <p:spPr>
            <a:xfrm>
              <a:off x="8816619" y="3091339"/>
              <a:ext cx="273761" cy="190690"/>
            </a:xfrm>
            <a:prstGeom prst="rect">
              <a:avLst/>
            </a:prstGeom>
            <a:noFill/>
            <a:ln>
              <a:noFill/>
            </a:ln>
          </p:spPr>
          <p:txBody>
            <a:bodyPr wrap="none" lIns="0" tIns="0" rIns="0" bIns="0" anchor="t" anchorCtr="0">
              <a:spAutoFit/>
            </a:bodyPr>
            <a:lstStyle/>
            <a:p>
              <a:pPr algn="ctr"/>
              <a:r>
                <a:rPr lang="zh-CN" sz="980" b="1" dirty="0">
                  <a:solidFill>
                    <a:srgbClr val="243B53"/>
                  </a:solidFill>
                  <a:latin typeface="+mn-lt"/>
                  <a:ea typeface="+mn-ea"/>
                  <a:cs typeface="+mn-cs"/>
                </a:rPr>
                <a:t>货车</a:t>
              </a:r>
            </a:p>
          </p:txBody>
        </p:sp>
        <p:sp>
          <p:nvSpPr>
            <p:cNvPr id="69" name="TextBox 69"/>
            <p:cNvSpPr txBox="1"/>
            <p:nvPr/>
          </p:nvSpPr>
          <p:spPr>
            <a:xfrm>
              <a:off x="10421810" y="3091339"/>
              <a:ext cx="669544"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客货两用车</a:t>
              </a:r>
            </a:p>
          </p:txBody>
        </p:sp>
      </p:grpSp>
      <p:grpSp>
        <p:nvGrpSpPr>
          <p:cNvPr id="77" name="c2-card-2"/>
          <p:cNvGrpSpPr/>
          <p:nvPr/>
        </p:nvGrpSpPr>
        <p:grpSpPr>
          <a:xfrm>
            <a:off x="6248400" y="3858578"/>
            <a:ext cx="5410200" cy="1743075"/>
            <a:chOff x="6248400" y="3858578"/>
            <a:chExt cx="5410200" cy="1743075"/>
          </a:xfrm>
        </p:grpSpPr>
        <p:sp>
          <p:nvSpPr>
            <p:cNvPr id="71" name="Rectangle 71"/>
            <p:cNvSpPr/>
            <p:nvPr/>
          </p:nvSpPr>
          <p:spPr>
            <a:xfrm>
              <a:off x="6248400" y="3858578"/>
              <a:ext cx="5410200" cy="1743075"/>
            </a:xfrm>
            <a:prstGeom prst="roundRect">
              <a:avLst>
                <a:gd name="adj" fmla="val 7650"/>
              </a:avLst>
            </a:prstGeom>
            <a:solidFill>
              <a:srgbClr val="FFFFFF"/>
            </a:solidFill>
            <a:ln w="14288">
              <a:solidFill>
                <a:srgbClr val="D9DFEA"/>
              </a:solidFill>
            </a:ln>
          </p:spPr>
        </p:sp>
        <p:sp>
          <p:nvSpPr>
            <p:cNvPr id="72" name="Rectangle 72"/>
            <p:cNvSpPr/>
            <p:nvPr/>
          </p:nvSpPr>
          <p:spPr>
            <a:xfrm>
              <a:off x="6257925" y="3991928"/>
              <a:ext cx="47625" cy="1476375"/>
            </a:xfrm>
            <a:prstGeom prst="roundRect">
              <a:avLst>
                <a:gd name="adj" fmla="val 50000"/>
              </a:avLst>
            </a:prstGeom>
            <a:solidFill>
              <a:srgbClr val="14A38B"/>
            </a:solidFill>
            <a:ln>
              <a:noFill/>
            </a:ln>
          </p:spPr>
        </p:sp>
        <p:sp>
          <p:nvSpPr>
            <p:cNvPr id="73" name="Rectangle 73"/>
            <p:cNvSpPr/>
            <p:nvPr/>
          </p:nvSpPr>
          <p:spPr>
            <a:xfrm>
              <a:off x="6473190" y="4045268"/>
              <a:ext cx="956310" cy="238125"/>
            </a:xfrm>
            <a:prstGeom prst="roundRect">
              <a:avLst>
                <a:gd name="adj" fmla="val 50000"/>
              </a:avLst>
            </a:prstGeom>
            <a:solidFill>
              <a:srgbClr val="E3F5F1"/>
            </a:solidFill>
            <a:ln>
              <a:noFill/>
            </a:ln>
          </p:spPr>
        </p:sp>
        <p:sp>
          <p:nvSpPr>
            <p:cNvPr id="74" name="TextBox 74"/>
            <p:cNvSpPr txBox="1"/>
            <p:nvPr/>
          </p:nvSpPr>
          <p:spPr>
            <a:xfrm>
              <a:off x="6550609" y="4078129"/>
              <a:ext cx="801472"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改造成单继承</a:t>
              </a:r>
            </a:p>
          </p:txBody>
        </p:sp>
        <p:sp>
          <p:nvSpPr>
            <p:cNvPr id="75" name="TextBox 75"/>
            <p:cNvSpPr txBox="1"/>
            <p:nvPr/>
          </p:nvSpPr>
          <p:spPr>
            <a:xfrm>
              <a:off x="6466332" y="4390072"/>
              <a:ext cx="48143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把客货两用车直接挂到汽车之下，与客车、货车并列，继承关系</a:t>
              </a:r>
              <a:br/>
              <a:r>
                <a:rPr lang="zh-CN" sz="1350" dirty="0">
                  <a:solidFill>
                    <a:srgbClr val="1F2937"/>
                  </a:solidFill>
                  <a:latin typeface="+mn-lt"/>
                  <a:ea typeface="+mn-ea"/>
                  <a:cs typeface="+mn-cs"/>
                </a:rPr>
                <a:t>变成一棵树。</a:t>
              </a:r>
            </a:p>
          </p:txBody>
        </p:sp>
        <p:sp>
          <p:nvSpPr>
            <p:cNvPr id="76" name="TextBox 76"/>
            <p:cNvSpPr txBox="1"/>
            <p:nvPr/>
          </p:nvSpPr>
          <p:spPr>
            <a:xfrm>
              <a:off x="6466332" y="4947285"/>
              <a:ext cx="48143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代价是它不再自动得到客车、货车特有的属性与服务，要自己定</a:t>
              </a:r>
              <a:br/>
              <a:r>
                <a:rPr lang="zh-CN" sz="1350" dirty="0">
                  <a:solidFill>
                    <a:srgbClr val="1F2937"/>
                  </a:solidFill>
                  <a:latin typeface="+mn-lt"/>
                  <a:ea typeface="+mn-ea"/>
                  <a:cs typeface="+mn-cs"/>
                </a:rPr>
                <a:t>义或用委托借。</a:t>
              </a:r>
            </a:p>
          </p:txBody>
        </p:sp>
      </p:grpSp>
      <p:grpSp>
        <p:nvGrpSpPr>
          <p:cNvPr id="83" name="takeaway"/>
          <p:cNvGrpSpPr/>
          <p:nvPr/>
        </p:nvGrpSpPr>
        <p:grpSpPr>
          <a:xfrm>
            <a:off x="533400" y="5881688"/>
            <a:ext cx="11125200" cy="481012"/>
            <a:chOff x="533400" y="5881688"/>
            <a:chExt cx="11125200" cy="481012"/>
          </a:xfrm>
        </p:grpSpPr>
        <p:sp>
          <p:nvSpPr>
            <p:cNvPr id="78" name="Rectangle 78"/>
            <p:cNvSpPr/>
            <p:nvPr/>
          </p:nvSpPr>
          <p:spPr>
            <a:xfrm>
              <a:off x="533400" y="5881688"/>
              <a:ext cx="11125200" cy="481012"/>
            </a:xfrm>
            <a:prstGeom prst="roundRect">
              <a:avLst>
                <a:gd name="adj" fmla="val 23762"/>
              </a:avLst>
            </a:prstGeom>
            <a:solidFill>
              <a:srgbClr val="334E68"/>
            </a:solidFill>
            <a:ln>
              <a:noFill/>
            </a:ln>
          </p:spPr>
        </p:sp>
        <p:grpSp>
          <p:nvGrpSpPr>
            <p:cNvPr id="81" name="Group 81"/>
            <p:cNvGrpSpPr/>
            <p:nvPr/>
          </p:nvGrpSpPr>
          <p:grpSpPr>
            <a:xfrm>
              <a:off x="738188" y="6022660"/>
              <a:ext cx="200023" cy="200023"/>
              <a:chOff x="738188" y="6022660"/>
              <a:chExt cx="200023" cy="200023"/>
            </a:xfrm>
          </p:grpSpPr>
          <p:sp>
            <p:nvSpPr>
              <p:cNvPr id="79" name="Freeform 79"/>
              <p:cNvSpPr/>
              <p:nvPr/>
            </p:nvSpPr>
            <p:spPr>
              <a:xfrm>
                <a:off x="738188" y="602266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80" name="Freeform 80"/>
              <p:cNvSpPr/>
              <p:nvPr/>
            </p:nvSpPr>
            <p:spPr>
              <a:xfrm>
                <a:off x="871538" y="608933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82" name="TextBox 82"/>
            <p:cNvSpPr txBox="1"/>
            <p:nvPr/>
          </p:nvSpPr>
          <p:spPr>
            <a:xfrm>
              <a:off x="1040892" y="6028373"/>
              <a:ext cx="7464933"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改造原则：保留最主要的那条继承路径，其余路径改用委托（把请求转发给成员对象）实现。</a:t>
              </a:r>
            </a:p>
          </p:txBody>
        </p:sp>
      </p:grpSp>
      <p:grpSp>
        <p:nvGrpSpPr>
          <p:cNvPr id="86" name="footer"/>
          <p:cNvGrpSpPr/>
          <p:nvPr/>
        </p:nvGrpSpPr>
        <p:grpSpPr>
          <a:xfrm>
            <a:off x="528447" y="6581299"/>
            <a:ext cx="11135106" cy="190690"/>
            <a:chOff x="528447" y="6581299"/>
            <a:chExt cx="11135106" cy="190690"/>
          </a:xfrm>
        </p:grpSpPr>
        <p:sp>
          <p:nvSpPr>
            <p:cNvPr id="84" name="TextBox 84"/>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85" name="TextBox 8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38</a:t>
              </a:r>
            </a:p>
          </p:txBody>
        </p:sp>
      </p:grpSp>
    </p:spTree>
  </p:cSld>
  <p:clrMapOvr>
    <a:masterClrMapping/>
  </p:clrMapOvr>
  <p:transition xmlns:p14="http://schemas.microsoft.com/office/powerpoint/2010/main" p14:dur="400">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921371" cy="909257"/>
            <a:chOff x="520446" y="342900"/>
            <a:chExt cx="7921371" cy="909257"/>
          </a:xfrm>
        </p:grpSpPr>
        <p:sp>
          <p:nvSpPr>
            <p:cNvPr id="2" name="Rectangle 2"/>
            <p:cNvSpPr/>
            <p:nvPr/>
          </p:nvSpPr>
          <p:spPr>
            <a:xfrm>
              <a:off x="533400" y="342900"/>
              <a:ext cx="3208020" cy="266700"/>
            </a:xfrm>
            <a:prstGeom prst="roundRect">
              <a:avLst>
                <a:gd name="adj" fmla="val 50000"/>
              </a:avLst>
            </a:prstGeom>
            <a:solidFill>
              <a:srgbClr val="E7EDF3"/>
            </a:solidFill>
            <a:ln>
              <a:noFill/>
            </a:ln>
          </p:spPr>
        </p:sp>
        <p:sp>
          <p:nvSpPr>
            <p:cNvPr id="3" name="TextBox 3"/>
            <p:cNvSpPr txBox="1"/>
            <p:nvPr/>
          </p:nvSpPr>
          <p:spPr>
            <a:xfrm>
              <a:off x="572876" y="407194"/>
              <a:ext cx="312906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系统分解与四个子系统</a:t>
              </a:r>
            </a:p>
          </p:txBody>
        </p:sp>
        <p:sp>
          <p:nvSpPr>
            <p:cNvPr id="4" name="TextBox 4"/>
            <p:cNvSpPr txBox="1"/>
            <p:nvPr/>
          </p:nvSpPr>
          <p:spPr>
            <a:xfrm>
              <a:off x="520446" y="753428"/>
              <a:ext cx="792137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人机交互子系统：先弄清用户是谁，再设计命令层次</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8" name="c1-card-1"/>
          <p:cNvGrpSpPr/>
          <p:nvPr/>
        </p:nvGrpSpPr>
        <p:grpSpPr>
          <a:xfrm>
            <a:off x="533400" y="1524000"/>
            <a:ext cx="5410200" cy="1545908"/>
            <a:chOff x="533400" y="1524000"/>
            <a:chExt cx="5410200" cy="1545908"/>
          </a:xfrm>
        </p:grpSpPr>
        <p:sp>
          <p:nvSpPr>
            <p:cNvPr id="7" name="Rectangle 7"/>
            <p:cNvSpPr/>
            <p:nvPr/>
          </p:nvSpPr>
          <p:spPr>
            <a:xfrm>
              <a:off x="533400" y="1524000"/>
              <a:ext cx="5410200" cy="1545908"/>
            </a:xfrm>
            <a:prstGeom prst="roundRect">
              <a:avLst>
                <a:gd name="adj" fmla="val 8626"/>
              </a:avLst>
            </a:prstGeom>
            <a:solidFill>
              <a:srgbClr val="FFFFFF"/>
            </a:solidFill>
            <a:ln w="14288">
              <a:solidFill>
                <a:srgbClr val="D9DFEA"/>
              </a:solidFill>
            </a:ln>
          </p:spPr>
        </p:sp>
        <p:sp>
          <p:nvSpPr>
            <p:cNvPr id="8" name="Rectangle 8"/>
            <p:cNvSpPr/>
            <p:nvPr/>
          </p:nvSpPr>
          <p:spPr>
            <a:xfrm>
              <a:off x="542925" y="1657350"/>
              <a:ext cx="47625" cy="1279208"/>
            </a:xfrm>
            <a:prstGeom prst="roundRect">
              <a:avLst>
                <a:gd name="adj" fmla="val 50000"/>
              </a:avLst>
            </a:prstGeom>
            <a:solidFill>
              <a:srgbClr val="334E68"/>
            </a:solidFill>
            <a:ln>
              <a:noFill/>
            </a:ln>
          </p:spPr>
        </p:sp>
        <p:sp>
          <p:nvSpPr>
            <p:cNvPr id="9" name="Rectangle 9"/>
            <p:cNvSpPr/>
            <p:nvPr/>
          </p:nvSpPr>
          <p:spPr>
            <a:xfrm>
              <a:off x="758190" y="1710690"/>
              <a:ext cx="582930" cy="238125"/>
            </a:xfrm>
            <a:prstGeom prst="roundRect">
              <a:avLst>
                <a:gd name="adj" fmla="val 50000"/>
              </a:avLst>
            </a:prstGeom>
            <a:solidFill>
              <a:srgbClr val="E7EDF3"/>
            </a:solidFill>
            <a:ln>
              <a:noFill/>
            </a:ln>
          </p:spPr>
        </p:sp>
        <p:sp>
          <p:nvSpPr>
            <p:cNvPr id="10" name="TextBox 10"/>
            <p:cNvSpPr txBox="1"/>
            <p:nvPr/>
          </p:nvSpPr>
          <p:spPr>
            <a:xfrm>
              <a:off x="846811" y="1743551"/>
              <a:ext cx="405689"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第一步</a:t>
              </a:r>
            </a:p>
          </p:txBody>
        </p:sp>
        <p:sp>
          <p:nvSpPr>
            <p:cNvPr id="11" name="TextBox 11"/>
            <p:cNvSpPr txBox="1"/>
            <p:nvPr/>
          </p:nvSpPr>
          <p:spPr>
            <a:xfrm>
              <a:off x="1448562" y="1745932"/>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分类用户</a:t>
              </a:r>
            </a:p>
          </p:txBody>
        </p:sp>
        <p:sp>
          <p:nvSpPr>
            <p:cNvPr id="12" name="Ellipse 12"/>
            <p:cNvSpPr/>
            <p:nvPr/>
          </p:nvSpPr>
          <p:spPr>
            <a:xfrm>
              <a:off x="766762" y="2127885"/>
              <a:ext cx="59055" cy="59055"/>
            </a:xfrm>
            <a:prstGeom prst="ellipse">
              <a:avLst/>
            </a:prstGeom>
            <a:solidFill>
              <a:srgbClr val="334E68"/>
            </a:solidFill>
            <a:ln>
              <a:noFill/>
            </a:ln>
          </p:spPr>
        </p:sp>
        <p:sp>
          <p:nvSpPr>
            <p:cNvPr id="13" name="TextBox 13"/>
            <p:cNvSpPr txBox="1"/>
            <p:nvPr/>
          </p:nvSpPr>
          <p:spPr>
            <a:xfrm>
              <a:off x="922782" y="2071688"/>
              <a:ext cx="346671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按技能水平分类：新手、初级、中级、高级</a:t>
              </a:r>
            </a:p>
          </p:txBody>
        </p:sp>
        <p:sp>
          <p:nvSpPr>
            <p:cNvPr id="14" name="Ellipse 14"/>
            <p:cNvSpPr/>
            <p:nvPr/>
          </p:nvSpPr>
          <p:spPr>
            <a:xfrm>
              <a:off x="766762" y="2427922"/>
              <a:ext cx="59055" cy="59055"/>
            </a:xfrm>
            <a:prstGeom prst="ellipse">
              <a:avLst/>
            </a:prstGeom>
            <a:solidFill>
              <a:srgbClr val="334E68"/>
            </a:solidFill>
            <a:ln>
              <a:noFill/>
            </a:ln>
          </p:spPr>
        </p:sp>
        <p:sp>
          <p:nvSpPr>
            <p:cNvPr id="15" name="TextBox 15"/>
            <p:cNvSpPr txBox="1"/>
            <p:nvPr/>
          </p:nvSpPr>
          <p:spPr>
            <a:xfrm>
              <a:off x="922782" y="2371725"/>
              <a:ext cx="273977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按职务分类：总经理、经理、职员</a:t>
              </a:r>
            </a:p>
          </p:txBody>
        </p:sp>
        <p:sp>
          <p:nvSpPr>
            <p:cNvPr id="16" name="Ellipse 16"/>
            <p:cNvSpPr/>
            <p:nvPr/>
          </p:nvSpPr>
          <p:spPr>
            <a:xfrm>
              <a:off x="766762" y="2727960"/>
              <a:ext cx="59055" cy="59055"/>
            </a:xfrm>
            <a:prstGeom prst="ellipse">
              <a:avLst/>
            </a:prstGeom>
            <a:solidFill>
              <a:srgbClr val="334E68"/>
            </a:solidFill>
            <a:ln>
              <a:noFill/>
            </a:ln>
          </p:spPr>
        </p:sp>
        <p:sp>
          <p:nvSpPr>
            <p:cNvPr id="17" name="TextBox 17"/>
            <p:cNvSpPr txBox="1"/>
            <p:nvPr/>
          </p:nvSpPr>
          <p:spPr>
            <a:xfrm>
              <a:off x="922782" y="2671762"/>
              <a:ext cx="237629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按所属集团分类：职员、顾客</a:t>
              </a:r>
            </a:p>
          </p:txBody>
        </p:sp>
      </p:grpSp>
      <p:grpSp>
        <p:nvGrpSpPr>
          <p:cNvPr id="42" name="c1-card-2"/>
          <p:cNvGrpSpPr/>
          <p:nvPr/>
        </p:nvGrpSpPr>
        <p:grpSpPr>
          <a:xfrm>
            <a:off x="533400" y="3239452"/>
            <a:ext cx="5410200" cy="2446020"/>
            <a:chOff x="533400" y="3239452"/>
            <a:chExt cx="5410200" cy="2446020"/>
          </a:xfrm>
        </p:grpSpPr>
        <p:sp>
          <p:nvSpPr>
            <p:cNvPr id="19" name="Rectangle 19"/>
            <p:cNvSpPr/>
            <p:nvPr/>
          </p:nvSpPr>
          <p:spPr>
            <a:xfrm>
              <a:off x="533400" y="3239452"/>
              <a:ext cx="5410200" cy="2446020"/>
            </a:xfrm>
            <a:prstGeom prst="roundRect">
              <a:avLst>
                <a:gd name="adj" fmla="val 5452"/>
              </a:avLst>
            </a:prstGeom>
            <a:solidFill>
              <a:srgbClr val="FFFFFF"/>
            </a:solidFill>
            <a:ln w="14288">
              <a:solidFill>
                <a:srgbClr val="D9DFEA"/>
              </a:solidFill>
            </a:ln>
          </p:spPr>
        </p:sp>
        <p:sp>
          <p:nvSpPr>
            <p:cNvPr id="20" name="Rectangle 20"/>
            <p:cNvSpPr/>
            <p:nvPr/>
          </p:nvSpPr>
          <p:spPr>
            <a:xfrm>
              <a:off x="542925" y="3372802"/>
              <a:ext cx="47625" cy="2179320"/>
            </a:xfrm>
            <a:prstGeom prst="roundRect">
              <a:avLst>
                <a:gd name="adj" fmla="val 50000"/>
              </a:avLst>
            </a:prstGeom>
            <a:solidFill>
              <a:srgbClr val="334E68"/>
            </a:solidFill>
            <a:ln>
              <a:noFill/>
            </a:ln>
          </p:spPr>
        </p:sp>
        <p:sp>
          <p:nvSpPr>
            <p:cNvPr id="21" name="Rectangle 21"/>
            <p:cNvSpPr/>
            <p:nvPr/>
          </p:nvSpPr>
          <p:spPr>
            <a:xfrm>
              <a:off x="758190" y="3426142"/>
              <a:ext cx="582930" cy="238125"/>
            </a:xfrm>
            <a:prstGeom prst="roundRect">
              <a:avLst>
                <a:gd name="adj" fmla="val 50000"/>
              </a:avLst>
            </a:prstGeom>
            <a:solidFill>
              <a:srgbClr val="E7EDF3"/>
            </a:solidFill>
            <a:ln>
              <a:noFill/>
            </a:ln>
          </p:spPr>
        </p:sp>
        <p:sp>
          <p:nvSpPr>
            <p:cNvPr id="22" name="TextBox 22"/>
            <p:cNvSpPr txBox="1"/>
            <p:nvPr/>
          </p:nvSpPr>
          <p:spPr>
            <a:xfrm>
              <a:off x="846811" y="3459004"/>
              <a:ext cx="405689"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第二步</a:t>
              </a:r>
            </a:p>
          </p:txBody>
        </p:sp>
        <p:sp>
          <p:nvSpPr>
            <p:cNvPr id="23" name="TextBox 23"/>
            <p:cNvSpPr txBox="1"/>
            <p:nvPr/>
          </p:nvSpPr>
          <p:spPr>
            <a:xfrm>
              <a:off x="1448562" y="3461385"/>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描述用户</a:t>
              </a:r>
            </a:p>
          </p:txBody>
        </p:sp>
        <p:sp>
          <p:nvSpPr>
            <p:cNvPr id="24" name="Ellipse 24"/>
            <p:cNvSpPr/>
            <p:nvPr/>
          </p:nvSpPr>
          <p:spPr>
            <a:xfrm>
              <a:off x="758190" y="3774757"/>
              <a:ext cx="192405" cy="192405"/>
            </a:xfrm>
            <a:prstGeom prst="ellipse">
              <a:avLst/>
            </a:prstGeom>
            <a:solidFill>
              <a:srgbClr val="334E68"/>
            </a:solidFill>
            <a:ln>
              <a:noFill/>
            </a:ln>
          </p:spPr>
        </p:sp>
        <p:sp>
          <p:nvSpPr>
            <p:cNvPr id="25" name="TextBox 25"/>
            <p:cNvSpPr txBox="1"/>
            <p:nvPr/>
          </p:nvSpPr>
          <p:spPr>
            <a:xfrm>
              <a:off x="813868" y="381409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26" name="TextBox 26"/>
            <p:cNvSpPr txBox="1"/>
            <p:nvPr/>
          </p:nvSpPr>
          <p:spPr>
            <a:xfrm>
              <a:off x="1038987" y="3787140"/>
              <a:ext cx="7406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用户类型</a:t>
              </a:r>
            </a:p>
          </p:txBody>
        </p:sp>
        <p:sp>
          <p:nvSpPr>
            <p:cNvPr id="27" name="Ellipse 27"/>
            <p:cNvSpPr/>
            <p:nvPr/>
          </p:nvSpPr>
          <p:spPr>
            <a:xfrm>
              <a:off x="758190" y="4075748"/>
              <a:ext cx="192405" cy="192405"/>
            </a:xfrm>
            <a:prstGeom prst="ellipse">
              <a:avLst/>
            </a:prstGeom>
            <a:solidFill>
              <a:srgbClr val="334E68"/>
            </a:solidFill>
            <a:ln>
              <a:noFill/>
            </a:ln>
          </p:spPr>
        </p:sp>
        <p:sp>
          <p:nvSpPr>
            <p:cNvPr id="28" name="TextBox 28"/>
            <p:cNvSpPr txBox="1"/>
            <p:nvPr/>
          </p:nvSpPr>
          <p:spPr>
            <a:xfrm>
              <a:off x="813868" y="411413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29" name="TextBox 29"/>
            <p:cNvSpPr txBox="1"/>
            <p:nvPr/>
          </p:nvSpPr>
          <p:spPr>
            <a:xfrm>
              <a:off x="1038987" y="4087177"/>
              <a:ext cx="183108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使用系统欲达到的目的</a:t>
              </a:r>
            </a:p>
          </p:txBody>
        </p:sp>
        <p:sp>
          <p:nvSpPr>
            <p:cNvPr id="30" name="Ellipse 30"/>
            <p:cNvSpPr/>
            <p:nvPr/>
          </p:nvSpPr>
          <p:spPr>
            <a:xfrm>
              <a:off x="758190" y="4375785"/>
              <a:ext cx="192405" cy="192405"/>
            </a:xfrm>
            <a:prstGeom prst="ellipse">
              <a:avLst/>
            </a:prstGeom>
            <a:solidFill>
              <a:srgbClr val="334E68"/>
            </a:solidFill>
            <a:ln>
              <a:noFill/>
            </a:ln>
          </p:spPr>
        </p:sp>
        <p:sp>
          <p:nvSpPr>
            <p:cNvPr id="31" name="TextBox 31"/>
            <p:cNvSpPr txBox="1"/>
            <p:nvPr/>
          </p:nvSpPr>
          <p:spPr>
            <a:xfrm>
              <a:off x="813868" y="441417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32" name="TextBox 32"/>
            <p:cNvSpPr txBox="1"/>
            <p:nvPr/>
          </p:nvSpPr>
          <p:spPr>
            <a:xfrm>
              <a:off x="1038987" y="4388168"/>
              <a:ext cx="346671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特征：年龄、性别、受教育程度、限制因素</a:t>
              </a:r>
            </a:p>
          </p:txBody>
        </p:sp>
        <p:sp>
          <p:nvSpPr>
            <p:cNvPr id="33" name="Ellipse 33"/>
            <p:cNvSpPr/>
            <p:nvPr/>
          </p:nvSpPr>
          <p:spPr>
            <a:xfrm>
              <a:off x="758190" y="4675822"/>
              <a:ext cx="192405" cy="192405"/>
            </a:xfrm>
            <a:prstGeom prst="ellipse">
              <a:avLst/>
            </a:prstGeom>
            <a:solidFill>
              <a:srgbClr val="334E68"/>
            </a:solidFill>
            <a:ln>
              <a:noFill/>
            </a:ln>
          </p:spPr>
        </p:sp>
        <p:sp>
          <p:nvSpPr>
            <p:cNvPr id="34" name="TextBox 34"/>
            <p:cNvSpPr txBox="1"/>
            <p:nvPr/>
          </p:nvSpPr>
          <p:spPr>
            <a:xfrm>
              <a:off x="813868" y="471420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4</a:t>
              </a:r>
            </a:p>
          </p:txBody>
        </p:sp>
        <p:sp>
          <p:nvSpPr>
            <p:cNvPr id="35" name="TextBox 35"/>
            <p:cNvSpPr txBox="1"/>
            <p:nvPr/>
          </p:nvSpPr>
          <p:spPr>
            <a:xfrm>
              <a:off x="1038987" y="4688205"/>
              <a:ext cx="292150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关键的成功因素：需求、爱好、习惯</a:t>
              </a:r>
            </a:p>
          </p:txBody>
        </p:sp>
        <p:sp>
          <p:nvSpPr>
            <p:cNvPr id="36" name="Ellipse 36"/>
            <p:cNvSpPr/>
            <p:nvPr/>
          </p:nvSpPr>
          <p:spPr>
            <a:xfrm>
              <a:off x="758190" y="4975860"/>
              <a:ext cx="192405" cy="192405"/>
            </a:xfrm>
            <a:prstGeom prst="ellipse">
              <a:avLst/>
            </a:prstGeom>
            <a:solidFill>
              <a:srgbClr val="334E68"/>
            </a:solidFill>
            <a:ln>
              <a:noFill/>
            </a:ln>
          </p:spPr>
        </p:sp>
        <p:sp>
          <p:nvSpPr>
            <p:cNvPr id="37" name="TextBox 37"/>
            <p:cNvSpPr txBox="1"/>
            <p:nvPr/>
          </p:nvSpPr>
          <p:spPr>
            <a:xfrm>
              <a:off x="813868" y="501424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5</a:t>
              </a:r>
            </a:p>
          </p:txBody>
        </p:sp>
        <p:sp>
          <p:nvSpPr>
            <p:cNvPr id="38" name="TextBox 38"/>
            <p:cNvSpPr txBox="1"/>
            <p:nvPr/>
          </p:nvSpPr>
          <p:spPr>
            <a:xfrm>
              <a:off x="1038987" y="4988242"/>
              <a:ext cx="7406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技能水平</a:t>
              </a:r>
            </a:p>
          </p:txBody>
        </p:sp>
        <p:sp>
          <p:nvSpPr>
            <p:cNvPr id="39" name="Ellipse 39"/>
            <p:cNvSpPr/>
            <p:nvPr/>
          </p:nvSpPr>
          <p:spPr>
            <a:xfrm>
              <a:off x="758190" y="5275898"/>
              <a:ext cx="192405" cy="192405"/>
            </a:xfrm>
            <a:prstGeom prst="ellipse">
              <a:avLst/>
            </a:prstGeom>
            <a:solidFill>
              <a:srgbClr val="334E68"/>
            </a:solidFill>
            <a:ln>
              <a:noFill/>
            </a:ln>
          </p:spPr>
        </p:sp>
        <p:sp>
          <p:nvSpPr>
            <p:cNvPr id="40" name="TextBox 40"/>
            <p:cNvSpPr txBox="1"/>
            <p:nvPr/>
          </p:nvSpPr>
          <p:spPr>
            <a:xfrm>
              <a:off x="813868" y="531523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6</a:t>
              </a:r>
            </a:p>
          </p:txBody>
        </p:sp>
        <p:sp>
          <p:nvSpPr>
            <p:cNvPr id="41" name="TextBox 41"/>
            <p:cNvSpPr txBox="1"/>
            <p:nvPr/>
          </p:nvSpPr>
          <p:spPr>
            <a:xfrm>
              <a:off x="1038987" y="5288280"/>
              <a:ext cx="16493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完成本职工作的脚本</a:t>
              </a:r>
            </a:p>
          </p:txBody>
        </p:sp>
      </p:grpSp>
      <p:grpSp>
        <p:nvGrpSpPr>
          <p:cNvPr id="56" name="c2-steps-1"/>
          <p:cNvGrpSpPr/>
          <p:nvPr/>
        </p:nvGrpSpPr>
        <p:grpSpPr>
          <a:xfrm>
            <a:off x="6248400" y="1533525"/>
            <a:ext cx="5196967" cy="1893093"/>
            <a:chOff x="6248400" y="1533525"/>
            <a:chExt cx="5196967" cy="1893093"/>
          </a:xfrm>
        </p:grpSpPr>
        <p:sp>
          <p:nvSpPr>
            <p:cNvPr id="43" name="Rectangle 43"/>
            <p:cNvSpPr/>
            <p:nvPr/>
          </p:nvSpPr>
          <p:spPr>
            <a:xfrm>
              <a:off x="6381750" y="1676400"/>
              <a:ext cx="19050" cy="1165860"/>
            </a:xfrm>
            <a:prstGeom prst="rect">
              <a:avLst/>
            </a:prstGeom>
            <a:solidFill>
              <a:srgbClr val="D9DFEA"/>
            </a:solidFill>
            <a:ln>
              <a:noFill/>
            </a:ln>
          </p:spPr>
        </p:sp>
        <p:sp>
          <p:nvSpPr>
            <p:cNvPr id="44" name="Ellipse 44"/>
            <p:cNvSpPr/>
            <p:nvPr/>
          </p:nvSpPr>
          <p:spPr>
            <a:xfrm>
              <a:off x="6248400" y="1533525"/>
              <a:ext cx="285750" cy="285750"/>
            </a:xfrm>
            <a:prstGeom prst="ellipse">
              <a:avLst/>
            </a:prstGeom>
            <a:solidFill>
              <a:srgbClr val="334E68"/>
            </a:solidFill>
            <a:ln>
              <a:noFill/>
            </a:ln>
          </p:spPr>
        </p:sp>
        <p:sp>
          <p:nvSpPr>
            <p:cNvPr id="45" name="TextBox 45"/>
            <p:cNvSpPr txBox="1"/>
            <p:nvPr/>
          </p:nvSpPr>
          <p:spPr>
            <a:xfrm>
              <a:off x="6342024" y="16073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46" name="Ellipse 46"/>
            <p:cNvSpPr/>
            <p:nvPr/>
          </p:nvSpPr>
          <p:spPr>
            <a:xfrm>
              <a:off x="6248400" y="2116455"/>
              <a:ext cx="285750" cy="285750"/>
            </a:xfrm>
            <a:prstGeom prst="ellipse">
              <a:avLst/>
            </a:prstGeom>
            <a:solidFill>
              <a:srgbClr val="334E68"/>
            </a:solidFill>
            <a:ln>
              <a:noFill/>
            </a:ln>
          </p:spPr>
        </p:sp>
        <p:sp>
          <p:nvSpPr>
            <p:cNvPr id="47" name="TextBox 47"/>
            <p:cNvSpPr txBox="1"/>
            <p:nvPr/>
          </p:nvSpPr>
          <p:spPr>
            <a:xfrm>
              <a:off x="6342024" y="219027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48" name="Ellipse 48"/>
            <p:cNvSpPr/>
            <p:nvPr/>
          </p:nvSpPr>
          <p:spPr>
            <a:xfrm>
              <a:off x="6248400" y="2699385"/>
              <a:ext cx="285750" cy="285750"/>
            </a:xfrm>
            <a:prstGeom prst="ellipse">
              <a:avLst/>
            </a:prstGeom>
            <a:solidFill>
              <a:srgbClr val="334E68"/>
            </a:solidFill>
            <a:ln>
              <a:noFill/>
            </a:ln>
          </p:spPr>
        </p:sp>
        <p:sp>
          <p:nvSpPr>
            <p:cNvPr id="49" name="TextBox 49"/>
            <p:cNvSpPr txBox="1"/>
            <p:nvPr/>
          </p:nvSpPr>
          <p:spPr>
            <a:xfrm>
              <a:off x="6342024" y="277320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50" name="TextBox 50"/>
            <p:cNvSpPr txBox="1"/>
            <p:nvPr/>
          </p:nvSpPr>
          <p:spPr>
            <a:xfrm>
              <a:off x="6660642" y="1564957"/>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研究准则</a:t>
              </a:r>
            </a:p>
          </p:txBody>
        </p:sp>
        <p:sp>
          <p:nvSpPr>
            <p:cNvPr id="51" name="TextBox 51"/>
            <p:cNvSpPr txBox="1"/>
            <p:nvPr/>
          </p:nvSpPr>
          <p:spPr>
            <a:xfrm>
              <a:off x="6661785" y="1833086"/>
              <a:ext cx="423311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研究现有的人机交互含义和准则，沿用用户已经熟悉的交互约定</a:t>
              </a:r>
            </a:p>
          </p:txBody>
        </p:sp>
        <p:sp>
          <p:nvSpPr>
            <p:cNvPr id="52" name="TextBox 52"/>
            <p:cNvSpPr txBox="1"/>
            <p:nvPr/>
          </p:nvSpPr>
          <p:spPr>
            <a:xfrm>
              <a:off x="6660642" y="2147888"/>
              <a:ext cx="146761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确定初始命令层次</a:t>
              </a:r>
            </a:p>
          </p:txBody>
        </p:sp>
        <p:sp>
          <p:nvSpPr>
            <p:cNvPr id="53" name="TextBox 53"/>
            <p:cNvSpPr txBox="1"/>
            <p:nvPr/>
          </p:nvSpPr>
          <p:spPr>
            <a:xfrm>
              <a:off x="6661785" y="2416016"/>
              <a:ext cx="3328467"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先按功能把命令粗分成几组，形成初始的命令层次</a:t>
              </a:r>
            </a:p>
          </p:txBody>
        </p:sp>
        <p:sp>
          <p:nvSpPr>
            <p:cNvPr id="54" name="TextBox 54"/>
            <p:cNvSpPr txBox="1"/>
            <p:nvPr/>
          </p:nvSpPr>
          <p:spPr>
            <a:xfrm>
              <a:off x="6660642" y="2730818"/>
              <a:ext cx="110413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精化命令层次</a:t>
              </a:r>
            </a:p>
          </p:txBody>
        </p:sp>
        <p:sp>
          <p:nvSpPr>
            <p:cNvPr id="55" name="TextBox 55"/>
            <p:cNvSpPr txBox="1"/>
            <p:nvPr/>
          </p:nvSpPr>
          <p:spPr>
            <a:xfrm>
              <a:off x="6661785" y="2998946"/>
              <a:ext cx="4783582"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1F2937"/>
                  </a:solidFill>
                  <a:latin typeface="+mn-lt"/>
                  <a:ea typeface="+mn-ea"/>
                  <a:cs typeface="+mn-cs"/>
                </a:rPr>
                <a:t>从三个角度调整：次序（把最常用的放前面）、整体-部分关系（把相关命令</a:t>
              </a:r>
              <a:br/>
              <a:r>
                <a:rPr lang="zh-CN" sz="1120" dirty="0">
                  <a:solidFill>
                    <a:srgbClr val="1F2937"/>
                  </a:solidFill>
                  <a:latin typeface="+mn-lt"/>
                  <a:ea typeface="+mn-ea"/>
                  <a:cs typeface="+mn-cs"/>
                </a:rPr>
                <a:t>归到一组）、操作步骤（把一串固定操作合成一条命令）</a:t>
              </a:r>
            </a:p>
          </p:txBody>
        </p:sp>
      </p:grpSp>
      <p:grpSp>
        <p:nvGrpSpPr>
          <p:cNvPr id="65" name="c2-card-2"/>
          <p:cNvGrpSpPr/>
          <p:nvPr/>
        </p:nvGrpSpPr>
        <p:grpSpPr>
          <a:xfrm>
            <a:off x="6248400" y="3589972"/>
            <a:ext cx="5410200" cy="2096452"/>
            <a:chOff x="6248400" y="3589972"/>
            <a:chExt cx="5410200" cy="2096452"/>
          </a:xfrm>
        </p:grpSpPr>
        <p:sp>
          <p:nvSpPr>
            <p:cNvPr id="57" name="Rectangle 57"/>
            <p:cNvSpPr/>
            <p:nvPr/>
          </p:nvSpPr>
          <p:spPr>
            <a:xfrm>
              <a:off x="6248400" y="3589972"/>
              <a:ext cx="5410200" cy="2096452"/>
            </a:xfrm>
            <a:prstGeom prst="roundRect">
              <a:avLst>
                <a:gd name="adj" fmla="val 6361"/>
              </a:avLst>
            </a:prstGeom>
            <a:solidFill>
              <a:srgbClr val="FFFFFF"/>
            </a:solidFill>
            <a:ln w="14288">
              <a:solidFill>
                <a:srgbClr val="D9DFEA"/>
              </a:solidFill>
            </a:ln>
          </p:spPr>
        </p:sp>
        <p:sp>
          <p:nvSpPr>
            <p:cNvPr id="58" name="Rectangle 58"/>
            <p:cNvSpPr/>
            <p:nvPr/>
          </p:nvSpPr>
          <p:spPr>
            <a:xfrm>
              <a:off x="6257925" y="3723322"/>
              <a:ext cx="47625" cy="1829752"/>
            </a:xfrm>
            <a:prstGeom prst="roundRect">
              <a:avLst>
                <a:gd name="adj" fmla="val 50000"/>
              </a:avLst>
            </a:prstGeom>
            <a:solidFill>
              <a:srgbClr val="5B6475"/>
            </a:solidFill>
            <a:ln>
              <a:noFill/>
            </a:ln>
          </p:spPr>
        </p:sp>
        <p:sp>
          <p:nvSpPr>
            <p:cNvPr id="59" name="Rectangle 59"/>
            <p:cNvSpPr/>
            <p:nvPr/>
          </p:nvSpPr>
          <p:spPr>
            <a:xfrm>
              <a:off x="6473190" y="3776662"/>
              <a:ext cx="582930" cy="238125"/>
            </a:xfrm>
            <a:prstGeom prst="roundRect">
              <a:avLst>
                <a:gd name="adj" fmla="val 50000"/>
              </a:avLst>
            </a:prstGeom>
            <a:solidFill>
              <a:srgbClr val="F4F6FB"/>
            </a:solidFill>
            <a:ln>
              <a:noFill/>
            </a:ln>
          </p:spPr>
        </p:sp>
        <p:sp>
          <p:nvSpPr>
            <p:cNvPr id="60" name="TextBox 60"/>
            <p:cNvSpPr txBox="1"/>
            <p:nvPr/>
          </p:nvSpPr>
          <p:spPr>
            <a:xfrm>
              <a:off x="6561811" y="3809524"/>
              <a:ext cx="405689"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第四步</a:t>
              </a:r>
            </a:p>
          </p:txBody>
        </p:sp>
        <p:sp>
          <p:nvSpPr>
            <p:cNvPr id="61" name="TextBox 61"/>
            <p:cNvSpPr txBox="1"/>
            <p:nvPr/>
          </p:nvSpPr>
          <p:spPr>
            <a:xfrm>
              <a:off x="7163562" y="3811905"/>
              <a:ext cx="128587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设计人机交互类</a:t>
              </a:r>
            </a:p>
          </p:txBody>
        </p:sp>
        <p:sp>
          <p:nvSpPr>
            <p:cNvPr id="62" name="TextBox 62"/>
            <p:cNvSpPr txBox="1"/>
            <p:nvPr/>
          </p:nvSpPr>
          <p:spPr>
            <a:xfrm>
              <a:off x="6466332" y="4137660"/>
              <a:ext cx="437540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人机交互类与所使用的操作系统及编程语言密切相关。</a:t>
              </a:r>
            </a:p>
          </p:txBody>
        </p:sp>
        <p:sp>
          <p:nvSpPr>
            <p:cNvPr id="63" name="TextBox 63"/>
            <p:cNvSpPr txBox="1"/>
            <p:nvPr/>
          </p:nvSpPr>
          <p:spPr>
            <a:xfrm>
              <a:off x="6466332" y="4437698"/>
              <a:ext cx="471144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例如 Windows 环境下的 Visual C++ 提供了 MFC 类库，设计时</a:t>
              </a:r>
              <a:br/>
              <a:r>
                <a:rPr lang="zh-CN" sz="1350" dirty="0">
                  <a:solidFill>
                    <a:srgbClr val="1F2937"/>
                  </a:solidFill>
                  <a:latin typeface="+mn-lt"/>
                  <a:ea typeface="+mn-ea"/>
                  <a:cs typeface="+mn-cs"/>
                </a:rPr>
                <a:t>往往只需从中选出合适的类，再派生出符合自己需要的类。</a:t>
              </a:r>
            </a:p>
          </p:txBody>
        </p:sp>
        <p:sp>
          <p:nvSpPr>
            <p:cNvPr id="64" name="TextBox 64"/>
            <p:cNvSpPr txBox="1"/>
            <p:nvPr/>
          </p:nvSpPr>
          <p:spPr>
            <a:xfrm>
              <a:off x="6467475" y="4991576"/>
              <a:ext cx="4705350"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今天的对应物是各种界面框架的控件基类，做法不变：选基类，派生，只写</a:t>
              </a:r>
              <a:br/>
              <a:r>
                <a:rPr lang="zh-CN" sz="1120" dirty="0">
                  <a:solidFill>
                    <a:srgbClr val="5B6475"/>
                  </a:solidFill>
                  <a:latin typeface="+mn-lt"/>
                  <a:ea typeface="+mn-ea"/>
                  <a:cs typeface="+mn-cs"/>
                </a:rPr>
                <a:t>差异部分。</a:t>
              </a:r>
            </a:p>
          </p:txBody>
        </p:sp>
      </p:grpSp>
      <p:grpSp>
        <p:nvGrpSpPr>
          <p:cNvPr id="72" name="takeaway"/>
          <p:cNvGrpSpPr/>
          <p:nvPr/>
        </p:nvGrpSpPr>
        <p:grpSpPr>
          <a:xfrm>
            <a:off x="533400" y="5881688"/>
            <a:ext cx="11125200" cy="481012"/>
            <a:chOff x="533400" y="5881688"/>
            <a:chExt cx="11125200" cy="481012"/>
          </a:xfrm>
        </p:grpSpPr>
        <p:sp>
          <p:nvSpPr>
            <p:cNvPr id="66" name="Rectangle 66"/>
            <p:cNvSpPr/>
            <p:nvPr/>
          </p:nvSpPr>
          <p:spPr>
            <a:xfrm>
              <a:off x="533400" y="5881688"/>
              <a:ext cx="11125200" cy="481012"/>
            </a:xfrm>
            <a:prstGeom prst="roundRect">
              <a:avLst>
                <a:gd name="adj" fmla="val 23762"/>
              </a:avLst>
            </a:prstGeom>
            <a:solidFill>
              <a:srgbClr val="FDEEE7"/>
            </a:solidFill>
            <a:ln>
              <a:noFill/>
            </a:ln>
          </p:spPr>
        </p:sp>
        <p:grpSp>
          <p:nvGrpSpPr>
            <p:cNvPr id="70" name="Group 70"/>
            <p:cNvGrpSpPr/>
            <p:nvPr/>
          </p:nvGrpSpPr>
          <p:grpSpPr>
            <a:xfrm>
              <a:off x="738188" y="6022658"/>
              <a:ext cx="200026" cy="200025"/>
              <a:chOff x="738188" y="6022658"/>
              <a:chExt cx="200026" cy="200025"/>
            </a:xfrm>
          </p:grpSpPr>
          <p:sp>
            <p:nvSpPr>
              <p:cNvPr id="67" name="Freeform 67"/>
              <p:cNvSpPr/>
              <p:nvPr/>
            </p:nvSpPr>
            <p:spPr>
              <a:xfrm>
                <a:off x="738188" y="602265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68" name="Freeform 68"/>
              <p:cNvSpPr/>
              <p:nvPr/>
            </p:nvSpPr>
            <p:spPr>
              <a:xfrm>
                <a:off x="777926" y="606710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69" name="Freeform 69"/>
              <p:cNvSpPr/>
              <p:nvPr/>
            </p:nvSpPr>
            <p:spPr>
              <a:xfrm>
                <a:off x="812642" y="617823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71" name="TextBox 71"/>
            <p:cNvSpPr txBox="1"/>
            <p:nvPr/>
          </p:nvSpPr>
          <p:spPr>
            <a:xfrm>
              <a:off x="1040892" y="6028373"/>
              <a:ext cx="7201414" cy="264033"/>
            </a:xfrm>
            <a:prstGeom prst="rect">
              <a:avLst/>
            </a:prstGeom>
            <a:noFill/>
            <a:ln>
              <a:noFill/>
            </a:ln>
          </p:spPr>
          <p:txBody>
            <a:bodyPr wrap="none" lIns="0" tIns="0" rIns="0" bIns="0" anchor="t" anchorCtr="0">
              <a:spAutoFit/>
            </a:bodyPr>
            <a:lstStyle/>
            <a:p>
              <a:pPr algn="l"/>
              <a:r>
                <a:rPr lang="zh-CN" sz="1350" dirty="0">
                  <a:solidFill>
                    <a:srgbClr val="C2410C"/>
                  </a:solidFill>
                  <a:latin typeface="+mn-lt"/>
                  <a:ea typeface="+mn-ea"/>
                  <a:cs typeface="+mn-cs"/>
                </a:rPr>
                <a:t>命令层次精化的三条依据（次序、整体-部分、操作步骤）是常考点，要能各举一个例子。</a:t>
              </a:r>
            </a:p>
          </p:txBody>
        </p:sp>
      </p:grpSp>
      <p:grpSp>
        <p:nvGrpSpPr>
          <p:cNvPr id="75" name="footer"/>
          <p:cNvGrpSpPr/>
          <p:nvPr/>
        </p:nvGrpSpPr>
        <p:grpSpPr>
          <a:xfrm>
            <a:off x="528447" y="6581299"/>
            <a:ext cx="11135106" cy="190690"/>
            <a:chOff x="528447" y="6581299"/>
            <a:chExt cx="11135106" cy="190690"/>
          </a:xfrm>
        </p:grpSpPr>
        <p:sp>
          <p:nvSpPr>
            <p:cNvPr id="73" name="TextBox 73"/>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74" name="TextBox 7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39</a:t>
              </a:r>
            </a:p>
          </p:txBody>
        </p:sp>
      </p:grpSp>
    </p:spTree>
  </p:cSld>
  <p:clrMapOvr>
    <a:masterClrMapping/>
  </p:clrMapOvr>
  <p:transition xmlns:p14="http://schemas.microsoft.com/office/powerpoint/2010/main" p14:dur="400">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578090" cy="909257"/>
            <a:chOff x="520446" y="342900"/>
            <a:chExt cx="7578090" cy="909257"/>
          </a:xfrm>
        </p:grpSpPr>
        <p:sp>
          <p:nvSpPr>
            <p:cNvPr id="2" name="Rectangle 2"/>
            <p:cNvSpPr/>
            <p:nvPr/>
          </p:nvSpPr>
          <p:spPr>
            <a:xfrm>
              <a:off x="533400" y="342900"/>
              <a:ext cx="3208020" cy="266700"/>
            </a:xfrm>
            <a:prstGeom prst="roundRect">
              <a:avLst>
                <a:gd name="adj" fmla="val 50000"/>
              </a:avLst>
            </a:prstGeom>
            <a:solidFill>
              <a:srgbClr val="E7EDF3"/>
            </a:solidFill>
            <a:ln>
              <a:noFill/>
            </a:ln>
          </p:spPr>
        </p:sp>
        <p:sp>
          <p:nvSpPr>
            <p:cNvPr id="3" name="TextBox 3"/>
            <p:cNvSpPr txBox="1"/>
            <p:nvPr/>
          </p:nvSpPr>
          <p:spPr>
            <a:xfrm>
              <a:off x="572876" y="407194"/>
              <a:ext cx="312906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系统分解与四个子系统</a:t>
              </a:r>
            </a:p>
          </p:txBody>
        </p:sp>
        <p:sp>
          <p:nvSpPr>
            <p:cNvPr id="4" name="TextBox 4"/>
            <p:cNvSpPr txBox="1"/>
            <p:nvPr/>
          </p:nvSpPr>
          <p:spPr>
            <a:xfrm>
              <a:off x="520446" y="753428"/>
              <a:ext cx="757809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任务管理子系统：先分析并发，再把任务分配出去</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4" name="c1-card-1"/>
          <p:cNvGrpSpPr/>
          <p:nvPr/>
        </p:nvGrpSpPr>
        <p:grpSpPr>
          <a:xfrm>
            <a:off x="533400" y="1524000"/>
            <a:ext cx="4977765" cy="1760220"/>
            <a:chOff x="533400" y="1524000"/>
            <a:chExt cx="4977765" cy="1760220"/>
          </a:xfrm>
        </p:grpSpPr>
        <p:sp>
          <p:nvSpPr>
            <p:cNvPr id="7" name="Rectangle 7"/>
            <p:cNvSpPr/>
            <p:nvPr/>
          </p:nvSpPr>
          <p:spPr>
            <a:xfrm>
              <a:off x="533400" y="1524000"/>
              <a:ext cx="4977765" cy="1760220"/>
            </a:xfrm>
            <a:prstGeom prst="roundRect">
              <a:avLst>
                <a:gd name="adj" fmla="val 7576"/>
              </a:avLst>
            </a:prstGeom>
            <a:solidFill>
              <a:srgbClr val="FFFFFF"/>
            </a:solidFill>
            <a:ln w="14288">
              <a:solidFill>
                <a:srgbClr val="D9DFEA"/>
              </a:solidFill>
            </a:ln>
          </p:spPr>
        </p:sp>
        <p:sp>
          <p:nvSpPr>
            <p:cNvPr id="8" name="Rectangle 8"/>
            <p:cNvSpPr/>
            <p:nvPr/>
          </p:nvSpPr>
          <p:spPr>
            <a:xfrm>
              <a:off x="542925" y="1657350"/>
              <a:ext cx="47625" cy="1493520"/>
            </a:xfrm>
            <a:prstGeom prst="roundRect">
              <a:avLst>
                <a:gd name="adj" fmla="val 50000"/>
              </a:avLst>
            </a:prstGeom>
            <a:solidFill>
              <a:srgbClr val="334E68"/>
            </a:solidFill>
            <a:ln>
              <a:noFill/>
            </a:ln>
          </p:spPr>
        </p:sp>
        <p:sp>
          <p:nvSpPr>
            <p:cNvPr id="9" name="Rectangle 9"/>
            <p:cNvSpPr/>
            <p:nvPr/>
          </p:nvSpPr>
          <p:spPr>
            <a:xfrm>
              <a:off x="758190" y="1710690"/>
              <a:ext cx="582930" cy="238125"/>
            </a:xfrm>
            <a:prstGeom prst="roundRect">
              <a:avLst>
                <a:gd name="adj" fmla="val 50000"/>
              </a:avLst>
            </a:prstGeom>
            <a:solidFill>
              <a:srgbClr val="E7EDF3"/>
            </a:solidFill>
            <a:ln>
              <a:noFill/>
            </a:ln>
          </p:spPr>
        </p:sp>
        <p:sp>
          <p:nvSpPr>
            <p:cNvPr id="10" name="TextBox 10"/>
            <p:cNvSpPr txBox="1"/>
            <p:nvPr/>
          </p:nvSpPr>
          <p:spPr>
            <a:xfrm>
              <a:off x="846811" y="1743551"/>
              <a:ext cx="405689"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出发点</a:t>
              </a:r>
            </a:p>
          </p:txBody>
        </p:sp>
        <p:sp>
          <p:nvSpPr>
            <p:cNvPr id="11" name="TextBox 11"/>
            <p:cNvSpPr txBox="1"/>
            <p:nvPr/>
          </p:nvSpPr>
          <p:spPr>
            <a:xfrm>
              <a:off x="1448562" y="1745932"/>
              <a:ext cx="92240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分析并发性</a:t>
              </a:r>
            </a:p>
          </p:txBody>
        </p:sp>
        <p:sp>
          <p:nvSpPr>
            <p:cNvPr id="12" name="TextBox 12"/>
            <p:cNvSpPr txBox="1"/>
            <p:nvPr/>
          </p:nvSpPr>
          <p:spPr>
            <a:xfrm>
              <a:off x="751332" y="2071688"/>
              <a:ext cx="42999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看动态模型：如果两个对象在同一时刻都可以接收事件而</a:t>
              </a:r>
              <a:br/>
              <a:r>
                <a:rPr lang="zh-CN" sz="1350" dirty="0">
                  <a:solidFill>
                    <a:srgbClr val="1F2937"/>
                  </a:solidFill>
                  <a:latin typeface="+mn-lt"/>
                  <a:ea typeface="+mn-ea"/>
                  <a:cs typeface="+mn-cs"/>
                </a:rPr>
                <a:t>彼此不影响，它们就是并发的。</a:t>
              </a:r>
            </a:p>
          </p:txBody>
        </p:sp>
        <p:sp>
          <p:nvSpPr>
            <p:cNvPr id="13" name="TextBox 13"/>
            <p:cNvSpPr txBox="1"/>
            <p:nvPr/>
          </p:nvSpPr>
          <p:spPr>
            <a:xfrm>
              <a:off x="751332" y="2628900"/>
              <a:ext cx="42999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若干非并发的对象可以归并到一个任务（控制线程）中顺</a:t>
              </a:r>
              <a:br/>
              <a:r>
                <a:rPr lang="zh-CN" sz="1350" dirty="0">
                  <a:solidFill>
                    <a:srgbClr val="1F2937"/>
                  </a:solidFill>
                  <a:latin typeface="+mn-lt"/>
                  <a:ea typeface="+mn-ea"/>
                  <a:cs typeface="+mn-cs"/>
                </a:rPr>
                <a:t>序执行。</a:t>
              </a:r>
            </a:p>
          </p:txBody>
        </p:sp>
      </p:grpSp>
      <p:grpSp>
        <p:nvGrpSpPr>
          <p:cNvPr id="36" name="c1-table-2"/>
          <p:cNvGrpSpPr/>
          <p:nvPr/>
        </p:nvGrpSpPr>
        <p:grpSpPr>
          <a:xfrm>
            <a:off x="533400" y="3453765"/>
            <a:ext cx="4977765" cy="2873692"/>
            <a:chOff x="533400" y="3453765"/>
            <a:chExt cx="4977765" cy="2873692"/>
          </a:xfrm>
        </p:grpSpPr>
        <p:sp>
          <p:nvSpPr>
            <p:cNvPr id="15" name="Rectangle 15"/>
            <p:cNvSpPr/>
            <p:nvPr/>
          </p:nvSpPr>
          <p:spPr>
            <a:xfrm>
              <a:off x="533400" y="3453765"/>
              <a:ext cx="4977765" cy="439102"/>
            </a:xfrm>
            <a:prstGeom prst="rect">
              <a:avLst/>
            </a:prstGeom>
            <a:solidFill>
              <a:srgbClr val="334E68"/>
            </a:solidFill>
            <a:ln>
              <a:noFill/>
            </a:ln>
          </p:spPr>
        </p:sp>
        <p:sp>
          <p:nvSpPr>
            <p:cNvPr id="16" name="TextBox 16"/>
            <p:cNvSpPr txBox="1"/>
            <p:nvPr/>
          </p:nvSpPr>
          <p:spPr>
            <a:xfrm>
              <a:off x="909828" y="3578542"/>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任务类型</a:t>
              </a:r>
            </a:p>
          </p:txBody>
        </p:sp>
        <p:sp>
          <p:nvSpPr>
            <p:cNvPr id="17" name="TextBox 17"/>
            <p:cNvSpPr txBox="1"/>
            <p:nvPr/>
          </p:nvSpPr>
          <p:spPr>
            <a:xfrm>
              <a:off x="3398710" y="3578542"/>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触发方式</a:t>
              </a:r>
            </a:p>
          </p:txBody>
        </p:sp>
        <p:sp>
          <p:nvSpPr>
            <p:cNvPr id="18" name="TextBox 18"/>
            <p:cNvSpPr txBox="1"/>
            <p:nvPr/>
          </p:nvSpPr>
          <p:spPr>
            <a:xfrm>
              <a:off x="629412" y="4017645"/>
              <a:ext cx="128587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事件驱动型任务</a:t>
              </a:r>
            </a:p>
          </p:txBody>
        </p:sp>
        <p:sp>
          <p:nvSpPr>
            <p:cNvPr id="19" name="TextBox 19"/>
            <p:cNvSpPr txBox="1"/>
            <p:nvPr/>
          </p:nvSpPr>
          <p:spPr>
            <a:xfrm>
              <a:off x="2122932" y="4017645"/>
              <a:ext cx="310324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被外部事件唤醒，处理完回到睡眠状态</a:t>
              </a:r>
            </a:p>
          </p:txBody>
        </p:sp>
        <p:sp>
          <p:nvSpPr>
            <p:cNvPr id="20" name="Rectangle 20"/>
            <p:cNvSpPr/>
            <p:nvPr/>
          </p:nvSpPr>
          <p:spPr>
            <a:xfrm>
              <a:off x="533400" y="4327208"/>
              <a:ext cx="4977765" cy="9525"/>
            </a:xfrm>
            <a:prstGeom prst="rect">
              <a:avLst/>
            </a:prstGeom>
            <a:solidFill>
              <a:srgbClr val="D9DFEA"/>
            </a:solidFill>
            <a:ln>
              <a:noFill/>
            </a:ln>
          </p:spPr>
        </p:sp>
        <p:sp>
          <p:nvSpPr>
            <p:cNvPr id="21" name="Rectangle 21"/>
            <p:cNvSpPr/>
            <p:nvPr/>
          </p:nvSpPr>
          <p:spPr>
            <a:xfrm>
              <a:off x="533400" y="4331970"/>
              <a:ext cx="4977765" cy="439102"/>
            </a:xfrm>
            <a:prstGeom prst="rect">
              <a:avLst/>
            </a:prstGeom>
            <a:solidFill>
              <a:srgbClr val="F4F6FB"/>
            </a:solidFill>
            <a:ln>
              <a:noFill/>
            </a:ln>
          </p:spPr>
        </p:sp>
        <p:sp>
          <p:nvSpPr>
            <p:cNvPr id="22" name="TextBox 22"/>
            <p:cNvSpPr txBox="1"/>
            <p:nvPr/>
          </p:nvSpPr>
          <p:spPr>
            <a:xfrm>
              <a:off x="629412" y="4456748"/>
              <a:ext cx="128587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时钟驱动型任务</a:t>
              </a:r>
            </a:p>
          </p:txBody>
        </p:sp>
        <p:sp>
          <p:nvSpPr>
            <p:cNvPr id="23" name="TextBox 23"/>
            <p:cNvSpPr txBox="1"/>
            <p:nvPr/>
          </p:nvSpPr>
          <p:spPr>
            <a:xfrm>
              <a:off x="2122932" y="4456748"/>
              <a:ext cx="310324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每隔固定时间唤醒一次，做周期性工作</a:t>
              </a:r>
            </a:p>
          </p:txBody>
        </p:sp>
        <p:sp>
          <p:nvSpPr>
            <p:cNvPr id="24" name="Rectangle 24"/>
            <p:cNvSpPr/>
            <p:nvPr/>
          </p:nvSpPr>
          <p:spPr>
            <a:xfrm>
              <a:off x="533400" y="4765358"/>
              <a:ext cx="4977765" cy="9525"/>
            </a:xfrm>
            <a:prstGeom prst="rect">
              <a:avLst/>
            </a:prstGeom>
            <a:solidFill>
              <a:srgbClr val="D9DFEA"/>
            </a:solidFill>
            <a:ln>
              <a:noFill/>
            </a:ln>
          </p:spPr>
        </p:sp>
        <p:sp>
          <p:nvSpPr>
            <p:cNvPr id="25" name="TextBox 25"/>
            <p:cNvSpPr txBox="1"/>
            <p:nvPr/>
          </p:nvSpPr>
          <p:spPr>
            <a:xfrm>
              <a:off x="629412" y="5015865"/>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优先任务</a:t>
              </a:r>
            </a:p>
          </p:txBody>
        </p:sp>
        <p:sp>
          <p:nvSpPr>
            <p:cNvPr id="26" name="TextBox 26"/>
            <p:cNvSpPr txBox="1"/>
            <p:nvPr/>
          </p:nvSpPr>
          <p:spPr>
            <a:xfrm>
              <a:off x="2122932" y="4895850"/>
              <a:ext cx="30998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高优先级保证及时响应，低优先级空闲时</a:t>
              </a:r>
              <a:br/>
              <a:r>
                <a:rPr lang="zh-CN" sz="1350" dirty="0">
                  <a:solidFill>
                    <a:srgbClr val="1F2937"/>
                  </a:solidFill>
                  <a:latin typeface="+mn-lt"/>
                  <a:ea typeface="+mn-ea"/>
                  <a:cs typeface="+mn-cs"/>
                </a:rPr>
                <a:t>做</a:t>
              </a:r>
            </a:p>
          </p:txBody>
        </p:sp>
        <p:sp>
          <p:nvSpPr>
            <p:cNvPr id="27" name="Rectangle 27"/>
            <p:cNvSpPr/>
            <p:nvPr/>
          </p:nvSpPr>
          <p:spPr>
            <a:xfrm>
              <a:off x="533400" y="5444490"/>
              <a:ext cx="4977765" cy="9525"/>
            </a:xfrm>
            <a:prstGeom prst="rect">
              <a:avLst/>
            </a:prstGeom>
            <a:solidFill>
              <a:srgbClr val="D9DFEA"/>
            </a:solidFill>
            <a:ln>
              <a:noFill/>
            </a:ln>
          </p:spPr>
        </p:sp>
        <p:sp>
          <p:nvSpPr>
            <p:cNvPr id="28" name="Rectangle 28"/>
            <p:cNvSpPr/>
            <p:nvPr/>
          </p:nvSpPr>
          <p:spPr>
            <a:xfrm>
              <a:off x="533400" y="5449252"/>
              <a:ext cx="4977765" cy="439102"/>
            </a:xfrm>
            <a:prstGeom prst="rect">
              <a:avLst/>
            </a:prstGeom>
            <a:solidFill>
              <a:srgbClr val="F4F6FB"/>
            </a:solidFill>
            <a:ln>
              <a:noFill/>
            </a:ln>
          </p:spPr>
        </p:sp>
        <p:sp>
          <p:nvSpPr>
            <p:cNvPr id="29" name="TextBox 29"/>
            <p:cNvSpPr txBox="1"/>
            <p:nvPr/>
          </p:nvSpPr>
          <p:spPr>
            <a:xfrm>
              <a:off x="629412" y="5574983"/>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关键任务</a:t>
              </a:r>
            </a:p>
          </p:txBody>
        </p:sp>
        <p:sp>
          <p:nvSpPr>
            <p:cNvPr id="30" name="TextBox 30"/>
            <p:cNvSpPr txBox="1"/>
            <p:nvPr/>
          </p:nvSpPr>
          <p:spPr>
            <a:xfrm>
              <a:off x="2122932" y="5574983"/>
              <a:ext cx="292150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关系系统成败，单独隔离并加强容错</a:t>
              </a:r>
            </a:p>
          </p:txBody>
        </p:sp>
        <p:sp>
          <p:nvSpPr>
            <p:cNvPr id="31" name="Rectangle 31"/>
            <p:cNvSpPr/>
            <p:nvPr/>
          </p:nvSpPr>
          <p:spPr>
            <a:xfrm>
              <a:off x="533400" y="5883592"/>
              <a:ext cx="4977765" cy="9525"/>
            </a:xfrm>
            <a:prstGeom prst="rect">
              <a:avLst/>
            </a:prstGeom>
            <a:solidFill>
              <a:srgbClr val="D9DFEA"/>
            </a:solidFill>
            <a:ln>
              <a:noFill/>
            </a:ln>
          </p:spPr>
        </p:sp>
        <p:sp>
          <p:nvSpPr>
            <p:cNvPr id="32" name="TextBox 32"/>
            <p:cNvSpPr txBox="1"/>
            <p:nvPr/>
          </p:nvSpPr>
          <p:spPr>
            <a:xfrm>
              <a:off x="629412" y="6013133"/>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协调任务</a:t>
              </a:r>
            </a:p>
          </p:txBody>
        </p:sp>
        <p:sp>
          <p:nvSpPr>
            <p:cNvPr id="33" name="TextBox 33"/>
            <p:cNvSpPr txBox="1"/>
            <p:nvPr/>
          </p:nvSpPr>
          <p:spPr>
            <a:xfrm>
              <a:off x="2122932" y="6013133"/>
              <a:ext cx="237629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在多个任务之间做调度和转接</a:t>
              </a:r>
            </a:p>
          </p:txBody>
        </p:sp>
        <p:sp>
          <p:nvSpPr>
            <p:cNvPr id="34" name="Rectangle 34"/>
            <p:cNvSpPr/>
            <p:nvPr/>
          </p:nvSpPr>
          <p:spPr>
            <a:xfrm>
              <a:off x="533400" y="3453765"/>
              <a:ext cx="4977765" cy="2873692"/>
            </a:xfrm>
            <a:prstGeom prst="rect">
              <a:avLst/>
            </a:prstGeom>
            <a:noFill/>
            <a:ln w="14288">
              <a:solidFill>
                <a:srgbClr val="D9DFEA"/>
              </a:solidFill>
            </a:ln>
          </p:spPr>
        </p:sp>
        <p:sp>
          <p:nvSpPr>
            <p:cNvPr id="35" name="Rectangle 35"/>
            <p:cNvSpPr/>
            <p:nvPr/>
          </p:nvSpPr>
          <p:spPr>
            <a:xfrm>
              <a:off x="2022158" y="3453765"/>
              <a:ext cx="9525" cy="2873692"/>
            </a:xfrm>
            <a:prstGeom prst="rect">
              <a:avLst/>
            </a:prstGeom>
            <a:solidFill>
              <a:srgbClr val="D9DFEA"/>
            </a:solidFill>
            <a:ln>
              <a:noFill/>
            </a:ln>
          </p:spPr>
        </p:sp>
      </p:grpSp>
      <p:grpSp>
        <p:nvGrpSpPr>
          <p:cNvPr id="66" name="c2-steps-1"/>
          <p:cNvGrpSpPr/>
          <p:nvPr/>
        </p:nvGrpSpPr>
        <p:grpSpPr>
          <a:xfrm>
            <a:off x="5815965" y="1533525"/>
            <a:ext cx="2987980" cy="4017169"/>
            <a:chOff x="5815965" y="1533525"/>
            <a:chExt cx="2987980" cy="4017169"/>
          </a:xfrm>
        </p:grpSpPr>
        <p:sp>
          <p:nvSpPr>
            <p:cNvPr id="37" name="Rectangle 37"/>
            <p:cNvSpPr/>
            <p:nvPr/>
          </p:nvSpPr>
          <p:spPr>
            <a:xfrm>
              <a:off x="5949315" y="1676400"/>
              <a:ext cx="19050" cy="3497580"/>
            </a:xfrm>
            <a:prstGeom prst="rect">
              <a:avLst/>
            </a:prstGeom>
            <a:solidFill>
              <a:srgbClr val="D9DFEA"/>
            </a:solidFill>
            <a:ln>
              <a:noFill/>
            </a:ln>
          </p:spPr>
        </p:sp>
        <p:sp>
          <p:nvSpPr>
            <p:cNvPr id="38" name="Ellipse 38"/>
            <p:cNvSpPr/>
            <p:nvPr/>
          </p:nvSpPr>
          <p:spPr>
            <a:xfrm>
              <a:off x="5815965" y="1533525"/>
              <a:ext cx="285750" cy="285750"/>
            </a:xfrm>
            <a:prstGeom prst="ellipse">
              <a:avLst/>
            </a:prstGeom>
            <a:solidFill>
              <a:srgbClr val="334E68"/>
            </a:solidFill>
            <a:ln>
              <a:noFill/>
            </a:ln>
          </p:spPr>
        </p:sp>
        <p:sp>
          <p:nvSpPr>
            <p:cNvPr id="39" name="TextBox 39"/>
            <p:cNvSpPr txBox="1"/>
            <p:nvPr/>
          </p:nvSpPr>
          <p:spPr>
            <a:xfrm>
              <a:off x="5909589" y="16073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40" name="Ellipse 40"/>
            <p:cNvSpPr/>
            <p:nvPr/>
          </p:nvSpPr>
          <p:spPr>
            <a:xfrm>
              <a:off x="5815965" y="2116455"/>
              <a:ext cx="285750" cy="285750"/>
            </a:xfrm>
            <a:prstGeom prst="ellipse">
              <a:avLst/>
            </a:prstGeom>
            <a:solidFill>
              <a:srgbClr val="334E68"/>
            </a:solidFill>
            <a:ln>
              <a:noFill/>
            </a:ln>
          </p:spPr>
        </p:sp>
        <p:sp>
          <p:nvSpPr>
            <p:cNvPr id="41" name="TextBox 41"/>
            <p:cNvSpPr txBox="1"/>
            <p:nvPr/>
          </p:nvSpPr>
          <p:spPr>
            <a:xfrm>
              <a:off x="5909589" y="219027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42" name="Ellipse 42"/>
            <p:cNvSpPr/>
            <p:nvPr/>
          </p:nvSpPr>
          <p:spPr>
            <a:xfrm>
              <a:off x="5815965" y="2699385"/>
              <a:ext cx="285750" cy="285750"/>
            </a:xfrm>
            <a:prstGeom prst="ellipse">
              <a:avLst/>
            </a:prstGeom>
            <a:solidFill>
              <a:srgbClr val="334E68"/>
            </a:solidFill>
            <a:ln>
              <a:noFill/>
            </a:ln>
          </p:spPr>
        </p:sp>
        <p:sp>
          <p:nvSpPr>
            <p:cNvPr id="43" name="TextBox 43"/>
            <p:cNvSpPr txBox="1"/>
            <p:nvPr/>
          </p:nvSpPr>
          <p:spPr>
            <a:xfrm>
              <a:off x="5909589" y="277320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44" name="Ellipse 44"/>
            <p:cNvSpPr/>
            <p:nvPr/>
          </p:nvSpPr>
          <p:spPr>
            <a:xfrm>
              <a:off x="5815965" y="3282315"/>
              <a:ext cx="285750" cy="285750"/>
            </a:xfrm>
            <a:prstGeom prst="ellipse">
              <a:avLst/>
            </a:prstGeom>
            <a:solidFill>
              <a:srgbClr val="334E68"/>
            </a:solidFill>
            <a:ln>
              <a:noFill/>
            </a:ln>
          </p:spPr>
        </p:sp>
        <p:sp>
          <p:nvSpPr>
            <p:cNvPr id="45" name="TextBox 45"/>
            <p:cNvSpPr txBox="1"/>
            <p:nvPr/>
          </p:nvSpPr>
          <p:spPr>
            <a:xfrm>
              <a:off x="5909589" y="335613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46" name="Ellipse 46"/>
            <p:cNvSpPr/>
            <p:nvPr/>
          </p:nvSpPr>
          <p:spPr>
            <a:xfrm>
              <a:off x="5815965" y="3865245"/>
              <a:ext cx="285750" cy="285750"/>
            </a:xfrm>
            <a:prstGeom prst="ellipse">
              <a:avLst/>
            </a:prstGeom>
            <a:solidFill>
              <a:srgbClr val="334E68"/>
            </a:solidFill>
            <a:ln>
              <a:noFill/>
            </a:ln>
          </p:spPr>
        </p:sp>
        <p:sp>
          <p:nvSpPr>
            <p:cNvPr id="47" name="TextBox 47"/>
            <p:cNvSpPr txBox="1"/>
            <p:nvPr/>
          </p:nvSpPr>
          <p:spPr>
            <a:xfrm>
              <a:off x="5909589" y="393906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5</a:t>
              </a:r>
            </a:p>
          </p:txBody>
        </p:sp>
        <p:sp>
          <p:nvSpPr>
            <p:cNvPr id="48" name="Ellipse 48"/>
            <p:cNvSpPr/>
            <p:nvPr/>
          </p:nvSpPr>
          <p:spPr>
            <a:xfrm>
              <a:off x="5815965" y="4448175"/>
              <a:ext cx="285750" cy="285750"/>
            </a:xfrm>
            <a:prstGeom prst="ellipse">
              <a:avLst/>
            </a:prstGeom>
            <a:solidFill>
              <a:srgbClr val="334E68"/>
            </a:solidFill>
            <a:ln>
              <a:noFill/>
            </a:ln>
          </p:spPr>
        </p:sp>
        <p:sp>
          <p:nvSpPr>
            <p:cNvPr id="49" name="TextBox 49"/>
            <p:cNvSpPr txBox="1"/>
            <p:nvPr/>
          </p:nvSpPr>
          <p:spPr>
            <a:xfrm>
              <a:off x="5909589" y="452199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6</a:t>
              </a:r>
            </a:p>
          </p:txBody>
        </p:sp>
        <p:sp>
          <p:nvSpPr>
            <p:cNvPr id="50" name="Ellipse 50"/>
            <p:cNvSpPr/>
            <p:nvPr/>
          </p:nvSpPr>
          <p:spPr>
            <a:xfrm>
              <a:off x="5815965" y="5031105"/>
              <a:ext cx="285750" cy="285750"/>
            </a:xfrm>
            <a:prstGeom prst="ellipse">
              <a:avLst/>
            </a:prstGeom>
            <a:solidFill>
              <a:srgbClr val="334E68"/>
            </a:solidFill>
            <a:ln>
              <a:noFill/>
            </a:ln>
          </p:spPr>
        </p:sp>
        <p:sp>
          <p:nvSpPr>
            <p:cNvPr id="51" name="TextBox 51"/>
            <p:cNvSpPr txBox="1"/>
            <p:nvPr/>
          </p:nvSpPr>
          <p:spPr>
            <a:xfrm>
              <a:off x="5909589" y="510492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7</a:t>
              </a:r>
            </a:p>
          </p:txBody>
        </p:sp>
        <p:sp>
          <p:nvSpPr>
            <p:cNvPr id="52" name="TextBox 52"/>
            <p:cNvSpPr txBox="1"/>
            <p:nvPr/>
          </p:nvSpPr>
          <p:spPr>
            <a:xfrm>
              <a:off x="6228207" y="1564957"/>
              <a:ext cx="164934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确定事件驱动型任务</a:t>
              </a:r>
            </a:p>
          </p:txBody>
        </p:sp>
        <p:sp>
          <p:nvSpPr>
            <p:cNvPr id="53" name="TextBox 53"/>
            <p:cNvSpPr txBox="1"/>
            <p:nvPr/>
          </p:nvSpPr>
          <p:spPr>
            <a:xfrm>
              <a:off x="6229350" y="1833086"/>
              <a:ext cx="257459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找出由外部事件触发、平时睡眠的行为</a:t>
              </a:r>
            </a:p>
          </p:txBody>
        </p:sp>
        <p:sp>
          <p:nvSpPr>
            <p:cNvPr id="54" name="TextBox 54"/>
            <p:cNvSpPr txBox="1"/>
            <p:nvPr/>
          </p:nvSpPr>
          <p:spPr>
            <a:xfrm>
              <a:off x="6228207" y="2147888"/>
              <a:ext cx="164934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确定时钟驱动型任务</a:t>
              </a:r>
            </a:p>
          </p:txBody>
        </p:sp>
        <p:sp>
          <p:nvSpPr>
            <p:cNvPr id="55" name="TextBox 55"/>
            <p:cNvSpPr txBox="1"/>
            <p:nvPr/>
          </p:nvSpPr>
          <p:spPr>
            <a:xfrm>
              <a:off x="6229350" y="2416016"/>
              <a:ext cx="21222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找出按固定周期反复执行的行为</a:t>
              </a:r>
            </a:p>
          </p:txBody>
        </p:sp>
        <p:sp>
          <p:nvSpPr>
            <p:cNvPr id="56" name="TextBox 56"/>
            <p:cNvSpPr txBox="1"/>
            <p:nvPr/>
          </p:nvSpPr>
          <p:spPr>
            <a:xfrm>
              <a:off x="6228207" y="2730818"/>
              <a:ext cx="110413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确定优先任务</a:t>
              </a:r>
            </a:p>
          </p:txBody>
        </p:sp>
        <p:sp>
          <p:nvSpPr>
            <p:cNvPr id="57" name="TextBox 57"/>
            <p:cNvSpPr txBox="1"/>
            <p:nvPr/>
          </p:nvSpPr>
          <p:spPr>
            <a:xfrm>
              <a:off x="6229350" y="2998946"/>
              <a:ext cx="227304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区分必须及时响应的和可以延后的</a:t>
              </a:r>
            </a:p>
          </p:txBody>
        </p:sp>
        <p:sp>
          <p:nvSpPr>
            <p:cNvPr id="58" name="TextBox 58"/>
            <p:cNvSpPr txBox="1"/>
            <p:nvPr/>
          </p:nvSpPr>
          <p:spPr>
            <a:xfrm>
              <a:off x="6228207" y="3313748"/>
              <a:ext cx="110413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确定关键任务</a:t>
              </a:r>
            </a:p>
          </p:txBody>
        </p:sp>
        <p:sp>
          <p:nvSpPr>
            <p:cNvPr id="59" name="TextBox 59"/>
            <p:cNvSpPr txBox="1"/>
            <p:nvPr/>
          </p:nvSpPr>
          <p:spPr>
            <a:xfrm>
              <a:off x="6229350" y="3581876"/>
              <a:ext cx="21222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把关系系统成败的处理单独隔离</a:t>
              </a:r>
            </a:p>
          </p:txBody>
        </p:sp>
        <p:sp>
          <p:nvSpPr>
            <p:cNvPr id="60" name="TextBox 60"/>
            <p:cNvSpPr txBox="1"/>
            <p:nvPr/>
          </p:nvSpPr>
          <p:spPr>
            <a:xfrm>
              <a:off x="6228207" y="3896677"/>
              <a:ext cx="110413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确定协调任务</a:t>
              </a:r>
            </a:p>
          </p:txBody>
        </p:sp>
        <p:sp>
          <p:nvSpPr>
            <p:cNvPr id="61" name="TextBox 61"/>
            <p:cNvSpPr txBox="1"/>
            <p:nvPr/>
          </p:nvSpPr>
          <p:spPr>
            <a:xfrm>
              <a:off x="6229350" y="4164806"/>
              <a:ext cx="227304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三个以上任务需要调度时增设一个</a:t>
              </a:r>
            </a:p>
          </p:txBody>
        </p:sp>
        <p:sp>
          <p:nvSpPr>
            <p:cNvPr id="62" name="TextBox 62"/>
            <p:cNvSpPr txBox="1"/>
            <p:nvPr/>
          </p:nvSpPr>
          <p:spPr>
            <a:xfrm>
              <a:off x="6228207" y="4479608"/>
              <a:ext cx="128587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尽量减少任务数</a:t>
              </a:r>
            </a:p>
          </p:txBody>
        </p:sp>
        <p:sp>
          <p:nvSpPr>
            <p:cNvPr id="63" name="TextBox 63"/>
            <p:cNvSpPr txBox="1"/>
            <p:nvPr/>
          </p:nvSpPr>
          <p:spPr>
            <a:xfrm>
              <a:off x="6229350" y="4747736"/>
              <a:ext cx="166994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任务越多越难设计和调试</a:t>
              </a:r>
            </a:p>
          </p:txBody>
        </p:sp>
        <p:sp>
          <p:nvSpPr>
            <p:cNvPr id="64" name="TextBox 64"/>
            <p:cNvSpPr txBox="1"/>
            <p:nvPr/>
          </p:nvSpPr>
          <p:spPr>
            <a:xfrm>
              <a:off x="6228207" y="5062538"/>
              <a:ext cx="110413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确定资源需求</a:t>
              </a:r>
            </a:p>
          </p:txBody>
        </p:sp>
        <p:sp>
          <p:nvSpPr>
            <p:cNvPr id="65" name="TextBox 65"/>
            <p:cNvSpPr txBox="1"/>
            <p:nvPr/>
          </p:nvSpPr>
          <p:spPr>
            <a:xfrm>
              <a:off x="6229350" y="5330666"/>
              <a:ext cx="257459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估算处理能力和内存，决定软硬件划分</a:t>
              </a:r>
            </a:p>
          </p:txBody>
        </p:sp>
      </p:grpSp>
      <p:grpSp>
        <p:nvGrpSpPr>
          <p:cNvPr id="72" name="c2-callout-2"/>
          <p:cNvGrpSpPr/>
          <p:nvPr/>
        </p:nvGrpSpPr>
        <p:grpSpPr>
          <a:xfrm>
            <a:off x="5815965" y="5714048"/>
            <a:ext cx="5842635" cy="613410"/>
            <a:chOff x="5815965" y="5714048"/>
            <a:chExt cx="5842635" cy="613410"/>
          </a:xfrm>
        </p:grpSpPr>
        <p:sp>
          <p:nvSpPr>
            <p:cNvPr id="67" name="Rectangle 67"/>
            <p:cNvSpPr/>
            <p:nvPr/>
          </p:nvSpPr>
          <p:spPr>
            <a:xfrm>
              <a:off x="5815965" y="5714048"/>
              <a:ext cx="5842635" cy="613410"/>
            </a:xfrm>
            <a:prstGeom prst="roundRect">
              <a:avLst>
                <a:gd name="adj" fmla="val 18634"/>
              </a:avLst>
            </a:prstGeom>
            <a:solidFill>
              <a:srgbClr val="334E68"/>
            </a:solidFill>
            <a:ln>
              <a:noFill/>
            </a:ln>
          </p:spPr>
        </p:sp>
        <p:grpSp>
          <p:nvGrpSpPr>
            <p:cNvPr id="70" name="Group 70"/>
            <p:cNvGrpSpPr/>
            <p:nvPr/>
          </p:nvGrpSpPr>
          <p:grpSpPr>
            <a:xfrm>
              <a:off x="6020753" y="5920742"/>
              <a:ext cx="200023" cy="200023"/>
              <a:chOff x="6020753" y="5920742"/>
              <a:chExt cx="200023" cy="200023"/>
            </a:xfrm>
          </p:grpSpPr>
          <p:sp>
            <p:nvSpPr>
              <p:cNvPr id="68" name="Freeform 68"/>
              <p:cNvSpPr/>
              <p:nvPr/>
            </p:nvSpPr>
            <p:spPr>
              <a:xfrm>
                <a:off x="6020753" y="592074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69" name="Freeform 69"/>
              <p:cNvSpPr/>
              <p:nvPr/>
            </p:nvSpPr>
            <p:spPr>
              <a:xfrm>
                <a:off x="6154103" y="598741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1" name="TextBox 71"/>
            <p:cNvSpPr txBox="1"/>
            <p:nvPr/>
          </p:nvSpPr>
          <p:spPr>
            <a:xfrm>
              <a:off x="6323457" y="5926455"/>
              <a:ext cx="5102352"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最后两步常被漏掉，它们决定并发设计的复杂度和软硬件划分。</a:t>
              </a:r>
            </a:p>
          </p:txBody>
        </p:sp>
      </p:grpSp>
      <p:grpSp>
        <p:nvGrpSpPr>
          <p:cNvPr id="75" name="footer"/>
          <p:cNvGrpSpPr/>
          <p:nvPr/>
        </p:nvGrpSpPr>
        <p:grpSpPr>
          <a:xfrm>
            <a:off x="528447" y="6581299"/>
            <a:ext cx="11135106" cy="190690"/>
            <a:chOff x="528447" y="6581299"/>
            <a:chExt cx="11135106" cy="190690"/>
          </a:xfrm>
        </p:grpSpPr>
        <p:sp>
          <p:nvSpPr>
            <p:cNvPr id="73" name="TextBox 73"/>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74" name="TextBox 7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40</a:t>
              </a:r>
            </a:p>
          </p:txBody>
        </p:sp>
      </p:grpSp>
    </p:spTree>
  </p:cSld>
  <p:clrMapOvr>
    <a:masterClrMapping/>
  </p:clrMapOvr>
  <p:transition xmlns:p14="http://schemas.microsoft.com/office/powerpoint/2010/main" p14:dur="400">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8607933" cy="909257"/>
            <a:chOff x="520446" y="342900"/>
            <a:chExt cx="8607933" cy="909257"/>
          </a:xfrm>
        </p:grpSpPr>
        <p:sp>
          <p:nvSpPr>
            <p:cNvPr id="2" name="Rectangle 2"/>
            <p:cNvSpPr/>
            <p:nvPr/>
          </p:nvSpPr>
          <p:spPr>
            <a:xfrm>
              <a:off x="533400" y="342900"/>
              <a:ext cx="3208020" cy="266700"/>
            </a:xfrm>
            <a:prstGeom prst="roundRect">
              <a:avLst>
                <a:gd name="adj" fmla="val 50000"/>
              </a:avLst>
            </a:prstGeom>
            <a:solidFill>
              <a:srgbClr val="E7EDF3"/>
            </a:solidFill>
            <a:ln>
              <a:noFill/>
            </a:ln>
          </p:spPr>
        </p:sp>
        <p:sp>
          <p:nvSpPr>
            <p:cNvPr id="3" name="TextBox 3"/>
            <p:cNvSpPr txBox="1"/>
            <p:nvPr/>
          </p:nvSpPr>
          <p:spPr>
            <a:xfrm>
              <a:off x="572876" y="407194"/>
              <a:ext cx="312906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系统分解与四个子系统</a:t>
              </a:r>
            </a:p>
          </p:txBody>
        </p:sp>
        <p:sp>
          <p:nvSpPr>
            <p:cNvPr id="4" name="TextBox 4"/>
            <p:cNvSpPr txBox="1"/>
            <p:nvPr/>
          </p:nvSpPr>
          <p:spPr>
            <a:xfrm>
              <a:off x="520446" y="753428"/>
              <a:ext cx="860793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数据管理子系统：选存储模式，定数据格式，配相应服务</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6" name="c1-table-1"/>
          <p:cNvGrpSpPr/>
          <p:nvPr/>
        </p:nvGrpSpPr>
        <p:grpSpPr>
          <a:xfrm>
            <a:off x="533400" y="1524000"/>
            <a:ext cx="5626418" cy="2889885"/>
            <a:chOff x="533400" y="1524000"/>
            <a:chExt cx="5626418" cy="2889885"/>
          </a:xfrm>
        </p:grpSpPr>
        <p:sp>
          <p:nvSpPr>
            <p:cNvPr id="7" name="Rectangle 7"/>
            <p:cNvSpPr/>
            <p:nvPr/>
          </p:nvSpPr>
          <p:spPr>
            <a:xfrm>
              <a:off x="533400" y="1524000"/>
              <a:ext cx="5626418" cy="721995"/>
            </a:xfrm>
            <a:prstGeom prst="rect">
              <a:avLst/>
            </a:prstGeom>
            <a:solidFill>
              <a:srgbClr val="334E68"/>
            </a:solidFill>
            <a:ln>
              <a:noFill/>
            </a:ln>
          </p:spPr>
        </p:sp>
        <p:sp>
          <p:nvSpPr>
            <p:cNvPr id="8" name="TextBox 8"/>
            <p:cNvSpPr txBox="1"/>
            <p:nvPr/>
          </p:nvSpPr>
          <p:spPr>
            <a:xfrm>
              <a:off x="694436" y="1658779"/>
              <a:ext cx="916178" cy="532066"/>
            </a:xfrm>
            <a:prstGeom prst="rect">
              <a:avLst/>
            </a:prstGeom>
            <a:noFill/>
            <a:ln>
              <a:noFill/>
            </a:ln>
          </p:spPr>
          <p:txBody>
            <a:bodyPr wrap="none" lIns="0" tIns="0" rIns="0" bIns="0" anchor="t" anchorCtr="0">
              <a:spAutoFit/>
            </a:bodyPr>
            <a:lstStyle/>
            <a:p>
              <a:pPr algn="ctr">
                <a:lnSpc>
                  <a:spcPts val="1995"/>
                </a:lnSpc>
              </a:pPr>
              <a:r>
                <a:rPr lang="zh-CN" sz="1420" b="1" dirty="0">
                  <a:solidFill>
                    <a:srgbClr val="FFFFFF"/>
                  </a:solidFill>
                  <a:latin typeface="+mn-lt"/>
                  <a:ea typeface="+mn-ea"/>
                  <a:cs typeface="+mn-cs"/>
                </a:rPr>
                <a:t>存储管理模</a:t>
              </a:r>
              <a:br/>
              <a:r>
                <a:rPr lang="zh-CN" sz="1420" b="1" dirty="0">
                  <a:solidFill>
                    <a:srgbClr val="FFFFFF"/>
                  </a:solidFill>
                  <a:latin typeface="+mn-lt"/>
                  <a:ea typeface="+mn-ea"/>
                  <a:cs typeface="+mn-cs"/>
                </a:rPr>
                <a:t>式</a:t>
              </a:r>
            </a:p>
          </p:txBody>
        </p:sp>
        <p:sp>
          <p:nvSpPr>
            <p:cNvPr id="9" name="TextBox 9"/>
            <p:cNvSpPr txBox="1"/>
            <p:nvPr/>
          </p:nvSpPr>
          <p:spPr>
            <a:xfrm>
              <a:off x="2698153" y="1785461"/>
              <a:ext cx="396799"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优点</a:t>
              </a:r>
            </a:p>
          </p:txBody>
        </p:sp>
        <p:sp>
          <p:nvSpPr>
            <p:cNvPr id="10" name="TextBox 10"/>
            <p:cNvSpPr txBox="1"/>
            <p:nvPr/>
          </p:nvSpPr>
          <p:spPr>
            <a:xfrm>
              <a:off x="4605972" y="1785461"/>
              <a:ext cx="970280"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代价与局限</a:t>
              </a:r>
            </a:p>
          </p:txBody>
        </p:sp>
        <p:sp>
          <p:nvSpPr>
            <p:cNvPr id="11" name="TextBox 11"/>
            <p:cNvSpPr txBox="1"/>
            <p:nvPr/>
          </p:nvSpPr>
          <p:spPr>
            <a:xfrm>
              <a:off x="637604" y="2381726"/>
              <a:ext cx="916178" cy="532066"/>
            </a:xfrm>
            <a:prstGeom prst="rect">
              <a:avLst/>
            </a:prstGeom>
            <a:noFill/>
            <a:ln>
              <a:noFill/>
            </a:ln>
          </p:spPr>
          <p:txBody>
            <a:bodyPr wrap="none" lIns="0" tIns="0" rIns="0" bIns="0" anchor="t" anchorCtr="0">
              <a:spAutoFit/>
            </a:bodyPr>
            <a:lstStyle/>
            <a:p>
              <a:pPr algn="l">
                <a:lnSpc>
                  <a:spcPts val="1995"/>
                </a:lnSpc>
              </a:pPr>
              <a:r>
                <a:rPr lang="zh-CN" sz="1420" b="1" dirty="0">
                  <a:solidFill>
                    <a:srgbClr val="1F2937"/>
                  </a:solidFill>
                  <a:latin typeface="+mn-lt"/>
                  <a:ea typeface="+mn-ea"/>
                  <a:cs typeface="+mn-cs"/>
                </a:rPr>
                <a:t>文件管理系</a:t>
              </a:r>
              <a:br/>
              <a:r>
                <a:rPr lang="zh-CN" sz="1420" b="1" dirty="0">
                  <a:solidFill>
                    <a:srgbClr val="1F2937"/>
                  </a:solidFill>
                  <a:latin typeface="+mn-lt"/>
                  <a:ea typeface="+mn-ea"/>
                  <a:cs typeface="+mn-cs"/>
                </a:rPr>
                <a:t>统</a:t>
              </a:r>
            </a:p>
          </p:txBody>
        </p:sp>
        <p:sp>
          <p:nvSpPr>
            <p:cNvPr id="12" name="TextBox 12"/>
            <p:cNvSpPr txBox="1"/>
            <p:nvPr/>
          </p:nvSpPr>
          <p:spPr>
            <a:xfrm>
              <a:off x="1875854" y="2508409"/>
              <a:ext cx="1734922"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开销小，各平台都有</a:t>
              </a:r>
            </a:p>
          </p:txBody>
        </p:sp>
        <p:sp>
          <p:nvSpPr>
            <p:cNvPr id="13" name="TextBox 13"/>
            <p:cNvSpPr txBox="1"/>
            <p:nvPr/>
          </p:nvSpPr>
          <p:spPr>
            <a:xfrm>
              <a:off x="4125658" y="2381726"/>
              <a:ext cx="1817878"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查询、并发、恢复都要</a:t>
              </a:r>
              <a:br/>
              <a:r>
                <a:rPr lang="zh-CN" sz="1420" dirty="0">
                  <a:solidFill>
                    <a:srgbClr val="1F2937"/>
                  </a:solidFill>
                  <a:latin typeface="+mn-lt"/>
                  <a:ea typeface="+mn-ea"/>
                  <a:cs typeface="+mn-cs"/>
                </a:rPr>
                <a:t>自己写</a:t>
              </a:r>
            </a:p>
          </p:txBody>
        </p:sp>
        <p:sp>
          <p:nvSpPr>
            <p:cNvPr id="14" name="Rectangle 14"/>
            <p:cNvSpPr/>
            <p:nvPr/>
          </p:nvSpPr>
          <p:spPr>
            <a:xfrm>
              <a:off x="533400" y="2964180"/>
              <a:ext cx="5626418" cy="9525"/>
            </a:xfrm>
            <a:prstGeom prst="rect">
              <a:avLst/>
            </a:prstGeom>
            <a:solidFill>
              <a:srgbClr val="D9DFEA"/>
            </a:solidFill>
            <a:ln>
              <a:noFill/>
            </a:ln>
          </p:spPr>
        </p:sp>
        <p:sp>
          <p:nvSpPr>
            <p:cNvPr id="15" name="Rectangle 15"/>
            <p:cNvSpPr/>
            <p:nvPr/>
          </p:nvSpPr>
          <p:spPr>
            <a:xfrm>
              <a:off x="533400" y="2968942"/>
              <a:ext cx="5626418" cy="721995"/>
            </a:xfrm>
            <a:prstGeom prst="rect">
              <a:avLst/>
            </a:prstGeom>
            <a:solidFill>
              <a:srgbClr val="F4F6FB"/>
            </a:solidFill>
            <a:ln>
              <a:noFill/>
            </a:ln>
          </p:spPr>
        </p:sp>
        <p:sp>
          <p:nvSpPr>
            <p:cNvPr id="16" name="TextBox 16"/>
            <p:cNvSpPr txBox="1"/>
            <p:nvPr/>
          </p:nvSpPr>
          <p:spPr>
            <a:xfrm>
              <a:off x="637604" y="3230404"/>
              <a:ext cx="97028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关系数据库</a:t>
              </a:r>
            </a:p>
          </p:txBody>
        </p:sp>
        <p:sp>
          <p:nvSpPr>
            <p:cNvPr id="17" name="TextBox 17"/>
            <p:cNvSpPr txBox="1"/>
            <p:nvPr/>
          </p:nvSpPr>
          <p:spPr>
            <a:xfrm>
              <a:off x="1875854" y="3103721"/>
              <a:ext cx="1817878"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功能齐全；接口一致；</a:t>
              </a:r>
              <a:br/>
              <a:r>
                <a:rPr lang="zh-CN" sz="1420" dirty="0">
                  <a:solidFill>
                    <a:srgbClr val="1F2937"/>
                  </a:solidFill>
                  <a:latin typeface="+mn-lt"/>
                  <a:ea typeface="+mn-ea"/>
                  <a:cs typeface="+mn-cs"/>
                </a:rPr>
                <a:t>有标准语言 SQL</a:t>
              </a:r>
            </a:p>
          </p:txBody>
        </p:sp>
        <p:sp>
          <p:nvSpPr>
            <p:cNvPr id="18" name="TextBox 18"/>
            <p:cNvSpPr txBox="1"/>
            <p:nvPr/>
          </p:nvSpPr>
          <p:spPr>
            <a:xfrm>
              <a:off x="4125658" y="3103721"/>
              <a:ext cx="1817878"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开销大；不满足高级应</a:t>
              </a:r>
              <a:br/>
              <a:r>
                <a:rPr lang="zh-CN" sz="1420" dirty="0">
                  <a:solidFill>
                    <a:srgbClr val="1F2937"/>
                  </a:solidFill>
                  <a:latin typeface="+mn-lt"/>
                  <a:ea typeface="+mn-ea"/>
                  <a:cs typeface="+mn-cs"/>
                </a:rPr>
                <a:t>用；与语言连接不自然</a:t>
              </a:r>
            </a:p>
          </p:txBody>
        </p:sp>
        <p:sp>
          <p:nvSpPr>
            <p:cNvPr id="19" name="Rectangle 19"/>
            <p:cNvSpPr/>
            <p:nvPr/>
          </p:nvSpPr>
          <p:spPr>
            <a:xfrm>
              <a:off x="533400" y="3686175"/>
              <a:ext cx="5626418" cy="9525"/>
            </a:xfrm>
            <a:prstGeom prst="rect">
              <a:avLst/>
            </a:prstGeom>
            <a:solidFill>
              <a:srgbClr val="D9DFEA"/>
            </a:solidFill>
            <a:ln>
              <a:noFill/>
            </a:ln>
          </p:spPr>
        </p:sp>
        <p:sp>
          <p:nvSpPr>
            <p:cNvPr id="20" name="TextBox 20"/>
            <p:cNvSpPr txBox="1"/>
            <p:nvPr/>
          </p:nvSpPr>
          <p:spPr>
            <a:xfrm>
              <a:off x="637604" y="3825716"/>
              <a:ext cx="916178" cy="532066"/>
            </a:xfrm>
            <a:prstGeom prst="rect">
              <a:avLst/>
            </a:prstGeom>
            <a:noFill/>
            <a:ln>
              <a:noFill/>
            </a:ln>
          </p:spPr>
          <p:txBody>
            <a:bodyPr wrap="none" lIns="0" tIns="0" rIns="0" bIns="0" anchor="t" anchorCtr="0">
              <a:spAutoFit/>
            </a:bodyPr>
            <a:lstStyle/>
            <a:p>
              <a:pPr algn="l">
                <a:lnSpc>
                  <a:spcPts val="1995"/>
                </a:lnSpc>
              </a:pPr>
              <a:r>
                <a:rPr lang="zh-CN" sz="1420" b="1" dirty="0">
                  <a:solidFill>
                    <a:srgbClr val="1F2937"/>
                  </a:solidFill>
                  <a:latin typeface="+mn-lt"/>
                  <a:ea typeface="+mn-ea"/>
                  <a:cs typeface="+mn-cs"/>
                </a:rPr>
                <a:t>面向对象数</a:t>
              </a:r>
              <a:br/>
              <a:r>
                <a:rPr lang="zh-CN" sz="1420" b="1" dirty="0">
                  <a:solidFill>
                    <a:srgbClr val="1F2937"/>
                  </a:solidFill>
                  <a:latin typeface="+mn-lt"/>
                  <a:ea typeface="+mn-ea"/>
                  <a:cs typeface="+mn-cs"/>
                </a:rPr>
                <a:t>据库</a:t>
              </a:r>
            </a:p>
          </p:txBody>
        </p:sp>
        <p:sp>
          <p:nvSpPr>
            <p:cNvPr id="21" name="TextBox 21"/>
            <p:cNvSpPr txBox="1"/>
            <p:nvPr/>
          </p:nvSpPr>
          <p:spPr>
            <a:xfrm>
              <a:off x="1875854" y="3825716"/>
              <a:ext cx="1817878"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直接存取对象，省去对</a:t>
              </a:r>
              <a:br/>
              <a:r>
                <a:rPr lang="zh-CN" sz="1420" dirty="0">
                  <a:solidFill>
                    <a:srgbClr val="1F2937"/>
                  </a:solidFill>
                  <a:latin typeface="+mn-lt"/>
                  <a:ea typeface="+mn-ea"/>
                  <a:cs typeface="+mn-cs"/>
                </a:rPr>
                <a:t>象与表的转换</a:t>
              </a:r>
            </a:p>
          </p:txBody>
        </p:sp>
        <p:sp>
          <p:nvSpPr>
            <p:cNvPr id="22" name="TextBox 22"/>
            <p:cNvSpPr txBox="1"/>
            <p:nvPr/>
          </p:nvSpPr>
          <p:spPr>
            <a:xfrm>
              <a:off x="4125658" y="3952399"/>
              <a:ext cx="1926082"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成熟度不如关系数据库</a:t>
              </a:r>
            </a:p>
          </p:txBody>
        </p:sp>
        <p:sp>
          <p:nvSpPr>
            <p:cNvPr id="23" name="Rectangle 23"/>
            <p:cNvSpPr/>
            <p:nvPr/>
          </p:nvSpPr>
          <p:spPr>
            <a:xfrm>
              <a:off x="533400" y="1524000"/>
              <a:ext cx="5626418" cy="2889885"/>
            </a:xfrm>
            <a:prstGeom prst="rect">
              <a:avLst/>
            </a:prstGeom>
            <a:noFill/>
            <a:ln w="14288">
              <a:solidFill>
                <a:srgbClr val="D9DFEA"/>
              </a:solidFill>
            </a:ln>
          </p:spPr>
        </p:sp>
        <p:sp>
          <p:nvSpPr>
            <p:cNvPr id="24" name="Rectangle 24"/>
            <p:cNvSpPr/>
            <p:nvPr/>
          </p:nvSpPr>
          <p:spPr>
            <a:xfrm>
              <a:off x="1766888" y="1524000"/>
              <a:ext cx="9525" cy="2889885"/>
            </a:xfrm>
            <a:prstGeom prst="rect">
              <a:avLst/>
            </a:prstGeom>
            <a:solidFill>
              <a:srgbClr val="D9DFEA"/>
            </a:solidFill>
            <a:ln>
              <a:noFill/>
            </a:ln>
          </p:spPr>
        </p:sp>
        <p:sp>
          <p:nvSpPr>
            <p:cNvPr id="25" name="Rectangle 25"/>
            <p:cNvSpPr/>
            <p:nvPr/>
          </p:nvSpPr>
          <p:spPr>
            <a:xfrm>
              <a:off x="4016692" y="1524000"/>
              <a:ext cx="9525" cy="2889885"/>
            </a:xfrm>
            <a:prstGeom prst="rect">
              <a:avLst/>
            </a:prstGeom>
            <a:solidFill>
              <a:srgbClr val="D9DFEA"/>
            </a:solidFill>
            <a:ln>
              <a:noFill/>
            </a:ln>
          </p:spPr>
        </p:sp>
      </p:grpSp>
      <p:grpSp>
        <p:nvGrpSpPr>
          <p:cNvPr id="33" name="c1-callout-2"/>
          <p:cNvGrpSpPr/>
          <p:nvPr/>
        </p:nvGrpSpPr>
        <p:grpSpPr>
          <a:xfrm>
            <a:off x="533400" y="4598670"/>
            <a:ext cx="5626418" cy="1018222"/>
            <a:chOff x="533400" y="4598670"/>
            <a:chExt cx="5626418" cy="1018222"/>
          </a:xfrm>
        </p:grpSpPr>
        <p:sp>
          <p:nvSpPr>
            <p:cNvPr id="27" name="Rectangle 27"/>
            <p:cNvSpPr/>
            <p:nvPr/>
          </p:nvSpPr>
          <p:spPr>
            <a:xfrm>
              <a:off x="533400" y="4598670"/>
              <a:ext cx="5626418" cy="1018222"/>
            </a:xfrm>
            <a:prstGeom prst="roundRect">
              <a:avLst>
                <a:gd name="adj" fmla="val 11225"/>
              </a:avLst>
            </a:prstGeom>
            <a:solidFill>
              <a:srgbClr val="F4F6FB"/>
            </a:solidFill>
            <a:ln>
              <a:noFill/>
            </a:ln>
          </p:spPr>
        </p:sp>
        <p:grpSp>
          <p:nvGrpSpPr>
            <p:cNvPr id="31" name="Group 31"/>
            <p:cNvGrpSpPr/>
            <p:nvPr/>
          </p:nvGrpSpPr>
          <p:grpSpPr>
            <a:xfrm>
              <a:off x="738188" y="5008245"/>
              <a:ext cx="200026" cy="200026"/>
              <a:chOff x="738188" y="5008245"/>
              <a:chExt cx="200026" cy="200026"/>
            </a:xfrm>
          </p:grpSpPr>
          <p:sp>
            <p:nvSpPr>
              <p:cNvPr id="28" name="Freeform 28"/>
              <p:cNvSpPr/>
              <p:nvPr/>
            </p:nvSpPr>
            <p:spPr>
              <a:xfrm>
                <a:off x="738188" y="500824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29" name="Freeform 29"/>
              <p:cNvSpPr/>
              <p:nvPr/>
            </p:nvSpPr>
            <p:spPr>
              <a:xfrm>
                <a:off x="838200" y="507492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30" name="Freeform 30"/>
              <p:cNvSpPr/>
              <p:nvPr/>
            </p:nvSpPr>
            <p:spPr>
              <a:xfrm>
                <a:off x="827088" y="510825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32" name="TextBox 32"/>
            <p:cNvSpPr txBox="1"/>
            <p:nvPr/>
          </p:nvSpPr>
          <p:spPr>
            <a:xfrm>
              <a:off x="1040511" y="4745831"/>
              <a:ext cx="4703318" cy="804482"/>
            </a:xfrm>
            <a:prstGeom prst="rect">
              <a:avLst/>
            </a:prstGeom>
            <a:noFill/>
            <a:ln>
              <a:noFill/>
            </a:ln>
          </p:spPr>
          <p:txBody>
            <a:bodyPr wrap="none" lIns="0" tIns="0" rIns="0" bIns="0" anchor="t" anchorCtr="0">
              <a:spAutoFit/>
            </a:bodyPr>
            <a:lstStyle/>
            <a:p>
              <a:pPr algn="l">
                <a:lnSpc>
                  <a:spcPts val="2070"/>
                </a:lnSpc>
              </a:pPr>
              <a:r>
                <a:rPr lang="zh-CN" sz="1420" dirty="0">
                  <a:solidFill>
                    <a:srgbClr val="1F2937"/>
                  </a:solidFill>
                  <a:latin typeface="+mn-lt"/>
                  <a:ea typeface="+mn-ea"/>
                  <a:cs typeface="+mn-cs"/>
                </a:rPr>
                <a:t>面向对象数据库的两条途径：扩展的关系数据库（设计方法</a:t>
              </a:r>
              <a:br/>
              <a:r>
                <a:rPr lang="zh-CN" sz="1420" dirty="0">
                  <a:solidFill>
                    <a:srgbClr val="1F2937"/>
                  </a:solidFill>
                  <a:latin typeface="+mn-lt"/>
                  <a:ea typeface="+mn-ea"/>
                  <a:cs typeface="+mn-cs"/>
                </a:rPr>
                <a:t>同关系数据库）；扩展的面向对象语言（语言把对象值映射</a:t>
              </a:r>
              <a:br/>
              <a:r>
                <a:rPr lang="zh-CN" sz="1420" dirty="0">
                  <a:solidFill>
                    <a:srgbClr val="1F2937"/>
                  </a:solidFill>
                  <a:latin typeface="+mn-lt"/>
                  <a:ea typeface="+mn-ea"/>
                  <a:cs typeface="+mn-cs"/>
                </a:rPr>
                <a:t>成存储值，不需要规范化属性）。</a:t>
              </a:r>
            </a:p>
          </p:txBody>
        </p:sp>
      </p:grpSp>
      <p:grpSp>
        <p:nvGrpSpPr>
          <p:cNvPr id="45" name="c2-table-1"/>
          <p:cNvGrpSpPr/>
          <p:nvPr/>
        </p:nvGrpSpPr>
        <p:grpSpPr>
          <a:xfrm>
            <a:off x="6464618" y="1524000"/>
            <a:ext cx="5193982" cy="1913573"/>
            <a:chOff x="6464618" y="1524000"/>
            <a:chExt cx="5193982" cy="1913573"/>
          </a:xfrm>
        </p:grpSpPr>
        <p:sp>
          <p:nvSpPr>
            <p:cNvPr id="34" name="Rectangle 34"/>
            <p:cNvSpPr/>
            <p:nvPr/>
          </p:nvSpPr>
          <p:spPr>
            <a:xfrm>
              <a:off x="6464618" y="1524000"/>
              <a:ext cx="5193982" cy="468630"/>
            </a:xfrm>
            <a:prstGeom prst="rect">
              <a:avLst/>
            </a:prstGeom>
            <a:solidFill>
              <a:srgbClr val="334E68"/>
            </a:solidFill>
            <a:ln>
              <a:noFill/>
            </a:ln>
          </p:spPr>
        </p:sp>
        <p:sp>
          <p:nvSpPr>
            <p:cNvPr id="35" name="TextBox 35"/>
            <p:cNvSpPr txBox="1"/>
            <p:nvPr/>
          </p:nvSpPr>
          <p:spPr>
            <a:xfrm>
              <a:off x="6785331" y="1658779"/>
              <a:ext cx="396799"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模式</a:t>
              </a:r>
            </a:p>
          </p:txBody>
        </p:sp>
        <p:sp>
          <p:nvSpPr>
            <p:cNvPr id="36" name="TextBox 36"/>
            <p:cNvSpPr txBox="1"/>
            <p:nvPr/>
          </p:nvSpPr>
          <p:spPr>
            <a:xfrm>
              <a:off x="8713737" y="1658779"/>
              <a:ext cx="1734922"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设计数据格式的步骤</a:t>
              </a:r>
            </a:p>
          </p:txBody>
        </p:sp>
        <p:sp>
          <p:nvSpPr>
            <p:cNvPr id="37" name="TextBox 37"/>
            <p:cNvSpPr txBox="1"/>
            <p:nvPr/>
          </p:nvSpPr>
          <p:spPr>
            <a:xfrm>
              <a:off x="6568821" y="2255044"/>
              <a:ext cx="77912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文件系统</a:t>
              </a:r>
            </a:p>
          </p:txBody>
        </p:sp>
        <p:sp>
          <p:nvSpPr>
            <p:cNvPr id="38" name="TextBox 38"/>
            <p:cNvSpPr txBox="1"/>
            <p:nvPr/>
          </p:nvSpPr>
          <p:spPr>
            <a:xfrm>
              <a:off x="7607998" y="2128361"/>
              <a:ext cx="3495040"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定义第一范式表 → 每表一个文件 → 测性能和</a:t>
              </a:r>
              <a:br/>
              <a:r>
                <a:rPr lang="zh-CN" sz="1420" dirty="0">
                  <a:solidFill>
                    <a:srgbClr val="1F2937"/>
                  </a:solidFill>
                  <a:latin typeface="+mn-lt"/>
                  <a:ea typeface="+mn-ea"/>
                  <a:cs typeface="+mn-cs"/>
                </a:rPr>
                <a:t>容量 → 修改第一范式</a:t>
              </a:r>
            </a:p>
          </p:txBody>
        </p:sp>
        <p:sp>
          <p:nvSpPr>
            <p:cNvPr id="39" name="Rectangle 39"/>
            <p:cNvSpPr/>
            <p:nvPr/>
          </p:nvSpPr>
          <p:spPr>
            <a:xfrm>
              <a:off x="6464618" y="2710815"/>
              <a:ext cx="5193982" cy="9525"/>
            </a:xfrm>
            <a:prstGeom prst="rect">
              <a:avLst/>
            </a:prstGeom>
            <a:solidFill>
              <a:srgbClr val="D9DFEA"/>
            </a:solidFill>
            <a:ln>
              <a:noFill/>
            </a:ln>
          </p:spPr>
        </p:sp>
        <p:sp>
          <p:nvSpPr>
            <p:cNvPr id="40" name="Rectangle 40"/>
            <p:cNvSpPr/>
            <p:nvPr/>
          </p:nvSpPr>
          <p:spPr>
            <a:xfrm>
              <a:off x="6464618" y="2715578"/>
              <a:ext cx="5193982" cy="721995"/>
            </a:xfrm>
            <a:prstGeom prst="rect">
              <a:avLst/>
            </a:prstGeom>
            <a:solidFill>
              <a:srgbClr val="F4F6FB"/>
            </a:solidFill>
            <a:ln>
              <a:noFill/>
            </a:ln>
          </p:spPr>
        </p:sp>
        <p:sp>
          <p:nvSpPr>
            <p:cNvPr id="41" name="TextBox 41"/>
            <p:cNvSpPr txBox="1"/>
            <p:nvPr/>
          </p:nvSpPr>
          <p:spPr>
            <a:xfrm>
              <a:off x="6568821" y="2850356"/>
              <a:ext cx="735838" cy="532066"/>
            </a:xfrm>
            <a:prstGeom prst="rect">
              <a:avLst/>
            </a:prstGeom>
            <a:noFill/>
            <a:ln>
              <a:noFill/>
            </a:ln>
          </p:spPr>
          <p:txBody>
            <a:bodyPr wrap="none" lIns="0" tIns="0" rIns="0" bIns="0" anchor="t" anchorCtr="0">
              <a:spAutoFit/>
            </a:bodyPr>
            <a:lstStyle/>
            <a:p>
              <a:pPr algn="l">
                <a:lnSpc>
                  <a:spcPts val="1995"/>
                </a:lnSpc>
              </a:pPr>
              <a:r>
                <a:rPr lang="zh-CN" sz="1420" b="1" dirty="0">
                  <a:solidFill>
                    <a:srgbClr val="1F2937"/>
                  </a:solidFill>
                  <a:latin typeface="+mn-lt"/>
                  <a:ea typeface="+mn-ea"/>
                  <a:cs typeface="+mn-cs"/>
                </a:rPr>
                <a:t>关系数据</a:t>
              </a:r>
              <a:br/>
              <a:r>
                <a:rPr lang="zh-CN" sz="1420" b="1" dirty="0">
                  <a:solidFill>
                    <a:srgbClr val="1F2937"/>
                  </a:solidFill>
                  <a:latin typeface="+mn-lt"/>
                  <a:ea typeface="+mn-ea"/>
                  <a:cs typeface="+mn-cs"/>
                </a:rPr>
                <a:t>库</a:t>
              </a:r>
            </a:p>
          </p:txBody>
        </p:sp>
        <p:sp>
          <p:nvSpPr>
            <p:cNvPr id="42" name="TextBox 42"/>
            <p:cNvSpPr txBox="1"/>
            <p:nvPr/>
          </p:nvSpPr>
          <p:spPr>
            <a:xfrm>
              <a:off x="7607998" y="2850356"/>
              <a:ext cx="3495040"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定义第三范式表 → 每表一个数据库表 → 测性</a:t>
              </a:r>
              <a:br/>
              <a:r>
                <a:rPr lang="zh-CN" sz="1420" dirty="0">
                  <a:solidFill>
                    <a:srgbClr val="1F2937"/>
                  </a:solidFill>
                  <a:latin typeface="+mn-lt"/>
                  <a:ea typeface="+mn-ea"/>
                  <a:cs typeface="+mn-cs"/>
                </a:rPr>
                <a:t>能和容量 → 修改第三范式</a:t>
              </a:r>
            </a:p>
          </p:txBody>
        </p:sp>
        <p:sp>
          <p:nvSpPr>
            <p:cNvPr id="43" name="Rectangle 43"/>
            <p:cNvSpPr/>
            <p:nvPr/>
          </p:nvSpPr>
          <p:spPr>
            <a:xfrm>
              <a:off x="6464618" y="1524000"/>
              <a:ext cx="5193982" cy="1913572"/>
            </a:xfrm>
            <a:prstGeom prst="rect">
              <a:avLst/>
            </a:prstGeom>
            <a:noFill/>
            <a:ln w="14288">
              <a:solidFill>
                <a:srgbClr val="D9DFEA"/>
              </a:solidFill>
            </a:ln>
          </p:spPr>
        </p:sp>
        <p:sp>
          <p:nvSpPr>
            <p:cNvPr id="44" name="Rectangle 44"/>
            <p:cNvSpPr/>
            <p:nvPr/>
          </p:nvSpPr>
          <p:spPr>
            <a:xfrm>
              <a:off x="7499032" y="1524000"/>
              <a:ext cx="9525" cy="1913572"/>
            </a:xfrm>
            <a:prstGeom prst="rect">
              <a:avLst/>
            </a:prstGeom>
            <a:solidFill>
              <a:srgbClr val="D9DFEA"/>
            </a:solidFill>
            <a:ln>
              <a:noFill/>
            </a:ln>
          </p:spPr>
        </p:sp>
      </p:grpSp>
      <p:grpSp>
        <p:nvGrpSpPr>
          <p:cNvPr id="52" name="c2-card-2"/>
          <p:cNvGrpSpPr/>
          <p:nvPr/>
        </p:nvGrpSpPr>
        <p:grpSpPr>
          <a:xfrm>
            <a:off x="6464618" y="3623310"/>
            <a:ext cx="5193982" cy="1994535"/>
            <a:chOff x="6464618" y="3623310"/>
            <a:chExt cx="5193982" cy="1994535"/>
          </a:xfrm>
        </p:grpSpPr>
        <p:sp>
          <p:nvSpPr>
            <p:cNvPr id="46" name="Rectangle 46"/>
            <p:cNvSpPr/>
            <p:nvPr/>
          </p:nvSpPr>
          <p:spPr>
            <a:xfrm>
              <a:off x="6464618" y="3623310"/>
              <a:ext cx="5193982" cy="1994535"/>
            </a:xfrm>
            <a:prstGeom prst="roundRect">
              <a:avLst>
                <a:gd name="adj" fmla="val 6686"/>
              </a:avLst>
            </a:prstGeom>
            <a:solidFill>
              <a:srgbClr val="334E68"/>
            </a:solidFill>
            <a:ln>
              <a:noFill/>
            </a:ln>
          </p:spPr>
        </p:sp>
        <p:sp>
          <p:nvSpPr>
            <p:cNvPr id="47" name="Rectangle 47"/>
            <p:cNvSpPr/>
            <p:nvPr/>
          </p:nvSpPr>
          <p:spPr>
            <a:xfrm>
              <a:off x="6668452" y="3827145"/>
              <a:ext cx="1204912" cy="257175"/>
            </a:xfrm>
            <a:prstGeom prst="roundRect">
              <a:avLst>
                <a:gd name="adj" fmla="val 50000"/>
              </a:avLst>
            </a:prstGeom>
            <a:solidFill>
              <a:srgbClr val="243B53"/>
            </a:solidFill>
            <a:ln>
              <a:noFill/>
            </a:ln>
          </p:spPr>
        </p:sp>
        <p:sp>
          <p:nvSpPr>
            <p:cNvPr id="48" name="TextBox 48"/>
            <p:cNvSpPr txBox="1"/>
            <p:nvPr/>
          </p:nvSpPr>
          <p:spPr>
            <a:xfrm>
              <a:off x="6737960" y="3862864"/>
              <a:ext cx="1066851"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设计相应的服务</a:t>
              </a:r>
            </a:p>
          </p:txBody>
        </p:sp>
        <p:sp>
          <p:nvSpPr>
            <p:cNvPr id="49" name="TextBox 49"/>
            <p:cNvSpPr txBox="1"/>
            <p:nvPr/>
          </p:nvSpPr>
          <p:spPr>
            <a:xfrm>
              <a:off x="7981379" y="3866674"/>
              <a:ext cx="2549333" cy="278702"/>
            </a:xfrm>
            <a:prstGeom prst="rect">
              <a:avLst/>
            </a:prstGeom>
            <a:noFill/>
            <a:ln>
              <a:noFill/>
            </a:ln>
          </p:spPr>
          <p:txBody>
            <a:bodyPr wrap="none" lIns="0" tIns="0" rIns="0" bIns="0" anchor="t" anchorCtr="0">
              <a:spAutoFit/>
            </a:bodyPr>
            <a:lstStyle/>
            <a:p>
              <a:pPr algn="l"/>
              <a:r>
                <a:rPr lang="zh-CN" sz="1420" b="1" dirty="0">
                  <a:solidFill>
                    <a:srgbClr val="FFFFFF"/>
                  </a:solidFill>
                  <a:latin typeface="+mn-lt"/>
                  <a:ea typeface="+mn-ea"/>
                  <a:cs typeface="+mn-cs"/>
                </a:rPr>
                <a:t>文件系统下的 ObjectServer</a:t>
              </a:r>
            </a:p>
          </p:txBody>
        </p:sp>
        <p:sp>
          <p:nvSpPr>
            <p:cNvPr id="50" name="TextBox 50"/>
            <p:cNvSpPr txBox="1"/>
            <p:nvPr/>
          </p:nvSpPr>
          <p:spPr>
            <a:xfrm>
              <a:off x="6661214" y="4218146"/>
              <a:ext cx="452297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FFFFFF"/>
                  </a:solidFill>
                  <a:latin typeface="+mn-lt"/>
                  <a:ea typeface="+mn-ea"/>
                  <a:cs typeface="+mn-cs"/>
                </a:rPr>
                <a:t>被存储的对象要知道打开哪些文件、怎样定位到记录、怎</a:t>
              </a:r>
              <a:br/>
              <a:r>
                <a:rPr lang="zh-CN" sz="1420" dirty="0">
                  <a:solidFill>
                    <a:srgbClr val="FFFFFF"/>
                  </a:solidFill>
                  <a:latin typeface="+mn-lt"/>
                  <a:ea typeface="+mn-ea"/>
                  <a:cs typeface="+mn-cs"/>
                </a:rPr>
                <a:t>样检索旧值并更新。</a:t>
              </a:r>
            </a:p>
          </p:txBody>
        </p:sp>
        <p:sp>
          <p:nvSpPr>
            <p:cNvPr id="51" name="TextBox 51"/>
            <p:cNvSpPr txBox="1"/>
            <p:nvPr/>
          </p:nvSpPr>
          <p:spPr>
            <a:xfrm>
              <a:off x="6661214" y="4809649"/>
              <a:ext cx="4609090"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FFFFFF"/>
                  </a:solidFill>
                  <a:latin typeface="+mn-lt"/>
                  <a:ea typeface="+mn-ea"/>
                  <a:cs typeface="+mn-cs"/>
                </a:rPr>
                <a:t xml:space="preserve">为此定义 </a:t>
              </a:r>
              <a:r>
                <a:rPr lang="en-US" sz="1420" b="1" dirty="0">
                  <a:solidFill>
                    <a:srgbClr val="FFD58A"/>
                  </a:solidFill>
                  <a:latin typeface="+mn-lt"/>
                  <a:ea typeface="+mn-ea"/>
                  <a:cs typeface="+mn-cs"/>
                </a:rPr>
                <a:t>ObjectServer</a:t>
              </a:r>
              <a:r>
                <a:rPr lang="zh-CN" sz="1420" dirty="0">
                  <a:solidFill>
                    <a:srgbClr val="FFFFFF"/>
                  </a:solidFill>
                  <a:latin typeface="+mn-lt"/>
                  <a:ea typeface="+mn-ea"/>
                  <a:cs typeface="+mn-cs"/>
                </a:rPr>
                <a:t xml:space="preserve"> 类，提供两项服务：通知对象保</a:t>
              </a:r>
              <a:br/>
              <a:r>
                <a:rPr lang="zh-CN" sz="1420" dirty="0">
                  <a:solidFill>
                    <a:srgbClr val="FFFFFF"/>
                  </a:solidFill>
                  <a:latin typeface="+mn-lt"/>
                  <a:ea typeface="+mn-ea"/>
                  <a:cs typeface="+mn-cs"/>
                </a:rPr>
                <a:t>存自身；检索已存储的对象供其他子系统使用。</a:t>
              </a:r>
            </a:p>
          </p:txBody>
        </p:sp>
      </p:grpSp>
      <p:grpSp>
        <p:nvGrpSpPr>
          <p:cNvPr id="58" name="takeaway"/>
          <p:cNvGrpSpPr/>
          <p:nvPr/>
        </p:nvGrpSpPr>
        <p:grpSpPr>
          <a:xfrm>
            <a:off x="533400" y="5844540"/>
            <a:ext cx="11125200" cy="518160"/>
            <a:chOff x="533400" y="5844540"/>
            <a:chExt cx="11125200" cy="518160"/>
          </a:xfrm>
        </p:grpSpPr>
        <p:sp>
          <p:nvSpPr>
            <p:cNvPr id="53" name="Rectangle 53"/>
            <p:cNvSpPr/>
            <p:nvPr/>
          </p:nvSpPr>
          <p:spPr>
            <a:xfrm>
              <a:off x="533400" y="5844540"/>
              <a:ext cx="11125200" cy="518160"/>
            </a:xfrm>
            <a:prstGeom prst="roundRect">
              <a:avLst>
                <a:gd name="adj" fmla="val 22059"/>
              </a:avLst>
            </a:prstGeom>
            <a:solidFill>
              <a:srgbClr val="334E68"/>
            </a:solidFill>
            <a:ln>
              <a:noFill/>
            </a:ln>
          </p:spPr>
        </p:sp>
        <p:grpSp>
          <p:nvGrpSpPr>
            <p:cNvPr id="56" name="Group 56"/>
            <p:cNvGrpSpPr/>
            <p:nvPr/>
          </p:nvGrpSpPr>
          <p:grpSpPr>
            <a:xfrm>
              <a:off x="738188" y="6003610"/>
              <a:ext cx="200023" cy="200023"/>
              <a:chOff x="738188" y="6003610"/>
              <a:chExt cx="200023" cy="200023"/>
            </a:xfrm>
          </p:grpSpPr>
          <p:sp>
            <p:nvSpPr>
              <p:cNvPr id="54" name="Freeform 54"/>
              <p:cNvSpPr/>
              <p:nvPr/>
            </p:nvSpPr>
            <p:spPr>
              <a:xfrm>
                <a:off x="738188" y="600361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5" name="Freeform 55"/>
              <p:cNvSpPr/>
              <p:nvPr/>
            </p:nvSpPr>
            <p:spPr>
              <a:xfrm>
                <a:off x="871538" y="607028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7" name="TextBox 57"/>
            <p:cNvSpPr txBox="1"/>
            <p:nvPr/>
          </p:nvSpPr>
          <p:spPr>
            <a:xfrm>
              <a:off x="1040511" y="6004084"/>
              <a:ext cx="6322771"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两个范式不要记反：文件系统只要求第一范式，关系数据库要求第三范式。</a:t>
              </a:r>
            </a:p>
          </p:txBody>
        </p:sp>
      </p:grpSp>
      <p:grpSp>
        <p:nvGrpSpPr>
          <p:cNvPr id="61" name="footer"/>
          <p:cNvGrpSpPr/>
          <p:nvPr/>
        </p:nvGrpSpPr>
        <p:grpSpPr>
          <a:xfrm>
            <a:off x="528447" y="6581299"/>
            <a:ext cx="11135106" cy="190690"/>
            <a:chOff x="528447" y="6581299"/>
            <a:chExt cx="11135106" cy="190690"/>
          </a:xfrm>
        </p:grpSpPr>
        <p:sp>
          <p:nvSpPr>
            <p:cNvPr id="59" name="TextBox 59"/>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60" name="TextBox 6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41</a:t>
              </a:r>
            </a:p>
          </p:txBody>
        </p:sp>
      </p:grpSp>
    </p:spTree>
  </p:cSld>
  <p:clrMapOvr>
    <a:masterClrMapping/>
  </p:clrMapOvr>
  <p:transition xmlns:p14="http://schemas.microsoft.com/office/powerpoint/2010/main" p14:dur="400">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05</a:t>
              </a:r>
            </a:p>
          </p:txBody>
        </p:sp>
      </p:grpSp>
      <p:grpSp>
        <p:nvGrpSpPr>
          <p:cNvPr id="18" name="section-title"/>
          <p:cNvGrpSpPr/>
          <p:nvPr/>
        </p:nvGrpSpPr>
        <p:grpSpPr>
          <a:xfrm>
            <a:off x="667512" y="1835468"/>
            <a:ext cx="4882896" cy="3351847"/>
            <a:chOff x="667512" y="1835468"/>
            <a:chExt cx="4882896"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第五部分</a:t>
              </a:r>
            </a:p>
          </p:txBody>
        </p:sp>
        <p:sp>
          <p:nvSpPr>
            <p:cNvPr id="7" name="TextBox 7"/>
            <p:cNvSpPr txBox="1"/>
            <p:nvPr/>
          </p:nvSpPr>
          <p:spPr>
            <a:xfrm>
              <a:off x="667512" y="2240280"/>
              <a:ext cx="4882896"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服务、关联与设计优化</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2904363"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把类图落实到可以编码的程度</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设计类中的服务</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实现单向与双向关联</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冗余关联与查询次序</a:t>
              </a:r>
            </a:p>
          </p:txBody>
        </p:sp>
        <p:sp>
          <p:nvSpPr>
            <p:cNvPr id="16" name="Ellipse 16"/>
            <p:cNvSpPr/>
            <p:nvPr/>
          </p:nvSpPr>
          <p:spPr>
            <a:xfrm>
              <a:off x="723900" y="4951095"/>
              <a:ext cx="76200" cy="76200"/>
            </a:xfrm>
            <a:prstGeom prst="ellipse">
              <a:avLst/>
            </a:prstGeom>
            <a:solidFill>
              <a:srgbClr val="334E68"/>
            </a:solidFill>
            <a:ln>
              <a:noFill/>
            </a:ln>
          </p:spPr>
        </p:sp>
        <p:sp>
          <p:nvSpPr>
            <p:cNvPr id="17" name="TextBox 17"/>
            <p:cNvSpPr txBox="1"/>
            <p:nvPr/>
          </p:nvSpPr>
          <p:spPr>
            <a:xfrm>
              <a:off x="906780" y="4893945"/>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调整继承与委托</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42</a:t>
              </a:r>
            </a:p>
          </p:txBody>
        </p:sp>
      </p:grpSp>
    </p:spTree>
  </p:cSld>
  <p:clrMapOvr>
    <a:masterClrMapping/>
  </p:clrMapOvr>
  <p:transition xmlns:p14="http://schemas.microsoft.com/office/powerpoint/2010/main" p14:dur="400">
    <p:fad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1685" cy="909257"/>
            <a:chOff x="520446" y="342900"/>
            <a:chExt cx="5861685" cy="909257"/>
          </a:xfrm>
        </p:grpSpPr>
        <p:sp>
          <p:nvSpPr>
            <p:cNvPr id="2" name="Rectangle 2"/>
            <p:cNvSpPr/>
            <p:nvPr/>
          </p:nvSpPr>
          <p:spPr>
            <a:xfrm>
              <a:off x="533400" y="342900"/>
              <a:ext cx="3208020" cy="266700"/>
            </a:xfrm>
            <a:prstGeom prst="roundRect">
              <a:avLst>
                <a:gd name="adj" fmla="val 50000"/>
              </a:avLst>
            </a:prstGeom>
            <a:solidFill>
              <a:srgbClr val="E7EDF3"/>
            </a:solidFill>
            <a:ln>
              <a:noFill/>
            </a:ln>
          </p:spPr>
        </p:sp>
        <p:sp>
          <p:nvSpPr>
            <p:cNvPr id="3" name="TextBox 3"/>
            <p:cNvSpPr txBox="1"/>
            <p:nvPr/>
          </p:nvSpPr>
          <p:spPr>
            <a:xfrm>
              <a:off x="572876" y="407194"/>
              <a:ext cx="312906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服务、关联与设计优化</a:t>
              </a:r>
            </a:p>
          </p:txBody>
        </p:sp>
        <p:sp>
          <p:nvSpPr>
            <p:cNvPr id="4" name="TextBox 4"/>
            <p:cNvSpPr txBox="1"/>
            <p:nvPr/>
          </p:nvSpPr>
          <p:spPr>
            <a:xfrm>
              <a:off x="520446" y="753428"/>
              <a:ext cx="58616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设计类中的服务：服务从三个模型里来</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8" name="c1-card-1"/>
          <p:cNvGrpSpPr/>
          <p:nvPr/>
        </p:nvGrpSpPr>
        <p:grpSpPr>
          <a:xfrm>
            <a:off x="533400" y="1524000"/>
            <a:ext cx="5193982" cy="2559368"/>
            <a:chOff x="533400" y="1524000"/>
            <a:chExt cx="5193982" cy="2559368"/>
          </a:xfrm>
        </p:grpSpPr>
        <p:sp>
          <p:nvSpPr>
            <p:cNvPr id="7" name="Rectangle 7"/>
            <p:cNvSpPr/>
            <p:nvPr/>
          </p:nvSpPr>
          <p:spPr>
            <a:xfrm>
              <a:off x="533400" y="1524000"/>
              <a:ext cx="5193982" cy="2559368"/>
            </a:xfrm>
            <a:prstGeom prst="roundRect">
              <a:avLst>
                <a:gd name="adj" fmla="val 5210"/>
              </a:avLst>
            </a:prstGeom>
            <a:solidFill>
              <a:srgbClr val="334E68"/>
            </a:solidFill>
            <a:ln>
              <a:noFill/>
            </a:ln>
          </p:spPr>
        </p:sp>
        <p:sp>
          <p:nvSpPr>
            <p:cNvPr id="8" name="Rectangle 8"/>
            <p:cNvSpPr/>
            <p:nvPr/>
          </p:nvSpPr>
          <p:spPr>
            <a:xfrm>
              <a:off x="725805" y="1716405"/>
              <a:ext cx="1409700" cy="247650"/>
            </a:xfrm>
            <a:prstGeom prst="roundRect">
              <a:avLst>
                <a:gd name="adj" fmla="val 50000"/>
              </a:avLst>
            </a:prstGeom>
            <a:solidFill>
              <a:srgbClr val="243B53"/>
            </a:solidFill>
            <a:ln>
              <a:noFill/>
            </a:ln>
          </p:spPr>
        </p:sp>
        <p:sp>
          <p:nvSpPr>
            <p:cNvPr id="9" name="TextBox 9"/>
            <p:cNvSpPr txBox="1"/>
            <p:nvPr/>
          </p:nvSpPr>
          <p:spPr>
            <a:xfrm>
              <a:off x="789241" y="1750695"/>
              <a:ext cx="1282827"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确定类中应有的服务</a:t>
              </a:r>
            </a:p>
          </p:txBody>
        </p:sp>
        <p:sp>
          <p:nvSpPr>
            <p:cNvPr id="10" name="TextBox 10"/>
            <p:cNvSpPr txBox="1"/>
            <p:nvPr/>
          </p:nvSpPr>
          <p:spPr>
            <a:xfrm>
              <a:off x="2242947" y="1756410"/>
              <a:ext cx="1467612"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三个模型合起来看</a:t>
              </a:r>
            </a:p>
          </p:txBody>
        </p:sp>
        <p:sp>
          <p:nvSpPr>
            <p:cNvPr id="11" name="Ellipse 11"/>
            <p:cNvSpPr/>
            <p:nvPr/>
          </p:nvSpPr>
          <p:spPr>
            <a:xfrm>
              <a:off x="734378" y="2146935"/>
              <a:ext cx="59055" cy="59055"/>
            </a:xfrm>
            <a:prstGeom prst="ellipse">
              <a:avLst/>
            </a:prstGeom>
            <a:solidFill>
              <a:srgbClr val="FFFFFF"/>
            </a:solidFill>
            <a:ln>
              <a:noFill/>
            </a:ln>
          </p:spPr>
        </p:sp>
        <p:sp>
          <p:nvSpPr>
            <p:cNvPr id="12" name="TextBox 12"/>
            <p:cNvSpPr txBox="1"/>
            <p:nvPr/>
          </p:nvSpPr>
          <p:spPr>
            <a:xfrm>
              <a:off x="890397" y="2090738"/>
              <a:ext cx="3466719"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对象模型</a:t>
              </a:r>
              <a:r>
                <a:rPr lang="zh-CN" sz="1350" dirty="0">
                  <a:solidFill>
                    <a:srgbClr val="FFFFFF"/>
                  </a:solidFill>
                  <a:latin typeface="+mn-lt"/>
                  <a:ea typeface="+mn-ea"/>
                  <a:cs typeface="+mn-cs"/>
                </a:rPr>
                <a:t>：属性的读写、对象的创建与销毁</a:t>
              </a:r>
            </a:p>
          </p:txBody>
        </p:sp>
        <p:sp>
          <p:nvSpPr>
            <p:cNvPr id="13" name="Ellipse 13"/>
            <p:cNvSpPr/>
            <p:nvPr/>
          </p:nvSpPr>
          <p:spPr>
            <a:xfrm>
              <a:off x="734378" y="2448877"/>
              <a:ext cx="59055" cy="59055"/>
            </a:xfrm>
            <a:prstGeom prst="ellipse">
              <a:avLst/>
            </a:prstGeom>
            <a:solidFill>
              <a:srgbClr val="FFFFFF"/>
            </a:solidFill>
            <a:ln>
              <a:noFill/>
            </a:ln>
          </p:spPr>
        </p:sp>
        <p:sp>
          <p:nvSpPr>
            <p:cNvPr id="14" name="TextBox 14"/>
            <p:cNvSpPr txBox="1"/>
            <p:nvPr/>
          </p:nvSpPr>
          <p:spPr>
            <a:xfrm>
              <a:off x="890397" y="2392680"/>
              <a:ext cx="429996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FFFFFF"/>
                  </a:solidFill>
                  <a:latin typeface="+mn-lt"/>
                  <a:ea typeface="+mn-ea"/>
                  <a:cs typeface="+mn-cs"/>
                </a:rPr>
                <a:t>动态模型</a:t>
              </a:r>
              <a:r>
                <a:rPr lang="zh-CN" sz="1350" dirty="0">
                  <a:solidFill>
                    <a:srgbClr val="FFFFFF"/>
                  </a:solidFill>
                  <a:latin typeface="+mn-lt"/>
                  <a:ea typeface="+mn-ea"/>
                  <a:cs typeface="+mn-cs"/>
                </a:rPr>
                <a:t>：状态图上每一次状态转换都需要一个服务去触</a:t>
              </a:r>
              <a:br/>
              <a:r>
                <a:rPr lang="zh-CN" sz="1350" dirty="0">
                  <a:solidFill>
                    <a:srgbClr val="FFFFFF"/>
                  </a:solidFill>
                  <a:latin typeface="+mn-lt"/>
                  <a:ea typeface="+mn-ea"/>
                  <a:cs typeface="+mn-cs"/>
                </a:rPr>
                <a:t>发或响应</a:t>
              </a:r>
            </a:p>
          </p:txBody>
        </p:sp>
        <p:sp>
          <p:nvSpPr>
            <p:cNvPr id="15" name="Ellipse 15"/>
            <p:cNvSpPr/>
            <p:nvPr/>
          </p:nvSpPr>
          <p:spPr>
            <a:xfrm>
              <a:off x="734378" y="3008948"/>
              <a:ext cx="59055" cy="59055"/>
            </a:xfrm>
            <a:prstGeom prst="ellipse">
              <a:avLst/>
            </a:prstGeom>
            <a:solidFill>
              <a:srgbClr val="FFFFFF"/>
            </a:solidFill>
            <a:ln>
              <a:noFill/>
            </a:ln>
          </p:spPr>
        </p:sp>
        <p:sp>
          <p:nvSpPr>
            <p:cNvPr id="16" name="TextBox 16"/>
            <p:cNvSpPr txBox="1"/>
            <p:nvPr/>
          </p:nvSpPr>
          <p:spPr>
            <a:xfrm>
              <a:off x="890397" y="2952750"/>
              <a:ext cx="429996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FFFFFF"/>
                  </a:solidFill>
                  <a:latin typeface="+mn-lt"/>
                  <a:ea typeface="+mn-ea"/>
                  <a:cs typeface="+mn-cs"/>
                </a:rPr>
                <a:t>功能模型</a:t>
              </a:r>
              <a:r>
                <a:rPr lang="zh-CN" sz="1350" dirty="0">
                  <a:solidFill>
                    <a:srgbClr val="FFFFFF"/>
                  </a:solidFill>
                  <a:latin typeface="+mn-lt"/>
                  <a:ea typeface="+mn-ea"/>
                  <a:cs typeface="+mn-cs"/>
                </a:rPr>
                <a:t>：数据流图上的每个处理，最终都要落到某个类</a:t>
              </a:r>
              <a:br/>
              <a:r>
                <a:rPr lang="zh-CN" sz="1350" dirty="0">
                  <a:solidFill>
                    <a:srgbClr val="FFFFFF"/>
                  </a:solidFill>
                  <a:latin typeface="+mn-lt"/>
                  <a:ea typeface="+mn-ea"/>
                  <a:cs typeface="+mn-cs"/>
                </a:rPr>
                <a:t>的某个服务上</a:t>
              </a:r>
            </a:p>
          </p:txBody>
        </p:sp>
        <p:sp>
          <p:nvSpPr>
            <p:cNvPr id="17" name="TextBox 17"/>
            <p:cNvSpPr txBox="1"/>
            <p:nvPr/>
          </p:nvSpPr>
          <p:spPr>
            <a:xfrm>
              <a:off x="720090" y="3508534"/>
              <a:ext cx="4420870"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FFFFFF"/>
                  </a:solidFill>
                  <a:latin typeface="+mn-lt"/>
                  <a:ea typeface="+mn-ea"/>
                  <a:cs typeface="+mn-cs"/>
                </a:rPr>
                <a:t>三个模型对同一个服务的描述必须一致，不一致就说明前面的分析有漏</a:t>
              </a:r>
              <a:br/>
              <a:r>
                <a:rPr lang="zh-CN" sz="1120" dirty="0">
                  <a:solidFill>
                    <a:srgbClr val="FFFFFF"/>
                  </a:solidFill>
                  <a:latin typeface="+mn-lt"/>
                  <a:ea typeface="+mn-ea"/>
                  <a:cs typeface="+mn-cs"/>
                </a:rPr>
                <a:t>洞。</a:t>
              </a:r>
            </a:p>
          </p:txBody>
        </p:sp>
      </p:grpSp>
      <p:grpSp>
        <p:nvGrpSpPr>
          <p:cNvPr id="25" name="c1-callout-2"/>
          <p:cNvGrpSpPr/>
          <p:nvPr/>
        </p:nvGrpSpPr>
        <p:grpSpPr>
          <a:xfrm>
            <a:off x="533400" y="4258628"/>
            <a:ext cx="5193982" cy="1337310"/>
            <a:chOff x="533400" y="4258628"/>
            <a:chExt cx="5193982" cy="1337310"/>
          </a:xfrm>
        </p:grpSpPr>
        <p:sp>
          <p:nvSpPr>
            <p:cNvPr id="19" name="Rectangle 19"/>
            <p:cNvSpPr/>
            <p:nvPr/>
          </p:nvSpPr>
          <p:spPr>
            <a:xfrm>
              <a:off x="533400" y="4258628"/>
              <a:ext cx="5193982" cy="1337310"/>
            </a:xfrm>
            <a:prstGeom prst="roundRect">
              <a:avLst>
                <a:gd name="adj" fmla="val 8547"/>
              </a:avLst>
            </a:prstGeom>
            <a:solidFill>
              <a:srgbClr val="FDEEE7"/>
            </a:solidFill>
            <a:ln>
              <a:noFill/>
            </a:ln>
          </p:spPr>
        </p:sp>
        <p:grpSp>
          <p:nvGrpSpPr>
            <p:cNvPr id="23" name="Group 23"/>
            <p:cNvGrpSpPr/>
            <p:nvPr/>
          </p:nvGrpSpPr>
          <p:grpSpPr>
            <a:xfrm>
              <a:off x="738188" y="4827270"/>
              <a:ext cx="200026" cy="200025"/>
              <a:chOff x="738188" y="4827270"/>
              <a:chExt cx="200026" cy="200025"/>
            </a:xfrm>
          </p:grpSpPr>
          <p:sp>
            <p:nvSpPr>
              <p:cNvPr id="20" name="Freeform 20"/>
              <p:cNvSpPr/>
              <p:nvPr/>
            </p:nvSpPr>
            <p:spPr>
              <a:xfrm>
                <a:off x="738188" y="4827270"/>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21" name="Freeform 21"/>
              <p:cNvSpPr/>
              <p:nvPr/>
            </p:nvSpPr>
            <p:spPr>
              <a:xfrm>
                <a:off x="777926" y="4871720"/>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22" name="Freeform 22"/>
              <p:cNvSpPr/>
              <p:nvPr/>
            </p:nvSpPr>
            <p:spPr>
              <a:xfrm>
                <a:off x="812642" y="4982846"/>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24" name="TextBox 24"/>
            <p:cNvSpPr txBox="1"/>
            <p:nvPr/>
          </p:nvSpPr>
          <p:spPr>
            <a:xfrm>
              <a:off x="1040892" y="4709160"/>
              <a:ext cx="429996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C2410C"/>
                  </a:solidFill>
                  <a:latin typeface="+mn-lt"/>
                  <a:ea typeface="+mn-ea"/>
                  <a:cs typeface="+mn-cs"/>
                </a:rPr>
                <a:t>先把服务的名字和参数表定下来（协议），再考虑内部怎</a:t>
              </a:r>
              <a:br/>
              <a:r>
                <a:rPr lang="zh-CN" sz="1350" dirty="0">
                  <a:solidFill>
                    <a:srgbClr val="C2410C"/>
                  </a:solidFill>
                  <a:latin typeface="+mn-lt"/>
                  <a:ea typeface="+mn-ea"/>
                  <a:cs typeface="+mn-cs"/>
                </a:rPr>
                <a:t>么实现，这样才不会让实现细节漏进接口。</a:t>
              </a:r>
            </a:p>
          </p:txBody>
        </p:sp>
      </p:grpSp>
      <p:grpSp>
        <p:nvGrpSpPr>
          <p:cNvPr id="39" name="c2-steps-1"/>
          <p:cNvGrpSpPr/>
          <p:nvPr/>
        </p:nvGrpSpPr>
        <p:grpSpPr>
          <a:xfrm>
            <a:off x="6032182" y="1533525"/>
            <a:ext cx="5403215" cy="2108358"/>
            <a:chOff x="6032182" y="1533525"/>
            <a:chExt cx="5403215" cy="2108358"/>
          </a:xfrm>
        </p:grpSpPr>
        <p:sp>
          <p:nvSpPr>
            <p:cNvPr id="26" name="Rectangle 26"/>
            <p:cNvSpPr/>
            <p:nvPr/>
          </p:nvSpPr>
          <p:spPr>
            <a:xfrm>
              <a:off x="6165532" y="1676400"/>
              <a:ext cx="19050" cy="1381125"/>
            </a:xfrm>
            <a:prstGeom prst="rect">
              <a:avLst/>
            </a:prstGeom>
            <a:solidFill>
              <a:srgbClr val="D9DFEA"/>
            </a:solidFill>
            <a:ln>
              <a:noFill/>
            </a:ln>
          </p:spPr>
        </p:sp>
        <p:sp>
          <p:nvSpPr>
            <p:cNvPr id="27" name="Ellipse 27"/>
            <p:cNvSpPr/>
            <p:nvPr/>
          </p:nvSpPr>
          <p:spPr>
            <a:xfrm>
              <a:off x="6032182" y="1533525"/>
              <a:ext cx="285750" cy="285750"/>
            </a:xfrm>
            <a:prstGeom prst="ellipse">
              <a:avLst/>
            </a:prstGeom>
            <a:solidFill>
              <a:srgbClr val="334E68"/>
            </a:solidFill>
            <a:ln>
              <a:noFill/>
            </a:ln>
          </p:spPr>
        </p:sp>
        <p:sp>
          <p:nvSpPr>
            <p:cNvPr id="28" name="TextBox 28"/>
            <p:cNvSpPr txBox="1"/>
            <p:nvPr/>
          </p:nvSpPr>
          <p:spPr>
            <a:xfrm>
              <a:off x="6125806" y="16073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29" name="Ellipse 29"/>
            <p:cNvSpPr/>
            <p:nvPr/>
          </p:nvSpPr>
          <p:spPr>
            <a:xfrm>
              <a:off x="6032182" y="2327910"/>
              <a:ext cx="285750" cy="285750"/>
            </a:xfrm>
            <a:prstGeom prst="ellipse">
              <a:avLst/>
            </a:prstGeom>
            <a:solidFill>
              <a:srgbClr val="334E68"/>
            </a:solidFill>
            <a:ln>
              <a:noFill/>
            </a:ln>
          </p:spPr>
        </p:sp>
        <p:sp>
          <p:nvSpPr>
            <p:cNvPr id="30" name="TextBox 30"/>
            <p:cNvSpPr txBox="1"/>
            <p:nvPr/>
          </p:nvSpPr>
          <p:spPr>
            <a:xfrm>
              <a:off x="6125806" y="2401729"/>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31" name="Ellipse 31"/>
            <p:cNvSpPr/>
            <p:nvPr/>
          </p:nvSpPr>
          <p:spPr>
            <a:xfrm>
              <a:off x="6032182" y="2914650"/>
              <a:ext cx="285750" cy="285750"/>
            </a:xfrm>
            <a:prstGeom prst="ellipse">
              <a:avLst/>
            </a:prstGeom>
            <a:solidFill>
              <a:srgbClr val="334E68"/>
            </a:solidFill>
            <a:ln>
              <a:noFill/>
            </a:ln>
          </p:spPr>
        </p:sp>
        <p:sp>
          <p:nvSpPr>
            <p:cNvPr id="32" name="TextBox 32"/>
            <p:cNvSpPr txBox="1"/>
            <p:nvPr/>
          </p:nvSpPr>
          <p:spPr>
            <a:xfrm>
              <a:off x="6125806" y="2988469"/>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33" name="TextBox 33"/>
            <p:cNvSpPr txBox="1"/>
            <p:nvPr/>
          </p:nvSpPr>
          <p:spPr>
            <a:xfrm>
              <a:off x="6444424" y="1564957"/>
              <a:ext cx="164934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设计实现服务的算法</a:t>
              </a:r>
            </a:p>
          </p:txBody>
        </p:sp>
        <p:sp>
          <p:nvSpPr>
            <p:cNvPr id="34" name="TextBox 34"/>
            <p:cNvSpPr txBox="1"/>
            <p:nvPr/>
          </p:nvSpPr>
          <p:spPr>
            <a:xfrm>
              <a:off x="6445567" y="1833086"/>
              <a:ext cx="4847590"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1F2937"/>
                  </a:solidFill>
                  <a:latin typeface="+mn-lt"/>
                  <a:ea typeface="+mn-ea"/>
                  <a:cs typeface="+mn-cs"/>
                </a:rPr>
                <a:t>从三方面权衡：算法复杂度（够用就好，不必追求最优）、容易理解与容易实</a:t>
              </a:r>
              <a:br/>
              <a:r>
                <a:rPr lang="zh-CN" sz="1120" dirty="0">
                  <a:solidFill>
                    <a:srgbClr val="1F2937"/>
                  </a:solidFill>
                  <a:latin typeface="+mn-lt"/>
                  <a:ea typeface="+mn-ea"/>
                  <a:cs typeface="+mn-cs"/>
                </a:rPr>
                <a:t>现、易修改</a:t>
              </a:r>
            </a:p>
          </p:txBody>
        </p:sp>
        <p:sp>
          <p:nvSpPr>
            <p:cNvPr id="35" name="TextBox 35"/>
            <p:cNvSpPr txBox="1"/>
            <p:nvPr/>
          </p:nvSpPr>
          <p:spPr>
            <a:xfrm>
              <a:off x="6444424" y="2359342"/>
              <a:ext cx="110413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选择数据结构</a:t>
              </a:r>
            </a:p>
          </p:txBody>
        </p:sp>
        <p:sp>
          <p:nvSpPr>
            <p:cNvPr id="36" name="TextBox 36"/>
            <p:cNvSpPr txBox="1"/>
            <p:nvPr/>
          </p:nvSpPr>
          <p:spPr>
            <a:xfrm>
              <a:off x="6445567" y="2627471"/>
              <a:ext cx="483621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在算法确定之后选择合适的数据结构，让算法写起来自然、运行起来够快</a:t>
              </a:r>
            </a:p>
          </p:txBody>
        </p:sp>
        <p:sp>
          <p:nvSpPr>
            <p:cNvPr id="37" name="TextBox 37"/>
            <p:cNvSpPr txBox="1"/>
            <p:nvPr/>
          </p:nvSpPr>
          <p:spPr>
            <a:xfrm>
              <a:off x="6444424" y="2946082"/>
              <a:ext cx="1831086"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定义内部类和内部操作</a:t>
              </a:r>
            </a:p>
          </p:txBody>
        </p:sp>
        <p:sp>
          <p:nvSpPr>
            <p:cNvPr id="38" name="TextBox 38"/>
            <p:cNvSpPr txBox="1"/>
            <p:nvPr/>
          </p:nvSpPr>
          <p:spPr>
            <a:xfrm>
              <a:off x="6445567" y="3214211"/>
              <a:ext cx="4989830"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1F2937"/>
                  </a:solidFill>
                  <a:latin typeface="+mn-lt"/>
                  <a:ea typeface="+mn-ea"/>
                  <a:cs typeface="+mn-cs"/>
                </a:rPr>
                <a:t>算法中间需要的临时结构定义成内部类，公有服务分解出的步骤定义成私有的内</a:t>
              </a:r>
              <a:br/>
              <a:r>
                <a:rPr lang="zh-CN" sz="1120" dirty="0">
                  <a:solidFill>
                    <a:srgbClr val="1F2937"/>
                  </a:solidFill>
                  <a:latin typeface="+mn-lt"/>
                  <a:ea typeface="+mn-ea"/>
                  <a:cs typeface="+mn-cs"/>
                </a:rPr>
                <a:t>部操作</a:t>
              </a:r>
            </a:p>
          </p:txBody>
        </p:sp>
      </p:grpSp>
      <p:grpSp>
        <p:nvGrpSpPr>
          <p:cNvPr id="47" name="c2-card-2"/>
          <p:cNvGrpSpPr/>
          <p:nvPr/>
        </p:nvGrpSpPr>
        <p:grpSpPr>
          <a:xfrm>
            <a:off x="6032182" y="3810000"/>
            <a:ext cx="5626418" cy="1786890"/>
            <a:chOff x="6032182" y="3810000"/>
            <a:chExt cx="5626418" cy="1786890"/>
          </a:xfrm>
        </p:grpSpPr>
        <p:sp>
          <p:nvSpPr>
            <p:cNvPr id="40" name="Rectangle 40"/>
            <p:cNvSpPr/>
            <p:nvPr/>
          </p:nvSpPr>
          <p:spPr>
            <a:xfrm>
              <a:off x="6032182" y="3810000"/>
              <a:ext cx="5626418" cy="1786890"/>
            </a:xfrm>
            <a:prstGeom prst="roundRect">
              <a:avLst>
                <a:gd name="adj" fmla="val 7463"/>
              </a:avLst>
            </a:prstGeom>
            <a:solidFill>
              <a:srgbClr val="FFFFFF"/>
            </a:solidFill>
            <a:ln w="14288">
              <a:solidFill>
                <a:srgbClr val="D9DFEA"/>
              </a:solidFill>
            </a:ln>
          </p:spPr>
        </p:sp>
        <p:sp>
          <p:nvSpPr>
            <p:cNvPr id="41" name="Rectangle 41"/>
            <p:cNvSpPr/>
            <p:nvPr/>
          </p:nvSpPr>
          <p:spPr>
            <a:xfrm>
              <a:off x="6041708" y="3943350"/>
              <a:ext cx="47625" cy="1520190"/>
            </a:xfrm>
            <a:prstGeom prst="roundRect">
              <a:avLst>
                <a:gd name="adj" fmla="val 50000"/>
              </a:avLst>
            </a:prstGeom>
            <a:solidFill>
              <a:srgbClr val="B42318"/>
            </a:solidFill>
            <a:ln>
              <a:noFill/>
            </a:ln>
          </p:spPr>
        </p:sp>
        <p:sp>
          <p:nvSpPr>
            <p:cNvPr id="42" name="Rectangle 42"/>
            <p:cNvSpPr/>
            <p:nvPr/>
          </p:nvSpPr>
          <p:spPr>
            <a:xfrm>
              <a:off x="6262688" y="4002405"/>
              <a:ext cx="742950" cy="247650"/>
            </a:xfrm>
            <a:prstGeom prst="roundRect">
              <a:avLst>
                <a:gd name="adj" fmla="val 50000"/>
              </a:avLst>
            </a:prstGeom>
            <a:solidFill>
              <a:srgbClr val="FDECEA"/>
            </a:solidFill>
            <a:ln>
              <a:noFill/>
            </a:ln>
          </p:spPr>
        </p:sp>
        <p:sp>
          <p:nvSpPr>
            <p:cNvPr id="43" name="TextBox 43"/>
            <p:cNvSpPr txBox="1"/>
            <p:nvPr/>
          </p:nvSpPr>
          <p:spPr>
            <a:xfrm>
              <a:off x="6346127" y="4036695"/>
              <a:ext cx="576072" cy="205359"/>
            </a:xfrm>
            <a:prstGeom prst="rect">
              <a:avLst/>
            </a:prstGeom>
            <a:noFill/>
            <a:ln>
              <a:noFill/>
            </a:ln>
          </p:spPr>
          <p:txBody>
            <a:bodyPr wrap="none" lIns="0" tIns="0" rIns="0" bIns="0" anchor="t" anchorCtr="0">
              <a:spAutoFit/>
            </a:bodyPr>
            <a:lstStyle/>
            <a:p>
              <a:pPr algn="ctr"/>
              <a:r>
                <a:rPr lang="zh-CN" sz="1050" b="1" dirty="0">
                  <a:solidFill>
                    <a:srgbClr val="B42318"/>
                  </a:solidFill>
                  <a:latin typeface="+mn-lt"/>
                  <a:ea typeface="+mn-ea"/>
                  <a:cs typeface="+mn-cs"/>
                </a:rPr>
                <a:t>常见取舍</a:t>
              </a:r>
            </a:p>
          </p:txBody>
        </p:sp>
        <p:sp>
          <p:nvSpPr>
            <p:cNvPr id="44" name="TextBox 44"/>
            <p:cNvSpPr txBox="1"/>
            <p:nvPr/>
          </p:nvSpPr>
          <p:spPr>
            <a:xfrm>
              <a:off x="7113080" y="4042410"/>
              <a:ext cx="237629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效率和可理解性冲突时怎么办</a:t>
              </a:r>
            </a:p>
          </p:txBody>
        </p:sp>
        <p:sp>
          <p:nvSpPr>
            <p:cNvPr id="45" name="TextBox 45"/>
            <p:cNvSpPr txBox="1"/>
            <p:nvPr/>
          </p:nvSpPr>
          <p:spPr>
            <a:xfrm>
              <a:off x="6255830" y="4376738"/>
              <a:ext cx="4985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先写容易理解、容易实现的版本，测出性能确实不够时再针对热点</a:t>
              </a:r>
              <a:br/>
              <a:r>
                <a:rPr lang="zh-CN" sz="1350" dirty="0">
                  <a:solidFill>
                    <a:srgbClr val="1F2937"/>
                  </a:solidFill>
                  <a:latin typeface="+mn-lt"/>
                  <a:ea typeface="+mn-ea"/>
                  <a:cs typeface="+mn-cs"/>
                </a:rPr>
                <a:t>优化。</a:t>
              </a:r>
            </a:p>
          </p:txBody>
        </p:sp>
        <p:sp>
          <p:nvSpPr>
            <p:cNvPr id="46" name="TextBox 46"/>
            <p:cNvSpPr txBox="1"/>
            <p:nvPr/>
          </p:nvSpPr>
          <p:spPr>
            <a:xfrm>
              <a:off x="6255830" y="4935855"/>
              <a:ext cx="4985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为了省几条指令写出谁也看不懂的算法，会把后面的维护成本成倍</a:t>
              </a:r>
              <a:br/>
              <a:r>
                <a:rPr lang="zh-CN" sz="1350" dirty="0">
                  <a:solidFill>
                    <a:srgbClr val="1F2937"/>
                  </a:solidFill>
                  <a:latin typeface="+mn-lt"/>
                  <a:ea typeface="+mn-ea"/>
                  <a:cs typeface="+mn-cs"/>
                </a:rPr>
                <a:t>放大。</a:t>
              </a:r>
            </a:p>
          </p:txBody>
        </p:sp>
      </p:grpSp>
      <p:grpSp>
        <p:nvGrpSpPr>
          <p:cNvPr id="53" name="takeaway"/>
          <p:cNvGrpSpPr/>
          <p:nvPr/>
        </p:nvGrpSpPr>
        <p:grpSpPr>
          <a:xfrm>
            <a:off x="533400" y="5874068"/>
            <a:ext cx="11125200" cy="488632"/>
            <a:chOff x="533400" y="5874068"/>
            <a:chExt cx="11125200" cy="488632"/>
          </a:xfrm>
        </p:grpSpPr>
        <p:sp>
          <p:nvSpPr>
            <p:cNvPr id="48" name="Rectangle 48"/>
            <p:cNvSpPr/>
            <p:nvPr/>
          </p:nvSpPr>
          <p:spPr>
            <a:xfrm>
              <a:off x="533400" y="5874068"/>
              <a:ext cx="11125200" cy="488632"/>
            </a:xfrm>
            <a:prstGeom prst="roundRect">
              <a:avLst>
                <a:gd name="adj" fmla="val 23392"/>
              </a:avLst>
            </a:prstGeom>
            <a:solidFill>
              <a:srgbClr val="334E68"/>
            </a:solidFill>
            <a:ln>
              <a:noFill/>
            </a:ln>
          </p:spPr>
        </p:sp>
        <p:grpSp>
          <p:nvGrpSpPr>
            <p:cNvPr id="51" name="Group 51"/>
            <p:cNvGrpSpPr/>
            <p:nvPr/>
          </p:nvGrpSpPr>
          <p:grpSpPr>
            <a:xfrm>
              <a:off x="738188" y="6017897"/>
              <a:ext cx="200023" cy="200023"/>
              <a:chOff x="738188" y="6017897"/>
              <a:chExt cx="200023" cy="200023"/>
            </a:xfrm>
          </p:grpSpPr>
          <p:sp>
            <p:nvSpPr>
              <p:cNvPr id="49" name="Freeform 49"/>
              <p:cNvSpPr/>
              <p:nvPr/>
            </p:nvSpPr>
            <p:spPr>
              <a:xfrm>
                <a:off x="738188" y="60178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0" name="Freeform 50"/>
              <p:cNvSpPr/>
              <p:nvPr/>
            </p:nvSpPr>
            <p:spPr>
              <a:xfrm>
                <a:off x="871538" y="60845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2" name="TextBox 52"/>
            <p:cNvSpPr txBox="1"/>
            <p:nvPr/>
          </p:nvSpPr>
          <p:spPr>
            <a:xfrm>
              <a:off x="1040892" y="6023610"/>
              <a:ext cx="6011037"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内部操作是为了让每个公有服务都足够简单，对外不可见，可以随时重构。</a:t>
              </a:r>
            </a:p>
          </p:txBody>
        </p:sp>
      </p:grpSp>
      <p:grpSp>
        <p:nvGrpSpPr>
          <p:cNvPr id="56" name="footer"/>
          <p:cNvGrpSpPr/>
          <p:nvPr/>
        </p:nvGrpSpPr>
        <p:grpSpPr>
          <a:xfrm>
            <a:off x="528447" y="6581299"/>
            <a:ext cx="11135106" cy="190690"/>
            <a:chOff x="528447" y="6581299"/>
            <a:chExt cx="11135106" cy="190690"/>
          </a:xfrm>
        </p:grpSpPr>
        <p:sp>
          <p:nvSpPr>
            <p:cNvPr id="54" name="TextBox 54"/>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55" name="TextBox 5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43</a:t>
              </a:r>
            </a:p>
          </p:txBody>
        </p:sp>
      </p:grpSp>
    </p:spTree>
  </p:cSld>
  <p:clrMapOvr>
    <a:masterClrMapping/>
  </p:clrMapOvr>
  <p:transition xmlns:p14="http://schemas.microsoft.com/office/powerpoint/2010/main" p14:dur="400">
    <p:fad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175123" cy="909257"/>
            <a:chOff x="520446" y="342900"/>
            <a:chExt cx="5175123" cy="909257"/>
          </a:xfrm>
        </p:grpSpPr>
        <p:sp>
          <p:nvSpPr>
            <p:cNvPr id="2" name="Rectangle 2"/>
            <p:cNvSpPr/>
            <p:nvPr/>
          </p:nvSpPr>
          <p:spPr>
            <a:xfrm>
              <a:off x="533400" y="342900"/>
              <a:ext cx="3208020" cy="266700"/>
            </a:xfrm>
            <a:prstGeom prst="roundRect">
              <a:avLst>
                <a:gd name="adj" fmla="val 50000"/>
              </a:avLst>
            </a:prstGeom>
            <a:solidFill>
              <a:srgbClr val="E7EDF3"/>
            </a:solidFill>
            <a:ln>
              <a:noFill/>
            </a:ln>
          </p:spPr>
        </p:sp>
        <p:sp>
          <p:nvSpPr>
            <p:cNvPr id="3" name="TextBox 3"/>
            <p:cNvSpPr txBox="1"/>
            <p:nvPr/>
          </p:nvSpPr>
          <p:spPr>
            <a:xfrm>
              <a:off x="572876" y="407194"/>
              <a:ext cx="312906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服务、关联与设计优化</a:t>
              </a:r>
            </a:p>
          </p:txBody>
        </p:sp>
        <p:sp>
          <p:nvSpPr>
            <p:cNvPr id="4" name="TextBox 4"/>
            <p:cNvSpPr txBox="1"/>
            <p:nvPr/>
          </p:nvSpPr>
          <p:spPr>
            <a:xfrm>
              <a:off x="520446" y="753428"/>
              <a:ext cx="517512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设计关联：先看要往哪个方向遍历</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542" y="1545907"/>
            <a:ext cx="6919722" cy="264033"/>
            <a:chOff x="526542" y="1545907"/>
            <a:chExt cx="6919722" cy="264033"/>
          </a:xfrm>
        </p:grpSpPr>
        <p:sp>
          <p:nvSpPr>
            <p:cNvPr id="7" name="TextBox 7"/>
            <p:cNvSpPr txBox="1"/>
            <p:nvPr/>
          </p:nvSpPr>
          <p:spPr>
            <a:xfrm>
              <a:off x="526542" y="1545907"/>
              <a:ext cx="6919722"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关联在类图上是一条线，落到代码里就是一个属性、一组指针，或者一个独立的对象。</a:t>
              </a:r>
            </a:p>
          </p:txBody>
        </p:sp>
      </p:grpSp>
      <p:grpSp>
        <p:nvGrpSpPr>
          <p:cNvPr id="17" name="c1-card-1"/>
          <p:cNvGrpSpPr/>
          <p:nvPr/>
        </p:nvGrpSpPr>
        <p:grpSpPr>
          <a:xfrm>
            <a:off x="533400" y="1928812"/>
            <a:ext cx="4977765" cy="1228725"/>
            <a:chOff x="533400" y="1928812"/>
            <a:chExt cx="4977765" cy="1228725"/>
          </a:xfrm>
        </p:grpSpPr>
        <p:sp>
          <p:nvSpPr>
            <p:cNvPr id="9" name="Rectangle 9"/>
            <p:cNvSpPr/>
            <p:nvPr/>
          </p:nvSpPr>
          <p:spPr>
            <a:xfrm>
              <a:off x="533400" y="1928812"/>
              <a:ext cx="4977765" cy="1228725"/>
            </a:xfrm>
            <a:prstGeom prst="roundRect">
              <a:avLst>
                <a:gd name="adj" fmla="val 10853"/>
              </a:avLst>
            </a:prstGeom>
            <a:solidFill>
              <a:srgbClr val="FFFFFF"/>
            </a:solidFill>
            <a:ln w="14288">
              <a:solidFill>
                <a:srgbClr val="D9DFEA"/>
              </a:solidFill>
            </a:ln>
          </p:spPr>
        </p:sp>
        <p:sp>
          <p:nvSpPr>
            <p:cNvPr id="10" name="Rectangle 10"/>
            <p:cNvSpPr/>
            <p:nvPr/>
          </p:nvSpPr>
          <p:spPr>
            <a:xfrm>
              <a:off x="542925" y="2062162"/>
              <a:ext cx="47625" cy="962025"/>
            </a:xfrm>
            <a:prstGeom prst="roundRect">
              <a:avLst>
                <a:gd name="adj" fmla="val 50000"/>
              </a:avLst>
            </a:prstGeom>
            <a:solidFill>
              <a:srgbClr val="334E68"/>
            </a:solidFill>
            <a:ln>
              <a:noFill/>
            </a:ln>
          </p:spPr>
        </p:sp>
        <p:sp>
          <p:nvSpPr>
            <p:cNvPr id="11" name="Rectangle 11"/>
            <p:cNvSpPr/>
            <p:nvPr/>
          </p:nvSpPr>
          <p:spPr>
            <a:xfrm>
              <a:off x="758190" y="2115502"/>
              <a:ext cx="831532" cy="238125"/>
            </a:xfrm>
            <a:prstGeom prst="roundRect">
              <a:avLst>
                <a:gd name="adj" fmla="val 50000"/>
              </a:avLst>
            </a:prstGeom>
            <a:solidFill>
              <a:srgbClr val="E7EDF3"/>
            </a:solidFill>
            <a:ln>
              <a:noFill/>
            </a:ln>
          </p:spPr>
        </p:sp>
        <p:sp>
          <p:nvSpPr>
            <p:cNvPr id="12" name="TextBox 12"/>
            <p:cNvSpPr txBox="1"/>
            <p:nvPr/>
          </p:nvSpPr>
          <p:spPr>
            <a:xfrm>
              <a:off x="839660" y="2148364"/>
              <a:ext cx="669544"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关联的遍历</a:t>
              </a:r>
            </a:p>
          </p:txBody>
        </p:sp>
        <p:sp>
          <p:nvSpPr>
            <p:cNvPr id="13" name="Ellipse 13"/>
            <p:cNvSpPr/>
            <p:nvPr/>
          </p:nvSpPr>
          <p:spPr>
            <a:xfrm>
              <a:off x="766762" y="2515552"/>
              <a:ext cx="59055" cy="59055"/>
            </a:xfrm>
            <a:prstGeom prst="ellipse">
              <a:avLst/>
            </a:prstGeom>
            <a:solidFill>
              <a:srgbClr val="334E68"/>
            </a:solidFill>
            <a:ln>
              <a:noFill/>
            </a:ln>
          </p:spPr>
        </p:sp>
        <p:sp>
          <p:nvSpPr>
            <p:cNvPr id="14" name="TextBox 14"/>
            <p:cNvSpPr txBox="1"/>
            <p:nvPr/>
          </p:nvSpPr>
          <p:spPr>
            <a:xfrm>
              <a:off x="922782" y="2459355"/>
              <a:ext cx="239687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单向关联</a:t>
              </a:r>
              <a:r>
                <a:rPr lang="zh-CN" sz="1350" dirty="0">
                  <a:solidFill>
                    <a:srgbClr val="1F2937"/>
                  </a:solidFill>
                  <a:latin typeface="+mn-lt"/>
                  <a:ea typeface="+mn-ea"/>
                  <a:cs typeface="+mn-cs"/>
                </a:rPr>
                <a:t>：只需要从 A 找到 B</a:t>
              </a:r>
            </a:p>
          </p:txBody>
        </p:sp>
        <p:sp>
          <p:nvSpPr>
            <p:cNvPr id="15" name="Ellipse 15"/>
            <p:cNvSpPr/>
            <p:nvPr/>
          </p:nvSpPr>
          <p:spPr>
            <a:xfrm>
              <a:off x="766762" y="2815590"/>
              <a:ext cx="59055" cy="59055"/>
            </a:xfrm>
            <a:prstGeom prst="ellipse">
              <a:avLst/>
            </a:prstGeom>
            <a:solidFill>
              <a:srgbClr val="334E68"/>
            </a:solidFill>
            <a:ln>
              <a:noFill/>
            </a:ln>
          </p:spPr>
        </p:sp>
        <p:sp>
          <p:nvSpPr>
            <p:cNvPr id="16" name="TextBox 16"/>
            <p:cNvSpPr txBox="1"/>
            <p:nvPr/>
          </p:nvSpPr>
          <p:spPr>
            <a:xfrm>
              <a:off x="922782" y="2759392"/>
              <a:ext cx="237629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双向关联</a:t>
              </a:r>
              <a:r>
                <a:rPr lang="zh-CN" sz="1350" dirty="0">
                  <a:solidFill>
                    <a:srgbClr val="1F2937"/>
                  </a:solidFill>
                  <a:latin typeface="+mn-lt"/>
                  <a:ea typeface="+mn-ea"/>
                  <a:cs typeface="+mn-cs"/>
                </a:rPr>
                <a:t>：两个方向都要遍历</a:t>
              </a:r>
            </a:p>
          </p:txBody>
        </p:sp>
      </p:grpSp>
      <p:grpSp>
        <p:nvGrpSpPr>
          <p:cNvPr id="33" name="c1-uml-2"/>
          <p:cNvGrpSpPr/>
          <p:nvPr/>
        </p:nvGrpSpPr>
        <p:grpSpPr>
          <a:xfrm>
            <a:off x="1205865" y="3761422"/>
            <a:ext cx="3631883" cy="556260"/>
            <a:chOff x="1205865" y="3761422"/>
            <a:chExt cx="3631883" cy="556260"/>
          </a:xfrm>
        </p:grpSpPr>
        <p:sp>
          <p:nvSpPr>
            <p:cNvPr id="18" name="Freeform 18"/>
            <p:cNvSpPr/>
            <p:nvPr/>
          </p:nvSpPr>
          <p:spPr>
            <a:xfrm>
              <a:off x="2348865" y="4039552"/>
              <a:ext cx="1345882" cy="9525"/>
            </a:xfrm>
            <a:custGeom>
              <a:avLst/>
              <a:gdLst/>
              <a:ahLst/>
              <a:cxnLst/>
              <a:rect l="l" t="t" r="r" b="b"/>
              <a:pathLst>
                <a:path w="1345882" h="9525">
                  <a:moveTo>
                    <a:pt x="0" y="0"/>
                  </a:moveTo>
                  <a:lnTo>
                    <a:pt x="1345882" y="0"/>
                  </a:lnTo>
                </a:path>
              </a:pathLst>
            </a:custGeom>
            <a:noFill/>
            <a:ln w="15240">
              <a:solidFill>
                <a:srgbClr val="1F2937"/>
              </a:solidFill>
            </a:ln>
          </p:spPr>
        </p:sp>
        <p:sp>
          <p:nvSpPr>
            <p:cNvPr id="19" name="Freeform 19"/>
            <p:cNvSpPr/>
            <p:nvPr/>
          </p:nvSpPr>
          <p:spPr>
            <a:xfrm>
              <a:off x="3589972" y="3982402"/>
              <a:ext cx="104775" cy="115252"/>
            </a:xfrm>
            <a:custGeom>
              <a:avLst/>
              <a:gdLst/>
              <a:ahLst/>
              <a:cxnLst/>
              <a:rect l="l" t="t" r="r" b="b"/>
              <a:pathLst>
                <a:path w="104775" h="115252">
                  <a:moveTo>
                    <a:pt x="0" y="115252"/>
                  </a:moveTo>
                  <a:lnTo>
                    <a:pt x="104775" y="57150"/>
                  </a:lnTo>
                  <a:lnTo>
                    <a:pt x="0" y="0"/>
                  </a:lnTo>
                </a:path>
              </a:pathLst>
            </a:custGeom>
            <a:noFill/>
            <a:ln w="15240">
              <a:solidFill>
                <a:srgbClr val="1F2937"/>
              </a:solidFill>
            </a:ln>
          </p:spPr>
        </p:sp>
        <p:sp>
          <p:nvSpPr>
            <p:cNvPr id="20" name="Rectangle 20"/>
            <p:cNvSpPr/>
            <p:nvPr/>
          </p:nvSpPr>
          <p:spPr>
            <a:xfrm>
              <a:off x="1205865" y="3761422"/>
              <a:ext cx="1143000" cy="556260"/>
            </a:xfrm>
            <a:prstGeom prst="rect">
              <a:avLst/>
            </a:prstGeom>
            <a:solidFill>
              <a:srgbClr val="FFFFFF"/>
            </a:solidFill>
            <a:ln w="14288">
              <a:solidFill>
                <a:srgbClr val="334E68"/>
              </a:solidFill>
            </a:ln>
          </p:spPr>
        </p:sp>
        <p:sp>
          <p:nvSpPr>
            <p:cNvPr id="21" name="Rectangle 21"/>
            <p:cNvSpPr/>
            <p:nvPr/>
          </p:nvSpPr>
          <p:spPr>
            <a:xfrm>
              <a:off x="1213485" y="3769042"/>
              <a:ext cx="1128712" cy="209550"/>
            </a:xfrm>
            <a:prstGeom prst="rect">
              <a:avLst/>
            </a:prstGeom>
            <a:solidFill>
              <a:srgbClr val="E7EDF3"/>
            </a:solidFill>
            <a:ln>
              <a:noFill/>
            </a:ln>
          </p:spPr>
        </p:sp>
        <p:sp>
          <p:nvSpPr>
            <p:cNvPr id="22" name="Rectangle 22"/>
            <p:cNvSpPr/>
            <p:nvPr/>
          </p:nvSpPr>
          <p:spPr>
            <a:xfrm>
              <a:off x="1205865" y="3973830"/>
              <a:ext cx="1143000" cy="9525"/>
            </a:xfrm>
            <a:prstGeom prst="rect">
              <a:avLst/>
            </a:prstGeom>
            <a:solidFill>
              <a:srgbClr val="334E68"/>
            </a:solidFill>
            <a:ln>
              <a:noFill/>
            </a:ln>
          </p:spPr>
        </p:sp>
        <p:sp>
          <p:nvSpPr>
            <p:cNvPr id="23" name="Rectangle 23"/>
            <p:cNvSpPr/>
            <p:nvPr/>
          </p:nvSpPr>
          <p:spPr>
            <a:xfrm>
              <a:off x="1205865" y="4217670"/>
              <a:ext cx="1143000" cy="9525"/>
            </a:xfrm>
            <a:prstGeom prst="rect">
              <a:avLst/>
            </a:prstGeom>
            <a:solidFill>
              <a:srgbClr val="334E68"/>
            </a:solidFill>
            <a:ln>
              <a:noFill/>
            </a:ln>
          </p:spPr>
        </p:sp>
        <p:sp>
          <p:nvSpPr>
            <p:cNvPr id="24" name="Rectangle 24"/>
            <p:cNvSpPr/>
            <p:nvPr/>
          </p:nvSpPr>
          <p:spPr>
            <a:xfrm>
              <a:off x="3694748" y="3835718"/>
              <a:ext cx="1143000" cy="407670"/>
            </a:xfrm>
            <a:prstGeom prst="rect">
              <a:avLst/>
            </a:prstGeom>
            <a:solidFill>
              <a:srgbClr val="FFFFFF"/>
            </a:solidFill>
            <a:ln w="14288">
              <a:solidFill>
                <a:srgbClr val="334E68"/>
              </a:solidFill>
            </a:ln>
          </p:spPr>
        </p:sp>
        <p:sp>
          <p:nvSpPr>
            <p:cNvPr id="25" name="Rectangle 25"/>
            <p:cNvSpPr/>
            <p:nvPr/>
          </p:nvSpPr>
          <p:spPr>
            <a:xfrm>
              <a:off x="3702368" y="3843338"/>
              <a:ext cx="1128712" cy="209550"/>
            </a:xfrm>
            <a:prstGeom prst="rect">
              <a:avLst/>
            </a:prstGeom>
            <a:solidFill>
              <a:srgbClr val="E7EDF3"/>
            </a:solidFill>
            <a:ln>
              <a:noFill/>
            </a:ln>
          </p:spPr>
        </p:sp>
        <p:sp>
          <p:nvSpPr>
            <p:cNvPr id="26" name="Rectangle 26"/>
            <p:cNvSpPr/>
            <p:nvPr/>
          </p:nvSpPr>
          <p:spPr>
            <a:xfrm>
              <a:off x="3694748" y="4048125"/>
              <a:ext cx="1143000" cy="9525"/>
            </a:xfrm>
            <a:prstGeom prst="rect">
              <a:avLst/>
            </a:prstGeom>
            <a:solidFill>
              <a:srgbClr val="334E68"/>
            </a:solidFill>
            <a:ln>
              <a:noFill/>
            </a:ln>
          </p:spPr>
        </p:sp>
        <p:sp>
          <p:nvSpPr>
            <p:cNvPr id="27" name="Rectangle 27"/>
            <p:cNvSpPr/>
            <p:nvPr/>
          </p:nvSpPr>
          <p:spPr>
            <a:xfrm>
              <a:off x="3694748" y="4143375"/>
              <a:ext cx="1143000" cy="9525"/>
            </a:xfrm>
            <a:prstGeom prst="rect">
              <a:avLst/>
            </a:prstGeom>
            <a:solidFill>
              <a:srgbClr val="334E68"/>
            </a:solidFill>
            <a:ln>
              <a:noFill/>
            </a:ln>
          </p:spPr>
        </p:sp>
        <p:sp>
          <p:nvSpPr>
            <p:cNvPr id="28" name="TextBox 28"/>
            <p:cNvSpPr txBox="1"/>
            <p:nvPr/>
          </p:nvSpPr>
          <p:spPr>
            <a:xfrm>
              <a:off x="1651444" y="3812858"/>
              <a:ext cx="251841" cy="176212"/>
            </a:xfrm>
            <a:prstGeom prst="rect">
              <a:avLst/>
            </a:prstGeom>
            <a:noFill/>
            <a:ln>
              <a:noFill/>
            </a:ln>
          </p:spPr>
          <p:txBody>
            <a:bodyPr wrap="none" lIns="0" tIns="0" rIns="0" bIns="0" anchor="t" anchorCtr="0">
              <a:spAutoFit/>
            </a:bodyPr>
            <a:lstStyle/>
            <a:p>
              <a:pPr algn="ctr"/>
              <a:r>
                <a:rPr lang="zh-CN" sz="900" b="1" dirty="0">
                  <a:solidFill>
                    <a:srgbClr val="243B53"/>
                  </a:solidFill>
                  <a:latin typeface="+mn-lt"/>
                  <a:ea typeface="+mn-ea"/>
                  <a:cs typeface="+mn-cs"/>
                </a:rPr>
                <a:t>雇员</a:t>
              </a:r>
            </a:p>
          </p:txBody>
        </p:sp>
        <p:sp>
          <p:nvSpPr>
            <p:cNvPr id="29" name="TextBox 29"/>
            <p:cNvSpPr txBox="1"/>
            <p:nvPr/>
          </p:nvSpPr>
          <p:spPr>
            <a:xfrm>
              <a:off x="1277302" y="4041934"/>
              <a:ext cx="605622" cy="161925"/>
            </a:xfrm>
            <a:prstGeom prst="rect">
              <a:avLst/>
            </a:prstGeom>
            <a:noFill/>
            <a:ln>
              <a:noFill/>
            </a:ln>
          </p:spPr>
          <p:txBody>
            <a:bodyPr wrap="none" lIns="0" tIns="0" rIns="0" bIns="0" anchor="t" anchorCtr="0">
              <a:spAutoFit/>
            </a:bodyPr>
            <a:lstStyle/>
            <a:p>
              <a:pPr algn="l"/>
              <a:r>
                <a:rPr lang="zh-CN" sz="820" dirty="0">
                  <a:solidFill>
                    <a:srgbClr val="1F2937"/>
                  </a:solidFill>
                  <a:latin typeface="+mn-lt"/>
                  <a:ea typeface="+mn-ea"/>
                  <a:cs typeface="+mn-cs"/>
                </a:rPr>
                <a:t>-雇主: 公司</a:t>
              </a:r>
            </a:p>
          </p:txBody>
        </p:sp>
        <p:sp>
          <p:nvSpPr>
            <p:cNvPr id="30" name="TextBox 30"/>
            <p:cNvSpPr txBox="1"/>
            <p:nvPr/>
          </p:nvSpPr>
          <p:spPr>
            <a:xfrm>
              <a:off x="4140327" y="3887152"/>
              <a:ext cx="251841" cy="176212"/>
            </a:xfrm>
            <a:prstGeom prst="rect">
              <a:avLst/>
            </a:prstGeom>
            <a:noFill/>
            <a:ln>
              <a:noFill/>
            </a:ln>
          </p:spPr>
          <p:txBody>
            <a:bodyPr wrap="none" lIns="0" tIns="0" rIns="0" bIns="0" anchor="t" anchorCtr="0">
              <a:spAutoFit/>
            </a:bodyPr>
            <a:lstStyle/>
            <a:p>
              <a:pPr algn="ctr"/>
              <a:r>
                <a:rPr lang="zh-CN" sz="900" b="1" dirty="0">
                  <a:solidFill>
                    <a:srgbClr val="243B53"/>
                  </a:solidFill>
                  <a:latin typeface="+mn-lt"/>
                  <a:ea typeface="+mn-ea"/>
                  <a:cs typeface="+mn-cs"/>
                </a:rPr>
                <a:t>公司</a:t>
              </a:r>
            </a:p>
          </p:txBody>
        </p:sp>
        <p:sp>
          <p:nvSpPr>
            <p:cNvPr id="31" name="Rectangle 31"/>
            <p:cNvSpPr/>
            <p:nvPr/>
          </p:nvSpPr>
          <p:spPr>
            <a:xfrm>
              <a:off x="2803208" y="3843338"/>
              <a:ext cx="438150" cy="165735"/>
            </a:xfrm>
            <a:prstGeom prst="roundRect">
              <a:avLst>
                <a:gd name="adj" fmla="val 22989"/>
              </a:avLst>
            </a:prstGeom>
            <a:solidFill>
              <a:srgbClr val="FFFFFF"/>
            </a:solidFill>
            <a:ln>
              <a:noFill/>
            </a:ln>
          </p:spPr>
        </p:sp>
        <p:sp>
          <p:nvSpPr>
            <p:cNvPr id="32" name="TextBox 32"/>
            <p:cNvSpPr txBox="1"/>
            <p:nvPr/>
          </p:nvSpPr>
          <p:spPr>
            <a:xfrm>
              <a:off x="2835783" y="3866198"/>
              <a:ext cx="372999"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被雇用</a:t>
              </a:r>
            </a:p>
          </p:txBody>
        </p:sp>
      </p:grpSp>
      <p:grpSp>
        <p:nvGrpSpPr>
          <p:cNvPr id="39" name="c1-callout-3"/>
          <p:cNvGrpSpPr/>
          <p:nvPr/>
        </p:nvGrpSpPr>
        <p:grpSpPr>
          <a:xfrm>
            <a:off x="533400" y="4922520"/>
            <a:ext cx="4977765" cy="729615"/>
            <a:chOff x="533400" y="4922520"/>
            <a:chExt cx="4977765" cy="729615"/>
          </a:xfrm>
        </p:grpSpPr>
        <p:sp>
          <p:nvSpPr>
            <p:cNvPr id="34" name="Rectangle 34"/>
            <p:cNvSpPr/>
            <p:nvPr/>
          </p:nvSpPr>
          <p:spPr>
            <a:xfrm>
              <a:off x="533400" y="4922520"/>
              <a:ext cx="4977765" cy="729615"/>
            </a:xfrm>
            <a:prstGeom prst="roundRect">
              <a:avLst>
                <a:gd name="adj" fmla="val 15666"/>
              </a:avLst>
            </a:prstGeom>
            <a:solidFill>
              <a:srgbClr val="E3F5F1"/>
            </a:solidFill>
            <a:ln>
              <a:noFill/>
            </a:ln>
          </p:spPr>
        </p:sp>
        <p:grpSp>
          <p:nvGrpSpPr>
            <p:cNvPr id="37" name="Group 37"/>
            <p:cNvGrpSpPr/>
            <p:nvPr/>
          </p:nvGrpSpPr>
          <p:grpSpPr>
            <a:xfrm>
              <a:off x="738188" y="5186363"/>
              <a:ext cx="200026" cy="200026"/>
              <a:chOff x="738188" y="5186363"/>
              <a:chExt cx="200026" cy="200026"/>
            </a:xfrm>
          </p:grpSpPr>
          <p:sp>
            <p:nvSpPr>
              <p:cNvPr id="35" name="Freeform 35"/>
              <p:cNvSpPr/>
              <p:nvPr/>
            </p:nvSpPr>
            <p:spPr>
              <a:xfrm>
                <a:off x="738188" y="518636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0F7A68"/>
                </a:solidFill>
              </a:ln>
            </p:spPr>
          </p:sp>
          <p:sp>
            <p:nvSpPr>
              <p:cNvPr id="36" name="Freeform 36"/>
              <p:cNvSpPr/>
              <p:nvPr/>
            </p:nvSpPr>
            <p:spPr>
              <a:xfrm>
                <a:off x="804863" y="5264150"/>
                <a:ext cx="66675" cy="44450"/>
              </a:xfrm>
              <a:custGeom>
                <a:avLst/>
                <a:gdLst/>
                <a:ahLst/>
                <a:cxnLst/>
                <a:rect l="l" t="t" r="r" b="b"/>
                <a:pathLst>
                  <a:path w="66675" h="44450">
                    <a:moveTo>
                      <a:pt x="0" y="22225"/>
                    </a:moveTo>
                    <a:lnTo>
                      <a:pt x="22225" y="44450"/>
                    </a:lnTo>
                    <a:lnTo>
                      <a:pt x="66675" y="0"/>
                    </a:lnTo>
                  </a:path>
                </a:pathLst>
              </a:custGeom>
              <a:noFill/>
              <a:ln w="22225">
                <a:solidFill>
                  <a:srgbClr val="0F7A68"/>
                </a:solidFill>
              </a:ln>
            </p:spPr>
          </p:sp>
        </p:grpSp>
        <p:sp>
          <p:nvSpPr>
            <p:cNvPr id="38" name="TextBox 38"/>
            <p:cNvSpPr txBox="1"/>
            <p:nvPr/>
          </p:nvSpPr>
          <p:spPr>
            <a:xfrm>
              <a:off x="1040892" y="5068252"/>
              <a:ext cx="395706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0F7A68"/>
                  </a:solidFill>
                  <a:latin typeface="+mn-lt"/>
                  <a:ea typeface="+mn-ea"/>
                  <a:cs typeface="+mn-cs"/>
                </a:rPr>
                <a:t>单向关联最省事：在源端类里加一个指向目标对象的</a:t>
              </a:r>
              <a:br/>
              <a:r>
                <a:rPr lang="zh-CN" sz="1350" dirty="0">
                  <a:solidFill>
                    <a:srgbClr val="0F7A68"/>
                  </a:solidFill>
                  <a:latin typeface="+mn-lt"/>
                  <a:ea typeface="+mn-ea"/>
                  <a:cs typeface="+mn-cs"/>
                </a:rPr>
                <a:t>属性就行。</a:t>
              </a:r>
            </a:p>
          </p:txBody>
        </p:sp>
      </p:grpSp>
      <p:grpSp>
        <p:nvGrpSpPr>
          <p:cNvPr id="54" name="c2-table-1"/>
          <p:cNvGrpSpPr/>
          <p:nvPr/>
        </p:nvGrpSpPr>
        <p:grpSpPr>
          <a:xfrm>
            <a:off x="5815965" y="1928812"/>
            <a:ext cx="5842635" cy="2000250"/>
            <a:chOff x="5815965" y="1928812"/>
            <a:chExt cx="5842635" cy="2000250"/>
          </a:xfrm>
        </p:grpSpPr>
        <p:sp>
          <p:nvSpPr>
            <p:cNvPr id="40" name="Rectangle 40"/>
            <p:cNvSpPr/>
            <p:nvPr/>
          </p:nvSpPr>
          <p:spPr>
            <a:xfrm>
              <a:off x="5815965" y="1928812"/>
              <a:ext cx="5842635" cy="400050"/>
            </a:xfrm>
            <a:prstGeom prst="rect">
              <a:avLst/>
            </a:prstGeom>
            <a:solidFill>
              <a:srgbClr val="334E68"/>
            </a:solidFill>
            <a:ln>
              <a:noFill/>
            </a:ln>
          </p:spPr>
        </p:sp>
        <p:sp>
          <p:nvSpPr>
            <p:cNvPr id="41" name="TextBox 41"/>
            <p:cNvSpPr txBox="1"/>
            <p:nvPr/>
          </p:nvSpPr>
          <p:spPr>
            <a:xfrm>
              <a:off x="6558331" y="2050256"/>
              <a:ext cx="166994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实现双向关联的三种办法</a:t>
              </a:r>
            </a:p>
          </p:txBody>
        </p:sp>
        <p:sp>
          <p:nvSpPr>
            <p:cNvPr id="42" name="TextBox 42"/>
            <p:cNvSpPr txBox="1"/>
            <p:nvPr/>
          </p:nvSpPr>
          <p:spPr>
            <a:xfrm>
              <a:off x="10158133" y="2050256"/>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代价</a:t>
              </a:r>
            </a:p>
          </p:txBody>
        </p:sp>
        <p:sp>
          <p:nvSpPr>
            <p:cNvPr id="43" name="TextBox 43"/>
            <p:cNvSpPr txBox="1"/>
            <p:nvPr/>
          </p:nvSpPr>
          <p:spPr>
            <a:xfrm>
              <a:off x="5913120" y="2450306"/>
              <a:ext cx="2713990" cy="420052"/>
            </a:xfrm>
            <a:prstGeom prst="rect">
              <a:avLst/>
            </a:prstGeom>
            <a:noFill/>
            <a:ln>
              <a:noFill/>
            </a:ln>
          </p:spPr>
          <p:txBody>
            <a:bodyPr wrap="none" lIns="0" tIns="0" rIns="0" bIns="0" anchor="t" anchorCtr="0">
              <a:spAutoFit/>
            </a:bodyPr>
            <a:lstStyle/>
            <a:p>
              <a:pPr algn="l">
                <a:lnSpc>
                  <a:spcPts val="1575"/>
                </a:lnSpc>
              </a:pPr>
              <a:r>
                <a:rPr lang="zh-CN" sz="1120" b="1" dirty="0">
                  <a:solidFill>
                    <a:srgbClr val="1F2937"/>
                  </a:solidFill>
                  <a:latin typeface="+mn-lt"/>
                  <a:ea typeface="+mn-ea"/>
                  <a:cs typeface="+mn-cs"/>
                </a:rPr>
                <a:t>只用属性实现一个方向，反向遍历时做正向</a:t>
              </a:r>
              <a:br/>
              <a:r>
                <a:rPr lang="zh-CN" sz="1120" b="1" dirty="0">
                  <a:solidFill>
                    <a:srgbClr val="1F2937"/>
                  </a:solidFill>
                  <a:latin typeface="+mn-lt"/>
                  <a:ea typeface="+mn-ea"/>
                  <a:cs typeface="+mn-cs"/>
                </a:rPr>
                <a:t>查找</a:t>
              </a:r>
            </a:p>
          </p:txBody>
        </p:sp>
        <p:sp>
          <p:nvSpPr>
            <p:cNvPr id="44" name="TextBox 44"/>
            <p:cNvSpPr txBox="1"/>
            <p:nvPr/>
          </p:nvSpPr>
          <p:spPr>
            <a:xfrm>
              <a:off x="9067800" y="2450306"/>
              <a:ext cx="228727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省空间但反向慢，适合反向遍历少的</a:t>
              </a:r>
              <a:br/>
              <a:r>
                <a:rPr lang="zh-CN" sz="1120" dirty="0">
                  <a:solidFill>
                    <a:srgbClr val="1F2937"/>
                  </a:solidFill>
                  <a:latin typeface="+mn-lt"/>
                  <a:ea typeface="+mn-ea"/>
                  <a:cs typeface="+mn-cs"/>
                </a:rPr>
                <a:t>场合</a:t>
              </a:r>
            </a:p>
          </p:txBody>
        </p:sp>
        <p:sp>
          <p:nvSpPr>
            <p:cNvPr id="45" name="Rectangle 45"/>
            <p:cNvSpPr/>
            <p:nvPr/>
          </p:nvSpPr>
          <p:spPr>
            <a:xfrm>
              <a:off x="5815965" y="2924175"/>
              <a:ext cx="5842635" cy="9525"/>
            </a:xfrm>
            <a:prstGeom prst="rect">
              <a:avLst/>
            </a:prstGeom>
            <a:solidFill>
              <a:srgbClr val="D9DFEA"/>
            </a:solidFill>
            <a:ln>
              <a:noFill/>
            </a:ln>
          </p:spPr>
        </p:sp>
        <p:sp>
          <p:nvSpPr>
            <p:cNvPr id="46" name="Rectangle 46"/>
            <p:cNvSpPr/>
            <p:nvPr/>
          </p:nvSpPr>
          <p:spPr>
            <a:xfrm>
              <a:off x="5815965" y="2928938"/>
              <a:ext cx="5842635" cy="600075"/>
            </a:xfrm>
            <a:prstGeom prst="rect">
              <a:avLst/>
            </a:prstGeom>
            <a:solidFill>
              <a:srgbClr val="F4F6FB"/>
            </a:solidFill>
            <a:ln>
              <a:noFill/>
            </a:ln>
          </p:spPr>
        </p:sp>
        <p:sp>
          <p:nvSpPr>
            <p:cNvPr id="47" name="TextBox 47"/>
            <p:cNvSpPr txBox="1"/>
            <p:nvPr/>
          </p:nvSpPr>
          <p:spPr>
            <a:xfrm>
              <a:off x="5913120" y="3150394"/>
              <a:ext cx="1971497"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两个方向的关联都用属性实现</a:t>
              </a:r>
            </a:p>
          </p:txBody>
        </p:sp>
        <p:sp>
          <p:nvSpPr>
            <p:cNvPr id="48" name="TextBox 48"/>
            <p:cNvSpPr txBox="1"/>
            <p:nvPr/>
          </p:nvSpPr>
          <p:spPr>
            <a:xfrm>
              <a:off x="9067800" y="3050381"/>
              <a:ext cx="228727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两边都快，每次修改要同时更新两个</a:t>
              </a:r>
              <a:br/>
              <a:r>
                <a:rPr lang="zh-CN" sz="1120" dirty="0">
                  <a:solidFill>
                    <a:srgbClr val="1F2937"/>
                  </a:solidFill>
                  <a:latin typeface="+mn-lt"/>
                  <a:ea typeface="+mn-ea"/>
                  <a:cs typeface="+mn-cs"/>
                </a:rPr>
                <a:t>属性</a:t>
              </a:r>
            </a:p>
          </p:txBody>
        </p:sp>
        <p:sp>
          <p:nvSpPr>
            <p:cNvPr id="49" name="Rectangle 49"/>
            <p:cNvSpPr/>
            <p:nvPr/>
          </p:nvSpPr>
          <p:spPr>
            <a:xfrm>
              <a:off x="5815965" y="3524250"/>
              <a:ext cx="5842635" cy="9525"/>
            </a:xfrm>
            <a:prstGeom prst="rect">
              <a:avLst/>
            </a:prstGeom>
            <a:solidFill>
              <a:srgbClr val="D9DFEA"/>
            </a:solidFill>
            <a:ln>
              <a:noFill/>
            </a:ln>
          </p:spPr>
        </p:sp>
        <p:sp>
          <p:nvSpPr>
            <p:cNvPr id="50" name="TextBox 50"/>
            <p:cNvSpPr txBox="1"/>
            <p:nvPr/>
          </p:nvSpPr>
          <p:spPr>
            <a:xfrm>
              <a:off x="5913120" y="3650456"/>
              <a:ext cx="1519174"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用独立的关联对象实现</a:t>
              </a:r>
            </a:p>
          </p:txBody>
        </p:sp>
        <p:sp>
          <p:nvSpPr>
            <p:cNvPr id="51" name="TextBox 51"/>
            <p:cNvSpPr txBox="1"/>
            <p:nvPr/>
          </p:nvSpPr>
          <p:spPr>
            <a:xfrm>
              <a:off x="9067800" y="3650456"/>
              <a:ext cx="21222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两端的类都不用改，多一层间接</a:t>
              </a:r>
            </a:p>
          </p:txBody>
        </p:sp>
        <p:sp>
          <p:nvSpPr>
            <p:cNvPr id="52" name="Rectangle 52"/>
            <p:cNvSpPr/>
            <p:nvPr/>
          </p:nvSpPr>
          <p:spPr>
            <a:xfrm>
              <a:off x="5815965" y="1928812"/>
              <a:ext cx="5842635" cy="2000250"/>
            </a:xfrm>
            <a:prstGeom prst="rect">
              <a:avLst/>
            </a:prstGeom>
            <a:noFill/>
            <a:ln w="14288">
              <a:solidFill>
                <a:srgbClr val="D9DFEA"/>
              </a:solidFill>
            </a:ln>
          </p:spPr>
        </p:sp>
        <p:sp>
          <p:nvSpPr>
            <p:cNvPr id="53" name="Rectangle 53"/>
            <p:cNvSpPr/>
            <p:nvPr/>
          </p:nvSpPr>
          <p:spPr>
            <a:xfrm>
              <a:off x="8965882" y="1928812"/>
              <a:ext cx="9525" cy="2000250"/>
            </a:xfrm>
            <a:prstGeom prst="rect">
              <a:avLst/>
            </a:prstGeom>
            <a:solidFill>
              <a:srgbClr val="D9DFEA"/>
            </a:solidFill>
            <a:ln>
              <a:noFill/>
            </a:ln>
          </p:spPr>
        </p:sp>
      </p:grpSp>
      <p:grpSp>
        <p:nvGrpSpPr>
          <p:cNvPr id="61" name="c2-callout-2"/>
          <p:cNvGrpSpPr/>
          <p:nvPr/>
        </p:nvGrpSpPr>
        <p:grpSpPr>
          <a:xfrm>
            <a:off x="5815965" y="4098608"/>
            <a:ext cx="5842635" cy="1552575"/>
            <a:chOff x="5815965" y="4098608"/>
            <a:chExt cx="5842635" cy="1552575"/>
          </a:xfrm>
        </p:grpSpPr>
        <p:sp>
          <p:nvSpPr>
            <p:cNvPr id="55" name="Rectangle 55"/>
            <p:cNvSpPr/>
            <p:nvPr/>
          </p:nvSpPr>
          <p:spPr>
            <a:xfrm>
              <a:off x="5815965" y="4098608"/>
              <a:ext cx="5842635" cy="1552575"/>
            </a:xfrm>
            <a:prstGeom prst="roundRect">
              <a:avLst>
                <a:gd name="adj" fmla="val 7362"/>
              </a:avLst>
            </a:prstGeom>
            <a:solidFill>
              <a:srgbClr val="F4F6FB"/>
            </a:solidFill>
            <a:ln>
              <a:noFill/>
            </a:ln>
          </p:spPr>
        </p:sp>
        <p:grpSp>
          <p:nvGrpSpPr>
            <p:cNvPr id="59" name="Group 59"/>
            <p:cNvGrpSpPr/>
            <p:nvPr/>
          </p:nvGrpSpPr>
          <p:grpSpPr>
            <a:xfrm>
              <a:off x="6020753" y="4774883"/>
              <a:ext cx="200026" cy="200026"/>
              <a:chOff x="6020753" y="4774883"/>
              <a:chExt cx="200026" cy="200026"/>
            </a:xfrm>
          </p:grpSpPr>
          <p:sp>
            <p:nvSpPr>
              <p:cNvPr id="56" name="Freeform 56"/>
              <p:cNvSpPr/>
              <p:nvPr/>
            </p:nvSpPr>
            <p:spPr>
              <a:xfrm>
                <a:off x="6020753" y="477488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7" name="Freeform 57"/>
              <p:cNvSpPr/>
              <p:nvPr/>
            </p:nvSpPr>
            <p:spPr>
              <a:xfrm>
                <a:off x="6120765" y="484155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8" name="Freeform 58"/>
              <p:cNvSpPr/>
              <p:nvPr/>
            </p:nvSpPr>
            <p:spPr>
              <a:xfrm>
                <a:off x="6109653" y="487489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0" name="TextBox 60"/>
            <p:cNvSpPr txBox="1"/>
            <p:nvPr/>
          </p:nvSpPr>
          <p:spPr>
            <a:xfrm>
              <a:off x="6323457" y="4531995"/>
              <a:ext cx="4934331" cy="761238"/>
            </a:xfrm>
            <a:prstGeom prst="rect">
              <a:avLst/>
            </a:prstGeom>
            <a:noFill/>
            <a:ln>
              <a:noFill/>
            </a:ln>
          </p:spPr>
          <p:txBody>
            <a:bodyPr wrap="none" lIns="0" tIns="0" rIns="0" bIns="0" anchor="t" anchorCtr="0">
              <a:spAutoFit/>
            </a:bodyPr>
            <a:lstStyle/>
            <a:p>
              <a:pPr algn="l">
                <a:lnSpc>
                  <a:spcPts val="1958"/>
                </a:lnSpc>
              </a:pPr>
              <a:r>
                <a:rPr lang="zh-CN" sz="1350" dirty="0">
                  <a:solidFill>
                    <a:srgbClr val="1F2937"/>
                  </a:solidFill>
                  <a:latin typeface="+mn-lt"/>
                  <a:ea typeface="+mn-ea"/>
                  <a:cs typeface="+mn-cs"/>
                </a:rPr>
                <a:t xml:space="preserve">一对多时“一”端属性放不下多个对象，通常引入一个 </a:t>
              </a:r>
              <a:r>
                <a:rPr lang="zh-CN" sz="1350" b="1" dirty="0">
                  <a:solidFill>
                    <a:srgbClr val="C2410C"/>
                  </a:solidFill>
                  <a:latin typeface="+mn-lt"/>
                  <a:ea typeface="+mn-ea"/>
                  <a:cs typeface="+mn-cs"/>
                </a:rPr>
                <a:t>指针集合</a:t>
              </a:r>
              <a:r>
                <a:rPr lang="zh-CN" sz="1350" dirty="0">
                  <a:solidFill>
                    <a:srgbClr val="1F2937"/>
                  </a:solidFill>
                  <a:latin typeface="+mn-lt"/>
                  <a:ea typeface="+mn-ea"/>
                  <a:cs typeface="+mn-cs"/>
                </a:rPr>
                <a:t xml:space="preserve"> 对</a:t>
              </a:r>
              <a:br/>
              <a:r>
                <a:rPr lang="zh-CN" sz="1350" dirty="0">
                  <a:solidFill>
                    <a:srgbClr val="1F2937"/>
                  </a:solidFill>
                  <a:latin typeface="+mn-lt"/>
                  <a:ea typeface="+mn-ea"/>
                  <a:cs typeface="+mn-cs"/>
                </a:rPr>
                <a:t>象：公司的“雇员”属性指向指针集合，集合里每个指针指向一名</a:t>
              </a:r>
              <a:br/>
              <a:r>
                <a:rPr lang="zh-CN" sz="1350" dirty="0">
                  <a:solidFill>
                    <a:srgbClr val="1F2937"/>
                  </a:solidFill>
                  <a:latin typeface="+mn-lt"/>
                  <a:ea typeface="+mn-ea"/>
                  <a:cs typeface="+mn-cs"/>
                </a:rPr>
                <a:t>雇员。</a:t>
              </a:r>
            </a:p>
          </p:txBody>
        </p:sp>
      </p:grpSp>
      <p:grpSp>
        <p:nvGrpSpPr>
          <p:cNvPr id="67" name="takeaway"/>
          <p:cNvGrpSpPr/>
          <p:nvPr/>
        </p:nvGrpSpPr>
        <p:grpSpPr>
          <a:xfrm>
            <a:off x="533400" y="5881688"/>
            <a:ext cx="11125200" cy="481012"/>
            <a:chOff x="533400" y="5881688"/>
            <a:chExt cx="11125200" cy="481012"/>
          </a:xfrm>
        </p:grpSpPr>
        <p:sp>
          <p:nvSpPr>
            <p:cNvPr id="62" name="Rectangle 62"/>
            <p:cNvSpPr/>
            <p:nvPr/>
          </p:nvSpPr>
          <p:spPr>
            <a:xfrm>
              <a:off x="533400" y="5881688"/>
              <a:ext cx="11125200" cy="481012"/>
            </a:xfrm>
            <a:prstGeom prst="roundRect">
              <a:avLst>
                <a:gd name="adj" fmla="val 23762"/>
              </a:avLst>
            </a:prstGeom>
            <a:solidFill>
              <a:srgbClr val="334E68"/>
            </a:solidFill>
            <a:ln>
              <a:noFill/>
            </a:ln>
          </p:spPr>
        </p:sp>
        <p:grpSp>
          <p:nvGrpSpPr>
            <p:cNvPr id="65" name="Group 65"/>
            <p:cNvGrpSpPr/>
            <p:nvPr/>
          </p:nvGrpSpPr>
          <p:grpSpPr>
            <a:xfrm>
              <a:off x="738188" y="6022660"/>
              <a:ext cx="200023" cy="200023"/>
              <a:chOff x="738188" y="6022660"/>
              <a:chExt cx="200023" cy="200023"/>
            </a:xfrm>
          </p:grpSpPr>
          <p:sp>
            <p:nvSpPr>
              <p:cNvPr id="63" name="Freeform 63"/>
              <p:cNvSpPr/>
              <p:nvPr/>
            </p:nvSpPr>
            <p:spPr>
              <a:xfrm>
                <a:off x="738188" y="602266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64" name="Freeform 64"/>
              <p:cNvSpPr/>
              <p:nvPr/>
            </p:nvSpPr>
            <p:spPr>
              <a:xfrm>
                <a:off x="871538" y="608933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6" name="TextBox 66"/>
            <p:cNvSpPr txBox="1"/>
            <p:nvPr/>
          </p:nvSpPr>
          <p:spPr>
            <a:xfrm>
              <a:off x="1040892" y="6028373"/>
              <a:ext cx="5829300"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三种办法没有绝对优劣，选哪种取决于两个方向的遍历频率和修改频率。</a:t>
              </a:r>
            </a:p>
          </p:txBody>
        </p:sp>
      </p:grpSp>
      <p:grpSp>
        <p:nvGrpSpPr>
          <p:cNvPr id="70" name="footer"/>
          <p:cNvGrpSpPr/>
          <p:nvPr/>
        </p:nvGrpSpPr>
        <p:grpSpPr>
          <a:xfrm>
            <a:off x="528447" y="6581299"/>
            <a:ext cx="11135106" cy="190690"/>
            <a:chOff x="528447" y="6581299"/>
            <a:chExt cx="11135106" cy="190690"/>
          </a:xfrm>
        </p:grpSpPr>
        <p:sp>
          <p:nvSpPr>
            <p:cNvPr id="68" name="TextBox 68"/>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69" name="TextBox 6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44</a:t>
              </a:r>
            </a:p>
          </p:txBody>
        </p:sp>
      </p:grpSp>
    </p:spTree>
  </p:cSld>
  <p:clrMapOvr>
    <a:masterClrMapping/>
  </p:clrMapOvr>
  <p:transition xmlns:p14="http://schemas.microsoft.com/office/powerpoint/2010/main" p14:dur="400">
    <p:fad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488561" cy="909257"/>
            <a:chOff x="520446" y="342900"/>
            <a:chExt cx="4488561" cy="909257"/>
          </a:xfrm>
        </p:grpSpPr>
        <p:sp>
          <p:nvSpPr>
            <p:cNvPr id="2" name="Rectangle 2"/>
            <p:cNvSpPr/>
            <p:nvPr/>
          </p:nvSpPr>
          <p:spPr>
            <a:xfrm>
              <a:off x="533400" y="342900"/>
              <a:ext cx="3208020" cy="266700"/>
            </a:xfrm>
            <a:prstGeom prst="roundRect">
              <a:avLst>
                <a:gd name="adj" fmla="val 50000"/>
              </a:avLst>
            </a:prstGeom>
            <a:solidFill>
              <a:srgbClr val="E7EDF3"/>
            </a:solidFill>
            <a:ln>
              <a:noFill/>
            </a:ln>
          </p:spPr>
        </p:sp>
        <p:sp>
          <p:nvSpPr>
            <p:cNvPr id="3" name="TextBox 3"/>
            <p:cNvSpPr txBox="1"/>
            <p:nvPr/>
          </p:nvSpPr>
          <p:spPr>
            <a:xfrm>
              <a:off x="572876" y="407194"/>
              <a:ext cx="312906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服务、关联与设计优化</a:t>
              </a:r>
            </a:p>
          </p:txBody>
        </p:sp>
        <p:sp>
          <p:nvSpPr>
            <p:cNvPr id="4" name="TextBox 4"/>
            <p:cNvSpPr txBox="1"/>
            <p:nvPr/>
          </p:nvSpPr>
          <p:spPr>
            <a:xfrm>
              <a:off x="520446" y="753428"/>
              <a:ext cx="448856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关联对象往哪放：按重数决定</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780" y="1548765"/>
            <a:ext cx="8112633" cy="293370"/>
            <a:chOff x="525780" y="1548765"/>
            <a:chExt cx="8112633" cy="293370"/>
          </a:xfrm>
        </p:grpSpPr>
        <p:sp>
          <p:nvSpPr>
            <p:cNvPr id="7" name="TextBox 7"/>
            <p:cNvSpPr txBox="1"/>
            <p:nvPr/>
          </p:nvSpPr>
          <p:spPr>
            <a:xfrm>
              <a:off x="525780" y="1548765"/>
              <a:ext cx="8112633" cy="293370"/>
            </a:xfrm>
            <a:prstGeom prst="rect">
              <a:avLst/>
            </a:prstGeom>
            <a:noFill/>
            <a:ln>
              <a:noFill/>
            </a:ln>
          </p:spPr>
          <p:txBody>
            <a:bodyPr wrap="none" lIns="0" tIns="0" rIns="0" bIns="0" anchor="t" anchorCtr="0">
              <a:spAutoFit/>
            </a:bodyPr>
            <a:lstStyle/>
            <a:p>
              <a:pPr algn="l"/>
              <a:r>
                <a:rPr lang="zh-CN" sz="1500" dirty="0">
                  <a:solidFill>
                    <a:srgbClr val="5B6475"/>
                  </a:solidFill>
                  <a:latin typeface="+mn-lt"/>
                  <a:ea typeface="+mn-ea"/>
                  <a:cs typeface="+mn-cs"/>
                </a:rPr>
                <a:t>关联链本身可能带属性（比如“雇用”这条链上有入职日期和薪水），这些属性该存在哪里。</a:t>
              </a:r>
            </a:p>
          </p:txBody>
        </p:sp>
      </p:grpSp>
      <p:grpSp>
        <p:nvGrpSpPr>
          <p:cNvPr id="29" name="c1-table-1"/>
          <p:cNvGrpSpPr/>
          <p:nvPr/>
        </p:nvGrpSpPr>
        <p:grpSpPr>
          <a:xfrm>
            <a:off x="533400" y="1954530"/>
            <a:ext cx="5410200" cy="3143250"/>
            <a:chOff x="533400" y="1954530"/>
            <a:chExt cx="5410200" cy="3143250"/>
          </a:xfrm>
        </p:grpSpPr>
        <p:sp>
          <p:nvSpPr>
            <p:cNvPr id="9" name="Rectangle 9"/>
            <p:cNvSpPr/>
            <p:nvPr/>
          </p:nvSpPr>
          <p:spPr>
            <a:xfrm>
              <a:off x="533400" y="1954530"/>
              <a:ext cx="5410200" cy="721995"/>
            </a:xfrm>
            <a:prstGeom prst="rect">
              <a:avLst/>
            </a:prstGeom>
            <a:solidFill>
              <a:srgbClr val="334E68"/>
            </a:solidFill>
            <a:ln>
              <a:noFill/>
            </a:ln>
          </p:spPr>
        </p:sp>
        <p:sp>
          <p:nvSpPr>
            <p:cNvPr id="10" name="TextBox 10"/>
            <p:cNvSpPr txBox="1"/>
            <p:nvPr/>
          </p:nvSpPr>
          <p:spPr>
            <a:xfrm>
              <a:off x="742378" y="2089309"/>
              <a:ext cx="555498" cy="532066"/>
            </a:xfrm>
            <a:prstGeom prst="rect">
              <a:avLst/>
            </a:prstGeom>
            <a:noFill/>
            <a:ln>
              <a:noFill/>
            </a:ln>
          </p:spPr>
          <p:txBody>
            <a:bodyPr wrap="none" lIns="0" tIns="0" rIns="0" bIns="0" anchor="t" anchorCtr="0">
              <a:spAutoFit/>
            </a:bodyPr>
            <a:lstStyle/>
            <a:p>
              <a:pPr algn="ctr">
                <a:lnSpc>
                  <a:spcPts val="1995"/>
                </a:lnSpc>
              </a:pPr>
              <a:r>
                <a:rPr lang="zh-CN" sz="1420" b="1" dirty="0">
                  <a:solidFill>
                    <a:srgbClr val="FFFFFF"/>
                  </a:solidFill>
                  <a:latin typeface="+mn-lt"/>
                  <a:ea typeface="+mn-ea"/>
                  <a:cs typeface="+mn-cs"/>
                </a:rPr>
                <a:t>关联的</a:t>
              </a:r>
              <a:br/>
              <a:r>
                <a:rPr lang="zh-CN" sz="1420" b="1" dirty="0">
                  <a:solidFill>
                    <a:srgbClr val="FFFFFF"/>
                  </a:solidFill>
                  <a:latin typeface="+mn-lt"/>
                  <a:ea typeface="+mn-ea"/>
                  <a:cs typeface="+mn-cs"/>
                </a:rPr>
                <a:t>重数</a:t>
              </a:r>
            </a:p>
          </p:txBody>
        </p:sp>
        <p:sp>
          <p:nvSpPr>
            <p:cNvPr id="11" name="TextBox 11"/>
            <p:cNvSpPr txBox="1"/>
            <p:nvPr/>
          </p:nvSpPr>
          <p:spPr>
            <a:xfrm>
              <a:off x="1912595" y="2215991"/>
              <a:ext cx="1352601"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关联对象的归属</a:t>
              </a:r>
            </a:p>
          </p:txBody>
        </p:sp>
        <p:sp>
          <p:nvSpPr>
            <p:cNvPr id="12" name="TextBox 12"/>
            <p:cNvSpPr txBox="1"/>
            <p:nvPr/>
          </p:nvSpPr>
          <p:spPr>
            <a:xfrm>
              <a:off x="4608868" y="2215991"/>
              <a:ext cx="396799"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理由</a:t>
              </a:r>
            </a:p>
          </p:txBody>
        </p:sp>
        <p:sp>
          <p:nvSpPr>
            <p:cNvPr id="13" name="TextBox 13"/>
            <p:cNvSpPr txBox="1"/>
            <p:nvPr/>
          </p:nvSpPr>
          <p:spPr>
            <a:xfrm>
              <a:off x="637604" y="2938939"/>
              <a:ext cx="587959"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一对一</a:t>
              </a:r>
            </a:p>
          </p:txBody>
        </p:sp>
        <p:sp>
          <p:nvSpPr>
            <p:cNvPr id="14" name="TextBox 14"/>
            <p:cNvSpPr txBox="1"/>
            <p:nvPr/>
          </p:nvSpPr>
          <p:spPr>
            <a:xfrm>
              <a:off x="1611059" y="2812256"/>
              <a:ext cx="1817878"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与参与关联的任一个对</a:t>
              </a:r>
              <a:br/>
              <a:r>
                <a:rPr lang="zh-CN" sz="1420" dirty="0">
                  <a:solidFill>
                    <a:srgbClr val="1F2937"/>
                  </a:solidFill>
                  <a:latin typeface="+mn-lt"/>
                  <a:ea typeface="+mn-ea"/>
                  <a:cs typeface="+mn-cs"/>
                </a:rPr>
                <a:t>象合并</a:t>
              </a:r>
            </a:p>
          </p:txBody>
        </p:sp>
        <p:sp>
          <p:nvSpPr>
            <p:cNvPr id="15" name="TextBox 15"/>
            <p:cNvSpPr txBox="1"/>
            <p:nvPr/>
          </p:nvSpPr>
          <p:spPr>
            <a:xfrm>
              <a:off x="3775139" y="2812256"/>
              <a:ext cx="1817878"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一条链只对应一对对</a:t>
              </a:r>
              <a:br/>
              <a:r>
                <a:rPr lang="zh-CN" sz="1420" dirty="0">
                  <a:solidFill>
                    <a:srgbClr val="1F2937"/>
                  </a:solidFill>
                  <a:latin typeface="+mn-lt"/>
                  <a:ea typeface="+mn-ea"/>
                  <a:cs typeface="+mn-cs"/>
                </a:rPr>
                <a:t>象，放哪边都不会重复</a:t>
              </a:r>
            </a:p>
          </p:txBody>
        </p:sp>
        <p:sp>
          <p:nvSpPr>
            <p:cNvPr id="16" name="Rectangle 16"/>
            <p:cNvSpPr/>
            <p:nvPr/>
          </p:nvSpPr>
          <p:spPr>
            <a:xfrm>
              <a:off x="533400" y="3394710"/>
              <a:ext cx="5410200" cy="9525"/>
            </a:xfrm>
            <a:prstGeom prst="rect">
              <a:avLst/>
            </a:prstGeom>
            <a:solidFill>
              <a:srgbClr val="D9DFEA"/>
            </a:solidFill>
            <a:ln>
              <a:noFill/>
            </a:ln>
          </p:spPr>
        </p:sp>
        <p:sp>
          <p:nvSpPr>
            <p:cNvPr id="17" name="Rectangle 17"/>
            <p:cNvSpPr/>
            <p:nvPr/>
          </p:nvSpPr>
          <p:spPr>
            <a:xfrm>
              <a:off x="533400" y="3399472"/>
              <a:ext cx="5410200" cy="975360"/>
            </a:xfrm>
            <a:prstGeom prst="rect">
              <a:avLst/>
            </a:prstGeom>
            <a:solidFill>
              <a:srgbClr val="F4F6FB"/>
            </a:solidFill>
            <a:ln>
              <a:noFill/>
            </a:ln>
          </p:spPr>
        </p:sp>
        <p:sp>
          <p:nvSpPr>
            <p:cNvPr id="18" name="TextBox 18"/>
            <p:cNvSpPr txBox="1"/>
            <p:nvPr/>
          </p:nvSpPr>
          <p:spPr>
            <a:xfrm>
              <a:off x="637604" y="3787616"/>
              <a:ext cx="587959"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一对多</a:t>
              </a:r>
            </a:p>
          </p:txBody>
        </p:sp>
        <p:sp>
          <p:nvSpPr>
            <p:cNvPr id="19" name="TextBox 19"/>
            <p:cNvSpPr txBox="1"/>
            <p:nvPr/>
          </p:nvSpPr>
          <p:spPr>
            <a:xfrm>
              <a:off x="1611059" y="3787616"/>
              <a:ext cx="1562877"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与“多”端对象合并</a:t>
              </a:r>
            </a:p>
          </p:txBody>
        </p:sp>
        <p:sp>
          <p:nvSpPr>
            <p:cNvPr id="20" name="TextBox 20"/>
            <p:cNvSpPr txBox="1"/>
            <p:nvPr/>
          </p:nvSpPr>
          <p:spPr>
            <a:xfrm>
              <a:off x="3775139" y="3534251"/>
              <a:ext cx="1835912" cy="785432"/>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每个“多”端对象恰好参</a:t>
              </a:r>
              <a:br/>
              <a:r>
                <a:rPr lang="zh-CN" sz="1420" dirty="0">
                  <a:solidFill>
                    <a:srgbClr val="1F2937"/>
                  </a:solidFill>
                  <a:latin typeface="+mn-lt"/>
                  <a:ea typeface="+mn-ea"/>
                  <a:cs typeface="+mn-cs"/>
                </a:rPr>
                <a:t>与一条链，属性跟着它</a:t>
              </a:r>
              <a:br/>
              <a:r>
                <a:rPr lang="zh-CN" sz="1420" dirty="0">
                  <a:solidFill>
                    <a:srgbClr val="1F2937"/>
                  </a:solidFill>
                  <a:latin typeface="+mn-lt"/>
                  <a:ea typeface="+mn-ea"/>
                  <a:cs typeface="+mn-cs"/>
                </a:rPr>
                <a:t>走不会冲突</a:t>
              </a:r>
            </a:p>
          </p:txBody>
        </p:sp>
        <p:sp>
          <p:nvSpPr>
            <p:cNvPr id="21" name="Rectangle 21"/>
            <p:cNvSpPr/>
            <p:nvPr/>
          </p:nvSpPr>
          <p:spPr>
            <a:xfrm>
              <a:off x="533400" y="4370070"/>
              <a:ext cx="5410200" cy="9525"/>
            </a:xfrm>
            <a:prstGeom prst="rect">
              <a:avLst/>
            </a:prstGeom>
            <a:solidFill>
              <a:srgbClr val="D9DFEA"/>
            </a:solidFill>
            <a:ln>
              <a:noFill/>
            </a:ln>
          </p:spPr>
        </p:sp>
        <p:sp>
          <p:nvSpPr>
            <p:cNvPr id="22" name="TextBox 22"/>
            <p:cNvSpPr txBox="1"/>
            <p:nvPr/>
          </p:nvSpPr>
          <p:spPr>
            <a:xfrm>
              <a:off x="637604" y="4636294"/>
              <a:ext cx="587959"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多对多</a:t>
              </a:r>
            </a:p>
          </p:txBody>
        </p:sp>
        <p:sp>
          <p:nvSpPr>
            <p:cNvPr id="23" name="Rectangle 23"/>
            <p:cNvSpPr/>
            <p:nvPr/>
          </p:nvSpPr>
          <p:spPr>
            <a:xfrm>
              <a:off x="1516380" y="4384358"/>
              <a:ext cx="2145030" cy="702945"/>
            </a:xfrm>
            <a:prstGeom prst="rect">
              <a:avLst/>
            </a:prstGeom>
            <a:solidFill>
              <a:srgbClr val="FDEEE7"/>
            </a:solidFill>
            <a:ln>
              <a:noFill/>
            </a:ln>
          </p:spPr>
        </p:sp>
        <p:sp>
          <p:nvSpPr>
            <p:cNvPr id="24" name="TextBox 24"/>
            <p:cNvSpPr txBox="1"/>
            <p:nvPr/>
          </p:nvSpPr>
          <p:spPr>
            <a:xfrm>
              <a:off x="1611059" y="4509611"/>
              <a:ext cx="1817878"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用一个独立的关联类保</a:t>
              </a:r>
              <a:br/>
              <a:r>
                <a:rPr lang="zh-CN" sz="1420" dirty="0">
                  <a:solidFill>
                    <a:srgbClr val="1F2937"/>
                  </a:solidFill>
                  <a:latin typeface="+mn-lt"/>
                  <a:ea typeface="+mn-ea"/>
                  <a:cs typeface="+mn-cs"/>
                </a:rPr>
                <a:t>存</a:t>
              </a:r>
            </a:p>
          </p:txBody>
        </p:sp>
        <p:sp>
          <p:nvSpPr>
            <p:cNvPr id="25" name="TextBox 25"/>
            <p:cNvSpPr txBox="1"/>
            <p:nvPr/>
          </p:nvSpPr>
          <p:spPr>
            <a:xfrm>
              <a:off x="3775139" y="4509611"/>
              <a:ext cx="1817878"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链的性质不可能只与一</a:t>
              </a:r>
              <a:br/>
              <a:r>
                <a:rPr lang="zh-CN" sz="1420" dirty="0">
                  <a:solidFill>
                    <a:srgbClr val="1F2937"/>
                  </a:solidFill>
                  <a:latin typeface="+mn-lt"/>
                  <a:ea typeface="+mn-ea"/>
                  <a:cs typeface="+mn-cs"/>
                </a:rPr>
                <a:t>端有关，必须单独存放</a:t>
              </a:r>
            </a:p>
          </p:txBody>
        </p:sp>
        <p:sp>
          <p:nvSpPr>
            <p:cNvPr id="26" name="Rectangle 26"/>
            <p:cNvSpPr/>
            <p:nvPr/>
          </p:nvSpPr>
          <p:spPr>
            <a:xfrm>
              <a:off x="533400" y="1954530"/>
              <a:ext cx="5410200" cy="3143250"/>
            </a:xfrm>
            <a:prstGeom prst="rect">
              <a:avLst/>
            </a:prstGeom>
            <a:noFill/>
            <a:ln w="14288">
              <a:solidFill>
                <a:srgbClr val="D9DFEA"/>
              </a:solidFill>
            </a:ln>
          </p:spPr>
        </p:sp>
        <p:sp>
          <p:nvSpPr>
            <p:cNvPr id="27" name="Rectangle 27"/>
            <p:cNvSpPr/>
            <p:nvPr/>
          </p:nvSpPr>
          <p:spPr>
            <a:xfrm>
              <a:off x="1502092" y="1954530"/>
              <a:ext cx="9525" cy="3143250"/>
            </a:xfrm>
            <a:prstGeom prst="rect">
              <a:avLst/>
            </a:prstGeom>
            <a:solidFill>
              <a:srgbClr val="D9DFEA"/>
            </a:solidFill>
            <a:ln>
              <a:noFill/>
            </a:ln>
          </p:spPr>
        </p:sp>
        <p:sp>
          <p:nvSpPr>
            <p:cNvPr id="28" name="Rectangle 28"/>
            <p:cNvSpPr/>
            <p:nvPr/>
          </p:nvSpPr>
          <p:spPr>
            <a:xfrm>
              <a:off x="3666172" y="1954530"/>
              <a:ext cx="9525" cy="3143250"/>
            </a:xfrm>
            <a:prstGeom prst="rect">
              <a:avLst/>
            </a:prstGeom>
            <a:solidFill>
              <a:srgbClr val="D9DFEA"/>
            </a:solidFill>
            <a:ln>
              <a:noFill/>
            </a:ln>
          </p:spPr>
        </p:sp>
      </p:grpSp>
      <p:grpSp>
        <p:nvGrpSpPr>
          <p:cNvPr id="35" name="c1-callout-2"/>
          <p:cNvGrpSpPr/>
          <p:nvPr/>
        </p:nvGrpSpPr>
        <p:grpSpPr>
          <a:xfrm>
            <a:off x="533400" y="5282565"/>
            <a:ext cx="5410200" cy="1040130"/>
            <a:chOff x="533400" y="5282565"/>
            <a:chExt cx="5410200" cy="1040130"/>
          </a:xfrm>
        </p:grpSpPr>
        <p:sp>
          <p:nvSpPr>
            <p:cNvPr id="30" name="Rectangle 30"/>
            <p:cNvSpPr/>
            <p:nvPr/>
          </p:nvSpPr>
          <p:spPr>
            <a:xfrm>
              <a:off x="533400" y="5282565"/>
              <a:ext cx="5410200" cy="1040130"/>
            </a:xfrm>
            <a:prstGeom prst="roundRect">
              <a:avLst>
                <a:gd name="adj" fmla="val 10989"/>
              </a:avLst>
            </a:prstGeom>
            <a:solidFill>
              <a:srgbClr val="334E68"/>
            </a:solidFill>
            <a:ln>
              <a:noFill/>
            </a:ln>
          </p:spPr>
        </p:sp>
        <p:grpSp>
          <p:nvGrpSpPr>
            <p:cNvPr id="33" name="Group 33"/>
            <p:cNvGrpSpPr/>
            <p:nvPr/>
          </p:nvGrpSpPr>
          <p:grpSpPr>
            <a:xfrm>
              <a:off x="738188" y="5702620"/>
              <a:ext cx="200023" cy="200023"/>
              <a:chOff x="738188" y="5702620"/>
              <a:chExt cx="200023" cy="200023"/>
            </a:xfrm>
          </p:grpSpPr>
          <p:sp>
            <p:nvSpPr>
              <p:cNvPr id="31" name="Freeform 31"/>
              <p:cNvSpPr/>
              <p:nvPr/>
            </p:nvSpPr>
            <p:spPr>
              <a:xfrm>
                <a:off x="738188" y="570262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32" name="Freeform 32"/>
              <p:cNvSpPr/>
              <p:nvPr/>
            </p:nvSpPr>
            <p:spPr>
              <a:xfrm>
                <a:off x="871538" y="576929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34" name="TextBox 34"/>
            <p:cNvSpPr txBox="1"/>
            <p:nvPr/>
          </p:nvSpPr>
          <p:spPr>
            <a:xfrm>
              <a:off x="1040511" y="5572601"/>
              <a:ext cx="4522978"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FFFFFF"/>
                  </a:solidFill>
                  <a:latin typeface="+mn-lt"/>
                  <a:ea typeface="+mn-ea"/>
                  <a:cs typeface="+mn-cs"/>
                </a:rPr>
                <a:t>判断口诀：哪一端在这条链上是唯一的，关联属性就跟着</a:t>
              </a:r>
              <a:br/>
              <a:r>
                <a:rPr lang="zh-CN" sz="1420" dirty="0">
                  <a:solidFill>
                    <a:srgbClr val="FFFFFF"/>
                  </a:solidFill>
                  <a:latin typeface="+mn-lt"/>
                  <a:ea typeface="+mn-ea"/>
                  <a:cs typeface="+mn-cs"/>
                </a:rPr>
                <a:t>哪一端；两端都不唯一就单独建类。</a:t>
              </a:r>
            </a:p>
          </p:txBody>
        </p:sp>
      </p:grpSp>
      <p:grpSp>
        <p:nvGrpSpPr>
          <p:cNvPr id="43" name="c2-card-1"/>
          <p:cNvGrpSpPr/>
          <p:nvPr/>
        </p:nvGrpSpPr>
        <p:grpSpPr>
          <a:xfrm>
            <a:off x="6248400" y="1954530"/>
            <a:ext cx="5410200" cy="2427922"/>
            <a:chOff x="6248400" y="1954530"/>
            <a:chExt cx="5410200" cy="2427922"/>
          </a:xfrm>
        </p:grpSpPr>
        <p:sp>
          <p:nvSpPr>
            <p:cNvPr id="36" name="Rectangle 36"/>
            <p:cNvSpPr/>
            <p:nvPr/>
          </p:nvSpPr>
          <p:spPr>
            <a:xfrm>
              <a:off x="6248400" y="1954530"/>
              <a:ext cx="5410200" cy="2427922"/>
            </a:xfrm>
            <a:prstGeom prst="roundRect">
              <a:avLst>
                <a:gd name="adj" fmla="val 5492"/>
              </a:avLst>
            </a:prstGeom>
            <a:solidFill>
              <a:srgbClr val="FFFFFF"/>
            </a:solidFill>
            <a:ln w="14288">
              <a:solidFill>
                <a:srgbClr val="D9DFEA"/>
              </a:solidFill>
            </a:ln>
          </p:spPr>
        </p:sp>
        <p:sp>
          <p:nvSpPr>
            <p:cNvPr id="37" name="Rectangle 37"/>
            <p:cNvSpPr/>
            <p:nvPr/>
          </p:nvSpPr>
          <p:spPr>
            <a:xfrm>
              <a:off x="6257925" y="2087880"/>
              <a:ext cx="47625" cy="2161222"/>
            </a:xfrm>
            <a:prstGeom prst="roundRect">
              <a:avLst>
                <a:gd name="adj" fmla="val 50000"/>
              </a:avLst>
            </a:prstGeom>
            <a:solidFill>
              <a:srgbClr val="14A38B"/>
            </a:solidFill>
            <a:ln>
              <a:noFill/>
            </a:ln>
          </p:spPr>
        </p:sp>
        <p:sp>
          <p:nvSpPr>
            <p:cNvPr id="38" name="Rectangle 38"/>
            <p:cNvSpPr/>
            <p:nvPr/>
          </p:nvSpPr>
          <p:spPr>
            <a:xfrm>
              <a:off x="6490335" y="2158365"/>
              <a:ext cx="494348" cy="257175"/>
            </a:xfrm>
            <a:prstGeom prst="roundRect">
              <a:avLst>
                <a:gd name="adj" fmla="val 50000"/>
              </a:avLst>
            </a:prstGeom>
            <a:solidFill>
              <a:srgbClr val="E3F5F1"/>
            </a:solidFill>
            <a:ln>
              <a:noFill/>
            </a:ln>
          </p:spPr>
        </p:sp>
        <p:sp>
          <p:nvSpPr>
            <p:cNvPr id="39" name="TextBox 39"/>
            <p:cNvSpPr txBox="1"/>
            <p:nvPr/>
          </p:nvSpPr>
          <p:spPr>
            <a:xfrm>
              <a:off x="6580543" y="2194084"/>
              <a:ext cx="312979"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例子</a:t>
              </a:r>
            </a:p>
          </p:txBody>
        </p:sp>
        <p:sp>
          <p:nvSpPr>
            <p:cNvPr id="40" name="TextBox 40"/>
            <p:cNvSpPr txBox="1"/>
            <p:nvPr/>
          </p:nvSpPr>
          <p:spPr>
            <a:xfrm>
              <a:off x="7091744" y="2197894"/>
              <a:ext cx="97028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雇员与公司</a:t>
              </a:r>
            </a:p>
          </p:txBody>
        </p:sp>
        <p:sp>
          <p:nvSpPr>
            <p:cNvPr id="41" name="TextBox 41"/>
            <p:cNvSpPr txBox="1"/>
            <p:nvPr/>
          </p:nvSpPr>
          <p:spPr>
            <a:xfrm>
              <a:off x="6483096" y="2550319"/>
              <a:ext cx="470331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一名雇员只能在一家公司任职、一家公司有多名雇员，这是</a:t>
              </a:r>
              <a:br/>
              <a:r>
                <a:rPr lang="zh-CN" sz="1420" dirty="0">
                  <a:solidFill>
                    <a:srgbClr val="1F2937"/>
                  </a:solidFill>
                  <a:latin typeface="+mn-lt"/>
                  <a:ea typeface="+mn-ea"/>
                  <a:cs typeface="+mn-cs"/>
                </a:rPr>
                <a:t xml:space="preserve">一对多：把入职日期、工号放进 </a:t>
              </a:r>
              <a:r>
                <a:rPr lang="zh-CN" sz="1420" b="1" dirty="0">
                  <a:solidFill>
                    <a:srgbClr val="C2410C"/>
                  </a:solidFill>
                  <a:latin typeface="+mn-lt"/>
                  <a:ea typeface="+mn-ea"/>
                  <a:cs typeface="+mn-cs"/>
                </a:rPr>
                <a:t>雇员</a:t>
              </a:r>
              <a:r>
                <a:rPr lang="zh-CN" sz="1420" dirty="0">
                  <a:solidFill>
                    <a:srgbClr val="1F2937"/>
                  </a:solidFill>
                  <a:latin typeface="+mn-lt"/>
                  <a:ea typeface="+mn-ea"/>
                  <a:cs typeface="+mn-cs"/>
                </a:rPr>
                <a:t xml:space="preserve"> 类。</a:t>
              </a:r>
            </a:p>
          </p:txBody>
        </p:sp>
        <p:sp>
          <p:nvSpPr>
            <p:cNvPr id="42" name="TextBox 42"/>
            <p:cNvSpPr txBox="1"/>
            <p:nvPr/>
          </p:nvSpPr>
          <p:spPr>
            <a:xfrm>
              <a:off x="6483096" y="3141821"/>
              <a:ext cx="4757420" cy="1093089"/>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如果允许兼职，一名雇员可以在多家公司任职，就变成多对</a:t>
              </a:r>
              <a:br/>
              <a:r>
                <a:rPr lang="zh-CN" sz="1420" dirty="0">
                  <a:solidFill>
                    <a:srgbClr val="1F2937"/>
                  </a:solidFill>
                  <a:latin typeface="+mn-lt"/>
                  <a:ea typeface="+mn-ea"/>
                  <a:cs typeface="+mn-cs"/>
                </a:rPr>
                <a:t>多：入职日期属于“某人在某公司”这条链，只能放进独立的</a:t>
              </a:r>
              <a:br/>
              <a:r>
                <a:rPr lang="zh-CN" sz="1420" b="1" dirty="0">
                  <a:solidFill>
                    <a:srgbClr val="C2410C"/>
                  </a:solidFill>
                  <a:latin typeface="+mn-lt"/>
                  <a:ea typeface="+mn-ea"/>
                  <a:cs typeface="+mn-cs"/>
                </a:rPr>
                <a:t>任职</a:t>
              </a:r>
              <a:r>
                <a:rPr lang="zh-CN" sz="1420" dirty="0">
                  <a:solidFill>
                    <a:srgbClr val="1F2937"/>
                  </a:solidFill>
                  <a:latin typeface="+mn-lt"/>
                  <a:ea typeface="+mn-ea"/>
                  <a:cs typeface="+mn-cs"/>
                </a:rPr>
                <a:t xml:space="preserve"> 关联类，这个类的每个实例表示一条具体的关联链及该</a:t>
              </a:r>
              <a:br/>
              <a:r>
                <a:rPr lang="zh-CN" sz="1420" dirty="0">
                  <a:solidFill>
                    <a:srgbClr val="1F2937"/>
                  </a:solidFill>
                  <a:latin typeface="+mn-lt"/>
                  <a:ea typeface="+mn-ea"/>
                  <a:cs typeface="+mn-cs"/>
                </a:rPr>
                <a:t>链的属性。</a:t>
              </a:r>
            </a:p>
          </p:txBody>
        </p:sp>
      </p:grpSp>
      <p:grpSp>
        <p:nvGrpSpPr>
          <p:cNvPr id="64" name="c2-uml-2"/>
          <p:cNvGrpSpPr/>
          <p:nvPr/>
        </p:nvGrpSpPr>
        <p:grpSpPr>
          <a:xfrm>
            <a:off x="6578918" y="5047298"/>
            <a:ext cx="4749164" cy="795338"/>
            <a:chOff x="6578918" y="5047298"/>
            <a:chExt cx="4749164" cy="795338"/>
          </a:xfrm>
        </p:grpSpPr>
        <p:sp>
          <p:nvSpPr>
            <p:cNvPr id="44" name="Freeform 44"/>
            <p:cNvSpPr/>
            <p:nvPr/>
          </p:nvSpPr>
          <p:spPr>
            <a:xfrm>
              <a:off x="7721918" y="5445442"/>
              <a:ext cx="660082" cy="9525"/>
            </a:xfrm>
            <a:custGeom>
              <a:avLst/>
              <a:gdLst/>
              <a:ahLst/>
              <a:cxnLst/>
              <a:rect l="l" t="t" r="r" b="b"/>
              <a:pathLst>
                <a:path w="660082" h="9525">
                  <a:moveTo>
                    <a:pt x="0" y="0"/>
                  </a:moveTo>
                  <a:lnTo>
                    <a:pt x="660082" y="0"/>
                  </a:lnTo>
                </a:path>
              </a:pathLst>
            </a:custGeom>
            <a:noFill/>
            <a:ln w="15240">
              <a:solidFill>
                <a:srgbClr val="1F2937"/>
              </a:solidFill>
            </a:ln>
          </p:spPr>
        </p:sp>
        <p:sp>
          <p:nvSpPr>
            <p:cNvPr id="45" name="Freeform 45"/>
            <p:cNvSpPr/>
            <p:nvPr/>
          </p:nvSpPr>
          <p:spPr>
            <a:xfrm>
              <a:off x="8277225" y="5387340"/>
              <a:ext cx="104775" cy="115253"/>
            </a:xfrm>
            <a:custGeom>
              <a:avLst/>
              <a:gdLst/>
              <a:ahLst/>
              <a:cxnLst/>
              <a:rect l="l" t="t" r="r" b="b"/>
              <a:pathLst>
                <a:path w="104775" h="115253">
                  <a:moveTo>
                    <a:pt x="0" y="115253"/>
                  </a:moveTo>
                  <a:lnTo>
                    <a:pt x="104775" y="58103"/>
                  </a:lnTo>
                  <a:lnTo>
                    <a:pt x="0" y="0"/>
                  </a:lnTo>
                </a:path>
              </a:pathLst>
            </a:custGeom>
            <a:noFill/>
            <a:ln w="15240">
              <a:solidFill>
                <a:srgbClr val="1F2937"/>
              </a:solidFill>
            </a:ln>
          </p:spPr>
        </p:sp>
        <p:sp>
          <p:nvSpPr>
            <p:cNvPr id="46" name="Freeform 46"/>
            <p:cNvSpPr/>
            <p:nvPr/>
          </p:nvSpPr>
          <p:spPr>
            <a:xfrm>
              <a:off x="9525000" y="5445442"/>
              <a:ext cx="660082" cy="9525"/>
            </a:xfrm>
            <a:custGeom>
              <a:avLst/>
              <a:gdLst/>
              <a:ahLst/>
              <a:cxnLst/>
              <a:rect l="l" t="t" r="r" b="b"/>
              <a:pathLst>
                <a:path w="660082" h="9525">
                  <a:moveTo>
                    <a:pt x="0" y="0"/>
                  </a:moveTo>
                  <a:lnTo>
                    <a:pt x="660082" y="0"/>
                  </a:lnTo>
                </a:path>
              </a:pathLst>
            </a:custGeom>
            <a:noFill/>
            <a:ln w="15240">
              <a:solidFill>
                <a:srgbClr val="1F2937"/>
              </a:solidFill>
            </a:ln>
          </p:spPr>
        </p:sp>
        <p:sp>
          <p:nvSpPr>
            <p:cNvPr id="47" name="Freeform 47"/>
            <p:cNvSpPr/>
            <p:nvPr/>
          </p:nvSpPr>
          <p:spPr>
            <a:xfrm>
              <a:off x="10080308" y="5387340"/>
              <a:ext cx="104775" cy="115253"/>
            </a:xfrm>
            <a:custGeom>
              <a:avLst/>
              <a:gdLst/>
              <a:ahLst/>
              <a:cxnLst/>
              <a:rect l="l" t="t" r="r" b="b"/>
              <a:pathLst>
                <a:path w="104775" h="115253">
                  <a:moveTo>
                    <a:pt x="0" y="115253"/>
                  </a:moveTo>
                  <a:lnTo>
                    <a:pt x="104775" y="58103"/>
                  </a:lnTo>
                  <a:lnTo>
                    <a:pt x="0" y="0"/>
                  </a:lnTo>
                </a:path>
              </a:pathLst>
            </a:custGeom>
            <a:noFill/>
            <a:ln w="15240">
              <a:solidFill>
                <a:srgbClr val="1F2937"/>
              </a:solidFill>
            </a:ln>
          </p:spPr>
        </p:sp>
        <p:sp>
          <p:nvSpPr>
            <p:cNvPr id="48" name="Rectangle 48"/>
            <p:cNvSpPr/>
            <p:nvPr/>
          </p:nvSpPr>
          <p:spPr>
            <a:xfrm>
              <a:off x="6578918" y="5223510"/>
              <a:ext cx="1143000" cy="443865"/>
            </a:xfrm>
            <a:prstGeom prst="rect">
              <a:avLst/>
            </a:prstGeom>
            <a:solidFill>
              <a:srgbClr val="FFFFFF"/>
            </a:solidFill>
            <a:ln w="14288">
              <a:solidFill>
                <a:srgbClr val="334E68"/>
              </a:solidFill>
            </a:ln>
          </p:spPr>
        </p:sp>
        <p:sp>
          <p:nvSpPr>
            <p:cNvPr id="49" name="Rectangle 49"/>
            <p:cNvSpPr/>
            <p:nvPr/>
          </p:nvSpPr>
          <p:spPr>
            <a:xfrm>
              <a:off x="6585585" y="5230178"/>
              <a:ext cx="1128712" cy="245745"/>
            </a:xfrm>
            <a:prstGeom prst="rect">
              <a:avLst/>
            </a:prstGeom>
            <a:solidFill>
              <a:srgbClr val="E7EDF3"/>
            </a:solidFill>
            <a:ln>
              <a:noFill/>
            </a:ln>
          </p:spPr>
        </p:sp>
        <p:sp>
          <p:nvSpPr>
            <p:cNvPr id="50" name="Rectangle 50"/>
            <p:cNvSpPr/>
            <p:nvPr/>
          </p:nvSpPr>
          <p:spPr>
            <a:xfrm>
              <a:off x="6578918" y="5472112"/>
              <a:ext cx="1143000" cy="9525"/>
            </a:xfrm>
            <a:prstGeom prst="rect">
              <a:avLst/>
            </a:prstGeom>
            <a:solidFill>
              <a:srgbClr val="334E68"/>
            </a:solidFill>
            <a:ln>
              <a:noFill/>
            </a:ln>
          </p:spPr>
        </p:sp>
        <p:sp>
          <p:nvSpPr>
            <p:cNvPr id="51" name="Rectangle 51"/>
            <p:cNvSpPr/>
            <p:nvPr/>
          </p:nvSpPr>
          <p:spPr>
            <a:xfrm>
              <a:off x="6578918" y="5567362"/>
              <a:ext cx="1143000" cy="9525"/>
            </a:xfrm>
            <a:prstGeom prst="rect">
              <a:avLst/>
            </a:prstGeom>
            <a:solidFill>
              <a:srgbClr val="334E68"/>
            </a:solidFill>
            <a:ln>
              <a:noFill/>
            </a:ln>
          </p:spPr>
        </p:sp>
        <p:sp>
          <p:nvSpPr>
            <p:cNvPr id="52" name="Rectangle 52"/>
            <p:cNvSpPr/>
            <p:nvPr/>
          </p:nvSpPr>
          <p:spPr>
            <a:xfrm>
              <a:off x="8382000" y="5047298"/>
              <a:ext cx="1143000" cy="795338"/>
            </a:xfrm>
            <a:prstGeom prst="rect">
              <a:avLst/>
            </a:prstGeom>
            <a:solidFill>
              <a:srgbClr val="FFFFFF"/>
            </a:solidFill>
            <a:ln w="14288">
              <a:solidFill>
                <a:srgbClr val="334E68"/>
              </a:solidFill>
            </a:ln>
          </p:spPr>
        </p:sp>
        <p:sp>
          <p:nvSpPr>
            <p:cNvPr id="53" name="Rectangle 53"/>
            <p:cNvSpPr/>
            <p:nvPr/>
          </p:nvSpPr>
          <p:spPr>
            <a:xfrm>
              <a:off x="8389620" y="5054918"/>
              <a:ext cx="1128712" cy="245745"/>
            </a:xfrm>
            <a:prstGeom prst="rect">
              <a:avLst/>
            </a:prstGeom>
            <a:solidFill>
              <a:srgbClr val="334E68"/>
            </a:solidFill>
            <a:ln>
              <a:noFill/>
            </a:ln>
          </p:spPr>
        </p:sp>
        <p:sp>
          <p:nvSpPr>
            <p:cNvPr id="54" name="Rectangle 54"/>
            <p:cNvSpPr/>
            <p:nvPr/>
          </p:nvSpPr>
          <p:spPr>
            <a:xfrm>
              <a:off x="8382000" y="5295900"/>
              <a:ext cx="1143000" cy="9525"/>
            </a:xfrm>
            <a:prstGeom prst="rect">
              <a:avLst/>
            </a:prstGeom>
            <a:solidFill>
              <a:srgbClr val="334E68"/>
            </a:solidFill>
            <a:ln>
              <a:noFill/>
            </a:ln>
          </p:spPr>
        </p:sp>
        <p:sp>
          <p:nvSpPr>
            <p:cNvPr id="55" name="Rectangle 55"/>
            <p:cNvSpPr/>
            <p:nvPr/>
          </p:nvSpPr>
          <p:spPr>
            <a:xfrm>
              <a:off x="8382000" y="5743575"/>
              <a:ext cx="1143000" cy="9525"/>
            </a:xfrm>
            <a:prstGeom prst="rect">
              <a:avLst/>
            </a:prstGeom>
            <a:solidFill>
              <a:srgbClr val="334E68"/>
            </a:solidFill>
            <a:ln>
              <a:noFill/>
            </a:ln>
          </p:spPr>
        </p:sp>
        <p:sp>
          <p:nvSpPr>
            <p:cNvPr id="56" name="Rectangle 56"/>
            <p:cNvSpPr/>
            <p:nvPr/>
          </p:nvSpPr>
          <p:spPr>
            <a:xfrm>
              <a:off x="10185082" y="5223510"/>
              <a:ext cx="1143000" cy="443865"/>
            </a:xfrm>
            <a:prstGeom prst="rect">
              <a:avLst/>
            </a:prstGeom>
            <a:solidFill>
              <a:srgbClr val="FFFFFF"/>
            </a:solidFill>
            <a:ln w="14288">
              <a:solidFill>
                <a:srgbClr val="334E68"/>
              </a:solidFill>
            </a:ln>
          </p:spPr>
        </p:sp>
        <p:sp>
          <p:nvSpPr>
            <p:cNvPr id="57" name="Rectangle 57"/>
            <p:cNvSpPr/>
            <p:nvPr/>
          </p:nvSpPr>
          <p:spPr>
            <a:xfrm>
              <a:off x="10192702" y="5230178"/>
              <a:ext cx="1128712" cy="245745"/>
            </a:xfrm>
            <a:prstGeom prst="rect">
              <a:avLst/>
            </a:prstGeom>
            <a:solidFill>
              <a:srgbClr val="E7EDF3"/>
            </a:solidFill>
            <a:ln>
              <a:noFill/>
            </a:ln>
          </p:spPr>
        </p:sp>
        <p:sp>
          <p:nvSpPr>
            <p:cNvPr id="58" name="Rectangle 58"/>
            <p:cNvSpPr/>
            <p:nvPr/>
          </p:nvSpPr>
          <p:spPr>
            <a:xfrm>
              <a:off x="10185082" y="5472112"/>
              <a:ext cx="1143000" cy="9525"/>
            </a:xfrm>
            <a:prstGeom prst="rect">
              <a:avLst/>
            </a:prstGeom>
            <a:solidFill>
              <a:srgbClr val="334E68"/>
            </a:solidFill>
            <a:ln>
              <a:noFill/>
            </a:ln>
          </p:spPr>
        </p:sp>
        <p:sp>
          <p:nvSpPr>
            <p:cNvPr id="59" name="Rectangle 59"/>
            <p:cNvSpPr/>
            <p:nvPr/>
          </p:nvSpPr>
          <p:spPr>
            <a:xfrm>
              <a:off x="10185082" y="5567362"/>
              <a:ext cx="1143000" cy="9525"/>
            </a:xfrm>
            <a:prstGeom prst="rect">
              <a:avLst/>
            </a:prstGeom>
            <a:solidFill>
              <a:srgbClr val="334E68"/>
            </a:solidFill>
            <a:ln>
              <a:noFill/>
            </a:ln>
          </p:spPr>
        </p:sp>
        <p:sp>
          <p:nvSpPr>
            <p:cNvPr id="60" name="TextBox 60"/>
            <p:cNvSpPr txBox="1"/>
            <p:nvPr/>
          </p:nvSpPr>
          <p:spPr>
            <a:xfrm>
              <a:off x="7003733" y="5283518"/>
              <a:ext cx="293370" cy="205359"/>
            </a:xfrm>
            <a:prstGeom prst="rect">
              <a:avLst/>
            </a:prstGeom>
            <a:noFill/>
            <a:ln>
              <a:noFill/>
            </a:ln>
          </p:spPr>
          <p:txBody>
            <a:bodyPr wrap="none" lIns="0" tIns="0" rIns="0" bIns="0" anchor="t" anchorCtr="0">
              <a:spAutoFit/>
            </a:bodyPr>
            <a:lstStyle/>
            <a:p>
              <a:pPr algn="ctr"/>
              <a:r>
                <a:rPr lang="zh-CN" sz="1050" b="1" dirty="0">
                  <a:solidFill>
                    <a:srgbClr val="243B53"/>
                  </a:solidFill>
                  <a:latin typeface="+mn-lt"/>
                  <a:ea typeface="+mn-ea"/>
                  <a:cs typeface="+mn-cs"/>
                </a:rPr>
                <a:t>雇员</a:t>
              </a:r>
            </a:p>
          </p:txBody>
        </p:sp>
        <p:sp>
          <p:nvSpPr>
            <p:cNvPr id="61" name="TextBox 61"/>
            <p:cNvSpPr txBox="1"/>
            <p:nvPr/>
          </p:nvSpPr>
          <p:spPr>
            <a:xfrm>
              <a:off x="8806815" y="5107305"/>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任职</a:t>
              </a:r>
            </a:p>
          </p:txBody>
        </p:sp>
        <p:sp>
          <p:nvSpPr>
            <p:cNvPr id="62" name="TextBox 62"/>
            <p:cNvSpPr txBox="1"/>
            <p:nvPr/>
          </p:nvSpPr>
          <p:spPr>
            <a:xfrm>
              <a:off x="8453247" y="5366861"/>
              <a:ext cx="576199" cy="366903"/>
            </a:xfrm>
            <a:prstGeom prst="rect">
              <a:avLst/>
            </a:prstGeom>
            <a:noFill/>
            <a:ln>
              <a:noFill/>
            </a:ln>
          </p:spPr>
          <p:txBody>
            <a:bodyPr wrap="none" lIns="0" tIns="0" rIns="0" bIns="0" anchor="t" anchorCtr="0">
              <a:spAutoFit/>
            </a:bodyPr>
            <a:lstStyle/>
            <a:p>
              <a:pPr algn="l">
                <a:lnSpc>
                  <a:spcPts val="1388"/>
                </a:lnSpc>
              </a:pPr>
              <a:r>
                <a:rPr lang="zh-CN" sz="980" dirty="0">
                  <a:solidFill>
                    <a:srgbClr val="1F2937"/>
                  </a:solidFill>
                  <a:latin typeface="+mn-lt"/>
                  <a:ea typeface="+mn-ea"/>
                  <a:cs typeface="+mn-cs"/>
                </a:rPr>
                <a:t>-入职日期</a:t>
              </a:r>
              <a:br/>
              <a:r>
                <a:rPr lang="zh-CN" sz="980" dirty="0">
                  <a:solidFill>
                    <a:srgbClr val="1F2937"/>
                  </a:solidFill>
                  <a:latin typeface="+mn-lt"/>
                  <a:ea typeface="+mn-ea"/>
                  <a:cs typeface="+mn-cs"/>
                </a:rPr>
                <a:t>-薪水</a:t>
              </a:r>
            </a:p>
          </p:txBody>
        </p:sp>
        <p:sp>
          <p:nvSpPr>
            <p:cNvPr id="63" name="TextBox 63"/>
            <p:cNvSpPr txBox="1"/>
            <p:nvPr/>
          </p:nvSpPr>
          <p:spPr>
            <a:xfrm>
              <a:off x="10609898" y="5283518"/>
              <a:ext cx="293370" cy="205359"/>
            </a:xfrm>
            <a:prstGeom prst="rect">
              <a:avLst/>
            </a:prstGeom>
            <a:noFill/>
            <a:ln>
              <a:noFill/>
            </a:ln>
          </p:spPr>
          <p:txBody>
            <a:bodyPr wrap="none" lIns="0" tIns="0" rIns="0" bIns="0" anchor="t" anchorCtr="0">
              <a:spAutoFit/>
            </a:bodyPr>
            <a:lstStyle/>
            <a:p>
              <a:pPr algn="ctr"/>
              <a:r>
                <a:rPr lang="zh-CN" sz="1050" b="1" dirty="0">
                  <a:solidFill>
                    <a:srgbClr val="243B53"/>
                  </a:solidFill>
                  <a:latin typeface="+mn-lt"/>
                  <a:ea typeface="+mn-ea"/>
                  <a:cs typeface="+mn-cs"/>
                </a:rPr>
                <a:t>公司</a:t>
              </a:r>
            </a:p>
          </p:txBody>
        </p:sp>
      </p:grpSp>
      <p:grpSp>
        <p:nvGrpSpPr>
          <p:cNvPr id="67" name="footer"/>
          <p:cNvGrpSpPr/>
          <p:nvPr/>
        </p:nvGrpSpPr>
        <p:grpSpPr>
          <a:xfrm>
            <a:off x="528447" y="6581299"/>
            <a:ext cx="11135106" cy="190690"/>
            <a:chOff x="528447" y="6581299"/>
            <a:chExt cx="11135106" cy="190690"/>
          </a:xfrm>
        </p:grpSpPr>
        <p:sp>
          <p:nvSpPr>
            <p:cNvPr id="65" name="TextBox 65"/>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66" name="TextBox 6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45</a:t>
              </a:r>
            </a:p>
          </p:txBody>
        </p:sp>
      </p:grpSp>
    </p:spTree>
  </p:cSld>
  <p:clrMapOvr>
    <a:masterClrMapping/>
  </p:clrMapOvr>
  <p:transition xmlns:p14="http://schemas.microsoft.com/office/powerpoint/2010/main" p14:dur="400">
    <p:fade/>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1685" cy="909257"/>
            <a:chOff x="520446" y="342900"/>
            <a:chExt cx="5861685" cy="909257"/>
          </a:xfrm>
        </p:grpSpPr>
        <p:sp>
          <p:nvSpPr>
            <p:cNvPr id="2" name="Rectangle 2"/>
            <p:cNvSpPr/>
            <p:nvPr/>
          </p:nvSpPr>
          <p:spPr>
            <a:xfrm>
              <a:off x="533400" y="342900"/>
              <a:ext cx="3208020" cy="266700"/>
            </a:xfrm>
            <a:prstGeom prst="roundRect">
              <a:avLst>
                <a:gd name="adj" fmla="val 50000"/>
              </a:avLst>
            </a:prstGeom>
            <a:solidFill>
              <a:srgbClr val="E7EDF3"/>
            </a:solidFill>
            <a:ln>
              <a:noFill/>
            </a:ln>
          </p:spPr>
        </p:sp>
        <p:sp>
          <p:nvSpPr>
            <p:cNvPr id="3" name="TextBox 3"/>
            <p:cNvSpPr txBox="1"/>
            <p:nvPr/>
          </p:nvSpPr>
          <p:spPr>
            <a:xfrm>
              <a:off x="572876" y="407194"/>
              <a:ext cx="312906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服务、关联与设计优化</a:t>
              </a:r>
            </a:p>
          </p:txBody>
        </p:sp>
        <p:sp>
          <p:nvSpPr>
            <p:cNvPr id="4" name="TextBox 4"/>
            <p:cNvSpPr txBox="1"/>
            <p:nvPr/>
          </p:nvSpPr>
          <p:spPr>
            <a:xfrm>
              <a:off x="520446" y="753428"/>
              <a:ext cx="58616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设计优化：先定优先级，再谈提高效率</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161" y="1547336"/>
            <a:ext cx="6322771" cy="278702"/>
            <a:chOff x="526161" y="1547336"/>
            <a:chExt cx="6322771" cy="278702"/>
          </a:xfrm>
        </p:grpSpPr>
        <p:sp>
          <p:nvSpPr>
            <p:cNvPr id="7" name="TextBox 7"/>
            <p:cNvSpPr txBox="1"/>
            <p:nvPr/>
          </p:nvSpPr>
          <p:spPr>
            <a:xfrm>
              <a:off x="526161" y="1547336"/>
              <a:ext cx="6322771"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系统的各项质量指标并不是同等重要的，优化之前必须先确定哪几项优先。</a:t>
              </a:r>
            </a:p>
          </p:txBody>
        </p:sp>
      </p:grpSp>
      <p:grpSp>
        <p:nvGrpSpPr>
          <p:cNvPr id="19" name="c1-bullets-1"/>
          <p:cNvGrpSpPr/>
          <p:nvPr/>
        </p:nvGrpSpPr>
        <p:grpSpPr>
          <a:xfrm>
            <a:off x="526542" y="1964055"/>
            <a:ext cx="5390007" cy="1206055"/>
            <a:chOff x="526542" y="1964055"/>
            <a:chExt cx="5390007" cy="1206055"/>
          </a:xfrm>
        </p:grpSpPr>
        <p:sp>
          <p:nvSpPr>
            <p:cNvPr id="9" name="TextBox 9"/>
            <p:cNvSpPr txBox="1"/>
            <p:nvPr/>
          </p:nvSpPr>
          <p:spPr>
            <a:xfrm>
              <a:off x="526542" y="1964055"/>
              <a:ext cx="1649349"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提高效率的三项技术</a:t>
              </a:r>
            </a:p>
          </p:txBody>
        </p:sp>
        <p:sp>
          <p:nvSpPr>
            <p:cNvPr id="10" name="Ellipse 10"/>
            <p:cNvSpPr/>
            <p:nvPr/>
          </p:nvSpPr>
          <p:spPr>
            <a:xfrm>
              <a:off x="533400" y="2271712"/>
              <a:ext cx="192405" cy="192405"/>
            </a:xfrm>
            <a:prstGeom prst="ellipse">
              <a:avLst/>
            </a:prstGeom>
            <a:solidFill>
              <a:srgbClr val="334E68"/>
            </a:solidFill>
            <a:ln>
              <a:noFill/>
            </a:ln>
          </p:spPr>
        </p:sp>
        <p:sp>
          <p:nvSpPr>
            <p:cNvPr id="11" name="TextBox 11"/>
            <p:cNvSpPr txBox="1"/>
            <p:nvPr/>
          </p:nvSpPr>
          <p:spPr>
            <a:xfrm>
              <a:off x="589078" y="231009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12" name="TextBox 12"/>
            <p:cNvSpPr txBox="1"/>
            <p:nvPr/>
          </p:nvSpPr>
          <p:spPr>
            <a:xfrm>
              <a:off x="814197" y="2284095"/>
              <a:ext cx="364845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增加冗余关联：为高频查询补一条直达的关联</a:t>
              </a:r>
            </a:p>
          </p:txBody>
        </p:sp>
        <p:sp>
          <p:nvSpPr>
            <p:cNvPr id="13" name="Ellipse 13"/>
            <p:cNvSpPr/>
            <p:nvPr/>
          </p:nvSpPr>
          <p:spPr>
            <a:xfrm>
              <a:off x="533400" y="2582227"/>
              <a:ext cx="192405" cy="192405"/>
            </a:xfrm>
            <a:prstGeom prst="ellipse">
              <a:avLst/>
            </a:prstGeom>
            <a:solidFill>
              <a:srgbClr val="334E68"/>
            </a:solidFill>
            <a:ln>
              <a:noFill/>
            </a:ln>
          </p:spPr>
        </p:sp>
        <p:sp>
          <p:nvSpPr>
            <p:cNvPr id="14" name="TextBox 14"/>
            <p:cNvSpPr txBox="1"/>
            <p:nvPr/>
          </p:nvSpPr>
          <p:spPr>
            <a:xfrm>
              <a:off x="589078" y="262156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15" name="TextBox 15"/>
            <p:cNvSpPr txBox="1"/>
            <p:nvPr/>
          </p:nvSpPr>
          <p:spPr>
            <a:xfrm>
              <a:off x="814197" y="2594610"/>
              <a:ext cx="364845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调整查询次序：先用筛掉最多对象的那个条件</a:t>
              </a:r>
            </a:p>
          </p:txBody>
        </p:sp>
        <p:sp>
          <p:nvSpPr>
            <p:cNvPr id="16" name="Ellipse 16"/>
            <p:cNvSpPr/>
            <p:nvPr/>
          </p:nvSpPr>
          <p:spPr>
            <a:xfrm>
              <a:off x="533400" y="2893695"/>
              <a:ext cx="192405" cy="192405"/>
            </a:xfrm>
            <a:prstGeom prst="ellipse">
              <a:avLst/>
            </a:prstGeom>
            <a:solidFill>
              <a:srgbClr val="334E68"/>
            </a:solidFill>
            <a:ln>
              <a:noFill/>
            </a:ln>
          </p:spPr>
        </p:sp>
        <p:sp>
          <p:nvSpPr>
            <p:cNvPr id="17" name="TextBox 17"/>
            <p:cNvSpPr txBox="1"/>
            <p:nvPr/>
          </p:nvSpPr>
          <p:spPr>
            <a:xfrm>
              <a:off x="589078" y="293208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18" name="TextBox 18"/>
            <p:cNvSpPr txBox="1"/>
            <p:nvPr/>
          </p:nvSpPr>
          <p:spPr>
            <a:xfrm>
              <a:off x="814197" y="2906077"/>
              <a:ext cx="510235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保留派生属性：把反复计算的结果存下来，源数据变化时更新它</a:t>
              </a:r>
            </a:p>
          </p:txBody>
        </p:sp>
      </p:grpSp>
      <p:grpSp>
        <p:nvGrpSpPr>
          <p:cNvPr id="28" name="c1-card-2"/>
          <p:cNvGrpSpPr/>
          <p:nvPr/>
        </p:nvGrpSpPr>
        <p:grpSpPr>
          <a:xfrm>
            <a:off x="533400" y="3291840"/>
            <a:ext cx="5626418" cy="2329815"/>
            <a:chOff x="533400" y="3291840"/>
            <a:chExt cx="5626418" cy="2329815"/>
          </a:xfrm>
        </p:grpSpPr>
        <p:sp>
          <p:nvSpPr>
            <p:cNvPr id="20" name="Rectangle 20"/>
            <p:cNvSpPr/>
            <p:nvPr/>
          </p:nvSpPr>
          <p:spPr>
            <a:xfrm>
              <a:off x="533400" y="3291840"/>
              <a:ext cx="5626418" cy="2329815"/>
            </a:xfrm>
            <a:prstGeom prst="roundRect">
              <a:avLst>
                <a:gd name="adj" fmla="val 5724"/>
              </a:avLst>
            </a:prstGeom>
            <a:solidFill>
              <a:srgbClr val="FFFFFF"/>
            </a:solidFill>
            <a:ln w="14288">
              <a:solidFill>
                <a:srgbClr val="D9DFEA"/>
              </a:solidFill>
            </a:ln>
          </p:spPr>
        </p:sp>
        <p:sp>
          <p:nvSpPr>
            <p:cNvPr id="21" name="Rectangle 21"/>
            <p:cNvSpPr/>
            <p:nvPr/>
          </p:nvSpPr>
          <p:spPr>
            <a:xfrm>
              <a:off x="542925" y="3425190"/>
              <a:ext cx="47625" cy="2063115"/>
            </a:xfrm>
            <a:prstGeom prst="roundRect">
              <a:avLst>
                <a:gd name="adj" fmla="val 50000"/>
              </a:avLst>
            </a:prstGeom>
            <a:solidFill>
              <a:srgbClr val="14A38B"/>
            </a:solidFill>
            <a:ln>
              <a:noFill/>
            </a:ln>
          </p:spPr>
        </p:sp>
        <p:sp>
          <p:nvSpPr>
            <p:cNvPr id="22" name="Rectangle 22"/>
            <p:cNvSpPr/>
            <p:nvPr/>
          </p:nvSpPr>
          <p:spPr>
            <a:xfrm>
              <a:off x="763905" y="3484245"/>
              <a:ext cx="476250" cy="247650"/>
            </a:xfrm>
            <a:prstGeom prst="roundRect">
              <a:avLst>
                <a:gd name="adj" fmla="val 50000"/>
              </a:avLst>
            </a:prstGeom>
            <a:solidFill>
              <a:srgbClr val="E3F5F1"/>
            </a:solidFill>
            <a:ln>
              <a:noFill/>
            </a:ln>
          </p:spPr>
        </p:sp>
        <p:sp>
          <p:nvSpPr>
            <p:cNvPr id="23" name="TextBox 23"/>
            <p:cNvSpPr txBox="1"/>
            <p:nvPr/>
          </p:nvSpPr>
          <p:spPr>
            <a:xfrm>
              <a:off x="855345" y="3518535"/>
              <a:ext cx="293370"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算例</a:t>
              </a:r>
            </a:p>
          </p:txBody>
        </p:sp>
        <p:sp>
          <p:nvSpPr>
            <p:cNvPr id="24" name="TextBox 24"/>
            <p:cNvSpPr txBox="1"/>
            <p:nvPr/>
          </p:nvSpPr>
          <p:spPr>
            <a:xfrm>
              <a:off x="1347597" y="3524250"/>
              <a:ext cx="219456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公司里找会某种技能的雇员</a:t>
              </a:r>
            </a:p>
          </p:txBody>
        </p:sp>
        <p:sp>
          <p:nvSpPr>
            <p:cNvPr id="25" name="TextBox 25"/>
            <p:cNvSpPr txBox="1"/>
            <p:nvPr/>
          </p:nvSpPr>
          <p:spPr>
            <a:xfrm>
              <a:off x="757047" y="3858577"/>
              <a:ext cx="484860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公司类的服务 find_skill() 要找出掌握某项技能的全部雇员，原</a:t>
              </a:r>
              <a:br/>
              <a:r>
                <a:rPr lang="zh-CN" sz="1350" dirty="0">
                  <a:solidFill>
                    <a:srgbClr val="1F2937"/>
                  </a:solidFill>
                  <a:latin typeface="+mn-lt"/>
                  <a:ea typeface="+mn-ea"/>
                  <a:cs typeface="+mn-cs"/>
                </a:rPr>
                <a:t>有关联链是 公司 —雇用→ 雇员 —具有技能→ 技能。</a:t>
              </a:r>
            </a:p>
          </p:txBody>
        </p:sp>
        <p:sp>
          <p:nvSpPr>
            <p:cNvPr id="26" name="TextBox 26"/>
            <p:cNvSpPr txBox="1"/>
            <p:nvPr/>
          </p:nvSpPr>
          <p:spPr>
            <a:xfrm>
              <a:off x="757047" y="4417695"/>
              <a:ext cx="4859750"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 xml:space="preserve">设公司有 </a:t>
              </a:r>
              <a:r>
                <a:rPr lang="zh-CN" sz="1350" b="1" dirty="0">
                  <a:solidFill>
                    <a:srgbClr val="C2410C"/>
                  </a:solidFill>
                  <a:latin typeface="+mn-lt"/>
                  <a:ea typeface="+mn-ea"/>
                  <a:cs typeface="+mn-cs"/>
                </a:rPr>
                <a:t>2000</a:t>
              </a:r>
              <a:r>
                <a:rPr lang="zh-CN" sz="1350" dirty="0">
                  <a:solidFill>
                    <a:srgbClr val="1F2937"/>
                  </a:solidFill>
                  <a:latin typeface="+mn-lt"/>
                  <a:ea typeface="+mn-ea"/>
                  <a:cs typeface="+mn-cs"/>
                </a:rPr>
                <a:t xml:space="preserve"> 名雇员、每人平均 </a:t>
              </a:r>
              <a:r>
                <a:rPr lang="zh-CN" sz="1350" b="1" dirty="0">
                  <a:solidFill>
                    <a:srgbClr val="C2410C"/>
                  </a:solidFill>
                  <a:latin typeface="+mn-lt"/>
                  <a:ea typeface="+mn-ea"/>
                  <a:cs typeface="+mn-cs"/>
                </a:rPr>
                <a:t>10</a:t>
              </a:r>
              <a:r>
                <a:rPr lang="zh-CN" sz="1350" dirty="0">
                  <a:solidFill>
                    <a:srgbClr val="1F2937"/>
                  </a:solidFill>
                  <a:latin typeface="+mn-lt"/>
                  <a:ea typeface="+mn-ea"/>
                  <a:cs typeface="+mn-cs"/>
                </a:rPr>
                <a:t xml:space="preserve"> 项技能，要做 2000 × 10 =</a:t>
              </a:r>
              <a:br/>
              <a:r>
                <a:rPr lang="zh-CN" sz="1350" b="1" dirty="0">
                  <a:solidFill>
                    <a:srgbClr val="C2410C"/>
                  </a:solidFill>
                  <a:latin typeface="+mn-lt"/>
                  <a:ea typeface="+mn-ea"/>
                  <a:cs typeface="+mn-cs"/>
                </a:rPr>
                <a:t>20000</a:t>
              </a:r>
              <a:r>
                <a:rPr lang="zh-CN" sz="1350" dirty="0">
                  <a:solidFill>
                    <a:srgbClr val="1F2937"/>
                  </a:solidFill>
                  <a:latin typeface="+mn-lt"/>
                  <a:ea typeface="+mn-ea"/>
                  <a:cs typeface="+mn-cs"/>
                </a:rPr>
                <a:t xml:space="preserve"> 次测试才能找出其中 5 人。</a:t>
              </a:r>
            </a:p>
          </p:txBody>
        </p:sp>
        <p:sp>
          <p:nvSpPr>
            <p:cNvPr id="27" name="TextBox 27"/>
            <p:cNvSpPr txBox="1"/>
            <p:nvPr/>
          </p:nvSpPr>
          <p:spPr>
            <a:xfrm>
              <a:off x="757047" y="4977765"/>
              <a:ext cx="514778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补一条从公司直达雇员的冗余关联“精通语言”后只需 5 次访问。</a:t>
              </a:r>
            </a:p>
          </p:txBody>
        </p:sp>
      </p:grpSp>
      <p:grpSp>
        <p:nvGrpSpPr>
          <p:cNvPr id="53" name="c2-uml-1"/>
          <p:cNvGrpSpPr/>
          <p:nvPr/>
        </p:nvGrpSpPr>
        <p:grpSpPr>
          <a:xfrm>
            <a:off x="6758940" y="2151698"/>
            <a:ext cx="4605338" cy="733424"/>
            <a:chOff x="6758940" y="2151698"/>
            <a:chExt cx="4605338" cy="733424"/>
          </a:xfrm>
        </p:grpSpPr>
        <p:sp>
          <p:nvSpPr>
            <p:cNvPr id="29" name="Freeform 29"/>
            <p:cNvSpPr/>
            <p:nvPr/>
          </p:nvSpPr>
          <p:spPr>
            <a:xfrm>
              <a:off x="7901940" y="2591752"/>
              <a:ext cx="588645" cy="9525"/>
            </a:xfrm>
            <a:custGeom>
              <a:avLst/>
              <a:gdLst/>
              <a:ahLst/>
              <a:cxnLst/>
              <a:rect l="l" t="t" r="r" b="b"/>
              <a:pathLst>
                <a:path w="588645" h="9525">
                  <a:moveTo>
                    <a:pt x="0" y="0"/>
                  </a:moveTo>
                  <a:lnTo>
                    <a:pt x="588645" y="0"/>
                  </a:lnTo>
                </a:path>
              </a:pathLst>
            </a:custGeom>
            <a:noFill/>
            <a:ln w="15240">
              <a:solidFill>
                <a:srgbClr val="1F2937"/>
              </a:solidFill>
            </a:ln>
          </p:spPr>
        </p:sp>
        <p:sp>
          <p:nvSpPr>
            <p:cNvPr id="30" name="Freeform 30"/>
            <p:cNvSpPr/>
            <p:nvPr/>
          </p:nvSpPr>
          <p:spPr>
            <a:xfrm>
              <a:off x="8385810" y="2533650"/>
              <a:ext cx="104775" cy="115253"/>
            </a:xfrm>
            <a:custGeom>
              <a:avLst/>
              <a:gdLst/>
              <a:ahLst/>
              <a:cxnLst/>
              <a:rect l="l" t="t" r="r" b="b"/>
              <a:pathLst>
                <a:path w="104775" h="115253">
                  <a:moveTo>
                    <a:pt x="0" y="115253"/>
                  </a:moveTo>
                  <a:lnTo>
                    <a:pt x="104775" y="58103"/>
                  </a:lnTo>
                  <a:lnTo>
                    <a:pt x="0" y="0"/>
                  </a:lnTo>
                </a:path>
              </a:pathLst>
            </a:custGeom>
            <a:noFill/>
            <a:ln w="15240">
              <a:solidFill>
                <a:srgbClr val="1F2937"/>
              </a:solidFill>
            </a:ln>
          </p:spPr>
        </p:sp>
        <p:sp>
          <p:nvSpPr>
            <p:cNvPr id="31" name="Freeform 31"/>
            <p:cNvSpPr/>
            <p:nvPr/>
          </p:nvSpPr>
          <p:spPr>
            <a:xfrm>
              <a:off x="9633585" y="2591752"/>
              <a:ext cx="587692" cy="9525"/>
            </a:xfrm>
            <a:custGeom>
              <a:avLst/>
              <a:gdLst/>
              <a:ahLst/>
              <a:cxnLst/>
              <a:rect l="l" t="t" r="r" b="b"/>
              <a:pathLst>
                <a:path w="587692" h="9525">
                  <a:moveTo>
                    <a:pt x="0" y="0"/>
                  </a:moveTo>
                  <a:lnTo>
                    <a:pt x="587692" y="0"/>
                  </a:lnTo>
                </a:path>
              </a:pathLst>
            </a:custGeom>
            <a:noFill/>
            <a:ln w="15240">
              <a:solidFill>
                <a:srgbClr val="1F2937"/>
              </a:solidFill>
            </a:ln>
          </p:spPr>
        </p:sp>
        <p:sp>
          <p:nvSpPr>
            <p:cNvPr id="32" name="Freeform 32"/>
            <p:cNvSpPr/>
            <p:nvPr/>
          </p:nvSpPr>
          <p:spPr>
            <a:xfrm>
              <a:off x="10116502" y="2533650"/>
              <a:ext cx="104775" cy="115253"/>
            </a:xfrm>
            <a:custGeom>
              <a:avLst/>
              <a:gdLst/>
              <a:ahLst/>
              <a:cxnLst/>
              <a:rect l="l" t="t" r="r" b="b"/>
              <a:pathLst>
                <a:path w="104775" h="115253">
                  <a:moveTo>
                    <a:pt x="0" y="115253"/>
                  </a:moveTo>
                  <a:lnTo>
                    <a:pt x="104775" y="58103"/>
                  </a:lnTo>
                  <a:lnTo>
                    <a:pt x="0" y="0"/>
                  </a:lnTo>
                </a:path>
              </a:pathLst>
            </a:custGeom>
            <a:noFill/>
            <a:ln w="15240">
              <a:solidFill>
                <a:srgbClr val="1F2937"/>
              </a:solidFill>
            </a:ln>
          </p:spPr>
        </p:sp>
        <p:sp>
          <p:nvSpPr>
            <p:cNvPr id="33" name="Rectangle 33"/>
            <p:cNvSpPr/>
            <p:nvPr/>
          </p:nvSpPr>
          <p:spPr>
            <a:xfrm>
              <a:off x="6758940" y="2297430"/>
              <a:ext cx="1143000" cy="587692"/>
            </a:xfrm>
            <a:prstGeom prst="rect">
              <a:avLst/>
            </a:prstGeom>
            <a:solidFill>
              <a:srgbClr val="FFFFFF"/>
            </a:solidFill>
            <a:ln w="14288">
              <a:solidFill>
                <a:srgbClr val="334E68"/>
              </a:solidFill>
            </a:ln>
          </p:spPr>
        </p:sp>
        <p:sp>
          <p:nvSpPr>
            <p:cNvPr id="34" name="Rectangle 34"/>
            <p:cNvSpPr/>
            <p:nvPr/>
          </p:nvSpPr>
          <p:spPr>
            <a:xfrm>
              <a:off x="6766560" y="2305050"/>
              <a:ext cx="1128712" cy="227648"/>
            </a:xfrm>
            <a:prstGeom prst="rect">
              <a:avLst/>
            </a:prstGeom>
            <a:solidFill>
              <a:srgbClr val="E7EDF3"/>
            </a:solidFill>
            <a:ln>
              <a:noFill/>
            </a:ln>
          </p:spPr>
        </p:sp>
        <p:sp>
          <p:nvSpPr>
            <p:cNvPr id="35" name="Rectangle 35"/>
            <p:cNvSpPr/>
            <p:nvPr/>
          </p:nvSpPr>
          <p:spPr>
            <a:xfrm>
              <a:off x="6758940" y="2527935"/>
              <a:ext cx="1143000" cy="9525"/>
            </a:xfrm>
            <a:prstGeom prst="rect">
              <a:avLst/>
            </a:prstGeom>
            <a:solidFill>
              <a:srgbClr val="334E68"/>
            </a:solidFill>
            <a:ln>
              <a:noFill/>
            </a:ln>
          </p:spPr>
        </p:sp>
        <p:sp>
          <p:nvSpPr>
            <p:cNvPr id="36" name="Rectangle 36"/>
            <p:cNvSpPr/>
            <p:nvPr/>
          </p:nvSpPr>
          <p:spPr>
            <a:xfrm>
              <a:off x="6758940" y="2623185"/>
              <a:ext cx="1143000" cy="9525"/>
            </a:xfrm>
            <a:prstGeom prst="rect">
              <a:avLst/>
            </a:prstGeom>
            <a:solidFill>
              <a:srgbClr val="334E68"/>
            </a:solidFill>
            <a:ln>
              <a:noFill/>
            </a:ln>
          </p:spPr>
        </p:sp>
        <p:sp>
          <p:nvSpPr>
            <p:cNvPr id="37" name="Rectangle 37"/>
            <p:cNvSpPr/>
            <p:nvPr/>
          </p:nvSpPr>
          <p:spPr>
            <a:xfrm>
              <a:off x="8490585" y="2378392"/>
              <a:ext cx="1143000" cy="425768"/>
            </a:xfrm>
            <a:prstGeom prst="rect">
              <a:avLst/>
            </a:prstGeom>
            <a:solidFill>
              <a:srgbClr val="FFFFFF"/>
            </a:solidFill>
            <a:ln w="14288">
              <a:solidFill>
                <a:srgbClr val="334E68"/>
              </a:solidFill>
            </a:ln>
          </p:spPr>
        </p:sp>
        <p:sp>
          <p:nvSpPr>
            <p:cNvPr id="38" name="Rectangle 38"/>
            <p:cNvSpPr/>
            <p:nvPr/>
          </p:nvSpPr>
          <p:spPr>
            <a:xfrm>
              <a:off x="8497252" y="2386012"/>
              <a:ext cx="1128712" cy="227648"/>
            </a:xfrm>
            <a:prstGeom prst="rect">
              <a:avLst/>
            </a:prstGeom>
            <a:solidFill>
              <a:srgbClr val="E7EDF3"/>
            </a:solidFill>
            <a:ln>
              <a:noFill/>
            </a:ln>
          </p:spPr>
        </p:sp>
        <p:sp>
          <p:nvSpPr>
            <p:cNvPr id="39" name="Rectangle 39"/>
            <p:cNvSpPr/>
            <p:nvPr/>
          </p:nvSpPr>
          <p:spPr>
            <a:xfrm>
              <a:off x="8490585" y="2608898"/>
              <a:ext cx="1143000" cy="9525"/>
            </a:xfrm>
            <a:prstGeom prst="rect">
              <a:avLst/>
            </a:prstGeom>
            <a:solidFill>
              <a:srgbClr val="334E68"/>
            </a:solidFill>
            <a:ln>
              <a:noFill/>
            </a:ln>
          </p:spPr>
        </p:sp>
        <p:sp>
          <p:nvSpPr>
            <p:cNvPr id="40" name="Rectangle 40"/>
            <p:cNvSpPr/>
            <p:nvPr/>
          </p:nvSpPr>
          <p:spPr>
            <a:xfrm>
              <a:off x="8490585" y="2704148"/>
              <a:ext cx="1143000" cy="9525"/>
            </a:xfrm>
            <a:prstGeom prst="rect">
              <a:avLst/>
            </a:prstGeom>
            <a:solidFill>
              <a:srgbClr val="334E68"/>
            </a:solidFill>
            <a:ln>
              <a:noFill/>
            </a:ln>
          </p:spPr>
        </p:sp>
        <p:sp>
          <p:nvSpPr>
            <p:cNvPr id="41" name="Rectangle 41"/>
            <p:cNvSpPr/>
            <p:nvPr/>
          </p:nvSpPr>
          <p:spPr>
            <a:xfrm>
              <a:off x="10221278" y="2378392"/>
              <a:ext cx="1143000" cy="425768"/>
            </a:xfrm>
            <a:prstGeom prst="rect">
              <a:avLst/>
            </a:prstGeom>
            <a:solidFill>
              <a:srgbClr val="FFFFFF"/>
            </a:solidFill>
            <a:ln w="14288">
              <a:solidFill>
                <a:srgbClr val="334E68"/>
              </a:solidFill>
            </a:ln>
          </p:spPr>
        </p:sp>
        <p:sp>
          <p:nvSpPr>
            <p:cNvPr id="42" name="Rectangle 42"/>
            <p:cNvSpPr/>
            <p:nvPr/>
          </p:nvSpPr>
          <p:spPr>
            <a:xfrm>
              <a:off x="10228898" y="2386012"/>
              <a:ext cx="1128712" cy="227648"/>
            </a:xfrm>
            <a:prstGeom prst="rect">
              <a:avLst/>
            </a:prstGeom>
            <a:solidFill>
              <a:srgbClr val="E7EDF3"/>
            </a:solidFill>
            <a:ln>
              <a:noFill/>
            </a:ln>
          </p:spPr>
        </p:sp>
        <p:sp>
          <p:nvSpPr>
            <p:cNvPr id="43" name="Rectangle 43"/>
            <p:cNvSpPr/>
            <p:nvPr/>
          </p:nvSpPr>
          <p:spPr>
            <a:xfrm>
              <a:off x="10221278" y="2608898"/>
              <a:ext cx="1143000" cy="9525"/>
            </a:xfrm>
            <a:prstGeom prst="rect">
              <a:avLst/>
            </a:prstGeom>
            <a:solidFill>
              <a:srgbClr val="334E68"/>
            </a:solidFill>
            <a:ln>
              <a:noFill/>
            </a:ln>
          </p:spPr>
        </p:sp>
        <p:sp>
          <p:nvSpPr>
            <p:cNvPr id="44" name="Rectangle 44"/>
            <p:cNvSpPr/>
            <p:nvPr/>
          </p:nvSpPr>
          <p:spPr>
            <a:xfrm>
              <a:off x="10221278" y="2704148"/>
              <a:ext cx="1143000" cy="9525"/>
            </a:xfrm>
            <a:prstGeom prst="rect">
              <a:avLst/>
            </a:prstGeom>
            <a:solidFill>
              <a:srgbClr val="334E68"/>
            </a:solidFill>
            <a:ln>
              <a:noFill/>
            </a:ln>
          </p:spPr>
        </p:sp>
        <p:sp>
          <p:nvSpPr>
            <p:cNvPr id="45" name="TextBox 45"/>
            <p:cNvSpPr txBox="1"/>
            <p:nvPr/>
          </p:nvSpPr>
          <p:spPr>
            <a:xfrm>
              <a:off x="7193559" y="2353151"/>
              <a:ext cx="273761" cy="190690"/>
            </a:xfrm>
            <a:prstGeom prst="rect">
              <a:avLst/>
            </a:prstGeom>
            <a:noFill/>
            <a:ln>
              <a:noFill/>
            </a:ln>
          </p:spPr>
          <p:txBody>
            <a:bodyPr wrap="none" lIns="0" tIns="0" rIns="0" bIns="0" anchor="t" anchorCtr="0">
              <a:spAutoFit/>
            </a:bodyPr>
            <a:lstStyle/>
            <a:p>
              <a:pPr algn="ctr"/>
              <a:r>
                <a:rPr lang="zh-CN" sz="980" b="1" dirty="0">
                  <a:solidFill>
                    <a:srgbClr val="243B53"/>
                  </a:solidFill>
                  <a:latin typeface="+mn-lt"/>
                  <a:ea typeface="+mn-ea"/>
                  <a:cs typeface="+mn-cs"/>
                </a:rPr>
                <a:t>公司</a:t>
              </a:r>
            </a:p>
          </p:txBody>
        </p:sp>
        <p:sp>
          <p:nvSpPr>
            <p:cNvPr id="46" name="TextBox 46"/>
            <p:cNvSpPr txBox="1"/>
            <p:nvPr/>
          </p:nvSpPr>
          <p:spPr>
            <a:xfrm>
              <a:off x="6830378" y="2692718"/>
              <a:ext cx="754647"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+find_skill()</a:t>
              </a:r>
            </a:p>
          </p:txBody>
        </p:sp>
        <p:sp>
          <p:nvSpPr>
            <p:cNvPr id="47" name="TextBox 47"/>
            <p:cNvSpPr txBox="1"/>
            <p:nvPr/>
          </p:nvSpPr>
          <p:spPr>
            <a:xfrm>
              <a:off x="8925204" y="2434114"/>
              <a:ext cx="273761" cy="190690"/>
            </a:xfrm>
            <a:prstGeom prst="rect">
              <a:avLst/>
            </a:prstGeom>
            <a:noFill/>
            <a:ln>
              <a:noFill/>
            </a:ln>
          </p:spPr>
          <p:txBody>
            <a:bodyPr wrap="none" lIns="0" tIns="0" rIns="0" bIns="0" anchor="t" anchorCtr="0">
              <a:spAutoFit/>
            </a:bodyPr>
            <a:lstStyle/>
            <a:p>
              <a:pPr algn="ctr"/>
              <a:r>
                <a:rPr lang="zh-CN" sz="980" b="1" dirty="0">
                  <a:solidFill>
                    <a:srgbClr val="243B53"/>
                  </a:solidFill>
                  <a:latin typeface="+mn-lt"/>
                  <a:ea typeface="+mn-ea"/>
                  <a:cs typeface="+mn-cs"/>
                </a:rPr>
                <a:t>雇员</a:t>
              </a:r>
            </a:p>
          </p:txBody>
        </p:sp>
        <p:sp>
          <p:nvSpPr>
            <p:cNvPr id="48" name="TextBox 48"/>
            <p:cNvSpPr txBox="1"/>
            <p:nvPr/>
          </p:nvSpPr>
          <p:spPr>
            <a:xfrm>
              <a:off x="10655897" y="2434114"/>
              <a:ext cx="273761" cy="190690"/>
            </a:xfrm>
            <a:prstGeom prst="rect">
              <a:avLst/>
            </a:prstGeom>
            <a:noFill/>
            <a:ln>
              <a:noFill/>
            </a:ln>
          </p:spPr>
          <p:txBody>
            <a:bodyPr wrap="none" lIns="0" tIns="0" rIns="0" bIns="0" anchor="t" anchorCtr="0">
              <a:spAutoFit/>
            </a:bodyPr>
            <a:lstStyle/>
            <a:p>
              <a:pPr algn="ctr"/>
              <a:r>
                <a:rPr lang="zh-CN" sz="980" b="1" dirty="0">
                  <a:solidFill>
                    <a:srgbClr val="243B53"/>
                  </a:solidFill>
                  <a:latin typeface="+mn-lt"/>
                  <a:ea typeface="+mn-ea"/>
                  <a:cs typeface="+mn-cs"/>
                </a:rPr>
                <a:t>技能</a:t>
              </a:r>
            </a:p>
          </p:txBody>
        </p:sp>
        <p:sp>
          <p:nvSpPr>
            <p:cNvPr id="49" name="Rectangle 49"/>
            <p:cNvSpPr/>
            <p:nvPr/>
          </p:nvSpPr>
          <p:spPr>
            <a:xfrm>
              <a:off x="8023860" y="2385060"/>
              <a:ext cx="343852" cy="179070"/>
            </a:xfrm>
            <a:prstGeom prst="roundRect">
              <a:avLst>
                <a:gd name="adj" fmla="val 21277"/>
              </a:avLst>
            </a:prstGeom>
            <a:solidFill>
              <a:srgbClr val="FFFFFF"/>
            </a:solidFill>
            <a:ln>
              <a:noFill/>
            </a:ln>
          </p:spPr>
        </p:sp>
        <p:sp>
          <p:nvSpPr>
            <p:cNvPr id="50" name="TextBox 50"/>
            <p:cNvSpPr txBox="1"/>
            <p:nvPr/>
          </p:nvSpPr>
          <p:spPr>
            <a:xfrm>
              <a:off x="8059382" y="2410301"/>
              <a:ext cx="273761"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雇用</a:t>
              </a:r>
            </a:p>
          </p:txBody>
        </p:sp>
        <p:sp>
          <p:nvSpPr>
            <p:cNvPr id="51" name="Rectangle 51"/>
            <p:cNvSpPr/>
            <p:nvPr/>
          </p:nvSpPr>
          <p:spPr>
            <a:xfrm>
              <a:off x="9630728" y="2151698"/>
              <a:ext cx="593408" cy="179070"/>
            </a:xfrm>
            <a:prstGeom prst="roundRect">
              <a:avLst>
                <a:gd name="adj" fmla="val 21277"/>
              </a:avLst>
            </a:prstGeom>
            <a:solidFill>
              <a:srgbClr val="FFFFFF"/>
            </a:solidFill>
            <a:ln>
              <a:noFill/>
            </a:ln>
          </p:spPr>
        </p:sp>
        <p:sp>
          <p:nvSpPr>
            <p:cNvPr id="52" name="TextBox 52"/>
            <p:cNvSpPr txBox="1"/>
            <p:nvPr/>
          </p:nvSpPr>
          <p:spPr>
            <a:xfrm>
              <a:off x="9658147" y="2175986"/>
              <a:ext cx="537616"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具有技能</a:t>
              </a:r>
            </a:p>
          </p:txBody>
        </p:sp>
      </p:grpSp>
      <p:grpSp>
        <p:nvGrpSpPr>
          <p:cNvPr id="75" name="c2-uml-2"/>
          <p:cNvGrpSpPr/>
          <p:nvPr/>
        </p:nvGrpSpPr>
        <p:grpSpPr>
          <a:xfrm>
            <a:off x="6758940" y="3627120"/>
            <a:ext cx="4605338" cy="652463"/>
            <a:chOff x="6758940" y="3627120"/>
            <a:chExt cx="4605338" cy="652463"/>
          </a:xfrm>
        </p:grpSpPr>
        <p:sp>
          <p:nvSpPr>
            <p:cNvPr id="54" name="Freeform 54"/>
            <p:cNvSpPr/>
            <p:nvPr/>
          </p:nvSpPr>
          <p:spPr>
            <a:xfrm>
              <a:off x="7901940" y="4067175"/>
              <a:ext cx="588645" cy="9525"/>
            </a:xfrm>
            <a:custGeom>
              <a:avLst/>
              <a:gdLst/>
              <a:ahLst/>
              <a:cxnLst/>
              <a:rect l="l" t="t" r="r" b="b"/>
              <a:pathLst>
                <a:path w="588645" h="9525">
                  <a:moveTo>
                    <a:pt x="0" y="0"/>
                  </a:moveTo>
                  <a:lnTo>
                    <a:pt x="588645" y="0"/>
                  </a:lnTo>
                </a:path>
              </a:pathLst>
            </a:custGeom>
            <a:noFill/>
            <a:ln w="15240">
              <a:solidFill>
                <a:srgbClr val="1F2937"/>
              </a:solidFill>
            </a:ln>
          </p:spPr>
        </p:sp>
        <p:sp>
          <p:nvSpPr>
            <p:cNvPr id="55" name="Freeform 55"/>
            <p:cNvSpPr/>
            <p:nvPr/>
          </p:nvSpPr>
          <p:spPr>
            <a:xfrm>
              <a:off x="8385810" y="4009072"/>
              <a:ext cx="104775" cy="115253"/>
            </a:xfrm>
            <a:custGeom>
              <a:avLst/>
              <a:gdLst/>
              <a:ahLst/>
              <a:cxnLst/>
              <a:rect l="l" t="t" r="r" b="b"/>
              <a:pathLst>
                <a:path w="104775" h="115253">
                  <a:moveTo>
                    <a:pt x="0" y="115253"/>
                  </a:moveTo>
                  <a:lnTo>
                    <a:pt x="104775" y="58103"/>
                  </a:lnTo>
                  <a:lnTo>
                    <a:pt x="0" y="0"/>
                  </a:lnTo>
                </a:path>
              </a:pathLst>
            </a:custGeom>
            <a:noFill/>
            <a:ln w="15240">
              <a:solidFill>
                <a:srgbClr val="1F2937"/>
              </a:solidFill>
            </a:ln>
          </p:spPr>
        </p:sp>
        <p:sp>
          <p:nvSpPr>
            <p:cNvPr id="56" name="Freeform 56"/>
            <p:cNvSpPr/>
            <p:nvPr/>
          </p:nvSpPr>
          <p:spPr>
            <a:xfrm>
              <a:off x="9633585" y="4067175"/>
              <a:ext cx="587692" cy="9525"/>
            </a:xfrm>
            <a:custGeom>
              <a:avLst/>
              <a:gdLst/>
              <a:ahLst/>
              <a:cxnLst/>
              <a:rect l="l" t="t" r="r" b="b"/>
              <a:pathLst>
                <a:path w="587692" h="9525">
                  <a:moveTo>
                    <a:pt x="0" y="0"/>
                  </a:moveTo>
                  <a:lnTo>
                    <a:pt x="587692" y="0"/>
                  </a:lnTo>
                </a:path>
              </a:pathLst>
            </a:custGeom>
            <a:noFill/>
            <a:ln w="15240">
              <a:solidFill>
                <a:srgbClr val="1F2937"/>
              </a:solidFill>
            </a:ln>
          </p:spPr>
        </p:sp>
        <p:sp>
          <p:nvSpPr>
            <p:cNvPr id="57" name="Freeform 57"/>
            <p:cNvSpPr/>
            <p:nvPr/>
          </p:nvSpPr>
          <p:spPr>
            <a:xfrm>
              <a:off x="10116502" y="4009072"/>
              <a:ext cx="104775" cy="115253"/>
            </a:xfrm>
            <a:custGeom>
              <a:avLst/>
              <a:gdLst/>
              <a:ahLst/>
              <a:cxnLst/>
              <a:rect l="l" t="t" r="r" b="b"/>
              <a:pathLst>
                <a:path w="104775" h="115253">
                  <a:moveTo>
                    <a:pt x="0" y="115253"/>
                  </a:moveTo>
                  <a:lnTo>
                    <a:pt x="104775" y="58103"/>
                  </a:lnTo>
                  <a:lnTo>
                    <a:pt x="0" y="0"/>
                  </a:lnTo>
                </a:path>
              </a:pathLst>
            </a:custGeom>
            <a:noFill/>
            <a:ln w="15240">
              <a:solidFill>
                <a:srgbClr val="1F2937"/>
              </a:solidFill>
            </a:ln>
          </p:spPr>
        </p:sp>
        <p:sp>
          <p:nvSpPr>
            <p:cNvPr id="58" name="Rectangle 58"/>
            <p:cNvSpPr/>
            <p:nvPr/>
          </p:nvSpPr>
          <p:spPr>
            <a:xfrm>
              <a:off x="6758940" y="3853815"/>
              <a:ext cx="1143000" cy="425768"/>
            </a:xfrm>
            <a:prstGeom prst="rect">
              <a:avLst/>
            </a:prstGeom>
            <a:solidFill>
              <a:srgbClr val="FFFFFF"/>
            </a:solidFill>
            <a:ln w="14288">
              <a:solidFill>
                <a:srgbClr val="334E68"/>
              </a:solidFill>
            </a:ln>
          </p:spPr>
        </p:sp>
        <p:sp>
          <p:nvSpPr>
            <p:cNvPr id="59" name="Rectangle 59"/>
            <p:cNvSpPr/>
            <p:nvPr/>
          </p:nvSpPr>
          <p:spPr>
            <a:xfrm>
              <a:off x="6766560" y="3861435"/>
              <a:ext cx="1128712" cy="227648"/>
            </a:xfrm>
            <a:prstGeom prst="rect">
              <a:avLst/>
            </a:prstGeom>
            <a:solidFill>
              <a:srgbClr val="E7EDF3"/>
            </a:solidFill>
            <a:ln>
              <a:noFill/>
            </a:ln>
          </p:spPr>
        </p:sp>
        <p:sp>
          <p:nvSpPr>
            <p:cNvPr id="60" name="Rectangle 60"/>
            <p:cNvSpPr/>
            <p:nvPr/>
          </p:nvSpPr>
          <p:spPr>
            <a:xfrm>
              <a:off x="6758940" y="4084320"/>
              <a:ext cx="1143000" cy="9525"/>
            </a:xfrm>
            <a:prstGeom prst="rect">
              <a:avLst/>
            </a:prstGeom>
            <a:solidFill>
              <a:srgbClr val="334E68"/>
            </a:solidFill>
            <a:ln>
              <a:noFill/>
            </a:ln>
          </p:spPr>
        </p:sp>
        <p:sp>
          <p:nvSpPr>
            <p:cNvPr id="61" name="Rectangle 61"/>
            <p:cNvSpPr/>
            <p:nvPr/>
          </p:nvSpPr>
          <p:spPr>
            <a:xfrm>
              <a:off x="6758940" y="4179570"/>
              <a:ext cx="1143000" cy="9525"/>
            </a:xfrm>
            <a:prstGeom prst="rect">
              <a:avLst/>
            </a:prstGeom>
            <a:solidFill>
              <a:srgbClr val="334E68"/>
            </a:solidFill>
            <a:ln>
              <a:noFill/>
            </a:ln>
          </p:spPr>
        </p:sp>
        <p:sp>
          <p:nvSpPr>
            <p:cNvPr id="62" name="Rectangle 62"/>
            <p:cNvSpPr/>
            <p:nvPr/>
          </p:nvSpPr>
          <p:spPr>
            <a:xfrm>
              <a:off x="8490585" y="3853815"/>
              <a:ext cx="1143000" cy="425768"/>
            </a:xfrm>
            <a:prstGeom prst="rect">
              <a:avLst/>
            </a:prstGeom>
            <a:solidFill>
              <a:srgbClr val="FFFFFF"/>
            </a:solidFill>
            <a:ln w="14288">
              <a:solidFill>
                <a:srgbClr val="334E68"/>
              </a:solidFill>
            </a:ln>
          </p:spPr>
        </p:sp>
        <p:sp>
          <p:nvSpPr>
            <p:cNvPr id="63" name="Rectangle 63"/>
            <p:cNvSpPr/>
            <p:nvPr/>
          </p:nvSpPr>
          <p:spPr>
            <a:xfrm>
              <a:off x="8497252" y="3861435"/>
              <a:ext cx="1128712" cy="227648"/>
            </a:xfrm>
            <a:prstGeom prst="rect">
              <a:avLst/>
            </a:prstGeom>
            <a:solidFill>
              <a:srgbClr val="334E68"/>
            </a:solidFill>
            <a:ln>
              <a:noFill/>
            </a:ln>
          </p:spPr>
        </p:sp>
        <p:sp>
          <p:nvSpPr>
            <p:cNvPr id="64" name="Rectangle 64"/>
            <p:cNvSpPr/>
            <p:nvPr/>
          </p:nvSpPr>
          <p:spPr>
            <a:xfrm>
              <a:off x="8490585" y="4084320"/>
              <a:ext cx="1143000" cy="9525"/>
            </a:xfrm>
            <a:prstGeom prst="rect">
              <a:avLst/>
            </a:prstGeom>
            <a:solidFill>
              <a:srgbClr val="334E68"/>
            </a:solidFill>
            <a:ln>
              <a:noFill/>
            </a:ln>
          </p:spPr>
        </p:sp>
        <p:sp>
          <p:nvSpPr>
            <p:cNvPr id="65" name="Rectangle 65"/>
            <p:cNvSpPr/>
            <p:nvPr/>
          </p:nvSpPr>
          <p:spPr>
            <a:xfrm>
              <a:off x="8490585" y="4179570"/>
              <a:ext cx="1143000" cy="9525"/>
            </a:xfrm>
            <a:prstGeom prst="rect">
              <a:avLst/>
            </a:prstGeom>
            <a:solidFill>
              <a:srgbClr val="334E68"/>
            </a:solidFill>
            <a:ln>
              <a:noFill/>
            </a:ln>
          </p:spPr>
        </p:sp>
        <p:sp>
          <p:nvSpPr>
            <p:cNvPr id="66" name="Rectangle 66"/>
            <p:cNvSpPr/>
            <p:nvPr/>
          </p:nvSpPr>
          <p:spPr>
            <a:xfrm>
              <a:off x="10221278" y="3853815"/>
              <a:ext cx="1143000" cy="425768"/>
            </a:xfrm>
            <a:prstGeom prst="rect">
              <a:avLst/>
            </a:prstGeom>
            <a:solidFill>
              <a:srgbClr val="FFFFFF"/>
            </a:solidFill>
            <a:ln w="14288">
              <a:solidFill>
                <a:srgbClr val="334E68"/>
              </a:solidFill>
            </a:ln>
          </p:spPr>
        </p:sp>
        <p:sp>
          <p:nvSpPr>
            <p:cNvPr id="67" name="Rectangle 67"/>
            <p:cNvSpPr/>
            <p:nvPr/>
          </p:nvSpPr>
          <p:spPr>
            <a:xfrm>
              <a:off x="10228898" y="3861435"/>
              <a:ext cx="1128712" cy="227648"/>
            </a:xfrm>
            <a:prstGeom prst="rect">
              <a:avLst/>
            </a:prstGeom>
            <a:solidFill>
              <a:srgbClr val="E7EDF3"/>
            </a:solidFill>
            <a:ln>
              <a:noFill/>
            </a:ln>
          </p:spPr>
        </p:sp>
        <p:sp>
          <p:nvSpPr>
            <p:cNvPr id="68" name="Rectangle 68"/>
            <p:cNvSpPr/>
            <p:nvPr/>
          </p:nvSpPr>
          <p:spPr>
            <a:xfrm>
              <a:off x="10221278" y="4084320"/>
              <a:ext cx="1143000" cy="9525"/>
            </a:xfrm>
            <a:prstGeom prst="rect">
              <a:avLst/>
            </a:prstGeom>
            <a:solidFill>
              <a:srgbClr val="334E68"/>
            </a:solidFill>
            <a:ln>
              <a:noFill/>
            </a:ln>
          </p:spPr>
        </p:sp>
        <p:sp>
          <p:nvSpPr>
            <p:cNvPr id="69" name="Rectangle 69"/>
            <p:cNvSpPr/>
            <p:nvPr/>
          </p:nvSpPr>
          <p:spPr>
            <a:xfrm>
              <a:off x="10221278" y="4179570"/>
              <a:ext cx="1143000" cy="9525"/>
            </a:xfrm>
            <a:prstGeom prst="rect">
              <a:avLst/>
            </a:prstGeom>
            <a:solidFill>
              <a:srgbClr val="334E68"/>
            </a:solidFill>
            <a:ln>
              <a:noFill/>
            </a:ln>
          </p:spPr>
        </p:sp>
        <p:sp>
          <p:nvSpPr>
            <p:cNvPr id="70" name="TextBox 70"/>
            <p:cNvSpPr txBox="1"/>
            <p:nvPr/>
          </p:nvSpPr>
          <p:spPr>
            <a:xfrm>
              <a:off x="7193559" y="3909536"/>
              <a:ext cx="273761" cy="190690"/>
            </a:xfrm>
            <a:prstGeom prst="rect">
              <a:avLst/>
            </a:prstGeom>
            <a:noFill/>
            <a:ln>
              <a:noFill/>
            </a:ln>
          </p:spPr>
          <p:txBody>
            <a:bodyPr wrap="none" lIns="0" tIns="0" rIns="0" bIns="0" anchor="t" anchorCtr="0">
              <a:spAutoFit/>
            </a:bodyPr>
            <a:lstStyle/>
            <a:p>
              <a:pPr algn="ctr"/>
              <a:r>
                <a:rPr lang="zh-CN" sz="980" b="1" dirty="0">
                  <a:solidFill>
                    <a:srgbClr val="243B53"/>
                  </a:solidFill>
                  <a:latin typeface="+mn-lt"/>
                  <a:ea typeface="+mn-ea"/>
                  <a:cs typeface="+mn-cs"/>
                </a:rPr>
                <a:t>公司</a:t>
              </a:r>
            </a:p>
          </p:txBody>
        </p:sp>
        <p:sp>
          <p:nvSpPr>
            <p:cNvPr id="71" name="TextBox 71"/>
            <p:cNvSpPr txBox="1"/>
            <p:nvPr/>
          </p:nvSpPr>
          <p:spPr>
            <a:xfrm>
              <a:off x="8925204" y="3909536"/>
              <a:ext cx="273761"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语言</a:t>
              </a:r>
            </a:p>
          </p:txBody>
        </p:sp>
        <p:sp>
          <p:nvSpPr>
            <p:cNvPr id="72" name="TextBox 72"/>
            <p:cNvSpPr txBox="1"/>
            <p:nvPr/>
          </p:nvSpPr>
          <p:spPr>
            <a:xfrm>
              <a:off x="10655897" y="3909536"/>
              <a:ext cx="273761" cy="190690"/>
            </a:xfrm>
            <a:prstGeom prst="rect">
              <a:avLst/>
            </a:prstGeom>
            <a:noFill/>
            <a:ln>
              <a:noFill/>
            </a:ln>
          </p:spPr>
          <p:txBody>
            <a:bodyPr wrap="none" lIns="0" tIns="0" rIns="0" bIns="0" anchor="t" anchorCtr="0">
              <a:spAutoFit/>
            </a:bodyPr>
            <a:lstStyle/>
            <a:p>
              <a:pPr algn="ctr"/>
              <a:r>
                <a:rPr lang="zh-CN" sz="980" b="1" dirty="0">
                  <a:solidFill>
                    <a:srgbClr val="243B53"/>
                  </a:solidFill>
                  <a:latin typeface="+mn-lt"/>
                  <a:ea typeface="+mn-ea"/>
                  <a:cs typeface="+mn-cs"/>
                </a:rPr>
                <a:t>雇员</a:t>
              </a:r>
            </a:p>
          </p:txBody>
        </p:sp>
        <p:sp>
          <p:nvSpPr>
            <p:cNvPr id="73" name="Rectangle 73"/>
            <p:cNvSpPr/>
            <p:nvPr/>
          </p:nvSpPr>
          <p:spPr>
            <a:xfrm>
              <a:off x="9630728" y="3627120"/>
              <a:ext cx="593408" cy="179070"/>
            </a:xfrm>
            <a:prstGeom prst="roundRect">
              <a:avLst>
                <a:gd name="adj" fmla="val 21277"/>
              </a:avLst>
            </a:prstGeom>
            <a:solidFill>
              <a:srgbClr val="FFFFFF"/>
            </a:solidFill>
            <a:ln>
              <a:noFill/>
            </a:ln>
          </p:spPr>
        </p:sp>
        <p:sp>
          <p:nvSpPr>
            <p:cNvPr id="74" name="TextBox 74"/>
            <p:cNvSpPr txBox="1"/>
            <p:nvPr/>
          </p:nvSpPr>
          <p:spPr>
            <a:xfrm>
              <a:off x="9658147" y="3651409"/>
              <a:ext cx="537616"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精通语言</a:t>
              </a:r>
            </a:p>
          </p:txBody>
        </p:sp>
      </p:grpSp>
      <p:grpSp>
        <p:nvGrpSpPr>
          <p:cNvPr id="82" name="c2-callout-3"/>
          <p:cNvGrpSpPr/>
          <p:nvPr/>
        </p:nvGrpSpPr>
        <p:grpSpPr>
          <a:xfrm>
            <a:off x="6464618" y="4892040"/>
            <a:ext cx="5193982" cy="729615"/>
            <a:chOff x="6464618" y="4892040"/>
            <a:chExt cx="5193982" cy="729615"/>
          </a:xfrm>
        </p:grpSpPr>
        <p:sp>
          <p:nvSpPr>
            <p:cNvPr id="76" name="Rectangle 76"/>
            <p:cNvSpPr/>
            <p:nvPr/>
          </p:nvSpPr>
          <p:spPr>
            <a:xfrm>
              <a:off x="6464618" y="4892040"/>
              <a:ext cx="5193982" cy="729615"/>
            </a:xfrm>
            <a:prstGeom prst="roundRect">
              <a:avLst>
                <a:gd name="adj" fmla="val 15666"/>
              </a:avLst>
            </a:prstGeom>
            <a:solidFill>
              <a:srgbClr val="FDECEA"/>
            </a:solidFill>
            <a:ln>
              <a:noFill/>
            </a:ln>
          </p:spPr>
        </p:sp>
        <p:grpSp>
          <p:nvGrpSpPr>
            <p:cNvPr id="80" name="Group 80"/>
            <p:cNvGrpSpPr/>
            <p:nvPr/>
          </p:nvGrpSpPr>
          <p:grpSpPr>
            <a:xfrm>
              <a:off x="6657347" y="5153143"/>
              <a:ext cx="224134" cy="192560"/>
              <a:chOff x="6657347" y="5153143"/>
              <a:chExt cx="224134" cy="192560"/>
            </a:xfrm>
          </p:grpSpPr>
          <p:sp>
            <p:nvSpPr>
              <p:cNvPr id="77" name="Freeform 77"/>
              <p:cNvSpPr/>
              <p:nvPr/>
            </p:nvSpPr>
            <p:spPr>
              <a:xfrm>
                <a:off x="6769418" y="5223510"/>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78" name="Freeform 78"/>
              <p:cNvSpPr/>
              <p:nvPr/>
            </p:nvSpPr>
            <p:spPr>
              <a:xfrm>
                <a:off x="6657347" y="5153143"/>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79" name="Freeform 79"/>
              <p:cNvSpPr/>
              <p:nvPr/>
            </p:nvSpPr>
            <p:spPr>
              <a:xfrm>
                <a:off x="6769418" y="5301298"/>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81" name="TextBox 81"/>
            <p:cNvSpPr txBox="1"/>
            <p:nvPr/>
          </p:nvSpPr>
          <p:spPr>
            <a:xfrm>
              <a:off x="6972110" y="5037773"/>
              <a:ext cx="429996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B42318"/>
                  </a:solidFill>
                  <a:latin typeface="+mn-lt"/>
                  <a:ea typeface="+mn-ea"/>
                  <a:cs typeface="+mn-cs"/>
                </a:rPr>
                <a:t>冗余关联像数据库索引，查得快，但增删雇员时必须同步</a:t>
              </a:r>
              <a:br/>
              <a:r>
                <a:rPr lang="zh-CN" sz="1350" dirty="0">
                  <a:solidFill>
                    <a:srgbClr val="B42318"/>
                  </a:solidFill>
                  <a:latin typeface="+mn-lt"/>
                  <a:ea typeface="+mn-ea"/>
                  <a:cs typeface="+mn-cs"/>
                </a:rPr>
                <a:t>维护，漏了就会查错。</a:t>
              </a:r>
            </a:p>
          </p:txBody>
        </p:sp>
      </p:grpSp>
      <p:grpSp>
        <p:nvGrpSpPr>
          <p:cNvPr id="88" name="takeaway"/>
          <p:cNvGrpSpPr/>
          <p:nvPr/>
        </p:nvGrpSpPr>
        <p:grpSpPr>
          <a:xfrm>
            <a:off x="533400" y="5874068"/>
            <a:ext cx="11125200" cy="488632"/>
            <a:chOff x="533400" y="5874068"/>
            <a:chExt cx="11125200" cy="488632"/>
          </a:xfrm>
        </p:grpSpPr>
        <p:sp>
          <p:nvSpPr>
            <p:cNvPr id="83" name="Rectangle 83"/>
            <p:cNvSpPr/>
            <p:nvPr/>
          </p:nvSpPr>
          <p:spPr>
            <a:xfrm>
              <a:off x="533400" y="5874068"/>
              <a:ext cx="11125200" cy="488632"/>
            </a:xfrm>
            <a:prstGeom prst="roundRect">
              <a:avLst>
                <a:gd name="adj" fmla="val 23392"/>
              </a:avLst>
            </a:prstGeom>
            <a:solidFill>
              <a:srgbClr val="334E68"/>
            </a:solidFill>
            <a:ln>
              <a:noFill/>
            </a:ln>
          </p:spPr>
        </p:sp>
        <p:grpSp>
          <p:nvGrpSpPr>
            <p:cNvPr id="86" name="Group 86"/>
            <p:cNvGrpSpPr/>
            <p:nvPr/>
          </p:nvGrpSpPr>
          <p:grpSpPr>
            <a:xfrm>
              <a:off x="738188" y="6017897"/>
              <a:ext cx="200023" cy="200023"/>
              <a:chOff x="738188" y="6017897"/>
              <a:chExt cx="200023" cy="200023"/>
            </a:xfrm>
          </p:grpSpPr>
          <p:sp>
            <p:nvSpPr>
              <p:cNvPr id="84" name="Freeform 84"/>
              <p:cNvSpPr/>
              <p:nvPr/>
            </p:nvSpPr>
            <p:spPr>
              <a:xfrm>
                <a:off x="738188" y="60178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85" name="Freeform 85"/>
              <p:cNvSpPr/>
              <p:nvPr/>
            </p:nvSpPr>
            <p:spPr>
              <a:xfrm>
                <a:off x="871538" y="60845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87" name="TextBox 87"/>
            <p:cNvSpPr txBox="1"/>
            <p:nvPr/>
          </p:nvSpPr>
          <p:spPr>
            <a:xfrm>
              <a:off x="1040892" y="6023610"/>
              <a:ext cx="5829300"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三项技术都是拿空间和维护代价换时间，只在实测确认是瓶颈的地方用。</a:t>
              </a:r>
            </a:p>
          </p:txBody>
        </p:sp>
      </p:grpSp>
      <p:grpSp>
        <p:nvGrpSpPr>
          <p:cNvPr id="91" name="footer"/>
          <p:cNvGrpSpPr/>
          <p:nvPr/>
        </p:nvGrpSpPr>
        <p:grpSpPr>
          <a:xfrm>
            <a:off x="528447" y="6581299"/>
            <a:ext cx="11135106" cy="190690"/>
            <a:chOff x="528447" y="6581299"/>
            <a:chExt cx="11135106" cy="190690"/>
          </a:xfrm>
        </p:grpSpPr>
        <p:sp>
          <p:nvSpPr>
            <p:cNvPr id="89" name="TextBox 89"/>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90" name="TextBox 9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46</a:t>
              </a:r>
            </a:p>
          </p:txBody>
        </p:sp>
      </p:grpSp>
    </p:spTree>
  </p:cSld>
  <p:clrMapOvr>
    <a:masterClrMapping/>
  </p:clrMapOvr>
  <p:transition xmlns:p14="http://schemas.microsoft.com/office/powerpoint/2010/main" p14:dur="400">
    <p:fade/>
  </p:transition>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1685" cy="909257"/>
            <a:chOff x="520446" y="342900"/>
            <a:chExt cx="5861685" cy="909257"/>
          </a:xfrm>
        </p:grpSpPr>
        <p:sp>
          <p:nvSpPr>
            <p:cNvPr id="2" name="Rectangle 2"/>
            <p:cNvSpPr/>
            <p:nvPr/>
          </p:nvSpPr>
          <p:spPr>
            <a:xfrm>
              <a:off x="533400" y="342900"/>
              <a:ext cx="3208020" cy="266700"/>
            </a:xfrm>
            <a:prstGeom prst="roundRect">
              <a:avLst>
                <a:gd name="adj" fmla="val 50000"/>
              </a:avLst>
            </a:prstGeom>
            <a:solidFill>
              <a:srgbClr val="E7EDF3"/>
            </a:solidFill>
            <a:ln>
              <a:noFill/>
            </a:ln>
          </p:spPr>
        </p:sp>
        <p:sp>
          <p:nvSpPr>
            <p:cNvPr id="3" name="TextBox 3"/>
            <p:cNvSpPr txBox="1"/>
            <p:nvPr/>
          </p:nvSpPr>
          <p:spPr>
            <a:xfrm>
              <a:off x="572876" y="407194"/>
              <a:ext cx="312906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服务、关联与设计优化</a:t>
              </a:r>
            </a:p>
          </p:txBody>
        </p:sp>
        <p:sp>
          <p:nvSpPr>
            <p:cNvPr id="4" name="TextBox 4"/>
            <p:cNvSpPr txBox="1"/>
            <p:nvPr/>
          </p:nvSpPr>
          <p:spPr>
            <a:xfrm>
              <a:off x="520446" y="753428"/>
              <a:ext cx="58616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调整继承关系：抽不出共性就改用委托</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542" y="1545907"/>
            <a:ext cx="10109206" cy="264033"/>
            <a:chOff x="526542" y="1545907"/>
            <a:chExt cx="10109206" cy="264033"/>
          </a:xfrm>
        </p:grpSpPr>
        <p:sp>
          <p:nvSpPr>
            <p:cNvPr id="7" name="TextBox 7"/>
            <p:cNvSpPr txBox="1"/>
            <p:nvPr/>
          </p:nvSpPr>
          <p:spPr>
            <a:xfrm>
              <a:off x="526542" y="1545907"/>
              <a:ext cx="10109206"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三件事：先建具体类再抽出一般类；属性和行为相似却不相同时统一口径后提出基类；不是一般-特殊关系时用委托共享行为。</a:t>
              </a:r>
            </a:p>
          </p:txBody>
        </p:sp>
      </p:grpSp>
      <p:grpSp>
        <p:nvGrpSpPr>
          <p:cNvPr id="23" name="c1-uml-1"/>
          <p:cNvGrpSpPr/>
          <p:nvPr/>
        </p:nvGrpSpPr>
        <p:grpSpPr>
          <a:xfrm>
            <a:off x="2667000" y="1993582"/>
            <a:ext cx="1143000" cy="1985963"/>
            <a:chOff x="2667000" y="1993582"/>
            <a:chExt cx="1143000" cy="1985963"/>
          </a:xfrm>
        </p:grpSpPr>
        <p:sp>
          <p:nvSpPr>
            <p:cNvPr id="9" name="Freeform 9"/>
            <p:cNvSpPr/>
            <p:nvPr/>
          </p:nvSpPr>
          <p:spPr>
            <a:xfrm>
              <a:off x="3238500" y="3122295"/>
              <a:ext cx="9525" cy="152400"/>
            </a:xfrm>
            <a:custGeom>
              <a:avLst/>
              <a:gdLst/>
              <a:ahLst/>
              <a:cxnLst/>
              <a:rect l="l" t="t" r="r" b="b"/>
              <a:pathLst>
                <a:path w="9525" h="152400">
                  <a:moveTo>
                    <a:pt x="0" y="152400"/>
                  </a:moveTo>
                  <a:lnTo>
                    <a:pt x="0" y="0"/>
                  </a:lnTo>
                </a:path>
              </a:pathLst>
            </a:custGeom>
            <a:noFill/>
            <a:ln w="15240">
              <a:solidFill>
                <a:srgbClr val="1F2937"/>
              </a:solidFill>
            </a:ln>
          </p:spPr>
        </p:sp>
        <p:sp>
          <p:nvSpPr>
            <p:cNvPr id="10" name="Freeform 10"/>
            <p:cNvSpPr/>
            <p:nvPr/>
          </p:nvSpPr>
          <p:spPr>
            <a:xfrm>
              <a:off x="3165158" y="2996565"/>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11" name="Rectangle 11"/>
            <p:cNvSpPr/>
            <p:nvPr/>
          </p:nvSpPr>
          <p:spPr>
            <a:xfrm>
              <a:off x="2667000" y="1993582"/>
              <a:ext cx="1143000" cy="1002982"/>
            </a:xfrm>
            <a:prstGeom prst="rect">
              <a:avLst/>
            </a:prstGeom>
            <a:solidFill>
              <a:srgbClr val="FFFFFF"/>
            </a:solidFill>
            <a:ln w="14288">
              <a:solidFill>
                <a:srgbClr val="334E68"/>
              </a:solidFill>
            </a:ln>
          </p:spPr>
        </p:sp>
        <p:sp>
          <p:nvSpPr>
            <p:cNvPr id="12" name="Rectangle 12"/>
            <p:cNvSpPr/>
            <p:nvPr/>
          </p:nvSpPr>
          <p:spPr>
            <a:xfrm>
              <a:off x="2674620" y="2000250"/>
              <a:ext cx="1128712" cy="209550"/>
            </a:xfrm>
            <a:prstGeom prst="rect">
              <a:avLst/>
            </a:prstGeom>
            <a:solidFill>
              <a:srgbClr val="E7EDF3"/>
            </a:solidFill>
            <a:ln>
              <a:noFill/>
            </a:ln>
          </p:spPr>
        </p:sp>
        <p:sp>
          <p:nvSpPr>
            <p:cNvPr id="13" name="Rectangle 13"/>
            <p:cNvSpPr/>
            <p:nvPr/>
          </p:nvSpPr>
          <p:spPr>
            <a:xfrm>
              <a:off x="2667000" y="2205990"/>
              <a:ext cx="1143000" cy="9525"/>
            </a:xfrm>
            <a:prstGeom prst="rect">
              <a:avLst/>
            </a:prstGeom>
            <a:solidFill>
              <a:srgbClr val="334E68"/>
            </a:solidFill>
            <a:ln>
              <a:noFill/>
            </a:ln>
          </p:spPr>
        </p:sp>
        <p:sp>
          <p:nvSpPr>
            <p:cNvPr id="14" name="Rectangle 14"/>
            <p:cNvSpPr/>
            <p:nvPr/>
          </p:nvSpPr>
          <p:spPr>
            <a:xfrm>
              <a:off x="2667000" y="2301240"/>
              <a:ext cx="1143000" cy="9525"/>
            </a:xfrm>
            <a:prstGeom prst="rect">
              <a:avLst/>
            </a:prstGeom>
            <a:solidFill>
              <a:srgbClr val="334E68"/>
            </a:solidFill>
            <a:ln>
              <a:noFill/>
            </a:ln>
          </p:spPr>
        </p:sp>
        <p:sp>
          <p:nvSpPr>
            <p:cNvPr id="15" name="Rectangle 15"/>
            <p:cNvSpPr/>
            <p:nvPr/>
          </p:nvSpPr>
          <p:spPr>
            <a:xfrm>
              <a:off x="2667000" y="3274695"/>
              <a:ext cx="1143000" cy="704850"/>
            </a:xfrm>
            <a:prstGeom prst="rect">
              <a:avLst/>
            </a:prstGeom>
            <a:solidFill>
              <a:srgbClr val="FFFFFF"/>
            </a:solidFill>
            <a:ln w="14288">
              <a:solidFill>
                <a:srgbClr val="334E68"/>
              </a:solidFill>
            </a:ln>
          </p:spPr>
        </p:sp>
        <p:sp>
          <p:nvSpPr>
            <p:cNvPr id="16" name="Rectangle 16"/>
            <p:cNvSpPr/>
            <p:nvPr/>
          </p:nvSpPr>
          <p:spPr>
            <a:xfrm>
              <a:off x="2674620" y="3281362"/>
              <a:ext cx="1128712" cy="209550"/>
            </a:xfrm>
            <a:prstGeom prst="rect">
              <a:avLst/>
            </a:prstGeom>
            <a:solidFill>
              <a:srgbClr val="E7EDF3"/>
            </a:solidFill>
            <a:ln>
              <a:noFill/>
            </a:ln>
          </p:spPr>
        </p:sp>
        <p:sp>
          <p:nvSpPr>
            <p:cNvPr id="17" name="Rectangle 17"/>
            <p:cNvSpPr/>
            <p:nvPr/>
          </p:nvSpPr>
          <p:spPr>
            <a:xfrm>
              <a:off x="2667000" y="3487102"/>
              <a:ext cx="1143000" cy="9525"/>
            </a:xfrm>
            <a:prstGeom prst="rect">
              <a:avLst/>
            </a:prstGeom>
            <a:solidFill>
              <a:srgbClr val="334E68"/>
            </a:solidFill>
            <a:ln>
              <a:noFill/>
            </a:ln>
          </p:spPr>
        </p:sp>
        <p:sp>
          <p:nvSpPr>
            <p:cNvPr id="18" name="Rectangle 18"/>
            <p:cNvSpPr/>
            <p:nvPr/>
          </p:nvSpPr>
          <p:spPr>
            <a:xfrm>
              <a:off x="2667000" y="3582352"/>
              <a:ext cx="1143000" cy="9525"/>
            </a:xfrm>
            <a:prstGeom prst="rect">
              <a:avLst/>
            </a:prstGeom>
            <a:solidFill>
              <a:srgbClr val="334E68"/>
            </a:solidFill>
            <a:ln>
              <a:noFill/>
            </a:ln>
          </p:spPr>
        </p:sp>
        <p:sp>
          <p:nvSpPr>
            <p:cNvPr id="19" name="TextBox 19"/>
            <p:cNvSpPr txBox="1"/>
            <p:nvPr/>
          </p:nvSpPr>
          <p:spPr>
            <a:xfrm>
              <a:off x="3107947" y="2045018"/>
              <a:ext cx="261106" cy="176212"/>
            </a:xfrm>
            <a:prstGeom prst="rect">
              <a:avLst/>
            </a:prstGeom>
            <a:noFill/>
            <a:ln>
              <a:noFill/>
            </a:ln>
          </p:spPr>
          <p:txBody>
            <a:bodyPr wrap="none" lIns="0" tIns="0" rIns="0" bIns="0" anchor="t" anchorCtr="0">
              <a:spAutoFit/>
            </a:bodyPr>
            <a:lstStyle/>
            <a:p>
              <a:pPr algn="ctr"/>
              <a:r>
                <a:rPr lang="en-US" sz="900" b="1" dirty="0">
                  <a:solidFill>
                    <a:srgbClr val="243B53"/>
                  </a:solidFill>
                  <a:latin typeface="+mn-lt"/>
                  <a:ea typeface="+mn-ea"/>
                  <a:cs typeface="+mn-cs"/>
                </a:rPr>
                <a:t>List</a:t>
              </a:r>
            </a:p>
          </p:txBody>
        </p:sp>
        <p:sp>
          <p:nvSpPr>
            <p:cNvPr id="20" name="TextBox 20"/>
            <p:cNvSpPr txBox="1"/>
            <p:nvPr/>
          </p:nvSpPr>
          <p:spPr>
            <a:xfrm>
              <a:off x="2738438" y="2369344"/>
              <a:ext cx="374015" cy="607695"/>
            </a:xfrm>
            <a:prstGeom prst="rect">
              <a:avLst/>
            </a:prstGeom>
            <a:noFill/>
            <a:ln>
              <a:noFill/>
            </a:ln>
          </p:spPr>
          <p:txBody>
            <a:bodyPr wrap="none" lIns="0" tIns="0" rIns="0" bIns="0" anchor="t" anchorCtr="0">
              <a:spAutoFit/>
            </a:bodyPr>
            <a:lstStyle/>
            <a:p>
              <a:pPr algn="l">
                <a:lnSpc>
                  <a:spcPts val="1170"/>
                </a:lnSpc>
              </a:pPr>
              <a:r>
                <a:rPr lang="en-US" sz="820" dirty="0">
                  <a:solidFill>
                    <a:srgbClr val="1F2937"/>
                  </a:solidFill>
                  <a:latin typeface="+mn-lt"/>
                  <a:ea typeface="+mn-ea"/>
                  <a:cs typeface="+mn-cs"/>
                </a:rPr>
                <a:t>add</a:t>
              </a:r>
              <a:br/>
              <a:r>
                <a:rPr lang="en-US" sz="820" dirty="0">
                  <a:solidFill>
                    <a:srgbClr val="1F2937"/>
                  </a:solidFill>
                  <a:latin typeface="+mn-lt"/>
                  <a:ea typeface="+mn-ea"/>
                  <a:cs typeface="+mn-cs"/>
                </a:rPr>
                <a:t>remove</a:t>
              </a:r>
              <a:br/>
              <a:r>
                <a:rPr lang="en-US" sz="820" dirty="0">
                  <a:solidFill>
                    <a:srgbClr val="1F2937"/>
                  </a:solidFill>
                  <a:latin typeface="+mn-lt"/>
                  <a:ea typeface="+mn-ea"/>
                  <a:cs typeface="+mn-cs"/>
                </a:rPr>
                <a:t>first</a:t>
              </a:r>
              <a:br/>
              <a:r>
                <a:rPr lang="en-US" sz="820" dirty="0">
                  <a:solidFill>
                    <a:srgbClr val="1F2937"/>
                  </a:solidFill>
                  <a:latin typeface="+mn-lt"/>
                  <a:ea typeface="+mn-ea"/>
                  <a:cs typeface="+mn-cs"/>
                </a:rPr>
                <a:t>last</a:t>
              </a:r>
            </a:p>
          </p:txBody>
        </p:sp>
        <p:sp>
          <p:nvSpPr>
            <p:cNvPr id="21" name="TextBox 21"/>
            <p:cNvSpPr txBox="1"/>
            <p:nvPr/>
          </p:nvSpPr>
          <p:spPr>
            <a:xfrm>
              <a:off x="3056835" y="3326130"/>
              <a:ext cx="363329" cy="176212"/>
            </a:xfrm>
            <a:prstGeom prst="rect">
              <a:avLst/>
            </a:prstGeom>
            <a:noFill/>
            <a:ln>
              <a:noFill/>
            </a:ln>
          </p:spPr>
          <p:txBody>
            <a:bodyPr wrap="none" lIns="0" tIns="0" rIns="0" bIns="0" anchor="t" anchorCtr="0">
              <a:spAutoFit/>
            </a:bodyPr>
            <a:lstStyle/>
            <a:p>
              <a:pPr algn="ctr"/>
              <a:r>
                <a:rPr lang="en-US" sz="900" b="1" dirty="0">
                  <a:solidFill>
                    <a:srgbClr val="243B53"/>
                  </a:solidFill>
                  <a:latin typeface="+mn-lt"/>
                  <a:ea typeface="+mn-ea"/>
                  <a:cs typeface="+mn-cs"/>
                </a:rPr>
                <a:t>Stack</a:t>
              </a:r>
            </a:p>
          </p:txBody>
        </p:sp>
        <p:sp>
          <p:nvSpPr>
            <p:cNvPr id="22" name="TextBox 22"/>
            <p:cNvSpPr txBox="1"/>
            <p:nvPr/>
          </p:nvSpPr>
          <p:spPr>
            <a:xfrm>
              <a:off x="2738438" y="3650456"/>
              <a:ext cx="238633" cy="310515"/>
            </a:xfrm>
            <a:prstGeom prst="rect">
              <a:avLst/>
            </a:prstGeom>
            <a:noFill/>
            <a:ln>
              <a:noFill/>
            </a:ln>
          </p:spPr>
          <p:txBody>
            <a:bodyPr wrap="none" lIns="0" tIns="0" rIns="0" bIns="0" anchor="t" anchorCtr="0">
              <a:spAutoFit/>
            </a:bodyPr>
            <a:lstStyle/>
            <a:p>
              <a:pPr algn="l">
                <a:lnSpc>
                  <a:spcPts val="1170"/>
                </a:lnSpc>
              </a:pPr>
              <a:r>
                <a:rPr lang="en-US" sz="820" dirty="0">
                  <a:solidFill>
                    <a:srgbClr val="1F2937"/>
                  </a:solidFill>
                  <a:latin typeface="+mn-lt"/>
                  <a:ea typeface="+mn-ea"/>
                  <a:cs typeface="+mn-cs"/>
                </a:rPr>
                <a:t>push</a:t>
              </a:r>
              <a:br/>
              <a:r>
                <a:rPr lang="en-US" sz="820" dirty="0">
                  <a:solidFill>
                    <a:srgbClr val="1F2937"/>
                  </a:solidFill>
                  <a:latin typeface="+mn-lt"/>
                  <a:ea typeface="+mn-ea"/>
                  <a:cs typeface="+mn-cs"/>
                </a:rPr>
                <a:t>pop</a:t>
              </a:r>
            </a:p>
          </p:txBody>
        </p:sp>
      </p:grpSp>
      <p:grpSp>
        <p:nvGrpSpPr>
          <p:cNvPr id="30" name="c1-callout-2"/>
          <p:cNvGrpSpPr/>
          <p:nvPr/>
        </p:nvGrpSpPr>
        <p:grpSpPr>
          <a:xfrm>
            <a:off x="533400" y="4357688"/>
            <a:ext cx="5410200" cy="1204912"/>
            <a:chOff x="533400" y="4357688"/>
            <a:chExt cx="5410200" cy="1204912"/>
          </a:xfrm>
        </p:grpSpPr>
        <p:sp>
          <p:nvSpPr>
            <p:cNvPr id="24" name="Rectangle 24"/>
            <p:cNvSpPr/>
            <p:nvPr/>
          </p:nvSpPr>
          <p:spPr>
            <a:xfrm>
              <a:off x="533400" y="4357688"/>
              <a:ext cx="5410200" cy="1204912"/>
            </a:xfrm>
            <a:prstGeom prst="roundRect">
              <a:avLst>
                <a:gd name="adj" fmla="val 9486"/>
              </a:avLst>
            </a:prstGeom>
            <a:solidFill>
              <a:srgbClr val="FDECEA"/>
            </a:solidFill>
            <a:ln>
              <a:noFill/>
            </a:ln>
          </p:spPr>
        </p:sp>
        <p:grpSp>
          <p:nvGrpSpPr>
            <p:cNvPr id="28" name="Group 28"/>
            <p:cNvGrpSpPr/>
            <p:nvPr/>
          </p:nvGrpSpPr>
          <p:grpSpPr>
            <a:xfrm>
              <a:off x="726129" y="4856916"/>
              <a:ext cx="224134" cy="192560"/>
              <a:chOff x="726129" y="4856916"/>
              <a:chExt cx="224134" cy="192560"/>
            </a:xfrm>
          </p:grpSpPr>
          <p:sp>
            <p:nvSpPr>
              <p:cNvPr id="25" name="Freeform 25"/>
              <p:cNvSpPr/>
              <p:nvPr/>
            </p:nvSpPr>
            <p:spPr>
              <a:xfrm>
                <a:off x="838200" y="4927283"/>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26" name="Freeform 26"/>
              <p:cNvSpPr/>
              <p:nvPr/>
            </p:nvSpPr>
            <p:spPr>
              <a:xfrm>
                <a:off x="726129" y="485691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27" name="Freeform 27"/>
              <p:cNvSpPr/>
              <p:nvPr/>
            </p:nvSpPr>
            <p:spPr>
              <a:xfrm>
                <a:off x="838200" y="5005071"/>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29" name="TextBox 29"/>
            <p:cNvSpPr txBox="1"/>
            <p:nvPr/>
          </p:nvSpPr>
          <p:spPr>
            <a:xfrm>
              <a:off x="1041273" y="4754404"/>
              <a:ext cx="4475226"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B42318"/>
                  </a:solidFill>
                  <a:latin typeface="+mn-lt"/>
                  <a:ea typeface="+mn-ea"/>
                  <a:cs typeface="+mn-cs"/>
                </a:rPr>
                <a:t>(a) Stack 继承 List，顺带把 add、remove、first、last 暴</a:t>
              </a:r>
              <a:br/>
              <a:r>
                <a:rPr lang="zh-CN" sz="1280" dirty="0">
                  <a:solidFill>
                    <a:srgbClr val="B42318"/>
                  </a:solidFill>
                  <a:latin typeface="+mn-lt"/>
                  <a:ea typeface="+mn-ea"/>
                  <a:cs typeface="+mn-cs"/>
                </a:rPr>
                <a:t>露给客户，栈的性质被破坏。</a:t>
              </a:r>
            </a:p>
          </p:txBody>
        </p:sp>
      </p:grpSp>
      <p:grpSp>
        <p:nvGrpSpPr>
          <p:cNvPr id="46" name="c2-uml-1"/>
          <p:cNvGrpSpPr/>
          <p:nvPr/>
        </p:nvGrpSpPr>
        <p:grpSpPr>
          <a:xfrm>
            <a:off x="8382000" y="2068830"/>
            <a:ext cx="1143000" cy="2061210"/>
            <a:chOff x="8382000" y="2068830"/>
            <a:chExt cx="1143000" cy="2061210"/>
          </a:xfrm>
        </p:grpSpPr>
        <p:sp>
          <p:nvSpPr>
            <p:cNvPr id="31" name="Freeform 31"/>
            <p:cNvSpPr/>
            <p:nvPr/>
          </p:nvSpPr>
          <p:spPr>
            <a:xfrm>
              <a:off x="8953500" y="3127058"/>
              <a:ext cx="9525" cy="9525"/>
            </a:xfrm>
            <a:custGeom>
              <a:avLst/>
              <a:gdLst/>
              <a:ahLst/>
              <a:cxnLst/>
              <a:rect l="l" t="t" r="r" b="b"/>
              <a:pathLst>
                <a:path w="9525" h="9525">
                  <a:moveTo>
                    <a:pt x="0" y="0"/>
                  </a:moveTo>
                  <a:lnTo>
                    <a:pt x="0" y="4762"/>
                  </a:lnTo>
                </a:path>
              </a:pathLst>
            </a:custGeom>
            <a:noFill/>
            <a:ln w="15240">
              <a:solidFill>
                <a:srgbClr val="1F2937"/>
              </a:solidFill>
            </a:ln>
          </p:spPr>
        </p:sp>
        <p:sp>
          <p:nvSpPr>
            <p:cNvPr id="32" name="Freeform 32"/>
            <p:cNvSpPr/>
            <p:nvPr/>
          </p:nvSpPr>
          <p:spPr>
            <a:xfrm>
              <a:off x="8896350" y="2922270"/>
              <a:ext cx="114300" cy="209550"/>
            </a:xfrm>
            <a:custGeom>
              <a:avLst/>
              <a:gdLst/>
              <a:ahLst/>
              <a:cxnLst/>
              <a:rect l="l" t="t" r="r" b="b"/>
              <a:pathLst>
                <a:path w="114300" h="209550">
                  <a:moveTo>
                    <a:pt x="57150" y="0"/>
                  </a:moveTo>
                  <a:lnTo>
                    <a:pt x="114300" y="104775"/>
                  </a:lnTo>
                  <a:lnTo>
                    <a:pt x="57150" y="209550"/>
                  </a:lnTo>
                  <a:lnTo>
                    <a:pt x="0" y="104775"/>
                  </a:lnTo>
                  <a:close/>
                </a:path>
              </a:pathLst>
            </a:custGeom>
            <a:solidFill>
              <a:srgbClr val="1F2937"/>
            </a:solidFill>
            <a:ln w="15240">
              <a:solidFill>
                <a:srgbClr val="1F2937"/>
              </a:solidFill>
            </a:ln>
          </p:spPr>
        </p:sp>
        <p:sp>
          <p:nvSpPr>
            <p:cNvPr id="33" name="Rectangle 33"/>
            <p:cNvSpPr/>
            <p:nvPr/>
          </p:nvSpPr>
          <p:spPr>
            <a:xfrm>
              <a:off x="8382000" y="2068830"/>
              <a:ext cx="1143000" cy="854392"/>
            </a:xfrm>
            <a:prstGeom prst="rect">
              <a:avLst/>
            </a:prstGeom>
            <a:solidFill>
              <a:srgbClr val="FFFFFF"/>
            </a:solidFill>
            <a:ln w="14288">
              <a:solidFill>
                <a:srgbClr val="334E68"/>
              </a:solidFill>
            </a:ln>
          </p:spPr>
        </p:sp>
        <p:sp>
          <p:nvSpPr>
            <p:cNvPr id="34" name="Rectangle 34"/>
            <p:cNvSpPr/>
            <p:nvPr/>
          </p:nvSpPr>
          <p:spPr>
            <a:xfrm>
              <a:off x="8389620" y="2075498"/>
              <a:ext cx="1128712" cy="209550"/>
            </a:xfrm>
            <a:prstGeom prst="rect">
              <a:avLst/>
            </a:prstGeom>
            <a:solidFill>
              <a:srgbClr val="334E68"/>
            </a:solidFill>
            <a:ln>
              <a:noFill/>
            </a:ln>
          </p:spPr>
        </p:sp>
        <p:sp>
          <p:nvSpPr>
            <p:cNvPr id="35" name="Rectangle 35"/>
            <p:cNvSpPr/>
            <p:nvPr/>
          </p:nvSpPr>
          <p:spPr>
            <a:xfrm>
              <a:off x="8382000" y="2281238"/>
              <a:ext cx="1143000" cy="9525"/>
            </a:xfrm>
            <a:prstGeom prst="rect">
              <a:avLst/>
            </a:prstGeom>
            <a:solidFill>
              <a:srgbClr val="334E68"/>
            </a:solidFill>
            <a:ln>
              <a:noFill/>
            </a:ln>
          </p:spPr>
        </p:sp>
        <p:sp>
          <p:nvSpPr>
            <p:cNvPr id="36" name="Rectangle 36"/>
            <p:cNvSpPr/>
            <p:nvPr/>
          </p:nvSpPr>
          <p:spPr>
            <a:xfrm>
              <a:off x="8382000" y="2525078"/>
              <a:ext cx="1143000" cy="9525"/>
            </a:xfrm>
            <a:prstGeom prst="rect">
              <a:avLst/>
            </a:prstGeom>
            <a:solidFill>
              <a:srgbClr val="334E68"/>
            </a:solidFill>
            <a:ln>
              <a:noFill/>
            </a:ln>
          </p:spPr>
        </p:sp>
        <p:sp>
          <p:nvSpPr>
            <p:cNvPr id="37" name="Rectangle 37"/>
            <p:cNvSpPr/>
            <p:nvPr/>
          </p:nvSpPr>
          <p:spPr>
            <a:xfrm>
              <a:off x="8382000" y="3127058"/>
              <a:ext cx="1143000" cy="1002982"/>
            </a:xfrm>
            <a:prstGeom prst="rect">
              <a:avLst/>
            </a:prstGeom>
            <a:solidFill>
              <a:srgbClr val="FFFFFF"/>
            </a:solidFill>
            <a:ln w="14288">
              <a:solidFill>
                <a:srgbClr val="334E68"/>
              </a:solidFill>
            </a:ln>
          </p:spPr>
        </p:sp>
        <p:sp>
          <p:nvSpPr>
            <p:cNvPr id="38" name="Rectangle 38"/>
            <p:cNvSpPr/>
            <p:nvPr/>
          </p:nvSpPr>
          <p:spPr>
            <a:xfrm>
              <a:off x="8389620" y="3134678"/>
              <a:ext cx="1128712" cy="209550"/>
            </a:xfrm>
            <a:prstGeom prst="rect">
              <a:avLst/>
            </a:prstGeom>
            <a:solidFill>
              <a:srgbClr val="E7EDF3"/>
            </a:solidFill>
            <a:ln>
              <a:noFill/>
            </a:ln>
          </p:spPr>
        </p:sp>
        <p:sp>
          <p:nvSpPr>
            <p:cNvPr id="39" name="Rectangle 39"/>
            <p:cNvSpPr/>
            <p:nvPr/>
          </p:nvSpPr>
          <p:spPr>
            <a:xfrm>
              <a:off x="8382000" y="3339465"/>
              <a:ext cx="1143000" cy="9525"/>
            </a:xfrm>
            <a:prstGeom prst="rect">
              <a:avLst/>
            </a:prstGeom>
            <a:solidFill>
              <a:srgbClr val="334E68"/>
            </a:solidFill>
            <a:ln>
              <a:noFill/>
            </a:ln>
          </p:spPr>
        </p:sp>
        <p:sp>
          <p:nvSpPr>
            <p:cNvPr id="40" name="Rectangle 40"/>
            <p:cNvSpPr/>
            <p:nvPr/>
          </p:nvSpPr>
          <p:spPr>
            <a:xfrm>
              <a:off x="8382000" y="3434715"/>
              <a:ext cx="1143000" cy="9525"/>
            </a:xfrm>
            <a:prstGeom prst="rect">
              <a:avLst/>
            </a:prstGeom>
            <a:solidFill>
              <a:srgbClr val="334E68"/>
            </a:solidFill>
            <a:ln>
              <a:noFill/>
            </a:ln>
          </p:spPr>
        </p:sp>
        <p:sp>
          <p:nvSpPr>
            <p:cNvPr id="41" name="TextBox 41"/>
            <p:cNvSpPr txBox="1"/>
            <p:nvPr/>
          </p:nvSpPr>
          <p:spPr>
            <a:xfrm>
              <a:off x="8771835" y="2120265"/>
              <a:ext cx="363329"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Stack</a:t>
              </a:r>
            </a:p>
          </p:txBody>
        </p:sp>
        <p:sp>
          <p:nvSpPr>
            <p:cNvPr id="42" name="TextBox 42"/>
            <p:cNvSpPr txBox="1"/>
            <p:nvPr/>
          </p:nvSpPr>
          <p:spPr>
            <a:xfrm>
              <a:off x="8453438" y="2349341"/>
              <a:ext cx="570931" cy="161925"/>
            </a:xfrm>
            <a:prstGeom prst="rect">
              <a:avLst/>
            </a:prstGeom>
            <a:noFill/>
            <a:ln>
              <a:noFill/>
            </a:ln>
          </p:spPr>
          <p:txBody>
            <a:bodyPr wrap="none" lIns="0" tIns="0" rIns="0" bIns="0" anchor="t" anchorCtr="0">
              <a:spAutoFit/>
            </a:bodyPr>
            <a:lstStyle/>
            <a:p>
              <a:pPr algn="l"/>
              <a:r>
                <a:rPr lang="en-US" sz="820" dirty="0">
                  <a:solidFill>
                    <a:srgbClr val="1F2937"/>
                  </a:solidFill>
                  <a:latin typeface="+mn-lt"/>
                  <a:ea typeface="+mn-ea"/>
                  <a:cs typeface="+mn-cs"/>
                </a:rPr>
                <a:t>-list: List</a:t>
              </a:r>
            </a:p>
          </p:txBody>
        </p:sp>
        <p:sp>
          <p:nvSpPr>
            <p:cNvPr id="43" name="TextBox 43"/>
            <p:cNvSpPr txBox="1"/>
            <p:nvPr/>
          </p:nvSpPr>
          <p:spPr>
            <a:xfrm>
              <a:off x="8453438" y="2593181"/>
              <a:ext cx="238633" cy="310515"/>
            </a:xfrm>
            <a:prstGeom prst="rect">
              <a:avLst/>
            </a:prstGeom>
            <a:noFill/>
            <a:ln>
              <a:noFill/>
            </a:ln>
          </p:spPr>
          <p:txBody>
            <a:bodyPr wrap="none" lIns="0" tIns="0" rIns="0" bIns="0" anchor="t" anchorCtr="0">
              <a:spAutoFit/>
            </a:bodyPr>
            <a:lstStyle/>
            <a:p>
              <a:pPr algn="l">
                <a:lnSpc>
                  <a:spcPts val="1170"/>
                </a:lnSpc>
              </a:pPr>
              <a:r>
                <a:rPr lang="en-US" sz="820" dirty="0">
                  <a:solidFill>
                    <a:srgbClr val="1F2937"/>
                  </a:solidFill>
                  <a:latin typeface="+mn-lt"/>
                  <a:ea typeface="+mn-ea"/>
                  <a:cs typeface="+mn-cs"/>
                </a:rPr>
                <a:t>push</a:t>
              </a:r>
              <a:br/>
              <a:r>
                <a:rPr lang="en-US" sz="820" dirty="0">
                  <a:solidFill>
                    <a:srgbClr val="1F2937"/>
                  </a:solidFill>
                  <a:latin typeface="+mn-lt"/>
                  <a:ea typeface="+mn-ea"/>
                  <a:cs typeface="+mn-cs"/>
                </a:rPr>
                <a:t>pop</a:t>
              </a:r>
            </a:p>
          </p:txBody>
        </p:sp>
        <p:sp>
          <p:nvSpPr>
            <p:cNvPr id="44" name="TextBox 44"/>
            <p:cNvSpPr txBox="1"/>
            <p:nvPr/>
          </p:nvSpPr>
          <p:spPr>
            <a:xfrm>
              <a:off x="8822947" y="3178492"/>
              <a:ext cx="261106" cy="176212"/>
            </a:xfrm>
            <a:prstGeom prst="rect">
              <a:avLst/>
            </a:prstGeom>
            <a:noFill/>
            <a:ln>
              <a:noFill/>
            </a:ln>
          </p:spPr>
          <p:txBody>
            <a:bodyPr wrap="none" lIns="0" tIns="0" rIns="0" bIns="0" anchor="t" anchorCtr="0">
              <a:spAutoFit/>
            </a:bodyPr>
            <a:lstStyle/>
            <a:p>
              <a:pPr algn="ctr"/>
              <a:r>
                <a:rPr lang="en-US" sz="900" b="1" dirty="0">
                  <a:solidFill>
                    <a:srgbClr val="243B53"/>
                  </a:solidFill>
                  <a:latin typeface="+mn-lt"/>
                  <a:ea typeface="+mn-ea"/>
                  <a:cs typeface="+mn-cs"/>
                </a:rPr>
                <a:t>List</a:t>
              </a:r>
            </a:p>
          </p:txBody>
        </p:sp>
        <p:sp>
          <p:nvSpPr>
            <p:cNvPr id="45" name="TextBox 45"/>
            <p:cNvSpPr txBox="1"/>
            <p:nvPr/>
          </p:nvSpPr>
          <p:spPr>
            <a:xfrm>
              <a:off x="8453438" y="3502819"/>
              <a:ext cx="374015" cy="607695"/>
            </a:xfrm>
            <a:prstGeom prst="rect">
              <a:avLst/>
            </a:prstGeom>
            <a:noFill/>
            <a:ln>
              <a:noFill/>
            </a:ln>
          </p:spPr>
          <p:txBody>
            <a:bodyPr wrap="none" lIns="0" tIns="0" rIns="0" bIns="0" anchor="t" anchorCtr="0">
              <a:spAutoFit/>
            </a:bodyPr>
            <a:lstStyle/>
            <a:p>
              <a:pPr algn="l">
                <a:lnSpc>
                  <a:spcPts val="1170"/>
                </a:lnSpc>
              </a:pPr>
              <a:r>
                <a:rPr lang="en-US" sz="820" dirty="0">
                  <a:solidFill>
                    <a:srgbClr val="1F2937"/>
                  </a:solidFill>
                  <a:latin typeface="+mn-lt"/>
                  <a:ea typeface="+mn-ea"/>
                  <a:cs typeface="+mn-cs"/>
                </a:rPr>
                <a:t>add</a:t>
              </a:r>
              <a:br/>
              <a:r>
                <a:rPr lang="en-US" sz="820" dirty="0">
                  <a:solidFill>
                    <a:srgbClr val="1F2937"/>
                  </a:solidFill>
                  <a:latin typeface="+mn-lt"/>
                  <a:ea typeface="+mn-ea"/>
                  <a:cs typeface="+mn-cs"/>
                </a:rPr>
                <a:t>remove</a:t>
              </a:r>
              <a:br/>
              <a:r>
                <a:rPr lang="en-US" sz="820" dirty="0">
                  <a:solidFill>
                    <a:srgbClr val="1F2937"/>
                  </a:solidFill>
                  <a:latin typeface="+mn-lt"/>
                  <a:ea typeface="+mn-ea"/>
                  <a:cs typeface="+mn-cs"/>
                </a:rPr>
                <a:t>first</a:t>
              </a:r>
              <a:br/>
              <a:r>
                <a:rPr lang="en-US" sz="820" dirty="0">
                  <a:solidFill>
                    <a:srgbClr val="1F2937"/>
                  </a:solidFill>
                  <a:latin typeface="+mn-lt"/>
                  <a:ea typeface="+mn-ea"/>
                  <a:cs typeface="+mn-cs"/>
                </a:rPr>
                <a:t>last</a:t>
              </a:r>
            </a:p>
          </p:txBody>
        </p:sp>
      </p:grpSp>
      <p:grpSp>
        <p:nvGrpSpPr>
          <p:cNvPr id="54" name="c2-card-2"/>
          <p:cNvGrpSpPr/>
          <p:nvPr/>
        </p:nvGrpSpPr>
        <p:grpSpPr>
          <a:xfrm>
            <a:off x="6248400" y="4360545"/>
            <a:ext cx="5410200" cy="1202055"/>
            <a:chOff x="6248400" y="4360545"/>
            <a:chExt cx="5410200" cy="1202055"/>
          </a:xfrm>
        </p:grpSpPr>
        <p:sp>
          <p:nvSpPr>
            <p:cNvPr id="47" name="Rectangle 47"/>
            <p:cNvSpPr/>
            <p:nvPr/>
          </p:nvSpPr>
          <p:spPr>
            <a:xfrm>
              <a:off x="6248400" y="4360545"/>
              <a:ext cx="5410200" cy="1202055"/>
            </a:xfrm>
            <a:prstGeom prst="roundRect">
              <a:avLst>
                <a:gd name="adj" fmla="val 11094"/>
              </a:avLst>
            </a:prstGeom>
            <a:solidFill>
              <a:srgbClr val="FFFFFF"/>
            </a:solidFill>
            <a:ln w="14288">
              <a:solidFill>
                <a:srgbClr val="D9DFEA"/>
              </a:solidFill>
            </a:ln>
          </p:spPr>
        </p:sp>
        <p:sp>
          <p:nvSpPr>
            <p:cNvPr id="48" name="Rectangle 48"/>
            <p:cNvSpPr/>
            <p:nvPr/>
          </p:nvSpPr>
          <p:spPr>
            <a:xfrm>
              <a:off x="6257925" y="4493895"/>
              <a:ext cx="47625" cy="935355"/>
            </a:xfrm>
            <a:prstGeom prst="roundRect">
              <a:avLst>
                <a:gd name="adj" fmla="val 50000"/>
              </a:avLst>
            </a:prstGeom>
            <a:solidFill>
              <a:srgbClr val="14A38B"/>
            </a:solidFill>
            <a:ln>
              <a:noFill/>
            </a:ln>
          </p:spPr>
        </p:sp>
        <p:sp>
          <p:nvSpPr>
            <p:cNvPr id="49" name="Rectangle 49"/>
            <p:cNvSpPr/>
            <p:nvPr/>
          </p:nvSpPr>
          <p:spPr>
            <a:xfrm>
              <a:off x="6467475" y="4541520"/>
              <a:ext cx="458152" cy="238125"/>
            </a:xfrm>
            <a:prstGeom prst="roundRect">
              <a:avLst>
                <a:gd name="adj" fmla="val 50000"/>
              </a:avLst>
            </a:prstGeom>
            <a:solidFill>
              <a:srgbClr val="E3F5F1"/>
            </a:solidFill>
            <a:ln>
              <a:noFill/>
            </a:ln>
          </p:spPr>
        </p:sp>
        <p:sp>
          <p:nvSpPr>
            <p:cNvPr id="50" name="TextBox 50"/>
            <p:cNvSpPr txBox="1"/>
            <p:nvPr/>
          </p:nvSpPr>
          <p:spPr>
            <a:xfrm>
              <a:off x="6560147" y="4574381"/>
              <a:ext cx="273761"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委托</a:t>
              </a:r>
            </a:p>
          </p:txBody>
        </p:sp>
        <p:sp>
          <p:nvSpPr>
            <p:cNvPr id="51" name="TextBox 51"/>
            <p:cNvSpPr txBox="1"/>
            <p:nvPr/>
          </p:nvSpPr>
          <p:spPr>
            <a:xfrm>
              <a:off x="7033451" y="4581049"/>
              <a:ext cx="242791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(b) Stack 持有一个 List 成员</a:t>
              </a:r>
            </a:p>
          </p:txBody>
        </p:sp>
        <p:sp>
          <p:nvSpPr>
            <p:cNvPr id="52" name="TextBox 52"/>
            <p:cNvSpPr txBox="1"/>
            <p:nvPr/>
          </p:nvSpPr>
          <p:spPr>
            <a:xfrm>
              <a:off x="6460998" y="4897279"/>
              <a:ext cx="507035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 xml:space="preserve">push 是 </a:t>
              </a:r>
              <a:r>
                <a:rPr lang="en-US" sz="1280" dirty="0">
                  <a:solidFill>
                    <a:srgbClr val="243B53"/>
                  </a:solidFill>
                  <a:latin typeface="+mn-lt"/>
                  <a:ea typeface="+mn-ea"/>
                  <a:cs typeface="+mn-cs"/>
                </a:rPr>
                <a:t>list.add(x)</a:t>
              </a:r>
              <a:r>
                <a:rPr lang="zh-CN" sz="1280" dirty="0">
                  <a:solidFill>
                    <a:srgbClr val="1F2937"/>
                  </a:solidFill>
                  <a:latin typeface="+mn-lt"/>
                  <a:ea typeface="+mn-ea"/>
                  <a:cs typeface="+mn-cs"/>
                </a:rPr>
                <a:t xml:space="preserve">，pop 是先 </a:t>
              </a:r>
              <a:r>
                <a:rPr lang="en-US" sz="1280" dirty="0">
                  <a:solidFill>
                    <a:srgbClr val="243B53"/>
                  </a:solidFill>
                  <a:latin typeface="+mn-lt"/>
                  <a:ea typeface="+mn-ea"/>
                  <a:cs typeface="+mn-cs"/>
                </a:rPr>
                <a:t>list.last()</a:t>
              </a:r>
              <a:r>
                <a:rPr lang="zh-CN" sz="1280" dirty="0">
                  <a:solidFill>
                    <a:srgbClr val="1F2937"/>
                  </a:solidFill>
                  <a:latin typeface="+mn-lt"/>
                  <a:ea typeface="+mn-ea"/>
                  <a:cs typeface="+mn-cs"/>
                </a:rPr>
                <a:t xml:space="preserve"> 再 </a:t>
              </a:r>
              <a:r>
                <a:rPr lang="en-US" sz="1280" dirty="0">
                  <a:solidFill>
                    <a:srgbClr val="243B53"/>
                  </a:solidFill>
                  <a:latin typeface="+mn-lt"/>
                  <a:ea typeface="+mn-ea"/>
                  <a:cs typeface="+mn-cs"/>
                </a:rPr>
                <a:t>list.remove()</a:t>
              </a:r>
              <a:r>
                <a:rPr lang="zh-CN" sz="1280" dirty="0">
                  <a:solidFill>
                    <a:srgbClr val="1F2937"/>
                  </a:solidFill>
                  <a:latin typeface="+mn-lt"/>
                  <a:ea typeface="+mn-ea"/>
                  <a:cs typeface="+mn-cs"/>
                </a:rPr>
                <a:t>。</a:t>
              </a:r>
            </a:p>
          </p:txBody>
        </p:sp>
        <p:sp>
          <p:nvSpPr>
            <p:cNvPr id="53" name="TextBox 53"/>
            <p:cNvSpPr txBox="1"/>
            <p:nvPr/>
          </p:nvSpPr>
          <p:spPr>
            <a:xfrm>
              <a:off x="6460998" y="5183029"/>
              <a:ext cx="46709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客户只看得见 push 和 pop，List 的其他方法不会泄漏出去。</a:t>
              </a:r>
            </a:p>
          </p:txBody>
        </p:sp>
      </p:grpSp>
      <p:grpSp>
        <p:nvGrpSpPr>
          <p:cNvPr id="60" name="takeaway"/>
          <p:cNvGrpSpPr/>
          <p:nvPr/>
        </p:nvGrpSpPr>
        <p:grpSpPr>
          <a:xfrm>
            <a:off x="533400" y="5895022"/>
            <a:ext cx="11125200" cy="467678"/>
            <a:chOff x="533400" y="5895022"/>
            <a:chExt cx="11125200" cy="467678"/>
          </a:xfrm>
        </p:grpSpPr>
        <p:sp>
          <p:nvSpPr>
            <p:cNvPr id="55" name="Rectangle 55"/>
            <p:cNvSpPr/>
            <p:nvPr/>
          </p:nvSpPr>
          <p:spPr>
            <a:xfrm>
              <a:off x="533400" y="5895022"/>
              <a:ext cx="11125200" cy="467678"/>
            </a:xfrm>
            <a:prstGeom prst="roundRect">
              <a:avLst>
                <a:gd name="adj" fmla="val 24440"/>
              </a:avLst>
            </a:prstGeom>
            <a:solidFill>
              <a:srgbClr val="334E68"/>
            </a:solidFill>
            <a:ln>
              <a:noFill/>
            </a:ln>
          </p:spPr>
        </p:sp>
        <p:grpSp>
          <p:nvGrpSpPr>
            <p:cNvPr id="58" name="Group 58"/>
            <p:cNvGrpSpPr/>
            <p:nvPr/>
          </p:nvGrpSpPr>
          <p:grpSpPr>
            <a:xfrm>
              <a:off x="738188" y="6028375"/>
              <a:ext cx="200023" cy="200023"/>
              <a:chOff x="738188" y="6028375"/>
              <a:chExt cx="200023" cy="200023"/>
            </a:xfrm>
          </p:grpSpPr>
          <p:sp>
            <p:nvSpPr>
              <p:cNvPr id="56" name="Freeform 56"/>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7" name="Freeform 57"/>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9" name="TextBox 59"/>
            <p:cNvSpPr txBox="1"/>
            <p:nvPr/>
          </p:nvSpPr>
          <p:spPr>
            <a:xfrm>
              <a:off x="1041273" y="6039326"/>
              <a:ext cx="6595334"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判断标准：子类确实“是一种”父类就用继承，只是“用到了”另一个类的能力就用委托。</a:t>
              </a:r>
            </a:p>
          </p:txBody>
        </p:sp>
      </p:grpSp>
      <p:grpSp>
        <p:nvGrpSpPr>
          <p:cNvPr id="63" name="footer"/>
          <p:cNvGrpSpPr/>
          <p:nvPr/>
        </p:nvGrpSpPr>
        <p:grpSpPr>
          <a:xfrm>
            <a:off x="528447" y="6581299"/>
            <a:ext cx="11135106" cy="190690"/>
            <a:chOff x="528447" y="6581299"/>
            <a:chExt cx="11135106" cy="190690"/>
          </a:xfrm>
        </p:grpSpPr>
        <p:sp>
          <p:nvSpPr>
            <p:cNvPr id="61" name="TextBox 61"/>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62" name="TextBox 6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47</a:t>
              </a:r>
            </a:p>
          </p:txBody>
        </p:sp>
      </p:grpSp>
    </p:spTree>
  </p:cSld>
  <p:clrMapOvr>
    <a:masterClrMapping/>
  </p:clrMapOvr>
  <p:transition xmlns:p14="http://schemas.microsoft.com/office/powerpoint/2010/main" p14:dur="400">
    <p:fade/>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06</a:t>
              </a:r>
            </a:p>
          </p:txBody>
        </p:sp>
      </p:grpSp>
      <p:grpSp>
        <p:nvGrpSpPr>
          <p:cNvPr id="18" name="section-title"/>
          <p:cNvGrpSpPr/>
          <p:nvPr/>
        </p:nvGrpSpPr>
        <p:grpSpPr>
          <a:xfrm>
            <a:off x="667512" y="1835468"/>
            <a:ext cx="3580638" cy="3351847"/>
            <a:chOff x="667512" y="1835468"/>
            <a:chExt cx="3580638"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第六部分</a:t>
              </a:r>
            </a:p>
          </p:txBody>
        </p:sp>
        <p:sp>
          <p:nvSpPr>
            <p:cNvPr id="7" name="TextBox 7"/>
            <p:cNvSpPr txBox="1"/>
            <p:nvPr/>
          </p:nvSpPr>
          <p:spPr>
            <a:xfrm>
              <a:off x="667512" y="2240280"/>
              <a:ext cx="1975104"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设计模式</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3570732"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前人踩过的坑，整理成可复用的解法</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模式的四要素与描述格式</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827722"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GoF 编目</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工厂方法与抽象工厂</a:t>
              </a:r>
            </a:p>
          </p:txBody>
        </p:sp>
        <p:sp>
          <p:nvSpPr>
            <p:cNvPr id="16" name="Ellipse 16"/>
            <p:cNvSpPr/>
            <p:nvPr/>
          </p:nvSpPr>
          <p:spPr>
            <a:xfrm>
              <a:off x="723900" y="4951095"/>
              <a:ext cx="76200" cy="76200"/>
            </a:xfrm>
            <a:prstGeom prst="ellipse">
              <a:avLst/>
            </a:prstGeom>
            <a:solidFill>
              <a:srgbClr val="334E68"/>
            </a:solidFill>
            <a:ln>
              <a:noFill/>
            </a:ln>
          </p:spPr>
        </p:sp>
        <p:sp>
          <p:nvSpPr>
            <p:cNvPr id="17" name="TextBox 17"/>
            <p:cNvSpPr txBox="1"/>
            <p:nvPr/>
          </p:nvSpPr>
          <p:spPr>
            <a:xfrm>
              <a:off x="906780" y="4893945"/>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模板方法、观察者与其他</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48</a:t>
              </a:r>
            </a:p>
          </p:txBody>
        </p:sp>
      </p:grpSp>
    </p:spTree>
  </p:cSld>
  <p:clrMapOvr>
    <a:masterClrMapping/>
  </p:clrMapOvr>
  <p:transition xmlns:p14="http://schemas.microsoft.com/office/powerpoint/2010/main" p14:dur="400">
    <p:fade/>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48247" cy="909257"/>
            <a:chOff x="520446" y="342900"/>
            <a:chExt cx="6548247" cy="909257"/>
          </a:xfrm>
        </p:grpSpPr>
        <p:sp>
          <p:nvSpPr>
            <p:cNvPr id="2" name="Rectangle 2"/>
            <p:cNvSpPr/>
            <p:nvPr/>
          </p:nvSpPr>
          <p:spPr>
            <a:xfrm>
              <a:off x="533400" y="342900"/>
              <a:ext cx="2354580" cy="266700"/>
            </a:xfrm>
            <a:prstGeom prst="roundRect">
              <a:avLst>
                <a:gd name="adj" fmla="val 50000"/>
              </a:avLst>
            </a:prstGeom>
            <a:solidFill>
              <a:srgbClr val="E7EDF3"/>
            </a:solidFill>
            <a:ln>
              <a:noFill/>
            </a:ln>
          </p:spPr>
        </p:sp>
        <p:sp>
          <p:nvSpPr>
            <p:cNvPr id="3" name="TextBox 3"/>
            <p:cNvSpPr txBox="1"/>
            <p:nvPr/>
          </p:nvSpPr>
          <p:spPr>
            <a:xfrm>
              <a:off x="598479" y="407194"/>
              <a:ext cx="22244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设计模式</a:t>
              </a:r>
            </a:p>
          </p:txBody>
        </p:sp>
        <p:sp>
          <p:nvSpPr>
            <p:cNvPr id="4" name="TextBox 4"/>
            <p:cNvSpPr txBox="1"/>
            <p:nvPr/>
          </p:nvSpPr>
          <p:spPr>
            <a:xfrm>
              <a:off x="520446" y="753428"/>
              <a:ext cx="6548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什么是设计模式：问题、解法与后果的组合</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4" name="c1-card-1"/>
          <p:cNvGrpSpPr/>
          <p:nvPr/>
        </p:nvGrpSpPr>
        <p:grpSpPr>
          <a:xfrm>
            <a:off x="533400" y="1524000"/>
            <a:ext cx="4977765" cy="1747838"/>
            <a:chOff x="533400" y="1524000"/>
            <a:chExt cx="4977765" cy="1747838"/>
          </a:xfrm>
        </p:grpSpPr>
        <p:sp>
          <p:nvSpPr>
            <p:cNvPr id="7" name="Rectangle 7"/>
            <p:cNvSpPr/>
            <p:nvPr/>
          </p:nvSpPr>
          <p:spPr>
            <a:xfrm>
              <a:off x="533400" y="1524000"/>
              <a:ext cx="4977765" cy="1747838"/>
            </a:xfrm>
            <a:prstGeom prst="roundRect">
              <a:avLst>
                <a:gd name="adj" fmla="val 7629"/>
              </a:avLst>
            </a:prstGeom>
            <a:solidFill>
              <a:srgbClr val="FFFFFF"/>
            </a:solidFill>
            <a:ln w="14288">
              <a:solidFill>
                <a:srgbClr val="D9DFEA"/>
              </a:solidFill>
            </a:ln>
          </p:spPr>
        </p:sp>
        <p:sp>
          <p:nvSpPr>
            <p:cNvPr id="8" name="Rectangle 8"/>
            <p:cNvSpPr/>
            <p:nvPr/>
          </p:nvSpPr>
          <p:spPr>
            <a:xfrm>
              <a:off x="542925" y="1657350"/>
              <a:ext cx="47625" cy="1481138"/>
            </a:xfrm>
            <a:prstGeom prst="roundRect">
              <a:avLst>
                <a:gd name="adj" fmla="val 50000"/>
              </a:avLst>
            </a:prstGeom>
            <a:solidFill>
              <a:srgbClr val="334E68"/>
            </a:solidFill>
            <a:ln>
              <a:noFill/>
            </a:ln>
          </p:spPr>
        </p:sp>
        <p:sp>
          <p:nvSpPr>
            <p:cNvPr id="9" name="Rectangle 9"/>
            <p:cNvSpPr/>
            <p:nvPr/>
          </p:nvSpPr>
          <p:spPr>
            <a:xfrm>
              <a:off x="763905" y="1716405"/>
              <a:ext cx="476250" cy="247650"/>
            </a:xfrm>
            <a:prstGeom prst="roundRect">
              <a:avLst>
                <a:gd name="adj" fmla="val 50000"/>
              </a:avLst>
            </a:prstGeom>
            <a:solidFill>
              <a:srgbClr val="E7EDF3"/>
            </a:solidFill>
            <a:ln>
              <a:noFill/>
            </a:ln>
          </p:spPr>
        </p:sp>
        <p:sp>
          <p:nvSpPr>
            <p:cNvPr id="10" name="TextBox 10"/>
            <p:cNvSpPr txBox="1"/>
            <p:nvPr/>
          </p:nvSpPr>
          <p:spPr>
            <a:xfrm>
              <a:off x="855345" y="1750695"/>
              <a:ext cx="293370"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引言</a:t>
              </a:r>
            </a:p>
          </p:txBody>
        </p:sp>
        <p:sp>
          <p:nvSpPr>
            <p:cNvPr id="11" name="TextBox 11"/>
            <p:cNvSpPr txBox="1"/>
            <p:nvPr/>
          </p:nvSpPr>
          <p:spPr>
            <a:xfrm>
              <a:off x="1347597" y="1756410"/>
              <a:ext cx="250732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Christopher Alexander 的话</a:t>
              </a:r>
            </a:p>
          </p:txBody>
        </p:sp>
        <p:sp>
          <p:nvSpPr>
            <p:cNvPr id="12" name="TextBox 12"/>
            <p:cNvSpPr txBox="1"/>
            <p:nvPr/>
          </p:nvSpPr>
          <p:spPr>
            <a:xfrm>
              <a:off x="757047" y="2090738"/>
              <a:ext cx="429996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“每一个模式描述了一个在我们周围不断重复发生的问</a:t>
              </a:r>
              <a:br/>
              <a:r>
                <a:rPr lang="zh-CN" sz="1350" dirty="0">
                  <a:solidFill>
                    <a:srgbClr val="1F2937"/>
                  </a:solidFill>
                  <a:latin typeface="+mn-lt"/>
                  <a:ea typeface="+mn-ea"/>
                  <a:cs typeface="+mn-cs"/>
                </a:rPr>
                <a:t>题，以及该问题的解决方案的核心。这样，你就能一次又</a:t>
              </a:r>
              <a:br/>
              <a:r>
                <a:rPr lang="zh-CN" sz="1350" dirty="0">
                  <a:solidFill>
                    <a:srgbClr val="1F2937"/>
                  </a:solidFill>
                  <a:latin typeface="+mn-lt"/>
                  <a:ea typeface="+mn-ea"/>
                  <a:cs typeface="+mn-cs"/>
                </a:rPr>
                <a:t>一次地使用该方案而不必做重复劳动。”</a:t>
              </a:r>
            </a:p>
          </p:txBody>
        </p:sp>
        <p:sp>
          <p:nvSpPr>
            <p:cNvPr id="13" name="TextBox 13"/>
            <p:cNvSpPr txBox="1"/>
            <p:nvPr/>
          </p:nvSpPr>
          <p:spPr>
            <a:xfrm>
              <a:off x="758190" y="2903696"/>
              <a:ext cx="3633572"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这句话原本说的是建筑设计，GoF 把它借到了软件里。</a:t>
              </a:r>
            </a:p>
          </p:txBody>
        </p:sp>
      </p:grpSp>
      <p:grpSp>
        <p:nvGrpSpPr>
          <p:cNvPr id="26" name="c1-kv-2"/>
          <p:cNvGrpSpPr/>
          <p:nvPr/>
        </p:nvGrpSpPr>
        <p:grpSpPr>
          <a:xfrm>
            <a:off x="526542" y="3469005"/>
            <a:ext cx="4984623" cy="2218563"/>
            <a:chOff x="526542" y="3469005"/>
            <a:chExt cx="4984623" cy="2218563"/>
          </a:xfrm>
        </p:grpSpPr>
        <p:sp>
          <p:nvSpPr>
            <p:cNvPr id="15" name="TextBox 15"/>
            <p:cNvSpPr txBox="1"/>
            <p:nvPr/>
          </p:nvSpPr>
          <p:spPr>
            <a:xfrm>
              <a:off x="526542" y="3469005"/>
              <a:ext cx="1707213" cy="517398"/>
            </a:xfrm>
            <a:prstGeom prst="rect">
              <a:avLst/>
            </a:prstGeom>
            <a:noFill/>
            <a:ln>
              <a:noFill/>
            </a:ln>
          </p:spPr>
          <p:txBody>
            <a:bodyPr wrap="none" lIns="0" tIns="0" rIns="0" bIns="0" anchor="t" anchorCtr="0">
              <a:spAutoFit/>
            </a:bodyPr>
            <a:lstStyle/>
            <a:p>
              <a:pPr algn="l">
                <a:lnSpc>
                  <a:spcPts val="1995"/>
                </a:lnSpc>
              </a:pPr>
              <a:r>
                <a:rPr lang="zh-CN" sz="1350" b="1" dirty="0">
                  <a:solidFill>
                    <a:srgbClr val="334E68"/>
                  </a:solidFill>
                  <a:latin typeface="+mn-lt"/>
                  <a:ea typeface="+mn-ea"/>
                  <a:cs typeface="+mn-cs"/>
                </a:rPr>
                <a:t>Pattern Name（模式</a:t>
              </a:r>
              <a:br/>
              <a:r>
                <a:rPr lang="zh-CN" sz="1350" b="1" dirty="0">
                  <a:solidFill>
                    <a:srgbClr val="334E68"/>
                  </a:solidFill>
                  <a:latin typeface="+mn-lt"/>
                  <a:ea typeface="+mn-ea"/>
                  <a:cs typeface="+mn-cs"/>
                </a:rPr>
                <a:t>名）</a:t>
              </a:r>
            </a:p>
          </p:txBody>
        </p:sp>
        <p:sp>
          <p:nvSpPr>
            <p:cNvPr id="16" name="TextBox 16"/>
            <p:cNvSpPr txBox="1"/>
            <p:nvPr/>
          </p:nvSpPr>
          <p:spPr>
            <a:xfrm>
              <a:off x="2517267" y="3469005"/>
              <a:ext cx="2756916" cy="517398"/>
            </a:xfrm>
            <a:prstGeom prst="rect">
              <a:avLst/>
            </a:prstGeom>
            <a:noFill/>
            <a:ln>
              <a:noFill/>
            </a:ln>
          </p:spPr>
          <p:txBody>
            <a:bodyPr wrap="none" lIns="0" tIns="0" rIns="0" bIns="0" anchor="t" anchorCtr="0">
              <a:spAutoFit/>
            </a:bodyPr>
            <a:lstStyle/>
            <a:p>
              <a:pPr algn="l">
                <a:lnSpc>
                  <a:spcPts val="1995"/>
                </a:lnSpc>
              </a:pPr>
              <a:r>
                <a:rPr lang="zh-CN" sz="1350" dirty="0">
                  <a:solidFill>
                    <a:srgbClr val="1F2937"/>
                  </a:solidFill>
                  <a:latin typeface="+mn-lt"/>
                  <a:ea typeface="+mn-ea"/>
                  <a:cs typeface="+mn-cs"/>
                </a:rPr>
                <a:t>一个能让人一听就懂的名字，是设计</a:t>
              </a:r>
              <a:br/>
              <a:r>
                <a:rPr lang="zh-CN" sz="1350" dirty="0">
                  <a:solidFill>
                    <a:srgbClr val="1F2937"/>
                  </a:solidFill>
                  <a:latin typeface="+mn-lt"/>
                  <a:ea typeface="+mn-ea"/>
                  <a:cs typeface="+mn-cs"/>
                </a:rPr>
                <a:t>词汇表的条目</a:t>
              </a:r>
            </a:p>
          </p:txBody>
        </p:sp>
        <p:sp>
          <p:nvSpPr>
            <p:cNvPr id="17" name="Rectangle 17"/>
            <p:cNvSpPr/>
            <p:nvPr/>
          </p:nvSpPr>
          <p:spPr>
            <a:xfrm>
              <a:off x="533400" y="4011930"/>
              <a:ext cx="4977765" cy="9525"/>
            </a:xfrm>
            <a:prstGeom prst="rect">
              <a:avLst/>
            </a:prstGeom>
            <a:solidFill>
              <a:srgbClr val="D9DFEA"/>
            </a:solidFill>
            <a:ln>
              <a:noFill/>
            </a:ln>
          </p:spPr>
        </p:sp>
        <p:sp>
          <p:nvSpPr>
            <p:cNvPr id="18" name="TextBox 18"/>
            <p:cNvSpPr txBox="1"/>
            <p:nvPr/>
          </p:nvSpPr>
          <p:spPr>
            <a:xfrm>
              <a:off x="526542" y="4120515"/>
              <a:ext cx="1471658"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Problem（问题）</a:t>
              </a:r>
            </a:p>
          </p:txBody>
        </p:sp>
        <p:sp>
          <p:nvSpPr>
            <p:cNvPr id="19" name="TextBox 19"/>
            <p:cNvSpPr txBox="1"/>
            <p:nvPr/>
          </p:nvSpPr>
          <p:spPr>
            <a:xfrm>
              <a:off x="2517267" y="4120515"/>
              <a:ext cx="237629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在什么场合下会遇到这个问题</a:t>
              </a:r>
            </a:p>
          </p:txBody>
        </p:sp>
        <p:sp>
          <p:nvSpPr>
            <p:cNvPr id="20" name="Rectangle 20"/>
            <p:cNvSpPr/>
            <p:nvPr/>
          </p:nvSpPr>
          <p:spPr>
            <a:xfrm>
              <a:off x="533400" y="4409122"/>
              <a:ext cx="4977765" cy="9525"/>
            </a:xfrm>
            <a:prstGeom prst="rect">
              <a:avLst/>
            </a:prstGeom>
            <a:solidFill>
              <a:srgbClr val="D9DFEA"/>
            </a:solidFill>
            <a:ln>
              <a:noFill/>
            </a:ln>
          </p:spPr>
        </p:sp>
        <p:sp>
          <p:nvSpPr>
            <p:cNvPr id="21" name="TextBox 21"/>
            <p:cNvSpPr txBox="1"/>
            <p:nvPr/>
          </p:nvSpPr>
          <p:spPr>
            <a:xfrm>
              <a:off x="526542" y="4518660"/>
              <a:ext cx="1490143"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Solution（解法）</a:t>
              </a:r>
            </a:p>
          </p:txBody>
        </p:sp>
        <p:sp>
          <p:nvSpPr>
            <p:cNvPr id="22" name="TextBox 22"/>
            <p:cNvSpPr txBox="1"/>
            <p:nvPr/>
          </p:nvSpPr>
          <p:spPr>
            <a:xfrm>
              <a:off x="2517267" y="4518660"/>
              <a:ext cx="2756916" cy="517398"/>
            </a:xfrm>
            <a:prstGeom prst="rect">
              <a:avLst/>
            </a:prstGeom>
            <a:noFill/>
            <a:ln>
              <a:noFill/>
            </a:ln>
          </p:spPr>
          <p:txBody>
            <a:bodyPr wrap="none" lIns="0" tIns="0" rIns="0" bIns="0" anchor="t" anchorCtr="0">
              <a:spAutoFit/>
            </a:bodyPr>
            <a:lstStyle/>
            <a:p>
              <a:pPr algn="l">
                <a:lnSpc>
                  <a:spcPts val="1995"/>
                </a:lnSpc>
              </a:pPr>
              <a:r>
                <a:rPr lang="zh-CN" sz="1350" dirty="0">
                  <a:solidFill>
                    <a:srgbClr val="1F2937"/>
                  </a:solidFill>
                  <a:latin typeface="+mn-lt"/>
                  <a:ea typeface="+mn-ea"/>
                  <a:cs typeface="+mn-cs"/>
                </a:rPr>
                <a:t>参与的类和对象，以及它们之间的职</a:t>
              </a:r>
              <a:br/>
              <a:r>
                <a:rPr lang="zh-CN" sz="1350" dirty="0">
                  <a:solidFill>
                    <a:srgbClr val="1F2937"/>
                  </a:solidFill>
                  <a:latin typeface="+mn-lt"/>
                  <a:ea typeface="+mn-ea"/>
                  <a:cs typeface="+mn-cs"/>
                </a:rPr>
                <a:t>责与协作</a:t>
              </a:r>
            </a:p>
          </p:txBody>
        </p:sp>
        <p:sp>
          <p:nvSpPr>
            <p:cNvPr id="23" name="Rectangle 23"/>
            <p:cNvSpPr/>
            <p:nvPr/>
          </p:nvSpPr>
          <p:spPr>
            <a:xfrm>
              <a:off x="533400" y="5061585"/>
              <a:ext cx="4977765" cy="9525"/>
            </a:xfrm>
            <a:prstGeom prst="rect">
              <a:avLst/>
            </a:prstGeom>
            <a:solidFill>
              <a:srgbClr val="D9DFEA"/>
            </a:solidFill>
            <a:ln>
              <a:noFill/>
            </a:ln>
          </p:spPr>
        </p:sp>
        <p:sp>
          <p:nvSpPr>
            <p:cNvPr id="24" name="TextBox 24"/>
            <p:cNvSpPr txBox="1"/>
            <p:nvPr/>
          </p:nvSpPr>
          <p:spPr>
            <a:xfrm>
              <a:off x="526542" y="5170170"/>
              <a:ext cx="1544764" cy="517398"/>
            </a:xfrm>
            <a:prstGeom prst="rect">
              <a:avLst/>
            </a:prstGeom>
            <a:noFill/>
            <a:ln>
              <a:noFill/>
            </a:ln>
          </p:spPr>
          <p:txBody>
            <a:bodyPr wrap="none" lIns="0" tIns="0" rIns="0" bIns="0" anchor="t" anchorCtr="0">
              <a:spAutoFit/>
            </a:bodyPr>
            <a:lstStyle/>
            <a:p>
              <a:pPr algn="l">
                <a:lnSpc>
                  <a:spcPts val="1995"/>
                </a:lnSpc>
              </a:pPr>
              <a:r>
                <a:rPr lang="zh-CN" sz="1350" b="1" dirty="0">
                  <a:solidFill>
                    <a:srgbClr val="334E68"/>
                  </a:solidFill>
                  <a:latin typeface="+mn-lt"/>
                  <a:ea typeface="+mn-ea"/>
                  <a:cs typeface="+mn-cs"/>
                </a:rPr>
                <a:t>Consequences（效</a:t>
              </a:r>
              <a:br/>
              <a:r>
                <a:rPr lang="zh-CN" sz="1350" b="1" dirty="0">
                  <a:solidFill>
                    <a:srgbClr val="334E68"/>
                  </a:solidFill>
                  <a:latin typeface="+mn-lt"/>
                  <a:ea typeface="+mn-ea"/>
                  <a:cs typeface="+mn-cs"/>
                </a:rPr>
                <a:t>果）</a:t>
              </a:r>
            </a:p>
          </p:txBody>
        </p:sp>
        <p:sp>
          <p:nvSpPr>
            <p:cNvPr id="25" name="TextBox 25"/>
            <p:cNvSpPr txBox="1"/>
            <p:nvPr/>
          </p:nvSpPr>
          <p:spPr>
            <a:xfrm>
              <a:off x="2517267" y="5170170"/>
              <a:ext cx="273977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用了它会得到什么、付出什么代价</a:t>
              </a:r>
            </a:p>
          </p:txBody>
        </p:sp>
      </p:grpSp>
      <p:grpSp>
        <p:nvGrpSpPr>
          <p:cNvPr id="67" name="c2-bullets-1"/>
          <p:cNvGrpSpPr/>
          <p:nvPr/>
        </p:nvGrpSpPr>
        <p:grpSpPr>
          <a:xfrm>
            <a:off x="5809107" y="1545907"/>
            <a:ext cx="5695721" cy="3804762"/>
            <a:chOff x="5809107" y="1545907"/>
            <a:chExt cx="5695721" cy="3804762"/>
          </a:xfrm>
        </p:grpSpPr>
        <p:sp>
          <p:nvSpPr>
            <p:cNvPr id="27" name="TextBox 27"/>
            <p:cNvSpPr txBox="1"/>
            <p:nvPr/>
          </p:nvSpPr>
          <p:spPr>
            <a:xfrm>
              <a:off x="5809107" y="1545907"/>
              <a:ext cx="2217234"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GoF 描述一个模式的十三项</a:t>
              </a:r>
            </a:p>
          </p:txBody>
        </p:sp>
        <p:sp>
          <p:nvSpPr>
            <p:cNvPr id="28" name="Ellipse 28"/>
            <p:cNvSpPr/>
            <p:nvPr/>
          </p:nvSpPr>
          <p:spPr>
            <a:xfrm>
              <a:off x="5815965" y="1852612"/>
              <a:ext cx="160020" cy="160020"/>
            </a:xfrm>
            <a:prstGeom prst="ellipse">
              <a:avLst/>
            </a:prstGeom>
            <a:solidFill>
              <a:srgbClr val="334E68"/>
            </a:solidFill>
            <a:ln>
              <a:noFill/>
            </a:ln>
          </p:spPr>
        </p:sp>
        <p:sp>
          <p:nvSpPr>
            <p:cNvPr id="29" name="TextBox 29"/>
            <p:cNvSpPr txBox="1"/>
            <p:nvPr/>
          </p:nvSpPr>
          <p:spPr>
            <a:xfrm>
              <a:off x="5861670" y="1884331"/>
              <a:ext cx="68610" cy="150495"/>
            </a:xfrm>
            <a:prstGeom prst="rect">
              <a:avLst/>
            </a:prstGeom>
            <a:noFill/>
            <a:ln>
              <a:noFill/>
            </a:ln>
          </p:spPr>
          <p:txBody>
            <a:bodyPr wrap="none" lIns="0" tIns="0" rIns="0" bIns="0" anchor="t" anchorCtr="0">
              <a:spAutoFit/>
            </a:bodyPr>
            <a:lstStyle/>
            <a:p>
              <a:pPr algn="ctr"/>
              <a:r>
                <a:rPr lang="zh-CN" sz="760" b="1" dirty="0">
                  <a:solidFill>
                    <a:srgbClr val="FFFFFF"/>
                  </a:solidFill>
                  <a:latin typeface="+mn-lt"/>
                  <a:ea typeface="+mn-ea"/>
                  <a:cs typeface="+mn-cs"/>
                </a:rPr>
                <a:t>1</a:t>
              </a:r>
            </a:p>
          </p:txBody>
        </p:sp>
        <p:sp>
          <p:nvSpPr>
            <p:cNvPr id="30" name="TextBox 30"/>
            <p:cNvSpPr txBox="1"/>
            <p:nvPr/>
          </p:nvSpPr>
          <p:spPr>
            <a:xfrm>
              <a:off x="6065520" y="1862614"/>
              <a:ext cx="257459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模式名和分类：简洁地描述模式的本质</a:t>
              </a:r>
            </a:p>
          </p:txBody>
        </p:sp>
        <p:sp>
          <p:nvSpPr>
            <p:cNvPr id="31" name="Ellipse 31"/>
            <p:cNvSpPr/>
            <p:nvPr/>
          </p:nvSpPr>
          <p:spPr>
            <a:xfrm>
              <a:off x="5815965" y="2125028"/>
              <a:ext cx="160020" cy="160020"/>
            </a:xfrm>
            <a:prstGeom prst="ellipse">
              <a:avLst/>
            </a:prstGeom>
            <a:solidFill>
              <a:srgbClr val="334E68"/>
            </a:solidFill>
            <a:ln>
              <a:noFill/>
            </a:ln>
          </p:spPr>
        </p:sp>
        <p:sp>
          <p:nvSpPr>
            <p:cNvPr id="32" name="TextBox 32"/>
            <p:cNvSpPr txBox="1"/>
            <p:nvPr/>
          </p:nvSpPr>
          <p:spPr>
            <a:xfrm>
              <a:off x="5861670" y="2156746"/>
              <a:ext cx="68610" cy="150495"/>
            </a:xfrm>
            <a:prstGeom prst="rect">
              <a:avLst/>
            </a:prstGeom>
            <a:noFill/>
            <a:ln>
              <a:noFill/>
            </a:ln>
          </p:spPr>
          <p:txBody>
            <a:bodyPr wrap="none" lIns="0" tIns="0" rIns="0" bIns="0" anchor="t" anchorCtr="0">
              <a:spAutoFit/>
            </a:bodyPr>
            <a:lstStyle/>
            <a:p>
              <a:pPr algn="ctr"/>
              <a:r>
                <a:rPr lang="zh-CN" sz="760" b="1" dirty="0">
                  <a:solidFill>
                    <a:srgbClr val="FFFFFF"/>
                  </a:solidFill>
                  <a:latin typeface="+mn-lt"/>
                  <a:ea typeface="+mn-ea"/>
                  <a:cs typeface="+mn-cs"/>
                </a:rPr>
                <a:t>2</a:t>
              </a:r>
            </a:p>
          </p:txBody>
        </p:sp>
        <p:sp>
          <p:nvSpPr>
            <p:cNvPr id="33" name="TextBox 33"/>
            <p:cNvSpPr txBox="1"/>
            <p:nvPr/>
          </p:nvSpPr>
          <p:spPr>
            <a:xfrm>
              <a:off x="6065520" y="2135029"/>
              <a:ext cx="438388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意图：模式做什么，基本原理是什么，解决的是什么特定设计问题</a:t>
              </a:r>
            </a:p>
          </p:txBody>
        </p:sp>
        <p:sp>
          <p:nvSpPr>
            <p:cNvPr id="34" name="Ellipse 34"/>
            <p:cNvSpPr/>
            <p:nvPr/>
          </p:nvSpPr>
          <p:spPr>
            <a:xfrm>
              <a:off x="5815965" y="2397442"/>
              <a:ext cx="160020" cy="160020"/>
            </a:xfrm>
            <a:prstGeom prst="ellipse">
              <a:avLst/>
            </a:prstGeom>
            <a:solidFill>
              <a:srgbClr val="334E68"/>
            </a:solidFill>
            <a:ln>
              <a:noFill/>
            </a:ln>
          </p:spPr>
        </p:sp>
        <p:sp>
          <p:nvSpPr>
            <p:cNvPr id="35" name="TextBox 35"/>
            <p:cNvSpPr txBox="1"/>
            <p:nvPr/>
          </p:nvSpPr>
          <p:spPr>
            <a:xfrm>
              <a:off x="5861670" y="2429161"/>
              <a:ext cx="68610" cy="150495"/>
            </a:xfrm>
            <a:prstGeom prst="rect">
              <a:avLst/>
            </a:prstGeom>
            <a:noFill/>
            <a:ln>
              <a:noFill/>
            </a:ln>
          </p:spPr>
          <p:txBody>
            <a:bodyPr wrap="none" lIns="0" tIns="0" rIns="0" bIns="0" anchor="t" anchorCtr="0">
              <a:spAutoFit/>
            </a:bodyPr>
            <a:lstStyle/>
            <a:p>
              <a:pPr algn="ctr"/>
              <a:r>
                <a:rPr lang="zh-CN" sz="760" b="1" dirty="0">
                  <a:solidFill>
                    <a:srgbClr val="FFFFFF"/>
                  </a:solidFill>
                  <a:latin typeface="+mn-lt"/>
                  <a:ea typeface="+mn-ea"/>
                  <a:cs typeface="+mn-cs"/>
                </a:rPr>
                <a:t>3</a:t>
              </a:r>
            </a:p>
          </p:txBody>
        </p:sp>
        <p:sp>
          <p:nvSpPr>
            <p:cNvPr id="36" name="TextBox 36"/>
            <p:cNvSpPr txBox="1"/>
            <p:nvPr/>
          </p:nvSpPr>
          <p:spPr>
            <a:xfrm>
              <a:off x="6065520" y="2407444"/>
              <a:ext cx="151917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别名：模式的其他名称</a:t>
              </a:r>
            </a:p>
          </p:txBody>
        </p:sp>
        <p:sp>
          <p:nvSpPr>
            <p:cNvPr id="37" name="Ellipse 37"/>
            <p:cNvSpPr/>
            <p:nvPr/>
          </p:nvSpPr>
          <p:spPr>
            <a:xfrm>
              <a:off x="5815965" y="2668905"/>
              <a:ext cx="160020" cy="160020"/>
            </a:xfrm>
            <a:prstGeom prst="ellipse">
              <a:avLst/>
            </a:prstGeom>
            <a:solidFill>
              <a:srgbClr val="334E68"/>
            </a:solidFill>
            <a:ln>
              <a:noFill/>
            </a:ln>
          </p:spPr>
        </p:sp>
        <p:sp>
          <p:nvSpPr>
            <p:cNvPr id="38" name="TextBox 38"/>
            <p:cNvSpPr txBox="1"/>
            <p:nvPr/>
          </p:nvSpPr>
          <p:spPr>
            <a:xfrm>
              <a:off x="5861670" y="2700623"/>
              <a:ext cx="68610" cy="150495"/>
            </a:xfrm>
            <a:prstGeom prst="rect">
              <a:avLst/>
            </a:prstGeom>
            <a:noFill/>
            <a:ln>
              <a:noFill/>
            </a:ln>
          </p:spPr>
          <p:txBody>
            <a:bodyPr wrap="none" lIns="0" tIns="0" rIns="0" bIns="0" anchor="t" anchorCtr="0">
              <a:spAutoFit/>
            </a:bodyPr>
            <a:lstStyle/>
            <a:p>
              <a:pPr algn="ctr"/>
              <a:r>
                <a:rPr lang="zh-CN" sz="760" b="1" dirty="0">
                  <a:solidFill>
                    <a:srgbClr val="FFFFFF"/>
                  </a:solidFill>
                  <a:latin typeface="+mn-lt"/>
                  <a:ea typeface="+mn-ea"/>
                  <a:cs typeface="+mn-cs"/>
                </a:rPr>
                <a:t>4</a:t>
              </a:r>
            </a:p>
          </p:txBody>
        </p:sp>
        <p:sp>
          <p:nvSpPr>
            <p:cNvPr id="39" name="TextBox 39"/>
            <p:cNvSpPr txBox="1"/>
            <p:nvPr/>
          </p:nvSpPr>
          <p:spPr>
            <a:xfrm>
              <a:off x="6065520" y="2678906"/>
              <a:ext cx="498698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动机：说明一个设计问题以及如何用模式中的类和对象来解决它的具体情景</a:t>
              </a:r>
            </a:p>
          </p:txBody>
        </p:sp>
        <p:sp>
          <p:nvSpPr>
            <p:cNvPr id="40" name="Ellipse 40"/>
            <p:cNvSpPr/>
            <p:nvPr/>
          </p:nvSpPr>
          <p:spPr>
            <a:xfrm>
              <a:off x="5815965" y="2941320"/>
              <a:ext cx="160020" cy="160020"/>
            </a:xfrm>
            <a:prstGeom prst="ellipse">
              <a:avLst/>
            </a:prstGeom>
            <a:solidFill>
              <a:srgbClr val="334E68"/>
            </a:solidFill>
            <a:ln>
              <a:noFill/>
            </a:ln>
          </p:spPr>
        </p:sp>
        <p:sp>
          <p:nvSpPr>
            <p:cNvPr id="41" name="TextBox 41"/>
            <p:cNvSpPr txBox="1"/>
            <p:nvPr/>
          </p:nvSpPr>
          <p:spPr>
            <a:xfrm>
              <a:off x="5861670" y="2973038"/>
              <a:ext cx="68610" cy="150495"/>
            </a:xfrm>
            <a:prstGeom prst="rect">
              <a:avLst/>
            </a:prstGeom>
            <a:noFill/>
            <a:ln>
              <a:noFill/>
            </a:ln>
          </p:spPr>
          <p:txBody>
            <a:bodyPr wrap="none" lIns="0" tIns="0" rIns="0" bIns="0" anchor="t" anchorCtr="0">
              <a:spAutoFit/>
            </a:bodyPr>
            <a:lstStyle/>
            <a:p>
              <a:pPr algn="ctr"/>
              <a:r>
                <a:rPr lang="zh-CN" sz="760" b="1" dirty="0">
                  <a:solidFill>
                    <a:srgbClr val="FFFFFF"/>
                  </a:solidFill>
                  <a:latin typeface="+mn-lt"/>
                  <a:ea typeface="+mn-ea"/>
                  <a:cs typeface="+mn-cs"/>
                </a:rPr>
                <a:t>5</a:t>
              </a:r>
            </a:p>
          </p:txBody>
        </p:sp>
        <p:sp>
          <p:nvSpPr>
            <p:cNvPr id="42" name="TextBox 42"/>
            <p:cNvSpPr txBox="1"/>
            <p:nvPr/>
          </p:nvSpPr>
          <p:spPr>
            <a:xfrm>
              <a:off x="6065520" y="2951321"/>
              <a:ext cx="483621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适用性：什么情况下可以使用，能改进哪些不良设计，怎样识别这些情况</a:t>
              </a:r>
            </a:p>
          </p:txBody>
        </p:sp>
        <p:sp>
          <p:nvSpPr>
            <p:cNvPr id="43" name="Ellipse 43"/>
            <p:cNvSpPr/>
            <p:nvPr/>
          </p:nvSpPr>
          <p:spPr>
            <a:xfrm>
              <a:off x="5815965" y="3213735"/>
              <a:ext cx="160020" cy="160020"/>
            </a:xfrm>
            <a:prstGeom prst="ellipse">
              <a:avLst/>
            </a:prstGeom>
            <a:solidFill>
              <a:srgbClr val="334E68"/>
            </a:solidFill>
            <a:ln>
              <a:noFill/>
            </a:ln>
          </p:spPr>
        </p:sp>
        <p:sp>
          <p:nvSpPr>
            <p:cNvPr id="44" name="TextBox 44"/>
            <p:cNvSpPr txBox="1"/>
            <p:nvPr/>
          </p:nvSpPr>
          <p:spPr>
            <a:xfrm>
              <a:off x="5861670" y="3245453"/>
              <a:ext cx="68610" cy="150495"/>
            </a:xfrm>
            <a:prstGeom prst="rect">
              <a:avLst/>
            </a:prstGeom>
            <a:noFill/>
            <a:ln>
              <a:noFill/>
            </a:ln>
          </p:spPr>
          <p:txBody>
            <a:bodyPr wrap="none" lIns="0" tIns="0" rIns="0" bIns="0" anchor="t" anchorCtr="0">
              <a:spAutoFit/>
            </a:bodyPr>
            <a:lstStyle/>
            <a:p>
              <a:pPr algn="ctr"/>
              <a:r>
                <a:rPr lang="zh-CN" sz="760" b="1" dirty="0">
                  <a:solidFill>
                    <a:srgbClr val="FFFFFF"/>
                  </a:solidFill>
                  <a:latin typeface="+mn-lt"/>
                  <a:ea typeface="+mn-ea"/>
                  <a:cs typeface="+mn-cs"/>
                </a:rPr>
                <a:t>6</a:t>
              </a:r>
            </a:p>
          </p:txBody>
        </p:sp>
        <p:sp>
          <p:nvSpPr>
            <p:cNvPr id="45" name="TextBox 45"/>
            <p:cNvSpPr txBox="1"/>
            <p:nvPr/>
          </p:nvSpPr>
          <p:spPr>
            <a:xfrm>
              <a:off x="6065520" y="3223736"/>
              <a:ext cx="420295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结构：用对象建模技术 OMT 的表示法对模式中的类作图形描述</a:t>
              </a:r>
            </a:p>
          </p:txBody>
        </p:sp>
        <p:sp>
          <p:nvSpPr>
            <p:cNvPr id="46" name="Ellipse 46"/>
            <p:cNvSpPr/>
            <p:nvPr/>
          </p:nvSpPr>
          <p:spPr>
            <a:xfrm>
              <a:off x="5815965" y="3486150"/>
              <a:ext cx="160020" cy="160020"/>
            </a:xfrm>
            <a:prstGeom prst="ellipse">
              <a:avLst/>
            </a:prstGeom>
            <a:solidFill>
              <a:srgbClr val="334E68"/>
            </a:solidFill>
            <a:ln>
              <a:noFill/>
            </a:ln>
          </p:spPr>
        </p:sp>
        <p:sp>
          <p:nvSpPr>
            <p:cNvPr id="47" name="TextBox 47"/>
            <p:cNvSpPr txBox="1"/>
            <p:nvPr/>
          </p:nvSpPr>
          <p:spPr>
            <a:xfrm>
              <a:off x="5861670" y="3517868"/>
              <a:ext cx="68610" cy="150495"/>
            </a:xfrm>
            <a:prstGeom prst="rect">
              <a:avLst/>
            </a:prstGeom>
            <a:noFill/>
            <a:ln>
              <a:noFill/>
            </a:ln>
          </p:spPr>
          <p:txBody>
            <a:bodyPr wrap="none" lIns="0" tIns="0" rIns="0" bIns="0" anchor="t" anchorCtr="0">
              <a:spAutoFit/>
            </a:bodyPr>
            <a:lstStyle/>
            <a:p>
              <a:pPr algn="ctr"/>
              <a:r>
                <a:rPr lang="zh-CN" sz="760" b="1" dirty="0">
                  <a:solidFill>
                    <a:srgbClr val="FFFFFF"/>
                  </a:solidFill>
                  <a:latin typeface="+mn-lt"/>
                  <a:ea typeface="+mn-ea"/>
                  <a:cs typeface="+mn-cs"/>
                </a:rPr>
                <a:t>7</a:t>
              </a:r>
            </a:p>
          </p:txBody>
        </p:sp>
        <p:sp>
          <p:nvSpPr>
            <p:cNvPr id="48" name="TextBox 48"/>
            <p:cNvSpPr txBox="1"/>
            <p:nvPr/>
          </p:nvSpPr>
          <p:spPr>
            <a:xfrm>
              <a:off x="6065520" y="3496151"/>
              <a:ext cx="317769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参与者：模式中的类和对象以及它们各自的职责</a:t>
              </a:r>
            </a:p>
          </p:txBody>
        </p:sp>
        <p:sp>
          <p:nvSpPr>
            <p:cNvPr id="49" name="Ellipse 49"/>
            <p:cNvSpPr/>
            <p:nvPr/>
          </p:nvSpPr>
          <p:spPr>
            <a:xfrm>
              <a:off x="5815965" y="3758565"/>
              <a:ext cx="160020" cy="160020"/>
            </a:xfrm>
            <a:prstGeom prst="ellipse">
              <a:avLst/>
            </a:prstGeom>
            <a:solidFill>
              <a:srgbClr val="334E68"/>
            </a:solidFill>
            <a:ln>
              <a:noFill/>
            </a:ln>
          </p:spPr>
        </p:sp>
        <p:sp>
          <p:nvSpPr>
            <p:cNvPr id="50" name="TextBox 50"/>
            <p:cNvSpPr txBox="1"/>
            <p:nvPr/>
          </p:nvSpPr>
          <p:spPr>
            <a:xfrm>
              <a:off x="5861670" y="3790283"/>
              <a:ext cx="68610" cy="150495"/>
            </a:xfrm>
            <a:prstGeom prst="rect">
              <a:avLst/>
            </a:prstGeom>
            <a:noFill/>
            <a:ln>
              <a:noFill/>
            </a:ln>
          </p:spPr>
          <p:txBody>
            <a:bodyPr wrap="none" lIns="0" tIns="0" rIns="0" bIns="0" anchor="t" anchorCtr="0">
              <a:spAutoFit/>
            </a:bodyPr>
            <a:lstStyle/>
            <a:p>
              <a:pPr algn="ctr"/>
              <a:r>
                <a:rPr lang="zh-CN" sz="760" b="1" dirty="0">
                  <a:solidFill>
                    <a:srgbClr val="FFFFFF"/>
                  </a:solidFill>
                  <a:latin typeface="+mn-lt"/>
                  <a:ea typeface="+mn-ea"/>
                  <a:cs typeface="+mn-cs"/>
                </a:rPr>
                <a:t>8</a:t>
              </a:r>
            </a:p>
          </p:txBody>
        </p:sp>
        <p:sp>
          <p:nvSpPr>
            <p:cNvPr id="51" name="TextBox 51"/>
            <p:cNvSpPr txBox="1"/>
            <p:nvPr/>
          </p:nvSpPr>
          <p:spPr>
            <a:xfrm>
              <a:off x="6065520" y="3768566"/>
              <a:ext cx="302691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协作：这些参与者怎样协作以实现各自的职责</a:t>
              </a:r>
            </a:p>
          </p:txBody>
        </p:sp>
        <p:sp>
          <p:nvSpPr>
            <p:cNvPr id="52" name="Ellipse 52"/>
            <p:cNvSpPr/>
            <p:nvPr/>
          </p:nvSpPr>
          <p:spPr>
            <a:xfrm>
              <a:off x="5815965" y="4030980"/>
              <a:ext cx="160020" cy="160020"/>
            </a:xfrm>
            <a:prstGeom prst="ellipse">
              <a:avLst/>
            </a:prstGeom>
            <a:solidFill>
              <a:srgbClr val="334E68"/>
            </a:solidFill>
            <a:ln>
              <a:noFill/>
            </a:ln>
          </p:spPr>
        </p:sp>
        <p:sp>
          <p:nvSpPr>
            <p:cNvPr id="53" name="TextBox 53"/>
            <p:cNvSpPr txBox="1"/>
            <p:nvPr/>
          </p:nvSpPr>
          <p:spPr>
            <a:xfrm>
              <a:off x="5861670" y="4062698"/>
              <a:ext cx="68610" cy="150495"/>
            </a:xfrm>
            <a:prstGeom prst="rect">
              <a:avLst/>
            </a:prstGeom>
            <a:noFill/>
            <a:ln>
              <a:noFill/>
            </a:ln>
          </p:spPr>
          <p:txBody>
            <a:bodyPr wrap="none" lIns="0" tIns="0" rIns="0" bIns="0" anchor="t" anchorCtr="0">
              <a:spAutoFit/>
            </a:bodyPr>
            <a:lstStyle/>
            <a:p>
              <a:pPr algn="ctr"/>
              <a:r>
                <a:rPr lang="zh-CN" sz="760" b="1" dirty="0">
                  <a:solidFill>
                    <a:srgbClr val="FFFFFF"/>
                  </a:solidFill>
                  <a:latin typeface="+mn-lt"/>
                  <a:ea typeface="+mn-ea"/>
                  <a:cs typeface="+mn-cs"/>
                </a:rPr>
                <a:t>9</a:t>
              </a:r>
            </a:p>
          </p:txBody>
        </p:sp>
        <p:sp>
          <p:nvSpPr>
            <p:cNvPr id="54" name="TextBox 54"/>
            <p:cNvSpPr txBox="1"/>
            <p:nvPr/>
          </p:nvSpPr>
          <p:spPr>
            <a:xfrm>
              <a:off x="6065520" y="4040981"/>
              <a:ext cx="423311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效果：模式怎样支持它的目标，使用它的效果和所需的权衡取舍</a:t>
              </a:r>
            </a:p>
          </p:txBody>
        </p:sp>
        <p:sp>
          <p:nvSpPr>
            <p:cNvPr id="55" name="Ellipse 55"/>
            <p:cNvSpPr/>
            <p:nvPr/>
          </p:nvSpPr>
          <p:spPr>
            <a:xfrm>
              <a:off x="5815965" y="4303395"/>
              <a:ext cx="160020" cy="160020"/>
            </a:xfrm>
            <a:prstGeom prst="ellipse">
              <a:avLst/>
            </a:prstGeom>
            <a:solidFill>
              <a:srgbClr val="334E68"/>
            </a:solidFill>
            <a:ln>
              <a:noFill/>
            </a:ln>
          </p:spPr>
        </p:sp>
        <p:sp>
          <p:nvSpPr>
            <p:cNvPr id="56" name="TextBox 56"/>
            <p:cNvSpPr txBox="1"/>
            <p:nvPr/>
          </p:nvSpPr>
          <p:spPr>
            <a:xfrm>
              <a:off x="5832128" y="4335113"/>
              <a:ext cx="127694" cy="150495"/>
            </a:xfrm>
            <a:prstGeom prst="rect">
              <a:avLst/>
            </a:prstGeom>
            <a:noFill/>
            <a:ln>
              <a:noFill/>
            </a:ln>
          </p:spPr>
          <p:txBody>
            <a:bodyPr wrap="none" lIns="0" tIns="0" rIns="0" bIns="0" anchor="t" anchorCtr="0">
              <a:spAutoFit/>
            </a:bodyPr>
            <a:lstStyle/>
            <a:p>
              <a:pPr algn="ctr"/>
              <a:r>
                <a:rPr lang="zh-CN" sz="760" b="1" dirty="0">
                  <a:solidFill>
                    <a:srgbClr val="FFFFFF"/>
                  </a:solidFill>
                  <a:latin typeface="+mn-lt"/>
                  <a:ea typeface="+mn-ea"/>
                  <a:cs typeface="+mn-cs"/>
                </a:rPr>
                <a:t>10</a:t>
              </a:r>
            </a:p>
          </p:txBody>
        </p:sp>
        <p:sp>
          <p:nvSpPr>
            <p:cNvPr id="57" name="TextBox 57"/>
            <p:cNvSpPr txBox="1"/>
            <p:nvPr/>
          </p:nvSpPr>
          <p:spPr>
            <a:xfrm>
              <a:off x="6065520" y="4313396"/>
              <a:ext cx="483621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实现：实现时的提示、技术要点、应避免的缺陷，以及特定于语言的问题</a:t>
              </a:r>
            </a:p>
          </p:txBody>
        </p:sp>
        <p:sp>
          <p:nvSpPr>
            <p:cNvPr id="58" name="Ellipse 58"/>
            <p:cNvSpPr/>
            <p:nvPr/>
          </p:nvSpPr>
          <p:spPr>
            <a:xfrm>
              <a:off x="5815965" y="4575810"/>
              <a:ext cx="160020" cy="160020"/>
            </a:xfrm>
            <a:prstGeom prst="ellipse">
              <a:avLst/>
            </a:prstGeom>
            <a:solidFill>
              <a:srgbClr val="334E68"/>
            </a:solidFill>
            <a:ln>
              <a:noFill/>
            </a:ln>
          </p:spPr>
        </p:sp>
        <p:sp>
          <p:nvSpPr>
            <p:cNvPr id="59" name="TextBox 59"/>
            <p:cNvSpPr txBox="1"/>
            <p:nvPr/>
          </p:nvSpPr>
          <p:spPr>
            <a:xfrm>
              <a:off x="5832128" y="4607528"/>
              <a:ext cx="127694" cy="150495"/>
            </a:xfrm>
            <a:prstGeom prst="rect">
              <a:avLst/>
            </a:prstGeom>
            <a:noFill/>
            <a:ln>
              <a:noFill/>
            </a:ln>
          </p:spPr>
          <p:txBody>
            <a:bodyPr wrap="none" lIns="0" tIns="0" rIns="0" bIns="0" anchor="t" anchorCtr="0">
              <a:spAutoFit/>
            </a:bodyPr>
            <a:lstStyle/>
            <a:p>
              <a:pPr algn="ctr"/>
              <a:r>
                <a:rPr lang="zh-CN" sz="760" b="1" dirty="0">
                  <a:solidFill>
                    <a:srgbClr val="FFFFFF"/>
                  </a:solidFill>
                  <a:latin typeface="+mn-lt"/>
                  <a:ea typeface="+mn-ea"/>
                  <a:cs typeface="+mn-cs"/>
                </a:rPr>
                <a:t>11</a:t>
              </a:r>
            </a:p>
          </p:txBody>
        </p:sp>
        <p:sp>
          <p:nvSpPr>
            <p:cNvPr id="60" name="TextBox 60"/>
            <p:cNvSpPr txBox="1"/>
            <p:nvPr/>
          </p:nvSpPr>
          <p:spPr>
            <a:xfrm>
              <a:off x="6065520" y="4585811"/>
              <a:ext cx="429475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代码示例：说明怎样用 C++ 或 Smalltalk 实现该模式的代码片段</a:t>
              </a:r>
            </a:p>
          </p:txBody>
        </p:sp>
        <p:sp>
          <p:nvSpPr>
            <p:cNvPr id="61" name="Ellipse 61"/>
            <p:cNvSpPr/>
            <p:nvPr/>
          </p:nvSpPr>
          <p:spPr>
            <a:xfrm>
              <a:off x="5815965" y="4848225"/>
              <a:ext cx="160020" cy="160020"/>
            </a:xfrm>
            <a:prstGeom prst="ellipse">
              <a:avLst/>
            </a:prstGeom>
            <a:solidFill>
              <a:srgbClr val="334E68"/>
            </a:solidFill>
            <a:ln>
              <a:noFill/>
            </a:ln>
          </p:spPr>
        </p:sp>
        <p:sp>
          <p:nvSpPr>
            <p:cNvPr id="62" name="TextBox 62"/>
            <p:cNvSpPr txBox="1"/>
            <p:nvPr/>
          </p:nvSpPr>
          <p:spPr>
            <a:xfrm>
              <a:off x="5832128" y="4879943"/>
              <a:ext cx="127694" cy="150495"/>
            </a:xfrm>
            <a:prstGeom prst="rect">
              <a:avLst/>
            </a:prstGeom>
            <a:noFill/>
            <a:ln>
              <a:noFill/>
            </a:ln>
          </p:spPr>
          <p:txBody>
            <a:bodyPr wrap="none" lIns="0" tIns="0" rIns="0" bIns="0" anchor="t" anchorCtr="0">
              <a:spAutoFit/>
            </a:bodyPr>
            <a:lstStyle/>
            <a:p>
              <a:pPr algn="ctr"/>
              <a:r>
                <a:rPr lang="zh-CN" sz="760" b="1" dirty="0">
                  <a:solidFill>
                    <a:srgbClr val="FFFFFF"/>
                  </a:solidFill>
                  <a:latin typeface="+mn-lt"/>
                  <a:ea typeface="+mn-ea"/>
                  <a:cs typeface="+mn-cs"/>
                </a:rPr>
                <a:t>12</a:t>
              </a:r>
            </a:p>
          </p:txBody>
        </p:sp>
        <p:sp>
          <p:nvSpPr>
            <p:cNvPr id="63" name="TextBox 63"/>
            <p:cNvSpPr txBox="1"/>
            <p:nvPr/>
          </p:nvSpPr>
          <p:spPr>
            <a:xfrm>
              <a:off x="6065520" y="4858226"/>
              <a:ext cx="498698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已知应用：实际系统中发现的例子，每个模式至少包括两个不同领域的实例</a:t>
              </a:r>
            </a:p>
          </p:txBody>
        </p:sp>
        <p:sp>
          <p:nvSpPr>
            <p:cNvPr id="64" name="Ellipse 64"/>
            <p:cNvSpPr/>
            <p:nvPr/>
          </p:nvSpPr>
          <p:spPr>
            <a:xfrm>
              <a:off x="5815965" y="5120640"/>
              <a:ext cx="160020" cy="160020"/>
            </a:xfrm>
            <a:prstGeom prst="ellipse">
              <a:avLst/>
            </a:prstGeom>
            <a:solidFill>
              <a:srgbClr val="334E68"/>
            </a:solidFill>
            <a:ln>
              <a:noFill/>
            </a:ln>
          </p:spPr>
        </p:sp>
        <p:sp>
          <p:nvSpPr>
            <p:cNvPr id="65" name="TextBox 65"/>
            <p:cNvSpPr txBox="1"/>
            <p:nvPr/>
          </p:nvSpPr>
          <p:spPr>
            <a:xfrm>
              <a:off x="5832128" y="5152358"/>
              <a:ext cx="127694" cy="150495"/>
            </a:xfrm>
            <a:prstGeom prst="rect">
              <a:avLst/>
            </a:prstGeom>
            <a:noFill/>
            <a:ln>
              <a:noFill/>
            </a:ln>
          </p:spPr>
          <p:txBody>
            <a:bodyPr wrap="none" lIns="0" tIns="0" rIns="0" bIns="0" anchor="t" anchorCtr="0">
              <a:spAutoFit/>
            </a:bodyPr>
            <a:lstStyle/>
            <a:p>
              <a:pPr algn="ctr"/>
              <a:r>
                <a:rPr lang="zh-CN" sz="760" b="1" dirty="0">
                  <a:solidFill>
                    <a:srgbClr val="FFFFFF"/>
                  </a:solidFill>
                  <a:latin typeface="+mn-lt"/>
                  <a:ea typeface="+mn-ea"/>
                  <a:cs typeface="+mn-cs"/>
                </a:rPr>
                <a:t>13</a:t>
              </a:r>
            </a:p>
          </p:txBody>
        </p:sp>
        <p:sp>
          <p:nvSpPr>
            <p:cNvPr id="66" name="TextBox 66"/>
            <p:cNvSpPr txBox="1"/>
            <p:nvPr/>
          </p:nvSpPr>
          <p:spPr>
            <a:xfrm>
              <a:off x="6065520" y="5130641"/>
              <a:ext cx="543930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相关模式：与之紧密相关的模式有哪些，重要的不同之处，该与哪些模式一起使用</a:t>
              </a:r>
            </a:p>
          </p:txBody>
        </p:sp>
      </p:grpSp>
      <p:grpSp>
        <p:nvGrpSpPr>
          <p:cNvPr id="74" name="takeaway"/>
          <p:cNvGrpSpPr/>
          <p:nvPr/>
        </p:nvGrpSpPr>
        <p:grpSpPr>
          <a:xfrm>
            <a:off x="533400" y="5874068"/>
            <a:ext cx="11125200" cy="488632"/>
            <a:chOff x="533400" y="5874068"/>
            <a:chExt cx="11125200" cy="488632"/>
          </a:xfrm>
        </p:grpSpPr>
        <p:sp>
          <p:nvSpPr>
            <p:cNvPr id="68" name="Rectangle 68"/>
            <p:cNvSpPr/>
            <p:nvPr/>
          </p:nvSpPr>
          <p:spPr>
            <a:xfrm>
              <a:off x="533400" y="5874068"/>
              <a:ext cx="11125200" cy="488632"/>
            </a:xfrm>
            <a:prstGeom prst="roundRect">
              <a:avLst>
                <a:gd name="adj" fmla="val 23392"/>
              </a:avLst>
            </a:prstGeom>
            <a:solidFill>
              <a:srgbClr val="FDEEE7"/>
            </a:solidFill>
            <a:ln>
              <a:noFill/>
            </a:ln>
          </p:spPr>
        </p:sp>
        <p:grpSp>
          <p:nvGrpSpPr>
            <p:cNvPr id="72" name="Group 72"/>
            <p:cNvGrpSpPr/>
            <p:nvPr/>
          </p:nvGrpSpPr>
          <p:grpSpPr>
            <a:xfrm>
              <a:off x="738188" y="6017895"/>
              <a:ext cx="200026" cy="200025"/>
              <a:chOff x="738188" y="6017895"/>
              <a:chExt cx="200026" cy="200025"/>
            </a:xfrm>
          </p:grpSpPr>
          <p:sp>
            <p:nvSpPr>
              <p:cNvPr id="69" name="Freeform 69"/>
              <p:cNvSpPr/>
              <p:nvPr/>
            </p:nvSpPr>
            <p:spPr>
              <a:xfrm>
                <a:off x="738188" y="601789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70" name="Freeform 70"/>
              <p:cNvSpPr/>
              <p:nvPr/>
            </p:nvSpPr>
            <p:spPr>
              <a:xfrm>
                <a:off x="777926" y="606234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71" name="Freeform 71"/>
              <p:cNvSpPr/>
              <p:nvPr/>
            </p:nvSpPr>
            <p:spPr>
              <a:xfrm>
                <a:off x="812642" y="617347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73" name="TextBox 73"/>
            <p:cNvSpPr txBox="1"/>
            <p:nvPr/>
          </p:nvSpPr>
          <p:spPr>
            <a:xfrm>
              <a:off x="1040892" y="6023610"/>
              <a:ext cx="6011037" cy="264033"/>
            </a:xfrm>
            <a:prstGeom prst="rect">
              <a:avLst/>
            </a:prstGeom>
            <a:noFill/>
            <a:ln>
              <a:noFill/>
            </a:ln>
          </p:spPr>
          <p:txBody>
            <a:bodyPr wrap="none" lIns="0" tIns="0" rIns="0" bIns="0" anchor="t" anchorCtr="0">
              <a:spAutoFit/>
            </a:bodyPr>
            <a:lstStyle/>
            <a:p>
              <a:pPr algn="l"/>
              <a:r>
                <a:rPr lang="zh-CN" sz="1350" dirty="0">
                  <a:solidFill>
                    <a:srgbClr val="C2410C"/>
                  </a:solidFill>
                  <a:latin typeface="+mn-lt"/>
                  <a:ea typeface="+mn-ea"/>
                  <a:cs typeface="+mn-cs"/>
                </a:rPr>
                <a:t>答题时按四要素展开就够：名字、解决什么问题、结构怎样、有什么代价。</a:t>
              </a:r>
            </a:p>
          </p:txBody>
        </p:sp>
      </p:grpSp>
      <p:grpSp>
        <p:nvGrpSpPr>
          <p:cNvPr id="77" name="footer"/>
          <p:cNvGrpSpPr/>
          <p:nvPr/>
        </p:nvGrpSpPr>
        <p:grpSpPr>
          <a:xfrm>
            <a:off x="528447" y="6581299"/>
            <a:ext cx="11135106" cy="190690"/>
            <a:chOff x="528447" y="6581299"/>
            <a:chExt cx="11135106" cy="190690"/>
          </a:xfrm>
        </p:grpSpPr>
        <p:sp>
          <p:nvSpPr>
            <p:cNvPr id="75" name="TextBox 75"/>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76" name="TextBox 7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49</a:t>
              </a:r>
            </a:p>
          </p:txBody>
        </p:sp>
      </p:grpSp>
    </p:spTree>
  </p:cSld>
  <p:clrMapOvr>
    <a:masterClrMapping/>
  </p:clrMapOvr>
  <p:transition xmlns:p14="http://schemas.microsoft.com/office/powerpoint/2010/main" p14:dur="400">
    <p:fad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60552" cy="909257"/>
            <a:chOff x="520446" y="342900"/>
            <a:chExt cx="6860552" cy="909257"/>
          </a:xfrm>
        </p:grpSpPr>
        <p:sp>
          <p:nvSpPr>
            <p:cNvPr id="2" name="Rectangle 2"/>
            <p:cNvSpPr/>
            <p:nvPr/>
          </p:nvSpPr>
          <p:spPr>
            <a:xfrm>
              <a:off x="533400" y="342900"/>
              <a:ext cx="2354580" cy="266700"/>
            </a:xfrm>
            <a:prstGeom prst="roundRect">
              <a:avLst>
                <a:gd name="adj" fmla="val 50000"/>
              </a:avLst>
            </a:prstGeom>
            <a:solidFill>
              <a:srgbClr val="E7EDF3"/>
            </a:solidFill>
            <a:ln>
              <a:noFill/>
            </a:ln>
          </p:spPr>
        </p:sp>
        <p:sp>
          <p:nvSpPr>
            <p:cNvPr id="3" name="TextBox 3"/>
            <p:cNvSpPr txBox="1"/>
            <p:nvPr/>
          </p:nvSpPr>
          <p:spPr>
            <a:xfrm>
              <a:off x="598479" y="407194"/>
              <a:ext cx="22244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设计模式</a:t>
              </a:r>
            </a:p>
          </p:txBody>
        </p:sp>
        <p:sp>
          <p:nvSpPr>
            <p:cNvPr id="4" name="TextBox 4"/>
            <p:cNvSpPr txBox="1"/>
            <p:nvPr/>
          </p:nvSpPr>
          <p:spPr>
            <a:xfrm>
              <a:off x="520446" y="753428"/>
              <a:ext cx="686055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GoF 编目：两个维度把 23 个模式排成一张表</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780" y="1548765"/>
            <a:ext cx="7082790" cy="293370"/>
            <a:chOff x="525780" y="1548765"/>
            <a:chExt cx="7082790" cy="293370"/>
          </a:xfrm>
        </p:grpSpPr>
        <p:sp>
          <p:nvSpPr>
            <p:cNvPr id="7" name="TextBox 7"/>
            <p:cNvSpPr txBox="1"/>
            <p:nvPr/>
          </p:nvSpPr>
          <p:spPr>
            <a:xfrm>
              <a:off x="525780" y="1548765"/>
              <a:ext cx="7082790" cy="293370"/>
            </a:xfrm>
            <a:prstGeom prst="rect">
              <a:avLst/>
            </a:prstGeom>
            <a:noFill/>
            <a:ln>
              <a:noFill/>
            </a:ln>
          </p:spPr>
          <p:txBody>
            <a:bodyPr wrap="none" lIns="0" tIns="0" rIns="0" bIns="0" anchor="t" anchorCtr="0">
              <a:spAutoFit/>
            </a:bodyPr>
            <a:lstStyle/>
            <a:p>
              <a:pPr algn="l"/>
              <a:r>
                <a:rPr lang="zh-CN" sz="1500" dirty="0">
                  <a:solidFill>
                    <a:srgbClr val="5B6475"/>
                  </a:solidFill>
                  <a:latin typeface="+mn-lt"/>
                  <a:ea typeface="+mn-ea"/>
                  <a:cs typeface="+mn-cs"/>
                </a:rPr>
                <a:t>横向是目的（模式用来做什么），纵向是范围（模式主要作用于类还是对象）。</a:t>
              </a:r>
            </a:p>
          </p:txBody>
        </p:sp>
      </p:grpSp>
      <p:grpSp>
        <p:nvGrpSpPr>
          <p:cNvPr id="28" name="c1-table-1"/>
          <p:cNvGrpSpPr/>
          <p:nvPr/>
        </p:nvGrpSpPr>
        <p:grpSpPr>
          <a:xfrm>
            <a:off x="533400" y="1954530"/>
            <a:ext cx="6276022" cy="2340293"/>
            <a:chOff x="533400" y="1954530"/>
            <a:chExt cx="6276022" cy="2340293"/>
          </a:xfrm>
        </p:grpSpPr>
        <p:sp>
          <p:nvSpPr>
            <p:cNvPr id="9" name="Rectangle 9"/>
            <p:cNvSpPr/>
            <p:nvPr/>
          </p:nvSpPr>
          <p:spPr>
            <a:xfrm>
              <a:off x="533400" y="1954530"/>
              <a:ext cx="6276022" cy="424815"/>
            </a:xfrm>
            <a:prstGeom prst="rect">
              <a:avLst/>
            </a:prstGeom>
            <a:solidFill>
              <a:srgbClr val="334E68"/>
            </a:solidFill>
            <a:ln>
              <a:noFill/>
            </a:ln>
          </p:spPr>
        </p:sp>
        <p:sp>
          <p:nvSpPr>
            <p:cNvPr id="10" name="TextBox 10"/>
            <p:cNvSpPr txBox="1"/>
            <p:nvPr/>
          </p:nvSpPr>
          <p:spPr>
            <a:xfrm>
              <a:off x="679132" y="2083118"/>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范围</a:t>
              </a:r>
            </a:p>
          </p:txBody>
        </p:sp>
        <p:sp>
          <p:nvSpPr>
            <p:cNvPr id="11" name="TextBox 11"/>
            <p:cNvSpPr txBox="1"/>
            <p:nvPr/>
          </p:nvSpPr>
          <p:spPr>
            <a:xfrm>
              <a:off x="1728026" y="2083118"/>
              <a:ext cx="49682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创建型</a:t>
              </a:r>
            </a:p>
          </p:txBody>
        </p:sp>
        <p:sp>
          <p:nvSpPr>
            <p:cNvPr id="12" name="TextBox 12"/>
            <p:cNvSpPr txBox="1"/>
            <p:nvPr/>
          </p:nvSpPr>
          <p:spPr>
            <a:xfrm>
              <a:off x="3485388" y="2083118"/>
              <a:ext cx="49682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结构型</a:t>
              </a:r>
            </a:p>
          </p:txBody>
        </p:sp>
        <p:sp>
          <p:nvSpPr>
            <p:cNvPr id="13" name="TextBox 13"/>
            <p:cNvSpPr txBox="1"/>
            <p:nvPr/>
          </p:nvSpPr>
          <p:spPr>
            <a:xfrm>
              <a:off x="5494210" y="2083118"/>
              <a:ext cx="49682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行为型</a:t>
              </a:r>
            </a:p>
          </p:txBody>
        </p:sp>
        <p:sp>
          <p:nvSpPr>
            <p:cNvPr id="14" name="TextBox 14"/>
            <p:cNvSpPr txBox="1"/>
            <p:nvPr/>
          </p:nvSpPr>
          <p:spPr>
            <a:xfrm>
              <a:off x="635889" y="2613660"/>
              <a:ext cx="173736"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类</a:t>
              </a:r>
            </a:p>
          </p:txBody>
        </p:sp>
        <p:sp>
          <p:nvSpPr>
            <p:cNvPr id="15" name="TextBox 15"/>
            <p:cNvSpPr txBox="1"/>
            <p:nvPr/>
          </p:nvSpPr>
          <p:spPr>
            <a:xfrm>
              <a:off x="1263587" y="2613660"/>
              <a:ext cx="1258765"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Factory Method</a:t>
              </a:r>
            </a:p>
          </p:txBody>
        </p:sp>
        <p:sp>
          <p:nvSpPr>
            <p:cNvPr id="16" name="TextBox 16"/>
            <p:cNvSpPr txBox="1"/>
            <p:nvPr/>
          </p:nvSpPr>
          <p:spPr>
            <a:xfrm>
              <a:off x="2895219" y="2613660"/>
              <a:ext cx="112379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Adapter（类）</a:t>
              </a:r>
            </a:p>
          </p:txBody>
        </p:sp>
        <p:sp>
          <p:nvSpPr>
            <p:cNvPr id="17" name="TextBox 17"/>
            <p:cNvSpPr txBox="1"/>
            <p:nvPr/>
          </p:nvSpPr>
          <p:spPr>
            <a:xfrm>
              <a:off x="4778312" y="2506980"/>
              <a:ext cx="171145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Interpreter、Template</a:t>
              </a:r>
              <a:br/>
              <a:r>
                <a:rPr lang="en-US" sz="1200" dirty="0">
                  <a:solidFill>
                    <a:srgbClr val="1F2937"/>
                  </a:solidFill>
                  <a:latin typeface="+mn-lt"/>
                  <a:ea typeface="+mn-ea"/>
                  <a:cs typeface="+mn-cs"/>
                </a:rPr>
                <a:t>Method</a:t>
              </a:r>
            </a:p>
          </p:txBody>
        </p:sp>
        <p:sp>
          <p:nvSpPr>
            <p:cNvPr id="18" name="Rectangle 18"/>
            <p:cNvSpPr/>
            <p:nvPr/>
          </p:nvSpPr>
          <p:spPr>
            <a:xfrm>
              <a:off x="533400" y="3011805"/>
              <a:ext cx="6276022" cy="9525"/>
            </a:xfrm>
            <a:prstGeom prst="rect">
              <a:avLst/>
            </a:prstGeom>
            <a:solidFill>
              <a:srgbClr val="D9DFEA"/>
            </a:solidFill>
            <a:ln>
              <a:noFill/>
            </a:ln>
          </p:spPr>
        </p:sp>
        <p:sp>
          <p:nvSpPr>
            <p:cNvPr id="19" name="Rectangle 19"/>
            <p:cNvSpPr/>
            <p:nvPr/>
          </p:nvSpPr>
          <p:spPr>
            <a:xfrm>
              <a:off x="533400" y="3016568"/>
              <a:ext cx="6276022" cy="1278255"/>
            </a:xfrm>
            <a:prstGeom prst="rect">
              <a:avLst/>
            </a:prstGeom>
            <a:solidFill>
              <a:srgbClr val="F4F6FB"/>
            </a:solidFill>
            <a:ln>
              <a:noFill/>
            </a:ln>
          </p:spPr>
        </p:sp>
        <p:sp>
          <p:nvSpPr>
            <p:cNvPr id="20" name="TextBox 20"/>
            <p:cNvSpPr txBox="1"/>
            <p:nvPr/>
          </p:nvSpPr>
          <p:spPr>
            <a:xfrm>
              <a:off x="635889" y="3571875"/>
              <a:ext cx="335280"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对象</a:t>
              </a:r>
            </a:p>
          </p:txBody>
        </p:sp>
        <p:sp>
          <p:nvSpPr>
            <p:cNvPr id="21" name="TextBox 21"/>
            <p:cNvSpPr txBox="1"/>
            <p:nvPr/>
          </p:nvSpPr>
          <p:spPr>
            <a:xfrm>
              <a:off x="1263587" y="3145155"/>
              <a:ext cx="918972" cy="1088136"/>
            </a:xfrm>
            <a:prstGeom prst="rect">
              <a:avLst/>
            </a:prstGeom>
            <a:noFill/>
            <a:ln>
              <a:noFill/>
            </a:ln>
          </p:spPr>
          <p:txBody>
            <a:bodyPr wrap="none" lIns="0" tIns="0" rIns="0" bIns="0" anchor="t" anchorCtr="0">
              <a:spAutoFit/>
            </a:bodyPr>
            <a:lstStyle/>
            <a:p>
              <a:pPr algn="l">
                <a:lnSpc>
                  <a:spcPts val="1680"/>
                </a:lnSpc>
              </a:pPr>
              <a:r>
                <a:rPr lang="en-US" sz="1200" dirty="0">
                  <a:solidFill>
                    <a:srgbClr val="1F2937"/>
                  </a:solidFill>
                  <a:latin typeface="+mn-lt"/>
                  <a:ea typeface="+mn-ea"/>
                  <a:cs typeface="+mn-cs"/>
                </a:rPr>
                <a:t>Abstract</a:t>
              </a:r>
              <a:br/>
              <a:r>
                <a:rPr lang="zh-CN" sz="1200" dirty="0">
                  <a:solidFill>
                    <a:srgbClr val="1F2937"/>
                  </a:solidFill>
                  <a:latin typeface="+mn-lt"/>
                  <a:ea typeface="+mn-ea"/>
                  <a:cs typeface="+mn-cs"/>
                </a:rPr>
                <a:t>Factory、</a:t>
              </a:r>
              <a:br/>
              <a:r>
                <a:rPr lang="zh-CN" sz="1200" dirty="0">
                  <a:solidFill>
                    <a:srgbClr val="1F2937"/>
                  </a:solidFill>
                  <a:latin typeface="+mn-lt"/>
                  <a:ea typeface="+mn-ea"/>
                  <a:cs typeface="+mn-cs"/>
                </a:rPr>
                <a:t>Builder、</a:t>
              </a:r>
              <a:br/>
              <a:r>
                <a:rPr lang="zh-CN" sz="1200" dirty="0">
                  <a:solidFill>
                    <a:srgbClr val="1F2937"/>
                  </a:solidFill>
                  <a:latin typeface="+mn-lt"/>
                  <a:ea typeface="+mn-ea"/>
                  <a:cs typeface="+mn-cs"/>
                </a:rPr>
                <a:t>Prototype、</a:t>
              </a:r>
              <a:br/>
              <a:r>
                <a:rPr lang="en-US" sz="1200" dirty="0">
                  <a:solidFill>
                    <a:srgbClr val="1F2937"/>
                  </a:solidFill>
                  <a:latin typeface="+mn-lt"/>
                  <a:ea typeface="+mn-ea"/>
                  <a:cs typeface="+mn-cs"/>
                </a:rPr>
                <a:t>Singleton</a:t>
              </a:r>
            </a:p>
          </p:txBody>
        </p:sp>
        <p:sp>
          <p:nvSpPr>
            <p:cNvPr id="22" name="TextBox 22"/>
            <p:cNvSpPr txBox="1"/>
            <p:nvPr/>
          </p:nvSpPr>
          <p:spPr>
            <a:xfrm>
              <a:off x="2895219" y="3251835"/>
              <a:ext cx="1574292" cy="87477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Adapter（对象）、</a:t>
              </a:r>
              <a:br/>
              <a:r>
                <a:rPr lang="zh-CN" sz="1200" dirty="0">
                  <a:solidFill>
                    <a:srgbClr val="1F2937"/>
                  </a:solidFill>
                  <a:latin typeface="+mn-lt"/>
                  <a:ea typeface="+mn-ea"/>
                  <a:cs typeface="+mn-cs"/>
                </a:rPr>
                <a:t>Bridge、Composite、</a:t>
              </a:r>
              <a:br/>
              <a:r>
                <a:rPr lang="zh-CN" sz="1200" dirty="0">
                  <a:solidFill>
                    <a:srgbClr val="1F2937"/>
                  </a:solidFill>
                  <a:latin typeface="+mn-lt"/>
                  <a:ea typeface="+mn-ea"/>
                  <a:cs typeface="+mn-cs"/>
                </a:rPr>
                <a:t>Decorator、Facade、</a:t>
              </a:r>
              <a:br/>
              <a:r>
                <a:rPr lang="zh-CN" sz="1200" dirty="0">
                  <a:solidFill>
                    <a:srgbClr val="1F2937"/>
                  </a:solidFill>
                  <a:latin typeface="+mn-lt"/>
                  <a:ea typeface="+mn-ea"/>
                  <a:cs typeface="+mn-cs"/>
                </a:rPr>
                <a:t>Flyweight、Proxy</a:t>
              </a:r>
            </a:p>
          </p:txBody>
        </p:sp>
        <p:sp>
          <p:nvSpPr>
            <p:cNvPr id="23" name="TextBox 23"/>
            <p:cNvSpPr txBox="1"/>
            <p:nvPr/>
          </p:nvSpPr>
          <p:spPr>
            <a:xfrm>
              <a:off x="4778312" y="3145155"/>
              <a:ext cx="1825752" cy="108813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Chain of Responsibility、</a:t>
              </a:r>
              <a:br/>
              <a:r>
                <a:rPr lang="zh-CN" sz="1200" dirty="0">
                  <a:solidFill>
                    <a:srgbClr val="1F2937"/>
                  </a:solidFill>
                  <a:latin typeface="+mn-lt"/>
                  <a:ea typeface="+mn-ea"/>
                  <a:cs typeface="+mn-cs"/>
                </a:rPr>
                <a:t>Command、Iterator、</a:t>
              </a:r>
              <a:br/>
              <a:r>
                <a:rPr lang="zh-CN" sz="1200" dirty="0">
                  <a:solidFill>
                    <a:srgbClr val="1F2937"/>
                  </a:solidFill>
                  <a:latin typeface="+mn-lt"/>
                  <a:ea typeface="+mn-ea"/>
                  <a:cs typeface="+mn-cs"/>
                </a:rPr>
                <a:t>Mediator、Memento、</a:t>
              </a:r>
              <a:br/>
              <a:r>
                <a:rPr lang="zh-CN" sz="1200" dirty="0">
                  <a:solidFill>
                    <a:srgbClr val="1F2937"/>
                  </a:solidFill>
                  <a:latin typeface="+mn-lt"/>
                  <a:ea typeface="+mn-ea"/>
                  <a:cs typeface="+mn-cs"/>
                </a:rPr>
                <a:t>Observer、State、</a:t>
              </a:r>
              <a:br/>
              <a:r>
                <a:rPr lang="zh-CN" sz="1200" dirty="0">
                  <a:solidFill>
                    <a:srgbClr val="1F2937"/>
                  </a:solidFill>
                  <a:latin typeface="+mn-lt"/>
                  <a:ea typeface="+mn-ea"/>
                  <a:cs typeface="+mn-cs"/>
                </a:rPr>
                <a:t>Strategy、Visitor</a:t>
              </a:r>
            </a:p>
          </p:txBody>
        </p:sp>
        <p:sp>
          <p:nvSpPr>
            <p:cNvPr id="24" name="Rectangle 24"/>
            <p:cNvSpPr/>
            <p:nvPr/>
          </p:nvSpPr>
          <p:spPr>
            <a:xfrm>
              <a:off x="533400" y="1954530"/>
              <a:ext cx="6276022" cy="2340292"/>
            </a:xfrm>
            <a:prstGeom prst="rect">
              <a:avLst/>
            </a:prstGeom>
            <a:noFill/>
            <a:ln w="14288">
              <a:solidFill>
                <a:srgbClr val="D9DFEA"/>
              </a:solidFill>
            </a:ln>
          </p:spPr>
        </p:sp>
        <p:sp>
          <p:nvSpPr>
            <p:cNvPr id="25" name="Rectangle 25"/>
            <p:cNvSpPr/>
            <p:nvPr/>
          </p:nvSpPr>
          <p:spPr>
            <a:xfrm>
              <a:off x="1156335" y="1954530"/>
              <a:ext cx="9525" cy="2340292"/>
            </a:xfrm>
            <a:prstGeom prst="rect">
              <a:avLst/>
            </a:prstGeom>
            <a:solidFill>
              <a:srgbClr val="D9DFEA"/>
            </a:solidFill>
            <a:ln>
              <a:noFill/>
            </a:ln>
          </p:spPr>
        </p:sp>
        <p:sp>
          <p:nvSpPr>
            <p:cNvPr id="26" name="Rectangle 26"/>
            <p:cNvSpPr/>
            <p:nvPr/>
          </p:nvSpPr>
          <p:spPr>
            <a:xfrm>
              <a:off x="2787968" y="1954530"/>
              <a:ext cx="9525" cy="2340292"/>
            </a:xfrm>
            <a:prstGeom prst="rect">
              <a:avLst/>
            </a:prstGeom>
            <a:solidFill>
              <a:srgbClr val="D9DFEA"/>
            </a:solidFill>
            <a:ln>
              <a:noFill/>
            </a:ln>
          </p:spPr>
        </p:sp>
        <p:sp>
          <p:nvSpPr>
            <p:cNvPr id="27" name="Rectangle 27"/>
            <p:cNvSpPr/>
            <p:nvPr/>
          </p:nvSpPr>
          <p:spPr>
            <a:xfrm>
              <a:off x="4671060" y="1954530"/>
              <a:ext cx="9525" cy="2340292"/>
            </a:xfrm>
            <a:prstGeom prst="rect">
              <a:avLst/>
            </a:prstGeom>
            <a:solidFill>
              <a:srgbClr val="D9DFEA"/>
            </a:solidFill>
            <a:ln>
              <a:noFill/>
            </a:ln>
          </p:spPr>
        </p:sp>
      </p:grpSp>
      <p:grpSp>
        <p:nvGrpSpPr>
          <p:cNvPr id="35" name="c1-callout-2"/>
          <p:cNvGrpSpPr/>
          <p:nvPr/>
        </p:nvGrpSpPr>
        <p:grpSpPr>
          <a:xfrm>
            <a:off x="533400" y="4474845"/>
            <a:ext cx="6276022" cy="939165"/>
            <a:chOff x="533400" y="4474845"/>
            <a:chExt cx="6276022" cy="939165"/>
          </a:xfrm>
        </p:grpSpPr>
        <p:sp>
          <p:nvSpPr>
            <p:cNvPr id="29" name="Rectangle 29"/>
            <p:cNvSpPr/>
            <p:nvPr/>
          </p:nvSpPr>
          <p:spPr>
            <a:xfrm>
              <a:off x="533400" y="4474845"/>
              <a:ext cx="6276022" cy="939165"/>
            </a:xfrm>
            <a:prstGeom prst="roundRect">
              <a:avLst>
                <a:gd name="adj" fmla="val 12170"/>
              </a:avLst>
            </a:prstGeom>
            <a:solidFill>
              <a:srgbClr val="FDEEE7"/>
            </a:solidFill>
            <a:ln>
              <a:noFill/>
            </a:ln>
          </p:spPr>
        </p:sp>
        <p:grpSp>
          <p:nvGrpSpPr>
            <p:cNvPr id="33" name="Group 33"/>
            <p:cNvGrpSpPr/>
            <p:nvPr/>
          </p:nvGrpSpPr>
          <p:grpSpPr>
            <a:xfrm>
              <a:off x="738188" y="4844415"/>
              <a:ext cx="200026" cy="200025"/>
              <a:chOff x="738188" y="4844415"/>
              <a:chExt cx="200026" cy="200025"/>
            </a:xfrm>
          </p:grpSpPr>
          <p:sp>
            <p:nvSpPr>
              <p:cNvPr id="30" name="Freeform 30"/>
              <p:cNvSpPr/>
              <p:nvPr/>
            </p:nvSpPr>
            <p:spPr>
              <a:xfrm>
                <a:off x="738188" y="484441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31" name="Freeform 31"/>
              <p:cNvSpPr/>
              <p:nvPr/>
            </p:nvSpPr>
            <p:spPr>
              <a:xfrm>
                <a:off x="777926" y="488886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32" name="Freeform 32"/>
              <p:cNvSpPr/>
              <p:nvPr/>
            </p:nvSpPr>
            <p:spPr>
              <a:xfrm>
                <a:off x="812642" y="499999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34" name="TextBox 34"/>
            <p:cNvSpPr txBox="1"/>
            <p:nvPr/>
          </p:nvSpPr>
          <p:spPr>
            <a:xfrm>
              <a:off x="1040511" y="4713446"/>
              <a:ext cx="5244338"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C2410C"/>
                  </a:solidFill>
                  <a:latin typeface="+mn-lt"/>
                  <a:ea typeface="+mn-ea"/>
                  <a:cs typeface="+mn-cs"/>
                </a:rPr>
                <a:t>创建型抽象实例化过程，结构型处理如何组合类和对象，行为型处</a:t>
              </a:r>
              <a:br/>
              <a:r>
                <a:rPr lang="zh-CN" sz="1420" dirty="0">
                  <a:solidFill>
                    <a:srgbClr val="C2410C"/>
                  </a:solidFill>
                  <a:latin typeface="+mn-lt"/>
                  <a:ea typeface="+mn-ea"/>
                  <a:cs typeface="+mn-cs"/>
                </a:rPr>
                <a:t>理算法和职责分配。</a:t>
              </a:r>
            </a:p>
          </p:txBody>
        </p:sp>
      </p:grpSp>
      <p:grpSp>
        <p:nvGrpSpPr>
          <p:cNvPr id="43" name="c2-card-1"/>
          <p:cNvGrpSpPr/>
          <p:nvPr/>
        </p:nvGrpSpPr>
        <p:grpSpPr>
          <a:xfrm>
            <a:off x="7114222" y="1954530"/>
            <a:ext cx="4544378" cy="1297305"/>
            <a:chOff x="7114222" y="1954530"/>
            <a:chExt cx="4544378" cy="1297305"/>
          </a:xfrm>
        </p:grpSpPr>
        <p:sp>
          <p:nvSpPr>
            <p:cNvPr id="36" name="Rectangle 36"/>
            <p:cNvSpPr/>
            <p:nvPr/>
          </p:nvSpPr>
          <p:spPr>
            <a:xfrm>
              <a:off x="7114222" y="1954530"/>
              <a:ext cx="4544378" cy="1297305"/>
            </a:xfrm>
            <a:prstGeom prst="roundRect">
              <a:avLst>
                <a:gd name="adj" fmla="val 10279"/>
              </a:avLst>
            </a:prstGeom>
            <a:solidFill>
              <a:srgbClr val="334E68"/>
            </a:solidFill>
            <a:ln>
              <a:noFill/>
            </a:ln>
          </p:spPr>
        </p:sp>
        <p:sp>
          <p:nvSpPr>
            <p:cNvPr id="37" name="Rectangle 37"/>
            <p:cNvSpPr/>
            <p:nvPr/>
          </p:nvSpPr>
          <p:spPr>
            <a:xfrm>
              <a:off x="7312342" y="2152650"/>
              <a:ext cx="1276350" cy="247650"/>
            </a:xfrm>
            <a:prstGeom prst="roundRect">
              <a:avLst>
                <a:gd name="adj" fmla="val 50000"/>
              </a:avLst>
            </a:prstGeom>
            <a:solidFill>
              <a:srgbClr val="243B53"/>
            </a:solidFill>
            <a:ln>
              <a:noFill/>
            </a:ln>
          </p:spPr>
        </p:sp>
        <p:sp>
          <p:nvSpPr>
            <p:cNvPr id="38" name="TextBox 38"/>
            <p:cNvSpPr txBox="1"/>
            <p:nvPr/>
          </p:nvSpPr>
          <p:spPr>
            <a:xfrm>
              <a:off x="7379780" y="2186940"/>
              <a:ext cx="1141476"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范围这一维怎么分</a:t>
              </a:r>
            </a:p>
          </p:txBody>
        </p:sp>
        <p:sp>
          <p:nvSpPr>
            <p:cNvPr id="39" name="Ellipse 39"/>
            <p:cNvSpPr/>
            <p:nvPr/>
          </p:nvSpPr>
          <p:spPr>
            <a:xfrm>
              <a:off x="7319962" y="2573655"/>
              <a:ext cx="60960" cy="60960"/>
            </a:xfrm>
            <a:prstGeom prst="ellipse">
              <a:avLst/>
            </a:prstGeom>
            <a:solidFill>
              <a:srgbClr val="FFFFFF"/>
            </a:solidFill>
            <a:ln>
              <a:noFill/>
            </a:ln>
          </p:spPr>
        </p:sp>
        <p:sp>
          <p:nvSpPr>
            <p:cNvPr id="40" name="TextBox 40"/>
            <p:cNvSpPr txBox="1"/>
            <p:nvPr/>
          </p:nvSpPr>
          <p:spPr>
            <a:xfrm>
              <a:off x="7476554" y="2513171"/>
              <a:ext cx="3187741" cy="278702"/>
            </a:xfrm>
            <a:prstGeom prst="rect">
              <a:avLst/>
            </a:prstGeom>
            <a:noFill/>
            <a:ln>
              <a:noFill/>
            </a:ln>
          </p:spPr>
          <p:txBody>
            <a:bodyPr wrap="none" lIns="0" tIns="0" rIns="0" bIns="0" anchor="t" anchorCtr="0">
              <a:spAutoFit/>
            </a:bodyPr>
            <a:lstStyle/>
            <a:p>
              <a:pPr algn="l"/>
              <a:r>
                <a:rPr lang="zh-CN" sz="1420" b="1" dirty="0">
                  <a:solidFill>
                    <a:srgbClr val="FFFFFF"/>
                  </a:solidFill>
                  <a:latin typeface="+mn-lt"/>
                  <a:ea typeface="+mn-ea"/>
                  <a:cs typeface="+mn-cs"/>
                </a:rPr>
                <a:t>类模式</a:t>
              </a:r>
              <a:r>
                <a:rPr lang="zh-CN" sz="1420" dirty="0">
                  <a:solidFill>
                    <a:srgbClr val="FFFFFF"/>
                  </a:solidFill>
                  <a:latin typeface="+mn-lt"/>
                  <a:ea typeface="+mn-ea"/>
                  <a:cs typeface="+mn-cs"/>
                </a:rPr>
                <a:t xml:space="preserve">：通过 </a:t>
              </a:r>
              <a:r>
                <a:rPr lang="zh-CN" sz="1420" b="1" dirty="0">
                  <a:solidFill>
                    <a:srgbClr val="FFD58A"/>
                  </a:solidFill>
                  <a:latin typeface="+mn-lt"/>
                  <a:ea typeface="+mn-ea"/>
                  <a:cs typeface="+mn-cs"/>
                </a:rPr>
                <a:t>继承</a:t>
              </a:r>
              <a:r>
                <a:rPr lang="zh-CN" sz="1420" dirty="0">
                  <a:solidFill>
                    <a:srgbClr val="FFFFFF"/>
                  </a:solidFill>
                  <a:latin typeface="+mn-lt"/>
                  <a:ea typeface="+mn-ea"/>
                  <a:cs typeface="+mn-cs"/>
                </a:rPr>
                <a:t xml:space="preserve"> 建立，编译时确定</a:t>
              </a:r>
            </a:p>
          </p:txBody>
        </p:sp>
        <p:sp>
          <p:nvSpPr>
            <p:cNvPr id="41" name="Ellipse 41"/>
            <p:cNvSpPr/>
            <p:nvPr/>
          </p:nvSpPr>
          <p:spPr>
            <a:xfrm>
              <a:off x="7319962" y="2890838"/>
              <a:ext cx="60960" cy="60960"/>
            </a:xfrm>
            <a:prstGeom prst="ellipse">
              <a:avLst/>
            </a:prstGeom>
            <a:solidFill>
              <a:srgbClr val="FFFFFF"/>
            </a:solidFill>
            <a:ln>
              <a:noFill/>
            </a:ln>
          </p:spPr>
        </p:sp>
        <p:sp>
          <p:nvSpPr>
            <p:cNvPr id="42" name="TextBox 42"/>
            <p:cNvSpPr txBox="1"/>
            <p:nvPr/>
          </p:nvSpPr>
          <p:spPr>
            <a:xfrm>
              <a:off x="7476554" y="2831306"/>
              <a:ext cx="3952382" cy="278702"/>
            </a:xfrm>
            <a:prstGeom prst="rect">
              <a:avLst/>
            </a:prstGeom>
            <a:noFill/>
            <a:ln>
              <a:noFill/>
            </a:ln>
          </p:spPr>
          <p:txBody>
            <a:bodyPr wrap="none" lIns="0" tIns="0" rIns="0" bIns="0" anchor="t" anchorCtr="0">
              <a:spAutoFit/>
            </a:bodyPr>
            <a:lstStyle/>
            <a:p>
              <a:pPr algn="l"/>
              <a:r>
                <a:rPr lang="zh-CN" sz="1420" b="1" dirty="0">
                  <a:solidFill>
                    <a:srgbClr val="FFFFFF"/>
                  </a:solidFill>
                  <a:latin typeface="+mn-lt"/>
                  <a:ea typeface="+mn-ea"/>
                  <a:cs typeface="+mn-cs"/>
                </a:rPr>
                <a:t>对象模式</a:t>
              </a:r>
              <a:r>
                <a:rPr lang="zh-CN" sz="1420" dirty="0">
                  <a:solidFill>
                    <a:srgbClr val="FFFFFF"/>
                  </a:solidFill>
                  <a:latin typeface="+mn-lt"/>
                  <a:ea typeface="+mn-ea"/>
                  <a:cs typeface="+mn-cs"/>
                </a:rPr>
                <a:t xml:space="preserve">：通过 </a:t>
              </a:r>
              <a:r>
                <a:rPr lang="zh-CN" sz="1420" b="1" dirty="0">
                  <a:solidFill>
                    <a:srgbClr val="FFD58A"/>
                  </a:solidFill>
                  <a:latin typeface="+mn-lt"/>
                  <a:ea typeface="+mn-ea"/>
                  <a:cs typeface="+mn-cs"/>
                </a:rPr>
                <a:t>组合与委托</a:t>
              </a:r>
              <a:r>
                <a:rPr lang="zh-CN" sz="1420" dirty="0">
                  <a:solidFill>
                    <a:srgbClr val="FFFFFF"/>
                  </a:solidFill>
                  <a:latin typeface="+mn-lt"/>
                  <a:ea typeface="+mn-ea"/>
                  <a:cs typeface="+mn-cs"/>
                </a:rPr>
                <a:t xml:space="preserve"> 建立，运行时可改</a:t>
              </a:r>
            </a:p>
          </p:txBody>
        </p:sp>
      </p:grpSp>
      <p:grpSp>
        <p:nvGrpSpPr>
          <p:cNvPr id="63" name="c2-bullets-2"/>
          <p:cNvGrpSpPr/>
          <p:nvPr/>
        </p:nvGrpSpPr>
        <p:grpSpPr>
          <a:xfrm>
            <a:off x="7106984" y="3455194"/>
            <a:ext cx="2540698" cy="2005869"/>
            <a:chOff x="7106984" y="3455194"/>
            <a:chExt cx="2540698" cy="2005869"/>
          </a:xfrm>
        </p:grpSpPr>
        <p:sp>
          <p:nvSpPr>
            <p:cNvPr id="44" name="TextBox 44"/>
            <p:cNvSpPr txBox="1"/>
            <p:nvPr/>
          </p:nvSpPr>
          <p:spPr>
            <a:xfrm>
              <a:off x="7106984" y="3455194"/>
              <a:ext cx="1926082"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怎样选择一个设计模式</a:t>
              </a:r>
            </a:p>
          </p:txBody>
        </p:sp>
        <p:sp>
          <p:nvSpPr>
            <p:cNvPr id="45" name="Ellipse 45"/>
            <p:cNvSpPr/>
            <p:nvPr/>
          </p:nvSpPr>
          <p:spPr>
            <a:xfrm>
              <a:off x="7113270" y="3776662"/>
              <a:ext cx="171450" cy="171450"/>
            </a:xfrm>
            <a:prstGeom prst="ellipse">
              <a:avLst/>
            </a:prstGeom>
            <a:solidFill>
              <a:srgbClr val="334E68"/>
            </a:solidFill>
            <a:ln>
              <a:noFill/>
            </a:ln>
          </p:spPr>
        </p:sp>
        <p:sp>
          <p:nvSpPr>
            <p:cNvPr id="46" name="TextBox 46"/>
            <p:cNvSpPr txBox="1"/>
            <p:nvPr/>
          </p:nvSpPr>
          <p:spPr>
            <a:xfrm>
              <a:off x="7162358" y="3810333"/>
              <a:ext cx="73274" cy="160496"/>
            </a:xfrm>
            <a:prstGeom prst="rect">
              <a:avLst/>
            </a:prstGeom>
            <a:noFill/>
            <a:ln>
              <a:noFill/>
            </a:ln>
          </p:spPr>
          <p:txBody>
            <a:bodyPr wrap="none" lIns="0" tIns="0" rIns="0" bIns="0" anchor="t" anchorCtr="0">
              <a:spAutoFit/>
            </a:bodyPr>
            <a:lstStyle/>
            <a:p>
              <a:pPr algn="ctr"/>
              <a:r>
                <a:rPr lang="zh-CN" sz="820" b="1" dirty="0">
                  <a:solidFill>
                    <a:srgbClr val="FFFFFF"/>
                  </a:solidFill>
                  <a:latin typeface="+mn-lt"/>
                  <a:ea typeface="+mn-ea"/>
                  <a:cs typeface="+mn-cs"/>
                </a:rPr>
                <a:t>1</a:t>
              </a:r>
            </a:p>
          </p:txBody>
        </p:sp>
        <p:sp>
          <p:nvSpPr>
            <p:cNvPr id="47" name="TextBox 47"/>
            <p:cNvSpPr txBox="1"/>
            <p:nvPr/>
          </p:nvSpPr>
          <p:spPr>
            <a:xfrm>
              <a:off x="7373874" y="3787140"/>
              <a:ext cx="227380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考虑模式是怎样解决设计问题的</a:t>
              </a:r>
            </a:p>
          </p:txBody>
        </p:sp>
        <p:sp>
          <p:nvSpPr>
            <p:cNvPr id="48" name="Ellipse 48"/>
            <p:cNvSpPr/>
            <p:nvPr/>
          </p:nvSpPr>
          <p:spPr>
            <a:xfrm>
              <a:off x="7113270" y="4064318"/>
              <a:ext cx="171450" cy="171450"/>
            </a:xfrm>
            <a:prstGeom prst="ellipse">
              <a:avLst/>
            </a:prstGeom>
            <a:solidFill>
              <a:srgbClr val="334E68"/>
            </a:solidFill>
            <a:ln>
              <a:noFill/>
            </a:ln>
          </p:spPr>
        </p:sp>
        <p:sp>
          <p:nvSpPr>
            <p:cNvPr id="49" name="TextBox 49"/>
            <p:cNvSpPr txBox="1"/>
            <p:nvPr/>
          </p:nvSpPr>
          <p:spPr>
            <a:xfrm>
              <a:off x="7162358" y="4097988"/>
              <a:ext cx="73274" cy="160496"/>
            </a:xfrm>
            <a:prstGeom prst="rect">
              <a:avLst/>
            </a:prstGeom>
            <a:noFill/>
            <a:ln>
              <a:noFill/>
            </a:ln>
          </p:spPr>
          <p:txBody>
            <a:bodyPr wrap="none" lIns="0" tIns="0" rIns="0" bIns="0" anchor="t" anchorCtr="0">
              <a:spAutoFit/>
            </a:bodyPr>
            <a:lstStyle/>
            <a:p>
              <a:pPr algn="ctr"/>
              <a:r>
                <a:rPr lang="zh-CN" sz="820" b="1" dirty="0">
                  <a:solidFill>
                    <a:srgbClr val="FFFFFF"/>
                  </a:solidFill>
                  <a:latin typeface="+mn-lt"/>
                  <a:ea typeface="+mn-ea"/>
                  <a:cs typeface="+mn-cs"/>
                </a:rPr>
                <a:t>2</a:t>
              </a:r>
            </a:p>
          </p:txBody>
        </p:sp>
        <p:sp>
          <p:nvSpPr>
            <p:cNvPr id="50" name="TextBox 50"/>
            <p:cNvSpPr txBox="1"/>
            <p:nvPr/>
          </p:nvSpPr>
          <p:spPr>
            <a:xfrm>
              <a:off x="7373874" y="4075748"/>
              <a:ext cx="146608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浏览模式的意图部分</a:t>
              </a:r>
            </a:p>
          </p:txBody>
        </p:sp>
        <p:sp>
          <p:nvSpPr>
            <p:cNvPr id="51" name="Ellipse 51"/>
            <p:cNvSpPr/>
            <p:nvPr/>
          </p:nvSpPr>
          <p:spPr>
            <a:xfrm>
              <a:off x="7113270" y="4351972"/>
              <a:ext cx="171450" cy="171450"/>
            </a:xfrm>
            <a:prstGeom prst="ellipse">
              <a:avLst/>
            </a:prstGeom>
            <a:solidFill>
              <a:srgbClr val="334E68"/>
            </a:solidFill>
            <a:ln>
              <a:noFill/>
            </a:ln>
          </p:spPr>
        </p:sp>
        <p:sp>
          <p:nvSpPr>
            <p:cNvPr id="52" name="TextBox 52"/>
            <p:cNvSpPr txBox="1"/>
            <p:nvPr/>
          </p:nvSpPr>
          <p:spPr>
            <a:xfrm>
              <a:off x="7162358" y="4386596"/>
              <a:ext cx="73274" cy="160496"/>
            </a:xfrm>
            <a:prstGeom prst="rect">
              <a:avLst/>
            </a:prstGeom>
            <a:noFill/>
            <a:ln>
              <a:noFill/>
            </a:ln>
          </p:spPr>
          <p:txBody>
            <a:bodyPr wrap="none" lIns="0" tIns="0" rIns="0" bIns="0" anchor="t" anchorCtr="0">
              <a:spAutoFit/>
            </a:bodyPr>
            <a:lstStyle/>
            <a:p>
              <a:pPr algn="ctr"/>
              <a:r>
                <a:rPr lang="zh-CN" sz="820" b="1" dirty="0">
                  <a:solidFill>
                    <a:srgbClr val="FFFFFF"/>
                  </a:solidFill>
                  <a:latin typeface="+mn-lt"/>
                  <a:ea typeface="+mn-ea"/>
                  <a:cs typeface="+mn-cs"/>
                </a:rPr>
                <a:t>3</a:t>
              </a:r>
            </a:p>
          </p:txBody>
        </p:sp>
        <p:sp>
          <p:nvSpPr>
            <p:cNvPr id="53" name="TextBox 53"/>
            <p:cNvSpPr txBox="1"/>
            <p:nvPr/>
          </p:nvSpPr>
          <p:spPr>
            <a:xfrm>
              <a:off x="7373874" y="4363402"/>
              <a:ext cx="1627632"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研究模式怎样互相关联</a:t>
              </a:r>
            </a:p>
          </p:txBody>
        </p:sp>
        <p:sp>
          <p:nvSpPr>
            <p:cNvPr id="54" name="Ellipse 54"/>
            <p:cNvSpPr/>
            <p:nvPr/>
          </p:nvSpPr>
          <p:spPr>
            <a:xfrm>
              <a:off x="7113270" y="4639628"/>
              <a:ext cx="171450" cy="171450"/>
            </a:xfrm>
            <a:prstGeom prst="ellipse">
              <a:avLst/>
            </a:prstGeom>
            <a:solidFill>
              <a:srgbClr val="334E68"/>
            </a:solidFill>
            <a:ln>
              <a:noFill/>
            </a:ln>
          </p:spPr>
        </p:sp>
        <p:sp>
          <p:nvSpPr>
            <p:cNvPr id="55" name="TextBox 55"/>
            <p:cNvSpPr txBox="1"/>
            <p:nvPr/>
          </p:nvSpPr>
          <p:spPr>
            <a:xfrm>
              <a:off x="7162358" y="4674251"/>
              <a:ext cx="73274" cy="160496"/>
            </a:xfrm>
            <a:prstGeom prst="rect">
              <a:avLst/>
            </a:prstGeom>
            <a:noFill/>
            <a:ln>
              <a:noFill/>
            </a:ln>
          </p:spPr>
          <p:txBody>
            <a:bodyPr wrap="none" lIns="0" tIns="0" rIns="0" bIns="0" anchor="t" anchorCtr="0">
              <a:spAutoFit/>
            </a:bodyPr>
            <a:lstStyle/>
            <a:p>
              <a:pPr algn="ctr"/>
              <a:r>
                <a:rPr lang="zh-CN" sz="820" b="1" dirty="0">
                  <a:solidFill>
                    <a:srgbClr val="FFFFFF"/>
                  </a:solidFill>
                  <a:latin typeface="+mn-lt"/>
                  <a:ea typeface="+mn-ea"/>
                  <a:cs typeface="+mn-cs"/>
                </a:rPr>
                <a:t>4</a:t>
              </a:r>
            </a:p>
          </p:txBody>
        </p:sp>
        <p:sp>
          <p:nvSpPr>
            <p:cNvPr id="56" name="TextBox 56"/>
            <p:cNvSpPr txBox="1"/>
            <p:nvPr/>
          </p:nvSpPr>
          <p:spPr>
            <a:xfrm>
              <a:off x="7373874" y="4651058"/>
              <a:ext cx="146608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研究目的相似的模式</a:t>
              </a:r>
            </a:p>
          </p:txBody>
        </p:sp>
        <p:sp>
          <p:nvSpPr>
            <p:cNvPr id="57" name="Ellipse 57"/>
            <p:cNvSpPr/>
            <p:nvPr/>
          </p:nvSpPr>
          <p:spPr>
            <a:xfrm>
              <a:off x="7113270" y="4928235"/>
              <a:ext cx="171450" cy="171450"/>
            </a:xfrm>
            <a:prstGeom prst="ellipse">
              <a:avLst/>
            </a:prstGeom>
            <a:solidFill>
              <a:srgbClr val="334E68"/>
            </a:solidFill>
            <a:ln>
              <a:noFill/>
            </a:ln>
          </p:spPr>
        </p:sp>
        <p:sp>
          <p:nvSpPr>
            <p:cNvPr id="58" name="TextBox 58"/>
            <p:cNvSpPr txBox="1"/>
            <p:nvPr/>
          </p:nvSpPr>
          <p:spPr>
            <a:xfrm>
              <a:off x="7162358" y="4961906"/>
              <a:ext cx="73274" cy="160496"/>
            </a:xfrm>
            <a:prstGeom prst="rect">
              <a:avLst/>
            </a:prstGeom>
            <a:noFill/>
            <a:ln>
              <a:noFill/>
            </a:ln>
          </p:spPr>
          <p:txBody>
            <a:bodyPr wrap="none" lIns="0" tIns="0" rIns="0" bIns="0" anchor="t" anchorCtr="0">
              <a:spAutoFit/>
            </a:bodyPr>
            <a:lstStyle/>
            <a:p>
              <a:pPr algn="ctr"/>
              <a:r>
                <a:rPr lang="zh-CN" sz="820" b="1" dirty="0">
                  <a:solidFill>
                    <a:srgbClr val="FFFFFF"/>
                  </a:solidFill>
                  <a:latin typeface="+mn-lt"/>
                  <a:ea typeface="+mn-ea"/>
                  <a:cs typeface="+mn-cs"/>
                </a:rPr>
                <a:t>5</a:t>
              </a:r>
            </a:p>
          </p:txBody>
        </p:sp>
        <p:sp>
          <p:nvSpPr>
            <p:cNvPr id="59" name="TextBox 59"/>
            <p:cNvSpPr txBox="1"/>
            <p:nvPr/>
          </p:nvSpPr>
          <p:spPr>
            <a:xfrm>
              <a:off x="7373874" y="4938712"/>
              <a:ext cx="146608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检查重新设计的原因</a:t>
              </a:r>
            </a:p>
          </p:txBody>
        </p:sp>
        <p:sp>
          <p:nvSpPr>
            <p:cNvPr id="60" name="Ellipse 60"/>
            <p:cNvSpPr/>
            <p:nvPr/>
          </p:nvSpPr>
          <p:spPr>
            <a:xfrm>
              <a:off x="7113270" y="5215890"/>
              <a:ext cx="171450" cy="171450"/>
            </a:xfrm>
            <a:prstGeom prst="ellipse">
              <a:avLst/>
            </a:prstGeom>
            <a:solidFill>
              <a:srgbClr val="334E68"/>
            </a:solidFill>
            <a:ln>
              <a:noFill/>
            </a:ln>
          </p:spPr>
        </p:sp>
        <p:sp>
          <p:nvSpPr>
            <p:cNvPr id="61" name="TextBox 61"/>
            <p:cNvSpPr txBox="1"/>
            <p:nvPr/>
          </p:nvSpPr>
          <p:spPr>
            <a:xfrm>
              <a:off x="7162358" y="5249561"/>
              <a:ext cx="73274" cy="160496"/>
            </a:xfrm>
            <a:prstGeom prst="rect">
              <a:avLst/>
            </a:prstGeom>
            <a:noFill/>
            <a:ln>
              <a:noFill/>
            </a:ln>
          </p:spPr>
          <p:txBody>
            <a:bodyPr wrap="none" lIns="0" tIns="0" rIns="0" bIns="0" anchor="t" anchorCtr="0">
              <a:spAutoFit/>
            </a:bodyPr>
            <a:lstStyle/>
            <a:p>
              <a:pPr algn="ctr"/>
              <a:r>
                <a:rPr lang="zh-CN" sz="820" b="1" dirty="0">
                  <a:solidFill>
                    <a:srgbClr val="FFFFFF"/>
                  </a:solidFill>
                  <a:latin typeface="+mn-lt"/>
                  <a:ea typeface="+mn-ea"/>
                  <a:cs typeface="+mn-cs"/>
                </a:rPr>
                <a:t>6</a:t>
              </a:r>
            </a:p>
          </p:txBody>
        </p:sp>
        <p:sp>
          <p:nvSpPr>
            <p:cNvPr id="62" name="TextBox 62"/>
            <p:cNvSpPr txBox="1"/>
            <p:nvPr/>
          </p:nvSpPr>
          <p:spPr>
            <a:xfrm>
              <a:off x="7373874" y="5226367"/>
              <a:ext cx="178917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考虑设计中哪些是可变的</a:t>
              </a:r>
            </a:p>
          </p:txBody>
        </p:sp>
      </p:grpSp>
      <p:grpSp>
        <p:nvGrpSpPr>
          <p:cNvPr id="69" name="takeaway"/>
          <p:cNvGrpSpPr/>
          <p:nvPr/>
        </p:nvGrpSpPr>
        <p:grpSpPr>
          <a:xfrm>
            <a:off x="533400" y="5606415"/>
            <a:ext cx="11125200" cy="756285"/>
            <a:chOff x="533400" y="5606415"/>
            <a:chExt cx="11125200" cy="756285"/>
          </a:xfrm>
        </p:grpSpPr>
        <p:sp>
          <p:nvSpPr>
            <p:cNvPr id="64" name="Rectangle 64"/>
            <p:cNvSpPr/>
            <p:nvPr/>
          </p:nvSpPr>
          <p:spPr>
            <a:xfrm>
              <a:off x="533400" y="5606415"/>
              <a:ext cx="11125200" cy="756285"/>
            </a:xfrm>
            <a:prstGeom prst="roundRect">
              <a:avLst>
                <a:gd name="adj" fmla="val 15113"/>
              </a:avLst>
            </a:prstGeom>
            <a:solidFill>
              <a:srgbClr val="334E68"/>
            </a:solidFill>
            <a:ln>
              <a:noFill/>
            </a:ln>
          </p:spPr>
        </p:sp>
        <p:grpSp>
          <p:nvGrpSpPr>
            <p:cNvPr id="67" name="Group 67"/>
            <p:cNvGrpSpPr/>
            <p:nvPr/>
          </p:nvGrpSpPr>
          <p:grpSpPr>
            <a:xfrm>
              <a:off x="738188" y="5884547"/>
              <a:ext cx="200023" cy="200023"/>
              <a:chOff x="738188" y="5884547"/>
              <a:chExt cx="200023" cy="200023"/>
            </a:xfrm>
          </p:grpSpPr>
          <p:sp>
            <p:nvSpPr>
              <p:cNvPr id="65" name="Freeform 65"/>
              <p:cNvSpPr/>
              <p:nvPr/>
            </p:nvSpPr>
            <p:spPr>
              <a:xfrm>
                <a:off x="738188" y="588454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66" name="Freeform 66"/>
              <p:cNvSpPr/>
              <p:nvPr/>
            </p:nvSpPr>
            <p:spPr>
              <a:xfrm>
                <a:off x="871538" y="595122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8" name="TextBox 68"/>
            <p:cNvSpPr txBox="1"/>
            <p:nvPr/>
          </p:nvSpPr>
          <p:spPr>
            <a:xfrm>
              <a:off x="1040511" y="5753576"/>
              <a:ext cx="9951212"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FFFFFF"/>
                  </a:solidFill>
                  <a:latin typeface="+mn-lt"/>
                  <a:ea typeface="+mn-ea"/>
                  <a:cs typeface="+mn-cs"/>
                </a:rPr>
                <a:t>把“设计中哪些是可变的”找出来，就等于找到了该用哪个模式：变的是创建过程用创建型，变的是结构用结构型，变的是算法</a:t>
              </a:r>
              <a:br/>
              <a:r>
                <a:rPr lang="zh-CN" sz="1420" dirty="0">
                  <a:solidFill>
                    <a:srgbClr val="FFFFFF"/>
                  </a:solidFill>
                  <a:latin typeface="+mn-lt"/>
                  <a:ea typeface="+mn-ea"/>
                  <a:cs typeface="+mn-cs"/>
                </a:rPr>
                <a:t>和职责用行为型。</a:t>
              </a:r>
            </a:p>
          </p:txBody>
        </p:sp>
      </p:grpSp>
      <p:grpSp>
        <p:nvGrpSpPr>
          <p:cNvPr id="72" name="footer"/>
          <p:cNvGrpSpPr/>
          <p:nvPr/>
        </p:nvGrpSpPr>
        <p:grpSpPr>
          <a:xfrm>
            <a:off x="528447" y="6581299"/>
            <a:ext cx="11135106" cy="190690"/>
            <a:chOff x="528447" y="6581299"/>
            <a:chExt cx="11135106" cy="190690"/>
          </a:xfrm>
        </p:grpSpPr>
        <p:sp>
          <p:nvSpPr>
            <p:cNvPr id="70" name="TextBox 70"/>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71" name="TextBox 7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50</a:t>
              </a:r>
            </a:p>
          </p:txBody>
        </p:sp>
      </p:grpSp>
    </p:spTree>
  </p:cSld>
  <p:clrMapOvr>
    <a:masterClrMapping/>
  </p:clrMapOvr>
  <p:transition xmlns:p14="http://schemas.microsoft.com/office/powerpoint/2010/main" p14:dur="400">
    <p:fade/>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175123" cy="909257"/>
            <a:chOff x="520446" y="342900"/>
            <a:chExt cx="5175123" cy="909257"/>
          </a:xfrm>
        </p:grpSpPr>
        <p:sp>
          <p:nvSpPr>
            <p:cNvPr id="2" name="Rectangle 2"/>
            <p:cNvSpPr/>
            <p:nvPr/>
          </p:nvSpPr>
          <p:spPr>
            <a:xfrm>
              <a:off x="533400" y="342900"/>
              <a:ext cx="2354580" cy="266700"/>
            </a:xfrm>
            <a:prstGeom prst="roundRect">
              <a:avLst>
                <a:gd name="adj" fmla="val 50000"/>
              </a:avLst>
            </a:prstGeom>
            <a:solidFill>
              <a:srgbClr val="E7EDF3"/>
            </a:solidFill>
            <a:ln>
              <a:noFill/>
            </a:ln>
          </p:spPr>
        </p:sp>
        <p:sp>
          <p:nvSpPr>
            <p:cNvPr id="3" name="TextBox 3"/>
            <p:cNvSpPr txBox="1"/>
            <p:nvPr/>
          </p:nvSpPr>
          <p:spPr>
            <a:xfrm>
              <a:off x="598479" y="407194"/>
              <a:ext cx="22244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设计模式</a:t>
              </a:r>
            </a:p>
          </p:txBody>
        </p:sp>
        <p:sp>
          <p:nvSpPr>
            <p:cNvPr id="4" name="TextBox 4"/>
            <p:cNvSpPr txBox="1"/>
            <p:nvPr/>
          </p:nvSpPr>
          <p:spPr>
            <a:xfrm>
              <a:off x="520446" y="753428"/>
              <a:ext cx="517512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怎样使用一个设计模式：七个步骤</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6" name="c1-table-1"/>
          <p:cNvGrpSpPr/>
          <p:nvPr/>
        </p:nvGrpSpPr>
        <p:grpSpPr>
          <a:xfrm>
            <a:off x="533400" y="1524000"/>
            <a:ext cx="5951220" cy="3050858"/>
            <a:chOff x="533400" y="1524000"/>
            <a:chExt cx="5951220" cy="3050858"/>
          </a:xfrm>
        </p:grpSpPr>
        <p:sp>
          <p:nvSpPr>
            <p:cNvPr id="7" name="Rectangle 7"/>
            <p:cNvSpPr/>
            <p:nvPr/>
          </p:nvSpPr>
          <p:spPr>
            <a:xfrm>
              <a:off x="533400" y="1524000"/>
              <a:ext cx="5951220" cy="381000"/>
            </a:xfrm>
            <a:prstGeom prst="rect">
              <a:avLst/>
            </a:prstGeom>
            <a:solidFill>
              <a:srgbClr val="334E68"/>
            </a:solidFill>
            <a:ln>
              <a:noFill/>
            </a:ln>
          </p:spPr>
        </p:sp>
        <p:sp>
          <p:nvSpPr>
            <p:cNvPr id="8" name="TextBox 8"/>
            <p:cNvSpPr txBox="1"/>
            <p:nvPr/>
          </p:nvSpPr>
          <p:spPr>
            <a:xfrm>
              <a:off x="952500" y="1641157"/>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步骤</a:t>
              </a:r>
            </a:p>
          </p:txBody>
        </p:sp>
        <p:sp>
          <p:nvSpPr>
            <p:cNvPr id="9" name="TextBox 9"/>
            <p:cNvSpPr txBox="1"/>
            <p:nvPr/>
          </p:nvSpPr>
          <p:spPr>
            <a:xfrm>
              <a:off x="2875407" y="1641157"/>
              <a:ext cx="434721"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做什么</a:t>
              </a:r>
            </a:p>
          </p:txBody>
        </p:sp>
        <p:sp>
          <p:nvSpPr>
            <p:cNvPr id="10" name="TextBox 10"/>
            <p:cNvSpPr txBox="1"/>
            <p:nvPr/>
          </p:nvSpPr>
          <p:spPr>
            <a:xfrm>
              <a:off x="4790504" y="1641157"/>
              <a:ext cx="1424178"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主要读描述中的哪几项</a:t>
              </a:r>
            </a:p>
          </p:txBody>
        </p:sp>
        <p:sp>
          <p:nvSpPr>
            <p:cNvPr id="11" name="TextBox 11"/>
            <p:cNvSpPr txBox="1"/>
            <p:nvPr/>
          </p:nvSpPr>
          <p:spPr>
            <a:xfrm>
              <a:off x="628078" y="2023110"/>
              <a:ext cx="419526"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1 通读</a:t>
              </a:r>
            </a:p>
          </p:txBody>
        </p:sp>
        <p:sp>
          <p:nvSpPr>
            <p:cNvPr id="12" name="TextBox 12"/>
            <p:cNvSpPr txBox="1"/>
            <p:nvPr/>
          </p:nvSpPr>
          <p:spPr>
            <a:xfrm>
              <a:off x="1758696" y="2023110"/>
              <a:ext cx="241363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大致浏览一遍，确定模式适合你的问题</a:t>
              </a:r>
            </a:p>
          </p:txBody>
        </p:sp>
        <p:sp>
          <p:nvSpPr>
            <p:cNvPr id="13" name="TextBox 13"/>
            <p:cNvSpPr txBox="1"/>
            <p:nvPr/>
          </p:nvSpPr>
          <p:spPr>
            <a:xfrm>
              <a:off x="4615244" y="2023110"/>
              <a:ext cx="141004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(5) 适用性、(9) 效果</a:t>
              </a:r>
            </a:p>
          </p:txBody>
        </p:sp>
        <p:sp>
          <p:nvSpPr>
            <p:cNvPr id="14" name="Rectangle 14"/>
            <p:cNvSpPr/>
            <p:nvPr/>
          </p:nvSpPr>
          <p:spPr>
            <a:xfrm>
              <a:off x="533400" y="2282190"/>
              <a:ext cx="5951220" cy="9525"/>
            </a:xfrm>
            <a:prstGeom prst="rect">
              <a:avLst/>
            </a:prstGeom>
            <a:solidFill>
              <a:srgbClr val="D9DFEA"/>
            </a:solidFill>
            <a:ln>
              <a:noFill/>
            </a:ln>
          </p:spPr>
        </p:sp>
        <p:sp>
          <p:nvSpPr>
            <p:cNvPr id="15" name="Rectangle 15"/>
            <p:cNvSpPr/>
            <p:nvPr/>
          </p:nvSpPr>
          <p:spPr>
            <a:xfrm>
              <a:off x="533400" y="2286952"/>
              <a:ext cx="5951220" cy="381000"/>
            </a:xfrm>
            <a:prstGeom prst="rect">
              <a:avLst/>
            </a:prstGeom>
            <a:solidFill>
              <a:srgbClr val="F4F6FB"/>
            </a:solidFill>
            <a:ln>
              <a:noFill/>
            </a:ln>
          </p:spPr>
        </p:sp>
        <p:sp>
          <p:nvSpPr>
            <p:cNvPr id="16" name="TextBox 16"/>
            <p:cNvSpPr txBox="1"/>
            <p:nvPr/>
          </p:nvSpPr>
          <p:spPr>
            <a:xfrm>
              <a:off x="628078" y="2404110"/>
              <a:ext cx="560877"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2 看结构</a:t>
              </a:r>
            </a:p>
          </p:txBody>
        </p:sp>
        <p:sp>
          <p:nvSpPr>
            <p:cNvPr id="17" name="TextBox 17"/>
            <p:cNvSpPr txBox="1"/>
            <p:nvPr/>
          </p:nvSpPr>
          <p:spPr>
            <a:xfrm>
              <a:off x="1758696" y="2404110"/>
              <a:ext cx="184823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弄清有几个角色、各自的职责</a:t>
              </a:r>
            </a:p>
          </p:txBody>
        </p:sp>
        <p:sp>
          <p:nvSpPr>
            <p:cNvPr id="18" name="TextBox 18"/>
            <p:cNvSpPr txBox="1"/>
            <p:nvPr/>
          </p:nvSpPr>
          <p:spPr>
            <a:xfrm>
              <a:off x="4615244" y="2404110"/>
              <a:ext cx="126869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(6) 结构、(8) 协作</a:t>
              </a:r>
            </a:p>
          </p:txBody>
        </p:sp>
        <p:sp>
          <p:nvSpPr>
            <p:cNvPr id="19" name="Rectangle 19"/>
            <p:cNvSpPr/>
            <p:nvPr/>
          </p:nvSpPr>
          <p:spPr>
            <a:xfrm>
              <a:off x="533400" y="2663190"/>
              <a:ext cx="5951220" cy="9525"/>
            </a:xfrm>
            <a:prstGeom prst="rect">
              <a:avLst/>
            </a:prstGeom>
            <a:solidFill>
              <a:srgbClr val="D9DFEA"/>
            </a:solidFill>
            <a:ln>
              <a:noFill/>
            </a:ln>
          </p:spPr>
        </p:sp>
        <p:sp>
          <p:nvSpPr>
            <p:cNvPr id="20" name="TextBox 20"/>
            <p:cNvSpPr txBox="1"/>
            <p:nvPr/>
          </p:nvSpPr>
          <p:spPr>
            <a:xfrm>
              <a:off x="628078" y="2785110"/>
              <a:ext cx="560877"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3 看代码</a:t>
              </a:r>
            </a:p>
          </p:txBody>
        </p:sp>
        <p:sp>
          <p:nvSpPr>
            <p:cNvPr id="21" name="TextBox 21"/>
            <p:cNvSpPr txBox="1"/>
            <p:nvPr/>
          </p:nvSpPr>
          <p:spPr>
            <a:xfrm>
              <a:off x="1758696" y="2785110"/>
              <a:ext cx="100012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体会具体的写法</a:t>
              </a:r>
            </a:p>
          </p:txBody>
        </p:sp>
        <p:sp>
          <p:nvSpPr>
            <p:cNvPr id="22" name="TextBox 22"/>
            <p:cNvSpPr txBox="1"/>
            <p:nvPr/>
          </p:nvSpPr>
          <p:spPr>
            <a:xfrm>
              <a:off x="4615244" y="2785110"/>
              <a:ext cx="92945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(11) 代码示例</a:t>
              </a:r>
            </a:p>
          </p:txBody>
        </p:sp>
        <p:sp>
          <p:nvSpPr>
            <p:cNvPr id="23" name="Rectangle 23"/>
            <p:cNvSpPr/>
            <p:nvPr/>
          </p:nvSpPr>
          <p:spPr>
            <a:xfrm>
              <a:off x="533400" y="3045142"/>
              <a:ext cx="5951220" cy="9525"/>
            </a:xfrm>
            <a:prstGeom prst="rect">
              <a:avLst/>
            </a:prstGeom>
            <a:solidFill>
              <a:srgbClr val="D9DFEA"/>
            </a:solidFill>
            <a:ln>
              <a:noFill/>
            </a:ln>
          </p:spPr>
        </p:sp>
        <p:sp>
          <p:nvSpPr>
            <p:cNvPr id="24" name="Rectangle 24"/>
            <p:cNvSpPr/>
            <p:nvPr/>
          </p:nvSpPr>
          <p:spPr>
            <a:xfrm>
              <a:off x="533400" y="3049905"/>
              <a:ext cx="5951220" cy="381000"/>
            </a:xfrm>
            <a:prstGeom prst="rect">
              <a:avLst/>
            </a:prstGeom>
            <a:solidFill>
              <a:srgbClr val="F4F6FB"/>
            </a:solidFill>
            <a:ln>
              <a:noFill/>
            </a:ln>
          </p:spPr>
        </p:sp>
        <p:sp>
          <p:nvSpPr>
            <p:cNvPr id="25" name="Rectangle 25"/>
            <p:cNvSpPr/>
            <p:nvPr/>
          </p:nvSpPr>
          <p:spPr>
            <a:xfrm>
              <a:off x="542925" y="3059430"/>
              <a:ext cx="1111568" cy="361950"/>
            </a:xfrm>
            <a:prstGeom prst="rect">
              <a:avLst/>
            </a:prstGeom>
            <a:solidFill>
              <a:srgbClr val="FDEEE7"/>
            </a:solidFill>
            <a:ln>
              <a:noFill/>
            </a:ln>
          </p:spPr>
        </p:sp>
        <p:sp>
          <p:nvSpPr>
            <p:cNvPr id="26" name="TextBox 26"/>
            <p:cNvSpPr txBox="1"/>
            <p:nvPr/>
          </p:nvSpPr>
          <p:spPr>
            <a:xfrm>
              <a:off x="628078" y="3167062"/>
              <a:ext cx="560877"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4 起名字</a:t>
              </a:r>
            </a:p>
          </p:txBody>
        </p:sp>
        <p:sp>
          <p:nvSpPr>
            <p:cNvPr id="27" name="TextBox 27"/>
            <p:cNvSpPr txBox="1"/>
            <p:nvPr/>
          </p:nvSpPr>
          <p:spPr>
            <a:xfrm>
              <a:off x="1758696" y="3167062"/>
              <a:ext cx="2554986"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给参与者起在应用上下文中有意义的名字</a:t>
              </a:r>
            </a:p>
          </p:txBody>
        </p:sp>
        <p:sp>
          <p:nvSpPr>
            <p:cNvPr id="28" name="TextBox 28"/>
            <p:cNvSpPr txBox="1"/>
            <p:nvPr/>
          </p:nvSpPr>
          <p:spPr>
            <a:xfrm>
              <a:off x="4615244" y="3167062"/>
              <a:ext cx="71035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(7) 参与者</a:t>
              </a:r>
            </a:p>
          </p:txBody>
        </p:sp>
        <p:sp>
          <p:nvSpPr>
            <p:cNvPr id="29" name="Rectangle 29"/>
            <p:cNvSpPr/>
            <p:nvPr/>
          </p:nvSpPr>
          <p:spPr>
            <a:xfrm>
              <a:off x="533400" y="3426142"/>
              <a:ext cx="5951220" cy="9525"/>
            </a:xfrm>
            <a:prstGeom prst="rect">
              <a:avLst/>
            </a:prstGeom>
            <a:solidFill>
              <a:srgbClr val="D9DFEA"/>
            </a:solidFill>
            <a:ln>
              <a:noFill/>
            </a:ln>
          </p:spPr>
        </p:sp>
        <p:sp>
          <p:nvSpPr>
            <p:cNvPr id="30" name="TextBox 30"/>
            <p:cNvSpPr txBox="1"/>
            <p:nvPr/>
          </p:nvSpPr>
          <p:spPr>
            <a:xfrm>
              <a:off x="628078" y="3548062"/>
              <a:ext cx="560877"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5 定义类</a:t>
              </a:r>
            </a:p>
          </p:txBody>
        </p:sp>
        <p:sp>
          <p:nvSpPr>
            <p:cNvPr id="31" name="TextBox 31"/>
            <p:cNvSpPr txBox="1"/>
            <p:nvPr/>
          </p:nvSpPr>
          <p:spPr>
            <a:xfrm>
              <a:off x="1758696" y="3548062"/>
              <a:ext cx="269633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按结构图定义类，包括新增的接口和抽象类</a:t>
              </a:r>
            </a:p>
          </p:txBody>
        </p:sp>
        <p:sp>
          <p:nvSpPr>
            <p:cNvPr id="32" name="TextBox 32"/>
            <p:cNvSpPr txBox="1"/>
            <p:nvPr/>
          </p:nvSpPr>
          <p:spPr>
            <a:xfrm>
              <a:off x="4615244" y="3548062"/>
              <a:ext cx="569004"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(6) 结构</a:t>
              </a:r>
            </a:p>
          </p:txBody>
        </p:sp>
        <p:sp>
          <p:nvSpPr>
            <p:cNvPr id="33" name="Rectangle 33"/>
            <p:cNvSpPr/>
            <p:nvPr/>
          </p:nvSpPr>
          <p:spPr>
            <a:xfrm>
              <a:off x="533400" y="3807142"/>
              <a:ext cx="5951220" cy="9525"/>
            </a:xfrm>
            <a:prstGeom prst="rect">
              <a:avLst/>
            </a:prstGeom>
            <a:solidFill>
              <a:srgbClr val="D9DFEA"/>
            </a:solidFill>
            <a:ln>
              <a:noFill/>
            </a:ln>
          </p:spPr>
        </p:sp>
        <p:sp>
          <p:nvSpPr>
            <p:cNvPr id="34" name="Rectangle 34"/>
            <p:cNvSpPr/>
            <p:nvPr/>
          </p:nvSpPr>
          <p:spPr>
            <a:xfrm>
              <a:off x="533400" y="3811905"/>
              <a:ext cx="5951220" cy="381000"/>
            </a:xfrm>
            <a:prstGeom prst="rect">
              <a:avLst/>
            </a:prstGeom>
            <a:solidFill>
              <a:srgbClr val="F4F6FB"/>
            </a:solidFill>
            <a:ln>
              <a:noFill/>
            </a:ln>
          </p:spPr>
        </p:sp>
        <p:sp>
          <p:nvSpPr>
            <p:cNvPr id="35" name="Rectangle 35"/>
            <p:cNvSpPr/>
            <p:nvPr/>
          </p:nvSpPr>
          <p:spPr>
            <a:xfrm>
              <a:off x="542925" y="3821430"/>
              <a:ext cx="1111568" cy="361950"/>
            </a:xfrm>
            <a:prstGeom prst="rect">
              <a:avLst/>
            </a:prstGeom>
            <a:solidFill>
              <a:srgbClr val="FDEEE7"/>
            </a:solidFill>
            <a:ln>
              <a:noFill/>
            </a:ln>
          </p:spPr>
        </p:sp>
        <p:sp>
          <p:nvSpPr>
            <p:cNvPr id="36" name="TextBox 36"/>
            <p:cNvSpPr txBox="1"/>
            <p:nvPr/>
          </p:nvSpPr>
          <p:spPr>
            <a:xfrm>
              <a:off x="628078" y="3930015"/>
              <a:ext cx="843579"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6 定义操作名</a:t>
              </a:r>
            </a:p>
          </p:txBody>
        </p:sp>
        <p:sp>
          <p:nvSpPr>
            <p:cNvPr id="37" name="TextBox 37"/>
            <p:cNvSpPr txBox="1"/>
            <p:nvPr/>
          </p:nvSpPr>
          <p:spPr>
            <a:xfrm>
              <a:off x="1758696" y="3930015"/>
              <a:ext cx="2272284"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定义模式中专用于本应用的操作名称</a:t>
              </a:r>
            </a:p>
          </p:txBody>
        </p:sp>
        <p:sp>
          <p:nvSpPr>
            <p:cNvPr id="38" name="TextBox 38"/>
            <p:cNvSpPr txBox="1"/>
            <p:nvPr/>
          </p:nvSpPr>
          <p:spPr>
            <a:xfrm>
              <a:off x="4615244" y="3930015"/>
              <a:ext cx="141004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(7) 参与者、(8) 协作</a:t>
              </a:r>
            </a:p>
          </p:txBody>
        </p:sp>
        <p:sp>
          <p:nvSpPr>
            <p:cNvPr id="39" name="Rectangle 39"/>
            <p:cNvSpPr/>
            <p:nvPr/>
          </p:nvSpPr>
          <p:spPr>
            <a:xfrm>
              <a:off x="533400" y="4189095"/>
              <a:ext cx="5951220" cy="9525"/>
            </a:xfrm>
            <a:prstGeom prst="rect">
              <a:avLst/>
            </a:prstGeom>
            <a:solidFill>
              <a:srgbClr val="D9DFEA"/>
            </a:solidFill>
            <a:ln>
              <a:noFill/>
            </a:ln>
          </p:spPr>
        </p:sp>
        <p:sp>
          <p:nvSpPr>
            <p:cNvPr id="40" name="TextBox 40"/>
            <p:cNvSpPr txBox="1"/>
            <p:nvPr/>
          </p:nvSpPr>
          <p:spPr>
            <a:xfrm>
              <a:off x="628078" y="4311015"/>
              <a:ext cx="419526"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7 实现</a:t>
              </a:r>
            </a:p>
          </p:txBody>
        </p:sp>
        <p:sp>
          <p:nvSpPr>
            <p:cNvPr id="41" name="TextBox 41"/>
            <p:cNvSpPr txBox="1"/>
            <p:nvPr/>
          </p:nvSpPr>
          <p:spPr>
            <a:xfrm>
              <a:off x="1758696" y="4311015"/>
              <a:ext cx="213093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实现执行模式中责任和协作的操作</a:t>
              </a:r>
            </a:p>
          </p:txBody>
        </p:sp>
        <p:sp>
          <p:nvSpPr>
            <p:cNvPr id="42" name="TextBox 42"/>
            <p:cNvSpPr txBox="1"/>
            <p:nvPr/>
          </p:nvSpPr>
          <p:spPr>
            <a:xfrm>
              <a:off x="4615244" y="4311015"/>
              <a:ext cx="170688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(10) 实现、(11) 代码示例</a:t>
              </a:r>
            </a:p>
          </p:txBody>
        </p:sp>
        <p:sp>
          <p:nvSpPr>
            <p:cNvPr id="43" name="Rectangle 43"/>
            <p:cNvSpPr/>
            <p:nvPr/>
          </p:nvSpPr>
          <p:spPr>
            <a:xfrm>
              <a:off x="533400" y="1524000"/>
              <a:ext cx="5951220" cy="3050858"/>
            </a:xfrm>
            <a:prstGeom prst="rect">
              <a:avLst/>
            </a:prstGeom>
            <a:noFill/>
            <a:ln w="14288">
              <a:solidFill>
                <a:srgbClr val="D9DFEA"/>
              </a:solidFill>
            </a:ln>
          </p:spPr>
        </p:sp>
        <p:sp>
          <p:nvSpPr>
            <p:cNvPr id="44" name="Rectangle 44"/>
            <p:cNvSpPr/>
            <p:nvPr/>
          </p:nvSpPr>
          <p:spPr>
            <a:xfrm>
              <a:off x="1659255" y="1524000"/>
              <a:ext cx="9525" cy="3050858"/>
            </a:xfrm>
            <a:prstGeom prst="rect">
              <a:avLst/>
            </a:prstGeom>
            <a:solidFill>
              <a:srgbClr val="D9DFEA"/>
            </a:solidFill>
            <a:ln>
              <a:noFill/>
            </a:ln>
          </p:spPr>
        </p:sp>
        <p:sp>
          <p:nvSpPr>
            <p:cNvPr id="45" name="Rectangle 45"/>
            <p:cNvSpPr/>
            <p:nvPr/>
          </p:nvSpPr>
          <p:spPr>
            <a:xfrm>
              <a:off x="4515802" y="1524000"/>
              <a:ext cx="9525" cy="3050858"/>
            </a:xfrm>
            <a:prstGeom prst="rect">
              <a:avLst/>
            </a:prstGeom>
            <a:solidFill>
              <a:srgbClr val="D9DFEA"/>
            </a:solidFill>
            <a:ln>
              <a:noFill/>
            </a:ln>
          </p:spPr>
        </p:sp>
      </p:grpSp>
      <p:grpSp>
        <p:nvGrpSpPr>
          <p:cNvPr id="53" name="c1-callout-2"/>
          <p:cNvGrpSpPr/>
          <p:nvPr/>
        </p:nvGrpSpPr>
        <p:grpSpPr>
          <a:xfrm>
            <a:off x="533400" y="4739640"/>
            <a:ext cx="5951220" cy="467678"/>
            <a:chOff x="533400" y="4739640"/>
            <a:chExt cx="5951220" cy="467678"/>
          </a:xfrm>
        </p:grpSpPr>
        <p:sp>
          <p:nvSpPr>
            <p:cNvPr id="47" name="Rectangle 47"/>
            <p:cNvSpPr/>
            <p:nvPr/>
          </p:nvSpPr>
          <p:spPr>
            <a:xfrm>
              <a:off x="533400" y="4739640"/>
              <a:ext cx="5951220" cy="467678"/>
            </a:xfrm>
            <a:prstGeom prst="roundRect">
              <a:avLst>
                <a:gd name="adj" fmla="val 24440"/>
              </a:avLst>
            </a:prstGeom>
            <a:solidFill>
              <a:srgbClr val="FDEEE7"/>
            </a:solidFill>
            <a:ln>
              <a:noFill/>
            </a:ln>
          </p:spPr>
        </p:sp>
        <p:grpSp>
          <p:nvGrpSpPr>
            <p:cNvPr id="51" name="Group 51"/>
            <p:cNvGrpSpPr/>
            <p:nvPr/>
          </p:nvGrpSpPr>
          <p:grpSpPr>
            <a:xfrm>
              <a:off x="738188" y="4873943"/>
              <a:ext cx="200026" cy="200025"/>
              <a:chOff x="738188" y="4873943"/>
              <a:chExt cx="200026" cy="200025"/>
            </a:xfrm>
          </p:grpSpPr>
          <p:sp>
            <p:nvSpPr>
              <p:cNvPr id="48" name="Freeform 48"/>
              <p:cNvSpPr/>
              <p:nvPr/>
            </p:nvSpPr>
            <p:spPr>
              <a:xfrm>
                <a:off x="738188" y="487394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49" name="Freeform 49"/>
              <p:cNvSpPr/>
              <p:nvPr/>
            </p:nvSpPr>
            <p:spPr>
              <a:xfrm>
                <a:off x="777926" y="491839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50" name="Freeform 50"/>
              <p:cNvSpPr/>
              <p:nvPr/>
            </p:nvSpPr>
            <p:spPr>
              <a:xfrm>
                <a:off x="812642" y="502951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2" name="TextBox 52"/>
            <p:cNvSpPr txBox="1"/>
            <p:nvPr/>
          </p:nvSpPr>
          <p:spPr>
            <a:xfrm>
              <a:off x="1041273" y="4884896"/>
              <a:ext cx="4690293" cy="249364"/>
            </a:xfrm>
            <a:prstGeom prst="rect">
              <a:avLst/>
            </a:prstGeom>
            <a:noFill/>
            <a:ln>
              <a:noFill/>
            </a:ln>
          </p:spPr>
          <p:txBody>
            <a:bodyPr wrap="none" lIns="0" tIns="0" rIns="0" bIns="0" anchor="t" anchorCtr="0">
              <a:spAutoFit/>
            </a:bodyPr>
            <a:lstStyle/>
            <a:p>
              <a:pPr algn="l"/>
              <a:r>
                <a:rPr lang="zh-CN" sz="1280" dirty="0">
                  <a:solidFill>
                    <a:srgbClr val="C2410C"/>
                  </a:solidFill>
                  <a:latin typeface="+mn-lt"/>
                  <a:ea typeface="+mn-ea"/>
                  <a:cs typeface="+mn-cs"/>
                </a:rPr>
                <a:t>描述项的编号沿用前面“GoF 描述一个模式的十三项”那一页。</a:t>
              </a:r>
            </a:p>
          </p:txBody>
        </p:sp>
      </p:grpSp>
      <p:grpSp>
        <p:nvGrpSpPr>
          <p:cNvPr id="65" name="c2-card-1"/>
          <p:cNvGrpSpPr/>
          <p:nvPr/>
        </p:nvGrpSpPr>
        <p:grpSpPr>
          <a:xfrm>
            <a:off x="6789420" y="1524000"/>
            <a:ext cx="4869180" cy="1973580"/>
            <a:chOff x="6789420" y="1524000"/>
            <a:chExt cx="4869180" cy="1973580"/>
          </a:xfrm>
        </p:grpSpPr>
        <p:sp>
          <p:nvSpPr>
            <p:cNvPr id="54" name="Rectangle 54"/>
            <p:cNvSpPr/>
            <p:nvPr/>
          </p:nvSpPr>
          <p:spPr>
            <a:xfrm>
              <a:off x="6789420" y="1524000"/>
              <a:ext cx="4869180" cy="1973580"/>
            </a:xfrm>
            <a:prstGeom prst="roundRect">
              <a:avLst>
                <a:gd name="adj" fmla="val 6757"/>
              </a:avLst>
            </a:prstGeom>
            <a:solidFill>
              <a:srgbClr val="FFFFFF"/>
            </a:solidFill>
            <a:ln w="14288">
              <a:solidFill>
                <a:srgbClr val="D9DFEA"/>
              </a:solidFill>
            </a:ln>
          </p:spPr>
        </p:sp>
        <p:sp>
          <p:nvSpPr>
            <p:cNvPr id="55" name="Rectangle 55"/>
            <p:cNvSpPr/>
            <p:nvPr/>
          </p:nvSpPr>
          <p:spPr>
            <a:xfrm>
              <a:off x="6798945" y="1657350"/>
              <a:ext cx="47625" cy="1706880"/>
            </a:xfrm>
            <a:prstGeom prst="roundRect">
              <a:avLst>
                <a:gd name="adj" fmla="val 50000"/>
              </a:avLst>
            </a:prstGeom>
            <a:solidFill>
              <a:srgbClr val="14A38B"/>
            </a:solidFill>
            <a:ln>
              <a:noFill/>
            </a:ln>
          </p:spPr>
        </p:sp>
        <p:sp>
          <p:nvSpPr>
            <p:cNvPr id="56" name="Rectangle 56"/>
            <p:cNvSpPr/>
            <p:nvPr/>
          </p:nvSpPr>
          <p:spPr>
            <a:xfrm>
              <a:off x="7008495" y="1704975"/>
              <a:ext cx="458152" cy="238125"/>
            </a:xfrm>
            <a:prstGeom prst="roundRect">
              <a:avLst>
                <a:gd name="adj" fmla="val 50000"/>
              </a:avLst>
            </a:prstGeom>
            <a:solidFill>
              <a:srgbClr val="E3F5F1"/>
            </a:solidFill>
            <a:ln>
              <a:noFill/>
            </a:ln>
          </p:spPr>
        </p:sp>
        <p:sp>
          <p:nvSpPr>
            <p:cNvPr id="57" name="TextBox 57"/>
            <p:cNvSpPr txBox="1"/>
            <p:nvPr/>
          </p:nvSpPr>
          <p:spPr>
            <a:xfrm>
              <a:off x="7101167" y="1737836"/>
              <a:ext cx="273761"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对照</a:t>
              </a:r>
            </a:p>
          </p:txBody>
        </p:sp>
        <p:sp>
          <p:nvSpPr>
            <p:cNvPr id="58" name="TextBox 58"/>
            <p:cNvSpPr txBox="1"/>
            <p:nvPr/>
          </p:nvSpPr>
          <p:spPr>
            <a:xfrm>
              <a:off x="7574470" y="1744504"/>
              <a:ext cx="266012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用后面的迷宫例子走一遍第 4–6 步</a:t>
              </a:r>
            </a:p>
          </p:txBody>
        </p:sp>
        <p:sp>
          <p:nvSpPr>
            <p:cNvPr id="59" name="Ellipse 59"/>
            <p:cNvSpPr/>
            <p:nvPr/>
          </p:nvSpPr>
          <p:spPr>
            <a:xfrm>
              <a:off x="7018020" y="2113598"/>
              <a:ext cx="57150" cy="57150"/>
            </a:xfrm>
            <a:prstGeom prst="ellipse">
              <a:avLst/>
            </a:prstGeom>
            <a:solidFill>
              <a:srgbClr val="334E68"/>
            </a:solidFill>
            <a:ln>
              <a:noFill/>
            </a:ln>
          </p:spPr>
        </p:sp>
        <p:sp>
          <p:nvSpPr>
            <p:cNvPr id="60" name="TextBox 60"/>
            <p:cNvSpPr txBox="1"/>
            <p:nvPr/>
          </p:nvSpPr>
          <p:spPr>
            <a:xfrm>
              <a:off x="7173468" y="2061686"/>
              <a:ext cx="4068826"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第 4 步：Creator 叫 MazeGame，ConcreteCreator 叫</a:t>
              </a:r>
              <a:br/>
              <a:r>
                <a:rPr lang="en-US" sz="1280" dirty="0">
                  <a:solidFill>
                    <a:srgbClr val="1F2937"/>
                  </a:solidFill>
                  <a:latin typeface="+mn-lt"/>
                  <a:ea typeface="+mn-ea"/>
                  <a:cs typeface="+mn-cs"/>
                </a:rPr>
                <a:t>BombedMazeGame</a:t>
              </a:r>
            </a:p>
          </p:txBody>
        </p:sp>
        <p:sp>
          <p:nvSpPr>
            <p:cNvPr id="61" name="Ellipse 61"/>
            <p:cNvSpPr/>
            <p:nvPr/>
          </p:nvSpPr>
          <p:spPr>
            <a:xfrm>
              <a:off x="7018020" y="2641282"/>
              <a:ext cx="57150" cy="57150"/>
            </a:xfrm>
            <a:prstGeom prst="ellipse">
              <a:avLst/>
            </a:prstGeom>
            <a:solidFill>
              <a:srgbClr val="334E68"/>
            </a:solidFill>
            <a:ln>
              <a:noFill/>
            </a:ln>
          </p:spPr>
        </p:sp>
        <p:sp>
          <p:nvSpPr>
            <p:cNvPr id="62" name="TextBox 62"/>
            <p:cNvSpPr txBox="1"/>
            <p:nvPr/>
          </p:nvSpPr>
          <p:spPr>
            <a:xfrm>
              <a:off x="7173468" y="2589371"/>
              <a:ext cx="346378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第 5 步：BombedMazeGame 继承 MazeGame</a:t>
              </a:r>
            </a:p>
          </p:txBody>
        </p:sp>
        <p:sp>
          <p:nvSpPr>
            <p:cNvPr id="63" name="Ellipse 63"/>
            <p:cNvSpPr/>
            <p:nvPr/>
          </p:nvSpPr>
          <p:spPr>
            <a:xfrm>
              <a:off x="7018020" y="2927032"/>
              <a:ext cx="57150" cy="57150"/>
            </a:xfrm>
            <a:prstGeom prst="ellipse">
              <a:avLst/>
            </a:prstGeom>
            <a:solidFill>
              <a:srgbClr val="334E68"/>
            </a:solidFill>
            <a:ln>
              <a:noFill/>
            </a:ln>
          </p:spPr>
        </p:sp>
        <p:sp>
          <p:nvSpPr>
            <p:cNvPr id="64" name="TextBox 64"/>
            <p:cNvSpPr txBox="1"/>
            <p:nvPr/>
          </p:nvSpPr>
          <p:spPr>
            <a:xfrm>
              <a:off x="7173468" y="2874169"/>
              <a:ext cx="3605530"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第 6 步：FactoryMethod() 落成 MakeRoom()、</a:t>
              </a:r>
              <a:br/>
              <a:r>
                <a:rPr lang="zh-CN" sz="1280" dirty="0">
                  <a:solidFill>
                    <a:srgbClr val="1F2937"/>
                  </a:solidFill>
                  <a:latin typeface="+mn-lt"/>
                  <a:ea typeface="+mn-ea"/>
                  <a:cs typeface="+mn-cs"/>
                </a:rPr>
                <a:t>MakeWall()，统一用 Make 前缀</a:t>
              </a:r>
            </a:p>
          </p:txBody>
        </p:sp>
      </p:grpSp>
      <p:grpSp>
        <p:nvGrpSpPr>
          <p:cNvPr id="73" name="c2-card-2"/>
          <p:cNvGrpSpPr/>
          <p:nvPr/>
        </p:nvGrpSpPr>
        <p:grpSpPr>
          <a:xfrm>
            <a:off x="6789420" y="3662362"/>
            <a:ext cx="4869180" cy="1545908"/>
            <a:chOff x="6789420" y="3662362"/>
            <a:chExt cx="4869180" cy="1545908"/>
          </a:xfrm>
        </p:grpSpPr>
        <p:sp>
          <p:nvSpPr>
            <p:cNvPr id="66" name="Rectangle 66"/>
            <p:cNvSpPr/>
            <p:nvPr/>
          </p:nvSpPr>
          <p:spPr>
            <a:xfrm>
              <a:off x="6789420" y="3662362"/>
              <a:ext cx="4869180" cy="1545908"/>
            </a:xfrm>
            <a:prstGeom prst="roundRect">
              <a:avLst>
                <a:gd name="adj" fmla="val 8626"/>
              </a:avLst>
            </a:prstGeom>
            <a:solidFill>
              <a:srgbClr val="FFFFFF"/>
            </a:solidFill>
            <a:ln w="14288">
              <a:solidFill>
                <a:srgbClr val="D9DFEA"/>
              </a:solidFill>
            </a:ln>
          </p:spPr>
        </p:sp>
        <p:sp>
          <p:nvSpPr>
            <p:cNvPr id="67" name="Rectangle 67"/>
            <p:cNvSpPr/>
            <p:nvPr/>
          </p:nvSpPr>
          <p:spPr>
            <a:xfrm>
              <a:off x="6798945" y="3795712"/>
              <a:ext cx="47625" cy="1279208"/>
            </a:xfrm>
            <a:prstGeom prst="roundRect">
              <a:avLst>
                <a:gd name="adj" fmla="val 50000"/>
              </a:avLst>
            </a:prstGeom>
            <a:solidFill>
              <a:srgbClr val="B42318"/>
            </a:solidFill>
            <a:ln>
              <a:noFill/>
            </a:ln>
          </p:spPr>
        </p:sp>
        <p:sp>
          <p:nvSpPr>
            <p:cNvPr id="68" name="Rectangle 68"/>
            <p:cNvSpPr/>
            <p:nvPr/>
          </p:nvSpPr>
          <p:spPr>
            <a:xfrm>
              <a:off x="7008495" y="3843338"/>
              <a:ext cx="707708" cy="238125"/>
            </a:xfrm>
            <a:prstGeom prst="roundRect">
              <a:avLst>
                <a:gd name="adj" fmla="val 50000"/>
              </a:avLst>
            </a:prstGeom>
            <a:solidFill>
              <a:srgbClr val="FDECEA"/>
            </a:solidFill>
            <a:ln>
              <a:noFill/>
            </a:ln>
          </p:spPr>
        </p:sp>
        <p:sp>
          <p:nvSpPr>
            <p:cNvPr id="69" name="TextBox 69"/>
            <p:cNvSpPr txBox="1"/>
            <p:nvPr/>
          </p:nvSpPr>
          <p:spPr>
            <a:xfrm>
              <a:off x="7093064" y="3876199"/>
              <a:ext cx="537616" cy="190690"/>
            </a:xfrm>
            <a:prstGeom prst="rect">
              <a:avLst/>
            </a:prstGeom>
            <a:noFill/>
            <a:ln>
              <a:noFill/>
            </a:ln>
          </p:spPr>
          <p:txBody>
            <a:bodyPr wrap="none" lIns="0" tIns="0" rIns="0" bIns="0" anchor="t" anchorCtr="0">
              <a:spAutoFit/>
            </a:bodyPr>
            <a:lstStyle/>
            <a:p>
              <a:pPr algn="ctr"/>
              <a:r>
                <a:rPr lang="zh-CN" sz="980" b="1" dirty="0">
                  <a:solidFill>
                    <a:srgbClr val="B42318"/>
                  </a:solidFill>
                  <a:latin typeface="+mn-lt"/>
                  <a:ea typeface="+mn-ea"/>
                  <a:cs typeface="+mn-cs"/>
                </a:rPr>
                <a:t>常见误用</a:t>
              </a:r>
            </a:p>
          </p:txBody>
        </p:sp>
        <p:sp>
          <p:nvSpPr>
            <p:cNvPr id="70" name="TextBox 70"/>
            <p:cNvSpPr txBox="1"/>
            <p:nvPr/>
          </p:nvSpPr>
          <p:spPr>
            <a:xfrm>
              <a:off x="7824026" y="3882866"/>
              <a:ext cx="1736090"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别为了用模式而用模式</a:t>
              </a:r>
            </a:p>
          </p:txBody>
        </p:sp>
        <p:sp>
          <p:nvSpPr>
            <p:cNvPr id="71" name="TextBox 71"/>
            <p:cNvSpPr txBox="1"/>
            <p:nvPr/>
          </p:nvSpPr>
          <p:spPr>
            <a:xfrm>
              <a:off x="7002018" y="4199096"/>
              <a:ext cx="423951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模式带来的灵活性都有代价：类的数目增加、间接层变多、</a:t>
              </a:r>
              <a:br/>
              <a:r>
                <a:rPr lang="zh-CN" sz="1280" dirty="0">
                  <a:solidFill>
                    <a:srgbClr val="1F2937"/>
                  </a:solidFill>
                  <a:latin typeface="+mn-lt"/>
                  <a:ea typeface="+mn-ea"/>
                  <a:cs typeface="+mn-cs"/>
                </a:rPr>
                <a:t>阅读时要在几个文件之间跳。</a:t>
              </a:r>
            </a:p>
          </p:txBody>
        </p:sp>
        <p:sp>
          <p:nvSpPr>
            <p:cNvPr id="72" name="TextBox 72"/>
            <p:cNvSpPr txBox="1"/>
            <p:nvPr/>
          </p:nvSpPr>
          <p:spPr>
            <a:xfrm>
              <a:off x="7002018" y="4726781"/>
              <a:ext cx="451033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只有当“可变的那一维”确实会变时，这些代价才换得回来。</a:t>
              </a:r>
            </a:p>
          </p:txBody>
        </p:sp>
      </p:grpSp>
      <p:grpSp>
        <p:nvGrpSpPr>
          <p:cNvPr id="80" name="takeaway"/>
          <p:cNvGrpSpPr/>
          <p:nvPr/>
        </p:nvGrpSpPr>
        <p:grpSpPr>
          <a:xfrm>
            <a:off x="533400" y="5895022"/>
            <a:ext cx="11125200" cy="467678"/>
            <a:chOff x="533400" y="5895022"/>
            <a:chExt cx="11125200" cy="467678"/>
          </a:xfrm>
        </p:grpSpPr>
        <p:sp>
          <p:nvSpPr>
            <p:cNvPr id="74" name="Rectangle 74"/>
            <p:cNvSpPr/>
            <p:nvPr/>
          </p:nvSpPr>
          <p:spPr>
            <a:xfrm>
              <a:off x="533400" y="5895022"/>
              <a:ext cx="11125200" cy="467678"/>
            </a:xfrm>
            <a:prstGeom prst="roundRect">
              <a:avLst>
                <a:gd name="adj" fmla="val 24440"/>
              </a:avLst>
            </a:prstGeom>
            <a:solidFill>
              <a:srgbClr val="FDEEE7"/>
            </a:solidFill>
            <a:ln>
              <a:noFill/>
            </a:ln>
          </p:spPr>
        </p:sp>
        <p:grpSp>
          <p:nvGrpSpPr>
            <p:cNvPr id="78" name="Group 78"/>
            <p:cNvGrpSpPr/>
            <p:nvPr/>
          </p:nvGrpSpPr>
          <p:grpSpPr>
            <a:xfrm>
              <a:off x="738188" y="6028373"/>
              <a:ext cx="200026" cy="200025"/>
              <a:chOff x="738188" y="6028373"/>
              <a:chExt cx="200026" cy="200025"/>
            </a:xfrm>
          </p:grpSpPr>
          <p:sp>
            <p:nvSpPr>
              <p:cNvPr id="75" name="Freeform 75"/>
              <p:cNvSpPr/>
              <p:nvPr/>
            </p:nvSpPr>
            <p:spPr>
              <a:xfrm>
                <a:off x="738188" y="602837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76" name="Freeform 76"/>
              <p:cNvSpPr/>
              <p:nvPr/>
            </p:nvSpPr>
            <p:spPr>
              <a:xfrm>
                <a:off x="777926" y="607282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77" name="Freeform 77"/>
              <p:cNvSpPr/>
              <p:nvPr/>
            </p:nvSpPr>
            <p:spPr>
              <a:xfrm>
                <a:off x="812642" y="618394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79" name="TextBox 79"/>
            <p:cNvSpPr txBox="1"/>
            <p:nvPr/>
          </p:nvSpPr>
          <p:spPr>
            <a:xfrm>
              <a:off x="1041273" y="6039326"/>
              <a:ext cx="10184823" cy="249364"/>
            </a:xfrm>
            <a:prstGeom prst="rect">
              <a:avLst/>
            </a:prstGeom>
            <a:noFill/>
            <a:ln>
              <a:noFill/>
            </a:ln>
          </p:spPr>
          <p:txBody>
            <a:bodyPr wrap="none" lIns="0" tIns="0" rIns="0" bIns="0" anchor="t" anchorCtr="0">
              <a:spAutoFit/>
            </a:bodyPr>
            <a:lstStyle/>
            <a:p>
              <a:pPr algn="l"/>
              <a:r>
                <a:rPr lang="zh-CN" sz="1280" dirty="0">
                  <a:solidFill>
                    <a:srgbClr val="C2410C"/>
                  </a:solidFill>
                  <a:latin typeface="+mn-lt"/>
                  <a:ea typeface="+mn-ea"/>
                  <a:cs typeface="+mn-cs"/>
                </a:rPr>
                <a:t>第 4、6 步最容易省掉：类图里留着 ConcreteCreator、FactoryMethod 这种占位名，读的人得自己去猜它对应业务里的哪个东西。</a:t>
              </a:r>
            </a:p>
          </p:txBody>
        </p:sp>
      </p:grpSp>
      <p:grpSp>
        <p:nvGrpSpPr>
          <p:cNvPr id="83" name="footer"/>
          <p:cNvGrpSpPr/>
          <p:nvPr/>
        </p:nvGrpSpPr>
        <p:grpSpPr>
          <a:xfrm>
            <a:off x="528447" y="6581299"/>
            <a:ext cx="11135106" cy="190690"/>
            <a:chOff x="528447" y="6581299"/>
            <a:chExt cx="11135106" cy="190690"/>
          </a:xfrm>
        </p:grpSpPr>
        <p:sp>
          <p:nvSpPr>
            <p:cNvPr id="81" name="TextBox 81"/>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82" name="TextBox 8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51</a:t>
              </a:r>
            </a:p>
          </p:txBody>
        </p:sp>
      </p:grpSp>
    </p:spTree>
  </p:cSld>
  <p:clrMapOvr>
    <a:masterClrMapping/>
  </p:clrMapOvr>
  <p:transition xmlns:p14="http://schemas.microsoft.com/office/powerpoint/2010/main" p14:dur="400">
    <p:fade/>
  </p:transition>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576956" cy="909257"/>
            <a:chOff x="520446" y="342900"/>
            <a:chExt cx="4576956" cy="909257"/>
          </a:xfrm>
        </p:grpSpPr>
        <p:sp>
          <p:nvSpPr>
            <p:cNvPr id="2" name="Rectangle 2"/>
            <p:cNvSpPr/>
            <p:nvPr/>
          </p:nvSpPr>
          <p:spPr>
            <a:xfrm>
              <a:off x="533400" y="342900"/>
              <a:ext cx="2354580" cy="266700"/>
            </a:xfrm>
            <a:prstGeom prst="roundRect">
              <a:avLst>
                <a:gd name="adj" fmla="val 50000"/>
              </a:avLst>
            </a:prstGeom>
            <a:solidFill>
              <a:srgbClr val="E7EDF3"/>
            </a:solidFill>
            <a:ln>
              <a:noFill/>
            </a:ln>
          </p:spPr>
        </p:sp>
        <p:sp>
          <p:nvSpPr>
            <p:cNvPr id="3" name="TextBox 3"/>
            <p:cNvSpPr txBox="1"/>
            <p:nvPr/>
          </p:nvSpPr>
          <p:spPr>
            <a:xfrm>
              <a:off x="598479" y="407194"/>
              <a:ext cx="22244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设计模式</a:t>
              </a:r>
            </a:p>
          </p:txBody>
        </p:sp>
        <p:sp>
          <p:nvSpPr>
            <p:cNvPr id="4" name="TextBox 4"/>
            <p:cNvSpPr txBox="1"/>
            <p:nvPr/>
          </p:nvSpPr>
          <p:spPr>
            <a:xfrm>
              <a:off x="520446" y="753428"/>
              <a:ext cx="457695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引子：迷宫游戏里写死的 new</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399" y="1550194"/>
            <a:ext cx="11076138" cy="308039"/>
            <a:chOff x="525399" y="1550194"/>
            <a:chExt cx="11076138" cy="308039"/>
          </a:xfrm>
        </p:grpSpPr>
        <p:sp>
          <p:nvSpPr>
            <p:cNvPr id="7" name="TextBox 7"/>
            <p:cNvSpPr txBox="1"/>
            <p:nvPr/>
          </p:nvSpPr>
          <p:spPr>
            <a:xfrm>
              <a:off x="525399" y="1550194"/>
              <a:ext cx="11076138" cy="308039"/>
            </a:xfrm>
            <a:prstGeom prst="rect">
              <a:avLst/>
            </a:prstGeom>
            <a:noFill/>
            <a:ln>
              <a:noFill/>
            </a:ln>
          </p:spPr>
          <p:txBody>
            <a:bodyPr wrap="none" lIns="0" tIns="0" rIns="0" bIns="0" anchor="t" anchorCtr="0">
              <a:spAutoFit/>
            </a:bodyPr>
            <a:lstStyle/>
            <a:p>
              <a:pPr algn="l"/>
              <a:r>
                <a:rPr lang="zh-CN" sz="1580" dirty="0">
                  <a:solidFill>
                    <a:srgbClr val="5B6475"/>
                  </a:solidFill>
                  <a:latin typeface="+mn-lt"/>
                  <a:ea typeface="+mn-ea"/>
                  <a:cs typeface="+mn-cs"/>
                </a:rPr>
                <a:t>GoF 用一个迷宫游戏贯穿讲解创建型模式。迷宫由房间 Room、墙 Wall、门 Door 组成，它们都是地图元素 MapSite。</a:t>
              </a:r>
            </a:p>
          </p:txBody>
        </p:sp>
      </p:grpSp>
      <p:grpSp>
        <p:nvGrpSpPr>
          <p:cNvPr id="41" name="c1-uml-1"/>
          <p:cNvGrpSpPr/>
          <p:nvPr/>
        </p:nvGrpSpPr>
        <p:grpSpPr>
          <a:xfrm>
            <a:off x="719138" y="2557462"/>
            <a:ext cx="4172902" cy="2683193"/>
            <a:chOff x="719138" y="2557462"/>
            <a:chExt cx="4172902" cy="2683193"/>
          </a:xfrm>
        </p:grpSpPr>
        <p:sp>
          <p:nvSpPr>
            <p:cNvPr id="9" name="Freeform 9"/>
            <p:cNvSpPr/>
            <p:nvPr/>
          </p:nvSpPr>
          <p:spPr>
            <a:xfrm>
              <a:off x="1100138" y="3303270"/>
              <a:ext cx="190500" cy="790575"/>
            </a:xfrm>
            <a:custGeom>
              <a:avLst/>
              <a:gdLst/>
              <a:ahLst/>
              <a:cxnLst/>
              <a:rect l="l" t="t" r="r" b="b"/>
              <a:pathLst>
                <a:path w="190500" h="790575">
                  <a:moveTo>
                    <a:pt x="190500" y="790575"/>
                  </a:moveTo>
                  <a:lnTo>
                    <a:pt x="190500" y="332422"/>
                  </a:lnTo>
                  <a:lnTo>
                    <a:pt x="0" y="332422"/>
                  </a:lnTo>
                  <a:lnTo>
                    <a:pt x="0" y="0"/>
                  </a:lnTo>
                </a:path>
              </a:pathLst>
            </a:custGeom>
            <a:noFill/>
            <a:ln w="15240">
              <a:solidFill>
                <a:srgbClr val="1F2937"/>
              </a:solidFill>
            </a:ln>
          </p:spPr>
        </p:sp>
        <p:sp>
          <p:nvSpPr>
            <p:cNvPr id="10" name="Freeform 10"/>
            <p:cNvSpPr/>
            <p:nvPr/>
          </p:nvSpPr>
          <p:spPr>
            <a:xfrm>
              <a:off x="1026795" y="3177540"/>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11" name="Freeform 11"/>
            <p:cNvSpPr/>
            <p:nvPr/>
          </p:nvSpPr>
          <p:spPr>
            <a:xfrm>
              <a:off x="1290638" y="3303270"/>
              <a:ext cx="1515428" cy="1054418"/>
            </a:xfrm>
            <a:custGeom>
              <a:avLst/>
              <a:gdLst/>
              <a:ahLst/>
              <a:cxnLst/>
              <a:rect l="l" t="t" r="r" b="b"/>
              <a:pathLst>
                <a:path w="1515428" h="1054418">
                  <a:moveTo>
                    <a:pt x="1515428" y="1054418"/>
                  </a:moveTo>
                  <a:lnTo>
                    <a:pt x="1515428" y="464820"/>
                  </a:lnTo>
                  <a:lnTo>
                    <a:pt x="0" y="464820"/>
                  </a:lnTo>
                  <a:lnTo>
                    <a:pt x="0" y="0"/>
                  </a:lnTo>
                </a:path>
              </a:pathLst>
            </a:custGeom>
            <a:noFill/>
            <a:ln w="15240">
              <a:solidFill>
                <a:srgbClr val="1F2937"/>
              </a:solidFill>
            </a:ln>
          </p:spPr>
        </p:sp>
        <p:sp>
          <p:nvSpPr>
            <p:cNvPr id="12" name="Freeform 12"/>
            <p:cNvSpPr/>
            <p:nvPr/>
          </p:nvSpPr>
          <p:spPr>
            <a:xfrm>
              <a:off x="1217295" y="3177540"/>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13" name="Freeform 13"/>
            <p:cNvSpPr/>
            <p:nvPr/>
          </p:nvSpPr>
          <p:spPr>
            <a:xfrm>
              <a:off x="1481138" y="3303270"/>
              <a:ext cx="2839402" cy="966788"/>
            </a:xfrm>
            <a:custGeom>
              <a:avLst/>
              <a:gdLst/>
              <a:ahLst/>
              <a:cxnLst/>
              <a:rect l="l" t="t" r="r" b="b"/>
              <a:pathLst>
                <a:path w="2839402" h="966788">
                  <a:moveTo>
                    <a:pt x="2839402" y="966788"/>
                  </a:moveTo>
                  <a:lnTo>
                    <a:pt x="2839402" y="420052"/>
                  </a:lnTo>
                  <a:lnTo>
                    <a:pt x="0" y="420052"/>
                  </a:lnTo>
                  <a:lnTo>
                    <a:pt x="0" y="0"/>
                  </a:lnTo>
                </a:path>
              </a:pathLst>
            </a:custGeom>
            <a:noFill/>
            <a:ln w="15240">
              <a:solidFill>
                <a:srgbClr val="1F2937"/>
              </a:solidFill>
            </a:ln>
          </p:spPr>
        </p:sp>
        <p:sp>
          <p:nvSpPr>
            <p:cNvPr id="14" name="Freeform 14"/>
            <p:cNvSpPr/>
            <p:nvPr/>
          </p:nvSpPr>
          <p:spPr>
            <a:xfrm>
              <a:off x="1407795" y="3177540"/>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15" name="Rectangle 15"/>
            <p:cNvSpPr/>
            <p:nvPr/>
          </p:nvSpPr>
          <p:spPr>
            <a:xfrm>
              <a:off x="719138" y="2557462"/>
              <a:ext cx="1143000" cy="620078"/>
            </a:xfrm>
            <a:prstGeom prst="rect">
              <a:avLst/>
            </a:prstGeom>
            <a:solidFill>
              <a:srgbClr val="FFFFFF"/>
            </a:solidFill>
            <a:ln w="14288">
              <a:solidFill>
                <a:srgbClr val="334E68"/>
              </a:solidFill>
            </a:ln>
          </p:spPr>
        </p:sp>
        <p:sp>
          <p:nvSpPr>
            <p:cNvPr id="16" name="Rectangle 16"/>
            <p:cNvSpPr/>
            <p:nvPr/>
          </p:nvSpPr>
          <p:spPr>
            <a:xfrm>
              <a:off x="726758" y="2565082"/>
              <a:ext cx="1128712" cy="245745"/>
            </a:xfrm>
            <a:prstGeom prst="rect">
              <a:avLst/>
            </a:prstGeom>
            <a:solidFill>
              <a:srgbClr val="E7EDF3"/>
            </a:solidFill>
            <a:ln>
              <a:noFill/>
            </a:ln>
          </p:spPr>
        </p:sp>
        <p:sp>
          <p:nvSpPr>
            <p:cNvPr id="17" name="Rectangle 17"/>
            <p:cNvSpPr/>
            <p:nvPr/>
          </p:nvSpPr>
          <p:spPr>
            <a:xfrm>
              <a:off x="719138" y="2806065"/>
              <a:ext cx="1143000" cy="9525"/>
            </a:xfrm>
            <a:prstGeom prst="rect">
              <a:avLst/>
            </a:prstGeom>
            <a:solidFill>
              <a:srgbClr val="334E68"/>
            </a:solidFill>
            <a:ln>
              <a:noFill/>
            </a:ln>
          </p:spPr>
        </p:sp>
        <p:sp>
          <p:nvSpPr>
            <p:cNvPr id="18" name="Rectangle 18"/>
            <p:cNvSpPr/>
            <p:nvPr/>
          </p:nvSpPr>
          <p:spPr>
            <a:xfrm>
              <a:off x="719138" y="2901315"/>
              <a:ext cx="1143000" cy="9525"/>
            </a:xfrm>
            <a:prstGeom prst="rect">
              <a:avLst/>
            </a:prstGeom>
            <a:solidFill>
              <a:srgbClr val="334E68"/>
            </a:solidFill>
            <a:ln>
              <a:noFill/>
            </a:ln>
          </p:spPr>
        </p:sp>
        <p:sp>
          <p:nvSpPr>
            <p:cNvPr id="19" name="Rectangle 19"/>
            <p:cNvSpPr/>
            <p:nvPr/>
          </p:nvSpPr>
          <p:spPr>
            <a:xfrm>
              <a:off x="719138" y="4093845"/>
              <a:ext cx="1143000" cy="1146810"/>
            </a:xfrm>
            <a:prstGeom prst="rect">
              <a:avLst/>
            </a:prstGeom>
            <a:solidFill>
              <a:srgbClr val="FFFFFF"/>
            </a:solidFill>
            <a:ln w="14288">
              <a:solidFill>
                <a:srgbClr val="334E68"/>
              </a:solidFill>
            </a:ln>
          </p:spPr>
        </p:sp>
        <p:sp>
          <p:nvSpPr>
            <p:cNvPr id="20" name="Rectangle 20"/>
            <p:cNvSpPr/>
            <p:nvPr/>
          </p:nvSpPr>
          <p:spPr>
            <a:xfrm>
              <a:off x="726758" y="4101465"/>
              <a:ext cx="1128712" cy="245745"/>
            </a:xfrm>
            <a:prstGeom prst="rect">
              <a:avLst/>
            </a:prstGeom>
            <a:solidFill>
              <a:srgbClr val="E7EDF3"/>
            </a:solidFill>
            <a:ln>
              <a:noFill/>
            </a:ln>
          </p:spPr>
        </p:sp>
        <p:sp>
          <p:nvSpPr>
            <p:cNvPr id="21" name="Rectangle 21"/>
            <p:cNvSpPr/>
            <p:nvPr/>
          </p:nvSpPr>
          <p:spPr>
            <a:xfrm>
              <a:off x="719138" y="4342448"/>
              <a:ext cx="1143000" cy="9525"/>
            </a:xfrm>
            <a:prstGeom prst="rect">
              <a:avLst/>
            </a:prstGeom>
            <a:solidFill>
              <a:srgbClr val="334E68"/>
            </a:solidFill>
            <a:ln>
              <a:noFill/>
            </a:ln>
          </p:spPr>
        </p:sp>
        <p:sp>
          <p:nvSpPr>
            <p:cNvPr id="22" name="Rectangle 22"/>
            <p:cNvSpPr/>
            <p:nvPr/>
          </p:nvSpPr>
          <p:spPr>
            <a:xfrm>
              <a:off x="719138" y="4613910"/>
              <a:ext cx="1143000" cy="9525"/>
            </a:xfrm>
            <a:prstGeom prst="rect">
              <a:avLst/>
            </a:prstGeom>
            <a:solidFill>
              <a:srgbClr val="334E68"/>
            </a:solidFill>
            <a:ln>
              <a:noFill/>
            </a:ln>
          </p:spPr>
        </p:sp>
        <p:sp>
          <p:nvSpPr>
            <p:cNvPr id="23" name="Rectangle 23"/>
            <p:cNvSpPr/>
            <p:nvPr/>
          </p:nvSpPr>
          <p:spPr>
            <a:xfrm>
              <a:off x="2234565" y="4357688"/>
              <a:ext cx="1143000" cy="620078"/>
            </a:xfrm>
            <a:prstGeom prst="rect">
              <a:avLst/>
            </a:prstGeom>
            <a:solidFill>
              <a:srgbClr val="FFFFFF"/>
            </a:solidFill>
            <a:ln w="14288">
              <a:solidFill>
                <a:srgbClr val="334E68"/>
              </a:solidFill>
            </a:ln>
          </p:spPr>
        </p:sp>
        <p:sp>
          <p:nvSpPr>
            <p:cNvPr id="24" name="Rectangle 24"/>
            <p:cNvSpPr/>
            <p:nvPr/>
          </p:nvSpPr>
          <p:spPr>
            <a:xfrm>
              <a:off x="2241232" y="4365308"/>
              <a:ext cx="1128712" cy="245745"/>
            </a:xfrm>
            <a:prstGeom prst="rect">
              <a:avLst/>
            </a:prstGeom>
            <a:solidFill>
              <a:srgbClr val="E7EDF3"/>
            </a:solidFill>
            <a:ln>
              <a:noFill/>
            </a:ln>
          </p:spPr>
        </p:sp>
        <p:sp>
          <p:nvSpPr>
            <p:cNvPr id="25" name="Rectangle 25"/>
            <p:cNvSpPr/>
            <p:nvPr/>
          </p:nvSpPr>
          <p:spPr>
            <a:xfrm>
              <a:off x="2234565" y="4606290"/>
              <a:ext cx="1143000" cy="9525"/>
            </a:xfrm>
            <a:prstGeom prst="rect">
              <a:avLst/>
            </a:prstGeom>
            <a:solidFill>
              <a:srgbClr val="334E68"/>
            </a:solidFill>
            <a:ln>
              <a:noFill/>
            </a:ln>
          </p:spPr>
        </p:sp>
        <p:sp>
          <p:nvSpPr>
            <p:cNvPr id="26" name="Rectangle 26"/>
            <p:cNvSpPr/>
            <p:nvPr/>
          </p:nvSpPr>
          <p:spPr>
            <a:xfrm>
              <a:off x="2234565" y="4701540"/>
              <a:ext cx="1143000" cy="9525"/>
            </a:xfrm>
            <a:prstGeom prst="rect">
              <a:avLst/>
            </a:prstGeom>
            <a:solidFill>
              <a:srgbClr val="334E68"/>
            </a:solidFill>
            <a:ln>
              <a:noFill/>
            </a:ln>
          </p:spPr>
        </p:sp>
        <p:sp>
          <p:nvSpPr>
            <p:cNvPr id="27" name="Rectangle 27"/>
            <p:cNvSpPr/>
            <p:nvPr/>
          </p:nvSpPr>
          <p:spPr>
            <a:xfrm>
              <a:off x="3749040" y="4270058"/>
              <a:ext cx="1143000" cy="795338"/>
            </a:xfrm>
            <a:prstGeom prst="rect">
              <a:avLst/>
            </a:prstGeom>
            <a:solidFill>
              <a:srgbClr val="FFFFFF"/>
            </a:solidFill>
            <a:ln w="14288">
              <a:solidFill>
                <a:srgbClr val="334E68"/>
              </a:solidFill>
            </a:ln>
          </p:spPr>
        </p:sp>
        <p:sp>
          <p:nvSpPr>
            <p:cNvPr id="28" name="Rectangle 28"/>
            <p:cNvSpPr/>
            <p:nvPr/>
          </p:nvSpPr>
          <p:spPr>
            <a:xfrm>
              <a:off x="3755708" y="4277678"/>
              <a:ext cx="1128712" cy="245745"/>
            </a:xfrm>
            <a:prstGeom prst="rect">
              <a:avLst/>
            </a:prstGeom>
            <a:solidFill>
              <a:srgbClr val="E7EDF3"/>
            </a:solidFill>
            <a:ln>
              <a:noFill/>
            </a:ln>
          </p:spPr>
        </p:sp>
        <p:sp>
          <p:nvSpPr>
            <p:cNvPr id="29" name="Rectangle 29"/>
            <p:cNvSpPr/>
            <p:nvPr/>
          </p:nvSpPr>
          <p:spPr>
            <a:xfrm>
              <a:off x="3749040" y="4518660"/>
              <a:ext cx="1143000" cy="9525"/>
            </a:xfrm>
            <a:prstGeom prst="rect">
              <a:avLst/>
            </a:prstGeom>
            <a:solidFill>
              <a:srgbClr val="334E68"/>
            </a:solidFill>
            <a:ln>
              <a:noFill/>
            </a:ln>
          </p:spPr>
        </p:sp>
        <p:sp>
          <p:nvSpPr>
            <p:cNvPr id="30" name="Rectangle 30"/>
            <p:cNvSpPr/>
            <p:nvPr/>
          </p:nvSpPr>
          <p:spPr>
            <a:xfrm>
              <a:off x="3749040" y="4790122"/>
              <a:ext cx="1143000" cy="9525"/>
            </a:xfrm>
            <a:prstGeom prst="rect">
              <a:avLst/>
            </a:prstGeom>
            <a:solidFill>
              <a:srgbClr val="334E68"/>
            </a:solidFill>
            <a:ln>
              <a:noFill/>
            </a:ln>
          </p:spPr>
        </p:sp>
        <p:sp>
          <p:nvSpPr>
            <p:cNvPr id="31" name="TextBox 31"/>
            <p:cNvSpPr txBox="1"/>
            <p:nvPr/>
          </p:nvSpPr>
          <p:spPr>
            <a:xfrm>
              <a:off x="998748" y="2617470"/>
              <a:ext cx="583780" cy="205359"/>
            </a:xfrm>
            <a:prstGeom prst="rect">
              <a:avLst/>
            </a:prstGeom>
            <a:noFill/>
            <a:ln>
              <a:noFill/>
            </a:ln>
          </p:spPr>
          <p:txBody>
            <a:bodyPr wrap="none" lIns="0" tIns="0" rIns="0" bIns="0" anchor="t" anchorCtr="0">
              <a:spAutoFit/>
            </a:bodyPr>
            <a:lstStyle/>
            <a:p>
              <a:pPr algn="ctr"/>
              <a:r>
                <a:rPr lang="en-US" sz="1050" b="1" i="1" dirty="0">
                  <a:solidFill>
                    <a:srgbClr val="243B53"/>
                  </a:solidFill>
                  <a:latin typeface="+mn-lt"/>
                  <a:ea typeface="+mn-ea"/>
                  <a:cs typeface="+mn-cs"/>
                </a:rPr>
                <a:t>MapSite</a:t>
              </a:r>
            </a:p>
          </p:txBody>
        </p:sp>
        <p:sp>
          <p:nvSpPr>
            <p:cNvPr id="32" name="TextBox 32"/>
            <p:cNvSpPr txBox="1"/>
            <p:nvPr/>
          </p:nvSpPr>
          <p:spPr>
            <a:xfrm>
              <a:off x="790384" y="2972276"/>
              <a:ext cx="596959" cy="190690"/>
            </a:xfrm>
            <a:prstGeom prst="rect">
              <a:avLst/>
            </a:prstGeom>
            <a:noFill/>
            <a:ln>
              <a:noFill/>
            </a:ln>
          </p:spPr>
          <p:txBody>
            <a:bodyPr wrap="none" lIns="0" tIns="0" rIns="0" bIns="0" anchor="t" anchorCtr="0">
              <a:spAutoFit/>
            </a:bodyPr>
            <a:lstStyle/>
            <a:p>
              <a:pPr algn="l"/>
              <a:r>
                <a:rPr lang="en-US" sz="980" dirty="0">
                  <a:solidFill>
                    <a:srgbClr val="1F2937"/>
                  </a:solidFill>
                  <a:latin typeface="+mn-lt"/>
                  <a:ea typeface="+mn-ea"/>
                  <a:cs typeface="+mn-cs"/>
                </a:rPr>
                <a:t>+Enter()</a:t>
              </a:r>
            </a:p>
          </p:txBody>
        </p:sp>
        <p:sp>
          <p:nvSpPr>
            <p:cNvPr id="33" name="TextBox 33"/>
            <p:cNvSpPr txBox="1"/>
            <p:nvPr/>
          </p:nvSpPr>
          <p:spPr>
            <a:xfrm>
              <a:off x="1104681" y="4153852"/>
              <a:ext cx="371913"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Room</a:t>
              </a:r>
            </a:p>
          </p:txBody>
        </p:sp>
        <p:sp>
          <p:nvSpPr>
            <p:cNvPr id="34" name="TextBox 34"/>
            <p:cNvSpPr txBox="1"/>
            <p:nvPr/>
          </p:nvSpPr>
          <p:spPr>
            <a:xfrm>
              <a:off x="790384" y="4413409"/>
              <a:ext cx="865656" cy="190690"/>
            </a:xfrm>
            <a:prstGeom prst="rect">
              <a:avLst/>
            </a:prstGeom>
            <a:noFill/>
            <a:ln>
              <a:noFill/>
            </a:ln>
          </p:spPr>
          <p:txBody>
            <a:bodyPr wrap="none" lIns="0" tIns="0" rIns="0" bIns="0" anchor="t" anchorCtr="0">
              <a:spAutoFit/>
            </a:bodyPr>
            <a:lstStyle/>
            <a:p>
              <a:pPr algn="l"/>
              <a:r>
                <a:rPr lang="en-US" sz="980" dirty="0">
                  <a:solidFill>
                    <a:srgbClr val="1F2937"/>
                  </a:solidFill>
                  <a:latin typeface="+mn-lt"/>
                  <a:ea typeface="+mn-ea"/>
                  <a:cs typeface="+mn-cs"/>
                </a:rPr>
                <a:t>-roomNumber</a:t>
              </a:r>
            </a:p>
          </p:txBody>
        </p:sp>
        <p:sp>
          <p:nvSpPr>
            <p:cNvPr id="35" name="TextBox 35"/>
            <p:cNvSpPr txBox="1"/>
            <p:nvPr/>
          </p:nvSpPr>
          <p:spPr>
            <a:xfrm>
              <a:off x="790384" y="4684871"/>
              <a:ext cx="663321" cy="543116"/>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+Enter()</a:t>
              </a:r>
              <a:br/>
              <a:r>
                <a:rPr lang="en-US" sz="980" dirty="0">
                  <a:solidFill>
                    <a:srgbClr val="1F2937"/>
                  </a:solidFill>
                  <a:latin typeface="+mn-lt"/>
                  <a:ea typeface="+mn-ea"/>
                  <a:cs typeface="+mn-cs"/>
                </a:rPr>
                <a:t>+SetSide()</a:t>
              </a:r>
              <a:br/>
              <a:r>
                <a:rPr lang="en-US" sz="980" dirty="0">
                  <a:solidFill>
                    <a:srgbClr val="1F2937"/>
                  </a:solidFill>
                  <a:latin typeface="+mn-lt"/>
                  <a:ea typeface="+mn-ea"/>
                  <a:cs typeface="+mn-cs"/>
                </a:rPr>
                <a:t>+GetSide()</a:t>
              </a:r>
            </a:p>
          </p:txBody>
        </p:sp>
        <p:sp>
          <p:nvSpPr>
            <p:cNvPr id="36" name="TextBox 36"/>
            <p:cNvSpPr txBox="1"/>
            <p:nvPr/>
          </p:nvSpPr>
          <p:spPr>
            <a:xfrm>
              <a:off x="2657738" y="4417695"/>
              <a:ext cx="296654"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Wall</a:t>
              </a:r>
            </a:p>
          </p:txBody>
        </p:sp>
        <p:sp>
          <p:nvSpPr>
            <p:cNvPr id="37" name="TextBox 37"/>
            <p:cNvSpPr txBox="1"/>
            <p:nvPr/>
          </p:nvSpPr>
          <p:spPr>
            <a:xfrm>
              <a:off x="2305812" y="4772501"/>
              <a:ext cx="596959" cy="190690"/>
            </a:xfrm>
            <a:prstGeom prst="rect">
              <a:avLst/>
            </a:prstGeom>
            <a:noFill/>
            <a:ln>
              <a:noFill/>
            </a:ln>
          </p:spPr>
          <p:txBody>
            <a:bodyPr wrap="none" lIns="0" tIns="0" rIns="0" bIns="0" anchor="t" anchorCtr="0">
              <a:spAutoFit/>
            </a:bodyPr>
            <a:lstStyle/>
            <a:p>
              <a:pPr algn="l"/>
              <a:r>
                <a:rPr lang="en-US" sz="980" dirty="0">
                  <a:solidFill>
                    <a:srgbClr val="1F2937"/>
                  </a:solidFill>
                  <a:latin typeface="+mn-lt"/>
                  <a:ea typeface="+mn-ea"/>
                  <a:cs typeface="+mn-cs"/>
                </a:rPr>
                <a:t>+Enter()</a:t>
              </a:r>
            </a:p>
          </p:txBody>
        </p:sp>
        <p:sp>
          <p:nvSpPr>
            <p:cNvPr id="38" name="TextBox 38"/>
            <p:cNvSpPr txBox="1"/>
            <p:nvPr/>
          </p:nvSpPr>
          <p:spPr>
            <a:xfrm>
              <a:off x="4149635" y="4330065"/>
              <a:ext cx="341809"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Door</a:t>
              </a:r>
            </a:p>
          </p:txBody>
        </p:sp>
        <p:sp>
          <p:nvSpPr>
            <p:cNvPr id="39" name="TextBox 39"/>
            <p:cNvSpPr txBox="1"/>
            <p:nvPr/>
          </p:nvSpPr>
          <p:spPr>
            <a:xfrm>
              <a:off x="3820287" y="4589621"/>
              <a:ext cx="515960" cy="190690"/>
            </a:xfrm>
            <a:prstGeom prst="rect">
              <a:avLst/>
            </a:prstGeom>
            <a:noFill/>
            <a:ln>
              <a:noFill/>
            </a:ln>
          </p:spPr>
          <p:txBody>
            <a:bodyPr wrap="none" lIns="0" tIns="0" rIns="0" bIns="0" anchor="t" anchorCtr="0">
              <a:spAutoFit/>
            </a:bodyPr>
            <a:lstStyle/>
            <a:p>
              <a:pPr algn="l"/>
              <a:r>
                <a:rPr lang="en-US" sz="980" dirty="0">
                  <a:solidFill>
                    <a:srgbClr val="1F2937"/>
                  </a:solidFill>
                  <a:latin typeface="+mn-lt"/>
                  <a:ea typeface="+mn-ea"/>
                  <a:cs typeface="+mn-cs"/>
                </a:rPr>
                <a:t>-isOpen</a:t>
              </a:r>
            </a:p>
          </p:txBody>
        </p:sp>
        <p:sp>
          <p:nvSpPr>
            <p:cNvPr id="40" name="TextBox 40"/>
            <p:cNvSpPr txBox="1"/>
            <p:nvPr/>
          </p:nvSpPr>
          <p:spPr>
            <a:xfrm>
              <a:off x="3820287" y="4861084"/>
              <a:ext cx="596959" cy="190690"/>
            </a:xfrm>
            <a:prstGeom prst="rect">
              <a:avLst/>
            </a:prstGeom>
            <a:noFill/>
            <a:ln>
              <a:noFill/>
            </a:ln>
          </p:spPr>
          <p:txBody>
            <a:bodyPr wrap="none" lIns="0" tIns="0" rIns="0" bIns="0" anchor="t" anchorCtr="0">
              <a:spAutoFit/>
            </a:bodyPr>
            <a:lstStyle/>
            <a:p>
              <a:pPr algn="l"/>
              <a:r>
                <a:rPr lang="en-US" sz="980" dirty="0">
                  <a:solidFill>
                    <a:srgbClr val="1F2937"/>
                  </a:solidFill>
                  <a:latin typeface="+mn-lt"/>
                  <a:ea typeface="+mn-ea"/>
                  <a:cs typeface="+mn-cs"/>
                </a:rPr>
                <a:t>+Enter()</a:t>
              </a:r>
            </a:p>
          </p:txBody>
        </p:sp>
      </p:grpSp>
      <p:grpSp>
        <p:nvGrpSpPr>
          <p:cNvPr id="49" name="c2-code-1"/>
          <p:cNvGrpSpPr/>
          <p:nvPr/>
        </p:nvGrpSpPr>
        <p:grpSpPr>
          <a:xfrm>
            <a:off x="5382578" y="1967865"/>
            <a:ext cx="6276022" cy="2936558"/>
            <a:chOff x="5382578" y="1967865"/>
            <a:chExt cx="6276022" cy="2936558"/>
          </a:xfrm>
        </p:grpSpPr>
        <p:sp>
          <p:nvSpPr>
            <p:cNvPr id="42" name="Rectangle 42"/>
            <p:cNvSpPr/>
            <p:nvPr/>
          </p:nvSpPr>
          <p:spPr>
            <a:xfrm>
              <a:off x="5382578" y="1967865"/>
              <a:ext cx="6276022" cy="2936558"/>
            </a:xfrm>
            <a:prstGeom prst="roundRect">
              <a:avLst>
                <a:gd name="adj" fmla="val 3244"/>
              </a:avLst>
            </a:prstGeom>
            <a:solidFill>
              <a:srgbClr val="F6F8FA"/>
            </a:solidFill>
            <a:ln w="11430">
              <a:solidFill>
                <a:srgbClr val="D9DFEA"/>
              </a:solidFill>
            </a:ln>
          </p:spPr>
        </p:sp>
        <p:sp>
          <p:nvSpPr>
            <p:cNvPr id="43" name="TextBox 43"/>
            <p:cNvSpPr txBox="1"/>
            <p:nvPr/>
          </p:nvSpPr>
          <p:spPr>
            <a:xfrm>
              <a:off x="5510974" y="2119789"/>
              <a:ext cx="1510097"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硬编码版的 CreateMaze</a:t>
              </a:r>
            </a:p>
          </p:txBody>
        </p:sp>
        <p:sp>
          <p:nvSpPr>
            <p:cNvPr id="44" name="Rectangle 44"/>
            <p:cNvSpPr/>
            <p:nvPr/>
          </p:nvSpPr>
          <p:spPr>
            <a:xfrm>
              <a:off x="5401628" y="2745105"/>
              <a:ext cx="6237922" cy="202882"/>
            </a:xfrm>
            <a:prstGeom prst="rect">
              <a:avLst/>
            </a:prstGeom>
            <a:solidFill>
              <a:srgbClr val="FDEEE7"/>
            </a:solidFill>
            <a:ln>
              <a:noFill/>
            </a:ln>
          </p:spPr>
        </p:sp>
        <p:sp>
          <p:nvSpPr>
            <p:cNvPr id="45" name="Rectangle 45"/>
            <p:cNvSpPr/>
            <p:nvPr/>
          </p:nvSpPr>
          <p:spPr>
            <a:xfrm>
              <a:off x="5401628" y="2947988"/>
              <a:ext cx="6237922" cy="202882"/>
            </a:xfrm>
            <a:prstGeom prst="rect">
              <a:avLst/>
            </a:prstGeom>
            <a:solidFill>
              <a:srgbClr val="FDEEE7"/>
            </a:solidFill>
            <a:ln>
              <a:noFill/>
            </a:ln>
          </p:spPr>
        </p:sp>
        <p:sp>
          <p:nvSpPr>
            <p:cNvPr id="46" name="Rectangle 46"/>
            <p:cNvSpPr/>
            <p:nvPr/>
          </p:nvSpPr>
          <p:spPr>
            <a:xfrm>
              <a:off x="5401628" y="3150870"/>
              <a:ext cx="6237922" cy="202882"/>
            </a:xfrm>
            <a:prstGeom prst="rect">
              <a:avLst/>
            </a:prstGeom>
            <a:solidFill>
              <a:srgbClr val="FDEEE7"/>
            </a:solidFill>
            <a:ln>
              <a:noFill/>
            </a:ln>
          </p:spPr>
        </p:sp>
        <p:sp>
          <p:nvSpPr>
            <p:cNvPr id="47" name="Rectangle 47"/>
            <p:cNvSpPr/>
            <p:nvPr/>
          </p:nvSpPr>
          <p:spPr>
            <a:xfrm>
              <a:off x="5401628" y="3759518"/>
              <a:ext cx="6237922" cy="202882"/>
            </a:xfrm>
            <a:prstGeom prst="rect">
              <a:avLst/>
            </a:prstGeom>
            <a:solidFill>
              <a:srgbClr val="FDEEE7"/>
            </a:solidFill>
            <a:ln>
              <a:noFill/>
            </a:ln>
          </p:spPr>
        </p:sp>
        <p:sp>
          <p:nvSpPr>
            <p:cNvPr id="48" name="TextBox 48"/>
            <p:cNvSpPr txBox="1"/>
            <p:nvPr/>
          </p:nvSpPr>
          <p:spPr>
            <a:xfrm>
              <a:off x="5510212" y="2381726"/>
              <a:ext cx="2906014" cy="2451735"/>
            </a:xfrm>
            <a:prstGeom prst="rect">
              <a:avLst/>
            </a:prstGeom>
            <a:noFill/>
            <a:ln>
              <a:noFill/>
            </a:ln>
          </p:spPr>
          <p:txBody>
            <a:bodyPr wrap="none" lIns="0" tIns="0" rIns="0" bIns="0" anchor="t" anchorCtr="0">
              <a:spAutoFit/>
            </a:bodyPr>
            <a:lstStyle/>
            <a:p>
              <a:pPr algn="l">
                <a:lnSpc>
                  <a:spcPts val="1598"/>
                </a:lnSpc>
              </a:pPr>
              <a:r>
                <a:rPr lang="en-US" sz="1120" dirty="0">
                  <a:solidFill>
                    <a:srgbClr val="1F2937"/>
                  </a:solidFill>
                  <a:latin typeface="Consolas"/>
                  <a:ea typeface="Consolas"/>
                  <a:cs typeface="Consolas"/>
                </a:rPr>
                <a:t>Maze* MazeGame::CreateMaze() {</a:t>
              </a:r>
              <a:br/>
              <a:r>
                <a:rPr lang="en-US" sz="1120" dirty="0">
                  <a:solidFill>
                    <a:srgbClr val="1F2937"/>
                  </a:solidFill>
                  <a:latin typeface="Consolas"/>
                  <a:ea typeface="Consolas"/>
                  <a:cs typeface="Consolas"/>
                </a:rPr>
                <a:t xml:space="preserve">    Maze* aMaze = </a:t>
              </a:r>
              <a:r>
                <a:rPr lang="en-US" sz="1120" b="1" dirty="0">
                  <a:solidFill>
                    <a:srgbClr val="334E68"/>
                  </a:solidFill>
                  <a:latin typeface="Consolas"/>
                  <a:ea typeface="Consolas"/>
                  <a:cs typeface="Consolas"/>
                </a:rPr>
                <a:t>new</a:t>
              </a:r>
              <a:r>
                <a:rPr lang="en-US" sz="1120" dirty="0">
                  <a:solidFill>
                    <a:srgbClr val="1F2937"/>
                  </a:solidFill>
                  <a:latin typeface="Consolas"/>
                  <a:ea typeface="Consolas"/>
                  <a:cs typeface="Consolas"/>
                </a:rPr>
                <a:t xml:space="preserve"> Maze();</a:t>
              </a:r>
              <a:br/>
              <a:r>
                <a:rPr lang="en-US" sz="1120" dirty="0">
                  <a:solidFill>
                    <a:srgbClr val="1F2937"/>
                  </a:solidFill>
                  <a:latin typeface="Consolas"/>
                  <a:ea typeface="Consolas"/>
                  <a:cs typeface="Consolas"/>
                </a:rPr>
                <a:t xml:space="preserve">    Room* r1 = </a:t>
              </a:r>
              <a:r>
                <a:rPr lang="en-US" sz="1120" b="1" dirty="0">
                  <a:solidFill>
                    <a:srgbClr val="334E68"/>
                  </a:solidFill>
                  <a:latin typeface="Consolas"/>
                  <a:ea typeface="Consolas"/>
                  <a:cs typeface="Consolas"/>
                </a:rPr>
                <a:t>new</a:t>
              </a:r>
              <a:r>
                <a:rPr lang="en-US" sz="1120" dirty="0">
                  <a:solidFill>
                    <a:srgbClr val="1F2937"/>
                  </a:solidFill>
                  <a:latin typeface="Consolas"/>
                  <a:ea typeface="Consolas"/>
                  <a:cs typeface="Consolas"/>
                </a:rPr>
                <a:t xml:space="preserve"> Room(1);</a:t>
              </a:r>
              <a:br/>
              <a:r>
                <a:rPr lang="en-US" sz="1120" dirty="0">
                  <a:solidFill>
                    <a:srgbClr val="1F2937"/>
                  </a:solidFill>
                  <a:latin typeface="Consolas"/>
                  <a:ea typeface="Consolas"/>
                  <a:cs typeface="Consolas"/>
                </a:rPr>
                <a:t xml:space="preserve">    Room* r2 = </a:t>
              </a:r>
              <a:r>
                <a:rPr lang="en-US" sz="1120" b="1" dirty="0">
                  <a:solidFill>
                    <a:srgbClr val="334E68"/>
                  </a:solidFill>
                  <a:latin typeface="Consolas"/>
                  <a:ea typeface="Consolas"/>
                  <a:cs typeface="Consolas"/>
                </a:rPr>
                <a:t>new</a:t>
              </a:r>
              <a:r>
                <a:rPr lang="en-US" sz="1120" dirty="0">
                  <a:solidFill>
                    <a:srgbClr val="1F2937"/>
                  </a:solidFill>
                  <a:latin typeface="Consolas"/>
                  <a:ea typeface="Consolas"/>
                  <a:cs typeface="Consolas"/>
                </a:rPr>
                <a:t xml:space="preserve"> Room(2);</a:t>
              </a:r>
              <a:br/>
              <a:r>
                <a:rPr lang="en-US" sz="1120" dirty="0">
                  <a:solidFill>
                    <a:srgbClr val="1F2937"/>
                  </a:solidFill>
                  <a:latin typeface="Consolas"/>
                  <a:ea typeface="Consolas"/>
                  <a:cs typeface="Consolas"/>
                </a:rPr>
                <a:t xml:space="preserve">    Door* theDoor = </a:t>
              </a:r>
              <a:r>
                <a:rPr lang="en-US" sz="1120" b="1" dirty="0">
                  <a:solidFill>
                    <a:srgbClr val="334E68"/>
                  </a:solidFill>
                  <a:latin typeface="Consolas"/>
                  <a:ea typeface="Consolas"/>
                  <a:cs typeface="Consolas"/>
                </a:rPr>
                <a:t>new</a:t>
              </a:r>
              <a:r>
                <a:rPr lang="en-US" sz="1120" dirty="0">
                  <a:solidFill>
                    <a:srgbClr val="1F2937"/>
                  </a:solidFill>
                  <a:latin typeface="Consolas"/>
                  <a:ea typeface="Consolas"/>
                  <a:cs typeface="Consolas"/>
                </a:rPr>
                <a:t xml:space="preserve"> Door(r1, r2);</a:t>
              </a:r>
              <a:br/>
              <a:r>
                <a:rPr lang="en-US" sz="1120" dirty="0">
                  <a:solidFill>
                    <a:srgbClr val="1F2937"/>
                  </a:solidFill>
                  <a:latin typeface="Consolas"/>
                  <a:ea typeface="Consolas"/>
                  <a:cs typeface="Consolas"/>
                </a:rPr>
                <a:t xml:space="preserve">    aMaze-&gt;AddRoom(r1);</a:t>
              </a:r>
              <a:br/>
              <a:r>
                <a:rPr lang="en-US" sz="1120" dirty="0">
                  <a:solidFill>
                    <a:srgbClr val="1F2937"/>
                  </a:solidFill>
                  <a:latin typeface="Consolas"/>
                  <a:ea typeface="Consolas"/>
                  <a:cs typeface="Consolas"/>
                </a:rPr>
                <a:t xml:space="preserve">    aMaze-&gt;AddRoom(r2);</a:t>
              </a:r>
              <a:br/>
              <a:r>
                <a:rPr lang="en-US" sz="1120" dirty="0">
                  <a:solidFill>
                    <a:srgbClr val="1F2937"/>
                  </a:solidFill>
                  <a:latin typeface="Consolas"/>
                  <a:ea typeface="Consolas"/>
                  <a:cs typeface="Consolas"/>
                </a:rPr>
                <a:t xml:space="preserve">    r1-&gt;SetSide(North, </a:t>
              </a:r>
              <a:r>
                <a:rPr lang="en-US" sz="1120" b="1" dirty="0">
                  <a:solidFill>
                    <a:srgbClr val="334E68"/>
                  </a:solidFill>
                  <a:latin typeface="Consolas"/>
                  <a:ea typeface="Consolas"/>
                  <a:cs typeface="Consolas"/>
                </a:rPr>
                <a:t>new</a:t>
              </a:r>
              <a:r>
                <a:rPr lang="en-US" sz="1120" dirty="0">
                  <a:solidFill>
                    <a:srgbClr val="1F2937"/>
                  </a:solidFill>
                  <a:latin typeface="Consolas"/>
                  <a:ea typeface="Consolas"/>
                  <a:cs typeface="Consolas"/>
                </a:rPr>
                <a:t xml:space="preserve"> Wall);</a:t>
              </a:r>
              <a:br/>
              <a:r>
                <a:rPr lang="en-US" sz="1120" dirty="0">
                  <a:solidFill>
                    <a:srgbClr val="1F2937"/>
                  </a:solidFill>
                  <a:latin typeface="Consolas"/>
                  <a:ea typeface="Consolas"/>
                  <a:cs typeface="Consolas"/>
                </a:rPr>
                <a:t xml:space="preserve">    r1-&gt;SetSide(East,  theDoor);</a:t>
              </a:r>
              <a:br/>
              <a:r>
                <a:rPr lang="en-US" sz="1120" dirty="0">
                  <a:solidFill>
                    <a:srgbClr val="1F2937"/>
                  </a:solidFill>
                  <a:latin typeface="Consolas"/>
                  <a:ea typeface="Consolas"/>
                  <a:cs typeface="Consolas"/>
                </a:rPr>
                <a:t xml:space="preserve">    r2-&gt;SetSide(West,  theDoor);</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return</a:t>
              </a:r>
              <a:r>
                <a:rPr lang="en-US" sz="1120" dirty="0">
                  <a:solidFill>
                    <a:srgbClr val="1F2937"/>
                  </a:solidFill>
                  <a:latin typeface="Consolas"/>
                  <a:ea typeface="Consolas"/>
                  <a:cs typeface="Consolas"/>
                </a:rPr>
                <a:t xml:space="preserve"> aMaze;</a:t>
              </a:r>
              <a:br/>
              <a:r>
                <a:rPr lang="zh-CN" sz="1120" dirty="0">
                  <a:solidFill>
                    <a:srgbClr val="1F2937"/>
                  </a:solidFill>
                  <a:latin typeface="Consolas"/>
                  <a:ea typeface="Consolas"/>
                  <a:cs typeface="Consolas"/>
                </a:rPr>
                <a:t>}</a:t>
              </a:r>
            </a:p>
          </p:txBody>
        </p:sp>
      </p:grpSp>
      <p:grpSp>
        <p:nvGrpSpPr>
          <p:cNvPr id="56" name="c2-callout-2"/>
          <p:cNvGrpSpPr/>
          <p:nvPr/>
        </p:nvGrpSpPr>
        <p:grpSpPr>
          <a:xfrm>
            <a:off x="5382578" y="5094922"/>
            <a:ext cx="6276022" cy="1059180"/>
            <a:chOff x="5382578" y="5094922"/>
            <a:chExt cx="6276022" cy="1059180"/>
          </a:xfrm>
        </p:grpSpPr>
        <p:sp>
          <p:nvSpPr>
            <p:cNvPr id="50" name="Rectangle 50"/>
            <p:cNvSpPr/>
            <p:nvPr/>
          </p:nvSpPr>
          <p:spPr>
            <a:xfrm>
              <a:off x="5382578" y="5094922"/>
              <a:ext cx="6276022" cy="1059180"/>
            </a:xfrm>
            <a:prstGeom prst="roundRect">
              <a:avLst>
                <a:gd name="adj" fmla="val 10791"/>
              </a:avLst>
            </a:prstGeom>
            <a:solidFill>
              <a:srgbClr val="FDECEA"/>
            </a:solidFill>
            <a:ln>
              <a:noFill/>
            </a:ln>
          </p:spPr>
        </p:sp>
        <p:grpSp>
          <p:nvGrpSpPr>
            <p:cNvPr id="54" name="Group 54"/>
            <p:cNvGrpSpPr/>
            <p:nvPr/>
          </p:nvGrpSpPr>
          <p:grpSpPr>
            <a:xfrm>
              <a:off x="5575307" y="5520808"/>
              <a:ext cx="224134" cy="192560"/>
              <a:chOff x="5575307" y="5520808"/>
              <a:chExt cx="224134" cy="192560"/>
            </a:xfrm>
          </p:grpSpPr>
          <p:sp>
            <p:nvSpPr>
              <p:cNvPr id="51" name="Freeform 51"/>
              <p:cNvSpPr/>
              <p:nvPr/>
            </p:nvSpPr>
            <p:spPr>
              <a:xfrm>
                <a:off x="5687378" y="5591175"/>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52" name="Freeform 52"/>
              <p:cNvSpPr/>
              <p:nvPr/>
            </p:nvSpPr>
            <p:spPr>
              <a:xfrm>
                <a:off x="5575307" y="5520808"/>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53" name="Freeform 53"/>
              <p:cNvSpPr/>
              <p:nvPr/>
            </p:nvSpPr>
            <p:spPr>
              <a:xfrm>
                <a:off x="5687378" y="5668963"/>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55" name="TextBox 55"/>
            <p:cNvSpPr txBox="1"/>
            <p:nvPr/>
          </p:nvSpPr>
          <p:spPr>
            <a:xfrm>
              <a:off x="5889308" y="5243512"/>
              <a:ext cx="5368290" cy="845820"/>
            </a:xfrm>
            <a:prstGeom prst="rect">
              <a:avLst/>
            </a:prstGeom>
            <a:noFill/>
            <a:ln>
              <a:noFill/>
            </a:ln>
          </p:spPr>
          <p:txBody>
            <a:bodyPr wrap="none" lIns="0" tIns="0" rIns="0" bIns="0" anchor="t" anchorCtr="0">
              <a:spAutoFit/>
            </a:bodyPr>
            <a:lstStyle/>
            <a:p>
              <a:pPr algn="l">
                <a:lnSpc>
                  <a:spcPts val="2175"/>
                </a:lnSpc>
              </a:pPr>
              <a:r>
                <a:rPr lang="zh-CN" sz="1500" dirty="0">
                  <a:solidFill>
                    <a:srgbClr val="B42318"/>
                  </a:solidFill>
                  <a:latin typeface="+mn-lt"/>
                  <a:ea typeface="+mn-ea"/>
                  <a:cs typeface="+mn-cs"/>
                </a:rPr>
                <a:t>问题不在它能不能跑，而在它把“用哪些构件”写死了：想要一个</a:t>
              </a:r>
              <a:br/>
              <a:r>
                <a:rPr lang="zh-CN" sz="1500" dirty="0">
                  <a:solidFill>
                    <a:srgbClr val="B42318"/>
                  </a:solidFill>
                  <a:latin typeface="+mn-lt"/>
                  <a:ea typeface="+mn-ea"/>
                  <a:cs typeface="+mn-cs"/>
                </a:rPr>
                <a:t>带炸弹的迷宫，就得把整个 CreateMaze 复制一份再改每个</a:t>
              </a:r>
              <a:br/>
              <a:r>
                <a:rPr lang="zh-CN" sz="1500" dirty="0">
                  <a:solidFill>
                    <a:srgbClr val="B42318"/>
                  </a:solidFill>
                  <a:latin typeface="+mn-lt"/>
                  <a:ea typeface="+mn-ea"/>
                  <a:cs typeface="+mn-cs"/>
                </a:rPr>
                <a:t>new。</a:t>
              </a:r>
            </a:p>
          </p:txBody>
        </p:sp>
      </p:grpSp>
      <p:grpSp>
        <p:nvGrpSpPr>
          <p:cNvPr id="59" name="footer"/>
          <p:cNvGrpSpPr/>
          <p:nvPr/>
        </p:nvGrpSpPr>
        <p:grpSpPr>
          <a:xfrm>
            <a:off x="528447" y="6581299"/>
            <a:ext cx="11135106" cy="190690"/>
            <a:chOff x="528447" y="6581299"/>
            <a:chExt cx="11135106" cy="190690"/>
          </a:xfrm>
        </p:grpSpPr>
        <p:sp>
          <p:nvSpPr>
            <p:cNvPr id="57" name="TextBox 57"/>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58" name="TextBox 5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52</a:t>
              </a:r>
            </a:p>
          </p:txBody>
        </p:sp>
      </p:grpSp>
    </p:spTree>
  </p:cSld>
  <p:clrMapOvr>
    <a:masterClrMapping/>
  </p:clrMapOvr>
  <p:transition xmlns:p14="http://schemas.microsoft.com/office/powerpoint/2010/main" p14:dur="400">
    <p:fade/>
  </p:transition>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774618" cy="909257"/>
            <a:chOff x="520446" y="342900"/>
            <a:chExt cx="7774618" cy="909257"/>
          </a:xfrm>
        </p:grpSpPr>
        <p:sp>
          <p:nvSpPr>
            <p:cNvPr id="2" name="Rectangle 2"/>
            <p:cNvSpPr/>
            <p:nvPr/>
          </p:nvSpPr>
          <p:spPr>
            <a:xfrm>
              <a:off x="533400" y="342900"/>
              <a:ext cx="2354580" cy="266700"/>
            </a:xfrm>
            <a:prstGeom prst="roundRect">
              <a:avLst>
                <a:gd name="adj" fmla="val 50000"/>
              </a:avLst>
            </a:prstGeom>
            <a:solidFill>
              <a:srgbClr val="E7EDF3"/>
            </a:solidFill>
            <a:ln>
              <a:noFill/>
            </a:ln>
          </p:spPr>
        </p:sp>
        <p:sp>
          <p:nvSpPr>
            <p:cNvPr id="3" name="TextBox 3"/>
            <p:cNvSpPr txBox="1"/>
            <p:nvPr/>
          </p:nvSpPr>
          <p:spPr>
            <a:xfrm>
              <a:off x="598479" y="407194"/>
              <a:ext cx="22244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设计模式</a:t>
              </a:r>
            </a:p>
          </p:txBody>
        </p:sp>
        <p:sp>
          <p:nvSpPr>
            <p:cNvPr id="4" name="TextBox 4"/>
            <p:cNvSpPr txBox="1"/>
            <p:nvPr/>
          </p:nvSpPr>
          <p:spPr>
            <a:xfrm>
              <a:off x="520446" y="753428"/>
              <a:ext cx="777461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工厂方法：把 new 换成可以被子类重定义的虚函数</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3" name="c1-code-1"/>
          <p:cNvGrpSpPr/>
          <p:nvPr/>
        </p:nvGrpSpPr>
        <p:grpSpPr>
          <a:xfrm>
            <a:off x="533400" y="1524000"/>
            <a:ext cx="5626418" cy="2397442"/>
            <a:chOff x="533400" y="1524000"/>
            <a:chExt cx="5626418" cy="2397442"/>
          </a:xfrm>
        </p:grpSpPr>
        <p:sp>
          <p:nvSpPr>
            <p:cNvPr id="7" name="Rectangle 7"/>
            <p:cNvSpPr/>
            <p:nvPr/>
          </p:nvSpPr>
          <p:spPr>
            <a:xfrm>
              <a:off x="533400" y="1524000"/>
              <a:ext cx="5626418" cy="2397442"/>
            </a:xfrm>
            <a:prstGeom prst="roundRect">
              <a:avLst>
                <a:gd name="adj" fmla="val 3973"/>
              </a:avLst>
            </a:prstGeom>
            <a:solidFill>
              <a:srgbClr val="F6F8FA"/>
            </a:solidFill>
            <a:ln w="11430">
              <a:solidFill>
                <a:srgbClr val="D9DFEA"/>
              </a:solidFill>
            </a:ln>
          </p:spPr>
        </p:sp>
        <p:sp>
          <p:nvSpPr>
            <p:cNvPr id="8" name="TextBox 8"/>
            <p:cNvSpPr txBox="1"/>
            <p:nvPr/>
          </p:nvSpPr>
          <p:spPr>
            <a:xfrm>
              <a:off x="661797" y="1675924"/>
              <a:ext cx="1329182"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父类用工厂方法造构件</a:t>
              </a:r>
            </a:p>
          </p:txBody>
        </p:sp>
        <p:sp>
          <p:nvSpPr>
            <p:cNvPr id="9" name="Rectangle 9"/>
            <p:cNvSpPr/>
            <p:nvPr/>
          </p:nvSpPr>
          <p:spPr>
            <a:xfrm>
              <a:off x="552450" y="2654618"/>
              <a:ext cx="5588318" cy="189548"/>
            </a:xfrm>
            <a:prstGeom prst="rect">
              <a:avLst/>
            </a:prstGeom>
            <a:solidFill>
              <a:srgbClr val="FDEEE7"/>
            </a:solidFill>
            <a:ln>
              <a:noFill/>
            </a:ln>
          </p:spPr>
        </p:sp>
        <p:sp>
          <p:nvSpPr>
            <p:cNvPr id="10" name="Rectangle 10"/>
            <p:cNvSpPr/>
            <p:nvPr/>
          </p:nvSpPr>
          <p:spPr>
            <a:xfrm>
              <a:off x="552450" y="2844165"/>
              <a:ext cx="5588318" cy="189548"/>
            </a:xfrm>
            <a:prstGeom prst="rect">
              <a:avLst/>
            </a:prstGeom>
            <a:solidFill>
              <a:srgbClr val="FDEEE7"/>
            </a:solidFill>
            <a:ln>
              <a:noFill/>
            </a:ln>
          </p:spPr>
        </p:sp>
        <p:sp>
          <p:nvSpPr>
            <p:cNvPr id="11" name="Rectangle 11"/>
            <p:cNvSpPr/>
            <p:nvPr/>
          </p:nvSpPr>
          <p:spPr>
            <a:xfrm>
              <a:off x="552450" y="3033712"/>
              <a:ext cx="5588318" cy="189548"/>
            </a:xfrm>
            <a:prstGeom prst="rect">
              <a:avLst/>
            </a:prstGeom>
            <a:solidFill>
              <a:srgbClr val="FDEEE7"/>
            </a:solidFill>
            <a:ln>
              <a:noFill/>
            </a:ln>
          </p:spPr>
        </p:sp>
        <p:sp>
          <p:nvSpPr>
            <p:cNvPr id="12" name="TextBox 12"/>
            <p:cNvSpPr txBox="1"/>
            <p:nvPr/>
          </p:nvSpPr>
          <p:spPr>
            <a:xfrm>
              <a:off x="661416" y="1937385"/>
              <a:ext cx="4631246" cy="1911287"/>
            </a:xfrm>
            <a:prstGeom prst="rect">
              <a:avLst/>
            </a:prstGeom>
            <a:noFill/>
            <a:ln>
              <a:noFill/>
            </a:ln>
          </p:spPr>
          <p:txBody>
            <a:bodyPr wrap="none" lIns="0" tIns="0" rIns="0" bIns="0" anchor="t" anchorCtr="0">
              <a:spAutoFit/>
            </a:bodyPr>
            <a:lstStyle/>
            <a:p>
              <a:pPr algn="l">
                <a:lnSpc>
                  <a:spcPts val="1492"/>
                </a:lnSpc>
              </a:pPr>
              <a:r>
                <a:rPr lang="en-US" sz="1050" b="1" dirty="0">
                  <a:solidFill>
                    <a:srgbClr val="334E68"/>
                  </a:solidFill>
                  <a:latin typeface="Consolas"/>
                  <a:ea typeface="Consolas"/>
                  <a:cs typeface="Consolas"/>
                </a:rPr>
                <a:t>class</a:t>
              </a:r>
              <a:r>
                <a:rPr lang="en-US" sz="1050" dirty="0">
                  <a:solidFill>
                    <a:srgbClr val="1F2937"/>
                  </a:solidFill>
                  <a:latin typeface="Consolas"/>
                  <a:ea typeface="Consolas"/>
                  <a:cs typeface="Consolas"/>
                </a:rPr>
                <a:t xml:space="preserve"> MazeGame {</a:t>
              </a:r>
              <a:br/>
              <a:r>
                <a:rPr lang="en-US" sz="1050" b="1" dirty="0">
                  <a:solidFill>
                    <a:srgbClr val="334E68"/>
                  </a:solidFill>
                  <a:latin typeface="Consolas"/>
                  <a:ea typeface="Consolas"/>
                  <a:cs typeface="Consolas"/>
                </a:rPr>
                <a:t>public</a:t>
              </a:r>
              <a:r>
                <a:rPr lang="zh-CN" sz="1050" dirty="0">
                  <a:solidFill>
                    <a:srgbClr val="1F2937"/>
                  </a:solidFill>
                  <a:latin typeface="Consolas"/>
                  <a:ea typeface="Consolas"/>
                  <a:cs typeface="Consolas"/>
                </a:rPr>
                <a:t>:</a:t>
              </a:r>
              <a:br/>
              <a:r>
                <a:rPr lang="en-US" sz="1050" dirty="0">
                  <a:solidFill>
                    <a:srgbClr val="1F2937"/>
                  </a:solidFill>
                  <a:latin typeface="Consolas"/>
                  <a:ea typeface="Consolas"/>
                  <a:cs typeface="Consolas"/>
                </a:rPr>
                <a:t xml:space="preserve">    Maze* CreateMaze();</a:t>
              </a:r>
              <a:br/>
              <a:r>
                <a:rPr lang="zh-CN" sz="1050" dirty="0">
                  <a:solidFill>
                    <a:srgbClr val="1F2937"/>
                  </a:solidFill>
                  <a:latin typeface="Consolas"/>
                  <a:ea typeface="Consolas"/>
                  <a:cs typeface="Consolas"/>
                </a:rPr>
                <a:t xml:space="preserve">    </a:t>
              </a:r>
              <a:r>
                <a:rPr lang="en-US" sz="1050" dirty="0">
                  <a:solidFill>
                    <a:srgbClr val="0F7A68"/>
                  </a:solidFill>
                  <a:latin typeface="Consolas"/>
                  <a:ea typeface="Consolas"/>
                  <a:cs typeface="Consolas"/>
                </a:rPr>
                <a:t>// factory methods:</a:t>
              </a:r>
              <a:b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virtual</a:t>
              </a:r>
              <a:r>
                <a:rPr lang="en-US" sz="1050" dirty="0">
                  <a:solidFill>
                    <a:srgbClr val="1F2937"/>
                  </a:solidFill>
                  <a:latin typeface="Consolas"/>
                  <a:ea typeface="Consolas"/>
                  <a:cs typeface="Consolas"/>
                </a:rPr>
                <a:t xml:space="preserve"> Maze* MakeMaze() </a:t>
              </a:r>
              <a:r>
                <a:rPr lang="en-US" sz="1050" b="1" dirty="0">
                  <a:solidFill>
                    <a:srgbClr val="334E68"/>
                  </a:solidFill>
                  <a:latin typeface="Consolas"/>
                  <a:ea typeface="Consolas"/>
                  <a:cs typeface="Consolas"/>
                </a:rPr>
                <a:t>const</a:t>
              </a:r>
              <a:r>
                <a:rPr lang="zh-CN" sz="1050" dirty="0">
                  <a:solidFill>
                    <a:srgbClr val="1F2937"/>
                  </a:solidFill>
                  <a:latin typeface="Consolas"/>
                  <a:ea typeface="Consolas"/>
                  <a:cs typeface="Consolas"/>
                </a:rPr>
                <a:t xml:space="preserve"> { </a:t>
              </a:r>
              <a:r>
                <a:rPr lang="en-US" sz="1050" b="1" dirty="0">
                  <a:solidFill>
                    <a:srgbClr val="334E68"/>
                  </a:solidFill>
                  <a:latin typeface="Consolas"/>
                  <a:ea typeface="Consolas"/>
                  <a:cs typeface="Consolas"/>
                </a:rPr>
                <a:t>return</a:t>
              </a: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new</a:t>
              </a:r>
              <a:r>
                <a:rPr lang="en-US" sz="1050" dirty="0">
                  <a:solidFill>
                    <a:srgbClr val="1F2937"/>
                  </a:solidFill>
                  <a:latin typeface="Consolas"/>
                  <a:ea typeface="Consolas"/>
                  <a:cs typeface="Consolas"/>
                </a:rPr>
                <a:t xml:space="preserve"> Maze; }</a:t>
              </a:r>
              <a:b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virtual</a:t>
              </a:r>
              <a:r>
                <a:rPr lang="en-US" sz="1050" dirty="0">
                  <a:solidFill>
                    <a:srgbClr val="1F2937"/>
                  </a:solidFill>
                  <a:latin typeface="Consolas"/>
                  <a:ea typeface="Consolas"/>
                  <a:cs typeface="Consolas"/>
                </a:rPr>
                <a:t xml:space="preserve"> Room* MakeRoom(</a:t>
              </a:r>
              <a:r>
                <a:rPr lang="en-US" sz="1050" b="1" dirty="0">
                  <a:solidFill>
                    <a:srgbClr val="334E68"/>
                  </a:solidFill>
                  <a:latin typeface="Consolas"/>
                  <a:ea typeface="Consolas"/>
                  <a:cs typeface="Consolas"/>
                </a:rPr>
                <a:t>int</a:t>
              </a:r>
              <a:r>
                <a:rPr lang="en-US" sz="1050" dirty="0">
                  <a:solidFill>
                    <a:srgbClr val="1F2937"/>
                  </a:solidFill>
                  <a:latin typeface="Consolas"/>
                  <a:ea typeface="Consolas"/>
                  <a:cs typeface="Consolas"/>
                </a:rPr>
                <a:t xml:space="preserve"> n) </a:t>
              </a:r>
              <a:r>
                <a:rPr lang="en-US" sz="1050" b="1" dirty="0">
                  <a:solidFill>
                    <a:srgbClr val="334E68"/>
                  </a:solidFill>
                  <a:latin typeface="Consolas"/>
                  <a:ea typeface="Consolas"/>
                  <a:cs typeface="Consolas"/>
                </a:rPr>
                <a:t>const</a:t>
              </a:r>
              <a:r>
                <a:rPr lang="zh-CN" sz="1050" dirty="0">
                  <a:solidFill>
                    <a:srgbClr val="1F2937"/>
                  </a:solidFill>
                  <a:latin typeface="Consolas"/>
                  <a:ea typeface="Consolas"/>
                  <a:cs typeface="Consolas"/>
                </a:rPr>
                <a:t xml:space="preserve"> { </a:t>
              </a:r>
              <a:r>
                <a:rPr lang="en-US" sz="1050" b="1" dirty="0">
                  <a:solidFill>
                    <a:srgbClr val="334E68"/>
                  </a:solidFill>
                  <a:latin typeface="Consolas"/>
                  <a:ea typeface="Consolas"/>
                  <a:cs typeface="Consolas"/>
                </a:rPr>
                <a:t>return</a:t>
              </a: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new</a:t>
              </a:r>
              <a:r>
                <a:rPr lang="en-US" sz="1050" dirty="0">
                  <a:solidFill>
                    <a:srgbClr val="1F2937"/>
                  </a:solidFill>
                  <a:latin typeface="Consolas"/>
                  <a:ea typeface="Consolas"/>
                  <a:cs typeface="Consolas"/>
                </a:rPr>
                <a:t xml:space="preserve"> Room(n); }</a:t>
              </a:r>
              <a:b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virtual</a:t>
              </a:r>
              <a:r>
                <a:rPr lang="en-US" sz="1050" dirty="0">
                  <a:solidFill>
                    <a:srgbClr val="1F2937"/>
                  </a:solidFill>
                  <a:latin typeface="Consolas"/>
                  <a:ea typeface="Consolas"/>
                  <a:cs typeface="Consolas"/>
                </a:rPr>
                <a:t xml:space="preserve"> Wall* MakeWall() </a:t>
              </a:r>
              <a:r>
                <a:rPr lang="en-US" sz="1050" b="1" dirty="0">
                  <a:solidFill>
                    <a:srgbClr val="334E68"/>
                  </a:solidFill>
                  <a:latin typeface="Consolas"/>
                  <a:ea typeface="Consolas"/>
                  <a:cs typeface="Consolas"/>
                </a:rPr>
                <a:t>const</a:t>
              </a:r>
              <a:r>
                <a:rPr lang="zh-CN" sz="1050" dirty="0">
                  <a:solidFill>
                    <a:srgbClr val="1F2937"/>
                  </a:solidFill>
                  <a:latin typeface="Consolas"/>
                  <a:ea typeface="Consolas"/>
                  <a:cs typeface="Consolas"/>
                </a:rPr>
                <a:t xml:space="preserve"> { </a:t>
              </a:r>
              <a:r>
                <a:rPr lang="en-US" sz="1050" b="1" dirty="0">
                  <a:solidFill>
                    <a:srgbClr val="334E68"/>
                  </a:solidFill>
                  <a:latin typeface="Consolas"/>
                  <a:ea typeface="Consolas"/>
                  <a:cs typeface="Consolas"/>
                </a:rPr>
                <a:t>return</a:t>
              </a: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new</a:t>
              </a:r>
              <a:r>
                <a:rPr lang="en-US" sz="1050" dirty="0">
                  <a:solidFill>
                    <a:srgbClr val="1F2937"/>
                  </a:solidFill>
                  <a:latin typeface="Consolas"/>
                  <a:ea typeface="Consolas"/>
                  <a:cs typeface="Consolas"/>
                </a:rPr>
                <a:t xml:space="preserve"> Wall; }</a:t>
              </a:r>
              <a:b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virtual</a:t>
              </a:r>
              <a:r>
                <a:rPr lang="en-US" sz="1050" dirty="0">
                  <a:solidFill>
                    <a:srgbClr val="1F2937"/>
                  </a:solidFill>
                  <a:latin typeface="Consolas"/>
                  <a:ea typeface="Consolas"/>
                  <a:cs typeface="Consolas"/>
                </a:rPr>
                <a:t xml:space="preserve"> Door* MakeDoor(Room* r1, Room* r2) </a:t>
              </a:r>
              <a:r>
                <a:rPr lang="en-US" sz="1050" b="1" dirty="0">
                  <a:solidFill>
                    <a:srgbClr val="334E68"/>
                  </a:solidFill>
                  <a:latin typeface="Consolas"/>
                  <a:ea typeface="Consolas"/>
                  <a:cs typeface="Consolas"/>
                </a:rPr>
                <a:t>const</a:t>
              </a:r>
              <a:br/>
              <a:r>
                <a:rPr lang="zh-CN" sz="1050" dirty="0">
                  <a:solidFill>
                    <a:srgbClr val="1F2937"/>
                  </a:solidFill>
                  <a:latin typeface="Consolas"/>
                  <a:ea typeface="Consolas"/>
                  <a:cs typeface="Consolas"/>
                </a:rPr>
                <a:t xml:space="preserve">        { </a:t>
              </a:r>
              <a:r>
                <a:rPr lang="en-US" sz="1050" b="1" dirty="0">
                  <a:solidFill>
                    <a:srgbClr val="334E68"/>
                  </a:solidFill>
                  <a:latin typeface="Consolas"/>
                  <a:ea typeface="Consolas"/>
                  <a:cs typeface="Consolas"/>
                </a:rPr>
                <a:t>return</a:t>
              </a: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new</a:t>
              </a:r>
              <a:r>
                <a:rPr lang="en-US" sz="1050" dirty="0">
                  <a:solidFill>
                    <a:srgbClr val="1F2937"/>
                  </a:solidFill>
                  <a:latin typeface="Consolas"/>
                  <a:ea typeface="Consolas"/>
                  <a:cs typeface="Consolas"/>
                </a:rPr>
                <a:t xml:space="preserve"> Door(r1, r2); }</a:t>
              </a:r>
              <a:br/>
              <a:r>
                <a:rPr lang="zh-CN" sz="1050" dirty="0">
                  <a:solidFill>
                    <a:srgbClr val="1F2937"/>
                  </a:solidFill>
                  <a:latin typeface="Consolas"/>
                  <a:ea typeface="Consolas"/>
                  <a:cs typeface="Consolas"/>
                </a:rPr>
                <a:t>};</a:t>
              </a:r>
            </a:p>
          </p:txBody>
        </p:sp>
      </p:grpSp>
      <p:grpSp>
        <p:nvGrpSpPr>
          <p:cNvPr id="17" name="c1-code-2"/>
          <p:cNvGrpSpPr/>
          <p:nvPr/>
        </p:nvGrpSpPr>
        <p:grpSpPr>
          <a:xfrm>
            <a:off x="533400" y="4096702"/>
            <a:ext cx="5626418" cy="1640205"/>
            <a:chOff x="533400" y="4096702"/>
            <a:chExt cx="5626418" cy="1640205"/>
          </a:xfrm>
        </p:grpSpPr>
        <p:sp>
          <p:nvSpPr>
            <p:cNvPr id="14" name="Rectangle 14"/>
            <p:cNvSpPr/>
            <p:nvPr/>
          </p:nvSpPr>
          <p:spPr>
            <a:xfrm>
              <a:off x="533400" y="4096702"/>
              <a:ext cx="5626418" cy="1640205"/>
            </a:xfrm>
            <a:prstGeom prst="roundRect">
              <a:avLst>
                <a:gd name="adj" fmla="val 5807"/>
              </a:avLst>
            </a:prstGeom>
            <a:solidFill>
              <a:srgbClr val="F6F8FA"/>
            </a:solidFill>
            <a:ln w="11430">
              <a:solidFill>
                <a:srgbClr val="D9DFEA"/>
              </a:solidFill>
            </a:ln>
          </p:spPr>
        </p:sp>
        <p:sp>
          <p:nvSpPr>
            <p:cNvPr id="15" name="TextBox 15"/>
            <p:cNvSpPr txBox="1"/>
            <p:nvPr/>
          </p:nvSpPr>
          <p:spPr>
            <a:xfrm>
              <a:off x="661797" y="4248626"/>
              <a:ext cx="1593037"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子类只重定义要换的那几个</a:t>
              </a:r>
            </a:p>
          </p:txBody>
        </p:sp>
        <p:sp>
          <p:nvSpPr>
            <p:cNvPr id="16" name="TextBox 16"/>
            <p:cNvSpPr txBox="1"/>
            <p:nvPr/>
          </p:nvSpPr>
          <p:spPr>
            <a:xfrm>
              <a:off x="661416" y="4510088"/>
              <a:ext cx="4484561" cy="1153096"/>
            </a:xfrm>
            <a:prstGeom prst="rect">
              <a:avLst/>
            </a:prstGeom>
            <a:noFill/>
            <a:ln>
              <a:noFill/>
            </a:ln>
          </p:spPr>
          <p:txBody>
            <a:bodyPr wrap="none" lIns="0" tIns="0" rIns="0" bIns="0" anchor="t" anchorCtr="0">
              <a:spAutoFit/>
            </a:bodyPr>
            <a:lstStyle/>
            <a:p>
              <a:pPr algn="l">
                <a:lnSpc>
                  <a:spcPts val="1492"/>
                </a:lnSpc>
              </a:pPr>
              <a:r>
                <a:rPr lang="en-US" sz="1050" b="1" dirty="0">
                  <a:solidFill>
                    <a:srgbClr val="334E68"/>
                  </a:solidFill>
                  <a:latin typeface="Consolas"/>
                  <a:ea typeface="Consolas"/>
                  <a:cs typeface="Consolas"/>
                </a:rPr>
                <a:t>class</a:t>
              </a:r>
              <a:r>
                <a:rPr lang="en-US" sz="1050" dirty="0">
                  <a:solidFill>
                    <a:srgbClr val="1F2937"/>
                  </a:solidFill>
                  <a:latin typeface="Consolas"/>
                  <a:ea typeface="Consolas"/>
                  <a:cs typeface="Consolas"/>
                </a:rPr>
                <a:t xml:space="preserve"> BombedMazeGame : </a:t>
              </a:r>
              <a:r>
                <a:rPr lang="en-US" sz="1050" b="1" dirty="0">
                  <a:solidFill>
                    <a:srgbClr val="334E68"/>
                  </a:solidFill>
                  <a:latin typeface="Consolas"/>
                  <a:ea typeface="Consolas"/>
                  <a:cs typeface="Consolas"/>
                </a:rPr>
                <a:t>public</a:t>
              </a:r>
              <a:r>
                <a:rPr lang="en-US" sz="1050" dirty="0">
                  <a:solidFill>
                    <a:srgbClr val="1F2937"/>
                  </a:solidFill>
                  <a:latin typeface="Consolas"/>
                  <a:ea typeface="Consolas"/>
                  <a:cs typeface="Consolas"/>
                </a:rPr>
                <a:t xml:space="preserve"> MazeGame {</a:t>
              </a:r>
              <a:br/>
              <a:r>
                <a:rPr lang="en-US" sz="1050" b="1" dirty="0">
                  <a:solidFill>
                    <a:srgbClr val="334E68"/>
                  </a:solidFill>
                  <a:latin typeface="Consolas"/>
                  <a:ea typeface="Consolas"/>
                  <a:cs typeface="Consolas"/>
                </a:rPr>
                <a:t>public</a:t>
              </a:r>
              <a:r>
                <a:rPr lang="zh-CN" sz="1050" dirty="0">
                  <a:solidFill>
                    <a:srgbClr val="1F2937"/>
                  </a:solidFill>
                  <a:latin typeface="Consolas"/>
                  <a:ea typeface="Consolas"/>
                  <a:cs typeface="Consolas"/>
                </a:rPr>
                <a:t>:</a:t>
              </a:r>
              <a:b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virtual</a:t>
              </a:r>
              <a:r>
                <a:rPr lang="en-US" sz="1050" dirty="0">
                  <a:solidFill>
                    <a:srgbClr val="1F2937"/>
                  </a:solidFill>
                  <a:latin typeface="Consolas"/>
                  <a:ea typeface="Consolas"/>
                  <a:cs typeface="Consolas"/>
                </a:rPr>
                <a:t xml:space="preserve"> Wall* MakeWall() </a:t>
              </a:r>
              <a:r>
                <a:rPr lang="en-US" sz="1050" b="1" dirty="0">
                  <a:solidFill>
                    <a:srgbClr val="334E68"/>
                  </a:solidFill>
                  <a:latin typeface="Consolas"/>
                  <a:ea typeface="Consolas"/>
                  <a:cs typeface="Consolas"/>
                </a:rPr>
                <a:t>const</a:t>
              </a:r>
              <a:r>
                <a:rPr lang="zh-CN" sz="1050" dirty="0">
                  <a:solidFill>
                    <a:srgbClr val="1F2937"/>
                  </a:solidFill>
                  <a:latin typeface="Consolas"/>
                  <a:ea typeface="Consolas"/>
                  <a:cs typeface="Consolas"/>
                </a:rPr>
                <a:t xml:space="preserve"> { </a:t>
              </a:r>
              <a:r>
                <a:rPr lang="en-US" sz="1050" b="1" dirty="0">
                  <a:solidFill>
                    <a:srgbClr val="334E68"/>
                  </a:solidFill>
                  <a:latin typeface="Consolas"/>
                  <a:ea typeface="Consolas"/>
                  <a:cs typeface="Consolas"/>
                </a:rPr>
                <a:t>return</a:t>
              </a: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new</a:t>
              </a:r>
              <a:r>
                <a:rPr lang="en-US" sz="1050" dirty="0">
                  <a:solidFill>
                    <a:srgbClr val="1F2937"/>
                  </a:solidFill>
                  <a:latin typeface="Consolas"/>
                  <a:ea typeface="Consolas"/>
                  <a:cs typeface="Consolas"/>
                </a:rPr>
                <a:t xml:space="preserve"> BombedWall; }</a:t>
              </a:r>
              <a:b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virtual</a:t>
              </a:r>
              <a:r>
                <a:rPr lang="en-US" sz="1050" dirty="0">
                  <a:solidFill>
                    <a:srgbClr val="1F2937"/>
                  </a:solidFill>
                  <a:latin typeface="Consolas"/>
                  <a:ea typeface="Consolas"/>
                  <a:cs typeface="Consolas"/>
                </a:rPr>
                <a:t xml:space="preserve"> Room* MakeRoom(</a:t>
              </a:r>
              <a:r>
                <a:rPr lang="en-US" sz="1050" b="1" dirty="0">
                  <a:solidFill>
                    <a:srgbClr val="334E68"/>
                  </a:solidFill>
                  <a:latin typeface="Consolas"/>
                  <a:ea typeface="Consolas"/>
                  <a:cs typeface="Consolas"/>
                </a:rPr>
                <a:t>int</a:t>
              </a:r>
              <a:r>
                <a:rPr lang="en-US" sz="1050" dirty="0">
                  <a:solidFill>
                    <a:srgbClr val="1F2937"/>
                  </a:solidFill>
                  <a:latin typeface="Consolas"/>
                  <a:ea typeface="Consolas"/>
                  <a:cs typeface="Consolas"/>
                </a:rPr>
                <a:t xml:space="preserve"> n) </a:t>
              </a:r>
              <a:r>
                <a:rPr lang="en-US" sz="1050" b="1" dirty="0">
                  <a:solidFill>
                    <a:srgbClr val="334E68"/>
                  </a:solidFill>
                  <a:latin typeface="Consolas"/>
                  <a:ea typeface="Consolas"/>
                  <a:cs typeface="Consolas"/>
                </a:rPr>
                <a:t>const</a:t>
              </a:r>
              <a:br/>
              <a:r>
                <a:rPr lang="zh-CN" sz="1050" dirty="0">
                  <a:solidFill>
                    <a:srgbClr val="1F2937"/>
                  </a:solidFill>
                  <a:latin typeface="Consolas"/>
                  <a:ea typeface="Consolas"/>
                  <a:cs typeface="Consolas"/>
                </a:rPr>
                <a:t xml:space="preserve">        { </a:t>
              </a:r>
              <a:r>
                <a:rPr lang="en-US" sz="1050" b="1" dirty="0">
                  <a:solidFill>
                    <a:srgbClr val="334E68"/>
                  </a:solidFill>
                  <a:latin typeface="Consolas"/>
                  <a:ea typeface="Consolas"/>
                  <a:cs typeface="Consolas"/>
                </a:rPr>
                <a:t>return</a:t>
              </a: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new</a:t>
              </a:r>
              <a:r>
                <a:rPr lang="en-US" sz="1050" dirty="0">
                  <a:solidFill>
                    <a:srgbClr val="1F2937"/>
                  </a:solidFill>
                  <a:latin typeface="Consolas"/>
                  <a:ea typeface="Consolas"/>
                  <a:cs typeface="Consolas"/>
                </a:rPr>
                <a:t xml:space="preserve"> RoomWithBomb(n); }</a:t>
              </a:r>
              <a:br/>
              <a:r>
                <a:rPr lang="zh-CN" sz="1050" dirty="0">
                  <a:solidFill>
                    <a:srgbClr val="1F2937"/>
                  </a:solidFill>
                  <a:latin typeface="Consolas"/>
                  <a:ea typeface="Consolas"/>
                  <a:cs typeface="Consolas"/>
                </a:rPr>
                <a:t>};</a:t>
              </a:r>
            </a:p>
          </p:txBody>
        </p:sp>
      </p:grpSp>
      <p:grpSp>
        <p:nvGrpSpPr>
          <p:cNvPr id="48" name="c2-uml-1"/>
          <p:cNvGrpSpPr/>
          <p:nvPr/>
        </p:nvGrpSpPr>
        <p:grpSpPr>
          <a:xfrm>
            <a:off x="7128510" y="1646872"/>
            <a:ext cx="3866198" cy="1665922"/>
            <a:chOff x="7128510" y="1646872"/>
            <a:chExt cx="3866198" cy="1665922"/>
          </a:xfrm>
        </p:grpSpPr>
        <p:sp>
          <p:nvSpPr>
            <p:cNvPr id="18" name="Freeform 18"/>
            <p:cNvSpPr/>
            <p:nvPr/>
          </p:nvSpPr>
          <p:spPr>
            <a:xfrm>
              <a:off x="7762875" y="2523172"/>
              <a:ext cx="9525" cy="201930"/>
            </a:xfrm>
            <a:custGeom>
              <a:avLst/>
              <a:gdLst/>
              <a:ahLst/>
              <a:cxnLst/>
              <a:rect l="l" t="t" r="r" b="b"/>
              <a:pathLst>
                <a:path w="9525" h="201930">
                  <a:moveTo>
                    <a:pt x="0" y="201930"/>
                  </a:moveTo>
                  <a:lnTo>
                    <a:pt x="0" y="0"/>
                  </a:lnTo>
                </a:path>
              </a:pathLst>
            </a:custGeom>
            <a:noFill/>
            <a:ln w="15240">
              <a:solidFill>
                <a:srgbClr val="1F2937"/>
              </a:solidFill>
            </a:ln>
          </p:spPr>
        </p:sp>
        <p:sp>
          <p:nvSpPr>
            <p:cNvPr id="19" name="Freeform 19"/>
            <p:cNvSpPr/>
            <p:nvPr/>
          </p:nvSpPr>
          <p:spPr>
            <a:xfrm>
              <a:off x="7689532" y="2397442"/>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20" name="Freeform 20"/>
            <p:cNvSpPr/>
            <p:nvPr/>
          </p:nvSpPr>
          <p:spPr>
            <a:xfrm>
              <a:off x="10360342" y="2361248"/>
              <a:ext cx="9525" cy="444818"/>
            </a:xfrm>
            <a:custGeom>
              <a:avLst/>
              <a:gdLst/>
              <a:ahLst/>
              <a:cxnLst/>
              <a:rect l="l" t="t" r="r" b="b"/>
              <a:pathLst>
                <a:path w="9525" h="444818">
                  <a:moveTo>
                    <a:pt x="0" y="444818"/>
                  </a:moveTo>
                  <a:lnTo>
                    <a:pt x="0" y="0"/>
                  </a:lnTo>
                </a:path>
              </a:pathLst>
            </a:custGeom>
            <a:noFill/>
            <a:ln w="15240">
              <a:solidFill>
                <a:srgbClr val="1F2937"/>
              </a:solidFill>
            </a:ln>
          </p:spPr>
        </p:sp>
        <p:sp>
          <p:nvSpPr>
            <p:cNvPr id="21" name="Freeform 21"/>
            <p:cNvSpPr/>
            <p:nvPr/>
          </p:nvSpPr>
          <p:spPr>
            <a:xfrm>
              <a:off x="10287000" y="2235518"/>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22" name="Freeform 22"/>
            <p:cNvSpPr/>
            <p:nvPr/>
          </p:nvSpPr>
          <p:spPr>
            <a:xfrm>
              <a:off x="8397240" y="3019425"/>
              <a:ext cx="1328738" cy="9525"/>
            </a:xfrm>
            <a:custGeom>
              <a:avLst/>
              <a:gdLst/>
              <a:ahLst/>
              <a:cxnLst/>
              <a:rect l="l" t="t" r="r" b="b"/>
              <a:pathLst>
                <a:path w="1328738" h="9525">
                  <a:moveTo>
                    <a:pt x="0" y="0"/>
                  </a:moveTo>
                  <a:lnTo>
                    <a:pt x="1328738" y="0"/>
                  </a:lnTo>
                </a:path>
              </a:pathLst>
            </a:custGeom>
            <a:noFill/>
            <a:ln w="15240">
              <a:solidFill>
                <a:srgbClr val="1F2937"/>
              </a:solidFill>
              <a:custDash>
                <a:ds d="375000" sp="250000"/>
              </a:custDash>
            </a:ln>
          </p:spPr>
        </p:sp>
        <p:sp>
          <p:nvSpPr>
            <p:cNvPr id="23" name="Freeform 23"/>
            <p:cNvSpPr/>
            <p:nvPr/>
          </p:nvSpPr>
          <p:spPr>
            <a:xfrm>
              <a:off x="9621202" y="2961322"/>
              <a:ext cx="104775" cy="115253"/>
            </a:xfrm>
            <a:custGeom>
              <a:avLst/>
              <a:gdLst/>
              <a:ahLst/>
              <a:cxnLst/>
              <a:rect l="l" t="t" r="r" b="b"/>
              <a:pathLst>
                <a:path w="104775" h="115253">
                  <a:moveTo>
                    <a:pt x="0" y="115253"/>
                  </a:moveTo>
                  <a:lnTo>
                    <a:pt x="104775" y="58103"/>
                  </a:lnTo>
                  <a:lnTo>
                    <a:pt x="0" y="0"/>
                  </a:lnTo>
                </a:path>
              </a:pathLst>
            </a:custGeom>
            <a:noFill/>
            <a:ln w="15240">
              <a:solidFill>
                <a:srgbClr val="1F2937"/>
              </a:solidFill>
            </a:ln>
          </p:spPr>
        </p:sp>
        <p:sp>
          <p:nvSpPr>
            <p:cNvPr id="24" name="Rectangle 24"/>
            <p:cNvSpPr/>
            <p:nvPr/>
          </p:nvSpPr>
          <p:spPr>
            <a:xfrm>
              <a:off x="7172325" y="1646872"/>
              <a:ext cx="1181100" cy="750570"/>
            </a:xfrm>
            <a:prstGeom prst="rect">
              <a:avLst/>
            </a:prstGeom>
            <a:solidFill>
              <a:srgbClr val="FFFFFF"/>
            </a:solidFill>
            <a:ln w="14288">
              <a:solidFill>
                <a:srgbClr val="334E68"/>
              </a:solidFill>
            </a:ln>
          </p:spPr>
        </p:sp>
        <p:sp>
          <p:nvSpPr>
            <p:cNvPr id="25" name="Rectangle 25"/>
            <p:cNvSpPr/>
            <p:nvPr/>
          </p:nvSpPr>
          <p:spPr>
            <a:xfrm>
              <a:off x="7179945" y="1654492"/>
              <a:ext cx="1166812" cy="227648"/>
            </a:xfrm>
            <a:prstGeom prst="rect">
              <a:avLst/>
            </a:prstGeom>
            <a:solidFill>
              <a:srgbClr val="E7EDF3"/>
            </a:solidFill>
            <a:ln>
              <a:noFill/>
            </a:ln>
          </p:spPr>
        </p:sp>
        <p:sp>
          <p:nvSpPr>
            <p:cNvPr id="26" name="Rectangle 26"/>
            <p:cNvSpPr/>
            <p:nvPr/>
          </p:nvSpPr>
          <p:spPr>
            <a:xfrm>
              <a:off x="7172325" y="1877378"/>
              <a:ext cx="1181100" cy="9525"/>
            </a:xfrm>
            <a:prstGeom prst="rect">
              <a:avLst/>
            </a:prstGeom>
            <a:solidFill>
              <a:srgbClr val="334E68"/>
            </a:solidFill>
            <a:ln>
              <a:noFill/>
            </a:ln>
          </p:spPr>
        </p:sp>
        <p:sp>
          <p:nvSpPr>
            <p:cNvPr id="27" name="Rectangle 27"/>
            <p:cNvSpPr/>
            <p:nvPr/>
          </p:nvSpPr>
          <p:spPr>
            <a:xfrm>
              <a:off x="7172325" y="1972628"/>
              <a:ext cx="1181100" cy="9525"/>
            </a:xfrm>
            <a:prstGeom prst="rect">
              <a:avLst/>
            </a:prstGeom>
            <a:solidFill>
              <a:srgbClr val="334E68"/>
            </a:solidFill>
            <a:ln>
              <a:noFill/>
            </a:ln>
          </p:spPr>
        </p:sp>
        <p:sp>
          <p:nvSpPr>
            <p:cNvPr id="28" name="Rectangle 28"/>
            <p:cNvSpPr/>
            <p:nvPr/>
          </p:nvSpPr>
          <p:spPr>
            <a:xfrm>
              <a:off x="9788842" y="1809750"/>
              <a:ext cx="1143000" cy="425768"/>
            </a:xfrm>
            <a:prstGeom prst="rect">
              <a:avLst/>
            </a:prstGeom>
            <a:solidFill>
              <a:srgbClr val="FFFFFF"/>
            </a:solidFill>
            <a:ln w="14288">
              <a:solidFill>
                <a:srgbClr val="334E68"/>
              </a:solidFill>
            </a:ln>
          </p:spPr>
        </p:sp>
        <p:sp>
          <p:nvSpPr>
            <p:cNvPr id="29" name="Rectangle 29"/>
            <p:cNvSpPr/>
            <p:nvPr/>
          </p:nvSpPr>
          <p:spPr>
            <a:xfrm>
              <a:off x="9795510" y="1816418"/>
              <a:ext cx="1128712" cy="227648"/>
            </a:xfrm>
            <a:prstGeom prst="rect">
              <a:avLst/>
            </a:prstGeom>
            <a:solidFill>
              <a:srgbClr val="E7EDF3"/>
            </a:solidFill>
            <a:ln>
              <a:noFill/>
            </a:ln>
          </p:spPr>
        </p:sp>
        <p:sp>
          <p:nvSpPr>
            <p:cNvPr id="30" name="Rectangle 30"/>
            <p:cNvSpPr/>
            <p:nvPr/>
          </p:nvSpPr>
          <p:spPr>
            <a:xfrm>
              <a:off x="9788842" y="2040255"/>
              <a:ext cx="1143000" cy="9525"/>
            </a:xfrm>
            <a:prstGeom prst="rect">
              <a:avLst/>
            </a:prstGeom>
            <a:solidFill>
              <a:srgbClr val="334E68"/>
            </a:solidFill>
            <a:ln>
              <a:noFill/>
            </a:ln>
          </p:spPr>
        </p:sp>
        <p:sp>
          <p:nvSpPr>
            <p:cNvPr id="31" name="Rectangle 31"/>
            <p:cNvSpPr/>
            <p:nvPr/>
          </p:nvSpPr>
          <p:spPr>
            <a:xfrm>
              <a:off x="9788842" y="2135505"/>
              <a:ext cx="1143000" cy="9525"/>
            </a:xfrm>
            <a:prstGeom prst="rect">
              <a:avLst/>
            </a:prstGeom>
            <a:solidFill>
              <a:srgbClr val="334E68"/>
            </a:solidFill>
            <a:ln>
              <a:noFill/>
            </a:ln>
          </p:spPr>
        </p:sp>
        <p:sp>
          <p:nvSpPr>
            <p:cNvPr id="32" name="Rectangle 32"/>
            <p:cNvSpPr/>
            <p:nvPr/>
          </p:nvSpPr>
          <p:spPr>
            <a:xfrm>
              <a:off x="7128510" y="2725102"/>
              <a:ext cx="1268730" cy="587692"/>
            </a:xfrm>
            <a:prstGeom prst="rect">
              <a:avLst/>
            </a:prstGeom>
            <a:solidFill>
              <a:srgbClr val="FFFFFF"/>
            </a:solidFill>
            <a:ln w="14288">
              <a:solidFill>
                <a:srgbClr val="334E68"/>
              </a:solidFill>
            </a:ln>
          </p:spPr>
        </p:sp>
        <p:sp>
          <p:nvSpPr>
            <p:cNvPr id="33" name="Rectangle 33"/>
            <p:cNvSpPr/>
            <p:nvPr/>
          </p:nvSpPr>
          <p:spPr>
            <a:xfrm>
              <a:off x="7136130" y="2732722"/>
              <a:ext cx="1254442" cy="227648"/>
            </a:xfrm>
            <a:prstGeom prst="rect">
              <a:avLst/>
            </a:prstGeom>
            <a:solidFill>
              <a:srgbClr val="334E68"/>
            </a:solidFill>
            <a:ln>
              <a:noFill/>
            </a:ln>
          </p:spPr>
        </p:sp>
        <p:sp>
          <p:nvSpPr>
            <p:cNvPr id="34" name="Rectangle 34"/>
            <p:cNvSpPr/>
            <p:nvPr/>
          </p:nvSpPr>
          <p:spPr>
            <a:xfrm>
              <a:off x="7128510" y="2955608"/>
              <a:ext cx="1268730" cy="9525"/>
            </a:xfrm>
            <a:prstGeom prst="rect">
              <a:avLst/>
            </a:prstGeom>
            <a:solidFill>
              <a:srgbClr val="334E68"/>
            </a:solidFill>
            <a:ln>
              <a:noFill/>
            </a:ln>
          </p:spPr>
        </p:sp>
        <p:sp>
          <p:nvSpPr>
            <p:cNvPr id="35" name="Rectangle 35"/>
            <p:cNvSpPr/>
            <p:nvPr/>
          </p:nvSpPr>
          <p:spPr>
            <a:xfrm>
              <a:off x="7128510" y="3050858"/>
              <a:ext cx="1268730" cy="9525"/>
            </a:xfrm>
            <a:prstGeom prst="rect">
              <a:avLst/>
            </a:prstGeom>
            <a:solidFill>
              <a:srgbClr val="334E68"/>
            </a:solidFill>
            <a:ln>
              <a:noFill/>
            </a:ln>
          </p:spPr>
        </p:sp>
        <p:sp>
          <p:nvSpPr>
            <p:cNvPr id="36" name="Rectangle 36"/>
            <p:cNvSpPr/>
            <p:nvPr/>
          </p:nvSpPr>
          <p:spPr>
            <a:xfrm>
              <a:off x="9725978" y="2806065"/>
              <a:ext cx="1268730" cy="425768"/>
            </a:xfrm>
            <a:prstGeom prst="rect">
              <a:avLst/>
            </a:prstGeom>
            <a:solidFill>
              <a:srgbClr val="FFFFFF"/>
            </a:solidFill>
            <a:ln w="14288">
              <a:solidFill>
                <a:srgbClr val="334E68"/>
              </a:solidFill>
            </a:ln>
          </p:spPr>
        </p:sp>
        <p:sp>
          <p:nvSpPr>
            <p:cNvPr id="37" name="Rectangle 37"/>
            <p:cNvSpPr/>
            <p:nvPr/>
          </p:nvSpPr>
          <p:spPr>
            <a:xfrm>
              <a:off x="9732645" y="2813685"/>
              <a:ext cx="1254442" cy="227648"/>
            </a:xfrm>
            <a:prstGeom prst="rect">
              <a:avLst/>
            </a:prstGeom>
            <a:solidFill>
              <a:srgbClr val="E7EDF3"/>
            </a:solidFill>
            <a:ln>
              <a:noFill/>
            </a:ln>
          </p:spPr>
        </p:sp>
        <p:sp>
          <p:nvSpPr>
            <p:cNvPr id="38" name="Rectangle 38"/>
            <p:cNvSpPr/>
            <p:nvPr/>
          </p:nvSpPr>
          <p:spPr>
            <a:xfrm>
              <a:off x="9725978" y="3036570"/>
              <a:ext cx="1268730" cy="9525"/>
            </a:xfrm>
            <a:prstGeom prst="rect">
              <a:avLst/>
            </a:prstGeom>
            <a:solidFill>
              <a:srgbClr val="334E68"/>
            </a:solidFill>
            <a:ln>
              <a:noFill/>
            </a:ln>
          </p:spPr>
        </p:sp>
        <p:sp>
          <p:nvSpPr>
            <p:cNvPr id="39" name="Rectangle 39"/>
            <p:cNvSpPr/>
            <p:nvPr/>
          </p:nvSpPr>
          <p:spPr>
            <a:xfrm>
              <a:off x="9725978" y="3131820"/>
              <a:ext cx="1268730" cy="9525"/>
            </a:xfrm>
            <a:prstGeom prst="rect">
              <a:avLst/>
            </a:prstGeom>
            <a:solidFill>
              <a:srgbClr val="334E68"/>
            </a:solidFill>
            <a:ln>
              <a:noFill/>
            </a:ln>
          </p:spPr>
        </p:sp>
        <p:sp>
          <p:nvSpPr>
            <p:cNvPr id="40" name="TextBox 40"/>
            <p:cNvSpPr txBox="1"/>
            <p:nvPr/>
          </p:nvSpPr>
          <p:spPr>
            <a:xfrm>
              <a:off x="7489107" y="1702594"/>
              <a:ext cx="547536" cy="190690"/>
            </a:xfrm>
            <a:prstGeom prst="rect">
              <a:avLst/>
            </a:prstGeom>
            <a:noFill/>
            <a:ln>
              <a:noFill/>
            </a:ln>
          </p:spPr>
          <p:txBody>
            <a:bodyPr wrap="none" lIns="0" tIns="0" rIns="0" bIns="0" anchor="t" anchorCtr="0">
              <a:spAutoFit/>
            </a:bodyPr>
            <a:lstStyle/>
            <a:p>
              <a:pPr algn="ctr"/>
              <a:r>
                <a:rPr lang="en-US" sz="980" b="1" i="1" dirty="0">
                  <a:solidFill>
                    <a:srgbClr val="243B53"/>
                  </a:solidFill>
                  <a:latin typeface="+mn-lt"/>
                  <a:ea typeface="+mn-ea"/>
                  <a:cs typeface="+mn-cs"/>
                </a:rPr>
                <a:t>Creator</a:t>
              </a:r>
            </a:p>
          </p:txBody>
        </p:sp>
        <p:sp>
          <p:nvSpPr>
            <p:cNvPr id="41" name="TextBox 41"/>
            <p:cNvSpPr txBox="1"/>
            <p:nvPr/>
          </p:nvSpPr>
          <p:spPr>
            <a:xfrm>
              <a:off x="7243762" y="2042160"/>
              <a:ext cx="1038225" cy="338138"/>
            </a:xfrm>
            <a:prstGeom prst="rect">
              <a:avLst/>
            </a:prstGeom>
            <a:noFill/>
            <a:ln>
              <a:noFill/>
            </a:ln>
          </p:spPr>
          <p:txBody>
            <a:bodyPr wrap="none" lIns="0" tIns="0" rIns="0" bIns="0" anchor="t" anchorCtr="0">
              <a:spAutoFit/>
            </a:bodyPr>
            <a:lstStyle/>
            <a:p>
              <a:pPr algn="l">
                <a:lnSpc>
                  <a:spcPts val="1275"/>
                </a:lnSpc>
              </a:pPr>
              <a:r>
                <a:rPr lang="en-US" sz="900" dirty="0">
                  <a:solidFill>
                    <a:srgbClr val="1F2937"/>
                  </a:solidFill>
                  <a:latin typeface="+mn-lt"/>
                  <a:ea typeface="+mn-ea"/>
                  <a:cs typeface="+mn-cs"/>
                </a:rPr>
                <a:t>+FactoryMethod()</a:t>
              </a:r>
              <a:br/>
              <a:r>
                <a:rPr lang="en-US" sz="900" dirty="0">
                  <a:solidFill>
                    <a:srgbClr val="1F2937"/>
                  </a:solidFill>
                  <a:latin typeface="+mn-lt"/>
                  <a:ea typeface="+mn-ea"/>
                  <a:cs typeface="+mn-cs"/>
                </a:rPr>
                <a:t>+AnOperation()</a:t>
              </a:r>
            </a:p>
          </p:txBody>
        </p:sp>
        <p:sp>
          <p:nvSpPr>
            <p:cNvPr id="42" name="TextBox 42"/>
            <p:cNvSpPr txBox="1"/>
            <p:nvPr/>
          </p:nvSpPr>
          <p:spPr>
            <a:xfrm>
              <a:off x="10086575" y="1865471"/>
              <a:ext cx="547536" cy="190690"/>
            </a:xfrm>
            <a:prstGeom prst="rect">
              <a:avLst/>
            </a:prstGeom>
            <a:noFill/>
            <a:ln>
              <a:noFill/>
            </a:ln>
          </p:spPr>
          <p:txBody>
            <a:bodyPr wrap="none" lIns="0" tIns="0" rIns="0" bIns="0" anchor="t" anchorCtr="0">
              <a:spAutoFit/>
            </a:bodyPr>
            <a:lstStyle/>
            <a:p>
              <a:pPr algn="ctr"/>
              <a:r>
                <a:rPr lang="en-US" sz="980" b="1" i="1" dirty="0">
                  <a:solidFill>
                    <a:srgbClr val="243B53"/>
                  </a:solidFill>
                  <a:latin typeface="+mn-lt"/>
                  <a:ea typeface="+mn-ea"/>
                  <a:cs typeface="+mn-cs"/>
                </a:rPr>
                <a:t>Product</a:t>
              </a:r>
            </a:p>
          </p:txBody>
        </p:sp>
        <p:sp>
          <p:nvSpPr>
            <p:cNvPr id="43" name="TextBox 43"/>
            <p:cNvSpPr txBox="1"/>
            <p:nvPr/>
          </p:nvSpPr>
          <p:spPr>
            <a:xfrm>
              <a:off x="7182198" y="2780824"/>
              <a:ext cx="1161354"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ConcreteCreator</a:t>
              </a:r>
            </a:p>
          </p:txBody>
        </p:sp>
        <p:sp>
          <p:nvSpPr>
            <p:cNvPr id="44" name="TextBox 44"/>
            <p:cNvSpPr txBox="1"/>
            <p:nvPr/>
          </p:nvSpPr>
          <p:spPr>
            <a:xfrm>
              <a:off x="7199948" y="3120390"/>
              <a:ext cx="1109443"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+FactoryMethod()</a:t>
              </a:r>
            </a:p>
          </p:txBody>
        </p:sp>
        <p:sp>
          <p:nvSpPr>
            <p:cNvPr id="45" name="TextBox 45"/>
            <p:cNvSpPr txBox="1"/>
            <p:nvPr/>
          </p:nvSpPr>
          <p:spPr>
            <a:xfrm>
              <a:off x="9779666" y="2861786"/>
              <a:ext cx="1161354" cy="190690"/>
            </a:xfrm>
            <a:prstGeom prst="rect">
              <a:avLst/>
            </a:prstGeom>
            <a:noFill/>
            <a:ln>
              <a:noFill/>
            </a:ln>
          </p:spPr>
          <p:txBody>
            <a:bodyPr wrap="none" lIns="0" tIns="0" rIns="0" bIns="0" anchor="t" anchorCtr="0">
              <a:spAutoFit/>
            </a:bodyPr>
            <a:lstStyle/>
            <a:p>
              <a:pPr algn="ctr"/>
              <a:r>
                <a:rPr lang="en-US" sz="980" b="1" dirty="0">
                  <a:solidFill>
                    <a:srgbClr val="243B53"/>
                  </a:solidFill>
                  <a:latin typeface="+mn-lt"/>
                  <a:ea typeface="+mn-ea"/>
                  <a:cs typeface="+mn-cs"/>
                </a:rPr>
                <a:t>ConcreteProduct</a:t>
              </a:r>
            </a:p>
          </p:txBody>
        </p:sp>
        <p:sp>
          <p:nvSpPr>
            <p:cNvPr id="46" name="Rectangle 46"/>
            <p:cNvSpPr/>
            <p:nvPr/>
          </p:nvSpPr>
          <p:spPr>
            <a:xfrm>
              <a:off x="8889682" y="2812732"/>
              <a:ext cx="343852" cy="179070"/>
            </a:xfrm>
            <a:prstGeom prst="roundRect">
              <a:avLst>
                <a:gd name="adj" fmla="val 21277"/>
              </a:avLst>
            </a:prstGeom>
            <a:solidFill>
              <a:srgbClr val="FFFFFF"/>
            </a:solidFill>
            <a:ln>
              <a:noFill/>
            </a:ln>
          </p:spPr>
        </p:sp>
        <p:sp>
          <p:nvSpPr>
            <p:cNvPr id="47" name="TextBox 47"/>
            <p:cNvSpPr txBox="1"/>
            <p:nvPr/>
          </p:nvSpPr>
          <p:spPr>
            <a:xfrm>
              <a:off x="8925204" y="2837974"/>
              <a:ext cx="273761"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创建</a:t>
              </a:r>
            </a:p>
          </p:txBody>
        </p:sp>
      </p:grpSp>
      <p:grpSp>
        <p:nvGrpSpPr>
          <p:cNvPr id="54" name="c2-card-2"/>
          <p:cNvGrpSpPr/>
          <p:nvPr/>
        </p:nvGrpSpPr>
        <p:grpSpPr>
          <a:xfrm>
            <a:off x="6464618" y="3692842"/>
            <a:ext cx="5193982" cy="1511618"/>
            <a:chOff x="6464618" y="3692842"/>
            <a:chExt cx="5193982" cy="1511618"/>
          </a:xfrm>
        </p:grpSpPr>
        <p:sp>
          <p:nvSpPr>
            <p:cNvPr id="49" name="Rectangle 49"/>
            <p:cNvSpPr/>
            <p:nvPr/>
          </p:nvSpPr>
          <p:spPr>
            <a:xfrm>
              <a:off x="6464618" y="3692842"/>
              <a:ext cx="5193982" cy="1511618"/>
            </a:xfrm>
            <a:prstGeom prst="roundRect">
              <a:avLst>
                <a:gd name="adj" fmla="val 8822"/>
              </a:avLst>
            </a:prstGeom>
            <a:solidFill>
              <a:srgbClr val="334E68"/>
            </a:solidFill>
            <a:ln>
              <a:noFill/>
            </a:ln>
          </p:spPr>
        </p:sp>
        <p:sp>
          <p:nvSpPr>
            <p:cNvPr id="50" name="Rectangle 50"/>
            <p:cNvSpPr/>
            <p:nvPr/>
          </p:nvSpPr>
          <p:spPr>
            <a:xfrm>
              <a:off x="6657022" y="3885248"/>
              <a:ext cx="476250" cy="247650"/>
            </a:xfrm>
            <a:prstGeom prst="roundRect">
              <a:avLst>
                <a:gd name="adj" fmla="val 50000"/>
              </a:avLst>
            </a:prstGeom>
            <a:solidFill>
              <a:srgbClr val="243B53"/>
            </a:solidFill>
            <a:ln>
              <a:noFill/>
            </a:ln>
          </p:spPr>
        </p:sp>
        <p:sp>
          <p:nvSpPr>
            <p:cNvPr id="51" name="TextBox 51"/>
            <p:cNvSpPr txBox="1"/>
            <p:nvPr/>
          </p:nvSpPr>
          <p:spPr>
            <a:xfrm>
              <a:off x="6748462" y="3919538"/>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要点</a:t>
              </a:r>
            </a:p>
          </p:txBody>
        </p:sp>
        <p:sp>
          <p:nvSpPr>
            <p:cNvPr id="52" name="TextBox 52"/>
            <p:cNvSpPr txBox="1"/>
            <p:nvPr/>
          </p:nvSpPr>
          <p:spPr>
            <a:xfrm>
              <a:off x="6650164" y="4241482"/>
              <a:ext cx="3519868"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 xml:space="preserve">Creator 的 AnOperation() 里写 </a:t>
              </a:r>
              <a:r>
                <a:rPr lang="en-US" sz="1350" dirty="0">
                  <a:solidFill>
                    <a:srgbClr val="E7EDF3"/>
                  </a:solidFill>
                  <a:latin typeface="+mn-lt"/>
                  <a:ea typeface="+mn-ea"/>
                  <a:cs typeface="+mn-cs"/>
                </a:rPr>
                <a:t>Product =</a:t>
              </a:r>
              <a:br/>
              <a:r>
                <a:rPr lang="en-US" sz="1350" dirty="0">
                  <a:solidFill>
                    <a:srgbClr val="E7EDF3"/>
                  </a:solidFill>
                  <a:latin typeface="+mn-lt"/>
                  <a:ea typeface="+mn-ea"/>
                  <a:cs typeface="+mn-cs"/>
                </a:rPr>
                <a:t>FactoryMethod()</a:t>
              </a:r>
              <a:r>
                <a:rPr lang="zh-CN" sz="1350" dirty="0">
                  <a:solidFill>
                    <a:srgbClr val="FFFFFF"/>
                  </a:solidFill>
                  <a:latin typeface="+mn-lt"/>
                  <a:ea typeface="+mn-ea"/>
                  <a:cs typeface="+mn-cs"/>
                </a:rPr>
                <a:t>，造哪种产品由子类决定。</a:t>
              </a:r>
            </a:p>
          </p:txBody>
        </p:sp>
        <p:sp>
          <p:nvSpPr>
            <p:cNvPr id="53" name="TextBox 53"/>
            <p:cNvSpPr txBox="1"/>
            <p:nvPr/>
          </p:nvSpPr>
          <p:spPr>
            <a:xfrm>
              <a:off x="6650164" y="4801552"/>
              <a:ext cx="3939235"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 xml:space="preserve">这是 </a:t>
              </a:r>
              <a:r>
                <a:rPr lang="zh-CN" sz="1350" b="1" dirty="0">
                  <a:solidFill>
                    <a:srgbClr val="FFD58A"/>
                  </a:solidFill>
                  <a:latin typeface="+mn-lt"/>
                  <a:ea typeface="+mn-ea"/>
                  <a:cs typeface="+mn-cs"/>
                </a:rPr>
                <a:t>类创建型</a:t>
              </a:r>
              <a:r>
                <a:rPr lang="zh-CN" sz="1350" dirty="0">
                  <a:solidFill>
                    <a:srgbClr val="FFFFFF"/>
                  </a:solidFill>
                  <a:latin typeface="+mn-lt"/>
                  <a:ea typeface="+mn-ea"/>
                  <a:cs typeface="+mn-cs"/>
                </a:rPr>
                <a:t xml:space="preserve"> 模式：用继承改变被实例化的类。</a:t>
              </a:r>
            </a:p>
          </p:txBody>
        </p:sp>
      </p:grpSp>
      <p:grpSp>
        <p:nvGrpSpPr>
          <p:cNvPr id="61" name="c2-callout-3"/>
          <p:cNvGrpSpPr/>
          <p:nvPr/>
        </p:nvGrpSpPr>
        <p:grpSpPr>
          <a:xfrm>
            <a:off x="6464618" y="5379720"/>
            <a:ext cx="5193982" cy="978218"/>
            <a:chOff x="6464618" y="5379720"/>
            <a:chExt cx="5193982" cy="978218"/>
          </a:xfrm>
        </p:grpSpPr>
        <p:sp>
          <p:nvSpPr>
            <p:cNvPr id="55" name="Rectangle 55"/>
            <p:cNvSpPr/>
            <p:nvPr/>
          </p:nvSpPr>
          <p:spPr>
            <a:xfrm>
              <a:off x="6464618" y="5379720"/>
              <a:ext cx="5193982" cy="978218"/>
            </a:xfrm>
            <a:prstGeom prst="roundRect">
              <a:avLst>
                <a:gd name="adj" fmla="val 11685"/>
              </a:avLst>
            </a:prstGeom>
            <a:solidFill>
              <a:srgbClr val="FDEEE7"/>
            </a:solidFill>
            <a:ln>
              <a:noFill/>
            </a:ln>
          </p:spPr>
        </p:sp>
        <p:grpSp>
          <p:nvGrpSpPr>
            <p:cNvPr id="59" name="Group 59"/>
            <p:cNvGrpSpPr/>
            <p:nvPr/>
          </p:nvGrpSpPr>
          <p:grpSpPr>
            <a:xfrm>
              <a:off x="6669405" y="5768340"/>
              <a:ext cx="200026" cy="200025"/>
              <a:chOff x="6669405" y="5768340"/>
              <a:chExt cx="200026" cy="200025"/>
            </a:xfrm>
          </p:grpSpPr>
          <p:sp>
            <p:nvSpPr>
              <p:cNvPr id="56" name="Freeform 56"/>
              <p:cNvSpPr/>
              <p:nvPr/>
            </p:nvSpPr>
            <p:spPr>
              <a:xfrm>
                <a:off x="6669405" y="5768340"/>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57" name="Freeform 57"/>
              <p:cNvSpPr/>
              <p:nvPr/>
            </p:nvSpPr>
            <p:spPr>
              <a:xfrm>
                <a:off x="6709144" y="5812790"/>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58" name="Freeform 58"/>
              <p:cNvSpPr/>
              <p:nvPr/>
            </p:nvSpPr>
            <p:spPr>
              <a:xfrm>
                <a:off x="6743859" y="5923916"/>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60" name="TextBox 60"/>
            <p:cNvSpPr txBox="1"/>
            <p:nvPr/>
          </p:nvSpPr>
          <p:spPr>
            <a:xfrm>
              <a:off x="6972110" y="5525452"/>
              <a:ext cx="3819906" cy="761238"/>
            </a:xfrm>
            <a:prstGeom prst="rect">
              <a:avLst/>
            </a:prstGeom>
            <a:noFill/>
            <a:ln>
              <a:noFill/>
            </a:ln>
          </p:spPr>
          <p:txBody>
            <a:bodyPr wrap="none" lIns="0" tIns="0" rIns="0" bIns="0" anchor="t" anchorCtr="0">
              <a:spAutoFit/>
            </a:bodyPr>
            <a:lstStyle/>
            <a:p>
              <a:pPr algn="l">
                <a:lnSpc>
                  <a:spcPts val="1958"/>
                </a:lnSpc>
              </a:pPr>
              <a:r>
                <a:rPr lang="zh-CN" sz="1350" dirty="0">
                  <a:solidFill>
                    <a:srgbClr val="C2410C"/>
                  </a:solidFill>
                  <a:latin typeface="+mn-lt"/>
                  <a:ea typeface="+mn-ea"/>
                  <a:cs typeface="+mn-cs"/>
                </a:rPr>
                <a:t>另一例：Application 的 CreateDocument() 返回</a:t>
              </a:r>
              <a:br/>
              <a:r>
                <a:rPr lang="zh-CN" sz="1350" dirty="0">
                  <a:solidFill>
                    <a:srgbClr val="C2410C"/>
                  </a:solidFill>
                  <a:latin typeface="+mn-lt"/>
                  <a:ea typeface="+mn-ea"/>
                  <a:cs typeface="+mn-cs"/>
                </a:rPr>
                <a:t>Document，MyApplication 重定义它返回</a:t>
              </a:r>
              <a:br/>
              <a:r>
                <a:rPr lang="zh-CN" sz="1350" dirty="0">
                  <a:solidFill>
                    <a:srgbClr val="C2410C"/>
                  </a:solidFill>
                  <a:latin typeface="+mn-lt"/>
                  <a:ea typeface="+mn-ea"/>
                  <a:cs typeface="+mn-cs"/>
                </a:rPr>
                <a:t>MyDocument。</a:t>
              </a:r>
            </a:p>
          </p:txBody>
        </p:sp>
      </p:grpSp>
      <p:grpSp>
        <p:nvGrpSpPr>
          <p:cNvPr id="64" name="footer"/>
          <p:cNvGrpSpPr/>
          <p:nvPr/>
        </p:nvGrpSpPr>
        <p:grpSpPr>
          <a:xfrm>
            <a:off x="528447" y="6581299"/>
            <a:ext cx="11135106" cy="190690"/>
            <a:chOff x="528447" y="6581299"/>
            <a:chExt cx="11135106" cy="190690"/>
          </a:xfrm>
        </p:grpSpPr>
        <p:sp>
          <p:nvSpPr>
            <p:cNvPr id="62" name="TextBox 62"/>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63" name="TextBox 6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53</a:t>
              </a:r>
            </a:p>
          </p:txBody>
        </p:sp>
      </p:grpSp>
    </p:spTree>
  </p:cSld>
  <p:clrMapOvr>
    <a:masterClrMapping/>
  </p:clrMapOvr>
  <p:transition xmlns:p14="http://schemas.microsoft.com/office/powerpoint/2010/main" p14:dur="400">
    <p:fade/>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578090" cy="909257"/>
            <a:chOff x="520446" y="342900"/>
            <a:chExt cx="7578090" cy="909257"/>
          </a:xfrm>
        </p:grpSpPr>
        <p:sp>
          <p:nvSpPr>
            <p:cNvPr id="2" name="Rectangle 2"/>
            <p:cNvSpPr/>
            <p:nvPr/>
          </p:nvSpPr>
          <p:spPr>
            <a:xfrm>
              <a:off x="533400" y="342900"/>
              <a:ext cx="2354580" cy="266700"/>
            </a:xfrm>
            <a:prstGeom prst="roundRect">
              <a:avLst>
                <a:gd name="adj" fmla="val 50000"/>
              </a:avLst>
            </a:prstGeom>
            <a:solidFill>
              <a:srgbClr val="E7EDF3"/>
            </a:solidFill>
            <a:ln>
              <a:noFill/>
            </a:ln>
          </p:spPr>
        </p:sp>
        <p:sp>
          <p:nvSpPr>
            <p:cNvPr id="3" name="TextBox 3"/>
            <p:cNvSpPr txBox="1"/>
            <p:nvPr/>
          </p:nvSpPr>
          <p:spPr>
            <a:xfrm>
              <a:off x="598479" y="407194"/>
              <a:ext cx="22244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设计模式</a:t>
              </a:r>
            </a:p>
          </p:txBody>
        </p:sp>
        <p:sp>
          <p:nvSpPr>
            <p:cNvPr id="4" name="TextBox 4"/>
            <p:cNvSpPr txBox="1"/>
            <p:nvPr/>
          </p:nvSpPr>
          <p:spPr>
            <a:xfrm>
              <a:off x="520446" y="753428"/>
              <a:ext cx="757809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抽象工厂：把一整族构件的创建委托给另一个对象</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2" name="c1-code-1"/>
          <p:cNvGrpSpPr/>
          <p:nvPr/>
        </p:nvGrpSpPr>
        <p:grpSpPr>
          <a:xfrm>
            <a:off x="533400" y="1524000"/>
            <a:ext cx="5626418" cy="3139440"/>
            <a:chOff x="533400" y="1524000"/>
            <a:chExt cx="5626418" cy="3139440"/>
          </a:xfrm>
        </p:grpSpPr>
        <p:sp>
          <p:nvSpPr>
            <p:cNvPr id="7" name="Rectangle 7"/>
            <p:cNvSpPr/>
            <p:nvPr/>
          </p:nvSpPr>
          <p:spPr>
            <a:xfrm>
              <a:off x="533400" y="1524000"/>
              <a:ext cx="5626418" cy="3139440"/>
            </a:xfrm>
            <a:prstGeom prst="roundRect">
              <a:avLst>
                <a:gd name="adj" fmla="val 3034"/>
              </a:avLst>
            </a:prstGeom>
            <a:solidFill>
              <a:srgbClr val="F6F8FA"/>
            </a:solidFill>
            <a:ln w="11430">
              <a:solidFill>
                <a:srgbClr val="D9DFEA"/>
              </a:solidFill>
            </a:ln>
          </p:spPr>
        </p:sp>
        <p:sp>
          <p:nvSpPr>
            <p:cNvPr id="8" name="TextBox 8"/>
            <p:cNvSpPr txBox="1"/>
            <p:nvPr/>
          </p:nvSpPr>
          <p:spPr>
            <a:xfrm>
              <a:off x="661797" y="1675924"/>
              <a:ext cx="1329182"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工厂本身成为一个对象</a:t>
              </a:r>
            </a:p>
          </p:txBody>
        </p:sp>
        <p:sp>
          <p:nvSpPr>
            <p:cNvPr id="9" name="Rectangle 9"/>
            <p:cNvSpPr/>
            <p:nvPr/>
          </p:nvSpPr>
          <p:spPr>
            <a:xfrm>
              <a:off x="552450" y="3315652"/>
              <a:ext cx="5588318" cy="202882"/>
            </a:xfrm>
            <a:prstGeom prst="rect">
              <a:avLst/>
            </a:prstGeom>
            <a:solidFill>
              <a:srgbClr val="FDEEE7"/>
            </a:solidFill>
            <a:ln>
              <a:noFill/>
            </a:ln>
          </p:spPr>
        </p:sp>
        <p:sp>
          <p:nvSpPr>
            <p:cNvPr id="10" name="Rectangle 10"/>
            <p:cNvSpPr/>
            <p:nvPr/>
          </p:nvSpPr>
          <p:spPr>
            <a:xfrm>
              <a:off x="552450" y="3518535"/>
              <a:ext cx="5588318" cy="202882"/>
            </a:xfrm>
            <a:prstGeom prst="rect">
              <a:avLst/>
            </a:prstGeom>
            <a:solidFill>
              <a:srgbClr val="FDEEE7"/>
            </a:solidFill>
            <a:ln>
              <a:noFill/>
            </a:ln>
          </p:spPr>
        </p:sp>
        <p:sp>
          <p:nvSpPr>
            <p:cNvPr id="11" name="TextBox 11"/>
            <p:cNvSpPr txBox="1"/>
            <p:nvPr/>
          </p:nvSpPr>
          <p:spPr>
            <a:xfrm>
              <a:off x="661035" y="1937861"/>
              <a:ext cx="4940046" cy="2654618"/>
            </a:xfrm>
            <a:prstGeom prst="rect">
              <a:avLst/>
            </a:prstGeom>
            <a:noFill/>
            <a:ln>
              <a:noFill/>
            </a:ln>
          </p:spPr>
          <p:txBody>
            <a:bodyPr wrap="none" lIns="0" tIns="0" rIns="0" bIns="0" anchor="t" anchorCtr="0">
              <a:spAutoFit/>
            </a:bodyPr>
            <a:lstStyle/>
            <a:p>
              <a:pPr algn="l">
                <a:lnSpc>
                  <a:spcPts val="1598"/>
                </a:lnSpc>
              </a:pPr>
              <a:r>
                <a:rPr lang="en-US" sz="1120" b="1" dirty="0">
                  <a:solidFill>
                    <a:srgbClr val="334E68"/>
                  </a:solidFill>
                  <a:latin typeface="Consolas"/>
                  <a:ea typeface="Consolas"/>
                  <a:cs typeface="Consolas"/>
                </a:rPr>
                <a:t>class</a:t>
              </a:r>
              <a:r>
                <a:rPr lang="en-US" sz="1120" dirty="0">
                  <a:solidFill>
                    <a:srgbClr val="1F2937"/>
                  </a:solidFill>
                  <a:latin typeface="Consolas"/>
                  <a:ea typeface="Consolas"/>
                  <a:cs typeface="Consolas"/>
                </a:rPr>
                <a:t xml:space="preserve"> MazeFactory {</a:t>
              </a:r>
              <a:br/>
              <a:r>
                <a:rPr lang="en-US" sz="1120" b="1" dirty="0">
                  <a:solidFill>
                    <a:srgbClr val="334E68"/>
                  </a:solidFill>
                  <a:latin typeface="Consolas"/>
                  <a:ea typeface="Consolas"/>
                  <a:cs typeface="Consolas"/>
                </a:rPr>
                <a:t>public</a:t>
              </a:r>
              <a:r>
                <a:rPr lang="zh-CN" sz="1120" dirty="0">
                  <a:solidFill>
                    <a:srgbClr val="1F2937"/>
                  </a:solidFill>
                  <a:latin typeface="Consolas"/>
                  <a:ea typeface="Consolas"/>
                  <a:cs typeface="Consolas"/>
                </a:rPr>
                <a:t>:</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virtual</a:t>
              </a:r>
              <a:r>
                <a:rPr lang="en-US" sz="1120" dirty="0">
                  <a:solidFill>
                    <a:srgbClr val="1F2937"/>
                  </a:solidFill>
                  <a:latin typeface="Consolas"/>
                  <a:ea typeface="Consolas"/>
                  <a:cs typeface="Consolas"/>
                </a:rPr>
                <a:t xml:space="preserve"> Maze* MakeMaze() </a:t>
              </a:r>
              <a:r>
                <a:rPr lang="en-US" sz="1120" b="1" dirty="0">
                  <a:solidFill>
                    <a:srgbClr val="334E68"/>
                  </a:solidFill>
                  <a:latin typeface="Consolas"/>
                  <a:ea typeface="Consolas"/>
                  <a:cs typeface="Consolas"/>
                </a:rPr>
                <a:t>const</a:t>
              </a:r>
              <a:r>
                <a:rPr lang="zh-CN" sz="1120" dirty="0">
                  <a:solidFill>
                    <a:srgbClr val="1F2937"/>
                  </a:solidFill>
                  <a:latin typeface="Consolas"/>
                  <a:ea typeface="Consolas"/>
                  <a:cs typeface="Consolas"/>
                </a:rPr>
                <a:t xml:space="preserve"> { </a:t>
              </a:r>
              <a:r>
                <a:rPr lang="en-US" sz="1120" b="1" dirty="0">
                  <a:solidFill>
                    <a:srgbClr val="334E68"/>
                  </a:solidFill>
                  <a:latin typeface="Consolas"/>
                  <a:ea typeface="Consolas"/>
                  <a:cs typeface="Consolas"/>
                </a:rPr>
                <a:t>return</a:t>
              </a: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new</a:t>
              </a:r>
              <a:r>
                <a:rPr lang="en-US" sz="1120" dirty="0">
                  <a:solidFill>
                    <a:srgbClr val="1F2937"/>
                  </a:solidFill>
                  <a:latin typeface="Consolas"/>
                  <a:ea typeface="Consolas"/>
                  <a:cs typeface="Consolas"/>
                </a:rPr>
                <a:t xml:space="preserve"> Maze; }</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virtual</a:t>
              </a:r>
              <a:r>
                <a:rPr lang="en-US" sz="1120" dirty="0">
                  <a:solidFill>
                    <a:srgbClr val="1F2937"/>
                  </a:solidFill>
                  <a:latin typeface="Consolas"/>
                  <a:ea typeface="Consolas"/>
                  <a:cs typeface="Consolas"/>
                </a:rPr>
                <a:t xml:space="preserve"> Wall* MakeWall() </a:t>
              </a:r>
              <a:r>
                <a:rPr lang="en-US" sz="1120" b="1" dirty="0">
                  <a:solidFill>
                    <a:srgbClr val="334E68"/>
                  </a:solidFill>
                  <a:latin typeface="Consolas"/>
                  <a:ea typeface="Consolas"/>
                  <a:cs typeface="Consolas"/>
                </a:rPr>
                <a:t>const</a:t>
              </a:r>
              <a:r>
                <a:rPr lang="zh-CN" sz="1120" dirty="0">
                  <a:solidFill>
                    <a:srgbClr val="1F2937"/>
                  </a:solidFill>
                  <a:latin typeface="Consolas"/>
                  <a:ea typeface="Consolas"/>
                  <a:cs typeface="Consolas"/>
                </a:rPr>
                <a:t xml:space="preserve"> { </a:t>
              </a:r>
              <a:r>
                <a:rPr lang="en-US" sz="1120" b="1" dirty="0">
                  <a:solidFill>
                    <a:srgbClr val="334E68"/>
                  </a:solidFill>
                  <a:latin typeface="Consolas"/>
                  <a:ea typeface="Consolas"/>
                  <a:cs typeface="Consolas"/>
                </a:rPr>
                <a:t>return</a:t>
              </a: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new</a:t>
              </a:r>
              <a:r>
                <a:rPr lang="en-US" sz="1120" dirty="0">
                  <a:solidFill>
                    <a:srgbClr val="1F2937"/>
                  </a:solidFill>
                  <a:latin typeface="Consolas"/>
                  <a:ea typeface="Consolas"/>
                  <a:cs typeface="Consolas"/>
                </a:rPr>
                <a:t xml:space="preserve"> Wall; }</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virtual</a:t>
              </a:r>
              <a:r>
                <a:rPr lang="en-US" sz="1120" dirty="0">
                  <a:solidFill>
                    <a:srgbClr val="1F2937"/>
                  </a:solidFill>
                  <a:latin typeface="Consolas"/>
                  <a:ea typeface="Consolas"/>
                  <a:cs typeface="Consolas"/>
                </a:rPr>
                <a:t xml:space="preserve"> Room* MakeRoom(</a:t>
              </a:r>
              <a:r>
                <a:rPr lang="en-US" sz="1120" b="1" dirty="0">
                  <a:solidFill>
                    <a:srgbClr val="334E68"/>
                  </a:solidFill>
                  <a:latin typeface="Consolas"/>
                  <a:ea typeface="Consolas"/>
                  <a:cs typeface="Consolas"/>
                </a:rPr>
                <a:t>int</a:t>
              </a:r>
              <a:r>
                <a:rPr lang="en-US" sz="1120" dirty="0">
                  <a:solidFill>
                    <a:srgbClr val="1F2937"/>
                  </a:solidFill>
                  <a:latin typeface="Consolas"/>
                  <a:ea typeface="Consolas"/>
                  <a:cs typeface="Consolas"/>
                </a:rPr>
                <a:t xml:space="preserve"> n) </a:t>
              </a:r>
              <a:r>
                <a:rPr lang="en-US" sz="1120" b="1" dirty="0">
                  <a:solidFill>
                    <a:srgbClr val="334E68"/>
                  </a:solidFill>
                  <a:latin typeface="Consolas"/>
                  <a:ea typeface="Consolas"/>
                  <a:cs typeface="Consolas"/>
                </a:rPr>
                <a:t>const</a:t>
              </a:r>
              <a:r>
                <a:rPr lang="zh-CN" sz="1120" dirty="0">
                  <a:solidFill>
                    <a:srgbClr val="1F2937"/>
                  </a:solidFill>
                  <a:latin typeface="Consolas"/>
                  <a:ea typeface="Consolas"/>
                  <a:cs typeface="Consolas"/>
                </a:rPr>
                <a:t xml:space="preserve"> { </a:t>
              </a:r>
              <a:r>
                <a:rPr lang="en-US" sz="1120" b="1" dirty="0">
                  <a:solidFill>
                    <a:srgbClr val="334E68"/>
                  </a:solidFill>
                  <a:latin typeface="Consolas"/>
                  <a:ea typeface="Consolas"/>
                  <a:cs typeface="Consolas"/>
                </a:rPr>
                <a:t>return</a:t>
              </a: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new</a:t>
              </a:r>
              <a:r>
                <a:rPr lang="en-US" sz="1120" dirty="0">
                  <a:solidFill>
                    <a:srgbClr val="1F2937"/>
                  </a:solidFill>
                  <a:latin typeface="Consolas"/>
                  <a:ea typeface="Consolas"/>
                  <a:cs typeface="Consolas"/>
                </a:rPr>
                <a:t xml:space="preserve"> Room(n); }</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virtual</a:t>
              </a:r>
              <a:r>
                <a:rPr lang="en-US" sz="1120" dirty="0">
                  <a:solidFill>
                    <a:srgbClr val="1F2937"/>
                  </a:solidFill>
                  <a:latin typeface="Consolas"/>
                  <a:ea typeface="Consolas"/>
                  <a:cs typeface="Consolas"/>
                </a:rPr>
                <a:t xml:space="preserve"> Door* MakeDoor(Room* a, Room* b) </a:t>
              </a:r>
              <a:r>
                <a:rPr lang="en-US" sz="1120" b="1" dirty="0">
                  <a:solidFill>
                    <a:srgbClr val="334E68"/>
                  </a:solidFill>
                  <a:latin typeface="Consolas"/>
                  <a:ea typeface="Consolas"/>
                  <a:cs typeface="Consolas"/>
                </a:rPr>
                <a:t>const</a:t>
              </a:r>
              <a:r>
                <a:rPr lang="zh-CN" sz="1120" dirty="0">
                  <a:solidFill>
                    <a:srgbClr val="1F2937"/>
                  </a:solidFill>
                  <a:latin typeface="Consolas"/>
                  <a:ea typeface="Consolas"/>
                  <a:cs typeface="Consolas"/>
                </a:rPr>
                <a:t>;</a:t>
              </a:r>
              <a:br/>
              <a:r>
                <a:rPr lang="zh-CN" sz="1120" dirty="0">
                  <a:solidFill>
                    <a:srgbClr val="1F2937"/>
                  </a:solidFill>
                  <a:latin typeface="Consolas"/>
                  <a:ea typeface="Consolas"/>
                  <a:cs typeface="Consolas"/>
                </a:rPr>
                <a:t>};</a:t>
              </a:r>
              <a:br/>
              <a:r>
                <a:rPr lang="en-US" sz="1120" dirty="0">
                  <a:solidFill>
                    <a:srgbClr val="1F2937"/>
                  </a:solidFill>
                  <a:latin typeface="Consolas"/>
                  <a:ea typeface="Consolas"/>
                  <a:cs typeface="Consolas"/>
                </a:rPr>
                <a:t>Maze* MazeGame::CreateMaze(MazeFactory&amp; factory) {</a:t>
              </a:r>
              <a:br/>
              <a:r>
                <a:rPr lang="en-US" sz="1120" dirty="0">
                  <a:solidFill>
                    <a:srgbClr val="1F2937"/>
                  </a:solidFill>
                  <a:latin typeface="Consolas"/>
                  <a:ea typeface="Consolas"/>
                  <a:cs typeface="Consolas"/>
                </a:rPr>
                <a:t xml:space="preserve">    Maze* aMaze = factory.MakeMaze();</a:t>
              </a:r>
              <a:br/>
              <a:r>
                <a:rPr lang="en-US" sz="1120" dirty="0">
                  <a:solidFill>
                    <a:srgbClr val="1F2937"/>
                  </a:solidFill>
                  <a:latin typeface="Consolas"/>
                  <a:ea typeface="Consolas"/>
                  <a:cs typeface="Consolas"/>
                </a:rPr>
                <a:t xml:space="preserve">    Room* r1 = factory.MakeRoom(1);</a:t>
              </a:r>
              <a:br/>
              <a:r>
                <a:rPr lang="en-US" sz="1120" dirty="0">
                  <a:solidFill>
                    <a:srgbClr val="1F2937"/>
                  </a:solidFill>
                  <a:latin typeface="Consolas"/>
                  <a:ea typeface="Consolas"/>
                  <a:cs typeface="Consolas"/>
                </a:rPr>
                <a:t xml:space="preserve">    r1-&gt;SetSide(North, factory.MakeWall());</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return</a:t>
              </a:r>
              <a:r>
                <a:rPr lang="en-US" sz="1120" dirty="0">
                  <a:solidFill>
                    <a:srgbClr val="1F2937"/>
                  </a:solidFill>
                  <a:latin typeface="Consolas"/>
                  <a:ea typeface="Consolas"/>
                  <a:cs typeface="Consolas"/>
                </a:rPr>
                <a:t xml:space="preserve"> aMaze;</a:t>
              </a:r>
              <a:br/>
              <a:r>
                <a:rPr lang="zh-CN" sz="1120" dirty="0">
                  <a:solidFill>
                    <a:srgbClr val="1F2937"/>
                  </a:solidFill>
                  <a:latin typeface="Consolas"/>
                  <a:ea typeface="Consolas"/>
                  <a:cs typeface="Consolas"/>
                </a:rPr>
                <a:t>}</a:t>
              </a:r>
            </a:p>
          </p:txBody>
        </p:sp>
      </p:grpSp>
      <p:grpSp>
        <p:nvGrpSpPr>
          <p:cNvPr id="19" name="c1-callout-2"/>
          <p:cNvGrpSpPr/>
          <p:nvPr/>
        </p:nvGrpSpPr>
        <p:grpSpPr>
          <a:xfrm>
            <a:off x="533400" y="4853940"/>
            <a:ext cx="5626418" cy="1335405"/>
            <a:chOff x="533400" y="4853940"/>
            <a:chExt cx="5626418" cy="1335405"/>
          </a:xfrm>
        </p:grpSpPr>
        <p:sp>
          <p:nvSpPr>
            <p:cNvPr id="13" name="Rectangle 13"/>
            <p:cNvSpPr/>
            <p:nvPr/>
          </p:nvSpPr>
          <p:spPr>
            <a:xfrm>
              <a:off x="533400" y="4853940"/>
              <a:ext cx="5626418" cy="1335405"/>
            </a:xfrm>
            <a:prstGeom prst="roundRect">
              <a:avLst>
                <a:gd name="adj" fmla="val 8559"/>
              </a:avLst>
            </a:prstGeom>
            <a:solidFill>
              <a:srgbClr val="F4F6FB"/>
            </a:solidFill>
            <a:ln>
              <a:noFill/>
            </a:ln>
          </p:spPr>
        </p:sp>
        <p:grpSp>
          <p:nvGrpSpPr>
            <p:cNvPr id="17" name="Group 17"/>
            <p:cNvGrpSpPr/>
            <p:nvPr/>
          </p:nvGrpSpPr>
          <p:grpSpPr>
            <a:xfrm>
              <a:off x="738188" y="5421630"/>
              <a:ext cx="200026" cy="200026"/>
              <a:chOff x="738188" y="5421630"/>
              <a:chExt cx="200026" cy="200026"/>
            </a:xfrm>
          </p:grpSpPr>
          <p:sp>
            <p:nvSpPr>
              <p:cNvPr id="14" name="Freeform 14"/>
              <p:cNvSpPr/>
              <p:nvPr/>
            </p:nvSpPr>
            <p:spPr>
              <a:xfrm>
                <a:off x="738188" y="542163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15" name="Freeform 15"/>
              <p:cNvSpPr/>
              <p:nvPr/>
            </p:nvSpPr>
            <p:spPr>
              <a:xfrm>
                <a:off x="838200" y="548830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16" name="Freeform 16"/>
              <p:cNvSpPr/>
              <p:nvPr/>
            </p:nvSpPr>
            <p:spPr>
              <a:xfrm>
                <a:off x="827088" y="552164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18" name="TextBox 18"/>
            <p:cNvSpPr txBox="1"/>
            <p:nvPr/>
          </p:nvSpPr>
          <p:spPr>
            <a:xfrm>
              <a:off x="1040130" y="5002530"/>
              <a:ext cx="4602956" cy="1122045"/>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 xml:space="preserve">更正：原课件 MazeFactory 第二个方法写成 </a:t>
              </a:r>
              <a:r>
                <a:rPr lang="en-US" sz="1500" b="1" dirty="0">
                  <a:solidFill>
                    <a:srgbClr val="B42318"/>
                  </a:solidFill>
                  <a:latin typeface="+mn-lt"/>
                  <a:ea typeface="+mn-ea"/>
                  <a:cs typeface="+mn-cs"/>
                </a:rPr>
                <a:t>virtual</a:t>
              </a:r>
              <a:br/>
              <a:r>
                <a:rPr lang="en-US" sz="1500" b="1" dirty="0">
                  <a:solidFill>
                    <a:srgbClr val="B42318"/>
                  </a:solidFill>
                  <a:latin typeface="+mn-lt"/>
                  <a:ea typeface="+mn-ea"/>
                  <a:cs typeface="+mn-cs"/>
                </a:rPr>
                <a:t>Wall* MakeMaze()</a:t>
              </a:r>
              <a:r>
                <a:rPr lang="zh-CN" sz="1500" dirty="0">
                  <a:solidFill>
                    <a:srgbClr val="1F2937"/>
                  </a:solidFill>
                  <a:latin typeface="+mn-lt"/>
                  <a:ea typeface="+mn-ea"/>
                  <a:cs typeface="+mn-cs"/>
                </a:rPr>
                <a:t>，与前一个重名且返回类型不同，</a:t>
              </a:r>
              <a:br/>
              <a:r>
                <a:rPr lang="zh-CN" sz="1500" dirty="0">
                  <a:solidFill>
                    <a:srgbClr val="1F2937"/>
                  </a:solidFill>
                  <a:latin typeface="+mn-lt"/>
                  <a:ea typeface="+mn-ea"/>
                  <a:cs typeface="+mn-cs"/>
                </a:rPr>
                <a:t xml:space="preserve">应为 </a:t>
              </a:r>
              <a:r>
                <a:rPr lang="en-US" sz="1500" b="1" dirty="0">
                  <a:solidFill>
                    <a:srgbClr val="0F7A68"/>
                  </a:solidFill>
                  <a:latin typeface="+mn-lt"/>
                  <a:ea typeface="+mn-ea"/>
                  <a:cs typeface="+mn-cs"/>
                </a:rPr>
                <a:t>MakeWall()</a:t>
              </a:r>
              <a:r>
                <a:rPr lang="zh-CN" sz="1500" dirty="0">
                  <a:solidFill>
                    <a:srgbClr val="1F2937"/>
                  </a:solidFill>
                  <a:latin typeface="+mn-lt"/>
                  <a:ea typeface="+mn-ea"/>
                  <a:cs typeface="+mn-cs"/>
                </a:rPr>
                <a:t>；</a:t>
              </a:r>
              <a:r>
                <a:rPr lang="en-US" sz="1500" b="1" dirty="0">
                  <a:solidFill>
                    <a:srgbClr val="B42318"/>
                  </a:solidFill>
                  <a:latin typeface="+mn-lt"/>
                  <a:ea typeface="+mn-ea"/>
                  <a:cs typeface="+mn-cs"/>
                </a:rPr>
                <a:t>factory.MakeWall</a:t>
              </a:r>
              <a:r>
                <a:rPr lang="zh-CN" sz="1500" dirty="0">
                  <a:solidFill>
                    <a:srgbClr val="1F2937"/>
                  </a:solidFill>
                  <a:latin typeface="+mn-lt"/>
                  <a:ea typeface="+mn-ea"/>
                  <a:cs typeface="+mn-cs"/>
                </a:rPr>
                <a:t xml:space="preserve"> 漏了调用括</a:t>
              </a:r>
              <a:br/>
              <a:r>
                <a:rPr lang="zh-CN" sz="1500" dirty="0">
                  <a:solidFill>
                    <a:srgbClr val="1F2937"/>
                  </a:solidFill>
                  <a:latin typeface="+mn-lt"/>
                  <a:ea typeface="+mn-ea"/>
                  <a:cs typeface="+mn-cs"/>
                </a:rPr>
                <a:t xml:space="preserve">号；给第二个房间设置四面时仍写 r1，应为 </a:t>
              </a:r>
              <a:r>
                <a:rPr lang="en-US" sz="1500" b="1" dirty="0">
                  <a:solidFill>
                    <a:srgbClr val="0F7A68"/>
                  </a:solidFill>
                  <a:latin typeface="+mn-lt"/>
                  <a:ea typeface="+mn-ea"/>
                  <a:cs typeface="+mn-cs"/>
                </a:rPr>
                <a:t>r2</a:t>
              </a:r>
              <a:r>
                <a:rPr lang="zh-CN" sz="1500" dirty="0">
                  <a:solidFill>
                    <a:srgbClr val="1F2937"/>
                  </a:solidFill>
                  <a:latin typeface="+mn-lt"/>
                  <a:ea typeface="+mn-ea"/>
                  <a:cs typeface="+mn-cs"/>
                </a:rPr>
                <a:t>。</a:t>
              </a:r>
            </a:p>
          </p:txBody>
        </p:sp>
      </p:grpSp>
      <p:grpSp>
        <p:nvGrpSpPr>
          <p:cNvPr id="61" name="c2-uml-1"/>
          <p:cNvGrpSpPr/>
          <p:nvPr/>
        </p:nvGrpSpPr>
        <p:grpSpPr>
          <a:xfrm>
            <a:off x="7052310" y="1600200"/>
            <a:ext cx="4286250" cy="2690813"/>
            <a:chOff x="7052310" y="1600200"/>
            <a:chExt cx="4286250" cy="2690813"/>
          </a:xfrm>
        </p:grpSpPr>
        <p:sp>
          <p:nvSpPr>
            <p:cNvPr id="20" name="Freeform 20"/>
            <p:cNvSpPr/>
            <p:nvPr/>
          </p:nvSpPr>
          <p:spPr>
            <a:xfrm>
              <a:off x="7762875" y="2521268"/>
              <a:ext cx="9525" cy="26670"/>
            </a:xfrm>
            <a:custGeom>
              <a:avLst/>
              <a:gdLst/>
              <a:ahLst/>
              <a:cxnLst/>
              <a:rect l="l" t="t" r="r" b="b"/>
              <a:pathLst>
                <a:path w="9525" h="26670">
                  <a:moveTo>
                    <a:pt x="0" y="26670"/>
                  </a:moveTo>
                  <a:lnTo>
                    <a:pt x="0" y="0"/>
                  </a:lnTo>
                </a:path>
              </a:pathLst>
            </a:custGeom>
            <a:noFill/>
            <a:ln w="15240">
              <a:solidFill>
                <a:srgbClr val="1F2937"/>
              </a:solidFill>
            </a:ln>
          </p:spPr>
        </p:sp>
        <p:sp>
          <p:nvSpPr>
            <p:cNvPr id="21" name="Freeform 21"/>
            <p:cNvSpPr/>
            <p:nvPr/>
          </p:nvSpPr>
          <p:spPr>
            <a:xfrm>
              <a:off x="7689532" y="2395538"/>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22" name="Freeform 22"/>
            <p:cNvSpPr/>
            <p:nvPr/>
          </p:nvSpPr>
          <p:spPr>
            <a:xfrm>
              <a:off x="8474392" y="1998345"/>
              <a:ext cx="266700" cy="1895475"/>
            </a:xfrm>
            <a:custGeom>
              <a:avLst/>
              <a:gdLst/>
              <a:ahLst/>
              <a:cxnLst/>
              <a:rect l="l" t="t" r="r" b="b"/>
              <a:pathLst>
                <a:path w="266700" h="1895475">
                  <a:moveTo>
                    <a:pt x="0" y="1895475"/>
                  </a:moveTo>
                  <a:lnTo>
                    <a:pt x="266700" y="1895475"/>
                  </a:lnTo>
                  <a:lnTo>
                    <a:pt x="266700" y="0"/>
                  </a:lnTo>
                  <a:lnTo>
                    <a:pt x="87630" y="0"/>
                  </a:lnTo>
                </a:path>
              </a:pathLst>
            </a:custGeom>
            <a:noFill/>
            <a:ln w="15240">
              <a:solidFill>
                <a:srgbClr val="1F2937"/>
              </a:solidFill>
            </a:ln>
          </p:spPr>
        </p:sp>
        <p:sp>
          <p:nvSpPr>
            <p:cNvPr id="23" name="Freeform 23"/>
            <p:cNvSpPr/>
            <p:nvPr/>
          </p:nvSpPr>
          <p:spPr>
            <a:xfrm>
              <a:off x="8436292" y="1925002"/>
              <a:ext cx="125730" cy="146685"/>
            </a:xfrm>
            <a:custGeom>
              <a:avLst/>
              <a:gdLst/>
              <a:ahLst/>
              <a:cxnLst/>
              <a:rect l="l" t="t" r="r" b="b"/>
              <a:pathLst>
                <a:path w="125730" h="146685">
                  <a:moveTo>
                    <a:pt x="0" y="73343"/>
                  </a:moveTo>
                  <a:lnTo>
                    <a:pt x="125730" y="0"/>
                  </a:lnTo>
                  <a:lnTo>
                    <a:pt x="125730" y="146685"/>
                  </a:lnTo>
                  <a:close/>
                </a:path>
              </a:pathLst>
            </a:custGeom>
            <a:solidFill>
              <a:srgbClr val="FFFFFF"/>
            </a:solidFill>
            <a:ln w="15240">
              <a:solidFill>
                <a:srgbClr val="1F2937"/>
              </a:solidFill>
            </a:ln>
          </p:spPr>
        </p:sp>
        <p:sp>
          <p:nvSpPr>
            <p:cNvPr id="24" name="Freeform 24"/>
            <p:cNvSpPr/>
            <p:nvPr/>
          </p:nvSpPr>
          <p:spPr>
            <a:xfrm>
              <a:off x="10360342" y="2346008"/>
              <a:ext cx="9525" cy="378142"/>
            </a:xfrm>
            <a:custGeom>
              <a:avLst/>
              <a:gdLst/>
              <a:ahLst/>
              <a:cxnLst/>
              <a:rect l="l" t="t" r="r" b="b"/>
              <a:pathLst>
                <a:path w="9525" h="378142">
                  <a:moveTo>
                    <a:pt x="0" y="378142"/>
                  </a:moveTo>
                  <a:lnTo>
                    <a:pt x="0" y="0"/>
                  </a:lnTo>
                </a:path>
              </a:pathLst>
            </a:custGeom>
            <a:noFill/>
            <a:ln w="15240">
              <a:solidFill>
                <a:srgbClr val="1F2937"/>
              </a:solidFill>
            </a:ln>
          </p:spPr>
        </p:sp>
        <p:sp>
          <p:nvSpPr>
            <p:cNvPr id="25" name="Freeform 25"/>
            <p:cNvSpPr/>
            <p:nvPr/>
          </p:nvSpPr>
          <p:spPr>
            <a:xfrm>
              <a:off x="10287000" y="2220278"/>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26" name="Freeform 26"/>
            <p:cNvSpPr/>
            <p:nvPr/>
          </p:nvSpPr>
          <p:spPr>
            <a:xfrm>
              <a:off x="10931842" y="1998345"/>
              <a:ext cx="406718" cy="1895475"/>
            </a:xfrm>
            <a:custGeom>
              <a:avLst/>
              <a:gdLst/>
              <a:ahLst/>
              <a:cxnLst/>
              <a:rect l="l" t="t" r="r" b="b"/>
              <a:pathLst>
                <a:path w="406718" h="1895475">
                  <a:moveTo>
                    <a:pt x="0" y="1895475"/>
                  </a:moveTo>
                  <a:lnTo>
                    <a:pt x="406718" y="1895475"/>
                  </a:lnTo>
                  <a:lnTo>
                    <a:pt x="406718" y="0"/>
                  </a:lnTo>
                  <a:lnTo>
                    <a:pt x="265747" y="0"/>
                  </a:lnTo>
                </a:path>
              </a:pathLst>
            </a:custGeom>
            <a:noFill/>
            <a:ln w="15240">
              <a:solidFill>
                <a:srgbClr val="1F2937"/>
              </a:solidFill>
            </a:ln>
          </p:spPr>
        </p:sp>
        <p:sp>
          <p:nvSpPr>
            <p:cNvPr id="27" name="Freeform 27"/>
            <p:cNvSpPr/>
            <p:nvPr/>
          </p:nvSpPr>
          <p:spPr>
            <a:xfrm>
              <a:off x="11071860" y="1925002"/>
              <a:ext cx="125730" cy="146685"/>
            </a:xfrm>
            <a:custGeom>
              <a:avLst/>
              <a:gdLst/>
              <a:ahLst/>
              <a:cxnLst/>
              <a:rect l="l" t="t" r="r" b="b"/>
              <a:pathLst>
                <a:path w="125730" h="146685">
                  <a:moveTo>
                    <a:pt x="0" y="73343"/>
                  </a:moveTo>
                  <a:lnTo>
                    <a:pt x="125730" y="0"/>
                  </a:lnTo>
                  <a:lnTo>
                    <a:pt x="125730" y="146685"/>
                  </a:lnTo>
                  <a:close/>
                </a:path>
              </a:pathLst>
            </a:custGeom>
            <a:solidFill>
              <a:srgbClr val="FFFFFF"/>
            </a:solidFill>
            <a:ln w="15240">
              <a:solidFill>
                <a:srgbClr val="1F2937"/>
              </a:solidFill>
            </a:ln>
          </p:spPr>
        </p:sp>
        <p:sp>
          <p:nvSpPr>
            <p:cNvPr id="28" name="Rectangle 28"/>
            <p:cNvSpPr/>
            <p:nvPr/>
          </p:nvSpPr>
          <p:spPr>
            <a:xfrm>
              <a:off x="7090410" y="1600200"/>
              <a:ext cx="1345882" cy="795338"/>
            </a:xfrm>
            <a:prstGeom prst="rect">
              <a:avLst/>
            </a:prstGeom>
            <a:solidFill>
              <a:srgbClr val="FFFFFF"/>
            </a:solidFill>
            <a:ln w="14288">
              <a:solidFill>
                <a:srgbClr val="334E68"/>
              </a:solidFill>
            </a:ln>
          </p:spPr>
        </p:sp>
        <p:sp>
          <p:nvSpPr>
            <p:cNvPr id="29" name="Rectangle 29"/>
            <p:cNvSpPr/>
            <p:nvPr/>
          </p:nvSpPr>
          <p:spPr>
            <a:xfrm>
              <a:off x="7098030" y="1607820"/>
              <a:ext cx="1331595" cy="245745"/>
            </a:xfrm>
            <a:prstGeom prst="rect">
              <a:avLst/>
            </a:prstGeom>
            <a:solidFill>
              <a:srgbClr val="E7EDF3"/>
            </a:solidFill>
            <a:ln>
              <a:noFill/>
            </a:ln>
          </p:spPr>
        </p:sp>
        <p:sp>
          <p:nvSpPr>
            <p:cNvPr id="30" name="Rectangle 30"/>
            <p:cNvSpPr/>
            <p:nvPr/>
          </p:nvSpPr>
          <p:spPr>
            <a:xfrm>
              <a:off x="7090410" y="1848802"/>
              <a:ext cx="1345882" cy="9525"/>
            </a:xfrm>
            <a:prstGeom prst="rect">
              <a:avLst/>
            </a:prstGeom>
            <a:solidFill>
              <a:srgbClr val="334E68"/>
            </a:solidFill>
            <a:ln>
              <a:noFill/>
            </a:ln>
          </p:spPr>
        </p:sp>
        <p:sp>
          <p:nvSpPr>
            <p:cNvPr id="31" name="Rectangle 31"/>
            <p:cNvSpPr/>
            <p:nvPr/>
          </p:nvSpPr>
          <p:spPr>
            <a:xfrm>
              <a:off x="7090410" y="1944052"/>
              <a:ext cx="1345882" cy="9525"/>
            </a:xfrm>
            <a:prstGeom prst="rect">
              <a:avLst/>
            </a:prstGeom>
            <a:solidFill>
              <a:srgbClr val="334E68"/>
            </a:solidFill>
            <a:ln>
              <a:noFill/>
            </a:ln>
          </p:spPr>
        </p:sp>
        <p:sp>
          <p:nvSpPr>
            <p:cNvPr id="32" name="Rectangle 32"/>
            <p:cNvSpPr/>
            <p:nvPr/>
          </p:nvSpPr>
          <p:spPr>
            <a:xfrm>
              <a:off x="9648825" y="1776412"/>
              <a:ext cx="1423035" cy="443865"/>
            </a:xfrm>
            <a:prstGeom prst="rect">
              <a:avLst/>
            </a:prstGeom>
            <a:solidFill>
              <a:srgbClr val="FFFFFF"/>
            </a:solidFill>
            <a:ln w="14288">
              <a:solidFill>
                <a:srgbClr val="334E68"/>
              </a:solidFill>
            </a:ln>
          </p:spPr>
        </p:sp>
        <p:sp>
          <p:nvSpPr>
            <p:cNvPr id="33" name="Rectangle 33"/>
            <p:cNvSpPr/>
            <p:nvPr/>
          </p:nvSpPr>
          <p:spPr>
            <a:xfrm>
              <a:off x="9656445" y="1783080"/>
              <a:ext cx="1408748" cy="245745"/>
            </a:xfrm>
            <a:prstGeom prst="rect">
              <a:avLst/>
            </a:prstGeom>
            <a:solidFill>
              <a:srgbClr val="E7EDF3"/>
            </a:solidFill>
            <a:ln>
              <a:noFill/>
            </a:ln>
          </p:spPr>
        </p:sp>
        <p:sp>
          <p:nvSpPr>
            <p:cNvPr id="34" name="Rectangle 34"/>
            <p:cNvSpPr/>
            <p:nvPr/>
          </p:nvSpPr>
          <p:spPr>
            <a:xfrm>
              <a:off x="9648825" y="2025015"/>
              <a:ext cx="1423035" cy="9525"/>
            </a:xfrm>
            <a:prstGeom prst="rect">
              <a:avLst/>
            </a:prstGeom>
            <a:solidFill>
              <a:srgbClr val="334E68"/>
            </a:solidFill>
            <a:ln>
              <a:noFill/>
            </a:ln>
          </p:spPr>
        </p:sp>
        <p:sp>
          <p:nvSpPr>
            <p:cNvPr id="35" name="Rectangle 35"/>
            <p:cNvSpPr/>
            <p:nvPr/>
          </p:nvSpPr>
          <p:spPr>
            <a:xfrm>
              <a:off x="9648825" y="2120265"/>
              <a:ext cx="1423035" cy="9525"/>
            </a:xfrm>
            <a:prstGeom prst="rect">
              <a:avLst/>
            </a:prstGeom>
            <a:solidFill>
              <a:srgbClr val="334E68"/>
            </a:solidFill>
            <a:ln>
              <a:noFill/>
            </a:ln>
          </p:spPr>
        </p:sp>
        <p:sp>
          <p:nvSpPr>
            <p:cNvPr id="36" name="Rectangle 36"/>
            <p:cNvSpPr/>
            <p:nvPr/>
          </p:nvSpPr>
          <p:spPr>
            <a:xfrm>
              <a:off x="7052310" y="2547938"/>
              <a:ext cx="1423035" cy="795338"/>
            </a:xfrm>
            <a:prstGeom prst="rect">
              <a:avLst/>
            </a:prstGeom>
            <a:solidFill>
              <a:srgbClr val="FFFFFF"/>
            </a:solidFill>
            <a:ln w="14288">
              <a:solidFill>
                <a:srgbClr val="334E68"/>
              </a:solidFill>
            </a:ln>
          </p:spPr>
        </p:sp>
        <p:sp>
          <p:nvSpPr>
            <p:cNvPr id="37" name="Rectangle 37"/>
            <p:cNvSpPr/>
            <p:nvPr/>
          </p:nvSpPr>
          <p:spPr>
            <a:xfrm>
              <a:off x="7058978" y="2555558"/>
              <a:ext cx="1408748" cy="245745"/>
            </a:xfrm>
            <a:prstGeom prst="rect">
              <a:avLst/>
            </a:prstGeom>
            <a:solidFill>
              <a:srgbClr val="334E68"/>
            </a:solidFill>
            <a:ln>
              <a:noFill/>
            </a:ln>
          </p:spPr>
        </p:sp>
        <p:sp>
          <p:nvSpPr>
            <p:cNvPr id="38" name="Rectangle 38"/>
            <p:cNvSpPr/>
            <p:nvPr/>
          </p:nvSpPr>
          <p:spPr>
            <a:xfrm>
              <a:off x="7052310" y="2796540"/>
              <a:ext cx="1423035" cy="9525"/>
            </a:xfrm>
            <a:prstGeom prst="rect">
              <a:avLst/>
            </a:prstGeom>
            <a:solidFill>
              <a:srgbClr val="334E68"/>
            </a:solidFill>
            <a:ln>
              <a:noFill/>
            </a:ln>
          </p:spPr>
        </p:sp>
        <p:sp>
          <p:nvSpPr>
            <p:cNvPr id="39" name="Rectangle 39"/>
            <p:cNvSpPr/>
            <p:nvPr/>
          </p:nvSpPr>
          <p:spPr>
            <a:xfrm>
              <a:off x="7052310" y="2891790"/>
              <a:ext cx="1423035" cy="9525"/>
            </a:xfrm>
            <a:prstGeom prst="rect">
              <a:avLst/>
            </a:prstGeom>
            <a:solidFill>
              <a:srgbClr val="334E68"/>
            </a:solidFill>
            <a:ln>
              <a:noFill/>
            </a:ln>
          </p:spPr>
        </p:sp>
        <p:sp>
          <p:nvSpPr>
            <p:cNvPr id="40" name="Rectangle 40"/>
            <p:cNvSpPr/>
            <p:nvPr/>
          </p:nvSpPr>
          <p:spPr>
            <a:xfrm>
              <a:off x="9788842" y="2724150"/>
              <a:ext cx="1143000" cy="443865"/>
            </a:xfrm>
            <a:prstGeom prst="rect">
              <a:avLst/>
            </a:prstGeom>
            <a:solidFill>
              <a:srgbClr val="FFFFFF"/>
            </a:solidFill>
            <a:ln w="14288">
              <a:solidFill>
                <a:srgbClr val="334E68"/>
              </a:solidFill>
            </a:ln>
          </p:spPr>
        </p:sp>
        <p:sp>
          <p:nvSpPr>
            <p:cNvPr id="41" name="Rectangle 41"/>
            <p:cNvSpPr/>
            <p:nvPr/>
          </p:nvSpPr>
          <p:spPr>
            <a:xfrm>
              <a:off x="9795510" y="2730818"/>
              <a:ext cx="1128712" cy="245745"/>
            </a:xfrm>
            <a:prstGeom prst="rect">
              <a:avLst/>
            </a:prstGeom>
            <a:solidFill>
              <a:srgbClr val="E7EDF3"/>
            </a:solidFill>
            <a:ln>
              <a:noFill/>
            </a:ln>
          </p:spPr>
        </p:sp>
        <p:sp>
          <p:nvSpPr>
            <p:cNvPr id="42" name="Rectangle 42"/>
            <p:cNvSpPr/>
            <p:nvPr/>
          </p:nvSpPr>
          <p:spPr>
            <a:xfrm>
              <a:off x="9788842" y="2972752"/>
              <a:ext cx="1143000" cy="9525"/>
            </a:xfrm>
            <a:prstGeom prst="rect">
              <a:avLst/>
            </a:prstGeom>
            <a:solidFill>
              <a:srgbClr val="334E68"/>
            </a:solidFill>
            <a:ln>
              <a:noFill/>
            </a:ln>
          </p:spPr>
        </p:sp>
        <p:sp>
          <p:nvSpPr>
            <p:cNvPr id="43" name="Rectangle 43"/>
            <p:cNvSpPr/>
            <p:nvPr/>
          </p:nvSpPr>
          <p:spPr>
            <a:xfrm>
              <a:off x="9788842" y="3068002"/>
              <a:ext cx="1143000" cy="9525"/>
            </a:xfrm>
            <a:prstGeom prst="rect">
              <a:avLst/>
            </a:prstGeom>
            <a:solidFill>
              <a:srgbClr val="334E68"/>
            </a:solidFill>
            <a:ln>
              <a:noFill/>
            </a:ln>
          </p:spPr>
        </p:sp>
        <p:sp>
          <p:nvSpPr>
            <p:cNvPr id="44" name="Rectangle 44"/>
            <p:cNvSpPr/>
            <p:nvPr/>
          </p:nvSpPr>
          <p:spPr>
            <a:xfrm>
              <a:off x="7052310" y="3495675"/>
              <a:ext cx="1423035" cy="795338"/>
            </a:xfrm>
            <a:prstGeom prst="rect">
              <a:avLst/>
            </a:prstGeom>
            <a:solidFill>
              <a:srgbClr val="FFFFFF"/>
            </a:solidFill>
            <a:ln w="14288">
              <a:solidFill>
                <a:srgbClr val="334E68"/>
              </a:solidFill>
            </a:ln>
          </p:spPr>
        </p:sp>
        <p:sp>
          <p:nvSpPr>
            <p:cNvPr id="45" name="Rectangle 45"/>
            <p:cNvSpPr/>
            <p:nvPr/>
          </p:nvSpPr>
          <p:spPr>
            <a:xfrm>
              <a:off x="7058978" y="3503295"/>
              <a:ext cx="1408748" cy="245745"/>
            </a:xfrm>
            <a:prstGeom prst="rect">
              <a:avLst/>
            </a:prstGeom>
            <a:solidFill>
              <a:srgbClr val="E7EDF3"/>
            </a:solidFill>
            <a:ln>
              <a:noFill/>
            </a:ln>
          </p:spPr>
        </p:sp>
        <p:sp>
          <p:nvSpPr>
            <p:cNvPr id="46" name="Rectangle 46"/>
            <p:cNvSpPr/>
            <p:nvPr/>
          </p:nvSpPr>
          <p:spPr>
            <a:xfrm>
              <a:off x="7052310" y="3744278"/>
              <a:ext cx="1423035" cy="9525"/>
            </a:xfrm>
            <a:prstGeom prst="rect">
              <a:avLst/>
            </a:prstGeom>
            <a:solidFill>
              <a:srgbClr val="334E68"/>
            </a:solidFill>
            <a:ln>
              <a:noFill/>
            </a:ln>
          </p:spPr>
        </p:sp>
        <p:sp>
          <p:nvSpPr>
            <p:cNvPr id="47" name="Rectangle 47"/>
            <p:cNvSpPr/>
            <p:nvPr/>
          </p:nvSpPr>
          <p:spPr>
            <a:xfrm>
              <a:off x="7052310" y="3839528"/>
              <a:ext cx="1423035" cy="9525"/>
            </a:xfrm>
            <a:prstGeom prst="rect">
              <a:avLst/>
            </a:prstGeom>
            <a:solidFill>
              <a:srgbClr val="334E68"/>
            </a:solidFill>
            <a:ln>
              <a:noFill/>
            </a:ln>
          </p:spPr>
        </p:sp>
        <p:sp>
          <p:nvSpPr>
            <p:cNvPr id="48" name="Rectangle 48"/>
            <p:cNvSpPr/>
            <p:nvPr/>
          </p:nvSpPr>
          <p:spPr>
            <a:xfrm>
              <a:off x="9788842" y="3671888"/>
              <a:ext cx="1143000" cy="443865"/>
            </a:xfrm>
            <a:prstGeom prst="rect">
              <a:avLst/>
            </a:prstGeom>
            <a:solidFill>
              <a:srgbClr val="FFFFFF"/>
            </a:solidFill>
            <a:ln w="14288">
              <a:solidFill>
                <a:srgbClr val="334E68"/>
              </a:solidFill>
            </a:ln>
          </p:spPr>
        </p:sp>
        <p:sp>
          <p:nvSpPr>
            <p:cNvPr id="49" name="Rectangle 49"/>
            <p:cNvSpPr/>
            <p:nvPr/>
          </p:nvSpPr>
          <p:spPr>
            <a:xfrm>
              <a:off x="9795510" y="3678555"/>
              <a:ext cx="1128712" cy="245745"/>
            </a:xfrm>
            <a:prstGeom prst="rect">
              <a:avLst/>
            </a:prstGeom>
            <a:solidFill>
              <a:srgbClr val="E7EDF3"/>
            </a:solidFill>
            <a:ln>
              <a:noFill/>
            </a:ln>
          </p:spPr>
        </p:sp>
        <p:sp>
          <p:nvSpPr>
            <p:cNvPr id="50" name="Rectangle 50"/>
            <p:cNvSpPr/>
            <p:nvPr/>
          </p:nvSpPr>
          <p:spPr>
            <a:xfrm>
              <a:off x="9788842" y="3920490"/>
              <a:ext cx="1143000" cy="9525"/>
            </a:xfrm>
            <a:prstGeom prst="rect">
              <a:avLst/>
            </a:prstGeom>
            <a:solidFill>
              <a:srgbClr val="334E68"/>
            </a:solidFill>
            <a:ln>
              <a:noFill/>
            </a:ln>
          </p:spPr>
        </p:sp>
        <p:sp>
          <p:nvSpPr>
            <p:cNvPr id="51" name="Rectangle 51"/>
            <p:cNvSpPr/>
            <p:nvPr/>
          </p:nvSpPr>
          <p:spPr>
            <a:xfrm>
              <a:off x="9788842" y="4015740"/>
              <a:ext cx="1143000" cy="9525"/>
            </a:xfrm>
            <a:prstGeom prst="rect">
              <a:avLst/>
            </a:prstGeom>
            <a:solidFill>
              <a:srgbClr val="334E68"/>
            </a:solidFill>
            <a:ln>
              <a:noFill/>
            </a:ln>
          </p:spPr>
        </p:sp>
        <p:sp>
          <p:nvSpPr>
            <p:cNvPr id="52" name="TextBox 52"/>
            <p:cNvSpPr txBox="1"/>
            <p:nvPr/>
          </p:nvSpPr>
          <p:spPr>
            <a:xfrm>
              <a:off x="7140694" y="1660207"/>
              <a:ext cx="1244362" cy="205359"/>
            </a:xfrm>
            <a:prstGeom prst="rect">
              <a:avLst/>
            </a:prstGeom>
            <a:noFill/>
            <a:ln>
              <a:noFill/>
            </a:ln>
          </p:spPr>
          <p:txBody>
            <a:bodyPr wrap="none" lIns="0" tIns="0" rIns="0" bIns="0" anchor="t" anchorCtr="0">
              <a:spAutoFit/>
            </a:bodyPr>
            <a:lstStyle/>
            <a:p>
              <a:pPr algn="ctr"/>
              <a:r>
                <a:rPr lang="en-US" sz="1050" b="1" i="1" dirty="0">
                  <a:solidFill>
                    <a:srgbClr val="243B53"/>
                  </a:solidFill>
                  <a:latin typeface="+mn-lt"/>
                  <a:ea typeface="+mn-ea"/>
                  <a:cs typeface="+mn-cs"/>
                </a:rPr>
                <a:t>AbstractFactory</a:t>
              </a:r>
            </a:p>
          </p:txBody>
        </p:sp>
        <p:sp>
          <p:nvSpPr>
            <p:cNvPr id="53" name="TextBox 53"/>
            <p:cNvSpPr txBox="1"/>
            <p:nvPr/>
          </p:nvSpPr>
          <p:spPr>
            <a:xfrm>
              <a:off x="7161657" y="2015014"/>
              <a:ext cx="1173607" cy="366903"/>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+CreateProductA()</a:t>
              </a:r>
              <a:br/>
              <a:r>
                <a:rPr lang="en-US" sz="980" dirty="0">
                  <a:solidFill>
                    <a:srgbClr val="1F2937"/>
                  </a:solidFill>
                  <a:latin typeface="+mn-lt"/>
                  <a:ea typeface="+mn-ea"/>
                  <a:cs typeface="+mn-cs"/>
                </a:rPr>
                <a:t>+CreateProductB()</a:t>
              </a:r>
            </a:p>
          </p:txBody>
        </p:sp>
        <p:sp>
          <p:nvSpPr>
            <p:cNvPr id="54" name="TextBox 54"/>
            <p:cNvSpPr txBox="1"/>
            <p:nvPr/>
          </p:nvSpPr>
          <p:spPr>
            <a:xfrm>
              <a:off x="9695036" y="1836420"/>
              <a:ext cx="1330613" cy="205359"/>
            </a:xfrm>
            <a:prstGeom prst="rect">
              <a:avLst/>
            </a:prstGeom>
            <a:noFill/>
            <a:ln>
              <a:noFill/>
            </a:ln>
          </p:spPr>
          <p:txBody>
            <a:bodyPr wrap="none" lIns="0" tIns="0" rIns="0" bIns="0" anchor="t" anchorCtr="0">
              <a:spAutoFit/>
            </a:bodyPr>
            <a:lstStyle/>
            <a:p>
              <a:pPr algn="ctr"/>
              <a:r>
                <a:rPr lang="en-US" sz="1050" b="1" i="1" dirty="0">
                  <a:solidFill>
                    <a:srgbClr val="243B53"/>
                  </a:solidFill>
                  <a:latin typeface="+mn-lt"/>
                  <a:ea typeface="+mn-ea"/>
                  <a:cs typeface="+mn-cs"/>
                </a:rPr>
                <a:t>AbstractProductA</a:t>
              </a:r>
            </a:p>
          </p:txBody>
        </p:sp>
        <p:sp>
          <p:nvSpPr>
            <p:cNvPr id="55" name="TextBox 55"/>
            <p:cNvSpPr txBox="1"/>
            <p:nvPr/>
          </p:nvSpPr>
          <p:spPr>
            <a:xfrm>
              <a:off x="7099571" y="2607945"/>
              <a:ext cx="132660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ConcreteFactory1</a:t>
              </a:r>
            </a:p>
          </p:txBody>
        </p:sp>
        <p:sp>
          <p:nvSpPr>
            <p:cNvPr id="56" name="TextBox 56"/>
            <p:cNvSpPr txBox="1"/>
            <p:nvPr/>
          </p:nvSpPr>
          <p:spPr>
            <a:xfrm>
              <a:off x="7123557" y="2962751"/>
              <a:ext cx="1173607" cy="366903"/>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+CreateProductA()</a:t>
              </a:r>
              <a:br/>
              <a:r>
                <a:rPr lang="en-US" sz="980" dirty="0">
                  <a:solidFill>
                    <a:srgbClr val="1F2937"/>
                  </a:solidFill>
                  <a:latin typeface="+mn-lt"/>
                  <a:ea typeface="+mn-ea"/>
                  <a:cs typeface="+mn-cs"/>
                </a:rPr>
                <a:t>+CreateProductB()</a:t>
              </a:r>
            </a:p>
          </p:txBody>
        </p:sp>
        <p:sp>
          <p:nvSpPr>
            <p:cNvPr id="57" name="TextBox 57"/>
            <p:cNvSpPr txBox="1"/>
            <p:nvPr/>
          </p:nvSpPr>
          <p:spPr>
            <a:xfrm>
              <a:off x="9982474" y="2784158"/>
              <a:ext cx="755736"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ProductA1</a:t>
              </a:r>
            </a:p>
          </p:txBody>
        </p:sp>
        <p:sp>
          <p:nvSpPr>
            <p:cNvPr id="58" name="TextBox 58"/>
            <p:cNvSpPr txBox="1"/>
            <p:nvPr/>
          </p:nvSpPr>
          <p:spPr>
            <a:xfrm>
              <a:off x="7099571" y="3555682"/>
              <a:ext cx="1326608"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ConcreteFactory2</a:t>
              </a:r>
            </a:p>
          </p:txBody>
        </p:sp>
        <p:sp>
          <p:nvSpPr>
            <p:cNvPr id="59" name="TextBox 59"/>
            <p:cNvSpPr txBox="1"/>
            <p:nvPr/>
          </p:nvSpPr>
          <p:spPr>
            <a:xfrm>
              <a:off x="7123557" y="3910489"/>
              <a:ext cx="1173607" cy="366903"/>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+CreateProductA()</a:t>
              </a:r>
              <a:br/>
              <a:r>
                <a:rPr lang="en-US" sz="980" dirty="0">
                  <a:solidFill>
                    <a:srgbClr val="1F2937"/>
                  </a:solidFill>
                  <a:latin typeface="+mn-lt"/>
                  <a:ea typeface="+mn-ea"/>
                  <a:cs typeface="+mn-cs"/>
                </a:rPr>
                <a:t>+CreateProductB()</a:t>
              </a:r>
            </a:p>
          </p:txBody>
        </p:sp>
        <p:sp>
          <p:nvSpPr>
            <p:cNvPr id="60" name="TextBox 60"/>
            <p:cNvSpPr txBox="1"/>
            <p:nvPr/>
          </p:nvSpPr>
          <p:spPr>
            <a:xfrm>
              <a:off x="9982474" y="3731895"/>
              <a:ext cx="755736"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ProductA2</a:t>
              </a:r>
            </a:p>
          </p:txBody>
        </p:sp>
      </p:grpSp>
      <p:grpSp>
        <p:nvGrpSpPr>
          <p:cNvPr id="67" name="c2-callout-2"/>
          <p:cNvGrpSpPr/>
          <p:nvPr/>
        </p:nvGrpSpPr>
        <p:grpSpPr>
          <a:xfrm>
            <a:off x="6464618" y="4558665"/>
            <a:ext cx="5193982" cy="1630680"/>
            <a:chOff x="6464618" y="4558665"/>
            <a:chExt cx="5193982" cy="1630680"/>
          </a:xfrm>
        </p:grpSpPr>
        <p:sp>
          <p:nvSpPr>
            <p:cNvPr id="62" name="Rectangle 62"/>
            <p:cNvSpPr/>
            <p:nvPr/>
          </p:nvSpPr>
          <p:spPr>
            <a:xfrm>
              <a:off x="6464618" y="4558665"/>
              <a:ext cx="5193982" cy="1630680"/>
            </a:xfrm>
            <a:prstGeom prst="roundRect">
              <a:avLst>
                <a:gd name="adj" fmla="val 7009"/>
              </a:avLst>
            </a:prstGeom>
            <a:solidFill>
              <a:srgbClr val="334E68"/>
            </a:solidFill>
            <a:ln>
              <a:noFill/>
            </a:ln>
          </p:spPr>
        </p:sp>
        <p:grpSp>
          <p:nvGrpSpPr>
            <p:cNvPr id="65" name="Group 65"/>
            <p:cNvGrpSpPr/>
            <p:nvPr/>
          </p:nvGrpSpPr>
          <p:grpSpPr>
            <a:xfrm>
              <a:off x="6669405" y="5273995"/>
              <a:ext cx="200023" cy="200023"/>
              <a:chOff x="6669405" y="5273995"/>
              <a:chExt cx="200023" cy="200023"/>
            </a:xfrm>
          </p:grpSpPr>
          <p:sp>
            <p:nvSpPr>
              <p:cNvPr id="63" name="Freeform 63"/>
              <p:cNvSpPr/>
              <p:nvPr/>
            </p:nvSpPr>
            <p:spPr>
              <a:xfrm>
                <a:off x="6669405" y="527399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64" name="Freeform 64"/>
              <p:cNvSpPr/>
              <p:nvPr/>
            </p:nvSpPr>
            <p:spPr>
              <a:xfrm>
                <a:off x="6802755" y="534066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6" name="TextBox 66"/>
            <p:cNvSpPr txBox="1"/>
            <p:nvPr/>
          </p:nvSpPr>
          <p:spPr>
            <a:xfrm>
              <a:off x="6971348" y="4716780"/>
              <a:ext cx="4206240" cy="1398270"/>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工厂方法用继承改变实例化的类，抽象工厂把实例</a:t>
              </a:r>
              <a:br/>
              <a:r>
                <a:rPr lang="zh-CN" sz="1500" dirty="0">
                  <a:solidFill>
                    <a:srgbClr val="FFFFFF"/>
                  </a:solidFill>
                  <a:latin typeface="+mn-lt"/>
                  <a:ea typeface="+mn-ea"/>
                  <a:cs typeface="+mn-cs"/>
                </a:rPr>
                <a:t>化整个委托给另一个对象。换一族构件只要换一个</a:t>
              </a:r>
              <a:br/>
              <a:r>
                <a:rPr lang="zh-CN" sz="1500" dirty="0">
                  <a:solidFill>
                    <a:srgbClr val="FFFFFF"/>
                  </a:solidFill>
                  <a:latin typeface="+mn-lt"/>
                  <a:ea typeface="+mn-ea"/>
                  <a:cs typeface="+mn-cs"/>
                </a:rPr>
                <a:t>工厂实例：</a:t>
              </a:r>
              <a:r>
                <a:rPr lang="en-US" sz="1500" dirty="0">
                  <a:solidFill>
                    <a:srgbClr val="E7EDF3"/>
                  </a:solidFill>
                  <a:latin typeface="+mn-lt"/>
                  <a:ea typeface="+mn-ea"/>
                  <a:cs typeface="+mn-cs"/>
                </a:rPr>
                <a:t>MazePrototypeFactory</a:t>
              </a:r>
              <a:br/>
              <a:r>
                <a:rPr lang="en-US" sz="1500" dirty="0">
                  <a:solidFill>
                    <a:srgbClr val="E7EDF3"/>
                  </a:solidFill>
                  <a:latin typeface="+mn-lt"/>
                  <a:ea typeface="+mn-ea"/>
                  <a:cs typeface="+mn-cs"/>
                </a:rPr>
                <a:t>bombedFactory(new Maze, new BombedWall,</a:t>
              </a:r>
              <a:br/>
              <a:r>
                <a:rPr lang="en-US" sz="1500" dirty="0">
                  <a:solidFill>
                    <a:srgbClr val="E7EDF3"/>
                  </a:solidFill>
                  <a:latin typeface="+mn-lt"/>
                  <a:ea typeface="+mn-ea"/>
                  <a:cs typeface="+mn-cs"/>
                </a:rPr>
                <a:t>new RoomWithABomb, new Door);</a:t>
              </a:r>
            </a:p>
          </p:txBody>
        </p:sp>
      </p:grpSp>
      <p:grpSp>
        <p:nvGrpSpPr>
          <p:cNvPr id="70" name="footer"/>
          <p:cNvGrpSpPr/>
          <p:nvPr/>
        </p:nvGrpSpPr>
        <p:grpSpPr>
          <a:xfrm>
            <a:off x="528447" y="6581299"/>
            <a:ext cx="11135106" cy="190690"/>
            <a:chOff x="528447" y="6581299"/>
            <a:chExt cx="11135106" cy="190690"/>
          </a:xfrm>
        </p:grpSpPr>
        <p:sp>
          <p:nvSpPr>
            <p:cNvPr id="68" name="TextBox 68"/>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69" name="TextBox 6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54</a:t>
              </a:r>
            </a:p>
          </p:txBody>
        </p:sp>
      </p:grpSp>
    </p:spTree>
  </p:cSld>
  <p:clrMapOvr>
    <a:masterClrMapping/>
  </p:clrMapOvr>
  <p:transition xmlns:p14="http://schemas.microsoft.com/office/powerpoint/2010/main" p14:dur="400">
    <p:fade/>
  </p:transition>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2354580" cy="266700"/>
            </a:xfrm>
            <a:prstGeom prst="roundRect">
              <a:avLst>
                <a:gd name="adj" fmla="val 50000"/>
              </a:avLst>
            </a:prstGeom>
            <a:solidFill>
              <a:srgbClr val="E7EDF3"/>
            </a:solidFill>
            <a:ln>
              <a:noFill/>
            </a:ln>
          </p:spPr>
        </p:sp>
        <p:sp>
          <p:nvSpPr>
            <p:cNvPr id="3" name="TextBox 3"/>
            <p:cNvSpPr txBox="1"/>
            <p:nvPr/>
          </p:nvSpPr>
          <p:spPr>
            <a:xfrm>
              <a:off x="598479" y="407194"/>
              <a:ext cx="22244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设计模式</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模板方法：父类定骨架，子类填步骤</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3" name="c1-card-1"/>
          <p:cNvGrpSpPr/>
          <p:nvPr/>
        </p:nvGrpSpPr>
        <p:grpSpPr>
          <a:xfrm>
            <a:off x="533400" y="1524000"/>
            <a:ext cx="5410200" cy="1485900"/>
            <a:chOff x="533400" y="1524000"/>
            <a:chExt cx="5410200" cy="1485900"/>
          </a:xfrm>
        </p:grpSpPr>
        <p:sp>
          <p:nvSpPr>
            <p:cNvPr id="7" name="Rectangle 7"/>
            <p:cNvSpPr/>
            <p:nvPr/>
          </p:nvSpPr>
          <p:spPr>
            <a:xfrm>
              <a:off x="533400" y="1524000"/>
              <a:ext cx="5410200" cy="1485900"/>
            </a:xfrm>
            <a:prstGeom prst="roundRect">
              <a:avLst>
                <a:gd name="adj" fmla="val 8974"/>
              </a:avLst>
            </a:prstGeom>
            <a:solidFill>
              <a:srgbClr val="FFFFFF"/>
            </a:solidFill>
            <a:ln w="14288">
              <a:solidFill>
                <a:srgbClr val="D9DFEA"/>
              </a:solidFill>
            </a:ln>
          </p:spPr>
        </p:sp>
        <p:sp>
          <p:nvSpPr>
            <p:cNvPr id="8" name="Rectangle 8"/>
            <p:cNvSpPr/>
            <p:nvPr/>
          </p:nvSpPr>
          <p:spPr>
            <a:xfrm>
              <a:off x="542925" y="1657350"/>
              <a:ext cx="47625" cy="1219200"/>
            </a:xfrm>
            <a:prstGeom prst="roundRect">
              <a:avLst>
                <a:gd name="adj" fmla="val 50000"/>
              </a:avLst>
            </a:prstGeom>
            <a:solidFill>
              <a:srgbClr val="334E68"/>
            </a:solidFill>
            <a:ln>
              <a:noFill/>
            </a:ln>
          </p:spPr>
        </p:sp>
        <p:sp>
          <p:nvSpPr>
            <p:cNvPr id="9" name="Rectangle 9"/>
            <p:cNvSpPr/>
            <p:nvPr/>
          </p:nvSpPr>
          <p:spPr>
            <a:xfrm>
              <a:off x="758190" y="1710690"/>
              <a:ext cx="458152" cy="238125"/>
            </a:xfrm>
            <a:prstGeom prst="roundRect">
              <a:avLst>
                <a:gd name="adj" fmla="val 50000"/>
              </a:avLst>
            </a:prstGeom>
            <a:solidFill>
              <a:srgbClr val="E7EDF3"/>
            </a:solidFill>
            <a:ln>
              <a:noFill/>
            </a:ln>
          </p:spPr>
        </p:sp>
        <p:sp>
          <p:nvSpPr>
            <p:cNvPr id="10" name="TextBox 10"/>
            <p:cNvSpPr txBox="1"/>
            <p:nvPr/>
          </p:nvSpPr>
          <p:spPr>
            <a:xfrm>
              <a:off x="850862" y="1743551"/>
              <a:ext cx="273761"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意图</a:t>
              </a:r>
            </a:p>
          </p:txBody>
        </p:sp>
        <p:sp>
          <p:nvSpPr>
            <p:cNvPr id="11" name="TextBox 11"/>
            <p:cNvSpPr txBox="1"/>
            <p:nvPr/>
          </p:nvSpPr>
          <p:spPr>
            <a:xfrm>
              <a:off x="751332" y="2054542"/>
              <a:ext cx="473887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定义一个操作中算法的骨架，而将一些步骤延迟到子类中。</a:t>
              </a:r>
            </a:p>
          </p:txBody>
        </p:sp>
        <p:sp>
          <p:nvSpPr>
            <p:cNvPr id="12" name="TextBox 12"/>
            <p:cNvSpPr txBox="1"/>
            <p:nvPr/>
          </p:nvSpPr>
          <p:spPr>
            <a:xfrm>
              <a:off x="751332" y="2355532"/>
              <a:ext cx="48143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模板方法使得子类可以不改变算法的结构，就重新定义该算法的</a:t>
              </a:r>
              <a:br/>
              <a:r>
                <a:rPr lang="zh-CN" sz="1350" dirty="0">
                  <a:solidFill>
                    <a:srgbClr val="1F2937"/>
                  </a:solidFill>
                  <a:latin typeface="+mn-lt"/>
                  <a:ea typeface="+mn-ea"/>
                  <a:cs typeface="+mn-cs"/>
                </a:rPr>
                <a:t>某些特定步骤。</a:t>
              </a:r>
            </a:p>
          </p:txBody>
        </p:sp>
      </p:grpSp>
      <p:grpSp>
        <p:nvGrpSpPr>
          <p:cNvPr id="20" name="c1-code-2"/>
          <p:cNvGrpSpPr/>
          <p:nvPr/>
        </p:nvGrpSpPr>
        <p:grpSpPr>
          <a:xfrm>
            <a:off x="533400" y="3179445"/>
            <a:ext cx="5410200" cy="2264092"/>
            <a:chOff x="533400" y="3179445"/>
            <a:chExt cx="5410200" cy="2264092"/>
          </a:xfrm>
        </p:grpSpPr>
        <p:sp>
          <p:nvSpPr>
            <p:cNvPr id="14" name="Rectangle 14"/>
            <p:cNvSpPr/>
            <p:nvPr/>
          </p:nvSpPr>
          <p:spPr>
            <a:xfrm>
              <a:off x="533400" y="3179445"/>
              <a:ext cx="5410200" cy="2264092"/>
            </a:xfrm>
            <a:prstGeom prst="roundRect">
              <a:avLst>
                <a:gd name="adj" fmla="val 4207"/>
              </a:avLst>
            </a:prstGeom>
            <a:solidFill>
              <a:srgbClr val="F6F8FA"/>
            </a:solidFill>
            <a:ln w="11430">
              <a:solidFill>
                <a:srgbClr val="D9DFEA"/>
              </a:solidFill>
            </a:ln>
          </p:spPr>
        </p:sp>
        <p:sp>
          <p:nvSpPr>
            <p:cNvPr id="15" name="TextBox 15"/>
            <p:cNvSpPr txBox="1"/>
            <p:nvPr/>
          </p:nvSpPr>
          <p:spPr>
            <a:xfrm>
              <a:off x="661797" y="3331369"/>
              <a:ext cx="2275615"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动机：Application::OpenDocument</a:t>
              </a:r>
            </a:p>
          </p:txBody>
        </p:sp>
        <p:sp>
          <p:nvSpPr>
            <p:cNvPr id="16" name="Rectangle 16"/>
            <p:cNvSpPr/>
            <p:nvPr/>
          </p:nvSpPr>
          <p:spPr>
            <a:xfrm>
              <a:off x="552450" y="3730942"/>
              <a:ext cx="5372100" cy="176212"/>
            </a:xfrm>
            <a:prstGeom prst="rect">
              <a:avLst/>
            </a:prstGeom>
            <a:solidFill>
              <a:srgbClr val="FDEEE7"/>
            </a:solidFill>
            <a:ln>
              <a:noFill/>
            </a:ln>
          </p:spPr>
        </p:sp>
        <p:sp>
          <p:nvSpPr>
            <p:cNvPr id="17" name="Rectangle 17"/>
            <p:cNvSpPr/>
            <p:nvPr/>
          </p:nvSpPr>
          <p:spPr>
            <a:xfrm>
              <a:off x="552450" y="3907155"/>
              <a:ext cx="5372100" cy="176212"/>
            </a:xfrm>
            <a:prstGeom prst="rect">
              <a:avLst/>
            </a:prstGeom>
            <a:solidFill>
              <a:srgbClr val="FDEEE7"/>
            </a:solidFill>
            <a:ln>
              <a:noFill/>
            </a:ln>
          </p:spPr>
        </p:sp>
        <p:sp>
          <p:nvSpPr>
            <p:cNvPr id="18" name="Rectangle 18"/>
            <p:cNvSpPr/>
            <p:nvPr/>
          </p:nvSpPr>
          <p:spPr>
            <a:xfrm>
              <a:off x="552450" y="4433888"/>
              <a:ext cx="5372100" cy="176212"/>
            </a:xfrm>
            <a:prstGeom prst="rect">
              <a:avLst/>
            </a:prstGeom>
            <a:solidFill>
              <a:srgbClr val="FDEEE7"/>
            </a:solidFill>
            <a:ln>
              <a:noFill/>
            </a:ln>
          </p:spPr>
        </p:sp>
        <p:sp>
          <p:nvSpPr>
            <p:cNvPr id="19" name="TextBox 19"/>
            <p:cNvSpPr txBox="1"/>
            <p:nvPr/>
          </p:nvSpPr>
          <p:spPr>
            <a:xfrm>
              <a:off x="661797" y="3592354"/>
              <a:ext cx="3793490" cy="1776603"/>
            </a:xfrm>
            <a:prstGeom prst="rect">
              <a:avLst/>
            </a:prstGeom>
            <a:noFill/>
            <a:ln>
              <a:noFill/>
            </a:ln>
          </p:spPr>
          <p:txBody>
            <a:bodyPr wrap="none" lIns="0" tIns="0" rIns="0" bIns="0" anchor="t" anchorCtr="0">
              <a:spAutoFit/>
            </a:bodyPr>
            <a:lstStyle/>
            <a:p>
              <a:pPr algn="l">
                <a:lnSpc>
                  <a:spcPts val="1388"/>
                </a:lnSpc>
              </a:pPr>
              <a:r>
                <a:rPr lang="en-US" sz="980" b="1" dirty="0">
                  <a:solidFill>
                    <a:srgbClr val="334E68"/>
                  </a:solidFill>
                  <a:latin typeface="Consolas"/>
                  <a:ea typeface="Consolas"/>
                  <a:cs typeface="Consolas"/>
                </a:rPr>
                <a:t>void</a:t>
              </a:r>
              <a:r>
                <a:rPr lang="en-US" sz="980" dirty="0">
                  <a:solidFill>
                    <a:srgbClr val="1F2937"/>
                  </a:solidFill>
                  <a:latin typeface="Consolas"/>
                  <a:ea typeface="Consolas"/>
                  <a:cs typeface="Consolas"/>
                </a:rPr>
                <a:t xml:space="preserve"> Application::OpenDocument(</a:t>
              </a:r>
              <a:r>
                <a:rPr lang="en-US" sz="980" b="1" dirty="0">
                  <a:solidFill>
                    <a:srgbClr val="334E68"/>
                  </a:solidFill>
                  <a:latin typeface="Consolas"/>
                  <a:ea typeface="Consolas"/>
                  <a:cs typeface="Consolas"/>
                </a:rPr>
                <a:t>const</a:t>
              </a:r>
              <a:r>
                <a:rPr lang="zh-CN" sz="980" dirty="0">
                  <a:solidFill>
                    <a:srgbClr val="1F2937"/>
                  </a:solidFill>
                  <a:latin typeface="Consolas"/>
                  <a:ea typeface="Consolas"/>
                  <a:cs typeface="Consolas"/>
                </a:rPr>
                <a:t xml:space="preserve"> </a:t>
              </a:r>
              <a:r>
                <a:rPr lang="en-US" sz="980" b="1" dirty="0">
                  <a:solidFill>
                    <a:srgbClr val="334E68"/>
                  </a:solidFill>
                  <a:latin typeface="Consolas"/>
                  <a:ea typeface="Consolas"/>
                  <a:cs typeface="Consolas"/>
                </a:rPr>
                <a:t>char</a:t>
              </a:r>
              <a:r>
                <a:rPr lang="en-US" sz="980" dirty="0">
                  <a:solidFill>
                    <a:srgbClr val="1F2937"/>
                  </a:solidFill>
                  <a:latin typeface="Consolas"/>
                  <a:ea typeface="Consolas"/>
                  <a:cs typeface="Consolas"/>
                </a:rPr>
                <a:t>* name) {</a:t>
              </a:r>
              <a:br/>
              <a:r>
                <a:rPr lang="zh-CN" sz="980" dirty="0">
                  <a:solidFill>
                    <a:srgbClr val="1F2937"/>
                  </a:solidFill>
                  <a:latin typeface="Consolas"/>
                  <a:ea typeface="Consolas"/>
                  <a:cs typeface="Consolas"/>
                </a:rPr>
                <a:t xml:space="preserve">    </a:t>
              </a:r>
              <a:r>
                <a:rPr lang="en-US" sz="980" b="1" dirty="0">
                  <a:solidFill>
                    <a:srgbClr val="334E68"/>
                  </a:solidFill>
                  <a:latin typeface="Consolas"/>
                  <a:ea typeface="Consolas"/>
                  <a:cs typeface="Consolas"/>
                </a:rPr>
                <a:t>if</a:t>
              </a:r>
              <a:r>
                <a:rPr lang="en-US" sz="980" dirty="0">
                  <a:solidFill>
                    <a:srgbClr val="1F2937"/>
                  </a:solidFill>
                  <a:latin typeface="Consolas"/>
                  <a:ea typeface="Consolas"/>
                  <a:cs typeface="Consolas"/>
                </a:rPr>
                <a:t xml:space="preserve"> (!CanOpenDocument(name)) </a:t>
              </a:r>
              <a:r>
                <a:rPr lang="en-US" sz="980" b="1" dirty="0">
                  <a:solidFill>
                    <a:srgbClr val="334E68"/>
                  </a:solidFill>
                  <a:latin typeface="Consolas"/>
                  <a:ea typeface="Consolas"/>
                  <a:cs typeface="Consolas"/>
                </a:rPr>
                <a:t>return</a:t>
              </a:r>
              <a:r>
                <a:rPr lang="zh-CN" sz="980" dirty="0">
                  <a:solidFill>
                    <a:srgbClr val="1F2937"/>
                  </a:solidFill>
                  <a:latin typeface="Consolas"/>
                  <a:ea typeface="Consolas"/>
                  <a:cs typeface="Consolas"/>
                </a:rPr>
                <a:t xml:space="preserve">;      </a:t>
              </a:r>
              <a:r>
                <a:rPr lang="zh-CN" sz="980" dirty="0">
                  <a:solidFill>
                    <a:srgbClr val="0F7A68"/>
                  </a:solidFill>
                  <a:latin typeface="Consolas"/>
                  <a:ea typeface="Microsoft YaHei"/>
                  <a:cs typeface="Consolas"/>
                </a:rPr>
                <a:t>// 原语操作</a:t>
              </a:r>
              <a:br/>
              <a:r>
                <a:rPr lang="en-US" sz="980" dirty="0">
                  <a:solidFill>
                    <a:srgbClr val="1F2937"/>
                  </a:solidFill>
                  <a:latin typeface="Consolas"/>
                  <a:ea typeface="Consolas"/>
                  <a:cs typeface="Consolas"/>
                </a:rPr>
                <a:t xml:space="preserve">    Document* doc = DoCreateDocument();      </a:t>
              </a:r>
              <a:r>
                <a:rPr lang="zh-CN" sz="980" dirty="0">
                  <a:solidFill>
                    <a:srgbClr val="0F7A68"/>
                  </a:solidFill>
                  <a:latin typeface="Consolas"/>
                  <a:ea typeface="Microsoft YaHei"/>
                  <a:cs typeface="Consolas"/>
                </a:rPr>
                <a:t>// 工厂方法</a:t>
              </a:r>
              <a:br/>
              <a:r>
                <a:rPr lang="zh-CN" sz="980" dirty="0">
                  <a:solidFill>
                    <a:srgbClr val="1F2937"/>
                  </a:solidFill>
                  <a:latin typeface="Consolas"/>
                  <a:ea typeface="Consolas"/>
                  <a:cs typeface="Consolas"/>
                </a:rPr>
                <a:t xml:space="preserve">    </a:t>
              </a:r>
              <a:r>
                <a:rPr lang="en-US" sz="980" b="1" dirty="0">
                  <a:solidFill>
                    <a:srgbClr val="334E68"/>
                  </a:solidFill>
                  <a:latin typeface="Consolas"/>
                  <a:ea typeface="Consolas"/>
                  <a:cs typeface="Consolas"/>
                </a:rPr>
                <a:t>if</a:t>
              </a:r>
              <a:r>
                <a:rPr lang="en-US" sz="980" dirty="0">
                  <a:solidFill>
                    <a:srgbClr val="1F2937"/>
                  </a:solidFill>
                  <a:latin typeface="Consolas"/>
                  <a:ea typeface="Consolas"/>
                  <a:cs typeface="Consolas"/>
                </a:rPr>
                <a:t xml:space="preserve"> (doc) {</a:t>
              </a:r>
              <a:br/>
              <a:r>
                <a:rPr lang="en-US" sz="980" dirty="0">
                  <a:solidFill>
                    <a:srgbClr val="1F2937"/>
                  </a:solidFill>
                  <a:latin typeface="Consolas"/>
                  <a:ea typeface="Consolas"/>
                  <a:cs typeface="Consolas"/>
                </a:rPr>
                <a:t xml:space="preserve">        _docs-&gt;AddDocument(doc);</a:t>
              </a:r>
              <a:br/>
              <a:r>
                <a:rPr lang="en-US" sz="980" dirty="0">
                  <a:solidFill>
                    <a:srgbClr val="1F2937"/>
                  </a:solidFill>
                  <a:latin typeface="Consolas"/>
                  <a:ea typeface="Consolas"/>
                  <a:cs typeface="Consolas"/>
                </a:rPr>
                <a:t xml:space="preserve">        AboutToOpenDocument(doc);            </a:t>
              </a:r>
              <a:r>
                <a:rPr lang="zh-CN" sz="980" dirty="0">
                  <a:solidFill>
                    <a:srgbClr val="0F7A68"/>
                  </a:solidFill>
                  <a:latin typeface="Consolas"/>
                  <a:ea typeface="Microsoft YaHei"/>
                  <a:cs typeface="Consolas"/>
                </a:rPr>
                <a:t>// 钩子操作</a:t>
              </a:r>
              <a:br/>
              <a:r>
                <a:rPr lang="en-US" sz="980" dirty="0">
                  <a:solidFill>
                    <a:srgbClr val="1F2937"/>
                  </a:solidFill>
                  <a:latin typeface="Consolas"/>
                  <a:ea typeface="Consolas"/>
                  <a:cs typeface="Consolas"/>
                </a:rPr>
                <a:t xml:space="preserve">        doc-&gt;Open();</a:t>
              </a:r>
              <a:br/>
              <a:r>
                <a:rPr lang="en-US" sz="980" dirty="0">
                  <a:solidFill>
                    <a:srgbClr val="1F2937"/>
                  </a:solidFill>
                  <a:latin typeface="Consolas"/>
                  <a:ea typeface="Consolas"/>
                  <a:cs typeface="Consolas"/>
                </a:rPr>
                <a:t xml:space="preserve">        doc-&gt;DoRead();</a:t>
              </a:r>
              <a:br/>
              <a:r>
                <a:rPr lang="zh-CN" sz="980" dirty="0">
                  <a:solidFill>
                    <a:srgbClr val="1F2937"/>
                  </a:solidFill>
                  <a:latin typeface="Consolas"/>
                  <a:ea typeface="Consolas"/>
                  <a:cs typeface="Consolas"/>
                </a:rPr>
                <a:t xml:space="preserve">    }</a:t>
              </a:r>
              <a:br/>
              <a:r>
                <a:rPr lang="zh-CN" sz="980" dirty="0">
                  <a:solidFill>
                    <a:srgbClr val="1F2937"/>
                  </a:solidFill>
                  <a:latin typeface="Consolas"/>
                  <a:ea typeface="Consolas"/>
                  <a:cs typeface="Consolas"/>
                </a:rPr>
                <a:t>}</a:t>
              </a:r>
            </a:p>
          </p:txBody>
        </p:sp>
      </p:grpSp>
      <p:grpSp>
        <p:nvGrpSpPr>
          <p:cNvPr id="26" name="c1-callout-3"/>
          <p:cNvGrpSpPr/>
          <p:nvPr/>
        </p:nvGrpSpPr>
        <p:grpSpPr>
          <a:xfrm>
            <a:off x="533400" y="5614035"/>
            <a:ext cx="5410200" cy="729615"/>
            <a:chOff x="533400" y="5614035"/>
            <a:chExt cx="5410200" cy="729615"/>
          </a:xfrm>
        </p:grpSpPr>
        <p:sp>
          <p:nvSpPr>
            <p:cNvPr id="21" name="Rectangle 21"/>
            <p:cNvSpPr/>
            <p:nvPr/>
          </p:nvSpPr>
          <p:spPr>
            <a:xfrm>
              <a:off x="533400" y="5614035"/>
              <a:ext cx="5410200" cy="729615"/>
            </a:xfrm>
            <a:prstGeom prst="roundRect">
              <a:avLst>
                <a:gd name="adj" fmla="val 15666"/>
              </a:avLst>
            </a:prstGeom>
            <a:solidFill>
              <a:srgbClr val="334E68"/>
            </a:solidFill>
            <a:ln>
              <a:noFill/>
            </a:ln>
          </p:spPr>
        </p:sp>
        <p:grpSp>
          <p:nvGrpSpPr>
            <p:cNvPr id="24" name="Group 24"/>
            <p:cNvGrpSpPr/>
            <p:nvPr/>
          </p:nvGrpSpPr>
          <p:grpSpPr>
            <a:xfrm>
              <a:off x="738188" y="5878832"/>
              <a:ext cx="200023" cy="200023"/>
              <a:chOff x="738188" y="5878832"/>
              <a:chExt cx="200023" cy="200023"/>
            </a:xfrm>
          </p:grpSpPr>
          <p:sp>
            <p:nvSpPr>
              <p:cNvPr id="22" name="Freeform 22"/>
              <p:cNvSpPr/>
              <p:nvPr/>
            </p:nvSpPr>
            <p:spPr>
              <a:xfrm>
                <a:off x="738188" y="587883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23" name="Freeform 23"/>
              <p:cNvSpPr/>
              <p:nvPr/>
            </p:nvSpPr>
            <p:spPr>
              <a:xfrm>
                <a:off x="871538" y="594550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25" name="TextBox 25"/>
            <p:cNvSpPr txBox="1"/>
            <p:nvPr/>
          </p:nvSpPr>
          <p:spPr>
            <a:xfrm>
              <a:off x="1040892" y="5760720"/>
              <a:ext cx="4522851"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OpenDocument 就是模板方法：流程固定，其中三个带虚函</a:t>
              </a:r>
              <a:br/>
              <a:r>
                <a:rPr lang="zh-CN" sz="1350" dirty="0">
                  <a:solidFill>
                    <a:srgbClr val="FFFFFF"/>
                  </a:solidFill>
                  <a:latin typeface="+mn-lt"/>
                  <a:ea typeface="+mn-ea"/>
                  <a:cs typeface="+mn-cs"/>
                </a:rPr>
                <a:t>数的步骤交给 MyApplication 去实现。</a:t>
              </a:r>
            </a:p>
          </p:txBody>
        </p:sp>
      </p:grpSp>
      <p:grpSp>
        <p:nvGrpSpPr>
          <p:cNvPr id="41" name="c2-uml-1"/>
          <p:cNvGrpSpPr/>
          <p:nvPr/>
        </p:nvGrpSpPr>
        <p:grpSpPr>
          <a:xfrm>
            <a:off x="8278178" y="1600200"/>
            <a:ext cx="1349692" cy="1784985"/>
            <a:chOff x="8278178" y="1600200"/>
            <a:chExt cx="1349692" cy="1784985"/>
          </a:xfrm>
        </p:grpSpPr>
        <p:sp>
          <p:nvSpPr>
            <p:cNvPr id="27" name="Freeform 27"/>
            <p:cNvSpPr/>
            <p:nvPr/>
          </p:nvSpPr>
          <p:spPr>
            <a:xfrm>
              <a:off x="8953500" y="2579370"/>
              <a:ext cx="9525" cy="100965"/>
            </a:xfrm>
            <a:custGeom>
              <a:avLst/>
              <a:gdLst/>
              <a:ahLst/>
              <a:cxnLst/>
              <a:rect l="l" t="t" r="r" b="b"/>
              <a:pathLst>
                <a:path w="9525" h="100965">
                  <a:moveTo>
                    <a:pt x="0" y="100965"/>
                  </a:moveTo>
                  <a:lnTo>
                    <a:pt x="0" y="0"/>
                  </a:lnTo>
                </a:path>
              </a:pathLst>
            </a:custGeom>
            <a:noFill/>
            <a:ln w="15240">
              <a:solidFill>
                <a:srgbClr val="1F2937"/>
              </a:solidFill>
            </a:ln>
          </p:spPr>
        </p:sp>
        <p:sp>
          <p:nvSpPr>
            <p:cNvPr id="28" name="Freeform 28"/>
            <p:cNvSpPr/>
            <p:nvPr/>
          </p:nvSpPr>
          <p:spPr>
            <a:xfrm>
              <a:off x="8880158" y="2453640"/>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29" name="Rectangle 29"/>
            <p:cNvSpPr/>
            <p:nvPr/>
          </p:nvSpPr>
          <p:spPr>
            <a:xfrm>
              <a:off x="8278178" y="1600200"/>
              <a:ext cx="1349692" cy="854392"/>
            </a:xfrm>
            <a:prstGeom prst="rect">
              <a:avLst/>
            </a:prstGeom>
            <a:solidFill>
              <a:srgbClr val="FFFFFF"/>
            </a:solidFill>
            <a:ln w="14288">
              <a:solidFill>
                <a:srgbClr val="334E68"/>
              </a:solidFill>
            </a:ln>
          </p:spPr>
        </p:sp>
        <p:sp>
          <p:nvSpPr>
            <p:cNvPr id="30" name="Rectangle 30"/>
            <p:cNvSpPr/>
            <p:nvPr/>
          </p:nvSpPr>
          <p:spPr>
            <a:xfrm>
              <a:off x="8285798" y="1606868"/>
              <a:ext cx="1335405" cy="209550"/>
            </a:xfrm>
            <a:prstGeom prst="rect">
              <a:avLst/>
            </a:prstGeom>
            <a:solidFill>
              <a:srgbClr val="E7EDF3"/>
            </a:solidFill>
            <a:ln>
              <a:noFill/>
            </a:ln>
          </p:spPr>
        </p:sp>
        <p:sp>
          <p:nvSpPr>
            <p:cNvPr id="31" name="Rectangle 31"/>
            <p:cNvSpPr/>
            <p:nvPr/>
          </p:nvSpPr>
          <p:spPr>
            <a:xfrm>
              <a:off x="8278178" y="1812608"/>
              <a:ext cx="1349692" cy="9525"/>
            </a:xfrm>
            <a:prstGeom prst="rect">
              <a:avLst/>
            </a:prstGeom>
            <a:solidFill>
              <a:srgbClr val="334E68"/>
            </a:solidFill>
            <a:ln>
              <a:noFill/>
            </a:ln>
          </p:spPr>
        </p:sp>
        <p:sp>
          <p:nvSpPr>
            <p:cNvPr id="32" name="Rectangle 32"/>
            <p:cNvSpPr/>
            <p:nvPr/>
          </p:nvSpPr>
          <p:spPr>
            <a:xfrm>
              <a:off x="8278178" y="1907858"/>
              <a:ext cx="1349692" cy="9525"/>
            </a:xfrm>
            <a:prstGeom prst="rect">
              <a:avLst/>
            </a:prstGeom>
            <a:solidFill>
              <a:srgbClr val="334E68"/>
            </a:solidFill>
            <a:ln>
              <a:noFill/>
            </a:ln>
          </p:spPr>
        </p:sp>
        <p:sp>
          <p:nvSpPr>
            <p:cNvPr id="33" name="Rectangle 33"/>
            <p:cNvSpPr/>
            <p:nvPr/>
          </p:nvSpPr>
          <p:spPr>
            <a:xfrm>
              <a:off x="8278178" y="2680335"/>
              <a:ext cx="1349692" cy="704850"/>
            </a:xfrm>
            <a:prstGeom prst="rect">
              <a:avLst/>
            </a:prstGeom>
            <a:solidFill>
              <a:srgbClr val="FFFFFF"/>
            </a:solidFill>
            <a:ln w="14288">
              <a:solidFill>
                <a:srgbClr val="334E68"/>
              </a:solidFill>
            </a:ln>
          </p:spPr>
        </p:sp>
        <p:sp>
          <p:nvSpPr>
            <p:cNvPr id="34" name="Rectangle 34"/>
            <p:cNvSpPr/>
            <p:nvPr/>
          </p:nvSpPr>
          <p:spPr>
            <a:xfrm>
              <a:off x="8285798" y="2687002"/>
              <a:ext cx="1335405" cy="209550"/>
            </a:xfrm>
            <a:prstGeom prst="rect">
              <a:avLst/>
            </a:prstGeom>
            <a:solidFill>
              <a:srgbClr val="334E68"/>
            </a:solidFill>
            <a:ln>
              <a:noFill/>
            </a:ln>
          </p:spPr>
        </p:sp>
        <p:sp>
          <p:nvSpPr>
            <p:cNvPr id="35" name="Rectangle 35"/>
            <p:cNvSpPr/>
            <p:nvPr/>
          </p:nvSpPr>
          <p:spPr>
            <a:xfrm>
              <a:off x="8278178" y="2892742"/>
              <a:ext cx="1349692" cy="9525"/>
            </a:xfrm>
            <a:prstGeom prst="rect">
              <a:avLst/>
            </a:prstGeom>
            <a:solidFill>
              <a:srgbClr val="334E68"/>
            </a:solidFill>
            <a:ln>
              <a:noFill/>
            </a:ln>
          </p:spPr>
        </p:sp>
        <p:sp>
          <p:nvSpPr>
            <p:cNvPr id="36" name="Rectangle 36"/>
            <p:cNvSpPr/>
            <p:nvPr/>
          </p:nvSpPr>
          <p:spPr>
            <a:xfrm>
              <a:off x="8278178" y="2987992"/>
              <a:ext cx="1349692" cy="9525"/>
            </a:xfrm>
            <a:prstGeom prst="rect">
              <a:avLst/>
            </a:prstGeom>
            <a:solidFill>
              <a:srgbClr val="334E68"/>
            </a:solidFill>
            <a:ln>
              <a:noFill/>
            </a:ln>
          </p:spPr>
        </p:sp>
        <p:sp>
          <p:nvSpPr>
            <p:cNvPr id="37" name="TextBox 37"/>
            <p:cNvSpPr txBox="1"/>
            <p:nvPr/>
          </p:nvSpPr>
          <p:spPr>
            <a:xfrm>
              <a:off x="8506021" y="1651635"/>
              <a:ext cx="894959" cy="176212"/>
            </a:xfrm>
            <a:prstGeom prst="rect">
              <a:avLst/>
            </a:prstGeom>
            <a:noFill/>
            <a:ln>
              <a:noFill/>
            </a:ln>
          </p:spPr>
          <p:txBody>
            <a:bodyPr wrap="none" lIns="0" tIns="0" rIns="0" bIns="0" anchor="t" anchorCtr="0">
              <a:spAutoFit/>
            </a:bodyPr>
            <a:lstStyle/>
            <a:p>
              <a:pPr algn="ctr"/>
              <a:r>
                <a:rPr lang="en-US" sz="900" b="1" i="1" dirty="0">
                  <a:solidFill>
                    <a:srgbClr val="243B53"/>
                  </a:solidFill>
                  <a:latin typeface="+mn-lt"/>
                  <a:ea typeface="+mn-ea"/>
                  <a:cs typeface="+mn-cs"/>
                </a:rPr>
                <a:t>AbstractClass</a:t>
              </a:r>
            </a:p>
          </p:txBody>
        </p:sp>
        <p:sp>
          <p:nvSpPr>
            <p:cNvPr id="38" name="TextBox 38"/>
            <p:cNvSpPr txBox="1"/>
            <p:nvPr/>
          </p:nvSpPr>
          <p:spPr>
            <a:xfrm>
              <a:off x="8349615" y="1975961"/>
              <a:ext cx="1207135" cy="459105"/>
            </a:xfrm>
            <a:prstGeom prst="rect">
              <a:avLst/>
            </a:prstGeom>
            <a:noFill/>
            <a:ln>
              <a:noFill/>
            </a:ln>
          </p:spPr>
          <p:txBody>
            <a:bodyPr wrap="none" lIns="0" tIns="0" rIns="0" bIns="0" anchor="t" anchorCtr="0">
              <a:spAutoFit/>
            </a:bodyPr>
            <a:lstStyle/>
            <a:p>
              <a:pPr algn="l">
                <a:lnSpc>
                  <a:spcPts val="1170"/>
                </a:lnSpc>
              </a:pPr>
              <a:r>
                <a:rPr lang="en-US" sz="820" dirty="0">
                  <a:solidFill>
                    <a:srgbClr val="1F2937"/>
                  </a:solidFill>
                  <a:latin typeface="+mn-lt"/>
                  <a:ea typeface="+mn-ea"/>
                  <a:cs typeface="+mn-cs"/>
                </a:rPr>
                <a:t>+TemplateMethod()</a:t>
              </a:r>
              <a:br/>
              <a:r>
                <a:rPr lang="en-US" sz="820" dirty="0">
                  <a:solidFill>
                    <a:srgbClr val="1F2937"/>
                  </a:solidFill>
                  <a:latin typeface="+mn-lt"/>
                  <a:ea typeface="+mn-ea"/>
                  <a:cs typeface="+mn-cs"/>
                </a:rPr>
                <a:t>#PrimitiveOperation1()</a:t>
              </a:r>
              <a:br/>
              <a:r>
                <a:rPr lang="en-US" sz="820" dirty="0">
                  <a:solidFill>
                    <a:srgbClr val="1F2937"/>
                  </a:solidFill>
                  <a:latin typeface="+mn-lt"/>
                  <a:ea typeface="+mn-ea"/>
                  <a:cs typeface="+mn-cs"/>
                </a:rPr>
                <a:t>#PrimitiveOperation2()</a:t>
              </a:r>
            </a:p>
          </p:txBody>
        </p:sp>
        <p:sp>
          <p:nvSpPr>
            <p:cNvPr id="39" name="TextBox 39"/>
            <p:cNvSpPr txBox="1"/>
            <p:nvPr/>
          </p:nvSpPr>
          <p:spPr>
            <a:xfrm>
              <a:off x="8506021" y="2731770"/>
              <a:ext cx="894959"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ConcreteClass</a:t>
              </a:r>
            </a:p>
          </p:txBody>
        </p:sp>
        <p:sp>
          <p:nvSpPr>
            <p:cNvPr id="40" name="TextBox 40"/>
            <p:cNvSpPr txBox="1"/>
            <p:nvPr/>
          </p:nvSpPr>
          <p:spPr>
            <a:xfrm>
              <a:off x="8349615" y="3056096"/>
              <a:ext cx="1207135" cy="310515"/>
            </a:xfrm>
            <a:prstGeom prst="rect">
              <a:avLst/>
            </a:prstGeom>
            <a:noFill/>
            <a:ln>
              <a:noFill/>
            </a:ln>
          </p:spPr>
          <p:txBody>
            <a:bodyPr wrap="none" lIns="0" tIns="0" rIns="0" bIns="0" anchor="t" anchorCtr="0">
              <a:spAutoFit/>
            </a:bodyPr>
            <a:lstStyle/>
            <a:p>
              <a:pPr algn="l">
                <a:lnSpc>
                  <a:spcPts val="1170"/>
                </a:lnSpc>
              </a:pPr>
              <a:r>
                <a:rPr lang="en-US" sz="820" dirty="0">
                  <a:solidFill>
                    <a:srgbClr val="1F2937"/>
                  </a:solidFill>
                  <a:latin typeface="+mn-lt"/>
                  <a:ea typeface="+mn-ea"/>
                  <a:cs typeface="+mn-cs"/>
                </a:rPr>
                <a:t>#PrimitiveOperation1()</a:t>
              </a:r>
              <a:br/>
              <a:r>
                <a:rPr lang="en-US" sz="820" dirty="0">
                  <a:solidFill>
                    <a:srgbClr val="1F2937"/>
                  </a:solidFill>
                  <a:latin typeface="+mn-lt"/>
                  <a:ea typeface="+mn-ea"/>
                  <a:cs typeface="+mn-cs"/>
                </a:rPr>
                <a:t>#PrimitiveOperation2()</a:t>
              </a:r>
            </a:p>
          </p:txBody>
        </p:sp>
      </p:grpSp>
      <p:grpSp>
        <p:nvGrpSpPr>
          <p:cNvPr id="49" name="c2-bullets-2"/>
          <p:cNvGrpSpPr/>
          <p:nvPr/>
        </p:nvGrpSpPr>
        <p:grpSpPr>
          <a:xfrm>
            <a:off x="6241542" y="3728085"/>
            <a:ext cx="3847841" cy="1072992"/>
            <a:chOff x="6241542" y="3728085"/>
            <a:chExt cx="3847841" cy="1072992"/>
          </a:xfrm>
        </p:grpSpPr>
        <p:sp>
          <p:nvSpPr>
            <p:cNvPr id="42" name="TextBox 42"/>
            <p:cNvSpPr txBox="1"/>
            <p:nvPr/>
          </p:nvSpPr>
          <p:spPr>
            <a:xfrm>
              <a:off x="6241542" y="3728085"/>
              <a:ext cx="1285875"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适用于三种情况</a:t>
              </a:r>
            </a:p>
          </p:txBody>
        </p:sp>
        <p:sp>
          <p:nvSpPr>
            <p:cNvPr id="43" name="Ellipse 43"/>
            <p:cNvSpPr/>
            <p:nvPr/>
          </p:nvSpPr>
          <p:spPr>
            <a:xfrm>
              <a:off x="6257925" y="4084320"/>
              <a:ext cx="57150" cy="57150"/>
            </a:xfrm>
            <a:prstGeom prst="ellipse">
              <a:avLst/>
            </a:prstGeom>
            <a:solidFill>
              <a:srgbClr val="334E68"/>
            </a:solidFill>
            <a:ln>
              <a:noFill/>
            </a:ln>
          </p:spPr>
        </p:sp>
        <p:sp>
          <p:nvSpPr>
            <p:cNvPr id="44" name="TextBox 44"/>
            <p:cNvSpPr txBox="1"/>
            <p:nvPr/>
          </p:nvSpPr>
          <p:spPr>
            <a:xfrm>
              <a:off x="6414135" y="4040981"/>
              <a:ext cx="347924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一次性实现算法的不变部分，把可变的行为留给子类</a:t>
              </a:r>
            </a:p>
          </p:txBody>
        </p:sp>
        <p:sp>
          <p:nvSpPr>
            <p:cNvPr id="45" name="Ellipse 45"/>
            <p:cNvSpPr/>
            <p:nvPr/>
          </p:nvSpPr>
          <p:spPr>
            <a:xfrm>
              <a:off x="6257925" y="4353878"/>
              <a:ext cx="57150" cy="57150"/>
            </a:xfrm>
            <a:prstGeom prst="ellipse">
              <a:avLst/>
            </a:prstGeom>
            <a:solidFill>
              <a:srgbClr val="334E68"/>
            </a:solidFill>
            <a:ln>
              <a:noFill/>
            </a:ln>
          </p:spPr>
        </p:sp>
        <p:sp>
          <p:nvSpPr>
            <p:cNvPr id="46" name="TextBox 46"/>
            <p:cNvSpPr txBox="1"/>
            <p:nvPr/>
          </p:nvSpPr>
          <p:spPr>
            <a:xfrm>
              <a:off x="6414135" y="4310539"/>
              <a:ext cx="363001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把各子类公共的行为提取到公共父类中，避免代码重复</a:t>
              </a:r>
            </a:p>
          </p:txBody>
        </p:sp>
        <p:sp>
          <p:nvSpPr>
            <p:cNvPr id="47" name="Ellipse 47"/>
            <p:cNvSpPr/>
            <p:nvPr/>
          </p:nvSpPr>
          <p:spPr>
            <a:xfrm>
              <a:off x="6257925" y="4623435"/>
              <a:ext cx="57150" cy="57150"/>
            </a:xfrm>
            <a:prstGeom prst="ellipse">
              <a:avLst/>
            </a:prstGeom>
            <a:solidFill>
              <a:srgbClr val="334E68"/>
            </a:solidFill>
            <a:ln>
              <a:noFill/>
            </a:ln>
          </p:spPr>
        </p:sp>
        <p:sp>
          <p:nvSpPr>
            <p:cNvPr id="48" name="TextBox 48"/>
            <p:cNvSpPr txBox="1"/>
            <p:nvPr/>
          </p:nvSpPr>
          <p:spPr>
            <a:xfrm>
              <a:off x="6414135" y="4581049"/>
              <a:ext cx="367524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控制子类的扩展：模板方法只在特定点调用“hook”操作</a:t>
              </a:r>
            </a:p>
          </p:txBody>
        </p:sp>
      </p:grpSp>
      <p:grpSp>
        <p:nvGrpSpPr>
          <p:cNvPr id="56" name="c2-card-3"/>
          <p:cNvGrpSpPr/>
          <p:nvPr/>
        </p:nvGrpSpPr>
        <p:grpSpPr>
          <a:xfrm>
            <a:off x="6248400" y="4926330"/>
            <a:ext cx="5410200" cy="1417320"/>
            <a:chOff x="6248400" y="4926330"/>
            <a:chExt cx="5410200" cy="1417320"/>
          </a:xfrm>
        </p:grpSpPr>
        <p:sp>
          <p:nvSpPr>
            <p:cNvPr id="50" name="Rectangle 50"/>
            <p:cNvSpPr/>
            <p:nvPr/>
          </p:nvSpPr>
          <p:spPr>
            <a:xfrm>
              <a:off x="6248400" y="4926330"/>
              <a:ext cx="5410200" cy="1417320"/>
            </a:xfrm>
            <a:prstGeom prst="roundRect">
              <a:avLst>
                <a:gd name="adj" fmla="val 9409"/>
              </a:avLst>
            </a:prstGeom>
            <a:solidFill>
              <a:srgbClr val="334E68"/>
            </a:solidFill>
            <a:ln>
              <a:noFill/>
            </a:ln>
          </p:spPr>
        </p:sp>
        <p:sp>
          <p:nvSpPr>
            <p:cNvPr id="51" name="Rectangle 51"/>
            <p:cNvSpPr/>
            <p:nvPr/>
          </p:nvSpPr>
          <p:spPr>
            <a:xfrm>
              <a:off x="6435090" y="5113020"/>
              <a:ext cx="458152" cy="238125"/>
            </a:xfrm>
            <a:prstGeom prst="roundRect">
              <a:avLst>
                <a:gd name="adj" fmla="val 50000"/>
              </a:avLst>
            </a:prstGeom>
            <a:solidFill>
              <a:srgbClr val="243B53"/>
            </a:solidFill>
            <a:ln>
              <a:noFill/>
            </a:ln>
          </p:spPr>
        </p:sp>
        <p:sp>
          <p:nvSpPr>
            <p:cNvPr id="52" name="TextBox 52"/>
            <p:cNvSpPr txBox="1"/>
            <p:nvPr/>
          </p:nvSpPr>
          <p:spPr>
            <a:xfrm>
              <a:off x="6527762" y="5145881"/>
              <a:ext cx="273761"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效果</a:t>
              </a:r>
            </a:p>
          </p:txBody>
        </p:sp>
        <p:sp>
          <p:nvSpPr>
            <p:cNvPr id="53" name="TextBox 53"/>
            <p:cNvSpPr txBox="1"/>
            <p:nvPr/>
          </p:nvSpPr>
          <p:spPr>
            <a:xfrm>
              <a:off x="7000684" y="5148262"/>
              <a:ext cx="922401"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好莱坞法则</a:t>
              </a:r>
            </a:p>
          </p:txBody>
        </p:sp>
        <p:sp>
          <p:nvSpPr>
            <p:cNvPr id="54" name="TextBox 54"/>
            <p:cNvSpPr txBox="1"/>
            <p:nvPr/>
          </p:nvSpPr>
          <p:spPr>
            <a:xfrm>
              <a:off x="6428232" y="5474018"/>
              <a:ext cx="5120526" cy="264033"/>
            </a:xfrm>
            <a:prstGeom prst="rect">
              <a:avLst/>
            </a:prstGeom>
            <a:noFill/>
            <a:ln>
              <a:noFill/>
            </a:ln>
          </p:spPr>
          <p:txBody>
            <a:bodyPr wrap="none" lIns="0" tIns="0" rIns="0" bIns="0" anchor="t" anchorCtr="0">
              <a:spAutoFit/>
            </a:bodyPr>
            <a:lstStyle/>
            <a:p>
              <a:pPr algn="l"/>
              <a:r>
                <a:rPr lang="zh-CN" sz="1350" b="1" dirty="0">
                  <a:solidFill>
                    <a:srgbClr val="FFD58A"/>
                  </a:solidFill>
                  <a:latin typeface="+mn-lt"/>
                  <a:ea typeface="+mn-ea"/>
                  <a:cs typeface="+mn-cs"/>
                </a:rPr>
                <a:t>父类调用子类的操作，而不是相反</a:t>
              </a:r>
              <a:r>
                <a:rPr lang="zh-CN" sz="1350" dirty="0">
                  <a:solidFill>
                    <a:srgbClr val="FFFFFF"/>
                  </a:solidFill>
                  <a:latin typeface="+mn-lt"/>
                  <a:ea typeface="+mn-ea"/>
                  <a:cs typeface="+mn-cs"/>
                </a:rPr>
                <a:t>，即“别找我们，我们找你”。</a:t>
              </a:r>
            </a:p>
          </p:txBody>
        </p:sp>
        <p:sp>
          <p:nvSpPr>
            <p:cNvPr id="55" name="TextBox 55"/>
            <p:cNvSpPr txBox="1"/>
            <p:nvPr/>
          </p:nvSpPr>
          <p:spPr>
            <a:xfrm>
              <a:off x="6428232" y="5774055"/>
              <a:ext cx="5102352"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可调用四类操作：具体操作、原语操作、工厂方法、钩子操作。</a:t>
              </a:r>
            </a:p>
          </p:txBody>
        </p:sp>
      </p:grpSp>
      <p:grpSp>
        <p:nvGrpSpPr>
          <p:cNvPr id="59" name="footer"/>
          <p:cNvGrpSpPr/>
          <p:nvPr/>
        </p:nvGrpSpPr>
        <p:grpSpPr>
          <a:xfrm>
            <a:off x="528447" y="6581299"/>
            <a:ext cx="11135106" cy="190690"/>
            <a:chOff x="528447" y="6581299"/>
            <a:chExt cx="11135106" cy="190690"/>
          </a:xfrm>
        </p:grpSpPr>
        <p:sp>
          <p:nvSpPr>
            <p:cNvPr id="57" name="TextBox 57"/>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58" name="TextBox 5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55</a:t>
              </a:r>
            </a:p>
          </p:txBody>
        </p:sp>
      </p:grpSp>
    </p:spTree>
  </p:cSld>
  <p:clrMapOvr>
    <a:masterClrMapping/>
  </p:clrMapOvr>
  <p:transition xmlns:p14="http://schemas.microsoft.com/office/powerpoint/2010/main" p14:dur="400">
    <p:fade/>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48247" cy="909257"/>
            <a:chOff x="520446" y="342900"/>
            <a:chExt cx="6548247" cy="909257"/>
          </a:xfrm>
        </p:grpSpPr>
        <p:sp>
          <p:nvSpPr>
            <p:cNvPr id="2" name="Rectangle 2"/>
            <p:cNvSpPr/>
            <p:nvPr/>
          </p:nvSpPr>
          <p:spPr>
            <a:xfrm>
              <a:off x="533400" y="342900"/>
              <a:ext cx="2354580" cy="266700"/>
            </a:xfrm>
            <a:prstGeom prst="roundRect">
              <a:avLst>
                <a:gd name="adj" fmla="val 50000"/>
              </a:avLst>
            </a:prstGeom>
            <a:solidFill>
              <a:srgbClr val="E7EDF3"/>
            </a:solidFill>
            <a:ln>
              <a:noFill/>
            </a:ln>
          </p:spPr>
        </p:sp>
        <p:sp>
          <p:nvSpPr>
            <p:cNvPr id="3" name="TextBox 3"/>
            <p:cNvSpPr txBox="1"/>
            <p:nvPr/>
          </p:nvSpPr>
          <p:spPr>
            <a:xfrm>
              <a:off x="598479" y="407194"/>
              <a:ext cx="22244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设计模式</a:t>
              </a:r>
            </a:p>
          </p:txBody>
        </p:sp>
        <p:sp>
          <p:nvSpPr>
            <p:cNvPr id="4" name="TextBox 4"/>
            <p:cNvSpPr txBox="1"/>
            <p:nvPr/>
          </p:nvSpPr>
          <p:spPr>
            <a:xfrm>
              <a:off x="520446" y="753428"/>
              <a:ext cx="6548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观察者：一对多的依赖，状态一变全部通知</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2" name="c1-card-1"/>
          <p:cNvGrpSpPr/>
          <p:nvPr/>
        </p:nvGrpSpPr>
        <p:grpSpPr>
          <a:xfrm>
            <a:off x="533400" y="1524000"/>
            <a:ext cx="5193982" cy="1143952"/>
            <a:chOff x="533400" y="1524000"/>
            <a:chExt cx="5193982" cy="1143952"/>
          </a:xfrm>
        </p:grpSpPr>
        <p:sp>
          <p:nvSpPr>
            <p:cNvPr id="7" name="Rectangle 7"/>
            <p:cNvSpPr/>
            <p:nvPr/>
          </p:nvSpPr>
          <p:spPr>
            <a:xfrm>
              <a:off x="533400" y="1524000"/>
              <a:ext cx="5193982" cy="1143952"/>
            </a:xfrm>
            <a:prstGeom prst="roundRect">
              <a:avLst>
                <a:gd name="adj" fmla="val 11657"/>
              </a:avLst>
            </a:prstGeom>
            <a:solidFill>
              <a:srgbClr val="FFFFFF"/>
            </a:solidFill>
            <a:ln w="14288">
              <a:solidFill>
                <a:srgbClr val="D9DFEA"/>
              </a:solidFill>
            </a:ln>
          </p:spPr>
        </p:sp>
        <p:sp>
          <p:nvSpPr>
            <p:cNvPr id="8" name="Rectangle 8"/>
            <p:cNvSpPr/>
            <p:nvPr/>
          </p:nvSpPr>
          <p:spPr>
            <a:xfrm>
              <a:off x="542925" y="1657350"/>
              <a:ext cx="47625" cy="877252"/>
            </a:xfrm>
            <a:prstGeom prst="roundRect">
              <a:avLst>
                <a:gd name="adj" fmla="val 50000"/>
              </a:avLst>
            </a:prstGeom>
            <a:solidFill>
              <a:srgbClr val="334E68"/>
            </a:solidFill>
            <a:ln>
              <a:noFill/>
            </a:ln>
          </p:spPr>
        </p:sp>
        <p:sp>
          <p:nvSpPr>
            <p:cNvPr id="9" name="Rectangle 9"/>
            <p:cNvSpPr/>
            <p:nvPr/>
          </p:nvSpPr>
          <p:spPr>
            <a:xfrm>
              <a:off x="752475" y="1704975"/>
              <a:ext cx="831532" cy="238125"/>
            </a:xfrm>
            <a:prstGeom prst="roundRect">
              <a:avLst>
                <a:gd name="adj" fmla="val 50000"/>
              </a:avLst>
            </a:prstGeom>
            <a:solidFill>
              <a:srgbClr val="E7EDF3"/>
            </a:solidFill>
            <a:ln>
              <a:noFill/>
            </a:ln>
          </p:spPr>
        </p:sp>
        <p:sp>
          <p:nvSpPr>
            <p:cNvPr id="10" name="TextBox 10"/>
            <p:cNvSpPr txBox="1"/>
            <p:nvPr/>
          </p:nvSpPr>
          <p:spPr>
            <a:xfrm>
              <a:off x="833946" y="1737836"/>
              <a:ext cx="669544"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意图与别名</a:t>
              </a:r>
            </a:p>
          </p:txBody>
        </p:sp>
        <p:sp>
          <p:nvSpPr>
            <p:cNvPr id="11" name="TextBox 11"/>
            <p:cNvSpPr txBox="1"/>
            <p:nvPr/>
          </p:nvSpPr>
          <p:spPr>
            <a:xfrm>
              <a:off x="745998" y="2045494"/>
              <a:ext cx="456463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定义对象间的一对多依赖，一个对象状态改变时，所有依赖它的</a:t>
              </a:r>
              <a:br/>
              <a:r>
                <a:rPr lang="zh-CN" sz="1280" dirty="0">
                  <a:solidFill>
                    <a:srgbClr val="1F2937"/>
                  </a:solidFill>
                  <a:latin typeface="+mn-lt"/>
                  <a:ea typeface="+mn-ea"/>
                  <a:cs typeface="+mn-cs"/>
                </a:rPr>
                <a:t>对象都自动更新。别名：发布-订阅（Publish-Subscribe）。</a:t>
              </a:r>
            </a:p>
          </p:txBody>
        </p:sp>
      </p:grpSp>
      <p:grpSp>
        <p:nvGrpSpPr>
          <p:cNvPr id="51" name="c1-uml-2"/>
          <p:cNvGrpSpPr/>
          <p:nvPr/>
        </p:nvGrpSpPr>
        <p:grpSpPr>
          <a:xfrm>
            <a:off x="1256348" y="2897505"/>
            <a:ext cx="3808095" cy="1838325"/>
            <a:chOff x="1256348" y="2897505"/>
            <a:chExt cx="3808095" cy="1838325"/>
          </a:xfrm>
        </p:grpSpPr>
        <p:sp>
          <p:nvSpPr>
            <p:cNvPr id="13" name="Freeform 13"/>
            <p:cNvSpPr/>
            <p:nvPr/>
          </p:nvSpPr>
          <p:spPr>
            <a:xfrm>
              <a:off x="2614612" y="3325178"/>
              <a:ext cx="1243012" cy="9525"/>
            </a:xfrm>
            <a:custGeom>
              <a:avLst/>
              <a:gdLst/>
              <a:ahLst/>
              <a:cxnLst/>
              <a:rect l="l" t="t" r="r" b="b"/>
              <a:pathLst>
                <a:path w="1243012" h="9525">
                  <a:moveTo>
                    <a:pt x="1243012" y="0"/>
                  </a:moveTo>
                  <a:lnTo>
                    <a:pt x="0" y="0"/>
                  </a:lnTo>
                </a:path>
              </a:pathLst>
            </a:custGeom>
            <a:noFill/>
            <a:ln w="15240">
              <a:solidFill>
                <a:srgbClr val="1F2937"/>
              </a:solidFill>
            </a:ln>
          </p:spPr>
        </p:sp>
        <p:sp>
          <p:nvSpPr>
            <p:cNvPr id="14" name="Freeform 14"/>
            <p:cNvSpPr/>
            <p:nvPr/>
          </p:nvSpPr>
          <p:spPr>
            <a:xfrm>
              <a:off x="2405062" y="3267075"/>
              <a:ext cx="209550" cy="115253"/>
            </a:xfrm>
            <a:custGeom>
              <a:avLst/>
              <a:gdLst/>
              <a:ahLst/>
              <a:cxnLst/>
              <a:rect l="l" t="t" r="r" b="b"/>
              <a:pathLst>
                <a:path w="209550" h="115253">
                  <a:moveTo>
                    <a:pt x="0" y="58103"/>
                  </a:moveTo>
                  <a:lnTo>
                    <a:pt x="104775" y="0"/>
                  </a:lnTo>
                  <a:lnTo>
                    <a:pt x="209550" y="58103"/>
                  </a:lnTo>
                  <a:lnTo>
                    <a:pt x="104775" y="115253"/>
                  </a:lnTo>
                  <a:close/>
                </a:path>
              </a:pathLst>
            </a:custGeom>
            <a:solidFill>
              <a:srgbClr val="FFFFFF"/>
            </a:solidFill>
            <a:ln w="15240">
              <a:solidFill>
                <a:srgbClr val="1F2937"/>
              </a:solidFill>
            </a:ln>
          </p:spPr>
        </p:sp>
        <p:sp>
          <p:nvSpPr>
            <p:cNvPr id="15" name="Freeform 15"/>
            <p:cNvSpPr/>
            <p:nvPr/>
          </p:nvSpPr>
          <p:spPr>
            <a:xfrm>
              <a:off x="1831658" y="3877628"/>
              <a:ext cx="9525" cy="9525"/>
            </a:xfrm>
            <a:custGeom>
              <a:avLst/>
              <a:gdLst/>
              <a:ahLst/>
              <a:cxnLst/>
              <a:rect l="l" t="t" r="r" b="b"/>
              <a:pathLst>
                <a:path w="9525" h="9525">
                  <a:moveTo>
                    <a:pt x="0" y="3810"/>
                  </a:moveTo>
                  <a:lnTo>
                    <a:pt x="0" y="0"/>
                  </a:lnTo>
                </a:path>
              </a:pathLst>
            </a:custGeom>
            <a:noFill/>
            <a:ln w="15240">
              <a:solidFill>
                <a:srgbClr val="1F2937"/>
              </a:solidFill>
            </a:ln>
          </p:spPr>
        </p:sp>
        <p:sp>
          <p:nvSpPr>
            <p:cNvPr id="16" name="Freeform 16"/>
            <p:cNvSpPr/>
            <p:nvPr/>
          </p:nvSpPr>
          <p:spPr>
            <a:xfrm>
              <a:off x="1758315" y="3751898"/>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17" name="Freeform 17"/>
            <p:cNvSpPr/>
            <p:nvPr/>
          </p:nvSpPr>
          <p:spPr>
            <a:xfrm>
              <a:off x="4429125" y="3729038"/>
              <a:ext cx="9525" cy="226695"/>
            </a:xfrm>
            <a:custGeom>
              <a:avLst/>
              <a:gdLst/>
              <a:ahLst/>
              <a:cxnLst/>
              <a:rect l="l" t="t" r="r" b="b"/>
              <a:pathLst>
                <a:path w="9525" h="226695">
                  <a:moveTo>
                    <a:pt x="0" y="226695"/>
                  </a:moveTo>
                  <a:lnTo>
                    <a:pt x="0" y="0"/>
                  </a:lnTo>
                </a:path>
              </a:pathLst>
            </a:custGeom>
            <a:noFill/>
            <a:ln w="15240">
              <a:solidFill>
                <a:srgbClr val="1F2937"/>
              </a:solidFill>
            </a:ln>
          </p:spPr>
        </p:sp>
        <p:sp>
          <p:nvSpPr>
            <p:cNvPr id="18" name="Freeform 18"/>
            <p:cNvSpPr/>
            <p:nvPr/>
          </p:nvSpPr>
          <p:spPr>
            <a:xfrm>
              <a:off x="4355782" y="3603308"/>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19" name="Freeform 19"/>
            <p:cNvSpPr/>
            <p:nvPr/>
          </p:nvSpPr>
          <p:spPr>
            <a:xfrm>
              <a:off x="2406968" y="4308158"/>
              <a:ext cx="1386840" cy="9525"/>
            </a:xfrm>
            <a:custGeom>
              <a:avLst/>
              <a:gdLst/>
              <a:ahLst/>
              <a:cxnLst/>
              <a:rect l="l" t="t" r="r" b="b"/>
              <a:pathLst>
                <a:path w="1386840" h="9525">
                  <a:moveTo>
                    <a:pt x="1386840" y="0"/>
                  </a:moveTo>
                  <a:lnTo>
                    <a:pt x="0" y="0"/>
                  </a:lnTo>
                </a:path>
              </a:pathLst>
            </a:custGeom>
            <a:noFill/>
            <a:ln w="15240">
              <a:solidFill>
                <a:srgbClr val="1F2937"/>
              </a:solidFill>
            </a:ln>
          </p:spPr>
        </p:sp>
        <p:sp>
          <p:nvSpPr>
            <p:cNvPr id="20" name="Freeform 20"/>
            <p:cNvSpPr/>
            <p:nvPr/>
          </p:nvSpPr>
          <p:spPr>
            <a:xfrm>
              <a:off x="2406968" y="4251008"/>
              <a:ext cx="104775" cy="115252"/>
            </a:xfrm>
            <a:custGeom>
              <a:avLst/>
              <a:gdLst/>
              <a:ahLst/>
              <a:cxnLst/>
              <a:rect l="l" t="t" r="r" b="b"/>
              <a:pathLst>
                <a:path w="104775" h="115252">
                  <a:moveTo>
                    <a:pt x="104775" y="0"/>
                  </a:moveTo>
                  <a:lnTo>
                    <a:pt x="0" y="57150"/>
                  </a:lnTo>
                  <a:lnTo>
                    <a:pt x="104775" y="115252"/>
                  </a:lnTo>
                </a:path>
              </a:pathLst>
            </a:custGeom>
            <a:noFill/>
            <a:ln w="15240">
              <a:solidFill>
                <a:srgbClr val="1F2937"/>
              </a:solidFill>
            </a:ln>
          </p:spPr>
        </p:sp>
        <p:sp>
          <p:nvSpPr>
            <p:cNvPr id="21" name="Rectangle 21"/>
            <p:cNvSpPr/>
            <p:nvPr/>
          </p:nvSpPr>
          <p:spPr>
            <a:xfrm>
              <a:off x="1258252" y="2897505"/>
              <a:ext cx="1146810" cy="854392"/>
            </a:xfrm>
            <a:prstGeom prst="rect">
              <a:avLst/>
            </a:prstGeom>
            <a:solidFill>
              <a:srgbClr val="FFFFFF"/>
            </a:solidFill>
            <a:ln w="14288">
              <a:solidFill>
                <a:srgbClr val="334E68"/>
              </a:solidFill>
            </a:ln>
          </p:spPr>
        </p:sp>
        <p:sp>
          <p:nvSpPr>
            <p:cNvPr id="22" name="Rectangle 22"/>
            <p:cNvSpPr/>
            <p:nvPr/>
          </p:nvSpPr>
          <p:spPr>
            <a:xfrm>
              <a:off x="1265872" y="2905125"/>
              <a:ext cx="1132522" cy="209550"/>
            </a:xfrm>
            <a:prstGeom prst="rect">
              <a:avLst/>
            </a:prstGeom>
            <a:solidFill>
              <a:srgbClr val="E7EDF3"/>
            </a:solidFill>
            <a:ln>
              <a:noFill/>
            </a:ln>
          </p:spPr>
        </p:sp>
        <p:sp>
          <p:nvSpPr>
            <p:cNvPr id="23" name="Rectangle 23"/>
            <p:cNvSpPr/>
            <p:nvPr/>
          </p:nvSpPr>
          <p:spPr>
            <a:xfrm>
              <a:off x="1258252" y="3109912"/>
              <a:ext cx="1146810" cy="9525"/>
            </a:xfrm>
            <a:prstGeom prst="rect">
              <a:avLst/>
            </a:prstGeom>
            <a:solidFill>
              <a:srgbClr val="334E68"/>
            </a:solidFill>
            <a:ln>
              <a:noFill/>
            </a:ln>
          </p:spPr>
        </p:sp>
        <p:sp>
          <p:nvSpPr>
            <p:cNvPr id="24" name="Rectangle 24"/>
            <p:cNvSpPr/>
            <p:nvPr/>
          </p:nvSpPr>
          <p:spPr>
            <a:xfrm>
              <a:off x="1258252" y="3205162"/>
              <a:ext cx="1146810" cy="9525"/>
            </a:xfrm>
            <a:prstGeom prst="rect">
              <a:avLst/>
            </a:prstGeom>
            <a:solidFill>
              <a:srgbClr val="334E68"/>
            </a:solidFill>
            <a:ln>
              <a:noFill/>
            </a:ln>
          </p:spPr>
        </p:sp>
        <p:sp>
          <p:nvSpPr>
            <p:cNvPr id="25" name="Rectangle 25"/>
            <p:cNvSpPr/>
            <p:nvPr/>
          </p:nvSpPr>
          <p:spPr>
            <a:xfrm>
              <a:off x="3857625" y="3046095"/>
              <a:ext cx="1143000" cy="556260"/>
            </a:xfrm>
            <a:prstGeom prst="rect">
              <a:avLst/>
            </a:prstGeom>
            <a:solidFill>
              <a:srgbClr val="FFFFFF"/>
            </a:solidFill>
            <a:ln w="14288">
              <a:solidFill>
                <a:srgbClr val="334E68"/>
              </a:solidFill>
            </a:ln>
          </p:spPr>
        </p:sp>
        <p:sp>
          <p:nvSpPr>
            <p:cNvPr id="26" name="Rectangle 26"/>
            <p:cNvSpPr/>
            <p:nvPr/>
          </p:nvSpPr>
          <p:spPr>
            <a:xfrm>
              <a:off x="3864292" y="3053715"/>
              <a:ext cx="1128712" cy="209550"/>
            </a:xfrm>
            <a:prstGeom prst="rect">
              <a:avLst/>
            </a:prstGeom>
            <a:solidFill>
              <a:srgbClr val="E7EDF3"/>
            </a:solidFill>
            <a:ln>
              <a:noFill/>
            </a:ln>
          </p:spPr>
        </p:sp>
        <p:sp>
          <p:nvSpPr>
            <p:cNvPr id="27" name="Rectangle 27"/>
            <p:cNvSpPr/>
            <p:nvPr/>
          </p:nvSpPr>
          <p:spPr>
            <a:xfrm>
              <a:off x="3857625" y="3258502"/>
              <a:ext cx="1143000" cy="9525"/>
            </a:xfrm>
            <a:prstGeom prst="rect">
              <a:avLst/>
            </a:prstGeom>
            <a:solidFill>
              <a:srgbClr val="334E68"/>
            </a:solidFill>
            <a:ln>
              <a:noFill/>
            </a:ln>
          </p:spPr>
        </p:sp>
        <p:sp>
          <p:nvSpPr>
            <p:cNvPr id="28" name="Rectangle 28"/>
            <p:cNvSpPr/>
            <p:nvPr/>
          </p:nvSpPr>
          <p:spPr>
            <a:xfrm>
              <a:off x="3857625" y="3353752"/>
              <a:ext cx="1143000" cy="9525"/>
            </a:xfrm>
            <a:prstGeom prst="rect">
              <a:avLst/>
            </a:prstGeom>
            <a:solidFill>
              <a:srgbClr val="334E68"/>
            </a:solidFill>
            <a:ln>
              <a:noFill/>
            </a:ln>
          </p:spPr>
        </p:sp>
        <p:sp>
          <p:nvSpPr>
            <p:cNvPr id="29" name="Rectangle 29"/>
            <p:cNvSpPr/>
            <p:nvPr/>
          </p:nvSpPr>
          <p:spPr>
            <a:xfrm>
              <a:off x="1256348" y="3881438"/>
              <a:ext cx="1150620" cy="854392"/>
            </a:xfrm>
            <a:prstGeom prst="rect">
              <a:avLst/>
            </a:prstGeom>
            <a:solidFill>
              <a:srgbClr val="FFFFFF"/>
            </a:solidFill>
            <a:ln w="14288">
              <a:solidFill>
                <a:srgbClr val="334E68"/>
              </a:solidFill>
            </a:ln>
          </p:spPr>
        </p:sp>
        <p:sp>
          <p:nvSpPr>
            <p:cNvPr id="30" name="Rectangle 30"/>
            <p:cNvSpPr/>
            <p:nvPr/>
          </p:nvSpPr>
          <p:spPr>
            <a:xfrm>
              <a:off x="1263968" y="3888105"/>
              <a:ext cx="1136332" cy="209550"/>
            </a:xfrm>
            <a:prstGeom prst="rect">
              <a:avLst/>
            </a:prstGeom>
            <a:solidFill>
              <a:srgbClr val="E7EDF3"/>
            </a:solidFill>
            <a:ln>
              <a:noFill/>
            </a:ln>
          </p:spPr>
        </p:sp>
        <p:sp>
          <p:nvSpPr>
            <p:cNvPr id="31" name="Rectangle 31"/>
            <p:cNvSpPr/>
            <p:nvPr/>
          </p:nvSpPr>
          <p:spPr>
            <a:xfrm>
              <a:off x="1256348" y="4093845"/>
              <a:ext cx="1150620" cy="9525"/>
            </a:xfrm>
            <a:prstGeom prst="rect">
              <a:avLst/>
            </a:prstGeom>
            <a:solidFill>
              <a:srgbClr val="334E68"/>
            </a:solidFill>
            <a:ln>
              <a:noFill/>
            </a:ln>
          </p:spPr>
        </p:sp>
        <p:sp>
          <p:nvSpPr>
            <p:cNvPr id="32" name="Rectangle 32"/>
            <p:cNvSpPr/>
            <p:nvPr/>
          </p:nvSpPr>
          <p:spPr>
            <a:xfrm>
              <a:off x="1256348" y="4337685"/>
              <a:ext cx="1150620" cy="9525"/>
            </a:xfrm>
            <a:prstGeom prst="rect">
              <a:avLst/>
            </a:prstGeom>
            <a:solidFill>
              <a:srgbClr val="334E68"/>
            </a:solidFill>
            <a:ln>
              <a:noFill/>
            </a:ln>
          </p:spPr>
        </p:sp>
        <p:sp>
          <p:nvSpPr>
            <p:cNvPr id="33" name="Rectangle 33"/>
            <p:cNvSpPr/>
            <p:nvPr/>
          </p:nvSpPr>
          <p:spPr>
            <a:xfrm>
              <a:off x="3793808" y="3955732"/>
              <a:ext cx="1270635" cy="704850"/>
            </a:xfrm>
            <a:prstGeom prst="rect">
              <a:avLst/>
            </a:prstGeom>
            <a:solidFill>
              <a:srgbClr val="FFFFFF"/>
            </a:solidFill>
            <a:ln w="14288">
              <a:solidFill>
                <a:srgbClr val="334E68"/>
              </a:solidFill>
            </a:ln>
          </p:spPr>
        </p:sp>
        <p:sp>
          <p:nvSpPr>
            <p:cNvPr id="34" name="Rectangle 34"/>
            <p:cNvSpPr/>
            <p:nvPr/>
          </p:nvSpPr>
          <p:spPr>
            <a:xfrm>
              <a:off x="3800475" y="3962400"/>
              <a:ext cx="1256348" cy="209550"/>
            </a:xfrm>
            <a:prstGeom prst="rect">
              <a:avLst/>
            </a:prstGeom>
            <a:solidFill>
              <a:srgbClr val="E7EDF3"/>
            </a:solidFill>
            <a:ln>
              <a:noFill/>
            </a:ln>
          </p:spPr>
        </p:sp>
        <p:sp>
          <p:nvSpPr>
            <p:cNvPr id="35" name="Rectangle 35"/>
            <p:cNvSpPr/>
            <p:nvPr/>
          </p:nvSpPr>
          <p:spPr>
            <a:xfrm>
              <a:off x="3793808" y="4168140"/>
              <a:ext cx="1270635" cy="9525"/>
            </a:xfrm>
            <a:prstGeom prst="rect">
              <a:avLst/>
            </a:prstGeom>
            <a:solidFill>
              <a:srgbClr val="334E68"/>
            </a:solidFill>
            <a:ln>
              <a:noFill/>
            </a:ln>
          </p:spPr>
        </p:sp>
        <p:sp>
          <p:nvSpPr>
            <p:cNvPr id="36" name="Rectangle 36"/>
            <p:cNvSpPr/>
            <p:nvPr/>
          </p:nvSpPr>
          <p:spPr>
            <a:xfrm>
              <a:off x="3793808" y="4411980"/>
              <a:ext cx="1270635" cy="9525"/>
            </a:xfrm>
            <a:prstGeom prst="rect">
              <a:avLst/>
            </a:prstGeom>
            <a:solidFill>
              <a:srgbClr val="334E68"/>
            </a:solidFill>
            <a:ln>
              <a:noFill/>
            </a:ln>
          </p:spPr>
        </p:sp>
        <p:sp>
          <p:nvSpPr>
            <p:cNvPr id="37" name="TextBox 37"/>
            <p:cNvSpPr txBox="1"/>
            <p:nvPr/>
          </p:nvSpPr>
          <p:spPr>
            <a:xfrm>
              <a:off x="1596055" y="2948940"/>
              <a:ext cx="471206" cy="176212"/>
            </a:xfrm>
            <a:prstGeom prst="rect">
              <a:avLst/>
            </a:prstGeom>
            <a:noFill/>
            <a:ln>
              <a:noFill/>
            </a:ln>
          </p:spPr>
          <p:txBody>
            <a:bodyPr wrap="none" lIns="0" tIns="0" rIns="0" bIns="0" anchor="t" anchorCtr="0">
              <a:spAutoFit/>
            </a:bodyPr>
            <a:lstStyle/>
            <a:p>
              <a:pPr algn="ctr"/>
              <a:r>
                <a:rPr lang="en-US" sz="900" b="1" i="1" dirty="0">
                  <a:solidFill>
                    <a:srgbClr val="243B53"/>
                  </a:solidFill>
                  <a:latin typeface="+mn-lt"/>
                  <a:ea typeface="+mn-ea"/>
                  <a:cs typeface="+mn-cs"/>
                </a:rPr>
                <a:t>Subject</a:t>
              </a:r>
            </a:p>
          </p:txBody>
        </p:sp>
        <p:sp>
          <p:nvSpPr>
            <p:cNvPr id="38" name="TextBox 38"/>
            <p:cNvSpPr txBox="1"/>
            <p:nvPr/>
          </p:nvSpPr>
          <p:spPr>
            <a:xfrm>
              <a:off x="1329690" y="3273266"/>
              <a:ext cx="1004062" cy="459105"/>
            </a:xfrm>
            <a:prstGeom prst="rect">
              <a:avLst/>
            </a:prstGeom>
            <a:noFill/>
            <a:ln>
              <a:noFill/>
            </a:ln>
          </p:spPr>
          <p:txBody>
            <a:bodyPr wrap="none" lIns="0" tIns="0" rIns="0" bIns="0" anchor="t" anchorCtr="0">
              <a:spAutoFit/>
            </a:bodyPr>
            <a:lstStyle/>
            <a:p>
              <a:pPr algn="l">
                <a:lnSpc>
                  <a:spcPts val="1170"/>
                </a:lnSpc>
              </a:pPr>
              <a:r>
                <a:rPr lang="en-US" sz="820" dirty="0">
                  <a:solidFill>
                    <a:srgbClr val="1F2937"/>
                  </a:solidFill>
                  <a:latin typeface="+mn-lt"/>
                  <a:ea typeface="+mn-ea"/>
                  <a:cs typeface="+mn-cs"/>
                </a:rPr>
                <a:t>+Attach(Observer)</a:t>
              </a:r>
              <a:br/>
              <a:r>
                <a:rPr lang="en-US" sz="820" dirty="0">
                  <a:solidFill>
                    <a:srgbClr val="1F2937"/>
                  </a:solidFill>
                  <a:latin typeface="+mn-lt"/>
                  <a:ea typeface="+mn-ea"/>
                  <a:cs typeface="+mn-cs"/>
                </a:rPr>
                <a:t>+Detach(Observer)</a:t>
              </a:r>
              <a:br/>
              <a:r>
                <a:rPr lang="en-US" sz="820" dirty="0">
                  <a:solidFill>
                    <a:srgbClr val="1F2937"/>
                  </a:solidFill>
                  <a:latin typeface="+mn-lt"/>
                  <a:ea typeface="+mn-ea"/>
                  <a:cs typeface="+mn-cs"/>
                </a:rPr>
                <a:t>+Notify()</a:t>
              </a:r>
            </a:p>
          </p:txBody>
        </p:sp>
        <p:sp>
          <p:nvSpPr>
            <p:cNvPr id="39" name="TextBox 39"/>
            <p:cNvSpPr txBox="1"/>
            <p:nvPr/>
          </p:nvSpPr>
          <p:spPr>
            <a:xfrm>
              <a:off x="4129696" y="3097530"/>
              <a:ext cx="598859" cy="176212"/>
            </a:xfrm>
            <a:prstGeom prst="rect">
              <a:avLst/>
            </a:prstGeom>
            <a:noFill/>
            <a:ln>
              <a:noFill/>
            </a:ln>
          </p:spPr>
          <p:txBody>
            <a:bodyPr wrap="none" lIns="0" tIns="0" rIns="0" bIns="0" anchor="t" anchorCtr="0">
              <a:spAutoFit/>
            </a:bodyPr>
            <a:lstStyle/>
            <a:p>
              <a:pPr algn="ctr"/>
              <a:r>
                <a:rPr lang="en-US" sz="900" b="1" i="1" dirty="0">
                  <a:solidFill>
                    <a:srgbClr val="243B53"/>
                  </a:solidFill>
                  <a:latin typeface="+mn-lt"/>
                  <a:ea typeface="+mn-ea"/>
                  <a:cs typeface="+mn-cs"/>
                </a:rPr>
                <a:t>Observer</a:t>
              </a:r>
            </a:p>
          </p:txBody>
        </p:sp>
        <p:sp>
          <p:nvSpPr>
            <p:cNvPr id="40" name="TextBox 40"/>
            <p:cNvSpPr txBox="1"/>
            <p:nvPr/>
          </p:nvSpPr>
          <p:spPr>
            <a:xfrm>
              <a:off x="3929062" y="3421856"/>
              <a:ext cx="561103" cy="161925"/>
            </a:xfrm>
            <a:prstGeom prst="rect">
              <a:avLst/>
            </a:prstGeom>
            <a:noFill/>
            <a:ln>
              <a:noFill/>
            </a:ln>
          </p:spPr>
          <p:txBody>
            <a:bodyPr wrap="none" lIns="0" tIns="0" rIns="0" bIns="0" anchor="t" anchorCtr="0">
              <a:spAutoFit/>
            </a:bodyPr>
            <a:lstStyle/>
            <a:p>
              <a:pPr algn="l"/>
              <a:r>
                <a:rPr lang="en-US" sz="820" dirty="0">
                  <a:solidFill>
                    <a:srgbClr val="1F2937"/>
                  </a:solidFill>
                  <a:latin typeface="+mn-lt"/>
                  <a:ea typeface="+mn-ea"/>
                  <a:cs typeface="+mn-cs"/>
                </a:rPr>
                <a:t>+Update()</a:t>
              </a:r>
            </a:p>
          </p:txBody>
        </p:sp>
        <p:sp>
          <p:nvSpPr>
            <p:cNvPr id="41" name="TextBox 41"/>
            <p:cNvSpPr txBox="1"/>
            <p:nvPr/>
          </p:nvSpPr>
          <p:spPr>
            <a:xfrm>
              <a:off x="1314191" y="3932873"/>
              <a:ext cx="1034933" cy="176212"/>
            </a:xfrm>
            <a:prstGeom prst="rect">
              <a:avLst/>
            </a:prstGeom>
            <a:noFill/>
            <a:ln>
              <a:noFill/>
            </a:ln>
          </p:spPr>
          <p:txBody>
            <a:bodyPr wrap="none" lIns="0" tIns="0" rIns="0" bIns="0" anchor="t" anchorCtr="0">
              <a:spAutoFit/>
            </a:bodyPr>
            <a:lstStyle/>
            <a:p>
              <a:pPr algn="ctr"/>
              <a:r>
                <a:rPr lang="en-US" sz="900" b="1" dirty="0">
                  <a:solidFill>
                    <a:srgbClr val="243B53"/>
                  </a:solidFill>
                  <a:latin typeface="+mn-lt"/>
                  <a:ea typeface="+mn-ea"/>
                  <a:cs typeface="+mn-cs"/>
                </a:rPr>
                <a:t>ConcreteSubject</a:t>
              </a:r>
            </a:p>
          </p:txBody>
        </p:sp>
        <p:sp>
          <p:nvSpPr>
            <p:cNvPr id="42" name="TextBox 42"/>
            <p:cNvSpPr txBox="1"/>
            <p:nvPr/>
          </p:nvSpPr>
          <p:spPr>
            <a:xfrm>
              <a:off x="1327785" y="4161949"/>
              <a:ext cx="774798" cy="161925"/>
            </a:xfrm>
            <a:prstGeom prst="rect">
              <a:avLst/>
            </a:prstGeom>
            <a:noFill/>
            <a:ln>
              <a:noFill/>
            </a:ln>
          </p:spPr>
          <p:txBody>
            <a:bodyPr wrap="none" lIns="0" tIns="0" rIns="0" bIns="0" anchor="t" anchorCtr="0">
              <a:spAutoFit/>
            </a:bodyPr>
            <a:lstStyle/>
            <a:p>
              <a:pPr algn="l"/>
              <a:r>
                <a:rPr lang="en-US" sz="820" dirty="0">
                  <a:solidFill>
                    <a:srgbClr val="1F2937"/>
                  </a:solidFill>
                  <a:latin typeface="+mn-lt"/>
                  <a:ea typeface="+mn-ea"/>
                  <a:cs typeface="+mn-cs"/>
                </a:rPr>
                <a:t>-subjectState</a:t>
              </a:r>
            </a:p>
          </p:txBody>
        </p:sp>
        <p:sp>
          <p:nvSpPr>
            <p:cNvPr id="43" name="TextBox 43"/>
            <p:cNvSpPr txBox="1"/>
            <p:nvPr/>
          </p:nvSpPr>
          <p:spPr>
            <a:xfrm>
              <a:off x="1327785" y="4405789"/>
              <a:ext cx="639572" cy="310515"/>
            </a:xfrm>
            <a:prstGeom prst="rect">
              <a:avLst/>
            </a:prstGeom>
            <a:noFill/>
            <a:ln>
              <a:noFill/>
            </a:ln>
          </p:spPr>
          <p:txBody>
            <a:bodyPr wrap="none" lIns="0" tIns="0" rIns="0" bIns="0" anchor="t" anchorCtr="0">
              <a:spAutoFit/>
            </a:bodyPr>
            <a:lstStyle/>
            <a:p>
              <a:pPr algn="l">
                <a:lnSpc>
                  <a:spcPts val="1170"/>
                </a:lnSpc>
              </a:pPr>
              <a:r>
                <a:rPr lang="en-US" sz="820" dirty="0">
                  <a:solidFill>
                    <a:srgbClr val="1F2937"/>
                  </a:solidFill>
                  <a:latin typeface="+mn-lt"/>
                  <a:ea typeface="+mn-ea"/>
                  <a:cs typeface="+mn-cs"/>
                </a:rPr>
                <a:t>+GetState()</a:t>
              </a:r>
              <a:br/>
              <a:r>
                <a:rPr lang="en-US" sz="820" dirty="0">
                  <a:solidFill>
                    <a:srgbClr val="1F2937"/>
                  </a:solidFill>
                  <a:latin typeface="+mn-lt"/>
                  <a:ea typeface="+mn-ea"/>
                  <a:cs typeface="+mn-cs"/>
                </a:rPr>
                <a:t>+SetState()</a:t>
              </a:r>
            </a:p>
          </p:txBody>
        </p:sp>
        <p:sp>
          <p:nvSpPr>
            <p:cNvPr id="44" name="TextBox 44"/>
            <p:cNvSpPr txBox="1"/>
            <p:nvPr/>
          </p:nvSpPr>
          <p:spPr>
            <a:xfrm>
              <a:off x="3847840" y="4007168"/>
              <a:ext cx="1162569" cy="176212"/>
            </a:xfrm>
            <a:prstGeom prst="rect">
              <a:avLst/>
            </a:prstGeom>
            <a:noFill/>
            <a:ln>
              <a:noFill/>
            </a:ln>
          </p:spPr>
          <p:txBody>
            <a:bodyPr wrap="none" lIns="0" tIns="0" rIns="0" bIns="0" anchor="t" anchorCtr="0">
              <a:spAutoFit/>
            </a:bodyPr>
            <a:lstStyle/>
            <a:p>
              <a:pPr algn="ctr"/>
              <a:r>
                <a:rPr lang="en-US" sz="900" b="1" dirty="0">
                  <a:solidFill>
                    <a:srgbClr val="243B53"/>
                  </a:solidFill>
                  <a:latin typeface="+mn-lt"/>
                  <a:ea typeface="+mn-ea"/>
                  <a:cs typeface="+mn-cs"/>
                </a:rPr>
                <a:t>ConcreteObserver</a:t>
              </a:r>
            </a:p>
          </p:txBody>
        </p:sp>
        <p:sp>
          <p:nvSpPr>
            <p:cNvPr id="45" name="TextBox 45"/>
            <p:cNvSpPr txBox="1"/>
            <p:nvPr/>
          </p:nvSpPr>
          <p:spPr>
            <a:xfrm>
              <a:off x="3865245" y="4236244"/>
              <a:ext cx="863217" cy="161925"/>
            </a:xfrm>
            <a:prstGeom prst="rect">
              <a:avLst/>
            </a:prstGeom>
            <a:noFill/>
            <a:ln>
              <a:noFill/>
            </a:ln>
          </p:spPr>
          <p:txBody>
            <a:bodyPr wrap="none" lIns="0" tIns="0" rIns="0" bIns="0" anchor="t" anchorCtr="0">
              <a:spAutoFit/>
            </a:bodyPr>
            <a:lstStyle/>
            <a:p>
              <a:pPr algn="l"/>
              <a:r>
                <a:rPr lang="en-US" sz="820" dirty="0">
                  <a:solidFill>
                    <a:srgbClr val="1F2937"/>
                  </a:solidFill>
                  <a:latin typeface="+mn-lt"/>
                  <a:ea typeface="+mn-ea"/>
                  <a:cs typeface="+mn-cs"/>
                </a:rPr>
                <a:t>-observerState</a:t>
              </a:r>
            </a:p>
          </p:txBody>
        </p:sp>
        <p:sp>
          <p:nvSpPr>
            <p:cNvPr id="46" name="TextBox 46"/>
            <p:cNvSpPr txBox="1"/>
            <p:nvPr/>
          </p:nvSpPr>
          <p:spPr>
            <a:xfrm>
              <a:off x="3865245" y="4480084"/>
              <a:ext cx="561103" cy="161925"/>
            </a:xfrm>
            <a:prstGeom prst="rect">
              <a:avLst/>
            </a:prstGeom>
            <a:noFill/>
            <a:ln>
              <a:noFill/>
            </a:ln>
          </p:spPr>
          <p:txBody>
            <a:bodyPr wrap="none" lIns="0" tIns="0" rIns="0" bIns="0" anchor="t" anchorCtr="0">
              <a:spAutoFit/>
            </a:bodyPr>
            <a:lstStyle/>
            <a:p>
              <a:pPr algn="l"/>
              <a:r>
                <a:rPr lang="en-US" sz="820" dirty="0">
                  <a:solidFill>
                    <a:srgbClr val="1F2937"/>
                  </a:solidFill>
                  <a:latin typeface="+mn-lt"/>
                  <a:ea typeface="+mn-ea"/>
                  <a:cs typeface="+mn-cs"/>
                </a:rPr>
                <a:t>+Update()</a:t>
              </a:r>
            </a:p>
          </p:txBody>
        </p:sp>
        <p:sp>
          <p:nvSpPr>
            <p:cNvPr id="47" name="Rectangle 47"/>
            <p:cNvSpPr/>
            <p:nvPr/>
          </p:nvSpPr>
          <p:spPr>
            <a:xfrm>
              <a:off x="2800350" y="3128010"/>
              <a:ext cx="661035" cy="165735"/>
            </a:xfrm>
            <a:prstGeom prst="roundRect">
              <a:avLst>
                <a:gd name="adj" fmla="val 22989"/>
              </a:avLst>
            </a:prstGeom>
            <a:solidFill>
              <a:srgbClr val="FFFFFF"/>
            </a:solidFill>
            <a:ln>
              <a:noFill/>
            </a:ln>
          </p:spPr>
        </p:sp>
        <p:sp>
          <p:nvSpPr>
            <p:cNvPr id="48" name="TextBox 48"/>
            <p:cNvSpPr txBox="1"/>
            <p:nvPr/>
          </p:nvSpPr>
          <p:spPr>
            <a:xfrm>
              <a:off x="2826239" y="3151823"/>
              <a:ext cx="609257" cy="176212"/>
            </a:xfrm>
            <a:prstGeom prst="rect">
              <a:avLst/>
            </a:prstGeom>
            <a:noFill/>
            <a:ln>
              <a:noFill/>
            </a:ln>
          </p:spPr>
          <p:txBody>
            <a:bodyPr wrap="none" lIns="0" tIns="0" rIns="0" bIns="0" anchor="t" anchorCtr="0">
              <a:spAutoFit/>
            </a:bodyPr>
            <a:lstStyle/>
            <a:p>
              <a:pPr algn="ctr"/>
              <a:r>
                <a:rPr lang="en-US" sz="900" dirty="0">
                  <a:solidFill>
                    <a:srgbClr val="5B6475"/>
                  </a:solidFill>
                  <a:latin typeface="+mn-lt"/>
                  <a:ea typeface="+mn-ea"/>
                  <a:cs typeface="+mn-cs"/>
                </a:rPr>
                <a:t>observers</a:t>
              </a:r>
            </a:p>
          </p:txBody>
        </p:sp>
        <p:sp>
          <p:nvSpPr>
            <p:cNvPr id="49" name="Rectangle 49"/>
            <p:cNvSpPr/>
            <p:nvPr/>
          </p:nvSpPr>
          <p:spPr>
            <a:xfrm>
              <a:off x="2847022" y="4111942"/>
              <a:ext cx="506730" cy="165735"/>
            </a:xfrm>
            <a:prstGeom prst="roundRect">
              <a:avLst>
                <a:gd name="adj" fmla="val 22989"/>
              </a:avLst>
            </a:prstGeom>
            <a:solidFill>
              <a:srgbClr val="FFFFFF"/>
            </a:solidFill>
            <a:ln>
              <a:noFill/>
            </a:ln>
          </p:spPr>
        </p:sp>
        <p:sp>
          <p:nvSpPr>
            <p:cNvPr id="50" name="TextBox 50"/>
            <p:cNvSpPr txBox="1"/>
            <p:nvPr/>
          </p:nvSpPr>
          <p:spPr>
            <a:xfrm>
              <a:off x="2877541" y="4134802"/>
              <a:ext cx="445694" cy="176212"/>
            </a:xfrm>
            <a:prstGeom prst="rect">
              <a:avLst/>
            </a:prstGeom>
            <a:noFill/>
            <a:ln>
              <a:noFill/>
            </a:ln>
          </p:spPr>
          <p:txBody>
            <a:bodyPr wrap="none" lIns="0" tIns="0" rIns="0" bIns="0" anchor="t" anchorCtr="0">
              <a:spAutoFit/>
            </a:bodyPr>
            <a:lstStyle/>
            <a:p>
              <a:pPr algn="ctr"/>
              <a:r>
                <a:rPr lang="en-US" sz="900" dirty="0">
                  <a:solidFill>
                    <a:srgbClr val="5B6475"/>
                  </a:solidFill>
                  <a:latin typeface="+mn-lt"/>
                  <a:ea typeface="+mn-ea"/>
                  <a:cs typeface="+mn-cs"/>
                </a:rPr>
                <a:t>subject</a:t>
              </a:r>
            </a:p>
          </p:txBody>
        </p:sp>
      </p:grpSp>
      <p:grpSp>
        <p:nvGrpSpPr>
          <p:cNvPr id="58" name="c1-callout-3"/>
          <p:cNvGrpSpPr/>
          <p:nvPr/>
        </p:nvGrpSpPr>
        <p:grpSpPr>
          <a:xfrm>
            <a:off x="533400" y="4964430"/>
            <a:ext cx="5193982" cy="702945"/>
            <a:chOff x="533400" y="4964430"/>
            <a:chExt cx="5193982" cy="702945"/>
          </a:xfrm>
        </p:grpSpPr>
        <p:sp>
          <p:nvSpPr>
            <p:cNvPr id="52" name="Rectangle 52"/>
            <p:cNvSpPr/>
            <p:nvPr/>
          </p:nvSpPr>
          <p:spPr>
            <a:xfrm>
              <a:off x="533400" y="4964430"/>
              <a:ext cx="5193982" cy="702945"/>
            </a:xfrm>
            <a:prstGeom prst="roundRect">
              <a:avLst>
                <a:gd name="adj" fmla="val 16260"/>
              </a:avLst>
            </a:prstGeom>
            <a:solidFill>
              <a:srgbClr val="F4F6FB"/>
            </a:solidFill>
            <a:ln>
              <a:noFill/>
            </a:ln>
          </p:spPr>
        </p:sp>
        <p:grpSp>
          <p:nvGrpSpPr>
            <p:cNvPr id="56" name="Group 56"/>
            <p:cNvGrpSpPr/>
            <p:nvPr/>
          </p:nvGrpSpPr>
          <p:grpSpPr>
            <a:xfrm>
              <a:off x="738188" y="5215890"/>
              <a:ext cx="200026" cy="200026"/>
              <a:chOff x="738188" y="5215890"/>
              <a:chExt cx="200026" cy="200026"/>
            </a:xfrm>
          </p:grpSpPr>
          <p:sp>
            <p:nvSpPr>
              <p:cNvPr id="53" name="Freeform 53"/>
              <p:cNvSpPr/>
              <p:nvPr/>
            </p:nvSpPr>
            <p:spPr>
              <a:xfrm>
                <a:off x="738188" y="521589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4" name="Freeform 54"/>
              <p:cNvSpPr/>
              <p:nvPr/>
            </p:nvSpPr>
            <p:spPr>
              <a:xfrm>
                <a:off x="838200" y="528256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5" name="Freeform 55"/>
              <p:cNvSpPr/>
              <p:nvPr/>
            </p:nvSpPr>
            <p:spPr>
              <a:xfrm>
                <a:off x="827088" y="531590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7" name="TextBox 57"/>
            <p:cNvSpPr txBox="1"/>
            <p:nvPr/>
          </p:nvSpPr>
          <p:spPr>
            <a:xfrm>
              <a:off x="1041273" y="5109686"/>
              <a:ext cx="4243172"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 xml:space="preserve">更正：原课件把 </a:t>
              </a:r>
              <a:r>
                <a:rPr lang="en-US" sz="1280" b="1" dirty="0">
                  <a:solidFill>
                    <a:srgbClr val="B42318"/>
                  </a:solidFill>
                  <a:latin typeface="+mn-lt"/>
                  <a:ea typeface="+mn-ea"/>
                  <a:cs typeface="+mn-cs"/>
                </a:rPr>
                <a:t>_observers</a:t>
              </a:r>
              <a:r>
                <a:rPr lang="zh-CN" sz="1280" dirty="0">
                  <a:solidFill>
                    <a:srgbClr val="1F2937"/>
                  </a:solidFill>
                  <a:latin typeface="+mn-lt"/>
                  <a:ea typeface="+mn-ea"/>
                  <a:cs typeface="+mn-cs"/>
                </a:rPr>
                <a:t xml:space="preserve"> 写成 </a:t>
              </a:r>
              <a:r>
                <a:rPr lang="en-US" sz="1280" b="1" dirty="0">
                  <a:solidFill>
                    <a:srgbClr val="B42318"/>
                  </a:solidFill>
                  <a:latin typeface="+mn-lt"/>
                  <a:ea typeface="+mn-ea"/>
                  <a:cs typeface="+mn-cs"/>
                </a:rPr>
                <a:t>_observer</a:t>
              </a:r>
              <a:r>
                <a:rPr lang="zh-CN" sz="1280" dirty="0">
                  <a:solidFill>
                    <a:srgbClr val="1F2937"/>
                  </a:solidFill>
                  <a:latin typeface="+mn-lt"/>
                  <a:ea typeface="+mn-ea"/>
                  <a:cs typeface="+mn-cs"/>
                </a:rPr>
                <a:t>，</a:t>
              </a:r>
              <a:r>
                <a:rPr lang="en-US" sz="1280" dirty="0">
                  <a:solidFill>
                    <a:srgbClr val="243B53"/>
                  </a:solidFill>
                  <a:latin typeface="+mn-lt"/>
                  <a:ea typeface="+mn-ea"/>
                  <a:cs typeface="+mn-cs"/>
                </a:rPr>
                <a:t>Notify()</a:t>
              </a:r>
              <a:br/>
              <a:r>
                <a:rPr lang="zh-CN" sz="1280" dirty="0">
                  <a:solidFill>
                    <a:srgbClr val="1F2937"/>
                  </a:solidFill>
                  <a:latin typeface="+mn-lt"/>
                  <a:ea typeface="+mn-ea"/>
                  <a:cs typeface="+mn-cs"/>
                </a:rPr>
                <a:t>漏写 void，</a:t>
              </a:r>
              <a:r>
                <a:rPr lang="en-US" sz="1280" dirty="0">
                  <a:solidFill>
                    <a:srgbClr val="243B53"/>
                  </a:solidFill>
                  <a:latin typeface="+mn-lt"/>
                  <a:ea typeface="+mn-ea"/>
                  <a:cs typeface="+mn-cs"/>
                </a:rPr>
                <a:t>Dettach</a:t>
              </a:r>
              <a:r>
                <a:rPr lang="zh-CN" sz="1280" dirty="0">
                  <a:solidFill>
                    <a:srgbClr val="1F2937"/>
                  </a:solidFill>
                  <a:latin typeface="+mn-lt"/>
                  <a:ea typeface="+mn-ea"/>
                  <a:cs typeface="+mn-cs"/>
                </a:rPr>
                <a:t xml:space="preserve"> 与 </a:t>
              </a:r>
              <a:r>
                <a:rPr lang="en-US" sz="1280" dirty="0">
                  <a:solidFill>
                    <a:srgbClr val="243B53"/>
                  </a:solidFill>
                  <a:latin typeface="+mn-lt"/>
                  <a:ea typeface="+mn-ea"/>
                  <a:cs typeface="+mn-cs"/>
                </a:rPr>
                <a:t>Detach</a:t>
              </a:r>
              <a:r>
                <a:rPr lang="zh-CN" sz="1280" dirty="0">
                  <a:solidFill>
                    <a:srgbClr val="1F2937"/>
                  </a:solidFill>
                  <a:latin typeface="+mn-lt"/>
                  <a:ea typeface="+mn-ea"/>
                  <a:cs typeface="+mn-cs"/>
                </a:rPr>
                <a:t xml:space="preserve"> 不一致。</a:t>
              </a:r>
            </a:p>
          </p:txBody>
        </p:sp>
      </p:grpSp>
      <p:grpSp>
        <p:nvGrpSpPr>
          <p:cNvPr id="66" name="c2-card-1"/>
          <p:cNvGrpSpPr/>
          <p:nvPr/>
        </p:nvGrpSpPr>
        <p:grpSpPr>
          <a:xfrm>
            <a:off x="6032182" y="1524000"/>
            <a:ext cx="5626418" cy="1444942"/>
            <a:chOff x="6032182" y="1524000"/>
            <a:chExt cx="5626418" cy="1444942"/>
          </a:xfrm>
        </p:grpSpPr>
        <p:sp>
          <p:nvSpPr>
            <p:cNvPr id="59" name="Rectangle 59"/>
            <p:cNvSpPr/>
            <p:nvPr/>
          </p:nvSpPr>
          <p:spPr>
            <a:xfrm>
              <a:off x="6032182" y="1524000"/>
              <a:ext cx="5626418" cy="1444942"/>
            </a:xfrm>
            <a:prstGeom prst="roundRect">
              <a:avLst>
                <a:gd name="adj" fmla="val 9229"/>
              </a:avLst>
            </a:prstGeom>
            <a:solidFill>
              <a:srgbClr val="FFFFFF"/>
            </a:solidFill>
            <a:ln w="14288">
              <a:solidFill>
                <a:srgbClr val="D9DFEA"/>
              </a:solidFill>
            </a:ln>
          </p:spPr>
        </p:sp>
        <p:sp>
          <p:nvSpPr>
            <p:cNvPr id="60" name="Rectangle 60"/>
            <p:cNvSpPr/>
            <p:nvPr/>
          </p:nvSpPr>
          <p:spPr>
            <a:xfrm>
              <a:off x="6041708" y="1657350"/>
              <a:ext cx="47625" cy="1178242"/>
            </a:xfrm>
            <a:prstGeom prst="roundRect">
              <a:avLst>
                <a:gd name="adj" fmla="val 50000"/>
              </a:avLst>
            </a:prstGeom>
            <a:solidFill>
              <a:srgbClr val="14A38B"/>
            </a:solidFill>
            <a:ln>
              <a:noFill/>
            </a:ln>
          </p:spPr>
        </p:sp>
        <p:sp>
          <p:nvSpPr>
            <p:cNvPr id="61" name="Rectangle 61"/>
            <p:cNvSpPr/>
            <p:nvPr/>
          </p:nvSpPr>
          <p:spPr>
            <a:xfrm>
              <a:off x="6251258" y="1704975"/>
              <a:ext cx="458152" cy="238125"/>
            </a:xfrm>
            <a:prstGeom prst="roundRect">
              <a:avLst>
                <a:gd name="adj" fmla="val 50000"/>
              </a:avLst>
            </a:prstGeom>
            <a:solidFill>
              <a:srgbClr val="E3F5F1"/>
            </a:solidFill>
            <a:ln>
              <a:noFill/>
            </a:ln>
          </p:spPr>
        </p:sp>
        <p:sp>
          <p:nvSpPr>
            <p:cNvPr id="62" name="TextBox 62"/>
            <p:cNvSpPr txBox="1"/>
            <p:nvPr/>
          </p:nvSpPr>
          <p:spPr>
            <a:xfrm>
              <a:off x="6342977" y="1737836"/>
              <a:ext cx="273761"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动机</a:t>
              </a:r>
            </a:p>
          </p:txBody>
        </p:sp>
        <p:sp>
          <p:nvSpPr>
            <p:cNvPr id="63" name="TextBox 63"/>
            <p:cNvSpPr txBox="1"/>
            <p:nvPr/>
          </p:nvSpPr>
          <p:spPr>
            <a:xfrm>
              <a:off x="6817233" y="1744504"/>
              <a:ext cx="2080717"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表格与柱状图看同一份数据</a:t>
              </a:r>
            </a:p>
          </p:txBody>
        </p:sp>
        <p:sp>
          <p:nvSpPr>
            <p:cNvPr id="64" name="TextBox 64"/>
            <p:cNvSpPr txBox="1"/>
            <p:nvPr/>
          </p:nvSpPr>
          <p:spPr>
            <a:xfrm>
              <a:off x="6244780" y="2061686"/>
              <a:ext cx="488975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表格对象和柱状图对象用不同形式描述同一个数据对象，互相并不知</a:t>
              </a:r>
              <a:br/>
              <a:r>
                <a:rPr lang="zh-CN" sz="1280" dirty="0">
                  <a:solidFill>
                    <a:srgbClr val="1F2937"/>
                  </a:solidFill>
                  <a:latin typeface="+mn-lt"/>
                  <a:ea typeface="+mn-ea"/>
                  <a:cs typeface="+mn-cs"/>
                </a:rPr>
                <a:t>道对方存在。</a:t>
              </a:r>
            </a:p>
          </p:txBody>
        </p:sp>
        <p:sp>
          <p:nvSpPr>
            <p:cNvPr id="65" name="TextBox 65"/>
            <p:cNvSpPr txBox="1"/>
            <p:nvPr/>
          </p:nvSpPr>
          <p:spPr>
            <a:xfrm>
              <a:off x="6244780" y="2589371"/>
              <a:ext cx="414848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改了表格里的数字，柱状图要立刻跟着变，反之亦然。</a:t>
              </a:r>
            </a:p>
          </p:txBody>
        </p:sp>
      </p:grpSp>
      <p:grpSp>
        <p:nvGrpSpPr>
          <p:cNvPr id="72" name="c2-code-2"/>
          <p:cNvGrpSpPr/>
          <p:nvPr/>
        </p:nvGrpSpPr>
        <p:grpSpPr>
          <a:xfrm>
            <a:off x="6032182" y="3133725"/>
            <a:ext cx="5626418" cy="2264092"/>
            <a:chOff x="6032182" y="3133725"/>
            <a:chExt cx="5626418" cy="2264092"/>
          </a:xfrm>
        </p:grpSpPr>
        <p:sp>
          <p:nvSpPr>
            <p:cNvPr id="67" name="Rectangle 67"/>
            <p:cNvSpPr/>
            <p:nvPr/>
          </p:nvSpPr>
          <p:spPr>
            <a:xfrm>
              <a:off x="6032182" y="3133725"/>
              <a:ext cx="5626418" cy="2264092"/>
            </a:xfrm>
            <a:prstGeom prst="roundRect">
              <a:avLst>
                <a:gd name="adj" fmla="val 4207"/>
              </a:avLst>
            </a:prstGeom>
            <a:solidFill>
              <a:srgbClr val="F6F8FA"/>
            </a:solidFill>
            <a:ln w="11430">
              <a:solidFill>
                <a:srgbClr val="D9DFEA"/>
              </a:solidFill>
            </a:ln>
          </p:spPr>
        </p:sp>
        <p:sp>
          <p:nvSpPr>
            <p:cNvPr id="68" name="TextBox 68"/>
            <p:cNvSpPr txBox="1"/>
            <p:nvPr/>
          </p:nvSpPr>
          <p:spPr>
            <a:xfrm>
              <a:off x="6160580" y="3285649"/>
              <a:ext cx="537616"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关键实现</a:t>
              </a:r>
            </a:p>
          </p:txBody>
        </p:sp>
        <p:sp>
          <p:nvSpPr>
            <p:cNvPr id="69" name="Rectangle 69"/>
            <p:cNvSpPr/>
            <p:nvPr/>
          </p:nvSpPr>
          <p:spPr>
            <a:xfrm>
              <a:off x="6051232" y="3861435"/>
              <a:ext cx="5588318" cy="176212"/>
            </a:xfrm>
            <a:prstGeom prst="rect">
              <a:avLst/>
            </a:prstGeom>
            <a:solidFill>
              <a:srgbClr val="FDEEE7"/>
            </a:solidFill>
            <a:ln>
              <a:noFill/>
            </a:ln>
          </p:spPr>
        </p:sp>
        <p:sp>
          <p:nvSpPr>
            <p:cNvPr id="70" name="Rectangle 70"/>
            <p:cNvSpPr/>
            <p:nvPr/>
          </p:nvSpPr>
          <p:spPr>
            <a:xfrm>
              <a:off x="6051232" y="4915852"/>
              <a:ext cx="5588318" cy="176212"/>
            </a:xfrm>
            <a:prstGeom prst="rect">
              <a:avLst/>
            </a:prstGeom>
            <a:solidFill>
              <a:srgbClr val="FDEEE7"/>
            </a:solidFill>
            <a:ln>
              <a:noFill/>
            </a:ln>
          </p:spPr>
        </p:sp>
        <p:sp>
          <p:nvSpPr>
            <p:cNvPr id="71" name="TextBox 71"/>
            <p:cNvSpPr txBox="1"/>
            <p:nvPr/>
          </p:nvSpPr>
          <p:spPr>
            <a:xfrm>
              <a:off x="6160580" y="3546634"/>
              <a:ext cx="4117086" cy="1776603"/>
            </a:xfrm>
            <a:prstGeom prst="rect">
              <a:avLst/>
            </a:prstGeom>
            <a:noFill/>
            <a:ln>
              <a:noFill/>
            </a:ln>
          </p:spPr>
          <p:txBody>
            <a:bodyPr wrap="none" lIns="0" tIns="0" rIns="0" bIns="0" anchor="t" anchorCtr="0">
              <a:spAutoFit/>
            </a:bodyPr>
            <a:lstStyle/>
            <a:p>
              <a:pPr algn="l">
                <a:lnSpc>
                  <a:spcPts val="1388"/>
                </a:lnSpc>
              </a:pPr>
              <a:r>
                <a:rPr lang="en-US" sz="980" b="1" dirty="0">
                  <a:solidFill>
                    <a:srgbClr val="334E68"/>
                  </a:solidFill>
                  <a:latin typeface="Consolas"/>
                  <a:ea typeface="Consolas"/>
                  <a:cs typeface="Consolas"/>
                </a:rPr>
                <a:t>void</a:t>
              </a:r>
              <a:r>
                <a:rPr lang="en-US" sz="980" dirty="0">
                  <a:solidFill>
                    <a:srgbClr val="1F2937"/>
                  </a:solidFill>
                  <a:latin typeface="Consolas"/>
                  <a:ea typeface="Consolas"/>
                  <a:cs typeface="Consolas"/>
                </a:rPr>
                <a:t xml:space="preserve"> Subject::Attach(Observer* o) { _observers-&gt;Append(o); }</a:t>
              </a:r>
              <a:br/>
              <a:r>
                <a:rPr lang="en-US" sz="980" b="1" dirty="0">
                  <a:solidFill>
                    <a:srgbClr val="334E68"/>
                  </a:solidFill>
                  <a:latin typeface="Consolas"/>
                  <a:ea typeface="Consolas"/>
                  <a:cs typeface="Consolas"/>
                </a:rPr>
                <a:t>void</a:t>
              </a:r>
              <a:r>
                <a:rPr lang="en-US" sz="980" dirty="0">
                  <a:solidFill>
                    <a:srgbClr val="1F2937"/>
                  </a:solidFill>
                  <a:latin typeface="Consolas"/>
                  <a:ea typeface="Consolas"/>
                  <a:cs typeface="Consolas"/>
                </a:rPr>
                <a:t xml:space="preserve"> Subject::Detach(Observer* o) { _observers-&gt;Remove(o); }</a:t>
              </a:r>
              <a:br/>
              <a:r>
                <a:rPr lang="en-US" sz="980" b="1" dirty="0">
                  <a:solidFill>
                    <a:srgbClr val="334E68"/>
                  </a:solidFill>
                  <a:latin typeface="Consolas"/>
                  <a:ea typeface="Consolas"/>
                  <a:cs typeface="Consolas"/>
                </a:rPr>
                <a:t>void</a:t>
              </a:r>
              <a:r>
                <a:rPr lang="en-US" sz="980" dirty="0">
                  <a:solidFill>
                    <a:srgbClr val="1F2937"/>
                  </a:solidFill>
                  <a:latin typeface="Consolas"/>
                  <a:ea typeface="Consolas"/>
                  <a:cs typeface="Consolas"/>
                </a:rPr>
                <a:t xml:space="preserve"> Subject::Notify() {</a:t>
              </a:r>
              <a:br/>
              <a:r>
                <a:rPr lang="en-US" sz="980" dirty="0">
                  <a:solidFill>
                    <a:srgbClr val="1F2937"/>
                  </a:solidFill>
                  <a:latin typeface="Consolas"/>
                  <a:ea typeface="Consolas"/>
                  <a:cs typeface="Consolas"/>
                </a:rPr>
                <a:t xml:space="preserve">    ListIterator&lt;Observer*&gt; i(_observers);</a:t>
              </a:r>
              <a:br/>
              <a:r>
                <a:rPr lang="zh-CN" sz="980" dirty="0">
                  <a:solidFill>
                    <a:srgbClr val="1F2937"/>
                  </a:solidFill>
                  <a:latin typeface="Consolas"/>
                  <a:ea typeface="Consolas"/>
                  <a:cs typeface="Consolas"/>
                </a:rPr>
                <a:t xml:space="preserve">    </a:t>
              </a:r>
              <a:r>
                <a:rPr lang="en-US" sz="980" b="1" dirty="0">
                  <a:solidFill>
                    <a:srgbClr val="334E68"/>
                  </a:solidFill>
                  <a:latin typeface="Consolas"/>
                  <a:ea typeface="Consolas"/>
                  <a:cs typeface="Consolas"/>
                </a:rPr>
                <a:t>for</a:t>
              </a:r>
              <a:r>
                <a:rPr lang="en-US" sz="980" dirty="0">
                  <a:solidFill>
                    <a:srgbClr val="1F2937"/>
                  </a:solidFill>
                  <a:latin typeface="Consolas"/>
                  <a:ea typeface="Consolas"/>
                  <a:cs typeface="Consolas"/>
                </a:rPr>
                <a:t xml:space="preserve"> (i.First(); !i.IsDone(); i.Next())</a:t>
              </a:r>
              <a:br/>
              <a:r>
                <a:rPr lang="en-US" sz="980" dirty="0">
                  <a:solidFill>
                    <a:srgbClr val="1F2937"/>
                  </a:solidFill>
                  <a:latin typeface="Consolas"/>
                  <a:ea typeface="Consolas"/>
                  <a:cs typeface="Consolas"/>
                </a:rPr>
                <a:t xml:space="preserve">        i.CurrentItem()-&gt;Update(</a:t>
              </a:r>
              <a:r>
                <a:rPr lang="en-US" sz="980" b="1" dirty="0">
                  <a:solidFill>
                    <a:srgbClr val="334E68"/>
                  </a:solidFill>
                  <a:latin typeface="Consolas"/>
                  <a:ea typeface="Consolas"/>
                  <a:cs typeface="Consolas"/>
                </a:rPr>
                <a:t>this</a:t>
              </a:r>
              <a:r>
                <a:rPr lang="zh-CN" sz="980" dirty="0">
                  <a:solidFill>
                    <a:srgbClr val="1F2937"/>
                  </a:solidFill>
                  <a:latin typeface="Consolas"/>
                  <a:ea typeface="Consolas"/>
                  <a:cs typeface="Consolas"/>
                </a:rPr>
                <a:t>);</a:t>
              </a:r>
              <a:br/>
              <a:r>
                <a:rPr lang="zh-CN" sz="980" dirty="0">
                  <a:solidFill>
                    <a:srgbClr val="1F2937"/>
                  </a:solidFill>
                  <a:latin typeface="Consolas"/>
                  <a:ea typeface="Consolas"/>
                  <a:cs typeface="Consolas"/>
                </a:rPr>
                <a:t>}</a:t>
              </a:r>
              <a:br/>
              <a:r>
                <a:rPr lang="en-US" sz="980" dirty="0">
                  <a:solidFill>
                    <a:srgbClr val="1F2937"/>
                  </a:solidFill>
                  <a:latin typeface="Consolas"/>
                  <a:ea typeface="Consolas"/>
                  <a:cs typeface="Consolas"/>
                </a:rPr>
                <a:t>DigitalClock::DigitalClock(ClockTimer* s) {</a:t>
              </a:r>
              <a:br/>
              <a:r>
                <a:rPr lang="en-US" sz="980" dirty="0">
                  <a:solidFill>
                    <a:srgbClr val="1F2937"/>
                  </a:solidFill>
                  <a:latin typeface="Consolas"/>
                  <a:ea typeface="Consolas"/>
                  <a:cs typeface="Consolas"/>
                </a:rPr>
                <a:t xml:space="preserve">    _subject = s;  _subject-&gt;Attach(</a:t>
              </a:r>
              <a:r>
                <a:rPr lang="en-US" sz="980" b="1" dirty="0">
                  <a:solidFill>
                    <a:srgbClr val="334E68"/>
                  </a:solidFill>
                  <a:latin typeface="Consolas"/>
                  <a:ea typeface="Consolas"/>
                  <a:cs typeface="Consolas"/>
                </a:rPr>
                <a:t>this</a:t>
              </a:r>
              <a:r>
                <a:rPr lang="zh-CN" sz="980" dirty="0">
                  <a:solidFill>
                    <a:srgbClr val="1F2937"/>
                  </a:solidFill>
                  <a:latin typeface="Consolas"/>
                  <a:ea typeface="Consolas"/>
                  <a:cs typeface="Consolas"/>
                </a:rPr>
                <a:t xml:space="preserve">);   </a:t>
              </a:r>
              <a:r>
                <a:rPr lang="zh-CN" sz="980" dirty="0">
                  <a:solidFill>
                    <a:srgbClr val="0F7A68"/>
                  </a:solidFill>
                  <a:latin typeface="Consolas"/>
                  <a:ea typeface="Microsoft YaHei"/>
                  <a:cs typeface="Consolas"/>
                </a:rPr>
                <a:t>// 注册</a:t>
              </a:r>
              <a:br/>
              <a:r>
                <a:rPr lang="zh-CN" sz="980" dirty="0">
                  <a:solidFill>
                    <a:srgbClr val="1F2937"/>
                  </a:solidFill>
                  <a:latin typeface="Consolas"/>
                  <a:ea typeface="Consolas"/>
                  <a:cs typeface="Consolas"/>
                </a:rPr>
                <a:t>}</a:t>
              </a:r>
            </a:p>
          </p:txBody>
        </p:sp>
      </p:grpSp>
      <p:grpSp>
        <p:nvGrpSpPr>
          <p:cNvPr id="78" name="takeaway"/>
          <p:cNvGrpSpPr/>
          <p:nvPr/>
        </p:nvGrpSpPr>
        <p:grpSpPr>
          <a:xfrm>
            <a:off x="533400" y="5895022"/>
            <a:ext cx="11125200" cy="467678"/>
            <a:chOff x="533400" y="5895022"/>
            <a:chExt cx="11125200" cy="467678"/>
          </a:xfrm>
        </p:grpSpPr>
        <p:sp>
          <p:nvSpPr>
            <p:cNvPr id="73" name="Rectangle 73"/>
            <p:cNvSpPr/>
            <p:nvPr/>
          </p:nvSpPr>
          <p:spPr>
            <a:xfrm>
              <a:off x="533400" y="5895022"/>
              <a:ext cx="11125200" cy="467678"/>
            </a:xfrm>
            <a:prstGeom prst="roundRect">
              <a:avLst>
                <a:gd name="adj" fmla="val 24440"/>
              </a:avLst>
            </a:prstGeom>
            <a:solidFill>
              <a:srgbClr val="334E68"/>
            </a:solidFill>
            <a:ln>
              <a:noFill/>
            </a:ln>
          </p:spPr>
        </p:sp>
        <p:grpSp>
          <p:nvGrpSpPr>
            <p:cNvPr id="76" name="Group 76"/>
            <p:cNvGrpSpPr/>
            <p:nvPr/>
          </p:nvGrpSpPr>
          <p:grpSpPr>
            <a:xfrm>
              <a:off x="738188" y="6028375"/>
              <a:ext cx="200023" cy="200023"/>
              <a:chOff x="738188" y="6028375"/>
              <a:chExt cx="200023" cy="200023"/>
            </a:xfrm>
          </p:grpSpPr>
          <p:sp>
            <p:nvSpPr>
              <p:cNvPr id="74" name="Freeform 74"/>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75" name="Freeform 75"/>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7" name="TextBox 77"/>
            <p:cNvSpPr txBox="1"/>
            <p:nvPr/>
          </p:nvSpPr>
          <p:spPr>
            <a:xfrm>
              <a:off x="1041273" y="6039326"/>
              <a:ext cx="9313067"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ClockTimer 的 Tick() 里调用 Notify()，DigitalClock 和 AnalogClock 各自在 Update() 里重画，互相不知道对方存在。</a:t>
              </a:r>
            </a:p>
          </p:txBody>
        </p:sp>
      </p:grpSp>
      <p:grpSp>
        <p:nvGrpSpPr>
          <p:cNvPr id="81" name="footer"/>
          <p:cNvGrpSpPr/>
          <p:nvPr/>
        </p:nvGrpSpPr>
        <p:grpSpPr>
          <a:xfrm>
            <a:off x="528447" y="6581299"/>
            <a:ext cx="11135106" cy="190690"/>
            <a:chOff x="528447" y="6581299"/>
            <a:chExt cx="11135106" cy="190690"/>
          </a:xfrm>
        </p:grpSpPr>
        <p:sp>
          <p:nvSpPr>
            <p:cNvPr id="79" name="TextBox 79"/>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80" name="TextBox 8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56</a:t>
              </a:r>
            </a:p>
          </p:txBody>
        </p:sp>
      </p:grpSp>
    </p:spTree>
  </p:cSld>
  <p:clrMapOvr>
    <a:masterClrMapping/>
  </p:clrMapOvr>
  <p:transition xmlns:p14="http://schemas.microsoft.com/office/powerpoint/2010/main" p14:dur="400">
    <p:fade/>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31842" cy="909257"/>
            <a:chOff x="520446" y="342900"/>
            <a:chExt cx="4831842" cy="909257"/>
          </a:xfrm>
        </p:grpSpPr>
        <p:sp>
          <p:nvSpPr>
            <p:cNvPr id="2" name="Rectangle 2"/>
            <p:cNvSpPr/>
            <p:nvPr/>
          </p:nvSpPr>
          <p:spPr>
            <a:xfrm>
              <a:off x="533400" y="342900"/>
              <a:ext cx="2354580" cy="266700"/>
            </a:xfrm>
            <a:prstGeom prst="roundRect">
              <a:avLst>
                <a:gd name="adj" fmla="val 50000"/>
              </a:avLst>
            </a:prstGeom>
            <a:solidFill>
              <a:srgbClr val="E7EDF3"/>
            </a:solidFill>
            <a:ln>
              <a:noFill/>
            </a:ln>
          </p:spPr>
        </p:sp>
        <p:sp>
          <p:nvSpPr>
            <p:cNvPr id="3" name="TextBox 3"/>
            <p:cNvSpPr txBox="1"/>
            <p:nvPr/>
          </p:nvSpPr>
          <p:spPr>
            <a:xfrm>
              <a:off x="598479" y="407194"/>
              <a:ext cx="22244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设计模式</a:t>
              </a:r>
            </a:p>
          </p:txBody>
        </p:sp>
        <p:sp>
          <p:nvSpPr>
            <p:cNvPr id="4" name="TextBox 4"/>
            <p:cNvSpPr txBox="1"/>
            <p:nvPr/>
          </p:nvSpPr>
          <p:spPr>
            <a:xfrm>
              <a:off x="520446" y="753428"/>
              <a:ext cx="48318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适配器与组合：两个结构型模式</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4" name="c1-card-1"/>
          <p:cNvGrpSpPr/>
          <p:nvPr/>
        </p:nvGrpSpPr>
        <p:grpSpPr>
          <a:xfrm>
            <a:off x="533400" y="1524000"/>
            <a:ext cx="5410200" cy="1786890"/>
            <a:chOff x="533400" y="1524000"/>
            <a:chExt cx="5410200" cy="1786890"/>
          </a:xfrm>
        </p:grpSpPr>
        <p:sp>
          <p:nvSpPr>
            <p:cNvPr id="7" name="Rectangle 7"/>
            <p:cNvSpPr/>
            <p:nvPr/>
          </p:nvSpPr>
          <p:spPr>
            <a:xfrm>
              <a:off x="533400" y="1524000"/>
              <a:ext cx="5410200" cy="1786890"/>
            </a:xfrm>
            <a:prstGeom prst="roundRect">
              <a:avLst>
                <a:gd name="adj" fmla="val 7463"/>
              </a:avLst>
            </a:prstGeom>
            <a:solidFill>
              <a:srgbClr val="FFFFFF"/>
            </a:solidFill>
            <a:ln w="14288">
              <a:solidFill>
                <a:srgbClr val="D9DFEA"/>
              </a:solidFill>
            </a:ln>
          </p:spPr>
        </p:sp>
        <p:sp>
          <p:nvSpPr>
            <p:cNvPr id="8" name="Rectangle 8"/>
            <p:cNvSpPr/>
            <p:nvPr/>
          </p:nvSpPr>
          <p:spPr>
            <a:xfrm>
              <a:off x="542925" y="1657350"/>
              <a:ext cx="47625" cy="1520190"/>
            </a:xfrm>
            <a:prstGeom prst="roundRect">
              <a:avLst>
                <a:gd name="adj" fmla="val 50000"/>
              </a:avLst>
            </a:prstGeom>
            <a:solidFill>
              <a:srgbClr val="334E68"/>
            </a:solidFill>
            <a:ln>
              <a:noFill/>
            </a:ln>
          </p:spPr>
        </p:sp>
        <p:sp>
          <p:nvSpPr>
            <p:cNvPr id="9" name="Rectangle 9"/>
            <p:cNvSpPr/>
            <p:nvPr/>
          </p:nvSpPr>
          <p:spPr>
            <a:xfrm>
              <a:off x="763905" y="1716405"/>
              <a:ext cx="1415415" cy="247650"/>
            </a:xfrm>
            <a:prstGeom prst="roundRect">
              <a:avLst>
                <a:gd name="adj" fmla="val 50000"/>
              </a:avLst>
            </a:prstGeom>
            <a:solidFill>
              <a:srgbClr val="E7EDF3"/>
            </a:solidFill>
            <a:ln>
              <a:noFill/>
            </a:ln>
          </p:spPr>
        </p:sp>
        <p:sp>
          <p:nvSpPr>
            <p:cNvPr id="10" name="TextBox 10"/>
            <p:cNvSpPr txBox="1"/>
            <p:nvPr/>
          </p:nvSpPr>
          <p:spPr>
            <a:xfrm>
              <a:off x="811023" y="1750695"/>
              <a:ext cx="1321178"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ADAPTER（适配器）</a:t>
              </a:r>
            </a:p>
          </p:txBody>
        </p:sp>
        <p:sp>
          <p:nvSpPr>
            <p:cNvPr id="11" name="TextBox 11"/>
            <p:cNvSpPr txBox="1"/>
            <p:nvPr/>
          </p:nvSpPr>
          <p:spPr>
            <a:xfrm>
              <a:off x="2286762" y="1756410"/>
              <a:ext cx="310324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把一个接口转成客户期望的另一个接口</a:t>
              </a:r>
            </a:p>
          </p:txBody>
        </p:sp>
        <p:sp>
          <p:nvSpPr>
            <p:cNvPr id="12" name="TextBox 12"/>
            <p:cNvSpPr txBox="1"/>
            <p:nvPr/>
          </p:nvSpPr>
          <p:spPr>
            <a:xfrm>
              <a:off x="757047" y="2090738"/>
              <a:ext cx="467715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C2410C"/>
                  </a:solidFill>
                  <a:latin typeface="+mn-lt"/>
                  <a:ea typeface="+mn-ea"/>
                  <a:cs typeface="+mn-cs"/>
                </a:rPr>
                <a:t>类适配器</a:t>
              </a:r>
              <a:r>
                <a:rPr lang="zh-CN" sz="1350" dirty="0">
                  <a:solidFill>
                    <a:srgbClr val="1F2937"/>
                  </a:solidFill>
                  <a:latin typeface="+mn-lt"/>
                  <a:ea typeface="+mn-ea"/>
                  <a:cs typeface="+mn-cs"/>
                </a:rPr>
                <a:t>：Adapter 同时继承 Target 和 Adaptee，用继承来</a:t>
              </a:r>
              <a:br/>
              <a:r>
                <a:rPr lang="zh-CN" sz="1350" dirty="0">
                  <a:solidFill>
                    <a:srgbClr val="1F2937"/>
                  </a:solidFill>
                  <a:latin typeface="+mn-lt"/>
                  <a:ea typeface="+mn-ea"/>
                  <a:cs typeface="+mn-cs"/>
                </a:rPr>
                <a:t>的 SpecialRequest() 实现 Request()。</a:t>
              </a:r>
            </a:p>
          </p:txBody>
        </p:sp>
        <p:sp>
          <p:nvSpPr>
            <p:cNvPr id="13" name="TextBox 13"/>
            <p:cNvSpPr txBox="1"/>
            <p:nvPr/>
          </p:nvSpPr>
          <p:spPr>
            <a:xfrm>
              <a:off x="757047" y="2649855"/>
              <a:ext cx="4557141"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C2410C"/>
                  </a:solidFill>
                  <a:latin typeface="+mn-lt"/>
                  <a:ea typeface="+mn-ea"/>
                  <a:cs typeface="+mn-cs"/>
                </a:rPr>
                <a:t>对象适配器</a:t>
              </a:r>
              <a:r>
                <a:rPr lang="zh-CN" sz="1350" dirty="0">
                  <a:solidFill>
                    <a:srgbClr val="1F2937"/>
                  </a:solidFill>
                  <a:latin typeface="+mn-lt"/>
                  <a:ea typeface="+mn-ea"/>
                  <a:cs typeface="+mn-cs"/>
                </a:rPr>
                <a:t>：Adapter 继承 Target 并持有一个 Adaptee 对</a:t>
              </a:r>
              <a:br/>
              <a:r>
                <a:rPr lang="zh-CN" sz="1350" dirty="0">
                  <a:solidFill>
                    <a:srgbClr val="1F2937"/>
                  </a:solidFill>
                  <a:latin typeface="+mn-lt"/>
                  <a:ea typeface="+mn-ea"/>
                  <a:cs typeface="+mn-cs"/>
                </a:rPr>
                <a:t>象，Request() 里转发给它。</a:t>
              </a:r>
            </a:p>
          </p:txBody>
        </p:sp>
      </p:grpSp>
      <p:grpSp>
        <p:nvGrpSpPr>
          <p:cNvPr id="39" name="c1-uml-2"/>
          <p:cNvGrpSpPr/>
          <p:nvPr/>
        </p:nvGrpSpPr>
        <p:grpSpPr>
          <a:xfrm>
            <a:off x="1314450" y="3625215"/>
            <a:ext cx="3858577" cy="1454467"/>
            <a:chOff x="1314450" y="3625215"/>
            <a:chExt cx="3858577" cy="1454467"/>
          </a:xfrm>
        </p:grpSpPr>
        <p:sp>
          <p:nvSpPr>
            <p:cNvPr id="15" name="Freeform 15"/>
            <p:cNvSpPr/>
            <p:nvPr/>
          </p:nvSpPr>
          <p:spPr>
            <a:xfrm>
              <a:off x="1790700" y="4338638"/>
              <a:ext cx="95250" cy="153353"/>
            </a:xfrm>
            <a:custGeom>
              <a:avLst/>
              <a:gdLst/>
              <a:ahLst/>
              <a:cxnLst/>
              <a:rect l="l" t="t" r="r" b="b"/>
              <a:pathLst>
                <a:path w="95250" h="153353">
                  <a:moveTo>
                    <a:pt x="0" y="153353"/>
                  </a:moveTo>
                  <a:lnTo>
                    <a:pt x="0" y="13335"/>
                  </a:lnTo>
                  <a:lnTo>
                    <a:pt x="95250" y="13335"/>
                  </a:lnTo>
                  <a:lnTo>
                    <a:pt x="95250" y="0"/>
                  </a:lnTo>
                </a:path>
              </a:pathLst>
            </a:custGeom>
            <a:noFill/>
            <a:ln w="15240">
              <a:solidFill>
                <a:srgbClr val="1F2937"/>
              </a:solidFill>
            </a:ln>
          </p:spPr>
        </p:sp>
        <p:sp>
          <p:nvSpPr>
            <p:cNvPr id="16" name="Freeform 16"/>
            <p:cNvSpPr/>
            <p:nvPr/>
          </p:nvSpPr>
          <p:spPr>
            <a:xfrm>
              <a:off x="1812608" y="4212908"/>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17" name="Freeform 17"/>
            <p:cNvSpPr/>
            <p:nvPr/>
          </p:nvSpPr>
          <p:spPr>
            <a:xfrm>
              <a:off x="1981200" y="4212908"/>
              <a:ext cx="2609850" cy="139065"/>
            </a:xfrm>
            <a:custGeom>
              <a:avLst/>
              <a:gdLst/>
              <a:ahLst/>
              <a:cxnLst/>
              <a:rect l="l" t="t" r="r" b="b"/>
              <a:pathLst>
                <a:path w="2609850" h="139065">
                  <a:moveTo>
                    <a:pt x="2609850" y="0"/>
                  </a:moveTo>
                  <a:lnTo>
                    <a:pt x="2609850" y="139065"/>
                  </a:lnTo>
                  <a:lnTo>
                    <a:pt x="0" y="139065"/>
                  </a:lnTo>
                  <a:lnTo>
                    <a:pt x="0" y="69533"/>
                  </a:lnTo>
                </a:path>
              </a:pathLst>
            </a:custGeom>
            <a:noFill/>
            <a:ln w="15240">
              <a:solidFill>
                <a:srgbClr val="1F2937"/>
              </a:solidFill>
            </a:ln>
          </p:spPr>
        </p:sp>
        <p:sp>
          <p:nvSpPr>
            <p:cNvPr id="18" name="Freeform 18"/>
            <p:cNvSpPr/>
            <p:nvPr/>
          </p:nvSpPr>
          <p:spPr>
            <a:xfrm>
              <a:off x="1923098" y="4282440"/>
              <a:ext cx="116205" cy="209550"/>
            </a:xfrm>
            <a:custGeom>
              <a:avLst/>
              <a:gdLst/>
              <a:ahLst/>
              <a:cxnLst/>
              <a:rect l="l" t="t" r="r" b="b"/>
              <a:pathLst>
                <a:path w="116205" h="209550">
                  <a:moveTo>
                    <a:pt x="58102" y="209550"/>
                  </a:moveTo>
                  <a:lnTo>
                    <a:pt x="0" y="104775"/>
                  </a:lnTo>
                  <a:lnTo>
                    <a:pt x="58102" y="0"/>
                  </a:lnTo>
                  <a:lnTo>
                    <a:pt x="116205" y="104775"/>
                  </a:lnTo>
                  <a:close/>
                </a:path>
              </a:pathLst>
            </a:custGeom>
            <a:solidFill>
              <a:srgbClr val="FFFFFF"/>
            </a:solidFill>
            <a:ln w="15240">
              <a:solidFill>
                <a:srgbClr val="1F2937"/>
              </a:solidFill>
            </a:ln>
          </p:spPr>
        </p:sp>
        <p:sp>
          <p:nvSpPr>
            <p:cNvPr id="19" name="Rectangle 19"/>
            <p:cNvSpPr/>
            <p:nvPr/>
          </p:nvSpPr>
          <p:spPr>
            <a:xfrm>
              <a:off x="1314450" y="3625215"/>
              <a:ext cx="1143000" cy="587692"/>
            </a:xfrm>
            <a:prstGeom prst="rect">
              <a:avLst/>
            </a:prstGeom>
            <a:solidFill>
              <a:srgbClr val="FFFFFF"/>
            </a:solidFill>
            <a:ln w="14288">
              <a:solidFill>
                <a:srgbClr val="334E68"/>
              </a:solidFill>
            </a:ln>
          </p:spPr>
        </p:sp>
        <p:sp>
          <p:nvSpPr>
            <p:cNvPr id="20" name="Rectangle 20"/>
            <p:cNvSpPr/>
            <p:nvPr/>
          </p:nvSpPr>
          <p:spPr>
            <a:xfrm>
              <a:off x="1322070" y="3631882"/>
              <a:ext cx="1128712" cy="227648"/>
            </a:xfrm>
            <a:prstGeom prst="rect">
              <a:avLst/>
            </a:prstGeom>
            <a:solidFill>
              <a:srgbClr val="E7EDF3"/>
            </a:solidFill>
            <a:ln>
              <a:noFill/>
            </a:ln>
          </p:spPr>
        </p:sp>
        <p:sp>
          <p:nvSpPr>
            <p:cNvPr id="21" name="Rectangle 21"/>
            <p:cNvSpPr/>
            <p:nvPr/>
          </p:nvSpPr>
          <p:spPr>
            <a:xfrm>
              <a:off x="1314450" y="3855720"/>
              <a:ext cx="1143000" cy="9525"/>
            </a:xfrm>
            <a:prstGeom prst="rect">
              <a:avLst/>
            </a:prstGeom>
            <a:solidFill>
              <a:srgbClr val="334E68"/>
            </a:solidFill>
            <a:ln>
              <a:noFill/>
            </a:ln>
          </p:spPr>
        </p:sp>
        <p:sp>
          <p:nvSpPr>
            <p:cNvPr id="22" name="Rectangle 22"/>
            <p:cNvSpPr/>
            <p:nvPr/>
          </p:nvSpPr>
          <p:spPr>
            <a:xfrm>
              <a:off x="1314450" y="3950970"/>
              <a:ext cx="1143000" cy="9525"/>
            </a:xfrm>
            <a:prstGeom prst="rect">
              <a:avLst/>
            </a:prstGeom>
            <a:solidFill>
              <a:srgbClr val="334E68"/>
            </a:solidFill>
            <a:ln>
              <a:noFill/>
            </a:ln>
          </p:spPr>
        </p:sp>
        <p:sp>
          <p:nvSpPr>
            <p:cNvPr id="23" name="Rectangle 23"/>
            <p:cNvSpPr/>
            <p:nvPr/>
          </p:nvSpPr>
          <p:spPr>
            <a:xfrm>
              <a:off x="4009072" y="3625215"/>
              <a:ext cx="1163955" cy="587692"/>
            </a:xfrm>
            <a:prstGeom prst="rect">
              <a:avLst/>
            </a:prstGeom>
            <a:solidFill>
              <a:srgbClr val="FFFFFF"/>
            </a:solidFill>
            <a:ln w="14288">
              <a:solidFill>
                <a:srgbClr val="334E68"/>
              </a:solidFill>
            </a:ln>
          </p:spPr>
        </p:sp>
        <p:sp>
          <p:nvSpPr>
            <p:cNvPr id="24" name="Rectangle 24"/>
            <p:cNvSpPr/>
            <p:nvPr/>
          </p:nvSpPr>
          <p:spPr>
            <a:xfrm>
              <a:off x="4015740" y="3631882"/>
              <a:ext cx="1149668" cy="227648"/>
            </a:xfrm>
            <a:prstGeom prst="rect">
              <a:avLst/>
            </a:prstGeom>
            <a:solidFill>
              <a:srgbClr val="E7EDF3"/>
            </a:solidFill>
            <a:ln>
              <a:noFill/>
            </a:ln>
          </p:spPr>
        </p:sp>
        <p:sp>
          <p:nvSpPr>
            <p:cNvPr id="25" name="Rectangle 25"/>
            <p:cNvSpPr/>
            <p:nvPr/>
          </p:nvSpPr>
          <p:spPr>
            <a:xfrm>
              <a:off x="4009072" y="3855720"/>
              <a:ext cx="1163955" cy="9525"/>
            </a:xfrm>
            <a:prstGeom prst="rect">
              <a:avLst/>
            </a:prstGeom>
            <a:solidFill>
              <a:srgbClr val="334E68"/>
            </a:solidFill>
            <a:ln>
              <a:noFill/>
            </a:ln>
          </p:spPr>
        </p:sp>
        <p:sp>
          <p:nvSpPr>
            <p:cNvPr id="26" name="Rectangle 26"/>
            <p:cNvSpPr/>
            <p:nvPr/>
          </p:nvSpPr>
          <p:spPr>
            <a:xfrm>
              <a:off x="4009072" y="3950970"/>
              <a:ext cx="1163955" cy="9525"/>
            </a:xfrm>
            <a:prstGeom prst="rect">
              <a:avLst/>
            </a:prstGeom>
            <a:solidFill>
              <a:srgbClr val="334E68"/>
            </a:solidFill>
            <a:ln>
              <a:noFill/>
            </a:ln>
          </p:spPr>
        </p:sp>
        <p:sp>
          <p:nvSpPr>
            <p:cNvPr id="27" name="Rectangle 27"/>
            <p:cNvSpPr/>
            <p:nvPr/>
          </p:nvSpPr>
          <p:spPr>
            <a:xfrm>
              <a:off x="1314450" y="4491990"/>
              <a:ext cx="1143000" cy="587692"/>
            </a:xfrm>
            <a:prstGeom prst="rect">
              <a:avLst/>
            </a:prstGeom>
            <a:solidFill>
              <a:srgbClr val="FFFFFF"/>
            </a:solidFill>
            <a:ln w="14288">
              <a:solidFill>
                <a:srgbClr val="334E68"/>
              </a:solidFill>
            </a:ln>
          </p:spPr>
        </p:sp>
        <p:sp>
          <p:nvSpPr>
            <p:cNvPr id="28" name="Rectangle 28"/>
            <p:cNvSpPr/>
            <p:nvPr/>
          </p:nvSpPr>
          <p:spPr>
            <a:xfrm>
              <a:off x="1322070" y="4498658"/>
              <a:ext cx="1128712" cy="227648"/>
            </a:xfrm>
            <a:prstGeom prst="rect">
              <a:avLst/>
            </a:prstGeom>
            <a:solidFill>
              <a:srgbClr val="334E68"/>
            </a:solidFill>
            <a:ln>
              <a:noFill/>
            </a:ln>
          </p:spPr>
        </p:sp>
        <p:sp>
          <p:nvSpPr>
            <p:cNvPr id="29" name="Rectangle 29"/>
            <p:cNvSpPr/>
            <p:nvPr/>
          </p:nvSpPr>
          <p:spPr>
            <a:xfrm>
              <a:off x="1314450" y="4722495"/>
              <a:ext cx="1143000" cy="9525"/>
            </a:xfrm>
            <a:prstGeom prst="rect">
              <a:avLst/>
            </a:prstGeom>
            <a:solidFill>
              <a:srgbClr val="334E68"/>
            </a:solidFill>
            <a:ln>
              <a:noFill/>
            </a:ln>
          </p:spPr>
        </p:sp>
        <p:sp>
          <p:nvSpPr>
            <p:cNvPr id="30" name="Rectangle 30"/>
            <p:cNvSpPr/>
            <p:nvPr/>
          </p:nvSpPr>
          <p:spPr>
            <a:xfrm>
              <a:off x="1314450" y="4817745"/>
              <a:ext cx="1143000" cy="9525"/>
            </a:xfrm>
            <a:prstGeom prst="rect">
              <a:avLst/>
            </a:prstGeom>
            <a:solidFill>
              <a:srgbClr val="334E68"/>
            </a:solidFill>
            <a:ln>
              <a:noFill/>
            </a:ln>
          </p:spPr>
        </p:sp>
        <p:sp>
          <p:nvSpPr>
            <p:cNvPr id="31" name="TextBox 31"/>
            <p:cNvSpPr txBox="1"/>
            <p:nvPr/>
          </p:nvSpPr>
          <p:spPr>
            <a:xfrm>
              <a:off x="1650276" y="3680936"/>
              <a:ext cx="471348" cy="190690"/>
            </a:xfrm>
            <a:prstGeom prst="rect">
              <a:avLst/>
            </a:prstGeom>
            <a:noFill/>
            <a:ln>
              <a:noFill/>
            </a:ln>
          </p:spPr>
          <p:txBody>
            <a:bodyPr wrap="none" lIns="0" tIns="0" rIns="0" bIns="0" anchor="t" anchorCtr="0">
              <a:spAutoFit/>
            </a:bodyPr>
            <a:lstStyle/>
            <a:p>
              <a:pPr algn="ctr"/>
              <a:r>
                <a:rPr lang="en-US" sz="980" b="1" i="1" dirty="0">
                  <a:solidFill>
                    <a:srgbClr val="243B53"/>
                  </a:solidFill>
                  <a:latin typeface="+mn-lt"/>
                  <a:ea typeface="+mn-ea"/>
                  <a:cs typeface="+mn-cs"/>
                </a:rPr>
                <a:t>Target</a:t>
              </a:r>
            </a:p>
          </p:txBody>
        </p:sp>
        <p:sp>
          <p:nvSpPr>
            <p:cNvPr id="32" name="TextBox 32"/>
            <p:cNvSpPr txBox="1"/>
            <p:nvPr/>
          </p:nvSpPr>
          <p:spPr>
            <a:xfrm>
              <a:off x="1385888" y="4020502"/>
              <a:ext cx="681282"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+Request()</a:t>
              </a:r>
            </a:p>
          </p:txBody>
        </p:sp>
        <p:sp>
          <p:nvSpPr>
            <p:cNvPr id="33" name="TextBox 33"/>
            <p:cNvSpPr txBox="1"/>
            <p:nvPr/>
          </p:nvSpPr>
          <p:spPr>
            <a:xfrm>
              <a:off x="4317282" y="3680936"/>
              <a:ext cx="547536" cy="190690"/>
            </a:xfrm>
            <a:prstGeom prst="rect">
              <a:avLst/>
            </a:prstGeom>
            <a:noFill/>
            <a:ln>
              <a:noFill/>
            </a:ln>
          </p:spPr>
          <p:txBody>
            <a:bodyPr wrap="none" lIns="0" tIns="0" rIns="0" bIns="0" anchor="t" anchorCtr="0">
              <a:spAutoFit/>
            </a:bodyPr>
            <a:lstStyle/>
            <a:p>
              <a:pPr algn="ctr"/>
              <a:r>
                <a:rPr lang="en-US" sz="980" b="1" dirty="0">
                  <a:solidFill>
                    <a:srgbClr val="243B53"/>
                  </a:solidFill>
                  <a:latin typeface="+mn-lt"/>
                  <a:ea typeface="+mn-ea"/>
                  <a:cs typeface="+mn-cs"/>
                </a:rPr>
                <a:t>Adaptee</a:t>
              </a:r>
            </a:p>
          </p:txBody>
        </p:sp>
        <p:sp>
          <p:nvSpPr>
            <p:cNvPr id="34" name="TextBox 34"/>
            <p:cNvSpPr txBox="1"/>
            <p:nvPr/>
          </p:nvSpPr>
          <p:spPr>
            <a:xfrm>
              <a:off x="4080510" y="4020502"/>
              <a:ext cx="1090444"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+SpecialRequest()</a:t>
              </a:r>
            </a:p>
          </p:txBody>
        </p:sp>
        <p:sp>
          <p:nvSpPr>
            <p:cNvPr id="35" name="TextBox 35"/>
            <p:cNvSpPr txBox="1"/>
            <p:nvPr/>
          </p:nvSpPr>
          <p:spPr>
            <a:xfrm>
              <a:off x="1612182" y="4547711"/>
              <a:ext cx="547536"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Adapter</a:t>
              </a:r>
            </a:p>
          </p:txBody>
        </p:sp>
        <p:sp>
          <p:nvSpPr>
            <p:cNvPr id="36" name="TextBox 36"/>
            <p:cNvSpPr txBox="1"/>
            <p:nvPr/>
          </p:nvSpPr>
          <p:spPr>
            <a:xfrm>
              <a:off x="1385888" y="4887277"/>
              <a:ext cx="681282"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+Request()</a:t>
              </a:r>
            </a:p>
          </p:txBody>
        </p:sp>
        <p:sp>
          <p:nvSpPr>
            <p:cNvPr id="37" name="Rectangle 37"/>
            <p:cNvSpPr/>
            <p:nvPr/>
          </p:nvSpPr>
          <p:spPr>
            <a:xfrm>
              <a:off x="2998470" y="4146232"/>
              <a:ext cx="574358" cy="179070"/>
            </a:xfrm>
            <a:prstGeom prst="roundRect">
              <a:avLst>
                <a:gd name="adj" fmla="val 21277"/>
              </a:avLst>
            </a:prstGeom>
            <a:solidFill>
              <a:srgbClr val="FFFFFF"/>
            </a:solidFill>
            <a:ln>
              <a:noFill/>
            </a:ln>
          </p:spPr>
        </p:sp>
        <p:sp>
          <p:nvSpPr>
            <p:cNvPr id="38" name="TextBox 38"/>
            <p:cNvSpPr txBox="1"/>
            <p:nvPr/>
          </p:nvSpPr>
          <p:spPr>
            <a:xfrm>
              <a:off x="3027211" y="4170521"/>
              <a:ext cx="517827"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adaptee</a:t>
              </a:r>
            </a:p>
          </p:txBody>
        </p:sp>
      </p:grpSp>
      <p:grpSp>
        <p:nvGrpSpPr>
          <p:cNvPr id="46" name="c1-callout-3"/>
          <p:cNvGrpSpPr/>
          <p:nvPr/>
        </p:nvGrpSpPr>
        <p:grpSpPr>
          <a:xfrm>
            <a:off x="533400" y="5394008"/>
            <a:ext cx="5410200" cy="863918"/>
            <a:chOff x="533400" y="5394008"/>
            <a:chExt cx="5410200" cy="863918"/>
          </a:xfrm>
        </p:grpSpPr>
        <p:sp>
          <p:nvSpPr>
            <p:cNvPr id="40" name="Rectangle 40"/>
            <p:cNvSpPr/>
            <p:nvPr/>
          </p:nvSpPr>
          <p:spPr>
            <a:xfrm>
              <a:off x="533400" y="5394008"/>
              <a:ext cx="5410200" cy="863918"/>
            </a:xfrm>
            <a:prstGeom prst="roundRect">
              <a:avLst>
                <a:gd name="adj" fmla="val 13230"/>
              </a:avLst>
            </a:prstGeom>
            <a:solidFill>
              <a:srgbClr val="FDEEE7"/>
            </a:solidFill>
            <a:ln>
              <a:noFill/>
            </a:ln>
          </p:spPr>
        </p:sp>
        <p:grpSp>
          <p:nvGrpSpPr>
            <p:cNvPr id="44" name="Group 44"/>
            <p:cNvGrpSpPr/>
            <p:nvPr/>
          </p:nvGrpSpPr>
          <p:grpSpPr>
            <a:xfrm>
              <a:off x="738188" y="5725478"/>
              <a:ext cx="200026" cy="200025"/>
              <a:chOff x="738188" y="5725478"/>
              <a:chExt cx="200026" cy="200025"/>
            </a:xfrm>
          </p:grpSpPr>
          <p:sp>
            <p:nvSpPr>
              <p:cNvPr id="41" name="Freeform 41"/>
              <p:cNvSpPr/>
              <p:nvPr/>
            </p:nvSpPr>
            <p:spPr>
              <a:xfrm>
                <a:off x="738188" y="572547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42" name="Freeform 42"/>
              <p:cNvSpPr/>
              <p:nvPr/>
            </p:nvSpPr>
            <p:spPr>
              <a:xfrm>
                <a:off x="777926" y="576992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43" name="Freeform 43"/>
              <p:cNvSpPr/>
              <p:nvPr/>
            </p:nvSpPr>
            <p:spPr>
              <a:xfrm>
                <a:off x="812642" y="588105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45" name="TextBox 45"/>
            <p:cNvSpPr txBox="1"/>
            <p:nvPr/>
          </p:nvSpPr>
          <p:spPr>
            <a:xfrm>
              <a:off x="1040892" y="5607368"/>
              <a:ext cx="4497134"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C2410C"/>
                  </a:solidFill>
                  <a:latin typeface="+mn-lt"/>
                  <a:ea typeface="+mn-ea"/>
                  <a:cs typeface="+mn-cs"/>
                </a:rPr>
                <a:t>类适配器用继承，在编译期绑定一个具体的 Adaptee；对象</a:t>
              </a:r>
              <a:br/>
              <a:r>
                <a:rPr lang="zh-CN" sz="1350" dirty="0">
                  <a:solidFill>
                    <a:srgbClr val="C2410C"/>
                  </a:solidFill>
                  <a:latin typeface="+mn-lt"/>
                  <a:ea typeface="+mn-ea"/>
                  <a:cs typeface="+mn-cs"/>
                </a:rPr>
                <a:t>适配器用组合，运行时可以换。</a:t>
              </a:r>
            </a:p>
          </p:txBody>
        </p:sp>
      </p:grpSp>
      <p:grpSp>
        <p:nvGrpSpPr>
          <p:cNvPr id="53" name="c2-card-1"/>
          <p:cNvGrpSpPr/>
          <p:nvPr/>
        </p:nvGrpSpPr>
        <p:grpSpPr>
          <a:xfrm>
            <a:off x="6248400" y="1524000"/>
            <a:ext cx="5410200" cy="1226820"/>
            <a:chOff x="6248400" y="1524000"/>
            <a:chExt cx="5410200" cy="1226820"/>
          </a:xfrm>
        </p:grpSpPr>
        <p:sp>
          <p:nvSpPr>
            <p:cNvPr id="47" name="Rectangle 47"/>
            <p:cNvSpPr/>
            <p:nvPr/>
          </p:nvSpPr>
          <p:spPr>
            <a:xfrm>
              <a:off x="6248400" y="1524000"/>
              <a:ext cx="5410200" cy="1226820"/>
            </a:xfrm>
            <a:prstGeom prst="roundRect">
              <a:avLst>
                <a:gd name="adj" fmla="val 10870"/>
              </a:avLst>
            </a:prstGeom>
            <a:solidFill>
              <a:srgbClr val="FFFFFF"/>
            </a:solidFill>
            <a:ln w="14288">
              <a:solidFill>
                <a:srgbClr val="D9DFEA"/>
              </a:solidFill>
            </a:ln>
          </p:spPr>
        </p:sp>
        <p:sp>
          <p:nvSpPr>
            <p:cNvPr id="48" name="Rectangle 48"/>
            <p:cNvSpPr/>
            <p:nvPr/>
          </p:nvSpPr>
          <p:spPr>
            <a:xfrm>
              <a:off x="6257925" y="1657350"/>
              <a:ext cx="47625" cy="960120"/>
            </a:xfrm>
            <a:prstGeom prst="roundRect">
              <a:avLst>
                <a:gd name="adj" fmla="val 50000"/>
              </a:avLst>
            </a:prstGeom>
            <a:solidFill>
              <a:srgbClr val="334E68"/>
            </a:solidFill>
            <a:ln>
              <a:noFill/>
            </a:ln>
          </p:spPr>
        </p:sp>
        <p:sp>
          <p:nvSpPr>
            <p:cNvPr id="49" name="Rectangle 49"/>
            <p:cNvSpPr/>
            <p:nvPr/>
          </p:nvSpPr>
          <p:spPr>
            <a:xfrm>
              <a:off x="6478905" y="1716405"/>
              <a:ext cx="1484948" cy="247650"/>
            </a:xfrm>
            <a:prstGeom prst="roundRect">
              <a:avLst>
                <a:gd name="adj" fmla="val 50000"/>
              </a:avLst>
            </a:prstGeom>
            <a:solidFill>
              <a:srgbClr val="E7EDF3"/>
            </a:solidFill>
            <a:ln>
              <a:noFill/>
            </a:ln>
          </p:spPr>
        </p:sp>
        <p:sp>
          <p:nvSpPr>
            <p:cNvPr id="50" name="TextBox 50"/>
            <p:cNvSpPr txBox="1"/>
            <p:nvPr/>
          </p:nvSpPr>
          <p:spPr>
            <a:xfrm>
              <a:off x="6518247" y="1750695"/>
              <a:ext cx="1407216"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COMPOSITE（组合）</a:t>
              </a:r>
            </a:p>
          </p:txBody>
        </p:sp>
        <p:sp>
          <p:nvSpPr>
            <p:cNvPr id="51" name="TextBox 51"/>
            <p:cNvSpPr txBox="1"/>
            <p:nvPr/>
          </p:nvSpPr>
          <p:spPr>
            <a:xfrm>
              <a:off x="8071294" y="1756410"/>
              <a:ext cx="338993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把对象组合成树形结构表示整体-部分层次</a:t>
              </a:r>
            </a:p>
          </p:txBody>
        </p:sp>
        <p:sp>
          <p:nvSpPr>
            <p:cNvPr id="52" name="TextBox 52"/>
            <p:cNvSpPr txBox="1"/>
            <p:nvPr/>
          </p:nvSpPr>
          <p:spPr>
            <a:xfrm>
              <a:off x="6472047" y="2090738"/>
              <a:ext cx="467715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 xml:space="preserve">使用户对 </a:t>
              </a:r>
              <a:r>
                <a:rPr lang="zh-CN" sz="1350" b="1" dirty="0">
                  <a:solidFill>
                    <a:srgbClr val="C2410C"/>
                  </a:solidFill>
                  <a:latin typeface="+mn-lt"/>
                  <a:ea typeface="+mn-ea"/>
                  <a:cs typeface="+mn-cs"/>
                </a:rPr>
                <a:t>单个对象</a:t>
              </a:r>
              <a:r>
                <a:rPr lang="zh-CN" sz="1350" dirty="0">
                  <a:solidFill>
                    <a:srgbClr val="1F2937"/>
                  </a:solidFill>
                  <a:latin typeface="+mn-lt"/>
                  <a:ea typeface="+mn-ea"/>
                  <a:cs typeface="+mn-cs"/>
                </a:rPr>
                <a:t xml:space="preserve"> 和 </a:t>
              </a:r>
              <a:r>
                <a:rPr lang="zh-CN" sz="1350" b="1" dirty="0">
                  <a:solidFill>
                    <a:srgbClr val="C2410C"/>
                  </a:solidFill>
                  <a:latin typeface="+mn-lt"/>
                  <a:ea typeface="+mn-ea"/>
                  <a:cs typeface="+mn-cs"/>
                </a:rPr>
                <a:t>组合对象</a:t>
              </a:r>
              <a:r>
                <a:rPr lang="zh-CN" sz="1350" dirty="0">
                  <a:solidFill>
                    <a:srgbClr val="1F2937"/>
                  </a:solidFill>
                  <a:latin typeface="+mn-lt"/>
                  <a:ea typeface="+mn-ea"/>
                  <a:cs typeface="+mn-cs"/>
                </a:rPr>
                <a:t xml:space="preserve"> 的使用具有一致性，适用于想</a:t>
              </a:r>
              <a:br/>
              <a:r>
                <a:rPr lang="zh-CN" sz="1350" dirty="0">
                  <a:solidFill>
                    <a:srgbClr val="1F2937"/>
                  </a:solidFill>
                  <a:latin typeface="+mn-lt"/>
                  <a:ea typeface="+mn-ea"/>
                  <a:cs typeface="+mn-cs"/>
                </a:rPr>
                <a:t>表示部分-整体层次结构、希望用户忽略两者不同的场合。</a:t>
              </a:r>
            </a:p>
          </p:txBody>
        </p:sp>
      </p:grpSp>
      <p:grpSp>
        <p:nvGrpSpPr>
          <p:cNvPr id="80" name="c2-uml-2"/>
          <p:cNvGrpSpPr/>
          <p:nvPr/>
        </p:nvGrpSpPr>
        <p:grpSpPr>
          <a:xfrm>
            <a:off x="6936105" y="2995612"/>
            <a:ext cx="4301490" cy="2206943"/>
            <a:chOff x="6936105" y="2995612"/>
            <a:chExt cx="4301490" cy="2206943"/>
          </a:xfrm>
        </p:grpSpPr>
        <p:sp>
          <p:nvSpPr>
            <p:cNvPr id="54" name="Freeform 54"/>
            <p:cNvSpPr/>
            <p:nvPr/>
          </p:nvSpPr>
          <p:spPr>
            <a:xfrm>
              <a:off x="7505700" y="4195762"/>
              <a:ext cx="95250" cy="256222"/>
            </a:xfrm>
            <a:custGeom>
              <a:avLst/>
              <a:gdLst/>
              <a:ahLst/>
              <a:cxnLst/>
              <a:rect l="l" t="t" r="r" b="b"/>
              <a:pathLst>
                <a:path w="95250" h="256222">
                  <a:moveTo>
                    <a:pt x="95250" y="256222"/>
                  </a:moveTo>
                  <a:lnTo>
                    <a:pt x="95250" y="65722"/>
                  </a:lnTo>
                  <a:lnTo>
                    <a:pt x="0" y="65722"/>
                  </a:lnTo>
                  <a:lnTo>
                    <a:pt x="0" y="0"/>
                  </a:lnTo>
                </a:path>
              </a:pathLst>
            </a:custGeom>
            <a:noFill/>
            <a:ln w="15240">
              <a:solidFill>
                <a:srgbClr val="1F2937"/>
              </a:solidFill>
            </a:ln>
          </p:spPr>
        </p:sp>
        <p:sp>
          <p:nvSpPr>
            <p:cNvPr id="55" name="Freeform 55"/>
            <p:cNvSpPr/>
            <p:nvPr/>
          </p:nvSpPr>
          <p:spPr>
            <a:xfrm>
              <a:off x="7432358" y="4070032"/>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56" name="Freeform 56"/>
            <p:cNvSpPr/>
            <p:nvPr/>
          </p:nvSpPr>
          <p:spPr>
            <a:xfrm>
              <a:off x="7696200" y="4180522"/>
              <a:ext cx="2609850" cy="109538"/>
            </a:xfrm>
            <a:custGeom>
              <a:avLst/>
              <a:gdLst/>
              <a:ahLst/>
              <a:cxnLst/>
              <a:rect l="l" t="t" r="r" b="b"/>
              <a:pathLst>
                <a:path w="2609850" h="109538">
                  <a:moveTo>
                    <a:pt x="2609850" y="109538"/>
                  </a:moveTo>
                  <a:lnTo>
                    <a:pt x="2609850" y="0"/>
                  </a:lnTo>
                  <a:lnTo>
                    <a:pt x="0" y="0"/>
                  </a:lnTo>
                  <a:lnTo>
                    <a:pt x="0" y="15240"/>
                  </a:lnTo>
                </a:path>
              </a:pathLst>
            </a:custGeom>
            <a:noFill/>
            <a:ln w="15240">
              <a:solidFill>
                <a:srgbClr val="1F2937"/>
              </a:solidFill>
            </a:ln>
          </p:spPr>
        </p:sp>
        <p:sp>
          <p:nvSpPr>
            <p:cNvPr id="57" name="Freeform 57"/>
            <p:cNvSpPr/>
            <p:nvPr/>
          </p:nvSpPr>
          <p:spPr>
            <a:xfrm>
              <a:off x="7622858" y="4070032"/>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58" name="Freeform 58"/>
            <p:cNvSpPr/>
            <p:nvPr/>
          </p:nvSpPr>
          <p:spPr>
            <a:xfrm>
              <a:off x="8265795" y="3532822"/>
              <a:ext cx="2971800" cy="1213485"/>
            </a:xfrm>
            <a:custGeom>
              <a:avLst/>
              <a:gdLst/>
              <a:ahLst/>
              <a:cxnLst/>
              <a:rect l="l" t="t" r="r" b="b"/>
              <a:pathLst>
                <a:path w="2971800" h="1213485">
                  <a:moveTo>
                    <a:pt x="0" y="0"/>
                  </a:moveTo>
                  <a:lnTo>
                    <a:pt x="2971800" y="0"/>
                  </a:lnTo>
                  <a:lnTo>
                    <a:pt x="2971800" y="1213485"/>
                  </a:lnTo>
                  <a:lnTo>
                    <a:pt x="2914650" y="1213485"/>
                  </a:lnTo>
                </a:path>
              </a:pathLst>
            </a:custGeom>
            <a:noFill/>
            <a:ln w="15240">
              <a:solidFill>
                <a:srgbClr val="1F2937"/>
              </a:solidFill>
            </a:ln>
          </p:spPr>
        </p:sp>
        <p:sp>
          <p:nvSpPr>
            <p:cNvPr id="59" name="Freeform 59"/>
            <p:cNvSpPr/>
            <p:nvPr/>
          </p:nvSpPr>
          <p:spPr>
            <a:xfrm>
              <a:off x="10970895" y="4689158"/>
              <a:ext cx="209550" cy="115252"/>
            </a:xfrm>
            <a:custGeom>
              <a:avLst/>
              <a:gdLst/>
              <a:ahLst/>
              <a:cxnLst/>
              <a:rect l="l" t="t" r="r" b="b"/>
              <a:pathLst>
                <a:path w="209550" h="115252">
                  <a:moveTo>
                    <a:pt x="0" y="57150"/>
                  </a:moveTo>
                  <a:lnTo>
                    <a:pt x="104775" y="0"/>
                  </a:lnTo>
                  <a:lnTo>
                    <a:pt x="209550" y="57150"/>
                  </a:lnTo>
                  <a:lnTo>
                    <a:pt x="104775" y="115252"/>
                  </a:lnTo>
                  <a:close/>
                </a:path>
              </a:pathLst>
            </a:custGeom>
            <a:solidFill>
              <a:srgbClr val="FFFFFF"/>
            </a:solidFill>
            <a:ln w="15240">
              <a:solidFill>
                <a:srgbClr val="1F2937"/>
              </a:solidFill>
            </a:ln>
          </p:spPr>
        </p:sp>
        <p:sp>
          <p:nvSpPr>
            <p:cNvPr id="60" name="Rectangle 60"/>
            <p:cNvSpPr/>
            <p:nvPr/>
          </p:nvSpPr>
          <p:spPr>
            <a:xfrm>
              <a:off x="6936105" y="2995612"/>
              <a:ext cx="1329690" cy="1075372"/>
            </a:xfrm>
            <a:prstGeom prst="rect">
              <a:avLst/>
            </a:prstGeom>
            <a:solidFill>
              <a:srgbClr val="FFFFFF"/>
            </a:solidFill>
            <a:ln w="14288">
              <a:solidFill>
                <a:srgbClr val="334E68"/>
              </a:solidFill>
            </a:ln>
          </p:spPr>
        </p:sp>
        <p:sp>
          <p:nvSpPr>
            <p:cNvPr id="61" name="Rectangle 61"/>
            <p:cNvSpPr/>
            <p:nvPr/>
          </p:nvSpPr>
          <p:spPr>
            <a:xfrm>
              <a:off x="6943725" y="3002280"/>
              <a:ext cx="1315402" cy="227648"/>
            </a:xfrm>
            <a:prstGeom prst="rect">
              <a:avLst/>
            </a:prstGeom>
            <a:solidFill>
              <a:srgbClr val="E7EDF3"/>
            </a:solidFill>
            <a:ln>
              <a:noFill/>
            </a:ln>
          </p:spPr>
        </p:sp>
        <p:sp>
          <p:nvSpPr>
            <p:cNvPr id="62" name="Rectangle 62"/>
            <p:cNvSpPr/>
            <p:nvPr/>
          </p:nvSpPr>
          <p:spPr>
            <a:xfrm>
              <a:off x="6936105" y="3226118"/>
              <a:ext cx="1329690" cy="9525"/>
            </a:xfrm>
            <a:prstGeom prst="rect">
              <a:avLst/>
            </a:prstGeom>
            <a:solidFill>
              <a:srgbClr val="334E68"/>
            </a:solidFill>
            <a:ln>
              <a:noFill/>
            </a:ln>
          </p:spPr>
        </p:sp>
        <p:sp>
          <p:nvSpPr>
            <p:cNvPr id="63" name="Rectangle 63"/>
            <p:cNvSpPr/>
            <p:nvPr/>
          </p:nvSpPr>
          <p:spPr>
            <a:xfrm>
              <a:off x="6936105" y="3321368"/>
              <a:ext cx="1329690" cy="9525"/>
            </a:xfrm>
            <a:prstGeom prst="rect">
              <a:avLst/>
            </a:prstGeom>
            <a:solidFill>
              <a:srgbClr val="334E68"/>
            </a:solidFill>
            <a:ln>
              <a:noFill/>
            </a:ln>
          </p:spPr>
        </p:sp>
        <p:sp>
          <p:nvSpPr>
            <p:cNvPr id="64" name="Rectangle 64"/>
            <p:cNvSpPr/>
            <p:nvPr/>
          </p:nvSpPr>
          <p:spPr>
            <a:xfrm>
              <a:off x="7029450" y="4451985"/>
              <a:ext cx="1143000" cy="587692"/>
            </a:xfrm>
            <a:prstGeom prst="rect">
              <a:avLst/>
            </a:prstGeom>
            <a:solidFill>
              <a:srgbClr val="FFFFFF"/>
            </a:solidFill>
            <a:ln w="14288">
              <a:solidFill>
                <a:srgbClr val="334E68"/>
              </a:solidFill>
            </a:ln>
          </p:spPr>
        </p:sp>
        <p:sp>
          <p:nvSpPr>
            <p:cNvPr id="65" name="Rectangle 65"/>
            <p:cNvSpPr/>
            <p:nvPr/>
          </p:nvSpPr>
          <p:spPr>
            <a:xfrm>
              <a:off x="7037070" y="4459605"/>
              <a:ext cx="1128712" cy="227648"/>
            </a:xfrm>
            <a:prstGeom prst="rect">
              <a:avLst/>
            </a:prstGeom>
            <a:solidFill>
              <a:srgbClr val="E7EDF3"/>
            </a:solidFill>
            <a:ln>
              <a:noFill/>
            </a:ln>
          </p:spPr>
        </p:sp>
        <p:sp>
          <p:nvSpPr>
            <p:cNvPr id="66" name="Rectangle 66"/>
            <p:cNvSpPr/>
            <p:nvPr/>
          </p:nvSpPr>
          <p:spPr>
            <a:xfrm>
              <a:off x="7029450" y="4682490"/>
              <a:ext cx="1143000" cy="9525"/>
            </a:xfrm>
            <a:prstGeom prst="rect">
              <a:avLst/>
            </a:prstGeom>
            <a:solidFill>
              <a:srgbClr val="334E68"/>
            </a:solidFill>
            <a:ln>
              <a:noFill/>
            </a:ln>
          </p:spPr>
        </p:sp>
        <p:sp>
          <p:nvSpPr>
            <p:cNvPr id="67" name="Rectangle 67"/>
            <p:cNvSpPr/>
            <p:nvPr/>
          </p:nvSpPr>
          <p:spPr>
            <a:xfrm>
              <a:off x="7029450" y="4777740"/>
              <a:ext cx="1143000" cy="9525"/>
            </a:xfrm>
            <a:prstGeom prst="rect">
              <a:avLst/>
            </a:prstGeom>
            <a:solidFill>
              <a:srgbClr val="334E68"/>
            </a:solidFill>
            <a:ln>
              <a:noFill/>
            </a:ln>
          </p:spPr>
        </p:sp>
        <p:sp>
          <p:nvSpPr>
            <p:cNvPr id="68" name="Rectangle 68"/>
            <p:cNvSpPr/>
            <p:nvPr/>
          </p:nvSpPr>
          <p:spPr>
            <a:xfrm>
              <a:off x="9641205" y="4290060"/>
              <a:ext cx="1329690" cy="912495"/>
            </a:xfrm>
            <a:prstGeom prst="rect">
              <a:avLst/>
            </a:prstGeom>
            <a:solidFill>
              <a:srgbClr val="FFFFFF"/>
            </a:solidFill>
            <a:ln w="14288">
              <a:solidFill>
                <a:srgbClr val="334E68"/>
              </a:solidFill>
            </a:ln>
          </p:spPr>
        </p:sp>
        <p:sp>
          <p:nvSpPr>
            <p:cNvPr id="69" name="Rectangle 69"/>
            <p:cNvSpPr/>
            <p:nvPr/>
          </p:nvSpPr>
          <p:spPr>
            <a:xfrm>
              <a:off x="9648825" y="4297680"/>
              <a:ext cx="1315402" cy="227648"/>
            </a:xfrm>
            <a:prstGeom prst="rect">
              <a:avLst/>
            </a:prstGeom>
            <a:solidFill>
              <a:srgbClr val="334E68"/>
            </a:solidFill>
            <a:ln>
              <a:noFill/>
            </a:ln>
          </p:spPr>
        </p:sp>
        <p:sp>
          <p:nvSpPr>
            <p:cNvPr id="70" name="Rectangle 70"/>
            <p:cNvSpPr/>
            <p:nvPr/>
          </p:nvSpPr>
          <p:spPr>
            <a:xfrm>
              <a:off x="9641205" y="4520565"/>
              <a:ext cx="1329690" cy="9525"/>
            </a:xfrm>
            <a:prstGeom prst="rect">
              <a:avLst/>
            </a:prstGeom>
            <a:solidFill>
              <a:srgbClr val="334E68"/>
            </a:solidFill>
            <a:ln>
              <a:noFill/>
            </a:ln>
          </p:spPr>
        </p:sp>
        <p:sp>
          <p:nvSpPr>
            <p:cNvPr id="71" name="Rectangle 71"/>
            <p:cNvSpPr/>
            <p:nvPr/>
          </p:nvSpPr>
          <p:spPr>
            <a:xfrm>
              <a:off x="9641205" y="4615815"/>
              <a:ext cx="1329690" cy="9525"/>
            </a:xfrm>
            <a:prstGeom prst="rect">
              <a:avLst/>
            </a:prstGeom>
            <a:solidFill>
              <a:srgbClr val="334E68"/>
            </a:solidFill>
            <a:ln>
              <a:noFill/>
            </a:ln>
          </p:spPr>
        </p:sp>
        <p:sp>
          <p:nvSpPr>
            <p:cNvPr id="72" name="TextBox 72"/>
            <p:cNvSpPr txBox="1"/>
            <p:nvPr/>
          </p:nvSpPr>
          <p:spPr>
            <a:xfrm>
              <a:off x="7237054" y="3051334"/>
              <a:ext cx="727791" cy="190690"/>
            </a:xfrm>
            <a:prstGeom prst="rect">
              <a:avLst/>
            </a:prstGeom>
            <a:noFill/>
            <a:ln>
              <a:noFill/>
            </a:ln>
          </p:spPr>
          <p:txBody>
            <a:bodyPr wrap="none" lIns="0" tIns="0" rIns="0" bIns="0" anchor="t" anchorCtr="0">
              <a:spAutoFit/>
            </a:bodyPr>
            <a:lstStyle/>
            <a:p>
              <a:pPr algn="ctr"/>
              <a:r>
                <a:rPr lang="en-US" sz="980" b="1" i="1" dirty="0">
                  <a:solidFill>
                    <a:srgbClr val="243B53"/>
                  </a:solidFill>
                  <a:latin typeface="+mn-lt"/>
                  <a:ea typeface="+mn-ea"/>
                  <a:cs typeface="+mn-cs"/>
                </a:rPr>
                <a:t>Component</a:t>
              </a:r>
            </a:p>
          </p:txBody>
        </p:sp>
        <p:sp>
          <p:nvSpPr>
            <p:cNvPr id="73" name="TextBox 73"/>
            <p:cNvSpPr txBox="1"/>
            <p:nvPr/>
          </p:nvSpPr>
          <p:spPr>
            <a:xfrm>
              <a:off x="7007542" y="3390900"/>
              <a:ext cx="1186815" cy="661988"/>
            </a:xfrm>
            <a:prstGeom prst="rect">
              <a:avLst/>
            </a:prstGeom>
            <a:noFill/>
            <a:ln>
              <a:noFill/>
            </a:ln>
          </p:spPr>
          <p:txBody>
            <a:bodyPr wrap="none" lIns="0" tIns="0" rIns="0" bIns="0" anchor="t" anchorCtr="0">
              <a:spAutoFit/>
            </a:bodyPr>
            <a:lstStyle/>
            <a:p>
              <a:pPr algn="l">
                <a:lnSpc>
                  <a:spcPts val="1275"/>
                </a:lnSpc>
              </a:pPr>
              <a:r>
                <a:rPr lang="en-US" sz="900" dirty="0">
                  <a:solidFill>
                    <a:srgbClr val="1F2937"/>
                  </a:solidFill>
                  <a:latin typeface="+mn-lt"/>
                  <a:ea typeface="+mn-ea"/>
                  <a:cs typeface="+mn-cs"/>
                </a:rPr>
                <a:t>+Operation()</a:t>
              </a:r>
              <a:br/>
              <a:r>
                <a:rPr lang="en-US" sz="900" dirty="0">
                  <a:solidFill>
                    <a:srgbClr val="1F2937"/>
                  </a:solidFill>
                  <a:latin typeface="+mn-lt"/>
                  <a:ea typeface="+mn-ea"/>
                  <a:cs typeface="+mn-cs"/>
                </a:rPr>
                <a:t>+Add(Component)</a:t>
              </a:r>
              <a:br/>
              <a:r>
                <a:rPr lang="en-US" sz="900" dirty="0">
                  <a:solidFill>
                    <a:srgbClr val="1F2937"/>
                  </a:solidFill>
                  <a:latin typeface="+mn-lt"/>
                  <a:ea typeface="+mn-ea"/>
                  <a:cs typeface="+mn-cs"/>
                </a:rPr>
                <a:t>+Remove(Component)</a:t>
              </a:r>
              <a:br/>
              <a:r>
                <a:rPr lang="en-US" sz="900" dirty="0">
                  <a:solidFill>
                    <a:srgbClr val="1F2937"/>
                  </a:solidFill>
                  <a:latin typeface="+mn-lt"/>
                  <a:ea typeface="+mn-ea"/>
                  <a:cs typeface="+mn-cs"/>
                </a:rPr>
                <a:t>+GetChild(int)</a:t>
              </a:r>
            </a:p>
          </p:txBody>
        </p:sp>
        <p:sp>
          <p:nvSpPr>
            <p:cNvPr id="74" name="TextBox 74"/>
            <p:cNvSpPr txBox="1"/>
            <p:nvPr/>
          </p:nvSpPr>
          <p:spPr>
            <a:xfrm>
              <a:off x="7441464" y="4507706"/>
              <a:ext cx="318971" cy="190690"/>
            </a:xfrm>
            <a:prstGeom prst="rect">
              <a:avLst/>
            </a:prstGeom>
            <a:noFill/>
            <a:ln>
              <a:noFill/>
            </a:ln>
          </p:spPr>
          <p:txBody>
            <a:bodyPr wrap="none" lIns="0" tIns="0" rIns="0" bIns="0" anchor="t" anchorCtr="0">
              <a:spAutoFit/>
            </a:bodyPr>
            <a:lstStyle/>
            <a:p>
              <a:pPr algn="ctr"/>
              <a:r>
                <a:rPr lang="en-US" sz="980" b="1" dirty="0">
                  <a:solidFill>
                    <a:srgbClr val="243B53"/>
                  </a:solidFill>
                  <a:latin typeface="+mn-lt"/>
                  <a:ea typeface="+mn-ea"/>
                  <a:cs typeface="+mn-cs"/>
                </a:rPr>
                <a:t>Leaf</a:t>
              </a:r>
            </a:p>
          </p:txBody>
        </p:sp>
        <p:sp>
          <p:nvSpPr>
            <p:cNvPr id="75" name="TextBox 75"/>
            <p:cNvSpPr txBox="1"/>
            <p:nvPr/>
          </p:nvSpPr>
          <p:spPr>
            <a:xfrm>
              <a:off x="7100888" y="4847272"/>
              <a:ext cx="808101"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+Operation()</a:t>
              </a:r>
            </a:p>
          </p:txBody>
        </p:sp>
        <p:sp>
          <p:nvSpPr>
            <p:cNvPr id="76" name="TextBox 76"/>
            <p:cNvSpPr txBox="1"/>
            <p:nvPr/>
          </p:nvSpPr>
          <p:spPr>
            <a:xfrm>
              <a:off x="9959579" y="4345781"/>
              <a:ext cx="692942"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Composite</a:t>
              </a:r>
            </a:p>
          </p:txBody>
        </p:sp>
        <p:sp>
          <p:nvSpPr>
            <p:cNvPr id="77" name="TextBox 77"/>
            <p:cNvSpPr txBox="1"/>
            <p:nvPr/>
          </p:nvSpPr>
          <p:spPr>
            <a:xfrm>
              <a:off x="9712642" y="4685348"/>
              <a:ext cx="1186815" cy="500062"/>
            </a:xfrm>
            <a:prstGeom prst="rect">
              <a:avLst/>
            </a:prstGeom>
            <a:noFill/>
            <a:ln>
              <a:noFill/>
            </a:ln>
          </p:spPr>
          <p:txBody>
            <a:bodyPr wrap="none" lIns="0" tIns="0" rIns="0" bIns="0" anchor="t" anchorCtr="0">
              <a:spAutoFit/>
            </a:bodyPr>
            <a:lstStyle/>
            <a:p>
              <a:pPr algn="l">
                <a:lnSpc>
                  <a:spcPts val="1275"/>
                </a:lnSpc>
              </a:pPr>
              <a:r>
                <a:rPr lang="en-US" sz="900" dirty="0">
                  <a:solidFill>
                    <a:srgbClr val="1F2937"/>
                  </a:solidFill>
                  <a:latin typeface="+mn-lt"/>
                  <a:ea typeface="+mn-ea"/>
                  <a:cs typeface="+mn-cs"/>
                </a:rPr>
                <a:t>+Operation()</a:t>
              </a:r>
              <a:br/>
              <a:r>
                <a:rPr lang="en-US" sz="900" dirty="0">
                  <a:solidFill>
                    <a:srgbClr val="1F2937"/>
                  </a:solidFill>
                  <a:latin typeface="+mn-lt"/>
                  <a:ea typeface="+mn-ea"/>
                  <a:cs typeface="+mn-cs"/>
                </a:rPr>
                <a:t>+Add(Component)</a:t>
              </a:r>
              <a:br/>
              <a:r>
                <a:rPr lang="en-US" sz="900" dirty="0">
                  <a:solidFill>
                    <a:srgbClr val="1F2937"/>
                  </a:solidFill>
                  <a:latin typeface="+mn-lt"/>
                  <a:ea typeface="+mn-ea"/>
                  <a:cs typeface="+mn-cs"/>
                </a:rPr>
                <a:t>+Remove(Component)</a:t>
              </a:r>
            </a:p>
          </p:txBody>
        </p:sp>
        <p:sp>
          <p:nvSpPr>
            <p:cNvPr id="78" name="Rectangle 78"/>
            <p:cNvSpPr/>
            <p:nvPr/>
          </p:nvSpPr>
          <p:spPr>
            <a:xfrm>
              <a:off x="9461182" y="3326130"/>
              <a:ext cx="581025" cy="179070"/>
            </a:xfrm>
            <a:prstGeom prst="roundRect">
              <a:avLst>
                <a:gd name="adj" fmla="val 21277"/>
              </a:avLst>
            </a:prstGeom>
            <a:solidFill>
              <a:srgbClr val="FFFFFF"/>
            </a:solidFill>
            <a:ln>
              <a:noFill/>
            </a:ln>
          </p:spPr>
        </p:sp>
        <p:sp>
          <p:nvSpPr>
            <p:cNvPr id="79" name="TextBox 79"/>
            <p:cNvSpPr txBox="1"/>
            <p:nvPr/>
          </p:nvSpPr>
          <p:spPr>
            <a:xfrm>
              <a:off x="9489483" y="3351371"/>
              <a:ext cx="524424"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children</a:t>
              </a:r>
            </a:p>
          </p:txBody>
        </p:sp>
      </p:grpSp>
      <p:grpSp>
        <p:nvGrpSpPr>
          <p:cNvPr id="87" name="c2-callout-3"/>
          <p:cNvGrpSpPr/>
          <p:nvPr/>
        </p:nvGrpSpPr>
        <p:grpSpPr>
          <a:xfrm>
            <a:off x="6248400" y="5528310"/>
            <a:ext cx="5410200" cy="729615"/>
            <a:chOff x="6248400" y="5528310"/>
            <a:chExt cx="5410200" cy="729615"/>
          </a:xfrm>
        </p:grpSpPr>
        <p:sp>
          <p:nvSpPr>
            <p:cNvPr id="81" name="Rectangle 81"/>
            <p:cNvSpPr/>
            <p:nvPr/>
          </p:nvSpPr>
          <p:spPr>
            <a:xfrm>
              <a:off x="6248400" y="5528310"/>
              <a:ext cx="5410200" cy="729615"/>
            </a:xfrm>
            <a:prstGeom prst="roundRect">
              <a:avLst>
                <a:gd name="adj" fmla="val 15666"/>
              </a:avLst>
            </a:prstGeom>
            <a:solidFill>
              <a:srgbClr val="F4F6FB"/>
            </a:solidFill>
            <a:ln>
              <a:noFill/>
            </a:ln>
          </p:spPr>
        </p:sp>
        <p:grpSp>
          <p:nvGrpSpPr>
            <p:cNvPr id="85" name="Group 85"/>
            <p:cNvGrpSpPr/>
            <p:nvPr/>
          </p:nvGrpSpPr>
          <p:grpSpPr>
            <a:xfrm>
              <a:off x="6453188" y="5793105"/>
              <a:ext cx="200026" cy="200026"/>
              <a:chOff x="6453188" y="5793105"/>
              <a:chExt cx="200026" cy="200026"/>
            </a:xfrm>
          </p:grpSpPr>
          <p:sp>
            <p:nvSpPr>
              <p:cNvPr id="82" name="Freeform 82"/>
              <p:cNvSpPr/>
              <p:nvPr/>
            </p:nvSpPr>
            <p:spPr>
              <a:xfrm>
                <a:off x="6453188" y="579310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83" name="Freeform 83"/>
              <p:cNvSpPr/>
              <p:nvPr/>
            </p:nvSpPr>
            <p:spPr>
              <a:xfrm>
                <a:off x="6553200" y="585978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84" name="Freeform 84"/>
              <p:cNvSpPr/>
              <p:nvPr/>
            </p:nvSpPr>
            <p:spPr>
              <a:xfrm>
                <a:off x="6542088" y="589311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86" name="TextBox 86"/>
            <p:cNvSpPr txBox="1"/>
            <p:nvPr/>
          </p:nvSpPr>
          <p:spPr>
            <a:xfrm>
              <a:off x="6755892" y="5674042"/>
              <a:ext cx="4411408"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1F2937"/>
                  </a:solidFill>
                  <a:latin typeface="+mn-lt"/>
                  <a:ea typeface="+mn-ea"/>
                  <a:cs typeface="+mn-cs"/>
                </a:rPr>
                <a:t xml:space="preserve">更正：原课件写“将对象组合成 </a:t>
              </a:r>
              <a:r>
                <a:rPr lang="zh-CN" sz="1350" b="1" dirty="0">
                  <a:solidFill>
                    <a:srgbClr val="B42318"/>
                  </a:solidFill>
                  <a:latin typeface="+mn-lt"/>
                  <a:ea typeface="+mn-ea"/>
                  <a:cs typeface="+mn-cs"/>
                </a:rPr>
                <a:t>属性结构</a:t>
              </a:r>
              <a:r>
                <a:rPr lang="zh-CN" sz="1350" dirty="0">
                  <a:solidFill>
                    <a:srgbClr val="1F2937"/>
                  </a:solidFill>
                  <a:latin typeface="+mn-lt"/>
                  <a:ea typeface="+mn-ea"/>
                  <a:cs typeface="+mn-cs"/>
                </a:rPr>
                <a:t xml:space="preserve">”，GoF 原文是 </a:t>
              </a:r>
              <a:r>
                <a:rPr lang="zh-CN" sz="1350" b="1" dirty="0">
                  <a:solidFill>
                    <a:srgbClr val="0F7A68"/>
                  </a:solidFill>
                  <a:latin typeface="+mn-lt"/>
                  <a:ea typeface="+mn-ea"/>
                  <a:cs typeface="+mn-cs"/>
                </a:rPr>
                <a:t>树</a:t>
              </a:r>
              <a:br/>
              <a:r>
                <a:rPr lang="zh-CN" sz="1350" b="1" dirty="0">
                  <a:solidFill>
                    <a:srgbClr val="0F7A68"/>
                  </a:solidFill>
                  <a:latin typeface="+mn-lt"/>
                  <a:ea typeface="+mn-ea"/>
                  <a:cs typeface="+mn-cs"/>
                </a:rPr>
                <a:t>形结构</a:t>
              </a:r>
              <a:r>
                <a:rPr lang="zh-CN" sz="1350" dirty="0">
                  <a:solidFill>
                    <a:srgbClr val="1F2937"/>
                  </a:solidFill>
                  <a:latin typeface="+mn-lt"/>
                  <a:ea typeface="+mn-ea"/>
                  <a:cs typeface="+mn-cs"/>
                </a:rPr>
                <a:t>（tree structure）。</a:t>
              </a:r>
            </a:p>
          </p:txBody>
        </p:sp>
      </p:grpSp>
      <p:grpSp>
        <p:nvGrpSpPr>
          <p:cNvPr id="90" name="footer"/>
          <p:cNvGrpSpPr/>
          <p:nvPr/>
        </p:nvGrpSpPr>
        <p:grpSpPr>
          <a:xfrm>
            <a:off x="528447" y="6581299"/>
            <a:ext cx="11135106" cy="190690"/>
            <a:chOff x="528447" y="6581299"/>
            <a:chExt cx="11135106" cy="190690"/>
          </a:xfrm>
        </p:grpSpPr>
        <p:sp>
          <p:nvSpPr>
            <p:cNvPr id="88" name="TextBox 88"/>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89" name="TextBox 8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57</a:t>
              </a:r>
            </a:p>
          </p:txBody>
        </p:sp>
      </p:grpSp>
    </p:spTree>
  </p:cSld>
  <p:clrMapOvr>
    <a:masterClrMapping/>
  </p:clrMapOvr>
  <p:transition xmlns:p14="http://schemas.microsoft.com/office/powerpoint/2010/main" p14:dur="400">
    <p:fade/>
  </p:transition>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2354580" cy="266700"/>
            </a:xfrm>
            <a:prstGeom prst="roundRect">
              <a:avLst>
                <a:gd name="adj" fmla="val 50000"/>
              </a:avLst>
            </a:prstGeom>
            <a:solidFill>
              <a:srgbClr val="E7EDF3"/>
            </a:solidFill>
            <a:ln>
              <a:noFill/>
            </a:ln>
          </p:spPr>
        </p:sp>
        <p:sp>
          <p:nvSpPr>
            <p:cNvPr id="3" name="TextBox 3"/>
            <p:cNvSpPr txBox="1"/>
            <p:nvPr/>
          </p:nvSpPr>
          <p:spPr>
            <a:xfrm>
              <a:off x="598479" y="407194"/>
              <a:ext cx="22244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设计模式</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原型与策略：靠拷贝创建，靠替换换算法</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3" name="c1-card-1"/>
          <p:cNvGrpSpPr/>
          <p:nvPr/>
        </p:nvGrpSpPr>
        <p:grpSpPr>
          <a:xfrm>
            <a:off x="533400" y="1524000"/>
            <a:ext cx="5410200" cy="1483995"/>
            <a:chOff x="533400" y="1524000"/>
            <a:chExt cx="5410200" cy="1483995"/>
          </a:xfrm>
        </p:grpSpPr>
        <p:sp>
          <p:nvSpPr>
            <p:cNvPr id="7" name="Rectangle 7"/>
            <p:cNvSpPr/>
            <p:nvPr/>
          </p:nvSpPr>
          <p:spPr>
            <a:xfrm>
              <a:off x="533400" y="1524000"/>
              <a:ext cx="5410200" cy="1483995"/>
            </a:xfrm>
            <a:prstGeom prst="roundRect">
              <a:avLst>
                <a:gd name="adj" fmla="val 8986"/>
              </a:avLst>
            </a:prstGeom>
            <a:solidFill>
              <a:srgbClr val="FFFFFF"/>
            </a:solidFill>
            <a:ln w="14288">
              <a:solidFill>
                <a:srgbClr val="D9DFEA"/>
              </a:solidFill>
            </a:ln>
          </p:spPr>
        </p:sp>
        <p:sp>
          <p:nvSpPr>
            <p:cNvPr id="8" name="Rectangle 8"/>
            <p:cNvSpPr/>
            <p:nvPr/>
          </p:nvSpPr>
          <p:spPr>
            <a:xfrm>
              <a:off x="542925" y="1657350"/>
              <a:ext cx="47625" cy="1217295"/>
            </a:xfrm>
            <a:prstGeom prst="roundRect">
              <a:avLst>
                <a:gd name="adj" fmla="val 50000"/>
              </a:avLst>
            </a:prstGeom>
            <a:solidFill>
              <a:srgbClr val="334E68"/>
            </a:solidFill>
            <a:ln>
              <a:noFill/>
            </a:ln>
          </p:spPr>
        </p:sp>
        <p:sp>
          <p:nvSpPr>
            <p:cNvPr id="9" name="Rectangle 9"/>
            <p:cNvSpPr/>
            <p:nvPr/>
          </p:nvSpPr>
          <p:spPr>
            <a:xfrm>
              <a:off x="763905" y="1716405"/>
              <a:ext cx="1491615" cy="247650"/>
            </a:xfrm>
            <a:prstGeom prst="roundRect">
              <a:avLst>
                <a:gd name="adj" fmla="val 50000"/>
              </a:avLst>
            </a:prstGeom>
            <a:solidFill>
              <a:srgbClr val="E7EDF3"/>
            </a:solidFill>
            <a:ln>
              <a:noFill/>
            </a:ln>
          </p:spPr>
        </p:sp>
        <p:sp>
          <p:nvSpPr>
            <p:cNvPr id="10" name="TextBox 10"/>
            <p:cNvSpPr txBox="1"/>
            <p:nvPr/>
          </p:nvSpPr>
          <p:spPr>
            <a:xfrm>
              <a:off x="802184" y="1750695"/>
              <a:ext cx="1415057"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PROTOTYPE（原型）</a:t>
              </a:r>
            </a:p>
          </p:txBody>
        </p:sp>
        <p:sp>
          <p:nvSpPr>
            <p:cNvPr id="11" name="TextBox 11"/>
            <p:cNvSpPr txBox="1"/>
            <p:nvPr/>
          </p:nvSpPr>
          <p:spPr>
            <a:xfrm>
              <a:off x="2362962" y="1756410"/>
              <a:ext cx="128587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对象创建型模式</a:t>
              </a:r>
            </a:p>
          </p:txBody>
        </p:sp>
        <p:sp>
          <p:nvSpPr>
            <p:cNvPr id="12" name="TextBox 12"/>
            <p:cNvSpPr txBox="1"/>
            <p:nvPr/>
          </p:nvSpPr>
          <p:spPr>
            <a:xfrm>
              <a:off x="757047" y="2090738"/>
              <a:ext cx="478002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 xml:space="preserve">用原型实例指定创建对象的种类，并通过 </a:t>
              </a:r>
              <a:r>
                <a:rPr lang="zh-CN" sz="1350" b="1" dirty="0">
                  <a:solidFill>
                    <a:srgbClr val="C2410C"/>
                  </a:solidFill>
                  <a:latin typeface="+mn-lt"/>
                  <a:ea typeface="+mn-ea"/>
                  <a:cs typeface="+mn-cs"/>
                </a:rPr>
                <a:t>拷贝这些原型</a:t>
              </a:r>
              <a:r>
                <a:rPr lang="zh-CN" sz="1350" dirty="0">
                  <a:solidFill>
                    <a:srgbClr val="1F2937"/>
                  </a:solidFill>
                  <a:latin typeface="+mn-lt"/>
                  <a:ea typeface="+mn-ea"/>
                  <a:cs typeface="+mn-cs"/>
                </a:rPr>
                <a:t xml:space="preserve"> 创建新</a:t>
              </a:r>
              <a:br/>
              <a:r>
                <a:rPr lang="zh-CN" sz="1350" dirty="0">
                  <a:solidFill>
                    <a:srgbClr val="1F2937"/>
                  </a:solidFill>
                  <a:latin typeface="+mn-lt"/>
                  <a:ea typeface="+mn-ea"/>
                  <a:cs typeface="+mn-cs"/>
                </a:rPr>
                <a:t xml:space="preserve">对象。客户只写 </a:t>
              </a:r>
              <a:r>
                <a:rPr lang="en-US" sz="1350" dirty="0">
                  <a:solidFill>
                    <a:srgbClr val="243B53"/>
                  </a:solidFill>
                  <a:latin typeface="+mn-lt"/>
                  <a:ea typeface="+mn-ea"/>
                  <a:cs typeface="+mn-cs"/>
                </a:rPr>
                <a:t>p = prototype-&gt;Clone()</a:t>
              </a:r>
              <a:r>
                <a:rPr lang="zh-CN" sz="1350" dirty="0">
                  <a:solidFill>
                    <a:srgbClr val="1F2937"/>
                  </a:solidFill>
                  <a:latin typeface="+mn-lt"/>
                  <a:ea typeface="+mn-ea"/>
                  <a:cs typeface="+mn-cs"/>
                </a:rPr>
                <a:t>，不必知道 p 的真实</a:t>
              </a:r>
              <a:br/>
              <a:r>
                <a:rPr lang="zh-CN" sz="1350" dirty="0">
                  <a:solidFill>
                    <a:srgbClr val="1F2937"/>
                  </a:solidFill>
                  <a:latin typeface="+mn-lt"/>
                  <a:ea typeface="+mn-ea"/>
                  <a:cs typeface="+mn-cs"/>
                </a:rPr>
                <a:t>类型。</a:t>
              </a:r>
            </a:p>
          </p:txBody>
        </p:sp>
      </p:grpSp>
      <p:grpSp>
        <p:nvGrpSpPr>
          <p:cNvPr id="46" name="c1-uml-2"/>
          <p:cNvGrpSpPr/>
          <p:nvPr/>
        </p:nvGrpSpPr>
        <p:grpSpPr>
          <a:xfrm>
            <a:off x="1143952" y="3257550"/>
            <a:ext cx="4189095" cy="1323974"/>
            <a:chOff x="1143952" y="3257550"/>
            <a:chExt cx="4189095" cy="1323974"/>
          </a:xfrm>
        </p:grpSpPr>
        <p:sp>
          <p:nvSpPr>
            <p:cNvPr id="14" name="Freeform 14"/>
            <p:cNvSpPr/>
            <p:nvPr/>
          </p:nvSpPr>
          <p:spPr>
            <a:xfrm>
              <a:off x="2457450" y="3551872"/>
              <a:ext cx="1562100" cy="9525"/>
            </a:xfrm>
            <a:custGeom>
              <a:avLst/>
              <a:gdLst/>
              <a:ahLst/>
              <a:cxnLst/>
              <a:rect l="l" t="t" r="r" b="b"/>
              <a:pathLst>
                <a:path w="1562100" h="9525">
                  <a:moveTo>
                    <a:pt x="0" y="0"/>
                  </a:moveTo>
                  <a:lnTo>
                    <a:pt x="1562100" y="0"/>
                  </a:lnTo>
                </a:path>
              </a:pathLst>
            </a:custGeom>
            <a:noFill/>
            <a:ln w="15240">
              <a:solidFill>
                <a:srgbClr val="1F2937"/>
              </a:solidFill>
            </a:ln>
          </p:spPr>
        </p:sp>
        <p:sp>
          <p:nvSpPr>
            <p:cNvPr id="15" name="Freeform 15"/>
            <p:cNvSpPr/>
            <p:nvPr/>
          </p:nvSpPr>
          <p:spPr>
            <a:xfrm>
              <a:off x="3914775" y="3493770"/>
              <a:ext cx="104775" cy="115252"/>
            </a:xfrm>
            <a:custGeom>
              <a:avLst/>
              <a:gdLst/>
              <a:ahLst/>
              <a:cxnLst/>
              <a:rect l="l" t="t" r="r" b="b"/>
              <a:pathLst>
                <a:path w="104775" h="115252">
                  <a:moveTo>
                    <a:pt x="0" y="115252"/>
                  </a:moveTo>
                  <a:lnTo>
                    <a:pt x="104775" y="58102"/>
                  </a:lnTo>
                  <a:lnTo>
                    <a:pt x="0" y="0"/>
                  </a:lnTo>
                </a:path>
              </a:pathLst>
            </a:custGeom>
            <a:noFill/>
            <a:ln w="15240">
              <a:solidFill>
                <a:srgbClr val="1F2937"/>
              </a:solidFill>
            </a:ln>
          </p:spPr>
        </p:sp>
        <p:sp>
          <p:nvSpPr>
            <p:cNvPr id="16" name="Freeform 16"/>
            <p:cNvSpPr/>
            <p:nvPr/>
          </p:nvSpPr>
          <p:spPr>
            <a:xfrm>
              <a:off x="1885950" y="3919538"/>
              <a:ext cx="2609850" cy="74295"/>
            </a:xfrm>
            <a:custGeom>
              <a:avLst/>
              <a:gdLst/>
              <a:ahLst/>
              <a:cxnLst/>
              <a:rect l="l" t="t" r="r" b="b"/>
              <a:pathLst>
                <a:path w="2609850" h="74295">
                  <a:moveTo>
                    <a:pt x="0" y="74295"/>
                  </a:moveTo>
                  <a:lnTo>
                    <a:pt x="0" y="0"/>
                  </a:lnTo>
                  <a:lnTo>
                    <a:pt x="2609850" y="0"/>
                  </a:lnTo>
                  <a:lnTo>
                    <a:pt x="2609850" y="51435"/>
                  </a:lnTo>
                </a:path>
              </a:pathLst>
            </a:custGeom>
            <a:noFill/>
            <a:ln w="15240">
              <a:solidFill>
                <a:srgbClr val="1F2937"/>
              </a:solidFill>
            </a:ln>
          </p:spPr>
        </p:sp>
        <p:sp>
          <p:nvSpPr>
            <p:cNvPr id="17" name="Freeform 17"/>
            <p:cNvSpPr/>
            <p:nvPr/>
          </p:nvSpPr>
          <p:spPr>
            <a:xfrm>
              <a:off x="4422458" y="3845242"/>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18" name="Freeform 18"/>
            <p:cNvSpPr/>
            <p:nvPr/>
          </p:nvSpPr>
          <p:spPr>
            <a:xfrm>
              <a:off x="4591050" y="3919538"/>
              <a:ext cx="95250" cy="74295"/>
            </a:xfrm>
            <a:custGeom>
              <a:avLst/>
              <a:gdLst/>
              <a:ahLst/>
              <a:cxnLst/>
              <a:rect l="l" t="t" r="r" b="b"/>
              <a:pathLst>
                <a:path w="95250" h="74295">
                  <a:moveTo>
                    <a:pt x="0" y="74295"/>
                  </a:moveTo>
                  <a:lnTo>
                    <a:pt x="0" y="0"/>
                  </a:lnTo>
                  <a:lnTo>
                    <a:pt x="95250" y="0"/>
                  </a:lnTo>
                  <a:lnTo>
                    <a:pt x="95250" y="51435"/>
                  </a:lnTo>
                </a:path>
              </a:pathLst>
            </a:custGeom>
            <a:noFill/>
            <a:ln w="15240">
              <a:solidFill>
                <a:srgbClr val="1F2937"/>
              </a:solidFill>
            </a:ln>
          </p:spPr>
        </p:sp>
        <p:sp>
          <p:nvSpPr>
            <p:cNvPr id="19" name="Freeform 19"/>
            <p:cNvSpPr/>
            <p:nvPr/>
          </p:nvSpPr>
          <p:spPr>
            <a:xfrm>
              <a:off x="4612958" y="3845242"/>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20" name="Rectangle 20"/>
            <p:cNvSpPr/>
            <p:nvPr/>
          </p:nvSpPr>
          <p:spPr>
            <a:xfrm>
              <a:off x="1314450" y="3257550"/>
              <a:ext cx="1143000" cy="587692"/>
            </a:xfrm>
            <a:prstGeom prst="rect">
              <a:avLst/>
            </a:prstGeom>
            <a:solidFill>
              <a:srgbClr val="FFFFFF"/>
            </a:solidFill>
            <a:ln w="14288">
              <a:solidFill>
                <a:srgbClr val="334E68"/>
              </a:solidFill>
            </a:ln>
          </p:spPr>
        </p:sp>
        <p:sp>
          <p:nvSpPr>
            <p:cNvPr id="21" name="Rectangle 21"/>
            <p:cNvSpPr/>
            <p:nvPr/>
          </p:nvSpPr>
          <p:spPr>
            <a:xfrm>
              <a:off x="1322070" y="3264218"/>
              <a:ext cx="1128712" cy="227648"/>
            </a:xfrm>
            <a:prstGeom prst="rect">
              <a:avLst/>
            </a:prstGeom>
            <a:solidFill>
              <a:srgbClr val="E7EDF3"/>
            </a:solidFill>
            <a:ln>
              <a:noFill/>
            </a:ln>
          </p:spPr>
        </p:sp>
        <p:sp>
          <p:nvSpPr>
            <p:cNvPr id="22" name="Rectangle 22"/>
            <p:cNvSpPr/>
            <p:nvPr/>
          </p:nvSpPr>
          <p:spPr>
            <a:xfrm>
              <a:off x="1314450" y="3488055"/>
              <a:ext cx="1143000" cy="9525"/>
            </a:xfrm>
            <a:prstGeom prst="rect">
              <a:avLst/>
            </a:prstGeom>
            <a:solidFill>
              <a:srgbClr val="334E68"/>
            </a:solidFill>
            <a:ln>
              <a:noFill/>
            </a:ln>
          </p:spPr>
        </p:sp>
        <p:sp>
          <p:nvSpPr>
            <p:cNvPr id="23" name="Rectangle 23"/>
            <p:cNvSpPr/>
            <p:nvPr/>
          </p:nvSpPr>
          <p:spPr>
            <a:xfrm>
              <a:off x="1314450" y="3583305"/>
              <a:ext cx="1143000" cy="9525"/>
            </a:xfrm>
            <a:prstGeom prst="rect">
              <a:avLst/>
            </a:prstGeom>
            <a:solidFill>
              <a:srgbClr val="334E68"/>
            </a:solidFill>
            <a:ln>
              <a:noFill/>
            </a:ln>
          </p:spPr>
        </p:sp>
        <p:sp>
          <p:nvSpPr>
            <p:cNvPr id="24" name="Rectangle 24"/>
            <p:cNvSpPr/>
            <p:nvPr/>
          </p:nvSpPr>
          <p:spPr>
            <a:xfrm>
              <a:off x="4019550" y="3257550"/>
              <a:ext cx="1143000" cy="587692"/>
            </a:xfrm>
            <a:prstGeom prst="rect">
              <a:avLst/>
            </a:prstGeom>
            <a:solidFill>
              <a:srgbClr val="FFFFFF"/>
            </a:solidFill>
            <a:ln w="14288">
              <a:solidFill>
                <a:srgbClr val="334E68"/>
              </a:solidFill>
            </a:ln>
          </p:spPr>
        </p:sp>
        <p:sp>
          <p:nvSpPr>
            <p:cNvPr id="25" name="Rectangle 25"/>
            <p:cNvSpPr/>
            <p:nvPr/>
          </p:nvSpPr>
          <p:spPr>
            <a:xfrm>
              <a:off x="4027170" y="3264218"/>
              <a:ext cx="1128712" cy="227648"/>
            </a:xfrm>
            <a:prstGeom prst="rect">
              <a:avLst/>
            </a:prstGeom>
            <a:solidFill>
              <a:srgbClr val="E7EDF3"/>
            </a:solidFill>
            <a:ln>
              <a:noFill/>
            </a:ln>
          </p:spPr>
        </p:sp>
        <p:sp>
          <p:nvSpPr>
            <p:cNvPr id="26" name="Rectangle 26"/>
            <p:cNvSpPr/>
            <p:nvPr/>
          </p:nvSpPr>
          <p:spPr>
            <a:xfrm>
              <a:off x="4019550" y="3488055"/>
              <a:ext cx="1143000" cy="9525"/>
            </a:xfrm>
            <a:prstGeom prst="rect">
              <a:avLst/>
            </a:prstGeom>
            <a:solidFill>
              <a:srgbClr val="334E68"/>
            </a:solidFill>
            <a:ln>
              <a:noFill/>
            </a:ln>
          </p:spPr>
        </p:sp>
        <p:sp>
          <p:nvSpPr>
            <p:cNvPr id="27" name="Rectangle 27"/>
            <p:cNvSpPr/>
            <p:nvPr/>
          </p:nvSpPr>
          <p:spPr>
            <a:xfrm>
              <a:off x="4019550" y="3583305"/>
              <a:ext cx="1143000" cy="9525"/>
            </a:xfrm>
            <a:prstGeom prst="rect">
              <a:avLst/>
            </a:prstGeom>
            <a:solidFill>
              <a:srgbClr val="334E68"/>
            </a:solidFill>
            <a:ln>
              <a:noFill/>
            </a:ln>
          </p:spPr>
        </p:sp>
        <p:sp>
          <p:nvSpPr>
            <p:cNvPr id="28" name="Rectangle 28"/>
            <p:cNvSpPr/>
            <p:nvPr/>
          </p:nvSpPr>
          <p:spPr>
            <a:xfrm>
              <a:off x="1143952" y="3993832"/>
              <a:ext cx="1483995" cy="587692"/>
            </a:xfrm>
            <a:prstGeom prst="rect">
              <a:avLst/>
            </a:prstGeom>
            <a:solidFill>
              <a:srgbClr val="FFFFFF"/>
            </a:solidFill>
            <a:ln w="14288">
              <a:solidFill>
                <a:srgbClr val="334E68"/>
              </a:solidFill>
            </a:ln>
          </p:spPr>
        </p:sp>
        <p:sp>
          <p:nvSpPr>
            <p:cNvPr id="29" name="Rectangle 29"/>
            <p:cNvSpPr/>
            <p:nvPr/>
          </p:nvSpPr>
          <p:spPr>
            <a:xfrm>
              <a:off x="1150620" y="4001452"/>
              <a:ext cx="1469708" cy="227648"/>
            </a:xfrm>
            <a:prstGeom prst="rect">
              <a:avLst/>
            </a:prstGeom>
            <a:solidFill>
              <a:srgbClr val="E7EDF3"/>
            </a:solidFill>
            <a:ln>
              <a:noFill/>
            </a:ln>
          </p:spPr>
        </p:sp>
        <p:sp>
          <p:nvSpPr>
            <p:cNvPr id="30" name="Rectangle 30"/>
            <p:cNvSpPr/>
            <p:nvPr/>
          </p:nvSpPr>
          <p:spPr>
            <a:xfrm>
              <a:off x="1143952" y="4224338"/>
              <a:ext cx="1483995" cy="9525"/>
            </a:xfrm>
            <a:prstGeom prst="rect">
              <a:avLst/>
            </a:prstGeom>
            <a:solidFill>
              <a:srgbClr val="334E68"/>
            </a:solidFill>
            <a:ln>
              <a:noFill/>
            </a:ln>
          </p:spPr>
        </p:sp>
        <p:sp>
          <p:nvSpPr>
            <p:cNvPr id="31" name="Rectangle 31"/>
            <p:cNvSpPr/>
            <p:nvPr/>
          </p:nvSpPr>
          <p:spPr>
            <a:xfrm>
              <a:off x="1143952" y="4319588"/>
              <a:ext cx="1483995" cy="9525"/>
            </a:xfrm>
            <a:prstGeom prst="rect">
              <a:avLst/>
            </a:prstGeom>
            <a:solidFill>
              <a:srgbClr val="334E68"/>
            </a:solidFill>
            <a:ln>
              <a:noFill/>
            </a:ln>
          </p:spPr>
        </p:sp>
        <p:sp>
          <p:nvSpPr>
            <p:cNvPr id="32" name="Rectangle 32"/>
            <p:cNvSpPr/>
            <p:nvPr/>
          </p:nvSpPr>
          <p:spPr>
            <a:xfrm>
              <a:off x="3849052" y="3993832"/>
              <a:ext cx="1483995" cy="587692"/>
            </a:xfrm>
            <a:prstGeom prst="rect">
              <a:avLst/>
            </a:prstGeom>
            <a:solidFill>
              <a:srgbClr val="FFFFFF"/>
            </a:solidFill>
            <a:ln w="14288">
              <a:solidFill>
                <a:srgbClr val="334E68"/>
              </a:solidFill>
            </a:ln>
          </p:spPr>
        </p:sp>
        <p:sp>
          <p:nvSpPr>
            <p:cNvPr id="33" name="Rectangle 33"/>
            <p:cNvSpPr/>
            <p:nvPr/>
          </p:nvSpPr>
          <p:spPr>
            <a:xfrm>
              <a:off x="3855720" y="4001452"/>
              <a:ext cx="1469708" cy="227648"/>
            </a:xfrm>
            <a:prstGeom prst="rect">
              <a:avLst/>
            </a:prstGeom>
            <a:solidFill>
              <a:srgbClr val="E7EDF3"/>
            </a:solidFill>
            <a:ln>
              <a:noFill/>
            </a:ln>
          </p:spPr>
        </p:sp>
        <p:sp>
          <p:nvSpPr>
            <p:cNvPr id="34" name="Rectangle 34"/>
            <p:cNvSpPr/>
            <p:nvPr/>
          </p:nvSpPr>
          <p:spPr>
            <a:xfrm>
              <a:off x="3849052" y="4224338"/>
              <a:ext cx="1483995" cy="9525"/>
            </a:xfrm>
            <a:prstGeom prst="rect">
              <a:avLst/>
            </a:prstGeom>
            <a:solidFill>
              <a:srgbClr val="334E68"/>
            </a:solidFill>
            <a:ln>
              <a:noFill/>
            </a:ln>
          </p:spPr>
        </p:sp>
        <p:sp>
          <p:nvSpPr>
            <p:cNvPr id="35" name="Rectangle 35"/>
            <p:cNvSpPr/>
            <p:nvPr/>
          </p:nvSpPr>
          <p:spPr>
            <a:xfrm>
              <a:off x="3849052" y="4319588"/>
              <a:ext cx="1483995" cy="9525"/>
            </a:xfrm>
            <a:prstGeom prst="rect">
              <a:avLst/>
            </a:prstGeom>
            <a:solidFill>
              <a:srgbClr val="334E68"/>
            </a:solidFill>
            <a:ln>
              <a:noFill/>
            </a:ln>
          </p:spPr>
        </p:sp>
        <p:sp>
          <p:nvSpPr>
            <p:cNvPr id="36" name="TextBox 36"/>
            <p:cNvSpPr txBox="1"/>
            <p:nvPr/>
          </p:nvSpPr>
          <p:spPr>
            <a:xfrm>
              <a:off x="1685234" y="3313271"/>
              <a:ext cx="401432" cy="190690"/>
            </a:xfrm>
            <a:prstGeom prst="rect">
              <a:avLst/>
            </a:prstGeom>
            <a:noFill/>
            <a:ln>
              <a:noFill/>
            </a:ln>
          </p:spPr>
          <p:txBody>
            <a:bodyPr wrap="none" lIns="0" tIns="0" rIns="0" bIns="0" anchor="t" anchorCtr="0">
              <a:spAutoFit/>
            </a:bodyPr>
            <a:lstStyle/>
            <a:p>
              <a:pPr algn="ctr"/>
              <a:r>
                <a:rPr lang="en-US" sz="980" b="1" dirty="0">
                  <a:solidFill>
                    <a:srgbClr val="243B53"/>
                  </a:solidFill>
                  <a:latin typeface="+mn-lt"/>
                  <a:ea typeface="+mn-ea"/>
                  <a:cs typeface="+mn-cs"/>
                </a:rPr>
                <a:t>Client</a:t>
              </a:r>
            </a:p>
          </p:txBody>
        </p:sp>
        <p:sp>
          <p:nvSpPr>
            <p:cNvPr id="37" name="TextBox 37"/>
            <p:cNvSpPr txBox="1"/>
            <p:nvPr/>
          </p:nvSpPr>
          <p:spPr>
            <a:xfrm>
              <a:off x="1385888" y="3652838"/>
              <a:ext cx="808101"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+Operation()</a:t>
              </a:r>
            </a:p>
          </p:txBody>
        </p:sp>
        <p:sp>
          <p:nvSpPr>
            <p:cNvPr id="38" name="TextBox 38"/>
            <p:cNvSpPr txBox="1"/>
            <p:nvPr/>
          </p:nvSpPr>
          <p:spPr>
            <a:xfrm>
              <a:off x="4241094" y="3313271"/>
              <a:ext cx="699912" cy="190690"/>
            </a:xfrm>
            <a:prstGeom prst="rect">
              <a:avLst/>
            </a:prstGeom>
            <a:noFill/>
            <a:ln>
              <a:noFill/>
            </a:ln>
          </p:spPr>
          <p:txBody>
            <a:bodyPr wrap="none" lIns="0" tIns="0" rIns="0" bIns="0" anchor="t" anchorCtr="0">
              <a:spAutoFit/>
            </a:bodyPr>
            <a:lstStyle/>
            <a:p>
              <a:pPr algn="ctr"/>
              <a:r>
                <a:rPr lang="en-US" sz="980" b="1" i="1" dirty="0">
                  <a:solidFill>
                    <a:srgbClr val="243B53"/>
                  </a:solidFill>
                  <a:latin typeface="+mn-lt"/>
                  <a:ea typeface="+mn-ea"/>
                  <a:cs typeface="+mn-cs"/>
                </a:rPr>
                <a:t>Prototype</a:t>
              </a:r>
            </a:p>
          </p:txBody>
        </p:sp>
        <p:sp>
          <p:nvSpPr>
            <p:cNvPr id="39" name="TextBox 39"/>
            <p:cNvSpPr txBox="1"/>
            <p:nvPr/>
          </p:nvSpPr>
          <p:spPr>
            <a:xfrm>
              <a:off x="4090988" y="3652838"/>
              <a:ext cx="518023"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+Clone()</a:t>
              </a:r>
            </a:p>
          </p:txBody>
        </p:sp>
        <p:sp>
          <p:nvSpPr>
            <p:cNvPr id="40" name="TextBox 40"/>
            <p:cNvSpPr txBox="1"/>
            <p:nvPr/>
          </p:nvSpPr>
          <p:spPr>
            <a:xfrm>
              <a:off x="1190737" y="4049554"/>
              <a:ext cx="1390426" cy="190690"/>
            </a:xfrm>
            <a:prstGeom prst="rect">
              <a:avLst/>
            </a:prstGeom>
            <a:noFill/>
            <a:ln>
              <a:noFill/>
            </a:ln>
          </p:spPr>
          <p:txBody>
            <a:bodyPr wrap="none" lIns="0" tIns="0" rIns="0" bIns="0" anchor="t" anchorCtr="0">
              <a:spAutoFit/>
            </a:bodyPr>
            <a:lstStyle/>
            <a:p>
              <a:pPr algn="ctr"/>
              <a:r>
                <a:rPr lang="en-US" sz="980" b="1" dirty="0">
                  <a:solidFill>
                    <a:srgbClr val="243B53"/>
                  </a:solidFill>
                  <a:latin typeface="+mn-lt"/>
                  <a:ea typeface="+mn-ea"/>
                  <a:cs typeface="+mn-cs"/>
                </a:rPr>
                <a:t>ConcretePrototype1</a:t>
              </a:r>
            </a:p>
          </p:txBody>
        </p:sp>
        <p:sp>
          <p:nvSpPr>
            <p:cNvPr id="41" name="TextBox 41"/>
            <p:cNvSpPr txBox="1"/>
            <p:nvPr/>
          </p:nvSpPr>
          <p:spPr>
            <a:xfrm>
              <a:off x="1215390" y="4389120"/>
              <a:ext cx="518023"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+Clone()</a:t>
              </a:r>
            </a:p>
          </p:txBody>
        </p:sp>
        <p:sp>
          <p:nvSpPr>
            <p:cNvPr id="42" name="TextBox 42"/>
            <p:cNvSpPr txBox="1"/>
            <p:nvPr/>
          </p:nvSpPr>
          <p:spPr>
            <a:xfrm>
              <a:off x="3895837" y="4049554"/>
              <a:ext cx="1390426" cy="190690"/>
            </a:xfrm>
            <a:prstGeom prst="rect">
              <a:avLst/>
            </a:prstGeom>
            <a:noFill/>
            <a:ln>
              <a:noFill/>
            </a:ln>
          </p:spPr>
          <p:txBody>
            <a:bodyPr wrap="none" lIns="0" tIns="0" rIns="0" bIns="0" anchor="t" anchorCtr="0">
              <a:spAutoFit/>
            </a:bodyPr>
            <a:lstStyle/>
            <a:p>
              <a:pPr algn="ctr"/>
              <a:r>
                <a:rPr lang="en-US" sz="980" b="1" dirty="0">
                  <a:solidFill>
                    <a:srgbClr val="243B53"/>
                  </a:solidFill>
                  <a:latin typeface="+mn-lt"/>
                  <a:ea typeface="+mn-ea"/>
                  <a:cs typeface="+mn-cs"/>
                </a:rPr>
                <a:t>ConcretePrototype2</a:t>
              </a:r>
            </a:p>
          </p:txBody>
        </p:sp>
        <p:sp>
          <p:nvSpPr>
            <p:cNvPr id="43" name="TextBox 43"/>
            <p:cNvSpPr txBox="1"/>
            <p:nvPr/>
          </p:nvSpPr>
          <p:spPr>
            <a:xfrm>
              <a:off x="3920490" y="4389120"/>
              <a:ext cx="518023"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+Clone()</a:t>
              </a:r>
            </a:p>
          </p:txBody>
        </p:sp>
        <p:sp>
          <p:nvSpPr>
            <p:cNvPr id="44" name="Rectangle 44"/>
            <p:cNvSpPr/>
            <p:nvPr/>
          </p:nvSpPr>
          <p:spPr>
            <a:xfrm>
              <a:off x="2883218" y="3345180"/>
              <a:ext cx="711518" cy="179070"/>
            </a:xfrm>
            <a:prstGeom prst="roundRect">
              <a:avLst>
                <a:gd name="adj" fmla="val 21277"/>
              </a:avLst>
            </a:prstGeom>
            <a:solidFill>
              <a:srgbClr val="FFFFFF"/>
            </a:solidFill>
            <a:ln>
              <a:noFill/>
            </a:ln>
          </p:spPr>
        </p:sp>
        <p:sp>
          <p:nvSpPr>
            <p:cNvPr id="45" name="TextBox 45"/>
            <p:cNvSpPr txBox="1"/>
            <p:nvPr/>
          </p:nvSpPr>
          <p:spPr>
            <a:xfrm>
              <a:off x="2907026" y="3370421"/>
              <a:ext cx="662948"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prototype</a:t>
              </a:r>
            </a:p>
          </p:txBody>
        </p:sp>
      </p:grpSp>
      <p:grpSp>
        <p:nvGrpSpPr>
          <p:cNvPr id="53" name="c1-callout-3"/>
          <p:cNvGrpSpPr/>
          <p:nvPr/>
        </p:nvGrpSpPr>
        <p:grpSpPr>
          <a:xfrm>
            <a:off x="533400" y="4832032"/>
            <a:ext cx="5410200" cy="729615"/>
            <a:chOff x="533400" y="4832032"/>
            <a:chExt cx="5410200" cy="729615"/>
          </a:xfrm>
        </p:grpSpPr>
        <p:sp>
          <p:nvSpPr>
            <p:cNvPr id="47" name="Rectangle 47"/>
            <p:cNvSpPr/>
            <p:nvPr/>
          </p:nvSpPr>
          <p:spPr>
            <a:xfrm>
              <a:off x="533400" y="4832032"/>
              <a:ext cx="5410200" cy="729615"/>
            </a:xfrm>
            <a:prstGeom prst="roundRect">
              <a:avLst>
                <a:gd name="adj" fmla="val 15666"/>
              </a:avLst>
            </a:prstGeom>
            <a:solidFill>
              <a:srgbClr val="FDEEE7"/>
            </a:solidFill>
            <a:ln>
              <a:noFill/>
            </a:ln>
          </p:spPr>
        </p:sp>
        <p:grpSp>
          <p:nvGrpSpPr>
            <p:cNvPr id="51" name="Group 51"/>
            <p:cNvGrpSpPr/>
            <p:nvPr/>
          </p:nvGrpSpPr>
          <p:grpSpPr>
            <a:xfrm>
              <a:off x="738188" y="5095875"/>
              <a:ext cx="200026" cy="200025"/>
              <a:chOff x="738188" y="5095875"/>
              <a:chExt cx="200026" cy="200025"/>
            </a:xfrm>
          </p:grpSpPr>
          <p:sp>
            <p:nvSpPr>
              <p:cNvPr id="48" name="Freeform 48"/>
              <p:cNvSpPr/>
              <p:nvPr/>
            </p:nvSpPr>
            <p:spPr>
              <a:xfrm>
                <a:off x="738188" y="509587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49" name="Freeform 49"/>
              <p:cNvSpPr/>
              <p:nvPr/>
            </p:nvSpPr>
            <p:spPr>
              <a:xfrm>
                <a:off x="777926" y="514032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50" name="Freeform 50"/>
              <p:cNvSpPr/>
              <p:nvPr/>
            </p:nvSpPr>
            <p:spPr>
              <a:xfrm>
                <a:off x="812642" y="525145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2" name="TextBox 52"/>
            <p:cNvSpPr txBox="1"/>
            <p:nvPr/>
          </p:nvSpPr>
          <p:spPr>
            <a:xfrm>
              <a:off x="1040892" y="4977765"/>
              <a:ext cx="450570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C2410C"/>
                  </a:solidFill>
                  <a:latin typeface="+mn-lt"/>
                  <a:ea typeface="+mn-ea"/>
                  <a:cs typeface="+mn-cs"/>
                </a:rPr>
                <a:t>MazePrototypeFactory 存下四个原型，MakeWall() 就是</a:t>
              </a:r>
              <a:br/>
              <a:r>
                <a:rPr lang="en-US" sz="1350" dirty="0">
                  <a:solidFill>
                    <a:srgbClr val="243B53"/>
                  </a:solidFill>
                  <a:latin typeface="+mn-lt"/>
                  <a:ea typeface="+mn-ea"/>
                  <a:cs typeface="+mn-cs"/>
                </a:rPr>
                <a:t>_prototypeWall-&gt;Clone()</a:t>
              </a:r>
              <a:r>
                <a:rPr lang="zh-CN" sz="1350" dirty="0">
                  <a:solidFill>
                    <a:srgbClr val="C2410C"/>
                  </a:solidFill>
                  <a:latin typeface="+mn-lt"/>
                  <a:ea typeface="+mn-ea"/>
                  <a:cs typeface="+mn-cs"/>
                </a:rPr>
                <a:t>。</a:t>
              </a:r>
            </a:p>
          </p:txBody>
        </p:sp>
      </p:grpSp>
      <p:grpSp>
        <p:nvGrpSpPr>
          <p:cNvPr id="60" name="c2-card-1"/>
          <p:cNvGrpSpPr/>
          <p:nvPr/>
        </p:nvGrpSpPr>
        <p:grpSpPr>
          <a:xfrm>
            <a:off x="6248400" y="1524000"/>
            <a:ext cx="5410200" cy="1226820"/>
            <a:chOff x="6248400" y="1524000"/>
            <a:chExt cx="5410200" cy="1226820"/>
          </a:xfrm>
        </p:grpSpPr>
        <p:sp>
          <p:nvSpPr>
            <p:cNvPr id="54" name="Rectangle 54"/>
            <p:cNvSpPr/>
            <p:nvPr/>
          </p:nvSpPr>
          <p:spPr>
            <a:xfrm>
              <a:off x="6248400" y="1524000"/>
              <a:ext cx="5410200" cy="1226820"/>
            </a:xfrm>
            <a:prstGeom prst="roundRect">
              <a:avLst>
                <a:gd name="adj" fmla="val 10870"/>
              </a:avLst>
            </a:prstGeom>
            <a:solidFill>
              <a:srgbClr val="FFFFFF"/>
            </a:solidFill>
            <a:ln w="14288">
              <a:solidFill>
                <a:srgbClr val="D9DFEA"/>
              </a:solidFill>
            </a:ln>
          </p:spPr>
        </p:sp>
        <p:sp>
          <p:nvSpPr>
            <p:cNvPr id="55" name="Rectangle 55"/>
            <p:cNvSpPr/>
            <p:nvPr/>
          </p:nvSpPr>
          <p:spPr>
            <a:xfrm>
              <a:off x="6257925" y="1657350"/>
              <a:ext cx="47625" cy="960120"/>
            </a:xfrm>
            <a:prstGeom prst="roundRect">
              <a:avLst>
                <a:gd name="adj" fmla="val 50000"/>
              </a:avLst>
            </a:prstGeom>
            <a:solidFill>
              <a:srgbClr val="334E68"/>
            </a:solidFill>
            <a:ln>
              <a:noFill/>
            </a:ln>
          </p:spPr>
        </p:sp>
        <p:sp>
          <p:nvSpPr>
            <p:cNvPr id="56" name="Rectangle 56"/>
            <p:cNvSpPr/>
            <p:nvPr/>
          </p:nvSpPr>
          <p:spPr>
            <a:xfrm>
              <a:off x="6478905" y="1716405"/>
              <a:ext cx="1359218" cy="247650"/>
            </a:xfrm>
            <a:prstGeom prst="roundRect">
              <a:avLst>
                <a:gd name="adj" fmla="val 50000"/>
              </a:avLst>
            </a:prstGeom>
            <a:solidFill>
              <a:srgbClr val="E7EDF3"/>
            </a:solidFill>
            <a:ln>
              <a:noFill/>
            </a:ln>
          </p:spPr>
        </p:sp>
        <p:sp>
          <p:nvSpPr>
            <p:cNvPr id="57" name="TextBox 57"/>
            <p:cNvSpPr txBox="1"/>
            <p:nvPr/>
          </p:nvSpPr>
          <p:spPr>
            <a:xfrm>
              <a:off x="6524998" y="1750695"/>
              <a:ext cx="1266078"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STRATEGY（策略）</a:t>
              </a:r>
            </a:p>
          </p:txBody>
        </p:sp>
        <p:sp>
          <p:nvSpPr>
            <p:cNvPr id="58" name="TextBox 58"/>
            <p:cNvSpPr txBox="1"/>
            <p:nvPr/>
          </p:nvSpPr>
          <p:spPr>
            <a:xfrm>
              <a:off x="7945564" y="1756410"/>
              <a:ext cx="128587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对象行为型模式</a:t>
              </a:r>
            </a:p>
          </p:txBody>
        </p:sp>
        <p:sp>
          <p:nvSpPr>
            <p:cNvPr id="59" name="TextBox 59"/>
            <p:cNvSpPr txBox="1"/>
            <p:nvPr/>
          </p:nvSpPr>
          <p:spPr>
            <a:xfrm>
              <a:off x="6472047" y="2090738"/>
              <a:ext cx="46428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定义一系列算法，把它们一个个封装起来，并使它们可相互替</a:t>
              </a:r>
              <a:br/>
              <a:r>
                <a:rPr lang="zh-CN" sz="1350" dirty="0">
                  <a:solidFill>
                    <a:srgbClr val="1F2937"/>
                  </a:solidFill>
                  <a:latin typeface="+mn-lt"/>
                  <a:ea typeface="+mn-ea"/>
                  <a:cs typeface="+mn-cs"/>
                </a:rPr>
                <a:t>换，让算法可独立于使用它的客户而变化。</a:t>
              </a:r>
            </a:p>
          </p:txBody>
        </p:sp>
      </p:grpSp>
      <p:grpSp>
        <p:nvGrpSpPr>
          <p:cNvPr id="93" name="c2-uml-2"/>
          <p:cNvGrpSpPr/>
          <p:nvPr/>
        </p:nvGrpSpPr>
        <p:grpSpPr>
          <a:xfrm>
            <a:off x="6895148" y="3000375"/>
            <a:ext cx="4128135" cy="1323975"/>
            <a:chOff x="6895148" y="3000375"/>
            <a:chExt cx="4128135" cy="1323975"/>
          </a:xfrm>
        </p:grpSpPr>
        <p:sp>
          <p:nvSpPr>
            <p:cNvPr id="61" name="Freeform 61"/>
            <p:cNvSpPr/>
            <p:nvPr/>
          </p:nvSpPr>
          <p:spPr>
            <a:xfrm>
              <a:off x="8469630" y="3294698"/>
              <a:ext cx="1131570" cy="9525"/>
            </a:xfrm>
            <a:custGeom>
              <a:avLst/>
              <a:gdLst/>
              <a:ahLst/>
              <a:cxnLst/>
              <a:rect l="l" t="t" r="r" b="b"/>
              <a:pathLst>
                <a:path w="1131570" h="9525">
                  <a:moveTo>
                    <a:pt x="1131570" y="0"/>
                  </a:moveTo>
                  <a:lnTo>
                    <a:pt x="0" y="0"/>
                  </a:lnTo>
                </a:path>
              </a:pathLst>
            </a:custGeom>
            <a:noFill/>
            <a:ln w="15240">
              <a:solidFill>
                <a:srgbClr val="1F2937"/>
              </a:solidFill>
            </a:ln>
          </p:spPr>
        </p:sp>
        <p:sp>
          <p:nvSpPr>
            <p:cNvPr id="62" name="Freeform 62"/>
            <p:cNvSpPr/>
            <p:nvPr/>
          </p:nvSpPr>
          <p:spPr>
            <a:xfrm>
              <a:off x="8260080" y="3236595"/>
              <a:ext cx="209550" cy="115252"/>
            </a:xfrm>
            <a:custGeom>
              <a:avLst/>
              <a:gdLst/>
              <a:ahLst/>
              <a:cxnLst/>
              <a:rect l="l" t="t" r="r" b="b"/>
              <a:pathLst>
                <a:path w="209550" h="115252">
                  <a:moveTo>
                    <a:pt x="0" y="58102"/>
                  </a:moveTo>
                  <a:lnTo>
                    <a:pt x="104775" y="0"/>
                  </a:lnTo>
                  <a:lnTo>
                    <a:pt x="209550" y="58102"/>
                  </a:lnTo>
                  <a:lnTo>
                    <a:pt x="104775" y="115252"/>
                  </a:lnTo>
                  <a:close/>
                </a:path>
              </a:pathLst>
            </a:custGeom>
            <a:solidFill>
              <a:srgbClr val="FFFFFF"/>
            </a:solidFill>
            <a:ln w="15240">
              <a:solidFill>
                <a:srgbClr val="1F2937"/>
              </a:solidFill>
            </a:ln>
          </p:spPr>
        </p:sp>
        <p:sp>
          <p:nvSpPr>
            <p:cNvPr id="63" name="Freeform 63"/>
            <p:cNvSpPr/>
            <p:nvPr/>
          </p:nvSpPr>
          <p:spPr>
            <a:xfrm>
              <a:off x="7600950" y="3662362"/>
              <a:ext cx="2609850" cy="74295"/>
            </a:xfrm>
            <a:custGeom>
              <a:avLst/>
              <a:gdLst/>
              <a:ahLst/>
              <a:cxnLst/>
              <a:rect l="l" t="t" r="r" b="b"/>
              <a:pathLst>
                <a:path w="2609850" h="74295">
                  <a:moveTo>
                    <a:pt x="0" y="74295"/>
                  </a:moveTo>
                  <a:lnTo>
                    <a:pt x="0" y="0"/>
                  </a:lnTo>
                  <a:lnTo>
                    <a:pt x="2609850" y="0"/>
                  </a:lnTo>
                  <a:lnTo>
                    <a:pt x="2609850" y="51435"/>
                  </a:lnTo>
                </a:path>
              </a:pathLst>
            </a:custGeom>
            <a:noFill/>
            <a:ln w="15240">
              <a:solidFill>
                <a:srgbClr val="1F2937"/>
              </a:solidFill>
              <a:custDash>
                <a:ds d="375000" sp="250000"/>
              </a:custDash>
            </a:ln>
          </p:spPr>
        </p:sp>
        <p:sp>
          <p:nvSpPr>
            <p:cNvPr id="64" name="Freeform 64"/>
            <p:cNvSpPr/>
            <p:nvPr/>
          </p:nvSpPr>
          <p:spPr>
            <a:xfrm>
              <a:off x="10137458" y="3588068"/>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65" name="Freeform 65"/>
            <p:cNvSpPr/>
            <p:nvPr/>
          </p:nvSpPr>
          <p:spPr>
            <a:xfrm>
              <a:off x="10306050" y="3662362"/>
              <a:ext cx="95250" cy="74295"/>
            </a:xfrm>
            <a:custGeom>
              <a:avLst/>
              <a:gdLst/>
              <a:ahLst/>
              <a:cxnLst/>
              <a:rect l="l" t="t" r="r" b="b"/>
              <a:pathLst>
                <a:path w="95250" h="74295">
                  <a:moveTo>
                    <a:pt x="0" y="74295"/>
                  </a:moveTo>
                  <a:lnTo>
                    <a:pt x="0" y="0"/>
                  </a:lnTo>
                  <a:lnTo>
                    <a:pt x="95250" y="0"/>
                  </a:lnTo>
                  <a:lnTo>
                    <a:pt x="95250" y="51435"/>
                  </a:lnTo>
                </a:path>
              </a:pathLst>
            </a:custGeom>
            <a:noFill/>
            <a:ln w="15240">
              <a:solidFill>
                <a:srgbClr val="1F2937"/>
              </a:solidFill>
              <a:custDash>
                <a:ds d="375000" sp="250000"/>
              </a:custDash>
            </a:ln>
          </p:spPr>
        </p:sp>
        <p:sp>
          <p:nvSpPr>
            <p:cNvPr id="66" name="Freeform 66"/>
            <p:cNvSpPr/>
            <p:nvPr/>
          </p:nvSpPr>
          <p:spPr>
            <a:xfrm>
              <a:off x="10327958" y="3588068"/>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67" name="Rectangle 67"/>
            <p:cNvSpPr/>
            <p:nvPr/>
          </p:nvSpPr>
          <p:spPr>
            <a:xfrm>
              <a:off x="6941820" y="3000375"/>
              <a:ext cx="1318260" cy="587692"/>
            </a:xfrm>
            <a:prstGeom prst="rect">
              <a:avLst/>
            </a:prstGeom>
            <a:solidFill>
              <a:srgbClr val="FFFFFF"/>
            </a:solidFill>
            <a:ln w="14288">
              <a:solidFill>
                <a:srgbClr val="334E68"/>
              </a:solidFill>
            </a:ln>
          </p:spPr>
        </p:sp>
        <p:sp>
          <p:nvSpPr>
            <p:cNvPr id="68" name="Rectangle 68"/>
            <p:cNvSpPr/>
            <p:nvPr/>
          </p:nvSpPr>
          <p:spPr>
            <a:xfrm>
              <a:off x="6948488" y="3007042"/>
              <a:ext cx="1303972" cy="227648"/>
            </a:xfrm>
            <a:prstGeom prst="rect">
              <a:avLst/>
            </a:prstGeom>
            <a:solidFill>
              <a:srgbClr val="E7EDF3"/>
            </a:solidFill>
            <a:ln>
              <a:noFill/>
            </a:ln>
          </p:spPr>
        </p:sp>
        <p:sp>
          <p:nvSpPr>
            <p:cNvPr id="69" name="Rectangle 69"/>
            <p:cNvSpPr/>
            <p:nvPr/>
          </p:nvSpPr>
          <p:spPr>
            <a:xfrm>
              <a:off x="6941820" y="3230880"/>
              <a:ext cx="1318260" cy="9525"/>
            </a:xfrm>
            <a:prstGeom prst="rect">
              <a:avLst/>
            </a:prstGeom>
            <a:solidFill>
              <a:srgbClr val="334E68"/>
            </a:solidFill>
            <a:ln>
              <a:noFill/>
            </a:ln>
          </p:spPr>
        </p:sp>
        <p:sp>
          <p:nvSpPr>
            <p:cNvPr id="70" name="Rectangle 70"/>
            <p:cNvSpPr/>
            <p:nvPr/>
          </p:nvSpPr>
          <p:spPr>
            <a:xfrm>
              <a:off x="6941820" y="3326130"/>
              <a:ext cx="1318260" cy="9525"/>
            </a:xfrm>
            <a:prstGeom prst="rect">
              <a:avLst/>
            </a:prstGeom>
            <a:solidFill>
              <a:srgbClr val="334E68"/>
            </a:solidFill>
            <a:ln>
              <a:noFill/>
            </a:ln>
          </p:spPr>
        </p:sp>
        <p:sp>
          <p:nvSpPr>
            <p:cNvPr id="71" name="Rectangle 71"/>
            <p:cNvSpPr/>
            <p:nvPr/>
          </p:nvSpPr>
          <p:spPr>
            <a:xfrm>
              <a:off x="9601200" y="3000375"/>
              <a:ext cx="1409700" cy="587692"/>
            </a:xfrm>
            <a:prstGeom prst="rect">
              <a:avLst/>
            </a:prstGeom>
            <a:solidFill>
              <a:srgbClr val="FFFFFF"/>
            </a:solidFill>
            <a:ln w="14288">
              <a:solidFill>
                <a:srgbClr val="334E68"/>
              </a:solidFill>
            </a:ln>
          </p:spPr>
        </p:sp>
        <p:sp>
          <p:nvSpPr>
            <p:cNvPr id="72" name="Rectangle 72"/>
            <p:cNvSpPr/>
            <p:nvPr/>
          </p:nvSpPr>
          <p:spPr>
            <a:xfrm>
              <a:off x="9608820" y="3007042"/>
              <a:ext cx="1395412" cy="227648"/>
            </a:xfrm>
            <a:prstGeom prst="rect">
              <a:avLst/>
            </a:prstGeom>
            <a:solidFill>
              <a:srgbClr val="E7EDF3"/>
            </a:solidFill>
            <a:ln>
              <a:noFill/>
            </a:ln>
          </p:spPr>
        </p:sp>
        <p:sp>
          <p:nvSpPr>
            <p:cNvPr id="73" name="Rectangle 73"/>
            <p:cNvSpPr/>
            <p:nvPr/>
          </p:nvSpPr>
          <p:spPr>
            <a:xfrm>
              <a:off x="9601200" y="3230880"/>
              <a:ext cx="1409700" cy="9525"/>
            </a:xfrm>
            <a:prstGeom prst="rect">
              <a:avLst/>
            </a:prstGeom>
            <a:solidFill>
              <a:srgbClr val="334E68"/>
            </a:solidFill>
            <a:ln>
              <a:noFill/>
            </a:ln>
          </p:spPr>
        </p:sp>
        <p:sp>
          <p:nvSpPr>
            <p:cNvPr id="74" name="Rectangle 74"/>
            <p:cNvSpPr/>
            <p:nvPr/>
          </p:nvSpPr>
          <p:spPr>
            <a:xfrm>
              <a:off x="9601200" y="3326130"/>
              <a:ext cx="1409700" cy="9525"/>
            </a:xfrm>
            <a:prstGeom prst="rect">
              <a:avLst/>
            </a:prstGeom>
            <a:solidFill>
              <a:srgbClr val="334E68"/>
            </a:solidFill>
            <a:ln>
              <a:noFill/>
            </a:ln>
          </p:spPr>
        </p:sp>
        <p:sp>
          <p:nvSpPr>
            <p:cNvPr id="75" name="Rectangle 75"/>
            <p:cNvSpPr/>
            <p:nvPr/>
          </p:nvSpPr>
          <p:spPr>
            <a:xfrm>
              <a:off x="6895148" y="3736658"/>
              <a:ext cx="1412558" cy="587692"/>
            </a:xfrm>
            <a:prstGeom prst="rect">
              <a:avLst/>
            </a:prstGeom>
            <a:solidFill>
              <a:srgbClr val="FFFFFF"/>
            </a:solidFill>
            <a:ln w="14288">
              <a:solidFill>
                <a:srgbClr val="334E68"/>
              </a:solidFill>
            </a:ln>
          </p:spPr>
        </p:sp>
        <p:sp>
          <p:nvSpPr>
            <p:cNvPr id="76" name="Rectangle 76"/>
            <p:cNvSpPr/>
            <p:nvPr/>
          </p:nvSpPr>
          <p:spPr>
            <a:xfrm>
              <a:off x="6901815" y="3744278"/>
              <a:ext cx="1398270" cy="227648"/>
            </a:xfrm>
            <a:prstGeom prst="rect">
              <a:avLst/>
            </a:prstGeom>
            <a:solidFill>
              <a:srgbClr val="E7EDF3"/>
            </a:solidFill>
            <a:ln>
              <a:noFill/>
            </a:ln>
          </p:spPr>
        </p:sp>
        <p:sp>
          <p:nvSpPr>
            <p:cNvPr id="77" name="Rectangle 77"/>
            <p:cNvSpPr/>
            <p:nvPr/>
          </p:nvSpPr>
          <p:spPr>
            <a:xfrm>
              <a:off x="6895148" y="3967162"/>
              <a:ext cx="1412558" cy="9525"/>
            </a:xfrm>
            <a:prstGeom prst="rect">
              <a:avLst/>
            </a:prstGeom>
            <a:solidFill>
              <a:srgbClr val="334E68"/>
            </a:solidFill>
            <a:ln>
              <a:noFill/>
            </a:ln>
          </p:spPr>
        </p:sp>
        <p:sp>
          <p:nvSpPr>
            <p:cNvPr id="78" name="Rectangle 78"/>
            <p:cNvSpPr/>
            <p:nvPr/>
          </p:nvSpPr>
          <p:spPr>
            <a:xfrm>
              <a:off x="6895148" y="4062412"/>
              <a:ext cx="1412558" cy="9525"/>
            </a:xfrm>
            <a:prstGeom prst="rect">
              <a:avLst/>
            </a:prstGeom>
            <a:solidFill>
              <a:srgbClr val="334E68"/>
            </a:solidFill>
            <a:ln>
              <a:noFill/>
            </a:ln>
          </p:spPr>
        </p:sp>
        <p:sp>
          <p:nvSpPr>
            <p:cNvPr id="79" name="Rectangle 79"/>
            <p:cNvSpPr/>
            <p:nvPr/>
          </p:nvSpPr>
          <p:spPr>
            <a:xfrm>
              <a:off x="9600248" y="3736658"/>
              <a:ext cx="1412558" cy="587692"/>
            </a:xfrm>
            <a:prstGeom prst="rect">
              <a:avLst/>
            </a:prstGeom>
            <a:solidFill>
              <a:srgbClr val="FFFFFF"/>
            </a:solidFill>
            <a:ln w="14288">
              <a:solidFill>
                <a:srgbClr val="334E68"/>
              </a:solidFill>
            </a:ln>
          </p:spPr>
        </p:sp>
        <p:sp>
          <p:nvSpPr>
            <p:cNvPr id="80" name="Rectangle 80"/>
            <p:cNvSpPr/>
            <p:nvPr/>
          </p:nvSpPr>
          <p:spPr>
            <a:xfrm>
              <a:off x="9606915" y="3744278"/>
              <a:ext cx="1398270" cy="227648"/>
            </a:xfrm>
            <a:prstGeom prst="rect">
              <a:avLst/>
            </a:prstGeom>
            <a:solidFill>
              <a:srgbClr val="E7EDF3"/>
            </a:solidFill>
            <a:ln>
              <a:noFill/>
            </a:ln>
          </p:spPr>
        </p:sp>
        <p:sp>
          <p:nvSpPr>
            <p:cNvPr id="81" name="Rectangle 81"/>
            <p:cNvSpPr/>
            <p:nvPr/>
          </p:nvSpPr>
          <p:spPr>
            <a:xfrm>
              <a:off x="9600248" y="3967162"/>
              <a:ext cx="1412558" cy="9525"/>
            </a:xfrm>
            <a:prstGeom prst="rect">
              <a:avLst/>
            </a:prstGeom>
            <a:solidFill>
              <a:srgbClr val="334E68"/>
            </a:solidFill>
            <a:ln>
              <a:noFill/>
            </a:ln>
          </p:spPr>
        </p:sp>
        <p:sp>
          <p:nvSpPr>
            <p:cNvPr id="82" name="Rectangle 82"/>
            <p:cNvSpPr/>
            <p:nvPr/>
          </p:nvSpPr>
          <p:spPr>
            <a:xfrm>
              <a:off x="9600248" y="4062412"/>
              <a:ext cx="1412558" cy="9525"/>
            </a:xfrm>
            <a:prstGeom prst="rect">
              <a:avLst/>
            </a:prstGeom>
            <a:solidFill>
              <a:srgbClr val="334E68"/>
            </a:solidFill>
            <a:ln>
              <a:noFill/>
            </a:ln>
          </p:spPr>
        </p:sp>
        <p:sp>
          <p:nvSpPr>
            <p:cNvPr id="83" name="TextBox 83"/>
            <p:cNvSpPr txBox="1"/>
            <p:nvPr/>
          </p:nvSpPr>
          <p:spPr>
            <a:xfrm>
              <a:off x="7327182" y="3056096"/>
              <a:ext cx="547536" cy="190690"/>
            </a:xfrm>
            <a:prstGeom prst="rect">
              <a:avLst/>
            </a:prstGeom>
            <a:noFill/>
            <a:ln>
              <a:noFill/>
            </a:ln>
          </p:spPr>
          <p:txBody>
            <a:bodyPr wrap="none" lIns="0" tIns="0" rIns="0" bIns="0" anchor="t" anchorCtr="0">
              <a:spAutoFit/>
            </a:bodyPr>
            <a:lstStyle/>
            <a:p>
              <a:pPr algn="ctr"/>
              <a:r>
                <a:rPr lang="en-US" sz="980" b="1" dirty="0">
                  <a:solidFill>
                    <a:srgbClr val="243B53"/>
                  </a:solidFill>
                  <a:latin typeface="+mn-lt"/>
                  <a:ea typeface="+mn-ea"/>
                  <a:cs typeface="+mn-cs"/>
                </a:rPr>
                <a:t>Context</a:t>
              </a:r>
            </a:p>
          </p:txBody>
        </p:sp>
        <p:sp>
          <p:nvSpPr>
            <p:cNvPr id="84" name="TextBox 84"/>
            <p:cNvSpPr txBox="1"/>
            <p:nvPr/>
          </p:nvSpPr>
          <p:spPr>
            <a:xfrm>
              <a:off x="7013258" y="3395662"/>
              <a:ext cx="1254081"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+ContextInterface()</a:t>
              </a:r>
            </a:p>
          </p:txBody>
        </p:sp>
        <p:sp>
          <p:nvSpPr>
            <p:cNvPr id="85" name="TextBox 85"/>
            <p:cNvSpPr txBox="1"/>
            <p:nvPr/>
          </p:nvSpPr>
          <p:spPr>
            <a:xfrm>
              <a:off x="9994188" y="3056096"/>
              <a:ext cx="623724" cy="190690"/>
            </a:xfrm>
            <a:prstGeom prst="rect">
              <a:avLst/>
            </a:prstGeom>
            <a:noFill/>
            <a:ln>
              <a:noFill/>
            </a:ln>
          </p:spPr>
          <p:txBody>
            <a:bodyPr wrap="none" lIns="0" tIns="0" rIns="0" bIns="0" anchor="t" anchorCtr="0">
              <a:spAutoFit/>
            </a:bodyPr>
            <a:lstStyle/>
            <a:p>
              <a:pPr algn="ctr"/>
              <a:r>
                <a:rPr lang="en-US" sz="980" b="1" i="1" dirty="0">
                  <a:solidFill>
                    <a:srgbClr val="243B53"/>
                  </a:solidFill>
                  <a:latin typeface="+mn-lt"/>
                  <a:ea typeface="+mn-ea"/>
                  <a:cs typeface="+mn-cs"/>
                </a:rPr>
                <a:t>Strategy</a:t>
              </a:r>
            </a:p>
          </p:txBody>
        </p:sp>
        <p:sp>
          <p:nvSpPr>
            <p:cNvPr id="86" name="TextBox 86"/>
            <p:cNvSpPr txBox="1"/>
            <p:nvPr/>
          </p:nvSpPr>
          <p:spPr>
            <a:xfrm>
              <a:off x="9672638" y="3395662"/>
              <a:ext cx="1350645"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+AlgorithmInterface()</a:t>
              </a:r>
            </a:p>
          </p:txBody>
        </p:sp>
        <p:sp>
          <p:nvSpPr>
            <p:cNvPr id="87" name="TextBox 87"/>
            <p:cNvSpPr txBox="1"/>
            <p:nvPr/>
          </p:nvSpPr>
          <p:spPr>
            <a:xfrm>
              <a:off x="6941929" y="3792379"/>
              <a:ext cx="1318043" cy="190690"/>
            </a:xfrm>
            <a:prstGeom prst="rect">
              <a:avLst/>
            </a:prstGeom>
            <a:noFill/>
            <a:ln>
              <a:noFill/>
            </a:ln>
          </p:spPr>
          <p:txBody>
            <a:bodyPr wrap="none" lIns="0" tIns="0" rIns="0" bIns="0" anchor="t" anchorCtr="0">
              <a:spAutoFit/>
            </a:bodyPr>
            <a:lstStyle/>
            <a:p>
              <a:pPr algn="ctr"/>
              <a:r>
                <a:rPr lang="en-US" sz="980" b="1" dirty="0">
                  <a:solidFill>
                    <a:srgbClr val="243B53"/>
                  </a:solidFill>
                  <a:latin typeface="+mn-lt"/>
                  <a:ea typeface="+mn-ea"/>
                  <a:cs typeface="+mn-cs"/>
                </a:rPr>
                <a:t>ConcreteStrategyA</a:t>
              </a:r>
            </a:p>
          </p:txBody>
        </p:sp>
        <p:sp>
          <p:nvSpPr>
            <p:cNvPr id="88" name="TextBox 88"/>
            <p:cNvSpPr txBox="1"/>
            <p:nvPr/>
          </p:nvSpPr>
          <p:spPr>
            <a:xfrm>
              <a:off x="6966585" y="4131945"/>
              <a:ext cx="1350645"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+AlgorithmInterface()</a:t>
              </a:r>
            </a:p>
          </p:txBody>
        </p:sp>
        <p:sp>
          <p:nvSpPr>
            <p:cNvPr id="89" name="TextBox 89"/>
            <p:cNvSpPr txBox="1"/>
            <p:nvPr/>
          </p:nvSpPr>
          <p:spPr>
            <a:xfrm>
              <a:off x="9647029" y="3792379"/>
              <a:ext cx="1318043" cy="190690"/>
            </a:xfrm>
            <a:prstGeom prst="rect">
              <a:avLst/>
            </a:prstGeom>
            <a:noFill/>
            <a:ln>
              <a:noFill/>
            </a:ln>
          </p:spPr>
          <p:txBody>
            <a:bodyPr wrap="none" lIns="0" tIns="0" rIns="0" bIns="0" anchor="t" anchorCtr="0">
              <a:spAutoFit/>
            </a:bodyPr>
            <a:lstStyle/>
            <a:p>
              <a:pPr algn="ctr"/>
              <a:r>
                <a:rPr lang="en-US" sz="980" b="1" dirty="0">
                  <a:solidFill>
                    <a:srgbClr val="243B53"/>
                  </a:solidFill>
                  <a:latin typeface="+mn-lt"/>
                  <a:ea typeface="+mn-ea"/>
                  <a:cs typeface="+mn-cs"/>
                </a:rPr>
                <a:t>ConcreteStrategyB</a:t>
              </a:r>
            </a:p>
          </p:txBody>
        </p:sp>
        <p:sp>
          <p:nvSpPr>
            <p:cNvPr id="90" name="TextBox 90"/>
            <p:cNvSpPr txBox="1"/>
            <p:nvPr/>
          </p:nvSpPr>
          <p:spPr>
            <a:xfrm>
              <a:off x="9671685" y="4131945"/>
              <a:ext cx="1350645"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+AlgorithmInterface()</a:t>
              </a:r>
            </a:p>
          </p:txBody>
        </p:sp>
        <p:sp>
          <p:nvSpPr>
            <p:cNvPr id="91" name="Rectangle 91"/>
            <p:cNvSpPr/>
            <p:nvPr/>
          </p:nvSpPr>
          <p:spPr>
            <a:xfrm>
              <a:off x="8609648" y="3088005"/>
              <a:ext cx="642938" cy="179070"/>
            </a:xfrm>
            <a:prstGeom prst="roundRect">
              <a:avLst>
                <a:gd name="adj" fmla="val 21277"/>
              </a:avLst>
            </a:prstGeom>
            <a:solidFill>
              <a:srgbClr val="FFFFFF"/>
            </a:solidFill>
            <a:ln>
              <a:noFill/>
            </a:ln>
          </p:spPr>
        </p:sp>
        <p:sp>
          <p:nvSpPr>
            <p:cNvPr id="92" name="TextBox 92"/>
            <p:cNvSpPr txBox="1"/>
            <p:nvPr/>
          </p:nvSpPr>
          <p:spPr>
            <a:xfrm>
              <a:off x="8635446" y="3113246"/>
              <a:ext cx="590387"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strategy</a:t>
              </a:r>
            </a:p>
          </p:txBody>
        </p:sp>
      </p:grpSp>
      <p:grpSp>
        <p:nvGrpSpPr>
          <p:cNvPr id="100" name="c2-callout-3"/>
          <p:cNvGrpSpPr/>
          <p:nvPr/>
        </p:nvGrpSpPr>
        <p:grpSpPr>
          <a:xfrm>
            <a:off x="6248400" y="4574858"/>
            <a:ext cx="5410200" cy="986790"/>
            <a:chOff x="6248400" y="4574858"/>
            <a:chExt cx="5410200" cy="986790"/>
          </a:xfrm>
        </p:grpSpPr>
        <p:sp>
          <p:nvSpPr>
            <p:cNvPr id="94" name="Rectangle 94"/>
            <p:cNvSpPr/>
            <p:nvPr/>
          </p:nvSpPr>
          <p:spPr>
            <a:xfrm>
              <a:off x="6248400" y="4574858"/>
              <a:ext cx="5410200" cy="986790"/>
            </a:xfrm>
            <a:prstGeom prst="roundRect">
              <a:avLst>
                <a:gd name="adj" fmla="val 11583"/>
              </a:avLst>
            </a:prstGeom>
            <a:solidFill>
              <a:srgbClr val="F4F6FB"/>
            </a:solidFill>
            <a:ln>
              <a:noFill/>
            </a:ln>
          </p:spPr>
        </p:sp>
        <p:grpSp>
          <p:nvGrpSpPr>
            <p:cNvPr id="98" name="Group 98"/>
            <p:cNvGrpSpPr/>
            <p:nvPr/>
          </p:nvGrpSpPr>
          <p:grpSpPr>
            <a:xfrm>
              <a:off x="6453188" y="4967288"/>
              <a:ext cx="200026" cy="200026"/>
              <a:chOff x="6453188" y="4967288"/>
              <a:chExt cx="200026" cy="200026"/>
            </a:xfrm>
          </p:grpSpPr>
          <p:sp>
            <p:nvSpPr>
              <p:cNvPr id="95" name="Freeform 95"/>
              <p:cNvSpPr/>
              <p:nvPr/>
            </p:nvSpPr>
            <p:spPr>
              <a:xfrm>
                <a:off x="6453188" y="496728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96" name="Freeform 96"/>
              <p:cNvSpPr/>
              <p:nvPr/>
            </p:nvSpPr>
            <p:spPr>
              <a:xfrm>
                <a:off x="6553200" y="503396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97" name="Freeform 97"/>
              <p:cNvSpPr/>
              <p:nvPr/>
            </p:nvSpPr>
            <p:spPr>
              <a:xfrm>
                <a:off x="6542088" y="506730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99" name="TextBox 99"/>
            <p:cNvSpPr txBox="1"/>
            <p:nvPr/>
          </p:nvSpPr>
          <p:spPr>
            <a:xfrm>
              <a:off x="6755892" y="4849178"/>
              <a:ext cx="4400693"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1F2937"/>
                  </a:solidFill>
                  <a:latin typeface="+mn-lt"/>
                  <a:ea typeface="+mn-ea"/>
                  <a:cs typeface="+mn-cs"/>
                </a:rPr>
                <a:t xml:space="preserve">更正：原课件把策略接口写作 </a:t>
              </a:r>
              <a:r>
                <a:rPr lang="en-US" sz="1350" b="1" dirty="0">
                  <a:solidFill>
                    <a:srgbClr val="B42318"/>
                  </a:solidFill>
                  <a:latin typeface="+mn-lt"/>
                  <a:ea typeface="+mn-ea"/>
                  <a:cs typeface="+mn-cs"/>
                </a:rPr>
                <a:t>AlgorithmiInterface()</a:t>
              </a:r>
              <a:r>
                <a:rPr lang="zh-CN" sz="1350" dirty="0">
                  <a:solidFill>
                    <a:srgbClr val="1F2937"/>
                  </a:solidFill>
                  <a:latin typeface="+mn-lt"/>
                  <a:ea typeface="+mn-ea"/>
                  <a:cs typeface="+mn-cs"/>
                </a:rPr>
                <a:t>，</a:t>
              </a:r>
              <a:br/>
              <a:r>
                <a:rPr lang="zh-CN" sz="1350" dirty="0">
                  <a:solidFill>
                    <a:srgbClr val="1F2937"/>
                  </a:solidFill>
                  <a:latin typeface="+mn-lt"/>
                  <a:ea typeface="+mn-ea"/>
                  <a:cs typeface="+mn-cs"/>
                </a:rPr>
                <a:t xml:space="preserve">多了一个 i，应为 </a:t>
              </a:r>
              <a:r>
                <a:rPr lang="en-US" sz="1350" b="1" dirty="0">
                  <a:solidFill>
                    <a:srgbClr val="0F7A68"/>
                  </a:solidFill>
                  <a:latin typeface="+mn-lt"/>
                  <a:ea typeface="+mn-ea"/>
                  <a:cs typeface="+mn-cs"/>
                </a:rPr>
                <a:t>AlgorithmInterface()</a:t>
              </a:r>
              <a:r>
                <a:rPr lang="zh-CN" sz="1350" dirty="0">
                  <a:solidFill>
                    <a:srgbClr val="1F2937"/>
                  </a:solidFill>
                  <a:latin typeface="+mn-lt"/>
                  <a:ea typeface="+mn-ea"/>
                  <a:cs typeface="+mn-cs"/>
                </a:rPr>
                <a:t>。</a:t>
              </a:r>
            </a:p>
          </p:txBody>
        </p:sp>
      </p:grpSp>
      <p:grpSp>
        <p:nvGrpSpPr>
          <p:cNvPr id="106" name="takeaway"/>
          <p:cNvGrpSpPr/>
          <p:nvPr/>
        </p:nvGrpSpPr>
        <p:grpSpPr>
          <a:xfrm>
            <a:off x="533400" y="5874068"/>
            <a:ext cx="11125200" cy="488632"/>
            <a:chOff x="533400" y="5874068"/>
            <a:chExt cx="11125200" cy="488632"/>
          </a:xfrm>
        </p:grpSpPr>
        <p:sp>
          <p:nvSpPr>
            <p:cNvPr id="101" name="Rectangle 101"/>
            <p:cNvSpPr/>
            <p:nvPr/>
          </p:nvSpPr>
          <p:spPr>
            <a:xfrm>
              <a:off x="533400" y="5874068"/>
              <a:ext cx="11125200" cy="488632"/>
            </a:xfrm>
            <a:prstGeom prst="roundRect">
              <a:avLst>
                <a:gd name="adj" fmla="val 23392"/>
              </a:avLst>
            </a:prstGeom>
            <a:solidFill>
              <a:srgbClr val="334E68"/>
            </a:solidFill>
            <a:ln>
              <a:noFill/>
            </a:ln>
          </p:spPr>
        </p:sp>
        <p:grpSp>
          <p:nvGrpSpPr>
            <p:cNvPr id="104" name="Group 104"/>
            <p:cNvGrpSpPr/>
            <p:nvPr/>
          </p:nvGrpSpPr>
          <p:grpSpPr>
            <a:xfrm>
              <a:off x="738188" y="6017897"/>
              <a:ext cx="200023" cy="200023"/>
              <a:chOff x="738188" y="6017897"/>
              <a:chExt cx="200023" cy="200023"/>
            </a:xfrm>
          </p:grpSpPr>
          <p:sp>
            <p:nvSpPr>
              <p:cNvPr id="102" name="Freeform 102"/>
              <p:cNvSpPr/>
              <p:nvPr/>
            </p:nvSpPr>
            <p:spPr>
              <a:xfrm>
                <a:off x="738188" y="60178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103" name="Freeform 103"/>
              <p:cNvSpPr/>
              <p:nvPr/>
            </p:nvSpPr>
            <p:spPr>
              <a:xfrm>
                <a:off x="871538" y="60845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105" name="TextBox 105"/>
            <p:cNvSpPr txBox="1"/>
            <p:nvPr/>
          </p:nvSpPr>
          <p:spPr>
            <a:xfrm>
              <a:off x="1040892" y="6023610"/>
              <a:ext cx="6683464"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策略模式和第 19 页的加密例子是同一件事，前者给了它一个名字和一套角色划分。</a:t>
              </a:r>
            </a:p>
          </p:txBody>
        </p:sp>
      </p:grpSp>
      <p:grpSp>
        <p:nvGrpSpPr>
          <p:cNvPr id="109" name="footer"/>
          <p:cNvGrpSpPr/>
          <p:nvPr/>
        </p:nvGrpSpPr>
        <p:grpSpPr>
          <a:xfrm>
            <a:off x="528447" y="6581299"/>
            <a:ext cx="11135106" cy="190690"/>
            <a:chOff x="528447" y="6581299"/>
            <a:chExt cx="11135106" cy="190690"/>
          </a:xfrm>
        </p:grpSpPr>
        <p:sp>
          <p:nvSpPr>
            <p:cNvPr id="107" name="TextBox 107"/>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108" name="TextBox 10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58</a:t>
              </a:r>
            </a:p>
          </p:txBody>
        </p:sp>
      </p:grpSp>
    </p:spTree>
  </p:cSld>
  <p:clrMapOvr>
    <a:masterClrMapping/>
  </p:clrMapOvr>
  <p:transition xmlns:p14="http://schemas.microsoft.com/office/powerpoint/2010/main" p14:dur="400">
    <p:fade/>
  </p:transition>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31842" cy="909257"/>
            <a:chOff x="520446" y="342900"/>
            <a:chExt cx="4831842" cy="909257"/>
          </a:xfrm>
        </p:grpSpPr>
        <p:sp>
          <p:nvSpPr>
            <p:cNvPr id="2" name="Rectangle 2"/>
            <p:cNvSpPr/>
            <p:nvPr/>
          </p:nvSpPr>
          <p:spPr>
            <a:xfrm>
              <a:off x="533400" y="342900"/>
              <a:ext cx="2354580" cy="266700"/>
            </a:xfrm>
            <a:prstGeom prst="roundRect">
              <a:avLst>
                <a:gd name="adj" fmla="val 50000"/>
              </a:avLst>
            </a:prstGeom>
            <a:solidFill>
              <a:srgbClr val="E7EDF3"/>
            </a:solidFill>
            <a:ln>
              <a:noFill/>
            </a:ln>
          </p:spPr>
        </p:sp>
        <p:sp>
          <p:nvSpPr>
            <p:cNvPr id="3" name="TextBox 3"/>
            <p:cNvSpPr txBox="1"/>
            <p:nvPr/>
          </p:nvSpPr>
          <p:spPr>
            <a:xfrm>
              <a:off x="598479" y="407194"/>
              <a:ext cx="22244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设计模式</a:t>
              </a:r>
            </a:p>
          </p:txBody>
        </p:sp>
        <p:sp>
          <p:nvSpPr>
            <p:cNvPr id="4" name="TextBox 4"/>
            <p:cNvSpPr txBox="1"/>
            <p:nvPr/>
          </p:nvSpPr>
          <p:spPr>
            <a:xfrm>
              <a:off x="520446" y="753428"/>
              <a:ext cx="48318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自测题（一）：准则与内聚度量</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2" name="c1-card-1"/>
          <p:cNvGrpSpPr/>
          <p:nvPr/>
        </p:nvGrpSpPr>
        <p:grpSpPr>
          <a:xfrm>
            <a:off x="533400" y="1524000"/>
            <a:ext cx="5410200" cy="1254442"/>
            <a:chOff x="533400" y="1524000"/>
            <a:chExt cx="5410200" cy="1254442"/>
          </a:xfrm>
        </p:grpSpPr>
        <p:sp>
          <p:nvSpPr>
            <p:cNvPr id="7" name="Rectangle 7"/>
            <p:cNvSpPr/>
            <p:nvPr/>
          </p:nvSpPr>
          <p:spPr>
            <a:xfrm>
              <a:off x="533400" y="1524000"/>
              <a:ext cx="5410200" cy="1254442"/>
            </a:xfrm>
            <a:prstGeom prst="roundRect">
              <a:avLst>
                <a:gd name="adj" fmla="val 10630"/>
              </a:avLst>
            </a:prstGeom>
            <a:solidFill>
              <a:srgbClr val="F4F6FB"/>
            </a:solidFill>
            <a:ln>
              <a:noFill/>
            </a:ln>
          </p:spPr>
        </p:sp>
        <p:sp>
          <p:nvSpPr>
            <p:cNvPr id="8" name="Rectangle 8"/>
            <p:cNvSpPr/>
            <p:nvPr/>
          </p:nvSpPr>
          <p:spPr>
            <a:xfrm>
              <a:off x="725805" y="1716405"/>
              <a:ext cx="391478" cy="247650"/>
            </a:xfrm>
            <a:prstGeom prst="roundRect">
              <a:avLst>
                <a:gd name="adj" fmla="val 50000"/>
              </a:avLst>
            </a:prstGeom>
            <a:solidFill>
              <a:srgbClr val="E7EDF3"/>
            </a:solidFill>
            <a:ln>
              <a:noFill/>
            </a:ln>
          </p:spPr>
        </p:sp>
        <p:sp>
          <p:nvSpPr>
            <p:cNvPr id="9" name="TextBox 9"/>
            <p:cNvSpPr txBox="1"/>
            <p:nvPr/>
          </p:nvSpPr>
          <p:spPr>
            <a:xfrm>
              <a:off x="814753" y="1750695"/>
              <a:ext cx="214533" cy="205359"/>
            </a:xfrm>
            <a:prstGeom prst="rect">
              <a:avLst/>
            </a:prstGeom>
            <a:noFill/>
            <a:ln>
              <a:noFill/>
            </a:ln>
          </p:spPr>
          <p:txBody>
            <a:bodyPr wrap="none" lIns="0" tIns="0" rIns="0" bIns="0" anchor="t" anchorCtr="0">
              <a:spAutoFit/>
            </a:bodyPr>
            <a:lstStyle/>
            <a:p>
              <a:pPr algn="ctr"/>
              <a:r>
                <a:rPr lang="en-US" sz="1050" b="1" dirty="0">
                  <a:solidFill>
                    <a:srgbClr val="334E68"/>
                  </a:solidFill>
                  <a:latin typeface="+mn-lt"/>
                  <a:ea typeface="+mn-ea"/>
                  <a:cs typeface="+mn-cs"/>
                </a:rPr>
                <a:t>Q1</a:t>
              </a:r>
            </a:p>
          </p:txBody>
        </p:sp>
        <p:sp>
          <p:nvSpPr>
            <p:cNvPr id="10" name="TextBox 10"/>
            <p:cNvSpPr txBox="1"/>
            <p:nvPr/>
          </p:nvSpPr>
          <p:spPr>
            <a:xfrm>
              <a:off x="718947" y="2072640"/>
              <a:ext cx="3830193"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交互耦合和继承耦合对松紧的要求有什么不同？</a:t>
              </a:r>
            </a:p>
          </p:txBody>
        </p:sp>
        <p:sp>
          <p:nvSpPr>
            <p:cNvPr id="11" name="TextBox 11"/>
            <p:cNvSpPr txBox="1"/>
            <p:nvPr/>
          </p:nvSpPr>
          <p:spPr>
            <a:xfrm>
              <a:off x="718947" y="2375535"/>
              <a:ext cx="4375404"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交互耦合要求尽量松散，继承耦合要求尽量紧密。</a:t>
              </a:r>
            </a:p>
          </p:txBody>
        </p:sp>
      </p:grpSp>
      <p:grpSp>
        <p:nvGrpSpPr>
          <p:cNvPr id="18" name="c1-card-2"/>
          <p:cNvGrpSpPr/>
          <p:nvPr/>
        </p:nvGrpSpPr>
        <p:grpSpPr>
          <a:xfrm>
            <a:off x="533400" y="2953702"/>
            <a:ext cx="5410200" cy="1254442"/>
            <a:chOff x="533400" y="2953702"/>
            <a:chExt cx="5410200" cy="1254442"/>
          </a:xfrm>
        </p:grpSpPr>
        <p:sp>
          <p:nvSpPr>
            <p:cNvPr id="13" name="Rectangle 13"/>
            <p:cNvSpPr/>
            <p:nvPr/>
          </p:nvSpPr>
          <p:spPr>
            <a:xfrm>
              <a:off x="533400" y="2953702"/>
              <a:ext cx="5410200" cy="1254442"/>
            </a:xfrm>
            <a:prstGeom prst="roundRect">
              <a:avLst>
                <a:gd name="adj" fmla="val 10630"/>
              </a:avLst>
            </a:prstGeom>
            <a:solidFill>
              <a:srgbClr val="F4F6FB"/>
            </a:solidFill>
            <a:ln>
              <a:noFill/>
            </a:ln>
          </p:spPr>
        </p:sp>
        <p:sp>
          <p:nvSpPr>
            <p:cNvPr id="14" name="Rectangle 14"/>
            <p:cNvSpPr/>
            <p:nvPr/>
          </p:nvSpPr>
          <p:spPr>
            <a:xfrm>
              <a:off x="725805" y="3146108"/>
              <a:ext cx="391478" cy="247650"/>
            </a:xfrm>
            <a:prstGeom prst="roundRect">
              <a:avLst>
                <a:gd name="adj" fmla="val 50000"/>
              </a:avLst>
            </a:prstGeom>
            <a:solidFill>
              <a:srgbClr val="E7EDF3"/>
            </a:solidFill>
            <a:ln>
              <a:noFill/>
            </a:ln>
          </p:spPr>
        </p:sp>
        <p:sp>
          <p:nvSpPr>
            <p:cNvPr id="15" name="TextBox 15"/>
            <p:cNvSpPr txBox="1"/>
            <p:nvPr/>
          </p:nvSpPr>
          <p:spPr>
            <a:xfrm>
              <a:off x="814753" y="3180398"/>
              <a:ext cx="214533" cy="205359"/>
            </a:xfrm>
            <a:prstGeom prst="rect">
              <a:avLst/>
            </a:prstGeom>
            <a:noFill/>
            <a:ln>
              <a:noFill/>
            </a:ln>
          </p:spPr>
          <p:txBody>
            <a:bodyPr wrap="none" lIns="0" tIns="0" rIns="0" bIns="0" anchor="t" anchorCtr="0">
              <a:spAutoFit/>
            </a:bodyPr>
            <a:lstStyle/>
            <a:p>
              <a:pPr algn="ctr"/>
              <a:r>
                <a:rPr lang="en-US" sz="1050" b="1" dirty="0">
                  <a:solidFill>
                    <a:srgbClr val="334E68"/>
                  </a:solidFill>
                  <a:latin typeface="+mn-lt"/>
                  <a:ea typeface="+mn-ea"/>
                  <a:cs typeface="+mn-cs"/>
                </a:rPr>
                <a:t>Q3</a:t>
              </a:r>
            </a:p>
          </p:txBody>
        </p:sp>
        <p:sp>
          <p:nvSpPr>
            <p:cNvPr id="16" name="TextBox 16"/>
            <p:cNvSpPr txBox="1"/>
            <p:nvPr/>
          </p:nvSpPr>
          <p:spPr>
            <a:xfrm>
              <a:off x="718947" y="3503295"/>
              <a:ext cx="465023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M₁、M₂ 访问 {a,b}，M₃、M₄ 访问 {c}，求 LCOM1。</a:t>
              </a:r>
            </a:p>
          </p:txBody>
        </p:sp>
        <p:sp>
          <p:nvSpPr>
            <p:cNvPr id="17" name="TextBox 17"/>
            <p:cNvSpPr txBox="1"/>
            <p:nvPr/>
          </p:nvSpPr>
          <p:spPr>
            <a:xfrm>
              <a:off x="718947" y="3805238"/>
              <a:ext cx="4028389"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|P|=4、|Q|=2，LCOM1 = 2，应拆成两个类。</a:t>
              </a:r>
            </a:p>
          </p:txBody>
        </p:sp>
      </p:grpSp>
      <p:grpSp>
        <p:nvGrpSpPr>
          <p:cNvPr id="24" name="c1-card-3"/>
          <p:cNvGrpSpPr/>
          <p:nvPr/>
        </p:nvGrpSpPr>
        <p:grpSpPr>
          <a:xfrm>
            <a:off x="533400" y="4383405"/>
            <a:ext cx="5410200" cy="1254442"/>
            <a:chOff x="533400" y="4383405"/>
            <a:chExt cx="5410200" cy="1254442"/>
          </a:xfrm>
        </p:grpSpPr>
        <p:sp>
          <p:nvSpPr>
            <p:cNvPr id="19" name="Rectangle 19"/>
            <p:cNvSpPr/>
            <p:nvPr/>
          </p:nvSpPr>
          <p:spPr>
            <a:xfrm>
              <a:off x="533400" y="4383405"/>
              <a:ext cx="5410200" cy="1254442"/>
            </a:xfrm>
            <a:prstGeom prst="roundRect">
              <a:avLst>
                <a:gd name="adj" fmla="val 10630"/>
              </a:avLst>
            </a:prstGeom>
            <a:solidFill>
              <a:srgbClr val="F4F6FB"/>
            </a:solidFill>
            <a:ln>
              <a:noFill/>
            </a:ln>
          </p:spPr>
        </p:sp>
        <p:sp>
          <p:nvSpPr>
            <p:cNvPr id="20" name="Rectangle 20"/>
            <p:cNvSpPr/>
            <p:nvPr/>
          </p:nvSpPr>
          <p:spPr>
            <a:xfrm>
              <a:off x="725805" y="4575810"/>
              <a:ext cx="391478" cy="247650"/>
            </a:xfrm>
            <a:prstGeom prst="roundRect">
              <a:avLst>
                <a:gd name="adj" fmla="val 50000"/>
              </a:avLst>
            </a:prstGeom>
            <a:solidFill>
              <a:srgbClr val="E7EDF3"/>
            </a:solidFill>
            <a:ln>
              <a:noFill/>
            </a:ln>
          </p:spPr>
        </p:sp>
        <p:sp>
          <p:nvSpPr>
            <p:cNvPr id="21" name="TextBox 21"/>
            <p:cNvSpPr txBox="1"/>
            <p:nvPr/>
          </p:nvSpPr>
          <p:spPr>
            <a:xfrm>
              <a:off x="814753" y="4610100"/>
              <a:ext cx="214533" cy="205359"/>
            </a:xfrm>
            <a:prstGeom prst="rect">
              <a:avLst/>
            </a:prstGeom>
            <a:noFill/>
            <a:ln>
              <a:noFill/>
            </a:ln>
          </p:spPr>
          <p:txBody>
            <a:bodyPr wrap="none" lIns="0" tIns="0" rIns="0" bIns="0" anchor="t" anchorCtr="0">
              <a:spAutoFit/>
            </a:bodyPr>
            <a:lstStyle/>
            <a:p>
              <a:pPr algn="ctr"/>
              <a:r>
                <a:rPr lang="en-US" sz="1050" b="1" dirty="0">
                  <a:solidFill>
                    <a:srgbClr val="334E68"/>
                  </a:solidFill>
                  <a:latin typeface="+mn-lt"/>
                  <a:ea typeface="+mn-ea"/>
                  <a:cs typeface="+mn-cs"/>
                </a:rPr>
                <a:t>Q5</a:t>
              </a:r>
            </a:p>
          </p:txBody>
        </p:sp>
        <p:sp>
          <p:nvSpPr>
            <p:cNvPr id="22" name="TextBox 22"/>
            <p:cNvSpPr txBox="1"/>
            <p:nvPr/>
          </p:nvSpPr>
          <p:spPr>
            <a:xfrm>
              <a:off x="718947" y="4932998"/>
              <a:ext cx="302646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一般-特殊结构的深度为什么要适当？</a:t>
              </a:r>
            </a:p>
          </p:txBody>
        </p:sp>
        <p:sp>
          <p:nvSpPr>
            <p:cNvPr id="23" name="TextBox 23"/>
            <p:cNvSpPr txBox="1"/>
            <p:nvPr/>
          </p:nvSpPr>
          <p:spPr>
            <a:xfrm>
              <a:off x="718947" y="5234940"/>
              <a:ext cx="3466719"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层次过深时理解、调试和修改都困难。</a:t>
              </a:r>
            </a:p>
          </p:txBody>
        </p:sp>
      </p:grpSp>
      <p:grpSp>
        <p:nvGrpSpPr>
          <p:cNvPr id="30" name="c2-card-1"/>
          <p:cNvGrpSpPr/>
          <p:nvPr/>
        </p:nvGrpSpPr>
        <p:grpSpPr>
          <a:xfrm>
            <a:off x="6248400" y="1524000"/>
            <a:ext cx="5410200" cy="1254442"/>
            <a:chOff x="6248400" y="1524000"/>
            <a:chExt cx="5410200" cy="1254442"/>
          </a:xfrm>
        </p:grpSpPr>
        <p:sp>
          <p:nvSpPr>
            <p:cNvPr id="25" name="Rectangle 25"/>
            <p:cNvSpPr/>
            <p:nvPr/>
          </p:nvSpPr>
          <p:spPr>
            <a:xfrm>
              <a:off x="6248400" y="1524000"/>
              <a:ext cx="5410200" cy="1254442"/>
            </a:xfrm>
            <a:prstGeom prst="roundRect">
              <a:avLst>
                <a:gd name="adj" fmla="val 10630"/>
              </a:avLst>
            </a:prstGeom>
            <a:solidFill>
              <a:srgbClr val="F4F6FB"/>
            </a:solidFill>
            <a:ln>
              <a:noFill/>
            </a:ln>
          </p:spPr>
        </p:sp>
        <p:sp>
          <p:nvSpPr>
            <p:cNvPr id="26" name="Rectangle 26"/>
            <p:cNvSpPr/>
            <p:nvPr/>
          </p:nvSpPr>
          <p:spPr>
            <a:xfrm>
              <a:off x="6440805" y="1716405"/>
              <a:ext cx="391478" cy="247650"/>
            </a:xfrm>
            <a:prstGeom prst="roundRect">
              <a:avLst>
                <a:gd name="adj" fmla="val 50000"/>
              </a:avLst>
            </a:prstGeom>
            <a:solidFill>
              <a:srgbClr val="E7EDF3"/>
            </a:solidFill>
            <a:ln>
              <a:noFill/>
            </a:ln>
          </p:spPr>
        </p:sp>
        <p:sp>
          <p:nvSpPr>
            <p:cNvPr id="27" name="TextBox 27"/>
            <p:cNvSpPr txBox="1"/>
            <p:nvPr/>
          </p:nvSpPr>
          <p:spPr>
            <a:xfrm>
              <a:off x="6529753" y="1750695"/>
              <a:ext cx="214533" cy="205359"/>
            </a:xfrm>
            <a:prstGeom prst="rect">
              <a:avLst/>
            </a:prstGeom>
            <a:noFill/>
            <a:ln>
              <a:noFill/>
            </a:ln>
          </p:spPr>
          <p:txBody>
            <a:bodyPr wrap="none" lIns="0" tIns="0" rIns="0" bIns="0" anchor="t" anchorCtr="0">
              <a:spAutoFit/>
            </a:bodyPr>
            <a:lstStyle/>
            <a:p>
              <a:pPr algn="ctr"/>
              <a:r>
                <a:rPr lang="en-US" sz="1050" b="1" dirty="0">
                  <a:solidFill>
                    <a:srgbClr val="334E68"/>
                  </a:solidFill>
                  <a:latin typeface="+mn-lt"/>
                  <a:ea typeface="+mn-ea"/>
                  <a:cs typeface="+mn-cs"/>
                </a:rPr>
                <a:t>Q2</a:t>
              </a:r>
            </a:p>
          </p:txBody>
        </p:sp>
        <p:sp>
          <p:nvSpPr>
            <p:cNvPr id="28" name="TextBox 28"/>
            <p:cNvSpPr txBox="1"/>
            <p:nvPr/>
          </p:nvSpPr>
          <p:spPr>
            <a:xfrm>
              <a:off x="6433947" y="2072640"/>
              <a:ext cx="273977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面向对象设计的三种内聚是什么？</a:t>
              </a:r>
            </a:p>
          </p:txBody>
        </p:sp>
        <p:sp>
          <p:nvSpPr>
            <p:cNvPr id="29" name="TextBox 29"/>
            <p:cNvSpPr txBox="1"/>
            <p:nvPr/>
          </p:nvSpPr>
          <p:spPr>
            <a:xfrm>
              <a:off x="6433947" y="2375535"/>
              <a:ext cx="3384937"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服务内聚、类内聚、一般-特殊内聚。</a:t>
              </a:r>
            </a:p>
          </p:txBody>
        </p:sp>
      </p:grpSp>
      <p:grpSp>
        <p:nvGrpSpPr>
          <p:cNvPr id="36" name="c2-card-2"/>
          <p:cNvGrpSpPr/>
          <p:nvPr/>
        </p:nvGrpSpPr>
        <p:grpSpPr>
          <a:xfrm>
            <a:off x="6248400" y="2953702"/>
            <a:ext cx="5410200" cy="1254442"/>
            <a:chOff x="6248400" y="2953702"/>
            <a:chExt cx="5410200" cy="1254442"/>
          </a:xfrm>
        </p:grpSpPr>
        <p:sp>
          <p:nvSpPr>
            <p:cNvPr id="31" name="Rectangle 31"/>
            <p:cNvSpPr/>
            <p:nvPr/>
          </p:nvSpPr>
          <p:spPr>
            <a:xfrm>
              <a:off x="6248400" y="2953702"/>
              <a:ext cx="5410200" cy="1254442"/>
            </a:xfrm>
            <a:prstGeom prst="roundRect">
              <a:avLst>
                <a:gd name="adj" fmla="val 10630"/>
              </a:avLst>
            </a:prstGeom>
            <a:solidFill>
              <a:srgbClr val="F4F6FB"/>
            </a:solidFill>
            <a:ln>
              <a:noFill/>
            </a:ln>
          </p:spPr>
        </p:sp>
        <p:sp>
          <p:nvSpPr>
            <p:cNvPr id="32" name="Rectangle 32"/>
            <p:cNvSpPr/>
            <p:nvPr/>
          </p:nvSpPr>
          <p:spPr>
            <a:xfrm>
              <a:off x="6440805" y="3146108"/>
              <a:ext cx="391478" cy="247650"/>
            </a:xfrm>
            <a:prstGeom prst="roundRect">
              <a:avLst>
                <a:gd name="adj" fmla="val 50000"/>
              </a:avLst>
            </a:prstGeom>
            <a:solidFill>
              <a:srgbClr val="E7EDF3"/>
            </a:solidFill>
            <a:ln>
              <a:noFill/>
            </a:ln>
          </p:spPr>
        </p:sp>
        <p:sp>
          <p:nvSpPr>
            <p:cNvPr id="33" name="TextBox 33"/>
            <p:cNvSpPr txBox="1"/>
            <p:nvPr/>
          </p:nvSpPr>
          <p:spPr>
            <a:xfrm>
              <a:off x="6529753" y="3180398"/>
              <a:ext cx="214533" cy="205359"/>
            </a:xfrm>
            <a:prstGeom prst="rect">
              <a:avLst/>
            </a:prstGeom>
            <a:noFill/>
            <a:ln>
              <a:noFill/>
            </a:ln>
          </p:spPr>
          <p:txBody>
            <a:bodyPr wrap="none" lIns="0" tIns="0" rIns="0" bIns="0" anchor="t" anchorCtr="0">
              <a:spAutoFit/>
            </a:bodyPr>
            <a:lstStyle/>
            <a:p>
              <a:pPr algn="ctr"/>
              <a:r>
                <a:rPr lang="en-US" sz="1050" b="1" dirty="0">
                  <a:solidFill>
                    <a:srgbClr val="334E68"/>
                  </a:solidFill>
                  <a:latin typeface="+mn-lt"/>
                  <a:ea typeface="+mn-ea"/>
                  <a:cs typeface="+mn-cs"/>
                </a:rPr>
                <a:t>Q4</a:t>
              </a:r>
            </a:p>
          </p:txBody>
        </p:sp>
        <p:sp>
          <p:nvSpPr>
            <p:cNvPr id="34" name="TextBox 34"/>
            <p:cNvSpPr txBox="1"/>
            <p:nvPr/>
          </p:nvSpPr>
          <p:spPr>
            <a:xfrm>
              <a:off x="6433947" y="3503295"/>
              <a:ext cx="328498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设计简单的协议对参数个数有什么要求？</a:t>
              </a:r>
            </a:p>
          </p:txBody>
        </p:sp>
        <p:sp>
          <p:nvSpPr>
            <p:cNvPr id="35" name="TextBox 35"/>
            <p:cNvSpPr txBox="1"/>
            <p:nvPr/>
          </p:nvSpPr>
          <p:spPr>
            <a:xfrm>
              <a:off x="6433947" y="3805238"/>
              <a:ext cx="3312243"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一条消息中的参数一般不超过 3 个。</a:t>
              </a:r>
            </a:p>
          </p:txBody>
        </p:sp>
      </p:grpSp>
      <p:grpSp>
        <p:nvGrpSpPr>
          <p:cNvPr id="42" name="c2-card-3"/>
          <p:cNvGrpSpPr/>
          <p:nvPr/>
        </p:nvGrpSpPr>
        <p:grpSpPr>
          <a:xfrm>
            <a:off x="6248400" y="4383405"/>
            <a:ext cx="5410200" cy="1254442"/>
            <a:chOff x="6248400" y="4383405"/>
            <a:chExt cx="5410200" cy="1254442"/>
          </a:xfrm>
        </p:grpSpPr>
        <p:sp>
          <p:nvSpPr>
            <p:cNvPr id="37" name="Rectangle 37"/>
            <p:cNvSpPr/>
            <p:nvPr/>
          </p:nvSpPr>
          <p:spPr>
            <a:xfrm>
              <a:off x="6248400" y="4383405"/>
              <a:ext cx="5410200" cy="1254442"/>
            </a:xfrm>
            <a:prstGeom prst="roundRect">
              <a:avLst>
                <a:gd name="adj" fmla="val 10630"/>
              </a:avLst>
            </a:prstGeom>
            <a:solidFill>
              <a:srgbClr val="F4F6FB"/>
            </a:solidFill>
            <a:ln>
              <a:noFill/>
            </a:ln>
          </p:spPr>
        </p:sp>
        <p:sp>
          <p:nvSpPr>
            <p:cNvPr id="38" name="Rectangle 38"/>
            <p:cNvSpPr/>
            <p:nvPr/>
          </p:nvSpPr>
          <p:spPr>
            <a:xfrm>
              <a:off x="6440805" y="4575810"/>
              <a:ext cx="391478" cy="247650"/>
            </a:xfrm>
            <a:prstGeom prst="roundRect">
              <a:avLst>
                <a:gd name="adj" fmla="val 50000"/>
              </a:avLst>
            </a:prstGeom>
            <a:solidFill>
              <a:srgbClr val="E7EDF3"/>
            </a:solidFill>
            <a:ln>
              <a:noFill/>
            </a:ln>
          </p:spPr>
        </p:sp>
        <p:sp>
          <p:nvSpPr>
            <p:cNvPr id="39" name="TextBox 39"/>
            <p:cNvSpPr txBox="1"/>
            <p:nvPr/>
          </p:nvSpPr>
          <p:spPr>
            <a:xfrm>
              <a:off x="6529753" y="4610100"/>
              <a:ext cx="214533" cy="205359"/>
            </a:xfrm>
            <a:prstGeom prst="rect">
              <a:avLst/>
            </a:prstGeom>
            <a:noFill/>
            <a:ln>
              <a:noFill/>
            </a:ln>
          </p:spPr>
          <p:txBody>
            <a:bodyPr wrap="none" lIns="0" tIns="0" rIns="0" bIns="0" anchor="t" anchorCtr="0">
              <a:spAutoFit/>
            </a:bodyPr>
            <a:lstStyle/>
            <a:p>
              <a:pPr algn="ctr"/>
              <a:r>
                <a:rPr lang="en-US" sz="1050" b="1" dirty="0">
                  <a:solidFill>
                    <a:srgbClr val="334E68"/>
                  </a:solidFill>
                  <a:latin typeface="+mn-lt"/>
                  <a:ea typeface="+mn-ea"/>
                  <a:cs typeface="+mn-cs"/>
                </a:rPr>
                <a:t>Q6</a:t>
              </a:r>
            </a:p>
          </p:txBody>
        </p:sp>
        <p:sp>
          <p:nvSpPr>
            <p:cNvPr id="40" name="TextBox 40"/>
            <p:cNvSpPr txBox="1"/>
            <p:nvPr/>
          </p:nvSpPr>
          <p:spPr>
            <a:xfrm>
              <a:off x="6433947" y="4932998"/>
              <a:ext cx="1831086"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软件重用的三个层次？</a:t>
              </a:r>
            </a:p>
          </p:txBody>
        </p:sp>
        <p:sp>
          <p:nvSpPr>
            <p:cNvPr id="41" name="TextBox 41"/>
            <p:cNvSpPr txBox="1"/>
            <p:nvPr/>
          </p:nvSpPr>
          <p:spPr>
            <a:xfrm>
              <a:off x="6433947" y="5234940"/>
              <a:ext cx="4375404"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知识重用、方法和标准的重用、软件成分的重用。</a:t>
              </a:r>
            </a:p>
          </p:txBody>
        </p:sp>
      </p:grpSp>
      <p:grpSp>
        <p:nvGrpSpPr>
          <p:cNvPr id="49" name="takeaway"/>
          <p:cNvGrpSpPr/>
          <p:nvPr/>
        </p:nvGrpSpPr>
        <p:grpSpPr>
          <a:xfrm>
            <a:off x="533400" y="5874068"/>
            <a:ext cx="11125200" cy="488632"/>
            <a:chOff x="533400" y="5874068"/>
            <a:chExt cx="11125200" cy="488632"/>
          </a:xfrm>
        </p:grpSpPr>
        <p:sp>
          <p:nvSpPr>
            <p:cNvPr id="43" name="Rectangle 43"/>
            <p:cNvSpPr/>
            <p:nvPr/>
          </p:nvSpPr>
          <p:spPr>
            <a:xfrm>
              <a:off x="533400" y="5874068"/>
              <a:ext cx="11125200" cy="488632"/>
            </a:xfrm>
            <a:prstGeom prst="roundRect">
              <a:avLst>
                <a:gd name="adj" fmla="val 23392"/>
              </a:avLst>
            </a:prstGeom>
            <a:solidFill>
              <a:srgbClr val="FDEEE7"/>
            </a:solidFill>
            <a:ln>
              <a:noFill/>
            </a:ln>
          </p:spPr>
        </p:sp>
        <p:grpSp>
          <p:nvGrpSpPr>
            <p:cNvPr id="47" name="Group 47"/>
            <p:cNvGrpSpPr/>
            <p:nvPr/>
          </p:nvGrpSpPr>
          <p:grpSpPr>
            <a:xfrm>
              <a:off x="738188" y="6017895"/>
              <a:ext cx="200026" cy="200025"/>
              <a:chOff x="738188" y="6017895"/>
              <a:chExt cx="200026" cy="200025"/>
            </a:xfrm>
          </p:grpSpPr>
          <p:sp>
            <p:nvSpPr>
              <p:cNvPr id="44" name="Freeform 44"/>
              <p:cNvSpPr/>
              <p:nvPr/>
            </p:nvSpPr>
            <p:spPr>
              <a:xfrm>
                <a:off x="738188" y="601789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45" name="Freeform 45"/>
              <p:cNvSpPr/>
              <p:nvPr/>
            </p:nvSpPr>
            <p:spPr>
              <a:xfrm>
                <a:off x="777926" y="606234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46" name="Freeform 46"/>
              <p:cNvSpPr/>
              <p:nvPr/>
            </p:nvSpPr>
            <p:spPr>
              <a:xfrm>
                <a:off x="812642" y="617347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48" name="TextBox 48"/>
            <p:cNvSpPr txBox="1"/>
            <p:nvPr/>
          </p:nvSpPr>
          <p:spPr>
            <a:xfrm>
              <a:off x="1040892" y="6023610"/>
              <a:ext cx="3951751" cy="264033"/>
            </a:xfrm>
            <a:prstGeom prst="rect">
              <a:avLst/>
            </a:prstGeom>
            <a:noFill/>
            <a:ln>
              <a:noFill/>
            </a:ln>
          </p:spPr>
          <p:txBody>
            <a:bodyPr wrap="none" lIns="0" tIns="0" rIns="0" bIns="0" anchor="t" anchorCtr="0">
              <a:spAutoFit/>
            </a:bodyPr>
            <a:lstStyle/>
            <a:p>
              <a:pPr algn="l"/>
              <a:r>
                <a:rPr lang="zh-CN" sz="1350" dirty="0">
                  <a:solidFill>
                    <a:srgbClr val="C2410C"/>
                  </a:solidFill>
                  <a:latin typeface="+mn-lt"/>
                  <a:ea typeface="+mn-ea"/>
                  <a:cs typeface="+mn-cs"/>
                </a:rPr>
                <a:t>LCOM1 的两个分支不要写反，|P| ≤ |Q| 时取 0。</a:t>
              </a:r>
            </a:p>
          </p:txBody>
        </p:sp>
      </p:grpSp>
      <p:grpSp>
        <p:nvGrpSpPr>
          <p:cNvPr id="52" name="footer"/>
          <p:cNvGrpSpPr/>
          <p:nvPr/>
        </p:nvGrpSpPr>
        <p:grpSpPr>
          <a:xfrm>
            <a:off x="528447" y="6581299"/>
            <a:ext cx="11135106" cy="190690"/>
            <a:chOff x="528447" y="6581299"/>
            <a:chExt cx="11135106" cy="190690"/>
          </a:xfrm>
        </p:grpSpPr>
        <p:sp>
          <p:nvSpPr>
            <p:cNvPr id="50" name="TextBox 50"/>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51" name="TextBox 5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59</a:t>
              </a:r>
            </a:p>
          </p:txBody>
        </p:sp>
      </p:grpSp>
    </p:spTree>
  </p:cSld>
  <p:clrMapOvr>
    <a:masterClrMapping/>
  </p:clrMapOvr>
  <p:transition xmlns:p14="http://schemas.microsoft.com/office/powerpoint/2010/main" p14:dur="400">
    <p:fade/>
  </p:transition>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601261" cy="909257"/>
            <a:chOff x="520446" y="342900"/>
            <a:chExt cx="4601261" cy="909257"/>
          </a:xfrm>
        </p:grpSpPr>
        <p:sp>
          <p:nvSpPr>
            <p:cNvPr id="2" name="Rectangle 2"/>
            <p:cNvSpPr/>
            <p:nvPr/>
          </p:nvSpPr>
          <p:spPr>
            <a:xfrm>
              <a:off x="533400" y="342900"/>
              <a:ext cx="2354580" cy="266700"/>
            </a:xfrm>
            <a:prstGeom prst="roundRect">
              <a:avLst>
                <a:gd name="adj" fmla="val 50000"/>
              </a:avLst>
            </a:prstGeom>
            <a:solidFill>
              <a:srgbClr val="E7EDF3"/>
            </a:solidFill>
            <a:ln>
              <a:noFill/>
            </a:ln>
          </p:spPr>
        </p:sp>
        <p:sp>
          <p:nvSpPr>
            <p:cNvPr id="3" name="TextBox 3"/>
            <p:cNvSpPr txBox="1"/>
            <p:nvPr/>
          </p:nvSpPr>
          <p:spPr>
            <a:xfrm>
              <a:off x="598479" y="407194"/>
              <a:ext cx="22244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 · 设计模式</a:t>
              </a:r>
            </a:p>
          </p:txBody>
        </p:sp>
        <p:sp>
          <p:nvSpPr>
            <p:cNvPr id="4" name="TextBox 4"/>
            <p:cNvSpPr txBox="1"/>
            <p:nvPr/>
          </p:nvSpPr>
          <p:spPr>
            <a:xfrm>
              <a:off x="520446" y="753428"/>
              <a:ext cx="460126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自测题（二）：SOLID 与重用</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2" name="c1-card-1"/>
          <p:cNvGrpSpPr/>
          <p:nvPr/>
        </p:nvGrpSpPr>
        <p:grpSpPr>
          <a:xfrm>
            <a:off x="533400" y="1524000"/>
            <a:ext cx="5410200" cy="1185862"/>
            <a:chOff x="533400" y="1524000"/>
            <a:chExt cx="5410200" cy="1185862"/>
          </a:xfrm>
        </p:grpSpPr>
        <p:sp>
          <p:nvSpPr>
            <p:cNvPr id="7" name="Rectangle 7"/>
            <p:cNvSpPr/>
            <p:nvPr/>
          </p:nvSpPr>
          <p:spPr>
            <a:xfrm>
              <a:off x="533400" y="1524000"/>
              <a:ext cx="5410200" cy="1185862"/>
            </a:xfrm>
            <a:prstGeom prst="roundRect">
              <a:avLst>
                <a:gd name="adj" fmla="val 11245"/>
              </a:avLst>
            </a:prstGeom>
            <a:solidFill>
              <a:srgbClr val="F4F6FB"/>
            </a:solidFill>
            <a:ln>
              <a:noFill/>
            </a:ln>
          </p:spPr>
        </p:sp>
        <p:sp>
          <p:nvSpPr>
            <p:cNvPr id="8" name="Rectangle 8"/>
            <p:cNvSpPr/>
            <p:nvPr/>
          </p:nvSpPr>
          <p:spPr>
            <a:xfrm>
              <a:off x="714375" y="1704975"/>
              <a:ext cx="379095" cy="238125"/>
            </a:xfrm>
            <a:prstGeom prst="roundRect">
              <a:avLst>
                <a:gd name="adj" fmla="val 50000"/>
              </a:avLst>
            </a:prstGeom>
            <a:solidFill>
              <a:srgbClr val="E7EDF3"/>
            </a:solidFill>
            <a:ln>
              <a:noFill/>
            </a:ln>
          </p:spPr>
        </p:sp>
        <p:sp>
          <p:nvSpPr>
            <p:cNvPr id="9" name="TextBox 9"/>
            <p:cNvSpPr txBox="1"/>
            <p:nvPr/>
          </p:nvSpPr>
          <p:spPr>
            <a:xfrm>
              <a:off x="803832" y="1737836"/>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Q1</a:t>
              </a:r>
            </a:p>
          </p:txBody>
        </p:sp>
        <p:sp>
          <p:nvSpPr>
            <p:cNvPr id="10" name="TextBox 10"/>
            <p:cNvSpPr txBox="1"/>
            <p:nvPr/>
          </p:nvSpPr>
          <p:spPr>
            <a:xfrm>
              <a:off x="707898" y="2045494"/>
              <a:ext cx="259765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开闭原则的两种策略各重用什么？</a:t>
              </a:r>
            </a:p>
          </p:txBody>
        </p:sp>
        <p:sp>
          <p:nvSpPr>
            <p:cNvPr id="11" name="TextBox 11"/>
            <p:cNvSpPr txBox="1"/>
            <p:nvPr/>
          </p:nvSpPr>
          <p:spPr>
            <a:xfrm>
              <a:off x="707898" y="2330291"/>
              <a:ext cx="3508644" cy="249364"/>
            </a:xfrm>
            <a:prstGeom prst="rect">
              <a:avLst/>
            </a:prstGeom>
            <a:noFill/>
            <a:ln>
              <a:noFill/>
            </a:ln>
          </p:spPr>
          <p:txBody>
            <a:bodyPr wrap="none" lIns="0" tIns="0" rIns="0" bIns="0" anchor="t" anchorCtr="0">
              <a:spAutoFit/>
            </a:bodyPr>
            <a:lstStyle/>
            <a:p>
              <a:pPr algn="l"/>
              <a:r>
                <a:rPr lang="zh-CN" sz="1280" b="1" dirty="0">
                  <a:solidFill>
                    <a:srgbClr val="0F7A68"/>
                  </a:solidFill>
                  <a:latin typeface="+mn-lt"/>
                  <a:ea typeface="+mn-ea"/>
                  <a:cs typeface="+mn-cs"/>
                </a:rPr>
                <a:t>答：</a:t>
              </a:r>
              <a:r>
                <a:rPr lang="zh-CN" sz="1280" dirty="0">
                  <a:solidFill>
                    <a:srgbClr val="1F2937"/>
                  </a:solidFill>
                  <a:latin typeface="+mn-lt"/>
                  <a:ea typeface="+mn-ea"/>
                  <a:cs typeface="+mn-cs"/>
                </a:rPr>
                <a:t>Meyer 重用实现，新定义重用抽象接口。</a:t>
              </a:r>
            </a:p>
          </p:txBody>
        </p:sp>
      </p:grpSp>
      <p:grpSp>
        <p:nvGrpSpPr>
          <p:cNvPr id="18" name="c1-card-2"/>
          <p:cNvGrpSpPr/>
          <p:nvPr/>
        </p:nvGrpSpPr>
        <p:grpSpPr>
          <a:xfrm>
            <a:off x="533400" y="2874645"/>
            <a:ext cx="5410200" cy="1428750"/>
            <a:chOff x="533400" y="2874645"/>
            <a:chExt cx="5410200" cy="1428750"/>
          </a:xfrm>
        </p:grpSpPr>
        <p:sp>
          <p:nvSpPr>
            <p:cNvPr id="13" name="Rectangle 13"/>
            <p:cNvSpPr/>
            <p:nvPr/>
          </p:nvSpPr>
          <p:spPr>
            <a:xfrm>
              <a:off x="533400" y="2874645"/>
              <a:ext cx="5410200" cy="1428750"/>
            </a:xfrm>
            <a:prstGeom prst="roundRect">
              <a:avLst>
                <a:gd name="adj" fmla="val 9333"/>
              </a:avLst>
            </a:prstGeom>
            <a:solidFill>
              <a:srgbClr val="F4F6FB"/>
            </a:solidFill>
            <a:ln>
              <a:noFill/>
            </a:ln>
          </p:spPr>
        </p:sp>
        <p:sp>
          <p:nvSpPr>
            <p:cNvPr id="14" name="Rectangle 14"/>
            <p:cNvSpPr/>
            <p:nvPr/>
          </p:nvSpPr>
          <p:spPr>
            <a:xfrm>
              <a:off x="714375" y="3055620"/>
              <a:ext cx="379095" cy="238125"/>
            </a:xfrm>
            <a:prstGeom prst="roundRect">
              <a:avLst>
                <a:gd name="adj" fmla="val 50000"/>
              </a:avLst>
            </a:prstGeom>
            <a:solidFill>
              <a:srgbClr val="E7EDF3"/>
            </a:solidFill>
            <a:ln>
              <a:noFill/>
            </a:ln>
          </p:spPr>
        </p:sp>
        <p:sp>
          <p:nvSpPr>
            <p:cNvPr id="15" name="TextBox 15"/>
            <p:cNvSpPr txBox="1"/>
            <p:nvPr/>
          </p:nvSpPr>
          <p:spPr>
            <a:xfrm>
              <a:off x="803832" y="3088481"/>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Q3</a:t>
              </a:r>
            </a:p>
          </p:txBody>
        </p:sp>
        <p:sp>
          <p:nvSpPr>
            <p:cNvPr id="16" name="TextBox 16"/>
            <p:cNvSpPr txBox="1"/>
            <p:nvPr/>
          </p:nvSpPr>
          <p:spPr>
            <a:xfrm>
              <a:off x="707898" y="3396139"/>
              <a:ext cx="225303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接口分离和单一责任的区别？</a:t>
              </a:r>
            </a:p>
          </p:txBody>
        </p:sp>
        <p:sp>
          <p:nvSpPr>
            <p:cNvPr id="17" name="TextBox 17"/>
            <p:cNvSpPr txBox="1"/>
            <p:nvPr/>
          </p:nvSpPr>
          <p:spPr>
            <a:xfrm>
              <a:off x="707898" y="3680936"/>
              <a:ext cx="4670298"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SRP 看类有几个变化原因，ISP 看客户依赖了多少用不到的方</a:t>
              </a:r>
              <a:br/>
              <a:r>
                <a:rPr lang="zh-CN" sz="1280" dirty="0">
                  <a:solidFill>
                    <a:srgbClr val="1F2937"/>
                  </a:solidFill>
                  <a:latin typeface="+mn-lt"/>
                  <a:ea typeface="+mn-ea"/>
                  <a:cs typeface="+mn-cs"/>
                </a:rPr>
                <a:t>法。</a:t>
              </a:r>
            </a:p>
          </p:txBody>
        </p:sp>
      </p:grpSp>
      <p:grpSp>
        <p:nvGrpSpPr>
          <p:cNvPr id="24" name="c1-card-3"/>
          <p:cNvGrpSpPr/>
          <p:nvPr/>
        </p:nvGrpSpPr>
        <p:grpSpPr>
          <a:xfrm>
            <a:off x="533400" y="4469130"/>
            <a:ext cx="5410200" cy="1185862"/>
            <a:chOff x="533400" y="4469130"/>
            <a:chExt cx="5410200" cy="1185862"/>
          </a:xfrm>
        </p:grpSpPr>
        <p:sp>
          <p:nvSpPr>
            <p:cNvPr id="19" name="Rectangle 19"/>
            <p:cNvSpPr/>
            <p:nvPr/>
          </p:nvSpPr>
          <p:spPr>
            <a:xfrm>
              <a:off x="533400" y="4469130"/>
              <a:ext cx="5410200" cy="1185862"/>
            </a:xfrm>
            <a:prstGeom prst="roundRect">
              <a:avLst>
                <a:gd name="adj" fmla="val 11245"/>
              </a:avLst>
            </a:prstGeom>
            <a:solidFill>
              <a:srgbClr val="F4F6FB"/>
            </a:solidFill>
            <a:ln>
              <a:noFill/>
            </a:ln>
          </p:spPr>
        </p:sp>
        <p:sp>
          <p:nvSpPr>
            <p:cNvPr id="20" name="Rectangle 20"/>
            <p:cNvSpPr/>
            <p:nvPr/>
          </p:nvSpPr>
          <p:spPr>
            <a:xfrm>
              <a:off x="714375" y="4650105"/>
              <a:ext cx="379095" cy="238125"/>
            </a:xfrm>
            <a:prstGeom prst="roundRect">
              <a:avLst>
                <a:gd name="adj" fmla="val 50000"/>
              </a:avLst>
            </a:prstGeom>
            <a:solidFill>
              <a:srgbClr val="E7EDF3"/>
            </a:solidFill>
            <a:ln>
              <a:noFill/>
            </a:ln>
          </p:spPr>
        </p:sp>
        <p:sp>
          <p:nvSpPr>
            <p:cNvPr id="21" name="TextBox 21"/>
            <p:cNvSpPr txBox="1"/>
            <p:nvPr/>
          </p:nvSpPr>
          <p:spPr>
            <a:xfrm>
              <a:off x="803832" y="4682966"/>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Q5</a:t>
              </a:r>
            </a:p>
          </p:txBody>
        </p:sp>
        <p:sp>
          <p:nvSpPr>
            <p:cNvPr id="22" name="TextBox 22"/>
            <p:cNvSpPr txBox="1"/>
            <p:nvPr/>
          </p:nvSpPr>
          <p:spPr>
            <a:xfrm>
              <a:off x="707898" y="4989671"/>
              <a:ext cx="1908404"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类构件的三种重用方式？</a:t>
              </a:r>
            </a:p>
          </p:txBody>
        </p:sp>
        <p:sp>
          <p:nvSpPr>
            <p:cNvPr id="23" name="TextBox 23"/>
            <p:cNvSpPr txBox="1"/>
            <p:nvPr/>
          </p:nvSpPr>
          <p:spPr>
            <a:xfrm>
              <a:off x="707898" y="5275421"/>
              <a:ext cx="2942285" cy="249364"/>
            </a:xfrm>
            <a:prstGeom prst="rect">
              <a:avLst/>
            </a:prstGeom>
            <a:noFill/>
            <a:ln>
              <a:noFill/>
            </a:ln>
          </p:spPr>
          <p:txBody>
            <a:bodyPr wrap="none" lIns="0" tIns="0" rIns="0" bIns="0" anchor="t" anchorCtr="0">
              <a:spAutoFit/>
            </a:bodyPr>
            <a:lstStyle/>
            <a:p>
              <a:pPr algn="l"/>
              <a:r>
                <a:rPr lang="zh-CN" sz="1280" b="1" dirty="0">
                  <a:solidFill>
                    <a:srgbClr val="0F7A68"/>
                  </a:solidFill>
                  <a:latin typeface="+mn-lt"/>
                  <a:ea typeface="+mn-ea"/>
                  <a:cs typeface="+mn-cs"/>
                </a:rPr>
                <a:t>答：</a:t>
              </a:r>
              <a:r>
                <a:rPr lang="zh-CN" sz="1280" dirty="0">
                  <a:solidFill>
                    <a:srgbClr val="1F2937"/>
                  </a:solidFill>
                  <a:latin typeface="+mn-lt"/>
                  <a:ea typeface="+mn-ea"/>
                  <a:cs typeface="+mn-cs"/>
                </a:rPr>
                <a:t>实例重用、继承重用、多态重用。</a:t>
              </a:r>
            </a:p>
          </p:txBody>
        </p:sp>
      </p:grpSp>
      <p:grpSp>
        <p:nvGrpSpPr>
          <p:cNvPr id="30" name="c2-card-1"/>
          <p:cNvGrpSpPr/>
          <p:nvPr/>
        </p:nvGrpSpPr>
        <p:grpSpPr>
          <a:xfrm>
            <a:off x="6248400" y="1524000"/>
            <a:ext cx="5410200" cy="1185862"/>
            <a:chOff x="6248400" y="1524000"/>
            <a:chExt cx="5410200" cy="1185862"/>
          </a:xfrm>
        </p:grpSpPr>
        <p:sp>
          <p:nvSpPr>
            <p:cNvPr id="25" name="Rectangle 25"/>
            <p:cNvSpPr/>
            <p:nvPr/>
          </p:nvSpPr>
          <p:spPr>
            <a:xfrm>
              <a:off x="6248400" y="1524000"/>
              <a:ext cx="5410200" cy="1185862"/>
            </a:xfrm>
            <a:prstGeom prst="roundRect">
              <a:avLst>
                <a:gd name="adj" fmla="val 11245"/>
              </a:avLst>
            </a:prstGeom>
            <a:solidFill>
              <a:srgbClr val="F4F6FB"/>
            </a:solidFill>
            <a:ln>
              <a:noFill/>
            </a:ln>
          </p:spPr>
        </p:sp>
        <p:sp>
          <p:nvSpPr>
            <p:cNvPr id="26" name="Rectangle 26"/>
            <p:cNvSpPr/>
            <p:nvPr/>
          </p:nvSpPr>
          <p:spPr>
            <a:xfrm>
              <a:off x="6429375" y="1704975"/>
              <a:ext cx="379095" cy="238125"/>
            </a:xfrm>
            <a:prstGeom prst="roundRect">
              <a:avLst>
                <a:gd name="adj" fmla="val 50000"/>
              </a:avLst>
            </a:prstGeom>
            <a:solidFill>
              <a:srgbClr val="E7EDF3"/>
            </a:solidFill>
            <a:ln>
              <a:noFill/>
            </a:ln>
          </p:spPr>
        </p:sp>
        <p:sp>
          <p:nvSpPr>
            <p:cNvPr id="27" name="TextBox 27"/>
            <p:cNvSpPr txBox="1"/>
            <p:nvPr/>
          </p:nvSpPr>
          <p:spPr>
            <a:xfrm>
              <a:off x="6518832" y="1737836"/>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Q2</a:t>
              </a:r>
            </a:p>
          </p:txBody>
        </p:sp>
        <p:sp>
          <p:nvSpPr>
            <p:cNvPr id="28" name="TextBox 28"/>
            <p:cNvSpPr txBox="1"/>
            <p:nvPr/>
          </p:nvSpPr>
          <p:spPr>
            <a:xfrm>
              <a:off x="6422898" y="2045494"/>
              <a:ext cx="278697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Square 为何不该继承 Rectangle？</a:t>
              </a:r>
            </a:p>
          </p:txBody>
        </p:sp>
        <p:sp>
          <p:nvSpPr>
            <p:cNvPr id="29" name="TextBox 29"/>
            <p:cNvSpPr txBox="1"/>
            <p:nvPr/>
          </p:nvSpPr>
          <p:spPr>
            <a:xfrm>
              <a:off x="6422898" y="2330291"/>
              <a:ext cx="2769972" cy="249364"/>
            </a:xfrm>
            <a:prstGeom prst="rect">
              <a:avLst/>
            </a:prstGeom>
            <a:noFill/>
            <a:ln>
              <a:noFill/>
            </a:ln>
          </p:spPr>
          <p:txBody>
            <a:bodyPr wrap="none" lIns="0" tIns="0" rIns="0" bIns="0" anchor="t" anchorCtr="0">
              <a:spAutoFit/>
            </a:bodyPr>
            <a:lstStyle/>
            <a:p>
              <a:pPr algn="l"/>
              <a:r>
                <a:rPr lang="zh-CN" sz="1280" b="1" dirty="0">
                  <a:solidFill>
                    <a:srgbClr val="0F7A68"/>
                  </a:solidFill>
                  <a:latin typeface="+mn-lt"/>
                  <a:ea typeface="+mn-ea"/>
                  <a:cs typeface="+mn-cs"/>
                </a:rPr>
                <a:t>答：</a:t>
              </a:r>
              <a:r>
                <a:rPr lang="zh-CN" sz="1280" dirty="0">
                  <a:solidFill>
                    <a:srgbClr val="1F2937"/>
                  </a:solidFill>
                  <a:latin typeface="+mn-lt"/>
                  <a:ea typeface="+mn-ea"/>
                  <a:cs typeface="+mn-cs"/>
                </a:rPr>
                <a:t>宽高不能独立改，父类断言失败</a:t>
              </a:r>
            </a:p>
          </p:txBody>
        </p:sp>
      </p:grpSp>
      <p:grpSp>
        <p:nvGrpSpPr>
          <p:cNvPr id="36" name="c2-card-2"/>
          <p:cNvGrpSpPr/>
          <p:nvPr/>
        </p:nvGrpSpPr>
        <p:grpSpPr>
          <a:xfrm>
            <a:off x="6248400" y="2874645"/>
            <a:ext cx="5410200" cy="1185862"/>
            <a:chOff x="6248400" y="2874645"/>
            <a:chExt cx="5410200" cy="1185862"/>
          </a:xfrm>
        </p:grpSpPr>
        <p:sp>
          <p:nvSpPr>
            <p:cNvPr id="31" name="Rectangle 31"/>
            <p:cNvSpPr/>
            <p:nvPr/>
          </p:nvSpPr>
          <p:spPr>
            <a:xfrm>
              <a:off x="6248400" y="2874645"/>
              <a:ext cx="5410200" cy="1185862"/>
            </a:xfrm>
            <a:prstGeom prst="roundRect">
              <a:avLst>
                <a:gd name="adj" fmla="val 11245"/>
              </a:avLst>
            </a:prstGeom>
            <a:solidFill>
              <a:srgbClr val="F4F6FB"/>
            </a:solidFill>
            <a:ln>
              <a:noFill/>
            </a:ln>
          </p:spPr>
        </p:sp>
        <p:sp>
          <p:nvSpPr>
            <p:cNvPr id="32" name="Rectangle 32"/>
            <p:cNvSpPr/>
            <p:nvPr/>
          </p:nvSpPr>
          <p:spPr>
            <a:xfrm>
              <a:off x="6429375" y="3055620"/>
              <a:ext cx="379095" cy="238125"/>
            </a:xfrm>
            <a:prstGeom prst="roundRect">
              <a:avLst>
                <a:gd name="adj" fmla="val 50000"/>
              </a:avLst>
            </a:prstGeom>
            <a:solidFill>
              <a:srgbClr val="E7EDF3"/>
            </a:solidFill>
            <a:ln>
              <a:noFill/>
            </a:ln>
          </p:spPr>
        </p:sp>
        <p:sp>
          <p:nvSpPr>
            <p:cNvPr id="33" name="TextBox 33"/>
            <p:cNvSpPr txBox="1"/>
            <p:nvPr/>
          </p:nvSpPr>
          <p:spPr>
            <a:xfrm>
              <a:off x="6518832" y="3088481"/>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Q4</a:t>
              </a:r>
            </a:p>
          </p:txBody>
        </p:sp>
        <p:sp>
          <p:nvSpPr>
            <p:cNvPr id="34" name="TextBox 34"/>
            <p:cNvSpPr txBox="1"/>
            <p:nvPr/>
          </p:nvSpPr>
          <p:spPr>
            <a:xfrm>
              <a:off x="6422898" y="3396139"/>
              <a:ext cx="2624367"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依赖倒转原则中“倒转”的是什么？</a:t>
              </a:r>
            </a:p>
          </p:txBody>
        </p:sp>
        <p:sp>
          <p:nvSpPr>
            <p:cNvPr id="35" name="TextBox 35"/>
            <p:cNvSpPr txBox="1"/>
            <p:nvPr/>
          </p:nvSpPr>
          <p:spPr>
            <a:xfrm>
              <a:off x="6422898" y="3680936"/>
              <a:ext cx="4320794" cy="249364"/>
            </a:xfrm>
            <a:prstGeom prst="rect">
              <a:avLst/>
            </a:prstGeom>
            <a:noFill/>
            <a:ln>
              <a:noFill/>
            </a:ln>
          </p:spPr>
          <p:txBody>
            <a:bodyPr wrap="none" lIns="0" tIns="0" rIns="0" bIns="0" anchor="t" anchorCtr="0">
              <a:spAutoFit/>
            </a:bodyPr>
            <a:lstStyle/>
            <a:p>
              <a:pPr algn="l"/>
              <a:r>
                <a:rPr lang="zh-CN" sz="1280" b="1" dirty="0">
                  <a:solidFill>
                    <a:srgbClr val="0F7A68"/>
                  </a:solidFill>
                  <a:latin typeface="+mn-lt"/>
                  <a:ea typeface="+mn-ea"/>
                  <a:cs typeface="+mn-cs"/>
                </a:rPr>
                <a:t>答：</a:t>
              </a:r>
              <a:r>
                <a:rPr lang="zh-CN" sz="1280" dirty="0">
                  <a:solidFill>
                    <a:srgbClr val="1F2937"/>
                  </a:solidFill>
                  <a:latin typeface="+mn-lt"/>
                  <a:ea typeface="+mn-ea"/>
                  <a:cs typeface="+mn-cs"/>
                </a:rPr>
                <a:t>依赖箭头的方向，改为高层和低层都指向抽象接口。</a:t>
              </a:r>
            </a:p>
          </p:txBody>
        </p:sp>
      </p:grpSp>
      <p:grpSp>
        <p:nvGrpSpPr>
          <p:cNvPr id="42" name="c2-card-3"/>
          <p:cNvGrpSpPr/>
          <p:nvPr/>
        </p:nvGrpSpPr>
        <p:grpSpPr>
          <a:xfrm>
            <a:off x="6248400" y="4226242"/>
            <a:ext cx="5410200" cy="1428750"/>
            <a:chOff x="6248400" y="4226242"/>
            <a:chExt cx="5410200" cy="1428750"/>
          </a:xfrm>
        </p:grpSpPr>
        <p:sp>
          <p:nvSpPr>
            <p:cNvPr id="37" name="Rectangle 37"/>
            <p:cNvSpPr/>
            <p:nvPr/>
          </p:nvSpPr>
          <p:spPr>
            <a:xfrm>
              <a:off x="6248400" y="4226242"/>
              <a:ext cx="5410200" cy="1428750"/>
            </a:xfrm>
            <a:prstGeom prst="roundRect">
              <a:avLst>
                <a:gd name="adj" fmla="val 9333"/>
              </a:avLst>
            </a:prstGeom>
            <a:solidFill>
              <a:srgbClr val="F4F6FB"/>
            </a:solidFill>
            <a:ln>
              <a:noFill/>
            </a:ln>
          </p:spPr>
        </p:sp>
        <p:sp>
          <p:nvSpPr>
            <p:cNvPr id="38" name="Rectangle 38"/>
            <p:cNvSpPr/>
            <p:nvPr/>
          </p:nvSpPr>
          <p:spPr>
            <a:xfrm>
              <a:off x="6429375" y="4407218"/>
              <a:ext cx="379095" cy="238125"/>
            </a:xfrm>
            <a:prstGeom prst="roundRect">
              <a:avLst>
                <a:gd name="adj" fmla="val 50000"/>
              </a:avLst>
            </a:prstGeom>
            <a:solidFill>
              <a:srgbClr val="E7EDF3"/>
            </a:solidFill>
            <a:ln>
              <a:noFill/>
            </a:ln>
          </p:spPr>
        </p:sp>
        <p:sp>
          <p:nvSpPr>
            <p:cNvPr id="39" name="TextBox 39"/>
            <p:cNvSpPr txBox="1"/>
            <p:nvPr/>
          </p:nvSpPr>
          <p:spPr>
            <a:xfrm>
              <a:off x="6518832" y="4440079"/>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Q6</a:t>
              </a:r>
            </a:p>
          </p:txBody>
        </p:sp>
        <p:sp>
          <p:nvSpPr>
            <p:cNvPr id="40" name="TextBox 40"/>
            <p:cNvSpPr txBox="1"/>
            <p:nvPr/>
          </p:nvSpPr>
          <p:spPr>
            <a:xfrm>
              <a:off x="6422898" y="4746784"/>
              <a:ext cx="1736090"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重用的成本节省公式？</a:t>
              </a:r>
            </a:p>
          </p:txBody>
        </p:sp>
        <p:sp>
          <p:nvSpPr>
            <p:cNvPr id="41" name="TextBox 41"/>
            <p:cNvSpPr txBox="1"/>
            <p:nvPr/>
          </p:nvSpPr>
          <p:spPr>
            <a:xfrm>
              <a:off x="6422898" y="5032534"/>
              <a:ext cx="3878677" cy="249364"/>
            </a:xfrm>
            <a:prstGeom prst="rect">
              <a:avLst/>
            </a:prstGeom>
            <a:noFill/>
            <a:ln>
              <a:noFill/>
            </a:ln>
          </p:spPr>
          <p:txBody>
            <a:bodyPr wrap="none" lIns="0" tIns="0" rIns="0" bIns="0" anchor="t" anchorCtr="0">
              <a:spAutoFit/>
            </a:bodyPr>
            <a:lstStyle/>
            <a:p>
              <a:pPr algn="l"/>
              <a:r>
                <a:rPr lang="zh-CN" sz="1280" b="1" dirty="0">
                  <a:solidFill>
                    <a:srgbClr val="0F7A68"/>
                  </a:solidFill>
                  <a:latin typeface="+mn-lt"/>
                  <a:ea typeface="+mn-ea"/>
                  <a:cs typeface="+mn-cs"/>
                </a:rPr>
                <a:t>答：</a:t>
              </a:r>
              <a:r>
                <a:rPr lang="zh-CN" sz="1280" dirty="0">
                  <a:solidFill>
                    <a:srgbClr val="1F2937"/>
                  </a:solidFill>
                  <a:latin typeface="+mn-lt"/>
                  <a:ea typeface="+mn-ea"/>
                  <a:cs typeface="+mn-cs"/>
                </a:rPr>
                <a:t>C = Cs − Cr − Cd，C 是重用带来的成本节省。</a:t>
              </a:r>
            </a:p>
          </p:txBody>
        </p:sp>
      </p:grpSp>
      <p:grpSp>
        <p:nvGrpSpPr>
          <p:cNvPr id="49" name="takeaway"/>
          <p:cNvGrpSpPr/>
          <p:nvPr/>
        </p:nvGrpSpPr>
        <p:grpSpPr>
          <a:xfrm>
            <a:off x="533400" y="5895022"/>
            <a:ext cx="11125200" cy="467678"/>
            <a:chOff x="533400" y="5895022"/>
            <a:chExt cx="11125200" cy="467678"/>
          </a:xfrm>
        </p:grpSpPr>
        <p:sp>
          <p:nvSpPr>
            <p:cNvPr id="43" name="Rectangle 43"/>
            <p:cNvSpPr/>
            <p:nvPr/>
          </p:nvSpPr>
          <p:spPr>
            <a:xfrm>
              <a:off x="533400" y="5895022"/>
              <a:ext cx="11125200" cy="467678"/>
            </a:xfrm>
            <a:prstGeom prst="roundRect">
              <a:avLst>
                <a:gd name="adj" fmla="val 24440"/>
              </a:avLst>
            </a:prstGeom>
            <a:solidFill>
              <a:srgbClr val="FDEEE7"/>
            </a:solidFill>
            <a:ln>
              <a:noFill/>
            </a:ln>
          </p:spPr>
        </p:sp>
        <p:grpSp>
          <p:nvGrpSpPr>
            <p:cNvPr id="47" name="Group 47"/>
            <p:cNvGrpSpPr/>
            <p:nvPr/>
          </p:nvGrpSpPr>
          <p:grpSpPr>
            <a:xfrm>
              <a:off x="738188" y="6028373"/>
              <a:ext cx="200026" cy="200025"/>
              <a:chOff x="738188" y="6028373"/>
              <a:chExt cx="200026" cy="200025"/>
            </a:xfrm>
          </p:grpSpPr>
          <p:sp>
            <p:nvSpPr>
              <p:cNvPr id="44" name="Freeform 44"/>
              <p:cNvSpPr/>
              <p:nvPr/>
            </p:nvSpPr>
            <p:spPr>
              <a:xfrm>
                <a:off x="738188" y="602837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45" name="Freeform 45"/>
              <p:cNvSpPr/>
              <p:nvPr/>
            </p:nvSpPr>
            <p:spPr>
              <a:xfrm>
                <a:off x="777926" y="607282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46" name="Freeform 46"/>
              <p:cNvSpPr/>
              <p:nvPr/>
            </p:nvSpPr>
            <p:spPr>
              <a:xfrm>
                <a:off x="812642" y="618394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48" name="TextBox 48"/>
            <p:cNvSpPr txBox="1"/>
            <p:nvPr/>
          </p:nvSpPr>
          <p:spPr>
            <a:xfrm>
              <a:off x="1041273" y="6039326"/>
              <a:ext cx="4551954" cy="249364"/>
            </a:xfrm>
            <a:prstGeom prst="rect">
              <a:avLst/>
            </a:prstGeom>
            <a:noFill/>
            <a:ln>
              <a:noFill/>
            </a:ln>
          </p:spPr>
          <p:txBody>
            <a:bodyPr wrap="none" lIns="0" tIns="0" rIns="0" bIns="0" anchor="t" anchorCtr="0">
              <a:spAutoFit/>
            </a:bodyPr>
            <a:lstStyle/>
            <a:p>
              <a:pPr algn="l"/>
              <a:r>
                <a:rPr lang="zh-CN" sz="1280" dirty="0">
                  <a:solidFill>
                    <a:srgbClr val="C2410C"/>
                  </a:solidFill>
                  <a:latin typeface="+mn-lt"/>
                  <a:ea typeface="+mn-ea"/>
                  <a:cs typeface="+mn-cs"/>
                </a:rPr>
                <a:t>第 2 题要把代码片段和断言写全，只说“违反 LSP”不给分。</a:t>
              </a:r>
            </a:p>
          </p:txBody>
        </p:sp>
      </p:grpSp>
      <p:grpSp>
        <p:nvGrpSpPr>
          <p:cNvPr id="52" name="footer"/>
          <p:cNvGrpSpPr/>
          <p:nvPr/>
        </p:nvGrpSpPr>
        <p:grpSpPr>
          <a:xfrm>
            <a:off x="528447" y="6581299"/>
            <a:ext cx="11135106" cy="190690"/>
            <a:chOff x="528447" y="6581299"/>
            <a:chExt cx="11135106" cy="190690"/>
          </a:xfrm>
        </p:grpSpPr>
        <p:sp>
          <p:nvSpPr>
            <p:cNvPr id="50" name="TextBox 50"/>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51" name="TextBox 5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60</a:t>
              </a:r>
            </a:p>
          </p:txBody>
        </p:sp>
      </p:grpSp>
    </p:spTree>
  </p:cSld>
  <p:clrMapOvr>
    <a:masterClrMapping/>
  </p:clrMapOvr>
  <p:transition xmlns:p14="http://schemas.microsoft.com/office/powerpoint/2010/main" p14:dur="400">
    <p:fade/>
  </p:transition>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175123" cy="909257"/>
            <a:chOff x="520446" y="342900"/>
            <a:chExt cx="5175123" cy="909257"/>
          </a:xfrm>
        </p:grpSpPr>
        <p:sp>
          <p:nvSpPr>
            <p:cNvPr id="2" name="Rectangle 2"/>
            <p:cNvSpPr/>
            <p:nvPr/>
          </p:nvSpPr>
          <p:spPr>
            <a:xfrm>
              <a:off x="533400" y="342900"/>
              <a:ext cx="1044892" cy="266700"/>
            </a:xfrm>
            <a:prstGeom prst="roundRect">
              <a:avLst>
                <a:gd name="adj" fmla="val 50000"/>
              </a:avLst>
            </a:prstGeom>
            <a:solidFill>
              <a:srgbClr val="E7EDF3"/>
            </a:solidFill>
            <a:ln>
              <a:noFill/>
            </a:ln>
          </p:spPr>
        </p:sp>
        <p:sp>
          <p:nvSpPr>
            <p:cNvPr id="3" name="TextBox 3"/>
            <p:cNvSpPr txBox="1"/>
            <p:nvPr/>
          </p:nvSpPr>
          <p:spPr>
            <a:xfrm>
              <a:off x="637287" y="407194"/>
              <a:ext cx="836166"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自测</a:t>
              </a:r>
            </a:p>
          </p:txBody>
        </p:sp>
        <p:sp>
          <p:nvSpPr>
            <p:cNvPr id="4" name="TextBox 4"/>
            <p:cNvSpPr txBox="1"/>
            <p:nvPr/>
          </p:nvSpPr>
          <p:spPr>
            <a:xfrm>
              <a:off x="520446" y="753428"/>
              <a:ext cx="517512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自测题（三）：分解、关联与模式</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2" name="c1-card-1"/>
          <p:cNvGrpSpPr/>
          <p:nvPr/>
        </p:nvGrpSpPr>
        <p:grpSpPr>
          <a:xfrm>
            <a:off x="533400" y="1524000"/>
            <a:ext cx="5410200" cy="1254442"/>
            <a:chOff x="533400" y="1524000"/>
            <a:chExt cx="5410200" cy="1254442"/>
          </a:xfrm>
        </p:grpSpPr>
        <p:sp>
          <p:nvSpPr>
            <p:cNvPr id="7" name="Rectangle 7"/>
            <p:cNvSpPr/>
            <p:nvPr/>
          </p:nvSpPr>
          <p:spPr>
            <a:xfrm>
              <a:off x="533400" y="1524000"/>
              <a:ext cx="5410200" cy="1254442"/>
            </a:xfrm>
            <a:prstGeom prst="roundRect">
              <a:avLst>
                <a:gd name="adj" fmla="val 10630"/>
              </a:avLst>
            </a:prstGeom>
            <a:solidFill>
              <a:srgbClr val="F4F6FB"/>
            </a:solidFill>
            <a:ln>
              <a:noFill/>
            </a:ln>
          </p:spPr>
        </p:sp>
        <p:sp>
          <p:nvSpPr>
            <p:cNvPr id="8" name="Rectangle 8"/>
            <p:cNvSpPr/>
            <p:nvPr/>
          </p:nvSpPr>
          <p:spPr>
            <a:xfrm>
              <a:off x="725805" y="1716405"/>
              <a:ext cx="391478" cy="247650"/>
            </a:xfrm>
            <a:prstGeom prst="roundRect">
              <a:avLst>
                <a:gd name="adj" fmla="val 50000"/>
              </a:avLst>
            </a:prstGeom>
            <a:solidFill>
              <a:srgbClr val="E7EDF3"/>
            </a:solidFill>
            <a:ln>
              <a:noFill/>
            </a:ln>
          </p:spPr>
        </p:sp>
        <p:sp>
          <p:nvSpPr>
            <p:cNvPr id="9" name="TextBox 9"/>
            <p:cNvSpPr txBox="1"/>
            <p:nvPr/>
          </p:nvSpPr>
          <p:spPr>
            <a:xfrm>
              <a:off x="814753" y="1750695"/>
              <a:ext cx="214533" cy="205359"/>
            </a:xfrm>
            <a:prstGeom prst="rect">
              <a:avLst/>
            </a:prstGeom>
            <a:noFill/>
            <a:ln>
              <a:noFill/>
            </a:ln>
          </p:spPr>
          <p:txBody>
            <a:bodyPr wrap="none" lIns="0" tIns="0" rIns="0" bIns="0" anchor="t" anchorCtr="0">
              <a:spAutoFit/>
            </a:bodyPr>
            <a:lstStyle/>
            <a:p>
              <a:pPr algn="ctr"/>
              <a:r>
                <a:rPr lang="en-US" sz="1050" b="1" dirty="0">
                  <a:solidFill>
                    <a:srgbClr val="334E68"/>
                  </a:solidFill>
                  <a:latin typeface="+mn-lt"/>
                  <a:ea typeface="+mn-ea"/>
                  <a:cs typeface="+mn-cs"/>
                </a:rPr>
                <a:t>Q1</a:t>
              </a:r>
            </a:p>
          </p:txBody>
        </p:sp>
        <p:sp>
          <p:nvSpPr>
            <p:cNvPr id="10" name="TextBox 10"/>
            <p:cNvSpPr txBox="1"/>
            <p:nvPr/>
          </p:nvSpPr>
          <p:spPr>
            <a:xfrm>
              <a:off x="718947" y="2072640"/>
              <a:ext cx="237629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系统分解得到哪四个子系统？</a:t>
              </a:r>
            </a:p>
          </p:txBody>
        </p:sp>
        <p:sp>
          <p:nvSpPr>
            <p:cNvPr id="11" name="TextBox 11"/>
            <p:cNvSpPr txBox="1"/>
            <p:nvPr/>
          </p:nvSpPr>
          <p:spPr>
            <a:xfrm>
              <a:off x="718947" y="2375535"/>
              <a:ext cx="4375404"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问题域、人机交互、任务管理、数据管理四部分。</a:t>
              </a:r>
            </a:p>
          </p:txBody>
        </p:sp>
      </p:grpSp>
      <p:grpSp>
        <p:nvGrpSpPr>
          <p:cNvPr id="18" name="c1-card-2"/>
          <p:cNvGrpSpPr/>
          <p:nvPr/>
        </p:nvGrpSpPr>
        <p:grpSpPr>
          <a:xfrm>
            <a:off x="533400" y="2953702"/>
            <a:ext cx="5410200" cy="1254442"/>
            <a:chOff x="533400" y="2953702"/>
            <a:chExt cx="5410200" cy="1254442"/>
          </a:xfrm>
        </p:grpSpPr>
        <p:sp>
          <p:nvSpPr>
            <p:cNvPr id="13" name="Rectangle 13"/>
            <p:cNvSpPr/>
            <p:nvPr/>
          </p:nvSpPr>
          <p:spPr>
            <a:xfrm>
              <a:off x="533400" y="2953702"/>
              <a:ext cx="5410200" cy="1254442"/>
            </a:xfrm>
            <a:prstGeom prst="roundRect">
              <a:avLst>
                <a:gd name="adj" fmla="val 10630"/>
              </a:avLst>
            </a:prstGeom>
            <a:solidFill>
              <a:srgbClr val="F4F6FB"/>
            </a:solidFill>
            <a:ln>
              <a:noFill/>
            </a:ln>
          </p:spPr>
        </p:sp>
        <p:sp>
          <p:nvSpPr>
            <p:cNvPr id="14" name="Rectangle 14"/>
            <p:cNvSpPr/>
            <p:nvPr/>
          </p:nvSpPr>
          <p:spPr>
            <a:xfrm>
              <a:off x="725805" y="3146108"/>
              <a:ext cx="391478" cy="247650"/>
            </a:xfrm>
            <a:prstGeom prst="roundRect">
              <a:avLst>
                <a:gd name="adj" fmla="val 50000"/>
              </a:avLst>
            </a:prstGeom>
            <a:solidFill>
              <a:srgbClr val="E7EDF3"/>
            </a:solidFill>
            <a:ln>
              <a:noFill/>
            </a:ln>
          </p:spPr>
        </p:sp>
        <p:sp>
          <p:nvSpPr>
            <p:cNvPr id="15" name="TextBox 15"/>
            <p:cNvSpPr txBox="1"/>
            <p:nvPr/>
          </p:nvSpPr>
          <p:spPr>
            <a:xfrm>
              <a:off x="814753" y="3180398"/>
              <a:ext cx="214533" cy="205359"/>
            </a:xfrm>
            <a:prstGeom prst="rect">
              <a:avLst/>
            </a:prstGeom>
            <a:noFill/>
            <a:ln>
              <a:noFill/>
            </a:ln>
          </p:spPr>
          <p:txBody>
            <a:bodyPr wrap="none" lIns="0" tIns="0" rIns="0" bIns="0" anchor="t" anchorCtr="0">
              <a:spAutoFit/>
            </a:bodyPr>
            <a:lstStyle/>
            <a:p>
              <a:pPr algn="ctr"/>
              <a:r>
                <a:rPr lang="en-US" sz="1050" b="1" dirty="0">
                  <a:solidFill>
                    <a:srgbClr val="334E68"/>
                  </a:solidFill>
                  <a:latin typeface="+mn-lt"/>
                  <a:ea typeface="+mn-ea"/>
                  <a:cs typeface="+mn-cs"/>
                </a:rPr>
                <a:t>Q3</a:t>
              </a:r>
            </a:p>
          </p:txBody>
        </p:sp>
        <p:sp>
          <p:nvSpPr>
            <p:cNvPr id="16" name="TextBox 16"/>
            <p:cNvSpPr txBox="1"/>
            <p:nvPr/>
          </p:nvSpPr>
          <p:spPr>
            <a:xfrm>
              <a:off x="718947" y="3503295"/>
              <a:ext cx="328498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层次组织的封闭式和开放式有什么区别？</a:t>
              </a:r>
            </a:p>
          </p:txBody>
        </p:sp>
        <p:sp>
          <p:nvSpPr>
            <p:cNvPr id="17" name="TextBox 17"/>
            <p:cNvSpPr txBox="1"/>
            <p:nvPr/>
          </p:nvSpPr>
          <p:spPr>
            <a:xfrm>
              <a:off x="718947" y="3805238"/>
              <a:ext cx="5102352"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封闭式只能调用直接下一层，开放式可调用下面任何一层。</a:t>
              </a:r>
            </a:p>
          </p:txBody>
        </p:sp>
      </p:grpSp>
      <p:grpSp>
        <p:nvGrpSpPr>
          <p:cNvPr id="24" name="c1-card-3"/>
          <p:cNvGrpSpPr/>
          <p:nvPr/>
        </p:nvGrpSpPr>
        <p:grpSpPr>
          <a:xfrm>
            <a:off x="533400" y="4383405"/>
            <a:ext cx="5410200" cy="1254442"/>
            <a:chOff x="533400" y="4383405"/>
            <a:chExt cx="5410200" cy="1254442"/>
          </a:xfrm>
        </p:grpSpPr>
        <p:sp>
          <p:nvSpPr>
            <p:cNvPr id="19" name="Rectangle 19"/>
            <p:cNvSpPr/>
            <p:nvPr/>
          </p:nvSpPr>
          <p:spPr>
            <a:xfrm>
              <a:off x="533400" y="4383405"/>
              <a:ext cx="5410200" cy="1254442"/>
            </a:xfrm>
            <a:prstGeom prst="roundRect">
              <a:avLst>
                <a:gd name="adj" fmla="val 10630"/>
              </a:avLst>
            </a:prstGeom>
            <a:solidFill>
              <a:srgbClr val="F4F6FB"/>
            </a:solidFill>
            <a:ln>
              <a:noFill/>
            </a:ln>
          </p:spPr>
        </p:sp>
        <p:sp>
          <p:nvSpPr>
            <p:cNvPr id="20" name="Rectangle 20"/>
            <p:cNvSpPr/>
            <p:nvPr/>
          </p:nvSpPr>
          <p:spPr>
            <a:xfrm>
              <a:off x="725805" y="4575810"/>
              <a:ext cx="391478" cy="247650"/>
            </a:xfrm>
            <a:prstGeom prst="roundRect">
              <a:avLst>
                <a:gd name="adj" fmla="val 50000"/>
              </a:avLst>
            </a:prstGeom>
            <a:solidFill>
              <a:srgbClr val="E7EDF3"/>
            </a:solidFill>
            <a:ln>
              <a:noFill/>
            </a:ln>
          </p:spPr>
        </p:sp>
        <p:sp>
          <p:nvSpPr>
            <p:cNvPr id="21" name="TextBox 21"/>
            <p:cNvSpPr txBox="1"/>
            <p:nvPr/>
          </p:nvSpPr>
          <p:spPr>
            <a:xfrm>
              <a:off x="814753" y="4610100"/>
              <a:ext cx="214533" cy="205359"/>
            </a:xfrm>
            <a:prstGeom prst="rect">
              <a:avLst/>
            </a:prstGeom>
            <a:noFill/>
            <a:ln>
              <a:noFill/>
            </a:ln>
          </p:spPr>
          <p:txBody>
            <a:bodyPr wrap="none" lIns="0" tIns="0" rIns="0" bIns="0" anchor="t" anchorCtr="0">
              <a:spAutoFit/>
            </a:bodyPr>
            <a:lstStyle/>
            <a:p>
              <a:pPr algn="ctr"/>
              <a:r>
                <a:rPr lang="en-US" sz="1050" b="1" dirty="0">
                  <a:solidFill>
                    <a:srgbClr val="334E68"/>
                  </a:solidFill>
                  <a:latin typeface="+mn-lt"/>
                  <a:ea typeface="+mn-ea"/>
                  <a:cs typeface="+mn-cs"/>
                </a:rPr>
                <a:t>Q5</a:t>
              </a:r>
            </a:p>
          </p:txBody>
        </p:sp>
        <p:sp>
          <p:nvSpPr>
            <p:cNvPr id="22" name="TextBox 22"/>
            <p:cNvSpPr txBox="1"/>
            <p:nvPr/>
          </p:nvSpPr>
          <p:spPr>
            <a:xfrm>
              <a:off x="718947" y="4932998"/>
              <a:ext cx="328498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关联对象在一对多和多对多时放在哪里？</a:t>
              </a:r>
            </a:p>
          </p:txBody>
        </p:sp>
        <p:sp>
          <p:nvSpPr>
            <p:cNvPr id="23" name="TextBox 23"/>
            <p:cNvSpPr txBox="1"/>
            <p:nvPr/>
          </p:nvSpPr>
          <p:spPr>
            <a:xfrm>
              <a:off x="718947" y="5234940"/>
              <a:ext cx="4211841"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一对多与“多”端合并，多对多用独立的关联类。</a:t>
              </a:r>
            </a:p>
          </p:txBody>
        </p:sp>
      </p:grpSp>
      <p:grpSp>
        <p:nvGrpSpPr>
          <p:cNvPr id="30" name="c2-card-1"/>
          <p:cNvGrpSpPr/>
          <p:nvPr/>
        </p:nvGrpSpPr>
        <p:grpSpPr>
          <a:xfrm>
            <a:off x="6248400" y="1524000"/>
            <a:ext cx="5410200" cy="1254442"/>
            <a:chOff x="6248400" y="1524000"/>
            <a:chExt cx="5410200" cy="1254442"/>
          </a:xfrm>
        </p:grpSpPr>
        <p:sp>
          <p:nvSpPr>
            <p:cNvPr id="25" name="Rectangle 25"/>
            <p:cNvSpPr/>
            <p:nvPr/>
          </p:nvSpPr>
          <p:spPr>
            <a:xfrm>
              <a:off x="6248400" y="1524000"/>
              <a:ext cx="5410200" cy="1254442"/>
            </a:xfrm>
            <a:prstGeom prst="roundRect">
              <a:avLst>
                <a:gd name="adj" fmla="val 10630"/>
              </a:avLst>
            </a:prstGeom>
            <a:solidFill>
              <a:srgbClr val="F4F6FB"/>
            </a:solidFill>
            <a:ln>
              <a:noFill/>
            </a:ln>
          </p:spPr>
        </p:sp>
        <p:sp>
          <p:nvSpPr>
            <p:cNvPr id="26" name="Rectangle 26"/>
            <p:cNvSpPr/>
            <p:nvPr/>
          </p:nvSpPr>
          <p:spPr>
            <a:xfrm>
              <a:off x="6440805" y="1716405"/>
              <a:ext cx="391478" cy="247650"/>
            </a:xfrm>
            <a:prstGeom prst="roundRect">
              <a:avLst>
                <a:gd name="adj" fmla="val 50000"/>
              </a:avLst>
            </a:prstGeom>
            <a:solidFill>
              <a:srgbClr val="E7EDF3"/>
            </a:solidFill>
            <a:ln>
              <a:noFill/>
            </a:ln>
          </p:spPr>
        </p:sp>
        <p:sp>
          <p:nvSpPr>
            <p:cNvPr id="27" name="TextBox 27"/>
            <p:cNvSpPr txBox="1"/>
            <p:nvPr/>
          </p:nvSpPr>
          <p:spPr>
            <a:xfrm>
              <a:off x="6529753" y="1750695"/>
              <a:ext cx="214533" cy="205359"/>
            </a:xfrm>
            <a:prstGeom prst="rect">
              <a:avLst/>
            </a:prstGeom>
            <a:noFill/>
            <a:ln>
              <a:noFill/>
            </a:ln>
          </p:spPr>
          <p:txBody>
            <a:bodyPr wrap="none" lIns="0" tIns="0" rIns="0" bIns="0" anchor="t" anchorCtr="0">
              <a:spAutoFit/>
            </a:bodyPr>
            <a:lstStyle/>
            <a:p>
              <a:pPr algn="ctr"/>
              <a:r>
                <a:rPr lang="en-US" sz="1050" b="1" dirty="0">
                  <a:solidFill>
                    <a:srgbClr val="334E68"/>
                  </a:solidFill>
                  <a:latin typeface="+mn-lt"/>
                  <a:ea typeface="+mn-ea"/>
                  <a:cs typeface="+mn-cs"/>
                </a:rPr>
                <a:t>Q2</a:t>
              </a:r>
            </a:p>
          </p:txBody>
        </p:sp>
        <p:sp>
          <p:nvSpPr>
            <p:cNvPr id="28" name="TextBox 28"/>
            <p:cNvSpPr txBox="1"/>
            <p:nvPr/>
          </p:nvSpPr>
          <p:spPr>
            <a:xfrm>
              <a:off x="6433947" y="2072640"/>
              <a:ext cx="273977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面向对象分析的五个层次是什么？</a:t>
              </a:r>
            </a:p>
          </p:txBody>
        </p:sp>
        <p:sp>
          <p:nvSpPr>
            <p:cNvPr id="29" name="TextBox 29"/>
            <p:cNvSpPr txBox="1"/>
            <p:nvPr/>
          </p:nvSpPr>
          <p:spPr>
            <a:xfrm>
              <a:off x="6433947" y="2375535"/>
              <a:ext cx="4375404"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主题层、类与对象层、结构层、属性层、服务层。</a:t>
              </a:r>
            </a:p>
          </p:txBody>
        </p:sp>
      </p:grpSp>
      <p:grpSp>
        <p:nvGrpSpPr>
          <p:cNvPr id="36" name="c2-card-2"/>
          <p:cNvGrpSpPr/>
          <p:nvPr/>
        </p:nvGrpSpPr>
        <p:grpSpPr>
          <a:xfrm>
            <a:off x="6248400" y="2953702"/>
            <a:ext cx="5410200" cy="1254442"/>
            <a:chOff x="6248400" y="2953702"/>
            <a:chExt cx="5410200" cy="1254442"/>
          </a:xfrm>
        </p:grpSpPr>
        <p:sp>
          <p:nvSpPr>
            <p:cNvPr id="31" name="Rectangle 31"/>
            <p:cNvSpPr/>
            <p:nvPr/>
          </p:nvSpPr>
          <p:spPr>
            <a:xfrm>
              <a:off x="6248400" y="2953702"/>
              <a:ext cx="5410200" cy="1254442"/>
            </a:xfrm>
            <a:prstGeom prst="roundRect">
              <a:avLst>
                <a:gd name="adj" fmla="val 10630"/>
              </a:avLst>
            </a:prstGeom>
            <a:solidFill>
              <a:srgbClr val="F4F6FB"/>
            </a:solidFill>
            <a:ln>
              <a:noFill/>
            </a:ln>
          </p:spPr>
        </p:sp>
        <p:sp>
          <p:nvSpPr>
            <p:cNvPr id="32" name="Rectangle 32"/>
            <p:cNvSpPr/>
            <p:nvPr/>
          </p:nvSpPr>
          <p:spPr>
            <a:xfrm>
              <a:off x="6440805" y="3146108"/>
              <a:ext cx="391478" cy="247650"/>
            </a:xfrm>
            <a:prstGeom prst="roundRect">
              <a:avLst>
                <a:gd name="adj" fmla="val 50000"/>
              </a:avLst>
            </a:prstGeom>
            <a:solidFill>
              <a:srgbClr val="E7EDF3"/>
            </a:solidFill>
            <a:ln>
              <a:noFill/>
            </a:ln>
          </p:spPr>
        </p:sp>
        <p:sp>
          <p:nvSpPr>
            <p:cNvPr id="33" name="TextBox 33"/>
            <p:cNvSpPr txBox="1"/>
            <p:nvPr/>
          </p:nvSpPr>
          <p:spPr>
            <a:xfrm>
              <a:off x="6529753" y="3180398"/>
              <a:ext cx="214533" cy="205359"/>
            </a:xfrm>
            <a:prstGeom prst="rect">
              <a:avLst/>
            </a:prstGeom>
            <a:noFill/>
            <a:ln>
              <a:noFill/>
            </a:ln>
          </p:spPr>
          <p:txBody>
            <a:bodyPr wrap="none" lIns="0" tIns="0" rIns="0" bIns="0" anchor="t" anchorCtr="0">
              <a:spAutoFit/>
            </a:bodyPr>
            <a:lstStyle/>
            <a:p>
              <a:pPr algn="ctr"/>
              <a:r>
                <a:rPr lang="en-US" sz="1050" b="1" dirty="0">
                  <a:solidFill>
                    <a:srgbClr val="334E68"/>
                  </a:solidFill>
                  <a:latin typeface="+mn-lt"/>
                  <a:ea typeface="+mn-ea"/>
                  <a:cs typeface="+mn-cs"/>
                </a:rPr>
                <a:t>Q4</a:t>
              </a:r>
            </a:p>
          </p:txBody>
        </p:sp>
        <p:sp>
          <p:nvSpPr>
            <p:cNvPr id="34" name="TextBox 34"/>
            <p:cNvSpPr txBox="1"/>
            <p:nvPr/>
          </p:nvSpPr>
          <p:spPr>
            <a:xfrm>
              <a:off x="6433947" y="3503295"/>
              <a:ext cx="237629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实现双向关联有哪三种办法？</a:t>
              </a:r>
            </a:p>
          </p:txBody>
        </p:sp>
        <p:sp>
          <p:nvSpPr>
            <p:cNvPr id="35" name="TextBox 35"/>
            <p:cNvSpPr txBox="1"/>
            <p:nvPr/>
          </p:nvSpPr>
          <p:spPr>
            <a:xfrm>
              <a:off x="6433947" y="3805238"/>
              <a:ext cx="5102352"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单向属性加正向查找；两边都用属性；用独立的关联对象。</a:t>
              </a:r>
            </a:p>
          </p:txBody>
        </p:sp>
      </p:grpSp>
      <p:grpSp>
        <p:nvGrpSpPr>
          <p:cNvPr id="42" name="c2-card-3"/>
          <p:cNvGrpSpPr/>
          <p:nvPr/>
        </p:nvGrpSpPr>
        <p:grpSpPr>
          <a:xfrm>
            <a:off x="6248400" y="4383405"/>
            <a:ext cx="5410200" cy="1254442"/>
            <a:chOff x="6248400" y="4383405"/>
            <a:chExt cx="5410200" cy="1254442"/>
          </a:xfrm>
        </p:grpSpPr>
        <p:sp>
          <p:nvSpPr>
            <p:cNvPr id="37" name="Rectangle 37"/>
            <p:cNvSpPr/>
            <p:nvPr/>
          </p:nvSpPr>
          <p:spPr>
            <a:xfrm>
              <a:off x="6248400" y="4383405"/>
              <a:ext cx="5410200" cy="1254442"/>
            </a:xfrm>
            <a:prstGeom prst="roundRect">
              <a:avLst>
                <a:gd name="adj" fmla="val 10630"/>
              </a:avLst>
            </a:prstGeom>
            <a:solidFill>
              <a:srgbClr val="F4F6FB"/>
            </a:solidFill>
            <a:ln>
              <a:noFill/>
            </a:ln>
          </p:spPr>
        </p:sp>
        <p:sp>
          <p:nvSpPr>
            <p:cNvPr id="38" name="Rectangle 38"/>
            <p:cNvSpPr/>
            <p:nvPr/>
          </p:nvSpPr>
          <p:spPr>
            <a:xfrm>
              <a:off x="6440805" y="4575810"/>
              <a:ext cx="391478" cy="247650"/>
            </a:xfrm>
            <a:prstGeom prst="roundRect">
              <a:avLst>
                <a:gd name="adj" fmla="val 50000"/>
              </a:avLst>
            </a:prstGeom>
            <a:solidFill>
              <a:srgbClr val="E7EDF3"/>
            </a:solidFill>
            <a:ln>
              <a:noFill/>
            </a:ln>
          </p:spPr>
        </p:sp>
        <p:sp>
          <p:nvSpPr>
            <p:cNvPr id="39" name="TextBox 39"/>
            <p:cNvSpPr txBox="1"/>
            <p:nvPr/>
          </p:nvSpPr>
          <p:spPr>
            <a:xfrm>
              <a:off x="6529753" y="4610100"/>
              <a:ext cx="214533" cy="205359"/>
            </a:xfrm>
            <a:prstGeom prst="rect">
              <a:avLst/>
            </a:prstGeom>
            <a:noFill/>
            <a:ln>
              <a:noFill/>
            </a:ln>
          </p:spPr>
          <p:txBody>
            <a:bodyPr wrap="none" lIns="0" tIns="0" rIns="0" bIns="0" anchor="t" anchorCtr="0">
              <a:spAutoFit/>
            </a:bodyPr>
            <a:lstStyle/>
            <a:p>
              <a:pPr algn="ctr"/>
              <a:r>
                <a:rPr lang="en-US" sz="1050" b="1" dirty="0">
                  <a:solidFill>
                    <a:srgbClr val="334E68"/>
                  </a:solidFill>
                  <a:latin typeface="+mn-lt"/>
                  <a:ea typeface="+mn-ea"/>
                  <a:cs typeface="+mn-cs"/>
                </a:rPr>
                <a:t>Q6</a:t>
              </a:r>
            </a:p>
          </p:txBody>
        </p:sp>
        <p:sp>
          <p:nvSpPr>
            <p:cNvPr id="40" name="TextBox 40"/>
            <p:cNvSpPr txBox="1"/>
            <p:nvPr/>
          </p:nvSpPr>
          <p:spPr>
            <a:xfrm>
              <a:off x="6433947" y="4932998"/>
              <a:ext cx="237629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工厂方法和抽象工厂的区别？</a:t>
              </a:r>
            </a:p>
          </p:txBody>
        </p:sp>
        <p:sp>
          <p:nvSpPr>
            <p:cNvPr id="41" name="TextBox 41"/>
            <p:cNvSpPr txBox="1"/>
            <p:nvPr/>
          </p:nvSpPr>
          <p:spPr>
            <a:xfrm>
              <a:off x="6433947" y="5234940"/>
              <a:ext cx="4557141"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前者用继承改变实例化的类，后者委托给工厂对象。</a:t>
              </a:r>
            </a:p>
          </p:txBody>
        </p:sp>
      </p:grpSp>
      <p:grpSp>
        <p:nvGrpSpPr>
          <p:cNvPr id="48" name="takeaway"/>
          <p:cNvGrpSpPr/>
          <p:nvPr/>
        </p:nvGrpSpPr>
        <p:grpSpPr>
          <a:xfrm>
            <a:off x="533400" y="5874068"/>
            <a:ext cx="11125200" cy="488632"/>
            <a:chOff x="533400" y="5874068"/>
            <a:chExt cx="11125200" cy="488632"/>
          </a:xfrm>
        </p:grpSpPr>
        <p:sp>
          <p:nvSpPr>
            <p:cNvPr id="43" name="Rectangle 43"/>
            <p:cNvSpPr/>
            <p:nvPr/>
          </p:nvSpPr>
          <p:spPr>
            <a:xfrm>
              <a:off x="533400" y="5874068"/>
              <a:ext cx="11125200" cy="488632"/>
            </a:xfrm>
            <a:prstGeom prst="roundRect">
              <a:avLst>
                <a:gd name="adj" fmla="val 23392"/>
              </a:avLst>
            </a:prstGeom>
            <a:solidFill>
              <a:srgbClr val="334E68"/>
            </a:solidFill>
            <a:ln>
              <a:noFill/>
            </a:ln>
          </p:spPr>
        </p:sp>
        <p:grpSp>
          <p:nvGrpSpPr>
            <p:cNvPr id="46" name="Group 46"/>
            <p:cNvGrpSpPr/>
            <p:nvPr/>
          </p:nvGrpSpPr>
          <p:grpSpPr>
            <a:xfrm>
              <a:off x="738188" y="6017897"/>
              <a:ext cx="200023" cy="200023"/>
              <a:chOff x="738188" y="6017897"/>
              <a:chExt cx="200023" cy="200023"/>
            </a:xfrm>
          </p:grpSpPr>
          <p:sp>
            <p:nvSpPr>
              <p:cNvPr id="44" name="Freeform 44"/>
              <p:cNvSpPr/>
              <p:nvPr/>
            </p:nvSpPr>
            <p:spPr>
              <a:xfrm>
                <a:off x="738188" y="60178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5" name="Freeform 45"/>
              <p:cNvSpPr/>
              <p:nvPr/>
            </p:nvSpPr>
            <p:spPr>
              <a:xfrm>
                <a:off x="871538" y="60845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7" name="TextBox 47"/>
            <p:cNvSpPr txBox="1"/>
            <p:nvPr/>
          </p:nvSpPr>
          <p:spPr>
            <a:xfrm>
              <a:off x="1040892" y="6023610"/>
              <a:ext cx="6474466"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模式类题目按“意图 + 角色 + 结构图 + 效果”四段答，能画出结构图是得分关键。</a:t>
              </a:r>
            </a:p>
          </p:txBody>
        </p:sp>
      </p:grpSp>
      <p:grpSp>
        <p:nvGrpSpPr>
          <p:cNvPr id="51" name="footer"/>
          <p:cNvGrpSpPr/>
          <p:nvPr/>
        </p:nvGrpSpPr>
        <p:grpSpPr>
          <a:xfrm>
            <a:off x="528447" y="6581299"/>
            <a:ext cx="11135106" cy="190690"/>
            <a:chOff x="528447" y="6581299"/>
            <a:chExt cx="11135106" cy="190690"/>
          </a:xfrm>
        </p:grpSpPr>
        <p:sp>
          <p:nvSpPr>
            <p:cNvPr id="49" name="TextBox 49"/>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50" name="TextBox 5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61</a:t>
              </a:r>
            </a:p>
          </p:txBody>
        </p:sp>
      </p:grpSp>
    </p:spTree>
  </p:cSld>
  <p:clrMapOvr>
    <a:masterClrMapping/>
  </p:clrMapOvr>
  <p:transition xmlns:p14="http://schemas.microsoft.com/office/powerpoint/2010/main" p14:dur="400">
    <p:fade/>
  </p:transition>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1626489" cy="909257"/>
            <a:chOff x="520446" y="342900"/>
            <a:chExt cx="1626489" cy="909257"/>
          </a:xfrm>
        </p:grpSpPr>
        <p:sp>
          <p:nvSpPr>
            <p:cNvPr id="2" name="Rectangle 2"/>
            <p:cNvSpPr/>
            <p:nvPr/>
          </p:nvSpPr>
          <p:spPr>
            <a:xfrm>
              <a:off x="533400" y="342900"/>
              <a:ext cx="1613535" cy="266700"/>
            </a:xfrm>
            <a:prstGeom prst="roundRect">
              <a:avLst>
                <a:gd name="adj" fmla="val 50000"/>
              </a:avLst>
            </a:prstGeom>
            <a:solidFill>
              <a:srgbClr val="E7EDF3"/>
            </a:solidFill>
            <a:ln>
              <a:noFill/>
            </a:ln>
          </p:spPr>
        </p:sp>
        <p:sp>
          <p:nvSpPr>
            <p:cNvPr id="3" name="TextBox 3"/>
            <p:cNvSpPr txBox="1"/>
            <p:nvPr/>
          </p:nvSpPr>
          <p:spPr>
            <a:xfrm>
              <a:off x="620536" y="407194"/>
              <a:ext cx="1439264"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第11章 面向对象设计</a:t>
              </a:r>
            </a:p>
          </p:txBody>
        </p:sp>
        <p:sp>
          <p:nvSpPr>
            <p:cNvPr id="4" name="TextBox 4"/>
            <p:cNvSpPr txBox="1"/>
            <p:nvPr/>
          </p:nvSpPr>
          <p:spPr>
            <a:xfrm>
              <a:off x="520446" y="753428"/>
              <a:ext cx="139903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本章小结</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0" name="c1-table-1"/>
          <p:cNvGrpSpPr/>
          <p:nvPr/>
        </p:nvGrpSpPr>
        <p:grpSpPr>
          <a:xfrm>
            <a:off x="533400" y="1524000"/>
            <a:ext cx="5951220" cy="3640455"/>
            <a:chOff x="533400" y="1524000"/>
            <a:chExt cx="5951220" cy="3640455"/>
          </a:xfrm>
        </p:grpSpPr>
        <p:sp>
          <p:nvSpPr>
            <p:cNvPr id="7" name="Rectangle 7"/>
            <p:cNvSpPr/>
            <p:nvPr/>
          </p:nvSpPr>
          <p:spPr>
            <a:xfrm>
              <a:off x="533400" y="1524000"/>
              <a:ext cx="5951220" cy="405765"/>
            </a:xfrm>
            <a:prstGeom prst="rect">
              <a:avLst/>
            </a:prstGeom>
            <a:solidFill>
              <a:srgbClr val="334E68"/>
            </a:solidFill>
            <a:ln>
              <a:noFill/>
            </a:ln>
          </p:spPr>
        </p:sp>
        <p:sp>
          <p:nvSpPr>
            <p:cNvPr id="8" name="TextBox 8"/>
            <p:cNvSpPr txBox="1"/>
            <p:nvPr/>
          </p:nvSpPr>
          <p:spPr>
            <a:xfrm>
              <a:off x="972223" y="1648301"/>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部分</a:t>
              </a:r>
            </a:p>
          </p:txBody>
        </p:sp>
        <p:sp>
          <p:nvSpPr>
            <p:cNvPr id="9" name="TextBox 9"/>
            <p:cNvSpPr txBox="1"/>
            <p:nvPr/>
          </p:nvSpPr>
          <p:spPr>
            <a:xfrm>
              <a:off x="2725496" y="1648301"/>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核心内容</a:t>
              </a:r>
            </a:p>
          </p:txBody>
        </p:sp>
        <p:sp>
          <p:nvSpPr>
            <p:cNvPr id="10" name="TextBox 10"/>
            <p:cNvSpPr txBox="1"/>
            <p:nvPr/>
          </p:nvSpPr>
          <p:spPr>
            <a:xfrm>
              <a:off x="4955019" y="1648301"/>
              <a:ext cx="916076"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必须会做的事</a:t>
              </a:r>
            </a:p>
          </p:txBody>
        </p:sp>
        <p:sp>
          <p:nvSpPr>
            <p:cNvPr id="11" name="TextBox 11"/>
            <p:cNvSpPr txBox="1"/>
            <p:nvPr/>
          </p:nvSpPr>
          <p:spPr>
            <a:xfrm>
              <a:off x="633412" y="2154079"/>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设计准则</a:t>
              </a:r>
            </a:p>
          </p:txBody>
        </p:sp>
        <p:sp>
          <p:nvSpPr>
            <p:cNvPr id="12" name="TextBox 12"/>
            <p:cNvSpPr txBox="1"/>
            <p:nvPr/>
          </p:nvSpPr>
          <p:spPr>
            <a:xfrm>
              <a:off x="1824038" y="2054066"/>
              <a:ext cx="2308606"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两种耦合、三种内聚、LCOM1、启发</a:t>
              </a:r>
              <a:br/>
              <a:r>
                <a:rPr lang="zh-CN" sz="1120" dirty="0">
                  <a:solidFill>
                    <a:srgbClr val="1F2937"/>
                  </a:solidFill>
                  <a:latin typeface="+mn-lt"/>
                  <a:ea typeface="+mn-ea"/>
                  <a:cs typeface="+mn-cs"/>
                </a:rPr>
                <a:t>规则</a:t>
              </a:r>
            </a:p>
          </p:txBody>
        </p:sp>
        <p:sp>
          <p:nvSpPr>
            <p:cNvPr id="13" name="TextBox 13"/>
            <p:cNvSpPr txBox="1"/>
            <p:nvPr/>
          </p:nvSpPr>
          <p:spPr>
            <a:xfrm>
              <a:off x="4442460" y="2154079"/>
              <a:ext cx="151348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算 LCOM1 判断拆不拆</a:t>
              </a:r>
            </a:p>
          </p:txBody>
        </p:sp>
        <p:sp>
          <p:nvSpPr>
            <p:cNvPr id="14" name="Rectangle 14"/>
            <p:cNvSpPr/>
            <p:nvPr/>
          </p:nvSpPr>
          <p:spPr>
            <a:xfrm>
              <a:off x="533400" y="2530792"/>
              <a:ext cx="5951220" cy="9525"/>
            </a:xfrm>
            <a:prstGeom prst="rect">
              <a:avLst/>
            </a:prstGeom>
            <a:solidFill>
              <a:srgbClr val="D9DFEA"/>
            </a:solidFill>
            <a:ln>
              <a:noFill/>
            </a:ln>
          </p:spPr>
        </p:sp>
        <p:sp>
          <p:nvSpPr>
            <p:cNvPr id="15" name="Rectangle 15"/>
            <p:cNvSpPr/>
            <p:nvPr/>
          </p:nvSpPr>
          <p:spPr>
            <a:xfrm>
              <a:off x="533400" y="2535555"/>
              <a:ext cx="5951220" cy="605790"/>
            </a:xfrm>
            <a:prstGeom prst="rect">
              <a:avLst/>
            </a:prstGeom>
            <a:solidFill>
              <a:srgbClr val="F4F6FB"/>
            </a:solidFill>
            <a:ln>
              <a:noFill/>
            </a:ln>
          </p:spPr>
        </p:sp>
        <p:sp>
          <p:nvSpPr>
            <p:cNvPr id="16" name="TextBox 16"/>
            <p:cNvSpPr txBox="1"/>
            <p:nvPr/>
          </p:nvSpPr>
          <p:spPr>
            <a:xfrm>
              <a:off x="633412" y="2759869"/>
              <a:ext cx="463070"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SOLID</a:t>
              </a:r>
            </a:p>
          </p:txBody>
        </p:sp>
        <p:sp>
          <p:nvSpPr>
            <p:cNvPr id="17" name="TextBox 17"/>
            <p:cNvSpPr txBox="1"/>
            <p:nvPr/>
          </p:nvSpPr>
          <p:spPr>
            <a:xfrm>
              <a:off x="1824038" y="2659856"/>
              <a:ext cx="228727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单一责任、开闭、替换、接口分离、</a:t>
              </a:r>
              <a:br/>
              <a:r>
                <a:rPr lang="zh-CN" sz="1120" dirty="0">
                  <a:solidFill>
                    <a:srgbClr val="1F2937"/>
                  </a:solidFill>
                  <a:latin typeface="+mn-lt"/>
                  <a:ea typeface="+mn-ea"/>
                  <a:cs typeface="+mn-cs"/>
                </a:rPr>
                <a:t>依赖倒转</a:t>
              </a:r>
            </a:p>
          </p:txBody>
        </p:sp>
        <p:sp>
          <p:nvSpPr>
            <p:cNvPr id="18" name="TextBox 18"/>
            <p:cNvSpPr txBox="1"/>
            <p:nvPr/>
          </p:nvSpPr>
          <p:spPr>
            <a:xfrm>
              <a:off x="4442460" y="2759869"/>
              <a:ext cx="106685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看症状反查原则</a:t>
              </a:r>
            </a:p>
          </p:txBody>
        </p:sp>
        <p:sp>
          <p:nvSpPr>
            <p:cNvPr id="19" name="Rectangle 19"/>
            <p:cNvSpPr/>
            <p:nvPr/>
          </p:nvSpPr>
          <p:spPr>
            <a:xfrm>
              <a:off x="533400" y="3136582"/>
              <a:ext cx="5951220" cy="9525"/>
            </a:xfrm>
            <a:prstGeom prst="rect">
              <a:avLst/>
            </a:prstGeom>
            <a:solidFill>
              <a:srgbClr val="D9DFEA"/>
            </a:solidFill>
            <a:ln>
              <a:noFill/>
            </a:ln>
          </p:spPr>
        </p:sp>
        <p:sp>
          <p:nvSpPr>
            <p:cNvPr id="20" name="TextBox 20"/>
            <p:cNvSpPr txBox="1"/>
            <p:nvPr/>
          </p:nvSpPr>
          <p:spPr>
            <a:xfrm>
              <a:off x="633412" y="3365659"/>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软件重用</a:t>
              </a:r>
            </a:p>
          </p:txBody>
        </p:sp>
        <p:sp>
          <p:nvSpPr>
            <p:cNvPr id="21" name="TextBox 21"/>
            <p:cNvSpPr txBox="1"/>
            <p:nvPr/>
          </p:nvSpPr>
          <p:spPr>
            <a:xfrm>
              <a:off x="1824038" y="3265646"/>
              <a:ext cx="2130806"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三个层次、类构件、C = Cs − Cr −</a:t>
              </a:r>
              <a:br/>
              <a:r>
                <a:rPr lang="en-US" sz="1120" dirty="0">
                  <a:solidFill>
                    <a:srgbClr val="1F2937"/>
                  </a:solidFill>
                  <a:latin typeface="+mn-lt"/>
                  <a:ea typeface="+mn-ea"/>
                  <a:cs typeface="+mn-cs"/>
                </a:rPr>
                <a:t>Cd</a:t>
              </a:r>
            </a:p>
          </p:txBody>
        </p:sp>
        <p:sp>
          <p:nvSpPr>
            <p:cNvPr id="22" name="TextBox 22"/>
            <p:cNvSpPr txBox="1"/>
            <p:nvPr/>
          </p:nvSpPr>
          <p:spPr>
            <a:xfrm>
              <a:off x="4442460" y="3365659"/>
              <a:ext cx="76530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算成本节省</a:t>
              </a:r>
            </a:p>
          </p:txBody>
        </p:sp>
        <p:sp>
          <p:nvSpPr>
            <p:cNvPr id="23" name="Rectangle 23"/>
            <p:cNvSpPr/>
            <p:nvPr/>
          </p:nvSpPr>
          <p:spPr>
            <a:xfrm>
              <a:off x="533400" y="3742372"/>
              <a:ext cx="5951220" cy="9525"/>
            </a:xfrm>
            <a:prstGeom prst="rect">
              <a:avLst/>
            </a:prstGeom>
            <a:solidFill>
              <a:srgbClr val="D9DFEA"/>
            </a:solidFill>
            <a:ln>
              <a:noFill/>
            </a:ln>
          </p:spPr>
        </p:sp>
        <p:sp>
          <p:nvSpPr>
            <p:cNvPr id="24" name="Rectangle 24"/>
            <p:cNvSpPr/>
            <p:nvPr/>
          </p:nvSpPr>
          <p:spPr>
            <a:xfrm>
              <a:off x="533400" y="3747135"/>
              <a:ext cx="5951220" cy="605790"/>
            </a:xfrm>
            <a:prstGeom prst="rect">
              <a:avLst/>
            </a:prstGeom>
            <a:solidFill>
              <a:srgbClr val="F4F6FB"/>
            </a:solidFill>
            <a:ln>
              <a:noFill/>
            </a:ln>
          </p:spPr>
        </p:sp>
        <p:sp>
          <p:nvSpPr>
            <p:cNvPr id="25" name="TextBox 25"/>
            <p:cNvSpPr txBox="1"/>
            <p:nvPr/>
          </p:nvSpPr>
          <p:spPr>
            <a:xfrm>
              <a:off x="633412" y="3971449"/>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系统分解</a:t>
              </a:r>
            </a:p>
          </p:txBody>
        </p:sp>
        <p:sp>
          <p:nvSpPr>
            <p:cNvPr id="26" name="TextBox 26"/>
            <p:cNvSpPr txBox="1"/>
            <p:nvPr/>
          </p:nvSpPr>
          <p:spPr>
            <a:xfrm>
              <a:off x="1824038" y="3871436"/>
              <a:ext cx="228727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四个子系统、五个层次、两种组织方</a:t>
              </a:r>
              <a:br/>
              <a:r>
                <a:rPr lang="zh-CN" sz="1120" dirty="0">
                  <a:solidFill>
                    <a:srgbClr val="1F2937"/>
                  </a:solidFill>
                  <a:latin typeface="+mn-lt"/>
                  <a:ea typeface="+mn-ea"/>
                  <a:cs typeface="+mn-cs"/>
                </a:rPr>
                <a:t>案</a:t>
              </a:r>
            </a:p>
          </p:txBody>
        </p:sp>
        <p:sp>
          <p:nvSpPr>
            <p:cNvPr id="27" name="TextBox 27"/>
            <p:cNvSpPr txBox="1"/>
            <p:nvPr/>
          </p:nvSpPr>
          <p:spPr>
            <a:xfrm>
              <a:off x="4442460" y="3971449"/>
              <a:ext cx="121762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说清各子系统职责</a:t>
              </a:r>
            </a:p>
          </p:txBody>
        </p:sp>
        <p:sp>
          <p:nvSpPr>
            <p:cNvPr id="28" name="Rectangle 28"/>
            <p:cNvSpPr/>
            <p:nvPr/>
          </p:nvSpPr>
          <p:spPr>
            <a:xfrm>
              <a:off x="533400" y="4348162"/>
              <a:ext cx="5951220" cy="9525"/>
            </a:xfrm>
            <a:prstGeom prst="rect">
              <a:avLst/>
            </a:prstGeom>
            <a:solidFill>
              <a:srgbClr val="D9DFEA"/>
            </a:solidFill>
            <a:ln>
              <a:noFill/>
            </a:ln>
          </p:spPr>
        </p:sp>
        <p:sp>
          <p:nvSpPr>
            <p:cNvPr id="29" name="TextBox 29"/>
            <p:cNvSpPr txBox="1"/>
            <p:nvPr/>
          </p:nvSpPr>
          <p:spPr>
            <a:xfrm>
              <a:off x="633412" y="4477226"/>
              <a:ext cx="76530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关联与优化</a:t>
              </a:r>
            </a:p>
          </p:txBody>
        </p:sp>
        <p:sp>
          <p:nvSpPr>
            <p:cNvPr id="30" name="TextBox 30"/>
            <p:cNvSpPr txBox="1"/>
            <p:nvPr/>
          </p:nvSpPr>
          <p:spPr>
            <a:xfrm>
              <a:off x="1824038" y="4477226"/>
              <a:ext cx="242382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关联实现、关联对象归属、冗余关联</a:t>
              </a:r>
            </a:p>
          </p:txBody>
        </p:sp>
        <p:sp>
          <p:nvSpPr>
            <p:cNvPr id="31" name="TextBox 31"/>
            <p:cNvSpPr txBox="1"/>
            <p:nvPr/>
          </p:nvSpPr>
          <p:spPr>
            <a:xfrm>
              <a:off x="4442460" y="4477226"/>
              <a:ext cx="121762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写出关联实现方案</a:t>
              </a:r>
            </a:p>
          </p:txBody>
        </p:sp>
        <p:sp>
          <p:nvSpPr>
            <p:cNvPr id="32" name="Rectangle 32"/>
            <p:cNvSpPr/>
            <p:nvPr/>
          </p:nvSpPr>
          <p:spPr>
            <a:xfrm>
              <a:off x="533400" y="4753928"/>
              <a:ext cx="5951220" cy="9525"/>
            </a:xfrm>
            <a:prstGeom prst="rect">
              <a:avLst/>
            </a:prstGeom>
            <a:solidFill>
              <a:srgbClr val="D9DFEA"/>
            </a:solidFill>
            <a:ln>
              <a:noFill/>
            </a:ln>
          </p:spPr>
        </p:sp>
        <p:sp>
          <p:nvSpPr>
            <p:cNvPr id="33" name="Rectangle 33"/>
            <p:cNvSpPr/>
            <p:nvPr/>
          </p:nvSpPr>
          <p:spPr>
            <a:xfrm>
              <a:off x="533400" y="4758690"/>
              <a:ext cx="5951220" cy="405765"/>
            </a:xfrm>
            <a:prstGeom prst="rect">
              <a:avLst/>
            </a:prstGeom>
            <a:solidFill>
              <a:srgbClr val="F4F6FB"/>
            </a:solidFill>
            <a:ln>
              <a:noFill/>
            </a:ln>
          </p:spPr>
        </p:sp>
        <p:sp>
          <p:nvSpPr>
            <p:cNvPr id="34" name="TextBox 34"/>
            <p:cNvSpPr txBox="1"/>
            <p:nvPr/>
          </p:nvSpPr>
          <p:spPr>
            <a:xfrm>
              <a:off x="633412" y="4882991"/>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设计模式</a:t>
              </a:r>
            </a:p>
          </p:txBody>
        </p:sp>
        <p:sp>
          <p:nvSpPr>
            <p:cNvPr id="35" name="TextBox 35"/>
            <p:cNvSpPr txBox="1"/>
            <p:nvPr/>
          </p:nvSpPr>
          <p:spPr>
            <a:xfrm>
              <a:off x="1824038" y="4882991"/>
              <a:ext cx="227660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四要素、GoF 编目、六个常考模式</a:t>
              </a:r>
            </a:p>
          </p:txBody>
        </p:sp>
        <p:sp>
          <p:nvSpPr>
            <p:cNvPr id="36" name="TextBox 36"/>
            <p:cNvSpPr txBox="1"/>
            <p:nvPr/>
          </p:nvSpPr>
          <p:spPr>
            <a:xfrm>
              <a:off x="4442460" y="4882991"/>
              <a:ext cx="106685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默画三张结构图</a:t>
              </a:r>
            </a:p>
          </p:txBody>
        </p:sp>
        <p:sp>
          <p:nvSpPr>
            <p:cNvPr id="37" name="Rectangle 37"/>
            <p:cNvSpPr/>
            <p:nvPr/>
          </p:nvSpPr>
          <p:spPr>
            <a:xfrm>
              <a:off x="533400" y="1524000"/>
              <a:ext cx="5951220" cy="3640455"/>
            </a:xfrm>
            <a:prstGeom prst="rect">
              <a:avLst/>
            </a:prstGeom>
            <a:noFill/>
            <a:ln w="14288">
              <a:solidFill>
                <a:srgbClr val="D9DFEA"/>
              </a:solidFill>
            </a:ln>
          </p:spPr>
        </p:sp>
        <p:sp>
          <p:nvSpPr>
            <p:cNvPr id="38" name="Rectangle 38"/>
            <p:cNvSpPr/>
            <p:nvPr/>
          </p:nvSpPr>
          <p:spPr>
            <a:xfrm>
              <a:off x="1719262" y="1524000"/>
              <a:ext cx="9525" cy="3640455"/>
            </a:xfrm>
            <a:prstGeom prst="rect">
              <a:avLst/>
            </a:prstGeom>
            <a:solidFill>
              <a:srgbClr val="D9DFEA"/>
            </a:solidFill>
            <a:ln>
              <a:noFill/>
            </a:ln>
          </p:spPr>
        </p:sp>
        <p:sp>
          <p:nvSpPr>
            <p:cNvPr id="39" name="Rectangle 39"/>
            <p:cNvSpPr/>
            <p:nvPr/>
          </p:nvSpPr>
          <p:spPr>
            <a:xfrm>
              <a:off x="4337685" y="1524000"/>
              <a:ext cx="9525" cy="3640455"/>
            </a:xfrm>
            <a:prstGeom prst="rect">
              <a:avLst/>
            </a:prstGeom>
            <a:solidFill>
              <a:srgbClr val="D9DFEA"/>
            </a:solidFill>
            <a:ln>
              <a:noFill/>
            </a:ln>
          </p:spPr>
        </p:sp>
      </p:grpSp>
      <p:grpSp>
        <p:nvGrpSpPr>
          <p:cNvPr id="47" name="c1-callout-2"/>
          <p:cNvGrpSpPr/>
          <p:nvPr/>
        </p:nvGrpSpPr>
        <p:grpSpPr>
          <a:xfrm>
            <a:off x="533400" y="5339715"/>
            <a:ext cx="5951220" cy="729615"/>
            <a:chOff x="533400" y="5339715"/>
            <a:chExt cx="5951220" cy="729615"/>
          </a:xfrm>
        </p:grpSpPr>
        <p:sp>
          <p:nvSpPr>
            <p:cNvPr id="41" name="Rectangle 41"/>
            <p:cNvSpPr/>
            <p:nvPr/>
          </p:nvSpPr>
          <p:spPr>
            <a:xfrm>
              <a:off x="533400" y="5339715"/>
              <a:ext cx="5951220" cy="729615"/>
            </a:xfrm>
            <a:prstGeom prst="roundRect">
              <a:avLst>
                <a:gd name="adj" fmla="val 15666"/>
              </a:avLst>
            </a:prstGeom>
            <a:solidFill>
              <a:srgbClr val="F4F6FB"/>
            </a:solidFill>
            <a:ln>
              <a:noFill/>
            </a:ln>
          </p:spPr>
        </p:sp>
        <p:grpSp>
          <p:nvGrpSpPr>
            <p:cNvPr id="45" name="Group 45"/>
            <p:cNvGrpSpPr/>
            <p:nvPr/>
          </p:nvGrpSpPr>
          <p:grpSpPr>
            <a:xfrm>
              <a:off x="738188" y="5604510"/>
              <a:ext cx="200026" cy="200026"/>
              <a:chOff x="738188" y="5604510"/>
              <a:chExt cx="200026" cy="200026"/>
            </a:xfrm>
          </p:grpSpPr>
          <p:sp>
            <p:nvSpPr>
              <p:cNvPr id="42" name="Freeform 42"/>
              <p:cNvSpPr/>
              <p:nvPr/>
            </p:nvSpPr>
            <p:spPr>
              <a:xfrm>
                <a:off x="738188" y="560451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43" name="Freeform 43"/>
              <p:cNvSpPr/>
              <p:nvPr/>
            </p:nvSpPr>
            <p:spPr>
              <a:xfrm>
                <a:off x="838200" y="567118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44" name="Freeform 44"/>
              <p:cNvSpPr/>
              <p:nvPr/>
            </p:nvSpPr>
            <p:spPr>
              <a:xfrm>
                <a:off x="827088" y="570452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46" name="TextBox 46"/>
            <p:cNvSpPr txBox="1"/>
            <p:nvPr/>
          </p:nvSpPr>
          <p:spPr>
            <a:xfrm>
              <a:off x="1040892" y="5485448"/>
              <a:ext cx="5002911"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1F2937"/>
                  </a:solidFill>
                  <a:latin typeface="+mn-lt"/>
                  <a:ea typeface="+mn-ea"/>
                  <a:cs typeface="+mn-cs"/>
                </a:rPr>
                <a:t>本讲义删去了页脚的课程与授课信息和十三张重复的“内容概要”过</a:t>
              </a:r>
              <a:br/>
              <a:r>
                <a:rPr lang="zh-CN" sz="1350" dirty="0">
                  <a:solidFill>
                    <a:srgbClr val="1F2937"/>
                  </a:solidFill>
                  <a:latin typeface="+mn-lt"/>
                  <a:ea typeface="+mn-ea"/>
                  <a:cs typeface="+mn-cs"/>
                </a:rPr>
                <a:t>渡页，补充三个算例并用脚本复核，更正原课件错误七处。</a:t>
              </a:r>
            </a:p>
          </p:txBody>
        </p:sp>
      </p:grpSp>
      <p:grpSp>
        <p:nvGrpSpPr>
          <p:cNvPr id="66" name="c2-bullets-1"/>
          <p:cNvGrpSpPr/>
          <p:nvPr/>
        </p:nvGrpSpPr>
        <p:grpSpPr>
          <a:xfrm>
            <a:off x="6789420" y="1534478"/>
            <a:ext cx="4955210" cy="2603373"/>
            <a:chOff x="6789420" y="1534478"/>
            <a:chExt cx="4955210" cy="2603373"/>
          </a:xfrm>
        </p:grpSpPr>
        <p:sp>
          <p:nvSpPr>
            <p:cNvPr id="48" name="Ellipse 48"/>
            <p:cNvSpPr/>
            <p:nvPr/>
          </p:nvSpPr>
          <p:spPr>
            <a:xfrm>
              <a:off x="6789420" y="1534478"/>
              <a:ext cx="192405" cy="192405"/>
            </a:xfrm>
            <a:prstGeom prst="ellipse">
              <a:avLst/>
            </a:prstGeom>
            <a:solidFill>
              <a:srgbClr val="334E68"/>
            </a:solidFill>
            <a:ln>
              <a:noFill/>
            </a:ln>
          </p:spPr>
        </p:sp>
        <p:sp>
          <p:nvSpPr>
            <p:cNvPr id="49" name="TextBox 49"/>
            <p:cNvSpPr txBox="1"/>
            <p:nvPr/>
          </p:nvSpPr>
          <p:spPr>
            <a:xfrm>
              <a:off x="6845098" y="157286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50" name="TextBox 50"/>
            <p:cNvSpPr txBox="1"/>
            <p:nvPr/>
          </p:nvSpPr>
          <p:spPr>
            <a:xfrm>
              <a:off x="7070217" y="1545907"/>
              <a:ext cx="42999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六条准则都指向同一件事，让以后的修改只波及少数几个</a:t>
              </a:r>
              <a:br/>
              <a:r>
                <a:rPr lang="zh-CN" sz="1350" dirty="0">
                  <a:solidFill>
                    <a:srgbClr val="1F2937"/>
                  </a:solidFill>
                  <a:latin typeface="+mn-lt"/>
                  <a:ea typeface="+mn-ea"/>
                  <a:cs typeface="+mn-cs"/>
                </a:rPr>
                <a:t>类</a:t>
              </a:r>
            </a:p>
          </p:txBody>
        </p:sp>
        <p:sp>
          <p:nvSpPr>
            <p:cNvPr id="51" name="Ellipse 51"/>
            <p:cNvSpPr/>
            <p:nvPr/>
          </p:nvSpPr>
          <p:spPr>
            <a:xfrm>
              <a:off x="6789420" y="2102168"/>
              <a:ext cx="192405" cy="192405"/>
            </a:xfrm>
            <a:prstGeom prst="ellipse">
              <a:avLst/>
            </a:prstGeom>
            <a:solidFill>
              <a:srgbClr val="334E68"/>
            </a:solidFill>
            <a:ln>
              <a:noFill/>
            </a:ln>
          </p:spPr>
        </p:sp>
        <p:sp>
          <p:nvSpPr>
            <p:cNvPr id="52" name="TextBox 52"/>
            <p:cNvSpPr txBox="1"/>
            <p:nvPr/>
          </p:nvSpPr>
          <p:spPr>
            <a:xfrm>
              <a:off x="6845098" y="214150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53" name="TextBox 53"/>
            <p:cNvSpPr txBox="1"/>
            <p:nvPr/>
          </p:nvSpPr>
          <p:spPr>
            <a:xfrm>
              <a:off x="7070217" y="2114550"/>
              <a:ext cx="467441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交互耦合要松、继承耦合要紧，LCOM1 能算出内聚缺乏度</a:t>
              </a:r>
            </a:p>
          </p:txBody>
        </p:sp>
        <p:sp>
          <p:nvSpPr>
            <p:cNvPr id="54" name="Ellipse 54"/>
            <p:cNvSpPr/>
            <p:nvPr/>
          </p:nvSpPr>
          <p:spPr>
            <a:xfrm>
              <a:off x="6789420" y="2413635"/>
              <a:ext cx="192405" cy="192405"/>
            </a:xfrm>
            <a:prstGeom prst="ellipse">
              <a:avLst/>
            </a:prstGeom>
            <a:solidFill>
              <a:srgbClr val="334E68"/>
            </a:solidFill>
            <a:ln>
              <a:noFill/>
            </a:ln>
          </p:spPr>
        </p:sp>
        <p:sp>
          <p:nvSpPr>
            <p:cNvPr id="55" name="TextBox 55"/>
            <p:cNvSpPr txBox="1"/>
            <p:nvPr/>
          </p:nvSpPr>
          <p:spPr>
            <a:xfrm>
              <a:off x="6845098" y="245202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56" name="TextBox 56"/>
            <p:cNvSpPr txBox="1"/>
            <p:nvPr/>
          </p:nvSpPr>
          <p:spPr>
            <a:xfrm>
              <a:off x="7070217" y="2426018"/>
              <a:ext cx="349758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SOLID 的共同手法是把会变的部分抽成接口</a:t>
              </a:r>
            </a:p>
          </p:txBody>
        </p:sp>
        <p:sp>
          <p:nvSpPr>
            <p:cNvPr id="57" name="Ellipse 57"/>
            <p:cNvSpPr/>
            <p:nvPr/>
          </p:nvSpPr>
          <p:spPr>
            <a:xfrm>
              <a:off x="6789420" y="2725102"/>
              <a:ext cx="192405" cy="192405"/>
            </a:xfrm>
            <a:prstGeom prst="ellipse">
              <a:avLst/>
            </a:prstGeom>
            <a:solidFill>
              <a:srgbClr val="334E68"/>
            </a:solidFill>
            <a:ln>
              <a:noFill/>
            </a:ln>
          </p:spPr>
        </p:sp>
        <p:sp>
          <p:nvSpPr>
            <p:cNvPr id="58" name="TextBox 58"/>
            <p:cNvSpPr txBox="1"/>
            <p:nvPr/>
          </p:nvSpPr>
          <p:spPr>
            <a:xfrm>
              <a:off x="6845098" y="276348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4</a:t>
              </a:r>
            </a:p>
          </p:txBody>
        </p:sp>
        <p:sp>
          <p:nvSpPr>
            <p:cNvPr id="59" name="TextBox 59"/>
            <p:cNvSpPr txBox="1"/>
            <p:nvPr/>
          </p:nvSpPr>
          <p:spPr>
            <a:xfrm>
              <a:off x="7070217" y="2736532"/>
              <a:ext cx="42999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横切四个子系统、纵贯五个层次，问题域类才能与实现技</a:t>
              </a:r>
              <a:br/>
              <a:r>
                <a:rPr lang="zh-CN" sz="1350" dirty="0">
                  <a:solidFill>
                    <a:srgbClr val="1F2937"/>
                  </a:solidFill>
                  <a:latin typeface="+mn-lt"/>
                  <a:ea typeface="+mn-ea"/>
                  <a:cs typeface="+mn-cs"/>
                </a:rPr>
                <a:t>术无关</a:t>
              </a:r>
            </a:p>
          </p:txBody>
        </p:sp>
        <p:sp>
          <p:nvSpPr>
            <p:cNvPr id="60" name="Ellipse 60"/>
            <p:cNvSpPr/>
            <p:nvPr/>
          </p:nvSpPr>
          <p:spPr>
            <a:xfrm>
              <a:off x="6789420" y="3292792"/>
              <a:ext cx="192405" cy="192405"/>
            </a:xfrm>
            <a:prstGeom prst="ellipse">
              <a:avLst/>
            </a:prstGeom>
            <a:solidFill>
              <a:srgbClr val="334E68"/>
            </a:solidFill>
            <a:ln>
              <a:noFill/>
            </a:ln>
          </p:spPr>
        </p:sp>
        <p:sp>
          <p:nvSpPr>
            <p:cNvPr id="61" name="TextBox 61"/>
            <p:cNvSpPr txBox="1"/>
            <p:nvPr/>
          </p:nvSpPr>
          <p:spPr>
            <a:xfrm>
              <a:off x="6845098" y="333213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5</a:t>
              </a:r>
            </a:p>
          </p:txBody>
        </p:sp>
        <p:sp>
          <p:nvSpPr>
            <p:cNvPr id="62" name="TextBox 62"/>
            <p:cNvSpPr txBox="1"/>
            <p:nvPr/>
          </p:nvSpPr>
          <p:spPr>
            <a:xfrm>
              <a:off x="7070217" y="3305175"/>
              <a:ext cx="42999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关联的实现由遍历方向和重数决定，优化是拿维护代价换</a:t>
              </a:r>
              <a:br/>
              <a:r>
                <a:rPr lang="zh-CN" sz="1350" dirty="0">
                  <a:solidFill>
                    <a:srgbClr val="1F2937"/>
                  </a:solidFill>
                  <a:latin typeface="+mn-lt"/>
                  <a:ea typeface="+mn-ea"/>
                  <a:cs typeface="+mn-cs"/>
                </a:rPr>
                <a:t>速度</a:t>
              </a:r>
            </a:p>
          </p:txBody>
        </p:sp>
        <p:sp>
          <p:nvSpPr>
            <p:cNvPr id="63" name="Ellipse 63"/>
            <p:cNvSpPr/>
            <p:nvPr/>
          </p:nvSpPr>
          <p:spPr>
            <a:xfrm>
              <a:off x="6789420" y="3861435"/>
              <a:ext cx="192405" cy="192405"/>
            </a:xfrm>
            <a:prstGeom prst="ellipse">
              <a:avLst/>
            </a:prstGeom>
            <a:solidFill>
              <a:srgbClr val="334E68"/>
            </a:solidFill>
            <a:ln>
              <a:noFill/>
            </a:ln>
          </p:spPr>
        </p:sp>
        <p:sp>
          <p:nvSpPr>
            <p:cNvPr id="64" name="TextBox 64"/>
            <p:cNvSpPr txBox="1"/>
            <p:nvPr/>
          </p:nvSpPr>
          <p:spPr>
            <a:xfrm>
              <a:off x="6845098" y="389982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6</a:t>
              </a:r>
            </a:p>
          </p:txBody>
        </p:sp>
        <p:sp>
          <p:nvSpPr>
            <p:cNvPr id="65" name="TextBox 65"/>
            <p:cNvSpPr txBox="1"/>
            <p:nvPr/>
          </p:nvSpPr>
          <p:spPr>
            <a:xfrm>
              <a:off x="7070217" y="3873818"/>
              <a:ext cx="346671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设计模式是把这些原则固化下来的成套解法</a:t>
              </a:r>
            </a:p>
          </p:txBody>
        </p:sp>
      </p:grpSp>
      <p:grpSp>
        <p:nvGrpSpPr>
          <p:cNvPr id="76" name="c2-card-2"/>
          <p:cNvGrpSpPr/>
          <p:nvPr/>
        </p:nvGrpSpPr>
        <p:grpSpPr>
          <a:xfrm>
            <a:off x="6789420" y="4259580"/>
            <a:ext cx="4869180" cy="1809750"/>
            <a:chOff x="6789420" y="4259580"/>
            <a:chExt cx="4869180" cy="1809750"/>
          </a:xfrm>
        </p:grpSpPr>
        <p:sp>
          <p:nvSpPr>
            <p:cNvPr id="67" name="Rectangle 67"/>
            <p:cNvSpPr/>
            <p:nvPr/>
          </p:nvSpPr>
          <p:spPr>
            <a:xfrm>
              <a:off x="6789420" y="4259580"/>
              <a:ext cx="4869180" cy="1809750"/>
            </a:xfrm>
            <a:prstGeom prst="roundRect">
              <a:avLst>
                <a:gd name="adj" fmla="val 7368"/>
              </a:avLst>
            </a:prstGeom>
            <a:solidFill>
              <a:srgbClr val="334E68"/>
            </a:solidFill>
            <a:ln>
              <a:noFill/>
            </a:ln>
          </p:spPr>
        </p:sp>
        <p:sp>
          <p:nvSpPr>
            <p:cNvPr id="68" name="Rectangle 68"/>
            <p:cNvSpPr/>
            <p:nvPr/>
          </p:nvSpPr>
          <p:spPr>
            <a:xfrm>
              <a:off x="6981825" y="4451985"/>
              <a:ext cx="1409700" cy="247650"/>
            </a:xfrm>
            <a:prstGeom prst="roundRect">
              <a:avLst>
                <a:gd name="adj" fmla="val 50000"/>
              </a:avLst>
            </a:prstGeom>
            <a:solidFill>
              <a:srgbClr val="243B53"/>
            </a:solidFill>
            <a:ln>
              <a:noFill/>
            </a:ln>
          </p:spPr>
        </p:sp>
        <p:sp>
          <p:nvSpPr>
            <p:cNvPr id="69" name="TextBox 69"/>
            <p:cNvSpPr txBox="1"/>
            <p:nvPr/>
          </p:nvSpPr>
          <p:spPr>
            <a:xfrm>
              <a:off x="7045262" y="4486275"/>
              <a:ext cx="1282827"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复习时动手做三件事</a:t>
              </a:r>
            </a:p>
          </p:txBody>
        </p:sp>
        <p:sp>
          <p:nvSpPr>
            <p:cNvPr id="70" name="Ellipse 70"/>
            <p:cNvSpPr/>
            <p:nvPr/>
          </p:nvSpPr>
          <p:spPr>
            <a:xfrm>
              <a:off x="6990398" y="4865370"/>
              <a:ext cx="59055" cy="59055"/>
            </a:xfrm>
            <a:prstGeom prst="ellipse">
              <a:avLst/>
            </a:prstGeom>
            <a:solidFill>
              <a:srgbClr val="FFFFFF"/>
            </a:solidFill>
            <a:ln>
              <a:noFill/>
            </a:ln>
          </p:spPr>
        </p:sp>
        <p:sp>
          <p:nvSpPr>
            <p:cNvPr id="71" name="TextBox 71"/>
            <p:cNvSpPr txBox="1"/>
            <p:nvPr/>
          </p:nvSpPr>
          <p:spPr>
            <a:xfrm>
              <a:off x="7146417" y="4809172"/>
              <a:ext cx="3984669"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飞行信息显示从原设计改到改进 2，默画三张类图</a:t>
              </a:r>
            </a:p>
          </p:txBody>
        </p:sp>
        <p:sp>
          <p:nvSpPr>
            <p:cNvPr id="72" name="Ellipse 72"/>
            <p:cNvSpPr/>
            <p:nvPr/>
          </p:nvSpPr>
          <p:spPr>
            <a:xfrm>
              <a:off x="6990398" y="5167312"/>
              <a:ext cx="59055" cy="59055"/>
            </a:xfrm>
            <a:prstGeom prst="ellipse">
              <a:avLst/>
            </a:prstGeom>
            <a:solidFill>
              <a:srgbClr val="FFFFFF"/>
            </a:solidFill>
            <a:ln>
              <a:noFill/>
            </a:ln>
          </p:spPr>
        </p:sp>
        <p:sp>
          <p:nvSpPr>
            <p:cNvPr id="73" name="TextBox 73"/>
            <p:cNvSpPr txBox="1"/>
            <p:nvPr/>
          </p:nvSpPr>
          <p:spPr>
            <a:xfrm>
              <a:off x="7146417" y="5111115"/>
              <a:ext cx="2464765"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五条 SOLID 原则各找一个反例</a:t>
              </a:r>
            </a:p>
          </p:txBody>
        </p:sp>
        <p:sp>
          <p:nvSpPr>
            <p:cNvPr id="74" name="Ellipse 74"/>
            <p:cNvSpPr/>
            <p:nvPr/>
          </p:nvSpPr>
          <p:spPr>
            <a:xfrm>
              <a:off x="6990398" y="5470208"/>
              <a:ext cx="59055" cy="59055"/>
            </a:xfrm>
            <a:prstGeom prst="ellipse">
              <a:avLst/>
            </a:prstGeom>
            <a:solidFill>
              <a:srgbClr val="FFFFFF"/>
            </a:solidFill>
            <a:ln>
              <a:noFill/>
            </a:ln>
          </p:spPr>
        </p:sp>
        <p:sp>
          <p:nvSpPr>
            <p:cNvPr id="75" name="TextBox 75"/>
            <p:cNvSpPr txBox="1"/>
            <p:nvPr/>
          </p:nvSpPr>
          <p:spPr>
            <a:xfrm>
              <a:off x="7146417" y="5414010"/>
              <a:ext cx="3648456"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默画工厂方法、模板方法、观察者三张结构图</a:t>
              </a:r>
            </a:p>
          </p:txBody>
        </p:sp>
      </p:grpSp>
      <p:grpSp>
        <p:nvGrpSpPr>
          <p:cNvPr id="79" name="footer"/>
          <p:cNvGrpSpPr/>
          <p:nvPr/>
        </p:nvGrpSpPr>
        <p:grpSpPr>
          <a:xfrm>
            <a:off x="528447" y="6581299"/>
            <a:ext cx="11135106" cy="190690"/>
            <a:chOff x="528447" y="6581299"/>
            <a:chExt cx="11135106" cy="190690"/>
          </a:xfrm>
        </p:grpSpPr>
        <p:sp>
          <p:nvSpPr>
            <p:cNvPr id="77" name="TextBox 77"/>
            <p:cNvSpPr txBox="1"/>
            <p:nvPr/>
          </p:nvSpPr>
          <p:spPr>
            <a:xfrm>
              <a:off x="528447" y="6581299"/>
              <a:ext cx="1929453"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第11章 面向对象设计</a:t>
              </a:r>
            </a:p>
          </p:txBody>
        </p:sp>
        <p:sp>
          <p:nvSpPr>
            <p:cNvPr id="78" name="TextBox 7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62</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se_ch11">
  <a:themeElements>
    <a:clrScheme name="se_ch1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_ch11">
      <a:maj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e_ch1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62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2026-09-23T05:18:38Z</dcterms:created>
  <dcterms:modified xsi:type="dcterms:W3CDTF">2026-09-23T05:18:38Z</dcterms:modified>
  <cp:category/>
  <cp:contentStatus/>
</cp:coreProperties>
</file>