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1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1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d4549bf38034d3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ea53ede26f036af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42d5f17a0418c77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第十三章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软件项目管理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进度、人员、成本、风险、配置与质量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进度计划与关键路径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组织结构与工作量估算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风险与配置管理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373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质量保证与 CMM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72401" cy="205359"/>
            <a:chOff x="680466" y="6192202"/>
            <a:chExt cx="427240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7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自学复习版｜据吉林大学《软件工程》第十三章课件整理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项目管理概述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项目与运营、三重约束、项目干系人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进度计划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3344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WBS、Gantt 图、工程网络、EET/LET、关键路径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人员与组织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民主制、主程序员组、集中与分散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成本与工作量估算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2220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代码行、功能点、COCOMO 系列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风险管理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风险类型、暴露值、四种控制策略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2654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SCI 与基线、五项任务、版本控制与 Git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55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质量保证与 CMM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质量模型、走查与审查、五个成熟度等级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给定作业表能画出工程网络，算出 EET 与 LET，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并找出关键路径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632710"/>
              <a:ext cx="37341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用功能点法和 COCOMO 模型各算一遍同一个项目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的工作量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32489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319278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说出风险暴露值的算法，排出优先级并选择控制策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80809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375189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区分软件配置项、基线与版本，说清基线前后变化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控制的不同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436816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4311968"/>
              <a:ext cx="37513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 CMM 五个等级，以及等级 2 的六个关键过程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软件项目管理概述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先弄清什么是项目，再看管理者要管什么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项目与运营的区别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项目的三重约束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项目干系人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软件项目管理活动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软件项目管理概述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有没有管理，是专业开发和业余编程的分界线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业余编程可以想写到哪写到哪，专业开发从第一天起就带着预算和工期。</a:t>
              </a:r>
            </a:p>
          </p:txBody>
        </p:sp>
      </p:grpSp>
      <p:grpSp>
        <p:nvGrpSpPr>
          <p:cNvPr id="17" name="c1-bullets-1"/>
          <p:cNvGrpSpPr/>
          <p:nvPr/>
        </p:nvGrpSpPr>
        <p:grpSpPr>
          <a:xfrm>
            <a:off x="539115" y="1992630"/>
            <a:ext cx="5316855" cy="1899285"/>
            <a:chOff x="539115" y="1992630"/>
            <a:chExt cx="5316855" cy="1899285"/>
          </a:xfrm>
        </p:grpSpPr>
        <p:sp>
          <p:nvSpPr>
            <p:cNvPr id="9" name="Ellipse 9"/>
            <p:cNvSpPr/>
            <p:nvPr/>
          </p:nvSpPr>
          <p:spPr>
            <a:xfrm>
              <a:off x="539115" y="20554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99263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专业的软件开发活动总是受预算和工程进度的制约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4003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33743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有多方面的参与者需要协调，光靠技术解决不了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27451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268224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管理者既要让项目符合预算和进度，又要让交付的软件达到既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定目标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9115" y="33756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230" y="331279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再好的管理也不能保证项目成功，但糟糕的管理常常造成项目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23360"/>
            <a:ext cx="5626418" cy="1411605"/>
            <a:chOff x="533400" y="4023360"/>
            <a:chExt cx="5626418" cy="14116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23360"/>
              <a:ext cx="5626418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56710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232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4268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2078" y="4268152"/>
              <a:ext cx="1592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项目（Project）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62915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项目是为了创造一种独特的产品、实现一种独特的服务或达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成一项独特的结果而做出的暂时性努力。</a:t>
              </a:r>
            </a:p>
          </p:txBody>
        </p:sp>
      </p:grpSp>
      <p:grpSp>
        <p:nvGrpSpPr>
          <p:cNvPr id="49" name="c2-compare-1"/>
          <p:cNvGrpSpPr/>
          <p:nvPr/>
        </p:nvGrpSpPr>
        <p:grpSpPr>
          <a:xfrm>
            <a:off x="6464618" y="1967865"/>
            <a:ext cx="5193982" cy="3467100"/>
            <a:chOff x="6464618" y="1967865"/>
            <a:chExt cx="5193982" cy="3467100"/>
          </a:xfrm>
        </p:grpSpPr>
        <p:sp>
          <p:nvSpPr>
            <p:cNvPr id="25" name="Rectangle 25"/>
            <p:cNvSpPr/>
            <p:nvPr/>
          </p:nvSpPr>
          <p:spPr>
            <a:xfrm>
              <a:off x="6464618" y="1967865"/>
              <a:ext cx="2348865" cy="346710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2101215"/>
              <a:ext cx="47625" cy="32004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04648" y="2202180"/>
              <a:ext cx="1592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项目（Project）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717983" y="2619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76098" y="255651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暂时性，有确定的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起止日期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17983" y="32404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76098" y="317754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目标实现后项目就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算完成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17983" y="3861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76098" y="3798570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确定目标无法实现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时也算结束，即取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17983" y="47682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76098" y="470535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每次产出的东西是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独特的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09735" y="1967865"/>
              <a:ext cx="2348865" cy="346710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319260" y="2101215"/>
              <a:ext cx="47625" cy="32004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49765" y="2202180"/>
              <a:ext cx="1868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运营（Operation）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563100" y="2619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21215" y="255651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连续性，没有起止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563100" y="32404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21215" y="317754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往往重复同一套工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作程序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563100" y="3861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21215" y="379857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不以某个一次性目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标为终点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563100" y="44824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21215" y="441960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产出是同质的、可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重复的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62060" y="350139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5400" y="36356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区分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把日常运维当成项目来排期，或者把项目当成运营长期拖着，都是界定不清带来的麻烦。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软件项目管理概述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项目的三重约束：时间、金钱、质量互相挤压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项目经理最主要的工作之一，就是在三者之间找平衡，而不是让某一项无限好。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67865"/>
            <a:ext cx="6059805" cy="2016442"/>
            <a:chOff x="533400" y="1967865"/>
            <a:chExt cx="6059805" cy="201644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2016442"/>
            </a:xfrm>
            <a:prstGeom prst="roundRect">
              <a:avLst>
                <a:gd name="adj" fmla="val 661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52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三重约束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27822" y="221265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几乎每个项目都同时被三件事卡住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25603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99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3940" y="25736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时间：进度计划和最终交付日期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2950" y="28956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799" y="2937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3940" y="29089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金钱（资源）：预算、人力、设备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2950" y="323088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799" y="3273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940" y="32442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质量：功能、性能和可交付成果的水准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6473" y="357520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动一个，另外两个必然跟着变。压缩工期通常要加人加钱或者砍功能。</a:t>
              </a:r>
            </a:p>
          </p:txBody>
        </p:sp>
      </p:grpSp>
      <p:grpSp>
        <p:nvGrpSpPr>
          <p:cNvPr id="33" name="c1-bullets-2"/>
          <p:cNvGrpSpPr/>
          <p:nvPr/>
        </p:nvGrpSpPr>
        <p:grpSpPr>
          <a:xfrm>
            <a:off x="525780" y="4199572"/>
            <a:ext cx="4311968" cy="1682116"/>
            <a:chOff x="525780" y="4199572"/>
            <a:chExt cx="4311968" cy="1682116"/>
          </a:xfrm>
        </p:grpSpPr>
        <p:sp>
          <p:nvSpPr>
            <p:cNvPr id="24" name="TextBox 24"/>
            <p:cNvSpPr txBox="1"/>
            <p:nvPr/>
          </p:nvSpPr>
          <p:spPr>
            <a:xfrm>
              <a:off x="525780" y="419957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项目的四个特征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33400" y="458533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3908" y="455390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项目是独特的，不是重复上一次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33400" y="4930140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3908" y="4898708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项目是暂时性的，有明确的起止日期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33400" y="527494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08" y="524351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目标达到后项目就算完成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33400" y="5619750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3908" y="5588318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成功的项目要满足甚至超过项目干系人的期望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6898005" y="1967865"/>
            <a:ext cx="4760595" cy="3077052"/>
            <a:chOff x="6898005" y="1967865"/>
            <a:chExt cx="4760595" cy="3077052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11318" r="0" b="11318"/>
            <a:stretch>
              <a:fillRect/>
            </a:stretch>
          </p:blipFill>
          <p:spPr>
            <a:xfrm>
              <a:off x="6898005" y="1967865"/>
              <a:ext cx="4760595" cy="2762250"/>
            </a:xfrm>
            <a:prstGeom prst="roundRect">
              <a:avLst>
                <a:gd name="adj" fmla="val 4827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463295" y="4824889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三根柱子共同托住一块石板，锯短一根，整块板就歪了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898005" y="5210175"/>
            <a:ext cx="4760595" cy="782955"/>
            <a:chOff x="6898005" y="5210175"/>
            <a:chExt cx="4760595" cy="782955"/>
          </a:xfrm>
        </p:grpSpPr>
        <p:sp>
          <p:nvSpPr>
            <p:cNvPr id="37" name="Rectangle 37"/>
            <p:cNvSpPr/>
            <p:nvPr/>
          </p:nvSpPr>
          <p:spPr>
            <a:xfrm>
              <a:off x="6898005" y="521017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090734" y="5497948"/>
              <a:ext cx="224134" cy="192560"/>
              <a:chOff x="7090734" y="5497948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202805" y="55683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90734" y="54979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02805" y="5646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404735" y="535876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只盯工期、把质量当成可以随时牺牲的那一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项，代价往往在维护阶段才显现。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软件项目管理概述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项目干系人不满意，交付再全也算白做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80860" cy="293370"/>
            <a:chOff x="525780" y="1548765"/>
            <a:chExt cx="6880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干系人指那些在项目上有既得利益的人，项目的结果对他们意味着某种得失。</a:t>
              </a:r>
            </a:p>
          </p:txBody>
        </p:sp>
      </p:grpSp>
      <p:grpSp>
        <p:nvGrpSpPr>
          <p:cNvPr id="30" name="c1-flow-1"/>
          <p:cNvGrpSpPr/>
          <p:nvPr/>
        </p:nvGrpSpPr>
        <p:grpSpPr>
          <a:xfrm>
            <a:off x="666750" y="2121218"/>
            <a:ext cx="5143500" cy="2001202"/>
            <a:chOff x="666750" y="2121218"/>
            <a:chExt cx="5143500" cy="2001202"/>
          </a:xfrm>
        </p:grpSpPr>
        <p:sp>
          <p:nvSpPr>
            <p:cNvPr id="9" name="Freeform 9"/>
            <p:cNvSpPr/>
            <p:nvPr/>
          </p:nvSpPr>
          <p:spPr>
            <a:xfrm>
              <a:off x="3238500" y="2533650"/>
              <a:ext cx="9525" cy="334328"/>
            </a:xfrm>
            <a:custGeom>
              <a:avLst/>
              <a:gdLst/>
              <a:ahLst/>
              <a:cxnLst/>
              <a:rect l="l" t="t" r="r" b="b"/>
              <a:pathLst>
                <a:path w="9525" h="334328">
                  <a:moveTo>
                    <a:pt x="0" y="0"/>
                  </a:moveTo>
                  <a:lnTo>
                    <a:pt x="0" y="3343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09675" y="3279458"/>
              <a:ext cx="2028825" cy="134302"/>
            </a:xfrm>
            <a:custGeom>
              <a:avLst/>
              <a:gdLst/>
              <a:ahLst/>
              <a:cxnLst/>
              <a:rect l="l" t="t" r="r" b="b"/>
              <a:pathLst>
                <a:path w="2028825" h="134302">
                  <a:moveTo>
                    <a:pt x="2028825" y="0"/>
                  </a:moveTo>
                  <a:lnTo>
                    <a:pt x="2028825" y="119062"/>
                  </a:lnTo>
                  <a:lnTo>
                    <a:pt x="0" y="119062"/>
                  </a:lnTo>
                  <a:lnTo>
                    <a:pt x="0" y="1343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7288" y="3413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562225" y="3279458"/>
              <a:ext cx="676275" cy="229552"/>
            </a:xfrm>
            <a:custGeom>
              <a:avLst/>
              <a:gdLst/>
              <a:ahLst/>
              <a:cxnLst/>
              <a:rect l="l" t="t" r="r" b="b"/>
              <a:pathLst>
                <a:path w="676275" h="229552">
                  <a:moveTo>
                    <a:pt x="676275" y="0"/>
                  </a:moveTo>
                  <a:lnTo>
                    <a:pt x="676275" y="167640"/>
                  </a:lnTo>
                  <a:lnTo>
                    <a:pt x="0" y="167640"/>
                  </a:ln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509838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238500" y="3279458"/>
              <a:ext cx="676275" cy="229552"/>
            </a:xfrm>
            <a:custGeom>
              <a:avLst/>
              <a:gdLst/>
              <a:ahLst/>
              <a:cxnLst/>
              <a:rect l="l" t="t" r="r" b="b"/>
              <a:pathLst>
                <a:path w="676275" h="229552">
                  <a:moveTo>
                    <a:pt x="0" y="0"/>
                  </a:moveTo>
                  <a:lnTo>
                    <a:pt x="0" y="167640"/>
                  </a:lnTo>
                  <a:lnTo>
                    <a:pt x="676275" y="167640"/>
                  </a:lnTo>
                  <a:lnTo>
                    <a:pt x="676275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62388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238500" y="3279458"/>
              <a:ext cx="2028825" cy="229552"/>
            </a:xfrm>
            <a:custGeom>
              <a:avLst/>
              <a:gdLst/>
              <a:ahLst/>
              <a:cxnLst/>
              <a:rect l="l" t="t" r="r" b="b"/>
              <a:pathLst>
                <a:path w="2028825" h="229552">
                  <a:moveTo>
                    <a:pt x="0" y="0"/>
                  </a:moveTo>
                  <a:lnTo>
                    <a:pt x="0" y="167640"/>
                  </a:lnTo>
                  <a:lnTo>
                    <a:pt x="2028825" y="167640"/>
                  </a:lnTo>
                  <a:lnTo>
                    <a:pt x="2028825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214938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75498" y="2121218"/>
              <a:ext cx="2326005" cy="411480"/>
            </a:xfrm>
            <a:prstGeom prst="roundRect">
              <a:avLst>
                <a:gd name="adj" fmla="val 23148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075498" y="2867978"/>
              <a:ext cx="232600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" y="3518535"/>
              <a:ext cx="108585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19300" y="3613785"/>
              <a:ext cx="10858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71850" y="3613785"/>
              <a:ext cx="10858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724400" y="3613785"/>
              <a:ext cx="10858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09316" y="22440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项目团队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09316" y="29898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项目经理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8779" y="3632835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项目发起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33041" y="37357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部门经理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47135" y="3735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18913" y="37357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供应商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372928"/>
            <a:ext cx="5410200" cy="1268730"/>
            <a:chOff x="533400" y="4372928"/>
            <a:chExt cx="5410200" cy="1268730"/>
          </a:xfrm>
        </p:grpSpPr>
        <p:sp>
          <p:nvSpPr>
            <p:cNvPr id="31" name="Rectangle 31"/>
            <p:cNvSpPr/>
            <p:nvPr/>
          </p:nvSpPr>
          <p:spPr>
            <a:xfrm>
              <a:off x="533400" y="4372928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506278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9620" y="45710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1060" y="46053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52931" y="460676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关键干系人能促成也能破坏项目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381" y="494966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即使项目实现了所有可交付成果、达成了所有目标，只要关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键干系人不满意，前面的投入就都白费了。</a:t>
              </a:r>
            </a:p>
          </p:txBody>
        </p:sp>
      </p:grpSp>
      <p:grpSp>
        <p:nvGrpSpPr>
          <p:cNvPr id="48" name="c2-bullets-1"/>
          <p:cNvGrpSpPr/>
          <p:nvPr/>
        </p:nvGrpSpPr>
        <p:grpSpPr>
          <a:xfrm>
            <a:off x="6241161" y="1977866"/>
            <a:ext cx="5282781" cy="1539812"/>
            <a:chOff x="6241161" y="1977866"/>
            <a:chExt cx="5282781" cy="1539812"/>
          </a:xfrm>
        </p:grpSpPr>
        <p:sp>
          <p:nvSpPr>
            <p:cNvPr id="38" name="TextBox 38"/>
            <p:cNvSpPr txBox="1"/>
            <p:nvPr/>
          </p:nvSpPr>
          <p:spPr>
            <a:xfrm>
              <a:off x="6241161" y="19778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处理干系人的三条做法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48400" y="230124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6745" y="23415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39294" y="231409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在项目最初阶段就会见所有关键干系人，弄清他们的需求和约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289941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6745" y="2939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39294" y="291226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承认干系人之间往往存在利益冲突，提前把冲突摆到台面上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322611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6745" y="32664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39294" y="323897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解决冲突时永远以对客户有利为出发点</a:t>
              </a:r>
            </a:p>
          </p:txBody>
        </p:sp>
      </p:grpSp>
      <p:grpSp>
        <p:nvGrpSpPr>
          <p:cNvPr id="54" name="c2-kv-2"/>
          <p:cNvGrpSpPr/>
          <p:nvPr/>
        </p:nvGrpSpPr>
        <p:grpSpPr>
          <a:xfrm>
            <a:off x="6241161" y="3664744"/>
            <a:ext cx="5417439" cy="962597"/>
            <a:chOff x="6241161" y="3664744"/>
            <a:chExt cx="5417439" cy="962597"/>
          </a:xfrm>
        </p:grpSpPr>
        <p:sp>
          <p:nvSpPr>
            <p:cNvPr id="49" name="TextBox 49"/>
            <p:cNvSpPr txBox="1"/>
            <p:nvPr/>
          </p:nvSpPr>
          <p:spPr>
            <a:xfrm>
              <a:off x="6241161" y="36647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可交付成果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27976" y="3664744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以量化方式描述的项目目标组成部分，是验收的依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235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1161" y="434863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其他干系人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7976" y="434863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董事会和执行经理，他们决定项目要不要继续投入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248400" y="4752022"/>
            <a:ext cx="5410200" cy="890588"/>
            <a:chOff x="6248400" y="4752022"/>
            <a:chExt cx="5410200" cy="890588"/>
          </a:xfrm>
        </p:grpSpPr>
        <p:sp>
          <p:nvSpPr>
            <p:cNvPr id="55" name="Rectangle 55"/>
            <p:cNvSpPr/>
            <p:nvPr/>
          </p:nvSpPr>
          <p:spPr>
            <a:xfrm>
              <a:off x="6248400" y="4752022"/>
              <a:ext cx="5410200" cy="890588"/>
            </a:xfrm>
            <a:prstGeom prst="roundRect">
              <a:avLst>
                <a:gd name="adj" fmla="val 128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096828"/>
              <a:ext cx="200026" cy="200025"/>
              <a:chOff x="6453188" y="509682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0968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92926" y="51412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27642" y="52524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511" y="5097304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冲突不是靠拖延消失的，越晚暴露，改动的代价越高。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2" name="Rectangle 6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1170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一定要在项目最初阶段会见所有关键干系人，而不是等到验收时才第一次见面。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软件项目管理概述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软件项目管理要做的六件事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软件管理没有统一标准，开发组织和产品类型决定管理工作的具体内容，但这六项活动基本都有。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64055"/>
            <a:ext cx="4625340" cy="1790129"/>
            <a:chOff x="533400" y="1964055"/>
            <a:chExt cx="4625340" cy="179012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9969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提出书面建议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277428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说明项目做什么、怎么做、要多少钱，用来争取立项或投标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6179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项目规划和进度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898457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分解工作、排出时间表，并在执行中不断修正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2389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项目成本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51948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估算并跟踪工作量与费用</a:t>
              </a:r>
            </a:p>
          </p:txBody>
        </p:sp>
      </p:grpSp>
      <p:grpSp>
        <p:nvGrpSpPr>
          <p:cNvPr id="31" name="c1-kv-2"/>
          <p:cNvGrpSpPr/>
          <p:nvPr/>
        </p:nvGrpSpPr>
        <p:grpSpPr>
          <a:xfrm>
            <a:off x="526161" y="3953351"/>
            <a:ext cx="5417439" cy="1390270"/>
            <a:chOff x="526161" y="3953351"/>
            <a:chExt cx="5417439" cy="1390270"/>
          </a:xfrm>
        </p:grpSpPr>
        <p:sp>
          <p:nvSpPr>
            <p:cNvPr id="23" name="TextBox 23"/>
            <p:cNvSpPr txBox="1"/>
            <p:nvPr/>
          </p:nvSpPr>
          <p:spPr>
            <a:xfrm>
              <a:off x="526161" y="39533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书面建议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12976" y="3953351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本章不单独展开，建议书里的工期和报价用第二、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四部分的方法估出来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272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161" y="46429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规划和进度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12976" y="4642961"/>
              <a:ext cx="42275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第二部分：WBS、Gantt 图、工程网络与关键路径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949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161" y="50649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项目成本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12976" y="5064919"/>
              <a:ext cx="3831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第四部分：代码行、功能点与 COCOMO 模型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6248400" y="1964055"/>
            <a:ext cx="3494532" cy="1790129"/>
            <a:chOff x="6248400" y="1964055"/>
            <a:chExt cx="3494532" cy="1790129"/>
          </a:xfrm>
        </p:grpSpPr>
        <p:sp>
          <p:nvSpPr>
            <p:cNvPr id="32" name="Rectangle 32"/>
            <p:cNvSpPr/>
            <p:nvPr/>
          </p:nvSpPr>
          <p:spPr>
            <a:xfrm>
              <a:off x="6381750" y="210693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248400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25850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2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48400" y="32061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2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261" y="19969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项目监督和评审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404" y="227742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对照计划检查实际进展，发现偏差及时调整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261" y="26179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人员选择和评价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404" y="2898457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挑合适的人放到合适的位置，并给出评价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0261" y="323897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写作并陈述工作报告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404" y="351948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向管理层和客户说明进展、问题与下一步</a:t>
              </a:r>
            </a:p>
          </p:txBody>
        </p:sp>
      </p:grpSp>
      <p:grpSp>
        <p:nvGrpSpPr>
          <p:cNvPr id="54" name="c2-kv-2"/>
          <p:cNvGrpSpPr/>
          <p:nvPr/>
        </p:nvGrpSpPr>
        <p:grpSpPr>
          <a:xfrm>
            <a:off x="6241161" y="3953351"/>
            <a:ext cx="5417439" cy="1390270"/>
            <a:chOff x="6241161" y="3953351"/>
            <a:chExt cx="5417439" cy="1390270"/>
          </a:xfrm>
        </p:grpSpPr>
        <p:sp>
          <p:nvSpPr>
            <p:cNvPr id="46" name="TextBox 46"/>
            <p:cNvSpPr txBox="1"/>
            <p:nvPr/>
          </p:nvSpPr>
          <p:spPr>
            <a:xfrm>
              <a:off x="6241161" y="395335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监督和评审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7976" y="3953351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第二部分盯关键作业，第六部分的配置审计，第七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部分的走查与审查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5272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1161" y="46429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人员选择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27976" y="464296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第三部分：程序员组的几种组织方式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949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1161" y="50649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工作报告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7976" y="5064919"/>
              <a:ext cx="39118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本章不单独展开，汇报进度时 Gantt 图最直观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04084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成本估算和进度计划不是一次做完就锁死的，它们随项目进行需要定期修正。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69219" cy="3351847"/>
            <a:chOff x="667512" y="1835468"/>
            <a:chExt cx="426921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软件项目进度计划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59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从工作分解到关键路径，把“要多久”算出来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85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工作分解结构 WBS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40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Gantt 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10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工程网络与 EET/LET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关键路径与机动时间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进度计划从可交付成果倒推，不是从人手倒推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项目开始时最常被问到两件事：产品开发要多长时间，开发成本是多少。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6161" y="1977866"/>
            <a:ext cx="3180016" cy="1605535"/>
            <a:chOff x="526161" y="1977866"/>
            <a:chExt cx="3180016" cy="1605535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进度计划包含四件事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0409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3444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31695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列举项目的各个阶段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3366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6740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64556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把每个阶段划分成需要完成的活动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63227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30026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297513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描述活动之间的关系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29184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33321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330469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估算每项活动所需的时间</a:t>
              </a:r>
            </a:p>
          </p:txBody>
        </p:sp>
      </p:grpSp>
      <p:grpSp>
        <p:nvGrpSpPr>
          <p:cNvPr id="36" name="c1-steps-2"/>
          <p:cNvGrpSpPr/>
          <p:nvPr/>
        </p:nvGrpSpPr>
        <p:grpSpPr>
          <a:xfrm>
            <a:off x="533400" y="3722370"/>
            <a:ext cx="4140708" cy="1789176"/>
            <a:chOff x="533400" y="3722370"/>
            <a:chExt cx="4140708" cy="1789176"/>
          </a:xfrm>
        </p:grpSpPr>
        <p:sp>
          <p:nvSpPr>
            <p:cNvPr id="23" name="Rectangle 23"/>
            <p:cNvSpPr/>
            <p:nvPr/>
          </p:nvSpPr>
          <p:spPr>
            <a:xfrm>
              <a:off x="666750" y="386524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372237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024" y="3796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3424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024" y="44162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496347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024" y="50372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375523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先沟通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03574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了解干系人的期望和客户的需要，谈到他们满意为止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43762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再列成果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465677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列出所有可交付成果，用量化方式描述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261" y="49963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后定活动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404" y="52768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判定必须进行哪些活动才能建立这些成果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5815965" y="1954530"/>
            <a:ext cx="5842635" cy="1933575"/>
            <a:chOff x="5815965" y="1954530"/>
            <a:chExt cx="5842635" cy="1933575"/>
          </a:xfrm>
        </p:grpSpPr>
        <p:sp>
          <p:nvSpPr>
            <p:cNvPr id="37" name="Rectangle 37"/>
            <p:cNvSpPr/>
            <p:nvPr/>
          </p:nvSpPr>
          <p:spPr>
            <a:xfrm>
              <a:off x="5815965" y="1954530"/>
              <a:ext cx="5842635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5490" y="208788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57900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48108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8356" y="2197894"/>
              <a:ext cx="4776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工作分解结构（Work Breakdown Structure，WBS）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50661" y="255031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以可交付成果为导向的对项目成分的分组，用来组织并定义整个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项目范围。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65520" y="320135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22111" y="3141821"/>
              <a:ext cx="35073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 不包括的工作，就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不在项目范围之内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65520" y="35213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22111" y="3461861"/>
              <a:ext cx="4654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 自顶向下逐层构建，可以是图表也可以是文字大纲</a:t>
              </a:r>
            </a:p>
          </p:txBody>
        </p:sp>
      </p:grpSp>
      <p:grpSp>
        <p:nvGrpSpPr>
          <p:cNvPr id="55" name="c2-bullets-2"/>
          <p:cNvGrpSpPr/>
          <p:nvPr/>
        </p:nvGrpSpPr>
        <p:grpSpPr>
          <a:xfrm>
            <a:off x="5808726" y="4097179"/>
            <a:ext cx="4773778" cy="1275017"/>
            <a:chOff x="5808726" y="4097179"/>
            <a:chExt cx="4773778" cy="1275017"/>
          </a:xfrm>
        </p:grpSpPr>
        <p:sp>
          <p:nvSpPr>
            <p:cNvPr id="48" name="TextBox 48"/>
            <p:cNvSpPr txBox="1"/>
            <p:nvPr/>
          </p:nvSpPr>
          <p:spPr>
            <a:xfrm>
              <a:off x="5808726" y="4097179"/>
              <a:ext cx="142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WBS 的三层结构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823585" y="449580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0176" y="443531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最高层：项目本身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823585" y="482441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80176" y="476488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中间层：可交付成果，以及分解出的更小的可交付成果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23585" y="515397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80176" y="509349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最底层：创建这些成果所需的活动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73911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范围争议的源头常常是 WBS 没写全，写进去才算数，这是后面拒绝无偿新需求的依据。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64102" cy="909257"/>
            <a:chOff x="520446" y="342900"/>
            <a:chExt cx="4964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64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 的两种形式与任务责任矩阵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31611" cy="278702"/>
            <a:chOff x="526161" y="1547336"/>
            <a:chExt cx="61316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图表形式看结构，文字大纲形式好编号，责任矩阵把活动落到具体角色。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533400" y="2002155"/>
            <a:ext cx="4544378" cy="1698308"/>
            <a:chOff x="533400" y="2002155"/>
            <a:chExt cx="4544378" cy="1698308"/>
          </a:xfrm>
        </p:grpSpPr>
        <p:sp>
          <p:nvSpPr>
            <p:cNvPr id="9" name="Freeform 9"/>
            <p:cNvSpPr/>
            <p:nvPr/>
          </p:nvSpPr>
          <p:spPr>
            <a:xfrm>
              <a:off x="3352800" y="2624138"/>
              <a:ext cx="419100" cy="227647"/>
            </a:xfrm>
            <a:custGeom>
              <a:avLst/>
              <a:gdLst/>
              <a:ahLst/>
              <a:cxnLst/>
              <a:rect l="l" t="t" r="r" b="b"/>
              <a:pathLst>
                <a:path w="419100" h="227647">
                  <a:moveTo>
                    <a:pt x="0" y="227647"/>
                  </a:moveTo>
                  <a:lnTo>
                    <a:pt x="209550" y="22764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52800" y="2851785"/>
              <a:ext cx="419100" cy="227648"/>
            </a:xfrm>
            <a:custGeom>
              <a:avLst/>
              <a:gdLst/>
              <a:ahLst/>
              <a:cxnLst/>
              <a:rect l="l" t="t" r="r" b="b"/>
              <a:pathLst>
                <a:path w="419100" h="227648">
                  <a:moveTo>
                    <a:pt x="0" y="0"/>
                  </a:moveTo>
                  <a:lnTo>
                    <a:pt x="209550" y="0"/>
                  </a:lnTo>
                  <a:lnTo>
                    <a:pt x="209550" y="227648"/>
                  </a:lnTo>
                  <a:lnTo>
                    <a:pt x="419100" y="22764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5460" y="2168842"/>
              <a:ext cx="419100" cy="682942"/>
            </a:xfrm>
            <a:custGeom>
              <a:avLst/>
              <a:gdLst/>
              <a:ahLst/>
              <a:cxnLst/>
              <a:rect l="l" t="t" r="r" b="b"/>
              <a:pathLst>
                <a:path w="419100" h="682942">
                  <a:moveTo>
                    <a:pt x="0" y="682942"/>
                  </a:moveTo>
                  <a:lnTo>
                    <a:pt x="209550" y="6829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5460" y="285178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5460" y="2851785"/>
              <a:ext cx="419100" cy="682943"/>
            </a:xfrm>
            <a:custGeom>
              <a:avLst/>
              <a:gdLst/>
              <a:ahLst/>
              <a:cxnLst/>
              <a:rect l="l" t="t" r="r" b="b"/>
              <a:pathLst>
                <a:path w="419100" h="682943">
                  <a:moveTo>
                    <a:pt x="0" y="0"/>
                  </a:moveTo>
                  <a:lnTo>
                    <a:pt x="209550" y="0"/>
                  </a:lnTo>
                  <a:lnTo>
                    <a:pt x="209550" y="682943"/>
                  </a:lnTo>
                  <a:lnTo>
                    <a:pt x="419100" y="68294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94560" y="2002155"/>
              <a:ext cx="1159192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771900" y="2457450"/>
              <a:ext cx="130587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771900" y="2912745"/>
              <a:ext cx="130587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194560" y="2685098"/>
              <a:ext cx="1159192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194560" y="3367088"/>
              <a:ext cx="1159192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85098"/>
              <a:ext cx="1242060" cy="333375"/>
            </a:xfrm>
            <a:prstGeom prst="roundRect">
              <a:avLst>
                <a:gd name="adj" fmla="val 2857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84476" y="209550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需求定义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61816" y="2550795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2-1 软件设计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61816" y="3006090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2-2 硬件设计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4476" y="2778443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2 设计规格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84476" y="346138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程序模块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3316" y="2778443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XX 信息系统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936682"/>
            <a:ext cx="4544378" cy="1673542"/>
            <a:chOff x="533400" y="3936682"/>
            <a:chExt cx="4544378" cy="1673542"/>
          </a:xfrm>
        </p:grpSpPr>
        <p:sp>
          <p:nvSpPr>
            <p:cNvPr id="27" name="Rectangle 27"/>
            <p:cNvSpPr/>
            <p:nvPr/>
          </p:nvSpPr>
          <p:spPr>
            <a:xfrm>
              <a:off x="533400" y="3936682"/>
              <a:ext cx="4544378" cy="1673542"/>
            </a:xfrm>
            <a:prstGeom prst="roundRect">
              <a:avLst>
                <a:gd name="adj" fmla="val 796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5805" y="412908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1243" y="41633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文字大纲形式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42897" y="4169092"/>
              <a:ext cx="1961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同一份 WBS 换一种写法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947" y="4503420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需求定义　2 设计规格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947" y="4805362"/>
              <a:ext cx="34212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2-1 软件设计　2-2 硬件设计　3 程序模块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377244" y="1941195"/>
            <a:ext cx="6281356" cy="2309432"/>
            <a:chOff x="5377244" y="1941195"/>
            <a:chExt cx="6281356" cy="2309432"/>
          </a:xfrm>
        </p:grpSpPr>
        <p:sp>
          <p:nvSpPr>
            <p:cNvPr id="34" name="Rectangle 34"/>
            <p:cNvSpPr/>
            <p:nvPr/>
          </p:nvSpPr>
          <p:spPr>
            <a:xfrm>
              <a:off x="5382578" y="1941195"/>
              <a:ext cx="627602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211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工作划分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9947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项目经理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0521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软件设计师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85387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硬件设计师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82590" y="247126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需求定义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50251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31376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11548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2578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82578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2590" y="287702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2-1 软件设计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50251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31376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82590" y="3282791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2-2 硬件设计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50251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11548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3559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82578" y="35642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82590" y="36885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程序模块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50251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31376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11548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协助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1941195"/>
              <a:ext cx="627602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1141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89254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27271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77244" y="4045268"/>
              <a:ext cx="2920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任务责任矩阵：在 WBS 基础上把活动落实到人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5382578" y="4384358"/>
            <a:ext cx="6276022" cy="1226820"/>
            <a:chOff x="5382578" y="4384358"/>
            <a:chExt cx="6276022" cy="1226820"/>
          </a:xfrm>
        </p:grpSpPr>
        <p:sp>
          <p:nvSpPr>
            <p:cNvPr id="64" name="Rectangle 64"/>
            <p:cNvSpPr/>
            <p:nvPr/>
          </p:nvSpPr>
          <p:spPr>
            <a:xfrm>
              <a:off x="5382578" y="4384358"/>
              <a:ext cx="6276022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92102" y="451770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613082" y="45767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704522" y="46110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96774" y="461581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源课件此表用人名作列标题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606224" y="4950142"/>
              <a:ext cx="54829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19 页的列标题带人名（张XX、王XX）。讲义改按角色写，既避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开个人信息，也更符合 WBS 面向职责的用法。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1" name="Rectangle 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责任矩阵的每一行必须至少有一个负责人，空行意味着这项活动没人认领。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20821" cy="909257"/>
            <a:chOff x="520446" y="342900"/>
            <a:chExt cx="4620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20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 定了范围，却定不了顺序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35978" cy="278702"/>
            <a:chOff x="526161" y="1547336"/>
            <a:chExt cx="593597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35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左边两栏是 WBS 的能力边界，也是引出 Gantt 图和工程网络的理由。</a:t>
              </a:r>
            </a:p>
          </p:txBody>
        </p:sp>
      </p:grpSp>
      <p:grpSp>
        <p:nvGrpSpPr>
          <p:cNvPr id="39" name="c1-compare-1"/>
          <p:cNvGrpSpPr/>
          <p:nvPr/>
        </p:nvGrpSpPr>
        <p:grpSpPr>
          <a:xfrm>
            <a:off x="533400" y="1941195"/>
            <a:ext cx="5410200" cy="3719512"/>
            <a:chOff x="533400" y="1941195"/>
            <a:chExt cx="5410200" cy="371951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2466022" cy="3719512"/>
            </a:xfrm>
            <a:prstGeom prst="roundRect">
              <a:avLst>
                <a:gd name="adj" fmla="val 5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34528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047" y="2156460"/>
              <a:ext cx="99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 能做到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532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4765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明确了项目范围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8346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778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确定了项目包含的活动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1375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308133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指明活动对应的里程碑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4394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338328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给出可以逐项估算的活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动清单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39995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394335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配合责任矩阵把活动落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到角色上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45596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450342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划清边界，没写进去的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工作不算数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77578" y="1941195"/>
              <a:ext cx="2466022" cy="3719512"/>
            </a:xfrm>
            <a:prstGeom prst="roundRect">
              <a:avLst>
                <a:gd name="adj" fmla="val 5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87102" y="2074545"/>
              <a:ext cx="47625" cy="34528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01224" y="2156460"/>
              <a:ext cx="99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 做不到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716655" y="2532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72674" y="247650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没有指明活动间的相互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依赖关联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716655" y="30918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72674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无法表示项目中可以并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行的部分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716655" y="36518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72674" y="359568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不给出每项活动的起止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716655" y="42110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2674" y="415480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不反映人力和工具数量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的限制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716655" y="47710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2674" y="471487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还需要其他手段才能产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生可行的进度计划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047048" y="360997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01619" y="37409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941195"/>
            <a:ext cx="5410200" cy="2088832"/>
            <a:chOff x="6248400" y="1941195"/>
            <a:chExt cx="5410200" cy="2088832"/>
          </a:xfrm>
        </p:grpSpPr>
        <p:sp>
          <p:nvSpPr>
            <p:cNvPr id="40" name="Rectangle 40"/>
            <p:cNvSpPr/>
            <p:nvPr/>
          </p:nvSpPr>
          <p:spPr>
            <a:xfrm>
              <a:off x="6248400" y="1941195"/>
              <a:ext cx="5410200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2074545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8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2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例题背景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29297" y="2173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旧木板房刷漆工程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2047" y="25079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一座陈旧的矩形木板房要重新油漆，工作分三步完成：先刮掉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旧漆，再刷上新漆，最后清除溅在窗户上的油漆。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7478" y="31242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3497" y="3068002"/>
              <a:ext cx="457300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一共 15 名工人，每种工具只有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：5 把刮板、5 把刷子、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把小刮刀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7478" y="36833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3497" y="3627120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工具数量决定了同一时刻每道工序最多只能有 5 个人干活</a:t>
              </a:r>
            </a:p>
          </p:txBody>
        </p:sp>
      </p:grpSp>
      <p:grpSp>
        <p:nvGrpSpPr>
          <p:cNvPr id="71" name="c2-table-2"/>
          <p:cNvGrpSpPr/>
          <p:nvPr/>
        </p:nvGrpSpPr>
        <p:grpSpPr>
          <a:xfrm>
            <a:off x="6243066" y="4205288"/>
            <a:ext cx="5415534" cy="1497901"/>
            <a:chOff x="6243066" y="4205288"/>
            <a:chExt cx="5415534" cy="1497901"/>
          </a:xfrm>
        </p:grpSpPr>
        <p:sp>
          <p:nvSpPr>
            <p:cNvPr id="51" name="Rectangle 51"/>
            <p:cNvSpPr/>
            <p:nvPr/>
          </p:nvSpPr>
          <p:spPr>
            <a:xfrm>
              <a:off x="6248400" y="4205288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12026" y="43295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墙面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51113" y="43295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刮旧漆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41738" y="43295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刷新漆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06798" y="43295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清理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48412" y="4735354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 1 或墙 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35812" y="47353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26437" y="47353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16110" y="47353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50120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501681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8412" y="5141119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 2 或墙 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35812" y="51411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26437" y="51411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16110" y="51411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205288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82915" y="420528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73540" y="420528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463212" y="420528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43066" y="549783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每面墙各道工序需要的时间（小时）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2" name="Rectangle 7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7046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最笨的排法是四面墙依次刮完、依次刷完、依次清理，那样任何时刻都有 10 个人闲着。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86926" cy="909257"/>
            <a:chOff x="520446" y="342900"/>
            <a:chExt cx="62869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869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Gantt 图：把每道工序画成时间轴上的条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909403" cy="278702"/>
            <a:chOff x="526161" y="1547336"/>
            <a:chExt cx="79094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909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五个人刮完第 1 面墙就转去刮第 2 面，刷漆组立刻跟上，清理组再跟上，三道工序流水前进。</a:t>
              </a:r>
            </a:p>
          </p:txBody>
        </p:sp>
      </p:grpSp>
      <p:grpSp>
        <p:nvGrpSpPr>
          <p:cNvPr id="44" name="c1-graph-1"/>
          <p:cNvGrpSpPr/>
          <p:nvPr/>
        </p:nvGrpSpPr>
        <p:grpSpPr>
          <a:xfrm>
            <a:off x="547497" y="1974532"/>
            <a:ext cx="6349309" cy="2098834"/>
            <a:chOff x="547497" y="1974532"/>
            <a:chExt cx="6349309" cy="2098834"/>
          </a:xfrm>
        </p:grpSpPr>
        <p:sp>
          <p:nvSpPr>
            <p:cNvPr id="9" name="Rectangle 9"/>
            <p:cNvSpPr/>
            <p:nvPr/>
          </p:nvSpPr>
          <p:spPr>
            <a:xfrm>
              <a:off x="1130618" y="2331720"/>
              <a:ext cx="467678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29728" y="2331720"/>
              <a:ext cx="96202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623185" y="2331720"/>
              <a:ext cx="467678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23248" y="2331720"/>
              <a:ext cx="96202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627822" y="2938462"/>
              <a:ext cx="719138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18422" y="2938462"/>
              <a:ext cx="1464945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14800" y="2938462"/>
              <a:ext cx="719138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858702" y="2938462"/>
              <a:ext cx="1464945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26042" y="3545205"/>
              <a:ext cx="217170" cy="260032"/>
            </a:xfrm>
            <a:prstGeom prst="roundRect">
              <a:avLst>
                <a:gd name="adj" fmla="val 4386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10038" y="3545205"/>
              <a:ext cx="467678" cy="260032"/>
            </a:xfrm>
            <a:prstGeom prst="roundRect">
              <a:avLst>
                <a:gd name="adj" fmla="val 3663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9655" y="3545205"/>
              <a:ext cx="217170" cy="260032"/>
            </a:xfrm>
            <a:prstGeom prst="roundRect">
              <a:avLst>
                <a:gd name="adj" fmla="val 4386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350318" y="3545205"/>
              <a:ext cx="467678" cy="260032"/>
            </a:xfrm>
            <a:prstGeom prst="roundRect">
              <a:avLst>
                <a:gd name="adj" fmla="val 3663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63654" y="2406015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10414" y="2406015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57174" y="2406015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03934" y="2406015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7542" y="3012758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50569" y="3012758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3567" y="3012758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0849" y="3012758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4881" y="3619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04606" y="3619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27541" y="3619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4886" y="3619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7497" y="23560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刮旧漆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7497" y="29627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刷新漆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7497" y="35694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清理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7688" y="1974532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时间（小时）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2163" y="3911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75621" y="3911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69078" y="3911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2179" y="39114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25636" y="39114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9094" y="39114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65854" y="39114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  <p:grpSp>
        <p:nvGrpSpPr>
          <p:cNvPr id="50" name="c1-kv-2"/>
          <p:cNvGrpSpPr/>
          <p:nvPr/>
        </p:nvGrpSpPr>
        <p:grpSpPr>
          <a:xfrm>
            <a:off x="526542" y="4306252"/>
            <a:ext cx="6499098" cy="1168908"/>
            <a:chOff x="526542" y="4306252"/>
            <a:chExt cx="6499098" cy="1168908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43062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1380" y="4306252"/>
              <a:ext cx="55001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横轴是时间，每行一道工序，条的两端是这面墙这道工序的开始和结束时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刻；清理行的数字是墙号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84822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542" y="49577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空档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1380" y="4957762"/>
              <a:ext cx="53286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刷完墙 1 要等墙 2 刮净才能接着刷，清理组同理；第 12 小时刮完，第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小时刷完，第 23 小时清理完</a:t>
              </a:r>
            </a:p>
          </p:txBody>
        </p:sp>
      </p:grpSp>
      <p:grpSp>
        <p:nvGrpSpPr>
          <p:cNvPr id="57" name="c2-callout-1"/>
          <p:cNvGrpSpPr/>
          <p:nvPr/>
        </p:nvGrpSpPr>
        <p:grpSpPr>
          <a:xfrm>
            <a:off x="7330440" y="1941195"/>
            <a:ext cx="4328160" cy="978218"/>
            <a:chOff x="7330440" y="1941195"/>
            <a:chExt cx="4328160" cy="978218"/>
          </a:xfrm>
        </p:grpSpPr>
        <p:sp>
          <p:nvSpPr>
            <p:cNvPr id="51" name="Rectangle 51"/>
            <p:cNvSpPr/>
            <p:nvPr/>
          </p:nvSpPr>
          <p:spPr>
            <a:xfrm>
              <a:off x="7330440" y="1941195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535228" y="2330768"/>
              <a:ext cx="200026" cy="200025"/>
              <a:chOff x="7535228" y="233076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535228" y="23307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574966" y="23752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609682" y="24863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837932" y="2087880"/>
              <a:ext cx="3365563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教材后面用机动时间重排出图 13.4：甲组 5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人刮漆兼清理，乙组 5 人刷漆，10 个人同样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23 小时完工。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330440" y="3094672"/>
            <a:ext cx="4328160" cy="2560320"/>
            <a:chOff x="7330440" y="3094672"/>
            <a:chExt cx="4328160" cy="2560320"/>
          </a:xfrm>
        </p:grpSpPr>
        <p:sp>
          <p:nvSpPr>
            <p:cNvPr id="58" name="Rectangle 58"/>
            <p:cNvSpPr/>
            <p:nvPr/>
          </p:nvSpPr>
          <p:spPr>
            <a:xfrm>
              <a:off x="7330440" y="3094672"/>
              <a:ext cx="4328160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965" y="3228022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60945" y="32870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52385" y="33213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44637" y="3327082"/>
              <a:ext cx="2841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Gantt 图少画了一段等待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54087" y="3661410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26 页（教材图 13.1）把刷新漆画成第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到第 20 小时连续一条，第 22 小时完工。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569517" y="42767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25537" y="4220528"/>
              <a:ext cx="35455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 1 第 5 小时刷完，墙 2 第 6 小时才刮净，刷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 2 只能从第 6 小时开始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569517" y="483679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25537" y="478059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全部工程因此需要 23 小时，左图已按此画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55230" y="5079206"/>
              <a:ext cx="3702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教材第 319 页自己更正了这一点，与工程网络算出的 23 小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时一致。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6953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Gantt 图直观简明、容易绘制，是进度管理最常用的工具，但它只画了“什么时候做”。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0050" cy="909257"/>
            <a:chOff x="520446" y="342900"/>
            <a:chExt cx="76600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00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Gantt 图的三个缺点，正好是工程网络的三个卖点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同样一份进度，换成工程网络就能看出哪些作业互相牵制、哪些作业耽误不起。</a:t>
              </a:r>
            </a:p>
          </p:txBody>
        </p:sp>
      </p:grpSp>
      <p:grpSp>
        <p:nvGrpSpPr>
          <p:cNvPr id="16" name="c1-bullets-1"/>
          <p:cNvGrpSpPr/>
          <p:nvPr/>
        </p:nvGrpSpPr>
        <p:grpSpPr>
          <a:xfrm>
            <a:off x="525780" y="1992630"/>
            <a:ext cx="5215890" cy="1908810"/>
            <a:chOff x="525780" y="1992630"/>
            <a:chExt cx="5215890" cy="190881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2284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Gantt 图的三个主要缺点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430" y="234696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不能显式地描绘各项作业彼此间的依赖关系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727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3430" y="269176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进度计划的关键部分不明确，难于判定哪些部分应当是主攻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和主控的对象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3585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3430" y="332232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计划中有潜力的部分及潜力的大小不明确，往往造成潜力的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浪费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032885"/>
            <a:ext cx="5410200" cy="1402080"/>
            <a:chOff x="533400" y="4032885"/>
            <a:chExt cx="5410200" cy="1402080"/>
          </a:xfrm>
        </p:grpSpPr>
        <p:sp>
          <p:nvSpPr>
            <p:cNvPr id="17" name="Rectangle 17"/>
            <p:cNvSpPr/>
            <p:nvPr/>
          </p:nvSpPr>
          <p:spPr>
            <a:xfrm>
              <a:off x="533400" y="4032885"/>
              <a:ext cx="5410200" cy="1402080"/>
            </a:xfrm>
            <a:prstGeom prst="roundRect">
              <a:avLst>
                <a:gd name="adj" fmla="val 815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4630221"/>
              <a:ext cx="224134" cy="192560"/>
              <a:chOff x="726129" y="4630221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47005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46302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7783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491038"/>
              <a:ext cx="4406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 Gantt 图看不出“刷墙 2 晚一小时，整个工程会不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会跟着晚一小时”。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967865"/>
            <a:ext cx="5410200" cy="2577465"/>
            <a:chOff x="6248400" y="1967865"/>
            <a:chExt cx="5410200" cy="2577465"/>
          </a:xfrm>
        </p:grpSpPr>
        <p:sp>
          <p:nvSpPr>
            <p:cNvPr id="24" name="Rectangle 24"/>
            <p:cNvSpPr/>
            <p:nvPr/>
          </p:nvSpPr>
          <p:spPr>
            <a:xfrm>
              <a:off x="6248400" y="1967865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2101215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7078" y="22126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工程网络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8430" y="25736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工程网络是制定进度计划时另一种常用的图形工具，它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既描绘任务分解和每项作业的起止时间，还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显式地画出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作业之间的依赖关系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35433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348043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画网络图要求绘制者想清楚项目中哪些部分可以并行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38785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381571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能不能并行还取决于执行者是不是同一个人或同一个单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</p:grpSp>
      <p:grpSp>
        <p:nvGrpSpPr>
          <p:cNvPr id="40" name="c2-kv-2"/>
          <p:cNvGrpSpPr/>
          <p:nvPr/>
        </p:nvGrpSpPr>
        <p:grpSpPr>
          <a:xfrm>
            <a:off x="6240780" y="4760595"/>
            <a:ext cx="5417820" cy="733425"/>
            <a:chOff x="6240780" y="4760595"/>
            <a:chExt cx="5417820" cy="733425"/>
          </a:xfrm>
        </p:grpSpPr>
        <p:sp>
          <p:nvSpPr>
            <p:cNvPr id="35" name="TextBox 35"/>
            <p:cNvSpPr txBox="1"/>
            <p:nvPr/>
          </p:nvSpPr>
          <p:spPr>
            <a:xfrm>
              <a:off x="6240780" y="4760595"/>
              <a:ext cx="871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Gantt 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2820" y="476059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强在直观，适合汇报进度和看资源占用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50806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0780" y="52006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工程网络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22820" y="52006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强在依赖，适合找关键路径和评估延误影响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软件项目比刷漆复杂得多，但方法一样：自顶向下分解成阶段、任务、步骤，再排依赖。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工程网络：箭头是作业，圆圈是里程碑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画网络图之前先把这两个概念分开，否则时间会算在错误的对象上。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5410200" cy="2021205"/>
            <a:chOff x="533400" y="1928812"/>
            <a:chExt cx="5410200" cy="20212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021205"/>
            </a:xfrm>
            <a:prstGeom prst="roundRect">
              <a:avLst>
                <a:gd name="adj" fmla="val 6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545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活动与里程碑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6591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活动（Activity）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：项目的一部分，要耗费一段时间，有开始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也有结束。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033712"/>
              <a:ext cx="4794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里程碑（Milestone）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：某个活动完成的标志，是一个特定的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，本身不耗时间。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475" y="3587591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约定：箭头表示活动/作业，圆圈表示里程碑/事件。</a:t>
              </a:r>
            </a:p>
          </p:txBody>
        </p:sp>
      </p:grpSp>
      <p:grpSp>
        <p:nvGrpSpPr>
          <p:cNvPr id="31" name="c1-bullets-2"/>
          <p:cNvGrpSpPr/>
          <p:nvPr/>
        </p:nvGrpSpPr>
        <p:grpSpPr>
          <a:xfrm>
            <a:off x="526542" y="4142422"/>
            <a:ext cx="5240867" cy="1506094"/>
            <a:chOff x="526542" y="4142422"/>
            <a:chExt cx="5240867" cy="1506094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414242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活动的四个参数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44722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44856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4458652"/>
              <a:ext cx="437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前置条件（Precursor）：活动开始前必须发生的事件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7558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078" y="47942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197" y="4767262"/>
              <a:ext cx="3681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持续时间（Duration）：完成活动所需的时间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06444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078" y="51028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197" y="5075873"/>
              <a:ext cx="4414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最终期限（Due Date）：活动必须在此之前完成的日期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537305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9078" y="54114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197" y="5384483"/>
              <a:ext cx="4953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结束点（Endpoint）：通常是活动对应的里程碑或可交付成果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928812"/>
            <a:ext cx="5410200" cy="2874645"/>
            <a:chOff x="6248400" y="1928812"/>
            <a:chExt cx="5410200" cy="2874645"/>
          </a:xfrm>
        </p:grpSpPr>
        <p:sp>
          <p:nvSpPr>
            <p:cNvPr id="32" name="Rectangle 32"/>
            <p:cNvSpPr/>
            <p:nvPr/>
          </p:nvSpPr>
          <p:spPr>
            <a:xfrm>
              <a:off x="6248400" y="1928812"/>
              <a:ext cx="5410200" cy="2874645"/>
            </a:xfrm>
            <a:prstGeom prst="roundRect">
              <a:avLst>
                <a:gd name="adj" fmla="val 46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2062162"/>
              <a:ext cx="47625" cy="26079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3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5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38784" y="21507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虚作业为什么必须画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6332" y="2476500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源课件图 13.3 里的四条虚线箭头是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虚作业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，持续时间为 0，只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表示依赖，不占时间，课件正文没有专门解释。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1762" y="30899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7782" y="3033712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刷墙 2 既要等“墙 2 刮完”，又要等“墙 1 刷完”（刷子被占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81762" y="364712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37782" y="359092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两个前提落在两个不同的事件上，就用一条虚箭头把它们连起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81762" y="42043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7782" y="41481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虚作业也让任意两个事件之间只保留一条作业箭头，避免图形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歧义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4973002"/>
            <a:ext cx="5410200" cy="729615"/>
            <a:chOff x="6248400" y="4973002"/>
            <a:chExt cx="5410200" cy="729615"/>
          </a:xfrm>
        </p:grpSpPr>
        <p:sp>
          <p:nvSpPr>
            <p:cNvPr id="45" name="Rectangle 45"/>
            <p:cNvSpPr/>
            <p:nvPr/>
          </p:nvSpPr>
          <p:spPr>
            <a:xfrm>
              <a:off x="6248400" y="497300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5237800"/>
              <a:ext cx="200023" cy="200023"/>
              <a:chOff x="6453188" y="523780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52378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86538" y="5304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892" y="511968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判断要不要虚作业，只问一句：这项作业的开始条件是不是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落在两个以上的事件上。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1" name="Rectangle 5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8373"/>
              <a:ext cx="786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网络图里“事件 6”不是一件事，而是“刷墙 2 完成”这个时刻，所有以它为前提的作业都从它出发。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旧木板房刷漆工程的完整工程网络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705093" cy="308039"/>
            <a:chOff x="525399" y="1550194"/>
            <a:chExt cx="77050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7050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箭头上的数字是该作业的持续时间（小时），虚线箭头是持续时间为 0 的虚作业。</a:t>
              </a:r>
            </a:p>
          </p:txBody>
        </p:sp>
      </p:grpSp>
      <p:grpSp>
        <p:nvGrpSpPr>
          <p:cNvPr id="95" name="c1-graph-1"/>
          <p:cNvGrpSpPr/>
          <p:nvPr/>
        </p:nvGrpSpPr>
        <p:grpSpPr>
          <a:xfrm>
            <a:off x="825818" y="2110740"/>
            <a:ext cx="10671809" cy="2607945"/>
            <a:chOff x="825818" y="2110740"/>
            <a:chExt cx="10671809" cy="2607945"/>
          </a:xfrm>
        </p:grpSpPr>
        <p:sp>
          <p:nvSpPr>
            <p:cNvPr id="9" name="Freeform 9"/>
            <p:cNvSpPr/>
            <p:nvPr/>
          </p:nvSpPr>
          <p:spPr>
            <a:xfrm>
              <a:off x="1140142" y="3680460"/>
              <a:ext cx="916305" cy="9525"/>
            </a:xfrm>
            <a:custGeom>
              <a:avLst/>
              <a:gdLst/>
              <a:ahLst/>
              <a:cxnLst/>
              <a:rect l="l" t="t" r="r" b="b"/>
              <a:pathLst>
                <a:path w="916305" h="9525">
                  <a:moveTo>
                    <a:pt x="0" y="0"/>
                  </a:moveTo>
                  <a:lnTo>
                    <a:pt x="916305" y="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56448" y="36328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58402" y="3084195"/>
              <a:ext cx="1070610" cy="524827"/>
            </a:xfrm>
            <a:custGeom>
              <a:avLst/>
              <a:gdLst/>
              <a:ahLst/>
              <a:cxnLst/>
              <a:rect l="l" t="t" r="r" b="b"/>
              <a:pathLst>
                <a:path w="1070610" h="524827">
                  <a:moveTo>
                    <a:pt x="0" y="524827"/>
                  </a:moveTo>
                  <a:lnTo>
                    <a:pt x="1070610" y="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08058" y="3042285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0"/>
                  </a:moveTo>
                  <a:lnTo>
                    <a:pt x="41910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74595" y="3693795"/>
              <a:ext cx="2364105" cy="200977"/>
            </a:xfrm>
            <a:custGeom>
              <a:avLst/>
              <a:gdLst/>
              <a:ahLst/>
              <a:cxnLst/>
              <a:rect l="l" t="t" r="r" b="b"/>
              <a:pathLst>
                <a:path w="2364105" h="200977">
                  <a:moveTo>
                    <a:pt x="0" y="0"/>
                  </a:moveTo>
                  <a:lnTo>
                    <a:pt x="2364105" y="2009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834890" y="3847148"/>
              <a:ext cx="98107" cy="95250"/>
            </a:xfrm>
            <a:custGeom>
              <a:avLst/>
              <a:gdLst/>
              <a:ahLst/>
              <a:cxnLst/>
              <a:rect l="l" t="t" r="r" b="b"/>
              <a:pathLst>
                <a:path w="98107" h="95250">
                  <a:moveTo>
                    <a:pt x="98107" y="55245"/>
                  </a:moveTo>
                  <a:lnTo>
                    <a:pt x="0" y="95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02392" y="2383155"/>
              <a:ext cx="964883" cy="512445"/>
            </a:xfrm>
            <a:custGeom>
              <a:avLst/>
              <a:gdLst/>
              <a:ahLst/>
              <a:cxnLst/>
              <a:rect l="l" t="t" r="r" b="b"/>
              <a:pathLst>
                <a:path w="964883" h="512445">
                  <a:moveTo>
                    <a:pt x="0" y="512445"/>
                  </a:moveTo>
                  <a:lnTo>
                    <a:pt x="9648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45368" y="233838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0"/>
                  </a:moveTo>
                  <a:lnTo>
                    <a:pt x="44767" y="86677"/>
                  </a:lnTo>
                  <a:lnTo>
                    <a:pt x="0" y="28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91915" y="3065145"/>
              <a:ext cx="992505" cy="702945"/>
            </a:xfrm>
            <a:custGeom>
              <a:avLst/>
              <a:gdLst/>
              <a:ahLst/>
              <a:cxnLst/>
              <a:rect l="l" t="t" r="r" b="b"/>
              <a:pathLst>
                <a:path w="992505" h="702945">
                  <a:moveTo>
                    <a:pt x="0" y="0"/>
                  </a:moveTo>
                  <a:lnTo>
                    <a:pt x="992505" y="702945"/>
                  </a:lnTo>
                </a:path>
              </a:pathLst>
            </a:custGeom>
            <a:noFill/>
            <a:ln w="30480">
              <a:solidFill>
                <a:srgbClr val="F26B3A"/>
              </a:solidFill>
              <a:custDash>
                <a:ds d="187500" sp="125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4857750" y="3729038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93345"/>
                  </a:moveTo>
                  <a:lnTo>
                    <a:pt x="0" y="77153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241608" y="3197542"/>
              <a:ext cx="1400175" cy="650558"/>
            </a:xfrm>
            <a:custGeom>
              <a:avLst/>
              <a:gdLst/>
              <a:ahLst/>
              <a:cxnLst/>
              <a:rect l="l" t="t" r="r" b="b"/>
              <a:pathLst>
                <a:path w="1400175" h="650558">
                  <a:moveTo>
                    <a:pt x="0" y="650558"/>
                  </a:moveTo>
                  <a:lnTo>
                    <a:pt x="1400175" y="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621780" y="3154680"/>
              <a:ext cx="105727" cy="86678"/>
            </a:xfrm>
            <a:custGeom>
              <a:avLst/>
              <a:gdLst/>
              <a:ahLst/>
              <a:cxnLst/>
              <a:rect l="l" t="t" r="r" b="b"/>
              <a:pathLst>
                <a:path w="105727" h="86678">
                  <a:moveTo>
                    <a:pt x="105727" y="2858"/>
                  </a:moveTo>
                  <a:lnTo>
                    <a:pt x="40005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249228" y="3966210"/>
              <a:ext cx="1603057" cy="520065"/>
            </a:xfrm>
            <a:custGeom>
              <a:avLst/>
              <a:gdLst/>
              <a:ahLst/>
              <a:cxnLst/>
              <a:rect l="l" t="t" r="r" b="b"/>
              <a:pathLst>
                <a:path w="1603057" h="520065">
                  <a:moveTo>
                    <a:pt x="0" y="0"/>
                  </a:moveTo>
                  <a:lnTo>
                    <a:pt x="1603057" y="5200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837998" y="444150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4295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255895" y="2278380"/>
              <a:ext cx="3143250" cy="313373"/>
            </a:xfrm>
            <a:custGeom>
              <a:avLst/>
              <a:gdLst/>
              <a:ahLst/>
              <a:cxnLst/>
              <a:rect l="l" t="t" r="r" b="b"/>
              <a:pathLst>
                <a:path w="3143250" h="313373">
                  <a:moveTo>
                    <a:pt x="0" y="0"/>
                  </a:moveTo>
                  <a:lnTo>
                    <a:pt x="314325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394382" y="2544128"/>
              <a:ext cx="99060" cy="95250"/>
            </a:xfrm>
            <a:custGeom>
              <a:avLst/>
              <a:gdLst/>
              <a:ahLst/>
              <a:cxnLst/>
              <a:rect l="l" t="t" r="r" b="b"/>
              <a:pathLst>
                <a:path w="99060" h="95250">
                  <a:moveTo>
                    <a:pt x="99060" y="57150"/>
                  </a:moveTo>
                  <a:lnTo>
                    <a:pt x="0" y="952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241608" y="2330768"/>
              <a:ext cx="1400175" cy="650558"/>
            </a:xfrm>
            <a:custGeom>
              <a:avLst/>
              <a:gdLst/>
              <a:ahLst/>
              <a:cxnLst/>
              <a:rect l="l" t="t" r="r" b="b"/>
              <a:pathLst>
                <a:path w="1400175" h="650558">
                  <a:moveTo>
                    <a:pt x="0" y="0"/>
                  </a:moveTo>
                  <a:lnTo>
                    <a:pt x="1400175" y="65055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6621780" y="2938462"/>
              <a:ext cx="105727" cy="85725"/>
            </a:xfrm>
            <a:custGeom>
              <a:avLst/>
              <a:gdLst/>
              <a:ahLst/>
              <a:cxnLst/>
              <a:rect l="l" t="t" r="r" b="b"/>
              <a:pathLst>
                <a:path w="105727" h="85725">
                  <a:moveTo>
                    <a:pt x="105727" y="82867"/>
                  </a:moveTo>
                  <a:lnTo>
                    <a:pt x="0" y="85725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031355" y="2683192"/>
              <a:ext cx="1374457" cy="364808"/>
            </a:xfrm>
            <a:custGeom>
              <a:avLst/>
              <a:gdLst/>
              <a:ahLst/>
              <a:cxnLst/>
              <a:rect l="l" t="t" r="r" b="b"/>
              <a:pathLst>
                <a:path w="1374457" h="364808">
                  <a:moveTo>
                    <a:pt x="0" y="364808"/>
                  </a:moveTo>
                  <a:lnTo>
                    <a:pt x="1374457" y="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394382" y="2637472"/>
              <a:ext cx="103823" cy="91440"/>
            </a:xfrm>
            <a:custGeom>
              <a:avLst/>
              <a:gdLst/>
              <a:ahLst/>
              <a:cxnLst/>
              <a:rect l="l" t="t" r="r" b="b"/>
              <a:pathLst>
                <a:path w="103823" h="91440">
                  <a:moveTo>
                    <a:pt x="103823" y="20955"/>
                  </a:moveTo>
                  <a:lnTo>
                    <a:pt x="23812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898958" y="3249930"/>
              <a:ext cx="160020" cy="1062038"/>
            </a:xfrm>
            <a:custGeom>
              <a:avLst/>
              <a:gdLst/>
              <a:ahLst/>
              <a:cxnLst/>
              <a:rect l="l" t="t" r="r" b="b"/>
              <a:pathLst>
                <a:path w="160020" h="1062038">
                  <a:moveTo>
                    <a:pt x="0" y="0"/>
                  </a:moveTo>
                  <a:lnTo>
                    <a:pt x="160020" y="106203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7012305" y="4304348"/>
              <a:ext cx="93345" cy="100965"/>
            </a:xfrm>
            <a:custGeom>
              <a:avLst/>
              <a:gdLst/>
              <a:ahLst/>
              <a:cxnLst/>
              <a:rect l="l" t="t" r="r" b="b"/>
              <a:pathLst>
                <a:path w="93345" h="100965">
                  <a:moveTo>
                    <a:pt x="60960" y="100965"/>
                  </a:moveTo>
                  <a:lnTo>
                    <a:pt x="0" y="14288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255192" y="4093845"/>
              <a:ext cx="1817370" cy="434340"/>
            </a:xfrm>
            <a:custGeom>
              <a:avLst/>
              <a:gdLst/>
              <a:ahLst/>
              <a:cxnLst/>
              <a:rect l="l" t="t" r="r" b="b"/>
              <a:pathLst>
                <a:path w="1817370" h="434340">
                  <a:moveTo>
                    <a:pt x="0" y="434340"/>
                  </a:moveTo>
                  <a:lnTo>
                    <a:pt x="18173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61132" y="404812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3812"/>
                  </a:moveTo>
                  <a:lnTo>
                    <a:pt x="21908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808720" y="2667000"/>
              <a:ext cx="1584960" cy="514350"/>
            </a:xfrm>
            <a:custGeom>
              <a:avLst/>
              <a:gdLst/>
              <a:ahLst/>
              <a:cxnLst/>
              <a:rect l="l" t="t" r="r" b="b"/>
              <a:pathLst>
                <a:path w="1584960" h="514350">
                  <a:moveTo>
                    <a:pt x="0" y="0"/>
                  </a:moveTo>
                  <a:lnTo>
                    <a:pt x="1584960" y="51435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379392" y="3135630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5248"/>
                  </a:moveTo>
                  <a:lnTo>
                    <a:pt x="0" y="90488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723948" y="2763202"/>
              <a:ext cx="488633" cy="1038225"/>
            </a:xfrm>
            <a:custGeom>
              <a:avLst/>
              <a:gdLst/>
              <a:ahLst/>
              <a:cxnLst/>
              <a:rect l="l" t="t" r="r" b="b"/>
              <a:pathLst>
                <a:path w="488633" h="1038225">
                  <a:moveTo>
                    <a:pt x="0" y="0"/>
                  </a:moveTo>
                  <a:lnTo>
                    <a:pt x="488633" y="103822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9169718" y="378142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3820" y="106680"/>
                  </a:moveTo>
                  <a:lnTo>
                    <a:pt x="0" y="40958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63088" y="3405188"/>
              <a:ext cx="954405" cy="548640"/>
            </a:xfrm>
            <a:custGeom>
              <a:avLst/>
              <a:gdLst/>
              <a:ahLst/>
              <a:cxnLst/>
              <a:rect l="l" t="t" r="r" b="b"/>
              <a:pathLst>
                <a:path w="954405" h="548640">
                  <a:moveTo>
                    <a:pt x="0" y="548640"/>
                  </a:moveTo>
                  <a:lnTo>
                    <a:pt x="9544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393680" y="3357562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0"/>
                  </a:moveTo>
                  <a:lnTo>
                    <a:pt x="47625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0767060" y="2602230"/>
              <a:ext cx="391477" cy="519112"/>
            </a:xfrm>
            <a:custGeom>
              <a:avLst/>
              <a:gdLst/>
              <a:ahLst/>
              <a:cxnLst/>
              <a:rect l="l" t="t" r="r" b="b"/>
              <a:pathLst>
                <a:path w="391477" h="519112">
                  <a:moveTo>
                    <a:pt x="0" y="519112"/>
                  </a:moveTo>
                  <a:lnTo>
                    <a:pt x="391477" y="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1120438" y="2526030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0"/>
                  </a:moveTo>
                  <a:lnTo>
                    <a:pt x="75248" y="10477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825818" y="352806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2161222" y="352806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607118" y="28194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4942522" y="37642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4942522" y="211074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722745" y="29375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944678" y="441388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502015" y="246507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169718" y="388239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485120" y="3094672"/>
              <a:ext cx="344805" cy="3448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1152822" y="2208848"/>
              <a:ext cx="344805" cy="3448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2068" y="36147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67473" y="36147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13368" y="2906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48773" y="3850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48773" y="2197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28996" y="30241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50928" y="45005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08266" y="25517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75968" y="39690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70558" y="3201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38261" y="23155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579245" y="36014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610801" y="36304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969895" y="32470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001451" y="32761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637598" y="37195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669153" y="3748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360545" y="25384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392101" y="25674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360545" y="33651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392101" y="33942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917882" y="34242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49438" y="34532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29325" y="416242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60881" y="4191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808470" y="236124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40026" y="2390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917882" y="25974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49438" y="2626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698105" y="27746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729661" y="28036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918960" y="37490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50516" y="3778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142922" y="42214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174478" y="42505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580245" y="28603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611801" y="28894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922068" y="32470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953623" y="32761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9914572" y="35766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946128" y="36066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924222" y="27451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955778" y="27741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8" name="c1-text-2"/>
          <p:cNvGrpSpPr/>
          <p:nvPr/>
        </p:nvGrpSpPr>
        <p:grpSpPr>
          <a:xfrm>
            <a:off x="526923" y="5131594"/>
            <a:ext cx="6845188" cy="545591"/>
            <a:chOff x="526923" y="5131594"/>
            <a:chExt cx="6845188" cy="545591"/>
          </a:xfrm>
        </p:grpSpPr>
        <p:sp>
          <p:nvSpPr>
            <p:cNvPr id="96" name="TextBox 96"/>
            <p:cNvSpPr txBox="1"/>
            <p:nvPr/>
          </p:nvSpPr>
          <p:spPr>
            <a:xfrm>
              <a:off x="526923" y="5131594"/>
              <a:ext cx="6362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事件含义　1 工程开始　2 墙1刮完　3 墙2刮完　4 墙1刷完　5 墙3刮完　6 墙2刷完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6923" y="5427821"/>
              <a:ext cx="6845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墙1清理完　8 墙3刷完且墙4刮完　9 墙2清理完　10 墙4刷完且墙3清理完　11 工程结束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9" name="Rectangle 9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橙色加粗的一串箭头就是关键路径，长度 2+4+0+6+3+6+2 = 23 小时，等于总工期。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2061" cy="909257"/>
            <a:chOff x="520446" y="342900"/>
            <a:chExt cx="82620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20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最早时刻 EET 从左往右推，最迟时刻 LET 从右往左推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375404" cy="264033"/>
            <a:chOff x="526542" y="1545907"/>
            <a:chExt cx="43754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两遍扫描，方向相反，一遍取最大值，一遍取最小值。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28812"/>
            <a:ext cx="5410200" cy="1545908"/>
            <a:chOff x="533400" y="1928812"/>
            <a:chExt cx="5410200" cy="154590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679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事件的最早时刻 EET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第一个事件定义为 0，其余从左至右算：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76415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8025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77653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该事件的所有作业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306419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31035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3076575"/>
              <a:ext cx="3534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算“起始事件的 EET + 持续时间”，取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最大值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644265"/>
            <a:ext cx="5410200" cy="1983105"/>
            <a:chOff x="533400" y="3644265"/>
            <a:chExt cx="5410200" cy="1983105"/>
          </a:xfrm>
        </p:grpSpPr>
        <p:sp>
          <p:nvSpPr>
            <p:cNvPr id="22" name="Rectangle 22"/>
            <p:cNvSpPr/>
            <p:nvPr/>
          </p:nvSpPr>
          <p:spPr>
            <a:xfrm>
              <a:off x="533400" y="3644265"/>
              <a:ext cx="5410200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777615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38309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0862" y="3863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3784" y="3866198"/>
              <a:ext cx="1679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事件的最迟时刻 LET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332" y="4191952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不影响竣工的前提下最晚可发生的时间。最后一个事件的 LET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等于它的 EET，其余从右至左算：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473678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47761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474916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离开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该事件的所有作业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190" y="503777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868" y="50761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987" y="5049202"/>
              <a:ext cx="3534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算“结束事件的 LET − 持续时间”，取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最小值</a:t>
              </a:r>
            </a:p>
          </p:txBody>
        </p:sp>
      </p:grpSp>
      <p:grpSp>
        <p:nvGrpSpPr>
          <p:cNvPr id="100" name="c2-table-1"/>
          <p:cNvGrpSpPr/>
          <p:nvPr/>
        </p:nvGrpSpPr>
        <p:grpSpPr>
          <a:xfrm>
            <a:off x="6243447" y="1928812"/>
            <a:ext cx="5415153" cy="2063782"/>
            <a:chOff x="6243447" y="1928812"/>
            <a:chExt cx="5415153" cy="2063782"/>
          </a:xfrm>
        </p:grpSpPr>
        <p:sp>
          <p:nvSpPr>
            <p:cNvPr id="35" name="Rectangle 35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671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6497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740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3079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3229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566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2905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6148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9487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27309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16208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49595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45555" y="24503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7045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948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3286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6530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9773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8966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22097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55484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87919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20354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5374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5555" y="285035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67045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9948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32867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6530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56274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89662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22097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55484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87919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20354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53742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5555" y="3250406"/>
              <a:ext cx="295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33120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65555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98943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1378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763813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197200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29635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63023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495458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927893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361280" y="3350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1928812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893242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325678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7758112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8191500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8623935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9057322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489758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922192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355580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788015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11221402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243447" y="3801904"/>
              <a:ext cx="2534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刷漆工程 11 个事件的 EET 与 LET（小时）</a:t>
              </a:r>
            </a:p>
          </p:txBody>
        </p:sp>
      </p:grpSp>
      <p:grpSp>
        <p:nvGrpSpPr>
          <p:cNvPr id="108" name="c2-card-2"/>
          <p:cNvGrpSpPr/>
          <p:nvPr/>
        </p:nvGrpSpPr>
        <p:grpSpPr>
          <a:xfrm>
            <a:off x="6248400" y="4124325"/>
            <a:ext cx="5410200" cy="1503045"/>
            <a:chOff x="6248400" y="4124325"/>
            <a:chExt cx="5410200" cy="1503045"/>
          </a:xfrm>
        </p:grpSpPr>
        <p:sp>
          <p:nvSpPr>
            <p:cNvPr id="101" name="Rectangle 101"/>
            <p:cNvSpPr/>
            <p:nvPr/>
          </p:nvSpPr>
          <p:spPr>
            <a:xfrm>
              <a:off x="6248400" y="4124325"/>
              <a:ext cx="541020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257925" y="4257675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473190" y="43110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57759" y="43438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手算两步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288339" y="4346258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8 与事件 5 怎么来的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466332" y="4672012"/>
              <a:ext cx="5137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EET(8)：刮墙 4 走 8+4 = 12，刷墙 3 走 12+3 = 15，取大的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466332" y="4972050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LET(5)：离开事件 5 的两条作业，15−4 = 11 与 12−0 = 12，取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小的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11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9" name="Rectangle 10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1040892" y="6028373"/>
              <a:ext cx="7558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算完先自检：第一个事件 EET=LET=0，最后一个事件 EET=LET=总工期，否则某一遍算错了。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关键路径上每项作业的机动时间都是零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559528" cy="278702"/>
            <a:chOff x="526161" y="1547336"/>
            <a:chExt cx="855952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5595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机动时间 = 结束事件的 LET − 开始事件的 EET − 持续时间，它衡量一项作业能拖多久而不影响竣工。</a:t>
              </a:r>
            </a:p>
          </p:txBody>
        </p:sp>
      </p:grpSp>
      <p:grpSp>
        <p:nvGrpSpPr>
          <p:cNvPr id="11" name="c1-text-1"/>
          <p:cNvGrpSpPr/>
          <p:nvPr/>
        </p:nvGrpSpPr>
        <p:grpSpPr>
          <a:xfrm>
            <a:off x="527685" y="1959769"/>
            <a:ext cx="4579894" cy="483870"/>
            <a:chOff x="527685" y="1959769"/>
            <a:chExt cx="4579894" cy="483870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1959769"/>
              <a:ext cx="3222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三种等价说法：机动时间 = 可用时间 − 持续时间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685" y="2223611"/>
              <a:ext cx="4579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作业最晚开始时间 − 最早开始时间 = 最晚结束时间 − 最早结束时间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28066" y="2574608"/>
            <a:ext cx="5415534" cy="2714243"/>
            <a:chOff x="528066" y="2574608"/>
            <a:chExt cx="5415534" cy="2714243"/>
          </a:xfrm>
        </p:grpSpPr>
        <p:sp>
          <p:nvSpPr>
            <p:cNvPr id="12" name="Rectangle 12"/>
            <p:cNvSpPr/>
            <p:nvPr/>
          </p:nvSpPr>
          <p:spPr>
            <a:xfrm>
              <a:off x="533400" y="2574608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9856" y="26989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57208" y="26989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37381" y="26989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持续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65128" y="26989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310467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刮墙 1 旧漆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83594" y="310467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46692" y="31046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09160" y="2989898"/>
              <a:ext cx="122491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4440" y="31046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813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38613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51043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刮墙 2 旧漆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3594" y="35104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2→3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46692" y="3510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709160" y="3395662"/>
              <a:ext cx="122491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4440" y="3510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871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91620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刮墙 3 旧漆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83594" y="391620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3→5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46692" y="391620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74440" y="391620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1929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19766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3219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刮墙 4 旧漆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83594" y="432196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5→8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46692" y="4321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74440" y="4321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5986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47277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四条虚作业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84265" y="4727734"/>
              <a:ext cx="1458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3→4、5→6、6→7、8→9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46692" y="472773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89965" y="4727734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4 / 6 / 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2574608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935480" y="257460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883342" y="257460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694872" y="257460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8066" y="508349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刮漆作业与四条虚作业</a:t>
              </a:r>
            </a:p>
          </p:txBody>
        </p:sp>
      </p:grpSp>
      <p:grpSp>
        <p:nvGrpSpPr>
          <p:cNvPr id="107" name="c2-table-1"/>
          <p:cNvGrpSpPr/>
          <p:nvPr/>
        </p:nvGrpSpPr>
        <p:grpSpPr>
          <a:xfrm>
            <a:off x="6248400" y="1941195"/>
            <a:ext cx="5410200" cy="3651885"/>
            <a:chOff x="6248400" y="1941195"/>
            <a:chExt cx="5410200" cy="3651885"/>
          </a:xfrm>
        </p:grpSpPr>
        <p:sp>
          <p:nvSpPr>
            <p:cNvPr id="51" name="Rectangle 51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88430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刷漆与清理作业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8079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起止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0854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持续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9916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48412" y="247126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刷墙 1 新漆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07179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2→4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17852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0847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8412" y="287702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刷墙 2 新漆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07179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4→6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1785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261282" y="2762250"/>
              <a:ext cx="13877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908477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8412" y="328279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刷墙 3 新漆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07179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6→8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17852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261282" y="3168015"/>
              <a:ext cx="13877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08477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8412" y="368855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刷墙 4 新漆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65716" y="3688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8→10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17852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261282" y="3573780"/>
              <a:ext cx="13877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908477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48412" y="4094321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清理墙 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07179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4→7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717852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867014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248400" y="4375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48412" y="4500086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清理墙 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07179" y="45000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7→9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17852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908477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4776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348412" y="4905851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清理墙 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565716" y="49058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9→10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717852" y="4905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908477" y="4905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51825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248400" y="518731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348412" y="5311616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清理墙 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524253" y="531161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10→11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717852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261282" y="5196840"/>
              <a:ext cx="13877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908477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1941195"/>
              <a:ext cx="5410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191500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273540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10246995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8" name="Rectangle 10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040892" y="6023610"/>
              <a:ext cx="97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关键路径 1→2→3→4→6→8→10→11，由 EET 与 LET 相同的事件串成，是持续时间最长而不是活动最多的路径，可能有多条。</a:t>
              </a:r>
            </a:p>
          </p:txBody>
        </p:sp>
      </p:grpSp>
      <p:grpSp>
        <p:nvGrpSpPr>
          <p:cNvPr id="11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4" name="TextBox 11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软件项目进度计划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现实中的关键路径法没有教科书那么干净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486650" cy="293370"/>
            <a:chOff x="525780" y="1548765"/>
            <a:chExt cx="74866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课本里的持续时间是确定值，真实项目里它们只是估计值，关键路径会随进展漂移。</a:t>
              </a:r>
            </a:p>
          </p:txBody>
        </p:sp>
      </p:grpSp>
      <p:grpSp>
        <p:nvGrpSpPr>
          <p:cNvPr id="17" name="c1-bullets-1"/>
          <p:cNvGrpSpPr/>
          <p:nvPr/>
        </p:nvGrpSpPr>
        <p:grpSpPr>
          <a:xfrm>
            <a:off x="541020" y="1977866"/>
            <a:ext cx="5581269" cy="2344674"/>
            <a:chOff x="541020" y="1977866"/>
            <a:chExt cx="5581269" cy="2344674"/>
          </a:xfrm>
        </p:grpSpPr>
        <p:sp>
          <p:nvSpPr>
            <p:cNvPr id="9" name="Ellipse 9"/>
            <p:cNvSpPr/>
            <p:nvPr/>
          </p:nvSpPr>
          <p:spPr>
            <a:xfrm>
              <a:off x="541020" y="20383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611" y="197786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各活动所需时间通常仅仅是一个估计值，算出来的关键路径也带着误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020" y="26365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611" y="257603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现实中关键路径上每个活动的空闲时间不一定为零，但该路径的空闲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时间总和最小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020" y="323469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611" y="317420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关键路径可以压缩，做法是给关键作业加资源或把它再拆成可并行的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1020" y="383286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611" y="377237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对于几乎是单线条的项目，或者含有循环活动的项目，关键路径法作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用不大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6161" y="4470559"/>
            <a:ext cx="5849874" cy="694944"/>
            <a:chOff x="526161" y="4470559"/>
            <a:chExt cx="5849874" cy="694944"/>
          </a:xfrm>
        </p:grpSpPr>
        <p:sp>
          <p:nvSpPr>
            <p:cNvPr id="18" name="TextBox 18"/>
            <p:cNvSpPr txBox="1"/>
            <p:nvPr/>
          </p:nvSpPr>
          <p:spPr>
            <a:xfrm>
              <a:off x="526161" y="447055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压缩的代价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2976" y="44705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加人加钱，或者接受更高的返工风险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7739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88680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压缩的上限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12976" y="488680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压到某一步，另一条路径会变成新的关键路径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6680835" y="1954530"/>
            <a:ext cx="4977765" cy="2716149"/>
            <a:chOff x="6680835" y="1954530"/>
            <a:chExt cx="4977765" cy="271614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17624" r="0" b="17623"/>
            <a:stretch>
              <a:fillRect/>
            </a:stretch>
          </p:blipFill>
          <p:spPr>
            <a:xfrm>
              <a:off x="6680835" y="1954530"/>
              <a:ext cx="4977765" cy="2417445"/>
            </a:xfrm>
            <a:prstGeom prst="roundRect">
              <a:avLst>
                <a:gd name="adj" fmla="val 5516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185470" y="446532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绷紧的那根链条决定两根柱子的距离，松着的几根各有各的余量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6680835" y="4829175"/>
            <a:ext cx="4977765" cy="756285"/>
            <a:chOff x="6680835" y="4829175"/>
            <a:chExt cx="4977765" cy="756285"/>
          </a:xfrm>
        </p:grpSpPr>
        <p:sp>
          <p:nvSpPr>
            <p:cNvPr id="27" name="Rectangle 27"/>
            <p:cNvSpPr/>
            <p:nvPr/>
          </p:nvSpPr>
          <p:spPr>
            <a:xfrm>
              <a:off x="6680835" y="482917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885623" y="5107305"/>
              <a:ext cx="200026" cy="200026"/>
              <a:chOff x="6885623" y="510730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885623" y="51073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85635" y="51739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74523" y="52073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187946" y="4976336"/>
              <a:ext cx="390080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机动时间是整条链路共享的，用掉清理墙 1 的 11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小时，后面清理墙 2 的机动就跟着缩水。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4" name="Rectangle 3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11704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关键路径变了要重新公布，否则团队还在按旧的优先级干活。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软件项目中的人员与组织结构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组织方式决定沟通成本，沟通成本决定生产率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民主制程序员组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主程序员组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现代程序员组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集中式与分散式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软件项目中的人员与组织结构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民主制程序员组：人人平等，通信信道按平方增长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项目组组织得越好生产率越高、产品质量也越好，组织方式的核心差别就在通信结构。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54530"/>
            <a:ext cx="5626418" cy="1564958"/>
            <a:chOff x="533400" y="1954530"/>
            <a:chExt cx="5626418" cy="15649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民主制程序员组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小组成员完全平等，享有充分民主，通过协商做出技术决策，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因此成员之间的通信是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平行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的，通常采用非正式的组织方式，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规模以 2 到 8 名成员为宜。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9"/>
              <p:cNvSpPr txBox="1">
                <a:spLocks noGrp="1"/>
              </p:cNvSpPr>
              <p:nvPr/>
            </p:nvSpPr>
            <p:spPr>
              <a:xfrm>
                <a:off x="533400" y="3704272"/>
                <a:ext cx="5626418" cy="642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6" name="c1-table-3"/>
          <p:cNvGrpSpPr/>
          <p:nvPr/>
        </p:nvGrpSpPr>
        <p:grpSpPr>
          <a:xfrm>
            <a:off x="527685" y="4532948"/>
            <a:ext cx="5632133" cy="1155859"/>
            <a:chOff x="527685" y="4532948"/>
            <a:chExt cx="5632133" cy="1155859"/>
          </a:xfrm>
        </p:grpSpPr>
        <p:sp>
          <p:nvSpPr>
            <p:cNvPr id="17" name="Rectangle 17"/>
            <p:cNvSpPr/>
            <p:nvPr/>
          </p:nvSpPr>
          <p:spPr>
            <a:xfrm>
              <a:off x="533400" y="4532948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0616" y="4664392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成员数 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2823" y="46643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75331" y="46643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7838" y="46643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54652" y="46643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8746" y="509397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信道数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65044" y="50939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77552" y="50939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44328" y="4973002"/>
              <a:ext cx="99345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45635" y="509397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56835" y="4973002"/>
              <a:ext cx="99345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59095" y="509397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32948"/>
              <a:ext cx="5626418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104072" y="453294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16580" y="453294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30040" y="453294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42548" y="453294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46877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小组规模与可能的通信信道数</a:t>
              </a:r>
            </a:p>
          </p:txBody>
        </p:sp>
      </p:grpSp>
      <p:grpSp>
        <p:nvGrpSpPr>
          <p:cNvPr id="57" name="c2-compare-1"/>
          <p:cNvGrpSpPr/>
          <p:nvPr/>
        </p:nvGrpSpPr>
        <p:grpSpPr>
          <a:xfrm>
            <a:off x="6464618" y="1954530"/>
            <a:ext cx="5193982" cy="2446972"/>
            <a:chOff x="6464618" y="1954530"/>
            <a:chExt cx="5193982" cy="2446972"/>
          </a:xfrm>
        </p:grpSpPr>
        <p:sp>
          <p:nvSpPr>
            <p:cNvPr id="37" name="Rectangle 37"/>
            <p:cNvSpPr/>
            <p:nvPr/>
          </p:nvSpPr>
          <p:spPr>
            <a:xfrm>
              <a:off x="6464618" y="1954530"/>
              <a:ext cx="2348865" cy="2446972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208788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99314" y="21817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主要优点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4172" y="25803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0764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组员对发现程序错误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持积极态度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4172" y="31718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0764" y="311229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享有充分民主，小组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有高度凝聚力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4172" y="37633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0764" y="370379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组内学术空气浓厚，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有利于攻克技术难关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09735" y="1954530"/>
              <a:ext cx="2348865" cy="2446972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319260" y="208788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44431" y="21817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主要限制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559290" y="25803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715881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通信信道随人数平方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559290" y="31718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15881" y="311229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缺乏明确的技术决策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者，争议容易拖延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559290" y="37633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15881" y="370379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依赖成员水平接近，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新手多时效率下降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62060" y="297751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5400" y="31127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464618" y="4586288"/>
            <a:ext cx="5193982" cy="1058228"/>
            <a:chOff x="6464618" y="4586288"/>
            <a:chExt cx="5193982" cy="1058228"/>
          </a:xfrm>
        </p:grpSpPr>
        <p:sp>
          <p:nvSpPr>
            <p:cNvPr id="58" name="Rectangle 58"/>
            <p:cNvSpPr/>
            <p:nvPr/>
          </p:nvSpPr>
          <p:spPr>
            <a:xfrm>
              <a:off x="6464618" y="4586288"/>
              <a:ext cx="5193982" cy="1058228"/>
            </a:xfrm>
            <a:prstGeom prst="roundRect">
              <a:avLst>
                <a:gd name="adj" fmla="val 108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015865"/>
              <a:ext cx="200026" cy="200025"/>
              <a:chOff x="6669405" y="5015865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0158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0603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1714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729" y="4884896"/>
              <a:ext cx="419836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 个人就有 28 条信道，12 个人有 66 条，这就是“民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主制小组必须小”的量化理由。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5" name="Rectangle 6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6004084"/>
              <a:ext cx="55963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组织方式的选择，本质上是在“决策质量”和“沟通开销”之间取舍。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软件项目中的人员与组织结构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主程序员组：把通信集中到一两个人身上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采用这种组织方式出于三点考虑，每一点都指向同一个结论：减少多渠道通信。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542" y="1964055"/>
            <a:ext cx="4759071" cy="1463230"/>
            <a:chOff x="526542" y="1964055"/>
            <a:chExt cx="4759071" cy="1463230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三点考虑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7171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3100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2840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软件开发人员多数比较缺乏经验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8222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6215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59461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程序设计过程中有许多事务性工作，例如大量信息的存储和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5087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1892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316325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多渠道通信很费时间，将降低程序员的生产率</a:t>
              </a:r>
            </a:p>
          </p:txBody>
        </p:sp>
      </p:grpSp>
      <p:grpSp>
        <p:nvGrpSpPr>
          <p:cNvPr id="38" name="c1-flow-2"/>
          <p:cNvGrpSpPr/>
          <p:nvPr/>
        </p:nvGrpSpPr>
        <p:grpSpPr>
          <a:xfrm>
            <a:off x="666750" y="3848100"/>
            <a:ext cx="4710113" cy="1485900"/>
            <a:chOff x="666750" y="3848100"/>
            <a:chExt cx="4710113" cy="1485900"/>
          </a:xfrm>
        </p:grpSpPr>
        <p:sp>
          <p:nvSpPr>
            <p:cNvPr id="20" name="Freeform 20"/>
            <p:cNvSpPr/>
            <p:nvPr/>
          </p:nvSpPr>
          <p:spPr>
            <a:xfrm>
              <a:off x="1155382" y="4247198"/>
              <a:ext cx="1866900" cy="403860"/>
            </a:xfrm>
            <a:custGeom>
              <a:avLst/>
              <a:gdLst/>
              <a:ahLst/>
              <a:cxnLst/>
              <a:rect l="l" t="t" r="r" b="b"/>
              <a:pathLst>
                <a:path w="1866900" h="403860">
                  <a:moveTo>
                    <a:pt x="1866900" y="0"/>
                  </a:moveTo>
                  <a:lnTo>
                    <a:pt x="1866900" y="254318"/>
                  </a:lnTo>
                  <a:lnTo>
                    <a:pt x="0" y="254318"/>
                  </a:lnTo>
                  <a:lnTo>
                    <a:pt x="0" y="403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02995" y="46510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400300" y="4247198"/>
              <a:ext cx="621983" cy="493395"/>
            </a:xfrm>
            <a:custGeom>
              <a:avLst/>
              <a:gdLst/>
              <a:ahLst/>
              <a:cxnLst/>
              <a:rect l="l" t="t" r="r" b="b"/>
              <a:pathLst>
                <a:path w="621983" h="493395">
                  <a:moveTo>
                    <a:pt x="621983" y="0"/>
                  </a:moveTo>
                  <a:lnTo>
                    <a:pt x="621983" y="299085"/>
                  </a:lnTo>
                  <a:lnTo>
                    <a:pt x="0" y="299085"/>
                  </a:lnTo>
                  <a:lnTo>
                    <a:pt x="0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347912" y="47405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022282" y="4247198"/>
              <a:ext cx="621983" cy="493395"/>
            </a:xfrm>
            <a:custGeom>
              <a:avLst/>
              <a:gdLst/>
              <a:ahLst/>
              <a:cxnLst/>
              <a:rect l="l" t="t" r="r" b="b"/>
              <a:pathLst>
                <a:path w="621983" h="493395">
                  <a:moveTo>
                    <a:pt x="0" y="0"/>
                  </a:moveTo>
                  <a:lnTo>
                    <a:pt x="0" y="299085"/>
                  </a:lnTo>
                  <a:lnTo>
                    <a:pt x="621983" y="299085"/>
                  </a:lnTo>
                  <a:lnTo>
                    <a:pt x="621983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591878" y="47405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022282" y="4247198"/>
              <a:ext cx="1865948" cy="493395"/>
            </a:xfrm>
            <a:custGeom>
              <a:avLst/>
              <a:gdLst/>
              <a:ahLst/>
              <a:cxnLst/>
              <a:rect l="l" t="t" r="r" b="b"/>
              <a:pathLst>
                <a:path w="1865948" h="493395">
                  <a:moveTo>
                    <a:pt x="0" y="0"/>
                  </a:moveTo>
                  <a:lnTo>
                    <a:pt x="0" y="299085"/>
                  </a:lnTo>
                  <a:lnTo>
                    <a:pt x="1865948" y="299085"/>
                  </a:lnTo>
                  <a:lnTo>
                    <a:pt x="1865948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835842" y="47405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51672" y="3848100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" y="4755832"/>
              <a:ext cx="97726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99598" y="4845368"/>
              <a:ext cx="97726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10715" y="4845368"/>
              <a:ext cx="97726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55632" y="4845368"/>
              <a:ext cx="97726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15019" y="39685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188" y="4869656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后备程序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0966" y="49658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编程秘书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68423" y="49658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12388" y="49658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5815965" y="1941195"/>
            <a:ext cx="5842635" cy="1483995"/>
            <a:chOff x="5815965" y="1941195"/>
            <a:chExt cx="5842635" cy="1483995"/>
          </a:xfrm>
        </p:grpSpPr>
        <p:sp>
          <p:nvSpPr>
            <p:cNvPr id="39" name="Rectangle 39"/>
            <p:cNvSpPr/>
            <p:nvPr/>
          </p:nvSpPr>
          <p:spPr>
            <a:xfrm>
              <a:off x="5815965" y="1941195"/>
              <a:ext cx="5842635" cy="1483995"/>
            </a:xfrm>
            <a:prstGeom prst="roundRect">
              <a:avLst>
                <a:gd name="adj" fmla="val 898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08370" y="213360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83808" y="21678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两个重要特性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25462" y="217360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专业化与层次性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01512" y="2507932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用经验多、技术好、能力强的程序员作为主程序员，同时利用人和计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算机在事务性工作上给主程序员充分支持，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所有通信都通过一两个人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进行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5809107" y="3623310"/>
            <a:ext cx="5849493" cy="1820418"/>
            <a:chOff x="5809107" y="3623310"/>
            <a:chExt cx="5849493" cy="1820418"/>
          </a:xfrm>
        </p:grpSpPr>
        <p:sp>
          <p:nvSpPr>
            <p:cNvPr id="45" name="TextBox 45"/>
            <p:cNvSpPr txBox="1"/>
            <p:nvPr/>
          </p:nvSpPr>
          <p:spPr>
            <a:xfrm>
              <a:off x="5809107" y="36233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主程序员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49249" y="3623310"/>
              <a:ext cx="429996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既是成功的管理员又是高度熟练的程序员，负责体系结构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和关键复杂部分的设计，协调并复查其他成员的工作，对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每行代码负责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44196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9107" y="452818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后备程序员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49249" y="452818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主程序员的替补，要和主程序员一样能干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816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09107" y="49263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编程秘书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49249" y="4926330"/>
              <a:ext cx="42999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负责与项目有关的全部事务性工作，维护项目资料库和文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档，甚至负责源码的编译、链接和运行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6601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主程序员组把通信信道从 n(n−1)/2 压到大约 n−1 条，代价是主程序员成为单点。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软件项目中的人员与组织结构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主程序员难找，于是有了现代程序员组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21246" cy="293370"/>
            <a:chOff x="525780" y="1548765"/>
            <a:chExt cx="692124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21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把“技术权威”和“行政管理”拆成两个人，是对主程序员组最实用的一次修正。</a:t>
              </a:r>
            </a:p>
          </p:txBody>
        </p:sp>
      </p:grpSp>
      <p:grpSp>
        <p:nvGrpSpPr>
          <p:cNvPr id="16" name="c1-bullets-1"/>
          <p:cNvGrpSpPr/>
          <p:nvPr/>
        </p:nvGrpSpPr>
        <p:grpSpPr>
          <a:xfrm>
            <a:off x="526161" y="1977866"/>
            <a:ext cx="5035423" cy="1547432"/>
            <a:chOff x="526161" y="1977866"/>
            <a:chExt cx="5035423" cy="1547432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主程序员小组存在的问题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5077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096" y="231695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主程序员很难找到：要同时是成功的管理员和高度熟练的程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序员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95179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8096" y="291703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后备程序员更难找到：能力素质都高，却要甘居全场替补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28136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8096" y="324659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编程秘书也不容易找到，事务性工作繁杂又要懂技术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654742"/>
            <a:ext cx="5193982" cy="1607820"/>
            <a:chOff x="533400" y="3654742"/>
            <a:chExt cx="5193982" cy="1607820"/>
          </a:xfrm>
        </p:grpSpPr>
        <p:sp>
          <p:nvSpPr>
            <p:cNvPr id="17" name="Rectangle 17"/>
            <p:cNvSpPr/>
            <p:nvPr/>
          </p:nvSpPr>
          <p:spPr>
            <a:xfrm>
              <a:off x="533400" y="3654742"/>
              <a:ext cx="5193982" cy="1607820"/>
            </a:xfrm>
            <a:prstGeom prst="roundRect">
              <a:avLst>
                <a:gd name="adj" fmla="val 710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4354948"/>
              <a:ext cx="224134" cy="192560"/>
              <a:chOff x="726129" y="4354948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44253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43549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503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4227671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一个角色同时背技术决策和绩效考核，组员在技术争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论时会不敢说话。</a:t>
              </a:r>
            </a:p>
          </p:txBody>
        </p:sp>
      </p:grpSp>
      <p:grpSp>
        <p:nvGrpSpPr>
          <p:cNvPr id="46" name="c2-flow-1"/>
          <p:cNvGrpSpPr/>
          <p:nvPr/>
        </p:nvGrpSpPr>
        <p:grpSpPr>
          <a:xfrm>
            <a:off x="6165532" y="2249805"/>
            <a:ext cx="5359718" cy="1441132"/>
            <a:chOff x="6165532" y="2249805"/>
            <a:chExt cx="5359718" cy="1441132"/>
          </a:xfrm>
        </p:grpSpPr>
        <p:sp>
          <p:nvSpPr>
            <p:cNvPr id="24" name="Freeform 24"/>
            <p:cNvSpPr/>
            <p:nvPr/>
          </p:nvSpPr>
          <p:spPr>
            <a:xfrm>
              <a:off x="6969442" y="2675572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917055" y="3161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969442" y="2675572"/>
              <a:ext cx="1875472" cy="485775"/>
            </a:xfrm>
            <a:custGeom>
              <a:avLst/>
              <a:gdLst/>
              <a:ahLst/>
              <a:cxnLst/>
              <a:rect l="l" t="t" r="r" b="b"/>
              <a:pathLst>
                <a:path w="1875472" h="485775">
                  <a:moveTo>
                    <a:pt x="0" y="0"/>
                  </a:moveTo>
                  <a:lnTo>
                    <a:pt x="0" y="295275"/>
                  </a:lnTo>
                  <a:lnTo>
                    <a:pt x="1875472" y="295275"/>
                  </a:lnTo>
                  <a:lnTo>
                    <a:pt x="1875472" y="485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792528" y="3161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844915" y="2675572"/>
              <a:ext cx="1875472" cy="485775"/>
            </a:xfrm>
            <a:custGeom>
              <a:avLst/>
              <a:gdLst/>
              <a:ahLst/>
              <a:cxnLst/>
              <a:rect l="l" t="t" r="r" b="b"/>
              <a:pathLst>
                <a:path w="1875472" h="485775">
                  <a:moveTo>
                    <a:pt x="1875472" y="0"/>
                  </a:moveTo>
                  <a:lnTo>
                    <a:pt x="1875472" y="295275"/>
                  </a:lnTo>
                  <a:lnTo>
                    <a:pt x="0" y="295275"/>
                  </a:lnTo>
                  <a:lnTo>
                    <a:pt x="0" y="485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792528" y="3161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0720388" y="2675572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668000" y="3161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65532" y="224980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916478" y="224980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65532" y="3266122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41005" y="3266122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916478" y="3266122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0259" y="23783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技术组长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91203" y="23783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行政组长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21030" y="3395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96503" y="3395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71975" y="3395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998018" y="287845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21259" y="29051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技术管理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748962" y="287845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772204" y="29051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非技术管理</a:t>
              </a:r>
            </a:p>
          </p:txBody>
        </p:sp>
      </p:grpSp>
      <p:grpSp>
        <p:nvGrpSpPr>
          <p:cNvPr id="55" name="c2-kv-2"/>
          <p:cNvGrpSpPr/>
          <p:nvPr/>
        </p:nvGrpSpPr>
        <p:grpSpPr>
          <a:xfrm>
            <a:off x="6024944" y="4196239"/>
            <a:ext cx="5633656" cy="1121664"/>
            <a:chOff x="6024944" y="4196239"/>
            <a:chExt cx="5633656" cy="1121664"/>
          </a:xfrm>
        </p:grpSpPr>
        <p:sp>
          <p:nvSpPr>
            <p:cNvPr id="47" name="TextBox 47"/>
            <p:cNvSpPr txBox="1"/>
            <p:nvPr/>
          </p:nvSpPr>
          <p:spPr>
            <a:xfrm>
              <a:off x="6024944" y="41962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技术组长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24116" y="419623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负责体系结构、技术方案和代码复查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45015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24944" y="46172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行政组长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24116" y="461724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负责进度、考核、请假和资源协调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49234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24944" y="50392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24116" y="503920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两条线互不越界，程序员在技术上只对技术组长负责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04084"/>
              <a:ext cx="6150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现代程序员组保留了主程序员组的层次性，放弃了“一个人全能”的假设。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软件项目中的人员与组织结构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大型项目：集中决策还是分散决策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项目领导人之下设小组领导人，区别在于技术决策由上层统一做，还是下放到各小组。</a:t>
              </a:r>
            </a:p>
          </p:txBody>
        </p:sp>
      </p:grpSp>
      <p:grpSp>
        <p:nvGrpSpPr>
          <p:cNvPr id="35" name="c1-flow-1"/>
          <p:cNvGrpSpPr/>
          <p:nvPr/>
        </p:nvGrpSpPr>
        <p:grpSpPr>
          <a:xfrm>
            <a:off x="666750" y="2121218"/>
            <a:ext cx="4711065" cy="1904047"/>
            <a:chOff x="666750" y="2121218"/>
            <a:chExt cx="4711065" cy="1904047"/>
          </a:xfrm>
        </p:grpSpPr>
        <p:sp>
          <p:nvSpPr>
            <p:cNvPr id="9" name="Freeform 9"/>
            <p:cNvSpPr/>
            <p:nvPr/>
          </p:nvSpPr>
          <p:spPr>
            <a:xfrm>
              <a:off x="1363028" y="2533650"/>
              <a:ext cx="2488882" cy="229553"/>
            </a:xfrm>
            <a:custGeom>
              <a:avLst/>
              <a:gdLst/>
              <a:ahLst/>
              <a:cxnLst/>
              <a:rect l="l" t="t" r="r" b="b"/>
              <a:pathLst>
                <a:path w="2488882" h="229553">
                  <a:moveTo>
                    <a:pt x="2488882" y="0"/>
                  </a:moveTo>
                  <a:lnTo>
                    <a:pt x="2488882" y="166688"/>
                  </a:lnTo>
                  <a:lnTo>
                    <a:pt x="0" y="166688"/>
                  </a:lnTo>
                  <a:lnTo>
                    <a:pt x="0" y="2295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10640" y="27632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2533650"/>
              <a:ext cx="829627" cy="229553"/>
            </a:xfrm>
            <a:custGeom>
              <a:avLst/>
              <a:gdLst/>
              <a:ahLst/>
              <a:cxnLst/>
              <a:rect l="l" t="t" r="r" b="b"/>
              <a:pathLst>
                <a:path w="829627" h="229553">
                  <a:moveTo>
                    <a:pt x="829627" y="0"/>
                  </a:moveTo>
                  <a:lnTo>
                    <a:pt x="829627" y="166688"/>
                  </a:lnTo>
                  <a:lnTo>
                    <a:pt x="0" y="166688"/>
                  </a:lnTo>
                  <a:lnTo>
                    <a:pt x="0" y="2295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9895" y="27632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51910" y="2533650"/>
              <a:ext cx="829628" cy="229553"/>
            </a:xfrm>
            <a:custGeom>
              <a:avLst/>
              <a:gdLst/>
              <a:ahLst/>
              <a:cxnLst/>
              <a:rect l="l" t="t" r="r" b="b"/>
              <a:pathLst>
                <a:path w="829628" h="229553">
                  <a:moveTo>
                    <a:pt x="0" y="0"/>
                  </a:moveTo>
                  <a:lnTo>
                    <a:pt x="0" y="166688"/>
                  </a:lnTo>
                  <a:lnTo>
                    <a:pt x="829628" y="166688"/>
                  </a:lnTo>
                  <a:lnTo>
                    <a:pt x="829628" y="2295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29150" y="27632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63028" y="3279458"/>
              <a:ext cx="9525" cy="229552"/>
            </a:xfrm>
            <a:custGeom>
              <a:avLst/>
              <a:gdLst/>
              <a:ahLst/>
              <a:cxnLst/>
              <a:rect l="l" t="t" r="r" b="b"/>
              <a:pathLst>
                <a:path w="9525" h="229552">
                  <a:moveTo>
                    <a:pt x="0" y="0"/>
                  </a:move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10640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22282" y="3279458"/>
              <a:ext cx="9525" cy="229552"/>
            </a:xfrm>
            <a:custGeom>
              <a:avLst/>
              <a:gdLst/>
              <a:ahLst/>
              <a:cxnLst/>
              <a:rect l="l" t="t" r="r" b="b"/>
              <a:pathLst>
                <a:path w="9525" h="229552">
                  <a:moveTo>
                    <a:pt x="0" y="0"/>
                  </a:move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69895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681538" y="3279458"/>
              <a:ext cx="9525" cy="229552"/>
            </a:xfrm>
            <a:custGeom>
              <a:avLst/>
              <a:gdLst/>
              <a:ahLst/>
              <a:cxnLst/>
              <a:rect l="l" t="t" r="r" b="b"/>
              <a:pathLst>
                <a:path w="9525" h="229552">
                  <a:moveTo>
                    <a:pt x="0" y="0"/>
                  </a:move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29150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425065" y="2121218"/>
              <a:ext cx="2853690" cy="411480"/>
            </a:xfrm>
            <a:prstGeom prst="roundRect">
              <a:avLst>
                <a:gd name="adj" fmla="val 23148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2867978"/>
              <a:ext cx="139255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326005" y="2867978"/>
              <a:ext cx="139255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85260" y="2867978"/>
              <a:ext cx="139255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3613785"/>
              <a:ext cx="139255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326005" y="3613785"/>
              <a:ext cx="139255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985260" y="3613785"/>
              <a:ext cx="139255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41954" y="22440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项目领导人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3071" y="29898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小组领导人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12326" y="29898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小组领导人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71582" y="29898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小组领导人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616" y="37357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73871" y="37357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33126" y="37357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</p:grpSp>
      <p:grpSp>
        <p:nvGrpSpPr>
          <p:cNvPr id="37" name="c1-text-2"/>
          <p:cNvGrpSpPr/>
          <p:nvPr/>
        </p:nvGrpSpPr>
        <p:grpSpPr>
          <a:xfrm>
            <a:off x="527304" y="4392930"/>
            <a:ext cx="4736592" cy="470916"/>
            <a:chOff x="527304" y="4392930"/>
            <a:chExt cx="4736592" cy="470916"/>
          </a:xfrm>
        </p:grpSpPr>
        <p:sp>
          <p:nvSpPr>
            <p:cNvPr id="36" name="TextBox 36"/>
            <p:cNvSpPr txBox="1"/>
            <p:nvPr/>
          </p:nvSpPr>
          <p:spPr>
            <a:xfrm>
              <a:off x="527304" y="4392930"/>
              <a:ext cx="47365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同一张组织图，既可以是集中决策的，也可以包含分散决策，差别不在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层级而在谁拍板。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5810631" y="1954530"/>
            <a:ext cx="5847969" cy="2826639"/>
            <a:chOff x="5810631" y="1954530"/>
            <a:chExt cx="5847969" cy="2826639"/>
          </a:xfrm>
        </p:grpSpPr>
        <p:sp>
          <p:nvSpPr>
            <p:cNvPr id="38" name="Rectangle 38"/>
            <p:cNvSpPr/>
            <p:nvPr/>
          </p:nvSpPr>
          <p:spPr>
            <a:xfrm>
              <a:off x="5815965" y="1954530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68593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79295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集中式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99573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分散式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18454" y="25069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问题性质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20534" y="25069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简单、重复的问题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0812" y="25069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复杂、创新的问题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27984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280320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8454" y="293179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模块化程度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20534" y="29317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40812" y="29317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2232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8454" y="3356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项目规模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20534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大项目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40812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小项目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36471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15965" y="365188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18454" y="37804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项目周期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0534" y="378047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周期固定、较短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40812" y="378047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周期长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40719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18454" y="42052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决策速度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20534" y="42052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快，统一口径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40812" y="420528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慢，但方案更贴近实际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1954530"/>
              <a:ext cx="584263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13282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433560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10631" y="45758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两种决策方式各自适合什么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5815965" y="4919662"/>
            <a:ext cx="5842635" cy="756285"/>
            <a:chOff x="5815965" y="4919662"/>
            <a:chExt cx="5842635" cy="756285"/>
          </a:xfrm>
        </p:grpSpPr>
        <p:sp>
          <p:nvSpPr>
            <p:cNvPr id="68" name="Rectangle 68"/>
            <p:cNvSpPr/>
            <p:nvPr/>
          </p:nvSpPr>
          <p:spPr>
            <a:xfrm>
              <a:off x="5815965" y="491966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020753" y="5197793"/>
              <a:ext cx="200026" cy="200025"/>
              <a:chOff x="6020753" y="5197793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020753" y="51977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60491" y="52422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095207" y="53533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323076" y="506682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判断口诀：问题越新、模块耦合越紧，越要把决策权放到离代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码最近的人手上。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5" name="Rectangle 7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511" y="601170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组织结构不是一成不变的，项目从探索期进入交付期，通常要从分散逐步转向集中。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软件项目的成本与工作量估算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先估规模，再估工作量，最后折算成时间和钱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代码行与功能点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56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专家经验与 Delphi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静态与动态模型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86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COCOMO 与 COCOMO II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软件成本不只是开发人员的工资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与其他管理活动一样，软件成本估算随着项目的进行需要定期修正。</a:t>
              </a:r>
            </a:p>
          </p:txBody>
        </p:sp>
      </p:grpSp>
      <p:grpSp>
        <p:nvGrpSpPr>
          <p:cNvPr id="24" name="c1-card-1"/>
          <p:cNvGrpSpPr/>
          <p:nvPr/>
        </p:nvGrpSpPr>
        <p:grpSpPr>
          <a:xfrm>
            <a:off x="533400" y="1967865"/>
            <a:ext cx="5410200" cy="2390775"/>
            <a:chOff x="533400" y="1967865"/>
            <a:chExt cx="5410200" cy="239077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390775"/>
            </a:xfrm>
            <a:prstGeom prst="roundRect">
              <a:avLst>
                <a:gd name="adj" fmla="val 5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1240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直接成本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5922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软件成本包括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6365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5736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包括维护在内的硬件和软件费用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90893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工作成本，即支付给软件开发人员的费用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2442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应用的方法、过程所形成的一部分成本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6423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5794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使用的工具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39776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3914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差旅费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549140"/>
            <a:ext cx="5410200" cy="782955"/>
            <a:chOff x="533400" y="4549140"/>
            <a:chExt cx="5410200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54914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840607"/>
              <a:ext cx="200023" cy="200023"/>
              <a:chOff x="738188" y="4840607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8406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4907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69773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对多数项目来说，工作量是软件成本最大的一块，也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是最不确定的一块。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967865"/>
            <a:ext cx="5410200" cy="2390775"/>
            <a:chOff x="6248400" y="1967865"/>
            <a:chExt cx="5410200" cy="2390775"/>
          </a:xfrm>
        </p:grpSpPr>
        <p:sp>
          <p:nvSpPr>
            <p:cNvPr id="31" name="Rectangle 31"/>
            <p:cNvSpPr/>
            <p:nvPr/>
          </p:nvSpPr>
          <p:spPr>
            <a:xfrm>
              <a:off x="6248400" y="1967865"/>
              <a:ext cx="5410200" cy="2390775"/>
            </a:xfrm>
            <a:prstGeom prst="roundRect">
              <a:avLst>
                <a:gd name="adj" fmla="val 5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2101215"/>
              <a:ext cx="47625" cy="2124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21774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5557" y="22131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经常性管理费用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7642" y="221265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让开发机构运转起来还要花的钱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6365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5736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办公场所、水、电、供热等费用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29718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290893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会计、文秘、硬件技师等辅助人员的费用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01765" y="33070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9880" y="32442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网络和通信费用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01765" y="36423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9880" y="357949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资料室、娱乐设施等共用设施的费用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01765" y="39776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9880" y="39147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退休金、医疗保险等社会保障和员工福利费用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248400" y="4549140"/>
            <a:ext cx="5410200" cy="782955"/>
            <a:chOff x="6248400" y="4549140"/>
            <a:chExt cx="5410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6248400" y="454914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41129" y="4836913"/>
              <a:ext cx="224134" cy="192560"/>
              <a:chOff x="6441129" y="4836913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553200" y="49072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41129" y="48369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53200" y="49850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130" y="469773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报价时漏掉管理费用，项目做完账面盈利，公司整体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仍然亏本。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79107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后面所有模型算出来的都是“工作量（人月）”，乘上人月单价再加上这些费用才是成本。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估工作量之前先估规模：代码行还是功能点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60894" cy="278702"/>
            <a:chOff x="526161" y="1547336"/>
            <a:chExt cx="76608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软件工作量估算是预测构造一个软件系统所需总工作量的过程，它从软件规模的估算入手。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542" y="1964055"/>
            <a:ext cx="4299585" cy="1206055"/>
            <a:chOff x="526542" y="1964055"/>
            <a:chExt cx="4299585" cy="1206055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估算贯穿整个开发过程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7171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3100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2840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用初步估算确定项目的可行性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8222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6215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5946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用详细估算协助制定项目计划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9369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9320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906077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实际工作量与计划反复对比，必要时重新分配资源</a:t>
              </a:r>
            </a:p>
          </p:txBody>
        </p:sp>
      </p:grpSp>
      <p:grpSp>
        <p:nvGrpSpPr>
          <p:cNvPr id="40" name="c1-compare-2"/>
          <p:cNvGrpSpPr/>
          <p:nvPr/>
        </p:nvGrpSpPr>
        <p:grpSpPr>
          <a:xfrm>
            <a:off x="533400" y="3291840"/>
            <a:ext cx="4761547" cy="2314575"/>
            <a:chOff x="533400" y="3291840"/>
            <a:chExt cx="4761547" cy="2314575"/>
          </a:xfrm>
        </p:grpSpPr>
        <p:sp>
          <p:nvSpPr>
            <p:cNvPr id="20" name="Rectangle 20"/>
            <p:cNvSpPr/>
            <p:nvPr/>
          </p:nvSpPr>
          <p:spPr>
            <a:xfrm>
              <a:off x="533400" y="3291840"/>
              <a:ext cx="2142172" cy="2314575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425190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7047" y="35071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代码行技术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38823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382619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依据以往同类产品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的经验和历史数据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44424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438626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估计实现一个功能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所需的源程序行数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50025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4946333"/>
              <a:ext cx="1333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 KLOC（千行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52775" y="3291840"/>
              <a:ext cx="2142172" cy="2314575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62300" y="3425190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76422" y="35071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功能点技术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391852" y="38823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47872" y="382619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看交付的软件总功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能有多少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391852" y="44424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47872" y="438626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依赖对信息域特性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和复杂性的评估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391852" y="50025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47872" y="4946333"/>
              <a:ext cx="1333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常用指标是 FP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2722245" y="425767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76817" y="43886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选型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5593461" y="1941195"/>
            <a:ext cx="6065139" cy="2103692"/>
            <a:chOff x="5593461" y="1941195"/>
            <a:chExt cx="6065139" cy="2103692"/>
          </a:xfrm>
        </p:grpSpPr>
        <p:sp>
          <p:nvSpPr>
            <p:cNvPr id="41" name="Rectangle 41"/>
            <p:cNvSpPr/>
            <p:nvPr/>
          </p:nvSpPr>
          <p:spPr>
            <a:xfrm>
              <a:off x="5598795" y="1941195"/>
              <a:ext cx="6059805" cy="60579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67121" y="2165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1460" y="2065496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工作量（人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月）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11745" y="2065496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费用（千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83448" y="2065496"/>
              <a:ext cx="65435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规模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（KLOC）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42526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文档页数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36111" y="21655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错误数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38256" y="2165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98808" y="267128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aaa-01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4134" y="26712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71836" y="26712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39058" y="267128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19686" y="26712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79347" y="26712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47567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29479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98795" y="295275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8808" y="307705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ccc-04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4134" y="30770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71836" y="30770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39058" y="30770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27.2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78223" y="30770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1224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79347" y="30770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47567" y="3077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598795" y="33537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98808" y="348281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fff-03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4134" y="34828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71836" y="348281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39058" y="34828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78223" y="34828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79347" y="34828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47567" y="34828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598795" y="1941195"/>
              <a:ext cx="6059805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4271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472362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32104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290685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19937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92708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593461" y="38395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用代码行衡量规模时收集的历史数据</a:t>
              </a:r>
            </a:p>
          </p:txBody>
        </p:sp>
      </p:grpSp>
      <p:grpSp>
        <p:nvGrpSpPr>
          <p:cNvPr id="93" name="c2-kv-2"/>
          <p:cNvGrpSpPr/>
          <p:nvPr/>
        </p:nvGrpSpPr>
        <p:grpSpPr>
          <a:xfrm>
            <a:off x="5591937" y="4200525"/>
            <a:ext cx="6066663" cy="1457516"/>
            <a:chOff x="5591937" y="4200525"/>
            <a:chExt cx="6066663" cy="1457516"/>
          </a:xfrm>
        </p:grpSpPr>
        <p:sp>
          <p:nvSpPr>
            <p:cNvPr id="82" name="TextBox 82"/>
            <p:cNvSpPr txBox="1"/>
            <p:nvPr/>
          </p:nvSpPr>
          <p:spPr>
            <a:xfrm>
              <a:off x="5591937" y="42005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生产率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75844" y="4200525"/>
              <a:ext cx="1058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KLOC ÷ 人月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598795" y="44891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591937" y="45986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75844" y="4598670"/>
              <a:ext cx="771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 ÷ LOC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598795" y="4887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591937" y="49958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质量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375844" y="4995862"/>
              <a:ext cx="1240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错误数 ÷ KLOC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598795" y="52854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591937" y="53940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文档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375844" y="5394008"/>
              <a:ext cx="142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文档页数 ÷ KLOC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4" name="Rectangle 9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892" y="6023610"/>
              <a:ext cx="6310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KLOC 换成 FP，这四个指标的定义完全不变，只是分母换了一种规模度量。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代码行方法的四个问题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78682" cy="278702"/>
            <a:chOff x="526161" y="1547336"/>
            <a:chExt cx="597868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786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代码行好数、好统计，但它度量的是“写了多少”，不是“做成了什么”。</a:t>
              </a:r>
            </a:p>
          </p:txBody>
        </p:sp>
      </p:grpSp>
      <p:grpSp>
        <p:nvGrpSpPr>
          <p:cNvPr id="17" name="c1-bullets-1"/>
          <p:cNvGrpSpPr/>
          <p:nvPr/>
        </p:nvGrpSpPr>
        <p:grpSpPr>
          <a:xfrm>
            <a:off x="533400" y="1964055"/>
            <a:ext cx="6603873" cy="1969008"/>
            <a:chOff x="533400" y="1964055"/>
            <a:chExt cx="6603873" cy="1969008"/>
          </a:xfrm>
        </p:grpSpPr>
        <p:sp>
          <p:nvSpPr>
            <p:cNvPr id="9" name="Freeform 9"/>
            <p:cNvSpPr/>
            <p:nvPr/>
          </p:nvSpPr>
          <p:spPr>
            <a:xfrm>
              <a:off x="533400" y="199644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762" y="1964055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严重依赖开发语言。同一个项目用不同语言实现，单独比较代码行数值没有意义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30790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762" y="2274570"/>
              <a:ext cx="60144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不同开发组织可以制定不同的代码行计数标准，依据代码行在组织之间类比生产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率一般不可能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3400" y="287559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762" y="2843212"/>
              <a:ext cx="60144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主要度量编码阶段的工作量。源程序只是软件配置的一个成分，用它的规模代表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整个软件的规模不太合理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344424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762" y="3411855"/>
              <a:ext cx="60144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如果采用的编码方法和语言在表达和解决问题方面效率高，用这种方法算出的生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产率反而会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054792"/>
            <a:ext cx="6492240" cy="1529715"/>
            <a:chOff x="533400" y="4054792"/>
            <a:chExt cx="6492240" cy="1529715"/>
          </a:xfrm>
        </p:grpSpPr>
        <p:sp>
          <p:nvSpPr>
            <p:cNvPr id="18" name="Rectangle 18"/>
            <p:cNvSpPr/>
            <p:nvPr/>
          </p:nvSpPr>
          <p:spPr>
            <a:xfrm>
              <a:off x="533400" y="4054792"/>
              <a:ext cx="649224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88142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42471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7344" y="42814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教材补充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4297" y="428720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代码行技术也有站得住的地方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67772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621530"/>
              <a:ext cx="55172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代码是所有软件项目都有的“产品”；有同类产品的历史数据可参考时，估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出的数值比较准确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52368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5180648"/>
              <a:ext cx="5754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教材另列一条缺点：不适用于非过程语言，右边例子里的 SQL 就是一种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7330440" y="1941195"/>
            <a:ext cx="4328160" cy="2346008"/>
            <a:chOff x="7330440" y="1941195"/>
            <a:chExt cx="4328160" cy="2346008"/>
          </a:xfrm>
        </p:grpSpPr>
        <p:sp>
          <p:nvSpPr>
            <p:cNvPr id="28" name="Rectangle 28"/>
            <p:cNvSpPr/>
            <p:nvPr/>
          </p:nvSpPr>
          <p:spPr>
            <a:xfrm>
              <a:off x="7330440" y="1941195"/>
              <a:ext cx="4328160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39965" y="2074545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6094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5238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4637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第四条为什么反直觉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4087" y="2507932"/>
              <a:ext cx="37341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同一个报表功能，用 SQL 加报表工具写 200 行就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能做完，用 C 语言写要 2000 行，两个人都花了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个人月。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69517" y="338137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25537" y="3325177"/>
              <a:ext cx="34169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KLOC/人月 算，写 C 的人生产率是写 SQL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的人的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 倍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569517" y="39404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25537" y="3884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可实际交付的功能一模一样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7330440" y="4462462"/>
            <a:ext cx="4328160" cy="1121092"/>
            <a:chOff x="7330440" y="4462462"/>
            <a:chExt cx="4328160" cy="1121092"/>
          </a:xfrm>
        </p:grpSpPr>
        <p:sp>
          <p:nvSpPr>
            <p:cNvPr id="39" name="Rectangle 39"/>
            <p:cNvSpPr/>
            <p:nvPr/>
          </p:nvSpPr>
          <p:spPr>
            <a:xfrm>
              <a:off x="7330440" y="4462462"/>
              <a:ext cx="4328160" cy="1121092"/>
            </a:xfrm>
            <a:prstGeom prst="roundRect">
              <a:avLst>
                <a:gd name="adj" fmla="val 1019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35228" y="4923475"/>
              <a:ext cx="200023" cy="200023"/>
              <a:chOff x="7535228" y="4923475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535228" y="49234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68578" y="4990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837932" y="4805362"/>
              <a:ext cx="34427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用代码行做绩效考核，等于奖励啰嗦的实现方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代码行技术只在“同一组织、同一语言、有历史数据”这三个条件同时成立时才可靠。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功能点：从用户能看见的东西开始数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功能点用系统的功能数量来衡量规模，和用什么语言实现无关。</a:t>
              </a:r>
            </a:p>
          </p:txBody>
        </p:sp>
      </p:grpSp>
      <p:grpSp>
        <p:nvGrpSpPr>
          <p:cNvPr id="25" name="c1-bullets-1"/>
          <p:cNvGrpSpPr/>
          <p:nvPr/>
        </p:nvGrpSpPr>
        <p:grpSpPr>
          <a:xfrm>
            <a:off x="525780" y="1992630"/>
            <a:ext cx="2025396" cy="2026920"/>
            <a:chOff x="525780" y="1992630"/>
            <a:chExt cx="2025396" cy="202692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五类信息域特性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336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346960"/>
              <a:ext cx="1514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输入项数（Inp）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78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720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691765"/>
              <a:ext cx="16074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输出项数（Out）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0232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036570"/>
              <a:ext cx="1312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查询数（Inq）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3680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410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381375"/>
              <a:ext cx="16074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主文件数（Maf）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71284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755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726180"/>
              <a:ext cx="1716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外部接口数（Inf）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150995"/>
            <a:ext cx="5410200" cy="963930"/>
            <a:chOff x="533400" y="4150995"/>
            <a:chExt cx="5410200" cy="963930"/>
          </a:xfrm>
        </p:grpSpPr>
        <p:sp>
          <p:nvSpPr>
            <p:cNvPr id="26" name="Rectangle 26"/>
            <p:cNvSpPr/>
            <p:nvPr/>
          </p:nvSpPr>
          <p:spPr>
            <a:xfrm>
              <a:off x="533400" y="4150995"/>
              <a:ext cx="5410200" cy="963930"/>
            </a:xfrm>
            <a:prstGeom prst="roundRect">
              <a:avLst>
                <a:gd name="adj" fmla="val 1185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26129" y="4529256"/>
              <a:ext cx="224134" cy="192560"/>
              <a:chOff x="726129" y="4529256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8200" y="45996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6129" y="45292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6774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39007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查询单独计数，不计入输入项数；报表内的数据项也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不单独计数。</a:t>
              </a:r>
            </a:p>
          </p:txBody>
        </p:sp>
      </p:grpSp>
      <p:grpSp>
        <p:nvGrpSpPr>
          <p:cNvPr id="47" name="c2-kv-1"/>
          <p:cNvGrpSpPr/>
          <p:nvPr/>
        </p:nvGrpSpPr>
        <p:grpSpPr>
          <a:xfrm>
            <a:off x="6240780" y="1992630"/>
            <a:ext cx="5417820" cy="3181350"/>
            <a:chOff x="6240780" y="1992630"/>
            <a:chExt cx="5417820" cy="3181350"/>
          </a:xfrm>
        </p:grpSpPr>
        <p:sp>
          <p:nvSpPr>
            <p:cNvPr id="33" name="TextBox 33"/>
            <p:cNvSpPr txBox="1"/>
            <p:nvPr/>
          </p:nvSpPr>
          <p:spPr>
            <a:xfrm>
              <a:off x="624078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输入项数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31405" y="199263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用户向软件输入的项数，给软件提供面向应用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594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0780" y="2714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输出项数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31405" y="27146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软件向用户输出的项数，例如报表和出错信息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0346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0780" y="3154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查询数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31405" y="315468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一次联机输入导致软件以联机输出方式产生即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时响应，即一对“请求-响应”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7566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0780" y="3876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主文件数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31405" y="387667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逻辑主文件的数目，它可能是大型数据库的一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部分或一个独立文件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4786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0780" y="45986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外部接口数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31405" y="459867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机器可读的全部接口的数量，用来把信息传送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给另一个系统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708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数功能点的对象是“用户能感知的边界”，内部拆了几个模块、用了几张物理表都不算。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功能点的算法：加权求和，再乘技术复杂度因子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54585" cy="264033"/>
            <a:chOff x="526542" y="1545907"/>
            <a:chExt cx="60545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54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先按复杂度给五类参数加权得到 UFP，再用 14 个技术因子调整，得到 FP。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28447" y="1928812"/>
            <a:ext cx="5631371" cy="2552414"/>
            <a:chOff x="528447" y="1928812"/>
            <a:chExt cx="5631371" cy="25524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959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信息域参数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040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30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5020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用户输入数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287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778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5268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用户输出数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287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2778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268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89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用户查询数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0287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778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5268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571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0287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88910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13813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952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外部接口数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0287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2778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13813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28812"/>
              <a:ext cx="5626418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7939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90429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03015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447" y="42905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功能点的复杂度权重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16"/>
              <p:cNvSpPr txBox="1">
                <a:spLocks noGrp="1"/>
              </p:cNvSpPr>
              <p:nvPr/>
            </p:nvSpPr>
            <p:spPr>
              <a:xfrm>
                <a:off x="533400" y="4607242"/>
                <a:ext cx="5626418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TCF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0.65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0.01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</m:t>
                          </m:r>
                        </m:sup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53" name="c2-card-1"/>
          <p:cNvGrpSpPr/>
          <p:nvPr/>
        </p:nvGrpSpPr>
        <p:grpSpPr>
          <a:xfrm>
            <a:off x="6464618" y="1928812"/>
            <a:ext cx="5193982" cy="1403032"/>
            <a:chOff x="6464618" y="1928812"/>
            <a:chExt cx="5193982" cy="1403032"/>
          </a:xfrm>
        </p:grpSpPr>
        <p:sp>
          <p:nvSpPr>
            <p:cNvPr id="47" name="Rectangle 47"/>
            <p:cNvSpPr/>
            <p:nvPr/>
          </p:nvSpPr>
          <p:spPr>
            <a:xfrm>
              <a:off x="6464618" y="1928812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83692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6364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50620" y="2149316"/>
              <a:ext cx="930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UFP 与 TCF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77216" y="2465546"/>
              <a:ext cx="4578045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各项计数与其复杂度权重的加权和就是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未经调整的功能点计数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UFP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。TCF 的每一项 Fᵢ 取 0 到 5，0 表示没有影响，5 表示很重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要。</a:t>
              </a:r>
            </a:p>
          </p:txBody>
        </p:sp>
      </p:grpSp>
      <p:grpSp>
        <p:nvGrpSpPr>
          <p:cNvPr id="82" name="c2-table-2"/>
          <p:cNvGrpSpPr/>
          <p:nvPr/>
        </p:nvGrpSpPr>
        <p:grpSpPr>
          <a:xfrm>
            <a:off x="6464618" y="3496628"/>
            <a:ext cx="5193982" cy="2093595"/>
            <a:chOff x="6464618" y="3496628"/>
            <a:chExt cx="5193982" cy="2093595"/>
          </a:xfrm>
        </p:grpSpPr>
        <p:sp>
          <p:nvSpPr>
            <p:cNvPr id="54" name="Rectangle 54"/>
            <p:cNvSpPr/>
            <p:nvPr/>
          </p:nvSpPr>
          <p:spPr>
            <a:xfrm>
              <a:off x="6464618" y="3496628"/>
              <a:ext cx="519398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46164" y="3613785"/>
              <a:ext cx="936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TCF 的 F1-F4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91519" y="3613785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F5-F8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46651" y="3613785"/>
              <a:ext cx="528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F9-F11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01783" y="3613785"/>
              <a:ext cx="614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F12-F14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59296" y="3995738"/>
              <a:ext cx="9441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可靠的备份和恢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57554" y="408908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大量使用的配置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56764" y="40890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复杂界面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55021" y="408908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安装简便性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44415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64618" y="444627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9296" y="4563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数据通信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57554" y="4563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联机数据输入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56764" y="4563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复杂数据处理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55021" y="4563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多工作点安装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48225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59296" y="49444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分布式处理功能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57554" y="49444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操作简便性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56764" y="49444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重复使用性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55021" y="4944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易于修改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64618" y="52044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64618" y="520922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59296" y="53263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57554" y="53263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在线升级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464618" y="3496628"/>
              <a:ext cx="5193982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758112" y="349662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057322" y="349662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355580" y="349662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3" name="Rectangle 8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1273" y="6039326"/>
              <a:ext cx="7246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FP = UFP × TCF；14 项全取 0 时 TCF = 0.65，全取 5 时 TCF = 1.35，调整幅度最多约一倍。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例题：图书借阅系统的功能点与工作量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14727" cy="278702"/>
            <a:chOff x="526161" y="1547336"/>
            <a:chExt cx="76147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14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假设需求评审后数出下表的计数，历史生产率为 8 FP/人月，14 个技术因子评分合计 41。</a:t>
              </a:r>
            </a:p>
          </p:txBody>
        </p:sp>
      </p:grpSp>
      <p:grpSp>
        <p:nvGrpSpPr>
          <p:cNvPr id="57" name="c1-table-1"/>
          <p:cNvGrpSpPr/>
          <p:nvPr/>
        </p:nvGrpSpPr>
        <p:grpSpPr>
          <a:xfrm>
            <a:off x="528066" y="1941195"/>
            <a:ext cx="6065139" cy="3120962"/>
            <a:chOff x="528066" y="1941195"/>
            <a:chExt cx="6065139" cy="312096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8947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信息域参数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620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0391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3067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6484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加权计数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4712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用户输入数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552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1323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3998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0684" y="2471261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2×3+3×4+1×6 = 24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用户输出数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8552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1323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39987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0684" y="287702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1×4+2×5+1×7 = 21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537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32827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用户查询数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8552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1323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39987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06536" y="328279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3×3+1×4 = 13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59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5642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36885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85520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13230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9987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23610" y="368855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2×10+1×15 = 35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9652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40943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外部接口数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85520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13230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39987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6536" y="409432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1×5+1×7 = 12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3710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37578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450008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总计 UFP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60545" y="4385310"/>
              <a:ext cx="222313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42009" y="45000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941195"/>
              <a:ext cx="605980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16503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89179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61854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34625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066" y="485679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第一步，按复杂度分档计数并加权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6898005" y="1950720"/>
            <a:ext cx="4337126" cy="1694022"/>
            <a:chOff x="6898005" y="1950720"/>
            <a:chExt cx="4337126" cy="1694022"/>
          </a:xfrm>
        </p:grpSpPr>
        <p:sp>
          <p:nvSpPr>
            <p:cNvPr id="58" name="Rectangle 58"/>
            <p:cNvSpPr/>
            <p:nvPr/>
          </p:nvSpPr>
          <p:spPr>
            <a:xfrm>
              <a:off x="7031355" y="209359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898005" y="19507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91629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98005" y="25384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91629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898005" y="312515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91629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10247" y="1983105"/>
              <a:ext cx="1315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第二步，算 TCF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11390" y="2250281"/>
              <a:ext cx="3766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个因子评分合计 41，TCF = 0.65 + 0.01×41 = 1.06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10247" y="2569845"/>
              <a:ext cx="1204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第三步，算 FP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11390" y="2837021"/>
              <a:ext cx="3923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 = UFP × TCF = 105 × 1.06 = 111.3，取 111 个功能点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10247" y="315658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第四步，折算工作量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11390" y="3424714"/>
              <a:ext cx="3153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工作量 = FP ÷ 生产率 = 111.3 ÷ 8 ≈ 13.9 人月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898005" y="3812858"/>
            <a:ext cx="4760595" cy="1786890"/>
            <a:chOff x="6898005" y="3812858"/>
            <a:chExt cx="4760595" cy="1786890"/>
          </a:xfrm>
        </p:grpSpPr>
        <p:sp>
          <p:nvSpPr>
            <p:cNvPr id="72" name="Rectangle 72"/>
            <p:cNvSpPr/>
            <p:nvPr/>
          </p:nvSpPr>
          <p:spPr>
            <a:xfrm>
              <a:off x="6898005" y="3812858"/>
              <a:ext cx="476059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907530" y="394620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28510" y="40052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19950" y="4039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12202" y="4045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两处容易算错的地方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137082" y="44357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93102" y="437959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加权计数要按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分档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分别乘权重再相加，不能用总数乘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一个平均权重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137082" y="49958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93102" y="4939665"/>
              <a:ext cx="39056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TCF 的系数是 0.01 而不是 0.1；生产率必须取本组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织的历史值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2" name="Rectangle 8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功能点法在需求阶段就能用，这是它相对代码行法最大的实用优势。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09231" cy="909257"/>
            <a:chOff x="520446" y="342900"/>
            <a:chExt cx="40092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092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专家经验法与 Delphi 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294370" cy="293370"/>
            <a:chOff x="525780" y="1548765"/>
            <a:chExt cx="8294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没有可用的历史模型时就请做过同类项目的人估，关键在于怎么把多个人的判断合成一个数。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64055"/>
            <a:ext cx="4746498" cy="1781556"/>
            <a:chOff x="533400" y="1964055"/>
            <a:chExt cx="4746498" cy="1781556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127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75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9969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三点估算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277428"/>
              <a:ext cx="4333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用代码行或功能点方法估出乐观值 a、悲观值 b、最可能值 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6141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算期望值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894648"/>
              <a:ext cx="1934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按加权平均算出期望规模 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23040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折算工作量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510915"/>
              <a:ext cx="4066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用生产率的历史数据 KLOC/人月 或 FP/人月 得出工作量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20"/>
              <p:cNvSpPr txBox="1">
                <a:spLocks noGrp="1"/>
              </p:cNvSpPr>
              <p:nvPr/>
            </p:nvSpPr>
            <p:spPr>
              <a:xfrm>
                <a:off x="533400" y="3916680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1" name="c1-card-3"/>
          <p:cNvGrpSpPr/>
          <p:nvPr/>
        </p:nvGrpSpPr>
        <p:grpSpPr>
          <a:xfrm>
            <a:off x="533400" y="4714875"/>
            <a:ext cx="5410200" cy="1586865"/>
            <a:chOff x="533400" y="4714875"/>
            <a:chExt cx="5410200" cy="1586865"/>
          </a:xfrm>
        </p:grpSpPr>
        <p:sp>
          <p:nvSpPr>
            <p:cNvPr id="24" name="Rectangle 24"/>
            <p:cNvSpPr/>
            <p:nvPr/>
          </p:nvSpPr>
          <p:spPr>
            <a:xfrm>
              <a:off x="533400" y="4714875"/>
              <a:ext cx="5410200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848225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" y="49129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060" y="49472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52931" y="49477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代入一组数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381" y="5291614"/>
              <a:ext cx="4219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乐观 18 KLOC，最可能 26 KLOC，悲观 46 KLOC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381" y="5608796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(18 + 4×26 + 46) ÷ 6 = 28 KLOC，按 2.5 KLOC/人月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11.2 人月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954530"/>
            <a:ext cx="5410200" cy="2546985"/>
            <a:chOff x="6248400" y="1954530"/>
            <a:chExt cx="5410200" cy="2546985"/>
          </a:xfrm>
        </p:grpSpPr>
        <p:sp>
          <p:nvSpPr>
            <p:cNvPr id="32" name="Rectangle 32"/>
            <p:cNvSpPr/>
            <p:nvPr/>
          </p:nvSpPr>
          <p:spPr>
            <a:xfrm>
              <a:off x="6248400" y="1954530"/>
              <a:ext cx="5410200" cy="2546985"/>
            </a:xfrm>
            <a:prstGeom prst="roundRect">
              <a:avLst>
                <a:gd name="adj" fmla="val 5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2087880"/>
              <a:ext cx="47625" cy="22802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84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6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改进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67931" y="2187416"/>
              <a:ext cx="1024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Delphi 技术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84620" y="251936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2965" y="2558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75514" y="2531269"/>
              <a:ext cx="36876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邀请 N 位专家，在小组会议上讨论项目估算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84620" y="283654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2965" y="28768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75514" y="2849404"/>
              <a:ext cx="3738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每位专家得出一个期望值 Sᵢ，并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无记名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84620" y="315468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2965" y="319406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5514" y="3166586"/>
              <a:ext cx="26243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组织者计算平均值 S = ΣSᵢ ÷ 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4620" y="347186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2965" y="35122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75514" y="3484721"/>
              <a:ext cx="4543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每位专家根据 S 考虑修改自己的 Sᵢ，再次无记名提交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4620" y="378999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2965" y="38303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75514" y="3801904"/>
              <a:ext cx="3589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重复第 3、4 步，直到各位专家不愿再修改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8524" y="411670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无记名是关键，它避免资历高的人一开口就把结果带偏。</a:t>
              </a:r>
            </a:p>
          </p:txBody>
        </p:sp>
      </p:grpSp>
      <p:grpSp>
        <p:nvGrpSpPr>
          <p:cNvPr id="61" name="c2-bullets-2"/>
          <p:cNvGrpSpPr/>
          <p:nvPr/>
        </p:nvGrpSpPr>
        <p:grpSpPr>
          <a:xfrm>
            <a:off x="6241161" y="4705826"/>
            <a:ext cx="4461942" cy="1267397"/>
            <a:chOff x="6241161" y="4705826"/>
            <a:chExt cx="4461942" cy="1267397"/>
          </a:xfrm>
        </p:grpSpPr>
        <p:sp>
          <p:nvSpPr>
            <p:cNvPr id="54" name="TextBox 54"/>
            <p:cNvSpPr txBox="1"/>
            <p:nvPr/>
          </p:nvSpPr>
          <p:spPr>
            <a:xfrm>
              <a:off x="6241161" y="470582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专家经验法的三点不足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248400" y="507587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83096" y="504110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依赖主观判断：受专家经验、能力、偏好的影响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248400" y="540258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83096" y="536781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按比例不可靠：两个人的效率不是一个人的两倍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248400" y="572928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83096" y="569452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过于简化：忽略了产品性能、人员素质等大量因素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经验估算模型：静态单变量与动态多变量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估算模型是对过去项目数据做统计分析导出的，规模是主因素，其余因素用来调整。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626418" cy="1945005"/>
            <a:chOff x="533400" y="1928812"/>
            <a:chExt cx="5626418" cy="19450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945005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6783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5843" y="2142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静态单变量模型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41386" y="21493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只把规模当自变量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33"/>
                <p:cNvSpPr txBox="1">
                  <a:spLocks noGrp="1"/>
                </p:cNvSpPr>
                <p:nvPr/>
              </p:nvSpPr>
              <p:spPr>
                <a:xfrm>
                  <a:off x="752475" y="2445068"/>
                  <a:ext cx="522636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62000" y="301847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965609"/>
              <a:ext cx="42427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是工作量（人月），S 通常是软件规模（LOC 或 FP）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30327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251359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是固定工作量，B 是单位规模的附加成本，C 反映成本随规模变化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的关系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28447" y="4038600"/>
            <a:ext cx="5631371" cy="2171414"/>
            <a:chOff x="528447" y="4038600"/>
            <a:chExt cx="5631371" cy="2171414"/>
          </a:xfrm>
        </p:grpSpPr>
        <p:sp>
          <p:nvSpPr>
            <p:cNvPr id="20" name="Rectangle 20"/>
            <p:cNvSpPr/>
            <p:nvPr/>
          </p:nvSpPr>
          <p:spPr>
            <a:xfrm>
              <a:off x="533400" y="4038600"/>
              <a:ext cx="5626418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43025" y="41557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56710" y="41557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078" y="4537710"/>
              <a:ext cx="999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Walston-Felix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40698" y="4537710"/>
              <a:ext cx="1616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 = 5.2 × (KLOC)^0.91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967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8015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918710"/>
              <a:ext cx="894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Bailey-Basili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0698" y="4918710"/>
              <a:ext cx="2116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 = 5.5 + 0.73 × (KLOC)^1.16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1777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5300662"/>
              <a:ext cx="9833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 COCOMO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40698" y="5300662"/>
              <a:ext cx="1616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 = 3.2 × (KLOC)^1.05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5597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5645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5681662"/>
              <a:ext cx="1289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Albrecht-Gaffney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40698" y="5681662"/>
              <a:ext cx="1758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 = -13.39 + 0.0545 × FP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038600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41258" y="40386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60193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四个常见的静态单变量模型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928812"/>
            <a:ext cx="5193982" cy="2053590"/>
            <a:chOff x="6464618" y="1928812"/>
            <a:chExt cx="5193982" cy="2053590"/>
          </a:xfrm>
        </p:grpSpPr>
        <p:sp>
          <p:nvSpPr>
            <p:cNvPr id="40" name="Rectangle 40"/>
            <p:cNvSpPr/>
            <p:nvPr/>
          </p:nvSpPr>
          <p:spPr>
            <a:xfrm>
              <a:off x="6464618" y="1928812"/>
              <a:ext cx="5193982" cy="2053590"/>
            </a:xfrm>
            <a:prstGeom prst="roundRect">
              <a:avLst>
                <a:gd name="adj" fmla="val 6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2062162"/>
              <a:ext cx="47625" cy="17868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3692" y="21097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8013" y="2142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动态多变量模型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72603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把开发时间也当自变量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7216" y="2465546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Putnam 等人提出的软件方程式把工作量看作规模和开发时间两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个变量的函数。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34"/>
                <p:cNvSpPr txBox="1">
                  <a:spLocks noGrp="1"/>
                </p:cNvSpPr>
                <p:nvPr/>
              </p:nvSpPr>
              <p:spPr>
                <a:xfrm>
                  <a:off x="6683692" y="2972752"/>
                  <a:ext cx="479393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sSup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</m:e>
                                      <m:sup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0.333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6678359" y="3636645"/>
              <a:ext cx="4088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 t 在分母上是四次方，工期压缩一半，工作量要涨到 16 倍。</a:t>
              </a:r>
            </a:p>
          </p:txBody>
        </p:sp>
      </p:grpSp>
      <p:grpSp>
        <p:nvGrpSpPr>
          <p:cNvPr id="60" name="c2-kv-2"/>
          <p:cNvGrpSpPr/>
          <p:nvPr/>
        </p:nvGrpSpPr>
        <p:grpSpPr>
          <a:xfrm>
            <a:off x="6458141" y="4167664"/>
            <a:ext cx="5200459" cy="1851469"/>
            <a:chOff x="6458141" y="4167664"/>
            <a:chExt cx="5200459" cy="1851469"/>
          </a:xfrm>
        </p:grpSpPr>
        <p:sp>
          <p:nvSpPr>
            <p:cNvPr id="49" name="TextBox 49"/>
            <p:cNvSpPr txBox="1"/>
            <p:nvPr/>
          </p:nvSpPr>
          <p:spPr>
            <a:xfrm>
              <a:off x="6458141" y="416766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03898" y="41676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以人月或人年为单位的工作量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4396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8141" y="454199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03898" y="454199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以月或年为单位的项目持续时间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48139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58141" y="491537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03898" y="4915376"/>
              <a:ext cx="45646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特殊技术因子，随集成、测试、质量保证、文档及管理技能需求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的增长而缓慢增加；较小程序 0.16，较大程序 0.39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5427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8141" y="552973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03898" y="5529739"/>
              <a:ext cx="45646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生产率参数，反映过程成熟度与管理水平、软件工程实践程度、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语言级别、软件环境、项目组技术与经验、应用复杂程度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6504" cy="909257"/>
            <a:chOff x="520446" y="342900"/>
            <a:chExt cx="69265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6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COCOMO 81：先分项目类型，再套三层模型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82790" cy="293370"/>
            <a:chOff x="525780" y="1548765"/>
            <a:chExt cx="70827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三个层次用在项目的不同阶段，共用同一组公式形式，差别在系数和调整因子。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161" y="1977866"/>
            <a:ext cx="2606535" cy="1268350"/>
            <a:chOff x="526161" y="1977866"/>
            <a:chExt cx="2606535" cy="1268350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三个层次对应三个时机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0124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3415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31409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基本模型：应用于项目前期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2794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6682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64080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中级模型：需求具体化之后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5465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299499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296751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高级模型：设计完成之后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41"/>
              <p:cNvSpPr txBox="1">
                <a:spLocks noGrp="1"/>
              </p:cNvSpPr>
              <p:nvPr/>
            </p:nvSpPr>
            <p:spPr>
              <a:xfrm>
                <a:off x="533400" y="3369945"/>
                <a:ext cx="519398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KLOC</m:t>
                              </m:r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EAF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42"/>
              <p:cNvSpPr txBox="1">
                <a:spLocks noGrp="1"/>
              </p:cNvSpPr>
              <p:nvPr/>
            </p:nvSpPr>
            <p:spPr>
              <a:xfrm>
                <a:off x="533400" y="4007168"/>
                <a:ext cx="519398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3" name="c1-text-4"/>
          <p:cNvGrpSpPr/>
          <p:nvPr/>
        </p:nvGrpSpPr>
        <p:grpSpPr>
          <a:xfrm>
            <a:off x="527304" y="4664392"/>
            <a:ext cx="4996891" cy="234696"/>
            <a:chOff x="527304" y="4664392"/>
            <a:chExt cx="4996891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4664392"/>
              <a:ext cx="4996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是工作量（人月），EAF 是工作量调整因子，T 是开发时间（月）。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026848" y="1954530"/>
            <a:ext cx="5631752" cy="2831401"/>
            <a:chOff x="6026848" y="1954530"/>
            <a:chExt cx="5631752" cy="2831401"/>
          </a:xfrm>
        </p:grpSpPr>
        <p:sp>
          <p:nvSpPr>
            <p:cNvPr id="24" name="Rectangle 24"/>
            <p:cNvSpPr/>
            <p:nvPr/>
          </p:nvSpPr>
          <p:spPr>
            <a:xfrm>
              <a:off x="6032182" y="1954530"/>
              <a:ext cx="5626418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032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009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4704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34672" y="27203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47179" y="2506980"/>
              <a:ext cx="26029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相对简单，需求不算严格，开发人员经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验丰富，受硬件约束少，规模小于 5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万行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73259" y="261366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简单的商业数据处理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32251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3229928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34672" y="34651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半独立型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47179" y="346519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中等规模，正式与非正式的需求混杂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73259" y="3358515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大型库存与生产控制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38633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4672" y="410337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47179" y="3996690"/>
              <a:ext cx="2602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必须在严格的硬件、软件、操作约束下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73259" y="410337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飞机的飞行控制软件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1954530"/>
              <a:ext cx="5626418" cy="25507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39928" y="1954530"/>
              <a:ext cx="9525" cy="2550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66008" y="1954530"/>
              <a:ext cx="9525" cy="2550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26848" y="458057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三种项目类型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032182" y="4924425"/>
            <a:ext cx="5626418" cy="756285"/>
            <a:chOff x="6032182" y="4924425"/>
            <a:chExt cx="5626418" cy="756285"/>
          </a:xfrm>
        </p:grpSpPr>
        <p:sp>
          <p:nvSpPr>
            <p:cNvPr id="45" name="Rectangle 45"/>
            <p:cNvSpPr/>
            <p:nvPr/>
          </p:nvSpPr>
          <p:spPr>
            <a:xfrm>
              <a:off x="6032182" y="492442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36970" y="5202557"/>
              <a:ext cx="200023" cy="200023"/>
              <a:chOff x="6236970" y="520255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236970" y="52025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70320" y="5269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539294" y="5071586"/>
              <a:ext cx="449592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类型决定指数 b：组织型 1.05、半独立型 1.12、嵌入型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1.20，规模越大越不经济。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11704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先判类型再查系数表，判错类型比算错乘法后果严重得多。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53458" cy="909257"/>
            <a:chOff x="520446" y="342900"/>
            <a:chExt cx="71534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534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 COCOMO 例题：32 KLOC 的组织型项目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12818" cy="264033"/>
            <a:chOff x="526542" y="1545907"/>
            <a:chExt cx="47128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12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基本模型令 EAF = 1，是对软件成本的一种宏观粗略估计。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28447" y="1928812"/>
            <a:ext cx="4982718" cy="1863757"/>
            <a:chOff x="528447" y="1928812"/>
            <a:chExt cx="4982718" cy="186375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2426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99639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41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9223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3805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555" y="2450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35505" y="2338388"/>
              <a:ext cx="82677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18786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82278" y="2338388"/>
              <a:ext cx="82677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24096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11379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15736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241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28912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半独立型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18786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24096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11379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15736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242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18786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24096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11379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15736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28812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21218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6799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381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5963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447" y="3601879"/>
              <a:ext cx="1588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 COCOMO 模型的系数</a:t>
              </a:r>
            </a:p>
          </p:txBody>
        </p:sp>
      </p:grpSp>
      <p:grpSp>
        <p:nvGrpSpPr>
          <p:cNvPr id="48" name="c1-card-2"/>
          <p:cNvGrpSpPr/>
          <p:nvPr/>
        </p:nvGrpSpPr>
        <p:grpSpPr>
          <a:xfrm>
            <a:off x="533400" y="3924300"/>
            <a:ext cx="4977765" cy="1716405"/>
            <a:chOff x="533400" y="3924300"/>
            <a:chExt cx="4977765" cy="1716405"/>
          </a:xfrm>
        </p:grpSpPr>
        <p:sp>
          <p:nvSpPr>
            <p:cNvPr id="42" name="Rectangle 42"/>
            <p:cNvSpPr/>
            <p:nvPr/>
          </p:nvSpPr>
          <p:spPr>
            <a:xfrm>
              <a:off x="533400" y="3924300"/>
              <a:ext cx="4977765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4057650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8190" y="41109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0862" y="41438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23784" y="4146232"/>
              <a:ext cx="233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74 页的一处不一致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1332" y="4471988"/>
              <a:ext cx="430853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74 页把 </a:t>
              </a:r>
              <a:r>
                <a:rPr lang="en-US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 = 3.2 × (KLOC)^1.05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标为“初级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COCOMO 模型”，与本页基本模型表（组织型 a = 2.4）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矛盾。2.4 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基本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模型组织型的 a 值，3.2 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织型的 a 值。</a:t>
              </a:r>
            </a:p>
          </p:txBody>
        </p:sp>
      </p:grpSp>
      <p:grpSp>
        <p:nvGrpSpPr>
          <p:cNvPr id="66" name="c2-steps-1"/>
          <p:cNvGrpSpPr/>
          <p:nvPr/>
        </p:nvGrpSpPr>
        <p:grpSpPr>
          <a:xfrm>
            <a:off x="5815965" y="1938338"/>
            <a:ext cx="4042832" cy="2268379"/>
            <a:chOff x="5815965" y="1938338"/>
            <a:chExt cx="4042832" cy="2268379"/>
          </a:xfrm>
        </p:grpSpPr>
        <p:sp>
          <p:nvSpPr>
            <p:cNvPr id="49" name="Rectangle 49"/>
            <p:cNvSpPr/>
            <p:nvPr/>
          </p:nvSpPr>
          <p:spPr>
            <a:xfrm>
              <a:off x="5949315" y="2081212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815965" y="19383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0958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815965" y="252126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09589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15965" y="310419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09589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815965" y="368712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09589" y="3760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8207" y="19697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算规模的幂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9350" y="2237899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的 1.05 次方约等于 38.06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207" y="25527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算工作量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9350" y="2820829"/>
              <a:ext cx="2049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2.4 × 38.06 ≈ 91.3 人月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8207" y="31356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算开发时间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9350" y="3403759"/>
              <a:ext cx="3629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2.5 × 91.3 的 0.38 次方 ≈ 2.5 × 5.56 ≈ 13.9 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8207" y="371856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算平均人数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29350" y="3986689"/>
              <a:ext cx="2352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E ÷ T = 91.3 ÷ 13.9 ≈ 6.6 人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5815965" y="4370070"/>
            <a:ext cx="5842635" cy="1270635"/>
            <a:chOff x="5815965" y="4370070"/>
            <a:chExt cx="5842635" cy="1270635"/>
          </a:xfrm>
        </p:grpSpPr>
        <p:sp>
          <p:nvSpPr>
            <p:cNvPr id="67" name="Rectangle 67"/>
            <p:cNvSpPr/>
            <p:nvPr/>
          </p:nvSpPr>
          <p:spPr>
            <a:xfrm>
              <a:off x="5815965" y="4370070"/>
              <a:ext cx="5842635" cy="1270635"/>
            </a:xfrm>
            <a:prstGeom prst="roundRect">
              <a:avLst>
                <a:gd name="adj" fmla="val 899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020753" y="4905375"/>
              <a:ext cx="200026" cy="200025"/>
              <a:chOff x="6020753" y="4905375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020753" y="4905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060491" y="4949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95207" y="5060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323457" y="4787265"/>
              <a:ext cx="49000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开发时间对工作量的指数只有 0.38，工作量翻倍时工期只延长约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30%，人数必然要增加。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4" name="Rectangle 7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8373"/>
              <a:ext cx="6029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基本模型只需要一个输入，所以它适合可行性阶段，精度也只到“数量级”。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3766" cy="909257"/>
            <a:chOff x="520446" y="342900"/>
            <a:chExt cx="6433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3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中级 COCOMO：用 15 个因子调整工作量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73592" cy="278702"/>
            <a:chOff x="526161" y="1547336"/>
            <a:chExt cx="87735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735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中级模型是基本模型的扩展，从整个生存期衡量 EAF，EAF 分产品、硬件、人员、项目四大类共 15 项。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28066" y="1941195"/>
            <a:ext cx="5199316" cy="1903666"/>
            <a:chOff x="528066" y="1941195"/>
            <a:chExt cx="5199316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71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726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70236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320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3617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05038" y="2356485"/>
              <a:ext cx="86391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06416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47921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2351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13856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7527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半独立型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06416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47921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72351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13856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537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2827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06416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7921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72351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13856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41195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19075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07371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95668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83965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3639502"/>
              <a:ext cx="170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中级 COCOMO 模型的系数</a:t>
              </a:r>
            </a:p>
          </p:txBody>
        </p:sp>
      </p:grpSp>
      <p:grpSp>
        <p:nvGrpSpPr>
          <p:cNvPr id="52" name="c1-kv-2"/>
          <p:cNvGrpSpPr/>
          <p:nvPr/>
        </p:nvGrpSpPr>
        <p:grpSpPr>
          <a:xfrm>
            <a:off x="526542" y="4000500"/>
            <a:ext cx="5200840" cy="1711833"/>
            <a:chOff x="526542" y="4000500"/>
            <a:chExt cx="5200840" cy="1711833"/>
          </a:xfrm>
        </p:grpSpPr>
        <p:sp>
          <p:nvSpPr>
            <p:cNvPr id="41" name="TextBox 41"/>
            <p:cNvSpPr txBox="1"/>
            <p:nvPr/>
          </p:nvSpPr>
          <p:spPr>
            <a:xfrm>
              <a:off x="526542" y="40005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产品类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09497" y="40005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可靠性、数据库规模、产品复杂性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2891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542" y="43986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硬件类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09497" y="439864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运行时间与内存约束、虚拟机易变性、周转时间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6872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542" y="479583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人员类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09497" y="4795837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分析员能力、领域经验、程序员能力、虚拟机与语言经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3387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542" y="54483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项目类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09497" y="54483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现代程序设计技术、软件工具、进度约束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032182" y="1941195"/>
            <a:ext cx="5626418" cy="2134552"/>
            <a:chOff x="6032182" y="1941195"/>
            <a:chExt cx="5626418" cy="2134552"/>
          </a:xfrm>
        </p:grpSpPr>
        <p:sp>
          <p:nvSpPr>
            <p:cNvPr id="53" name="Rectangle 53"/>
            <p:cNvSpPr/>
            <p:nvPr/>
          </p:nvSpPr>
          <p:spPr>
            <a:xfrm>
              <a:off x="6032182" y="1941195"/>
              <a:ext cx="5626418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41708" y="2074545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62688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4128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6380" y="2173605"/>
              <a:ext cx="2354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32 KLOC 组织型项目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5830" y="2507932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假设只有三项因子偏离标称值：软件可靠性要求高（1.15）、产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品复杂性高（1.15）、分析员能力高（0.86）。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62688" y="305562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18366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42532" y="3068002"/>
              <a:ext cx="300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EAF = 1.15 × 1.15 × 0.86 ≈ 1.137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62688" y="335756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18366" y="33969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42532" y="3369945"/>
              <a:ext cx="3324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3.2 × 38.06 × 1.137 ≈ 138.5 人月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262688" y="366045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18366" y="36988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42532" y="3672840"/>
              <a:ext cx="4427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2.5 × 138.5 的 0.38 次方 ≈ 16.3 月，N ≈ 8.5 人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032182" y="4251008"/>
            <a:ext cx="5626418" cy="1407795"/>
            <a:chOff x="6032182" y="4251008"/>
            <a:chExt cx="5626418" cy="1407795"/>
          </a:xfrm>
        </p:grpSpPr>
        <p:sp>
          <p:nvSpPr>
            <p:cNvPr id="69" name="Rectangle 69"/>
            <p:cNvSpPr/>
            <p:nvPr/>
          </p:nvSpPr>
          <p:spPr>
            <a:xfrm>
              <a:off x="6032182" y="4251008"/>
              <a:ext cx="5626418" cy="1407795"/>
            </a:xfrm>
            <a:prstGeom prst="roundRect">
              <a:avLst>
                <a:gd name="adj" fmla="val 811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224912" y="4851201"/>
              <a:ext cx="224134" cy="192560"/>
              <a:chOff x="6224912" y="4851201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336983" y="49215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224912" y="48512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336983" y="49993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539674" y="4735830"/>
              <a:ext cx="46685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同一个项目，基本模型给 91.3 人月，中级模型给 138.5 人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月，差了 52%。系数与调整因子一起变，两者不可直接比较。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6" name="Rectangle 7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3610"/>
              <a:ext cx="6858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 15 个因素逐项评分，15 个评分的乘积就是 EAF；评为标称的因子取值都是 1.00。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64227" cy="909257"/>
            <a:chOff x="520446" y="342900"/>
            <a:chExt cx="48642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642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 COCOMO 与 COCOMO II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10412" cy="264033"/>
            <a:chOff x="526542" y="1545907"/>
            <a:chExt cx="74104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10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高级模型让因子随阶段变化，COCOMO II 则解决了“早期根本估不出代码行”这个根本问题。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5193982" cy="2064068"/>
            <a:chOff x="533400" y="1928812"/>
            <a:chExt cx="5193982" cy="206406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2064068"/>
            </a:xfrm>
            <a:prstGeom prst="roundRect">
              <a:avLst>
                <a:gd name="adj" fmla="val 64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9736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高级模型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73340" y="21507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按阶段给因子赋不同权值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在中级模型基础上，把 EAF 各因子在软件生存周期的不同阶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段赋予不同权值。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0899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033712"/>
              <a:ext cx="3813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需求计划和产品设计（RPD）、详细设计（DD）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3899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333750"/>
              <a:ext cx="3401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编码和单元测试（CUT）、集成测试（IT）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475" y="3630454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按模块级、子系统级、系统级，每个因子各有 3 张权值表。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162425"/>
            <a:ext cx="5193982" cy="1503045"/>
            <a:chOff x="533400" y="4162425"/>
            <a:chExt cx="5193982" cy="1503045"/>
          </a:xfrm>
        </p:grpSpPr>
        <p:sp>
          <p:nvSpPr>
            <p:cNvPr id="21" name="Rectangle 21"/>
            <p:cNvSpPr/>
            <p:nvPr/>
          </p:nvSpPr>
          <p:spPr>
            <a:xfrm>
              <a:off x="533400" y="4162425"/>
              <a:ext cx="5193982" cy="1503045"/>
            </a:xfrm>
            <a:prstGeom prst="roundRect">
              <a:avLst>
                <a:gd name="adj" fmla="val 76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810243"/>
              <a:ext cx="224134" cy="192560"/>
              <a:chOff x="726129" y="4810243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48806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8102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958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695825"/>
              <a:ext cx="43085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COCOMO 81 的缺陷是需要在早期确定代码行规模 KDSI，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而这恰恰是早期最估不准的东西。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027230" y="1928812"/>
            <a:ext cx="5631370" cy="1863757"/>
            <a:chOff x="6027230" y="1928812"/>
            <a:chExt cx="5631370" cy="1863757"/>
          </a:xfrm>
        </p:grpSpPr>
        <p:sp>
          <p:nvSpPr>
            <p:cNvPr id="28" name="Rectangle 28"/>
            <p:cNvSpPr/>
            <p:nvPr/>
          </p:nvSpPr>
          <p:spPr>
            <a:xfrm>
              <a:off x="6032182" y="1928812"/>
              <a:ext cx="562641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0721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25256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使用阶段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07421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规模度量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29338" y="24503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应用组合模型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92378" y="24503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早期原型阶段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67925" y="2450306"/>
              <a:ext cx="686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应用点 AP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27241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27289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9338" y="28503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早期设计模型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92378" y="2850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评估可选的各种架构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7925" y="28503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功能点或代码行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124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9338" y="32504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后体系结构模型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92378" y="32504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实际开发和维护阶段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67925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1928812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9046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66008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27230" y="3601879"/>
              <a:ext cx="24637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COCOMO II 的三个模型分别用在什么阶段</a:t>
              </a:r>
            </a:p>
          </p:txBody>
        </p:sp>
      </p:grpSp>
      <p:grpSp>
        <p:nvGrpSpPr>
          <p:cNvPr id="54" name="c2-kv-2"/>
          <p:cNvGrpSpPr/>
          <p:nvPr/>
        </p:nvGrpSpPr>
        <p:grpSpPr>
          <a:xfrm>
            <a:off x="6025324" y="3946208"/>
            <a:ext cx="5633276" cy="1164145"/>
            <a:chOff x="6025324" y="3946208"/>
            <a:chExt cx="5633276" cy="1164145"/>
          </a:xfrm>
        </p:grpSpPr>
        <p:sp>
          <p:nvSpPr>
            <p:cNvPr id="49" name="TextBox 49"/>
            <p:cNvSpPr txBox="1"/>
            <p:nvPr/>
          </p:nvSpPr>
          <p:spPr>
            <a:xfrm>
              <a:off x="6025324" y="394620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早期设计模型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88364" y="3946208"/>
              <a:ext cx="384562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2.45，b = 1.0，EAF 有 7 项因子，映射到后体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系结构的 17 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44862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25324" y="4592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后体系结构模型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88364" y="4592955"/>
              <a:ext cx="3879913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2.55，b 由 5 项定标因素确定，EAF 有 17 项因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formula48"/>
              <p:cNvSpPr txBox="1">
                <a:spLocks noGrp="1"/>
              </p:cNvSpPr>
              <p:nvPr/>
            </p:nvSpPr>
            <p:spPr>
              <a:xfrm>
                <a:off x="6032182" y="5227320"/>
                <a:ext cx="562641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EAF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6" name="Rectangle 5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8373"/>
              <a:ext cx="7410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COCOMO II 继承了“不同阶段用不同模型”的思想，早期用看得见的界面和报表来度量规模。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例题：用应用点估一个原型阶段的项目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73188" cy="308039"/>
            <a:chOff x="525399" y="1550194"/>
            <a:chExt cx="76731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应用组合模型的规模单位是应用点，只需要数屏幕数、报表数和三代语言组件数。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27685" y="1967865"/>
            <a:ext cx="5632133" cy="2090262"/>
            <a:chOff x="527685" y="1967865"/>
            <a:chExt cx="5632133" cy="20902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860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8635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2460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6190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困难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304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屏幕（Screen）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128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4953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829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1304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报表（Report）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1128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4953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86829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三代语言组件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1128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4953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39443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6786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4125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7950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1775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685" y="383809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应用点的复杂度权重</a:t>
              </a:r>
            </a:p>
          </p:txBody>
        </p:sp>
      </p:grpSp>
      <p:grpSp>
        <p:nvGrpSpPr>
          <p:cNvPr id="56" name="c1-table-2"/>
          <p:cNvGrpSpPr/>
          <p:nvPr/>
        </p:nvGrpSpPr>
        <p:grpSpPr>
          <a:xfrm>
            <a:off x="527685" y="4204335"/>
            <a:ext cx="5632133" cy="1393983"/>
            <a:chOff x="527685" y="4204335"/>
            <a:chExt cx="5632133" cy="1393983"/>
          </a:xfrm>
        </p:grpSpPr>
        <p:sp>
          <p:nvSpPr>
            <p:cNvPr id="35" name="Rectangle 35"/>
            <p:cNvSpPr/>
            <p:nvPr/>
          </p:nvSpPr>
          <p:spPr>
            <a:xfrm>
              <a:off x="533400" y="4204335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7246" y="4340066"/>
              <a:ext cx="1582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经验与 CASE 成熟度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2552" y="43400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很低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04031" y="434006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93197" y="43400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54676" y="434006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43842" y="43400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很高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223" y="4788694"/>
              <a:ext cx="471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67479" y="47886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42802" y="47886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44328" y="4663440"/>
              <a:ext cx="65627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70738" y="478869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46061" y="478869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21383" y="478869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204335"/>
              <a:ext cx="562641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779395" y="420433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454718" y="420433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130040" y="420433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804410" y="420433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79732" y="420433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7685" y="5178266"/>
              <a:ext cx="53738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生产率参数 PROD（屏幕和报表的复杂度由它包含的视图数或分节数，以及引用的数据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表数量和来源共同决定）</a:t>
              </a:r>
            </a:p>
          </p:txBody>
        </p:sp>
      </p:grpSp>
      <p:grpSp>
        <p:nvGrpSpPr>
          <p:cNvPr id="78" name="c2-steps-1"/>
          <p:cNvGrpSpPr/>
          <p:nvPr/>
        </p:nvGrpSpPr>
        <p:grpSpPr>
          <a:xfrm>
            <a:off x="6464618" y="1977390"/>
            <a:ext cx="4635881" cy="3414046"/>
            <a:chOff x="6464618" y="1977390"/>
            <a:chExt cx="4635881" cy="3414046"/>
          </a:xfrm>
        </p:grpSpPr>
        <p:sp>
          <p:nvSpPr>
            <p:cNvPr id="57" name="Rectangle 57"/>
            <p:cNvSpPr/>
            <p:nvPr/>
          </p:nvSpPr>
          <p:spPr>
            <a:xfrm>
              <a:off x="6597968" y="2120265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464618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8241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64618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8241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64618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8241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64618" y="39290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8241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64618" y="45796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58241" y="4653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6098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数屏幕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7241" y="2304574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 8、中等 4、困难 2，加权 8×1+4×2+2×3 = 22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6098" y="266223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数报表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77241" y="2955131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 3、中等 2、困难 1，加权 3×2+2×5+1×8 = 24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6098" y="331279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数三代语言组件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77241" y="3606641"/>
              <a:ext cx="2848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个，加权 2×10 = 20，合计 AP = 66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76098" y="396335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扣掉复用部分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77241" y="4257199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复用比例 r = 25%，NOP = 66 × (1 − 25%) = 49.5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76098" y="46139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折算工作量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77241" y="4907756"/>
              <a:ext cx="4223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经验与 CASE 均为标称，PROD = 13，工作量 = 49.5 ÷ 13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 人月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9" name="Rectangle 7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应用点法在只有原型界面时就能用，代价是精度低，只能支撑早期立项判断。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软件项目的成本与工作量估算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估算的基本原则：不要只信一个数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593808" cy="278702"/>
            <a:chOff x="526161" y="1547336"/>
            <a:chExt cx="759380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5938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 32 KLOC 的项目，三个公开模型给出的结果相差两倍多，这本身就是最好的提醒。</a:t>
              </a:r>
            </a:p>
          </p:txBody>
        </p:sp>
      </p:grpSp>
      <p:grpSp>
        <p:nvGrpSpPr>
          <p:cNvPr id="26" name="c1-table-1"/>
          <p:cNvGrpSpPr/>
          <p:nvPr/>
        </p:nvGrpSpPr>
        <p:grpSpPr>
          <a:xfrm>
            <a:off x="528066" y="1941195"/>
            <a:ext cx="5199316" cy="1903666"/>
            <a:chOff x="528066" y="1941195"/>
            <a:chExt cx="5199316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8281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03345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工作量（人月）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471261"/>
              <a:ext cx="954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Bailey-Basili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55682" y="2356485"/>
              <a:ext cx="21621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65203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46.2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7527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77026"/>
              <a:ext cx="1551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 COCOMO 组织型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5203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91.3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537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282791"/>
              <a:ext cx="1066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Walston-Felix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555682" y="3168015"/>
              <a:ext cx="21621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23740" y="32827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121.8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941195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4139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8066" y="3639502"/>
              <a:ext cx="2222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三个静态模型在 32 KLOC 上的结果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3978592"/>
            <a:ext cx="5193982" cy="1456372"/>
            <a:chOff x="533400" y="3978592"/>
            <a:chExt cx="5193982" cy="1456372"/>
          </a:xfrm>
        </p:grpSpPr>
        <p:sp>
          <p:nvSpPr>
            <p:cNvPr id="27" name="Rectangle 27"/>
            <p:cNvSpPr/>
            <p:nvPr/>
          </p:nvSpPr>
          <p:spPr>
            <a:xfrm>
              <a:off x="533400" y="3978592"/>
              <a:ext cx="5193982" cy="1456372"/>
            </a:xfrm>
            <a:prstGeom prst="roundRect">
              <a:avLst>
                <a:gd name="adj" fmla="val 784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4602598"/>
              <a:ext cx="224134" cy="192560"/>
              <a:chOff x="726129" y="460259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46729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46025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47507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488180"/>
              <a:ext cx="41713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最高值是最低值的 2.6 倍。模型是从各自的历史项目里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拟合出来的，换一个组织就未必适用。</a:t>
              </a:r>
            </a:p>
          </p:txBody>
        </p:sp>
      </p:grpSp>
      <p:grpSp>
        <p:nvGrpSpPr>
          <p:cNvPr id="47" name="c2-bullets-1"/>
          <p:cNvGrpSpPr/>
          <p:nvPr/>
        </p:nvGrpSpPr>
        <p:grpSpPr>
          <a:xfrm>
            <a:off x="6025324" y="1964055"/>
            <a:ext cx="5570792" cy="1774698"/>
            <a:chOff x="6025324" y="1964055"/>
            <a:chExt cx="5570792" cy="1774698"/>
          </a:xfrm>
        </p:grpSpPr>
        <p:sp>
          <p:nvSpPr>
            <p:cNvPr id="34" name="TextBox 34"/>
            <p:cNvSpPr txBox="1"/>
            <p:nvPr/>
          </p:nvSpPr>
          <p:spPr>
            <a:xfrm>
              <a:off x="6025324" y="19640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四条基本原则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2182" y="227171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7861" y="23100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2027" y="228409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尽可能采用分解问题的策略：自顶向下从系统级开始，自底向上从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组件级开始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32182" y="283940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87861" y="2878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12027" y="285178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不要只依赖一种估算方法，应使用多种方法估算并做交叉检验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2182" y="315087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87861" y="31892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12027" y="3163252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估计方法与数据收集要一致，用哪种规模度量就收集哪种历史数据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2182" y="346233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87861" y="35007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12027" y="347472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估算随项目进行定期修正，需求变化后必须重估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032182" y="3860482"/>
            <a:ext cx="5626418" cy="1574482"/>
            <a:chOff x="6032182" y="3860482"/>
            <a:chExt cx="5626418" cy="1574482"/>
          </a:xfrm>
        </p:grpSpPr>
        <p:sp>
          <p:nvSpPr>
            <p:cNvPr id="48" name="Rectangle 48"/>
            <p:cNvSpPr/>
            <p:nvPr/>
          </p:nvSpPr>
          <p:spPr>
            <a:xfrm>
              <a:off x="6032182" y="3860482"/>
              <a:ext cx="562641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3993832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62688" y="405288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4128" y="40871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46380" y="40928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交叉检验怎么做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71260" y="44834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27280" y="442722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自顶向下用一个模型出一个总数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71260" y="47853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27280" y="4729162"/>
              <a:ext cx="3391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自底向上把 WBS 的每个活动估一遍再求和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71260" y="508825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27280" y="5032058"/>
              <a:ext cx="4275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两个数相差超过 30% 就回去找原因，不要直接取平均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估算的价值不在于那个数字，而在于把“为什么是这个数”讲清楚，让别人能挑出毛病。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软件项目的风险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风险是尚未发生的问题，问题是业已成真的风险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风险的两个要素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风险管理四环节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风险暴露值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四种控制策略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软件项目的风险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风险的两个要素：不确定性与损失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风险指能造成恶果的有害事件，少了任何一个要素都不叫风险。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410200" cy="1916430"/>
            <a:chOff x="533400" y="1967865"/>
            <a:chExt cx="5410200" cy="191643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242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风险（Risk）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：风险可能发生，也可能不发生。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290893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损失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：风险如果变成现实，会带来损失。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23992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风险是尚未发生的问题，问题是业已成真的风险。风险突然变成问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题的那一刻，称风险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具现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5780" y="4098608"/>
            <a:ext cx="5417820" cy="733424"/>
            <a:chOff x="525780" y="4098608"/>
            <a:chExt cx="5417820" cy="733424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09860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0622" y="409860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还没发生，可以预防、转移、缓解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186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53866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0622" y="453866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已经发生，只能补救，代价高得多</a:t>
              </a:r>
            </a:p>
          </p:txBody>
        </p:sp>
      </p:grpSp>
      <p:grpSp>
        <p:nvGrpSpPr>
          <p:cNvPr id="33" name="c2-bullets-1"/>
          <p:cNvGrpSpPr/>
          <p:nvPr/>
        </p:nvGrpSpPr>
        <p:grpSpPr>
          <a:xfrm>
            <a:off x="6240780" y="1992630"/>
            <a:ext cx="5436870" cy="1967865"/>
            <a:chOff x="6240780" y="1992630"/>
            <a:chExt cx="5436870" cy="1967865"/>
          </a:xfrm>
        </p:grpSpPr>
        <p:sp>
          <p:nvSpPr>
            <p:cNvPr id="24" name="TextBox 24"/>
            <p:cNvSpPr txBox="1"/>
            <p:nvPr/>
          </p:nvSpPr>
          <p:spPr>
            <a:xfrm>
              <a:off x="6240780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为什么风险重要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54115" y="24098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0" y="234696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风险和收益总是结伴而行，全无风险的项目也几乎全无收益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54115" y="2754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0" y="269176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清楚地知道坏事有可能发生并做好准备，是成熟的标志之一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54115" y="3099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0" y="30365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即便应用最完美的过程，也不可能消除复杂系统开发中的不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确定性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54115" y="37299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0" y="36671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哪里有不确定性，哪里就有风险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248400" y="4091940"/>
            <a:ext cx="5410200" cy="782955"/>
            <a:chOff x="6248400" y="4091940"/>
            <a:chExt cx="5410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6248400" y="409194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53188" y="4383407"/>
              <a:ext cx="200023" cy="200023"/>
              <a:chOff x="6453188" y="4383407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43834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86538" y="44500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55130" y="424053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风险管理的目的不是消灭风险，而是让风险具现时有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准备的应对，而不是临时救火。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7304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一条写不出损失金额、也说不出发生概率的“风险”，通常只是焦虑，不是风险项。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软件项目的风险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风险管理四个环节与三类风险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识别、分析、规划、控制构成一个循环，项目每进入新阶段都要重做一遍。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707708" y="2262188"/>
            <a:ext cx="4629150" cy="1439228"/>
            <a:chOff x="707708" y="2262188"/>
            <a:chExt cx="4629150" cy="1439228"/>
          </a:xfrm>
        </p:grpSpPr>
        <p:sp>
          <p:nvSpPr>
            <p:cNvPr id="9" name="Freeform 9"/>
            <p:cNvSpPr/>
            <p:nvPr/>
          </p:nvSpPr>
          <p:spPr>
            <a:xfrm>
              <a:off x="2847975" y="246126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91815" y="24088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7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66248" y="2661285"/>
              <a:ext cx="9525" cy="536258"/>
            </a:xfrm>
            <a:custGeom>
              <a:avLst/>
              <a:gdLst/>
              <a:ahLst/>
              <a:cxnLst/>
              <a:rect l="l" t="t" r="r" b="b"/>
              <a:pathLst>
                <a:path w="9525" h="536258">
                  <a:moveTo>
                    <a:pt x="0" y="0"/>
                  </a:moveTo>
                  <a:lnTo>
                    <a:pt x="0" y="209550"/>
                  </a:lnTo>
                  <a:lnTo>
                    <a:pt x="0" y="431483"/>
                  </a:ln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13860" y="31975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52750" y="350139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24384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47975" y="34490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2766060"/>
              <a:ext cx="9525" cy="536258"/>
            </a:xfrm>
            <a:custGeom>
              <a:avLst/>
              <a:gdLst/>
              <a:ahLst/>
              <a:cxnLst/>
              <a:rect l="l" t="t" r="r" b="b"/>
              <a:pathLst>
                <a:path w="9525" h="536258">
                  <a:moveTo>
                    <a:pt x="0" y="536258"/>
                  </a:moveTo>
                  <a:lnTo>
                    <a:pt x="0" y="326708"/>
                  </a:lnTo>
                  <a:lnTo>
                    <a:pt x="0" y="10477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24978" y="26612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7708" y="2262188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96590" y="2262188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96590" y="3302318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7708" y="3302318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70101" y="23826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风险识别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8984" y="23826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58984" y="34228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风险规划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70101" y="34228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风险控制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05940" y="2896552"/>
              <a:ext cx="7172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29562" y="292084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新阶段重做</a:t>
              </a:r>
            </a:p>
          </p:txBody>
        </p:sp>
      </p:grpSp>
      <p:grpSp>
        <p:nvGrpSpPr>
          <p:cNvPr id="39" name="c1-kv-2"/>
          <p:cNvGrpSpPr/>
          <p:nvPr/>
        </p:nvGrpSpPr>
        <p:grpSpPr>
          <a:xfrm>
            <a:off x="526542" y="4219575"/>
            <a:ext cx="4984623" cy="1457516"/>
            <a:chOff x="526542" y="4219575"/>
            <a:chExt cx="4984623" cy="1457516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42195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风险识别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88567" y="42195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列出可能发生的有害事件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081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542" y="4616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风险分析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88567" y="4616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估算每项风险的概率和影响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06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542" y="50149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风险规划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88567" y="501491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划优先级，并对每项风险制定管理对策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3035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542" y="54130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风险控制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88567" y="541305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按对策监控和处置</a:t>
              </a:r>
            </a:p>
          </p:txBody>
        </p:sp>
      </p:grpSp>
      <p:grpSp>
        <p:nvGrpSpPr>
          <p:cNvPr id="66" name="c2-tree-1"/>
          <p:cNvGrpSpPr/>
          <p:nvPr/>
        </p:nvGrpSpPr>
        <p:grpSpPr>
          <a:xfrm>
            <a:off x="5815965" y="1973580"/>
            <a:ext cx="5842635" cy="2624137"/>
            <a:chOff x="5815965" y="1973580"/>
            <a:chExt cx="5842635" cy="2624137"/>
          </a:xfrm>
        </p:grpSpPr>
        <p:sp>
          <p:nvSpPr>
            <p:cNvPr id="40" name="Freeform 40"/>
            <p:cNvSpPr/>
            <p:nvPr/>
          </p:nvSpPr>
          <p:spPr>
            <a:xfrm>
              <a:off x="9239250" y="2901315"/>
              <a:ext cx="419100" cy="767715"/>
            </a:xfrm>
            <a:custGeom>
              <a:avLst/>
              <a:gdLst/>
              <a:ahLst/>
              <a:cxnLst/>
              <a:rect l="l" t="t" r="r" b="b"/>
              <a:pathLst>
                <a:path w="419100" h="767715">
                  <a:moveTo>
                    <a:pt x="0" y="767715"/>
                  </a:moveTo>
                  <a:lnTo>
                    <a:pt x="209550" y="7677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239250" y="3285172"/>
              <a:ext cx="419100" cy="383858"/>
            </a:xfrm>
            <a:custGeom>
              <a:avLst/>
              <a:gdLst/>
              <a:ahLst/>
              <a:cxnLst/>
              <a:rect l="l" t="t" r="r" b="b"/>
              <a:pathLst>
                <a:path w="419100" h="383858">
                  <a:moveTo>
                    <a:pt x="0" y="383858"/>
                  </a:moveTo>
                  <a:lnTo>
                    <a:pt x="209550" y="3838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239250" y="366903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239250" y="3669030"/>
              <a:ext cx="419100" cy="383858"/>
            </a:xfrm>
            <a:custGeom>
              <a:avLst/>
              <a:gdLst/>
              <a:ahLst/>
              <a:cxnLst/>
              <a:rect l="l" t="t" r="r" b="b"/>
              <a:pathLst>
                <a:path w="419100" h="383858">
                  <a:moveTo>
                    <a:pt x="0" y="0"/>
                  </a:moveTo>
                  <a:lnTo>
                    <a:pt x="209550" y="0"/>
                  </a:lnTo>
                  <a:lnTo>
                    <a:pt x="209550" y="383858"/>
                  </a:lnTo>
                  <a:lnTo>
                    <a:pt x="419100" y="3838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239250" y="3669030"/>
              <a:ext cx="419100" cy="767715"/>
            </a:xfrm>
            <a:custGeom>
              <a:avLst/>
              <a:gdLst/>
              <a:ahLst/>
              <a:cxnLst/>
              <a:rect l="l" t="t" r="r" b="b"/>
              <a:pathLst>
                <a:path w="419100" h="767715">
                  <a:moveTo>
                    <a:pt x="0" y="0"/>
                  </a:moveTo>
                  <a:lnTo>
                    <a:pt x="209550" y="0"/>
                  </a:lnTo>
                  <a:lnTo>
                    <a:pt x="209550" y="767715"/>
                  </a:lnTo>
                  <a:lnTo>
                    <a:pt x="419100" y="7677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696075" y="2133600"/>
              <a:ext cx="419100" cy="767715"/>
            </a:xfrm>
            <a:custGeom>
              <a:avLst/>
              <a:gdLst/>
              <a:ahLst/>
              <a:cxnLst/>
              <a:rect l="l" t="t" r="r" b="b"/>
              <a:pathLst>
                <a:path w="419100" h="767715">
                  <a:moveTo>
                    <a:pt x="0" y="767715"/>
                  </a:moveTo>
                  <a:lnTo>
                    <a:pt x="209550" y="7677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696075" y="2517458"/>
              <a:ext cx="419100" cy="383858"/>
            </a:xfrm>
            <a:custGeom>
              <a:avLst/>
              <a:gdLst/>
              <a:ahLst/>
              <a:cxnLst/>
              <a:rect l="l" t="t" r="r" b="b"/>
              <a:pathLst>
                <a:path w="419100" h="383858">
                  <a:moveTo>
                    <a:pt x="0" y="383858"/>
                  </a:moveTo>
                  <a:lnTo>
                    <a:pt x="209550" y="3838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696075" y="2901315"/>
              <a:ext cx="419100" cy="767715"/>
            </a:xfrm>
            <a:custGeom>
              <a:avLst/>
              <a:gdLst/>
              <a:ahLst/>
              <a:cxnLst/>
              <a:rect l="l" t="t" r="r" b="b"/>
              <a:pathLst>
                <a:path w="419100" h="767715">
                  <a:moveTo>
                    <a:pt x="0" y="0"/>
                  </a:moveTo>
                  <a:lnTo>
                    <a:pt x="209550" y="0"/>
                  </a:lnTo>
                  <a:lnTo>
                    <a:pt x="209550" y="767715"/>
                  </a:lnTo>
                  <a:lnTo>
                    <a:pt x="419100" y="7677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15175" y="1973580"/>
              <a:ext cx="2125028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15175" y="2357438"/>
              <a:ext cx="2125028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658350" y="2741295"/>
              <a:ext cx="200025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658350" y="3125152"/>
              <a:ext cx="200025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658350" y="3509010"/>
              <a:ext cx="200025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658350" y="3892868"/>
              <a:ext cx="200025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58350" y="4276725"/>
              <a:ext cx="200025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15175" y="3509010"/>
              <a:ext cx="2125028" cy="320992"/>
            </a:xfrm>
            <a:prstGeom prst="roundRect">
              <a:avLst>
                <a:gd name="adj" fmla="val 29674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2741295"/>
              <a:ext cx="880110" cy="320992"/>
            </a:xfrm>
            <a:prstGeom prst="roundRect">
              <a:avLst>
                <a:gd name="adj" fmla="val 296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5472" y="206549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项目风险：威胁项目计划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05472" y="244935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技术风险：威胁质量与交付时间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48647" y="283321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市场风险：没有人需要的产品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48647" y="321706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策略风险：公司不支持的产品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48647" y="360092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销售风险：销售性差的产品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48647" y="398478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管理风险：缺乏关注的产品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48647" y="4368641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预算风险：投入不足的产品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05472" y="360092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商业风险：威胁软件的生存能力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06262" y="28332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风险类型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5815965" y="4803458"/>
            <a:ext cx="5842635" cy="820102"/>
            <a:chOff x="5815965" y="4803458"/>
            <a:chExt cx="5842635" cy="820102"/>
          </a:xfrm>
        </p:grpSpPr>
        <p:sp>
          <p:nvSpPr>
            <p:cNvPr id="67" name="Rectangle 67"/>
            <p:cNvSpPr/>
            <p:nvPr/>
          </p:nvSpPr>
          <p:spPr>
            <a:xfrm>
              <a:off x="5815965" y="4803458"/>
              <a:ext cx="5842635" cy="820102"/>
            </a:xfrm>
            <a:prstGeom prst="roundRect">
              <a:avLst>
                <a:gd name="adj" fmla="val 1393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020753" y="5113973"/>
              <a:ext cx="200026" cy="200025"/>
              <a:chOff x="6020753" y="5113973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020753" y="51139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060491" y="51584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95207" y="52695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323457" y="499491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风险类型属于风险识别环节：识别时按这三类逐项对照本项目，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列出可能发生的有害事件。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4" name="Rectangle 7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3610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风险规划要指定具体的风险负责人、具现的触发事件或临界时间、监控计划和应对办法，缺一项就落不了地。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软件项目的风险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软件项目的四个核心风险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78930" cy="293370"/>
            <a:chOff x="525780" y="1548765"/>
            <a:chExt cx="66789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这四类风险在绝大多数软件项目上反复出现，识别阶段可以直接拿来对照。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410200" cy="1574482"/>
            <a:chOff x="533400" y="1954530"/>
            <a:chExt cx="5410200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风险一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8666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进度安排的先天错误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安排时间和工作量时犯下的错误，包括对规模的判断失误和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预算的彻底失败。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它在项目第一天就已经埋下，后面所有的赶工都是在还这笔债。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14750"/>
            <a:ext cx="5410200" cy="1933575"/>
            <a:chOff x="533400" y="3714750"/>
            <a:chExt cx="5410200" cy="1933575"/>
          </a:xfrm>
        </p:grpSpPr>
        <p:sp>
          <p:nvSpPr>
            <p:cNvPr id="17" name="Rectangle 17"/>
            <p:cNvSpPr/>
            <p:nvPr/>
          </p:nvSpPr>
          <p:spPr>
            <a:xfrm>
              <a:off x="533400" y="371475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4810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9185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1593" y="39543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风险二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8666" y="39581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需求膨胀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30958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开发过程中客户的业务领域不可能始终静止不变，从项目角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度看需求总是向着膨胀的方向变化。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496157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490108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合理的开发逻辑应当预先考虑需求变化的可能程度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2955" y="528161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9546" y="522112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在计划中允许一定限度的改变，而不是假设需求冻结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954530"/>
            <a:ext cx="5410200" cy="1574482"/>
            <a:chOff x="6248400" y="1954530"/>
            <a:chExt cx="5410200" cy="1574482"/>
          </a:xfrm>
        </p:grpSpPr>
        <p:sp>
          <p:nvSpPr>
            <p:cNvPr id="28" name="Rectangle 28"/>
            <p:cNvSpPr/>
            <p:nvPr/>
          </p:nvSpPr>
          <p:spPr>
            <a:xfrm>
              <a:off x="6248400" y="1954530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6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风险三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3666" y="21978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人员的流失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3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需要掌握技术人员的年平均流动率，以及新人工作能上手的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最短时间，据此为项目分配一定的缓冲人力资源。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4239" y="313753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关键模块只有一个人懂，这个人就是项目的单点故障。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3714750"/>
            <a:ext cx="5410200" cy="1933575"/>
            <a:chOff x="6248400" y="3714750"/>
            <a:chExt cx="5410200" cy="1933575"/>
          </a:xfrm>
        </p:grpSpPr>
        <p:sp>
          <p:nvSpPr>
            <p:cNvPr id="36" name="Rectangle 36"/>
            <p:cNvSpPr/>
            <p:nvPr/>
          </p:nvSpPr>
          <p:spPr>
            <a:xfrm>
              <a:off x="6248400" y="371475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384810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0335" y="39185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6593" y="39543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风险四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3666" y="39581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规约崩溃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3096" y="430958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问题的本质是项目启动阶段商谈需求范围时没有谈拢。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46901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462962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实际中有可能掩盖严重冲突，定下含混目标就开工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7955" y="50101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4546" y="494966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直到项目明确满足规约要求时，此风险才消失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8043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四个风险里有三个在项目启动阶段就决定了，这也是立项评审比中期检查更值得花时间的原因。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软件项目的风险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风险估算：用暴露值排出优先级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风险暴露值把概率和影响合成一个可比较的数，它是排优先级的唯一依据。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760595" cy="944880"/>
            <a:chOff x="533400" y="1928812"/>
            <a:chExt cx="4760595" cy="94488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760595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风险暴露值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暴露值 = 风险概率 × 风险影响（具现后的损失）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8447" y="3044190"/>
            <a:ext cx="4765548" cy="2663856"/>
            <a:chOff x="528447" y="3044190"/>
            <a:chExt cx="4765548" cy="2663856"/>
          </a:xfrm>
        </p:grpSpPr>
        <p:sp>
          <p:nvSpPr>
            <p:cNvPr id="16" name="Rectangle 16"/>
            <p:cNvSpPr/>
            <p:nvPr/>
          </p:nvSpPr>
          <p:spPr>
            <a:xfrm>
              <a:off x="533400" y="3044190"/>
              <a:ext cx="476059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286" y="31656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档次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1809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概率区间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0555" y="35656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99812" y="356568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10%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395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84429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39657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37730" y="3965734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 ~ 25%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395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43657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37730" y="4365784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 ~ 50%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396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64439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47658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37730" y="4765834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 ~ 75%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0396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51658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99812" y="516588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75%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044190"/>
              <a:ext cx="476059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718435" y="304419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551735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风险概率的可能性范围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5593842" y="1928812"/>
            <a:ext cx="6064758" cy="2263807"/>
            <a:chOff x="5593842" y="1928812"/>
            <a:chExt cx="6064758" cy="2263807"/>
          </a:xfrm>
        </p:grpSpPr>
        <p:sp>
          <p:nvSpPr>
            <p:cNvPr id="39" name="Rectangle 39"/>
            <p:cNvSpPr/>
            <p:nvPr/>
          </p:nvSpPr>
          <p:spPr>
            <a:xfrm>
              <a:off x="5598795" y="1928812"/>
              <a:ext cx="605980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7291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5690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6654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90328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暴露值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5632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95950" y="24503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需求范围膨胀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68214" y="245030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3439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486900" y="2338388"/>
              <a:ext cx="107156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50638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6564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27241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98795" y="27289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5950" y="28503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关键开发人员离职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68214" y="285035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34392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486900" y="2738438"/>
              <a:ext cx="107156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50638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6564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31242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95950" y="32504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第三方接口延迟交付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68214" y="325040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34392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92101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06564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598795" y="35242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598795" y="35290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95950" y="36504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服务器到货延期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68214" y="365045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34392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92101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06564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598795" y="1928812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654290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563928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47261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56322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593842" y="400192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例题：四项风险按暴露值排序（金额单位：万元）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5598795" y="4324350"/>
            <a:ext cx="6059805" cy="1344930"/>
            <a:chOff x="5598795" y="4324350"/>
            <a:chExt cx="6059805" cy="1344930"/>
          </a:xfrm>
        </p:grpSpPr>
        <p:sp>
          <p:nvSpPr>
            <p:cNvPr id="79" name="Rectangle 79"/>
            <p:cNvSpPr/>
            <p:nvPr/>
          </p:nvSpPr>
          <p:spPr>
            <a:xfrm>
              <a:off x="5598795" y="4324350"/>
              <a:ext cx="6059805" cy="1344930"/>
            </a:xfrm>
            <a:prstGeom prst="roundRect">
              <a:avLst>
                <a:gd name="adj" fmla="val 99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608320" y="4457700"/>
              <a:ext cx="47625" cy="10782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823585" y="45110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916257" y="45439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90132" y="45462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两个容易看错的地方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832158" y="49282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88177" y="4872037"/>
              <a:ext cx="4420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影响最大的“人员离职”排不到第一，因为概率只有 30%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832158" y="52282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988177" y="517207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概率最低的排在最后，但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不等于可以不管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，仍要写进监控清单</a:t>
              </a:r>
            </a:p>
          </p:txBody>
        </p:sp>
      </p:grpSp>
      <p:grpSp>
        <p:nvGrpSpPr>
          <p:cNvPr id="9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9" name="Rectangle 8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040892" y="6028373"/>
              <a:ext cx="6686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排完序只处理前几项，这就是 Top 10 风险列表的做法，剩下的定期复查是否升位。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软件项目的风险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风险控制的四种策略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97193" cy="293370"/>
            <a:chOff x="525780" y="1548765"/>
            <a:chExt cx="649719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规避、转移、缓解、承担，四种策略按“花多少代价换多少确定性”排列。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410200" cy="1574482"/>
            <a:chOff x="533400" y="1954530"/>
            <a:chExt cx="5410200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策略一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8666" y="2197894"/>
              <a:ext cx="25685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风险规避（Risk Avoidance）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完全回避风险，排除造成风险事件的原因，或变更项目计划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以保护项目目标免受风险事件的影响。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例如放弃使用那个不成熟的新框架，改用团队熟悉的技术栈。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14750"/>
            <a:ext cx="5410200" cy="1662112"/>
            <a:chOff x="533400" y="3714750"/>
            <a:chExt cx="5410200" cy="1662112"/>
          </a:xfrm>
        </p:grpSpPr>
        <p:sp>
          <p:nvSpPr>
            <p:cNvPr id="17" name="Rectangle 17"/>
            <p:cNvSpPr/>
            <p:nvPr/>
          </p:nvSpPr>
          <p:spPr>
            <a:xfrm>
              <a:off x="533400" y="371475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4810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9185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1593" y="39543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策略二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8666" y="3958114"/>
              <a:ext cx="3001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风险传递/转移（Risk Transfer）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30958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把风险及其后果转移给第三方。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46901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462962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这种策略将影响项目预算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2955" y="50101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9546" y="494966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通常只是用一种风险交换另一种风险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954530"/>
            <a:ext cx="5410200" cy="1303020"/>
            <a:chOff x="6248400" y="1954530"/>
            <a:chExt cx="5410200" cy="1303020"/>
          </a:xfrm>
        </p:grpSpPr>
        <p:sp>
          <p:nvSpPr>
            <p:cNvPr id="28" name="Rectangle 28"/>
            <p:cNvSpPr/>
            <p:nvPr/>
          </p:nvSpPr>
          <p:spPr>
            <a:xfrm>
              <a:off x="6248400" y="1954530"/>
              <a:ext cx="5410200" cy="1303020"/>
            </a:xfrm>
            <a:prstGeom prst="roundRect">
              <a:avLst>
                <a:gd name="adj" fmla="val 102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87880"/>
              <a:ext cx="47625" cy="10363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6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策略三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3666" y="2197894"/>
              <a:ext cx="26182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风险缓解（Risk Mitigation）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3096" y="255031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及早采取措施来降低风险事件的概率并缓解其后果的影响。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4239" y="2866072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例如安排结对编程和文档交接，降低人员流失造成的停摆。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3443288"/>
            <a:ext cx="5410200" cy="1933575"/>
            <a:chOff x="6248400" y="3443288"/>
            <a:chExt cx="5410200" cy="1933575"/>
          </a:xfrm>
        </p:grpSpPr>
        <p:sp>
          <p:nvSpPr>
            <p:cNvPr id="36" name="Rectangle 36"/>
            <p:cNvSpPr/>
            <p:nvPr/>
          </p:nvSpPr>
          <p:spPr>
            <a:xfrm>
              <a:off x="6248400" y="3443288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3576638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0335" y="364712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6593" y="36828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策略四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3666" y="3686651"/>
              <a:ext cx="2729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风险承担（Risk Acceptance）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3096" y="403812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不制定任何有关规避和缓解风险的计划，如果风险具现就承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担后果。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46901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462962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被动承担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：不做准备，出事就救火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7955" y="50101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4546" y="494966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主动承担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：制定应急计划，留出储备时间和储备金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风险缓解能降低风险承担所需的开销，所以两种策略常常一起用：先缓解，再为剩余风险留储备。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软件项目配置管理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针对变化、控制变化，是其他管理活动的基础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983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 与基线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五项任务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374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版本控制与 Git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变化控制与审计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配置管理的目标：让每一次变化都有据可查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284720" cy="293370"/>
            <a:chOff x="525780" y="1548765"/>
            <a:chExt cx="72847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软件开发蕴含变化，产品数量急剧增加又容易被修改，通常的管理手段力不从心。</a:t>
              </a:r>
            </a:p>
          </p:txBody>
        </p:sp>
      </p:grpSp>
      <p:grpSp>
        <p:nvGrpSpPr>
          <p:cNvPr id="18" name="c1-bullets-1"/>
          <p:cNvGrpSpPr/>
          <p:nvPr/>
        </p:nvGrpSpPr>
        <p:grpSpPr>
          <a:xfrm>
            <a:off x="526161" y="1977866"/>
            <a:ext cx="4874768" cy="2148459"/>
            <a:chOff x="526161" y="1977866"/>
            <a:chExt cx="4874768" cy="2148459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为什么需要配置管理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020" y="23764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611" y="231695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软件开发项目的产品数量急剧增加且易被修改，如何管理它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们以及它们之间的关系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020" y="297751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611" y="291703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软件开发蕴含变化，如何应对变更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1020" y="330708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611" y="324659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产品各部件的版本问题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" y="36356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611" y="357616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工作人员之间既独立又联系的关系，使得通常的管理手段力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不从心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255770"/>
            <a:ext cx="5193982" cy="1353502"/>
            <a:chOff x="533400" y="4255770"/>
            <a:chExt cx="5193982" cy="1353502"/>
          </a:xfrm>
        </p:grpSpPr>
        <p:sp>
          <p:nvSpPr>
            <p:cNvPr id="19" name="Rectangle 19"/>
            <p:cNvSpPr/>
            <p:nvPr/>
          </p:nvSpPr>
          <p:spPr>
            <a:xfrm>
              <a:off x="533400" y="4255770"/>
              <a:ext cx="5193982" cy="1353502"/>
            </a:xfrm>
            <a:prstGeom prst="roundRect">
              <a:avLst>
                <a:gd name="adj" fmla="val 985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7235" y="44596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44" y="44953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四个目标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22488" y="449913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软件配置管理要做到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996" y="4850606"/>
              <a:ext cx="44237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标识变更 → 控制变更 → 确保变更正确地实现 → 向其他有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关的人报告变更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954530"/>
            <a:ext cx="5626418" cy="1564958"/>
            <a:chOff x="6032182" y="1954530"/>
            <a:chExt cx="5626418" cy="1564958"/>
          </a:xfrm>
        </p:grpSpPr>
        <p:sp>
          <p:nvSpPr>
            <p:cNvPr id="25" name="Rectangle 25"/>
            <p:cNvSpPr/>
            <p:nvPr/>
          </p:nvSpPr>
          <p:spPr>
            <a:xfrm>
              <a:off x="6032182" y="195453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74118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64326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4574" y="2197894"/>
              <a:ext cx="1936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软件配置管理（SCM）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6879" y="255031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一门应用技术、管理和监督相结合的学科，通过标识和文档记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录配置项的功能和物理特性、控制这些特性的变更、记录和报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告变更的过程和状态，并验证它们与需求是否一致。</a:t>
              </a:r>
            </a:p>
          </p:txBody>
        </p:sp>
      </p:grpSp>
      <p:grpSp>
        <p:nvGrpSpPr>
          <p:cNvPr id="52" name="c2-compare-2"/>
          <p:cNvGrpSpPr/>
          <p:nvPr/>
        </p:nvGrpSpPr>
        <p:grpSpPr>
          <a:xfrm>
            <a:off x="6032182" y="3704272"/>
            <a:ext cx="5626418" cy="1904048"/>
            <a:chOff x="6032182" y="3704272"/>
            <a:chExt cx="5626418" cy="1904048"/>
          </a:xfrm>
        </p:grpSpPr>
        <p:sp>
          <p:nvSpPr>
            <p:cNvPr id="32" name="Rectangle 32"/>
            <p:cNvSpPr/>
            <p:nvPr/>
          </p:nvSpPr>
          <p:spPr>
            <a:xfrm>
              <a:off x="6032182" y="3704272"/>
              <a:ext cx="256603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3837622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66879" y="393239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软件配置管理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81738" y="433101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38329" y="4270534"/>
              <a:ext cx="17540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管的是“变化的过程”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81738" y="46510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38329" y="459057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贯穿整个开发与维护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81738" y="49710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38329" y="491061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关心谁改的、改了什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么、批没批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92565" y="3704272"/>
              <a:ext cx="256603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02090" y="3837622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27261" y="393239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342120" y="433101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98711" y="4270534"/>
              <a:ext cx="15628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做的是“变化本身”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342120" y="46510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98711" y="459057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主要在交付之后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342120" y="49710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98711" y="491061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关心怎么改对、改得好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644890" y="4456748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98230" y="4591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04084"/>
              <a:ext cx="60803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配置管理不等于软件维护，也不等于用了 Git，工具只是实现手段之一。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软件配置项、基线与五项任务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01497" cy="278702"/>
            <a:chOff x="526161" y="1547336"/>
            <a:chExt cx="590149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014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配置管理的对象是 SCI，管理的分界线是基线，展开成五项具体任务。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5410200" cy="2301240"/>
            <a:chOff x="533400" y="1941195"/>
            <a:chExt cx="5410200" cy="230124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301240"/>
            </a:xfrm>
            <a:prstGeom prst="roundRect">
              <a:avLst>
                <a:gd name="adj" fmla="val 57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20345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113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软件配置项（SCI）与基线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：为了配置管理而作为单独实体处理的一个工作产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品或一段软件，就是软件过程输出的全部计算机程序、文档、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325177"/>
              <a:ext cx="46591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基线（baseline）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：已经通过了正式复审的规格说明或中间产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品，可作为进一步开发的基础，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只有通过正式的变化控制过程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才能改变它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542" y="4439602"/>
            <a:ext cx="5417058" cy="1313688"/>
            <a:chOff x="526542" y="4439602"/>
            <a:chExt cx="5417058" cy="1313688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443960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配置管理聚集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45754" y="4439602"/>
              <a:ext cx="2522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 的一个组合，简称 CM 聚集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7282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8377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5754" y="4837748"/>
              <a:ext cx="4032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在一确定的时间点上，某个 SCI 或某个配置的状态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1263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52358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项目数据库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45754" y="5235892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一旦一个 SCI 成为基线就存入其中，与变更控制规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程一起保护项目的基线</a:t>
              </a:r>
            </a:p>
          </p:txBody>
        </p:sp>
      </p:grpSp>
      <p:grpSp>
        <p:nvGrpSpPr>
          <p:cNvPr id="44" name="c2-flow-1"/>
          <p:cNvGrpSpPr/>
          <p:nvPr/>
        </p:nvGrpSpPr>
        <p:grpSpPr>
          <a:xfrm>
            <a:off x="6381750" y="2240280"/>
            <a:ext cx="5143500" cy="1396366"/>
            <a:chOff x="6381750" y="2240280"/>
            <a:chExt cx="5143500" cy="1396366"/>
          </a:xfrm>
        </p:grpSpPr>
        <p:sp>
          <p:nvSpPr>
            <p:cNvPr id="26" name="Freeform 26"/>
            <p:cNvSpPr/>
            <p:nvPr/>
          </p:nvSpPr>
          <p:spPr>
            <a:xfrm>
              <a:off x="7918132" y="244030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080058" y="2387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722168" y="244030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884092" y="2387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0756582" y="2639378"/>
              <a:ext cx="9525" cy="493395"/>
            </a:xfrm>
            <a:custGeom>
              <a:avLst/>
              <a:gdLst/>
              <a:ahLst/>
              <a:cxnLst/>
              <a:rect l="l" t="t" r="r" b="b"/>
              <a:pathLst>
                <a:path w="9525" h="493395">
                  <a:moveTo>
                    <a:pt x="0" y="0"/>
                  </a:moveTo>
                  <a:lnTo>
                    <a:pt x="0" y="209550"/>
                  </a:lnTo>
                  <a:lnTo>
                    <a:pt x="0" y="388620"/>
                  </a:lnTo>
                  <a:lnTo>
                    <a:pt x="0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704195" y="31327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826942" y="343662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722168" y="33842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81750" y="2240280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84832" y="2240280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988868" y="2240280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988868" y="3237548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84832" y="3237548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3928" y="23617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46236" y="23617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版本控制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49319" y="23617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49319" y="33580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配置审计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95462" y="33580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配置状态报告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4110038"/>
            <a:ext cx="5410200" cy="1589722"/>
            <a:chOff x="6248400" y="4110038"/>
            <a:chExt cx="5410200" cy="1589722"/>
          </a:xfrm>
        </p:grpSpPr>
        <p:sp>
          <p:nvSpPr>
            <p:cNvPr id="45" name="Rectangle 45"/>
            <p:cNvSpPr/>
            <p:nvPr/>
          </p:nvSpPr>
          <p:spPr>
            <a:xfrm>
              <a:off x="6248400" y="4110038"/>
              <a:ext cx="5410200" cy="1589722"/>
            </a:xfrm>
            <a:prstGeom prst="roundRect">
              <a:avLst>
                <a:gd name="adj" fmla="val 83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243388"/>
              <a:ext cx="47625" cy="13230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430244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345" y="43367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分界线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95947" y="43424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基线前后的控制力度不同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87478" y="47329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3497" y="467677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变成基线之前，仅需应用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非正式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的变化控制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87478" y="50349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3497" y="49787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经过正式技术复审并获得批准，就创建了一个基线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87478" y="53378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43497" y="528161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一旦变成基线，就开始实施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项目级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的变化控制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开发人员不仅要保证每个配置项正确，还必须保证一个软件的所有配置项完全一致。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配置标识：怎么起名字，怎么记住对象之间的关系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57141" cy="264033"/>
            <a:chOff x="526542" y="1545907"/>
            <a:chExt cx="45571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标识要解决三件事：唯一命名、唯一特征、能区分版本。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923" y="1949291"/>
            <a:ext cx="3735451" cy="1137094"/>
            <a:chOff x="526923" y="1949291"/>
            <a:chExt cx="3735451" cy="113709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标识配置对象的三条要求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39328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274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25123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单独命名每个配置项，再用面向对象方法组织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32698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5683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54365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每个对象都有一组能唯一标识它的特征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26068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8616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83702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标识模式能无歧义地区分同一对象的不同版本</a:t>
              </a:r>
            </a:p>
          </p:txBody>
        </p:sp>
      </p:grpSp>
      <p:grpSp>
        <p:nvGrpSpPr>
          <p:cNvPr id="49" name="c1-tree-2"/>
          <p:cNvGrpSpPr/>
          <p:nvPr/>
        </p:nvGrpSpPr>
        <p:grpSpPr>
          <a:xfrm>
            <a:off x="533400" y="3179445"/>
            <a:ext cx="6276023" cy="1549718"/>
            <a:chOff x="533400" y="3179445"/>
            <a:chExt cx="6276023" cy="1549718"/>
          </a:xfrm>
        </p:grpSpPr>
        <p:sp>
          <p:nvSpPr>
            <p:cNvPr id="20" name="Freeform 20"/>
            <p:cNvSpPr/>
            <p:nvPr/>
          </p:nvSpPr>
          <p:spPr>
            <a:xfrm>
              <a:off x="5297805" y="382809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30040" y="3828098"/>
              <a:ext cx="419100" cy="125730"/>
            </a:xfrm>
            <a:custGeom>
              <a:avLst/>
              <a:gdLst/>
              <a:ahLst/>
              <a:cxnLst/>
              <a:rect l="l" t="t" r="r" b="b"/>
              <a:pathLst>
                <a:path w="419100" h="125730">
                  <a:moveTo>
                    <a:pt x="0" y="125730"/>
                  </a:moveTo>
                  <a:lnTo>
                    <a:pt x="209550" y="12573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130040" y="3953828"/>
              <a:ext cx="419100" cy="125730"/>
            </a:xfrm>
            <a:custGeom>
              <a:avLst/>
              <a:gdLst/>
              <a:ahLst/>
              <a:cxnLst/>
              <a:rect l="l" t="t" r="r" b="b"/>
              <a:pathLst>
                <a:path w="419100" h="125730">
                  <a:moveTo>
                    <a:pt x="0" y="0"/>
                  </a:moveTo>
                  <a:lnTo>
                    <a:pt x="209550" y="0"/>
                  </a:lnTo>
                  <a:lnTo>
                    <a:pt x="209550" y="125730"/>
                  </a:lnTo>
                  <a:lnTo>
                    <a:pt x="419100" y="12573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764155" y="3953828"/>
              <a:ext cx="419100" cy="188595"/>
            </a:xfrm>
            <a:custGeom>
              <a:avLst/>
              <a:gdLst/>
              <a:ahLst/>
              <a:cxnLst/>
              <a:rect l="l" t="t" r="r" b="b"/>
              <a:pathLst>
                <a:path w="419100" h="188595">
                  <a:moveTo>
                    <a:pt x="0" y="188595"/>
                  </a:moveTo>
                  <a:lnTo>
                    <a:pt x="209550" y="18859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764155" y="4142422"/>
              <a:ext cx="419100" cy="187643"/>
            </a:xfrm>
            <a:custGeom>
              <a:avLst/>
              <a:gdLst/>
              <a:ahLst/>
              <a:cxnLst/>
              <a:rect l="l" t="t" r="r" b="b"/>
              <a:pathLst>
                <a:path w="419100" h="187643">
                  <a:moveTo>
                    <a:pt x="0" y="0"/>
                  </a:moveTo>
                  <a:lnTo>
                    <a:pt x="209550" y="0"/>
                  </a:lnTo>
                  <a:lnTo>
                    <a:pt x="209550" y="187643"/>
                  </a:lnTo>
                  <a:lnTo>
                    <a:pt x="419100" y="18764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492568" y="3326130"/>
              <a:ext cx="419100" cy="627698"/>
            </a:xfrm>
            <a:custGeom>
              <a:avLst/>
              <a:gdLst/>
              <a:ahLst/>
              <a:cxnLst/>
              <a:rect l="l" t="t" r="r" b="b"/>
              <a:pathLst>
                <a:path w="419100" h="627698">
                  <a:moveTo>
                    <a:pt x="0" y="627698"/>
                  </a:moveTo>
                  <a:lnTo>
                    <a:pt x="209550" y="62769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492568" y="3577590"/>
              <a:ext cx="419100" cy="376238"/>
            </a:xfrm>
            <a:custGeom>
              <a:avLst/>
              <a:gdLst/>
              <a:ahLst/>
              <a:cxnLst/>
              <a:rect l="l" t="t" r="r" b="b"/>
              <a:pathLst>
                <a:path w="419100" h="376238">
                  <a:moveTo>
                    <a:pt x="0" y="376238"/>
                  </a:moveTo>
                  <a:lnTo>
                    <a:pt x="209550" y="3762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492568" y="3953828"/>
              <a:ext cx="419100" cy="188595"/>
            </a:xfrm>
            <a:custGeom>
              <a:avLst/>
              <a:gdLst/>
              <a:ahLst/>
              <a:cxnLst/>
              <a:rect l="l" t="t" r="r" b="b"/>
              <a:pathLst>
                <a:path w="419100" h="188595">
                  <a:moveTo>
                    <a:pt x="0" y="0"/>
                  </a:moveTo>
                  <a:lnTo>
                    <a:pt x="209550" y="0"/>
                  </a:lnTo>
                  <a:lnTo>
                    <a:pt x="209550" y="188595"/>
                  </a:lnTo>
                  <a:lnTo>
                    <a:pt x="419100" y="1885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492568" y="3953828"/>
              <a:ext cx="419100" cy="627697"/>
            </a:xfrm>
            <a:custGeom>
              <a:avLst/>
              <a:gdLst/>
              <a:ahLst/>
              <a:cxnLst/>
              <a:rect l="l" t="t" r="r" b="b"/>
              <a:pathLst>
                <a:path w="419100" h="627697">
                  <a:moveTo>
                    <a:pt x="0" y="0"/>
                  </a:moveTo>
                  <a:lnTo>
                    <a:pt x="209550" y="0"/>
                  </a:lnTo>
                  <a:lnTo>
                    <a:pt x="209550" y="627697"/>
                  </a:lnTo>
                  <a:lnTo>
                    <a:pt x="419100" y="62769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11668" y="3179445"/>
              <a:ext cx="852488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11668" y="3429952"/>
              <a:ext cx="852488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6905" y="3681412"/>
              <a:ext cx="1092518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49140" y="3681412"/>
              <a:ext cx="748665" cy="295275"/>
            </a:xfrm>
            <a:prstGeom prst="roundRect">
              <a:avLst>
                <a:gd name="adj" fmla="val 32258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49140" y="3931920"/>
              <a:ext cx="748665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183255" y="3806190"/>
              <a:ext cx="946785" cy="295275"/>
            </a:xfrm>
            <a:prstGeom prst="roundRect">
              <a:avLst>
                <a:gd name="adj" fmla="val 32258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83255" y="4183380"/>
              <a:ext cx="946785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11668" y="3994785"/>
              <a:ext cx="852488" cy="295275"/>
            </a:xfrm>
            <a:prstGeom prst="roundRect">
              <a:avLst>
                <a:gd name="adj" fmla="val 32258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911668" y="4433888"/>
              <a:ext cx="852488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806190"/>
              <a:ext cx="959168" cy="295275"/>
            </a:xfrm>
            <a:prstGeom prst="roundRect">
              <a:avLst>
                <a:gd name="adj" fmla="val 3225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02155" y="3268504"/>
              <a:ext cx="4760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COMPILE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02155" y="3519964"/>
              <a:ext cx="236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7392" y="3770471"/>
              <a:ext cx="8143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AST-INTERFACE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39628" y="3770471"/>
              <a:ext cx="4504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DISPLAY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9628" y="4021931"/>
              <a:ext cx="3536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QUERY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73742" y="3896201"/>
              <a:ext cx="3953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FORMS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73742" y="4272439"/>
              <a:ext cx="6510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STRUCTURES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02155" y="4084796"/>
              <a:ext cx="2483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EDIT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02155" y="4523899"/>
              <a:ext cx="5460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MAKE-GEN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3888" y="3896201"/>
              <a:ext cx="6647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PCL-TOOLS</a:t>
              </a:r>
            </a:p>
          </p:txBody>
        </p:sp>
      </p:grpSp>
      <p:grpSp>
        <p:nvGrpSpPr>
          <p:cNvPr id="52" name="c1-text-3"/>
          <p:cNvGrpSpPr/>
          <p:nvPr/>
        </p:nvGrpSpPr>
        <p:grpSpPr>
          <a:xfrm>
            <a:off x="528066" y="4889183"/>
            <a:ext cx="6011418" cy="864489"/>
            <a:chOff x="528066" y="4889183"/>
            <a:chExt cx="6011418" cy="86448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4889183"/>
              <a:ext cx="4391216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AST-INTERFACE 下面还有 OBJECT、CODE、TESTS，CODE 的层式名字就是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PCL-TOOLS/EDIT/FORMS/DISPLAY/AST-INTERFACE/CODE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8066" y="5341620"/>
              <a:ext cx="6011418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基本对象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是设计、编码、测试时建立的文本单元；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复合对象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是基本对象和其他复合对象的集合，如设计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规格说明。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114222" y="1928812"/>
            <a:ext cx="4544378" cy="2057400"/>
            <a:chOff x="7114222" y="1928812"/>
            <a:chExt cx="4544378" cy="2057400"/>
          </a:xfrm>
        </p:grpSpPr>
        <p:sp>
          <p:nvSpPr>
            <p:cNvPr id="53" name="Rectangle 53"/>
            <p:cNvSpPr/>
            <p:nvPr/>
          </p:nvSpPr>
          <p:spPr>
            <a:xfrm>
              <a:off x="7114222" y="1928812"/>
              <a:ext cx="4544378" cy="2057400"/>
            </a:xfrm>
            <a:prstGeom prst="roundRect">
              <a:avLst>
                <a:gd name="adj" fmla="val 648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295198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3818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四元组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88720" y="24493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每个对象由（名字、描述、资源、实现）唯一标识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04722" y="280320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60170" y="275129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名字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：唯一标识对象的字符串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04722" y="30880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60170" y="303609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描述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：类型、项目标识、版本信息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04722" y="337375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60170" y="332089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资源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：对象提供、处理或需要的实体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304722" y="365855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60170" y="360568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实现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：基本对象指向文本单元，复合对象为 null</a:t>
              </a:r>
            </a:p>
          </p:txBody>
        </p:sp>
      </p:grpSp>
      <p:grpSp>
        <p:nvGrpSpPr>
          <p:cNvPr id="71" name="c2-kv-2"/>
          <p:cNvGrpSpPr/>
          <p:nvPr/>
        </p:nvGrpSpPr>
        <p:grpSpPr>
          <a:xfrm>
            <a:off x="7107746" y="4171474"/>
            <a:ext cx="4550854" cy="863726"/>
            <a:chOff x="7107746" y="4171474"/>
            <a:chExt cx="4550854" cy="863726"/>
          </a:xfrm>
        </p:grpSpPr>
        <p:sp>
          <p:nvSpPr>
            <p:cNvPr id="66" name="TextBox 66"/>
            <p:cNvSpPr txBox="1"/>
            <p:nvPr/>
          </p:nvSpPr>
          <p:spPr>
            <a:xfrm>
              <a:off x="7107746" y="4171474"/>
              <a:ext cx="863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&lt;part of&gt;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70773" y="4171474"/>
              <a:ext cx="3131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层次联系，如 ER 图 &lt;part of&gt; 数据模型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114222" y="444436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07746" y="4545806"/>
              <a:ext cx="1148029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&lt;interrelated</a:t>
              </a:r>
              <a:br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70773" y="4545806"/>
              <a:ext cx="20449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跨分支关联，如数据模型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&lt;interrelated&gt; 数据流模型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2" name="Rectangle 7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603932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只有把两种联系都记下来，改一个对象时才能找全受影响的对象。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版本控制要解决的四个真实场景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10144" cy="264033"/>
            <a:chOff x="526542" y="1545907"/>
            <a:chExt cx="801014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版本控制把属性和软件的每个版本关联起来，再通过描述一组期望属性来指定和构造所需要的配置。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28447" y="1928812"/>
            <a:ext cx="5631371" cy="2917222"/>
            <a:chOff x="528447" y="1928812"/>
            <a:chExt cx="5631371" cy="291722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584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0911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具体情形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5682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5203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演化历史跟踪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6328" y="2426970"/>
              <a:ext cx="21175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两周写了 6000 行新特性，两天改了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个文件做重构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41876" y="2426970"/>
              <a:ext cx="16108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不记得为何、在何处、如何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改的，评审无从下手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736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78455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308895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历史版本回退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66328" y="2995612"/>
              <a:ext cx="21442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新特性不符合市场要求，或重构导致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重要功能不可用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1876" y="2995612"/>
              <a:ext cx="16108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很难准确而快速地回退到指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定版本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413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65664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多人协作冲突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6328" y="3563302"/>
              <a:ext cx="21442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改了很久的文件已被别人改掉，提交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后又被覆盖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41876" y="3563302"/>
              <a:ext cx="16108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修改内容丢失，冲突难以被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09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13835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2252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代码质量检查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6328" y="4131945"/>
              <a:ext cx="21442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有缺陷或可维护性问题的代码直接合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入版本库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41876" y="42252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形不成质量管控的关口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28812"/>
              <a:ext cx="5626418" cy="2653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766888" y="1928812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42435" y="1928812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447" y="465534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没有版本管理会发生什么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928812"/>
            <a:ext cx="5193982" cy="1772602"/>
            <a:chOff x="6464618" y="1928812"/>
            <a:chExt cx="5193982" cy="1772602"/>
          </a:xfrm>
        </p:grpSpPr>
        <p:sp>
          <p:nvSpPr>
            <p:cNvPr id="35" name="Rectangle 35"/>
            <p:cNvSpPr/>
            <p:nvPr/>
          </p:nvSpPr>
          <p:spPr>
            <a:xfrm>
              <a:off x="6464618" y="1928812"/>
              <a:ext cx="5193982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2062162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83692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6921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命名规范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9223" y="2149316"/>
              <a:ext cx="2824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点分式版本号 M.S.F.B([SP][C])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93218" y="251841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48666" y="2465546"/>
              <a:ext cx="2626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主版本号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：产品平台或整体架构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93218" y="280320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8666" y="2751296"/>
              <a:ext cx="3794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 次版本号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：局部架构、重大特性或不兼容的接口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93218" y="30880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48666" y="3036094"/>
              <a:ext cx="4128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 特性版本号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：规划的新特性；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编译版本号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：构建号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93218" y="337375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8666" y="3320891"/>
              <a:ext cx="3351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 补丁包、C 补丁版本号，方括号表示可选</a:t>
              </a:r>
            </a:p>
          </p:txBody>
        </p:sp>
      </p:grpSp>
      <p:grpSp>
        <p:nvGrpSpPr>
          <p:cNvPr id="57" name="c2-kv-2"/>
          <p:cNvGrpSpPr/>
          <p:nvPr/>
        </p:nvGrpSpPr>
        <p:grpSpPr>
          <a:xfrm>
            <a:off x="6458141" y="3886676"/>
            <a:ext cx="5200459" cy="1717167"/>
            <a:chOff x="6458141" y="3886676"/>
            <a:chExt cx="5200459" cy="1717167"/>
          </a:xfrm>
        </p:grpSpPr>
        <p:sp>
          <p:nvSpPr>
            <p:cNvPr id="49" name="TextBox 49"/>
            <p:cNvSpPr txBox="1"/>
            <p:nvPr/>
          </p:nvSpPr>
          <p:spPr>
            <a:xfrm>
              <a:off x="6458141" y="38866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号码顺序型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52563" y="3886676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明显给出版本间的传递关系，但派生多个新版本时标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识困难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3986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8141" y="45010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符号命名型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2563" y="4501039"/>
              <a:ext cx="388188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V1/VMS/DB Server 表示 VMS 上的数据库服务器版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50120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58141" y="51144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属性标识型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52563" y="5114449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把客户名、语言、状态、硬件平台、生成日期反映在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标识中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8" name="Rectangle 5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1273" y="6039326"/>
              <a:ext cx="6026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接口不兼容就要动次版本号 S，这条约定让使用方从版本号就能判断升级风险。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集中式与分布式版本控制系统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92774" cy="264033"/>
            <a:chOff x="526542" y="1545907"/>
            <a:chExt cx="61927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区别只有一条：客户端本地有没有完整的版本库，其余差异都是由它派生的。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28812"/>
            <a:ext cx="5410200" cy="2400300"/>
            <a:chOff x="533400" y="1928812"/>
            <a:chExt cx="5410200" cy="24003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476500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5998" y="2130266"/>
              <a:ext cx="1677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集中式（CVS、SVN）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48412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43220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版本库集中存放在中央服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务器上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0118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959894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工作前拉取最新版本，完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成后提交到服务器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5404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48757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客户端只存所拉取的文件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67100" y="1928812"/>
              <a:ext cx="2476500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76625" y="2062162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79698" y="2130266"/>
              <a:ext cx="1064717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分布式（Git、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Mercurial）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95700" y="270319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1148" y="2650331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每人维护自己的本地版本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库（克隆）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95700" y="323088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1148" y="3178016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可提交到本地库无需联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网，也可拉取和推送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95700" y="375856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51148" y="3706654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客户端存储着完整的版本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057525" y="294798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12579" y="30727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选型</a:t>
              </a:r>
            </a:p>
          </p:txBody>
        </p:sp>
      </p:grpSp>
      <p:grpSp>
        <p:nvGrpSpPr>
          <p:cNvPr id="37" name="c1-bullets-2"/>
          <p:cNvGrpSpPr/>
          <p:nvPr/>
        </p:nvGrpSpPr>
        <p:grpSpPr>
          <a:xfrm>
            <a:off x="526923" y="4515326"/>
            <a:ext cx="2483536" cy="1136142"/>
            <a:chOff x="526923" y="4515326"/>
            <a:chExt cx="2483536" cy="1136142"/>
          </a:xfrm>
        </p:grpSpPr>
        <p:sp>
          <p:nvSpPr>
            <p:cNvPr id="30" name="TextBox 30"/>
            <p:cNvSpPr txBox="1"/>
            <p:nvPr/>
          </p:nvSpPr>
          <p:spPr>
            <a:xfrm>
              <a:off x="526923" y="451532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集中式的主要缺点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33400" y="4847272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7428" y="48163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必须联网才能工作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3400" y="5139690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7428" y="51096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服务器单点故障影响整个团队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33400" y="5433060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7428" y="54021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容易发生版本数据丢失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243447" y="1928812"/>
            <a:ext cx="5415153" cy="2357152"/>
            <a:chOff x="6243447" y="1928812"/>
            <a:chExt cx="5415153" cy="2357152"/>
          </a:xfrm>
        </p:grpSpPr>
        <p:sp>
          <p:nvSpPr>
            <p:cNvPr id="38" name="Rectangle 38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635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7608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集中式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85870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43079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3704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集中式架构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43491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分布式架构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69176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3079" y="29022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本地历史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3704" y="2808923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本地无完整历史，服务器丢了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就都丢了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3491" y="2808923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本地保存完整历史，可从任何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本地库恢复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254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33766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提交方式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33704" y="337661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只能联网提交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3491" y="337661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可离线提交到本地仓库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635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64045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37585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分支能力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33704" y="375856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以目录方式管理，不够灵活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43491" y="375856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分支管理灵活且强大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1928812"/>
              <a:ext cx="5410200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434262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44050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43447" y="40952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逐条对比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4412932"/>
            <a:ext cx="5410200" cy="1188720"/>
            <a:chOff x="6248400" y="4412932"/>
            <a:chExt cx="5410200" cy="1188720"/>
          </a:xfrm>
        </p:grpSpPr>
        <p:sp>
          <p:nvSpPr>
            <p:cNvPr id="64" name="Rectangle 64"/>
            <p:cNvSpPr/>
            <p:nvPr/>
          </p:nvSpPr>
          <p:spPr>
            <a:xfrm>
              <a:off x="6248400" y="4412932"/>
              <a:ext cx="5410200" cy="1188720"/>
            </a:xfrm>
            <a:prstGeom prst="roundRect">
              <a:avLst>
                <a:gd name="adj" fmla="val 112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4546282"/>
              <a:ext cx="47625" cy="9220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67475" y="45939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60147" y="46267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33451" y="46334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源课件对比表的一处笔误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60998" y="4949666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130 页写作“客户端本地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保存完整版本历史”，“并”字为衍文，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本讲义按“保存完整版本历史”列出。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集中式已经逐渐被分布式取代，但在需要严格集中管控的场合仍然有人用。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26317" cy="909257"/>
            <a:chOff x="520446" y="342900"/>
            <a:chExt cx="44263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263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Git 的四个区与七条基本命令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46670" cy="264033"/>
            <a:chOff x="526542" y="1545907"/>
            <a:chExt cx="76466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把工作区、暂存区、本地仓库、远程仓库四个位置摆清楚，命令的作用就是在它们之间搬东西。</a:t>
              </a:r>
            </a:p>
          </p:txBody>
        </p:sp>
      </p:grpSp>
      <p:grpSp>
        <p:nvGrpSpPr>
          <p:cNvPr id="45" name="c1-graph-1"/>
          <p:cNvGrpSpPr/>
          <p:nvPr/>
        </p:nvGrpSpPr>
        <p:grpSpPr>
          <a:xfrm>
            <a:off x="1212532" y="2009775"/>
            <a:ext cx="9920288" cy="1401604"/>
            <a:chOff x="1212532" y="2009775"/>
            <a:chExt cx="9920288" cy="1401604"/>
          </a:xfrm>
        </p:grpSpPr>
        <p:sp>
          <p:nvSpPr>
            <p:cNvPr id="9" name="Freeform 9"/>
            <p:cNvSpPr/>
            <p:nvPr/>
          </p:nvSpPr>
          <p:spPr>
            <a:xfrm>
              <a:off x="2120265" y="2248218"/>
              <a:ext cx="2085022" cy="450215"/>
            </a:xfrm>
            <a:custGeom>
              <a:avLst/>
              <a:gdLst/>
              <a:ahLst/>
              <a:cxnLst/>
              <a:rect l="l" t="t" r="r" b="b"/>
              <a:pathLst>
                <a:path w="2085022" h="450215">
                  <a:moveTo>
                    <a:pt x="0" y="450215"/>
                  </a:moveTo>
                  <a:cubicBezTo>
                    <a:pt x="721995" y="16510"/>
                    <a:pt x="1417003" y="0"/>
                    <a:pt x="2085022" y="4006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80522" y="260794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90775" y="3122295"/>
              <a:ext cx="1714500" cy="239395"/>
            </a:xfrm>
            <a:custGeom>
              <a:avLst/>
              <a:gdLst/>
              <a:ahLst/>
              <a:cxnLst/>
              <a:rect l="l" t="t" r="r" b="b"/>
              <a:pathLst>
                <a:path w="1714500" h="239395">
                  <a:moveTo>
                    <a:pt x="1714500" y="0"/>
                  </a:moveTo>
                  <a:cubicBezTo>
                    <a:pt x="1113155" y="227965"/>
                    <a:pt x="541655" y="239395"/>
                    <a:pt x="0" y="342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02192" y="311181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10478"/>
                  </a:moveTo>
                  <a:lnTo>
                    <a:pt x="105728" y="0"/>
                  </a:lnTo>
                  <a:lnTo>
                    <a:pt x="72390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013008" y="2225992"/>
              <a:ext cx="2195512" cy="472440"/>
            </a:xfrm>
            <a:custGeom>
              <a:avLst/>
              <a:gdLst/>
              <a:ahLst/>
              <a:cxnLst/>
              <a:rect l="l" t="t" r="r" b="b"/>
              <a:pathLst>
                <a:path w="2195512" h="472440">
                  <a:moveTo>
                    <a:pt x="0" y="472440"/>
                  </a:moveTo>
                  <a:cubicBezTo>
                    <a:pt x="758825" y="16510"/>
                    <a:pt x="1490662" y="0"/>
                    <a:pt x="2195512" y="4229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183755" y="260794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284470" y="3129915"/>
              <a:ext cx="1782128" cy="228600"/>
            </a:xfrm>
            <a:custGeom>
              <a:avLst/>
              <a:gdLst/>
              <a:ahLst/>
              <a:cxnLst/>
              <a:rect l="l" t="t" r="r" b="b"/>
              <a:pathLst>
                <a:path w="1782128" h="228600">
                  <a:moveTo>
                    <a:pt x="1782128" y="0"/>
                  </a:moveTo>
                  <a:cubicBezTo>
                    <a:pt x="1171892" y="222885"/>
                    <a:pt x="577850" y="228600"/>
                    <a:pt x="0" y="171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94935" y="310229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12383"/>
                  </a:moveTo>
                  <a:lnTo>
                    <a:pt x="105728" y="0"/>
                  </a:lnTo>
                  <a:lnTo>
                    <a:pt x="7239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017192" y="2248218"/>
              <a:ext cx="2084070" cy="450215"/>
            </a:xfrm>
            <a:custGeom>
              <a:avLst/>
              <a:gdLst/>
              <a:ahLst/>
              <a:cxnLst/>
              <a:rect l="l" t="t" r="r" b="b"/>
              <a:pathLst>
                <a:path w="2084070" h="450215">
                  <a:moveTo>
                    <a:pt x="0" y="450215"/>
                  </a:moveTo>
                  <a:cubicBezTo>
                    <a:pt x="721995" y="16510"/>
                    <a:pt x="1416685" y="0"/>
                    <a:pt x="2084070" y="4006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76498" y="260794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318182" y="3133725"/>
              <a:ext cx="1652588" cy="231775"/>
            </a:xfrm>
            <a:custGeom>
              <a:avLst/>
              <a:gdLst/>
              <a:ahLst/>
              <a:cxnLst/>
              <a:rect l="l" t="t" r="r" b="b"/>
              <a:pathLst>
                <a:path w="1652588" h="231775">
                  <a:moveTo>
                    <a:pt x="1652588" y="0"/>
                  </a:moveTo>
                  <a:cubicBezTo>
                    <a:pt x="1072198" y="220345"/>
                    <a:pt x="521335" y="231775"/>
                    <a:pt x="0" y="342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28648" y="312324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10478"/>
                  </a:moveTo>
                  <a:lnTo>
                    <a:pt x="105728" y="0"/>
                  </a:lnTo>
                  <a:lnTo>
                    <a:pt x="72390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847850" y="2087880"/>
              <a:ext cx="8698230" cy="601028"/>
            </a:xfrm>
            <a:custGeom>
              <a:avLst/>
              <a:gdLst/>
              <a:ahLst/>
              <a:cxnLst/>
              <a:rect l="l" t="t" r="r" b="b"/>
              <a:pathLst>
                <a:path w="8698230" h="601028">
                  <a:moveTo>
                    <a:pt x="8698230" y="601028"/>
                  </a:moveTo>
                  <a:lnTo>
                    <a:pt x="6696075" y="0"/>
                  </a:lnTo>
                  <a:lnTo>
                    <a:pt x="1800225" y="0"/>
                  </a:lnTo>
                  <a:lnTo>
                    <a:pt x="0" y="5715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757362" y="261461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74295"/>
                  </a:moveTo>
                  <a:lnTo>
                    <a:pt x="76200" y="0"/>
                  </a:lnTo>
                  <a:lnTo>
                    <a:pt x="10477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12532" y="2698432"/>
              <a:ext cx="1089660" cy="436245"/>
            </a:xfrm>
            <a:prstGeom prst="roundRect">
              <a:avLst>
                <a:gd name="adj" fmla="val 2183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05275" y="2698432"/>
              <a:ext cx="1089660" cy="436245"/>
            </a:xfrm>
            <a:prstGeom prst="roundRect">
              <a:avLst>
                <a:gd name="adj" fmla="val 2183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66598" y="2698432"/>
              <a:ext cx="1173480" cy="436245"/>
            </a:xfrm>
            <a:prstGeom prst="roundRect">
              <a:avLst>
                <a:gd name="adj" fmla="val 2183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959340" y="2698432"/>
              <a:ext cx="1173480" cy="436245"/>
            </a:xfrm>
            <a:prstGeom prst="roundRect">
              <a:avLst>
                <a:gd name="adj" fmla="val 2183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70863" y="286035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3606" y="286035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暂存区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6259" y="286035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本地仓库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99002" y="286035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远程仓库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79432" y="229457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07425" y="232362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936558" y="3214688"/>
              <a:ext cx="5343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55641" y="3243739"/>
              <a:ext cx="495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checkout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34075" y="2278380"/>
              <a:ext cx="43529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56063" y="2307431"/>
              <a:ext cx="3903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commit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959792" y="3214688"/>
              <a:ext cx="3629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84221" y="3243739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reset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46832" y="229457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73995" y="232362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push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931592" y="3220402"/>
              <a:ext cx="33623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57437" y="3249454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clone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969318" y="2009775"/>
              <a:ext cx="25336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97407" y="2038826"/>
              <a:ext cx="1971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pull</a:t>
              </a:r>
            </a:p>
          </p:txBody>
        </p:sp>
      </p:grpSp>
      <p:grpSp>
        <p:nvGrpSpPr>
          <p:cNvPr id="74" name="c1-table-2"/>
          <p:cNvGrpSpPr/>
          <p:nvPr/>
        </p:nvGrpSpPr>
        <p:grpSpPr>
          <a:xfrm>
            <a:off x="533400" y="3690938"/>
            <a:ext cx="11125200" cy="2000250"/>
            <a:chOff x="533400" y="3690938"/>
            <a:chExt cx="11125200" cy="2000250"/>
          </a:xfrm>
        </p:grpSpPr>
        <p:sp>
          <p:nvSpPr>
            <p:cNvPr id="46" name="Rectangle 46"/>
            <p:cNvSpPr/>
            <p:nvPr/>
          </p:nvSpPr>
          <p:spPr>
            <a:xfrm>
              <a:off x="533400" y="3690938"/>
              <a:ext cx="11125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8416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69716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1016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32316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0555" y="4212431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854518" y="42124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把远程仓库拷贝到本地机器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93155" y="4212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17117" y="42124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把本地提交推送到远程仓库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486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449103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0555" y="46124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54518" y="46124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把文件更改保存到暂存区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93155" y="4612481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pull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17117" y="46124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拉取远程最新提交并合并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48863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0555" y="5012531"/>
              <a:ext cx="531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commit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54518" y="50125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把暂存区文件提交到本地仓库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93155" y="501253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checkout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17117" y="501253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用暂存区或本地库内容重置乱改的文件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5286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3400" y="529113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0555" y="5412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reset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854518" y="54125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撤销提交或重置暂存区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3690938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752600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91238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15200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5" name="Rectangle 7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8373"/>
              <a:ext cx="683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commit 只写进本地仓库，别人看不到；只有 push 之后改动才进入团队共享的历史。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提交要原子，分支要分工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375404" cy="264033"/>
            <a:chOff x="526542" y="1545907"/>
            <a:chExt cx="43754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提交粒度和分支模型是团队协作的两条最基本的约定。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28812"/>
            <a:ext cx="5193982" cy="2703195"/>
            <a:chOff x="533400" y="1928812"/>
            <a:chExt cx="5193982" cy="270319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2703195"/>
            </a:xfrm>
            <a:prstGeom prst="roundRect">
              <a:avLst>
                <a:gd name="adj" fmla="val 493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6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提交规范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5240" y="21507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原子性与描述消息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47650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原子性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：每次提交只做一件事情，不要把多件事混在一次提交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232" y="3033712"/>
              <a:ext cx="3603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commit 命令中的描述消息通常包含四部分：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8662" y="33899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4682" y="33337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类型：新功能、缺陷修复、重构、测试、文档、格式化等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28662" y="36899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4682" y="36337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主题：提交的简要描述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8662" y="399097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4682" y="393477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主体：提交的详细描述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28662" y="42910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4682" y="423481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链接：与开发任务、缺陷等其他软件制品的链接关系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802505"/>
            <a:ext cx="5193982" cy="863918"/>
            <a:chOff x="533400" y="4802505"/>
            <a:chExt cx="5193982" cy="863918"/>
          </a:xfrm>
        </p:grpSpPr>
        <p:sp>
          <p:nvSpPr>
            <p:cNvPr id="24" name="Rectangle 24"/>
            <p:cNvSpPr/>
            <p:nvPr/>
          </p:nvSpPr>
          <p:spPr>
            <a:xfrm>
              <a:off x="533400" y="4802505"/>
              <a:ext cx="5193982" cy="863918"/>
            </a:xfrm>
            <a:prstGeom prst="roundRect">
              <a:avLst>
                <a:gd name="adj" fmla="val 1323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133975"/>
              <a:ext cx="200026" cy="200025"/>
              <a:chOff x="738188" y="5133975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1339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1784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2895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501586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原子提交的直接好处是回退时可以只撤掉一件事，不用连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带撤掉无关的修改。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6025324" y="1950720"/>
            <a:ext cx="5455539" cy="1198435"/>
            <a:chOff x="6025324" y="1950720"/>
            <a:chExt cx="5455539" cy="1198435"/>
          </a:xfrm>
        </p:grpSpPr>
        <p:sp>
          <p:nvSpPr>
            <p:cNvPr id="31" name="TextBox 31"/>
            <p:cNvSpPr txBox="1"/>
            <p:nvPr/>
          </p:nvSpPr>
          <p:spPr>
            <a:xfrm>
              <a:off x="6025324" y="195072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为什么要分支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40755" y="23241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96774" y="2267902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所有人在同一版本上开发，提交混杂在一起，难以持续集成和发布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040755" y="26327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96774" y="257651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整体代码长期处于不稳定状态，随时发布做不到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040755" y="29413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96774" y="288512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一个没开发完的特性会挡住一个紧急的缺陷修复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032182" y="3266122"/>
            <a:ext cx="5626418" cy="2400300"/>
            <a:chOff x="6032182" y="3266122"/>
            <a:chExt cx="5626418" cy="2400300"/>
          </a:xfrm>
        </p:grpSpPr>
        <p:sp>
          <p:nvSpPr>
            <p:cNvPr id="39" name="Rectangle 39"/>
            <p:cNvSpPr/>
            <p:nvPr/>
          </p:nvSpPr>
          <p:spPr>
            <a:xfrm>
              <a:off x="6032182" y="3266122"/>
              <a:ext cx="562641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954" y="3387566"/>
              <a:ext cx="1190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Git 常用分支类型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81566" y="33875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对应什么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29338" y="3787616"/>
              <a:ext cx="1065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主分支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17167" y="37876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对应版本发布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40614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406622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9338" y="4187666"/>
              <a:ext cx="1231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develop 开发分支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17167" y="41876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对应开发环境的代码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44615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29338" y="4587716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feature 特性分支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17167" y="458771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对应新功能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48615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32182" y="486632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29338" y="4987766"/>
              <a:ext cx="1231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release 发布分支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17167" y="49877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为版本发布做准备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52616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29338" y="5387816"/>
              <a:ext cx="1144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hotfix 补丁分支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17167" y="538781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为修复缺陷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266122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715250" y="326612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1" name="Rectangle 6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8373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分支合并时冲突文件里会标记出不同分支中的内容，最终由开发人员之间协商决定保留哪一份。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软件项目配置管理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变化控制、配置审计与状态报告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变化控制把人的努力与自动工具结合起来，建立一套机制，有意识地控制软件的变化。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3334664" cy="2149411"/>
            <a:chOff x="533400" y="1938338"/>
            <a:chExt cx="3334664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提出变化报告，分析影响范围与优先级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2422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CCB 决定做不做，批准后签发变化命令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提取与修改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2920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从项目数据库提取对象并修改，接受 SQA 检查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修改后的对象重新纳入版本控制，更新基线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249102"/>
            <a:ext cx="5626418" cy="1444942"/>
            <a:chOff x="533400" y="4249102"/>
            <a:chExt cx="5626418" cy="1444942"/>
          </a:xfrm>
        </p:grpSpPr>
        <p:sp>
          <p:nvSpPr>
            <p:cNvPr id="27" name="Rectangle 27"/>
            <p:cNvSpPr/>
            <p:nvPr/>
          </p:nvSpPr>
          <p:spPr>
            <a:xfrm>
              <a:off x="533400" y="4249102"/>
              <a:ext cx="5626418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8245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430078"/>
              <a:ext cx="108680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7922" y="4462939"/>
              <a:ext cx="954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变更请求表 CRF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47100" y="44696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一张表要记录的内容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483870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478678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项目名、请求人、日期、编号、要求的变更描述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2000" y="512349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7448" y="5071586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变更分析员与日期、影响模块、评估、优先级、CCB 决定、实施责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任人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928812"/>
            <a:ext cx="5193982" cy="1444942"/>
            <a:chOff x="6464618" y="1928812"/>
            <a:chExt cx="5193982" cy="1444942"/>
          </a:xfrm>
        </p:grpSpPr>
        <p:sp>
          <p:nvSpPr>
            <p:cNvPr id="37" name="Rectangle 37"/>
            <p:cNvSpPr/>
            <p:nvPr/>
          </p:nvSpPr>
          <p:spPr>
            <a:xfrm>
              <a:off x="6464618" y="1928812"/>
              <a:ext cx="519398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206216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3692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921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配置审计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99223" y="21493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确保所需要的变化被正确实现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7216" y="2465546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正式的技术复审：检查修改的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技术正确性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77216" y="2751296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软件配置审计：作为补充措施，检查修改是否按规程执行、文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档是否同步更新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3538538"/>
            <a:ext cx="5193982" cy="1202055"/>
            <a:chOff x="6464618" y="3538538"/>
            <a:chExt cx="5193982" cy="1202055"/>
          </a:xfrm>
        </p:grpSpPr>
        <p:sp>
          <p:nvSpPr>
            <p:cNvPr id="45" name="Rectangle 45"/>
            <p:cNvSpPr/>
            <p:nvPr/>
          </p:nvSpPr>
          <p:spPr>
            <a:xfrm>
              <a:off x="6464618" y="3538538"/>
              <a:ext cx="519398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367188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3692" y="37195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69214" y="3752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状态报告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9223" y="375904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配置状态报告回答四个问题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77216" y="4076224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发生了什么事？　② 谁做的这件事？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77216" y="4361021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何时发生的？　④ 有什么影响？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464618" y="4906328"/>
            <a:ext cx="5193982" cy="788670"/>
            <a:chOff x="6464618" y="4906328"/>
            <a:chExt cx="5193982" cy="788670"/>
          </a:xfrm>
        </p:grpSpPr>
        <p:sp>
          <p:nvSpPr>
            <p:cNvPr id="53" name="Rectangle 53"/>
            <p:cNvSpPr/>
            <p:nvPr/>
          </p:nvSpPr>
          <p:spPr>
            <a:xfrm>
              <a:off x="6464618" y="4906328"/>
              <a:ext cx="5193982" cy="788670"/>
            </a:xfrm>
            <a:prstGeom prst="roundRect">
              <a:avLst>
                <a:gd name="adj" fmla="val 1449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57347" y="5196958"/>
              <a:ext cx="224134" cy="192560"/>
              <a:chOff x="6657347" y="5196958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769418" y="52673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57347" y="51969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69418" y="5345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2491" y="5093494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少了配置审计这一环，批准的变更和实际入库的代码可能对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不上，审批就成了形式。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74224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配置管理是诸多管理活动中最易操作、最容易实现，并且能在项目上最先体现出效果的管理手段。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软件质量保证与能力成熟度模型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从度量产品质量，到度量生产产品的过程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质量的定义与模型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复审、走查与审查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过程质量的影响因素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324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CMM 五个等级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8332" cy="909257"/>
            <a:chOff x="520446" y="342900"/>
            <a:chExt cx="5228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软件质量保证与能力成熟度模型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8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软件质量是“与需求相一致的程度”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定义里的每一个限定词都在回答同一个问题：拿什么作为判断质量的尺子。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5626418" cy="1483995"/>
            <a:chOff x="533400" y="1941195"/>
            <a:chExt cx="5626418" cy="14839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软件质量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软件质量是软件与明确地叙述的功能和性能需求、文档中明确描述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的开发标准，以及任何专业开发的软件产品都应该具有的隐含特性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相一致的程度。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542" y="3623310"/>
            <a:ext cx="5273421" cy="1463231"/>
            <a:chOff x="526542" y="3623310"/>
            <a:chExt cx="5273421" cy="1463231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36233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定义强调的三个要点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3096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9078" y="39693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197" y="394239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软件需求是度量软件质量的基础，与需求不一致就是质量问题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24148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078" y="42798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197" y="425386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指定的开发标准定义了一组指导开发的准则，不符合标准也是质量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81012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9078" y="48485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197" y="482250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通常有一组没有显式描述的隐含需求，它们同样要满足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208270"/>
            <a:ext cx="5626418" cy="488632"/>
            <a:chOff x="533400" y="5208270"/>
            <a:chExt cx="5626418" cy="488632"/>
          </a:xfrm>
        </p:grpSpPr>
        <p:sp>
          <p:nvSpPr>
            <p:cNvPr id="27" name="Rectangle 27"/>
            <p:cNvSpPr/>
            <p:nvPr/>
          </p:nvSpPr>
          <p:spPr>
            <a:xfrm>
              <a:off x="533400" y="5208270"/>
              <a:ext cx="5626418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349358"/>
              <a:ext cx="224134" cy="192560"/>
              <a:chOff x="726129" y="534935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4197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3493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497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35876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需求写得含糊，质量就无从判断，争议最后只能靠嗓门解决。</a:t>
              </a:r>
            </a:p>
          </p:txBody>
        </p:sp>
      </p:grpSp>
      <p:grpSp>
        <p:nvGrpSpPr>
          <p:cNvPr id="51" name="c2-tree-1"/>
          <p:cNvGrpSpPr/>
          <p:nvPr/>
        </p:nvGrpSpPr>
        <p:grpSpPr>
          <a:xfrm>
            <a:off x="7129462" y="1809750"/>
            <a:ext cx="3988118" cy="1922145"/>
            <a:chOff x="7129462" y="1809750"/>
            <a:chExt cx="3988118" cy="1922145"/>
          </a:xfrm>
        </p:grpSpPr>
        <p:sp>
          <p:nvSpPr>
            <p:cNvPr id="34" name="Freeform 34"/>
            <p:cNvSpPr/>
            <p:nvPr/>
          </p:nvSpPr>
          <p:spPr>
            <a:xfrm>
              <a:off x="7330440" y="2894648"/>
              <a:ext cx="865822" cy="636270"/>
            </a:xfrm>
            <a:custGeom>
              <a:avLst/>
              <a:gdLst/>
              <a:ahLst/>
              <a:cxnLst/>
              <a:rect l="l" t="t" r="r" b="b"/>
              <a:pathLst>
                <a:path w="865822" h="636270">
                  <a:moveTo>
                    <a:pt x="865822" y="0"/>
                  </a:moveTo>
                  <a:lnTo>
                    <a:pt x="0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196262" y="2894648"/>
              <a:ext cx="865822" cy="636270"/>
            </a:xfrm>
            <a:custGeom>
              <a:avLst/>
              <a:gdLst/>
              <a:ahLst/>
              <a:cxnLst/>
              <a:rect l="l" t="t" r="r" b="b"/>
              <a:pathLst>
                <a:path w="865822" h="636270">
                  <a:moveTo>
                    <a:pt x="0" y="0"/>
                  </a:moveTo>
                  <a:lnTo>
                    <a:pt x="865822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792778" y="2894648"/>
              <a:ext cx="9525" cy="636270"/>
            </a:xfrm>
            <a:custGeom>
              <a:avLst/>
              <a:gdLst/>
              <a:ahLst/>
              <a:cxnLst/>
              <a:rect l="l" t="t" r="r" b="b"/>
              <a:pathLst>
                <a:path w="9525" h="636270">
                  <a:moveTo>
                    <a:pt x="0" y="0"/>
                  </a:moveTo>
                  <a:lnTo>
                    <a:pt x="0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196262" y="2259330"/>
              <a:ext cx="865822" cy="635317"/>
            </a:xfrm>
            <a:custGeom>
              <a:avLst/>
              <a:gdLst/>
              <a:ahLst/>
              <a:cxnLst/>
              <a:rect l="l" t="t" r="r" b="b"/>
              <a:pathLst>
                <a:path w="865822" h="635317">
                  <a:moveTo>
                    <a:pt x="865822" y="0"/>
                  </a:moveTo>
                  <a:lnTo>
                    <a:pt x="0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62085" y="2259330"/>
              <a:ext cx="1730692" cy="635317"/>
            </a:xfrm>
            <a:custGeom>
              <a:avLst/>
              <a:gdLst/>
              <a:ahLst/>
              <a:cxnLst/>
              <a:rect l="l" t="t" r="r" b="b"/>
              <a:pathLst>
                <a:path w="1730692" h="635317">
                  <a:moveTo>
                    <a:pt x="0" y="0"/>
                  </a:moveTo>
                  <a:lnTo>
                    <a:pt x="1730692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129462" y="3329940"/>
              <a:ext cx="401955" cy="4019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861108" y="3329940"/>
              <a:ext cx="401955" cy="4019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871460" y="2569845"/>
              <a:ext cx="649605" cy="649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591800" y="3329940"/>
              <a:ext cx="401955" cy="4019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467975" y="2569845"/>
              <a:ext cx="649605" cy="649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612505" y="1809750"/>
              <a:ext cx="899160" cy="8991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93559" y="34704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25204" y="34704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27454" y="28341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评价准则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55897" y="34704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23969" y="28341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评价准则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1349" y="219884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软件质量要素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4023360"/>
            <a:ext cx="5193982" cy="1673542"/>
            <a:chOff x="6464618" y="4023360"/>
            <a:chExt cx="5193982" cy="1673542"/>
          </a:xfrm>
        </p:grpSpPr>
        <p:sp>
          <p:nvSpPr>
            <p:cNvPr id="52" name="Rectangle 52"/>
            <p:cNvSpPr/>
            <p:nvPr/>
          </p:nvSpPr>
          <p:spPr>
            <a:xfrm>
              <a:off x="6464618" y="4023360"/>
              <a:ext cx="5193982" cy="1673542"/>
            </a:xfrm>
            <a:prstGeom prst="roundRect">
              <a:avLst>
                <a:gd name="adj" fmla="val 796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57022" y="421576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44462" y="42500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74064" y="42557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质量模型都是分层的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0164" y="459009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多种软件质量模型有一个共同点：把质量特性定义成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分层模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型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，基本质量特性由一些子特性定义和度量。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65595" y="52054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21614" y="5149215"/>
              <a:ext cx="4713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1976 年 Boehm，1979 年 McCall，1991 年 ISO/IEC 9126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分层的意义在于：要素不可直接测量，准则可判断，度量可计数，一层层落到可操作的数字上。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0472" cy="909257"/>
            <a:chOff x="520446" y="342900"/>
            <a:chExt cx="5700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软件质量保证与能力成熟度模型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0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McCall 的十一个质量要素与评价准则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十一个要素按软件生存的三个方向分组，二十一条评价准则支撑这些要素。</a:t>
              </a:r>
            </a:p>
          </p:txBody>
        </p:sp>
      </p:grpSp>
      <p:grpSp>
        <p:nvGrpSpPr>
          <p:cNvPr id="24" name="c1-table-1"/>
          <p:cNvGrpSpPr/>
          <p:nvPr/>
        </p:nvGrpSpPr>
        <p:grpSpPr>
          <a:xfrm>
            <a:off x="528447" y="1928812"/>
            <a:ext cx="4333113" cy="1789462"/>
            <a:chOff x="528447" y="1928812"/>
            <a:chExt cx="4333113" cy="178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32816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632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5904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质量要素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产品运行性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26336" y="242697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正确性、可靠性、效率、完整性、可用性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8700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91765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产品修正性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6336" y="2808923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可维护性、灵活性、可测试性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6800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8078" y="3189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产品转移性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26336" y="3189923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可移植性、可重用性、可互操作性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928812"/>
              <a:ext cx="432816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2689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447" y="352758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十一个质量要素按三个方向分组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844290"/>
            <a:ext cx="4328160" cy="1687830"/>
            <a:chOff x="533400" y="3844290"/>
            <a:chExt cx="4328160" cy="1687830"/>
          </a:xfrm>
        </p:grpSpPr>
        <p:sp>
          <p:nvSpPr>
            <p:cNvPr id="25" name="Rectangle 25"/>
            <p:cNvSpPr/>
            <p:nvPr/>
          </p:nvSpPr>
          <p:spPr>
            <a:xfrm>
              <a:off x="533400" y="3844290"/>
              <a:ext cx="432816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97764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18450" y="4064794"/>
              <a:ext cx="26243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三个方向怎么理解，以及“有效性”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4381976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运行性管现在好不好用，修正性管改起来难不难，转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移性管换个环境还能不能用。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909661"/>
              <a:ext cx="3768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源课件把产品运行性的一项写作“有效性”，它对应的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英文是 Efficiency，本讲义按通行译法写作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效率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166360" y="1928812"/>
            <a:ext cx="6492240" cy="3050858"/>
            <a:chOff x="5166360" y="1928812"/>
            <a:chExt cx="6492240" cy="3050858"/>
          </a:xfrm>
        </p:grpSpPr>
        <p:sp>
          <p:nvSpPr>
            <p:cNvPr id="33" name="Rectangle 33"/>
            <p:cNvSpPr/>
            <p:nvPr/>
          </p:nvSpPr>
          <p:spPr>
            <a:xfrm>
              <a:off x="5166360" y="1928812"/>
              <a:ext cx="649224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8227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评价准则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5682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评价准则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9900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评价准则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61038" y="2426970"/>
              <a:ext cx="1413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可审查性 Auditability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7981" y="2426970"/>
              <a:ext cx="1329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执行效率 Efficiency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11106" y="2426970"/>
              <a:ext cx="1980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自文档化 Self-documentation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166360" y="2687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166360" y="2691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1038" y="2808923"/>
              <a:ext cx="1103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准确性 Accuracy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67981" y="2808923"/>
              <a:ext cx="1527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可扩充性 Expandability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11106" y="2808923"/>
              <a:ext cx="1145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简单性 Simplicity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3068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1038" y="3189923"/>
              <a:ext cx="16054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通信通用性 Commonality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67981" y="3189923"/>
              <a:ext cx="1188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通用性 Generality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11106" y="3189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软件系统独立性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3449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66360" y="3453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1038" y="3571875"/>
              <a:ext cx="1407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完全性 Completeness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67981" y="3571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硬件独立性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11106" y="3571875"/>
              <a:ext cx="1449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可追踪性 Traceability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3830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1038" y="3952875"/>
              <a:ext cx="1301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简明性 Conciseness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67981" y="3952875"/>
              <a:ext cx="1605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检测性 Instrumentation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11106" y="3952875"/>
              <a:ext cx="1173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易培训性 Training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4211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66360" y="4216718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61038" y="4333875"/>
              <a:ext cx="1301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 Consistency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67981" y="4333875"/>
              <a:ext cx="1216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模块化 Modularity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11106" y="4333875"/>
              <a:ext cx="1612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容错性 Error-tolerance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66360" y="45939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61038" y="4715828"/>
              <a:ext cx="196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数据通用性 Data Commonality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67981" y="4715828"/>
              <a:ext cx="1400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可操作性 Operability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11106" y="4715828"/>
              <a:ext cx="1068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 Security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66360" y="1928812"/>
              <a:ext cx="649224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68540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511665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一个质量要素通常由多条准则共同支撑，同一条准则也可能服务于多个要素。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软件质量保证与能力成熟度模型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质量保证的三类手段与两类人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9290" cy="278702"/>
            <a:chOff x="526161" y="1547336"/>
            <a:chExt cx="5749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复审管编码之前的文档，测试管程序，正确性证明管最严格的场合。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542" y="1964055"/>
            <a:ext cx="5633276" cy="1059370"/>
            <a:chOff x="526542" y="1964055"/>
            <a:chExt cx="5633276" cy="1059370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基于非执行的测试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02942" y="196405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即复审或评审，保证编码之前各阶段文档的质量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526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6124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基于执行的测试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02942" y="236124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即软件测试，是保证程序质量的最后一道防线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508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27593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程序正确性证明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02942" y="27593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用数学方法验证程序是否与说明完全一致</a:t>
              </a:r>
            </a:p>
          </p:txBody>
        </p:sp>
      </p:grpSp>
      <p:grpSp>
        <p:nvGrpSpPr>
          <p:cNvPr id="38" name="c1-compare-2"/>
          <p:cNvGrpSpPr/>
          <p:nvPr/>
        </p:nvGrpSpPr>
        <p:grpSpPr>
          <a:xfrm>
            <a:off x="533400" y="3145155"/>
            <a:ext cx="5626418" cy="2362200"/>
            <a:chOff x="533400" y="3145155"/>
            <a:chExt cx="5626418" cy="2362200"/>
          </a:xfrm>
        </p:grpSpPr>
        <p:sp>
          <p:nvSpPr>
            <p:cNvPr id="18" name="Rectangle 18"/>
            <p:cNvSpPr/>
            <p:nvPr/>
          </p:nvSpPr>
          <p:spPr>
            <a:xfrm>
              <a:off x="533400" y="3145155"/>
              <a:ext cx="2574608" cy="2362200"/>
            </a:xfrm>
            <a:prstGeom prst="roundRect">
              <a:avLst>
                <a:gd name="adj" fmla="val 56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278505"/>
              <a:ext cx="47625" cy="20955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047" y="336042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软件工程师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373665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3680460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采用先进的技术方法和度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29577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23957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进行正式的技术复审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459867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454247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完成计划周密的软件测试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585210" y="3145155"/>
              <a:ext cx="2574608" cy="2362200"/>
            </a:xfrm>
            <a:prstGeom prst="roundRect">
              <a:avLst>
                <a:gd name="adj" fmla="val 56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94735" y="3278505"/>
              <a:ext cx="47625" cy="20955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08857" y="3360420"/>
              <a:ext cx="81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SQA 小组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824288" y="373665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80307" y="3680460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辅助软件工程师获得高质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量产品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24288" y="429577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80307" y="4239578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计划、监督、记录、分析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和报告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24288" y="48558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80307" y="4799648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通过确保过程质量来保证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产品质量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155632" y="4134802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10204" y="42657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459284" y="1941195"/>
            <a:ext cx="5199316" cy="2703766"/>
            <a:chOff x="6459284" y="1941195"/>
            <a:chExt cx="5199316" cy="2703766"/>
          </a:xfrm>
        </p:grpSpPr>
        <p:sp>
          <p:nvSpPr>
            <p:cNvPr id="39" name="Rectangle 39"/>
            <p:cNvSpPr/>
            <p:nvPr/>
          </p:nvSpPr>
          <p:spPr>
            <a:xfrm>
              <a:off x="6464618" y="1941195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8031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02115" y="2065496"/>
              <a:ext cx="1569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走查（Walkthrough）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62701" y="2065496"/>
              <a:ext cx="1410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审查（Inspection）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4630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96162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到 6 名成员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77388" y="247126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2752725"/>
              <a:ext cx="5193982" cy="805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4630" y="30770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96162" y="2977039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起草者、管理员、客户代表、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设计组代表、SQA 组长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77388" y="2877026"/>
              <a:ext cx="18605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管理员及技术负责人、当前阶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段代表、下一阶段代表、SQA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5537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4630" y="38828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96162" y="3682841"/>
              <a:ext cx="18605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发放材料、列出不理解和不正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确的术语、组长引导走查，不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 2 小时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77388" y="3782854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综述、准备、审查、返工、跟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踪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941195"/>
              <a:ext cx="5193982" cy="2423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91388" y="1941195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472612" y="1941195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9284" y="4439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走查与审查的区别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4778692"/>
            <a:ext cx="5193982" cy="729615"/>
            <a:chOff x="6464618" y="4778692"/>
            <a:chExt cx="5193982" cy="729615"/>
          </a:xfrm>
        </p:grpSpPr>
        <p:sp>
          <p:nvSpPr>
            <p:cNvPr id="60" name="Rectangle 60"/>
            <p:cNvSpPr/>
            <p:nvPr/>
          </p:nvSpPr>
          <p:spPr>
            <a:xfrm>
              <a:off x="6464618" y="477869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5043490"/>
              <a:ext cx="200023" cy="200023"/>
              <a:chOff x="6669405" y="504349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0434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02755" y="51101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2110" y="492442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走查和审查都只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标记错误而不改正错误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，改正是会后由作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者完成的事。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8210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审查多出来的“准备”一步要求评审员先列出错误类型并按发生频率分级，这是它比走查更有效的原因。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软件质量保证与能力成熟度模型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决定产品质量的四个因素，随项目规模换位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60894" cy="278702"/>
            <a:chOff x="526161" y="1547336"/>
            <a:chExt cx="76608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软件是智力产品，质量不依赖制造过程而依赖设计过程，于是过程和人谁更重要要看情况。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41195"/>
            <a:ext cx="4977765" cy="2088832"/>
            <a:chOff x="533400" y="1941195"/>
            <a:chExt cx="4977765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344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出发点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0947" y="2173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为什么谈过程质量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软件产品无形且逻辑性强，个人技术和经验对产品的影响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巨大。如果思路是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降低个人影响带来的不确定性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，过程质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量就对产品质量有重大影响：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38137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325177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过程中有相关的质量管理标准，并要求对过程进行监控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6833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62712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过程需要定时向管理层或客户反馈项目进展</a:t>
              </a:r>
            </a:p>
          </p:txBody>
        </p:sp>
      </p:grpSp>
      <p:grpSp>
        <p:nvGrpSpPr>
          <p:cNvPr id="33" name="c1-bullets-2"/>
          <p:cNvGrpSpPr/>
          <p:nvPr/>
        </p:nvGrpSpPr>
        <p:grpSpPr>
          <a:xfrm>
            <a:off x="526542" y="4228148"/>
            <a:ext cx="2012823" cy="1517523"/>
            <a:chOff x="526542" y="4228148"/>
            <a:chExt cx="2012823" cy="1517523"/>
          </a:xfrm>
        </p:grpSpPr>
        <p:sp>
          <p:nvSpPr>
            <p:cNvPr id="20" name="TextBox 20"/>
            <p:cNvSpPr txBox="1"/>
            <p:nvPr/>
          </p:nvSpPr>
          <p:spPr>
            <a:xfrm>
              <a:off x="526542" y="42281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影响产品质量的四个因素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53580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9078" y="45741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197" y="45481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过程质量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84632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078" y="48856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197" y="48587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人员素质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515778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9078" y="51961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197" y="51701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开发技术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46925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9078" y="55076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197" y="54816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成本、时间和进度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810631" y="1941195"/>
            <a:ext cx="5847969" cy="2303716"/>
            <a:chOff x="5810631" y="1941195"/>
            <a:chExt cx="5847969" cy="2303716"/>
          </a:xfrm>
        </p:grpSpPr>
        <p:sp>
          <p:nvSpPr>
            <p:cNvPr id="34" name="Rectangle 34"/>
            <p:cNvSpPr/>
            <p:nvPr/>
          </p:nvSpPr>
          <p:spPr>
            <a:xfrm>
              <a:off x="5815965" y="1941195"/>
              <a:ext cx="584263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0974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8375" y="20654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起决定作用的因素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4097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15978" y="2471261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多子系统的大型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8058" y="25712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过程质量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37295" y="2471261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多团队开发，主要问题是集成、管理和沟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9479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95275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5978" y="30770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几个人的小项目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8058" y="30770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人员素质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37295" y="307705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水平高质量就高；好过程只能限制灾难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3537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5978" y="35828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小团队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8058" y="358282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开发技术与工具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37295" y="3482816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耗不起琐碎管理事务，好工具能提高生产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941195"/>
              <a:ext cx="584263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213282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32520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10631" y="40395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每种因素的影响程度与项目类型和规模相关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5815965" y="4378642"/>
            <a:ext cx="5842635" cy="1313498"/>
            <a:chOff x="5815965" y="4378642"/>
            <a:chExt cx="5842635" cy="1313498"/>
          </a:xfrm>
        </p:grpSpPr>
        <p:sp>
          <p:nvSpPr>
            <p:cNvPr id="55" name="Rectangle 55"/>
            <p:cNvSpPr/>
            <p:nvPr/>
          </p:nvSpPr>
          <p:spPr>
            <a:xfrm>
              <a:off x="5815965" y="4378642"/>
              <a:ext cx="5842635" cy="1313498"/>
            </a:xfrm>
            <a:prstGeom prst="roundRect">
              <a:avLst>
                <a:gd name="adj" fmla="val 101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25490" y="4511992"/>
              <a:ext cx="47625" cy="10467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46470" y="45710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7910" y="46053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现实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30162" y="46101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真正的原因往往不在技术上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39612" y="494442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软件存在问题的真正原因常常不是过程不恰当或质量培训差，而是开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发机构受到的生存压力：为赢得开发机会故意压低项目预算。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大项目靠过程兜底，小项目靠人拔高，这是选择管理手段时的基本判断。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26018" cy="909257"/>
            <a:chOff x="520446" y="342900"/>
            <a:chExt cx="49260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软件质量保证与能力成熟度模型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26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CMM：把过程改进拆成五个台阶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52715" cy="264033"/>
            <a:chOff x="526542" y="1545907"/>
            <a:chExt cx="75527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52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持续的过程改进基于许多细小的、逐渐发展的步骤，CMM 把这些步骤组织为五个成熟度等级。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836295" y="1952625"/>
            <a:ext cx="3722370" cy="2056448"/>
            <a:chOff x="836295" y="1952625"/>
            <a:chExt cx="3722370" cy="2056448"/>
          </a:xfrm>
        </p:grpSpPr>
        <p:sp>
          <p:nvSpPr>
            <p:cNvPr id="9" name="Freeform 9"/>
            <p:cNvSpPr/>
            <p:nvPr/>
          </p:nvSpPr>
          <p:spPr>
            <a:xfrm>
              <a:off x="2697480" y="3636645"/>
              <a:ext cx="9525" cy="56197"/>
            </a:xfrm>
            <a:custGeom>
              <a:avLst/>
              <a:gdLst/>
              <a:ahLst/>
              <a:cxnLst/>
              <a:rect l="l" t="t" r="r" b="b"/>
              <a:pathLst>
                <a:path w="9525" h="56197">
                  <a:moveTo>
                    <a:pt x="0" y="0"/>
                  </a:moveTo>
                  <a:lnTo>
                    <a:pt x="0" y="561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45092" y="35880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7480" y="3215640"/>
              <a:ext cx="9525" cy="56197"/>
            </a:xfrm>
            <a:custGeom>
              <a:avLst/>
              <a:gdLst/>
              <a:ahLst/>
              <a:cxnLst/>
              <a:rect l="l" t="t" r="r" b="b"/>
              <a:pathLst>
                <a:path w="9525" h="56197">
                  <a:moveTo>
                    <a:pt x="0" y="0"/>
                  </a:moveTo>
                  <a:lnTo>
                    <a:pt x="0" y="561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45092" y="31670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97480" y="2794635"/>
              <a:ext cx="9525" cy="56198"/>
            </a:xfrm>
            <a:custGeom>
              <a:avLst/>
              <a:gdLst/>
              <a:ahLst/>
              <a:cxnLst/>
              <a:rect l="l" t="t" r="r" b="b"/>
              <a:pathLst>
                <a:path w="9525" h="56198">
                  <a:moveTo>
                    <a:pt x="0" y="0"/>
                  </a:moveTo>
                  <a:lnTo>
                    <a:pt x="0" y="561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45092" y="27460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97480" y="2373630"/>
              <a:ext cx="9525" cy="56198"/>
            </a:xfrm>
            <a:custGeom>
              <a:avLst/>
              <a:gdLst/>
              <a:ahLst/>
              <a:cxnLst/>
              <a:rect l="l" t="t" r="r" b="b"/>
              <a:pathLst>
                <a:path w="9525" h="56198">
                  <a:moveTo>
                    <a:pt x="0" y="0"/>
                  </a:moveTo>
                  <a:lnTo>
                    <a:pt x="0" y="561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45092" y="23250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36295" y="3636645"/>
              <a:ext cx="3722370" cy="372428"/>
            </a:xfrm>
            <a:prstGeom prst="roundRect">
              <a:avLst>
                <a:gd name="adj" fmla="val 25575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6295" y="3215640"/>
              <a:ext cx="37223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6295" y="2794635"/>
              <a:ext cx="37223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6295" y="2373630"/>
              <a:ext cx="37223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6295" y="1952625"/>
              <a:ext cx="372237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95617" y="3749993"/>
              <a:ext cx="1003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初始级 Initial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54901" y="3328988"/>
              <a:ext cx="1485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可重复级 Repeatable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71507" y="2907982"/>
              <a:ext cx="1251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已定义级 Defined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9445" y="2486978"/>
              <a:ext cx="1316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已管理级 Managed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32684" y="2065972"/>
              <a:ext cx="1329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优化级 Optimizing</a:t>
              </a:r>
            </a:p>
          </p:txBody>
        </p:sp>
      </p:grpSp>
      <p:grpSp>
        <p:nvGrpSpPr>
          <p:cNvPr id="33" name="c1-kv-2"/>
          <p:cNvGrpSpPr/>
          <p:nvPr/>
        </p:nvGrpSpPr>
        <p:grpSpPr>
          <a:xfrm>
            <a:off x="526923" y="4219099"/>
            <a:ext cx="4334637" cy="1342834"/>
            <a:chOff x="526923" y="4219099"/>
            <a:chExt cx="4334637" cy="1342834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42190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来历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1800" y="4219099"/>
              <a:ext cx="3199130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CMU-SEI 受美国国防部资助，1987 年发布过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程成熟度框架，1991 年推出 CMM 1.0，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 年修订为 1.1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7109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923" y="50725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两种用法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51800" y="5072539"/>
              <a:ext cx="31015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客户用它确定供应商的能力和弱点；供应商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用它评估自己并找出改进途径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161407" y="1928812"/>
            <a:ext cx="6497193" cy="3485864"/>
            <a:chOff x="5161407" y="1928812"/>
            <a:chExt cx="6497193" cy="3485864"/>
          </a:xfrm>
        </p:grpSpPr>
        <p:sp>
          <p:nvSpPr>
            <p:cNvPr id="34" name="Rectangle 34"/>
            <p:cNvSpPr/>
            <p:nvPr/>
          </p:nvSpPr>
          <p:spPr>
            <a:xfrm>
              <a:off x="5166360" y="1928812"/>
              <a:ext cx="649224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0640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9423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41599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关键过程域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61038" y="252031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初始级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34494" y="2426970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过程无序，缺乏定义与控制，成功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靠个人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36698" y="2520315"/>
              <a:ext cx="584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KPA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28736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166360" y="2878455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61038" y="308895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可重复级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34494" y="2995612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确定输入输出、约束和资源，能跟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踪成本进度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36698" y="2995612"/>
              <a:ext cx="26776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需求管理、软件项目计划、项目跟踪及监督、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转包合同管理、软件质量保证、软件配置管理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66360" y="34413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1038" y="365664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已定义级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34494" y="3563302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活动文档化、标准化，形成机构标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准过程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36698" y="3563302"/>
              <a:ext cx="26776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机构过程关注点与定义、培训计划、集成软件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管理、软件产品工程、组间协调、同级评审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4009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66360" y="4013835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1038" y="4225290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已管理级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4494" y="4131945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引入详细度量，用定量信息使问题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36698" y="422529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定量过程管理、软件质量管理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45777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1038" y="479298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优化级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34494" y="4699635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用定量反馈持续改进，预先防范薄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弱环节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36698" y="479298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预防故障、技术变更管理、过程变更管理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1928812"/>
              <a:ext cx="6492240" cy="3221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135052" y="1928812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537258" y="1928812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61407" y="5223986"/>
              <a:ext cx="1996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五个等级的特征与关键过程域 KPA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7340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 2 的六个 KPA 里就有软件质量保证和软件配置管理，本章前面两节正是爬上第二级的门槛。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81402" cy="909257"/>
            <a:chOff x="520446" y="342900"/>
            <a:chExt cx="37814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 · 软件质量保证与能力成熟度模型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814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 CMM 时要留的余地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606266" cy="278702"/>
            <a:chOff x="526161" y="1547336"/>
            <a:chExt cx="660626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606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CMM 是对软件过程改进领域的重要贡献，但它有明确的设计初衷和适用边界。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542" y="1964055"/>
            <a:ext cx="5213414" cy="1977580"/>
            <a:chOff x="526542" y="1964055"/>
            <a:chExt cx="5213414" cy="1977580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三条注意事项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7171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3100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284095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成熟度仅表示从 1 到 5 级连续区间中的相对位置，目标是希望机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构持续改进过程，并非要定义五个离散的等级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83940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878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85178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改进和评估可以在很多方面同时进行，某些方面可能做得更好而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超出当前的整体评估等级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0804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4464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3420427"/>
              <a:ext cx="49257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不应把 CMM 视为适应所有软件过程的权威性能力模型，它的初衷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是为美国国防部提供评估软件开发商能力的手段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063365"/>
            <a:ext cx="5410200" cy="1594485"/>
            <a:chOff x="533400" y="4063365"/>
            <a:chExt cx="5410200" cy="1594485"/>
          </a:xfrm>
        </p:grpSpPr>
        <p:sp>
          <p:nvSpPr>
            <p:cNvPr id="20" name="Rectangle 20"/>
            <p:cNvSpPr/>
            <p:nvPr/>
          </p:nvSpPr>
          <p:spPr>
            <a:xfrm>
              <a:off x="533400" y="4063365"/>
              <a:ext cx="5410200" cy="1594485"/>
            </a:xfrm>
            <a:prstGeom prst="roundRect">
              <a:avLst>
                <a:gd name="adj" fmla="val 716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4756903"/>
              <a:ext cx="224134" cy="192560"/>
              <a:chOff x="726129" y="4756903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48272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47569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9050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64248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把等级当成考核指标去冲，过程文档会迅速膨胀，改进本身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反而停下来。</a:t>
              </a:r>
            </a:p>
          </p:txBody>
        </p:sp>
      </p:grpSp>
      <p:grpSp>
        <p:nvGrpSpPr>
          <p:cNvPr id="47" name="c2-compare-1"/>
          <p:cNvGrpSpPr/>
          <p:nvPr/>
        </p:nvGrpSpPr>
        <p:grpSpPr>
          <a:xfrm>
            <a:off x="6248400" y="1941195"/>
            <a:ext cx="5410200" cy="2314575"/>
            <a:chOff x="6248400" y="1941195"/>
            <a:chExt cx="5410200" cy="2314575"/>
          </a:xfrm>
        </p:grpSpPr>
        <p:sp>
          <p:nvSpPr>
            <p:cNvPr id="27" name="Rectangle 27"/>
            <p:cNvSpPr/>
            <p:nvPr/>
          </p:nvSpPr>
          <p:spPr>
            <a:xfrm>
              <a:off x="6248400" y="1941195"/>
              <a:ext cx="2466022" cy="2314575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2074545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2047" y="21564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国防软件开发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87478" y="2532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43497" y="247650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系统非常大型，问题不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一定所有机构都会遇到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87478" y="30918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3497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购买过程很长，生存期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也很长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36518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35956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采用新技术更趋于保守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92578" y="1941195"/>
              <a:ext cx="2466022" cy="2314575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202102" y="2074545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16224" y="21564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商业软件开发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431655" y="2532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87674" y="247650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规模差异大，很多项目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小而快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431655" y="30918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87674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需要更快响应技术和业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务领域的变化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431655" y="36518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87674" y="359568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对新技术的吸收速度快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得多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762048" y="2907030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16619" y="30379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431030"/>
            <a:ext cx="5410200" cy="1226820"/>
            <a:chOff x="6248400" y="4431030"/>
            <a:chExt cx="5410200" cy="1226820"/>
          </a:xfrm>
        </p:grpSpPr>
        <p:sp>
          <p:nvSpPr>
            <p:cNvPr id="48" name="Rectangle 48"/>
            <p:cNvSpPr/>
            <p:nvPr/>
          </p:nvSpPr>
          <p:spPr>
            <a:xfrm>
              <a:off x="6248400" y="443103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40805" y="462343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0244" y="46577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等级的含义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4547" y="46634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一个等级建立了过程的一部分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947" y="499776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每个等级由一组关键过程域组成，满足这些目标就确定了软件过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程的重要组成部分，机构的过程能力随之提高。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7010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等级 3 相对等级 2 的进步，在于把“这个项目做得好”变成“机构里每个项目都这么做”。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793488" cy="278702"/>
            <a:chOff x="526161" y="1547336"/>
            <a:chExt cx="479348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先盖住答案自己写一遍，涉及计算的题要写出完整过程。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511618"/>
            <a:chOff x="533400" y="1941195"/>
            <a:chExt cx="5410200" cy="151161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项目和运营的区别是什么？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项目暂时性、有起止日期、产出独特，目标实现或确定无法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实现即结束；运营连续、无起止日期、重复同一工作程序。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29025"/>
            <a:ext cx="5410200" cy="1768792"/>
            <a:chOff x="533400" y="3629025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62902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177665"/>
              <a:ext cx="2738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 EET 和 LET 分别怎么算？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480560"/>
              <a:ext cx="48400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EET 从左到右，对进入的作业算“起始事件 EET + 持续时间”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取最大值；LET 从右到左，对离开的作业算“结束事件 LET − 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续时间”取最小值。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511618"/>
            <a:chOff x="6248400" y="1941195"/>
            <a:chExt cx="5410200" cy="151161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2237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Gantt 图的三个主要缺点？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279273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不能显式描绘作业间的依赖关系；进度计划的关键部分不明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确；有潜力的部分及潜力大小不明确，往往造成潜力浪费。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629025"/>
            <a:ext cx="5410200" cy="1768792"/>
            <a:chOff x="6248400" y="3629025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62902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17766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关键路径有哪三种等价说法？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48056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EET 与 LET 相同的事件串成的路径；持续时间最长的路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径；路径上每个活动的机动时间都为零。关键路径可能有多条。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5229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4、5 两题要能对着一张只标了持续时间的网络图当场算出来。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414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10 人的民主制程序员组有多少条通信信道？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× 9 ÷ 2 = 45 条，这就是民主制小组规模要控制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2 到 8 人的原因。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1937385"/>
            <a:chOff x="533400" y="33661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3938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 COCOMO 与中级 COCOMO 的区别？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288155"/>
              <a:ext cx="4682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基本模型令 EAF = 1，只用规模一个输入，用于前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期；中级模型按四大类 15 项评分取乘积得 EAF，系数 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也不同。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38948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UFP 和 FP 是什么关系，TCF 的取值范围？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 = UFP × TCF，TCF = 0.65 + 0.01ΣFᵢ；14 个因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子各取 0 到 5，所以 TCF 在 0.65 到 1.35 之间。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66135"/>
            <a:ext cx="5410200" cy="1937385"/>
            <a:chOff x="6248400" y="33661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39528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风险暴露值怎么算，控制策略有哪四种？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288155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暴露值 = 风险概率 × 风险影响；四种策略是规避、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传递/转移、缓解、承担，承担又分被动与主动。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计算题要写出公式、代入过程和单位，只给结果通常不给满分。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自测题（三）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基线的定义？基线前后的变化控制有何不同？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基线是通过正式复审的规格说明或中间产品，只能经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正式变化控制过程改变。成为基线前只需非正式控制，之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后实施项目级控制。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走查和审查各由哪些人组成？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644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走查 4 到 6 人：起草者、管理员、客户代表、设计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组代表、SQA 组长；审查 4 人：管理员及技术负责人、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当前与下一阶段代表、SQA 代表。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集中式和分布式版本控制系统的关键差别？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本地有没有完整的版本历史。分布式可离线提交、分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支能力强、可从任何本地库恢复；集中式必须联网提交，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服务器是单点。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3006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CMM 等级 2 的六个关键过程域？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需求管理、软件项目计划、项目跟踪及监督、转包合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同管理、软件质量保证、软件配置管理。等级 1 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KPA。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名词解释按课件原话答，比较类题目要分点列出差异，不要写成一段话。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第13章 项目管理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5410200" cy="4646295"/>
            <a:chOff x="533400" y="1524000"/>
            <a:chExt cx="5410200" cy="4646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93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066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7685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必须会做的事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0650" y="205406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项目与运营、三重约束、干系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人、六项管理活动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25240" y="205406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判断一件事算不算项目并说出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75986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0650" y="2659856"/>
              <a:ext cx="18463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WBS、Gantt 图、工程网络、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EET/LET、关键路径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5240" y="265985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给作业表画网络图并算出关键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36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36565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0650" y="3265646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民主制、主程序员组、现代程序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员组、集中与分散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25240" y="336565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算通信信道数并选择组织方式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423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4713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97144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90650" y="3871436"/>
              <a:ext cx="16898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代码行、功能点、Delphi、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COCOMO 系列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25240" y="397144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用两种方法各估一次工作量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481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57723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90650" y="4477226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风险要素、四环节、暴露值、四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种策略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5240" y="457723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按暴露值排序并给出控制策略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539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5871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518302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90650" y="5083016"/>
              <a:ext cx="21023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 与基线、五项任务、版本控制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Git、变化控制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25240" y="518302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说清基线前后控制力度的差别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5597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578881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90650" y="5688806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质量模型、复审与审查、过程质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量、CMM 五级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25240" y="5688806"/>
              <a:ext cx="1881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默写五个等级和等级 2 的六个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5410200" cy="4646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285875" y="1524000"/>
              <a:ext cx="9525" cy="4646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720465" y="1524000"/>
              <a:ext cx="9525" cy="4646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bullets-1"/>
          <p:cNvGrpSpPr/>
          <p:nvPr/>
        </p:nvGrpSpPr>
        <p:grpSpPr>
          <a:xfrm>
            <a:off x="6248400" y="1534478"/>
            <a:ext cx="5383149" cy="2089023"/>
            <a:chOff x="6248400" y="1534478"/>
            <a:chExt cx="5383149" cy="2089023"/>
          </a:xfrm>
        </p:grpSpPr>
        <p:sp>
          <p:nvSpPr>
            <p:cNvPr id="45" name="Ellipse 45"/>
            <p:cNvSpPr/>
            <p:nvPr/>
          </p:nvSpPr>
          <p:spPr>
            <a:xfrm>
              <a:off x="6248400" y="15344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4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9197" y="1545907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三重约束里动一个另外两个必跟着变，管理就是在三者之间做交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48400" y="210216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4078" y="2141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29197" y="2114550"/>
              <a:ext cx="4809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网络图比 Gantt 图多出的只有依赖关系，关键路径由它推出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48400" y="241363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4078" y="24520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29197" y="242601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组织方式的差别可以量化成通信信道数，规模一大就要引入层次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48400" y="272510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04078" y="276348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29197" y="273653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代码行看实现、功能点看交付，必须多方法交叉检验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48400" y="303561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04078" y="30749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29197" y="30480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基线是配置管理的分界线，过了基线的改动都要走正式流程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48400" y="334708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04078" y="33854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29197" y="3359468"/>
              <a:ext cx="4463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CMM 五个等级是连续区间上的相对位置，不是五张证书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248400" y="3745230"/>
            <a:ext cx="5410200" cy="2425065"/>
            <a:chOff x="6248400" y="3745230"/>
            <a:chExt cx="5410200" cy="2425065"/>
          </a:xfrm>
        </p:grpSpPr>
        <p:sp>
          <p:nvSpPr>
            <p:cNvPr id="64" name="Rectangle 64"/>
            <p:cNvSpPr/>
            <p:nvPr/>
          </p:nvSpPr>
          <p:spPr>
            <a:xfrm>
              <a:off x="6248400" y="3745230"/>
              <a:ext cx="5410200" cy="242506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3878580"/>
              <a:ext cx="47625" cy="2158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8905" y="393763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38341" y="39719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本讲义对原课件的处理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87478" y="43510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43497" y="4294822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74 页“初级 COCOMO”的 a = 3.2 与基本模型表 a = 2.4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矛盾，已注明 3.2 属于中级模型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487478" y="49101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43497" y="4853940"/>
              <a:ext cx="462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130 页“客户端本地并保存完整版本历史”的衍字已更正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487478" y="521303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43497" y="515683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责任矩阵的人名列标题改为角色名，删去课堂讨论等行政信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第13章 软件项目管理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13">
  <a:themeElements>
    <a:clrScheme name="se_ch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1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2026-09-23T03:07:42Z</dcterms:created>
  <dcterms:modified xsi:type="dcterms:W3CDTF">2026-09-23T03:07:42Z</dcterms:modified>
  <cp:category/>
  <cp:contentStatus/>
</cp:coreProperties>
</file>