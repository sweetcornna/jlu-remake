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_ch0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_ch0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7361f99538654f9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04d0908c967900f.png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ebbe15574e7e150.png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389882" cy="3437763"/>
            <a:chOff x="666750" y="1619250"/>
            <a:chExt cx="438988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软件工程 · 第八章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软件维护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交付之后的修改，吃掉生存期七成工作量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定义与四种类型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维护的特点与代价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维护过程与可维护性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预防性维护与再工程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31050" cy="205359"/>
            <a:chOff x="680466" y="6192202"/>
            <a:chExt cx="413105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31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自学复习版｜据吉林大学《软件工程》第八章课件整理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维护的定义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什么算维护，四种类型各占多少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维护的特点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结构化与非结构化、代价、五个老问题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维护过程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组织、报告、事件流、记录与度量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软件的可维护性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五个决定因素、文档、可维护性复审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预防性维护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遗留系统的四种处理办法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软件再工程过程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六类活动，逆向工程与正向工程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给一项修改请求判断它属于哪一类维护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5088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44602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说清结构化维护和非结构化维护的差别及后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1299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06705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用工作量模型解释维护成本为什么会指数上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68808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列出决定可维护性的五个因素和各阶段的复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审重点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30911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画出软件再工程过程的六类活动并说明每项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429000" cy="2997517"/>
            <a:chOff x="667512" y="1835468"/>
            <a:chExt cx="342900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软件维护的定义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交付之后发生的一切修改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维护的定义与对象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四种维护类型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各类维护所占的比例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软件维护的定义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维护是交付之后为改错或满足新需要而做的修改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673188" cy="308039"/>
            <a:chOff x="525399" y="1550194"/>
            <a:chExt cx="76731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673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判断一项工作算不算维护，只看它发生在交付使用之后，以及它是否修改了软件。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67865"/>
            <a:ext cx="4544378" cy="2577465"/>
            <a:chOff x="533400" y="1967865"/>
            <a:chExt cx="4544378" cy="257746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544378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软件维护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在软件已经交付使用之后，为了改正错误或满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足新的需要而修改软件的过程。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25755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194685"/>
              <a:ext cx="3691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修改的对象不只是程序，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文档和数据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同样要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8785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81571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维护发生在生存期最后一个阶段，却持续到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软件退役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735830"/>
            <a:ext cx="4544378" cy="1537335"/>
            <a:chOff x="533400" y="4735830"/>
            <a:chExt cx="4544378" cy="1537335"/>
          </a:xfrm>
        </p:grpSpPr>
        <p:sp>
          <p:nvSpPr>
            <p:cNvPr id="20" name="Rectangle 20"/>
            <p:cNvSpPr/>
            <p:nvPr/>
          </p:nvSpPr>
          <p:spPr>
            <a:xfrm>
              <a:off x="533400" y="4735830"/>
              <a:ext cx="4544378" cy="1537335"/>
            </a:xfrm>
            <a:prstGeom prst="roundRect">
              <a:avLst>
                <a:gd name="adj" fmla="val 743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404487"/>
              <a:ext cx="200023" cy="200023"/>
              <a:chOff x="738188" y="5404487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4044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54711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5261610"/>
              <a:ext cx="3653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四类维护的名字都带“维护”，但只有改正性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维护在修错，其余三类做的是再开发。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5382578" y="1967865"/>
            <a:ext cx="6276022" cy="4305300"/>
            <a:chOff x="5382578" y="1967865"/>
            <a:chExt cx="6276022" cy="4305300"/>
          </a:xfrm>
        </p:grpSpPr>
        <p:sp>
          <p:nvSpPr>
            <p:cNvPr id="26" name="Rectangle 26"/>
            <p:cNvSpPr/>
            <p:nvPr/>
          </p:nvSpPr>
          <p:spPr>
            <a:xfrm>
              <a:off x="5382578" y="1967865"/>
              <a:ext cx="6276022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43562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36092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30590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76548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89258" y="2594610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改正性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31280" y="2727960"/>
              <a:ext cx="10813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Corrective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74318" y="2594610"/>
              <a:ext cx="1539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诊断和改正使用中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发现的潜伏错误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19322" y="2594610"/>
              <a:ext cx="1539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月报表金额算错，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定位后改掉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82578" y="32051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82578" y="3209925"/>
              <a:ext cx="6276022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89258" y="3482340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适应性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1280" y="3615690"/>
              <a:ext cx="859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Adaptive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74318" y="3348990"/>
              <a:ext cx="1539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外部环境变了（硬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件、操作系统、数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据库、接口）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19322" y="3348990"/>
              <a:ext cx="1539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数据库换了一种产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品，改写数据访问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82578" y="42262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89258" y="4503420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完善性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31280" y="4636770"/>
              <a:ext cx="10813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Perfective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74318" y="4370070"/>
              <a:ext cx="1539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用户提出增加新功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能、修改已有功能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或一般性改进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19322" y="4503420"/>
              <a:ext cx="1539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给查询加上按时间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段筛选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82578" y="52473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82578" y="5252085"/>
              <a:ext cx="6276022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89258" y="5524500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预防性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31280" y="5657850"/>
              <a:ext cx="10813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Preventive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74318" y="5391150"/>
              <a:ext cx="1539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为了改进将来的可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维护性和可靠性而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主动改造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19322" y="5391150"/>
              <a:ext cx="1539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把没有文档的老模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块按现在的方法重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82578" y="1967865"/>
              <a:ext cx="6276022" cy="4305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319838" y="1967865"/>
              <a:ext cx="9525" cy="4305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762875" y="1967865"/>
              <a:ext cx="9525" cy="4305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707880" y="1967865"/>
              <a:ext cx="9525" cy="4305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软件维护的定义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完善性维护占一半，维护占整个生存期的七成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5415915" cy="2539842"/>
            <a:chOff x="527685" y="1524000"/>
            <a:chExt cx="5415915" cy="2539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5106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维护类型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11536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占全部维护工作量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完善性维护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680460" y="1982152"/>
              <a:ext cx="225361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778758" y="210835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1223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适应性维护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78758" y="2556986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25%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056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改正性维护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78758" y="3005614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45424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其它维护（含预防性维护）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78758" y="3454241"/>
              <a:ext cx="2369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410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6617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3843814"/>
              <a:ext cx="3516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维护阶段的工作量约占软件生存期总工作量的 70.8%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210050"/>
            <a:ext cx="5410200" cy="1335405"/>
            <a:chOff x="533400" y="4210050"/>
            <a:chExt cx="5410200" cy="1335405"/>
          </a:xfrm>
        </p:grpSpPr>
        <p:sp>
          <p:nvSpPr>
            <p:cNvPr id="28" name="Rectangle 28"/>
            <p:cNvSpPr/>
            <p:nvPr/>
          </p:nvSpPr>
          <p:spPr>
            <a:xfrm>
              <a:off x="533400" y="4210050"/>
              <a:ext cx="5410200" cy="1335405"/>
            </a:xfrm>
            <a:prstGeom prst="roundRect">
              <a:avLst>
                <a:gd name="adj" fmla="val 855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777742"/>
              <a:ext cx="200023" cy="200023"/>
              <a:chOff x="738188" y="4777742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7777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48444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63486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维护工作里最大的一块是按用户新要求改进功能，改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错只占五分之一。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248400" y="1524000"/>
            <a:ext cx="5410200" cy="2242185"/>
            <a:chOff x="6248400" y="1524000"/>
            <a:chExt cx="5410200" cy="2242185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1657350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97078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原课件这一页的口径要对一下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88430" y="2129790"/>
              <a:ext cx="4701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原课件标题写“前三类维护占总维护比例”，但饼图里画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了四块：三类具名维护合计 95%，余下 5% 标为“其它维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护”。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8430" y="3036570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本讲义按四块合计 100% 列表，并把预防性维护归入“其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它维护”。</a:t>
              </a:r>
            </a:p>
          </p:txBody>
        </p:sp>
      </p:grpSp>
      <p:grpSp>
        <p:nvGrpSpPr>
          <p:cNvPr id="49" name="c2-bullets-2"/>
          <p:cNvGrpSpPr/>
          <p:nvPr/>
        </p:nvGrpSpPr>
        <p:grpSpPr>
          <a:xfrm>
            <a:off x="6240780" y="3981450"/>
            <a:ext cx="5234940" cy="1623060"/>
            <a:chOff x="6240780" y="3981450"/>
            <a:chExt cx="5234940" cy="1623060"/>
          </a:xfrm>
        </p:grpSpPr>
        <p:sp>
          <p:nvSpPr>
            <p:cNvPr id="42" name="TextBox 42"/>
            <p:cNvSpPr txBox="1"/>
            <p:nvPr/>
          </p:nvSpPr>
          <p:spPr>
            <a:xfrm>
              <a:off x="6240780" y="39814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为什么维护这么贵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54115" y="43986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12230" y="433578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软件不会磨损，维护的工作量全部花在理解和修改上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54115" y="474345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12230" y="468058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一个系统用十年，开发只占头一两年，其余时间都在维护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254115" y="50882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12230" y="50253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每次修改都要重新测试和重新发布，成本不随修改量线性下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软件维护的定义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练一练：这项请求属于哪一类维护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3631895" cy="308039"/>
            <a:chOff x="525399" y="1550194"/>
            <a:chExt cx="363189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36318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先盖住右两列自己判断，再对照理由。</a:t>
              </a:r>
            </a:p>
          </p:txBody>
        </p:sp>
      </p:grpSp>
      <p:grpSp>
        <p:nvGrpSpPr>
          <p:cNvPr id="37" name="c1-table-1"/>
          <p:cNvGrpSpPr/>
          <p:nvPr/>
        </p:nvGrpSpPr>
        <p:grpSpPr>
          <a:xfrm>
            <a:off x="533400" y="1967865"/>
            <a:ext cx="11125200" cy="3192780"/>
            <a:chOff x="533400" y="1967865"/>
            <a:chExt cx="11125200" cy="319278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41170" y="21069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用户或团队提出的请求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3565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99195" y="2106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判断理由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0080" y="259461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连续按两次回车后系统崩溃，请修复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90160" y="259461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改正性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70383" y="259461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软件本身有错，行为不符合原有规格说明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384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943225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308229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操作系统升级后打印接口不兼容，需要改造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90160" y="308229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适应性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70383" y="308229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软件没错，是运行环境变了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0080" y="356997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希望月报表能按部门汇总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90160" y="35699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完善性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70383" y="356997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软件和环境都没变，用户要求功能更好用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9138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918585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0080" y="4057650"/>
              <a:ext cx="4015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把没有注释、分支极深的核心模块按现在的方法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重写，功能不变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90160" y="41910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预防性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0383" y="41910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没有人提要求，团队主动为将来的修改铺路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6682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0080" y="481203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为符合新出台的数据留存规定，增加操作日志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90160" y="48120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适应性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0383" y="481203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法律法规属于软件的外部环境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67865"/>
              <a:ext cx="11125200" cy="31927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978718" y="1967865"/>
              <a:ext cx="9525" cy="3192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58940" y="1967865"/>
              <a:ext cx="9525" cy="3192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llout-2"/>
          <p:cNvGrpSpPr/>
          <p:nvPr/>
        </p:nvGrpSpPr>
        <p:grpSpPr>
          <a:xfrm>
            <a:off x="533400" y="5351145"/>
            <a:ext cx="11125200" cy="782955"/>
            <a:chOff x="533400" y="5351145"/>
            <a:chExt cx="11125200" cy="782955"/>
          </a:xfrm>
        </p:grpSpPr>
        <p:sp>
          <p:nvSpPr>
            <p:cNvPr id="38" name="Rectangle 38"/>
            <p:cNvSpPr/>
            <p:nvPr/>
          </p:nvSpPr>
          <p:spPr>
            <a:xfrm>
              <a:off x="533400" y="53511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642610"/>
              <a:ext cx="200026" cy="200025"/>
              <a:chOff x="738188" y="5642610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6426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56870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57981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499735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判断顺序：软件错了算改正；软件没错是环境变了算适应；两者都没变而用户要更好算完善；无人提要求、为将来铺路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算预防。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429000" cy="3351847"/>
            <a:chOff x="667512" y="1835468"/>
            <a:chExt cx="342900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软件维护的特点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差别、代价和那些改不掉的老问题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结构化维护与非结构化维护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有形代价与无形代价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维护工作量模型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维护问题的根子在开发阶段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软件维护的特点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有没有完整的软件配置，决定了维护从哪里开始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c1-flow-1"/>
          <p:cNvGrpSpPr/>
          <p:nvPr/>
        </p:nvGrpSpPr>
        <p:grpSpPr>
          <a:xfrm>
            <a:off x="707708" y="1554480"/>
            <a:ext cx="4838700" cy="3939540"/>
            <a:chOff x="707708" y="1554480"/>
            <a:chExt cx="4838700" cy="3939540"/>
          </a:xfrm>
        </p:grpSpPr>
        <p:sp>
          <p:nvSpPr>
            <p:cNvPr id="7" name="Freeform 7"/>
            <p:cNvSpPr/>
            <p:nvPr/>
          </p:nvSpPr>
          <p:spPr>
            <a:xfrm>
              <a:off x="1777365" y="1764030"/>
              <a:ext cx="1244918" cy="438150"/>
            </a:xfrm>
            <a:custGeom>
              <a:avLst/>
              <a:gdLst/>
              <a:ahLst/>
              <a:cxnLst/>
              <a:rect l="l" t="t" r="r" b="b"/>
              <a:pathLst>
                <a:path w="1244918" h="438150">
                  <a:moveTo>
                    <a:pt x="1244918" y="228600"/>
                  </a:moveTo>
                  <a:lnTo>
                    <a:pt x="1244918" y="438150"/>
                  </a:lnTo>
                  <a:lnTo>
                    <a:pt x="1244918" y="0"/>
                  </a:lnTo>
                  <a:lnTo>
                    <a:pt x="0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24978" y="1868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77365" y="2345055"/>
              <a:ext cx="9525" cy="439103"/>
            </a:xfrm>
            <a:custGeom>
              <a:avLst/>
              <a:gdLst/>
              <a:ahLst/>
              <a:cxnLst/>
              <a:rect l="l" t="t" r="r" b="b"/>
              <a:pathLst>
                <a:path w="9525" h="439103">
                  <a:moveTo>
                    <a:pt x="0" y="229553"/>
                  </a:moveTo>
                  <a:lnTo>
                    <a:pt x="0" y="439103"/>
                  </a:lnTo>
                  <a:lnTo>
                    <a:pt x="0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24978" y="24498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47975" y="227457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09550" y="0"/>
                  </a:lnTo>
                  <a:lnTo>
                    <a:pt x="139065" y="0"/>
                  </a:ln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91815" y="22212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77365" y="2950845"/>
              <a:ext cx="9525" cy="41910"/>
            </a:xfrm>
            <a:custGeom>
              <a:avLst/>
              <a:gdLst/>
              <a:ahLst/>
              <a:cxnLst/>
              <a:rect l="l" t="t" r="r" b="b"/>
              <a:pathLst>
                <a:path w="9525" h="41910">
                  <a:moveTo>
                    <a:pt x="0" y="419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24978" y="29508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77365" y="3449955"/>
              <a:ext cx="9525" cy="43815"/>
            </a:xfrm>
            <a:custGeom>
              <a:avLst/>
              <a:gdLst/>
              <a:ahLst/>
              <a:cxnLst/>
              <a:rect l="l" t="t" r="r" b="b"/>
              <a:pathLst>
                <a:path w="9525" h="43815">
                  <a:moveTo>
                    <a:pt x="0" y="4381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724978" y="34499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777365" y="3950970"/>
              <a:ext cx="9525" cy="41910"/>
            </a:xfrm>
            <a:custGeom>
              <a:avLst/>
              <a:gdLst/>
              <a:ahLst/>
              <a:cxnLst/>
              <a:rect l="l" t="t" r="r" b="b"/>
              <a:pathLst>
                <a:path w="9525" h="41910">
                  <a:moveTo>
                    <a:pt x="0" y="419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724978" y="39509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07708" y="4274820"/>
              <a:ext cx="2035492" cy="499110"/>
            </a:xfrm>
            <a:custGeom>
              <a:avLst/>
              <a:gdLst/>
              <a:ahLst/>
              <a:cxnLst/>
              <a:rect l="l" t="t" r="r" b="b"/>
              <a:pathLst>
                <a:path w="2035492" h="499110">
                  <a:moveTo>
                    <a:pt x="0" y="0"/>
                  </a:moveTo>
                  <a:lnTo>
                    <a:pt x="1069658" y="0"/>
                  </a:lnTo>
                  <a:lnTo>
                    <a:pt x="1069658" y="499110"/>
                  </a:lnTo>
                  <a:lnTo>
                    <a:pt x="2035492" y="4991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743200" y="47224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1435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07708" y="4773930"/>
              <a:ext cx="4350068" cy="501015"/>
            </a:xfrm>
            <a:custGeom>
              <a:avLst/>
              <a:gdLst/>
              <a:ahLst/>
              <a:cxnLst/>
              <a:rect l="l" t="t" r="r" b="b"/>
              <a:pathLst>
                <a:path w="4350068" h="501015">
                  <a:moveTo>
                    <a:pt x="0" y="0"/>
                  </a:moveTo>
                  <a:lnTo>
                    <a:pt x="2226945" y="0"/>
                  </a:lnTo>
                  <a:lnTo>
                    <a:pt x="2226945" y="501015"/>
                  </a:lnTo>
                  <a:lnTo>
                    <a:pt x="4350068" y="5010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057775" y="52216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196590" y="2274570"/>
              <a:ext cx="2035492" cy="499110"/>
            </a:xfrm>
            <a:custGeom>
              <a:avLst/>
              <a:gdLst/>
              <a:ahLst/>
              <a:cxnLst/>
              <a:rect l="l" t="t" r="r" b="b"/>
              <a:pathLst>
                <a:path w="2035492" h="499110">
                  <a:moveTo>
                    <a:pt x="0" y="0"/>
                  </a:moveTo>
                  <a:lnTo>
                    <a:pt x="1069657" y="0"/>
                  </a:lnTo>
                  <a:lnTo>
                    <a:pt x="1069657" y="499110"/>
                  </a:lnTo>
                  <a:lnTo>
                    <a:pt x="2035492" y="4991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232082" y="27222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1435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196590" y="2773680"/>
              <a:ext cx="2035492" cy="501015"/>
            </a:xfrm>
            <a:custGeom>
              <a:avLst/>
              <a:gdLst/>
              <a:ahLst/>
              <a:cxnLst/>
              <a:rect l="l" t="t" r="r" b="b"/>
              <a:pathLst>
                <a:path w="2035492" h="501015">
                  <a:moveTo>
                    <a:pt x="0" y="0"/>
                  </a:moveTo>
                  <a:lnTo>
                    <a:pt x="1069657" y="0"/>
                  </a:lnTo>
                  <a:lnTo>
                    <a:pt x="1069657" y="501015"/>
                  </a:lnTo>
                  <a:lnTo>
                    <a:pt x="2035492" y="5010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232082" y="32213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336858" y="2274570"/>
              <a:ext cx="209550" cy="499110"/>
            </a:xfrm>
            <a:custGeom>
              <a:avLst/>
              <a:gdLst/>
              <a:ahLst/>
              <a:cxnLst/>
              <a:rect l="l" t="t" r="r" b="b"/>
              <a:pathLst>
                <a:path w="209550" h="499110">
                  <a:moveTo>
                    <a:pt x="0" y="499110"/>
                  </a:moveTo>
                  <a:lnTo>
                    <a:pt x="209550" y="499110"/>
                  </a:lnTo>
                  <a:lnTo>
                    <a:pt x="20955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336858" y="22212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3340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3196590" y="3274695"/>
              <a:ext cx="2035492" cy="499110"/>
            </a:xfrm>
            <a:custGeom>
              <a:avLst/>
              <a:gdLst/>
              <a:ahLst/>
              <a:cxnLst/>
              <a:rect l="l" t="t" r="r" b="b"/>
              <a:pathLst>
                <a:path w="2035492" h="499110">
                  <a:moveTo>
                    <a:pt x="0" y="0"/>
                  </a:moveTo>
                  <a:lnTo>
                    <a:pt x="1069657" y="0"/>
                  </a:lnTo>
                  <a:lnTo>
                    <a:pt x="1069657" y="499110"/>
                  </a:lnTo>
                  <a:lnTo>
                    <a:pt x="2035492" y="4991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232082" y="37223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1435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3022282" y="4074795"/>
              <a:ext cx="1243965" cy="876300"/>
            </a:xfrm>
            <a:custGeom>
              <a:avLst/>
              <a:gdLst/>
              <a:ahLst/>
              <a:cxnLst/>
              <a:rect l="l" t="t" r="r" b="b"/>
              <a:pathLst>
                <a:path w="1243965" h="876300">
                  <a:moveTo>
                    <a:pt x="1243965" y="0"/>
                  </a:moveTo>
                  <a:lnTo>
                    <a:pt x="1243965" y="490538"/>
                  </a:lnTo>
                  <a:lnTo>
                    <a:pt x="0" y="490538"/>
                  </a:lnTo>
                  <a:lnTo>
                    <a:pt x="0" y="8763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969895" y="49510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2015" y="1554480"/>
              <a:ext cx="4280535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07708" y="1973580"/>
              <a:ext cx="2140268" cy="601028"/>
            </a:xfrm>
            <a:custGeom>
              <a:avLst/>
              <a:gdLst/>
              <a:ahLst/>
              <a:cxnLst/>
              <a:rect l="l" t="t" r="r" b="b"/>
              <a:pathLst>
                <a:path w="2140268" h="601028">
                  <a:moveTo>
                    <a:pt x="1069658" y="0"/>
                  </a:moveTo>
                  <a:lnTo>
                    <a:pt x="2140268" y="300990"/>
                  </a:lnTo>
                  <a:lnTo>
                    <a:pt x="1069658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196590" y="2055495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7708" y="2554605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3196590" y="2473642"/>
              <a:ext cx="2140267" cy="601028"/>
            </a:xfrm>
            <a:custGeom>
              <a:avLst/>
              <a:gdLst/>
              <a:ahLst/>
              <a:cxnLst/>
              <a:rect l="l" t="t" r="r" b="b"/>
              <a:pathLst>
                <a:path w="2140267" h="601028">
                  <a:moveTo>
                    <a:pt x="1069657" y="0"/>
                  </a:moveTo>
                  <a:lnTo>
                    <a:pt x="2140267" y="300038"/>
                  </a:lnTo>
                  <a:lnTo>
                    <a:pt x="1069657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07708" y="3055620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3196590" y="3055620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07708" y="3554730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3196590" y="3473768"/>
              <a:ext cx="2140267" cy="601028"/>
            </a:xfrm>
            <a:custGeom>
              <a:avLst/>
              <a:gdLst/>
              <a:ahLst/>
              <a:cxnLst/>
              <a:rect l="l" t="t" r="r" b="b"/>
              <a:pathLst>
                <a:path w="2140267" h="601028">
                  <a:moveTo>
                    <a:pt x="1069657" y="0"/>
                  </a:moveTo>
                  <a:lnTo>
                    <a:pt x="2140267" y="300038"/>
                  </a:lnTo>
                  <a:lnTo>
                    <a:pt x="1069657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7708" y="4055745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07708" y="4473892"/>
              <a:ext cx="2140268" cy="601027"/>
            </a:xfrm>
            <a:custGeom>
              <a:avLst/>
              <a:gdLst/>
              <a:ahLst/>
              <a:cxnLst/>
              <a:rect l="l" t="t" r="r" b="b"/>
              <a:pathLst>
                <a:path w="2140268" h="601027">
                  <a:moveTo>
                    <a:pt x="1069658" y="0"/>
                  </a:moveTo>
                  <a:lnTo>
                    <a:pt x="2140268" y="300038"/>
                  </a:lnTo>
                  <a:lnTo>
                    <a:pt x="1069658" y="601027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82015" y="5055870"/>
              <a:ext cx="4280535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671178" y="16844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维护要求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53947" y="21845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配置完整吗？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915143" y="21845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评价代码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426261" y="26855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评价设计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828986" y="26855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能读懂吗？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26261" y="31856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计划途径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915143" y="31856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重编程序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426261" y="368569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修改设计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087457" y="36856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426261" y="41857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重编程序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598574" y="468582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671178" y="51858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交付使用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805940" y="247269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829181" y="24993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完整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638425" y="205835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664714" y="208502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只剩代码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687252" y="305847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725543" y="30841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155882" y="243173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01222" y="24584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</p:grpSp>
      <p:grpSp>
        <p:nvGrpSpPr>
          <p:cNvPr id="86" name="c2-compare-1"/>
          <p:cNvGrpSpPr/>
          <p:nvPr/>
        </p:nvGrpSpPr>
        <p:grpSpPr>
          <a:xfrm>
            <a:off x="5815965" y="1524000"/>
            <a:ext cx="5842635" cy="2560320"/>
            <a:chOff x="5815965" y="1524000"/>
            <a:chExt cx="5842635" cy="2560320"/>
          </a:xfrm>
        </p:grpSpPr>
        <p:sp>
          <p:nvSpPr>
            <p:cNvPr id="66" name="Rectangle 66"/>
            <p:cNvSpPr/>
            <p:nvPr/>
          </p:nvSpPr>
          <p:spPr>
            <a:xfrm>
              <a:off x="5815965" y="1524000"/>
              <a:ext cx="2749868" cy="256032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825490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055995" y="17583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结构化维护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069330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227445" y="211264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有完整的软件配置，从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评价设计文档开始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069330" y="27965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227445" y="273367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能先确定修改的影响范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围，再动手改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069330" y="34175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227445" y="335470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修改后按文档回归测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试，整体质量可以保住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908732" y="1524000"/>
              <a:ext cx="2749868" cy="256032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8918258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148762" y="17583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非结构化维护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9162098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320212" y="211264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只有源程序，只能反复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阅读代码猜结构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9162098" y="27965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320212" y="273367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看不到设计，改动的副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作用无法预判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9162098" y="34175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320212" y="335470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代价巨大，改完还常常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带出新错误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8575358" y="264223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645698" y="27384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95" name="c2-card-2"/>
          <p:cNvGrpSpPr/>
          <p:nvPr/>
        </p:nvGrpSpPr>
        <p:grpSpPr>
          <a:xfrm>
            <a:off x="5815965" y="4274820"/>
            <a:ext cx="5842635" cy="1956435"/>
            <a:chOff x="5815965" y="4274820"/>
            <a:chExt cx="5842635" cy="1956435"/>
          </a:xfrm>
        </p:grpSpPr>
        <p:sp>
          <p:nvSpPr>
            <p:cNvPr id="87" name="Rectangle 87"/>
            <p:cNvSpPr/>
            <p:nvPr/>
          </p:nvSpPr>
          <p:spPr>
            <a:xfrm>
              <a:off x="5815965" y="4274820"/>
              <a:ext cx="584263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5825490" y="440817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063615" y="44843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153823" y="45200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663690" y="451961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软件配置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055995" y="4880610"/>
              <a:ext cx="4863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软件配置 = 程序 + 数据 + 与之配套的全部文档（需求、设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计、测试、用户文档）。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6069330" y="55645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227445" y="550164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图中右侧分支的判定框在原课件里只写了一个问号，本讲义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补成“能读懂吗”，含义不变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软件维护的特点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维护的代价里，看不见的那部分影响更大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328160" cy="1335405"/>
            <a:chOff x="533400" y="1524000"/>
            <a:chExt cx="4328160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有形代价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花出去的费用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人力、机时、工具和发布的直接开销，可以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记账。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049905"/>
            <a:ext cx="4328160" cy="2912745"/>
            <a:chOff x="533400" y="3049905"/>
            <a:chExt cx="4328160" cy="2912745"/>
          </a:xfrm>
        </p:grpSpPr>
        <p:sp>
          <p:nvSpPr>
            <p:cNvPr id="14" name="Rectangle 14"/>
            <p:cNvSpPr/>
            <p:nvPr/>
          </p:nvSpPr>
          <p:spPr>
            <a:xfrm>
              <a:off x="533400" y="3049905"/>
              <a:ext cx="4328160" cy="2912745"/>
            </a:xfrm>
            <a:prstGeom prst="roundRect">
              <a:avLst>
                <a:gd name="adj" fmla="val 4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183255"/>
              <a:ext cx="47625" cy="26460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2594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3359" y="32951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无形代价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65922" y="329469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记不进账本，却更难承受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1050" y="364236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899" y="36846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2040" y="3655695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贻误良机，本该投入新项目的时间被占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1050" y="426339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2899" y="43056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2040" y="4276725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一些合理的修复或修改请求不能及时安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排，客户不满意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1050" y="488442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899" y="49267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2040" y="48977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变更引入新故障，软件整体质量下降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1050" y="521970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2899" y="52619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2040" y="5233035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把软件人员抽调到维护工作中，干扰了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正在进行的开发</a:t>
              </a:r>
            </a:p>
          </p:txBody>
        </p:sp>
      </p:grpSp>
      <p:grpSp>
        <p:nvGrpSpPr>
          <p:cNvPr id="39" name="c2-bullets-1"/>
          <p:cNvGrpSpPr/>
          <p:nvPr/>
        </p:nvGrpSpPr>
        <p:grpSpPr>
          <a:xfrm>
            <a:off x="5158740" y="1548765"/>
            <a:ext cx="6092190" cy="1623060"/>
            <a:chOff x="5158740" y="1548765"/>
            <a:chExt cx="6092190" cy="1623060"/>
          </a:xfrm>
        </p:grpSpPr>
        <p:sp>
          <p:nvSpPr>
            <p:cNvPr id="32" name="TextBox 32"/>
            <p:cNvSpPr txBox="1"/>
            <p:nvPr/>
          </p:nvSpPr>
          <p:spPr>
            <a:xfrm>
              <a:off x="5158740" y="1548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生产率为什么大幅下降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172075" y="19659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30190" y="1903095"/>
              <a:ext cx="4780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维护工作量分成两部分：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生产性活动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非生产性活动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172075" y="23107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330190" y="224790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生产性活动：分析和评价、设计修改、编码实现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172075" y="26555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330190" y="2592705"/>
              <a:ext cx="592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非生产性活动：力图理解代码功能、解释数据结构、弄清接口特性和性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能限度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5166360" y="3303270"/>
            <a:ext cx="6492240" cy="782955"/>
            <a:chOff x="5166360" y="3303270"/>
            <a:chExt cx="6492240" cy="782955"/>
          </a:xfrm>
        </p:grpSpPr>
        <p:sp>
          <p:nvSpPr>
            <p:cNvPr id="40" name="Rectangle 40"/>
            <p:cNvSpPr/>
            <p:nvPr/>
          </p:nvSpPr>
          <p:spPr>
            <a:xfrm>
              <a:off x="5166360" y="3303270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5371148" y="3594737"/>
              <a:ext cx="200023" cy="200023"/>
              <a:chOff x="5371148" y="3594737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371148" y="35947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504498" y="36614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673090" y="3451860"/>
              <a:ext cx="5539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非生产性活动不产出任何修改，却常常占掉大半工时，它的多少取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决于文档和熟悉程度。</a:t>
              </a:r>
            </a:p>
          </p:txBody>
        </p:sp>
      </p:grpSp>
      <p:grpSp>
        <p:nvGrpSpPr>
          <p:cNvPr id="61" name="c2-table-3"/>
          <p:cNvGrpSpPr/>
          <p:nvPr/>
        </p:nvGrpSpPr>
        <p:grpSpPr>
          <a:xfrm>
            <a:off x="5166360" y="4276725"/>
            <a:ext cx="6492240" cy="1346835"/>
            <a:chOff x="5166360" y="4276725"/>
            <a:chExt cx="6492240" cy="1346835"/>
          </a:xfrm>
        </p:grpSpPr>
        <p:sp>
          <p:nvSpPr>
            <p:cNvPr id="46" name="Rectangle 46"/>
            <p:cNvSpPr/>
            <p:nvPr/>
          </p:nvSpPr>
          <p:spPr>
            <a:xfrm>
              <a:off x="5166360" y="4276725"/>
              <a:ext cx="649224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33046" y="44124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同一项修改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07604" y="44124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生产性活动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63620" y="44124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非生产性活动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74183" y="486108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文档齐全的系统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81126" y="486108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大部分工时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24250" y="48610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少量工时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166360" y="516921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166360" y="5173980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74183" y="530971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只有代码的系统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81126" y="53097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少量工时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24250" y="530971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大部分工时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166360" y="4276725"/>
              <a:ext cx="649224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68540" y="42767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511665" y="42767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软件维护的特点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维护工作量模型：复杂度与熟悉程度之差进了指数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4"/>
              <p:cNvSpPr txBox="1">
                <a:spLocks noGrp="1"/>
              </p:cNvSpPr>
              <p:nvPr/>
            </p:nvSpPr>
            <p:spPr>
              <a:xfrm>
                <a:off x="533400" y="1524000"/>
                <a:ext cx="4760595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sSup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22" name="c1-kv-2"/>
          <p:cNvGrpSpPr/>
          <p:nvPr/>
        </p:nvGrpSpPr>
        <p:grpSpPr>
          <a:xfrm>
            <a:off x="526542" y="2211705"/>
            <a:ext cx="4767453" cy="1833753"/>
            <a:chOff x="526542" y="2211705"/>
            <a:chExt cx="4767453" cy="1833753"/>
          </a:xfrm>
        </p:grpSpPr>
        <p:sp>
          <p:nvSpPr>
            <p:cNvPr id="8" name="TextBox 8"/>
            <p:cNvSpPr txBox="1"/>
            <p:nvPr/>
          </p:nvSpPr>
          <p:spPr>
            <a:xfrm>
              <a:off x="526542" y="2211705"/>
              <a:ext cx="164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15162" y="221170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维护中消耗的总工作量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249745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6542" y="260413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5162" y="26041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生产性工作量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8898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6542" y="299656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5162" y="299656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一个经验常数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8231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542" y="338899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5162" y="338899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程序的复杂程度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6747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542" y="37814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5162" y="378142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维护人员对软件熟悉程度的度量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4162425"/>
            <a:ext cx="4760595" cy="1517332"/>
            <a:chOff x="533400" y="4162425"/>
            <a:chExt cx="4760595" cy="1517332"/>
          </a:xfrm>
        </p:grpSpPr>
        <p:sp>
          <p:nvSpPr>
            <p:cNvPr id="23" name="Rectangle 23"/>
            <p:cNvSpPr/>
            <p:nvPr/>
          </p:nvSpPr>
          <p:spPr>
            <a:xfrm>
              <a:off x="533400" y="4162425"/>
              <a:ext cx="4760595" cy="1517332"/>
            </a:xfrm>
            <a:prstGeom prst="roundRect">
              <a:avLst>
                <a:gd name="adj" fmla="val 753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820605"/>
              <a:ext cx="200023" cy="200023"/>
              <a:chOff x="738188" y="4820605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8206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48872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892" y="4702492"/>
              <a:ext cx="39056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越大、d 越小，非生产性工作量按指数增长，维护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成本随之失控。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5593842" y="1524000"/>
            <a:ext cx="6064758" cy="2263806"/>
            <a:chOff x="5593842" y="1524000"/>
            <a:chExt cx="6064758" cy="2263806"/>
          </a:xfrm>
        </p:grpSpPr>
        <p:sp>
          <p:nvSpPr>
            <p:cNvPr id="29" name="Rectangle 29"/>
            <p:cNvSpPr/>
            <p:nvPr/>
          </p:nvSpPr>
          <p:spPr>
            <a:xfrm>
              <a:off x="5598795" y="1524000"/>
              <a:ext cx="605980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99800" y="1645444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− 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24722" y="1645444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e^(c−d)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77200" y="16454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非生产性工作量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93872" y="1645444"/>
              <a:ext cx="790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总工作量 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95950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5595" y="2045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99095" y="2045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728835" y="1933575"/>
              <a:ext cx="192024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816465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10.82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98795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95950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5595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99095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16465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12.22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95950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5595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20.09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99095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16465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16.03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598795" y="31242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95950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5595" y="32456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148.41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99095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44.52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728835" y="3133725"/>
              <a:ext cx="192024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816465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54.52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598795" y="1524000"/>
              <a:ext cx="605980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56367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89717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71454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593842" y="3597116"/>
              <a:ext cx="3307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p ＝ 10 人月、K ＝ 0.3 时的算例，工作量单位为人月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5598795" y="3919538"/>
            <a:ext cx="6059805" cy="1760220"/>
            <a:chOff x="5598795" y="3919538"/>
            <a:chExt cx="6059805" cy="1760220"/>
          </a:xfrm>
        </p:grpSpPr>
        <p:sp>
          <p:nvSpPr>
            <p:cNvPr id="63" name="Rectangle 63"/>
            <p:cNvSpPr/>
            <p:nvPr/>
          </p:nvSpPr>
          <p:spPr>
            <a:xfrm>
              <a:off x="5598795" y="3919538"/>
              <a:ext cx="6059805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608320" y="4052888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823585" y="41062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16257" y="41390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90132" y="414147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两种极端情形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816727" y="4467225"/>
              <a:ext cx="48400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文档齐全、原班人马：c ＝ 3、d ＝ 2，M ＝ 10 ＋ 0.3×2.72 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10.82 人月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816727" y="5024438"/>
              <a:ext cx="48571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无文档、新人接手：c ＝ 6、d ＝ 1，M ＝ 10 ＋ 0.3×148.41 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54.52 人月，是前者的 5 倍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1" name="Rectangle 7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892" y="6028373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结论：开发时不用软件工程方法学，又留不住原开发人员，维护工作量会指数地增加。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软件维护的特点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维护的五个老问题，根子都在开发阶段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5952363" cy="1767077"/>
            <a:chOff x="533400" y="1534478"/>
            <a:chExt cx="5952363" cy="1767077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56715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理解别人写的程序通常非常困难，困难程度随着软件配置成分的减少而迅速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0026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21386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2111692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需要维护的软件往往没有合格的文档，或者文档资料显著不足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40887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44725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42030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要求维护时，不能指望由开发人员给我们仔细说明软件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71748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7558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72891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绝大多数软件在设计时没有考虑将来的修改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02609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306447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303752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软件维护不是一项吸引人的工作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3418522"/>
            <a:ext cx="6276022" cy="729615"/>
            <a:chOff x="533400" y="3418522"/>
            <a:chExt cx="6276022" cy="729615"/>
          </a:xfrm>
        </p:grpSpPr>
        <p:sp>
          <p:nvSpPr>
            <p:cNvPr id="23" name="Rectangle 23"/>
            <p:cNvSpPr/>
            <p:nvPr/>
          </p:nvSpPr>
          <p:spPr>
            <a:xfrm>
              <a:off x="533400" y="3418522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3683320"/>
              <a:ext cx="200023" cy="200023"/>
              <a:chOff x="738188" y="3683320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36833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37499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892" y="3565208"/>
              <a:ext cx="53286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这五条没有一条产生于维护阶段，它们都是软件定义和软件开发的方法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有缺点造成的。</a:t>
              </a:r>
            </a:p>
          </p:txBody>
        </p:sp>
      </p:grpSp>
      <p:grpSp>
        <p:nvGrpSpPr>
          <p:cNvPr id="44" name="c1-card-3"/>
          <p:cNvGrpSpPr/>
          <p:nvPr/>
        </p:nvGrpSpPr>
        <p:grpSpPr>
          <a:xfrm>
            <a:off x="533400" y="4317682"/>
            <a:ext cx="6276022" cy="1806892"/>
            <a:chOff x="533400" y="4317682"/>
            <a:chExt cx="6276022" cy="1806892"/>
          </a:xfrm>
        </p:grpSpPr>
        <p:sp>
          <p:nvSpPr>
            <p:cNvPr id="29" name="Rectangle 29"/>
            <p:cNvSpPr/>
            <p:nvPr/>
          </p:nvSpPr>
          <p:spPr>
            <a:xfrm>
              <a:off x="533400" y="4317682"/>
              <a:ext cx="6276022" cy="1806892"/>
            </a:xfrm>
            <a:prstGeom prst="roundRect">
              <a:avLst>
                <a:gd name="adj" fmla="val 73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451032"/>
              <a:ext cx="47625" cy="15401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8190" y="450437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0862" y="45372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3784" y="453961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接手一个没有文档的老系统，先做三件事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8190" y="485394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3868" y="489232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8987" y="486537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从启动入口和配置文件摸清模块划分，边读边补一张调用关系图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8190" y="515397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3868" y="51923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8987" y="516636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挑一条完整的业务路径跟到底，记下沿途的数据结构和外部接口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8190" y="545401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3868" y="549240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8987" y="546639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把读懂的部分写成最小可用的设计说明，留给下一个维护的人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2475" y="5763101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这三步做的就是逆向工程和文档重构，第六节会把它们写成正式过程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7114222" y="1524000"/>
            <a:ext cx="4544378" cy="3353752"/>
            <a:chOff x="7114222" y="1524000"/>
            <a:chExt cx="4544378" cy="3353752"/>
          </a:xfrm>
        </p:grpSpPr>
        <p:sp>
          <p:nvSpPr>
            <p:cNvPr id="45" name="Rectangle 45"/>
            <p:cNvSpPr/>
            <p:nvPr/>
          </p:nvSpPr>
          <p:spPr>
            <a:xfrm>
              <a:off x="7114222" y="1524000"/>
              <a:ext cx="4544378" cy="43910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834312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61766" y="164877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在开发阶段的对策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10234" y="220789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程序难理解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27604" y="2087880"/>
              <a:ext cx="24140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结构化设计、模块化、写好内部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注释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114222" y="263747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14222" y="2642235"/>
              <a:ext cx="4544378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10234" y="276701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文档不合格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27604" y="276701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每阶段文档纳入配置管理并复审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14222" y="307562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10234" y="320611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找不到开发人员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27604" y="320611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靠文档而不是靠人传递知识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114222" y="351472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114222" y="3519488"/>
              <a:ext cx="4544378" cy="67913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10234" y="376523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没考虑将来的修改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027604" y="3645218"/>
              <a:ext cx="24140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需求和设计复审时指明可能变化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的部分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114222" y="419385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10234" y="444341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维护没有吸引力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027604" y="4323398"/>
              <a:ext cx="24140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把维护记录和度量做成可见的成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绩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14222" y="1524000"/>
              <a:ext cx="4544378" cy="33537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926830" y="1524000"/>
              <a:ext cx="9525" cy="33537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llout-2"/>
          <p:cNvGrpSpPr/>
          <p:nvPr/>
        </p:nvGrpSpPr>
        <p:grpSpPr>
          <a:xfrm>
            <a:off x="7114222" y="5047298"/>
            <a:ext cx="4544378" cy="1077278"/>
            <a:chOff x="7114222" y="5047298"/>
            <a:chExt cx="4544378" cy="1077278"/>
          </a:xfrm>
        </p:grpSpPr>
        <p:sp>
          <p:nvSpPr>
            <p:cNvPr id="67" name="Rectangle 67"/>
            <p:cNvSpPr/>
            <p:nvPr/>
          </p:nvSpPr>
          <p:spPr>
            <a:xfrm>
              <a:off x="7114222" y="5047298"/>
              <a:ext cx="4544378" cy="1077278"/>
            </a:xfrm>
            <a:prstGeom prst="roundRect">
              <a:avLst>
                <a:gd name="adj" fmla="val 1061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19010" y="5486400"/>
              <a:ext cx="200026" cy="200025"/>
              <a:chOff x="7319010" y="5486400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19010" y="54864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358749" y="55308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393464" y="56419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621714" y="5367338"/>
              <a:ext cx="36141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复习时把这张表反过来读：每条对策都是前七章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某个方法的用途。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358515" cy="3351847"/>
            <a:chOff x="667512" y="1835468"/>
            <a:chExt cx="335851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软件维护过程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先有组织和流程，才谈得上改代码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维护组织与四件准备工作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两种维护报告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维护的事件流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维护记录与评价指标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软件维护过程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维护开始之前先把组织和流程定下来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graph-1"/>
          <p:cNvGrpSpPr/>
          <p:nvPr/>
        </p:nvGrpSpPr>
        <p:grpSpPr>
          <a:xfrm>
            <a:off x="825818" y="1799272"/>
            <a:ext cx="5097780" cy="4239959"/>
            <a:chOff x="825818" y="1799272"/>
            <a:chExt cx="5097780" cy="4239959"/>
          </a:xfrm>
        </p:grpSpPr>
        <p:sp>
          <p:nvSpPr>
            <p:cNvPr id="7" name="Freeform 7"/>
            <p:cNvSpPr/>
            <p:nvPr/>
          </p:nvSpPr>
          <p:spPr>
            <a:xfrm>
              <a:off x="1740218" y="2065972"/>
              <a:ext cx="1468755" cy="373380"/>
            </a:xfrm>
            <a:custGeom>
              <a:avLst/>
              <a:gdLst/>
              <a:ahLst/>
              <a:cxnLst/>
              <a:rect l="l" t="t" r="r" b="b"/>
              <a:pathLst>
                <a:path w="1468755" h="373380">
                  <a:moveTo>
                    <a:pt x="0" y="0"/>
                  </a:moveTo>
                  <a:lnTo>
                    <a:pt x="1468755" y="3733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97542" y="2392680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69533"/>
                  </a:moveTo>
                  <a:lnTo>
                    <a:pt x="0" y="92392"/>
                  </a:lnTo>
                  <a:lnTo>
                    <a:pt x="238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76412" y="2780348"/>
              <a:ext cx="1475422" cy="519112"/>
            </a:xfrm>
            <a:custGeom>
              <a:avLst/>
              <a:gdLst/>
              <a:ahLst/>
              <a:cxnLst/>
              <a:rect l="l" t="t" r="r" b="b"/>
              <a:pathLst>
                <a:path w="1475422" h="519112">
                  <a:moveTo>
                    <a:pt x="0" y="519112"/>
                  </a:moveTo>
                  <a:lnTo>
                    <a:pt x="14754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236595" y="273558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13335"/>
                  </a:moveTo>
                  <a:lnTo>
                    <a:pt x="31433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43075" y="2748915"/>
              <a:ext cx="1871662" cy="1648777"/>
            </a:xfrm>
            <a:custGeom>
              <a:avLst/>
              <a:gdLst/>
              <a:ahLst/>
              <a:cxnLst/>
              <a:rect l="l" t="t" r="r" b="b"/>
              <a:pathLst>
                <a:path w="1871662" h="1648777">
                  <a:moveTo>
                    <a:pt x="1871662" y="0"/>
                  </a:moveTo>
                  <a:lnTo>
                    <a:pt x="0" y="16487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71638" y="4362450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0" y="98108"/>
                  </a:moveTo>
                  <a:lnTo>
                    <a:pt x="40005" y="0"/>
                  </a:lnTo>
                  <a:lnTo>
                    <a:pt x="102870" y="7143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550920" y="2748915"/>
              <a:ext cx="223838" cy="1617345"/>
            </a:xfrm>
            <a:custGeom>
              <a:avLst/>
              <a:gdLst/>
              <a:ahLst/>
              <a:cxnLst/>
              <a:rect l="l" t="t" r="r" b="b"/>
              <a:pathLst>
                <a:path w="223838" h="1617345">
                  <a:moveTo>
                    <a:pt x="223838" y="0"/>
                  </a:moveTo>
                  <a:lnTo>
                    <a:pt x="0" y="16173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03295" y="4359592"/>
              <a:ext cx="94297" cy="100965"/>
            </a:xfrm>
            <a:custGeom>
              <a:avLst/>
              <a:gdLst/>
              <a:ahLst/>
              <a:cxnLst/>
              <a:rect l="l" t="t" r="r" b="b"/>
              <a:pathLst>
                <a:path w="94297" h="100965">
                  <a:moveTo>
                    <a:pt x="34290" y="100965"/>
                  </a:moveTo>
                  <a:lnTo>
                    <a:pt x="0" y="0"/>
                  </a:lnTo>
                  <a:lnTo>
                    <a:pt x="94297" y="133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925252" y="2748915"/>
              <a:ext cx="1315403" cy="1637347"/>
            </a:xfrm>
            <a:custGeom>
              <a:avLst/>
              <a:gdLst/>
              <a:ahLst/>
              <a:cxnLst/>
              <a:rect l="l" t="t" r="r" b="b"/>
              <a:pathLst>
                <a:path w="1315403" h="1637347">
                  <a:moveTo>
                    <a:pt x="0" y="0"/>
                  </a:moveTo>
                  <a:lnTo>
                    <a:pt x="1315403" y="16373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203508" y="4356735"/>
              <a:ext cx="96203" cy="103823"/>
            </a:xfrm>
            <a:custGeom>
              <a:avLst/>
              <a:gdLst/>
              <a:ahLst/>
              <a:cxnLst/>
              <a:rect l="l" t="t" r="r" b="b"/>
              <a:pathLst>
                <a:path w="96203" h="103823">
                  <a:moveTo>
                    <a:pt x="96203" y="103823"/>
                  </a:moveTo>
                  <a:lnTo>
                    <a:pt x="0" y="60008"/>
                  </a:lnTo>
                  <a:lnTo>
                    <a:pt x="7429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489710" y="4780598"/>
              <a:ext cx="9525" cy="842962"/>
            </a:xfrm>
            <a:custGeom>
              <a:avLst/>
              <a:gdLst/>
              <a:ahLst/>
              <a:cxnLst/>
              <a:rect l="l" t="t" r="r" b="b"/>
              <a:pathLst>
                <a:path w="9525" h="842962">
                  <a:moveTo>
                    <a:pt x="0" y="0"/>
                  </a:moveTo>
                  <a:lnTo>
                    <a:pt x="0" y="8429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442085" y="56235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515678" y="4780598"/>
              <a:ext cx="9525" cy="842962"/>
            </a:xfrm>
            <a:custGeom>
              <a:avLst/>
              <a:gdLst/>
              <a:ahLst/>
              <a:cxnLst/>
              <a:rect l="l" t="t" r="r" b="b"/>
              <a:pathLst>
                <a:path w="9525" h="842962">
                  <a:moveTo>
                    <a:pt x="0" y="0"/>
                  </a:moveTo>
                  <a:lnTo>
                    <a:pt x="0" y="8429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468052" y="56235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428298" y="4780598"/>
              <a:ext cx="9525" cy="842962"/>
            </a:xfrm>
            <a:custGeom>
              <a:avLst/>
              <a:gdLst/>
              <a:ahLst/>
              <a:cxnLst/>
              <a:rect l="l" t="t" r="r" b="b"/>
              <a:pathLst>
                <a:path w="9525" h="842962">
                  <a:moveTo>
                    <a:pt x="0" y="0"/>
                  </a:moveTo>
                  <a:lnTo>
                    <a:pt x="0" y="8429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380672" y="56235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02018" y="1799272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01365" y="2428875"/>
              <a:ext cx="9906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25818" y="3299460"/>
              <a:ext cx="9906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94410" y="4460558"/>
              <a:ext cx="9906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020378" y="4460558"/>
              <a:ext cx="9906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932998" y="4460558"/>
              <a:ext cx="9906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70610" y="571881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096578" y="571881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009198" y="571881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91933" y="18849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维护要求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86709" y="251364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维护管理员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1161" y="33851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变化授权人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9754" y="45462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系统管理员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05722" y="45462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系统管理员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18342" y="45462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系统管理员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60526" y="58045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86494" y="58045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软件系统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99114" y="58045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软件系统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358390" y="217170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384387" y="22064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提交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209800" y="2930842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224596" y="296560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批准与排期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356485" y="3511868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374379" y="354663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转交评价</a:t>
              </a:r>
            </a:p>
          </p:txBody>
        </p:sp>
      </p:grpSp>
      <p:grpSp>
        <p:nvGrpSpPr>
          <p:cNvPr id="57" name="c2-bullets-1"/>
          <p:cNvGrpSpPr/>
          <p:nvPr/>
        </p:nvGrpSpPr>
        <p:grpSpPr>
          <a:xfrm>
            <a:off x="6456998" y="1548765"/>
            <a:ext cx="4110037" cy="1682115"/>
            <a:chOff x="6456998" y="1548765"/>
            <a:chExt cx="4110037" cy="1682115"/>
          </a:xfrm>
        </p:grpSpPr>
        <p:sp>
          <p:nvSpPr>
            <p:cNvPr id="48" name="TextBox 48"/>
            <p:cNvSpPr txBox="1"/>
            <p:nvPr/>
          </p:nvSpPr>
          <p:spPr>
            <a:xfrm>
              <a:off x="6456998" y="15487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事先要做的四件组织工作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6464618" y="193452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15125" y="190309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建立维护组织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6464618" y="2279332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15125" y="22479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申明提出维护申请报告的过程及评价的过程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464618" y="262413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15125" y="259270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为每一个维护申请规定标准化的事件序列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6464618" y="296894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15125" y="293751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建立记录保管过程，并规定复审标准</a:t>
              </a:r>
            </a:p>
          </p:txBody>
        </p:sp>
      </p:grpSp>
      <p:grpSp>
        <p:nvGrpSpPr>
          <p:cNvPr id="66" name="c2-kv-2"/>
          <p:cNvGrpSpPr/>
          <p:nvPr/>
        </p:nvGrpSpPr>
        <p:grpSpPr>
          <a:xfrm>
            <a:off x="6456998" y="3387090"/>
            <a:ext cx="5201602" cy="1455420"/>
            <a:chOff x="6456998" y="3387090"/>
            <a:chExt cx="5201602" cy="1455420"/>
          </a:xfrm>
        </p:grpSpPr>
        <p:sp>
          <p:nvSpPr>
            <p:cNvPr id="58" name="TextBox 58"/>
            <p:cNvSpPr txBox="1"/>
            <p:nvPr/>
          </p:nvSpPr>
          <p:spPr>
            <a:xfrm>
              <a:off x="6456998" y="338709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维护管理员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97152" y="338709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接收全部维护申请，转交给系统管理员评价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37071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56998" y="38271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系统管理员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97152" y="3827145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熟悉自己负责的那几个软件系统，做技术评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价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64618" y="442912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56998" y="45491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变化授权人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97152" y="454914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根据评价结果决定做不做、什么时候做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6464618" y="4973955"/>
            <a:ext cx="5193982" cy="782955"/>
            <a:chOff x="6464618" y="4973955"/>
            <a:chExt cx="5193982" cy="782955"/>
          </a:xfrm>
        </p:grpSpPr>
        <p:sp>
          <p:nvSpPr>
            <p:cNvPr id="67" name="Rectangle 67"/>
            <p:cNvSpPr/>
            <p:nvPr/>
          </p:nvSpPr>
          <p:spPr>
            <a:xfrm>
              <a:off x="6464618" y="497395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69405" y="5265420"/>
              <a:ext cx="200026" cy="200026"/>
              <a:chOff x="6669405" y="5265420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669405" y="52654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769418" y="53320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758305" y="53654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971348" y="512254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小型开发部门不可能设齐这些岗位，但这三项职责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必须落实到人，否则修改会失控。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软件维护过程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两份维护报告：用户描述现象，组织判断性质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904048"/>
            <a:chOff x="533400" y="1524000"/>
            <a:chExt cx="5410200" cy="19040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用户填写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9631" y="175688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维护要求表（软件问题报告表）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由申请维护的用户填写，说明遇到的现象和希望的改动。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7840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18874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改正性维护要写清出错的输入数据、完整的错误清单和其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他材料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06800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00751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完善性或适应性维护要提出一份简短的需求说明书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609022"/>
            <a:ext cx="5410200" cy="756285"/>
            <a:chOff x="533400" y="3609022"/>
            <a:chExt cx="5410200" cy="756285"/>
          </a:xfrm>
        </p:grpSpPr>
        <p:sp>
          <p:nvSpPr>
            <p:cNvPr id="18" name="Rectangle 18"/>
            <p:cNvSpPr/>
            <p:nvPr/>
          </p:nvSpPr>
          <p:spPr>
            <a:xfrm>
              <a:off x="533400" y="360902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3887153"/>
              <a:ext cx="200026" cy="200025"/>
              <a:chOff x="738188" y="3887153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38871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39316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40427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3756184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用户只需要把现象说清楚，不必判断是不是错误，更不必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给出修改方案。</a:t>
              </a:r>
            </a:p>
          </p:txBody>
        </p:sp>
      </p:grpSp>
      <p:grpSp>
        <p:nvGrpSpPr>
          <p:cNvPr id="33" name="c1-kv-3"/>
          <p:cNvGrpSpPr/>
          <p:nvPr/>
        </p:nvGrpSpPr>
        <p:grpSpPr>
          <a:xfrm>
            <a:off x="526161" y="4568666"/>
            <a:ext cx="5417439" cy="1111187"/>
            <a:chOff x="526161" y="4568666"/>
            <a:chExt cx="5417439" cy="1111187"/>
          </a:xfrm>
        </p:grpSpPr>
        <p:sp>
          <p:nvSpPr>
            <p:cNvPr id="25" name="TextBox 25"/>
            <p:cNvSpPr txBox="1"/>
            <p:nvPr/>
          </p:nvSpPr>
          <p:spPr>
            <a:xfrm>
              <a:off x="526161" y="45686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必须写清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25334" y="456866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出错时的输入数据、错误现象和完整的错误清单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8720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6161" y="498490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可以附上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25334" y="498490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复现步骤、日志、截图等有助于定位的材料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2882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6161" y="540115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不必写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25334" y="540115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错误原因和修改方案，那是评价之后由组织判断的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248400" y="1524000"/>
            <a:ext cx="5410200" cy="1950720"/>
            <a:chOff x="6248400" y="1524000"/>
            <a:chExt cx="5410200" cy="1950720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1950720"/>
            </a:xfrm>
            <a:prstGeom prst="roundRect">
              <a:avLst>
                <a:gd name="adj" fmla="val 683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46520" y="172212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13957" y="17564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软件组织内部填写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29931" y="17568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软件修改报告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46520" y="208883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04865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37414" y="210073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满足某个维护要求表中提出的要求所需要的工作量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46520" y="240601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04865" y="24463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37414" y="241887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维护要求的性质（属于哪一类维护）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46520" y="272415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04865" y="27635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37414" y="273605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这项要求的优先级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46520" y="304133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04865" y="30816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37414" y="305419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与修改有关的事后数据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6248400" y="3654742"/>
            <a:ext cx="5410200" cy="756285"/>
            <a:chOff x="6248400" y="3654742"/>
            <a:chExt cx="5410200" cy="756285"/>
          </a:xfrm>
        </p:grpSpPr>
        <p:sp>
          <p:nvSpPr>
            <p:cNvPr id="51" name="Rectangle 51"/>
            <p:cNvSpPr/>
            <p:nvPr/>
          </p:nvSpPr>
          <p:spPr>
            <a:xfrm>
              <a:off x="6248400" y="365474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453188" y="3932875"/>
              <a:ext cx="200023" cy="200023"/>
              <a:chOff x="6453188" y="393287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453188" y="39328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86538" y="39995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755511" y="3801904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软件修改报告是变化授权人做决定的依据，也是后面评价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维护活动的原始数据。</a:t>
              </a:r>
            </a:p>
          </p:txBody>
        </p:sp>
      </p:grpSp>
      <p:grpSp>
        <p:nvGrpSpPr>
          <p:cNvPr id="72" name="c2-table-3"/>
          <p:cNvGrpSpPr/>
          <p:nvPr/>
        </p:nvGrpSpPr>
        <p:grpSpPr>
          <a:xfrm>
            <a:off x="6248400" y="4591050"/>
            <a:ext cx="5410200" cy="1643062"/>
            <a:chOff x="6248400" y="4591050"/>
            <a:chExt cx="5410200" cy="1643062"/>
          </a:xfrm>
        </p:grpSpPr>
        <p:sp>
          <p:nvSpPr>
            <p:cNvPr id="57" name="Rectangle 57"/>
            <p:cNvSpPr/>
            <p:nvPr/>
          </p:nvSpPr>
          <p:spPr>
            <a:xfrm>
              <a:off x="6248400" y="4591050"/>
              <a:ext cx="5410200" cy="4629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95440" y="472297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27340" y="47229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维护要求表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95840" y="47229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软件修改报告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49746" y="518683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谁来写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31786" y="518683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申请维护的用户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595866" y="518683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软件组织内部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55130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48400" y="5517832"/>
              <a:ext cx="5410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49746" y="577643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写什么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31786" y="577643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现象和希望的改动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595866" y="5649754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工作量、性质、优先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级、事后数据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4591050"/>
              <a:ext cx="5410200" cy="16430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325678" y="4591050"/>
              <a:ext cx="9525" cy="16430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9489758" y="4591050"/>
              <a:ext cx="9525" cy="16430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软件维护过程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维护的事件流：先分类，再定优先级，最后分配人员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0" name="c1-graph-1"/>
          <p:cNvGrpSpPr/>
          <p:nvPr/>
        </p:nvGrpSpPr>
        <p:grpSpPr>
          <a:xfrm>
            <a:off x="820102" y="1485900"/>
            <a:ext cx="10339985" cy="3943350"/>
            <a:chOff x="820102" y="1485900"/>
            <a:chExt cx="10339985" cy="3943350"/>
          </a:xfrm>
        </p:grpSpPr>
        <p:sp>
          <p:nvSpPr>
            <p:cNvPr id="7" name="Freeform 7"/>
            <p:cNvSpPr/>
            <p:nvPr/>
          </p:nvSpPr>
          <p:spPr>
            <a:xfrm>
              <a:off x="1248728" y="2121218"/>
              <a:ext cx="233362" cy="678180"/>
            </a:xfrm>
            <a:custGeom>
              <a:avLst/>
              <a:gdLst/>
              <a:ahLst/>
              <a:cxnLst/>
              <a:rect l="l" t="t" r="r" b="b"/>
              <a:pathLst>
                <a:path w="233362" h="678180">
                  <a:moveTo>
                    <a:pt x="0" y="0"/>
                  </a:moveTo>
                  <a:lnTo>
                    <a:pt x="233362" y="6781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37322" y="2784158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75248" y="104775"/>
                  </a:moveTo>
                  <a:lnTo>
                    <a:pt x="0" y="30480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011680" y="2348865"/>
              <a:ext cx="1468755" cy="742950"/>
            </a:xfrm>
            <a:custGeom>
              <a:avLst/>
              <a:gdLst/>
              <a:ahLst/>
              <a:cxnLst/>
              <a:rect l="l" t="t" r="r" b="b"/>
              <a:pathLst>
                <a:path w="1468755" h="742950">
                  <a:moveTo>
                    <a:pt x="0" y="742950"/>
                  </a:moveTo>
                  <a:lnTo>
                    <a:pt x="14687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59480" y="2306002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0"/>
                  </a:moveTo>
                  <a:lnTo>
                    <a:pt x="42862" y="85725"/>
                  </a:lnTo>
                  <a:lnTo>
                    <a:pt x="0" y="95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94535" y="3491865"/>
              <a:ext cx="874395" cy="538162"/>
            </a:xfrm>
            <a:custGeom>
              <a:avLst/>
              <a:gdLst/>
              <a:ahLst/>
              <a:cxnLst/>
              <a:rect l="l" t="t" r="r" b="b"/>
              <a:pathLst>
                <a:path w="874395" h="538162">
                  <a:moveTo>
                    <a:pt x="0" y="0"/>
                  </a:moveTo>
                  <a:lnTo>
                    <a:pt x="874395" y="5381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44165" y="3990022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90488"/>
                  </a:moveTo>
                  <a:lnTo>
                    <a:pt x="0" y="80962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448175" y="1976438"/>
              <a:ext cx="1531620" cy="91440"/>
            </a:xfrm>
            <a:custGeom>
              <a:avLst/>
              <a:gdLst/>
              <a:ahLst/>
              <a:cxnLst/>
              <a:rect l="l" t="t" r="r" b="b"/>
              <a:pathLst>
                <a:path w="1531620" h="91440">
                  <a:moveTo>
                    <a:pt x="0" y="91440"/>
                  </a:moveTo>
                  <a:lnTo>
                    <a:pt x="15316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976938" y="1928812"/>
              <a:ext cx="98107" cy="95250"/>
            </a:xfrm>
            <a:custGeom>
              <a:avLst/>
              <a:gdLst/>
              <a:ahLst/>
              <a:cxnLst/>
              <a:rect l="l" t="t" r="r" b="b"/>
              <a:pathLst>
                <a:path w="98107" h="95250">
                  <a:moveTo>
                    <a:pt x="98107" y="41910"/>
                  </a:moveTo>
                  <a:lnTo>
                    <a:pt x="5715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395788" y="2311718"/>
              <a:ext cx="1202055" cy="628650"/>
            </a:xfrm>
            <a:custGeom>
              <a:avLst/>
              <a:gdLst/>
              <a:ahLst/>
              <a:cxnLst/>
              <a:rect l="l" t="t" r="r" b="b"/>
              <a:pathLst>
                <a:path w="1202055" h="628650">
                  <a:moveTo>
                    <a:pt x="0" y="0"/>
                  </a:moveTo>
                  <a:lnTo>
                    <a:pt x="1202055" y="6286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575935" y="2897505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86678"/>
                  </a:moveTo>
                  <a:lnTo>
                    <a:pt x="0" y="84773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6096000" y="3667125"/>
              <a:ext cx="9525" cy="288608"/>
            </a:xfrm>
            <a:custGeom>
              <a:avLst/>
              <a:gdLst/>
              <a:ahLst/>
              <a:cxnLst/>
              <a:rect l="l" t="t" r="r" b="b"/>
              <a:pathLst>
                <a:path w="9525" h="288608">
                  <a:moveTo>
                    <a:pt x="0" y="0"/>
                  </a:moveTo>
                  <a:lnTo>
                    <a:pt x="0" y="2886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048375" y="39557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671638" y="4444365"/>
              <a:ext cx="1237297" cy="423862"/>
            </a:xfrm>
            <a:custGeom>
              <a:avLst/>
              <a:gdLst/>
              <a:ahLst/>
              <a:cxnLst/>
              <a:rect l="l" t="t" r="r" b="b"/>
              <a:pathLst>
                <a:path w="1237297" h="423862">
                  <a:moveTo>
                    <a:pt x="1237297" y="0"/>
                  </a:moveTo>
                  <a:lnTo>
                    <a:pt x="0" y="4238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582102" y="4822508"/>
              <a:ext cx="105727" cy="90487"/>
            </a:xfrm>
            <a:custGeom>
              <a:avLst/>
              <a:gdLst/>
              <a:ahLst/>
              <a:cxnLst/>
              <a:rect l="l" t="t" r="r" b="b"/>
              <a:pathLst>
                <a:path w="105727" h="90487">
                  <a:moveTo>
                    <a:pt x="0" y="76200"/>
                  </a:moveTo>
                  <a:lnTo>
                    <a:pt x="74295" y="0"/>
                  </a:lnTo>
                  <a:lnTo>
                    <a:pt x="105727" y="9048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724275" y="4431982"/>
              <a:ext cx="1444943" cy="447675"/>
            </a:xfrm>
            <a:custGeom>
              <a:avLst/>
              <a:gdLst/>
              <a:ahLst/>
              <a:cxnLst/>
              <a:rect l="l" t="t" r="r" b="b"/>
              <a:pathLst>
                <a:path w="1444943" h="447675">
                  <a:moveTo>
                    <a:pt x="0" y="0"/>
                  </a:moveTo>
                  <a:lnTo>
                    <a:pt x="1444943" y="4476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154930" y="4833938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4295"/>
                  </a:moveTo>
                  <a:lnTo>
                    <a:pt x="0" y="91440"/>
                  </a:lnTo>
                  <a:lnTo>
                    <a:pt x="2762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897052" y="2245042"/>
              <a:ext cx="1358265" cy="1149668"/>
            </a:xfrm>
            <a:custGeom>
              <a:avLst/>
              <a:gdLst/>
              <a:ahLst/>
              <a:cxnLst/>
              <a:rect l="l" t="t" r="r" b="b"/>
              <a:pathLst>
                <a:path w="1358265" h="1149668">
                  <a:moveTo>
                    <a:pt x="0" y="0"/>
                  </a:moveTo>
                  <a:lnTo>
                    <a:pt x="1358265" y="11496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223885" y="3358515"/>
              <a:ext cx="103822" cy="98107"/>
            </a:xfrm>
            <a:custGeom>
              <a:avLst/>
              <a:gdLst/>
              <a:ahLst/>
              <a:cxnLst/>
              <a:rect l="l" t="t" r="r" b="b"/>
              <a:pathLst>
                <a:path w="103822" h="98107">
                  <a:moveTo>
                    <a:pt x="103822" y="98107"/>
                  </a:moveTo>
                  <a:lnTo>
                    <a:pt x="0" y="73342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027420" y="3941445"/>
              <a:ext cx="2145983" cy="925830"/>
            </a:xfrm>
            <a:custGeom>
              <a:avLst/>
              <a:gdLst/>
              <a:ahLst/>
              <a:cxnLst/>
              <a:rect l="l" t="t" r="r" b="b"/>
              <a:pathLst>
                <a:path w="2145983" h="925830">
                  <a:moveTo>
                    <a:pt x="0" y="925830"/>
                  </a:moveTo>
                  <a:lnTo>
                    <a:pt x="21459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155305" y="3897630"/>
              <a:ext cx="105727" cy="87630"/>
            </a:xfrm>
            <a:custGeom>
              <a:avLst/>
              <a:gdLst/>
              <a:ahLst/>
              <a:cxnLst/>
              <a:rect l="l" t="t" r="r" b="b"/>
              <a:pathLst>
                <a:path w="105727" h="87630">
                  <a:moveTo>
                    <a:pt x="105727" y="5715"/>
                  </a:moveTo>
                  <a:lnTo>
                    <a:pt x="37147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9043035" y="3915728"/>
              <a:ext cx="1303020" cy="610552"/>
            </a:xfrm>
            <a:custGeom>
              <a:avLst/>
              <a:gdLst/>
              <a:ahLst/>
              <a:cxnLst/>
              <a:rect l="l" t="t" r="r" b="b"/>
              <a:pathLst>
                <a:path w="1303020" h="610552">
                  <a:moveTo>
                    <a:pt x="0" y="0"/>
                  </a:moveTo>
                  <a:lnTo>
                    <a:pt x="1303020" y="6105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326052" y="4483418"/>
              <a:ext cx="105728" cy="85725"/>
            </a:xfrm>
            <a:custGeom>
              <a:avLst/>
              <a:gdLst/>
              <a:ahLst/>
              <a:cxnLst/>
              <a:rect l="l" t="t" r="r" b="b"/>
              <a:pathLst>
                <a:path w="105728" h="85725">
                  <a:moveTo>
                    <a:pt x="105728" y="83820"/>
                  </a:moveTo>
                  <a:lnTo>
                    <a:pt x="0" y="85725"/>
                  </a:lnTo>
                  <a:lnTo>
                    <a:pt x="4000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20102" y="1841182"/>
              <a:ext cx="7620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1245870" y="2876550"/>
              <a:ext cx="800100" cy="800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525202" y="1638300"/>
              <a:ext cx="914400" cy="9144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083618" y="1485900"/>
              <a:ext cx="914400" cy="9144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5638800" y="2743200"/>
              <a:ext cx="914400" cy="9144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81650" y="4050982"/>
              <a:ext cx="10287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2895600" y="3886200"/>
              <a:ext cx="838200" cy="838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20102" y="4889182"/>
              <a:ext cx="76200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5251132" y="4629150"/>
              <a:ext cx="800100" cy="800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235315" y="3314700"/>
              <a:ext cx="838200" cy="8382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0407015" y="436245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3066" y="19154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维护要求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57884" y="32108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判定类型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53016" y="20297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估量严重程度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11431" y="18773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开始问题分析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66613" y="31346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计划改正进度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66613" y="41252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错误改正目录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955988" y="42395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评价优先度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3066" y="49634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开发目录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63147" y="49634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开始分析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66379" y="36680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维护任务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622280" y="46586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377843" y="5121116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复审后交付使用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646045" y="262032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673769" y="264937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错误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173605" y="3707130"/>
              <a:ext cx="5972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191004" y="3737134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适应／改进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119688" y="194119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146459" y="197024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严重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844415" y="2569845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868380" y="259889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不严重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155508" y="4592955"/>
              <a:ext cx="18002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186038" y="4622006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401502" y="4591050"/>
              <a:ext cx="18002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432033" y="4621054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365682" y="277177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86841" y="280177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分配人员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898005" y="4306252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18211" y="433625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分配人员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386888" y="4162425"/>
              <a:ext cx="70104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01480" y="4192429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修改后的配置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1" name="Rectangle 7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130" y="5991225"/>
              <a:ext cx="8546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只有“错误 + 严重”这一条路径可以立即进入问题分析，其余请求都要先排优先级再进开发目录。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软件维护过程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不管哪类申请，后面的技术工作都一样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steps-1"/>
          <p:cNvGrpSpPr/>
          <p:nvPr/>
        </p:nvGrpSpPr>
        <p:grpSpPr>
          <a:xfrm>
            <a:off x="533400" y="1533525"/>
            <a:ext cx="3171444" cy="4249483"/>
            <a:chOff x="533400" y="1533525"/>
            <a:chExt cx="3171444" cy="424948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3701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423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0050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743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61772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691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23494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308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15663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修改软件设计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1846898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先改设计文档，不要直接动代码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218360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2464118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请第三人检查设计改动是否正确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279987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修改源程序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30803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按改过的设计做必要的修改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261" y="34170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单元测试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369760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验证被改动的模块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261" y="403431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集成测试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404" y="4314825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即回归测试，验证模块之间没有被改坏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261" y="465058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确认测试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404" y="493109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按需求说明书验收改动后的系统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5261" y="526780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6404" y="5548312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检查配置的完整性和一致性，归档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5598795" y="1524000"/>
            <a:ext cx="6059805" cy="1904048"/>
            <a:chOff x="5598795" y="1524000"/>
            <a:chExt cx="6059805" cy="1904048"/>
          </a:xfrm>
        </p:grpSpPr>
        <p:sp>
          <p:nvSpPr>
            <p:cNvPr id="37" name="Rectangle 37"/>
            <p:cNvSpPr/>
            <p:nvPr/>
          </p:nvSpPr>
          <p:spPr>
            <a:xfrm>
              <a:off x="5598795" y="1524000"/>
              <a:ext cx="6059805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608320" y="1657350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35015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26455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18326" y="17568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回归测试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27776" y="2100739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把已有的测试用例重新执行一遍，确认这次修改没有破坏原来能正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常工作的功能。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842635" y="274986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99226" y="2690336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用例集要随每次修改扩充，新发现的错误补成新用例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842635" y="306800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99226" y="3007519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回归测试的成本决定了小修改能不能频繁发布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5598795" y="3609022"/>
            <a:ext cx="6059805" cy="1315402"/>
            <a:chOff x="5598795" y="3609022"/>
            <a:chExt cx="6059805" cy="1315402"/>
          </a:xfrm>
        </p:grpSpPr>
        <p:sp>
          <p:nvSpPr>
            <p:cNvPr id="48" name="Rectangle 48"/>
            <p:cNvSpPr/>
            <p:nvPr/>
          </p:nvSpPr>
          <p:spPr>
            <a:xfrm>
              <a:off x="5598795" y="3609022"/>
              <a:ext cx="6059805" cy="1315402"/>
            </a:xfrm>
            <a:prstGeom prst="roundRect">
              <a:avLst>
                <a:gd name="adj" fmla="val 10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608320" y="3742372"/>
              <a:ext cx="47625" cy="104870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35015" y="380714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26455" y="38414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例外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18326" y="384190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紧急的程序修改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27776" y="4185761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系统瘫痪这类情况可以绕过评价和排期，先改代码救急。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5842635" y="45634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99226" y="4502944"/>
              <a:ext cx="53669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事后必须补做设计修改、文档更新和复审，否则配置会越来越乱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5598795" y="5104448"/>
            <a:ext cx="6059805" cy="756285"/>
            <a:chOff x="5598795" y="5104448"/>
            <a:chExt cx="6059805" cy="756285"/>
          </a:xfrm>
        </p:grpSpPr>
        <p:sp>
          <p:nvSpPr>
            <p:cNvPr id="57" name="Rectangle 57"/>
            <p:cNvSpPr/>
            <p:nvPr/>
          </p:nvSpPr>
          <p:spPr>
            <a:xfrm>
              <a:off x="5598795" y="5104448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5803583" y="5382580"/>
              <a:ext cx="200023" cy="200023"/>
              <a:chOff x="5803583" y="5382580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5803583" y="53825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936933" y="54492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105906" y="5251609"/>
              <a:ext cx="498284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每项维护工作完成后都要对维护本身再复审一次，回答“改对了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吗、文档跟上了吗”。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软件维护过程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保存维护记录：十八个字段分成五组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11125200" cy="3192780"/>
            <a:chOff x="533400" y="1524000"/>
            <a:chExt cx="11125200" cy="31927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4781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06552" y="16630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要记录的字段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程序标识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88005" y="2150745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程序名称／所用的程序设计语言／源程序语句条数／机器代码指令条数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080" y="26384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运行与失效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88005" y="263842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程序安装的日期／安装后的运行次数／安装后程序失效的次数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32594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修改内容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88005" y="3126105"/>
              <a:ext cx="801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程序改变的层次及名称／修改增加的源程序语句条数／修改减少的源程序语句条数／修改程序的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366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414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080" y="38804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人力与时间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88005" y="3880485"/>
              <a:ext cx="77289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每次修改所付出的“人时”数／维护开始时间和结束时间／花费在维护上的累计“人时”数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24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0080" y="43681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管理信息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8005" y="436816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维护人员姓名／维护要求表的名称／维护类型／维护工作的净收益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11125200" cy="31927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976562" y="1524000"/>
              <a:ext cx="9525" cy="3192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llout-2"/>
          <p:cNvGrpSpPr/>
          <p:nvPr/>
        </p:nvGrpSpPr>
        <p:grpSpPr>
          <a:xfrm>
            <a:off x="533400" y="4907280"/>
            <a:ext cx="11125200" cy="533400"/>
            <a:chOff x="533400" y="4907280"/>
            <a:chExt cx="11125200" cy="533400"/>
          </a:xfrm>
        </p:grpSpPr>
        <p:sp>
          <p:nvSpPr>
            <p:cNvPr id="29" name="Rectangle 29"/>
            <p:cNvSpPr/>
            <p:nvPr/>
          </p:nvSpPr>
          <p:spPr>
            <a:xfrm>
              <a:off x="533400" y="490728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073970"/>
              <a:ext cx="200023" cy="200023"/>
              <a:chOff x="738188" y="507397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0739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51406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06920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这些字段是下一页全部度量的原始数据，字段记不全，维护活动就只能凭印象评价。</a:t>
              </a:r>
            </a:p>
          </p:txBody>
        </p:sp>
      </p:grpSp>
      <p:grpSp>
        <p:nvGrpSpPr>
          <p:cNvPr id="41" name="c1-callout-3"/>
          <p:cNvGrpSpPr/>
          <p:nvPr/>
        </p:nvGrpSpPr>
        <p:grpSpPr>
          <a:xfrm>
            <a:off x="533400" y="5631180"/>
            <a:ext cx="11125200" cy="533400"/>
            <a:chOff x="533400" y="5631180"/>
            <a:chExt cx="11125200" cy="533400"/>
          </a:xfrm>
        </p:grpSpPr>
        <p:sp>
          <p:nvSpPr>
            <p:cNvPr id="35" name="Rectangle 35"/>
            <p:cNvSpPr/>
            <p:nvPr/>
          </p:nvSpPr>
          <p:spPr>
            <a:xfrm>
              <a:off x="533400" y="563118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797868"/>
              <a:ext cx="200026" cy="200026"/>
              <a:chOff x="738188" y="579786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7978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58645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7088" y="58978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79310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分组是本讲义为便于记忆加的，原课件按两页列出十八项，内容完全一致。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软件维护过程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评价维护活动的七项度量，各自说明什么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11125200" cy="3706178"/>
            <a:chOff x="533400" y="1524000"/>
            <a:chExt cx="11125200" cy="37061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29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0378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61623" y="1655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计算口径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59862" y="16559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能说明什么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4746" y="211978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每次运行时的平均失效次数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72306" y="2119789"/>
              <a:ext cx="1763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失效次数 ÷ 运行次数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2751" y="211978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软件当前的可靠性水平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460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50782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4746" y="2582704"/>
              <a:ext cx="2146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每类维护上的总“人时”数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72306" y="258270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按维护类型累加人时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2751" y="258270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维护工作量的结构，谁在吃掉工时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0893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746" y="304561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程序平均修改次数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72306" y="3045619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修改次数 ÷ 程序数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32751" y="3045619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哪些程序最不稳定，该不该再工程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728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77565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746" y="3509486"/>
              <a:ext cx="31026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增删一个源程序语句的平均“人时”数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72306" y="3509486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人时 ÷ 增删语句数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32751" y="350948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单位修改成本，可与开发成本对比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8357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746" y="3972401"/>
              <a:ext cx="2146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每种语言的平均“人时”数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72306" y="3972401"/>
              <a:ext cx="2145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按语言累加人时 ÷ 程序数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32751" y="397240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语言和工具选择对维护的影响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986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303395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746" y="443626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维护要求表的平均周转时间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72306" y="4436269"/>
              <a:ext cx="1849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结束时间 － 提交时间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32751" y="443626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对用户请求的响应速度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7625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746" y="489918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各类维护所占的百分比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72306" y="4899184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各类人时 ÷ 总人时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2751" y="489918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维护性质的分布，用于横向比较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11125200" cy="37061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866198" y="1524000"/>
              <a:ext cx="9525" cy="37061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426642" y="1524000"/>
              <a:ext cx="9525" cy="37061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5" name="Rectangle 4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6011704"/>
              <a:ext cx="6896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这七项都是相对指标，单看一次没有意义，要跨版本、跨项目比较才看得出趋势。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580638" cy="3351847"/>
            <a:chOff x="667512" y="1835468"/>
            <a:chExt cx="358063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软件的可维护性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维护难不难，在交付之前就定下来了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可维护性的定义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决定可维护性的五个因素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用户文档与系统文档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各阶段的可维护性复审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28332" cy="909257"/>
            <a:chOff x="520446" y="342900"/>
            <a:chExt cx="52283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软件的可维护性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283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可维护性衡量的是“改起来有多难”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1720215"/>
            <a:chOff x="533400" y="1524000"/>
            <a:chExt cx="5626418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软件可维护性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维护人员理解、改正、改动或改进这个软件的难易程度。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65070"/>
              <a:ext cx="45182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它是一种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质量属性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，在设计和编码阶段就被决定了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8003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维护阶段只能承受它，很难再提高它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434715"/>
            <a:ext cx="5626418" cy="2203132"/>
            <a:chOff x="533400" y="3434715"/>
            <a:chExt cx="5626418" cy="2203132"/>
          </a:xfrm>
        </p:grpSpPr>
        <p:sp>
          <p:nvSpPr>
            <p:cNvPr id="18" name="Rectangle 18"/>
            <p:cNvSpPr/>
            <p:nvPr/>
          </p:nvSpPr>
          <p:spPr>
            <a:xfrm>
              <a:off x="533400" y="3434715"/>
              <a:ext cx="5626418" cy="2203132"/>
            </a:xfrm>
            <a:prstGeom prst="roundRect">
              <a:avLst>
                <a:gd name="adj" fmla="val 60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568065"/>
              <a:ext cx="47625" cy="19364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3644265"/>
              <a:ext cx="174021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1761" y="3679984"/>
              <a:ext cx="16997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IEEE Std 610.12-1990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27948" y="367950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英文定义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4040505"/>
              <a:ext cx="47396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Maintainability: The ease with which a software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 or component can be modified to correct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faults, improve performance or other attributes,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 adapt to a changed environment.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573" y="5229701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原课件在这里抄录了出版社通信地址，与内容无关，本讲义删去</a:t>
              </a:r>
            </a:p>
          </p:txBody>
        </p:sp>
      </p:grpSp>
      <p:grpSp>
        <p:nvGrpSpPr>
          <p:cNvPr id="64" name="c2-tree-1"/>
          <p:cNvGrpSpPr/>
          <p:nvPr/>
        </p:nvGrpSpPr>
        <p:grpSpPr>
          <a:xfrm>
            <a:off x="6464618" y="1496378"/>
            <a:ext cx="5193982" cy="2912745"/>
            <a:chOff x="6464618" y="1496378"/>
            <a:chExt cx="5193982" cy="2912745"/>
          </a:xfrm>
        </p:grpSpPr>
        <p:sp>
          <p:nvSpPr>
            <p:cNvPr id="26" name="Freeform 26"/>
            <p:cNvSpPr/>
            <p:nvPr/>
          </p:nvSpPr>
          <p:spPr>
            <a:xfrm>
              <a:off x="9787890" y="1683068"/>
              <a:ext cx="419100" cy="634365"/>
            </a:xfrm>
            <a:custGeom>
              <a:avLst/>
              <a:gdLst/>
              <a:ahLst/>
              <a:cxnLst/>
              <a:rect l="l" t="t" r="r" b="b"/>
              <a:pathLst>
                <a:path w="419100" h="634365">
                  <a:moveTo>
                    <a:pt x="0" y="634365"/>
                  </a:moveTo>
                  <a:lnTo>
                    <a:pt x="209550" y="63436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787890" y="2000250"/>
              <a:ext cx="419100" cy="317183"/>
            </a:xfrm>
            <a:custGeom>
              <a:avLst/>
              <a:gdLst/>
              <a:ahLst/>
              <a:cxnLst/>
              <a:rect l="l" t="t" r="r" b="b"/>
              <a:pathLst>
                <a:path w="419100" h="317183">
                  <a:moveTo>
                    <a:pt x="0" y="317183"/>
                  </a:moveTo>
                  <a:lnTo>
                    <a:pt x="209550" y="31718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787890" y="231743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787890" y="2317432"/>
              <a:ext cx="419100" cy="318135"/>
            </a:xfrm>
            <a:custGeom>
              <a:avLst/>
              <a:gdLst/>
              <a:ahLst/>
              <a:cxnLst/>
              <a:rect l="l" t="t" r="r" b="b"/>
              <a:pathLst>
                <a:path w="419100" h="318135">
                  <a:moveTo>
                    <a:pt x="0" y="0"/>
                  </a:moveTo>
                  <a:lnTo>
                    <a:pt x="209550" y="0"/>
                  </a:lnTo>
                  <a:lnTo>
                    <a:pt x="209550" y="318135"/>
                  </a:lnTo>
                  <a:lnTo>
                    <a:pt x="419100" y="31813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787890" y="2317432"/>
              <a:ext cx="419100" cy="635317"/>
            </a:xfrm>
            <a:custGeom>
              <a:avLst/>
              <a:gdLst/>
              <a:ahLst/>
              <a:cxnLst/>
              <a:rect l="l" t="t" r="r" b="b"/>
              <a:pathLst>
                <a:path w="419100" h="635317">
                  <a:moveTo>
                    <a:pt x="0" y="0"/>
                  </a:moveTo>
                  <a:lnTo>
                    <a:pt x="209550" y="0"/>
                  </a:lnTo>
                  <a:lnTo>
                    <a:pt x="209550" y="635317"/>
                  </a:lnTo>
                  <a:lnTo>
                    <a:pt x="419100" y="63531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787890" y="3269932"/>
              <a:ext cx="419100" cy="159067"/>
            </a:xfrm>
            <a:custGeom>
              <a:avLst/>
              <a:gdLst/>
              <a:ahLst/>
              <a:cxnLst/>
              <a:rect l="l" t="t" r="r" b="b"/>
              <a:pathLst>
                <a:path w="419100" h="159067">
                  <a:moveTo>
                    <a:pt x="0" y="159067"/>
                  </a:moveTo>
                  <a:lnTo>
                    <a:pt x="209550" y="15906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787890" y="3429000"/>
              <a:ext cx="419100" cy="159067"/>
            </a:xfrm>
            <a:custGeom>
              <a:avLst/>
              <a:gdLst/>
              <a:ahLst/>
              <a:cxnLst/>
              <a:rect l="l" t="t" r="r" b="b"/>
              <a:pathLst>
                <a:path w="419100" h="159067">
                  <a:moveTo>
                    <a:pt x="0" y="0"/>
                  </a:moveTo>
                  <a:lnTo>
                    <a:pt x="209550" y="0"/>
                  </a:lnTo>
                  <a:lnTo>
                    <a:pt x="209550" y="159067"/>
                  </a:lnTo>
                  <a:lnTo>
                    <a:pt x="419100" y="15906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787890" y="3905250"/>
              <a:ext cx="419100" cy="159067"/>
            </a:xfrm>
            <a:custGeom>
              <a:avLst/>
              <a:gdLst/>
              <a:ahLst/>
              <a:cxnLst/>
              <a:rect l="l" t="t" r="r" b="b"/>
              <a:pathLst>
                <a:path w="419100" h="159067">
                  <a:moveTo>
                    <a:pt x="0" y="159067"/>
                  </a:moveTo>
                  <a:lnTo>
                    <a:pt x="209550" y="15906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787890" y="4064318"/>
              <a:ext cx="419100" cy="158115"/>
            </a:xfrm>
            <a:custGeom>
              <a:avLst/>
              <a:gdLst/>
              <a:ahLst/>
              <a:cxnLst/>
              <a:rect l="l" t="t" r="r" b="b"/>
              <a:pathLst>
                <a:path w="419100" h="158115">
                  <a:moveTo>
                    <a:pt x="0" y="0"/>
                  </a:moveTo>
                  <a:lnTo>
                    <a:pt x="209550" y="0"/>
                  </a:lnTo>
                  <a:lnTo>
                    <a:pt x="209550" y="158115"/>
                  </a:lnTo>
                  <a:lnTo>
                    <a:pt x="419100" y="1581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916228" y="2317432"/>
              <a:ext cx="419100" cy="873442"/>
            </a:xfrm>
            <a:custGeom>
              <a:avLst/>
              <a:gdLst/>
              <a:ahLst/>
              <a:cxnLst/>
              <a:rect l="l" t="t" r="r" b="b"/>
              <a:pathLst>
                <a:path w="419100" h="873442">
                  <a:moveTo>
                    <a:pt x="0" y="873442"/>
                  </a:moveTo>
                  <a:lnTo>
                    <a:pt x="209550" y="87344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916228" y="3190875"/>
              <a:ext cx="419100" cy="238125"/>
            </a:xfrm>
            <a:custGeom>
              <a:avLst/>
              <a:gdLst/>
              <a:ahLst/>
              <a:cxnLst/>
              <a:rect l="l" t="t" r="r" b="b"/>
              <a:pathLst>
                <a:path w="419100" h="238125">
                  <a:moveTo>
                    <a:pt x="0" y="0"/>
                  </a:moveTo>
                  <a:lnTo>
                    <a:pt x="209550" y="0"/>
                  </a:lnTo>
                  <a:lnTo>
                    <a:pt x="209550" y="238125"/>
                  </a:lnTo>
                  <a:lnTo>
                    <a:pt x="419100" y="2381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916228" y="3190875"/>
              <a:ext cx="419100" cy="873442"/>
            </a:xfrm>
            <a:custGeom>
              <a:avLst/>
              <a:gdLst/>
              <a:ahLst/>
              <a:cxnLst/>
              <a:rect l="l" t="t" r="r" b="b"/>
              <a:pathLst>
                <a:path w="419100" h="873442">
                  <a:moveTo>
                    <a:pt x="0" y="0"/>
                  </a:moveTo>
                  <a:lnTo>
                    <a:pt x="209550" y="0"/>
                  </a:lnTo>
                  <a:lnTo>
                    <a:pt x="209550" y="873442"/>
                  </a:lnTo>
                  <a:lnTo>
                    <a:pt x="419100" y="87344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206990" y="1496378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206990" y="1813560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206990" y="2131695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206990" y="2448878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206990" y="2766060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335328" y="2025968"/>
              <a:ext cx="1451610" cy="582930"/>
            </a:xfrm>
            <a:prstGeom prst="roundRect">
              <a:avLst>
                <a:gd name="adj" fmla="val 1634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206990" y="3084195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206990" y="3401378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35328" y="3242310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206990" y="3718560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206990" y="4036695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335328" y="3877628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64618" y="3004185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295763" y="15940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可理解性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95763" y="19111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可测试性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95763" y="22283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可修改性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95763" y="25465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可移植性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95763" y="28636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可重用性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24100" y="2123599"/>
              <a:ext cx="11508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决定可维护性的</a:t>
              </a:r>
              <a:br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因素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95763" y="31808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用户文档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95763" y="34990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系统文档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24100" y="33399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文档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95763" y="381619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各阶段复审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95763" y="41333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配置复审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24100" y="39752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可维护性复审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53391" y="310181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软件的可维护性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6464618" y="4572000"/>
            <a:ext cx="5193982" cy="1065848"/>
            <a:chOff x="6464618" y="4572000"/>
            <a:chExt cx="5193982" cy="1065848"/>
          </a:xfrm>
        </p:grpSpPr>
        <p:sp>
          <p:nvSpPr>
            <p:cNvPr id="65" name="Rectangle 65"/>
            <p:cNvSpPr/>
            <p:nvPr/>
          </p:nvSpPr>
          <p:spPr>
            <a:xfrm>
              <a:off x="6464618" y="4572000"/>
              <a:ext cx="5193982" cy="1065848"/>
            </a:xfrm>
            <a:prstGeom prst="roundRect">
              <a:avLst>
                <a:gd name="adj" fmla="val 1072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669405" y="5005390"/>
              <a:ext cx="200023" cy="200023"/>
              <a:chOff x="6669405" y="5005390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669405" y="50053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802755" y="50720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971348" y="4862512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这一节按三条线展开：哪些属性决定可维护性、文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档怎么写、什么时候复审。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软件的可维护性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决定可维护性的五个因素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11125200" cy="3792855"/>
            <a:chOff x="533400" y="1524000"/>
            <a:chExt cx="11125200" cy="3792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29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4146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69385" y="16559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课件给的定义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48420" y="16559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靠什么改善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4746" y="22464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可理解性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92084" y="2119789"/>
              <a:ext cx="47033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外来读者理解软件的结构、功能、接口和内部处理过程的难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易程度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09866" y="2119789"/>
              <a:ext cx="39819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模块化、结构化设计、详细设计文档、源程序内部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注释、有意义的命名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993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04148"/>
              <a:ext cx="11125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4746" y="29627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可测试性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92084" y="296275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诊断和测试的容易程度，取决于软件容易理解的程度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09866" y="2836069"/>
              <a:ext cx="39819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良好的文档、清晰的软件结构、可用的测试与调试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工具、以前设计的测试过程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1566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746" y="367903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可修改性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2084" y="3679031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软件容易修改的程度，和设计原理及启发规则直接有关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09866" y="3552349"/>
              <a:ext cx="39819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低耦合、高内聚、信息隐藏、控制作用域在控制域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之内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328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137660"/>
              <a:ext cx="11125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746" y="439626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可移植性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92084" y="4269581"/>
              <a:ext cx="47033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把程序从一种计算环境（硬件配置和操作系统）转移到另一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种的难易程度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09866" y="439626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把与硬件和操作系统有关的代码集中到少数模块里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8491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746" y="49858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可重用性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92084" y="4985861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同一事物不做修改或稍加改动就在不同环境中多次重复使用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09866" y="498586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使用经过反复检验的构件，把通用逻辑抽成构件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11125200" cy="37928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085975" y="1524000"/>
              <a:ext cx="9525" cy="37928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03758" y="1524000"/>
              <a:ext cx="9525" cy="37928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6" name="Rectangle 36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6011704"/>
              <a:ext cx="80432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重用现成构件同时提高可维护性：构件已被反复使用检验过，错误少，需要改动时也只改一处。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21009" cy="909257"/>
            <a:chOff x="520446" y="342900"/>
            <a:chExt cx="58210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软件的可维护性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210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 9126 把可维护性拆成四个子特性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276022" cy="2971800"/>
            <a:chOff x="533400" y="1524000"/>
            <a:chExt cx="6276022" cy="29718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285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子特性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6980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70082" y="16630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度量的是什么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易分析性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6880" y="2284095"/>
              <a:ext cx="1262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Analyzability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64242" y="215074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诊断缺陷、查找失效原因或识别待修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改部分所需要的工作量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627602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038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易改变性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6880" y="3038475"/>
              <a:ext cx="13132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Changeability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64242" y="290512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实施修改、排除故障或适应环境变化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所需要的工作量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56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6595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6880" y="365950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Stability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64242" y="365950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修改造成意外结果的风险有多大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033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00812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1471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易测试性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06880" y="4147185"/>
              <a:ext cx="10909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Testability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64242" y="41471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确认修改后的软件所需要的工作量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276022" cy="29718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95438" y="1524000"/>
              <a:ext cx="9525" cy="2971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52800" y="1524000"/>
              <a:ext cx="9525" cy="2971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2"/>
          <p:cNvGrpSpPr/>
          <p:nvPr/>
        </p:nvGrpSpPr>
        <p:grpSpPr>
          <a:xfrm>
            <a:off x="533400" y="4686300"/>
            <a:ext cx="6276022" cy="1000125"/>
            <a:chOff x="533400" y="4686300"/>
            <a:chExt cx="6276022" cy="1000125"/>
          </a:xfrm>
        </p:grpSpPr>
        <p:sp>
          <p:nvSpPr>
            <p:cNvPr id="32" name="Rectangle 32"/>
            <p:cNvSpPr/>
            <p:nvPr/>
          </p:nvSpPr>
          <p:spPr>
            <a:xfrm>
              <a:off x="533400" y="4686300"/>
              <a:ext cx="6276022" cy="1000125"/>
            </a:xfrm>
            <a:prstGeom prst="roundRect">
              <a:avLst>
                <a:gd name="adj" fmla="val 1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086350"/>
              <a:ext cx="200026" cy="200026"/>
              <a:chOff x="738188" y="5086350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0863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153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51863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4943475"/>
              <a:ext cx="5368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四个子特性都用“所需要的工作量”来刻画，和上一页的工作量模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型是同一个思路。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2912745"/>
            <a:chOff x="7114222" y="1524000"/>
            <a:chExt cx="4544378" cy="2912745"/>
          </a:xfrm>
        </p:grpSpPr>
        <p:sp>
          <p:nvSpPr>
            <p:cNvPr id="39" name="Rectangle 39"/>
            <p:cNvSpPr/>
            <p:nvPr/>
          </p:nvSpPr>
          <p:spPr>
            <a:xfrm>
              <a:off x="7114222" y="1524000"/>
              <a:ext cx="4544378" cy="2912745"/>
            </a:xfrm>
            <a:prstGeom prst="roundRect">
              <a:avLst>
                <a:gd name="adj" fmla="val 4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23748" y="1657350"/>
              <a:ext cx="47625" cy="26460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61872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39279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标准的演进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54252" y="2110740"/>
              <a:ext cx="3421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 9126 已被 ISO/IEC 25010 取代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54252" y="2465070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25010 把可维护性的子特性改为五项：模块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化、可重用性、易分析性、易修改性、易测试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67588" y="34347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5702" y="337185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变化之处是把“模块化”和“可重用性”提到了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子特性一级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67588" y="40557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25702" y="3992880"/>
              <a:ext cx="3441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考试按课件的 ISO 9126 四项回答即可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7114222" y="4627245"/>
            <a:ext cx="4544378" cy="1059180"/>
            <a:chOff x="7114222" y="4627245"/>
            <a:chExt cx="4544378" cy="1059180"/>
          </a:xfrm>
        </p:grpSpPr>
        <p:sp>
          <p:nvSpPr>
            <p:cNvPr id="50" name="Rectangle 50"/>
            <p:cNvSpPr/>
            <p:nvPr/>
          </p:nvSpPr>
          <p:spPr>
            <a:xfrm>
              <a:off x="7114222" y="4627245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19010" y="5056825"/>
              <a:ext cx="200023" cy="200023"/>
              <a:chOff x="7319010" y="5056825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19010" y="50568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452360" y="51234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620952" y="4775835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记忆办法：分析（找）、改变（改）、稳定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（不出乱子）、测试（验），正好是一次修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改的四个动作。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85051" cy="909257"/>
            <a:chOff x="520446" y="342900"/>
            <a:chExt cx="4885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软件的可维护性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85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文档：用户文档要回答“怎么用”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4328160" cy="2341245"/>
            <a:chOff x="533400" y="1524000"/>
            <a:chExt cx="4328160" cy="23412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341245"/>
            </a:xfrm>
            <a:prstGeom prst="roundRect">
              <a:avLst>
                <a:gd name="adj" fmla="val 569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92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总要求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5900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软件文档应该满足四条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2950" y="211645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47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3940" y="212979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必须描述如何使用这个系统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42950" y="24517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47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3940" y="246507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必须描述怎样安装和管理这个系统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2950" y="278701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47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3940" y="28003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必须描述系统需求和设计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42950" y="31222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4799" y="31645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3940" y="313563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必须描述系统的实现和测试，以便使系统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成为可维护的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055745"/>
            <a:ext cx="4328160" cy="782955"/>
            <a:chOff x="533400" y="4055745"/>
            <a:chExt cx="4328160" cy="782955"/>
          </a:xfrm>
        </p:grpSpPr>
        <p:sp>
          <p:nvSpPr>
            <p:cNvPr id="24" name="Rectangle 24"/>
            <p:cNvSpPr/>
            <p:nvPr/>
          </p:nvSpPr>
          <p:spPr>
            <a:xfrm>
              <a:off x="533400" y="4055745"/>
              <a:ext cx="432816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26129" y="4343518"/>
              <a:ext cx="224134" cy="192560"/>
              <a:chOff x="726129" y="4343518"/>
              <a:chExt cx="224134" cy="19256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38200" y="4413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26129" y="4343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4491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4204335"/>
              <a:ext cx="3472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没有第 1 条，最简单的系统也无法使用；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没有第 4 条，系统就不可维护。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5166360" y="1524000"/>
            <a:ext cx="6492240" cy="3726180"/>
            <a:chOff x="5166360" y="1524000"/>
            <a:chExt cx="6492240" cy="3726180"/>
          </a:xfrm>
        </p:grpSpPr>
        <p:sp>
          <p:nvSpPr>
            <p:cNvPr id="31" name="Rectangle 31"/>
            <p:cNvSpPr/>
            <p:nvPr/>
          </p:nvSpPr>
          <p:spPr>
            <a:xfrm>
              <a:off x="5166360" y="1524000"/>
              <a:ext cx="6492240" cy="7543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366385" y="1663065"/>
              <a:ext cx="1158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用户文档的五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81110" y="17964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写什么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73040" y="24174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功能描述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31330" y="24174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说明系统能做什么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166360" y="27612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166360" y="2766060"/>
              <a:ext cx="649224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73040" y="2905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安装文档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31330" y="29051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怎样安装这个系统，怎样使系统适应特定的硬件配置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166360" y="32489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3040" y="35261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使用手册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31330" y="3392805"/>
              <a:ext cx="439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如何着手使用，用丰富的例子说明常用功能，说明操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作出错后怎样恢复和重新启动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66360" y="40033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166360" y="4008120"/>
              <a:ext cx="649224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73040" y="428053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参考手册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31330" y="4147185"/>
              <a:ext cx="439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详尽描述所有系统设施及其使用方法，解释各种出错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信息的含义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66360" y="47577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73040" y="49015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操作员指南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31330" y="49015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系统操作员如何处理使用中出现的各种情况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166360" y="1524000"/>
              <a:ext cx="6492240" cy="37261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719888" y="1524000"/>
              <a:ext cx="9525" cy="3726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llout-2"/>
          <p:cNvGrpSpPr/>
          <p:nvPr/>
        </p:nvGrpSpPr>
        <p:grpSpPr>
          <a:xfrm>
            <a:off x="5166360" y="5440680"/>
            <a:ext cx="6492240" cy="782955"/>
            <a:chOff x="5166360" y="5440680"/>
            <a:chExt cx="6492240" cy="782955"/>
          </a:xfrm>
        </p:grpSpPr>
        <p:sp>
          <p:nvSpPr>
            <p:cNvPr id="53" name="Rectangle 53"/>
            <p:cNvSpPr/>
            <p:nvPr/>
          </p:nvSpPr>
          <p:spPr>
            <a:xfrm>
              <a:off x="5166360" y="5440680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5371148" y="5732145"/>
              <a:ext cx="200026" cy="200025"/>
              <a:chOff x="5371148" y="5732145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371148" y="57321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410886" y="57765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445602" y="58877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5673090" y="5589270"/>
              <a:ext cx="5349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对参考手册最主要的要求是完整，因此通常使用形式化的描述技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术。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1613" cy="909257"/>
            <a:chOff x="520446" y="342900"/>
            <a:chExt cx="55716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软件的可维护性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16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系统文档要回答“它是怎么做出来的”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2577465"/>
            <a:chOff x="533400" y="1524000"/>
            <a:chExt cx="5626418" cy="2577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系统文档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从问题定义、需求说明到验收测试计划这样一系列和系统实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现有关的文档。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描述系统设计、实现和测试的文档，对理解程序和维护程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序极端重要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组织原则：从概貌到每个方面每个特点，从抽象到具体，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有逻辑地介绍系统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291965"/>
            <a:ext cx="5626418" cy="1710690"/>
            <a:chOff x="533400" y="4291965"/>
            <a:chExt cx="5626418" cy="1710690"/>
          </a:xfrm>
        </p:grpSpPr>
        <p:sp>
          <p:nvSpPr>
            <p:cNvPr id="18" name="Rectangle 18"/>
            <p:cNvSpPr/>
            <p:nvPr/>
          </p:nvSpPr>
          <p:spPr>
            <a:xfrm>
              <a:off x="533400" y="4291965"/>
              <a:ext cx="5626418" cy="1710690"/>
            </a:xfrm>
            <a:prstGeom prst="roundRect">
              <a:avLst>
                <a:gd name="adj" fmla="val 668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26129" y="5043606"/>
              <a:ext cx="224134" cy="192560"/>
              <a:chOff x="726129" y="5043606"/>
              <a:chExt cx="224134" cy="19256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8200" y="51139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6129" y="50436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1917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904422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文档和程序不一致时会把维护人员引到错误的方向上，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所以每次修改都要同步更新文档。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464618" y="1524000"/>
            <a:ext cx="5193982" cy="3505200"/>
            <a:chOff x="6464618" y="1524000"/>
            <a:chExt cx="5193982" cy="3505200"/>
          </a:xfrm>
        </p:grpSpPr>
        <p:sp>
          <p:nvSpPr>
            <p:cNvPr id="25" name="Rectangle 25"/>
            <p:cNvSpPr/>
            <p:nvPr/>
          </p:nvSpPr>
          <p:spPr>
            <a:xfrm>
              <a:off x="6464618" y="1524000"/>
              <a:ext cx="5193982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25603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0864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用户文档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3461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系统文档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71298" y="22840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14298" y="215074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使用系统的人和操作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39312" y="215074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维护人员和后续开发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人员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27612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64618" y="2766060"/>
              <a:ext cx="519398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1298" y="2905125"/>
              <a:ext cx="777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回答的问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14298" y="290512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怎么装、怎么用、出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错了怎么办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39312" y="290512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为什么这样设计、改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动会影响谁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35156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1298" y="37928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覆盖阶段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14298" y="37928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交付时形成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39312" y="365950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从问题定义一直到验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收测试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42700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4618" y="4274820"/>
              <a:ext cx="519398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71298" y="4413885"/>
              <a:ext cx="777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缺失的后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14298" y="441388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系统装不上、用不起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39312" y="441388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只能读代码猜设计，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落回非结构化维护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1524000"/>
              <a:ext cx="5193982" cy="3505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02855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627870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llout-2"/>
          <p:cNvGrpSpPr/>
          <p:nvPr/>
        </p:nvGrpSpPr>
        <p:grpSpPr>
          <a:xfrm>
            <a:off x="6464618" y="5219700"/>
            <a:ext cx="5193982" cy="782955"/>
            <a:chOff x="6464618" y="5219700"/>
            <a:chExt cx="5193982" cy="782955"/>
          </a:xfrm>
        </p:grpSpPr>
        <p:sp>
          <p:nvSpPr>
            <p:cNvPr id="50" name="Rectangle 50"/>
            <p:cNvSpPr/>
            <p:nvPr/>
          </p:nvSpPr>
          <p:spPr>
            <a:xfrm>
              <a:off x="6464618" y="521970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669405" y="5511167"/>
              <a:ext cx="200023" cy="200023"/>
              <a:chOff x="6669405" y="5511167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669405" y="55111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802755" y="55778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971348" y="536829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非结构化维护的实质就是系统文档缺失，第二节那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张流程图右半边讲的正是这件事。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软件的可维护性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可维护性复审贯穿每个阶段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33400" y="1524000"/>
            <a:ext cx="11125200" cy="3947160"/>
            <a:chOff x="533400" y="1524000"/>
            <a:chExt cx="11125200" cy="39471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781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复审时机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3041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复审重点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需求分析阶段的复审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32822" y="215074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指明将来要改进和可能会修改的部分；讨论软件的可移植性；考虑可能影响维护的系统界面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993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080" y="27717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正式与非正式的设计复审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32822" y="2638425"/>
              <a:ext cx="7635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从容易修改、模块化和功能独立的目标出发评价软件的结构和过程；对将来可能修改的部分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预作准备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489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33928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代码复审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32822" y="339280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强调编码风格和内部说明文档这两个影响可维护性的因素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366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414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080" y="38804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设计和编码过程中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32822" y="38804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尽量使用可重用的软件构件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24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238625"/>
              <a:ext cx="2873692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5015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测试结束时的配置复审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32822" y="4368165"/>
              <a:ext cx="7635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保证软件配置的所有成分是完整的、一致的和可理解的，并且已经编目归档，便于修改和管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9787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98348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51225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每项维护工作完成后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32822" y="51225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对软件维护本身进行仔细认真的复审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524000"/>
              <a:ext cx="11125200" cy="39471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421380" y="1524000"/>
              <a:ext cx="9525" cy="39471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9912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配置复审是最正式的一次可维护性复审，它检查的是配置而不是某一段代码。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软件的可维护性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改完之后：三类副作用必须自己盯住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4482694" cy="308039"/>
            <a:chOff x="525399" y="1550194"/>
            <a:chExt cx="448269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44826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这一页是课件没有展开、自学需要补上的内容。</a:t>
              </a:r>
            </a:p>
          </p:txBody>
        </p:sp>
      </p:grpSp>
      <p:grpSp>
        <p:nvGrpSpPr>
          <p:cNvPr id="28" name="c1-table-1"/>
          <p:cNvGrpSpPr/>
          <p:nvPr/>
        </p:nvGrpSpPr>
        <p:grpSpPr>
          <a:xfrm>
            <a:off x="533400" y="1967865"/>
            <a:ext cx="6276022" cy="3284220"/>
            <a:chOff x="533400" y="1967865"/>
            <a:chExt cx="6276022" cy="328422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24853" y="21069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副作用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32710" y="2106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典型表现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69242" y="21069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0080" y="2727960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编码副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44015" y="2594610"/>
              <a:ext cx="2682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删改了子程序或标识符、改动了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逻辑运算符或边界条件、为提高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性能改写了算法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56772" y="2727960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改动前先找出全部调用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点，改完做回归测试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4718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476625"/>
              <a:ext cx="6276022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3749040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数据副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44015" y="3615690"/>
              <a:ext cx="2682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改了记录格式、数组大小、全局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常量或控制标志，别处的模块跟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着失效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6772" y="3749040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数据结构改动要连同数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据字典一起评审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4929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0080" y="4636770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文档副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44015" y="4636770"/>
              <a:ext cx="2682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程序改了文档没改，下次维护按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旧文档判断，错上加错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56772" y="4636770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把文档更新列入这次修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改的完成标准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67865"/>
              <a:ext cx="6276022" cy="32842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532572" y="1967865"/>
              <a:ext cx="9525" cy="32842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45330" y="1967865"/>
              <a:ext cx="9525" cy="32842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llout-2"/>
          <p:cNvGrpSpPr/>
          <p:nvPr/>
        </p:nvGrpSpPr>
        <p:grpSpPr>
          <a:xfrm>
            <a:off x="533400" y="5442585"/>
            <a:ext cx="6276022" cy="782955"/>
            <a:chOff x="533400" y="5442585"/>
            <a:chExt cx="6276022" cy="782955"/>
          </a:xfrm>
        </p:grpSpPr>
        <p:sp>
          <p:nvSpPr>
            <p:cNvPr id="29" name="Rectangle 29"/>
            <p:cNvSpPr/>
            <p:nvPr/>
          </p:nvSpPr>
          <p:spPr>
            <a:xfrm>
              <a:off x="533400" y="5442585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734052"/>
              <a:ext cx="200023" cy="200023"/>
              <a:chOff x="738188" y="5734052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7340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5800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591175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一次修改是否完成，标准是代码、数据结构和文档三者重新一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致，而不是代码能跑通。</a:t>
              </a:r>
            </a:p>
          </p:txBody>
        </p:sp>
      </p:grpSp>
      <p:grpSp>
        <p:nvGrpSpPr>
          <p:cNvPr id="52" name="c2-steps-1"/>
          <p:cNvGrpSpPr/>
          <p:nvPr/>
        </p:nvGrpSpPr>
        <p:grpSpPr>
          <a:xfrm>
            <a:off x="7114222" y="1977390"/>
            <a:ext cx="4044164" cy="2529173"/>
            <a:chOff x="7114222" y="1977390"/>
            <a:chExt cx="4044164" cy="2529173"/>
          </a:xfrm>
        </p:grpSpPr>
        <p:sp>
          <p:nvSpPr>
            <p:cNvPr id="35" name="Rectangle 35"/>
            <p:cNvSpPr/>
            <p:nvPr/>
          </p:nvSpPr>
          <p:spPr>
            <a:xfrm>
              <a:off x="7247572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114222" y="19773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07846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14222" y="26279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07846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114222" y="32785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07846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114222" y="392906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07846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25702" y="201168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定影响范围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26846" y="230457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从被改的模块出发找调用者和共享数据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25702" y="266223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改设计再改码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26846" y="295513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设计文档先改，代码按新设计改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25702" y="33127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回归测试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26846" y="360664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跑全部已有用例，加一条针对本次错误的新用例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25702" y="396335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同步文档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26846" y="425719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需求、设计、用户文档一起更新并归档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7114222" y="4684395"/>
            <a:ext cx="4544378" cy="1540192"/>
            <a:chOff x="7114222" y="4684395"/>
            <a:chExt cx="4544378" cy="1540192"/>
          </a:xfrm>
        </p:grpSpPr>
        <p:sp>
          <p:nvSpPr>
            <p:cNvPr id="53" name="Rectangle 53"/>
            <p:cNvSpPr/>
            <p:nvPr/>
          </p:nvSpPr>
          <p:spPr>
            <a:xfrm>
              <a:off x="7114222" y="4684395"/>
              <a:ext cx="4544378" cy="1540192"/>
            </a:xfrm>
            <a:prstGeom prst="roundRect">
              <a:avLst>
                <a:gd name="adj" fmla="val 742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19010" y="5354955"/>
              <a:ext cx="200026" cy="200025"/>
              <a:chOff x="7319010" y="5354955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19010" y="53549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358749" y="53994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393464" y="55105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620952" y="5212080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把这四步写进维护要求表的验收条件，维护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记录里就自然有了数据。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580638" cy="3351847"/>
            <a:chOff x="667512" y="1835468"/>
            <a:chExt cx="358063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预防性维护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主动改造还在用、但已经老旧的系统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遗留系统的困境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543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Miller 对预防性维护的定义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四种做法的取舍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重新开发为什么不是浪费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预防性维护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预防性维护：把今天的方法学应用到昨天的系统上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6059805" cy="1904048"/>
            <a:chOff x="533400" y="1524000"/>
            <a:chExt cx="6059805" cy="19040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19097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预防性维护（Miller）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51949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“把今天的方法学应用到昨天的系统上，以支持明天的需求。”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7840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18874"/>
              <a:ext cx="520015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对象是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遗留系统（Legacy System）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：还在支撑业务，技术却已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过时、文档残缺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06800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00751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目标是改善将来的可维护性，当前未必有错误要改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33400" y="3609022"/>
            <a:ext cx="6059805" cy="2569845"/>
            <a:chOff x="533400" y="3609022"/>
            <a:chExt cx="6059805" cy="2569845"/>
          </a:xfrm>
        </p:grpSpPr>
        <p:sp>
          <p:nvSpPr>
            <p:cNvPr id="18" name="Rectangle 18"/>
            <p:cNvSpPr/>
            <p:nvPr/>
          </p:nvSpPr>
          <p:spPr>
            <a:xfrm>
              <a:off x="533400" y="3609022"/>
              <a:ext cx="6059805" cy="4629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66762" y="374094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面对老程序的四种做法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74565" y="374094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代价与结果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4746" y="420385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反复尝试修改，与看不见的设计硬碰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27551" y="420385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看似省事，实际反复返工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5300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534852"/>
              <a:ext cx="6059805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746" y="4667726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仔细分析程序，掌握内部细节后再改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27551" y="466772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前期投入大，修改更有效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9939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746" y="513064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理解原设计后，重做需要变更的部分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27551" y="513064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局部再工程，范围可控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4568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5461635"/>
              <a:ext cx="6059805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746" y="5593556"/>
              <a:ext cx="28999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以软件工程方法学为指导全部重做，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CASE 工具帮助理解原设计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27551" y="572023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代价最大，收益也最大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609022"/>
              <a:ext cx="6059805" cy="25698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921442" y="3609022"/>
              <a:ext cx="9525" cy="25698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2-image-1"/>
          <p:cNvGrpSpPr/>
          <p:nvPr/>
        </p:nvGrpSpPr>
        <p:grpSpPr>
          <a:xfrm>
            <a:off x="6898005" y="1524000"/>
            <a:ext cx="4760595" cy="2537079"/>
            <a:chOff x="6898005" y="1524000"/>
            <a:chExt cx="4760595" cy="2537079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rcRect l="0" t="18654" r="0" b="18654"/>
            <a:stretch>
              <a:fillRect/>
            </a:stretch>
          </p:blipFill>
          <p:spPr>
            <a:xfrm>
              <a:off x="6898005" y="1524000"/>
              <a:ext cx="4760595" cy="2238375"/>
            </a:xfrm>
            <a:prstGeom prst="roundRect">
              <a:avLst>
                <a:gd name="adj" fmla="val 5957"/>
              </a:avLst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7506081" y="385572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遗留系统的改造像给老楼装新窗：楼还在用，结构不能停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6898005" y="4219575"/>
            <a:ext cx="4760595" cy="756285"/>
            <a:chOff x="6898005" y="4219575"/>
            <a:chExt cx="4760595" cy="756285"/>
          </a:xfrm>
        </p:grpSpPr>
        <p:sp>
          <p:nvSpPr>
            <p:cNvPr id="40" name="Rectangle 40"/>
            <p:cNvSpPr/>
            <p:nvPr/>
          </p:nvSpPr>
          <p:spPr>
            <a:xfrm>
              <a:off x="6898005" y="4219575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102793" y="4497707"/>
              <a:ext cx="200023" cy="200023"/>
              <a:chOff x="7102793" y="4497707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102793" y="44977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36143" y="45643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405116" y="4366736"/>
              <a:ext cx="38016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后两种做法就是预防性维护，它们要做的事情正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是下一节的软件再工程。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预防性维护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在能用的版本之上重新开发，长期账上并不亏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bullets-1"/>
          <p:cNvGrpSpPr/>
          <p:nvPr/>
        </p:nvGrpSpPr>
        <p:grpSpPr>
          <a:xfrm>
            <a:off x="526542" y="1545907"/>
            <a:ext cx="6116955" cy="2124266"/>
            <a:chOff x="526542" y="1545907"/>
            <a:chExt cx="6116955" cy="212426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课件给出的六条理由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5070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9078" y="18900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4197" y="1863090"/>
              <a:ext cx="542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维护一行源代码的代价可能是最初开发该行源代码代价的 14～40 倍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15931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9078" y="21986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4197" y="2171700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重新设计软件体系结构时使用了现代设计概念，对将来的维护有很大帮助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467927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9078" y="250726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4197" y="248031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现有的程序版本可作为软件原型使用，开发生产率可大大高于平均水平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277653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9078" y="281587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4197" y="278892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用户有较多使用该软件的经验，容易搞清新的变更需求和变更的范围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08514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9078" y="31244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197" y="309753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利用逆向工程和再工程的工具，可以使一部分工作自动化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3393757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9078" y="34330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197" y="340614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在完成预防性维护的过程中可以建立起完整的软件配置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3787140"/>
            <a:ext cx="6059805" cy="2384108"/>
            <a:chOff x="533400" y="3787140"/>
            <a:chExt cx="6059805" cy="2384108"/>
          </a:xfrm>
        </p:grpSpPr>
        <p:sp>
          <p:nvSpPr>
            <p:cNvPr id="27" name="Rectangle 27"/>
            <p:cNvSpPr/>
            <p:nvPr/>
          </p:nvSpPr>
          <p:spPr>
            <a:xfrm>
              <a:off x="533400" y="3787140"/>
              <a:ext cx="6059805" cy="2384108"/>
            </a:xfrm>
            <a:prstGeom prst="roundRect">
              <a:avLst>
                <a:gd name="adj" fmla="val 55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920490"/>
              <a:ext cx="47625" cy="21174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8190" y="39738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0862" y="40066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3784" y="400907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一个模块值不值得重写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332" y="4334828"/>
              <a:ext cx="4666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某模块 2000 行，重写一遍约等于 2000 个单位的开发量。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1332" y="4634865"/>
              <a:ext cx="51057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现在每年改 3 次、每次动 50 行，按 20 倍算，一年维护要 3×50×20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＝ 3000 个单位。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1332" y="5192078"/>
              <a:ext cx="53629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重写后同样的修改按 5 倍算，一年只要 750 个单位，每年省下 2250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2475" y="574595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不到一年就能收回重写成本；倍数是经验数据，量级对了即可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898005" y="1524000"/>
            <a:ext cx="4760595" cy="2021205"/>
            <a:chOff x="6898005" y="1524000"/>
            <a:chExt cx="4760595" cy="2021205"/>
          </a:xfrm>
        </p:grpSpPr>
        <p:sp>
          <p:nvSpPr>
            <p:cNvPr id="37" name="Rectangle 37"/>
            <p:cNvSpPr/>
            <p:nvPr/>
          </p:nvSpPr>
          <p:spPr>
            <a:xfrm>
              <a:off x="6898005" y="1524000"/>
              <a:ext cx="4760595" cy="2021205"/>
            </a:xfrm>
            <a:prstGeom prst="roundRect">
              <a:avLst>
                <a:gd name="adj" fmla="val 65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907530" y="1657350"/>
              <a:ext cx="47625" cy="17545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22795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07364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算一笔账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36992" y="1745932"/>
              <a:ext cx="1762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14～40 倍意味着什么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15937" y="2071688"/>
              <a:ext cx="40513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一行代码开发时花 1 个单位，以后每改一次要花 14～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个单位。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15937" y="262890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一段会被反复修改的核心代码，重写的一次性投入很快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就会被省下的维护成本抵掉。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17080" y="3182779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只适用于还要长期使用、并且还会继续修改的系统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6898005" y="3714750"/>
            <a:ext cx="4760595" cy="729615"/>
            <a:chOff x="6898005" y="3714750"/>
            <a:chExt cx="4760595" cy="729615"/>
          </a:xfrm>
        </p:grpSpPr>
        <p:sp>
          <p:nvSpPr>
            <p:cNvPr id="46" name="Rectangle 46"/>
            <p:cNvSpPr/>
            <p:nvPr/>
          </p:nvSpPr>
          <p:spPr>
            <a:xfrm>
              <a:off x="6898005" y="3714750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090734" y="3975853"/>
              <a:ext cx="224134" cy="192560"/>
              <a:chOff x="7090734" y="3975853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202805" y="4046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090734" y="3975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02805" y="4124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405497" y="3861435"/>
              <a:ext cx="37856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判断要不要重写，先看这个系统还要活多久、还要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改多少次，再看重写的工作量。</a:t>
              </a:r>
            </a:p>
          </p:txBody>
        </p:sp>
      </p:grpSp>
      <p:grpSp>
        <p:nvGrpSpPr>
          <p:cNvPr id="64" name="c2-table-3"/>
          <p:cNvGrpSpPr/>
          <p:nvPr/>
        </p:nvGrpSpPr>
        <p:grpSpPr>
          <a:xfrm>
            <a:off x="6898005" y="4614862"/>
            <a:ext cx="4760595" cy="1556385"/>
            <a:chOff x="6898005" y="4614862"/>
            <a:chExt cx="4760595" cy="1556385"/>
          </a:xfrm>
        </p:grpSpPr>
        <p:sp>
          <p:nvSpPr>
            <p:cNvPr id="53" name="Rectangle 53"/>
            <p:cNvSpPr/>
            <p:nvPr/>
          </p:nvSpPr>
          <p:spPr>
            <a:xfrm>
              <a:off x="6898005" y="4614862"/>
              <a:ext cx="4760595" cy="67913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80694" y="4739640"/>
              <a:ext cx="8709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该不该重新</a:t>
              </a:r>
              <a:br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27096" y="48596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94017" y="5418773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31314" y="5418773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还要用很多年，而且每年都要改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898005" y="572738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898005" y="5732145"/>
              <a:ext cx="4760595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94017" y="585787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不值得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31314" y="58578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接近退役，几乎不会再改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898005" y="4614862"/>
              <a:ext cx="4760595" cy="15563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130540" y="4614862"/>
              <a:ext cx="9525" cy="15563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429000" cy="3351847"/>
            <a:chOff x="667512" y="1835468"/>
            <a:chExt cx="342900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软件再工程过程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六类活动，围着遗留系统转一圈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再工程过程模型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库存目录分析与文档重构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逆向工程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代码重构、数据重构与正向工程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软件再工程过程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软件再工程过程的六类活动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861060" y="1725930"/>
            <a:ext cx="4322445" cy="3324606"/>
            <a:chOff x="861060" y="1725930"/>
            <a:chExt cx="4322445" cy="3324606"/>
          </a:xfrm>
        </p:grpSpPr>
        <p:sp>
          <p:nvSpPr>
            <p:cNvPr id="7" name="Freeform 7"/>
            <p:cNvSpPr/>
            <p:nvPr/>
          </p:nvSpPr>
          <p:spPr>
            <a:xfrm>
              <a:off x="3174682" y="2045970"/>
              <a:ext cx="1075372" cy="611505"/>
            </a:xfrm>
            <a:custGeom>
              <a:avLst/>
              <a:gdLst/>
              <a:ahLst/>
              <a:cxnLst/>
              <a:rect l="l" t="t" r="r" b="b"/>
              <a:pathLst>
                <a:path w="1075372" h="611505">
                  <a:moveTo>
                    <a:pt x="0" y="0"/>
                  </a:moveTo>
                  <a:cubicBezTo>
                    <a:pt x="372745" y="391160"/>
                    <a:pt x="731202" y="594995"/>
                    <a:pt x="1075372" y="61150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247198" y="2609850"/>
              <a:ext cx="98108" cy="95250"/>
            </a:xfrm>
            <a:custGeom>
              <a:avLst/>
              <a:gdLst/>
              <a:ahLst/>
              <a:cxnLst/>
              <a:rect l="l" t="t" r="r" b="b"/>
              <a:pathLst>
                <a:path w="98108" h="95250">
                  <a:moveTo>
                    <a:pt x="98108" y="52388"/>
                  </a:moveTo>
                  <a:lnTo>
                    <a:pt x="0" y="95250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528502" y="2842260"/>
              <a:ext cx="172085" cy="1111568"/>
            </a:xfrm>
            <a:custGeom>
              <a:avLst/>
              <a:gdLst/>
              <a:ahLst/>
              <a:cxnLst/>
              <a:rect l="l" t="t" r="r" b="b"/>
              <a:pathLst>
                <a:path w="172085" h="1111568">
                  <a:moveTo>
                    <a:pt x="172085" y="0"/>
                  </a:moveTo>
                  <a:cubicBezTo>
                    <a:pt x="12065" y="400050"/>
                    <a:pt x="0" y="770573"/>
                    <a:pt x="135890" y="111156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620578" y="3936682"/>
              <a:ext cx="88582" cy="105727"/>
            </a:xfrm>
            <a:custGeom>
              <a:avLst/>
              <a:gdLst/>
              <a:ahLst/>
              <a:cxnLst/>
              <a:rect l="l" t="t" r="r" b="b"/>
              <a:pathLst>
                <a:path w="88582" h="105727">
                  <a:moveTo>
                    <a:pt x="80010" y="105727"/>
                  </a:moveTo>
                  <a:lnTo>
                    <a:pt x="0" y="35242"/>
                  </a:lnTo>
                  <a:lnTo>
                    <a:pt x="885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61360" y="4198620"/>
              <a:ext cx="1083945" cy="465772"/>
            </a:xfrm>
            <a:custGeom>
              <a:avLst/>
              <a:gdLst/>
              <a:ahLst/>
              <a:cxnLst/>
              <a:rect l="l" t="t" r="r" b="b"/>
              <a:pathLst>
                <a:path w="1083945" h="465772">
                  <a:moveTo>
                    <a:pt x="1083945" y="1905"/>
                  </a:moveTo>
                  <a:cubicBezTo>
                    <a:pt x="690880" y="0"/>
                    <a:pt x="329565" y="154622"/>
                    <a:pt x="0" y="46577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91828" y="4630102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0" y="100012"/>
                  </a:moveTo>
                  <a:lnTo>
                    <a:pt x="36195" y="0"/>
                  </a:lnTo>
                  <a:lnTo>
                    <a:pt x="101917" y="6953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94510" y="4198620"/>
              <a:ext cx="1058228" cy="531495"/>
            </a:xfrm>
            <a:custGeom>
              <a:avLst/>
              <a:gdLst/>
              <a:ahLst/>
              <a:cxnLst/>
              <a:rect l="l" t="t" r="r" b="b"/>
              <a:pathLst>
                <a:path w="1058228" h="531495">
                  <a:moveTo>
                    <a:pt x="1058228" y="531495"/>
                  </a:moveTo>
                  <a:cubicBezTo>
                    <a:pt x="682308" y="176530"/>
                    <a:pt x="329565" y="0"/>
                    <a:pt x="0" y="190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99260" y="41529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43978" y="2930842"/>
              <a:ext cx="171768" cy="1111568"/>
            </a:xfrm>
            <a:custGeom>
              <a:avLst/>
              <a:gdLst/>
              <a:ahLst/>
              <a:cxnLst/>
              <a:rect l="l" t="t" r="r" b="b"/>
              <a:pathLst>
                <a:path w="171768" h="1111568">
                  <a:moveTo>
                    <a:pt x="0" y="1111568"/>
                  </a:moveTo>
                  <a:cubicBezTo>
                    <a:pt x="160020" y="711517"/>
                    <a:pt x="171768" y="340995"/>
                    <a:pt x="35243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335405" y="2842260"/>
              <a:ext cx="88583" cy="105728"/>
            </a:xfrm>
            <a:custGeom>
              <a:avLst/>
              <a:gdLst/>
              <a:ahLst/>
              <a:cxnLst/>
              <a:rect l="l" t="t" r="r" b="b"/>
              <a:pathLst>
                <a:path w="88583" h="105728">
                  <a:moveTo>
                    <a:pt x="8573" y="0"/>
                  </a:moveTo>
                  <a:lnTo>
                    <a:pt x="88583" y="70485"/>
                  </a:lnTo>
                  <a:lnTo>
                    <a:pt x="0" y="1057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99260" y="2114550"/>
              <a:ext cx="1104900" cy="547688"/>
            </a:xfrm>
            <a:custGeom>
              <a:avLst/>
              <a:gdLst/>
              <a:ahLst/>
              <a:cxnLst/>
              <a:rect l="l" t="t" r="r" b="b"/>
              <a:pathLst>
                <a:path w="1104900" h="547688">
                  <a:moveTo>
                    <a:pt x="0" y="547688"/>
                  </a:moveTo>
                  <a:cubicBezTo>
                    <a:pt x="407670" y="528002"/>
                    <a:pt x="775970" y="345440"/>
                    <a:pt x="110490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768918" y="2045970"/>
              <a:ext cx="100965" cy="101917"/>
            </a:xfrm>
            <a:custGeom>
              <a:avLst/>
              <a:gdLst/>
              <a:ahLst/>
              <a:cxnLst/>
              <a:rect l="l" t="t" r="r" b="b"/>
              <a:pathLst>
                <a:path w="100965" h="101917">
                  <a:moveTo>
                    <a:pt x="100965" y="0"/>
                  </a:moveTo>
                  <a:lnTo>
                    <a:pt x="69533" y="101917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450782" y="1725930"/>
              <a:ext cx="11430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45305" y="252222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45305" y="404241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03182" y="4730115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61060" y="404241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61060" y="252222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531555" y="181165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库存目录分析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35221" y="26079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文档重构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35221" y="41281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逆向工程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93098" y="48158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代码重构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0976" y="41281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数据重构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0976" y="26079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正向工程</a:t>
              </a:r>
            </a:p>
          </p:txBody>
        </p:sp>
      </p:grpSp>
      <p:grpSp>
        <p:nvGrpSpPr>
          <p:cNvPr id="49" name="c2-kv-1"/>
          <p:cNvGrpSpPr/>
          <p:nvPr/>
        </p:nvGrpSpPr>
        <p:grpSpPr>
          <a:xfrm>
            <a:off x="5808345" y="1548765"/>
            <a:ext cx="5895975" cy="3339465"/>
            <a:chOff x="5808345" y="1548765"/>
            <a:chExt cx="5895975" cy="3339465"/>
          </a:xfrm>
        </p:grpSpPr>
        <p:sp>
          <p:nvSpPr>
            <p:cNvPr id="32" name="TextBox 32"/>
            <p:cNvSpPr txBox="1"/>
            <p:nvPr/>
          </p:nvSpPr>
          <p:spPr>
            <a:xfrm>
              <a:off x="5808345" y="15487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库存目录分析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46620" y="1548765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把组织拥有的全部应用系统登记造册，挑出值得再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工程的那些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21507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08345" y="2270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文档重构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46620" y="227076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补上或重建缺失的文档，按需要决定补到什么程度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5965" y="25908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08345" y="2710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逆向工程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46620" y="2710815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从源代码恢复出数据、体系结构和处理过程的设计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33127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08345" y="34328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代码重构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46620" y="343281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重写个体模块内部难懂的代码，功能保持不变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37528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08345" y="38728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数据重构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46620" y="3872865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分解并重新定义数据体系结构，必要时对数据再工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44748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08345" y="45948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正向工程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46620" y="459486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用恢复出的设计重新开发系统，并加入新功能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5815965" y="5019675"/>
            <a:ext cx="5842635" cy="782955"/>
            <a:chOff x="5815965" y="5019675"/>
            <a:chExt cx="5842635" cy="782955"/>
          </a:xfrm>
        </p:grpSpPr>
        <p:sp>
          <p:nvSpPr>
            <p:cNvPr id="50" name="Rectangle 50"/>
            <p:cNvSpPr/>
            <p:nvPr/>
          </p:nvSpPr>
          <p:spPr>
            <a:xfrm>
              <a:off x="5815965" y="501967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020753" y="5311142"/>
              <a:ext cx="200023" cy="200023"/>
              <a:chOff x="6020753" y="5311142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020753" y="53111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154103" y="53778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322695" y="5168265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六类活动是一个环，不是一条直线：不是每个系统都要走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完整圈，可以在任何一环停下。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软件再工程过程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先造册再补文档：从哪个系统下手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956435"/>
            <a:chOff x="533400" y="1524000"/>
            <a:chExt cx="5410200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库存目录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软件组织用于记录其所拥有的所有应用系统基本信息的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清单。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记录规模、年龄、使用情况、业务重要性、当前可维护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性、预期修改次数</a:t>
              </a:r>
            </a:p>
          </p:txBody>
        </p:sp>
      </p:grpSp>
      <p:grpSp>
        <p:nvGrpSpPr>
          <p:cNvPr id="23" name="c1-bullets-2"/>
          <p:cNvGrpSpPr/>
          <p:nvPr/>
        </p:nvGrpSpPr>
        <p:grpSpPr>
          <a:xfrm>
            <a:off x="525780" y="3695700"/>
            <a:ext cx="4311968" cy="1337310"/>
            <a:chOff x="525780" y="3695700"/>
            <a:chExt cx="4311968" cy="1337310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36957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三类程序可能成为预防性维护的对象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33400" y="408146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3908" y="40500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预定将使用多年的程序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33400" y="442626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3908" y="439483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当前正在成功地使用着的程序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33400" y="477107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3908" y="473964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在最近的将来可能要做重大修改或增强的程序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5164455"/>
            <a:ext cx="5410200" cy="782955"/>
            <a:chOff x="533400" y="5164455"/>
            <a:chExt cx="5410200" cy="782955"/>
          </a:xfrm>
        </p:grpSpPr>
        <p:sp>
          <p:nvSpPr>
            <p:cNvPr id="24" name="Rectangle 24"/>
            <p:cNvSpPr/>
            <p:nvPr/>
          </p:nvSpPr>
          <p:spPr>
            <a:xfrm>
              <a:off x="533400" y="516445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455920"/>
              <a:ext cx="200026" cy="200025"/>
              <a:chOff x="738188" y="5455920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4559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55003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56114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531304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三个条件同时满足的程序优先级最高：活得久、在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用、还要改。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524000"/>
            <a:ext cx="5410200" cy="2577465"/>
            <a:chOff x="6248400" y="1524000"/>
            <a:chExt cx="5410200" cy="257746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2577465"/>
            </a:xfrm>
            <a:prstGeom prst="roundRect">
              <a:avLst>
                <a:gd name="adj" fmla="val 517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579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02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文档重构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42823" y="176879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三种处理策略，按系统的处境选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57950" y="211645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197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8940" y="21297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程序相对稳定、接近有用生命的终点、不会再变：让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它保持现状是明智的选择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57950" y="273748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97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58940" y="275082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只在改到哪里时补哪里的文档：采用“使用时建文档”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的方法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57950" y="335851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19799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58940" y="337185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该系统是完成业务工作的关键、必须重构全部文档：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仍要设法把文档工作减到必需的最小量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248400" y="4291965"/>
            <a:ext cx="5410200" cy="1655445"/>
            <a:chOff x="6248400" y="4291965"/>
            <a:chExt cx="5410200" cy="1655445"/>
          </a:xfrm>
        </p:grpSpPr>
        <p:sp>
          <p:nvSpPr>
            <p:cNvPr id="45" name="Rectangle 45"/>
            <p:cNvSpPr/>
            <p:nvPr/>
          </p:nvSpPr>
          <p:spPr>
            <a:xfrm>
              <a:off x="6248400" y="4291965"/>
              <a:ext cx="5410200" cy="1655445"/>
            </a:xfrm>
            <a:prstGeom prst="roundRect">
              <a:avLst>
                <a:gd name="adj" fmla="val 690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41129" y="5015983"/>
              <a:ext cx="224134" cy="192560"/>
              <a:chOff x="6441129" y="5015983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553200" y="50863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41129" y="50159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53200" y="51641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130" y="487680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文档重构是再工程里最枯燥、最耗人的一环，所以每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种策略都在讨论“少做一点”。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软件再工程过程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逆向工程：从代码往回恢复设计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842635" cy="1858328"/>
            <a:chOff x="533400" y="1524000"/>
            <a:chExt cx="5842635" cy="18583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858328"/>
            </a:xfrm>
            <a:prstGeom prst="roundRect">
              <a:avLst>
                <a:gd name="adj" fmla="val 71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9162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软件的逆向工程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分析程序，以便在比源代码更高的抽象层次上创建出程序的某种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表示的过程，也就是恢复设计结果的过程。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74986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690336"/>
              <a:ext cx="49377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逆向工程工具从现存的程序代码中抽取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数据、体系结构和处理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过程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三方面的设计信息</a:t>
              </a:r>
            </a:p>
          </p:txBody>
        </p:sp>
      </p:grpSp>
      <p:grpSp>
        <p:nvGrpSpPr>
          <p:cNvPr id="30" name="c1-flow-2"/>
          <p:cNvGrpSpPr/>
          <p:nvPr/>
        </p:nvGrpSpPr>
        <p:grpSpPr>
          <a:xfrm>
            <a:off x="669608" y="4116705"/>
            <a:ext cx="5570219" cy="412433"/>
            <a:chOff x="669608" y="4116705"/>
            <a:chExt cx="5570219" cy="412433"/>
          </a:xfrm>
        </p:grpSpPr>
        <p:sp>
          <p:nvSpPr>
            <p:cNvPr id="16" name="Freeform 16"/>
            <p:cNvSpPr/>
            <p:nvPr/>
          </p:nvSpPr>
          <p:spPr>
            <a:xfrm>
              <a:off x="2345055" y="4323398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0" y="0"/>
                  </a:moveTo>
                  <a:lnTo>
                    <a:pt x="1676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512695" y="42710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291965" y="4323398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0" y="0"/>
                  </a:moveTo>
                  <a:lnTo>
                    <a:pt x="168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460558" y="42710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669608" y="4117658"/>
              <a:ext cx="1675447" cy="411480"/>
            </a:xfrm>
            <a:custGeom>
              <a:avLst/>
              <a:gdLst/>
              <a:ahLst/>
              <a:cxnLst/>
              <a:rect l="l" t="t" r="r" b="b"/>
              <a:pathLst>
                <a:path w="1675447" h="411480">
                  <a:moveTo>
                    <a:pt x="133350" y="0"/>
                  </a:moveTo>
                  <a:lnTo>
                    <a:pt x="1675447" y="0"/>
                  </a:lnTo>
                  <a:lnTo>
                    <a:pt x="1542097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617470" y="4117658"/>
              <a:ext cx="167544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565332" y="4117658"/>
              <a:ext cx="1674495" cy="411480"/>
            </a:xfrm>
            <a:custGeom>
              <a:avLst/>
              <a:gdLst/>
              <a:ahLst/>
              <a:cxnLst/>
              <a:rect l="l" t="t" r="r" b="b"/>
              <a:pathLst>
                <a:path w="1674495" h="411480">
                  <a:moveTo>
                    <a:pt x="133350" y="0"/>
                  </a:moveTo>
                  <a:lnTo>
                    <a:pt x="1674495" y="0"/>
                  </a:lnTo>
                  <a:lnTo>
                    <a:pt x="1541145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58443" y="423957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63990" y="423957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逆向工程工具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73396" y="423957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设计信息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308860" y="4116705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344382" y="41419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256722" y="4116705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92244" y="41419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抽取</a:t>
              </a:r>
            </a:p>
          </p:txBody>
        </p:sp>
      </p:grpSp>
      <p:grpSp>
        <p:nvGrpSpPr>
          <p:cNvPr id="39" name="c1-kv-3"/>
          <p:cNvGrpSpPr/>
          <p:nvPr/>
        </p:nvGrpSpPr>
        <p:grpSpPr>
          <a:xfrm>
            <a:off x="526161" y="5287804"/>
            <a:ext cx="5849874" cy="1111187"/>
            <a:chOff x="526161" y="5287804"/>
            <a:chExt cx="5849874" cy="1111187"/>
          </a:xfrm>
        </p:grpSpPr>
        <p:sp>
          <p:nvSpPr>
            <p:cNvPr id="31" name="TextBox 31"/>
            <p:cNvSpPr txBox="1"/>
            <p:nvPr/>
          </p:nvSpPr>
          <p:spPr>
            <a:xfrm>
              <a:off x="526161" y="528780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25334" y="5287804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记录格式、数据库表结构、全局数据被谁使用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5911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6161" y="57040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体系结构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25334" y="570404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模块划分、调用关系、层次与依赖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60074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6161" y="612028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处理过程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25334" y="612028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每个模块内部的算法和控制流程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680835" y="1524000"/>
            <a:ext cx="4977765" cy="2823210"/>
            <a:chOff x="6680835" y="1524000"/>
            <a:chExt cx="4977765" cy="2823210"/>
          </a:xfrm>
        </p:grpSpPr>
        <p:sp>
          <p:nvSpPr>
            <p:cNvPr id="40" name="Rectangle 40"/>
            <p:cNvSpPr/>
            <p:nvPr/>
          </p:nvSpPr>
          <p:spPr>
            <a:xfrm>
              <a:off x="6680835" y="1524000"/>
              <a:ext cx="4977765" cy="4629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34543" y="1655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57248" y="1655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逆向工程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98443" y="1655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正向工程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82181" y="211978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77556" y="2119789"/>
              <a:ext cx="9989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 → 设计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18751" y="2119789"/>
              <a:ext cx="9989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 → 代码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244602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80835" y="2450782"/>
              <a:ext cx="4977765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82181" y="2582704"/>
              <a:ext cx="7358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是否改变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785735" y="2460308"/>
              <a:ext cx="1922145" cy="6972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877556" y="27093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不改，只恢复信息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18751" y="2582704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改，重新实现并常加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新功能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680835" y="31623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82181" y="342566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77556" y="3298984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数据结构、体系结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构、处理过程的描述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818751" y="342566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可运行的新系统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680835" y="38795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80835" y="3884295"/>
              <a:ext cx="4977765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82181" y="40162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抽象层次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77556" y="40162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由低到高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818751" y="40162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由高到低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80835" y="1524000"/>
              <a:ext cx="4977765" cy="28232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771448" y="1524000"/>
              <a:ext cx="9525" cy="28232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712642" y="1524000"/>
              <a:ext cx="9525" cy="28232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c2-callout-2"/>
          <p:cNvGrpSpPr/>
          <p:nvPr/>
        </p:nvGrpSpPr>
        <p:grpSpPr>
          <a:xfrm>
            <a:off x="6680835" y="4527232"/>
            <a:ext cx="4977765" cy="1815465"/>
            <a:chOff x="6680835" y="4527232"/>
            <a:chExt cx="4977765" cy="1815465"/>
          </a:xfrm>
        </p:grpSpPr>
        <p:sp>
          <p:nvSpPr>
            <p:cNvPr id="66" name="Rectangle 66"/>
            <p:cNvSpPr/>
            <p:nvPr/>
          </p:nvSpPr>
          <p:spPr>
            <a:xfrm>
              <a:off x="6680835" y="4527232"/>
              <a:ext cx="4977765" cy="1815465"/>
            </a:xfrm>
            <a:prstGeom prst="roundRect">
              <a:avLst>
                <a:gd name="adj" fmla="val 629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885623" y="5334955"/>
              <a:ext cx="200023" cy="200023"/>
              <a:chOff x="6885623" y="5334955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885623" y="53349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018973" y="54016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187946" y="5204936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逆向工程只看不改；把恢复出来的设计拿去改造系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统，就进入正向工程了。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软件再工程过程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代码重构改结构不改功能，数据重构动的是根基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6059805" cy="2291715"/>
            <a:chOff x="533400" y="1524000"/>
            <a:chExt cx="6059805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291715"/>
            </a:xfrm>
            <a:prstGeom prst="roundRect">
              <a:avLst>
                <a:gd name="adj" fmla="val 581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52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代码重构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27822" y="1768792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只针对难于理解、测试和维护的个体模块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2950" y="211645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47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3940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重构工具分析源代码，标注出和结构化程序设计概念相违背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的部分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42950" y="273748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47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3940" y="275082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重构有问题的代码，这项工作可以自动进行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2950" y="307276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4799" y="31150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3940" y="308610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复审和测试生成的重构代码，保证没有引入异常，并更新代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码文档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006215"/>
            <a:ext cx="6059805" cy="2240280"/>
            <a:chOff x="533400" y="4006215"/>
            <a:chExt cx="6059805" cy="2240280"/>
          </a:xfrm>
        </p:grpSpPr>
        <p:sp>
          <p:nvSpPr>
            <p:cNvPr id="21" name="Rectangle 21"/>
            <p:cNvSpPr/>
            <p:nvPr/>
          </p:nvSpPr>
          <p:spPr>
            <a:xfrm>
              <a:off x="533400" y="4006215"/>
              <a:ext cx="6059805" cy="224028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139565"/>
              <a:ext cx="47625" cy="19735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421576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5655" y="425148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回答课件里的提问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35518" y="425100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重构的是体系结构还是模块内部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4612005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代码重构针对个体模块的设计细节和其中定义的局部数据结构，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程序的整体功能和外部接口不变。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523303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体系结构层面的改造要靠正向工程，那已经是重新开发了。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898005" y="1524000"/>
            <a:ext cx="4760595" cy="2242185"/>
            <a:chOff x="6898005" y="1524000"/>
            <a:chExt cx="4760595" cy="2242185"/>
          </a:xfrm>
        </p:grpSpPr>
        <p:sp>
          <p:nvSpPr>
            <p:cNvPr id="29" name="Rectangle 29"/>
            <p:cNvSpPr/>
            <p:nvPr/>
          </p:nvSpPr>
          <p:spPr>
            <a:xfrm>
              <a:off x="6898005" y="1524000"/>
              <a:ext cx="4760595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07530" y="1657350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14565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27011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数据重构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30528" y="176879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数据体系结构比源代码影响更大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38035" y="212979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数据重构始于逆向工程：分解当前使用的数据体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系结构，必要时定义数据模型，标识数据对象和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属性，从软件质量的角度复审现存的数据结构。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151370" y="30994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09485" y="303657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数据结构较差时对数据进行再工程，例如从关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系型 DBMS 重构为面向对象 DBMS</a:t>
              </a:r>
            </a:p>
          </p:txBody>
        </p:sp>
      </p:grpSp>
      <p:grpSp>
        <p:nvGrpSpPr>
          <p:cNvPr id="40" name="c2-image-2"/>
          <p:cNvGrpSpPr/>
          <p:nvPr/>
        </p:nvGrpSpPr>
        <p:grpSpPr>
          <a:xfrm>
            <a:off x="6898005" y="3956685"/>
            <a:ext cx="4760595" cy="2315052"/>
            <a:chOff x="6898005" y="3956685"/>
            <a:chExt cx="4760595" cy="2315052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rcRect l="0" t="21989" r="0" b="21989"/>
            <a:stretch>
              <a:fillRect/>
            </a:stretch>
          </p:blipFill>
          <p:spPr>
            <a:xfrm>
              <a:off x="6898005" y="3956685"/>
              <a:ext cx="4760595" cy="2000250"/>
            </a:xfrm>
            <a:prstGeom prst="roundRect">
              <a:avLst>
                <a:gd name="adj" fmla="val 6666"/>
              </a:avLst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614069" y="6051709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重构像理线：设备和连接没变，变的是能不能看懂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软件再工程过程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正向工程，以及四个容易混的术语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977765" cy="2577465"/>
            <a:chOff x="533400" y="1524000"/>
            <a:chExt cx="4977765" cy="2577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正向工程（革新、改造）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不仅从现有程序中恢复设计信息，而且使用该信息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去改变或重构现有系统，以提高其整体质量。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应用软件工程的原理、概念、技术和方法重新开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发某个现有的应用系统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大多数情况下，被再工程的软件除了重新实现原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有功能，还加入新功能、提高整体性能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291965"/>
            <a:ext cx="4977765" cy="1710690"/>
            <a:chOff x="533400" y="4291965"/>
            <a:chExt cx="4977765" cy="1710690"/>
          </a:xfrm>
        </p:grpSpPr>
        <p:sp>
          <p:nvSpPr>
            <p:cNvPr id="18" name="Rectangle 18"/>
            <p:cNvSpPr/>
            <p:nvPr/>
          </p:nvSpPr>
          <p:spPr>
            <a:xfrm>
              <a:off x="533400" y="4291965"/>
              <a:ext cx="4977765" cy="1710690"/>
            </a:xfrm>
            <a:prstGeom prst="roundRect">
              <a:avLst>
                <a:gd name="adj" fmla="val 668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047300"/>
              <a:ext cx="200023" cy="200023"/>
              <a:chOff x="738188" y="5047300"/>
              <a:chExt cx="200023" cy="2000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0473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1538" y="51139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4904422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再工程是总称，逆向工程、重构和正向工程是它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内部的三种活动。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5815965" y="1524000"/>
            <a:ext cx="5842635" cy="3505200"/>
            <a:chOff x="5815965" y="1524000"/>
            <a:chExt cx="5842635" cy="3505200"/>
          </a:xfrm>
        </p:grpSpPr>
        <p:sp>
          <p:nvSpPr>
            <p:cNvPr id="24" name="Rectangle 24"/>
            <p:cNvSpPr/>
            <p:nvPr/>
          </p:nvSpPr>
          <p:spPr>
            <a:xfrm>
              <a:off x="5815965" y="1524000"/>
              <a:ext cx="5842635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7314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术语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2948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5351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5588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系统变不变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22645" y="2150745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逆向工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57048" y="22840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4388" y="2150745"/>
              <a:ext cx="1539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更高抽象层次的设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计表示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04145" y="22840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2761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15965" y="2766060"/>
              <a:ext cx="584263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22645" y="2905125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代码重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7048" y="2905125"/>
              <a:ext cx="1158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难懂的模块代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34388" y="2905125"/>
              <a:ext cx="1539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结构良好、功能相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同的代码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04145" y="2905125"/>
              <a:ext cx="1158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结构变功能不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35156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22645" y="3659505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数据重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57048" y="3659505"/>
              <a:ext cx="1158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现存的数据体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系结构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34388" y="3659505"/>
              <a:ext cx="1539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重新定义的数据模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型与结构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04145" y="37928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数据结构改变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42700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15965" y="4274820"/>
              <a:ext cx="584263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22645" y="4413885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正向工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57048" y="4413885"/>
              <a:ext cx="1158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恢复出的设计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加新需求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34388" y="454723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重新开发的系统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04145" y="4413885"/>
              <a:ext cx="1158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变，并常加新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1524000"/>
              <a:ext cx="5842635" cy="3505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745605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322945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192702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llout-2"/>
          <p:cNvGrpSpPr/>
          <p:nvPr/>
        </p:nvGrpSpPr>
        <p:grpSpPr>
          <a:xfrm>
            <a:off x="5815965" y="5219700"/>
            <a:ext cx="5842635" cy="782955"/>
            <a:chOff x="5815965" y="5219700"/>
            <a:chExt cx="5842635" cy="782955"/>
          </a:xfrm>
        </p:grpSpPr>
        <p:sp>
          <p:nvSpPr>
            <p:cNvPr id="55" name="Rectangle 55"/>
            <p:cNvSpPr/>
            <p:nvPr/>
          </p:nvSpPr>
          <p:spPr>
            <a:xfrm>
              <a:off x="5815965" y="521970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020753" y="5511165"/>
              <a:ext cx="200026" cy="200025"/>
              <a:chOff x="6020753" y="5511165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020753" y="55111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060491" y="55556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095207" y="56667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322695" y="5368290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判断题常考这四个词的方向：谁产出设计、谁产出代码、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谁允许功能变化。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03211" cy="909257"/>
            <a:chOff x="520446" y="342900"/>
            <a:chExt cx="64032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软件再工程过程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032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课堂练习：哪些措施能提高可维护性（1）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192774" cy="264033"/>
            <a:chOff x="526542" y="1545907"/>
            <a:chExt cx="619277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某软件公司拟采取下述措施提高软件产品的可维护性，判断正误并说明理由。</a:t>
              </a:r>
            </a:p>
          </p:txBody>
        </p:sp>
      </p:grpSp>
      <p:grpSp>
        <p:nvGrpSpPr>
          <p:cNvPr id="51" name="c1-table-1"/>
          <p:cNvGrpSpPr/>
          <p:nvPr/>
        </p:nvGrpSpPr>
        <p:grpSpPr>
          <a:xfrm>
            <a:off x="533400" y="1928812"/>
            <a:ext cx="11125200" cy="3950018"/>
            <a:chOff x="533400" y="1928812"/>
            <a:chExt cx="11125200" cy="395001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43910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346960" y="20535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措施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94885" y="20535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55330" y="20535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9412" y="2492692"/>
              <a:ext cx="3293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在分析用户需求时同时考虑维护问题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34674" y="249269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24310" y="249269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需求复审即指明将来可能修改的部分，设计才会留余地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13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06065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9412" y="2931795"/>
              <a:ext cx="3838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测试完程序后，删去注解以缩短源程序长度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34674" y="2931795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24310" y="293179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注解是内部文档，删掉直接降低可理解性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9412" y="3370898"/>
              <a:ext cx="3838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在开发过程中尽量保证各阶段文档的正确性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34674" y="337089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24310" y="337089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文档决定可维护性，错误的文档比没有文档更误导人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6795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684270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9412" y="3809048"/>
              <a:ext cx="2384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 编码时尽量多用全局变量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34674" y="380904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24310" y="380904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全局变量抬高模块间耦合，一处修改波及大量模块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186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9412" y="4248150"/>
              <a:ext cx="3657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(5) 选用时间效率和空间效率尽可能高的算法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34674" y="4248150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24310" y="42481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效率最高的算法往往最难懂，满足性能要求即可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5577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562475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9412" y="4687252"/>
              <a:ext cx="3293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(6) 尽可能利用硬件特点以提高程序效率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34674" y="468725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24310" y="468725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依赖具体硬件会严重降低可移植性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9958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9412" y="5126355"/>
              <a:ext cx="2748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(7) 尽可能使用高级语言编写程序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34674" y="5126355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24310" y="512635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高级语言更接近问题域，可读性和可移植性更好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43496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5439728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9412" y="5565458"/>
              <a:ext cx="3111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(8) 进行总体设计时加强模块间的联系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34674" y="556545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24310" y="556545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应当低耦合高内聚，加强联系等于提高耦合度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928812"/>
              <a:ext cx="11125200" cy="39500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4533900" y="1928812"/>
              <a:ext cx="9525" cy="39500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423535" y="1928812"/>
              <a:ext cx="9525" cy="39500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03211" cy="909257"/>
            <a:chOff x="520446" y="342900"/>
            <a:chExt cx="64032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软件再工程过程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032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课堂练习：哪些措施能提高可维护性（2）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11125200" cy="3990975"/>
            <a:chOff x="533400" y="1524000"/>
            <a:chExt cx="11125200" cy="3990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910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346960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措施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94885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55330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9412" y="2087880"/>
              <a:ext cx="2384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(9) 尽量减少程序模块的规模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34674" y="2087880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24310" y="208788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模块规模应当适中，一味减小会使模块数目激增、接口复杂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974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02205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9412" y="2526982"/>
              <a:ext cx="37620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(10) 用数据库系统代替文件系统存储长期信息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34674" y="252698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24310" y="252698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数据独立性好，数据结构变化对程序冲击小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35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9412" y="2966085"/>
              <a:ext cx="3539585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(11) 用 CASE 环境或自动生成工具生成一部分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34674" y="3086100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24310" y="30861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代码风格统一，改模型即可重新生成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1472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19488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9412" y="3645218"/>
              <a:ext cx="3398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(12) 尽量用可重用的软件构件来组装程序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34674" y="36452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24310" y="36452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构件经过反复检验，错误少，改动集中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9412" y="4083368"/>
              <a:ext cx="2489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(13) 使用先进的软件开发技术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34674" y="40833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24310" y="40833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现代方法学本身就以可维护性为目标之一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3929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397692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9412" y="4522470"/>
              <a:ext cx="3580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(14) 采用防错程序设计技术，引入自检能力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34674" y="4522470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24310" y="452247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错误能及早发现和定位，诊断时间缩短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8320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9412" y="4961573"/>
              <a:ext cx="3549872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(15) 把与硬件及操作系统有关的代码集中到特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定模块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34674" y="508158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24310" y="508158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环境相关代码被隔离，移植时只改这几个模块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11125200" cy="3990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33900" y="1524000"/>
              <a:ext cx="9525" cy="3990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423535" y="1524000"/>
              <a:ext cx="9525" cy="3990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5" name="Rectangle 4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6028373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统计一下：九条正确、六条不正确。不正确的六条都在用效率、长度或耦合去换可维护性。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70657" cy="909257"/>
            <a:chOff x="520446" y="342900"/>
            <a:chExt cx="65706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 · 软件再工程过程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706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扩展阅读：DevOps 怎样把维护成本压下来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863215"/>
            <a:chOff x="533400" y="1524000"/>
            <a:chExt cx="5410200" cy="2863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863215"/>
            </a:xfrm>
            <a:prstGeom prst="roundRect">
              <a:avLst>
                <a:gd name="adj" fmla="val 4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965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771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DevOps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768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Development 和 Operations 合成，指重视软件开发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人员（Dev）和 IT 运维技术人员（Ops）之间沟通合作的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文化与惯例。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0994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0365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通过持续的软件交付和架构变更流程，使构建、测试、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发布更快捷、更频繁、更可靠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7204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65760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也叫开发运维一体化，用于促进开发、技术运营和质量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保障（QA）之间的协作与整合</a:t>
              </a:r>
            </a:p>
          </p:txBody>
        </p:sp>
      </p:grpSp>
      <p:grpSp>
        <p:nvGrpSpPr>
          <p:cNvPr id="25" name="c1-bullets-2"/>
          <p:cNvGrpSpPr/>
          <p:nvPr/>
        </p:nvGrpSpPr>
        <p:grpSpPr>
          <a:xfrm>
            <a:off x="525780" y="4602480"/>
            <a:ext cx="5139690" cy="1623060"/>
            <a:chOff x="525780" y="4602480"/>
            <a:chExt cx="5139690" cy="1623060"/>
          </a:xfrm>
        </p:grpSpPr>
        <p:sp>
          <p:nvSpPr>
            <p:cNvPr id="18" name="TextBox 18"/>
            <p:cNvSpPr txBox="1"/>
            <p:nvPr/>
          </p:nvSpPr>
          <p:spPr>
            <a:xfrm>
              <a:off x="525780" y="460248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课件列出的三条好处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9115" y="50196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7230" y="495681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打破开发与运维之间的隔阂，扩展到组织级协作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9115" y="53644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7230" y="530161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在高频率部署的同时提高生产环境的可靠性、稳定性、弹性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和安全性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9115" y="59950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7230" y="5932170"/>
              <a:ext cx="3959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缩短上市时间，减少 IT 浪费，提高组织效率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6248400" y="1524000"/>
            <a:ext cx="5410200" cy="3505200"/>
            <a:chOff x="6248400" y="1524000"/>
            <a:chExt cx="5410200" cy="3505200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85610" y="16630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传统开发运维分离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86049" y="1663065"/>
              <a:ext cx="12400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DevOps 方式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5080" y="228409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开发完成后整体移交运维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60180" y="215074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开发与运维共同对上线后的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系统负责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761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2766060"/>
              <a:ext cx="5410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5080" y="30384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发布批量大、周期长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60180" y="290512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小批量持续交付，出问题范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围可控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35156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5080" y="37928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维护请求排队等下一个版本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60180" y="365950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修改随时进入流水线，周转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时间缩短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42700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4274820"/>
              <a:ext cx="5410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5080" y="454723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文档和环境靠人工同步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60180" y="441388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构建、测试、部署脚本化，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环境可重建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1524000"/>
              <a:ext cx="5410200" cy="3505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948738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llout-2"/>
          <p:cNvGrpSpPr/>
          <p:nvPr/>
        </p:nvGrpSpPr>
        <p:grpSpPr>
          <a:xfrm>
            <a:off x="6248400" y="5219700"/>
            <a:ext cx="5410200" cy="946785"/>
            <a:chOff x="6248400" y="5219700"/>
            <a:chExt cx="5410200" cy="946785"/>
          </a:xfrm>
        </p:grpSpPr>
        <p:sp>
          <p:nvSpPr>
            <p:cNvPr id="45" name="Rectangle 45"/>
            <p:cNvSpPr/>
            <p:nvPr/>
          </p:nvSpPr>
          <p:spPr>
            <a:xfrm>
              <a:off x="6248400" y="5219700"/>
              <a:ext cx="5410200" cy="946785"/>
            </a:xfrm>
            <a:prstGeom prst="roundRect">
              <a:avLst>
                <a:gd name="adj" fmla="val 1207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453188" y="5593082"/>
              <a:ext cx="200023" cy="200023"/>
              <a:chOff x="6453188" y="5593082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53188" y="55930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86538" y="56597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755130" y="5450205"/>
              <a:ext cx="43586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用本章的话说，DevOps 缩短的是维护要求表的平均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周转时间，降低的是每次修改的回归测试成本。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28725"/>
            <a:chOff x="533400" y="1524000"/>
            <a:chExt cx="5410200" cy="12287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软件维护分哪四类？哪类最多？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355532"/>
              <a:ext cx="47661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改正性、适应性、完善性、预防性；完善性约占 50%。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22270"/>
            <a:ext cx="5410200" cy="1228725"/>
            <a:chOff x="533400" y="2922270"/>
            <a:chExt cx="5410200" cy="1228725"/>
          </a:xfrm>
        </p:grpSpPr>
        <p:sp>
          <p:nvSpPr>
            <p:cNvPr id="13" name="Rectangle 13"/>
            <p:cNvSpPr/>
            <p:nvPr/>
          </p:nvSpPr>
          <p:spPr>
            <a:xfrm>
              <a:off x="533400" y="2922270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1089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1418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45376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写出维护工作量模型。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3753802"/>
              <a:ext cx="3927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＝ p ＋ K·e^(c−d)，c−d 越大成本越高。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21492"/>
            <a:ext cx="5410200" cy="1228725"/>
            <a:chOff x="533400" y="4321492"/>
            <a:chExt cx="5410200" cy="1228725"/>
          </a:xfrm>
        </p:grpSpPr>
        <p:sp>
          <p:nvSpPr>
            <p:cNvPr id="19" name="Rectangle 19"/>
            <p:cNvSpPr/>
            <p:nvPr/>
          </p:nvSpPr>
          <p:spPr>
            <a:xfrm>
              <a:off x="533400" y="4321492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45081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45410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485203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哪类请求可立即进入问题分析？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152073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被判定为错误、且错误严重的请求。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85900"/>
            <a:chOff x="6248400" y="1524000"/>
            <a:chExt cx="5410200" cy="1485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结构化与非结构化维护差在哪？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差在有没有完整的软件配置：前者从评价设计文档开始，后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者只能反复读代码猜结构，代价巨大。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79445"/>
            <a:ext cx="5410200" cy="2369820"/>
            <a:chOff x="6248400" y="3179445"/>
            <a:chExt cx="5410200" cy="2369820"/>
          </a:xfrm>
        </p:grpSpPr>
        <p:sp>
          <p:nvSpPr>
            <p:cNvPr id="31" name="Rectangle 31"/>
            <p:cNvSpPr/>
            <p:nvPr/>
          </p:nvSpPr>
          <p:spPr>
            <a:xfrm>
              <a:off x="6248400" y="3179445"/>
              <a:ext cx="5410200" cy="2369820"/>
            </a:xfrm>
            <a:prstGeom prst="roundRect">
              <a:avLst>
                <a:gd name="adj" fmla="val 562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7109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谁决定一项修改做不做？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010977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变化授权人，依据软件修改报告决定做不做、什么时候做；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维护管理员负责接收转交，系统管理员做技术评价。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7" name="Rectangle 3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6028373"/>
              <a:ext cx="6220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先盖住答案自己写一遍再对照；第 3 题要能写出公式并解释每个符号的含义。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28725"/>
            <a:chOff x="533400" y="1524000"/>
            <a:chExt cx="5410200" cy="12287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决定可维护性的五个因素？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355532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可理解性、可测试性、可修改性、可移植性、可重用性。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22270"/>
            <a:ext cx="5410200" cy="1228725"/>
            <a:chOff x="533400" y="2922270"/>
            <a:chExt cx="5410200" cy="1228725"/>
          </a:xfrm>
        </p:grpSpPr>
        <p:sp>
          <p:nvSpPr>
            <p:cNvPr id="13" name="Rectangle 13"/>
            <p:cNvSpPr/>
            <p:nvPr/>
          </p:nvSpPr>
          <p:spPr>
            <a:xfrm>
              <a:off x="533400" y="2922270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1089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1418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45376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预防性维护的定义是谁提的？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3753802"/>
              <a:ext cx="3789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Miller，用今天的方法学改造昨天的系统。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21492"/>
            <a:ext cx="5410200" cy="1228725"/>
            <a:chOff x="533400" y="4321492"/>
            <a:chExt cx="5410200" cy="1228725"/>
          </a:xfrm>
        </p:grpSpPr>
        <p:sp>
          <p:nvSpPr>
            <p:cNvPr id="19" name="Rectangle 19"/>
            <p:cNvSpPr/>
            <p:nvPr/>
          </p:nvSpPr>
          <p:spPr>
            <a:xfrm>
              <a:off x="533400" y="4321492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45081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45410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485203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逆向工程与正向工程的区别？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152073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逆向恢复设计不改系统，正向重做系统。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85900"/>
            <a:chOff x="6248400" y="1524000"/>
            <a:chExt cx="5410200" cy="1485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配置复审在什么时候做？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测试结束时做的最正式的一次可维护性复审，保证配置的所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有成分完整、一致、可理解，并且已经编目归档。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79445"/>
            <a:ext cx="5410200" cy="2369820"/>
            <a:chOff x="6248400" y="3179445"/>
            <a:chExt cx="5410200" cy="2369820"/>
          </a:xfrm>
        </p:grpSpPr>
        <p:sp>
          <p:nvSpPr>
            <p:cNvPr id="31" name="Rectangle 31"/>
            <p:cNvSpPr/>
            <p:nvPr/>
          </p:nvSpPr>
          <p:spPr>
            <a:xfrm>
              <a:off x="6248400" y="3179445"/>
              <a:ext cx="5410200" cy="2369820"/>
            </a:xfrm>
            <a:prstGeom prst="roundRect">
              <a:avLst>
                <a:gd name="adj" fmla="val 562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7109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再工程包含哪六类活动？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010977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库存目录分析、文档重构、逆向工程、代码重构、数据重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构、正向工程，六者构成一个环，可在任一环停下。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7" name="Rectangle 3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6028373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名词解释类题目按课件原话答，判断类题目要给出理由。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第8章 软件维护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5951220" cy="2800350"/>
            <a:chOff x="533400" y="1524000"/>
            <a:chExt cx="5951220" cy="2800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9478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4924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76902" y="16454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必须会做的事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25868" y="204549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定义与四类维护、各类占比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82415" y="204549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给一项请求判断维护类型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5868" y="244554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结构化与非结构化、代价、工作量模型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82415" y="244554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写出并解释工作量模型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25868" y="284559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维护组织、报告、事件流、记录与度量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82415" y="284559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说清三个角色和事件流分支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456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25868" y="3245644"/>
              <a:ext cx="23231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五个因素、ISO 9126、文档、复审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82415" y="324564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列出五因素和各阶段复审重点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94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6456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25868" y="3645694"/>
              <a:ext cx="24356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遗留系统、Miller 的定义、四种做法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82415" y="36456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判断老系统该不该重写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195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243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40457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25868" y="40457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再工程六类活动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2415" y="404574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画出环形图并说明每项做什么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5951220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12395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98049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ard-2"/>
          <p:cNvGrpSpPr/>
          <p:nvPr/>
        </p:nvGrpSpPr>
        <p:grpSpPr>
          <a:xfrm>
            <a:off x="533400" y="4493895"/>
            <a:ext cx="5951220" cy="1785938"/>
            <a:chOff x="533400" y="4493895"/>
            <a:chExt cx="5951220" cy="1785938"/>
          </a:xfrm>
        </p:grpSpPr>
        <p:sp>
          <p:nvSpPr>
            <p:cNvPr id="41" name="Rectangle 41"/>
            <p:cNvSpPr/>
            <p:nvPr/>
          </p:nvSpPr>
          <p:spPr>
            <a:xfrm>
              <a:off x="533400" y="4493895"/>
              <a:ext cx="5951220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4627245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58190" y="468058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0357" y="471344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本讲义对原课件的处理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66762" y="508158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2782" y="5025390"/>
              <a:ext cx="50972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页饼图标题写“前三类”，图中实为四块，本讲义按四块合计 100%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66762" y="563880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2782" y="5582602"/>
              <a:ext cx="4729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页流程图右分支的判定框原为一个问号，补成“能读懂吗”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66762" y="59388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2782" y="5882640"/>
              <a:ext cx="4793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 IEEE 引用中的出版社地址，补充 ISO/IEC 25010 口径</a:t>
              </a:r>
            </a:p>
          </p:txBody>
        </p:sp>
      </p:grpSp>
      <p:grpSp>
        <p:nvGrpSpPr>
          <p:cNvPr id="67" name="c2-bullets-1"/>
          <p:cNvGrpSpPr/>
          <p:nvPr/>
        </p:nvGrpSpPr>
        <p:grpSpPr>
          <a:xfrm>
            <a:off x="6789420" y="1534478"/>
            <a:ext cx="4580763" cy="2795778"/>
            <a:chOff x="6789420" y="1534478"/>
            <a:chExt cx="4580763" cy="2795778"/>
          </a:xfrm>
        </p:grpSpPr>
        <p:sp>
          <p:nvSpPr>
            <p:cNvPr id="52" name="Ellipse 52"/>
            <p:cNvSpPr/>
            <p:nvPr/>
          </p:nvSpPr>
          <p:spPr>
            <a:xfrm>
              <a:off x="6789420" y="153447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4509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70217" y="1545907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维护是交付之后的修改，占生存期工作量的七成，完善性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维护又占其中的一半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789420" y="210026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45098" y="21386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70217" y="211169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有没有完整的软件配置，决定维护从读设计开始还是从猜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代码开始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789420" y="266604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45098" y="27044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70217" y="2677477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维护成本的失控来自非生产性工作量，它随复杂度与熟悉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程度之差指数增长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789420" y="323183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45098" y="32702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70217" y="324326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可维护性由可理解性、可测试性、可修改性、可移植性、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可重用性决定，在交付前就确定了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789420" y="379761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45098" y="38360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70217" y="380904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预防性维护主动改造遗留系统，具体做法就是软件再工程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的六类活动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6789420" y="4447222"/>
            <a:ext cx="4869180" cy="1832610"/>
            <a:chOff x="6789420" y="4447222"/>
            <a:chExt cx="4869180" cy="1832610"/>
          </a:xfrm>
        </p:grpSpPr>
        <p:sp>
          <p:nvSpPr>
            <p:cNvPr id="68" name="Rectangle 68"/>
            <p:cNvSpPr/>
            <p:nvPr/>
          </p:nvSpPr>
          <p:spPr>
            <a:xfrm>
              <a:off x="6789420" y="4447222"/>
              <a:ext cx="4869180" cy="1832610"/>
            </a:xfrm>
            <a:prstGeom prst="roundRect">
              <a:avLst>
                <a:gd name="adj" fmla="val 727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976110" y="4633912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042328" y="466677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复习时动手做三件事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984682" y="503491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140702" y="49787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给十五条措施逐条判断正误并说出理由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984682" y="533495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140702" y="527875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默画维护事件流和再工程环形图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984682" y="563499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140702" y="5578792"/>
              <a:ext cx="4395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用工作量模型算一遍两种情形下的 M，体会指数的威力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第8章 软件维护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_ch08">
  <a:themeElements>
    <a:clrScheme name="se_ch0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_ch08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_ch0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2026-09-19T03:54:41Z</dcterms:created>
  <dcterms:modified xsi:type="dcterms:W3CDTF">2026-09-19T03:54:41Z</dcterms:modified>
  <cp:category/>
  <cp:contentStatus/>
</cp:coreProperties>
</file>